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1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2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slides/charts/chart3.xml" ContentType="application/vnd.openxmlformats-officedocument.drawingml.chart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fd977019154336" /><Relationship Type="http://schemas.openxmlformats.org/officeDocument/2006/relationships/extended-properties" Target="/docProps/app.xml" Id="R5b4737c164314f76" /><Relationship Type="http://schemas.openxmlformats.org/officeDocument/2006/relationships/officeDocument" Target="/ppt/presentation.xml" Id="R4c2a5a041bb948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9aa71424af4036"/>
  </p:sldMasterIdLst>
  <p:notesMasterIdLst>
    <p:notesMasterId xmlns:r="http://schemas.openxmlformats.org/officeDocument/2006/relationships" r:id="R18ac1cf279cd480b"/>
  </p:notesMasterIdLst>
  <p:sldIdLst>
    <p:sldId xmlns:r="http://schemas.openxmlformats.org/officeDocument/2006/relationships" id="256" r:id="R4c63db80f09a4d22"/>
    <p:sldId xmlns:r="http://schemas.openxmlformats.org/officeDocument/2006/relationships" id="257" r:id="Rb8fe3f0fe19b4698"/>
    <p:sldId xmlns:r="http://schemas.openxmlformats.org/officeDocument/2006/relationships" id="258" r:id="Rc983e6c83d40449d"/>
    <p:sldId xmlns:r="http://schemas.openxmlformats.org/officeDocument/2006/relationships" id="259" r:id="Raee93649499b4d40"/>
    <p:sldId xmlns:r="http://schemas.openxmlformats.org/officeDocument/2006/relationships" id="260" r:id="Ra99048334c3844ee"/>
    <p:sldId xmlns:r="http://schemas.openxmlformats.org/officeDocument/2006/relationships" id="261" r:id="R786b0a58739c45d1"/>
    <p:sldId xmlns:r="http://schemas.openxmlformats.org/officeDocument/2006/relationships" id="262" r:id="Reffa4c10e5fc49c0"/>
    <p:sldId xmlns:r="http://schemas.openxmlformats.org/officeDocument/2006/relationships" id="263" r:id="Ra7d34a1aa7ea4259"/>
    <p:sldId xmlns:r="http://schemas.openxmlformats.org/officeDocument/2006/relationships" id="264" r:id="R8855893d7bfc45c6"/>
    <p:sldId xmlns:r="http://schemas.openxmlformats.org/officeDocument/2006/relationships" id="265" r:id="R44666e8aee8a4f7b"/>
    <p:sldId xmlns:r="http://schemas.openxmlformats.org/officeDocument/2006/relationships" id="266" r:id="R09424980a26948ae"/>
    <p:sldId xmlns:r="http://schemas.openxmlformats.org/officeDocument/2006/relationships" id="267" r:id="R690bf7a91cb047f2"/>
    <p:sldId xmlns:r="http://schemas.openxmlformats.org/officeDocument/2006/relationships" id="268" r:id="R7159884dfa194b03"/>
    <p:sldId xmlns:r="http://schemas.openxmlformats.org/officeDocument/2006/relationships" id="269" r:id="R2e962709361349ed"/>
    <p:sldId xmlns:r="http://schemas.openxmlformats.org/officeDocument/2006/relationships" id="270" r:id="Recf24e71079d4909"/>
    <p:sldId xmlns:r="http://schemas.openxmlformats.org/officeDocument/2006/relationships" id="271" r:id="R4f7deb13525246d6"/>
    <p:sldId xmlns:r="http://schemas.openxmlformats.org/officeDocument/2006/relationships" id="272" r:id="R866a041d1e114fbf"/>
    <p:sldId xmlns:r="http://schemas.openxmlformats.org/officeDocument/2006/relationships" id="273" r:id="R2f69e3df1e264757"/>
    <p:sldId xmlns:r="http://schemas.openxmlformats.org/officeDocument/2006/relationships" id="274" r:id="R884659e36e424c5a"/>
    <p:sldId xmlns:r="http://schemas.openxmlformats.org/officeDocument/2006/relationships" id="275" r:id="R99d938ea85424652"/>
    <p:sldId xmlns:r="http://schemas.openxmlformats.org/officeDocument/2006/relationships" id="276" r:id="R8e220d54560d45e2"/>
    <p:sldId xmlns:r="http://schemas.openxmlformats.org/officeDocument/2006/relationships" id="277" r:id="Ra15342d56da445f4"/>
    <p:sldId xmlns:r="http://schemas.openxmlformats.org/officeDocument/2006/relationships" id="278" r:id="R7a11d4691cdc4831"/>
    <p:sldId xmlns:r="http://schemas.openxmlformats.org/officeDocument/2006/relationships" id="279" r:id="Rc10dd6bf6ca3467d"/>
    <p:sldId xmlns:r="http://schemas.openxmlformats.org/officeDocument/2006/relationships" id="280" r:id="R87489880d2a447cc"/>
    <p:sldId xmlns:r="http://schemas.openxmlformats.org/officeDocument/2006/relationships" id="281" r:id="R856fbfc23588428a"/>
    <p:sldId xmlns:r="http://schemas.openxmlformats.org/officeDocument/2006/relationships" id="282" r:id="Rc6ff450011ea4e58"/>
    <p:sldId xmlns:r="http://schemas.openxmlformats.org/officeDocument/2006/relationships" id="283" r:id="R4466b533807f4089"/>
    <p:sldId xmlns:r="http://schemas.openxmlformats.org/officeDocument/2006/relationships" id="284" r:id="R6dea24931a974b0f"/>
    <p:sldId xmlns:r="http://schemas.openxmlformats.org/officeDocument/2006/relationships" id="285" r:id="R8d11519dd6e74c3b"/>
    <p:sldId xmlns:r="http://schemas.openxmlformats.org/officeDocument/2006/relationships" id="286" r:id="R55a3912fafc84ea5"/>
    <p:sldId xmlns:r="http://schemas.openxmlformats.org/officeDocument/2006/relationships" id="287" r:id="Re1d578d686c44e1c"/>
    <p:sldId xmlns:r="http://schemas.openxmlformats.org/officeDocument/2006/relationships" id="288" r:id="R35f5d2d2c1a14274"/>
    <p:sldId xmlns:r="http://schemas.openxmlformats.org/officeDocument/2006/relationships" id="289" r:id="Ra212b027cba5445b"/>
    <p:sldId xmlns:r="http://schemas.openxmlformats.org/officeDocument/2006/relationships" id="290" r:id="R253a3fc5c48e4221"/>
    <p:sldId xmlns:r="http://schemas.openxmlformats.org/officeDocument/2006/relationships" id="291" r:id="R89e8b26e9e0749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67ff5656e14366" /><Relationship Type="http://schemas.openxmlformats.org/officeDocument/2006/relationships/slideMaster" Target="/ppt/slideMasters/slideMaster1.xml" Id="R829aa71424af4036" /><Relationship Type="http://schemas.openxmlformats.org/officeDocument/2006/relationships/notesMaster" Target="/ppt/notesMasters/notesMaster1.xml" Id="R18ac1cf279cd480b" /><Relationship Type="http://schemas.openxmlformats.org/officeDocument/2006/relationships/presProps" Target="/ppt/presProps.xml" Id="R6a7d3e882d8e4a05" /><Relationship Type="http://schemas.openxmlformats.org/officeDocument/2006/relationships/tableStyles" Target="/ppt/tableStyles.xml" Id="R40cd935f874944e5" /><Relationship Type="http://schemas.openxmlformats.org/officeDocument/2006/relationships/slide" Target="/ppt/slides/slide1.xml" Id="R4c63db80f09a4d22" /><Relationship Type="http://schemas.openxmlformats.org/officeDocument/2006/relationships/slide" Target="/ppt/slides/slide2.xml" Id="Rb8fe3f0fe19b4698" /><Relationship Type="http://schemas.openxmlformats.org/officeDocument/2006/relationships/slide" Target="/ppt/slides/slide3.xml" Id="Rc983e6c83d40449d" /><Relationship Type="http://schemas.openxmlformats.org/officeDocument/2006/relationships/slide" Target="/ppt/slides/slide4.xml" Id="Raee93649499b4d40" /><Relationship Type="http://schemas.openxmlformats.org/officeDocument/2006/relationships/slide" Target="/ppt/slides/slide5.xml" Id="Ra99048334c3844ee" /><Relationship Type="http://schemas.openxmlformats.org/officeDocument/2006/relationships/slide" Target="/ppt/slides/slide6.xml" Id="R786b0a58739c45d1" /><Relationship Type="http://schemas.openxmlformats.org/officeDocument/2006/relationships/slide" Target="/ppt/slides/slide7.xml" Id="Reffa4c10e5fc49c0" /><Relationship Type="http://schemas.openxmlformats.org/officeDocument/2006/relationships/slide" Target="/ppt/slides/slide8.xml" Id="Ra7d34a1aa7ea4259" /><Relationship Type="http://schemas.openxmlformats.org/officeDocument/2006/relationships/slide" Target="/ppt/slides/slide9.xml" Id="R8855893d7bfc45c6" /><Relationship Type="http://schemas.openxmlformats.org/officeDocument/2006/relationships/slide" Target="/ppt/slides/slide10.xml" Id="R44666e8aee8a4f7b" /><Relationship Type="http://schemas.openxmlformats.org/officeDocument/2006/relationships/slide" Target="/ppt/slides/slide11.xml" Id="R09424980a26948ae" /><Relationship Type="http://schemas.openxmlformats.org/officeDocument/2006/relationships/slide" Target="/ppt/slides/slide12.xml" Id="R690bf7a91cb047f2" /><Relationship Type="http://schemas.openxmlformats.org/officeDocument/2006/relationships/slide" Target="/ppt/slides/slide13.xml" Id="R7159884dfa194b03" /><Relationship Type="http://schemas.openxmlformats.org/officeDocument/2006/relationships/slide" Target="/ppt/slides/slide14.xml" Id="R2e962709361349ed" /><Relationship Type="http://schemas.openxmlformats.org/officeDocument/2006/relationships/slide" Target="/ppt/slides/slide15.xml" Id="Recf24e71079d4909" /><Relationship Type="http://schemas.openxmlformats.org/officeDocument/2006/relationships/slide" Target="/ppt/slides/slide16.xml" Id="R4f7deb13525246d6" /><Relationship Type="http://schemas.openxmlformats.org/officeDocument/2006/relationships/slide" Target="/ppt/slides/slide17.xml" Id="R866a041d1e114fbf" /><Relationship Type="http://schemas.openxmlformats.org/officeDocument/2006/relationships/slide" Target="/ppt/slides/slide18.xml" Id="R2f69e3df1e264757" /><Relationship Type="http://schemas.openxmlformats.org/officeDocument/2006/relationships/slide" Target="/ppt/slides/slide19.xml" Id="R884659e36e424c5a" /><Relationship Type="http://schemas.openxmlformats.org/officeDocument/2006/relationships/slide" Target="/ppt/slides/slide20.xml" Id="R99d938ea85424652" /><Relationship Type="http://schemas.openxmlformats.org/officeDocument/2006/relationships/slide" Target="/ppt/slides/slide21.xml" Id="R8e220d54560d45e2" /><Relationship Type="http://schemas.openxmlformats.org/officeDocument/2006/relationships/slide" Target="/ppt/slides/slide22.xml" Id="Ra15342d56da445f4" /><Relationship Type="http://schemas.openxmlformats.org/officeDocument/2006/relationships/slide" Target="/ppt/slides/slide23.xml" Id="R7a11d4691cdc4831" /><Relationship Type="http://schemas.openxmlformats.org/officeDocument/2006/relationships/slide" Target="/ppt/slides/slide24.xml" Id="Rc10dd6bf6ca3467d" /><Relationship Type="http://schemas.openxmlformats.org/officeDocument/2006/relationships/slide" Target="/ppt/slides/slide25.xml" Id="R87489880d2a447cc" /><Relationship Type="http://schemas.openxmlformats.org/officeDocument/2006/relationships/slide" Target="/ppt/slides/slide26.xml" Id="R856fbfc23588428a" /><Relationship Type="http://schemas.openxmlformats.org/officeDocument/2006/relationships/slide" Target="/ppt/slides/slide27.xml" Id="Rc6ff450011ea4e58" /><Relationship Type="http://schemas.openxmlformats.org/officeDocument/2006/relationships/slide" Target="/ppt/slides/slide28.xml" Id="R4466b533807f4089" /><Relationship Type="http://schemas.openxmlformats.org/officeDocument/2006/relationships/slide" Target="/ppt/slides/slide29.xml" Id="R6dea24931a974b0f" /><Relationship Type="http://schemas.openxmlformats.org/officeDocument/2006/relationships/slide" Target="/ppt/slides/slide30.xml" Id="R8d11519dd6e74c3b" /><Relationship Type="http://schemas.openxmlformats.org/officeDocument/2006/relationships/slide" Target="/ppt/slides/slide31.xml" Id="R55a3912fafc84ea5" /><Relationship Type="http://schemas.openxmlformats.org/officeDocument/2006/relationships/slide" Target="/ppt/slides/slide32.xml" Id="Re1d578d686c44e1c" /><Relationship Type="http://schemas.openxmlformats.org/officeDocument/2006/relationships/slide" Target="/ppt/slides/slide33.xml" Id="R35f5d2d2c1a14274" /><Relationship Type="http://schemas.openxmlformats.org/officeDocument/2006/relationships/slide" Target="/ppt/slides/slide34.xml" Id="Ra212b027cba5445b" /><Relationship Type="http://schemas.openxmlformats.org/officeDocument/2006/relationships/slide" Target="/ppt/slides/slide35.xml" Id="R253a3fc5c48e4221" /><Relationship Type="http://schemas.openxmlformats.org/officeDocument/2006/relationships/slide" Target="/ppt/slides/slide36.xml" Id="R89e8b26e9e0749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5cb367d4a04e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0fbfcba9f14426" /><Relationship Type="http://schemas.openxmlformats.org/officeDocument/2006/relationships/notesMaster" Target="/ppt/notesMasters/notesMaster1.xml" Id="R82b62cda2a5c43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141bde6ff94f96" /><Relationship Type="http://schemas.openxmlformats.org/officeDocument/2006/relationships/notesMaster" Target="/ppt/notesMasters/notesMaster1.xml" Id="R7668eae33ca241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f861a39b6242e4" /><Relationship Type="http://schemas.openxmlformats.org/officeDocument/2006/relationships/notesMaster" Target="/ppt/notesMasters/notesMaster1.xml" Id="Rb0612c83041243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761c52d62f4170" /><Relationship Type="http://schemas.openxmlformats.org/officeDocument/2006/relationships/notesMaster" Target="/ppt/notesMasters/notesMaster1.xml" Id="R61bbfc3888fb4e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8fe59880ed43a9" /><Relationship Type="http://schemas.openxmlformats.org/officeDocument/2006/relationships/notesMaster" Target="/ppt/notesMasters/notesMaster1.xml" Id="R1220dcd6c04349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5acad0e2d74e7b" /><Relationship Type="http://schemas.openxmlformats.org/officeDocument/2006/relationships/notesMaster" Target="/ppt/notesMasters/notesMaster1.xml" Id="R9634d7773f8d45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9b92ae27824538" /><Relationship Type="http://schemas.openxmlformats.org/officeDocument/2006/relationships/notesMaster" Target="/ppt/notesMasters/notesMaster1.xml" Id="Rdb8ff4464faf4b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226d17cc844c49" /><Relationship Type="http://schemas.openxmlformats.org/officeDocument/2006/relationships/notesMaster" Target="/ppt/notesMasters/notesMaster1.xml" Id="R9920a44b129c4d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3ea48d6f5b4b40" /><Relationship Type="http://schemas.openxmlformats.org/officeDocument/2006/relationships/notesMaster" Target="/ppt/notesMasters/notesMaster1.xml" Id="R94e4a00956e34c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1d618496914504" /><Relationship Type="http://schemas.openxmlformats.org/officeDocument/2006/relationships/notesMaster" Target="/ppt/notesMasters/notesMaster1.xml" Id="R453f074abeea41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d3ae739c4c4384" /><Relationship Type="http://schemas.openxmlformats.org/officeDocument/2006/relationships/notesMaster" Target="/ppt/notesMasters/notesMaster1.xml" Id="Rec4d8aff8ed046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521a8e84ed4bd4" /><Relationship Type="http://schemas.openxmlformats.org/officeDocument/2006/relationships/notesMaster" Target="/ppt/notesMasters/notesMaster1.xml" Id="R621ca11c227847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c5543a420c42f1" /><Relationship Type="http://schemas.openxmlformats.org/officeDocument/2006/relationships/notesMaster" Target="/ppt/notesMasters/notesMaster1.xml" Id="R296a85c16bad4f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1f0bbd16604611" /><Relationship Type="http://schemas.openxmlformats.org/officeDocument/2006/relationships/notesMaster" Target="/ppt/notesMasters/notesMaster1.xml" Id="Ra3d03c64775b4a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36e37d30f24bcb" /><Relationship Type="http://schemas.openxmlformats.org/officeDocument/2006/relationships/notesMaster" Target="/ppt/notesMasters/notesMaster1.xml" Id="R85daa01d86e747c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8098d2b16e44f9" /><Relationship Type="http://schemas.openxmlformats.org/officeDocument/2006/relationships/notesMaster" Target="/ppt/notesMasters/notesMaster1.xml" Id="Raa9d066a08a7482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9e8356ab37045ba" /><Relationship Type="http://schemas.openxmlformats.org/officeDocument/2006/relationships/notesMaster" Target="/ppt/notesMasters/notesMaster1.xml" Id="R2f6c728eed5e4eb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85b10ffe4a245b1" /><Relationship Type="http://schemas.openxmlformats.org/officeDocument/2006/relationships/notesMaster" Target="/ppt/notesMasters/notesMaster1.xml" Id="R0d8a8a69afae46d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f1de2e1f3e3423c" /><Relationship Type="http://schemas.openxmlformats.org/officeDocument/2006/relationships/notesMaster" Target="/ppt/notesMasters/notesMaster1.xml" Id="R523616fb48b34bd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0714740fa9b4eda" /><Relationship Type="http://schemas.openxmlformats.org/officeDocument/2006/relationships/notesMaster" Target="/ppt/notesMasters/notesMaster1.xml" Id="Ra72d253eac474ec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0680b0d740f4995" /><Relationship Type="http://schemas.openxmlformats.org/officeDocument/2006/relationships/notesMaster" Target="/ppt/notesMasters/notesMaster1.xml" Id="R09f6f3a9c4424e8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fbd07229b07472b" /><Relationship Type="http://schemas.openxmlformats.org/officeDocument/2006/relationships/notesMaster" Target="/ppt/notesMasters/notesMaster1.xml" Id="R077129d2c9a64cb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f3f9dfca2794b07" /><Relationship Type="http://schemas.openxmlformats.org/officeDocument/2006/relationships/notesMaster" Target="/ppt/notesMasters/notesMaster1.xml" Id="Rdfba2a28adf84e3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84af02a17ab43e7" /><Relationship Type="http://schemas.openxmlformats.org/officeDocument/2006/relationships/notesMaster" Target="/ppt/notesMasters/notesMaster1.xml" Id="R1abcf01346cd44b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8b47f9a37bf4c0a" /><Relationship Type="http://schemas.openxmlformats.org/officeDocument/2006/relationships/notesMaster" Target="/ppt/notesMasters/notesMaster1.xml" Id="R939cba75891143c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56b09c12c6149cb" /><Relationship Type="http://schemas.openxmlformats.org/officeDocument/2006/relationships/notesMaster" Target="/ppt/notesMasters/notesMaster1.xml" Id="R6c1227931cd94de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6d55392adc846b0" /><Relationship Type="http://schemas.openxmlformats.org/officeDocument/2006/relationships/notesMaster" Target="/ppt/notesMasters/notesMaster1.xml" Id="R88ea8ad9cdff444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11b8a411873439a" /><Relationship Type="http://schemas.openxmlformats.org/officeDocument/2006/relationships/notesMaster" Target="/ppt/notesMasters/notesMaster1.xml" Id="Rbea62f25e49047f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775235ad9004a85" /><Relationship Type="http://schemas.openxmlformats.org/officeDocument/2006/relationships/notesMaster" Target="/ppt/notesMasters/notesMaster1.xml" Id="R3794d9f1503a4e0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223fae245294f1d" /><Relationship Type="http://schemas.openxmlformats.org/officeDocument/2006/relationships/notesMaster" Target="/ppt/notesMasters/notesMaster1.xml" Id="Rd8d6522b64d34cb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650506aa0f74650" /><Relationship Type="http://schemas.openxmlformats.org/officeDocument/2006/relationships/notesMaster" Target="/ppt/notesMasters/notesMaster1.xml" Id="Rb4a991c50d8d441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f559a145dfd437f" /><Relationship Type="http://schemas.openxmlformats.org/officeDocument/2006/relationships/notesMaster" Target="/ppt/notesMasters/notesMaster1.xml" Id="R2ed4a5cc65be4d5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d7819f2c4c946ca" /><Relationship Type="http://schemas.openxmlformats.org/officeDocument/2006/relationships/notesMaster" Target="/ppt/notesMasters/notesMaster1.xml" Id="R0589542f7fa1498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5b5150dc3ba4fa4" /><Relationship Type="http://schemas.openxmlformats.org/officeDocument/2006/relationships/notesMaster" Target="/ppt/notesMasters/notesMaster1.xml" Id="Ra9df41b122b249d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131c140b3a744af" /><Relationship Type="http://schemas.openxmlformats.org/officeDocument/2006/relationships/notesMaster" Target="/ppt/notesMasters/notesMaster1.xml" Id="R0912818e9fb3424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0b2c121ef3c404c" /><Relationship Type="http://schemas.openxmlformats.org/officeDocument/2006/relationships/notesMaster" Target="/ppt/notesMasters/notesMaster1.xml" Id="Rc00ef0825bd645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Open the Week 13 handout in Spyder. Tell students today is not new theory — Meeting A already defined every term used today (feature/target, train_test_split, naive baseline, MAE/RMSE/R2, residual, data leakage). Today they run it themselves, verify it, and produce the graded deliverable: the found-and-fixed leakage bug.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https://scikit-learn.org/stable/getting_started.html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Frame the whole session around this sentence — everything today is a check performed BY the student, not a fact read off a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State these four map directly onto the four required parts of this week's graded studio assignment — nothing here is extra credit.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Tell students today's four steps are exactly this week's graded studio deliverable, run live instead of read off a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students to find each term already worked out in their own Meeting A notes before running cell [1].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Confirm every student's data/ subfolder holds radley_portfolio_envelope.csv before cell [1] runs — this is the single most common blocker at the start of a studio.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https://docs.spyder-ide.org/current/faq.html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This slide is the map of the whole studio — point back to it before each new cell, exactly like the handout's four-heading cells.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If (140, 9) does not print, stop and fix DATA_PATH before anything else — every later cell depends on this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https://pandas.pydata.org/docs/getting_started/intro_tutorials/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Most students expect some kind of confirmation to print — naming this misconception before cell [2] runs prevents a real 'is it broken?' moment when nothing appears.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https://scikit-learn.org/stable/modules/generated/sklearn.model_selection.train_test_split.html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Both asserts must run silently — no output at all means both passed. Ask what a raised AssertionError would mean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https://scikit-learn.org/stable/modules/generated/sklearn.model_selection.train_test_split.html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Walk it left to right: build one set, build the other, then ask the single yes/no question — this is the exact line that just ran silently in cell [2].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https://scikit-learn.org/stable/modules/generated/sklearn.model_selection.train_test_split.html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Verified against the pinned course environment. Point at the docstring and both type hints by name before running — the handout requires this convention on every function students write from here to Project 2. R2 is printed to 5 decimals so the baseline's -0.00003 does not flatten to -0.0000.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Verified against the pinned course environment: predicts 28.0836, MAE 2.8906, RMSE 3.8154, R2 -0.00003. Every model this session is judged against this exact baseline — write it on the board before cell [4] runs.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https://scikit-learn.org/stable/modules/generated/sklearn.dummy.DummyRegressor.html</a:t>
            </a:r>
          </a:p>
          <a:p xmlns:a="http://schemas.openxmlformats.org/drawingml/2006/main">
            <a:r>
              <a:t>- https://scikit-learn.org/stable/modules/model_evaluation.html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out .fit() returns the fitted model itself, which is why LinearRegression().fit(...) can be written as one chained line — the next cell runs the same two calls, just split across two lines.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https://scikit-learn.org/stable/modules/generated/sklearn.linear_model.LinearRegression.html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Have students say aloud which sign they expected before revealing coef_ — this rehearses reading a coefficient's physical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https://scikit-learn.org/stable/modules/generated/sklearn.linear_model.LinearRegression.html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This exact table, printed from your own run, IS the first required artifact of this week's graded studio assignment.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Expected hand-added mean of the first 8 rows: approx 1.82 — a smaller, different number from the full-sample MAE of 2.2680; both are correct, they are simply computed over different-sized subsets.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Have students hand-sum the printed 8-row subset with a calculator BEFORE running the full-sample manual_mae line — the two numbers (approx 1.82 vs 2.2680) are both correct, over different subsets.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students to name the diagnosis in their own words before revealing this slide's explainBody — this is exactly the graded diagnosis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This is the identical chart data from Meeting A, now built by the student's own residual_table instead of read off a slide — point that out explicitly.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Remind students est_annual_cost_index correlates with eui_kwh_m2yr at 0.995574 — point back to Meeting A's exact number before running cell [9].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back at cell [2]'s explainBody, which named this contrast in passing — this slide gives it its own moment before cell [9] runs.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Verified against the pinned course environment: coef_ [0.3310, 0.0374, 0.3054, 7.1264], MAE 0.2852, RMSE 0.3342, R2 0.99233 (0.9923 to 4 decimals), corr 0.995574 — matches data/README.md. Ask: would you have caught this by reading the code alone, without checking R2 or the correlation? Most students say no — that is the point of checking metrics AND provenance.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https://scikit-learn.org/stable/modules/generated/sklearn.linear_model.LinearRegression.html</a:t>
            </a:r>
          </a:p>
          <a:p xmlns:a="http://schemas.openxmlformats.org/drawingml/2006/main">
            <a:r>
              <a:t>- https://scikit-learn.org/stable/modules/model_evaluation.html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Freshly verified against the pinned course environment on radley_portfolio_envelope.csv. Nothing prints from this cell — it only defines the function. Ask students where the 0.9 came from before revealing that it is a stated choice, not a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</a:t>
            </a:r>
          </a:p>
          <a:p xmlns:a="http://schemas.openxmlformats.org/drawingml/2006/main">
            <a:r>
              <a:t>- https://pandas.pydata.org/docs/getting_started/intro_tutorials/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Freshly verified against the pinned course environment (new numbers, not in data/README.md, which only records the 0.995574 target correlation): wwr +0.5740, shade_m -0.3481, glazing_shgc +0.0128, est_annual_cost_index +0.9956. The assert passes silently — ask what its silence is claiming.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</a:t>
            </a:r>
          </a:p>
          <a:p xmlns:a="http://schemas.openxmlformats.org/drawingml/2006/main">
            <a:r>
              <a:t>- https://pandas.pydata.org/docs/getting_started/intro_tutorials/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Say this contrast is the entire audit in one table — an honest, imperfect model next to a suspiciously perfect one, same rows, same split.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out this is the SAME two rows as the table two slides ago — a picture of the exact same collapse, not new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Many students expect SOME change, either better (for having 'fixed' something) or worse (for 'losing' a feature) — the identical-to-the-decimal result is the actual teaching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This cell, run and passing silently, is the second required artifact of this week's graded studio assignment: the corrected code, with the bug explained.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This is literally today's whole studio arc, in one chart — use it to preview the closing slide's takeaways.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Expected answers: computed from eui_kwh_m2yr * 0.14 + noise; correlation 0.995574; plausibility is not provenance; fix = drop the feature, MAE/R2 return to 2.2680/0.4937.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This is the required transfer check for this week's handout — point out it uses a genuinely different input than the live walkthrough, per the course's transfer-check policy.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Freshly verified against the pinned course environment on the actual radley_portfolio_envelope.csv with random_state=42: X_train wwr range 0.201-0.592, shade_m range 0.024-1.166.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https://scikit-learn.org/stable/modules/generated/sklearn.linear_model.LinearRegression.html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Remind students this satisfies the Week 13 milestone from the semester plan — nothing additional is owed beyond this handout.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This compiles as this week's graded weekly assignment — emphasize the four-heading cell structure is the rubric skeleton, matching every prior week's handout convention.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Exit ticket: students name, in one sentence, the ONE check they will run first before trusting any new feature an AI assistant suggests next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4ca69bd9cd47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fd77a4359d48f3" /><Relationship Type="http://schemas.openxmlformats.org/officeDocument/2006/relationships/slideLayout" Target="/ppt/slideLayouts/slideLayout1.xml" Id="R436e8bdfd14244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6e8bdfd14244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087bfd3ea4a9b" /><Relationship Type="http://schemas.openxmlformats.org/officeDocument/2006/relationships/notesSlide" Target="/ppt/notesSlides/notesSlide1.xml" Id="R2f7c023fe8c042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4b4475b834b10" /><Relationship Type="http://schemas.openxmlformats.org/officeDocument/2006/relationships/notesSlide" Target="/ppt/notesSlides/notesSlide2.xml" Id="R9d33616978aa4b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b8c5d86a547fd" /><Relationship Type="http://schemas.openxmlformats.org/officeDocument/2006/relationships/notesSlide" Target="/ppt/notesSlides/notesSlide3.xml" Id="R0310566c14434e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2524187ca46d8" /><Relationship Type="http://schemas.openxmlformats.org/officeDocument/2006/relationships/notesSlide" Target="/ppt/notesSlides/notesSlide4.xml" Id="Rafd0f0c56b4d4b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5e35da289436e" /><Relationship Type="http://schemas.openxmlformats.org/officeDocument/2006/relationships/notesSlide" Target="/ppt/notesSlides/notesSlide5.xml" Id="Ref1f09bb883c48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f424672234bc7" /><Relationship Type="http://schemas.openxmlformats.org/officeDocument/2006/relationships/notesSlide" Target="/ppt/notesSlides/notesSlide6.xml" Id="R286a8d5d02904c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c6f80efd543b9" /><Relationship Type="http://schemas.openxmlformats.org/officeDocument/2006/relationships/notesSlide" Target="/ppt/notesSlides/notesSlide7.xml" Id="R9eb2e4fc27914d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65bfeddbd4504" /><Relationship Type="http://schemas.openxmlformats.org/officeDocument/2006/relationships/notesSlide" Target="/ppt/notesSlides/notesSlide8.xml" Id="R0ed26991038943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a9efc3c564bc0" /><Relationship Type="http://schemas.openxmlformats.org/officeDocument/2006/relationships/notesSlide" Target="/ppt/notesSlides/notesSlide9.xml" Id="R6ee48427c4e04f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6ea557f364934" /><Relationship Type="http://schemas.openxmlformats.org/officeDocument/2006/relationships/notesSlide" Target="/ppt/notesSlides/notesSlide10.xml" Id="R0919b73068884c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7ca3141164d6e" /><Relationship Type="http://schemas.openxmlformats.org/officeDocument/2006/relationships/notesSlide" Target="/ppt/notesSlides/notesSlide11.xml" Id="Rba275d3b87df42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fc042677c4b54" /><Relationship Type="http://schemas.openxmlformats.org/officeDocument/2006/relationships/notesSlide" Target="/ppt/notesSlides/notesSlide12.xml" Id="R2b09f5b2f943405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08c60c86a467c" /><Relationship Type="http://schemas.openxmlformats.org/officeDocument/2006/relationships/notesSlide" Target="/ppt/notesSlides/notesSlide13.xml" Id="R34e50718267045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3506e386f4891" /><Relationship Type="http://schemas.openxmlformats.org/officeDocument/2006/relationships/notesSlide" Target="/ppt/notesSlides/notesSlide14.xml" Id="R607d8f288c874a4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d6f39c5b64b44" /><Relationship Type="http://schemas.openxmlformats.org/officeDocument/2006/relationships/notesSlide" Target="/ppt/notesSlides/notesSlide15.xml" Id="R73537821383b426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ba559c82140cb" /><Relationship Type="http://schemas.openxmlformats.org/officeDocument/2006/relationships/notesSlide" Target="/ppt/notesSlides/notesSlide16.xml" Id="R0736bfb044474d6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3b899ce184786" /><Relationship Type="http://schemas.openxmlformats.org/officeDocument/2006/relationships/notesSlide" Target="/ppt/notesSlides/notesSlide17.xml" Id="Rd978620db7ad4c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6dc4c9b9e455f" /><Relationship Type="http://schemas.openxmlformats.org/officeDocument/2006/relationships/notesSlide" Target="/ppt/notesSlides/notesSlide18.xml" Id="R9617dec1392e4d8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ad73d9a1742e8" /><Relationship Type="http://schemas.openxmlformats.org/officeDocument/2006/relationships/notesSlide" Target="/ppt/notesSlides/notesSlide19.xml" Id="Rcc4ec8b8dbab49f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6aa78517f4edb" /><Relationship Type="http://schemas.openxmlformats.org/officeDocument/2006/relationships/chart" Target="/ppt/slides/charts/chart1.xml" Id="R2bfcf6726d644969" /><Relationship Type="http://schemas.openxmlformats.org/officeDocument/2006/relationships/notesSlide" Target="/ppt/notesSlides/notesSlide20.xml" Id="Ra7721a6420834c3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f43b8a5524aae" /><Relationship Type="http://schemas.openxmlformats.org/officeDocument/2006/relationships/notesSlide" Target="/ppt/notesSlides/notesSlide21.xml" Id="R1436f856a4ef447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1d72115124546" /><Relationship Type="http://schemas.openxmlformats.org/officeDocument/2006/relationships/notesSlide" Target="/ppt/notesSlides/notesSlide22.xml" Id="Rede8ba2cb1ed437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7d1ba2efc4b15" /><Relationship Type="http://schemas.openxmlformats.org/officeDocument/2006/relationships/notesSlide" Target="/ppt/notesSlides/notesSlide23.xml" Id="R9b89b625aebc402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cd0b501fe46ac" /><Relationship Type="http://schemas.openxmlformats.org/officeDocument/2006/relationships/notesSlide" Target="/ppt/notesSlides/notesSlide24.xml" Id="R023f95ccc06448a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7b445e12c4b56" /><Relationship Type="http://schemas.openxmlformats.org/officeDocument/2006/relationships/notesSlide" Target="/ppt/notesSlides/notesSlide25.xml" Id="R90c51b1122c644d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9bf6837b54a29" /><Relationship Type="http://schemas.openxmlformats.org/officeDocument/2006/relationships/notesSlide" Target="/ppt/notesSlides/notesSlide26.xml" Id="R08008e389a694e8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3c45134324440" /><Relationship Type="http://schemas.openxmlformats.org/officeDocument/2006/relationships/chart" Target="/ppt/slides/charts/chart2.xml" Id="Redb2aca5270a4bd8" /><Relationship Type="http://schemas.openxmlformats.org/officeDocument/2006/relationships/notesSlide" Target="/ppt/notesSlides/notesSlide27.xml" Id="R2be6d0b66f2e4d2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08565de8549fe" /><Relationship Type="http://schemas.openxmlformats.org/officeDocument/2006/relationships/notesSlide" Target="/ppt/notesSlides/notesSlide28.xml" Id="R439fbbbd40574f2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cf7177f414ff0" /><Relationship Type="http://schemas.openxmlformats.org/officeDocument/2006/relationships/notesSlide" Target="/ppt/notesSlides/notesSlide29.xml" Id="Ra305e828f4ca48f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35aaa27884d1a" /><Relationship Type="http://schemas.openxmlformats.org/officeDocument/2006/relationships/chart" Target="/ppt/slides/charts/chart3.xml" Id="R7a2e77dafea94a83" /><Relationship Type="http://schemas.openxmlformats.org/officeDocument/2006/relationships/notesSlide" Target="/ppt/notesSlides/notesSlide30.xml" Id="R4e80fdd2b0814fe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8f012be314d50" /><Relationship Type="http://schemas.openxmlformats.org/officeDocument/2006/relationships/notesSlide" Target="/ppt/notesSlides/notesSlide31.xml" Id="Rd1801774cf46497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5f057fece4251" /><Relationship Type="http://schemas.openxmlformats.org/officeDocument/2006/relationships/notesSlide" Target="/ppt/notesSlides/notesSlide32.xml" Id="Rc45e5c3918d7452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8f0ce7f3d4da5" /><Relationship Type="http://schemas.openxmlformats.org/officeDocument/2006/relationships/notesSlide" Target="/ppt/notesSlides/notesSlide33.xml" Id="R3ca35fc9aeb84b4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638020ef74c8e" /><Relationship Type="http://schemas.openxmlformats.org/officeDocument/2006/relationships/notesSlide" Target="/ppt/notesSlides/notesSlide34.xml" Id="Rc38f48120c4348c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aeff90fad421f" /><Relationship Type="http://schemas.openxmlformats.org/officeDocument/2006/relationships/notesSlide" Target="/ppt/notesSlides/notesSlide35.xml" Id="R0a1e1c72857d4b3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4aea8a9214a39" /><Relationship Type="http://schemas.openxmlformats.org/officeDocument/2006/relationships/notesSlide" Target="/ppt/notesSlides/notesSlide36.xml" Id="Rcc3b41b723de4a7d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1316"/>
                </a:solidFill>
              </a:rPr>
              <a:t>Test-set residual (actual - predicted) vs. predicted EUI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11316"/>
              </a:solidFill>
            </a:defRPr>
          </a:pPr>
        </a:p>
      </c:txPr>
    </c:title>
    <c:plotArea>
      <c:scatterChart>
        <c:scatterStyle val="marker"/>
        <c:ser>
          <c:idx val="0"/>
          <c:order val="0"/>
          <c:tx>
            <c:v>residual (kWh/m2/yr)</c:v>
          </c:tx>
          <c:xVal>
            <c:numLit>
              <c:formatCode>General</c:formatCode>
              <c:ptCount val="0"/>
            </c:numLit>
          </c:xVal>
          <c:yVal>
            <c:numLit>
              <c:formatCode>General</c:formatCode>
              <c:ptCount val="35"/>
              <c:pt idx="0">
                <c:v>-3.57</c:v>
              </c:pt>
              <c:pt idx="1">
                <c:v>-0.69</c:v>
              </c:pt>
              <c:pt idx="2">
                <c:v>-3.28</c:v>
              </c:pt>
              <c:pt idx="3">
                <c:v>1.81</c:v>
              </c:pt>
              <c:pt idx="4">
                <c:v>2.35</c:v>
              </c:pt>
              <c:pt idx="5">
                <c:v>-2.56</c:v>
              </c:pt>
              <c:pt idx="6">
                <c:v>-6.34</c:v>
              </c:pt>
              <c:pt idx="7">
                <c:v>-0.6</c:v>
              </c:pt>
              <c:pt idx="8">
                <c:v>-4.56</c:v>
              </c:pt>
              <c:pt idx="9">
                <c:v>3.07</c:v>
              </c:pt>
              <c:pt idx="10">
                <c:v>0.41</c:v>
              </c:pt>
              <c:pt idx="11">
                <c:v>0.95</c:v>
              </c:pt>
              <c:pt idx="12">
                <c:v>1.18</c:v>
              </c:pt>
              <c:pt idx="13">
                <c:v>-1.87</c:v>
              </c:pt>
              <c:pt idx="14">
                <c:v>-0.04</c:v>
              </c:pt>
              <c:pt idx="15">
                <c:v>2.99</c:v>
              </c:pt>
              <c:pt idx="16">
                <c:v>-4.89</c:v>
              </c:pt>
              <c:pt idx="17">
                <c:v>2.51</c:v>
              </c:pt>
              <c:pt idx="18">
                <c:v>0.13</c:v>
              </c:pt>
              <c:pt idx="19">
                <c:v>0.59</c:v>
              </c:pt>
              <c:pt idx="20">
                <c:v>-1.61</c:v>
              </c:pt>
              <c:pt idx="21">
                <c:v>-0.75</c:v>
              </c:pt>
              <c:pt idx="22">
                <c:v>-3.35</c:v>
              </c:pt>
              <c:pt idx="23">
                <c:v>-3.27</c:v>
              </c:pt>
              <c:pt idx="24">
                <c:v>1.83</c:v>
              </c:pt>
              <c:pt idx="25">
                <c:v>2.59</c:v>
              </c:pt>
              <c:pt idx="26">
                <c:v>-2.49</c:v>
              </c:pt>
              <c:pt idx="27">
                <c:v>0.66</c:v>
              </c:pt>
              <c:pt idx="28">
                <c:v>-1.06</c:v>
              </c:pt>
              <c:pt idx="29">
                <c:v>0.71</c:v>
              </c:pt>
              <c:pt idx="30">
                <c:v>1.91</c:v>
              </c:pt>
              <c:pt idx="31">
                <c:v>-3.12</c:v>
              </c:pt>
              <c:pt idx="32">
                <c:v>-4.03</c:v>
              </c:pt>
              <c:pt idx="33">
                <c:v>4.22</c:v>
              </c:pt>
              <c:pt idx="34">
                <c:v>-3.4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6"/>
          <c:min val="-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3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A5F66"/>
                    </a:solidFill>
                  </a:rPr>
                  <a:t>Residual (actual - predicted)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A5F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5F66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3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A5F66"/>
                    </a:solidFill>
                  </a:rPr>
                  <a:t>Predicted EUI (kWh/m2/yr)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A5F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5F66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B8BCC4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B8BCC4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1316"/>
                </a:solidFill>
              </a:rPr>
              <a:t>wwr / shade_m / glazing_shgc coefficients, honest vs. leaking model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11316"/>
              </a:solidFill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3-feature (honest)</c:v>
          </c:tx>
          <c:invertIfNegative val="0"/>
          <c:cat>
            <c:strLit>
              <c:ptCount val="3"/>
              <c:pt idx="0">
                <c:v>wwr</c:v>
              </c:pt>
              <c:pt idx="1">
                <c:v>shade_m</c:v>
              </c:pt>
              <c:pt idx="2">
                <c:v>glazing_shgc</c:v>
              </c:pt>
            </c:strLit>
          </c:cat>
          <c:val>
            <c:numLit>
              <c:formatCode>General</c:formatCode>
              <c:ptCount val="3"/>
              <c:pt idx="0">
                <c:v>17.6545</c:v>
              </c:pt>
              <c:pt idx="1">
                <c:v>-3.3915</c:v>
              </c:pt>
              <c:pt idx="2">
                <c:v>3.4181</c:v>
              </c:pt>
            </c:numLit>
          </c:val>
        </c:ser>
        <c:ser>
          <c:idx val="1"/>
          <c:order val="1"/>
          <c:tx>
            <c:v>4-feature incl. leak</c:v>
          </c:tx>
          <c:cat>
            <c:strLit>
              <c:ptCount val="3"/>
              <c:pt idx="0">
                <c:v>wwr</c:v>
              </c:pt>
              <c:pt idx="1">
                <c:v>shade_m</c:v>
              </c:pt>
              <c:pt idx="2">
                <c:v>glazing_shgc</c:v>
              </c:pt>
            </c:strLit>
          </c:cat>
          <c:val>
            <c:numLit>
              <c:formatCode>General</c:formatCode>
              <c:ptCount val="3"/>
              <c:pt idx="0">
                <c:v>0.331</c:v>
              </c:pt>
              <c:pt idx="1">
                <c:v>0.0374</c:v>
              </c:pt>
              <c:pt idx="2">
                <c:v>0.3054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3E7"/>
              </a:solidFill>
              <a:prstDash val="solid"/>
            </a:ln>
          </c:spPr>
        </c:majorGridlines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A5F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5F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3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A5F66"/>
                    </a:solidFill>
                  </a:rPr>
                  <a:t>coefficient value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A5F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5F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B8BCC4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A5F66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B8BCC4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1316"/>
                </a:solidFill>
              </a:rPr>
              <a:t>R2 by model — baseline, honest, leak, fixed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11316"/>
              </a:solidFill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R2 (%)</c:v>
          </c:tx>
          <c:invertIfNegative val="0"/>
          <c:cat>
            <c:strLit>
              <c:ptCount val="4"/>
              <c:pt idx="0">
                <c:v>naive baseline</c:v>
              </c:pt>
              <c:pt idx="1">
                <c:v>3-feature (honest)</c:v>
              </c:pt>
              <c:pt idx="2">
                <c:v>4-feature incl. leak</c:v>
              </c:pt>
              <c:pt idx="3">
                <c:v>fixed (honest again)</c:v>
              </c:pt>
            </c:strLit>
          </c:cat>
          <c:val>
            <c:numLit>
              <c:formatCode>General</c:formatCode>
              <c:ptCount val="4"/>
              <c:pt idx="0">
                <c:v>-0.003</c:v>
              </c:pt>
              <c:pt idx="1">
                <c:v>49.37</c:v>
              </c:pt>
              <c:pt idx="2">
                <c:v>99.23</c:v>
              </c:pt>
              <c:pt idx="3">
                <c:v>49.37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3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A5F66"/>
                    </a:solidFill>
                  </a:rPr>
                  <a:t>model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A5F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5F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5"/>
          <c:min val="-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3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A5F66"/>
                    </a:solidFill>
                  </a:rPr>
                  <a:t>R2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A5F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5F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B8BCC4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B8BCC4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urse-mark">
            <a:extLst xmlns:a="http://schemas.openxmlformats.org/drawingml/2006/main">
              <a:ext uri="{FF2B5EF4-FFF2-40B4-BE49-F238E27FC236}">
                <a16:creationId xmlns:a16="http://schemas.microsoft.com/office/drawing/2014/main" id="{E3CC1289-A2DE-4B8E-AA29-8FD77EB6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&lt;&gt;  ARC 500</a:t>
            </a:r>
          </a:p>
        </p:txBody>
      </p:sp>
      <p:sp>
        <p:nvSpPr>
          <p:cNvPr id="2" name="course-full-title">
            <a:extLst xmlns:a="http://schemas.openxmlformats.org/drawingml/2006/main">
              <a:ext uri="{FF2B5EF4-FFF2-40B4-BE49-F238E27FC236}">
                <a16:creationId xmlns:a16="http://schemas.microsoft.com/office/drawing/2014/main" id="{5CA3CA5B-1BEC-4F5E-9AA2-601046E1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9AA1A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1AC"/>
                </a:solidFill>
                <a:latin typeface="Arial"/>
                <a:ea typeface="Arial"/>
                <a:cs typeface="Arial"/>
              </a:rPr>
              <a:t>Programming with Python and Generative AI  ·  Scripting, Data Analysis, Visualization, Problem-Solving, and Optimization</a:t>
            </a:r>
          </a:p>
        </p:txBody>
      </p:sp>
      <p:sp>
        <p:nvSpPr>
          <p:cNvPr id="3" name="accent-bar">
            <a:extLst xmlns:a="http://schemas.openxmlformats.org/drawingml/2006/main">
              <a:ext uri="{FF2B5EF4-FFF2-40B4-BE49-F238E27FC236}">
                <a16:creationId xmlns:a16="http://schemas.microsoft.com/office/drawing/2014/main" id="{D2D961F7-F65F-4B52-B3F9-EC3C9AD2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3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label">
            <a:extLst xmlns:a="http://schemas.openxmlformats.org/drawingml/2006/main">
              <a:ext uri="{FF2B5EF4-FFF2-40B4-BE49-F238E27FC236}">
                <a16:creationId xmlns:a16="http://schemas.microsoft.com/office/drawing/2014/main" id="{2CEDC72F-6617-4D2A-A942-03EC76DB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52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13 · MEETING B · REGRESSION STUDIO: BASELINE, METRICS, AND A LEAKAGE AUDIT</a:t>
            </a:r>
          </a:p>
        </p:txBody>
      </p:sp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7C975C32-9B5F-4990-9A22-829DAF24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7165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 it, calculate it by hand, then find the bug an AI assistant left in.</a:t>
            </a:r>
          </a:p>
        </p:txBody>
      </p:sp>
      <p:sp>
        <p:nvSpPr>
          <p:cNvPr id="6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E2F32747-3B4D-4851-8DDD-138769CE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914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Meeting B · Spyder studio — verify the split, hand-check a metric, diagnose V037's residual, and find AND fix the est_annual_cost_index leakage bug.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5265A-B189-4B6F-AD13-7290FC47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instructor">
            <a:extLst xmlns:a="http://schemas.openxmlformats.org/drawingml/2006/main">
              <a:ext uri="{FF2B5EF4-FFF2-40B4-BE49-F238E27FC236}">
                <a16:creationId xmlns:a16="http://schemas.microsoft.com/office/drawing/2014/main" id="{76663C9C-8782-492E-982A-EDDBFF49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JunHo Chun, PhD  ·  School of Architecture  ·  Syracuse University  ·  Fall 2026</a:t>
            </a:r>
          </a:p>
        </p:txBody>
      </p:sp>
    </p:spTree>
    <p:extLst>
      <p:ext uri="{BB962C8B-B14F-4D97-AF65-F5344CB8AC3E}">
        <p14:creationId xmlns:p14="http://schemas.microsoft.com/office/powerpoint/2010/main" val="5472537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DBFECAEF-8141-412D-A8D3-81A6A4FC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PRINCIPLE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7329937-257E-4D42-B56E-F6993042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metric you did not check yourself is a claim, not a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E022E-5A9F-42DD-B8CA-B65CE456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5FB4A25-CE78-4F98-89E4-B2AFF822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9AAC74-8A17-4F80-98A4-192E9A6A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statement">
            <a:extLst xmlns:a="http://schemas.openxmlformats.org/drawingml/2006/main">
              <a:ext uri="{FF2B5EF4-FFF2-40B4-BE49-F238E27FC236}">
                <a16:creationId xmlns:a16="http://schemas.microsoft.com/office/drawing/2014/main" id="{D9A2D84B-B139-4D5D-931E-CE474610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9829800" cy="1557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Running .fit() and reading a printed R² is not the same as knowing the number is right.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33667-F949-475F-A3B1-377BC6DA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6403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8" name="supporting">
            <a:extLst xmlns:a="http://schemas.openxmlformats.org/drawingml/2006/main">
              <a:ext uri="{FF2B5EF4-FFF2-40B4-BE49-F238E27FC236}">
                <a16:creationId xmlns:a16="http://schemas.microsoft.com/office/drawing/2014/main" id="{5BEC511C-05D7-4BA6-9281-3A04AF6A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0253"/>
            <a:ext cx="9334500" cy="87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Today's studio has one deliverable: verify the split, hand-compute a metric, diagnose the worst miss, and find AND fix a real leakage bug in AI-drafted code — the same bug shown in Meeting A, now yours to catch.</a:t>
            </a:r>
          </a:p>
        </p:txBody>
      </p:sp>
    </p:spTree>
    <p:extLst>
      <p:ext uri="{BB962C8B-B14F-4D97-AF65-F5344CB8AC3E}">
        <p14:creationId xmlns:p14="http://schemas.microsoft.com/office/powerpoint/2010/main" val="8769945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40F54971-3AAC-46AF-A183-A2E974A4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B2DF9BC-0834-4B73-9DF9-224E65A0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By the end, you should be able to…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BBC9C-DE6E-4519-A174-14FE9377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47F7BE5-5826-4983-8791-6E68D601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CF1DC93-3AA8-424A-BCEA-97B8253C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outcome-number-0">
            <a:extLst xmlns:a="http://schemas.openxmlformats.org/drawingml/2006/main">
              <a:ext uri="{FF2B5EF4-FFF2-40B4-BE49-F238E27FC236}">
                <a16:creationId xmlns:a16="http://schemas.microsoft.com/office/drawing/2014/main" id="{E5D21C45-2B2A-43C9-86C2-73B592FD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outcome-head-0">
            <a:extLst xmlns:a="http://schemas.openxmlformats.org/drawingml/2006/main">
              <a:ext uri="{FF2B5EF4-FFF2-40B4-BE49-F238E27FC236}">
                <a16:creationId xmlns:a16="http://schemas.microsoft.com/office/drawing/2014/main" id="{6D8D6CC7-BDEF-45FD-98F1-3B462D3D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8" name="outcome-body-0">
            <a:extLst xmlns:a="http://schemas.openxmlformats.org/drawingml/2006/main">
              <a:ext uri="{FF2B5EF4-FFF2-40B4-BE49-F238E27FC236}">
                <a16:creationId xmlns:a16="http://schemas.microsoft.com/office/drawing/2014/main" id="{EE0DB3C9-8626-42D8-AC91-207D47D4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Confirm train_test_split actually produced a 105/35 split with no row shared between train and test.</a:t>
            </a:r>
          </a:p>
        </p:txBody>
      </p:sp>
      <p:sp>
        <p:nvSpPr>
          <p:cNvPr id="9" name="outcome-number-1">
            <a:extLst xmlns:a="http://schemas.openxmlformats.org/drawingml/2006/main">
              <a:ext uri="{FF2B5EF4-FFF2-40B4-BE49-F238E27FC236}">
                <a16:creationId xmlns:a16="http://schemas.microsoft.com/office/drawing/2014/main" id="{2E420589-7BA4-40DF-9752-2F428CC6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outcome-head-1">
            <a:extLst xmlns:a="http://schemas.openxmlformats.org/drawingml/2006/main">
              <a:ext uri="{FF2B5EF4-FFF2-40B4-BE49-F238E27FC236}">
                <a16:creationId xmlns:a16="http://schemas.microsoft.com/office/drawing/2014/main" id="{4263CFA6-8C01-4326-A6D6-02B3FA37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Calculate</a:t>
            </a:r>
          </a:p>
        </p:txBody>
      </p:sp>
      <p:sp>
        <p:nvSpPr>
          <p:cNvPr id="11" name="outcome-body-1">
            <a:extLst xmlns:a="http://schemas.openxmlformats.org/drawingml/2006/main">
              <a:ext uri="{FF2B5EF4-FFF2-40B4-BE49-F238E27FC236}">
                <a16:creationId xmlns:a16="http://schemas.microsoft.com/office/drawing/2014/main" id="{E5ACFF07-07E1-44CC-829D-1CB9961C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Compute MAE from its own definition, by hand on a small subset and by formula on the full test set, and match it to sklearn's value.</a:t>
            </a:r>
          </a:p>
        </p:txBody>
      </p:sp>
      <p:sp>
        <p:nvSpPr>
          <p:cNvPr id="12" name="outcome-number-2">
            <a:extLst xmlns:a="http://schemas.openxmlformats.org/drawingml/2006/main">
              <a:ext uri="{FF2B5EF4-FFF2-40B4-BE49-F238E27FC236}">
                <a16:creationId xmlns:a16="http://schemas.microsoft.com/office/drawing/2014/main" id="{BDF038E6-1D3F-4F23-A184-EF693641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outcome-head-2">
            <a:extLst xmlns:a="http://schemas.openxmlformats.org/drawingml/2006/main">
              <a:ext uri="{FF2B5EF4-FFF2-40B4-BE49-F238E27FC236}">
                <a16:creationId xmlns:a16="http://schemas.microsoft.com/office/drawing/2014/main" id="{B9F7A9B3-F0BD-47A8-B2FE-545CCA52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Diagnose</a:t>
            </a:r>
          </a:p>
        </p:txBody>
      </p:sp>
      <p:sp>
        <p:nvSpPr>
          <p:cNvPr id="14" name="outcome-body-2">
            <a:extLst xmlns:a="http://schemas.openxmlformats.org/drawingml/2006/main">
              <a:ext uri="{FF2B5EF4-FFF2-40B4-BE49-F238E27FC236}">
                <a16:creationId xmlns:a16="http://schemas.microsoft.com/office/drawing/2014/main" id="{40D38E96-8671-4556-B078-21684EFD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Explain, using columns outside the model, why variant V037 is the single worst miss.</a:t>
            </a:r>
          </a:p>
        </p:txBody>
      </p:sp>
      <p:sp>
        <p:nvSpPr>
          <p:cNvPr id="15" name="outcome-number-3">
            <a:extLst xmlns:a="http://schemas.openxmlformats.org/drawingml/2006/main">
              <a:ext uri="{FF2B5EF4-FFF2-40B4-BE49-F238E27FC236}">
                <a16:creationId xmlns:a16="http://schemas.microsoft.com/office/drawing/2014/main" id="{0B429657-AC2E-47F0-9E05-50EE599B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outcome-head-3">
            <a:extLst xmlns:a="http://schemas.openxmlformats.org/drawingml/2006/main">
              <a:ext uri="{FF2B5EF4-FFF2-40B4-BE49-F238E27FC236}">
                <a16:creationId xmlns:a16="http://schemas.microsoft.com/office/drawing/2014/main" id="{70FCC851-8DD3-40B0-8D20-E212938C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Fix</a:t>
            </a:r>
          </a:p>
        </p:txBody>
      </p:sp>
      <p:sp>
        <p:nvSpPr>
          <p:cNvPr id="17" name="outcome-body-3">
            <a:extLst xmlns:a="http://schemas.openxmlformats.org/drawingml/2006/main">
              <a:ext uri="{FF2B5EF4-FFF2-40B4-BE49-F238E27FC236}">
                <a16:creationId xmlns:a16="http://schemas.microsoft.com/office/drawing/2014/main" id="{DF09C4E5-4D10-4D7E-9E89-11B20326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Find the est_annual_cost_index leakage bug in AI-drafted code, remove it, and prove the honest metrics return.</a:t>
            </a:r>
          </a:p>
        </p:txBody>
      </p:sp>
    </p:spTree>
    <p:extLst>
      <p:ext uri="{BB962C8B-B14F-4D97-AF65-F5344CB8AC3E}">
        <p14:creationId xmlns:p14="http://schemas.microsoft.com/office/powerpoint/2010/main" val="12024953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A50E2382-ACF8-4A9D-8A78-FFA63052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ROAD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CCD743-DE1D-484A-BAB2-F89A2AD3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Today’s learning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8CEBF-1CB2-4AA4-A36F-209823E4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C53A232-B293-4828-A08F-5B7BD4C8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AB69885-1B5A-4810-AA23-3B55E2AD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agenda-no-0">
            <a:extLst xmlns:a="http://schemas.openxmlformats.org/drawingml/2006/main">
              <a:ext uri="{FF2B5EF4-FFF2-40B4-BE49-F238E27FC236}">
                <a16:creationId xmlns:a16="http://schemas.microsoft.com/office/drawing/2014/main" id="{6C266285-51D1-4587-86B3-9578157D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40470-F248-45BB-AAE4-A5CD9D1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526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8" name="agenda-item-0">
            <a:extLst xmlns:a="http://schemas.openxmlformats.org/drawingml/2006/main">
              <a:ext uri="{FF2B5EF4-FFF2-40B4-BE49-F238E27FC236}">
                <a16:creationId xmlns:a16="http://schemas.microsoft.com/office/drawing/2014/main" id="{1F06E855-B114-4BA4-A61F-DB5819B0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431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 Meeting A's vocabulary, then open the Week 13 handout in Spyder</a:t>
            </a:r>
          </a:p>
        </p:txBody>
      </p:sp>
      <p:sp>
        <p:nvSpPr>
          <p:cNvPr id="9" name="agenda-no-1">
            <a:extLst xmlns:a="http://schemas.openxmlformats.org/drawingml/2006/main">
              <a:ext uri="{FF2B5EF4-FFF2-40B4-BE49-F238E27FC236}">
                <a16:creationId xmlns:a16="http://schemas.microsoft.com/office/drawing/2014/main" id="{C079C53E-A4EA-4A76-ADEE-B0A5483E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0A195-9E44-4F66-B444-99456607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670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agenda-item-1">
            <a:extLst xmlns:a="http://schemas.openxmlformats.org/drawingml/2006/main">
              <a:ext uri="{FF2B5EF4-FFF2-40B4-BE49-F238E27FC236}">
                <a16:creationId xmlns:a16="http://schemas.microsoft.com/office/drawing/2014/main" id="{1B3F7BBB-22B6-44C7-8F9B-6B2B84FF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575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Verify the split, run the naive baseline, and beat it with a 3-feature model</a:t>
            </a:r>
          </a:p>
        </p:txBody>
      </p:sp>
      <p:sp>
        <p:nvSpPr>
          <p:cNvPr id="12" name="agenda-no-2">
            <a:extLst xmlns:a="http://schemas.openxmlformats.org/drawingml/2006/main">
              <a:ext uri="{FF2B5EF4-FFF2-40B4-BE49-F238E27FC236}">
                <a16:creationId xmlns:a16="http://schemas.microsoft.com/office/drawing/2014/main" id="{D530D9E0-5A48-4561-B301-39C9455D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A0CB18-D6F3-4D71-A483-D30AB07B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4" name="agenda-item-2">
            <a:extLst xmlns:a="http://schemas.openxmlformats.org/drawingml/2006/main">
              <a:ext uri="{FF2B5EF4-FFF2-40B4-BE49-F238E27FC236}">
                <a16:creationId xmlns:a16="http://schemas.microsoft.com/office/drawing/2014/main" id="{806FFC10-A39E-49B5-AF67-B96BD189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719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Calculate MAE by hand, then diagnose the largest residual, V037</a:t>
            </a:r>
          </a:p>
        </p:txBody>
      </p:sp>
      <p:sp>
        <p:nvSpPr>
          <p:cNvPr id="15" name="agenda-no-3">
            <a:extLst xmlns:a="http://schemas.openxmlformats.org/drawingml/2006/main">
              <a:ext uri="{FF2B5EF4-FFF2-40B4-BE49-F238E27FC236}">
                <a16:creationId xmlns:a16="http://schemas.microsoft.com/office/drawing/2014/main" id="{E5991D84-CB04-4D02-96C6-BAEE853D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40412-4D53-4703-8622-096FF387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958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agenda-item-3">
            <a:extLst xmlns:a="http://schemas.openxmlformats.org/drawingml/2006/main">
              <a:ext uri="{FF2B5EF4-FFF2-40B4-BE49-F238E27FC236}">
                <a16:creationId xmlns:a16="http://schemas.microsoft.com/office/drawing/2014/main" id="{ED1FA26B-317C-4569-8FB8-5E7AC233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863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Audit the AI-drafted leakage bug, fix it, and run your own transfer check</a:t>
            </a:r>
          </a:p>
        </p:txBody>
      </p:sp>
    </p:spTree>
    <p:extLst>
      <p:ext uri="{BB962C8B-B14F-4D97-AF65-F5344CB8AC3E}">
        <p14:creationId xmlns:p14="http://schemas.microsoft.com/office/powerpoint/2010/main" val="1280045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kicker">
            <a:extLst xmlns:a="http://schemas.openxmlformats.org/drawingml/2006/main">
              <a:ext uri="{FF2B5EF4-FFF2-40B4-BE49-F238E27FC236}">
                <a16:creationId xmlns:a16="http://schemas.microsoft.com/office/drawing/2014/main" id="{E00AC62C-E974-4CDB-95E2-7A8F6159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B0DF685-B094-4045-A316-CD5C9FA2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 five terms from Meeting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8F243-EB8A-49C0-BC88-A48C2137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39ED0EE-A3C4-40CC-A204-312B06E6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A233172-B370-4C46-B67B-613B467F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AA503-E3FE-405E-A426-92A68C54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84256854-D2EB-4C82-84BB-3C3D250D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91F27-D677-4EA4-8B0E-9B0E8A2E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574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D50B9262-D7B6-4685-AB70-58A45DB3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336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618AE-4C31-4E5C-989D-CB0C6F1B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574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67EB76F4-99AD-400E-861A-3F171040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336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today's 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6482D-12A8-4F4A-BE4B-ABB73CFA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A288A060-54A1-43CD-A7C0-B96F788F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naive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74065-71C8-475E-9013-CA3AE755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9082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99DAB036-CB89-4811-B47E-ED581F47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6702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 the training mean, every row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9D8A24-F46D-472B-947C-BC55B516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9082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1686FE13-00A4-471A-B8EB-B043388C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6702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cell [3] — MAE=2.8906, R2 approx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3CE17-217D-4495-8F95-B4995C87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184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36D6EC78-15F5-43C4-94BA-8B267E3D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804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MAE / RMSE / R2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AAE20F-5C0A-41DD-861C-1CFCB7D4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3184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2FD2A433-5BF2-4AF9-8371-D4C46B54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804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avg |error| / RMS error / variance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D59DA8-4787-4FF2-BFC6-C5F1FD93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3184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FCBD96FD-0B38-42B0-90E2-153AE2B6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0804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hand-computed in cell [6], compared in cell [5]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357154-36DC-4FBF-B115-F37ECD9D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286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2-0">
            <a:extLst xmlns:a="http://schemas.openxmlformats.org/drawingml/2006/main">
              <a:ext uri="{FF2B5EF4-FFF2-40B4-BE49-F238E27FC236}">
                <a16:creationId xmlns:a16="http://schemas.microsoft.com/office/drawing/2014/main" id="{640892E5-8B0D-481D-8EC8-8A8C5CE5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906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residual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2D29F7-57BB-4E96-8834-D8F4AD29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7286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2-1">
            <a:extLst xmlns:a="http://schemas.openxmlformats.org/drawingml/2006/main">
              <a:ext uri="{FF2B5EF4-FFF2-40B4-BE49-F238E27FC236}">
                <a16:creationId xmlns:a16="http://schemas.microsoft.com/office/drawing/2014/main" id="{CA0D344A-CACD-48D1-AD25-766B4BDD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4906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actual minus predicted, per row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4A45F4-3B2B-404F-8426-4D1D8005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7286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2-2">
            <a:extLst xmlns:a="http://schemas.openxmlformats.org/drawingml/2006/main">
              <a:ext uri="{FF2B5EF4-FFF2-40B4-BE49-F238E27FC236}">
                <a16:creationId xmlns:a16="http://schemas.microsoft.com/office/drawing/2014/main" id="{660939BB-32E9-4429-BC79-868F981A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4906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diagnosed for V037 in cell [7]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320FDA-7FD8-4A83-B0C9-58753A78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388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3-0">
            <a:extLst xmlns:a="http://schemas.openxmlformats.org/drawingml/2006/main">
              <a:ext uri="{FF2B5EF4-FFF2-40B4-BE49-F238E27FC236}">
                <a16:creationId xmlns:a16="http://schemas.microsoft.com/office/drawing/2014/main" id="{CC5B3485-2F89-462A-9FAE-38F5B361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008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data leakage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782A46-F7B6-4C72-B322-0BF0DF49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1388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3-1">
            <a:extLst xmlns:a="http://schemas.openxmlformats.org/drawingml/2006/main">
              <a:ext uri="{FF2B5EF4-FFF2-40B4-BE49-F238E27FC236}">
                <a16:creationId xmlns:a16="http://schemas.microsoft.com/office/drawing/2014/main" id="{35061612-D25D-4BFB-A31D-AB090444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9008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feature computed FROM the target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44F644-E1D2-415E-BBD8-0BD797D3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1388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3-2">
            <a:extLst xmlns:a="http://schemas.openxmlformats.org/drawingml/2006/main">
              <a:ext uri="{FF2B5EF4-FFF2-40B4-BE49-F238E27FC236}">
                <a16:creationId xmlns:a16="http://schemas.microsoft.com/office/drawing/2014/main" id="{8FC0CF2B-F343-403E-BF17-B3EADBB6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9008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est_annual_cost_index bug, cells [9]-[10]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BBAFEF-CF3E-4D2F-8FEA-A4CB5646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4905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7" name="cell-4-0">
            <a:extLst xmlns:a="http://schemas.openxmlformats.org/drawingml/2006/main">
              <a:ext uri="{FF2B5EF4-FFF2-40B4-BE49-F238E27FC236}">
                <a16:creationId xmlns:a16="http://schemas.microsoft.com/office/drawing/2014/main" id="{3259B0FC-88A2-4592-AC51-F923E2BB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31105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train_test_split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787CF8-51C7-4434-9E5D-B0095E1B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954905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9" name="cell-4-1">
            <a:extLst xmlns:a="http://schemas.openxmlformats.org/drawingml/2006/main">
              <a:ext uri="{FF2B5EF4-FFF2-40B4-BE49-F238E27FC236}">
                <a16:creationId xmlns:a16="http://schemas.microsoft.com/office/drawing/2014/main" id="{E4EE70B4-45E5-49CA-B4F1-1F3059A2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31105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holds out 25% of rows, seed fixed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4004FC-B5DB-4D43-8085-BF01937A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4905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1" name="cell-4-2">
            <a:extLst xmlns:a="http://schemas.openxmlformats.org/drawingml/2006/main">
              <a:ext uri="{FF2B5EF4-FFF2-40B4-BE49-F238E27FC236}">
                <a16:creationId xmlns:a16="http://schemas.microsoft.com/office/drawing/2014/main" id="{1F001C01-68D8-4DF2-9B67-C74E913B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031105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verified with an index-overlap check in cell [2]</a:t>
            </a:r>
          </a:p>
        </p:txBody>
      </p:sp>
      <p:sp>
        <p:nvSpPr>
          <p:cNvPr id="42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768CB2BF-A1BD-4CDC-8AC5-2E464F05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43" name="callout">
            <a:extLst xmlns:a="http://schemas.openxmlformats.org/drawingml/2006/main">
              <a:ext uri="{FF2B5EF4-FFF2-40B4-BE49-F238E27FC236}">
                <a16:creationId xmlns:a16="http://schemas.microsoft.com/office/drawing/2014/main" id="{CCB08AD0-1EC3-4707-B4EA-343DDDB0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Every term above already has a full definition from Meeting A — today is about running each one yourself, not re-learning it.</a:t>
            </a:r>
          </a:p>
        </p:txBody>
      </p:sp>
    </p:spTree>
    <p:extLst>
      <p:ext uri="{BB962C8B-B14F-4D97-AF65-F5344CB8AC3E}">
        <p14:creationId xmlns:p14="http://schemas.microsoft.com/office/powerpoint/2010/main" val="4051409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1062D3DC-6628-4014-8CE5-1C5D5DFB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SPYDER INTERFACE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6C8E1DD-68DA-427C-9E54-D5912B43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Open the Week 13 handout and confirm your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6579D-F194-4775-92D0-214DCA05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CB79297-3671-41A6-A3D3-D7A0E6BE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3F11418-3B5B-4F8D-87B9-A7F4BF69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app-frame">
            <a:extLst xmlns:a="http://schemas.openxmlformats.org/drawingml/2006/main">
              <a:ext uri="{FF2B5EF4-FFF2-40B4-BE49-F238E27FC236}">
                <a16:creationId xmlns:a16="http://schemas.microsoft.com/office/drawing/2014/main" id="{EBD57579-9807-43D0-9C09-C7037A4E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4248150"/>
          </a:xfrm>
          <a:prstGeom xmlns:a="http://schemas.openxmlformats.org/drawingml/2006/main" prst="roundRect">
            <a:avLst>
              <a:gd name="adj" fmla="val 897"/>
            </a:avLst>
          </a:prstGeom>
          <a:solidFill xmlns:a="http://schemas.openxmlformats.org/drawingml/2006/main">
            <a:srgbClr val="E8EA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app-toolbar">
            <a:extLst xmlns:a="http://schemas.openxmlformats.org/drawingml/2006/main">
              <a:ext uri="{FF2B5EF4-FFF2-40B4-BE49-F238E27FC236}">
                <a16:creationId xmlns:a16="http://schemas.microsoft.com/office/drawing/2014/main" id="{65DA355E-4787-40E2-8FA9-579F0023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8" name="app-name">
            <a:extLst xmlns:a="http://schemas.openxmlformats.org/drawingml/2006/main">
              <a:ext uri="{FF2B5EF4-FFF2-40B4-BE49-F238E27FC236}">
                <a16:creationId xmlns:a16="http://schemas.microsoft.com/office/drawing/2014/main" id="{C8FC81D7-1B0B-4E92-A4E9-69B3BDE9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954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SPYDER</a:t>
            </a:r>
          </a:p>
        </p:txBody>
      </p:sp>
      <p:sp>
        <p:nvSpPr>
          <p:cNvPr id="9" name="editor-pane">
            <a:extLst xmlns:a="http://schemas.openxmlformats.org/drawingml/2006/main">
              <a:ext uri="{FF2B5EF4-FFF2-40B4-BE49-F238E27FC236}">
                <a16:creationId xmlns:a16="http://schemas.microsoft.com/office/drawing/2014/main" id="{E513DAC7-E7AB-425E-8C93-E1D992DB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62865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editor-label">
            <a:extLst xmlns:a="http://schemas.openxmlformats.org/drawingml/2006/main">
              <a:ext uri="{FF2B5EF4-FFF2-40B4-BE49-F238E27FC236}">
                <a16:creationId xmlns:a16="http://schemas.microsoft.com/office/drawing/2014/main" id="{62FC09F4-4742-447D-986B-51582425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EDITOR</a:t>
            </a:r>
          </a:p>
        </p:txBody>
      </p:sp>
      <p:sp>
        <p:nvSpPr>
          <p:cNvPr id="11" name="editor-text">
            <a:extLst xmlns:a="http://schemas.openxmlformats.org/drawingml/2006/main">
              <a:ext uri="{FF2B5EF4-FFF2-40B4-BE49-F238E27FC236}">
                <a16:creationId xmlns:a16="http://schemas.microsoft.com/office/drawing/2014/main" id="{579FEDE6-0C99-4F95-A8D3-EC8409F9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5867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DATA_PATH = Path("data") / "radley_portfolio_envelope.csv"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portfolio = pd.read_csv(DATA_PATH, sep=",")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print(portfolio.shape)</a:t>
            </a:r>
          </a:p>
        </p:txBody>
      </p:sp>
      <p:sp>
        <p:nvSpPr>
          <p:cNvPr id="12" name="explorer-pane">
            <a:extLst xmlns:a="http://schemas.openxmlformats.org/drawingml/2006/main">
              <a:ext uri="{FF2B5EF4-FFF2-40B4-BE49-F238E27FC236}">
                <a16:creationId xmlns:a16="http://schemas.microsoft.com/office/drawing/2014/main" id="{AB769E19-16FC-4500-8A73-32A17555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43150"/>
            <a:ext cx="41338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explorer-label">
            <a:extLst xmlns:a="http://schemas.openxmlformats.org/drawingml/2006/main">
              <a:ext uri="{FF2B5EF4-FFF2-40B4-BE49-F238E27FC236}">
                <a16:creationId xmlns:a16="http://schemas.microsoft.com/office/drawing/2014/main" id="{4BE139C2-8D50-40B6-9A54-9ECF0B27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955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VARIABLE EXPLORER</a:t>
            </a:r>
          </a:p>
        </p:txBody>
      </p:sp>
      <p:sp>
        <p:nvSpPr>
          <p:cNvPr id="14" name="explorer-text">
            <a:extLst xmlns:a="http://schemas.openxmlformats.org/drawingml/2006/main">
              <a:ext uri="{FF2B5EF4-FFF2-40B4-BE49-F238E27FC236}">
                <a16:creationId xmlns:a16="http://schemas.microsoft.com/office/drawing/2014/main" id="{4F6150C7-150D-4760-80BA-0938F27B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19400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portfolio   DataFrame   (140, 9)</a:t>
            </a:r>
          </a:p>
        </p:txBody>
      </p:sp>
      <p:sp>
        <p:nvSpPr>
          <p:cNvPr id="15" name="console-pane">
            <a:extLst xmlns:a="http://schemas.openxmlformats.org/drawingml/2006/main">
              <a:ext uri="{FF2B5EF4-FFF2-40B4-BE49-F238E27FC236}">
                <a16:creationId xmlns:a16="http://schemas.microsoft.com/office/drawing/2014/main" id="{99BB84D5-8F2C-4D97-A1CA-D9D95818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62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16" name="console-label">
            <a:extLst xmlns:a="http://schemas.openxmlformats.org/drawingml/2006/main">
              <a:ext uri="{FF2B5EF4-FFF2-40B4-BE49-F238E27FC236}">
                <a16:creationId xmlns:a16="http://schemas.microsoft.com/office/drawing/2014/main" id="{256C7EB3-932A-4DAE-996F-446273A9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IPYTHON CONSOLE</a:t>
            </a:r>
          </a:p>
        </p:txBody>
      </p:sp>
      <p:sp>
        <p:nvSpPr>
          <p:cNvPr id="17" name="console-text">
            <a:extLst xmlns:a="http://schemas.openxmlformats.org/drawingml/2006/main">
              <a:ext uri="{FF2B5EF4-FFF2-40B4-BE49-F238E27FC236}">
                <a16:creationId xmlns:a16="http://schemas.microsoft.com/office/drawing/2014/main" id="{D057B9C9-0552-4A52-B6BE-F477BADA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10248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 [1]: portfolio.shape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Out[1]: (140, 9)</a:t>
            </a:r>
          </a:p>
        </p:txBody>
      </p:sp>
    </p:spTree>
    <p:extLst>
      <p:ext uri="{BB962C8B-B14F-4D97-AF65-F5344CB8AC3E}">
        <p14:creationId xmlns:p14="http://schemas.microsoft.com/office/powerpoint/2010/main" val="9601347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EDEE99CF-2ABA-4ED4-9E5D-D5D909AB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BA6DB20-2E89-428F-A09F-45329AE8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Today's pipeline is four ordered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2C6DE-782E-4BCF-BEEB-9F68240F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8FC37F1-BCA7-4C15-868E-D80C70B2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9E13BA8-057F-4B0A-93D2-2E583019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54D6B061-C172-4C22-88A1-B4EF14A5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3E3A5241-9D2F-4866-AC61-29123244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55249D4B-1698-4F1F-8A23-F6E49873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165C55A7-842B-4331-B1D7-5A9D4F7D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9F72B2AF-E1E0-4B80-86E4-0C77BC83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8E3A44A6-7E3E-4110-8FCE-EE1915B2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A9DB6-CD17-47D1-B427-93133D55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D1315B99-D1C2-4C63-BA0E-BF08715F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 the split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EDE38D71-3226-4DDF-A360-944E4DE4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Print shapes; assert 105+35=140 and no shared row index between train and test.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FA1F50E3-3C21-4771-B175-71CF6F8F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9E4D8EB8-B8A8-4915-8BAF-3C8D6ABF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A6751BFB-541D-480E-81B8-DFFC8B23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BASELINE +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583AEC-918D-46D8-A280-93009F92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C165ADAF-3005-42E4-BC46-966C64B2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Beat (or fail) the mean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0198371D-CE24-4F6A-91AD-7717A1B0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Fit DummyRegressor, then the 3-feature LinearRegression; compare MAE/RMSE/R2 in one table.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2FC37602-D76D-4406-AF12-D783F44F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77FB7CE4-A0D3-4D36-99E8-51AF0140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436F2799-4916-4B53-9EE5-059EBEAF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CALCULATE + DIAGNOSE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26F959-B33B-4AE6-A5BC-2AF8EBB3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DA995A45-10C1-45C5-BE98-834693B2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797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Hand-check MAE, find the worst miss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F39ADD91-ECEF-41F4-AC4D-86A9E9EA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7214"/>
            <a:ext cx="2190750" cy="2231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Compute MAE from its own definition; diagnose why V037's residual is so large.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533B13A2-84A6-45B6-A544-BE98BA19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99B5B3F-E160-48B7-8650-321F9EF5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026E8025-FE35-44C9-8CD9-F7A6D7FB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AUDIT + FIX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379AFB-FBA0-4561-802E-010377A7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197E6F3D-D218-4E3E-8CFB-3345FB1B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Catch and fix the leakage bug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4663E7A2-1019-41A7-A98F-40180DF2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Run the AI-drafted 4-feature version, spot R2=0.9923 as a red flag, remove the bug, confirm the fix.</a:t>
            </a:r>
          </a:p>
        </p:txBody>
      </p:sp>
    </p:spTree>
    <p:extLst>
      <p:ext uri="{BB962C8B-B14F-4D97-AF65-F5344CB8AC3E}">
        <p14:creationId xmlns:p14="http://schemas.microsoft.com/office/powerpoint/2010/main" val="20489763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86567D35-8DEB-408C-AFE3-E19E480D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EC78336-945A-4F2F-9D2E-2009E1C3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[1] Load the portfolio, confirm 140 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D7D11-1E58-4460-B191-32D567D2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6594BF7-40F8-4451-8D26-B5F9483E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DBD2FEC-C7F1-4E2C-97E1-CE485483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F3045494-12A2-491A-8874-E420BA88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2CC2DA9E-80CF-48B4-94D7-F32E651D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from pathlib import Path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pandas as pd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DATA_PATH = Path("data") / "radley_portfolio_envelope.csv"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portfolio = pd.read_csv(DATA_PATH, sep=",")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print(portfolio.shape)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FE067-7E45-490F-B80C-AF15A14C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B71C3492-EAF8-4ACB-85C4-0E2A2A81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63A7433A-7CC2-43CE-ADAA-F4C269DF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(140, 9)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2D6EF07B-16D7-4FAB-AFBF-DDB4A972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140-row portfolio as Meeting A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44EE10BA-BBEE-417E-985F-F3DE4B8A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71672"/>
            <a:ext cx="3695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eui_kwh_m2yr is the TARGET. wwr, shade_m, glazing_shgc are today's three FEATURES. est_annual_cost_index sits in the file too — reporting-only, never a feature (exactly today's bug).</a:t>
            </a:r>
          </a:p>
        </p:txBody>
      </p:sp>
    </p:spTree>
    <p:extLst>
      <p:ext uri="{BB962C8B-B14F-4D97-AF65-F5344CB8AC3E}">
        <p14:creationId xmlns:p14="http://schemas.microsoft.com/office/powerpoint/2010/main" val="9944248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BA595B4F-DCD6-45E6-9EDE-2B5F19E3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2841DA8-F836-48E7-8216-9044A9F0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Predict: what prints when a verify-step assert passes?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7DD5F-6524-4D6C-924C-5D7F8C93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E37917B-8FD0-453A-A849-26D023DB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FAF1090-379D-4080-A076-8F71CEF9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D6BB780B-7E0B-41FB-8641-7710F624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8D1C8BD5-3357-4D5F-BF71-2281D754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X_train, X_test, y_train, y_test = train_test_split(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X, y, test_size=0.25, random_state=42)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assert len(X_train) + len(X_test) == 140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assert set(X_train.index).isdisjoint(set(X_test.index))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B9E246F5-1333-4319-A234-E423E958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Both asserts pass. What prints to the console?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F71C02F7-E9A0-41BA-974A-12C4BA09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70CEB5BB-7073-4153-A33B-439A069E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5EA0FB23-21EE-46DD-AA28-C277A404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"True" printed once for each assert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1A4E8732-BB7D-48B0-BE01-5856E9BF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786619DD-79BE-4FBB-A76A-8ED2EDEF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A9CEC74B-B28A-4195-B759-87871539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"140" then "isdisjoint: True"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C649CBF1-81A9-4DE9-A003-AE8CDB3D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9D199870-066A-4FA9-8A20-D17AD66A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F1BE543B-3A94-40B0-BEA3-180169CF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Nothing at all — a passing assert produces no output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8B185019-5D94-4402-B8E6-13A5B152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B16D5981-43C5-4E93-99B9-C2567D05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940A3E4A-7D3F-487B-A51F-365A7C99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 AssertionError, since nothing confirmed success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16681715-4E98-49DC-AB92-D5F82205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62762EFC-2303-4BA3-80E3-3D5B28B6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C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120049ED-6071-4FA0-A74F-E264BE13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assert only speaks when it FAILS — silence here IS "both checks passed." Confirmation needs your own print() line.</a:t>
            </a:r>
          </a:p>
        </p:txBody>
      </p:sp>
    </p:spTree>
    <p:extLst>
      <p:ext uri="{BB962C8B-B14F-4D97-AF65-F5344CB8AC3E}">
        <p14:creationId xmlns:p14="http://schemas.microsoft.com/office/powerpoint/2010/main" val="10648478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0E5EFDC7-EA32-4CB7-B624-EEE69A8C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3C7D0EC-6C31-4CFE-8D6E-B85EF747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[2] Verify the split — not just its shapes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0F224-74EA-41D2-A81F-17A37AB9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E4741EE-2FDE-4FDC-834A-B9C3D2F9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4AD5E0D-7AC3-4661-B415-B29AE517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11C1C2CB-3129-4532-85BC-EE301E2F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1FE88429-C35D-4C50-8CF6-D2002F83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from sklearn.model_selection import train_test_split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FEATURES3 = ["wwr", "shade_m", "glazing_shgc"]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X = portfolio[FEATURES3]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y = portfolio["eui_kwh_m2yr"]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X_train, X_test, y_train, y_test = train_test_split(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X, y, test_size=0.25, random_state=42)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print(X_train.shape, X_test.shape)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assert len(X_train) + len(X_test) == 140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assert set(X_train.index).isdisjoint(set(X_test.index))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12913-E691-4FBE-AB58-0FD3215D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9CA0C33E-4172-46A3-BE0D-57BA5FD1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D19B0E05-3D46-4362-B7EA-143F949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(105, 3) (35, 3)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911F93D8-1332-4221-99D5-6E99653F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3360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Two real checks, not one printed shape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36440EB8-63F4-47CE-9EF7-71ABD453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19222"/>
            <a:ext cx="3695700" cy="272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 set is a collection with no duplicates and no order — {1,2,3}.isdisjoint({4,5}) is True (nothing shared), {1,2,3}.isdisjoint({3,4}) is False. Converting each index to a set and calling .isdisjoint() asks one question: does ANY row-index number appear in both train and test? A correct-LOOKING shape can still hide overlap if code elsewhere re-samples the data — this is a DIFFERENT kind of leakage (rows, not columns) from cells [9]-[10]'s bug.</a:t>
            </a:r>
          </a:p>
        </p:txBody>
      </p:sp>
    </p:spTree>
    <p:extLst>
      <p:ext uri="{BB962C8B-B14F-4D97-AF65-F5344CB8AC3E}">
        <p14:creationId xmlns:p14="http://schemas.microsoft.com/office/powerpoint/2010/main" val="18601259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EB2B052C-E8B7-41DC-9EBD-BF9E495F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ANATOMY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56F97A7-7922-46E5-810D-112A5005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Anatomy: the isdisjoint() overlap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A6101-F8FC-4216-A5FD-0086ABE8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B013FD7-38B6-4D46-8F01-D9560F88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D315F16-558D-47E7-B45F-76B833C1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anatomy-code-panel">
            <a:extLst xmlns:a="http://schemas.openxmlformats.org/drawingml/2006/main">
              <a:ext uri="{FF2B5EF4-FFF2-40B4-BE49-F238E27FC236}">
                <a16:creationId xmlns:a16="http://schemas.microsoft.com/office/drawing/2014/main" id="{D6E008BC-2C26-4862-A414-71536629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anatomy-code">
            <a:extLst xmlns:a="http://schemas.openxmlformats.org/drawingml/2006/main">
              <a:ext uri="{FF2B5EF4-FFF2-40B4-BE49-F238E27FC236}">
                <a16:creationId xmlns:a16="http://schemas.microsoft.com/office/drawing/2014/main" id="{A246ACA3-74A4-4113-95F2-F52F3453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57400"/>
            <a:ext cx="7421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set(X_train.index).isdisjoint(set(X_test.index))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14262-7515-4B1A-A3EA-C84898A0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47950"/>
            <a:ext cx="26403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9" name="part-chip-0">
            <a:extLst xmlns:a="http://schemas.openxmlformats.org/drawingml/2006/main">
              <a:ext uri="{FF2B5EF4-FFF2-40B4-BE49-F238E27FC236}">
                <a16:creationId xmlns:a16="http://schemas.microsoft.com/office/drawing/2014/main" id="{96A702A4-13FD-4690-BA06-680980BA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09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t-chipno-0">
            <a:extLst xmlns:a="http://schemas.openxmlformats.org/drawingml/2006/main">
              <a:ext uri="{FF2B5EF4-FFF2-40B4-BE49-F238E27FC236}">
                <a16:creationId xmlns:a16="http://schemas.microsoft.com/office/drawing/2014/main" id="{864348C3-0DAC-4C6F-8BDD-BABBEC73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09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part-lchip-0">
            <a:extLst xmlns:a="http://schemas.openxmlformats.org/drawingml/2006/main">
              <a:ext uri="{FF2B5EF4-FFF2-40B4-BE49-F238E27FC236}">
                <a16:creationId xmlns:a16="http://schemas.microsoft.com/office/drawing/2014/main" id="{2FCB1B44-1299-4314-8DF9-0AD8B56C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65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-lchipno-0">
            <a:extLst xmlns:a="http://schemas.openxmlformats.org/drawingml/2006/main">
              <a:ext uri="{FF2B5EF4-FFF2-40B4-BE49-F238E27FC236}">
                <a16:creationId xmlns:a16="http://schemas.microsoft.com/office/drawing/2014/main" id="{3DDEB863-9E82-4DD4-92E4-D2420168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65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art-head-0">
            <a:extLst xmlns:a="http://schemas.openxmlformats.org/drawingml/2006/main">
              <a:ext uri="{FF2B5EF4-FFF2-40B4-BE49-F238E27FC236}">
                <a16:creationId xmlns:a16="http://schemas.microsoft.com/office/drawing/2014/main" id="{85DFDCE2-F825-44D1-BDCE-0B7A62C5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" y="3009900"/>
            <a:ext cx="217170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Train rows, as a set</a:t>
            </a:r>
          </a:p>
        </p:txBody>
      </p:sp>
      <p:sp>
        <p:nvSpPr>
          <p:cNvPr id="14" name="part-body-0">
            <a:extLst xmlns:a="http://schemas.openxmlformats.org/drawingml/2006/main">
              <a:ext uri="{FF2B5EF4-FFF2-40B4-BE49-F238E27FC236}">
                <a16:creationId xmlns:a16="http://schemas.microsoft.com/office/drawing/2014/main" id="{8142B171-142B-4BF8-9D25-B1CEC557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65" y="3637026"/>
            <a:ext cx="247650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 set has no order or duplicates — it turns the 105 training row numbers into one collection.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FE102-56CD-4B48-BA5A-8E6E6DDD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647950"/>
            <a:ext cx="1760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6" name="part-chip-1">
            <a:extLst xmlns:a="http://schemas.openxmlformats.org/drawingml/2006/main">
              <a:ext uri="{FF2B5EF4-FFF2-40B4-BE49-F238E27FC236}">
                <a16:creationId xmlns:a16="http://schemas.microsoft.com/office/drawing/2014/main" id="{CD8C084D-26F1-409C-9C40-3ED040BD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836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rt-chipno-1">
            <a:extLst xmlns:a="http://schemas.openxmlformats.org/drawingml/2006/main">
              <a:ext uri="{FF2B5EF4-FFF2-40B4-BE49-F238E27FC236}">
                <a16:creationId xmlns:a16="http://schemas.microsoft.com/office/drawing/2014/main" id="{FE303A7A-76D1-4E7C-AE30-07513AEC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836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part-lchip-1">
            <a:extLst xmlns:a="http://schemas.openxmlformats.org/drawingml/2006/main">
              <a:ext uri="{FF2B5EF4-FFF2-40B4-BE49-F238E27FC236}">
                <a16:creationId xmlns:a16="http://schemas.microsoft.com/office/drawing/2014/main" id="{792DCB56-4701-478D-877C-34502DD7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3940" y="4319778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t-lchipno-1">
            <a:extLst xmlns:a="http://schemas.openxmlformats.org/drawingml/2006/main">
              <a:ext uri="{FF2B5EF4-FFF2-40B4-BE49-F238E27FC236}">
                <a16:creationId xmlns:a16="http://schemas.microsoft.com/office/drawing/2014/main" id="{9C39A3E6-CCEE-44AB-9F82-C45D3C82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3940" y="4357878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part-head-1">
            <a:extLst xmlns:a="http://schemas.openxmlformats.org/drawingml/2006/main">
              <a:ext uri="{FF2B5EF4-FFF2-40B4-BE49-F238E27FC236}">
                <a16:creationId xmlns:a16="http://schemas.microsoft.com/office/drawing/2014/main" id="{A1E34AD2-242B-4692-8B9E-B9505A9B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740" y="4300728"/>
            <a:ext cx="217170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Ask: share anything?</a:t>
            </a:r>
          </a:p>
        </p:txBody>
      </p:sp>
      <p:sp>
        <p:nvSpPr>
          <p:cNvPr id="21" name="part-body-1">
            <a:extLst xmlns:a="http://schemas.openxmlformats.org/drawingml/2006/main">
              <a:ext uri="{FF2B5EF4-FFF2-40B4-BE49-F238E27FC236}">
                <a16:creationId xmlns:a16="http://schemas.microsoft.com/office/drawing/2014/main" id="{E973EBD2-DCE9-4FB2-9174-09DAE86B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3940" y="4927854"/>
            <a:ext cx="247650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Returns True only if the two sets share ZERO elements — a plain yes/no, not a count.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D8D1F9-EE30-48A2-A063-2F5FC903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47950"/>
            <a:ext cx="24936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23" name="part-chip-2">
            <a:extLst xmlns:a="http://schemas.openxmlformats.org/drawingml/2006/main">
              <a:ext uri="{FF2B5EF4-FFF2-40B4-BE49-F238E27FC236}">
                <a16:creationId xmlns:a16="http://schemas.microsoft.com/office/drawing/2014/main" id="{C1E7E037-511C-4A5B-A41C-04C94C81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298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t-chipno-2">
            <a:extLst xmlns:a="http://schemas.openxmlformats.org/drawingml/2006/main">
              <a:ext uri="{FF2B5EF4-FFF2-40B4-BE49-F238E27FC236}">
                <a16:creationId xmlns:a16="http://schemas.microsoft.com/office/drawing/2014/main" id="{09DFBA8C-72F2-4828-BC63-290652E4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298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part-lchip-2">
            <a:extLst xmlns:a="http://schemas.openxmlformats.org/drawingml/2006/main">
              <a:ext uri="{FF2B5EF4-FFF2-40B4-BE49-F238E27FC236}">
                <a16:creationId xmlns:a16="http://schemas.microsoft.com/office/drawing/2014/main" id="{E37C0A9E-B7D0-4180-BB27-3588E9E4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0873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rt-lchipno-2">
            <a:extLst xmlns:a="http://schemas.openxmlformats.org/drawingml/2006/main">
              <a:ext uri="{FF2B5EF4-FFF2-40B4-BE49-F238E27FC236}">
                <a16:creationId xmlns:a16="http://schemas.microsoft.com/office/drawing/2014/main" id="{BD8CDEDC-78AA-49B8-A1CC-3FC5D858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0873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part-head-2">
            <a:extLst xmlns:a="http://schemas.openxmlformats.org/drawingml/2006/main">
              <a:ext uri="{FF2B5EF4-FFF2-40B4-BE49-F238E27FC236}">
                <a16:creationId xmlns:a16="http://schemas.microsoft.com/office/drawing/2014/main" id="{D234D63A-FAC9-4AC1-93B4-9D38A8DE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5673" y="3009900"/>
            <a:ext cx="217170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Test rows, as a set</a:t>
            </a:r>
          </a:p>
        </p:txBody>
      </p:sp>
      <p:sp>
        <p:nvSpPr>
          <p:cNvPr id="28" name="part-body-2">
            <a:extLst xmlns:a="http://schemas.openxmlformats.org/drawingml/2006/main">
              <a:ext uri="{FF2B5EF4-FFF2-40B4-BE49-F238E27FC236}">
                <a16:creationId xmlns:a16="http://schemas.microsoft.com/office/drawing/2014/main" id="{A8793CD0-CE33-4B6F-A044-9B6A0743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0873" y="3637026"/>
            <a:ext cx="247650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35 test row numbers, converted the same way.</a:t>
            </a:r>
          </a:p>
        </p:txBody>
      </p:sp>
    </p:spTree>
    <p:extLst>
      <p:ext uri="{BB962C8B-B14F-4D97-AF65-F5344CB8AC3E}">
        <p14:creationId xmlns:p14="http://schemas.microsoft.com/office/powerpoint/2010/main" val="8081548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03C7D820-EA89-48C2-A9C3-1EEEDE54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66413C0-BC3C-4914-90F9-0A78DFCE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[3] One documented helper, before any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91EAF-9066-47B0-B186-68AA563D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65C7C01-920B-4A40-8658-DEDAF2D7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13D5BAF-9E9B-431F-9EE4-994FD64F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15A48745-6475-4E95-806E-E4EF6C62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BA1911D8-B7AA-4C38-BCA2-020C0DC4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from sklearn.metrics import mean_absolute_error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from sklearn.metrics import mean_squared_error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from sklearn.metrics import r2_score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report_metrics(y_true, y_pred, label: str) -&gt; dict: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"""Print and return MAE, RMSE and R2."""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mae = mean_absolute_error(y_true, y_pred)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rmse = np.sqrt(mean_squared_error(y_true, y_pred))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r2 = r2_score(y_true, y_pred)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line = f"MAE={mae:.4f} RMSE={rmse:.4f} R2={r2:.5f}"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print(label + ":", line)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{"MAE": mae, "RMSE": rmse, "R2": r2}</a:t>
            </a:r>
          </a:p>
        </p:txBody>
      </p:sp>
      <p:sp>
        <p:nvSpPr>
          <p:cNvPr id="8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846190E3-038C-4C12-AB92-1FD28E84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66950"/>
            <a:ext cx="3695700" cy="92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Four cells today score models — one function does it</a:t>
            </a:r>
          </a:p>
        </p:txBody>
      </p:sp>
      <p:sp>
        <p:nvSpPr>
          <p:cNvPr id="9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B91AA537-D535-4A06-A78C-0FB2F366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40608"/>
            <a:ext cx="3695700" cy="2065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Cells [3], [4], [9] and [10] all need the same three metrics. Writing the arithmetic four times is four chances to score two models differently. Note the convention required on every function since Week 4: a one-line docstring in triple quotes, plus type hints — label: str, -&gt; dict. Nothing prints: defining a function only stores it.</a:t>
            </a:r>
          </a:p>
        </p:txBody>
      </p:sp>
    </p:spTree>
    <p:extLst>
      <p:ext uri="{BB962C8B-B14F-4D97-AF65-F5344CB8AC3E}">
        <p14:creationId xmlns:p14="http://schemas.microsoft.com/office/powerpoint/2010/main" val="18255545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DBEC94FF-06FC-45F6-891A-A9E47109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51F8A6E-F2FD-4648-ABE9-F6A98777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[3] continued: the naive baseline, scored by the helper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C5015-09C7-47FC-8F1D-908AE070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23ACF13-7896-45FF-85F7-C7A500F4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7FA4632-A1CB-4308-8B77-7B515785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F5B7F490-EA15-4D4C-B8AD-A57A16C9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D013631E-5405-4A30-9932-4495DCF0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from sklearn.dummy import DummyRegressor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baseline = DummyRegressor(strategy="mean")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baseline.fit(X_train, y_train)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pred_b = baseline.predict(X_test)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print("predicts:", round(baseline.constant_[0][0], 4))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base = report_metrics(y_test, pred_b, "baseline")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BA0E4-9437-41D8-AAF7-8030EC87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3D6218B3-217D-4A0E-81B3-E115E27F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F9AC4D0E-39B4-4237-B81D-8C59CAE3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predicts: 28.0836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baseline: MAE=2.8906 RMSE=3.8154 R2=-0.00003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D98E1D87-35DB-4BF0-A7B5-55198D83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479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 Meeting A's exact numbers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54FBE5F2-B34A-44A9-BCD2-A0BB75C3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3547"/>
            <a:ext cx="3695700" cy="184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If your printed numbers differ from 2.8906 / 3.8154 / -0.00003, check random_state=42 and FEATURES3 before moving on — everything downstream is judged against THESE three numbers. baseline.constant_[0][0] is the one value DummyRegressor predicts for every row: the training mean, 28.0836.</a:t>
            </a:r>
          </a:p>
        </p:txBody>
      </p:sp>
    </p:spTree>
    <p:extLst>
      <p:ext uri="{BB962C8B-B14F-4D97-AF65-F5344CB8AC3E}">
        <p14:creationId xmlns:p14="http://schemas.microsoft.com/office/powerpoint/2010/main" val="18211546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9D7A1A0D-9754-4A0D-80AC-E048E233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ANATOMY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671269B-7558-40AB-856D-5F4CACB6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Anatomy: the LinearRegression().fit() 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7A32A-05C5-47E2-87AF-30D67A92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0ED622B-2743-4A5D-A5CE-A396606A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28BD01D-E149-412A-8C1B-EB15BB7E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anatomy-code-panel">
            <a:extLst xmlns:a="http://schemas.openxmlformats.org/drawingml/2006/main">
              <a:ext uri="{FF2B5EF4-FFF2-40B4-BE49-F238E27FC236}">
                <a16:creationId xmlns:a16="http://schemas.microsoft.com/office/drawing/2014/main" id="{2E21C166-272A-4EDD-8065-E67F2DF6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anatomy-code">
            <a:extLst xmlns:a="http://schemas.openxmlformats.org/drawingml/2006/main">
              <a:ext uri="{FF2B5EF4-FFF2-40B4-BE49-F238E27FC236}">
                <a16:creationId xmlns:a16="http://schemas.microsoft.com/office/drawing/2014/main" id="{6B534883-4B4E-463F-8E88-E4CF33CF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57400"/>
            <a:ext cx="624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LinearRegression().fit(X_train, y_train)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07966-B493-48A2-9913-D38EBB71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47950"/>
            <a:ext cx="26403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9" name="part-chip-0">
            <a:extLst xmlns:a="http://schemas.openxmlformats.org/drawingml/2006/main">
              <a:ext uri="{FF2B5EF4-FFF2-40B4-BE49-F238E27FC236}">
                <a16:creationId xmlns:a16="http://schemas.microsoft.com/office/drawing/2014/main" id="{95A81B86-D3BC-418E-8F9D-4D3716F9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64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t-chipno-0">
            <a:extLst xmlns:a="http://schemas.openxmlformats.org/drawingml/2006/main">
              <a:ext uri="{FF2B5EF4-FFF2-40B4-BE49-F238E27FC236}">
                <a16:creationId xmlns:a16="http://schemas.microsoft.com/office/drawing/2014/main" id="{20E19959-1DFA-41F1-A9E6-FFFCA41D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64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part-lchip-0">
            <a:extLst xmlns:a="http://schemas.openxmlformats.org/drawingml/2006/main">
              <a:ext uri="{FF2B5EF4-FFF2-40B4-BE49-F238E27FC236}">
                <a16:creationId xmlns:a16="http://schemas.microsoft.com/office/drawing/2014/main" id="{3AFC8A7F-5810-4311-92C4-B195FB20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215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-lchipno-0">
            <a:extLst xmlns:a="http://schemas.openxmlformats.org/drawingml/2006/main">
              <a:ext uri="{FF2B5EF4-FFF2-40B4-BE49-F238E27FC236}">
                <a16:creationId xmlns:a16="http://schemas.microsoft.com/office/drawing/2014/main" id="{424AF5A5-A4CC-4A98-BDFD-2078151F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215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art-head-0">
            <a:extLst xmlns:a="http://schemas.openxmlformats.org/drawingml/2006/main">
              <a:ext uri="{FF2B5EF4-FFF2-40B4-BE49-F238E27FC236}">
                <a16:creationId xmlns:a16="http://schemas.microsoft.com/office/drawing/2014/main" id="{79F2F0C2-42C9-40D0-A643-1A6BB17D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015" y="3009900"/>
            <a:ext cx="217170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An empty, unfit model</a:t>
            </a:r>
          </a:p>
        </p:txBody>
      </p:sp>
      <p:sp>
        <p:nvSpPr>
          <p:cNvPr id="14" name="part-body-0">
            <a:extLst xmlns:a="http://schemas.openxmlformats.org/drawingml/2006/main">
              <a:ext uri="{FF2B5EF4-FFF2-40B4-BE49-F238E27FC236}">
                <a16:creationId xmlns:a16="http://schemas.microsoft.com/office/drawing/2014/main" id="{852696E9-A887-427B-9D81-7B8A4735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215" y="3637026"/>
            <a:ext cx="247650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No coefficients yet — just the recipe.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A8D7C-B9EA-4E8D-AC16-0F2E88AB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630" y="2647950"/>
            <a:ext cx="733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6" name="part-chip-1">
            <a:extLst xmlns:a="http://schemas.openxmlformats.org/drawingml/2006/main">
              <a:ext uri="{FF2B5EF4-FFF2-40B4-BE49-F238E27FC236}">
                <a16:creationId xmlns:a16="http://schemas.microsoft.com/office/drawing/2014/main" id="{858FC1E4-3C63-491D-A82E-D7DF0E03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518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rt-chipno-1">
            <a:extLst xmlns:a="http://schemas.openxmlformats.org/drawingml/2006/main">
              <a:ext uri="{FF2B5EF4-FFF2-40B4-BE49-F238E27FC236}">
                <a16:creationId xmlns:a16="http://schemas.microsoft.com/office/drawing/2014/main" id="{C7843350-31BB-4D59-832D-2A0BA0F1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518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part-lchip-1">
            <a:extLst xmlns:a="http://schemas.openxmlformats.org/drawingml/2006/main">
              <a:ext uri="{FF2B5EF4-FFF2-40B4-BE49-F238E27FC236}">
                <a16:creationId xmlns:a16="http://schemas.microsoft.com/office/drawing/2014/main" id="{4E168BF6-550F-4180-B98B-40411B00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093" y="4142994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t-lchipno-1">
            <a:extLst xmlns:a="http://schemas.openxmlformats.org/drawingml/2006/main">
              <a:ext uri="{FF2B5EF4-FFF2-40B4-BE49-F238E27FC236}">
                <a16:creationId xmlns:a16="http://schemas.microsoft.com/office/drawing/2014/main" id="{F0A9802F-7282-4219-B048-C10FA402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093" y="4181094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part-head-1">
            <a:extLst xmlns:a="http://schemas.openxmlformats.org/drawingml/2006/main">
              <a:ext uri="{FF2B5EF4-FFF2-40B4-BE49-F238E27FC236}">
                <a16:creationId xmlns:a16="http://schemas.microsoft.com/office/drawing/2014/main" id="{FC39728E-978C-489F-91FA-EDD522A7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893" y="4123944"/>
            <a:ext cx="217170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Learn from train rows</a:t>
            </a:r>
          </a:p>
        </p:txBody>
      </p:sp>
      <p:sp>
        <p:nvSpPr>
          <p:cNvPr id="21" name="part-body-1">
            <a:extLst xmlns:a="http://schemas.openxmlformats.org/drawingml/2006/main">
              <a:ext uri="{FF2B5EF4-FFF2-40B4-BE49-F238E27FC236}">
                <a16:creationId xmlns:a16="http://schemas.microsoft.com/office/drawing/2014/main" id="{C7758F88-DDB9-440B-B59C-B0BDFC77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093" y="4751070"/>
            <a:ext cx="247650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Least-squares fit on the 105 TRAINING rows.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25C074-2DDA-45B2-8853-5D8CDEF3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6055" y="2647950"/>
            <a:ext cx="2346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23" name="part-chip-2">
            <a:extLst xmlns:a="http://schemas.openxmlformats.org/drawingml/2006/main">
              <a:ext uri="{FF2B5EF4-FFF2-40B4-BE49-F238E27FC236}">
                <a16:creationId xmlns:a16="http://schemas.microsoft.com/office/drawing/2014/main" id="{45B64E12-5039-4EB8-84D2-D1896CC9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71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t-chipno-2">
            <a:extLst xmlns:a="http://schemas.openxmlformats.org/drawingml/2006/main">
              <a:ext uri="{FF2B5EF4-FFF2-40B4-BE49-F238E27FC236}">
                <a16:creationId xmlns:a16="http://schemas.microsoft.com/office/drawing/2014/main" id="{D0E82509-2BD8-433A-9C15-6E5B072E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71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part-lchip-2">
            <a:extLst xmlns:a="http://schemas.openxmlformats.org/drawingml/2006/main">
              <a:ext uri="{FF2B5EF4-FFF2-40B4-BE49-F238E27FC236}">
                <a16:creationId xmlns:a16="http://schemas.microsoft.com/office/drawing/2014/main" id="{4C204073-748D-4D8B-A390-774F758D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1285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rt-lchipno-2">
            <a:extLst xmlns:a="http://schemas.openxmlformats.org/drawingml/2006/main">
              <a:ext uri="{FF2B5EF4-FFF2-40B4-BE49-F238E27FC236}">
                <a16:creationId xmlns:a16="http://schemas.microsoft.com/office/drawing/2014/main" id="{2772B32C-01DE-44B5-8C83-2EA06248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1285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part-head-2">
            <a:extLst xmlns:a="http://schemas.openxmlformats.org/drawingml/2006/main">
              <a:ext uri="{FF2B5EF4-FFF2-40B4-BE49-F238E27FC236}">
                <a16:creationId xmlns:a16="http://schemas.microsoft.com/office/drawing/2014/main" id="{E777B0DF-A137-43C2-AF7A-7393F539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6085" y="3009900"/>
            <a:ext cx="217170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Train features + target</a:t>
            </a:r>
          </a:p>
        </p:txBody>
      </p:sp>
      <p:sp>
        <p:nvSpPr>
          <p:cNvPr id="28" name="part-body-2">
            <a:extLst xmlns:a="http://schemas.openxmlformats.org/drawingml/2006/main">
              <a:ext uri="{FF2B5EF4-FFF2-40B4-BE49-F238E27FC236}">
                <a16:creationId xmlns:a16="http://schemas.microsoft.com/office/drawing/2014/main" id="{67BA8F34-1F71-4367-BE69-75BBE535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1285" y="3637026"/>
            <a:ext cx="247650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three features and the known EUI, same 105 rows.</a:t>
            </a:r>
          </a:p>
        </p:txBody>
      </p:sp>
    </p:spTree>
    <p:extLst>
      <p:ext uri="{BB962C8B-B14F-4D97-AF65-F5344CB8AC3E}">
        <p14:creationId xmlns:p14="http://schemas.microsoft.com/office/powerpoint/2010/main" val="14961361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8B46AC9B-6497-4DC3-BE9D-665463B9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6566698-E03A-4B86-BC95-E121DB73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[4] The AI-scaffolded fit — does it beat the baseline?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FF762-421A-4083-AA12-C094CC3E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C5F244E-DEA3-4779-8280-67D9F6BC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3DACD07-A33B-4995-989D-F079B440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B886A820-19B0-4296-BBF7-D4A40A07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64A1D960-84C3-4CB3-8B0E-B39F1DF3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79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from sklearn.linear_model import LinearRegression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model3 = LinearRegression()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model3.fit(X_train, y_train)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pred_model3 = model3.predict(X_test)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print("coef_:", model3.coef_.round(4))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print("intercept_:", round(model3.intercept_, 4))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m3 = report_metrics(y_test, pred_model3, "3-feature")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1225A-9230-42BA-B40C-2E4FE453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8042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0EA81269-52DB-4757-BB9A-2D6CA4DE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2342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22D52379-F3A1-46AA-8E0C-E39F16D0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0942"/>
            <a:ext cx="6400800" cy="578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coef_: [17.6545 -3.3915  3.4181]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intercept_: 21.6211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3-feature: MAE=2.2680 RMSE=2.7146 R2=0.49374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19D46D23-08C1-4BCC-9371-A5E97CE8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479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Real, imperfect, and honestly explainable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E0054A8D-E2D8-467C-B1BF-9A4C62BD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3547"/>
            <a:ext cx="3695700" cy="184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Same coefficients as Meeting A — more window area raises EUI, more shading lowers it, higher SHGC raises it. Scored by the SAME helper as the baseline, so the comparison is exact, not approximate: MAE falls 2.8906 → 2.2680. R2=0.49374 still misses about half the variance; cell [7] names one honest reason why.</a:t>
            </a:r>
          </a:p>
        </p:txBody>
      </p:sp>
    </p:spTree>
    <p:extLst>
      <p:ext uri="{BB962C8B-B14F-4D97-AF65-F5344CB8AC3E}">
        <p14:creationId xmlns:p14="http://schemas.microsoft.com/office/powerpoint/2010/main" val="6508946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">
            <a:extLst xmlns:a="http://schemas.openxmlformats.org/drawingml/2006/main">
              <a:ext uri="{FF2B5EF4-FFF2-40B4-BE49-F238E27FC236}">
                <a16:creationId xmlns:a16="http://schemas.microsoft.com/office/drawing/2014/main" id="{675D0DBC-A833-429E-94D5-FA7C05C7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AAD806C-6E86-47E8-9F33-23D90B73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[5] Baseline vs. model — the required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1CE66-D665-4525-9B17-52DA0E16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C93DA54-F48F-4B77-A8EC-06D85E98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C37FCBE-4E05-4A54-AF32-64E500DB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72855-F1CC-4420-B31F-70BDA8C7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276446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707210C9-CDEC-4462-98B9-B98A3CAE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253586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C24C0-468A-487F-B797-7A6CB08D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065" y="3171825"/>
            <a:ext cx="1555012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A1F2AFD7-16A3-42C2-8D64-249E5E5D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365" y="3248025"/>
            <a:ext cx="13264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E621F-589B-4683-B2B5-698D4274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9077" y="3171825"/>
            <a:ext cx="1555012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1C79C548-C2FF-4023-8A53-0D883BBD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377" y="3248025"/>
            <a:ext cx="13264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RMSE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F9FE4-FBF5-4911-8F58-124AAFB8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088" y="3171825"/>
            <a:ext cx="1555012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header-3">
            <a:extLst xmlns:a="http://schemas.openxmlformats.org/drawingml/2006/main">
              <a:ext uri="{FF2B5EF4-FFF2-40B4-BE49-F238E27FC236}">
                <a16:creationId xmlns:a16="http://schemas.microsoft.com/office/drawing/2014/main" id="{437402F1-3C3E-4324-8D68-2329D66A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388" y="3248025"/>
            <a:ext cx="13264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0BE4D-DE54-40D0-A5C4-4C4F0773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276446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0">
            <a:extLst xmlns:a="http://schemas.openxmlformats.org/drawingml/2006/main">
              <a:ext uri="{FF2B5EF4-FFF2-40B4-BE49-F238E27FC236}">
                <a16:creationId xmlns:a16="http://schemas.microsoft.com/office/drawing/2014/main" id="{A0FAC256-71AA-44AC-8DA6-E10D99CD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253586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naive baseline (mean)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55D15B-CE13-4ED8-B57E-A3D7F7C3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065" y="3705225"/>
            <a:ext cx="1555012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1">
            <a:extLst xmlns:a="http://schemas.openxmlformats.org/drawingml/2006/main">
              <a:ext uri="{FF2B5EF4-FFF2-40B4-BE49-F238E27FC236}">
                <a16:creationId xmlns:a16="http://schemas.microsoft.com/office/drawing/2014/main" id="{3F4A86C7-1595-422B-B560-24F36BF5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365" y="3781425"/>
            <a:ext cx="13264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2.8906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6C86EB-D345-4C67-85D0-0EB09DED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9077" y="3705225"/>
            <a:ext cx="1555012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0-2">
            <a:extLst xmlns:a="http://schemas.openxmlformats.org/drawingml/2006/main">
              <a:ext uri="{FF2B5EF4-FFF2-40B4-BE49-F238E27FC236}">
                <a16:creationId xmlns:a16="http://schemas.microsoft.com/office/drawing/2014/main" id="{478B616F-AB44-4594-84F7-FC6C67B3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377" y="3781425"/>
            <a:ext cx="13264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3.8154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F8B20B-F88F-4FC7-91B2-FF8FC4DC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088" y="3705225"/>
            <a:ext cx="1555012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0-3">
            <a:extLst xmlns:a="http://schemas.openxmlformats.org/drawingml/2006/main">
              <a:ext uri="{FF2B5EF4-FFF2-40B4-BE49-F238E27FC236}">
                <a16:creationId xmlns:a16="http://schemas.microsoft.com/office/drawing/2014/main" id="{F7342C02-69B6-4200-918D-A570DB40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388" y="3781425"/>
            <a:ext cx="13264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-0.00003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A82E78-48EB-4BC8-AB90-3FC93F0D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76446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0">
            <a:extLst xmlns:a="http://schemas.openxmlformats.org/drawingml/2006/main">
              <a:ext uri="{FF2B5EF4-FFF2-40B4-BE49-F238E27FC236}">
                <a16:creationId xmlns:a16="http://schemas.microsoft.com/office/drawing/2014/main" id="{E3C6E562-1A68-4679-93C9-4E5C66E2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253586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3-feature LinearRegression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D2529F-2F76-4EB4-8EC0-F43ACCA5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065" y="4238625"/>
            <a:ext cx="1555012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1-1">
            <a:extLst xmlns:a="http://schemas.openxmlformats.org/drawingml/2006/main">
              <a:ext uri="{FF2B5EF4-FFF2-40B4-BE49-F238E27FC236}">
                <a16:creationId xmlns:a16="http://schemas.microsoft.com/office/drawing/2014/main" id="{453467EA-07F9-493D-AA0D-A0A2A224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365" y="4314825"/>
            <a:ext cx="13264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2.2680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EE0EC8-5D66-40EB-A44E-A8BBE244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9077" y="4238625"/>
            <a:ext cx="1555012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1-2">
            <a:extLst xmlns:a="http://schemas.openxmlformats.org/drawingml/2006/main">
              <a:ext uri="{FF2B5EF4-FFF2-40B4-BE49-F238E27FC236}">
                <a16:creationId xmlns:a16="http://schemas.microsoft.com/office/drawing/2014/main" id="{65AFB2BA-31B9-4725-B6FE-2FC31DBB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377" y="4314825"/>
            <a:ext cx="13264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2.7146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461F07-EE6E-485B-86A9-8A41D372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088" y="4238625"/>
            <a:ext cx="1555012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1-3">
            <a:extLst xmlns:a="http://schemas.openxmlformats.org/drawingml/2006/main">
              <a:ext uri="{FF2B5EF4-FFF2-40B4-BE49-F238E27FC236}">
                <a16:creationId xmlns:a16="http://schemas.microsoft.com/office/drawing/2014/main" id="{994DE5D9-DBC0-4497-824C-A7F79127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388" y="4314825"/>
            <a:ext cx="13264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0.4937</a:t>
            </a:r>
          </a:p>
        </p:txBody>
      </p:sp>
      <p:sp>
        <p:nvSpPr>
          <p:cNvPr id="30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5CC916C0-C578-4A45-8CA0-9F669241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31" name="callout">
            <a:extLst xmlns:a="http://schemas.openxmlformats.org/drawingml/2006/main">
              <a:ext uri="{FF2B5EF4-FFF2-40B4-BE49-F238E27FC236}">
                <a16:creationId xmlns:a16="http://schemas.microsoft.com/office/drawing/2014/main" id="{3CED71FB-FE8C-4C29-88E5-8BD63B03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MAE improvement: (2.8906-2.2680)/2.8906 = 21.5%. The model beats the baseline — if it had not, that would be an equally real, equally reportable finding.</a:t>
            </a:r>
          </a:p>
        </p:txBody>
      </p:sp>
    </p:spTree>
    <p:extLst>
      <p:ext uri="{BB962C8B-B14F-4D97-AF65-F5344CB8AC3E}">
        <p14:creationId xmlns:p14="http://schemas.microsoft.com/office/powerpoint/2010/main" val="5256388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4641D714-89F9-4C55-BE4A-499F3845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EA62FF3-A8FD-49F1-A5C7-AACD8523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 before cell [6] runs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D14EC-01D5-4D06-8875-76F6DB66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82B9E7A-ACBB-4FB0-9DA2-27D9DB0B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3EAD3C5-7EAE-4DE8-8A4D-922FAF1A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EA401205-914B-40B6-BF69-5560EA73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C36A456D-2C5A-46FB-8B7D-3A35BC8B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Cell [6] hand-computes MAE from its own definition — mean of |actual - predicted| — with no call to sklearn's function.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EE9BA9FF-8737-4D71-9F17-25F86072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3CE6A10C-9AB3-4465-B634-BCBDA747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167FC9BE-F129-4BA7-A5B0-150622DE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in one sentence what 'mean absolute error' should equal, in plain arithmetic terms.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65C79E44-233F-4CB3-BF0D-5A0B2AE2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9A65A6C5-DEB7-41AF-8199-69F85729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Run cell [6] and read the first 8 printed rows.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A8CC1F8B-9F2D-4651-AF2B-B3C09998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8BD2DCF6-3CEB-446D-B285-FD4695F7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Add up their |residual| values and divide by 8 — does your hand total roughly match the printed hand-added mean?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16CFDACF-007A-4098-94CC-9631D194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370DB104-152A-4BB8-B349-715353EA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 the FULL 35-row manual_mae equals 2.2680, matching cell [4] exactly.</a:t>
            </a:r>
          </a:p>
        </p:txBody>
      </p:sp>
    </p:spTree>
    <p:extLst>
      <p:ext uri="{BB962C8B-B14F-4D97-AF65-F5344CB8AC3E}">
        <p14:creationId xmlns:p14="http://schemas.microsoft.com/office/powerpoint/2010/main" val="14415303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0D1E75ED-BD47-48EF-85F8-7325CD5A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20D2CBB-0007-469F-9ED0-AA3AE842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[6] Calculate MAE manually — from its own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57362-8BFB-4A8D-91E6-45217316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1CC7C18-E418-4D06-AFB2-A8D5C2FC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77AA0F9-8C68-4566-9B15-CCCE026C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A1FB1903-15A5-4BF4-828F-604E7727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08EA6104-6F24-49F8-B35B-99065ABE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446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ids = portfolio.loc[X_test.index, "variant_id"].values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resid = (y_test.values - pred_model3).round(4)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residual_table = pd.DataFrame({"variant_id": ids,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"actual": y_test.values, "predicted": pred_model3.round(4), "residual": resid})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print(residual_table.head(8))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manual_mae = np.mean(np.abs(resid))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print("manual MAE:", round(manual_mae, 4))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assert round(manual_mae, 2) == round(m3["MAE"], 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83BF3-C264-42F3-98BC-4D945B76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0570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B8430E0C-12C3-4490-A1DF-91D083C4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7487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DDA7673F-99A1-420D-B648-4DA96788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3470"/>
            <a:ext cx="6400800" cy="925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variant_id actual predicted residual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V109  23.71  26.2670  -2.5570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V068  23.35  24.0425  -0.6925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...(8 rows)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manual MAE: 2.268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29909D64-E496-462F-87BA-9309A987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No sklearn call — just np.abs and np.mean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A5E3AA17-B35B-448F-92C3-79D3E040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95472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MAE is 'add up how wrong every prediction was, ignoring direction, divide by how many.' Computing it this way, then asserting it equals cell [4]'s sklearn value, proves the FORMULA — not just the function — is understood.</a:t>
            </a:r>
          </a:p>
        </p:txBody>
      </p:sp>
    </p:spTree>
    <p:extLst>
      <p:ext uri="{BB962C8B-B14F-4D97-AF65-F5344CB8AC3E}">
        <p14:creationId xmlns:p14="http://schemas.microsoft.com/office/powerpoint/2010/main" val="12001502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6713F763-764F-44F2-A148-2CE31AA8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8042A83-4708-45EA-9C7F-C790D117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[7] Diagnose the largest residual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49A26-DB3D-4243-A346-8374DD6A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E77A0F9-C89A-4627-B89F-48B46C21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4DDF62C-CEF1-4012-8584-EFBC7F6A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55F85871-81EB-4AE7-80BE-FF775D10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0236ADE3-F5BB-45E7-B093-6AE7C675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098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worst = residual_table.reindex(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residual_table["residual"].abs().sort_values(ascending=False).index)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print(worst.head(2))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row = portfolio.loc[portfolio["variant_id"] ==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worst.iloc[0]["variant_id"]].iloc[0]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print(row[["wwr","shade_m","orientation"]])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F0237-3B42-4E06-A93A-1D2E8974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309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2DF70E21-F1E2-46FD-83FA-989F1751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739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50464192-9A46-44C5-89A4-B4505791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5998"/>
            <a:ext cx="6400800" cy="1273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variant_id  actual  predicted  residual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V037  20.43    26.7673   -6.3373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V133  23.05    27.9361   -4.8861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wwr             0.348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shade_m         0.917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orientation         N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Name: 36, dtype: object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CB17C603-344A-42EC-8DE7-FADEFE2D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3360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V037: over-predicted by 6.34 — and here is why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AD2E3D48-AE2E-4E88-A4C7-A518B3BC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19222"/>
            <a:ext cx="3695700" cy="272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reindex() here simply reorders residual_table's EXISTING rows into a new order — largest-to-smallest |residual| — it does not add, remove, or recompute any value. V037 has deep shading (0.917, among the deepest in the portfolio) AND north orientation — the coolest offset in the generating process. shade_m is IN the model (partial credit); orientation is NOT a numeric feature yet, so the model under-credits how well this design actually performs.</a:t>
            </a:r>
          </a:p>
        </p:txBody>
      </p:sp>
    </p:spTree>
    <p:extLst>
      <p:ext uri="{BB962C8B-B14F-4D97-AF65-F5344CB8AC3E}">
        <p14:creationId xmlns:p14="http://schemas.microsoft.com/office/powerpoint/2010/main" val="18249848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16FDF2A0-D214-40EE-92AF-3D643CBC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VISUAL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F6D11F9-7B53-48AA-84BA-0351C41E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[8] Residual plot — predicted vs. residual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A63EF-9C61-4254-B044-05CA30B1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E8154E2-C331-4C49-AAAF-00A18480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69B1345-1267-4830-A3B0-A08A47FB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010400" cy="4248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fcf6726d644969"/>
          </a:graphicData>
        </a:graphic>
      </p:graphicFrame>
      <p:sp>
        <p:nvSpPr>
          <p:cNvPr id="7" name="chart-explain-head">
            <a:extLst xmlns:a="http://schemas.openxmlformats.org/drawingml/2006/main">
              <a:ext uri="{FF2B5EF4-FFF2-40B4-BE49-F238E27FC236}">
                <a16:creationId xmlns:a16="http://schemas.microsoft.com/office/drawing/2014/main" id="{CCC6BD3B-3FB4-445D-8A43-70523D7E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24125"/>
            <a:ext cx="35814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No obvious pattern — one clear outlier</a:t>
            </a:r>
          </a:p>
        </p:txBody>
      </p:sp>
      <p:sp>
        <p:nvSpPr>
          <p:cNvPr id="8" name="chart-explain-body">
            <a:extLst xmlns:a="http://schemas.openxmlformats.org/drawingml/2006/main">
              <a:ext uri="{FF2B5EF4-FFF2-40B4-BE49-F238E27FC236}">
                <a16:creationId xmlns:a16="http://schemas.microsoft.com/office/drawing/2014/main" id="{71408F34-5C26-419E-B54E-DEF64B28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09747"/>
            <a:ext cx="3581400" cy="162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Residuals scatter both above and below zero with no funnel or slope — the model's error does not grow or shrink systematically with the predicted value. V037 (-6.34) sits clearly apart from the rest, exactly the row diagnosed in cell [7].</a:t>
            </a:r>
          </a:p>
        </p:txBody>
      </p:sp>
    </p:spTree>
    <p:extLst>
      <p:ext uri="{BB962C8B-B14F-4D97-AF65-F5344CB8AC3E}">
        <p14:creationId xmlns:p14="http://schemas.microsoft.com/office/powerpoint/2010/main" val="101012407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A60CF166-2F17-4957-8D6B-A7B9DDC7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RECALL FROM MEETING 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429FDB7-3E44-4CE0-8462-8E6E0FEF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Data leakage, recalled — check provenance, not plausibility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E377E-E98A-4BC8-9CB4-19877634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E47DBD5-2348-471B-80CF-2830DF8A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B55DBE4-A471-4683-85B6-531DC3DF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5E244D1C-C0A8-4571-9706-61BEB337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definition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773D8411-EC20-4B9D-92DB-FFA41FD0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746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 feature that is (directly or nearly) DERIVED FROM the target — the model stops predicting and starts decoding the answer from a disguised copy of itself.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14DEAD12-9C8C-493C-A5B2-6E271454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provenance check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36D92D98-5EC3-4EE0-B838-44325511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0746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'Cost is a design-relevant variable too' sounds plausible — that is exactly why leakage is dangerous. Asking 'how was this column COMPUTED?' catches what a plausibility read cannot.</a:t>
            </a:r>
          </a:p>
        </p:txBody>
      </p:sp>
    </p:spTree>
    <p:extLst>
      <p:ext uri="{BB962C8B-B14F-4D97-AF65-F5344CB8AC3E}">
        <p14:creationId xmlns:p14="http://schemas.microsoft.com/office/powerpoint/2010/main" val="143816141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">
            <a:extLst xmlns:a="http://schemas.openxmlformats.org/drawingml/2006/main">
              <a:ext uri="{FF2B5EF4-FFF2-40B4-BE49-F238E27FC236}">
                <a16:creationId xmlns:a16="http://schemas.microsoft.com/office/drawing/2014/main" id="{C732DBC4-D7ED-4AE8-8C0E-8698E2B9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9B4BE56-E0E8-4AC7-B637-11D4E1DE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Two kinds of leakage, not 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3A30C-9705-444F-B7CF-BB9E027A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928C4E4-832D-4CC8-8A88-AD043188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59C814F-5474-4E27-9AF2-7F17F4C0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2AC9E-21A6-49B1-A16C-CCC7C4BE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804307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4A2B87B2-79A7-47B7-8179-BB5C8EC0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575707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kind of leakage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34149-19AC-4190-91BE-861584A0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907" y="3067050"/>
            <a:ext cx="2865664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159B5EBF-DD8E-4CE8-A214-E81074D0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207" y="3143250"/>
            <a:ext cx="2637064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it means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931760-BE1F-4005-AE3F-5A5E620E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571" y="3067050"/>
            <a:ext cx="2759529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7AC960D1-FA6B-4B17-B639-9F2ECB6D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871" y="3143250"/>
            <a:ext cx="2530929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this studio just caught 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90257-24E7-4594-A0D6-EEC9DE63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8070"/>
            <a:ext cx="1804307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E4BE6C9D-B95C-4805-A9AC-9133E539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4270"/>
            <a:ext cx="1575707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row leakage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D72841-4B2E-47B1-A673-4EC8489E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907" y="3608070"/>
            <a:ext cx="2865664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F67498CF-677D-4E48-B0DC-C1194912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207" y="3684270"/>
            <a:ext cx="2637064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same row lands in both train AND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8B571B-E56C-40E2-9A7B-63F618D3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571" y="3608070"/>
            <a:ext cx="2759529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5988CAD2-182E-46A7-9749-8E2FA365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871" y="3684270"/>
            <a:ext cx="2530929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cell [2]'s isdisjoint() — proven false here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725D6-CDFB-41BC-A5FA-D322E83C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9090"/>
            <a:ext cx="1804307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501AAC20-5F28-4E97-8FFD-7E846F92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5290"/>
            <a:ext cx="1575707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column leakage (data leakage)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7CB16D-1071-4418-BDA2-0A96C423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907" y="4149090"/>
            <a:ext cx="2865664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E9DFCD7F-6BE8-453F-9C9A-004F41F2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207" y="4225290"/>
            <a:ext cx="2637064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feature computed FROM the target — decodes, not predicts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C1E7E9-8711-4878-B6E8-7D3B1604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571" y="4149090"/>
            <a:ext cx="2759529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00A6CC4E-6D67-410B-A040-D939C93C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871" y="4225290"/>
            <a:ext cx="2530929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cell [9]'s R2 + the 0.995574 correlation check</a:t>
            </a:r>
          </a:p>
        </p:txBody>
      </p:sp>
      <p:sp>
        <p:nvSpPr>
          <p:cNvPr id="24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7BE14AA2-7899-4922-8FEF-7A71869A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25" name="callout">
            <a:extLst xmlns:a="http://schemas.openxmlformats.org/drawingml/2006/main">
              <a:ext uri="{FF2B5EF4-FFF2-40B4-BE49-F238E27FC236}">
                <a16:creationId xmlns:a16="http://schemas.microsoft.com/office/drawing/2014/main" id="{9E9CC1FF-A8CA-4590-9EA4-21AD0129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word, two different bugs — row leakage breaks the SPLIT; column leakage breaks the FEATURE LIST. This studio's two checks catch each one separately, and neither check would catch the other.</a:t>
            </a:r>
          </a:p>
        </p:txBody>
      </p:sp>
    </p:spTree>
    <p:extLst>
      <p:ext uri="{BB962C8B-B14F-4D97-AF65-F5344CB8AC3E}">
        <p14:creationId xmlns:p14="http://schemas.microsoft.com/office/powerpoint/2010/main" val="54850907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3921FC22-5F00-4558-BD73-74B33E4A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3F75356-CD62-4848-9CA1-CB454D40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[9] Run the AI-drafted 4-feature version yourself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C3C64-27A0-48FF-ABB1-F5F0DA11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31C18D6-2F3D-4F2D-9752-FB60DBF8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00870D-E828-421F-8664-40B012D3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71B95CDA-5CA2-4E40-AA3B-C7A62C13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C9EDE3AE-D711-41CC-9DA6-59FA6808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79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FEATURES_LEAK = ["wwr", "shade_m", "glazing_shgc",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"est_annual_cost_index"]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X_leak = portfolio[FEATURES_LEAK]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Xtr_l, Xte_l, ytr_l, yte_l = train_test_split(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X_leak, y, test_size=0.25, random_state=42)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leak_model = LinearRegression().fit(Xtr_l, ytr_l)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pred_l = leak_model.predict(Xte_l)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print("coef_:", leak_model.coef_.round(4))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leak = report_metrics(yte_l, pred_l, "leaking")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corr = portfolio["est_annual_cost_index"].corr(y)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print("corr with target:", round(corr, 6))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0AC58-EB33-4B36-8F45-5FF32A79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8042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3397296B-F6D1-40E0-A753-13F7058B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2342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A7EC8075-7A8D-4C0D-80D3-9AD551C9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0942"/>
            <a:ext cx="6400800" cy="578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coef_: [0.331  0.0374 0.3054 7.1264]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leaking: MAE=0.2852 RMSE=0.3342 R2=0.99233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corr with target: 0.995574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2861E6F7-73DB-41B1-8C6D-25DBE042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66950"/>
            <a:ext cx="3695700" cy="92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R2=0.9923 is the red flag, before reading any code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D3A1B83F-AD7D-4AC1-A049-447B8E66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40608"/>
            <a:ext cx="3695700" cy="2065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Correlation ranges from -1 to 1; 0.995574 means the columns move almost in lockstep — suspicious for supposedly independent measurements. The original coefficients collapse while est_annual_cost_index's coefficient (7.1264) dominates. Provenance confirms the leak: est_annual_cost_index = eui_kwh_m2yr * 0.14 + small noise.</a:t>
            </a:r>
          </a:p>
        </p:txBody>
      </p:sp>
    </p:spTree>
    <p:extLst>
      <p:ext uri="{BB962C8B-B14F-4D97-AF65-F5344CB8AC3E}">
        <p14:creationId xmlns:p14="http://schemas.microsoft.com/office/powerpoint/2010/main" val="12113196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FB612657-E1C5-438D-A57A-F6C2CF65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FD1FE30-7DB4-4E9F-8647-A72849E7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[9] continued: turn “check the correlation” into a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280C9-45C7-4109-ACAD-3E2AC922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3780BD7-B06F-4B32-95D5-537760EA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AAD936D-A88E-482A-BAA2-48588ACF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627B2095-366D-4120-8694-CEC8EA95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C4F9442F-7713-4440-9F62-8EE578F6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leakage_scan(features: list, target: str) -&gt; list: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"""List features that correlate too well."""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suspects = []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col in features: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r = portfolio[col].corr(portfolio[target])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print(f"  {col:&lt;22} corr={r:+.4f}")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abs(r) &gt; 0.9: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suspects.append(col)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suspects</a:t>
            </a:r>
          </a:p>
        </p:txBody>
      </p:sp>
      <p:sp>
        <p:nvSpPr>
          <p:cNvPr id="8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61C3CF4E-A234-4790-A8E9-414F6FB3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717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loop, one threshold, one list of suspects</a:t>
            </a:r>
          </a:p>
        </p:txBody>
      </p:sp>
      <p:sp>
        <p:nvSpPr>
          <p:cNvPr id="9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183FF1F4-DD36-46A3-9021-F2537DB2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57347"/>
            <a:ext cx="3695700" cy="2065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correlation you just typed by hand for ONE column becomes a loop over ANY feature list. abs(r) &gt; 0.9 is a judgement call you are stating out loud, not a law: 0.9 is strict enough that no honest design variable in this portfolio trips it. {col:&lt;22} left-aligns each name in 22 characters so the printed column of numbers stays readable.</a:t>
            </a:r>
          </a:p>
        </p:txBody>
      </p:sp>
    </p:spTree>
    <p:extLst>
      <p:ext uri="{BB962C8B-B14F-4D97-AF65-F5344CB8AC3E}">
        <p14:creationId xmlns:p14="http://schemas.microsoft.com/office/powerpoint/2010/main" val="15260384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53EC8969-12A2-4895-A6A2-CD89D80B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C180C08-7635-4A39-BDFD-8148A6BE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...continued: scan both feature lists, keep the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A600F-BE0F-4901-944F-F5F09318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528C4AF-3E1D-4C64-A66B-EFFA17F9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6A0DBA2-9236-4AE6-8BD3-543CE8BA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C6A62EF0-FAEB-4D04-B549-FF5DCB93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BE459DEE-4609-4032-9118-72317238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27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TARGET = "eui_kwh_m2yr"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suspects = leakage_scan(FEATURES_LEAK, TARGET)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print("suspects:", suspects)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for col in suspects: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print("DROP:", col, "- derived from the target")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assert suspects == ["est_annual_cost_index"]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30A63-5267-40BB-A600-78D12739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683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E99EF59E-1EFF-495C-85AB-069F5BA8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0113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F958D158-D956-48B3-A49F-015A31F2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9734"/>
            <a:ext cx="6400800" cy="109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wwr                    corr=+0.5740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shade_m                corr=-0.3481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glazing_shgc           corr=+0.0128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est_annual_cost_index  corr=+0.9956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suspects: ['est_annual_cost_index']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DROP: est_annual_cost_index - derived from the target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DF3EFD1E-B7C8-4A65-9634-C08295DF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0980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Three honest features, one impostor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031865AF-4B20-4EA2-8892-16105C32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5422"/>
            <a:ext cx="3695700" cy="2506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wwr (+0.5740), shade_m (-0.3481) and glazing_shgc (+0.0128) all correlate with EUI the way real design variables do — some strongly, some barely, none suspiciously. est_annual_cost_index sits at +0.9956, which is not what a measurement looks like; it is what a rescaled copy of the answer looks like. Keep this function: run it on your own Project 2 feature list before you fit anything.</a:t>
            </a:r>
          </a:p>
        </p:txBody>
      </p:sp>
    </p:spTree>
    <p:extLst>
      <p:ext uri="{BB962C8B-B14F-4D97-AF65-F5344CB8AC3E}">
        <p14:creationId xmlns:p14="http://schemas.microsoft.com/office/powerpoint/2010/main" val="132577973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">
            <a:extLst xmlns:a="http://schemas.openxmlformats.org/drawingml/2006/main">
              <a:ext uri="{FF2B5EF4-FFF2-40B4-BE49-F238E27FC236}">
                <a16:creationId xmlns:a16="http://schemas.microsoft.com/office/drawing/2014/main" id="{C900FBBF-161D-4B1B-AD4B-BD8547F6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727CF43-48EB-4373-9DCC-25FE4139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Honest model vs. leaking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60716-5313-4829-8A1F-5035C2A3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81FAE68-9B87-40BE-8CDB-81F65F30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A2B0624-CD40-45DF-A79D-E66C6EB5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57F23-96B3-40E4-A878-E7C49329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2971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B14AFA95-1E18-45C2-B422-0AE62CE9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5C7BB-5DD0-4D39-B020-8B8129FD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71825"/>
            <a:ext cx="1485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05FDFA0A-2E33-4CE2-82D9-B4F10BA1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48025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C1A23-8BAA-49D3-AB06-57ED43C5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71825"/>
            <a:ext cx="1485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02D834B0-AF4E-4E07-9A11-11FF10C4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48025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RMSE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F6278-FFAA-42BB-B042-72FF6662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71825"/>
            <a:ext cx="1485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header-3">
            <a:extLst xmlns:a="http://schemas.openxmlformats.org/drawingml/2006/main">
              <a:ext uri="{FF2B5EF4-FFF2-40B4-BE49-F238E27FC236}">
                <a16:creationId xmlns:a16="http://schemas.microsoft.com/office/drawing/2014/main" id="{0AD55373-922C-494B-80D4-D6E17C7A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48025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2A5504-F004-47D4-806F-7CDCB1C1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2971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0">
            <a:extLst xmlns:a="http://schemas.openxmlformats.org/drawingml/2006/main">
              <a:ext uri="{FF2B5EF4-FFF2-40B4-BE49-F238E27FC236}">
                <a16:creationId xmlns:a16="http://schemas.microsoft.com/office/drawing/2014/main" id="{ECBE5FFD-5361-4827-A9F0-73FD4CA3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3-feature (honest)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CE245-45D7-4E3F-A0AD-9246E720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05225"/>
            <a:ext cx="1485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1">
            <a:extLst xmlns:a="http://schemas.openxmlformats.org/drawingml/2006/main">
              <a:ext uri="{FF2B5EF4-FFF2-40B4-BE49-F238E27FC236}">
                <a16:creationId xmlns:a16="http://schemas.microsoft.com/office/drawing/2014/main" id="{1C3826CE-0738-4258-A23B-16F51165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81425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2.2680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B56D44-15CE-49DE-9F23-6CBDCB56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05225"/>
            <a:ext cx="1485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0-2">
            <a:extLst xmlns:a="http://schemas.openxmlformats.org/drawingml/2006/main">
              <a:ext uri="{FF2B5EF4-FFF2-40B4-BE49-F238E27FC236}">
                <a16:creationId xmlns:a16="http://schemas.microsoft.com/office/drawing/2014/main" id="{C23E6452-4143-490C-BB45-FD262AD8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81425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2.7146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B03DD8-97B0-4CEC-9E95-EFB54E82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05225"/>
            <a:ext cx="1485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0-3">
            <a:extLst xmlns:a="http://schemas.openxmlformats.org/drawingml/2006/main">
              <a:ext uri="{FF2B5EF4-FFF2-40B4-BE49-F238E27FC236}">
                <a16:creationId xmlns:a16="http://schemas.microsoft.com/office/drawing/2014/main" id="{681C4A4D-BF46-4BA3-935F-5A632138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81425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0.4937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DE33E1-63EB-434C-A5C1-0B0E1809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971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0">
            <a:extLst xmlns:a="http://schemas.openxmlformats.org/drawingml/2006/main">
              <a:ext uri="{FF2B5EF4-FFF2-40B4-BE49-F238E27FC236}">
                <a16:creationId xmlns:a16="http://schemas.microsoft.com/office/drawing/2014/main" id="{E84E5C93-098C-471C-999B-8D21BC78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4-feature incl. leak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22176D-0453-46D2-9763-D4FDDFB8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38625"/>
            <a:ext cx="1485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1-1">
            <a:extLst xmlns:a="http://schemas.openxmlformats.org/drawingml/2006/main">
              <a:ext uri="{FF2B5EF4-FFF2-40B4-BE49-F238E27FC236}">
                <a16:creationId xmlns:a16="http://schemas.microsoft.com/office/drawing/2014/main" id="{3D880758-594C-44E2-9A8B-D91DC69B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14825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0.2852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962873-D96F-4D58-ADEB-EF74D949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38625"/>
            <a:ext cx="1485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1-2">
            <a:extLst xmlns:a="http://schemas.openxmlformats.org/drawingml/2006/main">
              <a:ext uri="{FF2B5EF4-FFF2-40B4-BE49-F238E27FC236}">
                <a16:creationId xmlns:a16="http://schemas.microsoft.com/office/drawing/2014/main" id="{9D25710D-427F-4914-9C83-05123535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14825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0.3342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2C56E6-ECCF-432B-8D42-83342B1D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38625"/>
            <a:ext cx="1485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1-3">
            <a:extLst xmlns:a="http://schemas.openxmlformats.org/drawingml/2006/main">
              <a:ext uri="{FF2B5EF4-FFF2-40B4-BE49-F238E27FC236}">
                <a16:creationId xmlns:a16="http://schemas.microsoft.com/office/drawing/2014/main" id="{81B434B7-F7E5-42CC-AD8E-436C2A3E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14825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0.9923</a:t>
            </a:r>
          </a:p>
        </p:txBody>
      </p:sp>
      <p:sp>
        <p:nvSpPr>
          <p:cNvPr id="30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874CE6E2-1988-40C2-A2F3-F4962278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31" name="callout">
            <a:extLst xmlns:a="http://schemas.openxmlformats.org/drawingml/2006/main">
              <a:ext uri="{FF2B5EF4-FFF2-40B4-BE49-F238E27FC236}">
                <a16:creationId xmlns:a16="http://schemas.microsoft.com/office/drawing/2014/main" id="{18188335-4481-474E-8F0E-CEED19B7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R2 this close to 1.0 on a noisy, real-world-style target is the 'too good to be true' signal — be suspicious of a suspiciously perfect metric before you even look for the leaking column.</a:t>
            </a:r>
          </a:p>
        </p:txBody>
      </p:sp>
    </p:spTree>
    <p:extLst>
      <p:ext uri="{BB962C8B-B14F-4D97-AF65-F5344CB8AC3E}">
        <p14:creationId xmlns:p14="http://schemas.microsoft.com/office/powerpoint/2010/main" val="189279626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1EE4483D-D8DF-4C23-8ADD-C6971449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VISUAL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5FFFA21-2933-4724-BA76-47B3ADA8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Watch the honest coefficients collapse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79021-0B00-4BD7-AAA4-7F8A72B8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E5DF6A4-D816-40C1-AA3B-168413A3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9B53630-C106-4646-AC01-CB503719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010400" cy="4248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b2aca5270a4bd8"/>
          </a:graphicData>
        </a:graphic>
      </p:graphicFrame>
      <p:sp>
        <p:nvSpPr>
          <p:cNvPr id="7" name="chart-explain-head">
            <a:extLst xmlns:a="http://schemas.openxmlformats.org/drawingml/2006/main">
              <a:ext uri="{FF2B5EF4-FFF2-40B4-BE49-F238E27FC236}">
                <a16:creationId xmlns:a16="http://schemas.microsoft.com/office/drawing/2014/main" id="{03838937-6AE6-42B2-BEC6-2A01E1B7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47925"/>
            <a:ext cx="35814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three features, nearly silenced</a:t>
            </a:r>
          </a:p>
        </p:txBody>
      </p:sp>
      <p:sp>
        <p:nvSpPr>
          <p:cNvPr id="8" name="chart-explain-body">
            <a:extLst xmlns:a="http://schemas.openxmlformats.org/drawingml/2006/main">
              <a:ext uri="{FF2B5EF4-FFF2-40B4-BE49-F238E27FC236}">
                <a16:creationId xmlns:a16="http://schemas.microsoft.com/office/drawing/2014/main" id="{85349ABC-5656-4A5E-9E79-75377244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3547"/>
            <a:ext cx="3581400" cy="184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Every honest coefficient shrinks toward zero once est_annual_cost_index enters the model — not because wwr/shade_m/glazing_shgc stopped mattering, but because the leaking feature does almost all the work instead (its own coefficient, 7.1264, is off this chart's scale entirely).</a:t>
            </a:r>
          </a:p>
        </p:txBody>
      </p:sp>
    </p:spTree>
    <p:extLst>
      <p:ext uri="{BB962C8B-B14F-4D97-AF65-F5344CB8AC3E}">
        <p14:creationId xmlns:p14="http://schemas.microsoft.com/office/powerpoint/2010/main" val="99732148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83E809F3-B0B9-426E-8737-D763C526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CCF31D-5EAC-449E-B5B4-22AD9CC5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Predict: what happens to MAE after the fix?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2F5C7-04A6-42BF-B8A3-E8974684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7AEAA30-E376-41E6-8B0D-19307049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58AB7E0-C76F-44A7-A237-3FFBC488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32AE6BDF-CD51-4D3E-BDBA-2D45BAFE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18DBFDDB-BEA4-41DF-B6AC-3103787C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FEATURES_FIXED = ["wwr","shade_m","glazing_shgc"]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model_fixed = LinearRegression().fit(Xtr_f, ytr_f)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pred_f = model_fixed.predict(Xte_f)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fixed = report_metrics(yte_f, pred_f, "fixed")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346E756E-E1FD-4627-9DCD-02F35390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3 features, same split. What MAE prints?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631CE8B7-AC0D-4373-A7FF-F781A146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70671D1F-BA88-4445-8BAF-5328F00C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074948CE-0794-4217-BEEF-E1E02EB3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2.2680 — identical to cell [4]'s honest model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14375DD6-0320-4C09-AE3C-30766AE3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2968F181-65AF-4BC0-98B0-B51F4CB8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502880B1-3145-4C28-B030-2C643870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Somewhere between 2.2680 and 0.2852 — partial credit for trying the extra feature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5F93FB33-BCFD-4AD4-AC4D-704A73FD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D1B6A897-B9F2-4E09-9E69-0B80AAD4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CC89E052-DF24-4747-A68C-AC8B0B75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Better than 2.2680 — the audit itself improves the model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37EED500-499F-40DA-9079-049F236C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BD10690C-ABAC-4BA6-9DC9-E2F39672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439FF7DE-369B-490F-A40E-A630D8F5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Worse than 2.2680 — removing a feature always costs some accuracy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4142843C-9EB1-487E-9967-3307B41A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59528FB3-7B5A-4F94-B317-70E1644A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A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C2087CAD-4BE4-42EB-B714-F87E8B22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3 features, same split: this is cell [4]'s model again, to the decimal (MAE=2.2680) — REMOVAL is the fix, not a penalty.</a:t>
            </a:r>
          </a:p>
        </p:txBody>
      </p:sp>
    </p:spTree>
    <p:extLst>
      <p:ext uri="{BB962C8B-B14F-4D97-AF65-F5344CB8AC3E}">
        <p14:creationId xmlns:p14="http://schemas.microsoft.com/office/powerpoint/2010/main" val="201190642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78F6E002-5FE3-4340-BA2E-6DDEE7A9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3070D0A-1376-4C82-9C35-45599B17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[10] THE FIX — drop it, refit, prove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A583A-2836-4C44-B96F-1C2B013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35DA730-4B69-4C89-96A3-61CC1065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8917487-7221-49C5-9A3E-3C088731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D11DF57F-1B8D-4E84-8CC1-80F99CDE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906976AC-2301-4979-A1FF-FEAE03FD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FEATURES_FIXED = ["wwr", "shade_m", "glazing_shgc"]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assert "est_annual_cost_index" not in FEATURES_FIXED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X_fixed = portfolio[FEATURES_FIXED]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Xtr_f, Xte_f, ytr_f, yte_f = train_test_split(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X_fixed, y, test_size=0.25, random_state=42)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model_fixed = LinearRegression().fit(Xtr_f, ytr_f)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pred_f = model_fixed.predict(Xte_f)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fixed = report_metrics(yte_f, pred_f, "fixed")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assert round(fixed["MAE"], 4) == round(m3["MAE"], 4)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29BB9-FBCD-452D-BAF2-95ED334D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F20EECD7-3615-4C9A-AAB5-703519AC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93779667-65CA-47A0-8EF4-CC88F437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fixed: MAE=2.2680 RMSE=2.7146 R2=0.49374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CB22F4AD-DA60-419E-ADB9-9363E3F0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241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fix is removal, not a smaller weight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AAE93A31-0F2D-4F05-AF35-933A90CD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09747"/>
            <a:ext cx="3695700" cy="162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Dropping est_annual_cost_index entirely — not down-weighting it — and refitting returns MAE/RMSE/R2 exactly to 2.2680 / 2.7146 / 0.49374. The final assert proves it: this IS the same honest model from cell [4], scored by the same helper, so the comparison cannot drift.</a:t>
            </a:r>
          </a:p>
        </p:txBody>
      </p:sp>
    </p:spTree>
    <p:extLst>
      <p:ext uri="{BB962C8B-B14F-4D97-AF65-F5344CB8AC3E}">
        <p14:creationId xmlns:p14="http://schemas.microsoft.com/office/powerpoint/2010/main" val="109896399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B9F80CA8-7DE6-43B7-A603-8BE597D4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VISUAL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B77298-EA89-4476-8F0E-E4BFCE95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R2 across today's four models, in one picture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6A1F7-4953-4E58-8B38-BD90D898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5633EC1-4966-44DB-A1CC-8719E0E9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5F2B852-1C24-403D-84C1-D5830748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010400" cy="4248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2e77dafea94a83"/>
          </a:graphicData>
        </a:graphic>
      </p:graphicFrame>
      <p:sp>
        <p:nvSpPr>
          <p:cNvPr id="7" name="chart-explain-head">
            <a:extLst xmlns:a="http://schemas.openxmlformats.org/drawingml/2006/main">
              <a:ext uri="{FF2B5EF4-FFF2-40B4-BE49-F238E27FC236}">
                <a16:creationId xmlns:a16="http://schemas.microsoft.com/office/drawing/2014/main" id="{5B83A251-31FA-4516-901D-A087CE5E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24125"/>
            <a:ext cx="35814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Up is not always progress</a:t>
            </a:r>
          </a:p>
        </p:txBody>
      </p:sp>
      <p:sp>
        <p:nvSpPr>
          <p:cNvPr id="8" name="chart-explain-body">
            <a:extLst xmlns:a="http://schemas.openxmlformats.org/drawingml/2006/main">
              <a:ext uri="{FF2B5EF4-FFF2-40B4-BE49-F238E27FC236}">
                <a16:creationId xmlns:a16="http://schemas.microsoft.com/office/drawing/2014/main" id="{BDB4D5A4-0D03-4CB3-AD99-E31E3E65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09747"/>
            <a:ext cx="3581400" cy="162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R2 spikes to 0.9923 only because of the leaking feature — not because the model got smarter. Dropping it returns R2 to exactly 0.4937, the same honest number as earlier today: the real progress (baseline to 3-feature) stayed real, and the fake spike disappeared completely.</a:t>
            </a:r>
          </a:p>
        </p:txBody>
      </p:sp>
    </p:spTree>
    <p:extLst>
      <p:ext uri="{BB962C8B-B14F-4D97-AF65-F5344CB8AC3E}">
        <p14:creationId xmlns:p14="http://schemas.microsoft.com/office/powerpoint/2010/main" val="121688601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CE953884-7FAD-4F79-B67B-21E334FC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86B86E3-F046-4812-99D0-AFCBB0E8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Defend the fix in your own words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A2DB1-96B9-41B8-A8D5-F37AF243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E7AC54B-AF84-4112-8A13-9797804A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D273D1A-FBDD-46CC-9BF9-27A63E7D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109C7930-28E8-428C-A3CB-C9E1914D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E5BCB264-7B98-4FA3-BC84-A672A42C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 AI assistant argued 'cost is a design-relevant variable too' when it added est_annual_cost_index.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D96A8D60-9E5D-452F-BA1C-3A1DD9CD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149EACEE-E2A2-40A5-B922-396A9EB7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57925271-248B-41DD-9166-A558DB42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State, in one sentence, what est_annual_cost_index is actually computed FROM.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AA653A10-44C1-4F29-97E3-3033D84B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C03E37F5-5C5E-42A2-866E-BAC0645D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 the exact correlation value that confirms the leakage (from cell [9]).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001A65FB-4855-485A-AC29-37F187C9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B9D70137-A8F9-4EB5-A9C2-C8D858B4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Explain why 'plausible-sounding' is not the same test as 'legitimate feature.'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713854EF-64D0-46CB-9940-A24975B9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A3F9475D-0393-4340-8676-72D1C6B0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the fix in one sentence, and the two metric values that confirm it worked.</a:t>
            </a:r>
          </a:p>
        </p:txBody>
      </p:sp>
    </p:spTree>
    <p:extLst>
      <p:ext uri="{BB962C8B-B14F-4D97-AF65-F5344CB8AC3E}">
        <p14:creationId xmlns:p14="http://schemas.microsoft.com/office/powerpoint/2010/main" val="17097216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F0D89E5E-FEAC-4D94-88C3-5B17C65A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C51F392-F628-4CA3-ADE0-806D5BBC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[11] Self-check: a different metric, a different row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A5A6E-6640-463A-AD28-6C1FA896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B343700-2458-40F2-8C25-A6854DE3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71780CA-D0F8-4DD2-996C-5FED3DE5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C758D312-76DC-4EF3-BAF0-BBA376BA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201CF0E8-55B5-4E50-9DF4-AED97AF3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manual_rmse = np.sqrt(np.mean(residual_table["residual"]**2))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second_worst = worst.iloc[1]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assert round(manual_rmse, 2) == round(m3["RMSE"], 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assert second_worst["variant_id"] == "V133"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assert round(second_worst["residual"], 2) == -4.89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assert "est_annual_cost_index" not in FEATURES_FIXED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print("transfer check passed")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A2DB1-7986-47A0-BAF3-03DB9A41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FA85F39C-6163-4067-84EA-AAB561A6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54D2BABD-4402-4D73-93EC-0FF53952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transfer check passed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92892EA0-BC12-4A02-9EB6-2FAA55B2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05075"/>
            <a:ext cx="3695700" cy="92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different metric AND a different row — not a repeat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6FE7EDB1-0BAD-491D-8AE2-FF285E11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78733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Cells [6]-[7] worked through MAE and V037 live. RMSE (which squares before averaging, penalizing large residuals more) on V133 (the SECOND-worst miss) proves the method generalizes, not just the one memorized answer.</a:t>
            </a:r>
          </a:p>
        </p:txBody>
      </p:sp>
    </p:spTree>
    <p:extLst>
      <p:ext uri="{BB962C8B-B14F-4D97-AF65-F5344CB8AC3E}">
        <p14:creationId xmlns:p14="http://schemas.microsoft.com/office/powerpoint/2010/main" val="49522911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ABA7F832-90FA-4F05-AA8C-103AC294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0A9F479-FAD3-4347-8224-AF0102CB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[12] Optional self-check: know your own model's range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C87B3-D9F3-46F7-8DF0-23404521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635F1C9-63FE-4BC6-93F8-0559E519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3406D3B-C662-410A-88A3-BB6FF665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86FC78C4-CAD5-4CEA-97CD-B51AA9A6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C85EBEE5-E49E-4AAB-8F85-2A6029CB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print("wwr range in training data:",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round(X_train["wwr"].min(), 3), "to",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round(X_train["wwr"].max(), 3))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print("shade_m range in training data:",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round(X_train["shade_m"].min(), 3), "to",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round(X_train["shade_m"].max(), 3))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BF0D0-8FD8-4D5A-82A8-C3CF1C69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7386E462-B23E-4A5D-AAA9-CF1A5A7D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4A797956-3EC0-4014-A337-FB281471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wwr range in training data: 0.201 to 0.592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shade_m range in training data: 0.024 to 1.166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B570B91D-CAB8-457C-BD46-39513AAB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43150"/>
            <a:ext cx="3695700" cy="92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Check your own boundaries before you trust a prediction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60C3A9B3-CC68-4E79-86BE-9B90E0AE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16808"/>
            <a:ext cx="3695700" cy="184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Meeting A showed wwr=0.85 still returns a normal-looking number, with no warning and no error — sklearn never checks this for you. Printing your own X_train min/max, once, is the one-line habit that catches a silent extrapolation yourself, on any model you fit, this week or in Project 2.</a:t>
            </a:r>
          </a:p>
        </p:txBody>
      </p:sp>
    </p:spTree>
    <p:extLst>
      <p:ext uri="{BB962C8B-B14F-4D97-AF65-F5344CB8AC3E}">
        <p14:creationId xmlns:p14="http://schemas.microsoft.com/office/powerpoint/2010/main" val="83507924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29BC32C2-9817-42A4-8993-9890FA91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MILESTONE, NOT AN ADD-ON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5981BD0-1D60-41B3-BE1B-DD2297E7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This week's Project 2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399BF-8DE4-48A2-8109-B4E5A8DD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0E684A8-391A-4142-88AF-F256476B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39CA0C-6E59-4090-8AFA-235BD615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5C81E08C-3DD2-4DA9-9167-CE3B0FD0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What's due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57967B67-F3BC-4653-8758-C5C53298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2211"/>
            <a:ext cx="5219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Today's handout IS the Week 13 baseline-model checkpoint: verified split, baseline-vs-model table, hand-checked metric, diagnosed residual, and the corrected leakage code with an explanation.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9CFB18F4-2507-4975-A411-6DA5C2A1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146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Applied to your own problem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23DA575F-3564-4973-AEF5-285C1401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221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Project 2 Part IV asks for exactly this pattern on your own dataset: a naive baseline, an evaluated model, and a leakage/extrapolation audit, before any optimization touches it.</a:t>
            </a:r>
          </a:p>
        </p:txBody>
      </p:sp>
    </p:spTree>
    <p:extLst>
      <p:ext uri="{BB962C8B-B14F-4D97-AF65-F5344CB8AC3E}">
        <p14:creationId xmlns:p14="http://schemas.microsoft.com/office/powerpoint/2010/main" val="187113024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06FF775E-1440-4EB4-A86E-E87E03D3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D07484E-C9D0-4F91-AABC-40B85A71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Submit a reproducible Week 13 handout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6A7AE-1551-433E-AFA1-9106FF22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D97C188-7A64-4C9B-AF54-C5B9A389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13 · Meeting B · Regression Studio: Baseline, Metrics, and a Leakage Audit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B52E66F-5BD0-4ABE-96EF-A13F5924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74A21FA4-B5CD-4134-9285-98296CB1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A44CFCC5-7B6E-4D7E-BA02-871270D9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88D4F587-B785-4A36-889B-C58BA35E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157E3134-EB81-4847-AEFE-35E80EDD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C5941B1D-5007-4EA8-B210-AE6BEAC1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CBCD03BD-C01C-4879-A468-9A9C984E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SCRIPT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AB960-2970-44C0-850B-21FC020D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AE52B341-B444-4F68-8613-F5567B8C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reproducible .py file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CBA79E27-283C-4DEA-A958-7FB03145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Runs top to bottom from a restarted kernel, random_state=42 throughout.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FE06293D-8AED-459B-9544-41DB1EBE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5DE4BE29-C5F3-4F34-A586-5B8E1F2F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4A3849C7-3DD7-4AD5-B1B2-B37C949F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TABLE + PLOT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69C0ED-F3B7-4AE9-B09D-F0146901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65D3B96C-2F51-484E-8E15-4CCD76A7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797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Baseline-vs-model table + residual plot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9BEC2E41-F984-470C-9969-E6B0B1FF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17214"/>
            <a:ext cx="2190750" cy="2231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Cell [5]'s comparison table and cell [8]'s residual scatter, both from your own run.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41D2870A-164E-480A-8DD6-5EFF44B4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BCC6F70F-A0C9-4CDB-9A53-9754CFEE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E895FD3A-849D-4565-96BE-F7DB1E42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CORRECTED CODE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C8C3BE-DF98-4153-915B-27FE7CD7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C43E6FA0-7D9C-4E28-8E24-B5D92330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leakage bug, found and fixed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B84FE055-6456-4274-9FCC-99D87C72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Cells [9]-[10]: the suspicious R2, the correlation check, the fix, and a written explanation of why it was wrong.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F40BCF9C-8354-4E7C-BC7C-278D8438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681705DD-4829-45EF-98AB-9C2B40C8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3BC33FE3-DB18-4E71-AFAF-BA41A9D8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CHECKS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610410-57D4-4651-9261-ED69EA0F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E67323D1-A1AF-4827-BB6E-DCA8131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Self-written transfer asserts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152526F4-25D3-4A48-BF02-C7D46197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Cell [11]'s 2-4 assertions on a different metric and a different residual, all passing.</a:t>
            </a:r>
          </a:p>
        </p:txBody>
      </p:sp>
    </p:spTree>
    <p:extLst>
      <p:ext uri="{BB962C8B-B14F-4D97-AF65-F5344CB8AC3E}">
        <p14:creationId xmlns:p14="http://schemas.microsoft.com/office/powerpoint/2010/main" val="194450722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week">
            <a:extLst xmlns:a="http://schemas.openxmlformats.org/drawingml/2006/main">
              <a:ext uri="{FF2B5EF4-FFF2-40B4-BE49-F238E27FC236}">
                <a16:creationId xmlns:a16="http://schemas.microsoft.com/office/drawing/2014/main" id="{0579C59D-7978-4F17-A2AB-12CF0899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13 · MEETING B · REGRESSION STUDIO: BASELINE, METRICS, AND A LEAKAGE AUDIT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FD88F580-AA42-4730-B4A6-8F0CE09C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Verified beats assumed, every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9A520-3010-419E-8118-6F59F785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4" name="take-no-0">
            <a:extLst xmlns:a="http://schemas.openxmlformats.org/drawingml/2006/main">
              <a:ext uri="{FF2B5EF4-FFF2-40B4-BE49-F238E27FC236}">
                <a16:creationId xmlns:a16="http://schemas.microsoft.com/office/drawing/2014/main" id="{65690B0B-A9FA-4416-B189-7CF23C9C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ake-0">
            <a:extLst xmlns:a="http://schemas.openxmlformats.org/drawingml/2006/main">
              <a:ext uri="{FF2B5EF4-FFF2-40B4-BE49-F238E27FC236}">
                <a16:creationId xmlns:a16="http://schemas.microsoft.com/office/drawing/2014/main" id="{1B6DA1D3-A799-47A2-A5FE-DA7F4E47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05100"/>
            <a:ext cx="10172700" cy="978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Checking a split's shapes is not the same as verifying it — an index-overlap assert is what proves no row leaked between train and test.</a:t>
            </a:r>
          </a:p>
        </p:txBody>
      </p:sp>
      <p:sp>
        <p:nvSpPr>
          <p:cNvPr id="6" name="take-no-1">
            <a:extLst xmlns:a="http://schemas.openxmlformats.org/drawingml/2006/main">
              <a:ext uri="{FF2B5EF4-FFF2-40B4-BE49-F238E27FC236}">
                <a16:creationId xmlns:a16="http://schemas.microsoft.com/office/drawing/2014/main" id="{DDBDE892-5EF7-41F6-A9F3-995AB128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6858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ake-1">
            <a:extLst xmlns:a="http://schemas.openxmlformats.org/drawingml/2006/main">
              <a:ext uri="{FF2B5EF4-FFF2-40B4-BE49-F238E27FC236}">
                <a16:creationId xmlns:a16="http://schemas.microsoft.com/office/drawing/2014/main" id="{F2A5F6FC-F6EC-406C-9B0B-8E35EA06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78758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MAE computed by hand, from its own definition, matched sklearn's value to the decimal — 2.2680, both ways.</a:t>
            </a:r>
          </a:p>
        </p:txBody>
      </p:sp>
      <p:sp>
        <p:nvSpPr>
          <p:cNvPr id="8" name="take-no-2">
            <a:extLst xmlns:a="http://schemas.openxmlformats.org/drawingml/2006/main">
              <a:ext uri="{FF2B5EF4-FFF2-40B4-BE49-F238E27FC236}">
                <a16:creationId xmlns:a16="http://schemas.microsoft.com/office/drawing/2014/main" id="{1897DAF8-E832-4076-B686-516EBFF0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248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take-2">
            <a:extLst xmlns:a="http://schemas.openxmlformats.org/drawingml/2006/main">
              <a:ext uri="{FF2B5EF4-FFF2-40B4-BE49-F238E27FC236}">
                <a16:creationId xmlns:a16="http://schemas.microsoft.com/office/drawing/2014/main" id="{2EEB20A2-C160-42F4-8406-F589B1E6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64380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V037's -6.34 residual has a nameable cause (shading and orientation the model cannot see) — residuals are diagnosable, not random.</a:t>
            </a:r>
          </a:p>
        </p:txBody>
      </p:sp>
      <p:sp>
        <p:nvSpPr>
          <p:cNvPr id="10" name="take-no-3">
            <a:extLst xmlns:a="http://schemas.openxmlformats.org/drawingml/2006/main">
              <a:ext uri="{FF2B5EF4-FFF2-40B4-BE49-F238E27FC236}">
                <a16:creationId xmlns:a16="http://schemas.microsoft.com/office/drawing/2014/main" id="{2D9618CF-790C-4BE7-AEA0-FC09A813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8102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take-3">
            <a:extLst xmlns:a="http://schemas.openxmlformats.org/drawingml/2006/main">
              <a:ext uri="{FF2B5EF4-FFF2-40B4-BE49-F238E27FC236}">
                <a16:creationId xmlns:a16="http://schemas.microsoft.com/office/drawing/2014/main" id="{D3503647-D0F3-49DB-AE47-D65C5B71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50002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suspiciously perfect R2 (0.9923) was the leakage signal itself; leakage_scan turns that one-off check into a tool you keep.</a:t>
            </a:r>
          </a:p>
        </p:txBody>
      </p:sp>
    </p:spTree>
    <p:extLst>
      <p:ext uri="{BB962C8B-B14F-4D97-AF65-F5344CB8AC3E}">
        <p14:creationId xmlns:p14="http://schemas.microsoft.com/office/powerpoint/2010/main" val="8148928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2026-08-20T17:36:47.3010000Z</dcterms:created>
  <dcterms:modified xsi:type="dcterms:W3CDTF">2026-08-20T17:36:47.3010000Z</dcterms:modified>
</coreProperties>
</file>