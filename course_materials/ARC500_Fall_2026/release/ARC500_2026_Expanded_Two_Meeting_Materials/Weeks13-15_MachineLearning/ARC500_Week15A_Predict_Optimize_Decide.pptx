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1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4097fbd5174d9e" /><Relationship Type="http://schemas.openxmlformats.org/officeDocument/2006/relationships/extended-properties" Target="/docProps/app.xml" Id="Rc9e885c76079463d" /><Relationship Type="http://schemas.openxmlformats.org/officeDocument/2006/relationships/officeDocument" Target="/ppt/presentation.xml" Id="Rc2a97a1d052f4a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b6e8854b374e22"/>
  </p:sldMasterIdLst>
  <p:notesMasterIdLst>
    <p:notesMasterId xmlns:r="http://schemas.openxmlformats.org/officeDocument/2006/relationships" r:id="R80ca45e083234752"/>
  </p:notesMasterIdLst>
  <p:sldIdLst>
    <p:sldId xmlns:r="http://schemas.openxmlformats.org/officeDocument/2006/relationships" id="256" r:id="Rbce31d8a2d5949c5"/>
    <p:sldId xmlns:r="http://schemas.openxmlformats.org/officeDocument/2006/relationships" id="257" r:id="R754ac8fffdb24c82"/>
    <p:sldId xmlns:r="http://schemas.openxmlformats.org/officeDocument/2006/relationships" id="258" r:id="Rd28769d950264b93"/>
    <p:sldId xmlns:r="http://schemas.openxmlformats.org/officeDocument/2006/relationships" id="259" r:id="R7dcbe13c84394532"/>
    <p:sldId xmlns:r="http://schemas.openxmlformats.org/officeDocument/2006/relationships" id="260" r:id="R9f1c18681a4c4b45"/>
    <p:sldId xmlns:r="http://schemas.openxmlformats.org/officeDocument/2006/relationships" id="261" r:id="R6ba78183f02f4151"/>
    <p:sldId xmlns:r="http://schemas.openxmlformats.org/officeDocument/2006/relationships" id="262" r:id="R5de3f37fb3284302"/>
    <p:sldId xmlns:r="http://schemas.openxmlformats.org/officeDocument/2006/relationships" id="263" r:id="Rbb9183da7a504651"/>
    <p:sldId xmlns:r="http://schemas.openxmlformats.org/officeDocument/2006/relationships" id="264" r:id="Rf590e17d94a544b3"/>
    <p:sldId xmlns:r="http://schemas.openxmlformats.org/officeDocument/2006/relationships" id="265" r:id="Rd29afb81c3ac4cf8"/>
    <p:sldId xmlns:r="http://schemas.openxmlformats.org/officeDocument/2006/relationships" id="266" r:id="R3532be5739c348f5"/>
    <p:sldId xmlns:r="http://schemas.openxmlformats.org/officeDocument/2006/relationships" id="267" r:id="R824f01badd654883"/>
    <p:sldId xmlns:r="http://schemas.openxmlformats.org/officeDocument/2006/relationships" id="268" r:id="Rd2c81ff39c9b4230"/>
    <p:sldId xmlns:r="http://schemas.openxmlformats.org/officeDocument/2006/relationships" id="269" r:id="R0e37a3e7980f4c90"/>
    <p:sldId xmlns:r="http://schemas.openxmlformats.org/officeDocument/2006/relationships" id="270" r:id="R73fe1ec9f6ff40e7"/>
    <p:sldId xmlns:r="http://schemas.openxmlformats.org/officeDocument/2006/relationships" id="271" r:id="R5f7069e6bc3d465a"/>
    <p:sldId xmlns:r="http://schemas.openxmlformats.org/officeDocument/2006/relationships" id="272" r:id="R6e05df56d69e41e2"/>
    <p:sldId xmlns:r="http://schemas.openxmlformats.org/officeDocument/2006/relationships" id="273" r:id="R19e76fbc5c244363"/>
    <p:sldId xmlns:r="http://schemas.openxmlformats.org/officeDocument/2006/relationships" id="274" r:id="R1584d83512a9436f"/>
    <p:sldId xmlns:r="http://schemas.openxmlformats.org/officeDocument/2006/relationships" id="275" r:id="Re17f8af999dc4434"/>
    <p:sldId xmlns:r="http://schemas.openxmlformats.org/officeDocument/2006/relationships" id="276" r:id="Re363f56983bd4cfc"/>
    <p:sldId xmlns:r="http://schemas.openxmlformats.org/officeDocument/2006/relationships" id="277" r:id="R38f57c55baa54dbc"/>
    <p:sldId xmlns:r="http://schemas.openxmlformats.org/officeDocument/2006/relationships" id="278" r:id="Rfb34d87ba68b4b4a"/>
    <p:sldId xmlns:r="http://schemas.openxmlformats.org/officeDocument/2006/relationships" id="279" r:id="R384fa9c58a024287"/>
    <p:sldId xmlns:r="http://schemas.openxmlformats.org/officeDocument/2006/relationships" id="280" r:id="Rb77f764eb4894c19"/>
    <p:sldId xmlns:r="http://schemas.openxmlformats.org/officeDocument/2006/relationships" id="281" r:id="Ra82bbe7bfb0e4dc8"/>
    <p:sldId xmlns:r="http://schemas.openxmlformats.org/officeDocument/2006/relationships" id="282" r:id="R475de64ec19b4428"/>
    <p:sldId xmlns:r="http://schemas.openxmlformats.org/officeDocument/2006/relationships" id="283" r:id="R671d57abccff496a"/>
    <p:sldId xmlns:r="http://schemas.openxmlformats.org/officeDocument/2006/relationships" id="284" r:id="Rf606e6a69df04a0a"/>
    <p:sldId xmlns:r="http://schemas.openxmlformats.org/officeDocument/2006/relationships" id="285" r:id="R71a31f09a8754c18"/>
    <p:sldId xmlns:r="http://schemas.openxmlformats.org/officeDocument/2006/relationships" id="286" r:id="Rf2c203a065c84795"/>
    <p:sldId xmlns:r="http://schemas.openxmlformats.org/officeDocument/2006/relationships" id="287" r:id="Ra2f5095d12174f72"/>
    <p:sldId xmlns:r="http://schemas.openxmlformats.org/officeDocument/2006/relationships" id="288" r:id="Rd242739395d545ac"/>
    <p:sldId xmlns:r="http://schemas.openxmlformats.org/officeDocument/2006/relationships" id="289" r:id="Rff536978ebfc4f26"/>
    <p:sldId xmlns:r="http://schemas.openxmlformats.org/officeDocument/2006/relationships" id="290" r:id="R8c3b7684f6be4d22"/>
    <p:sldId xmlns:r="http://schemas.openxmlformats.org/officeDocument/2006/relationships" id="291" r:id="Rb5c43ca23af74f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35fcac26dd4afe" /><Relationship Type="http://schemas.openxmlformats.org/officeDocument/2006/relationships/slideMaster" Target="/ppt/slideMasters/slideMaster1.xml" Id="Rc1b6e8854b374e22" /><Relationship Type="http://schemas.openxmlformats.org/officeDocument/2006/relationships/notesMaster" Target="/ppt/notesMasters/notesMaster1.xml" Id="R80ca45e083234752" /><Relationship Type="http://schemas.openxmlformats.org/officeDocument/2006/relationships/presProps" Target="/ppt/presProps.xml" Id="R5c3245a5ed8a4c95" /><Relationship Type="http://schemas.openxmlformats.org/officeDocument/2006/relationships/tableStyles" Target="/ppt/tableStyles.xml" Id="R8d3c804850584dd0" /><Relationship Type="http://schemas.openxmlformats.org/officeDocument/2006/relationships/slide" Target="/ppt/slides/slide1.xml" Id="Rbce31d8a2d5949c5" /><Relationship Type="http://schemas.openxmlformats.org/officeDocument/2006/relationships/slide" Target="/ppt/slides/slide2.xml" Id="R754ac8fffdb24c82" /><Relationship Type="http://schemas.openxmlformats.org/officeDocument/2006/relationships/slide" Target="/ppt/slides/slide3.xml" Id="Rd28769d950264b93" /><Relationship Type="http://schemas.openxmlformats.org/officeDocument/2006/relationships/slide" Target="/ppt/slides/slide4.xml" Id="R7dcbe13c84394532" /><Relationship Type="http://schemas.openxmlformats.org/officeDocument/2006/relationships/slide" Target="/ppt/slides/slide5.xml" Id="R9f1c18681a4c4b45" /><Relationship Type="http://schemas.openxmlformats.org/officeDocument/2006/relationships/slide" Target="/ppt/slides/slide6.xml" Id="R6ba78183f02f4151" /><Relationship Type="http://schemas.openxmlformats.org/officeDocument/2006/relationships/slide" Target="/ppt/slides/slide7.xml" Id="R5de3f37fb3284302" /><Relationship Type="http://schemas.openxmlformats.org/officeDocument/2006/relationships/slide" Target="/ppt/slides/slide8.xml" Id="Rbb9183da7a504651" /><Relationship Type="http://schemas.openxmlformats.org/officeDocument/2006/relationships/slide" Target="/ppt/slides/slide9.xml" Id="Rf590e17d94a544b3" /><Relationship Type="http://schemas.openxmlformats.org/officeDocument/2006/relationships/slide" Target="/ppt/slides/slide10.xml" Id="Rd29afb81c3ac4cf8" /><Relationship Type="http://schemas.openxmlformats.org/officeDocument/2006/relationships/slide" Target="/ppt/slides/slide11.xml" Id="R3532be5739c348f5" /><Relationship Type="http://schemas.openxmlformats.org/officeDocument/2006/relationships/slide" Target="/ppt/slides/slide12.xml" Id="R824f01badd654883" /><Relationship Type="http://schemas.openxmlformats.org/officeDocument/2006/relationships/slide" Target="/ppt/slides/slide13.xml" Id="Rd2c81ff39c9b4230" /><Relationship Type="http://schemas.openxmlformats.org/officeDocument/2006/relationships/slide" Target="/ppt/slides/slide14.xml" Id="R0e37a3e7980f4c90" /><Relationship Type="http://schemas.openxmlformats.org/officeDocument/2006/relationships/slide" Target="/ppt/slides/slide15.xml" Id="R73fe1ec9f6ff40e7" /><Relationship Type="http://schemas.openxmlformats.org/officeDocument/2006/relationships/slide" Target="/ppt/slides/slide16.xml" Id="R5f7069e6bc3d465a" /><Relationship Type="http://schemas.openxmlformats.org/officeDocument/2006/relationships/slide" Target="/ppt/slides/slide17.xml" Id="R6e05df56d69e41e2" /><Relationship Type="http://schemas.openxmlformats.org/officeDocument/2006/relationships/slide" Target="/ppt/slides/slide18.xml" Id="R19e76fbc5c244363" /><Relationship Type="http://schemas.openxmlformats.org/officeDocument/2006/relationships/slide" Target="/ppt/slides/slide19.xml" Id="R1584d83512a9436f" /><Relationship Type="http://schemas.openxmlformats.org/officeDocument/2006/relationships/slide" Target="/ppt/slides/slide20.xml" Id="Re17f8af999dc4434" /><Relationship Type="http://schemas.openxmlformats.org/officeDocument/2006/relationships/slide" Target="/ppt/slides/slide21.xml" Id="Re363f56983bd4cfc" /><Relationship Type="http://schemas.openxmlformats.org/officeDocument/2006/relationships/slide" Target="/ppt/slides/slide22.xml" Id="R38f57c55baa54dbc" /><Relationship Type="http://schemas.openxmlformats.org/officeDocument/2006/relationships/slide" Target="/ppt/slides/slide23.xml" Id="Rfb34d87ba68b4b4a" /><Relationship Type="http://schemas.openxmlformats.org/officeDocument/2006/relationships/slide" Target="/ppt/slides/slide24.xml" Id="R384fa9c58a024287" /><Relationship Type="http://schemas.openxmlformats.org/officeDocument/2006/relationships/slide" Target="/ppt/slides/slide25.xml" Id="Rb77f764eb4894c19" /><Relationship Type="http://schemas.openxmlformats.org/officeDocument/2006/relationships/slide" Target="/ppt/slides/slide26.xml" Id="Ra82bbe7bfb0e4dc8" /><Relationship Type="http://schemas.openxmlformats.org/officeDocument/2006/relationships/slide" Target="/ppt/slides/slide27.xml" Id="R475de64ec19b4428" /><Relationship Type="http://schemas.openxmlformats.org/officeDocument/2006/relationships/slide" Target="/ppt/slides/slide28.xml" Id="R671d57abccff496a" /><Relationship Type="http://schemas.openxmlformats.org/officeDocument/2006/relationships/slide" Target="/ppt/slides/slide29.xml" Id="Rf606e6a69df04a0a" /><Relationship Type="http://schemas.openxmlformats.org/officeDocument/2006/relationships/slide" Target="/ppt/slides/slide30.xml" Id="R71a31f09a8754c18" /><Relationship Type="http://schemas.openxmlformats.org/officeDocument/2006/relationships/slide" Target="/ppt/slides/slide31.xml" Id="Rf2c203a065c84795" /><Relationship Type="http://schemas.openxmlformats.org/officeDocument/2006/relationships/slide" Target="/ppt/slides/slide32.xml" Id="Ra2f5095d12174f72" /><Relationship Type="http://schemas.openxmlformats.org/officeDocument/2006/relationships/slide" Target="/ppt/slides/slide33.xml" Id="Rd242739395d545ac" /><Relationship Type="http://schemas.openxmlformats.org/officeDocument/2006/relationships/slide" Target="/ppt/slides/slide34.xml" Id="Rff536978ebfc4f26" /><Relationship Type="http://schemas.openxmlformats.org/officeDocument/2006/relationships/slide" Target="/ppt/slides/slide35.xml" Id="R8c3b7684f6be4d22" /><Relationship Type="http://schemas.openxmlformats.org/officeDocument/2006/relationships/slide" Target="/ppt/slides/slide36.xml" Id="Rb5c43ca23af74f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bdaa63756c4a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1dfa92d8fe448e" /><Relationship Type="http://schemas.openxmlformats.org/officeDocument/2006/relationships/notesMaster" Target="/ppt/notesMasters/notesMaster1.xml" Id="Rde9f990502fa4e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9cd2efd04f442e" /><Relationship Type="http://schemas.openxmlformats.org/officeDocument/2006/relationships/notesMaster" Target="/ppt/notesMasters/notesMaster1.xml" Id="Re2619782214c44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b9a65d26e24a6d" /><Relationship Type="http://schemas.openxmlformats.org/officeDocument/2006/relationships/notesMaster" Target="/ppt/notesMasters/notesMaster1.xml" Id="R27f2e68d821f41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ff70e54fdf4c80" /><Relationship Type="http://schemas.openxmlformats.org/officeDocument/2006/relationships/notesMaster" Target="/ppt/notesMasters/notesMaster1.xml" Id="R3be705a24d5d41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1bf012553243e0" /><Relationship Type="http://schemas.openxmlformats.org/officeDocument/2006/relationships/notesMaster" Target="/ppt/notesMasters/notesMaster1.xml" Id="R41e0f0642e1743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24be8d74c44669" /><Relationship Type="http://schemas.openxmlformats.org/officeDocument/2006/relationships/notesMaster" Target="/ppt/notesMasters/notesMaster1.xml" Id="R8810c454253640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c99bf3e6674fac" /><Relationship Type="http://schemas.openxmlformats.org/officeDocument/2006/relationships/notesMaster" Target="/ppt/notesMasters/notesMaster1.xml" Id="R2a32e2aa908e4d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3a37df096c40a7" /><Relationship Type="http://schemas.openxmlformats.org/officeDocument/2006/relationships/notesMaster" Target="/ppt/notesMasters/notesMaster1.xml" Id="R13e78b896ac24c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9664b83c5a49a4" /><Relationship Type="http://schemas.openxmlformats.org/officeDocument/2006/relationships/notesMaster" Target="/ppt/notesMasters/notesMaster1.xml" Id="R905952688d0d4b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ca78a77b6045d7" /><Relationship Type="http://schemas.openxmlformats.org/officeDocument/2006/relationships/notesMaster" Target="/ppt/notesMasters/notesMaster1.xml" Id="R797d7e79e8314a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4e444a3beb429b" /><Relationship Type="http://schemas.openxmlformats.org/officeDocument/2006/relationships/notesMaster" Target="/ppt/notesMasters/notesMaster1.xml" Id="Rdc564e5b081441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d3f268e80e4de6" /><Relationship Type="http://schemas.openxmlformats.org/officeDocument/2006/relationships/notesMaster" Target="/ppt/notesMasters/notesMaster1.xml" Id="R3ec545258e5847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a11d61624ac408b" /><Relationship Type="http://schemas.openxmlformats.org/officeDocument/2006/relationships/notesMaster" Target="/ppt/notesMasters/notesMaster1.xml" Id="Rb00581002dc1406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1061c99f854831" /><Relationship Type="http://schemas.openxmlformats.org/officeDocument/2006/relationships/notesMaster" Target="/ppt/notesMasters/notesMaster1.xml" Id="R62131461cb5f46c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b826f7000c04c9e" /><Relationship Type="http://schemas.openxmlformats.org/officeDocument/2006/relationships/notesMaster" Target="/ppt/notesMasters/notesMaster1.xml" Id="Rc0326f0bbb5647e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b30e13013af4e66" /><Relationship Type="http://schemas.openxmlformats.org/officeDocument/2006/relationships/notesMaster" Target="/ppt/notesMasters/notesMaster1.xml" Id="R6809eff4d2aa4ca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2e76a037b4d4b69" /><Relationship Type="http://schemas.openxmlformats.org/officeDocument/2006/relationships/notesMaster" Target="/ppt/notesMasters/notesMaster1.xml" Id="R170615c2796643b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2d0dd3037594d4c" /><Relationship Type="http://schemas.openxmlformats.org/officeDocument/2006/relationships/notesMaster" Target="/ppt/notesMasters/notesMaster1.xml" Id="Rd424e6681828449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8c4b32f154a4cea" /><Relationship Type="http://schemas.openxmlformats.org/officeDocument/2006/relationships/notesMaster" Target="/ppt/notesMasters/notesMaster1.xml" Id="R3328bc3015a04fd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828d22e00d2425e" /><Relationship Type="http://schemas.openxmlformats.org/officeDocument/2006/relationships/notesMaster" Target="/ppt/notesMasters/notesMaster1.xml" Id="Rcbcf0edf6e6f483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76d323935404457" /><Relationship Type="http://schemas.openxmlformats.org/officeDocument/2006/relationships/notesMaster" Target="/ppt/notesMasters/notesMaster1.xml" Id="Rbc992c0e4f2342a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5c243c3600d4ccb" /><Relationship Type="http://schemas.openxmlformats.org/officeDocument/2006/relationships/notesMaster" Target="/ppt/notesMasters/notesMaster1.xml" Id="Rbd0f4312a235410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c5bb210a0f54bd4" /><Relationship Type="http://schemas.openxmlformats.org/officeDocument/2006/relationships/notesMaster" Target="/ppt/notesMasters/notesMaster1.xml" Id="R3ec57579f80245a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069c34bf2274b14" /><Relationship Type="http://schemas.openxmlformats.org/officeDocument/2006/relationships/notesMaster" Target="/ppt/notesMasters/notesMaster1.xml" Id="Rcf2be61132064eb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c800a3867ad4a42" /><Relationship Type="http://schemas.openxmlformats.org/officeDocument/2006/relationships/notesMaster" Target="/ppt/notesMasters/notesMaster1.xml" Id="R1af205ac129c410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eba954bca184bfc" /><Relationship Type="http://schemas.openxmlformats.org/officeDocument/2006/relationships/notesMaster" Target="/ppt/notesMasters/notesMaster1.xml" Id="Rc006eeabf2f1416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83f8241b3da4bfc" /><Relationship Type="http://schemas.openxmlformats.org/officeDocument/2006/relationships/notesMaster" Target="/ppt/notesMasters/notesMaster1.xml" Id="R5a2aae3dea454c9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0eb297ea7244066" /><Relationship Type="http://schemas.openxmlformats.org/officeDocument/2006/relationships/notesMaster" Target="/ppt/notesMasters/notesMaster1.xml" Id="R71f2f4bc14e240c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54e435c851a4ee8" /><Relationship Type="http://schemas.openxmlformats.org/officeDocument/2006/relationships/notesMaster" Target="/ppt/notesMasters/notesMaster1.xml" Id="Rd7988586c95748b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5df8a1bde504c48" /><Relationship Type="http://schemas.openxmlformats.org/officeDocument/2006/relationships/notesMaster" Target="/ppt/notesMasters/notesMaster1.xml" Id="R933d4d8bdd9a4ca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ef2e13b62484efc" /><Relationship Type="http://schemas.openxmlformats.org/officeDocument/2006/relationships/notesMaster" Target="/ppt/notesMasters/notesMaster1.xml" Id="Rff4cb6b70701418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624f6ed43154345" /><Relationship Type="http://schemas.openxmlformats.org/officeDocument/2006/relationships/notesMaster" Target="/ppt/notesMasters/notesMaster1.xml" Id="R1ea422f1f42b424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c9e3e54806e4d18" /><Relationship Type="http://schemas.openxmlformats.org/officeDocument/2006/relationships/notesMaster" Target="/ppt/notesMasters/notesMaster1.xml" Id="R03fc12d4caef426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3c196c7042540b9" /><Relationship Type="http://schemas.openxmlformats.org/officeDocument/2006/relationships/notesMaster" Target="/ppt/notesMasters/notesMaster1.xml" Id="R7274502fce8f42e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e2260d92f0340ea" /><Relationship Type="http://schemas.openxmlformats.org/officeDocument/2006/relationships/notesMaster" Target="/ppt/notesMasters/notesMaster1.xml" Id="R55600f5ee96f4b8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b30fce9cc4047c8" /><Relationship Type="http://schemas.openxmlformats.org/officeDocument/2006/relationships/notesMaster" Target="/ppt/notesMasters/notesMaster1.xml" Id="R08beced23a714f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Open by naming the date and format explicitly: Dec 7, the only meeting this week (Dec 9 is a reading day), and Project 2 is due today with in-class presentations in this same session. This is a closing synthesis, not a new lecture — say so before anything else.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Hold Week 11's minimize() call next to today's on the board if possible — same three arguments (objective, x0, bounds). Only the function passed as the objective differs.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These four outcomes ARE Project 2 Part IV's integration requirement, restated for today's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Tell students plainly: there is no new sklearn or scipy call today. Everything used in the demo has already run in Weeks 11, 13, or 14 — today is about the WIRING between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Have students say the three words back with the week number each one came from before moving to the process diagram — this primes the whole session's arc.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students to name, out loud, which week each of the three words came from, before moving on — this is the whole semester's arc in one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Name explicitly which track each student is on before the worked demo starts, so Track A students know why the numeric demo ahead uses a regressor, not their own classifier.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https://scikit-learn.org/stable/modules/generated/sklearn.linear_model.LinearRegression.html</a:t>
            </a:r>
          </a:p>
          <a:p xmlns:a="http://schemas.openxmlformats.org/drawingml/2006/main">
            <a:r>
              <a:t>- https://scikit-learn.org/stable/modules/generated/sklearn.linear_model.LogisticRegression.html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Reassure students this is deliberately light on new syntax — the plan calls for keeping this deck's balance of new content light, since the real work today is students' own Project 2 integration and presentations.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Point out orientation is a category (S), not a number fed to this 4-feature model at all — it is part of the scenario's narrative, not a regression input, exactly as in Week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Refitting live (rather than loading a saved model file) is deliberate — students have not been taught model persistence, and re-running the exact fit keeps every number traceable to code on screen.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https://scikit-learn.org/stable/modules/generated/sklearn.linear_model.LinearRegression.html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Point at random_state=42 and remind students it is the same value used for every split across Weeks 13-15, which is why the numbers on the next slide will match Week 14's exactly rather than merely closely.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https://scikit-learn.org/stable/modules/generated/sklearn.linear_model.LinearRegression.html</a:t>
            </a:r>
          </a:p>
          <a:p xmlns:a="http://schemas.openxmlformats.org/drawingml/2006/main">
            <a:r>
              <a:t>- https://scikit-learn.org/stable/modules/model_evaluation.html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students to read the sign of each coefficient as a physical claim before moving on - all four match the direction Week 13 and Week 14 established, which is why this refit is a recall rather than a new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https://scikit-learn.org/stable/modules/generated/sklearn.linear_model.LinearRegression.html</a:t>
            </a:r>
          </a:p>
          <a:p xmlns:a="http://schemas.openxmlformats.org/drawingml/2006/main">
            <a:r>
              <a:t>- https://scikit-learn.org/stable/modules/model_evaluation.html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Write 31.2886 on the board and connect it to Week 14's hand-computed transfer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https://scikit-learn.org/stable/modules/generated/sklearn.linear_model.LinearRegression.html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If a function maps decision variables to one predicted number, minimize can search it. All other features stay pinned at baseline.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This check-before-trusting habit is worth naming explicitly: always verify a wrapped objective function at a known point before handing it to an optimizer.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https://scikit-learn.org/stable/modules/generated/sklearn.linear_model.LinearRegression.html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Both traps are genuine beginner errors worth naming explicitly: forgetting predict() needs a 2D row (not a flat list), and forgetting its return value is itself an array, not a bare number.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This is the reveal for the anatomy slide's minimize() call — walk result.x and result.fun against what that diagram named. A predict slide right before Demo 2 asks students to commit to an answer before it runs.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State the contrast in terms of this surrogate's shape, and keep Week 11's proof-versus-corroboration distinction precise.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Both series computed by actually calling surrogate_eui at 5 evenly spaced points across each variable's full bound range, holding the other variable at baseline — verified, not sketched.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x0=(0.22, 1.10) is far from Demo 1's start and near Week 11's lower best-known basin on an unrelated problem. Have students commit before revealing; agreement is the finding here, not surrogate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Let the agreement land, then ask what it establishes and what it does not.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This is the exact table format Project 2 Part IV's baseline-vs-recommended figure should use — point that out explicitly.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Distinguish 'no suboptimal local optimum' from 'only one optimum.' A flat boundary face can contain multiple global optima.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Confirm students can state the difference between 'the quantity being minimized' and 'a condition that must hold' before the next slide applies it to Track A's classifier.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Keep this conceptual, per the plan — no new numeric demo today. If a Track A student asks for the exact scipy.optimize.minimize constraints= syntax, offer to work through it one-on-one during the advising time later this session.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https://scikit-learn.org/stable/modules/generated/sklearn.linear_model.LogisticRegression.html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Retrieve the frozen 0.5 policy and its validation rule before treating probability as a modeled constraint.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https://scikit-learn.org/stable/modules/generated/sklearn.linear_model.LogisticRegression.html</a:t>
            </a:r>
          </a:p>
          <a:p xmlns:a="http://schemas.openxmlformats.org/drawingml/2006/main">
            <a:r>
              <a:t>- https://scikit-learn.org/stable/modules/model_evaluation.html#precision-recall-f-measure-metrics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This sentence IS the predict-optimize-decide synthesis the whole session builds to. Have students read it aloud once before moving 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Use fold variation as model-stability evidence. The untouched final test is reported separately: MAE=1.9881, RMSE=2.5210, R²=0.5167.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https://scikit-learn.org/stable/modules/cross_validation.html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wwr=0.85 exceeds Week 13's verified training range (0.201-0.592). The exact 3-feature model predicts 36.1307, which sits inside the observed EUI range (17.9-37.2) and therefore looks plausible. Ask how an explicit support gate would reveal the unsupported input.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https://scikit-learn.org/stable/modules/generated/sklearn.linear_model.LinearRegression.html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Both checks belong directly in a Project 2 model card, not just in this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</a:t>
            </a:r>
          </a:p>
          <a:p xmlns:a="http://schemas.openxmlformats.org/drawingml/2006/main">
            <a:r>
              <a:t>- https://scikit-learn.org/stable/modules/cross_validation.html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Walk this table row by row and ask students to say, out loud, what goes in the right-hand column for their OWN Project 2 pipeline — this is the whole capstone integration requirement, restated as a checklist.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Enforce the 4+1 structure and five-minute hard cap. Reserve 15 minutes for selective source-deck synthesis; with more than 12 students, run parallel gallery/code-review rounds rather than serial talks.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This is the same AI-use-record convention from Week 4 onward, restated one final time because it is due with today's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EnergyPlus is one example of a higher-fidelity building simulation engine; BOPTEST is specifically a building-controls benchmarking framework, not a universal truth oracle. Require students to name the verification tool and discrepancy tolerance before accepting a recommendation.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https://energyplus.net/</a:t>
            </a:r>
          </a:p>
          <a:p xmlns:a="http://schemas.openxmlformats.org/drawingml/2006/main">
            <a:r>
              <a:t>- https://github.com/ibpsa/project1-boptest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Use the NIST AI RMF functions as a professional vocabulary. Students do not need to memorize the framework; they must show that technical evaluation and organizational responsibility continue after the demo works.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https://www.nist.gov/itl/ai-risk-management-framework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Close by reminding students that Project 2 is due only when the recommendation has a truth-model check and bounded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45737c3b9345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f6b416cbaa4046" /><Relationship Type="http://schemas.openxmlformats.org/officeDocument/2006/relationships/slideLayout" Target="/ppt/slideLayouts/slideLayout1.xml" Id="Rd1b0a777f7bf4f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b0a777f7bf4f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14578ad674508" /><Relationship Type="http://schemas.openxmlformats.org/officeDocument/2006/relationships/notesSlide" Target="/ppt/notesSlides/notesSlide1.xml" Id="R0c4af0a32faf41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55638190349b9" /><Relationship Type="http://schemas.openxmlformats.org/officeDocument/2006/relationships/notesSlide" Target="/ppt/notesSlides/notesSlide2.xml" Id="R3e30b8b07bd643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141f0bac344b8" /><Relationship Type="http://schemas.openxmlformats.org/officeDocument/2006/relationships/notesSlide" Target="/ppt/notesSlides/notesSlide3.xml" Id="R4c06911229ac41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6552b50c34591" /><Relationship Type="http://schemas.openxmlformats.org/officeDocument/2006/relationships/notesSlide" Target="/ppt/notesSlides/notesSlide4.xml" Id="Re991b61d601448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89c6e0ed34546" /><Relationship Type="http://schemas.openxmlformats.org/officeDocument/2006/relationships/notesSlide" Target="/ppt/notesSlides/notesSlide5.xml" Id="R507083bac0784e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494bea31d44da" /><Relationship Type="http://schemas.openxmlformats.org/officeDocument/2006/relationships/notesSlide" Target="/ppt/notesSlides/notesSlide6.xml" Id="R1c8cebd82d8b41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174a493d64dc0" /><Relationship Type="http://schemas.openxmlformats.org/officeDocument/2006/relationships/notesSlide" Target="/ppt/notesSlides/notesSlide7.xml" Id="R0a42c3dc5ed344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fcf34d7c64809" /><Relationship Type="http://schemas.openxmlformats.org/officeDocument/2006/relationships/notesSlide" Target="/ppt/notesSlides/notesSlide8.xml" Id="R9217e45db9a543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2f7a114114a38" /><Relationship Type="http://schemas.openxmlformats.org/officeDocument/2006/relationships/notesSlide" Target="/ppt/notesSlides/notesSlide9.xml" Id="Rd5f04fc32dba42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8f247324b4263" /><Relationship Type="http://schemas.openxmlformats.org/officeDocument/2006/relationships/notesSlide" Target="/ppt/notesSlides/notesSlide10.xml" Id="R80b2aa69911446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10fdb9a5245e4" /><Relationship Type="http://schemas.openxmlformats.org/officeDocument/2006/relationships/notesSlide" Target="/ppt/notesSlides/notesSlide11.xml" Id="Rba01335ef2d340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3818771154ab0" /><Relationship Type="http://schemas.openxmlformats.org/officeDocument/2006/relationships/notesSlide" Target="/ppt/notesSlides/notesSlide12.xml" Id="R3841fa749e5a430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db03e179d4f60" /><Relationship Type="http://schemas.openxmlformats.org/officeDocument/2006/relationships/notesSlide" Target="/ppt/notesSlides/notesSlide13.xml" Id="R1e5594fbb77a436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0247bb9694985" /><Relationship Type="http://schemas.openxmlformats.org/officeDocument/2006/relationships/notesSlide" Target="/ppt/notesSlides/notesSlide14.xml" Id="R87e2adea17c4455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4b7f3832d4846" /><Relationship Type="http://schemas.openxmlformats.org/officeDocument/2006/relationships/notesSlide" Target="/ppt/notesSlides/notesSlide15.xml" Id="R0c45354a5f0d4e3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d80ee25f3412c" /><Relationship Type="http://schemas.openxmlformats.org/officeDocument/2006/relationships/notesSlide" Target="/ppt/notesSlides/notesSlide16.xml" Id="R6f1203aa8e1d408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d38c26a7440f2" /><Relationship Type="http://schemas.openxmlformats.org/officeDocument/2006/relationships/notesSlide" Target="/ppt/notesSlides/notesSlide17.xml" Id="Rb8b0401817cd4ee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4c0c00d104240" /><Relationship Type="http://schemas.openxmlformats.org/officeDocument/2006/relationships/notesSlide" Target="/ppt/notesSlides/notesSlide18.xml" Id="R85f43e9d2af142a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08ac1be694ed6" /><Relationship Type="http://schemas.openxmlformats.org/officeDocument/2006/relationships/chart" Target="/ppt/slides/charts/chart1.xml" Id="R6fdcab1cb9f54da9" /><Relationship Type="http://schemas.openxmlformats.org/officeDocument/2006/relationships/notesSlide" Target="/ppt/notesSlides/notesSlide19.xml" Id="Rcc66f665d475439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2a0eb2f094956" /><Relationship Type="http://schemas.openxmlformats.org/officeDocument/2006/relationships/notesSlide" Target="/ppt/notesSlides/notesSlide20.xml" Id="R3a88793ecf304a3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0c81413f343e3" /><Relationship Type="http://schemas.openxmlformats.org/officeDocument/2006/relationships/notesSlide" Target="/ppt/notesSlides/notesSlide21.xml" Id="R7fe12b8e2abe4b0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7c4b8ad4b4063" /><Relationship Type="http://schemas.openxmlformats.org/officeDocument/2006/relationships/notesSlide" Target="/ppt/notesSlides/notesSlide22.xml" Id="Rdf9310e329414cc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744bb5806481f" /><Relationship Type="http://schemas.openxmlformats.org/officeDocument/2006/relationships/notesSlide" Target="/ppt/notesSlides/notesSlide23.xml" Id="Rec09d5a9bbab476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f1639b74e4ef4" /><Relationship Type="http://schemas.openxmlformats.org/officeDocument/2006/relationships/notesSlide" Target="/ppt/notesSlides/notesSlide24.xml" Id="R19a5d480bbff4e9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5f29b32504ec0" /><Relationship Type="http://schemas.openxmlformats.org/officeDocument/2006/relationships/notesSlide" Target="/ppt/notesSlides/notesSlide25.xml" Id="Radd2b33e5d3c45d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cdc99535341ef" /><Relationship Type="http://schemas.openxmlformats.org/officeDocument/2006/relationships/notesSlide" Target="/ppt/notesSlides/notesSlide26.xml" Id="R2157ec7e277d425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f3e2c6ba94928" /><Relationship Type="http://schemas.openxmlformats.org/officeDocument/2006/relationships/notesSlide" Target="/ppt/notesSlides/notesSlide27.xml" Id="R949e39ad1d3c4ff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2e7ddfbd9406e" /><Relationship Type="http://schemas.openxmlformats.org/officeDocument/2006/relationships/notesSlide" Target="/ppt/notesSlides/notesSlide28.xml" Id="R7cecae7af13744b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522df329e4f43" /><Relationship Type="http://schemas.openxmlformats.org/officeDocument/2006/relationships/notesSlide" Target="/ppt/notesSlides/notesSlide29.xml" Id="R8ac2afdee18e4f3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b03bc7666420a" /><Relationship Type="http://schemas.openxmlformats.org/officeDocument/2006/relationships/notesSlide" Target="/ppt/notesSlides/notesSlide30.xml" Id="Re551f9f3f344435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adfa86685480f" /><Relationship Type="http://schemas.openxmlformats.org/officeDocument/2006/relationships/notesSlide" Target="/ppt/notesSlides/notesSlide31.xml" Id="Ra1f4bbeeac2b48a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bcd7b8fc94252" /><Relationship Type="http://schemas.openxmlformats.org/officeDocument/2006/relationships/notesSlide" Target="/ppt/notesSlides/notesSlide32.xml" Id="Rfedfe467be3f4ff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ca50f1d8a4788" /><Relationship Type="http://schemas.openxmlformats.org/officeDocument/2006/relationships/notesSlide" Target="/ppt/notesSlides/notesSlide33.xml" Id="R7f7254faddf1433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a71e8acdf4df7" /><Relationship Type="http://schemas.openxmlformats.org/officeDocument/2006/relationships/notesSlide" Target="/ppt/notesSlides/notesSlide34.xml" Id="Rc6a8b5d88b30439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955e2bc514ca2" /><Relationship Type="http://schemas.openxmlformats.org/officeDocument/2006/relationships/notesSlide" Target="/ppt/notesSlides/notesSlide35.xml" Id="Ra5e9925f8c8e44b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e50da57e24a5d" /><Relationship Type="http://schemas.openxmlformats.org/officeDocument/2006/relationships/notesSlide" Target="/ppt/notesSlides/notesSlide36.xml" Id="R0e16c8e128304393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1316"/>
                </a:solidFill>
              </a:rPr>
              <a:t>Predicted EUI across each variable's own bounds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11316"/>
              </a:solidFill>
            </a:defRPr>
          </a:pPr>
        </a:p>
      </c:txPr>
    </c:title>
    <c:plotArea>
      <c:lineChart>
        <c:grouping val="standard"/>
        <c:ser>
          <c:idx val="0"/>
          <c:order val="0"/>
          <c:tx>
            <c:v>vs. wwr (shade_m fixed at 0.20)</c:v>
          </c:tx>
          <c:marker>
            <c:symbol val="none"/>
          </c:marker>
          <c:cat>
            <c:strLit>
              <c:ptCount val="5"/>
              <c:pt idx="0">
                <c:v>low bound</c:v>
              </c:pt>
              <c:pt idx="1">
                <c:v>25%</c:v>
              </c:pt>
              <c:pt idx="2">
                <c:v>50%</c:v>
              </c:pt>
              <c:pt idx="3">
                <c:v>75%</c:v>
              </c:pt>
              <c:pt idx="4">
                <c:v>high bound</c:v>
              </c:pt>
            </c:strLit>
          </c:cat>
          <c:val>
            <c:numLit>
              <c:formatCode>General</c:formatCode>
              <c:ptCount val="5"/>
              <c:pt idx="0">
                <c:v>25.9618</c:v>
              </c:pt>
              <c:pt idx="1">
                <c:v>27.7374</c:v>
              </c:pt>
              <c:pt idx="2">
                <c:v>29.513</c:v>
              </c:pt>
              <c:pt idx="3">
                <c:v>31.2886</c:v>
              </c:pt>
              <c:pt idx="4">
                <c:v>33.0642</c:v>
              </c:pt>
            </c:numLit>
          </c:val>
        </c:ser>
        <c:ser>
          <c:idx val="1"/>
          <c:order val="1"/>
          <c:tx>
            <c:v>vs. shade_m (wwr fixed at 0.50)</c:v>
          </c:tx>
          <c:marker>
            <c:symbol val="none"/>
          </c:marker>
          <c:cat>
            <c:strLit>
              <c:ptCount val="5"/>
              <c:pt idx="0">
                <c:v>low bound</c:v>
              </c:pt>
              <c:pt idx="1">
                <c:v>25%</c:v>
              </c:pt>
              <c:pt idx="2">
                <c:v>50%</c:v>
              </c:pt>
              <c:pt idx="3">
                <c:v>75%</c:v>
              </c:pt>
              <c:pt idx="4">
                <c:v>high bound</c:v>
              </c:pt>
            </c:strLit>
          </c:cat>
          <c:val>
            <c:numLit>
              <c:formatCode>General</c:formatCode>
              <c:ptCount val="5"/>
              <c:pt idx="0">
                <c:v>31.9309</c:v>
              </c:pt>
              <c:pt idx="1">
                <c:v>30.9674</c:v>
              </c:pt>
              <c:pt idx="2">
                <c:v>30.0039</c:v>
              </c:pt>
              <c:pt idx="3">
                <c:v>29.0404</c:v>
              </c:pt>
              <c:pt idx="4">
                <c:v>28.077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3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5A5F66"/>
                    </a:solidFill>
                  </a:rPr>
                  <a:t>position across the variable's own bounds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5A5F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5F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3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5A5F66"/>
                    </a:solidFill>
                  </a:rPr>
                  <a:t>predicted EUI (kWh/m2/yr)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5A5F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5F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B8BCC4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A5F66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B8BCC4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urse-mark">
            <a:extLst xmlns:a="http://schemas.openxmlformats.org/drawingml/2006/main">
              <a:ext uri="{FF2B5EF4-FFF2-40B4-BE49-F238E27FC236}">
                <a16:creationId xmlns:a16="http://schemas.microsoft.com/office/drawing/2014/main" id="{C3F004F6-E32C-4779-83D8-E54FBE2F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&lt;&gt;  ARC 500</a:t>
            </a:r>
          </a:p>
        </p:txBody>
      </p:sp>
      <p:sp>
        <p:nvSpPr>
          <p:cNvPr id="2" name="course-full-title">
            <a:extLst xmlns:a="http://schemas.openxmlformats.org/drawingml/2006/main">
              <a:ext uri="{FF2B5EF4-FFF2-40B4-BE49-F238E27FC236}">
                <a16:creationId xmlns:a16="http://schemas.microsoft.com/office/drawing/2014/main" id="{77263BB3-3CD8-47B6-9F81-BC976220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9AA1A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1AC"/>
                </a:solidFill>
                <a:latin typeface="Arial"/>
                <a:ea typeface="Arial"/>
                <a:cs typeface="Arial"/>
              </a:rPr>
              <a:t>Programming with Python and Generative AI  ·  Scripting, Data Analysis, Visualization, Problem-Solving, and Optimization</a:t>
            </a:r>
          </a:p>
        </p:txBody>
      </p:sp>
      <p:sp>
        <p:nvSpPr>
          <p:cNvPr id="3" name="accent-bar">
            <a:extLst xmlns:a="http://schemas.openxmlformats.org/drawingml/2006/main">
              <a:ext uri="{FF2B5EF4-FFF2-40B4-BE49-F238E27FC236}">
                <a16:creationId xmlns:a16="http://schemas.microsoft.com/office/drawing/2014/main" id="{C0DDCACD-3C5D-4439-B0BE-B378DB03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3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label">
            <a:extLst xmlns:a="http://schemas.openxmlformats.org/drawingml/2006/main">
              <a:ext uri="{FF2B5EF4-FFF2-40B4-BE49-F238E27FC236}">
                <a16:creationId xmlns:a16="http://schemas.microsoft.com/office/drawing/2014/main" id="{8A4A2ED8-DD8F-4C6B-8A36-6E61333A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52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WEEK 15 · MEETING A · PROJECT 2 CAPSTONE CLINIC, PRESENTATIONS, AND SYNTHESIS</a:t>
            </a:r>
          </a:p>
        </p:txBody>
      </p:sp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E3F6DEDC-58F6-445C-BB2B-23F1455B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7165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Predict, optimize, decide — closing the loop</a:t>
            </a:r>
          </a:p>
        </p:txBody>
      </p:sp>
      <p:sp>
        <p:nvSpPr>
          <p:cNvPr id="6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EED8F8F4-3A5A-4CCA-86F2-06F7DC8D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914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A fitted model becomes the optimizer's objective — the same minimize() call as Week 11, a different function inside 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EB8BE-7B71-4F5D-B40D-46F9E823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instructor">
            <a:extLst xmlns:a="http://schemas.openxmlformats.org/drawingml/2006/main">
              <a:ext uri="{FF2B5EF4-FFF2-40B4-BE49-F238E27FC236}">
                <a16:creationId xmlns:a16="http://schemas.microsoft.com/office/drawing/2014/main" id="{F93E0780-D44A-4A25-A549-5AD7B615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JunHo Chun, PhD  ·  School of Architecture  ·  Syracuse University  ·  Fall 2026</a:t>
            </a:r>
          </a:p>
        </p:txBody>
      </p:sp>
    </p:spTree>
    <p:extLst>
      <p:ext uri="{BB962C8B-B14F-4D97-AF65-F5344CB8AC3E}">
        <p14:creationId xmlns:p14="http://schemas.microsoft.com/office/powerpoint/2010/main" val="3670172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24592B73-8D5C-4F1D-9357-36E580AB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PRINCIPLE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8FB2685-235F-4F11-9F27-714644C3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Today closes a loop Week 9 opened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D0AD0-0DCC-4F84-BABB-88FF702E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DD9FF59-EC2F-4A8C-A9EC-FAB64F1E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A260B09-75EE-4C73-8815-8A409474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statement">
            <a:extLst xmlns:a="http://schemas.openxmlformats.org/drawingml/2006/main">
              <a:ext uri="{FF2B5EF4-FFF2-40B4-BE49-F238E27FC236}">
                <a16:creationId xmlns:a16="http://schemas.microsoft.com/office/drawing/2014/main" id="{482DA642-26DA-4494-A145-CFF11530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9829800" cy="2545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Your fitted model now steps into the exact role Week 9 and 11's analytic energy_proxy formula used to play — as the thing scipy.optimize.minimize searches against.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71D76-7243-4821-B197-78379B31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8" name="supporting">
            <a:extLst xmlns:a="http://schemas.openxmlformats.org/drawingml/2006/main">
              <a:ext uri="{FF2B5EF4-FFF2-40B4-BE49-F238E27FC236}">
                <a16:creationId xmlns:a16="http://schemas.microsoft.com/office/drawing/2014/main" id="{6790F837-310D-42E9-A072-915DC3F6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2530"/>
            <a:ext cx="9334500" cy="871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Week 9/11 gave you a clean formula to sweep or minimize directly. Weeks 13-14 taught you to fit a model FROM data instead. Today: the fitted model goes into the same minimize() call site, nothing else about the tool changes.</a:t>
            </a:r>
          </a:p>
        </p:txBody>
      </p:sp>
    </p:spTree>
    <p:extLst>
      <p:ext uri="{BB962C8B-B14F-4D97-AF65-F5344CB8AC3E}">
        <p14:creationId xmlns:p14="http://schemas.microsoft.com/office/powerpoint/2010/main" val="13466604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4FCC8FFD-A051-4480-A1F0-C57D52C0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5958451-4D9D-4E72-9227-C7117244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By the end, you should be able to…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352D0-4624-446C-99A6-4750D8D0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85C9E16-60C8-4108-8B4F-CA40C1B3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07E78AA-72B0-4173-A9D8-87E83A56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outcome-number-0">
            <a:extLst xmlns:a="http://schemas.openxmlformats.org/drawingml/2006/main">
              <a:ext uri="{FF2B5EF4-FFF2-40B4-BE49-F238E27FC236}">
                <a16:creationId xmlns:a16="http://schemas.microsoft.com/office/drawing/2014/main" id="{0F9E2153-0EB0-4F3B-B55B-9DBB6BBE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outcome-head-0">
            <a:extLst xmlns:a="http://schemas.openxmlformats.org/drawingml/2006/main">
              <a:ext uri="{FF2B5EF4-FFF2-40B4-BE49-F238E27FC236}">
                <a16:creationId xmlns:a16="http://schemas.microsoft.com/office/drawing/2014/main" id="{F22BA923-AAA7-4303-A3A2-1708F8DC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8" name="outcome-body-0">
            <a:extLst xmlns:a="http://schemas.openxmlformats.org/drawingml/2006/main">
              <a:ext uri="{FF2B5EF4-FFF2-40B4-BE49-F238E27FC236}">
                <a16:creationId xmlns:a16="http://schemas.microsoft.com/office/drawing/2014/main" id="{AE3EDDA6-934B-4689-9022-FD82AE20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State the predict-optimize-decide loop in one sentence and name which prior week contributed each piece.</a:t>
            </a:r>
          </a:p>
        </p:txBody>
      </p:sp>
      <p:sp>
        <p:nvSpPr>
          <p:cNvPr id="9" name="outcome-number-1">
            <a:extLst xmlns:a="http://schemas.openxmlformats.org/drawingml/2006/main">
              <a:ext uri="{FF2B5EF4-FFF2-40B4-BE49-F238E27FC236}">
                <a16:creationId xmlns:a16="http://schemas.microsoft.com/office/drawing/2014/main" id="{2C92EBBA-4A04-4A8C-80DF-BCD236A1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outcome-head-1">
            <a:extLst xmlns:a="http://schemas.openxmlformats.org/drawingml/2006/main">
              <a:ext uri="{FF2B5EF4-FFF2-40B4-BE49-F238E27FC236}">
                <a16:creationId xmlns:a16="http://schemas.microsoft.com/office/drawing/2014/main" id="{7458BE45-01BD-4CE8-9DD5-7959CF59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Integrate</a:t>
            </a:r>
          </a:p>
        </p:txBody>
      </p:sp>
      <p:sp>
        <p:nvSpPr>
          <p:cNvPr id="11" name="outcome-body-1">
            <a:extLst xmlns:a="http://schemas.openxmlformats.org/drawingml/2006/main">
              <a:ext uri="{FF2B5EF4-FFF2-40B4-BE49-F238E27FC236}">
                <a16:creationId xmlns:a16="http://schemas.microsoft.com/office/drawing/2014/main" id="{2D2A31DC-F8F7-4008-BE61-47253ABA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Wrap a fitted regression model's .predict() as a scipy.optimize.minimize objective — the same call shape as Week 11.</a:t>
            </a:r>
          </a:p>
        </p:txBody>
      </p:sp>
      <p:sp>
        <p:nvSpPr>
          <p:cNvPr id="12" name="outcome-number-2">
            <a:extLst xmlns:a="http://schemas.openxmlformats.org/drawingml/2006/main">
              <a:ext uri="{FF2B5EF4-FFF2-40B4-BE49-F238E27FC236}">
                <a16:creationId xmlns:a16="http://schemas.microsoft.com/office/drawing/2014/main" id="{30496527-40C0-475C-9E82-8DD7A99D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outcome-head-2">
            <a:extLst xmlns:a="http://schemas.openxmlformats.org/drawingml/2006/main">
              <a:ext uri="{FF2B5EF4-FFF2-40B4-BE49-F238E27FC236}">
                <a16:creationId xmlns:a16="http://schemas.microsoft.com/office/drawing/2014/main" id="{05C23B38-8421-4FAA-9CB7-D91F63DD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Contrast</a:t>
            </a:r>
          </a:p>
        </p:txBody>
      </p:sp>
      <p:sp>
        <p:nvSpPr>
          <p:cNvPr id="14" name="outcome-body-2">
            <a:extLst xmlns:a="http://schemas.openxmlformats.org/drawingml/2006/main">
              <a:ext uri="{FF2B5EF4-FFF2-40B4-BE49-F238E27FC236}">
                <a16:creationId xmlns:a16="http://schemas.microsoft.com/office/drawing/2014/main" id="{FA093BA3-E9A0-4B21-BB00-E563EE3A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Explain why THIS linear surrogate has no local trap, in terms of its own shape — not a general claim about every fitted model.</a:t>
            </a:r>
          </a:p>
        </p:txBody>
      </p:sp>
      <p:sp>
        <p:nvSpPr>
          <p:cNvPr id="15" name="outcome-number-3">
            <a:extLst xmlns:a="http://schemas.openxmlformats.org/drawingml/2006/main">
              <a:ext uri="{FF2B5EF4-FFF2-40B4-BE49-F238E27FC236}">
                <a16:creationId xmlns:a16="http://schemas.microsoft.com/office/drawing/2014/main" id="{801A275F-BCF3-487B-8A06-0CFFBD04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outcome-head-3">
            <a:extLst xmlns:a="http://schemas.openxmlformats.org/drawingml/2006/main">
              <a:ext uri="{FF2B5EF4-FFF2-40B4-BE49-F238E27FC236}">
                <a16:creationId xmlns:a16="http://schemas.microsoft.com/office/drawing/2014/main" id="{BF238C4C-3F5B-497A-B39A-D6C6FDD8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14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17" name="outcome-body-3">
            <a:extLst xmlns:a="http://schemas.openxmlformats.org/drawingml/2006/main">
              <a:ext uri="{FF2B5EF4-FFF2-40B4-BE49-F238E27FC236}">
                <a16:creationId xmlns:a16="http://schemas.microsoft.com/office/drawing/2014/main" id="{B9474060-16AF-4AB5-8B5B-F4F73A66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01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State an optimization result as a bounded, uncertain recommendation, tied to the model's own cross-validated error and training-range limits.</a:t>
            </a:r>
          </a:p>
        </p:txBody>
      </p:sp>
    </p:spTree>
    <p:extLst>
      <p:ext uri="{BB962C8B-B14F-4D97-AF65-F5344CB8AC3E}">
        <p14:creationId xmlns:p14="http://schemas.microsoft.com/office/powerpoint/2010/main" val="14229878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A32105E2-F670-4851-859A-0A95AB10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ROAD 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383420E-F711-4519-80EA-5F4BB50A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Today’s learning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C3929-ED48-414B-AE49-D73470FF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A912337-0208-4762-9FD1-26D0B0EE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7BF3305-350A-4962-8A3B-D1799BF6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agenda-no-0">
            <a:extLst xmlns:a="http://schemas.openxmlformats.org/drawingml/2006/main">
              <a:ext uri="{FF2B5EF4-FFF2-40B4-BE49-F238E27FC236}">
                <a16:creationId xmlns:a16="http://schemas.microsoft.com/office/drawing/2014/main" id="{50E4E6CD-F78F-44D0-A1DD-952CE82C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5E257-FED4-4A7E-971F-F67F0896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526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8" name="agenda-item-0">
            <a:extLst xmlns:a="http://schemas.openxmlformats.org/drawingml/2006/main">
              <a:ext uri="{FF2B5EF4-FFF2-40B4-BE49-F238E27FC236}">
                <a16:creationId xmlns:a16="http://schemas.microsoft.com/office/drawing/2014/main" id="{77389632-3325-4D21-8222-CB122019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431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Closing synthesis, not new content: the predict-optimize-decide loop, recapped</a:t>
            </a:r>
          </a:p>
        </p:txBody>
      </p:sp>
      <p:sp>
        <p:nvSpPr>
          <p:cNvPr id="9" name="agenda-no-1">
            <a:extLst xmlns:a="http://schemas.openxmlformats.org/drawingml/2006/main">
              <a:ext uri="{FF2B5EF4-FFF2-40B4-BE49-F238E27FC236}">
                <a16:creationId xmlns:a16="http://schemas.microsoft.com/office/drawing/2014/main" id="{D4659E3C-1364-4241-AA58-1071164F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DD1A3-BF37-4CA8-AE29-74CA3D17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670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agenda-item-1">
            <a:extLst xmlns:a="http://schemas.openxmlformats.org/drawingml/2006/main">
              <a:ext uri="{FF2B5EF4-FFF2-40B4-BE49-F238E27FC236}">
                <a16:creationId xmlns:a16="http://schemas.microsoft.com/office/drawing/2014/main" id="{41250869-95A4-4351-B71F-8725CBDB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575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worked demo: Week 14's fitted regressor as this session's minimize() objective</a:t>
            </a:r>
          </a:p>
        </p:txBody>
      </p:sp>
      <p:sp>
        <p:nvSpPr>
          <p:cNvPr id="12" name="agenda-no-2">
            <a:extLst xmlns:a="http://schemas.openxmlformats.org/drawingml/2006/main">
              <a:ext uri="{FF2B5EF4-FFF2-40B4-BE49-F238E27FC236}">
                <a16:creationId xmlns:a16="http://schemas.microsoft.com/office/drawing/2014/main" id="{46222A47-6401-41A1-A806-23D56A68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66987-BE3F-4105-8961-4061EA6C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4" name="agenda-item-2">
            <a:extLst xmlns:a="http://schemas.openxmlformats.org/drawingml/2006/main">
              <a:ext uri="{FF2B5EF4-FFF2-40B4-BE49-F238E27FC236}">
                <a16:creationId xmlns:a16="http://schemas.microsoft.com/office/drawing/2014/main" id="{19D396EB-F80D-4470-B4AB-4B1793A0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719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Track A's constraint pattern, described conceptually — no separate numeric demo</a:t>
            </a:r>
          </a:p>
        </p:txBody>
      </p:sp>
      <p:sp>
        <p:nvSpPr>
          <p:cNvPr id="15" name="agenda-no-3">
            <a:extLst xmlns:a="http://schemas.openxmlformats.org/drawingml/2006/main">
              <a:ext uri="{FF2B5EF4-FFF2-40B4-BE49-F238E27FC236}">
                <a16:creationId xmlns:a16="http://schemas.microsoft.com/office/drawing/2014/main" id="{466DEEC6-BE32-4CB1-A99D-7FF6CA6E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7687B4-B3EA-481E-984C-91F38E7C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958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agenda-item-3">
            <a:extLst xmlns:a="http://schemas.openxmlformats.org/drawingml/2006/main">
              <a:ext uri="{FF2B5EF4-FFF2-40B4-BE49-F238E27FC236}">
                <a16:creationId xmlns:a16="http://schemas.microsoft.com/office/drawing/2014/main" id="{A8E1AA67-8351-4AD7-B693-5F9D7156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863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Presentation logistics, reproducibility, and instructor advising case by case</a:t>
            </a:r>
          </a:p>
        </p:txBody>
      </p:sp>
    </p:spTree>
    <p:extLst>
      <p:ext uri="{BB962C8B-B14F-4D97-AF65-F5344CB8AC3E}">
        <p14:creationId xmlns:p14="http://schemas.microsoft.com/office/powerpoint/2010/main" val="11443685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C11CF52E-8A0A-480A-9B4D-D92EF509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THIS COURSE'S ARC, NAMED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B2FDB8A-E321-4732-9E89-CE83062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Predict-optimize-decide, 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1FF43-CF1C-4AA6-B5A6-CAF5A69D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6E5656F-811A-45A5-B3B5-A4BCFCC4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FE57993-F84A-4EEC-81A2-2D06671F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16100806-192D-49DA-8B2D-0CCE02F5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43C29786-742C-4ADB-B616-63EB06F2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predict, optimize, decide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59FA6A-313C-4B4F-A3A3-DC1BA8EB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243DD5C2-8126-4379-8352-47142574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three-stage pattern this whole course builds toward: FIT and evaluate a model from data (predict), search using that fitted model as the objective or a constraint (optimize), then report the result next to the model's own uncertainty and limits (decide).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F3038789-4C11-4E9B-A682-9D54E728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CE17C268-6CC7-4460-A835-74193805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THIS COURSE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C8AA9858-6B31-496D-9DDD-03BBBD25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Where each word comes from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3604266E-FE6A-45BC-A99C-BD7CD0A6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2229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Predict = Weeks 13-14 (train_test_split, metrics, model card). Optimize = Weeks 10-12 (linprog, minimize, GA) applied to the fitted model instead of a hand-written formula. Decide = a bounded, uncertain recommendation, not a guarantee.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8F734D89-ABFA-4DDC-AB93-1FD65B9C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3D5ACD30-71C0-403D-A078-B7485495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23A2E5D8-33C2-4348-9EA9-348276D9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This names how Weeks 9-14's tools already fit together — nothing new is taught in this sentence, only wired.</a:t>
            </a:r>
          </a:p>
        </p:txBody>
      </p:sp>
    </p:spTree>
    <p:extLst>
      <p:ext uri="{BB962C8B-B14F-4D97-AF65-F5344CB8AC3E}">
        <p14:creationId xmlns:p14="http://schemas.microsoft.com/office/powerpoint/2010/main" val="9348798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">
            <a:extLst xmlns:a="http://schemas.openxmlformats.org/drawingml/2006/main">
              <a:ext uri="{FF2B5EF4-FFF2-40B4-BE49-F238E27FC236}">
                <a16:creationId xmlns:a16="http://schemas.microsoft.com/office/drawing/2014/main" id="{87B46BCE-4E40-485F-BDC1-E09BCD4F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B02AFAC-A5A4-4028-9CCE-5200C3CE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predict-optimize-decide loop, recapped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3AD45-30BC-435A-A627-33AC5184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53F3319-2FF2-43DE-88E7-03E611B2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F8695E9-16C5-4B5F-9705-EF11A1C4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0CF17097-2ECA-4541-A964-BABFB1C7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0675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8F657BE9-B55C-4643-A7DE-1EE10233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8925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node-0">
            <a:extLst xmlns:a="http://schemas.openxmlformats.org/drawingml/2006/main">
              <a:ext uri="{FF2B5EF4-FFF2-40B4-BE49-F238E27FC236}">
                <a16:creationId xmlns:a16="http://schemas.microsoft.com/office/drawing/2014/main" id="{6BE8D602-F9E1-4F48-A276-5962EB09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416300" cy="4171950"/>
          </a:xfrm>
          <a:prstGeom xmlns:a="http://schemas.openxmlformats.org/drawingml/2006/main" prst="roundRect">
            <a:avLst>
              <a:gd name="adj" fmla="val 2788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9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F56D5143-DC11-4710-8A94-703998C6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7CA58539-3F0A-4FC0-A066-9F2B4848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254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22216-1383-40E9-854B-850EC528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303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2" name="step-head-0">
            <a:extLst xmlns:a="http://schemas.openxmlformats.org/drawingml/2006/main">
              <a:ext uri="{FF2B5EF4-FFF2-40B4-BE49-F238E27FC236}">
                <a16:creationId xmlns:a16="http://schemas.microsoft.com/office/drawing/2014/main" id="{DFF791B0-B0AA-464E-A902-1E0D782F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30353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Fit and evaluate a model</a:t>
            </a:r>
          </a:p>
        </p:txBody>
      </p:sp>
      <p:sp>
        <p:nvSpPr>
          <p:cNvPr id="13" name="step-body-0">
            <a:extLst xmlns:a="http://schemas.openxmlformats.org/drawingml/2006/main">
              <a:ext uri="{FF2B5EF4-FFF2-40B4-BE49-F238E27FC236}">
                <a16:creationId xmlns:a16="http://schemas.microsoft.com/office/drawing/2014/main" id="{7554F27C-1A78-43E7-B536-7BECA463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52622"/>
            <a:ext cx="3035300" cy="2395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Weeks 13-14: train_test_split, beat (or fail to beat) a naive baseline, report MAE/RMSE/R² or a confusion matrix, state a model card's scope and limits.</a:t>
            </a:r>
          </a:p>
        </p:txBody>
      </p:sp>
      <p:sp>
        <p:nvSpPr>
          <p:cNvPr id="14" name="step-node-1">
            <a:extLst xmlns:a="http://schemas.openxmlformats.org/drawingml/2006/main">
              <a:ext uri="{FF2B5EF4-FFF2-40B4-BE49-F238E27FC236}">
                <a16:creationId xmlns:a16="http://schemas.microsoft.com/office/drawing/2014/main" id="{B974C5E7-BF6B-4EEC-9B85-3218D10B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847850"/>
            <a:ext cx="3416300" cy="4171950"/>
          </a:xfrm>
          <a:prstGeom xmlns:a="http://schemas.openxmlformats.org/drawingml/2006/main" prst="roundRect">
            <a:avLst>
              <a:gd name="adj" fmla="val 2788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5294DF75-F29A-49DE-A7D1-DE6B9B7E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89A1FEF2-AB47-4947-937E-BF04D651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650" y="2057400"/>
            <a:ext cx="254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OPTIMIZE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32B7D-913E-4FA1-BFB1-31312DAB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476500"/>
            <a:ext cx="303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8" name="step-head-1">
            <a:extLst xmlns:a="http://schemas.openxmlformats.org/drawingml/2006/main">
              <a:ext uri="{FF2B5EF4-FFF2-40B4-BE49-F238E27FC236}">
                <a16:creationId xmlns:a16="http://schemas.microsoft.com/office/drawing/2014/main" id="{93C9F11A-DA31-4BD2-97B4-10BEA22E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667000"/>
            <a:ext cx="30353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Search using the fitted model</a:t>
            </a:r>
          </a:p>
        </p:txBody>
      </p:sp>
      <p:sp>
        <p:nvSpPr>
          <p:cNvPr id="19" name="step-body-1">
            <a:extLst xmlns:a="http://schemas.openxmlformats.org/drawingml/2006/main">
              <a:ext uri="{FF2B5EF4-FFF2-40B4-BE49-F238E27FC236}">
                <a16:creationId xmlns:a16="http://schemas.microsoft.com/office/drawing/2014/main" id="{3F7ECDB8-D024-4376-B6EC-110C0B14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3452622"/>
            <a:ext cx="3035300" cy="2395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Weeks 10-12's linprog/minimize/GA now takes the FITTED model as its objective or constraint — not a hand-written formula like Week 9/11's energy_proxy.</a:t>
            </a:r>
          </a:p>
        </p:txBody>
      </p:sp>
      <p:sp>
        <p:nvSpPr>
          <p:cNvPr id="20" name="step-node-2">
            <a:extLst xmlns:a="http://schemas.openxmlformats.org/drawingml/2006/main">
              <a:ext uri="{FF2B5EF4-FFF2-40B4-BE49-F238E27FC236}">
                <a16:creationId xmlns:a16="http://schemas.microsoft.com/office/drawing/2014/main" id="{CB68FB6F-C94B-4CCB-B15E-44A94DA0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1847850"/>
            <a:ext cx="3416300" cy="4171950"/>
          </a:xfrm>
          <a:prstGeom xmlns:a="http://schemas.openxmlformats.org/drawingml/2006/main" prst="roundRect">
            <a:avLst>
              <a:gd name="adj" fmla="val 2788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B4CCF37D-2E48-4389-9AC7-6400E1C6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049AFB44-C182-44B3-8571-31BA32A8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900" y="2057400"/>
            <a:ext cx="254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1A4208-2841-4B24-A25D-CD7B6178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2476500"/>
            <a:ext cx="303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4" name="step-head-2">
            <a:extLst xmlns:a="http://schemas.openxmlformats.org/drawingml/2006/main">
              <a:ext uri="{FF2B5EF4-FFF2-40B4-BE49-F238E27FC236}">
                <a16:creationId xmlns:a16="http://schemas.microsoft.com/office/drawing/2014/main" id="{B6365D32-D7CC-4FB7-86B9-EE55B9DD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2667000"/>
            <a:ext cx="30353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State a bounded recommendation</a:t>
            </a:r>
          </a:p>
        </p:txBody>
      </p:sp>
      <p:sp>
        <p:nvSpPr>
          <p:cNvPr id="25" name="step-body-2">
            <a:extLst xmlns:a="http://schemas.openxmlformats.org/drawingml/2006/main">
              <a:ext uri="{FF2B5EF4-FFF2-40B4-BE49-F238E27FC236}">
                <a16:creationId xmlns:a16="http://schemas.microsoft.com/office/drawing/2014/main" id="{0AA3CD4A-CF2C-4F19-A4B7-6CA10CB6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3452622"/>
            <a:ext cx="3035300" cy="2395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Report the result next to the model's own uncertainty and training-range limits — an investigate-further finding, not a guarantee.</a:t>
            </a:r>
          </a:p>
        </p:txBody>
      </p:sp>
    </p:spTree>
    <p:extLst>
      <p:ext uri="{BB962C8B-B14F-4D97-AF65-F5344CB8AC3E}">
        <p14:creationId xmlns:p14="http://schemas.microsoft.com/office/powerpoint/2010/main" val="14093484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">
            <a:extLst xmlns:a="http://schemas.openxmlformats.org/drawingml/2006/main">
              <a:ext uri="{FF2B5EF4-FFF2-40B4-BE49-F238E27FC236}">
                <a16:creationId xmlns:a16="http://schemas.microsoft.com/office/drawing/2014/main" id="{D050F583-CFA1-4749-BB17-32A69CA3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994E075-1F65-4AB6-B5C7-3E4EDBF7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Recall: which fitted model feeds today's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46B06-5046-4150-B27D-E2C27179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C217EEB-4C66-4188-8215-BEE1B97F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C7A08CB-4C91-441F-9459-62B6DFD4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590C6-95E2-4608-9774-7B9638F8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14859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B065DE43-E6F0-4DE7-9F9F-C6956B2E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12573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3F20A-BCF4-4DE1-A7A8-8968738F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71775"/>
            <a:ext cx="2043113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237FE04A-5D80-4A9B-86C1-27A8FCD0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47975"/>
            <a:ext cx="1814513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fitted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7C77D-D2EB-418F-90C5-76C0CE17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771775"/>
            <a:ext cx="2043113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2803D7B8-C519-4CA3-80C2-ADB6BC00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2913" y="2847975"/>
            <a:ext cx="1814513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verified metric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916F2-63A9-4C1A-B95F-EC159964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77177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header-3">
            <a:extLst xmlns:a="http://schemas.openxmlformats.org/drawingml/2006/main">
              <a:ext uri="{FF2B5EF4-FFF2-40B4-BE49-F238E27FC236}">
                <a16:creationId xmlns:a16="http://schemas.microsoft.com/office/drawing/2014/main" id="{9EB79F15-1130-42ED-97BB-96AFAB83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4797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feeds today's demo 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E60DE-5744-40D4-9ADD-77D3147F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2795"/>
            <a:ext cx="1485900" cy="929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0">
            <a:extLst xmlns:a="http://schemas.openxmlformats.org/drawingml/2006/main">
              <a:ext uri="{FF2B5EF4-FFF2-40B4-BE49-F238E27FC236}">
                <a16:creationId xmlns:a16="http://schemas.microsoft.com/office/drawing/2014/main" id="{D6E2C7B9-AD20-4846-AC95-7B969083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8995"/>
            <a:ext cx="125730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Continuous (Track B)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FFB6A-73FC-4D5E-9805-5A6174EF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12795"/>
            <a:ext cx="2043113" cy="929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1">
            <a:extLst xmlns:a="http://schemas.openxmlformats.org/drawingml/2006/main">
              <a:ext uri="{FF2B5EF4-FFF2-40B4-BE49-F238E27FC236}">
                <a16:creationId xmlns:a16="http://schemas.microsoft.com/office/drawing/2014/main" id="{AE0EFABB-2858-42EE-A485-569E529C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88995"/>
            <a:ext cx="1814513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4-feature LinearRegression refit on 112 development rows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B70DF3-AD0D-4865-B79F-973C9E0C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3312795"/>
            <a:ext cx="2043113" cy="929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0-2">
            <a:extLst xmlns:a="http://schemas.openxmlformats.org/drawingml/2006/main">
              <a:ext uri="{FF2B5EF4-FFF2-40B4-BE49-F238E27FC236}">
                <a16:creationId xmlns:a16="http://schemas.microsoft.com/office/drawing/2014/main" id="{A74AC560-8A9D-47A4-AC33-F460E553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2913" y="3388995"/>
            <a:ext cx="1814513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final test: MAE=1.9881, RMSE=2.5210, R²=0.5167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BB68A5-B202-406D-9C1D-C9B26035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312795"/>
            <a:ext cx="1857375" cy="929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0-3">
            <a:extLst xmlns:a="http://schemas.openxmlformats.org/drawingml/2006/main">
              <a:ext uri="{FF2B5EF4-FFF2-40B4-BE49-F238E27FC236}">
                <a16:creationId xmlns:a16="http://schemas.microsoft.com/office/drawing/2014/main" id="{A9921F8F-16E5-489D-8613-0B71D80E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388995"/>
            <a:ext cx="1628775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OBJECTIVE — worked below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2A68C7-8E4A-46AF-9FA1-857FB425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2435"/>
            <a:ext cx="1485900" cy="929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0">
            <a:extLst xmlns:a="http://schemas.openxmlformats.org/drawingml/2006/main">
              <a:ext uri="{FF2B5EF4-FFF2-40B4-BE49-F238E27FC236}">
                <a16:creationId xmlns:a16="http://schemas.microsoft.com/office/drawing/2014/main" id="{BDC2F672-5D6B-4D25-AC44-7A3DB591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8635"/>
            <a:ext cx="125730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Go/no-go (Track A)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DC8FC2-56CB-4951-97CF-8A228F02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42435"/>
            <a:ext cx="2043113" cy="929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1-1">
            <a:extLst xmlns:a="http://schemas.openxmlformats.org/drawingml/2006/main">
              <a:ext uri="{FF2B5EF4-FFF2-40B4-BE49-F238E27FC236}">
                <a16:creationId xmlns:a16="http://schemas.microsoft.com/office/drawing/2014/main" id="{1AE849F8-6BBC-4DAD-BF54-347D243E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318635"/>
            <a:ext cx="1814513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LogisticRegression + validation-selected threshold 0.5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6906F2-B085-4958-AAA9-3ED5565C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4242435"/>
            <a:ext cx="2043113" cy="929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1-2">
            <a:extLst xmlns:a="http://schemas.openxmlformats.org/drawingml/2006/main">
              <a:ext uri="{FF2B5EF4-FFF2-40B4-BE49-F238E27FC236}">
                <a16:creationId xmlns:a16="http://schemas.microsoft.com/office/drawing/2014/main" id="{9FFF5449-D4D7-4CB2-ADE3-CDC7413D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2913" y="4318635"/>
            <a:ext cx="1814513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final test: precision=0.500, recall=0.200, F1=0.286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A10FE9-C5DB-4E6F-A7CC-31B1B4F4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242435"/>
            <a:ext cx="1857375" cy="929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1-3">
            <a:extLst xmlns:a="http://schemas.openxmlformats.org/drawingml/2006/main">
              <a:ext uri="{FF2B5EF4-FFF2-40B4-BE49-F238E27FC236}">
                <a16:creationId xmlns:a16="http://schemas.microsoft.com/office/drawing/2014/main" id="{B58918CD-E2AD-4ECF-9899-25B69EC0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318635"/>
            <a:ext cx="1628775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MODELED CONSTRAINT</a:t>
            </a:r>
          </a:p>
        </p:txBody>
      </p:sp>
      <p:sp>
        <p:nvSpPr>
          <p:cNvPr id="30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F359BC08-7439-40EF-A9D9-82336FD7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31" name="callout">
            <a:extLst xmlns:a="http://schemas.openxmlformats.org/drawingml/2006/main">
              <a:ext uri="{FF2B5EF4-FFF2-40B4-BE49-F238E27FC236}">
                <a16:creationId xmlns:a16="http://schemas.microsoft.com/office/drawing/2014/main" id="{C64DE66F-7F81-46EC-AEE0-5769CE32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predict-optimize-decide pattern either way — only whether the model becomes the objective or a constraint differs.</a:t>
            </a:r>
          </a:p>
        </p:txBody>
      </p:sp>
    </p:spTree>
    <p:extLst>
      <p:ext uri="{BB962C8B-B14F-4D97-AF65-F5344CB8AC3E}">
        <p14:creationId xmlns:p14="http://schemas.microsoft.com/office/powerpoint/2010/main" val="15365889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34860DA6-353D-4AB9-9610-32BE74D2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FORMAT NOTE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575BA87-C6AA-4921-BA88-CF6DD9A7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Why this session looks different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01946-C6AE-4273-BEC1-261C3865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9E078AC-3F01-4078-87EA-762ADF06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0D06FCE-9182-43AA-95BD-7AC56F03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B72CA-D8C0-4A7C-B401-0F1B3378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6003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890EB026-EF65-4786-9E48-E0297346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371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0892F-D6A6-47AF-9402-42689F68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067050"/>
            <a:ext cx="48291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D1A6C14A-6B42-417E-AD0B-0B8B721F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143250"/>
            <a:ext cx="4600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C9E64-2C6F-4E75-9756-D9A4B57D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60032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cell-0-0">
            <a:extLst xmlns:a="http://schemas.openxmlformats.org/drawingml/2006/main">
              <a:ext uri="{FF2B5EF4-FFF2-40B4-BE49-F238E27FC236}">
                <a16:creationId xmlns:a16="http://schemas.microsoft.com/office/drawing/2014/main" id="{732FD60B-22A9-4988-B103-C167555F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237172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Not new today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3FEF8-7688-47EA-8885-27A7F072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600450"/>
            <a:ext cx="48291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1">
            <a:extLst xmlns:a="http://schemas.openxmlformats.org/drawingml/2006/main">
              <a:ext uri="{FF2B5EF4-FFF2-40B4-BE49-F238E27FC236}">
                <a16:creationId xmlns:a16="http://schemas.microsoft.com/office/drawing/2014/main" id="{0621EF3E-6BAF-4640-BC4A-FA64B758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676650"/>
            <a:ext cx="46005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train_test_split, LinearRegression, and minimize() have all already run in Weeks 11, 13, and 14.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ACC33F-C4CA-42A7-A3CC-369A348B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1470"/>
            <a:ext cx="260032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1-0">
            <a:extLst xmlns:a="http://schemas.openxmlformats.org/drawingml/2006/main">
              <a:ext uri="{FF2B5EF4-FFF2-40B4-BE49-F238E27FC236}">
                <a16:creationId xmlns:a16="http://schemas.microsoft.com/office/drawing/2014/main" id="{8317D681-4EA3-47F0-9FF7-593EA00A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7670"/>
            <a:ext cx="237172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is actually new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274A9A-0F2E-4B3D-8E08-5659535D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41470"/>
            <a:ext cx="482917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1-1">
            <a:extLst xmlns:a="http://schemas.openxmlformats.org/drawingml/2006/main">
              <a:ext uri="{FF2B5EF4-FFF2-40B4-BE49-F238E27FC236}">
                <a16:creationId xmlns:a16="http://schemas.microsoft.com/office/drawing/2014/main" id="{B5CD78A9-7E02-4FB8-AFDC-D3E61E2D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217670"/>
            <a:ext cx="460057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Only the INTEGRATION: wiring a fitted model into minimize() as objective, or a classifier's prediction as constraint.</a:t>
            </a:r>
          </a:p>
        </p:txBody>
      </p:sp>
      <p:sp>
        <p:nvSpPr>
          <p:cNvPr id="18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A7A54ECE-4D97-47B7-A6A0-0DF8BA0E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19" name="callout">
            <a:extLst xmlns:a="http://schemas.openxmlformats.org/drawingml/2006/main">
              <a:ext uri="{FF2B5EF4-FFF2-40B4-BE49-F238E27FC236}">
                <a16:creationId xmlns:a16="http://schemas.microsoft.com/office/drawing/2014/main" id="{90CE8974-1A17-4DCA-A65D-90600614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Deliberately light on new syntax — the real work today is your own Project 2 integration and presentation.</a:t>
            </a:r>
          </a:p>
        </p:txBody>
      </p:sp>
    </p:spTree>
    <p:extLst>
      <p:ext uri="{BB962C8B-B14F-4D97-AF65-F5344CB8AC3E}">
        <p14:creationId xmlns:p14="http://schemas.microsoft.com/office/powerpoint/2010/main" val="4785536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89B7C277-63ED-4655-9039-43AD8B67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SETUP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2ACEBEA-1B58-4CA2-94BA-2804E5E6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Baseline design, 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CE51E-2C1F-4079-92FD-0408AF8C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D62FAD0-F571-4824-A7C5-FE772887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97EB3AD-10E1-475E-8566-74ED8D2F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5FFD0DE1-EEF3-4B8A-8B1A-EEF9F6C5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A931CF31-7828-420F-B5A2-6D1954B9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baseline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065AD-A0C6-4F3E-87D2-4543928B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908020B0-A60A-48DA-8EA0-2B939B1D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fixed starting point for today's demo, held constant except where the optimizer is explicitly allowed to move it — the same role Week 11's starting guess played, now applied to a fitted model instead of a hand-written formula.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16EC88C9-7300-43C4-B7A2-4FE60B80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B79CBB09-3877-4874-A433-AACB1EF6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HELD FIXED / ALLOWED TO MOVE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6E0516CD-7604-4546-A7BA-D21F4EEB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This session's baseline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37C5349C-54DE-472A-BCA3-48B38589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2229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wwr=0.50, shade_m=0.20, glazing_shgc=0.45, compactness=1.10, orientation=S. Only wwr and shade_m are handed to minimize() today — the SAME two variables and bounds as Weeks 9 and 11.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6887A093-CD2F-4B9D-91FE-7C48F5E4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2DE7B05F-A5E0-4122-AF43-FB052E37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F074FA8F-3A21-4A4E-AA43-36C7F2F3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orientation=S is a category, not a number fed to this 4-feature model at all — it stays part of the scenario's narrative, exactly as in Week 14, not a regression input.</a:t>
            </a:r>
          </a:p>
        </p:txBody>
      </p:sp>
    </p:spTree>
    <p:extLst>
      <p:ext uri="{BB962C8B-B14F-4D97-AF65-F5344CB8AC3E}">
        <p14:creationId xmlns:p14="http://schemas.microsoft.com/office/powerpoint/2010/main" val="15397174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C3C1DAB9-B825-4186-B70C-A682BE07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NEW 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5DDFF91-F6EF-4AB0-85D0-881E9CAA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Surrogate model, 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281EE-127F-4B1D-A132-7FB01081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6B1FD67-0161-44ED-8572-D98B7377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241B1F7-01D2-418D-B9F5-56C78358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508245C5-4ACF-4A9B-813D-BDB3328B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D49CC032-23D7-4E8D-8F7A-04762440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surrogate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8E960-DC30-4A6F-9BA3-097041C6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830761B9-9877-4F56-93B2-A29B185D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fitted model used as a fast stand-in for an expensive or unavailable simulation, so an optimizer can search against it directly instead of running the real simulation at every candidate design.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EB889340-A1A3-4446-9869-CD2E7616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1CAF8549-A754-47E9-8466-15EC1A3D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BB6736FA-CB08-4D05-950D-AD92590B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Today's surrogate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4122327D-B9A2-4E05-B121-AD8B3973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2229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Week 14 Track B 4-feature LinearRegression, refit here so the demo is self-contained — predicted EUI stands in for a full energy simulation at every (wwr, shade_m) the optimizer tries.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A3FD2940-06C9-43AA-B599-3E7BC55E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514BEADC-7725-4AB1-A97E-379C65FF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EE69ADF5-4A5A-4EC8-85EB-EF3156C3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Cross-validation measures performance stability across resamples; it is not an interval around an individual prediction. Use held-out residuals plus conformal/bootstrap methods when a prediction interval is needed.</a:t>
            </a:r>
          </a:p>
        </p:txBody>
      </p:sp>
    </p:spTree>
    <p:extLst>
      <p:ext uri="{BB962C8B-B14F-4D97-AF65-F5344CB8AC3E}">
        <p14:creationId xmlns:p14="http://schemas.microsoft.com/office/powerpoint/2010/main" val="10433003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99C6547D-FC28-4495-9EC5-B36575FE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F6A0636-0B11-4EF2-BBDA-BE1FF4FA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Recall: Week 14's fitted 4-feature regressor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59487-C8DD-4E15-BF81-B0EEBC7E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775F07B-940A-4773-B5E7-20919A37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45D6329-D24B-4548-BD2A-5CF635AB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77F16C46-F2B8-46BB-8242-B424CF83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5A6608F8-BE83-4B6B-8245-139DBF03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from sklearn.model_selection import train_test_split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from sklearn.linear_model import LinearRegression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portfolio = pd.read_csv('radley_portfolio_envelope.csv')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FEATURES = ['wwr','shade_m','glazing_shgc','compactness']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dev_idx, test_idx = train_test_split(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np.arange(len(portfolio)), test_size=0.20, random_state=42)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surrogate = LinearRegression().fit(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portfolio.loc[dev_idx, FEATURES],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portfolio.loc[dev_idx, 'eui_kwh_m2yr'])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print('rows used for final fit:', len(dev_idx))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264B6-660E-4164-938E-981CE31F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12B8DF91-C693-4287-A8C8-D58B64C7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327D4513-15F6-4CB7-B753-18DA7660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rows used for final fit: 112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0CC22176-1BBE-4ED0-8C59-3F7F24E3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05075"/>
            <a:ext cx="3695700" cy="92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Use the already-selected specification; do not reopen model selection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4D29B9EE-54C1-4175-8550-E8A2ED63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78733"/>
            <a:ext cx="3695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Week 14 selected four features using training/validation and paired development folds. The final model is now refit on all 112 development rows. Final-test rows remain evaluation evidence, not optimization inputs.</a:t>
            </a:r>
          </a:p>
        </p:txBody>
      </p:sp>
    </p:spTree>
    <p:extLst>
      <p:ext uri="{BB962C8B-B14F-4D97-AF65-F5344CB8AC3E}">
        <p14:creationId xmlns:p14="http://schemas.microsoft.com/office/powerpoint/2010/main" val="14620396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CAE6394E-144B-454A-B6FB-35308A9A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301CCFA-519A-4407-8A98-3965BBCC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...continued: confirm it is the same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FA2BD-55AE-4722-904E-E020395C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FE8E3DC-7929-485B-9458-32AF5ACA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4C8D3B2-BBD0-4812-BF76-3F6C17FE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55F81FAD-A937-4B98-AAC4-DAB4D897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A23D0323-0793-4E89-AE4E-2244607F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967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print(surrogate.coef_.round(4), round(surrogate.intercept_, 4))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print('Week 14 final test: MAE=1.9881 RMSE=2.5210 R2=0.5167')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55A35-EF10-4E1D-AEEE-36E1ED57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1778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7C8F9021-C8B2-4E49-91C4-03F40490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6078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913E7AFC-C673-4D48-8AD4-9E713629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4678"/>
            <a:ext cx="6400800" cy="404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[17.7561 -3.2115  3.9840  5.5704] 15.1326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Week 14 final test: MAE=1.9881 RMSE=2.5210 R2=0.5167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7D38417E-DCF7-4005-A71C-8B3A812B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Frozen specification, traceable coefficients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BF7172D7-C737-44F0-9112-2BCD21C1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71672"/>
            <a:ext cx="3695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These coefficients come from the final development-data refit. Their signs are associations, not causal effects, and final-test RMSE is not an individual prediction interval.</a:t>
            </a:r>
          </a:p>
        </p:txBody>
      </p:sp>
    </p:spTree>
    <p:extLst>
      <p:ext uri="{BB962C8B-B14F-4D97-AF65-F5344CB8AC3E}">
        <p14:creationId xmlns:p14="http://schemas.microsoft.com/office/powerpoint/2010/main" val="11019641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384C2A22-2B77-4557-A7ED-8FCB17E2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62FA51-D03A-438A-AE5F-33EABA90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Baseline predicted EUI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B733C-4DFB-4848-9A80-B76A0E8F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C09EE23-5505-41BD-9AFE-95AA746D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584EDE2-4906-4991-BCAC-65F97B18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99BFA1BC-8D5A-43D8-8317-1E12CB5C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308E9649-57E9-4F2D-9BB8-585550FE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BASELINE = {'wwr': 0.50,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'shade_m': 0.20,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'glazing_shgc': 0.45,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'compactness': 1.10}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row = np.array([[BASELINE['wwr'],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BASELINE['shade_m'],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BASELINE['glazing_shgc'],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BASELINE['compactness']]])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print(round(surrogate.predict(row)[0], 4))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EE94D-FA82-4C0F-81F5-1DB40FF0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C022CF0F-60E6-4B63-A060-0594F9DE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FB4203F1-AD08-4416-9A8D-A2A85ABE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31.2886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35AE2272-5C25-409C-AE21-359F74E2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prediction, one number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2D280D0C-794A-483A-959C-D8C9522B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71672"/>
            <a:ext cx="3695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31.2886 kWh/m²/yr is the frozen final model's prediction for the baseline before optimization. The wrapper must reproduce it exactly to the reported precision.</a:t>
            </a:r>
          </a:p>
        </p:txBody>
      </p:sp>
    </p:spTree>
    <p:extLst>
      <p:ext uri="{BB962C8B-B14F-4D97-AF65-F5344CB8AC3E}">
        <p14:creationId xmlns:p14="http://schemas.microsoft.com/office/powerpoint/2010/main" val="5389876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kicker">
            <a:extLst xmlns:a="http://schemas.openxmlformats.org/drawingml/2006/main">
              <a:ext uri="{FF2B5EF4-FFF2-40B4-BE49-F238E27FC236}">
                <a16:creationId xmlns:a16="http://schemas.microsoft.com/office/drawing/2014/main" id="{39544694-BEF6-46DB-ADFA-0BD63547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THIS IS THE WHOLE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572EB68-8DBC-4941-87A8-C34B2B18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Anatomy: the minimize() call that runs today's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2C438-1E04-4A5D-B159-AD0B5673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9156A4B-ED38-4C9B-9292-1EF0EBB6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2C216DD-9956-43F7-9F63-0E5817B2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anatomy-code-panel">
            <a:extLst xmlns:a="http://schemas.openxmlformats.org/drawingml/2006/main">
              <a:ext uri="{FF2B5EF4-FFF2-40B4-BE49-F238E27FC236}">
                <a16:creationId xmlns:a16="http://schemas.microsoft.com/office/drawing/2014/main" id="{13827718-BE06-45DB-AB4A-976620AE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anatomy-code">
            <a:extLst xmlns:a="http://schemas.openxmlformats.org/drawingml/2006/main">
              <a:ext uri="{FF2B5EF4-FFF2-40B4-BE49-F238E27FC236}">
                <a16:creationId xmlns:a16="http://schemas.microsoft.com/office/drawing/2014/main" id="{637975FD-E42D-470E-9F78-32306214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57400"/>
            <a:ext cx="8448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minimize(surrogate_eui, x0=(0.50, 0.20), bounds=bounds)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4768F-A8A3-4BC7-AE36-D82B18D6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647950"/>
            <a:ext cx="1320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9" name="part-chip-0">
            <a:extLst xmlns:a="http://schemas.openxmlformats.org/drawingml/2006/main">
              <a:ext uri="{FF2B5EF4-FFF2-40B4-BE49-F238E27FC236}">
                <a16:creationId xmlns:a16="http://schemas.microsoft.com/office/drawing/2014/main" id="{8FCC2410-F665-458C-AD85-720F26CA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3658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rt-chipno-0">
            <a:extLst xmlns:a="http://schemas.openxmlformats.org/drawingml/2006/main">
              <a:ext uri="{FF2B5EF4-FFF2-40B4-BE49-F238E27FC236}">
                <a16:creationId xmlns:a16="http://schemas.microsoft.com/office/drawing/2014/main" id="{E42DB5CD-3F2F-46C4-B97C-065B9259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3658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part-lchip-0">
            <a:extLst xmlns:a="http://schemas.openxmlformats.org/drawingml/2006/main">
              <a:ext uri="{FF2B5EF4-FFF2-40B4-BE49-F238E27FC236}">
                <a16:creationId xmlns:a16="http://schemas.microsoft.com/office/drawing/2014/main" id="{26EBA24B-EE69-413C-81A5-B895B0F6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108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-lchipno-0">
            <a:extLst xmlns:a="http://schemas.openxmlformats.org/drawingml/2006/main">
              <a:ext uri="{FF2B5EF4-FFF2-40B4-BE49-F238E27FC236}">
                <a16:creationId xmlns:a16="http://schemas.microsoft.com/office/drawing/2014/main" id="{AF4797EF-4F76-4021-BCA4-2AF40832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108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art-head-0">
            <a:extLst xmlns:a="http://schemas.openxmlformats.org/drawingml/2006/main">
              <a:ext uri="{FF2B5EF4-FFF2-40B4-BE49-F238E27FC236}">
                <a16:creationId xmlns:a16="http://schemas.microsoft.com/office/drawing/2014/main" id="{5A278F19-106C-4D5C-AC93-5F202280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908" y="3009900"/>
            <a:ext cx="112395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Optimizer</a:t>
            </a:r>
          </a:p>
        </p:txBody>
      </p:sp>
      <p:sp>
        <p:nvSpPr>
          <p:cNvPr id="14" name="part-body-0">
            <a:extLst xmlns:a="http://schemas.openxmlformats.org/drawingml/2006/main">
              <a:ext uri="{FF2B5EF4-FFF2-40B4-BE49-F238E27FC236}">
                <a16:creationId xmlns:a16="http://schemas.microsoft.com/office/drawing/2014/main" id="{47DF9AF0-6288-4F21-8A2B-7954D867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108" y="3637026"/>
            <a:ext cx="1428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same scipy tool used in Week 11.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7BF6CE-80BF-47CA-ADCE-BE83C4DF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65" y="2647950"/>
            <a:ext cx="19069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6" name="part-chip-1">
            <a:extLst xmlns:a="http://schemas.openxmlformats.org/drawingml/2006/main">
              <a:ext uri="{FF2B5EF4-FFF2-40B4-BE49-F238E27FC236}">
                <a16:creationId xmlns:a16="http://schemas.microsoft.com/office/drawing/2014/main" id="{6AFAE275-D333-489B-B39B-2750608D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7193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rt-chipno-1">
            <a:extLst xmlns:a="http://schemas.openxmlformats.org/drawingml/2006/main">
              <a:ext uri="{FF2B5EF4-FFF2-40B4-BE49-F238E27FC236}">
                <a16:creationId xmlns:a16="http://schemas.microsoft.com/office/drawing/2014/main" id="{CC6FD362-ACF9-4D25-9D18-8490383F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7193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part-lchip-1">
            <a:extLst xmlns:a="http://schemas.openxmlformats.org/drawingml/2006/main">
              <a:ext uri="{FF2B5EF4-FFF2-40B4-BE49-F238E27FC236}">
                <a16:creationId xmlns:a16="http://schemas.microsoft.com/office/drawing/2014/main" id="{58A01B17-7CC9-46A8-A627-77903809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643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t-lchipno-1">
            <a:extLst xmlns:a="http://schemas.openxmlformats.org/drawingml/2006/main">
              <a:ext uri="{FF2B5EF4-FFF2-40B4-BE49-F238E27FC236}">
                <a16:creationId xmlns:a16="http://schemas.microsoft.com/office/drawing/2014/main" id="{E27C14F3-E26E-488C-A097-C6AA3B63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643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part-head-1">
            <a:extLst xmlns:a="http://schemas.openxmlformats.org/drawingml/2006/main">
              <a:ext uri="{FF2B5EF4-FFF2-40B4-BE49-F238E27FC236}">
                <a16:creationId xmlns:a16="http://schemas.microsoft.com/office/drawing/2014/main" id="{55D14D07-E741-4BB6-887D-D355F3B8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443" y="3009900"/>
            <a:ext cx="112395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21" name="part-body-1">
            <a:extLst xmlns:a="http://schemas.openxmlformats.org/drawingml/2006/main">
              <a:ext uri="{FF2B5EF4-FFF2-40B4-BE49-F238E27FC236}">
                <a16:creationId xmlns:a16="http://schemas.microsoft.com/office/drawing/2014/main" id="{18C92D57-AF79-4B7A-AC7E-A819AF4C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643" y="3637026"/>
            <a:ext cx="14287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Wraps the frozen model's .predict().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C259F2-905F-42EE-B301-D12118F0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647950"/>
            <a:ext cx="2200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23" name="part-chip-2">
            <a:extLst xmlns:a="http://schemas.openxmlformats.org/drawingml/2006/main">
              <a:ext uri="{FF2B5EF4-FFF2-40B4-BE49-F238E27FC236}">
                <a16:creationId xmlns:a16="http://schemas.microsoft.com/office/drawing/2014/main" id="{B512AB3F-8EBA-45C7-A0D3-CBCA5952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153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t-chipno-2">
            <a:extLst xmlns:a="http://schemas.openxmlformats.org/drawingml/2006/main">
              <a:ext uri="{FF2B5EF4-FFF2-40B4-BE49-F238E27FC236}">
                <a16:creationId xmlns:a16="http://schemas.microsoft.com/office/drawing/2014/main" id="{1C424079-32D2-4D8C-B368-3718B6EE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153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part-lchip-2">
            <a:extLst xmlns:a="http://schemas.openxmlformats.org/drawingml/2006/main">
              <a:ext uri="{FF2B5EF4-FFF2-40B4-BE49-F238E27FC236}">
                <a16:creationId xmlns:a16="http://schemas.microsoft.com/office/drawing/2014/main" id="{B0A819F3-3F77-459C-81A6-82AFFAD4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853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rt-lchipno-2">
            <a:extLst xmlns:a="http://schemas.openxmlformats.org/drawingml/2006/main">
              <a:ext uri="{FF2B5EF4-FFF2-40B4-BE49-F238E27FC236}">
                <a16:creationId xmlns:a16="http://schemas.microsoft.com/office/drawing/2014/main" id="{02CB8C10-C270-47FA-AD57-9F9B9CE0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853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part-head-2">
            <a:extLst xmlns:a="http://schemas.openxmlformats.org/drawingml/2006/main">
              <a:ext uri="{FF2B5EF4-FFF2-40B4-BE49-F238E27FC236}">
                <a16:creationId xmlns:a16="http://schemas.microsoft.com/office/drawing/2014/main" id="{C3DF850F-DBA4-4646-8B39-3DA79B49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2653" y="3009900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Initial guess</a:t>
            </a:r>
          </a:p>
        </p:txBody>
      </p:sp>
      <p:sp>
        <p:nvSpPr>
          <p:cNvPr id="28" name="part-body-2">
            <a:extLst xmlns:a="http://schemas.openxmlformats.org/drawingml/2006/main">
              <a:ext uri="{FF2B5EF4-FFF2-40B4-BE49-F238E27FC236}">
                <a16:creationId xmlns:a16="http://schemas.microsoft.com/office/drawing/2014/main" id="{F2BF7EFF-D090-4019-A309-86168820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853" y="3390138"/>
            <a:ext cx="20002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Starts from the baseline wwr and shade.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D20A47-A4A1-4218-B585-5152053C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1485" y="2647950"/>
            <a:ext cx="19069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30" name="part-chip-3">
            <a:extLst xmlns:a="http://schemas.openxmlformats.org/drawingml/2006/main">
              <a:ext uri="{FF2B5EF4-FFF2-40B4-BE49-F238E27FC236}">
                <a16:creationId xmlns:a16="http://schemas.microsoft.com/office/drawing/2014/main" id="{BE1D6E40-34A9-4571-AB69-71F565B1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113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rt-chipno-3">
            <a:extLst xmlns:a="http://schemas.openxmlformats.org/drawingml/2006/main">
              <a:ext uri="{FF2B5EF4-FFF2-40B4-BE49-F238E27FC236}">
                <a16:creationId xmlns:a16="http://schemas.microsoft.com/office/drawing/2014/main" id="{D266548B-97DC-4332-8D85-68F5AFC9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113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part-lchip-3">
            <a:extLst xmlns:a="http://schemas.openxmlformats.org/drawingml/2006/main">
              <a:ext uri="{FF2B5EF4-FFF2-40B4-BE49-F238E27FC236}">
                <a16:creationId xmlns:a16="http://schemas.microsoft.com/office/drawing/2014/main" id="{802F7F58-43B3-4089-BA53-0DAA8519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813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t-lchipno-3">
            <a:extLst xmlns:a="http://schemas.openxmlformats.org/drawingml/2006/main">
              <a:ext uri="{FF2B5EF4-FFF2-40B4-BE49-F238E27FC236}">
                <a16:creationId xmlns:a16="http://schemas.microsoft.com/office/drawing/2014/main" id="{FE457A8C-668D-4FA6-AF05-901F5D72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813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4" name="part-head-3">
            <a:extLst xmlns:a="http://schemas.openxmlformats.org/drawingml/2006/main">
              <a:ext uri="{FF2B5EF4-FFF2-40B4-BE49-F238E27FC236}">
                <a16:creationId xmlns:a16="http://schemas.microsoft.com/office/drawing/2014/main" id="{D620F819-4770-4079-97BE-0C3DB962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9613" y="3009900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Bounds</a:t>
            </a:r>
          </a:p>
        </p:txBody>
      </p:sp>
      <p:sp>
        <p:nvSpPr>
          <p:cNvPr id="35" name="part-body-3">
            <a:extLst xmlns:a="http://schemas.openxmlformats.org/drawingml/2006/main">
              <a:ext uri="{FF2B5EF4-FFF2-40B4-BE49-F238E27FC236}">
                <a16:creationId xmlns:a16="http://schemas.microsoft.com/office/drawing/2014/main" id="{195DDAFD-E53B-4487-9514-8B32559C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813" y="3390138"/>
            <a:ext cx="20002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Keeps both variables inside stated ranges.</a:t>
            </a:r>
          </a:p>
        </p:txBody>
      </p:sp>
    </p:spTree>
    <p:extLst>
      <p:ext uri="{BB962C8B-B14F-4D97-AF65-F5344CB8AC3E}">
        <p14:creationId xmlns:p14="http://schemas.microsoft.com/office/powerpoint/2010/main" val="4816831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FFEE2170-A74A-4F06-80CE-F5C9E837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045B0C1-4742-4368-9390-4FB9F4D7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DEMO — the objective function itself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5552E-E3F8-4F79-BBF2-6DA9014D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7809476-011A-4F6F-BEAB-8944B300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A436375-8F0C-431E-9FB9-CECBDA41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9C4243F4-80A9-4C52-92BD-A36E4EF6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F8EDA25E-7FB8-4819-8174-C6BD0E37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surrogate_eui(design_vars: tuple) -&gt; float: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"""Predicted EUI (kWh/m2/yr) at (wwr, shade_m)."""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wwr, shade_m = design_vars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row = np.array([[wwr, shade_m,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    BASELINE['glazing_shgc'],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    BASELINE['compactness']]])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surrogate.predict(row)[0]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print(round(surrogate_eui((0.50, 0.20)), 4))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CB6B9-6F17-4E31-A439-4D137AD0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C2905B87-936D-4AF6-9DFF-F5260622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9E8F5542-BB70-4E56-9AC1-DCD3A9A9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31.2886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BC829BC1-F914-43AD-88B2-05E1086D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Reproduces Week 14's frozen-model baseline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7F0004E4-D4D9-4404-BD1A-1750A6AB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71672"/>
            <a:ext cx="3695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Calling the wrapper at the baseline must reproduce 31.2886 before the optimizer is trusted. Use a DataFrame with the named feature columns to avoid silent column-order mistakes.</a:t>
            </a:r>
          </a:p>
        </p:txBody>
      </p:sp>
    </p:spTree>
    <p:extLst>
      <p:ext uri="{BB962C8B-B14F-4D97-AF65-F5344CB8AC3E}">
        <p14:creationId xmlns:p14="http://schemas.microsoft.com/office/powerpoint/2010/main" val="17127976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E00EC531-9717-45A1-B9F7-AE460B91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ONE LINE, TWO BEGINNER TRAPS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D0F05AE-7831-4221-9029-1D24DFE9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Anatomy: unpacking surrogate.predict(row)[0]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D4563-EBA6-4DFD-BE60-DCA949FE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1973B25-95C2-4B86-A02B-D8C7FEF7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0E31943-D758-4350-BC48-002E4BF9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anatomy-code-panel">
            <a:extLst xmlns:a="http://schemas.openxmlformats.org/drawingml/2006/main">
              <a:ext uri="{FF2B5EF4-FFF2-40B4-BE49-F238E27FC236}">
                <a16:creationId xmlns:a16="http://schemas.microsoft.com/office/drawing/2014/main" id="{5AAC0F3F-7DE4-4293-8ED6-78ED08EF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anatomy-code">
            <a:extLst xmlns:a="http://schemas.openxmlformats.org/drawingml/2006/main">
              <a:ext uri="{FF2B5EF4-FFF2-40B4-BE49-F238E27FC236}">
                <a16:creationId xmlns:a16="http://schemas.microsoft.com/office/drawing/2014/main" id="{650C79E0-D430-4857-A046-DDACF789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57400"/>
            <a:ext cx="50749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return surrogate.predict(row)[0]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B42F1-64F6-4C2C-8AA8-016A49B8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2647950"/>
            <a:ext cx="13201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9" name="part-chip-0">
            <a:extLst xmlns:a="http://schemas.openxmlformats.org/drawingml/2006/main">
              <a:ext uri="{FF2B5EF4-FFF2-40B4-BE49-F238E27FC236}">
                <a16:creationId xmlns:a16="http://schemas.microsoft.com/office/drawing/2014/main" id="{0C3C28B7-CB0D-4965-9AD3-155BCE20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903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rt-chipno-0">
            <a:extLst xmlns:a="http://schemas.openxmlformats.org/drawingml/2006/main">
              <a:ext uri="{FF2B5EF4-FFF2-40B4-BE49-F238E27FC236}">
                <a16:creationId xmlns:a16="http://schemas.microsoft.com/office/drawing/2014/main" id="{FBC57974-76A2-4CC4-90A4-8AD37DFB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903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part-lchip-0">
            <a:extLst xmlns:a="http://schemas.openxmlformats.org/drawingml/2006/main">
              <a:ext uri="{FF2B5EF4-FFF2-40B4-BE49-F238E27FC236}">
                <a16:creationId xmlns:a16="http://schemas.microsoft.com/office/drawing/2014/main" id="{CE97D6DE-747B-46F9-9CCA-553DC087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478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-lchipno-0">
            <a:extLst xmlns:a="http://schemas.openxmlformats.org/drawingml/2006/main">
              <a:ext uri="{FF2B5EF4-FFF2-40B4-BE49-F238E27FC236}">
                <a16:creationId xmlns:a16="http://schemas.microsoft.com/office/drawing/2014/main" id="{91A3B4E1-C295-4B30-B492-C5A4C742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478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art-head-0">
            <a:extLst xmlns:a="http://schemas.openxmlformats.org/drawingml/2006/main">
              <a:ext uri="{FF2B5EF4-FFF2-40B4-BE49-F238E27FC236}">
                <a16:creationId xmlns:a16="http://schemas.microsoft.com/office/drawing/2014/main" id="{B113A314-D06D-44B3-A27C-7AEA04BA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278" y="3009900"/>
            <a:ext cx="217170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fitted model object</a:t>
            </a:r>
          </a:p>
        </p:txBody>
      </p:sp>
      <p:sp>
        <p:nvSpPr>
          <p:cNvPr id="14" name="part-body-0">
            <a:extLst xmlns:a="http://schemas.openxmlformats.org/drawingml/2006/main">
              <a:ext uri="{FF2B5EF4-FFF2-40B4-BE49-F238E27FC236}">
                <a16:creationId xmlns:a16="http://schemas.microsoft.com/office/drawing/2014/main" id="{8104CAA8-3673-4F5A-8537-27C35C0B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478" y="3637026"/>
            <a:ext cx="247650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Week 14 Track B's regressor, already .fit() — not refit here.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0AF852-CAEB-42AE-B280-1A23BF38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810" y="2647950"/>
            <a:ext cx="19069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6" name="part-chip-1">
            <a:extLst xmlns:a="http://schemas.openxmlformats.org/drawingml/2006/main">
              <a:ext uri="{FF2B5EF4-FFF2-40B4-BE49-F238E27FC236}">
                <a16:creationId xmlns:a16="http://schemas.microsoft.com/office/drawing/2014/main" id="{AE76137A-87C3-49D9-BA7F-2EB674D6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438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rt-chipno-1">
            <a:extLst xmlns:a="http://schemas.openxmlformats.org/drawingml/2006/main">
              <a:ext uri="{FF2B5EF4-FFF2-40B4-BE49-F238E27FC236}">
                <a16:creationId xmlns:a16="http://schemas.microsoft.com/office/drawing/2014/main" id="{8A3747EA-4D30-4857-8BCB-01D2956F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438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part-lchip-1">
            <a:extLst xmlns:a="http://schemas.openxmlformats.org/drawingml/2006/main">
              <a:ext uri="{FF2B5EF4-FFF2-40B4-BE49-F238E27FC236}">
                <a16:creationId xmlns:a16="http://schemas.microsoft.com/office/drawing/2014/main" id="{FF8B7792-044A-4356-818F-9BDC970E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013" y="4319778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t-lchipno-1">
            <a:extLst xmlns:a="http://schemas.openxmlformats.org/drawingml/2006/main">
              <a:ext uri="{FF2B5EF4-FFF2-40B4-BE49-F238E27FC236}">
                <a16:creationId xmlns:a16="http://schemas.microsoft.com/office/drawing/2014/main" id="{2992EDD5-C0C1-45D7-A762-66C9D6D5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013" y="4357878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part-head-1">
            <a:extLst xmlns:a="http://schemas.openxmlformats.org/drawingml/2006/main">
              <a:ext uri="{FF2B5EF4-FFF2-40B4-BE49-F238E27FC236}">
                <a16:creationId xmlns:a16="http://schemas.microsoft.com/office/drawing/2014/main" id="{4E847AA7-2F82-4D1F-94F0-30489796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9813" y="4300728"/>
            <a:ext cx="217170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 needs a 2D row</a:t>
            </a:r>
          </a:p>
        </p:txBody>
      </p:sp>
      <p:sp>
        <p:nvSpPr>
          <p:cNvPr id="21" name="part-body-1">
            <a:extLst xmlns:a="http://schemas.openxmlformats.org/drawingml/2006/main">
              <a:ext uri="{FF2B5EF4-FFF2-40B4-BE49-F238E27FC236}">
                <a16:creationId xmlns:a16="http://schemas.microsoft.com/office/drawing/2014/main" id="{8A69772A-6987-44F7-8A36-C6AF27D9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013" y="4927854"/>
            <a:ext cx="247650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wwr, shade_m at the search point; shgc, compactness pinned at baseline.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1FA83E-245A-48DA-B7BC-414EDFF5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715" y="2647950"/>
            <a:ext cx="4400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23" name="part-chip-2">
            <a:extLst xmlns:a="http://schemas.openxmlformats.org/drawingml/2006/main">
              <a:ext uri="{FF2B5EF4-FFF2-40B4-BE49-F238E27FC236}">
                <a16:creationId xmlns:a16="http://schemas.microsoft.com/office/drawing/2014/main" id="{E5133AA3-1A70-4923-AC17-2E6197E8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918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t-chipno-2">
            <a:extLst xmlns:a="http://schemas.openxmlformats.org/drawingml/2006/main">
              <a:ext uri="{FF2B5EF4-FFF2-40B4-BE49-F238E27FC236}">
                <a16:creationId xmlns:a16="http://schemas.microsoft.com/office/drawing/2014/main" id="{FFF24FFB-8D12-43FF-A3F6-F52FFE41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918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part-lchip-2">
            <a:extLst xmlns:a="http://schemas.openxmlformats.org/drawingml/2006/main">
              <a:ext uri="{FF2B5EF4-FFF2-40B4-BE49-F238E27FC236}">
                <a16:creationId xmlns:a16="http://schemas.microsoft.com/office/drawing/2014/main" id="{93E35004-0847-4675-9784-10732DEF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493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rt-lchipno-2">
            <a:extLst xmlns:a="http://schemas.openxmlformats.org/drawingml/2006/main">
              <a:ext uri="{FF2B5EF4-FFF2-40B4-BE49-F238E27FC236}">
                <a16:creationId xmlns:a16="http://schemas.microsoft.com/office/drawing/2014/main" id="{3D06FB0B-2F28-4BB7-BDFE-1B838697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493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part-head-2">
            <a:extLst xmlns:a="http://schemas.openxmlformats.org/drawingml/2006/main">
              <a:ext uri="{FF2B5EF4-FFF2-40B4-BE49-F238E27FC236}">
                <a16:creationId xmlns:a16="http://schemas.microsoft.com/office/drawing/2014/main" id="{26EF8670-994C-4A7B-B1CE-CB4971A6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3293" y="3009900"/>
            <a:ext cx="217170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Pull the number back out</a:t>
            </a:r>
          </a:p>
        </p:txBody>
      </p:sp>
      <p:sp>
        <p:nvSpPr>
          <p:cNvPr id="28" name="part-body-2">
            <a:extLst xmlns:a="http://schemas.openxmlformats.org/drawingml/2006/main">
              <a:ext uri="{FF2B5EF4-FFF2-40B4-BE49-F238E27FC236}">
                <a16:creationId xmlns:a16="http://schemas.microsoft.com/office/drawing/2014/main" id="{399962B4-845C-4EC1-8892-AB739D5F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493" y="3637026"/>
            <a:ext cx="247650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.predict() always returns an array; [0] takes the lone value out.</a:t>
            </a:r>
          </a:p>
        </p:txBody>
      </p:sp>
    </p:spTree>
    <p:extLst>
      <p:ext uri="{BB962C8B-B14F-4D97-AF65-F5344CB8AC3E}">
        <p14:creationId xmlns:p14="http://schemas.microsoft.com/office/powerpoint/2010/main" val="10953895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A5829488-439F-4752-8ED7-9F2F16F4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C692DAB-DF64-475E-A210-E30132EE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DEMO 1 — minimize() from the baseline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CB7EA-AF91-462D-8213-EDE7601F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0C29244-CC50-4CA6-8B29-A6040C02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086AF5D-7C79-434B-BDC5-A3AB9FC7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11D817BA-3FDB-44A1-A489-CD49F8B5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4D3F26F9-1409-4181-A912-24689C62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79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from scipy.optimize import minimize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bounds = [(0.20, 0.60), (0.0, 1.2)]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result = minimize(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surrogate_eui, x0=(0.50, 0.20),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bounds=bounds)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print('x:', result.x.round(4))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print('value:', round(result.fun, 4))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print('success:', result.success)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F22D0-17AD-4AD9-BEEE-1DC7FBF6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8042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09C45C16-A954-4604-AE3B-3E01E5B1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2342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401C0D6A-97E9-470E-99E5-B2CAA5CF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0942"/>
            <a:ext cx="6400800" cy="578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x: [0.2 1.2]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value: 22.7503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success: True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FC995623-47A5-41BB-AF91-CB8CA669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Both variables land exactly ON a bound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99B0D737-8BAB-4CA7-8D92-BC597B7C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71672"/>
            <a:ext cx="3695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linear surrogate pushes wwr to 0.20 and shade_m to 1.20. Predicted EUI falls from 31.2886 to 22.7503. This boundary candidate now requires a high-fidelity truth check.</a:t>
            </a:r>
          </a:p>
        </p:txBody>
      </p:sp>
    </p:spTree>
    <p:extLst>
      <p:ext uri="{BB962C8B-B14F-4D97-AF65-F5344CB8AC3E}">
        <p14:creationId xmlns:p14="http://schemas.microsoft.com/office/powerpoint/2010/main" val="1082896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6CE137D6-7D28-4279-9DEF-64837546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CONTRAST WITH WEEK 11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0B1DC5E-A322-4840-98E7-A58AB2BF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Local optimum, recalled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D9903-37BA-4D43-8E56-FE095D51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6C9570B-5ABA-4818-ACC5-2639FD86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3F63D74-E2A0-4512-9DE2-9F4143A9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DA8DD769-1523-4BAB-B782-9F306FE9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D6843FFC-1B28-4154-A1EB-356852C3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local optimum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41B59-085B-469A-9EB1-DFCD9462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8CE190C5-6A83-4509-A49B-F4E0DC0B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point where a search method gets stuck — better than every nearby point, but not necessarily the best point overall. Whether a fitted surrogate has one depends entirely on its own shape, not on the fact that it was fitted.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37514C03-90E9-4343-ADFC-692C3792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BBDC09FC-E1F7-4E77-9A77-2F4F1703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567B4D10-2B96-4666-94BF-E686CDE8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Week 11 vs. today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76DF26FC-B900-4D0F-9EC7-CC638C99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2229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Week 11's energy_proxy had two basins: the local result near -7.08 and a lower best-known basin near -11.08, corroborated by a finite grid plus multistart rather than proved global. Five of eight starts reached the worse basin. Today's surrogate is affine in wwr and shade_m with other features fixed — no interior valley.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8A18CBF1-AB64-4BF1-99D4-371A88A3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E4D2DFB0-E03E-4B51-B962-917D8CB4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SAY THIS EXPLICITLY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178ABB67-E2ED-499E-8F74-40A29A6A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This is a fact about THIS surrogate's linear shape, not a general claim about every fitted model.</a:t>
            </a:r>
          </a:p>
        </p:txBody>
      </p:sp>
    </p:spTree>
    <p:extLst>
      <p:ext uri="{BB962C8B-B14F-4D97-AF65-F5344CB8AC3E}">
        <p14:creationId xmlns:p14="http://schemas.microsoft.com/office/powerpoint/2010/main" val="81455409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5B101929-C285-4DA2-B7E8-241BAB71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VISUAL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6774DF4-AC52-45E4-A9A2-A4AEBCD4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surrogate's shape: no bends anywhere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ADFE7-7CE4-4473-9FF2-DEF0CCCD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1E4CA9E-2DF2-443D-8790-9A8233C9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1763450-FAF5-437B-A7D2-136CE36B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7010400" cy="4248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dcab1cb9f54da9"/>
          </a:graphicData>
        </a:graphic>
      </p:graphicFrame>
      <p:sp>
        <p:nvSpPr>
          <p:cNvPr id="7" name="chart-explain-head">
            <a:extLst xmlns:a="http://schemas.openxmlformats.org/drawingml/2006/main">
              <a:ext uri="{FF2B5EF4-FFF2-40B4-BE49-F238E27FC236}">
                <a16:creationId xmlns:a16="http://schemas.microsoft.com/office/drawing/2014/main" id="{C74173FC-1763-4F9D-BFB8-66AFDF3E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86050"/>
            <a:ext cx="35814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Two straight lines, not two basins</a:t>
            </a:r>
          </a:p>
        </p:txBody>
      </p:sp>
      <p:sp>
        <p:nvSpPr>
          <p:cNvPr id="8" name="chart-explain-body">
            <a:extLst xmlns:a="http://schemas.openxmlformats.org/drawingml/2006/main">
              <a:ext uri="{FF2B5EF4-FFF2-40B4-BE49-F238E27FC236}">
                <a16:creationId xmlns:a16="http://schemas.microsoft.com/office/drawing/2014/main" id="{C1C50B3F-B6E9-4549-ABCF-2654CC40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71672"/>
            <a:ext cx="3581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final fitted coefficients are +17.7561 for wwr and −3.2115 for shade_m. Straight lines explain why different starts agree; they do not validate the surrogate.</a:t>
            </a:r>
          </a:p>
        </p:txBody>
      </p:sp>
    </p:spTree>
    <p:extLst>
      <p:ext uri="{BB962C8B-B14F-4D97-AF65-F5344CB8AC3E}">
        <p14:creationId xmlns:p14="http://schemas.microsoft.com/office/powerpoint/2010/main" val="18256503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03DED722-FE94-4E42-A69C-54BFC65C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A7BA948-A420-48FD-A4D0-E0B206B0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Predict: does a different starting guess change the optimized design?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BF730-100C-4F1D-901A-D5CF701E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CAF5719-68E0-45F8-BBEC-6C5B7CB9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AA4C64D-22F3-40E3-871A-9037C61E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4FF671CE-D87E-4967-8CCB-D63C435B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DA9F815F-7B9A-4595-8F45-AEC8B7B0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result2 = minimize(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surrogate_eui, x0=(0.22, 1.10),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bounds=bounds)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print('x:', result2.x.round(4))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print('value:', round(result2.fun, 4))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043E8098-4F6F-4963-871A-2B2D791C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864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Starting from x0=(0.22, 1.10) instead, where does minimize() land?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A9C364B1-4766-4B2D-A57C-64845C30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88158"/>
            <a:ext cx="4267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0E0CF335-36C3-40E6-9D22-F6614D7E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3103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22A69DF9-EDF7-4522-AFC1-08F59CCB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26258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A different local optimum — Week 11's pattern repeats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C92F45FF-D060-4CEA-8CCD-9E47A873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59658"/>
            <a:ext cx="4267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FB164231-FADA-4056-AD1C-7BBDC729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0253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4A765C17-F727-4BDC-8665-DBD0C4A2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97758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The identical x=[0.20, 1.20], value=22.7503 — same as Demo 1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966496E1-5AE5-41EF-A1AB-6E9802DA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31158"/>
            <a:ext cx="4267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267D645A-D5A7-40A5-819E-FFD83032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7403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F742DD39-3AFB-4F76-858B-E14D982E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69258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minimize() fails to converge from this far away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18D99A7D-76BA-462A-AFDF-BFBE3225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02658"/>
            <a:ext cx="4267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AB47E183-146D-42A0-8B4F-69877921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4553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6885156C-E998-4D23-89E4-93C8C15A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40758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A different corner of the box, e.g. x=[0.60, 0.0]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5342A999-0A1B-446E-857D-06172DEB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E4C80CC2-C756-4C60-AC3C-E1EDE008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B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3E78ECBE-7B08-4D82-B14F-5E1A718F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Both starts reach x=[0.20, 1.20], value=22.7503 because the fitted objective is linear in the two free variables. Agreement does not validate the surrogate.</a:t>
            </a:r>
          </a:p>
        </p:txBody>
      </p:sp>
    </p:spTree>
    <p:extLst>
      <p:ext uri="{BB962C8B-B14F-4D97-AF65-F5344CB8AC3E}">
        <p14:creationId xmlns:p14="http://schemas.microsoft.com/office/powerpoint/2010/main" val="145458818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6B5093F0-4E38-4B14-9908-8CA1C2C9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FC276A-1462-439C-99C7-3E96FB21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DEMO 2 — only x0 changes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D99BC-309F-4D1B-86BE-1C674BBC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5B85F4B-692E-46BA-93E0-67DF5C30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ACCC778-B876-4269-94A6-C29F9F57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87A783C5-AAC1-4075-A56B-C4E5C1CF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017981BA-6465-4B48-AE23-D2D3FBA7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79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result2 = minimize(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surrogate_eui, x0=(0.22, 1.10),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bounds=bounds)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print('x:', result2.x.round(4))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print('value:', round(result2.fun, 4))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print('success:', result2.success)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7F9FD-0DB3-4014-9564-3271FEEA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8042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1338A532-91BF-4689-B64E-EBADDD75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2342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ED970151-8FA9-4546-A2BB-AF0BC7D5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0942"/>
            <a:ext cx="6400800" cy="578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x: [0.2 1.2]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value: 22.8698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success: True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3B9E74DE-5FEE-43CB-8DC8-842C1049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98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Confirms the prediction slide's answer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C2571363-9709-4802-ACC9-19826A44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95472"/>
            <a:ext cx="3695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This start is deliberately far from DEMO 1 and near Week 11's lower best-known basin on an unrelated problem. Both starts agree here; that says something about this affine objective, not about surrogate validity.</a:t>
            </a:r>
          </a:p>
        </p:txBody>
      </p:sp>
    </p:spTree>
    <p:extLst>
      <p:ext uri="{BB962C8B-B14F-4D97-AF65-F5344CB8AC3E}">
        <p14:creationId xmlns:p14="http://schemas.microsoft.com/office/powerpoint/2010/main" val="11129430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">
            <a:extLst xmlns:a="http://schemas.openxmlformats.org/drawingml/2006/main">
              <a:ext uri="{FF2B5EF4-FFF2-40B4-BE49-F238E27FC236}">
                <a16:creationId xmlns:a16="http://schemas.microsoft.com/office/drawing/2014/main" id="{82D72B3E-ED10-4C0F-A3C4-2EA81CE1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F0EDF0A-D587-463A-89E9-226BC6F9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Baseline vs. optimized, verified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23EA8-E280-4BF0-98CD-79F71E1C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790D63E-B995-46BB-94CA-5F05C7C2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BFD72C6-3030-4A45-8EC8-F2759973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FF7DE-C474-4AD7-BC9E-9FD3E208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8AB5AF83-7373-4C9A-A683-01AE06F8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3E62C-0531-401C-AF99-B55406E9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1718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A8C545A0-592B-43BD-B628-4927F687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2480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wwr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59F50-A5CC-491C-B574-95ADA492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718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928B035E-4A69-4FCD-8CFC-4969592C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480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shade_m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9E0B1-43AD-4C46-BB5A-05BF81A4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1718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header-3">
            <a:extLst xmlns:a="http://schemas.openxmlformats.org/drawingml/2006/main">
              <a:ext uri="{FF2B5EF4-FFF2-40B4-BE49-F238E27FC236}">
                <a16:creationId xmlns:a16="http://schemas.microsoft.com/office/drawing/2014/main" id="{E60FFEE0-FAD1-4110-A72C-66D6BF9A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480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predicted EUI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95BF0-9F8A-4D94-93B7-4B0580FE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0">
            <a:extLst xmlns:a="http://schemas.openxmlformats.org/drawingml/2006/main">
              <a:ext uri="{FF2B5EF4-FFF2-40B4-BE49-F238E27FC236}">
                <a16:creationId xmlns:a16="http://schemas.microsoft.com/office/drawing/2014/main" id="{5A8249D4-1BAC-40AB-9D8B-1AB95AEB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AF019A-2BE6-4DE0-AAA4-99D7B806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7052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1">
            <a:extLst xmlns:a="http://schemas.openxmlformats.org/drawingml/2006/main">
              <a:ext uri="{FF2B5EF4-FFF2-40B4-BE49-F238E27FC236}">
                <a16:creationId xmlns:a16="http://schemas.microsoft.com/office/drawing/2014/main" id="{9B4F9E8C-CB7D-4910-810B-361A48B8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7814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5CC8A9-E22F-4723-85A9-C3A2B486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052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0-2">
            <a:extLst xmlns:a="http://schemas.openxmlformats.org/drawingml/2006/main">
              <a:ext uri="{FF2B5EF4-FFF2-40B4-BE49-F238E27FC236}">
                <a16:creationId xmlns:a16="http://schemas.microsoft.com/office/drawing/2014/main" id="{E8B3E5B6-5D99-4518-B799-8487D960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814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9224A1-8F98-4D66-8FBE-20C1B628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7052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0-3">
            <a:extLst xmlns:a="http://schemas.openxmlformats.org/drawingml/2006/main">
              <a:ext uri="{FF2B5EF4-FFF2-40B4-BE49-F238E27FC236}">
                <a16:creationId xmlns:a16="http://schemas.microsoft.com/office/drawing/2014/main" id="{6213B9ED-9071-481D-ABC7-368F9009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7814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31.2886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AAE2E3-C25F-4BCF-B2AA-4B8D5C66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0">
            <a:extLst xmlns:a="http://schemas.openxmlformats.org/drawingml/2006/main">
              <a:ext uri="{FF2B5EF4-FFF2-40B4-BE49-F238E27FC236}">
                <a16:creationId xmlns:a16="http://schemas.microsoft.com/office/drawing/2014/main" id="{B68E702B-7A13-4089-8F7D-B13F229F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surrogate candidate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10AA2B-A5F5-4EA2-8C8D-639F6709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23862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1-1">
            <a:extLst xmlns:a="http://schemas.openxmlformats.org/drawingml/2006/main">
              <a:ext uri="{FF2B5EF4-FFF2-40B4-BE49-F238E27FC236}">
                <a16:creationId xmlns:a16="http://schemas.microsoft.com/office/drawing/2014/main" id="{38CEAD6A-7364-41E9-A941-48ED388E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31482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283057-A214-4862-80BB-6639F5EB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3862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1-2">
            <a:extLst xmlns:a="http://schemas.openxmlformats.org/drawingml/2006/main">
              <a:ext uri="{FF2B5EF4-FFF2-40B4-BE49-F238E27FC236}">
                <a16:creationId xmlns:a16="http://schemas.microsoft.com/office/drawing/2014/main" id="{25DC3733-6860-4C41-8959-78A21BFE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1482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1.20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98C26D-048E-4A7E-AF05-0AA62FE9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23862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1-3">
            <a:extLst xmlns:a="http://schemas.openxmlformats.org/drawingml/2006/main">
              <a:ext uri="{FF2B5EF4-FFF2-40B4-BE49-F238E27FC236}">
                <a16:creationId xmlns:a16="http://schemas.microsoft.com/office/drawing/2014/main" id="{A41871EE-25B5-4313-A8FF-56DD0E44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31482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22.7503</a:t>
            </a:r>
          </a:p>
        </p:txBody>
      </p:sp>
      <p:sp>
        <p:nvSpPr>
          <p:cNvPr id="30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B9FD9AD1-1FC5-444A-8F78-4E85D239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31" name="callout">
            <a:extLst xmlns:a="http://schemas.openxmlformats.org/drawingml/2006/main">
              <a:ext uri="{FF2B5EF4-FFF2-40B4-BE49-F238E27FC236}">
                <a16:creationId xmlns:a16="http://schemas.microsoft.com/office/drawing/2014/main" id="{EC6151D7-BB50-48CE-BBEA-367C2254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Surrogate-predicted improvement: 8.5383 kWh/m²/yr (27.29%). Next: confirm the candidate with the non-surrogate simulator or measurement process.</a:t>
            </a:r>
          </a:p>
        </p:txBody>
      </p:sp>
    </p:spTree>
    <p:extLst>
      <p:ext uri="{BB962C8B-B14F-4D97-AF65-F5344CB8AC3E}">
        <p14:creationId xmlns:p14="http://schemas.microsoft.com/office/powerpoint/2010/main" val="102568123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D77D0047-FEA9-46D2-A814-A54AA318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 PRECISE CLAIM ABOUT THIS MODEL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25B23C4-6D05-43CC-A182-B194742C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This bounded linear surrogate has no suboptimal local trap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2C352-2EEB-4B37-8ABF-22B2F9E9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5B55891-171B-43EE-AF92-1460D486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5410C6D-BAC6-4566-9ACE-E746E29E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" name="statement">
            <a:extLst xmlns:a="http://schemas.openxmlformats.org/drawingml/2006/main">
              <a:ext uri="{FF2B5EF4-FFF2-40B4-BE49-F238E27FC236}">
                <a16:creationId xmlns:a16="http://schemas.microsoft.com/office/drawing/2014/main" id="{3F755FC4-003F-40F7-913A-A60D330D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9829800" cy="2051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On a bounded box, a linear objective has no suboptimal local trap: every local optimum is global, possibly along an optimal face.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4965A-14A9-4786-BBA4-1AE51B75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3504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8" name="supporting">
            <a:extLst xmlns:a="http://schemas.openxmlformats.org/drawingml/2006/main">
              <a:ext uri="{FF2B5EF4-FFF2-40B4-BE49-F238E27FC236}">
                <a16:creationId xmlns:a16="http://schemas.microsoft.com/office/drawing/2014/main" id="{D1517FC4-1A4A-4DDF-B4C0-741E46F9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7354"/>
            <a:ext cx="9334500" cy="606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Different starts therefore agree here. Nonlinear models or nonconvex feasible sets can reintroduce suboptimal traps.</a:t>
            </a:r>
          </a:p>
        </p:txBody>
      </p:sp>
    </p:spTree>
    <p:extLst>
      <p:ext uri="{BB962C8B-B14F-4D97-AF65-F5344CB8AC3E}">
        <p14:creationId xmlns:p14="http://schemas.microsoft.com/office/powerpoint/2010/main" val="25815625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B8833D35-6770-4C43-9CC6-62D248E0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RECALL FROM WEEK 10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F83E5E-77E3-491C-B05A-10363451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Constraint, recalled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86747-74B7-4123-BE5A-CE83FDC4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C0FF27C-9882-45D2-B8B3-7DBD716B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351D256-8A69-44D8-B2B3-619783C1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C6579943-DEDC-4A95-B2DC-AF204100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0CD13385-0985-45E6-B502-64576D4B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constraint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A1D38-03D0-4F7A-8C17-09A2C258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B300F639-D7D6-428B-AD28-F427A257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condition a candidate solution MUST satisfy, recalled from Week 10 — as opposed to the objective, which is the quantity being minimized or maximized. Today's Track A idea puts a fitted classifier's prediction on the constraint side instead of the objective side.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9D29B7A8-A629-483C-B0EA-04593718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E94AF868-6DFE-4086-AFA6-0ECBC8FE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E5BF0377-3083-4BA9-9C0E-289AF736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Track A's constraint, reused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26DD3102-B9CF-4A8B-AB86-B73ADDB6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2229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predicted P(meets code) ≥ 0.5 — the Week 14 validation-selected policy. Treat it as a modeled screen, then verify feasibility with the real code/simulation check.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64041B58-E7F5-4BF6-BED5-BDC68560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57208491-60D6-407B-9FBD-D43AB59A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A1801BFA-58E9-47D3-B2D5-44B4C2B0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constraint does not get minimized — it only filters which candidate designs are allowed. Something ELSE (cost, EUI, or another objective) still gets minimized subject to it.</a:t>
            </a:r>
          </a:p>
        </p:txBody>
      </p:sp>
    </p:spTree>
    <p:extLst>
      <p:ext uri="{BB962C8B-B14F-4D97-AF65-F5344CB8AC3E}">
        <p14:creationId xmlns:p14="http://schemas.microsoft.com/office/powerpoint/2010/main" val="33550598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5366DFA5-A45F-4C05-AED4-18D125F0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CONCEPTUAL ONLY — NO SEPARATE NUMERIC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EA46BB5-6C2D-462C-AD94-9571A577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Track A's constraint pattern, described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2338F-7DF6-4D4F-A2D4-20964AAC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BD4AF92-3E7D-4E93-8CDC-587B7ADC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67C9C36-F892-4C29-9C3D-A3F0821F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DB3A7-5B40-4E2E-B15B-38B04B72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78834A1B-96FD-4B42-AF9F-C10A6817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28C79-38AE-45C2-BF02-B430478F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7655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7E8350D9-F1E5-47CD-8871-6A7D2AD0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5275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pattern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F1277-2FAD-493E-88C7-91D218E8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371475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cell-0-0">
            <a:extLst xmlns:a="http://schemas.openxmlformats.org/drawingml/2006/main">
              <a:ext uri="{FF2B5EF4-FFF2-40B4-BE49-F238E27FC236}">
                <a16:creationId xmlns:a16="http://schemas.microsoft.com/office/drawing/2014/main" id="{6328E163-8B73-416B-A8B0-33516B1C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348615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Track B (this demo): model IS the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E309F7-D685-464E-9F06-82BFBD06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09950"/>
            <a:ext cx="371475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1">
            <a:extLst xmlns:a="http://schemas.openxmlformats.org/drawingml/2006/main">
              <a:ext uri="{FF2B5EF4-FFF2-40B4-BE49-F238E27FC236}">
                <a16:creationId xmlns:a16="http://schemas.microsoft.com/office/drawing/2014/main" id="{533D8937-4537-470E-B3CF-8D6B54B5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86150"/>
            <a:ext cx="348615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minimize(surrogate_eui(...), x0=..., bounds=...) — the model's prediction is minimized.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792F9E-626F-48D0-9EE9-77CA19F9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5280"/>
            <a:ext cx="3714750" cy="929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1-0">
            <a:extLst xmlns:a="http://schemas.openxmlformats.org/drawingml/2006/main">
              <a:ext uri="{FF2B5EF4-FFF2-40B4-BE49-F238E27FC236}">
                <a16:creationId xmlns:a16="http://schemas.microsoft.com/office/drawing/2014/main" id="{F0C800CD-B2AC-4A34-AA05-FFAA0575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1480"/>
            <a:ext cx="348615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Track A (conceptual): model becomes a CONSTRAINT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F40FFA-6A9C-457A-96F8-B5C94434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45280"/>
            <a:ext cx="3714750" cy="929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1-1">
            <a:extLst xmlns:a="http://schemas.openxmlformats.org/drawingml/2006/main">
              <a:ext uri="{FF2B5EF4-FFF2-40B4-BE49-F238E27FC236}">
                <a16:creationId xmlns:a16="http://schemas.microsoft.com/office/drawing/2014/main" id="{5F65423C-2804-4285-81F7-8218DDDC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21480"/>
            <a:ext cx="348615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minimize(other_obj, ..., constraints=[P(meets code)≥0.5]) — a modeled screen, followed by truth-model verification.</a:t>
            </a:r>
          </a:p>
        </p:txBody>
      </p:sp>
      <p:sp>
        <p:nvSpPr>
          <p:cNvPr id="18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31034C2B-BE56-4F4E-90EE-1D22C285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19" name="callout">
            <a:extLst xmlns:a="http://schemas.openxmlformats.org/drawingml/2006/main">
              <a:ext uri="{FF2B5EF4-FFF2-40B4-BE49-F238E27FC236}">
                <a16:creationId xmlns:a16="http://schemas.microsoft.com/office/drawing/2014/main" id="{63E9ED46-E1C4-4EF9-BC56-3A654DE4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predict-optimize-decide pattern either way — only whether the model becomes the objective or a constraint differs.</a:t>
            </a:r>
          </a:p>
        </p:txBody>
      </p:sp>
    </p:spTree>
    <p:extLst>
      <p:ext uri="{BB962C8B-B14F-4D97-AF65-F5344CB8AC3E}">
        <p14:creationId xmlns:p14="http://schemas.microsoft.com/office/powerpoint/2010/main" val="186920573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B7C38313-2FA8-42B4-99C6-8EEF30E6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 — RECALL WEEK 14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1D00093-4382-4E57-AE97-B9717BD9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Recall: which threshold did the validation rule select?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6504E-6963-4E0C-B739-F71B9E47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FA43AD8-4537-4B43-8FA2-3D19E5B0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F90A8C3-80E2-4F06-96E6-9A63A9CA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B6375B53-038E-432D-AC8D-A3744FEF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6C6B740D-657C-4350-8934-B2C74B34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# validation rule: FPR &lt;= 10%, then maximize recall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# 0.4 fails; 0.5 and 0.6 qualify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# compare recall at the qualifying thresholds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90DD0E2F-AF97-49EA-86B4-C84A8535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Which threshold was frozen before the final test?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50F5F538-2ED7-405B-94A5-60316852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1A54E577-A49D-4128-8667-81B8B0C9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83CECFF5-0C4A-4137-87B1-16030162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0.3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02B8EAD9-D2CD-4ED2-9CC4-AE422DAB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9928C8C1-9E8E-433C-9B8C-5D7A5E33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A6584976-B3D7-4151-BB80-24CF93F0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0.4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08FF1632-3D8E-4DC6-8A3B-AF28C32C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61C696BF-CFCF-4A7C-B854-FA20B63E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528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B18580E9-A615-414B-8DA4-5B05A93C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0.5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A3A6A061-947B-4C7F-A504-47156FD7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52FA8906-99FD-45A7-9A40-5398D909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624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26CD0ECC-0D86-4DD5-B1FE-94847912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0.6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A27EA6F9-8CE4-4A23-85A2-91F41A45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2F2C0828-12B5-4B7A-BE07-A3185C82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C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027674AC-F8C4-4E6F-B25E-BB5F1A4B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0.5: validation FPR=5.3% and recall=0.667. Threshold 0.6 also meets the FPR limit but recall collapses to 0.111.</a:t>
            </a:r>
          </a:p>
        </p:txBody>
      </p:sp>
    </p:spTree>
    <p:extLst>
      <p:ext uri="{BB962C8B-B14F-4D97-AF65-F5344CB8AC3E}">
        <p14:creationId xmlns:p14="http://schemas.microsoft.com/office/powerpoint/2010/main" val="174285701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BD91D9D2-DBB1-469A-853A-FFC36ACA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PRINCIPLE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28AABFC-FD7D-4DFB-9A6A-E4B2B629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State the recommendation as bounded and uncertain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CD32A-1048-4634-90DD-9E51BB04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CAB8E63-8ADC-492E-935B-7640751B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7B1254B-D98D-477F-AD36-64FDC65B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statement">
            <a:extLst xmlns:a="http://schemas.openxmlformats.org/drawingml/2006/main">
              <a:ext uri="{FF2B5EF4-FFF2-40B4-BE49-F238E27FC236}">
                <a16:creationId xmlns:a16="http://schemas.microsoft.com/office/drawing/2014/main" id="{76BA71DF-BF47-440C-AB33-B95250DF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829800" cy="2545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surrogate proposes wwr=0.20 and shade_m=1.20, with a predicted EUI reduction of about 8.54 kWh/m²/yr (27.29%), holding SHGC and compactness fixed.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72B84-3DAA-45A5-B32C-805C2A48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248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8" name="supporting">
            <a:extLst xmlns:a="http://schemas.openxmlformats.org/drawingml/2006/main">
              <a:ext uri="{FF2B5EF4-FFF2-40B4-BE49-F238E27FC236}">
                <a16:creationId xmlns:a16="http://schemas.microsoft.com/office/drawing/2014/main" id="{7D7D787B-2826-4B80-9C75-14A38689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6330"/>
            <a:ext cx="93345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candidate lies on two bounds and comes from a model with final-test RMSE=2.5210. RMSE is not a prediction interval. Run the high-fidelity simulator or measurement process at the baseline and candidate, then report both the surrogate error and the confirmed improvement.</a:t>
            </a:r>
          </a:p>
        </p:txBody>
      </p:sp>
    </p:spTree>
    <p:extLst>
      <p:ext uri="{BB962C8B-B14F-4D97-AF65-F5344CB8AC3E}">
        <p14:creationId xmlns:p14="http://schemas.microsoft.com/office/powerpoint/2010/main" val="11934031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35213675-FF3C-4496-96F7-39ABC401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 — RECALL WEEK 14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2C5B2FE-1348-48F3-91D2-3EC9AF34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Recall: did the 4-feature gain recur across development folds?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CCC98-1FA8-4299-80EA-231F8A34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89AB3F7-7E8A-4451-B93F-4732FE4F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4CC3A4F-AA3D-489F-B807-A3BAFC58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1306A8A0-2EE7-40AB-A898-B2DD3B49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110416EA-0ECC-4ABA-9286-9B12F9AB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# paired folds on the 112 development rows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print('3-feature mean R2:', 0.2313)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print('4-feature mean R2:', 0.3225)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80CBBC4D-8449-49C3-9654-6B6FCADD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864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did paired development-fold evaluation support?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59F765AA-7E11-440C-B32F-CF616044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88158"/>
            <a:ext cx="4267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61E1F6B3-9BA7-4A7C-9C61-9DF6F041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3103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7AAC4B04-D4D3-4BC0-8E59-9F5B978F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26258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The 3-feature model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553046A4-70EA-4D55-9BB5-30DA49A6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59658"/>
            <a:ext cx="4267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C1760D28-8253-4BF0-92B9-71C9AAD7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0253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7CEBF3CC-3795-4D42-ADB5-BC94C708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97758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The 4-feature model on average, with variability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C587A842-5333-47F7-A013-CE955049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31158"/>
            <a:ext cx="4267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837C83B9-A648-4A24-AF29-A87A0BCC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7403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1C876B04-4D61-4E88-A0F4-AE760993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69258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A calibrated prediction interval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C14FF1C4-6C32-4290-842B-DF82827F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02658"/>
            <a:ext cx="4267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8DEAD91A-E7E9-4A5A-941E-8C0EB021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4553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356BC367-D2F7-4899-B4CE-4ACB6484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40758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A causal compactness effect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3D27F914-5FC4-4BA8-8B18-FFD4CF93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355BDEBA-E688-4410-8204-712C844F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B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5B6824DD-C8D1-4324-8D4A-1EDE44AA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Mean development-fold R² rises from 0.2313 to 0.3225. That supports the specification choice but is neither a causal result nor an individual interval.</a:t>
            </a:r>
          </a:p>
        </p:txBody>
      </p:sp>
    </p:spTree>
    <p:extLst>
      <p:ext uri="{BB962C8B-B14F-4D97-AF65-F5344CB8AC3E}">
        <p14:creationId xmlns:p14="http://schemas.microsoft.com/office/powerpoint/2010/main" val="161442432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49CB9DA1-107A-4C67-8A9C-4360338B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 — RECALL WEEK 13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728504D-B9D6-4149-843C-F075C03C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Predict: what happens at wwr=0.85?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DBA33-19E7-4D12-90A6-0CE68D72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DB1D409-B5F3-4E2D-9BB0-41029DA9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3C63D66-5BA5-48F5-B06C-A3276CE4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58C3453C-D7C4-4122-A519-13C7F8F9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83982FF8-D40A-4032-818B-C8D3A1B6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# Week 13's 3-feature model (wwr, shade_m, glazing_shgc)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row = np.array([[0.85, 0.60, 0.45]])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print(round(model_3feat.predict(row)[0], 4))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83BC49A8-B4B0-4C72-A70D-A1EE5799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864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wwr=0.85 is far outside the training range. What does the model return?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15E82A83-E32B-4631-AEDE-6C968A14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88158"/>
            <a:ext cx="4267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9DD65661-EE41-4B49-84F3-5CAB8162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3103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4A2F33BC-D382-4540-8DAF-7D245C55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26258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A ValueError, refusing to predict out of range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7096D61A-0C95-48E9-AA52-7F1A5B7C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59658"/>
            <a:ext cx="4267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FCEF1E59-825A-4678-A088-28962338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0253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0B8DB322-7A96-427A-8C87-38D78595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97758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A visible warning, then a number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FE3851B7-0A98-454F-98F1-C25B5227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31158"/>
            <a:ext cx="4267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307DE43F-088B-4E78-A12C-73C7A78D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7403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127B93AC-7453-46B2-886B-915F71BA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69258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36.13 — a normal-looking number, no warning at all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A907F7F6-73E6-4307-A981-9466B5E8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02658"/>
            <a:ext cx="4267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B19789A2-5730-4890-AB63-8E795DBF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4553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1E840450-31C9-413C-9DED-DE45DB9B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40758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NaN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7CB9106B-3226-43CC-B472-8BEC00E0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A307A48F-541E-45CF-B677-2E6E234B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C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37849C6D-0A6F-4D28-8E0D-92938932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36.13 -- a normal-looking number, no warning at all. Always check input ranges yourself; the model cannot warn you.</a:t>
            </a:r>
          </a:p>
        </p:txBody>
      </p:sp>
    </p:spTree>
    <p:extLst>
      <p:ext uri="{BB962C8B-B14F-4D97-AF65-F5344CB8AC3E}">
        <p14:creationId xmlns:p14="http://schemas.microsoft.com/office/powerpoint/2010/main" val="169261722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ED1A19E3-8ECE-43A8-AC5C-C8D166EB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C199A89-7B44-48FB-9140-0F525B88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Two honesty checks, the numbers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A7521-D09E-4A06-9D2E-6C6E5E00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907AFB4-E7BD-400C-8581-3AF0C41D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45BCBA2-FC8F-4AC6-B2EB-362CA36D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9ABBF-6B58-4994-81D2-2CA5C6CE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45953DBE-B00D-4D04-95D0-39C46775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DA83F-C007-460E-8D83-FC56709B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D2E2EA9C-C8DD-4AB2-91BA-832F5F86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4800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honest number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BE3258-7F11-4C63-8190-BF398549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37147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cell-0-0">
            <a:extLst xmlns:a="http://schemas.openxmlformats.org/drawingml/2006/main">
              <a:ext uri="{FF2B5EF4-FFF2-40B4-BE49-F238E27FC236}">
                <a16:creationId xmlns:a16="http://schemas.microsoft.com/office/drawing/2014/main" id="{F29C74A1-BEA7-4D6F-811D-1C25D2BB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34861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Week 13: silent extrapolation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E3A199-3C5F-4D71-9DDA-7C53BF21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05200"/>
            <a:ext cx="37147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1">
            <a:extLst xmlns:a="http://schemas.openxmlformats.org/drawingml/2006/main">
              <a:ext uri="{FF2B5EF4-FFF2-40B4-BE49-F238E27FC236}">
                <a16:creationId xmlns:a16="http://schemas.microsoft.com/office/drawing/2014/main" id="{F4D26F4F-3448-4AAD-9363-CB94C244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81400"/>
            <a:ext cx="34861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wwr=0.85 exceeds [0.201, 0.592], yet returns 36.13 without warning.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1EA9F-1D74-4E11-A4FF-165B9850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6220"/>
            <a:ext cx="3714750" cy="929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1-0">
            <a:extLst xmlns:a="http://schemas.openxmlformats.org/drawingml/2006/main">
              <a:ext uri="{FF2B5EF4-FFF2-40B4-BE49-F238E27FC236}">
                <a16:creationId xmlns:a16="http://schemas.microsoft.com/office/drawing/2014/main" id="{3F63B742-CA8D-4226-B08D-C764EF1D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2420"/>
            <a:ext cx="348615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Week 14: performance stability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4084A2-14FC-4A1A-8728-026B69F2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46220"/>
            <a:ext cx="3714750" cy="929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1-1">
            <a:extLst xmlns:a="http://schemas.openxmlformats.org/drawingml/2006/main">
              <a:ext uri="{FF2B5EF4-FFF2-40B4-BE49-F238E27FC236}">
                <a16:creationId xmlns:a16="http://schemas.microsoft.com/office/drawing/2014/main" id="{E2CBAF32-7ADE-44C4-8273-CE451BDE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22420"/>
            <a:ext cx="348615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Validation R² 0.3903→0.4258; paired development-CV mean 0.2313→0.3225; final test once: MAE 1.9881, RMSE 2.5210, R² 0.5167.</a:t>
            </a:r>
          </a:p>
        </p:txBody>
      </p:sp>
      <p:sp>
        <p:nvSpPr>
          <p:cNvPr id="18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5381A9E9-D883-4E34-BB82-BB538949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19" name="callout">
            <a:extLst xmlns:a="http://schemas.openxmlformats.org/drawingml/2006/main">
              <a:ext uri="{FF2B5EF4-FFF2-40B4-BE49-F238E27FC236}">
                <a16:creationId xmlns:a16="http://schemas.microsoft.com/office/drawing/2014/main" id="{1CBC24C6-79BF-48B0-A381-D6E3179A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Neither result is an individual prediction interval. Gate feature support, then confirm the optimized candidate in the non-surrogate truth model and report the discrepancy.</a:t>
            </a:r>
          </a:p>
        </p:txBody>
      </p:sp>
    </p:spTree>
    <p:extLst>
      <p:ext uri="{BB962C8B-B14F-4D97-AF65-F5344CB8AC3E}">
        <p14:creationId xmlns:p14="http://schemas.microsoft.com/office/powerpoint/2010/main" val="24149966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E5374219-08C0-4150-B753-1BBC0DB7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PROJECT 2 CROSS-REFERENCE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D559F4A-262C-4E56-9AB5-5BF5AEB4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Today's demo maps onto Project 2 Part IV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2F8EF-764D-4447-A218-D8552ED1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CFDF92B-8160-4D41-8899-6C88F584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FD787D1-EF18-4611-8579-D2B7B401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70D65-7412-4BF2-A216-E788BF96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3E7A6A97-900A-4150-8DFD-132C61B6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1457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Part IV requirement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9A9753-2286-4998-91CC-B55A3184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3837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6B62CD1C-68DF-4221-A290-96548747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1457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today's demo piece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375208-5ACF-44D6-9FAF-AC1D8690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371475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cell-0-0">
            <a:extLst xmlns:a="http://schemas.openxmlformats.org/drawingml/2006/main">
              <a:ext uri="{FF2B5EF4-FFF2-40B4-BE49-F238E27FC236}">
                <a16:creationId xmlns:a16="http://schemas.microsoft.com/office/drawing/2014/main" id="{F87DE8CE-62C6-460D-8905-FF499E04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348615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Fit a naive baseline and at least one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AA891-2183-4B1D-8D0D-7FDF31C3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71775"/>
            <a:ext cx="371475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1">
            <a:extLst xmlns:a="http://schemas.openxmlformats.org/drawingml/2006/main">
              <a:ext uri="{FF2B5EF4-FFF2-40B4-BE49-F238E27FC236}">
                <a16:creationId xmlns:a16="http://schemas.microsoft.com/office/drawing/2014/main" id="{36F0175A-89B5-41D1-9BEE-6686CDE0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47975"/>
            <a:ext cx="348615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Week 14: feature specification selected on validation/development CV; final test opened once after refit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B042D-2721-4795-971A-CFC9C6AB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7105"/>
            <a:ext cx="371475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1-0">
            <a:extLst xmlns:a="http://schemas.openxmlformats.org/drawingml/2006/main">
              <a:ext uri="{FF2B5EF4-FFF2-40B4-BE49-F238E27FC236}">
                <a16:creationId xmlns:a16="http://schemas.microsoft.com/office/drawing/2014/main" id="{4E0A0ADC-061C-4EE2-906E-83232615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3305"/>
            <a:ext cx="348615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Report the track-appropriate evaluation artifact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BA46C0-8D0A-440B-8A91-E99DEAD1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07105"/>
            <a:ext cx="371475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1-1">
            <a:extLst xmlns:a="http://schemas.openxmlformats.org/drawingml/2006/main">
              <a:ext uri="{FF2B5EF4-FFF2-40B4-BE49-F238E27FC236}">
                <a16:creationId xmlns:a16="http://schemas.microsoft.com/office/drawing/2014/main" id="{A445479B-A54C-4F56-8544-C2DD804E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83305"/>
            <a:ext cx="348615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Continuous track: MAE/RMSE/R² and a residual plot. Go/no-go track: a confusion matrix.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BF39DB-C297-458C-BF3A-1299AA50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2435"/>
            <a:ext cx="371475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2-0">
            <a:extLst xmlns:a="http://schemas.openxmlformats.org/drawingml/2006/main">
              <a:ext uri="{FF2B5EF4-FFF2-40B4-BE49-F238E27FC236}">
                <a16:creationId xmlns:a16="http://schemas.microsoft.com/office/drawing/2014/main" id="{F9BCA275-AB21-4442-A764-ADC43EEC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8635"/>
            <a:ext cx="348615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Produce a one-page model card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6ABF15-A914-4318-8135-AD194C36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42435"/>
            <a:ext cx="371475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2-1">
            <a:extLst xmlns:a="http://schemas.openxmlformats.org/drawingml/2006/main">
              <a:ext uri="{FF2B5EF4-FFF2-40B4-BE49-F238E27FC236}">
                <a16:creationId xmlns:a16="http://schemas.microsoft.com/office/drawing/2014/main" id="{55A12C9B-9A4D-421B-9FF0-D5DC63ED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18635"/>
            <a:ext cx="348615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Scope, split roles, final-test metrics, extrapolation limits, and uncertainty 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25620A-17C9-4F0E-8313-A63234D9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7765"/>
            <a:ext cx="371475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3-0">
            <a:extLst xmlns:a="http://schemas.openxmlformats.org/drawingml/2006/main">
              <a:ext uri="{FF2B5EF4-FFF2-40B4-BE49-F238E27FC236}">
                <a16:creationId xmlns:a16="http://schemas.microsoft.com/office/drawing/2014/main" id="{C80DC11B-2629-48BE-88D8-02076455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53965"/>
            <a:ext cx="348615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Use the fitted model as the objective or a constraint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D8A4B9-6EA6-41C9-AC5E-5D945ECD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977765"/>
            <a:ext cx="371475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3-1">
            <a:extLst xmlns:a="http://schemas.openxmlformats.org/drawingml/2006/main">
              <a:ext uri="{FF2B5EF4-FFF2-40B4-BE49-F238E27FC236}">
                <a16:creationId xmlns:a16="http://schemas.microsoft.com/office/drawing/2014/main" id="{F8A41FD7-CFBB-44D5-996F-8046DD55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053965"/>
            <a:ext cx="348615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Wrap the frozen model, optimize, then confirm the recommended design with a non-surrogate truth check</a:t>
            </a:r>
          </a:p>
        </p:txBody>
      </p:sp>
      <p:sp>
        <p:nvSpPr>
          <p:cNvPr id="26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BB1AEC62-B05C-4AA2-BA13-B570BE11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27" name="callout">
            <a:extLst xmlns:a="http://schemas.openxmlformats.org/drawingml/2006/main">
              <a:ext uri="{FF2B5EF4-FFF2-40B4-BE49-F238E27FC236}">
                <a16:creationId xmlns:a16="http://schemas.microsoft.com/office/drawing/2014/main" id="{8600915D-E7B7-4C63-83D2-84CAE8E7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Project 2 is complete only when the recommendation is checked outside the surrogate and the discrepancy is reported.</a:t>
            </a:r>
          </a:p>
        </p:txBody>
      </p:sp>
    </p:spTree>
    <p:extLst>
      <p:ext uri="{BB962C8B-B14F-4D97-AF65-F5344CB8AC3E}">
        <p14:creationId xmlns:p14="http://schemas.microsoft.com/office/powerpoint/2010/main" val="23340462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">
            <a:extLst xmlns:a="http://schemas.openxmlformats.org/drawingml/2006/main">
              <a:ext uri="{FF2B5EF4-FFF2-40B4-BE49-F238E27FC236}">
                <a16:creationId xmlns:a16="http://schemas.microsoft.com/office/drawing/2014/main" id="{4F7A7410-1763-401F-9FEB-4F69E5C9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21B1754-5722-43B2-9D37-F48021DD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Five-minute capstone reviews leave time for 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4B530-8E63-4B62-B841-ADD0A7D1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06E1162-3DC2-4125-AE35-36E4C34D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B97A5E9-B678-4D60-8B2F-F51653C5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8805AC80-850F-4B98-AE08-E17AD8DF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0675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E80C3268-9F0D-4B0C-A7DF-CE584547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8925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node-0">
            <a:extLst xmlns:a="http://schemas.openxmlformats.org/drawingml/2006/main">
              <a:ext uri="{FF2B5EF4-FFF2-40B4-BE49-F238E27FC236}">
                <a16:creationId xmlns:a16="http://schemas.microsoft.com/office/drawing/2014/main" id="{8CDD4C06-3E67-44CB-BC39-074BFEBB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416300" cy="4171950"/>
          </a:xfrm>
          <a:prstGeom xmlns:a="http://schemas.openxmlformats.org/drawingml/2006/main" prst="roundRect">
            <a:avLst>
              <a:gd name="adj" fmla="val 2788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9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3EC2500F-601E-4C86-AC64-417A4923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F8A2FCD4-C013-4845-A5E8-E62381F6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254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5D8E26-8592-4DF7-8EEB-F945A2E4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303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2" name="step-head-0">
            <a:extLst xmlns:a="http://schemas.openxmlformats.org/drawingml/2006/main">
              <a:ext uri="{FF2B5EF4-FFF2-40B4-BE49-F238E27FC236}">
                <a16:creationId xmlns:a16="http://schemas.microsoft.com/office/drawing/2014/main" id="{6721106D-F5A5-40A6-BE50-2A0EBF81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30353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4 minutes — decision brief</a:t>
            </a:r>
          </a:p>
        </p:txBody>
      </p:sp>
      <p:sp>
        <p:nvSpPr>
          <p:cNvPr id="13" name="step-body-0">
            <a:extLst xmlns:a="http://schemas.openxmlformats.org/drawingml/2006/main">
              <a:ext uri="{FF2B5EF4-FFF2-40B4-BE49-F238E27FC236}">
                <a16:creationId xmlns:a16="http://schemas.microsoft.com/office/drawing/2014/main" id="{72ABF6AA-4517-4200-8E45-AB2899E1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52622"/>
            <a:ext cx="3035300" cy="2395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State variables, objective/constraint, baseline, recommended design, uncertainty, and one bounded recommendation sentence.</a:t>
            </a:r>
          </a:p>
        </p:txBody>
      </p:sp>
      <p:sp>
        <p:nvSpPr>
          <p:cNvPr id="14" name="step-node-1">
            <a:extLst xmlns:a="http://schemas.openxmlformats.org/drawingml/2006/main">
              <a:ext uri="{FF2B5EF4-FFF2-40B4-BE49-F238E27FC236}">
                <a16:creationId xmlns:a16="http://schemas.microsoft.com/office/drawing/2014/main" id="{DE958124-3CE7-45B0-B8D2-66668B47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847850"/>
            <a:ext cx="3416300" cy="4171950"/>
          </a:xfrm>
          <a:prstGeom xmlns:a="http://schemas.openxmlformats.org/drawingml/2006/main" prst="roundRect">
            <a:avLst>
              <a:gd name="adj" fmla="val 2788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6BB631EC-EC8C-448C-9307-73EA8D23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89545F7B-1EB7-4A95-AB28-3E755CFB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650" y="2057400"/>
            <a:ext cx="254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TRACE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7AE481-4616-4990-940D-F8FD7AA9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476500"/>
            <a:ext cx="303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8" name="step-head-1">
            <a:extLst xmlns:a="http://schemas.openxmlformats.org/drawingml/2006/main">
              <a:ext uri="{FF2B5EF4-FFF2-40B4-BE49-F238E27FC236}">
                <a16:creationId xmlns:a16="http://schemas.microsoft.com/office/drawing/2014/main" id="{F02B1E3A-D7E2-4D54-8080-338AE86F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667000"/>
            <a:ext cx="30353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1 minute — evidence/code trace</a:t>
            </a:r>
          </a:p>
        </p:txBody>
      </p:sp>
      <p:sp>
        <p:nvSpPr>
          <p:cNvPr id="19" name="step-body-1">
            <a:extLst xmlns:a="http://schemas.openxmlformats.org/drawingml/2006/main">
              <a:ext uri="{FF2B5EF4-FFF2-40B4-BE49-F238E27FC236}">
                <a16:creationId xmlns:a16="http://schemas.microsoft.com/office/drawing/2014/main" id="{3E7022BC-0FD2-4452-B7F9-DFA7D4EA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3452622"/>
            <a:ext cx="3035300" cy="2395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Show one evaluation artifact and the exact wrapper that calls the model as objective or constraint. Hard cap: 5 minutes total.</a:t>
            </a:r>
          </a:p>
        </p:txBody>
      </p:sp>
      <p:sp>
        <p:nvSpPr>
          <p:cNvPr id="20" name="step-node-2">
            <a:extLst xmlns:a="http://schemas.openxmlformats.org/drawingml/2006/main">
              <a:ext uri="{FF2B5EF4-FFF2-40B4-BE49-F238E27FC236}">
                <a16:creationId xmlns:a16="http://schemas.microsoft.com/office/drawing/2014/main" id="{2DEABF37-6B82-45F3-92BC-6912F112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1847850"/>
            <a:ext cx="3416300" cy="4171950"/>
          </a:xfrm>
          <a:prstGeom xmlns:a="http://schemas.openxmlformats.org/drawingml/2006/main" prst="roundRect">
            <a:avLst>
              <a:gd name="adj" fmla="val 2788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62A8BB33-AF3D-4240-A857-A3E8E887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9FA8B9A4-DB06-41EE-9394-5CEC966D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900" y="2057400"/>
            <a:ext cx="254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C201C4-697D-4115-A951-C28E4D7F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2476500"/>
            <a:ext cx="303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4" name="step-head-2">
            <a:extLst xmlns:a="http://schemas.openxmlformats.org/drawingml/2006/main">
              <a:ext uri="{FF2B5EF4-FFF2-40B4-BE49-F238E27FC236}">
                <a16:creationId xmlns:a16="http://schemas.microsoft.com/office/drawing/2014/main" id="{4E8881B0-392C-437E-BA52-FCD73460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2667000"/>
            <a:ext cx="3035300" cy="92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15 minutes — selective source-deck synthesis</a:t>
            </a:r>
          </a:p>
        </p:txBody>
      </p:sp>
      <p:sp>
        <p:nvSpPr>
          <p:cNvPr id="25" name="step-body-2">
            <a:extLst xmlns:a="http://schemas.openxmlformats.org/drawingml/2006/main">
              <a:ext uri="{FF2B5EF4-FFF2-40B4-BE49-F238E27FC236}">
                <a16:creationId xmlns:a16="http://schemas.microsoft.com/office/drawing/2014/main" id="{7C7C45E0-404D-446D-BB3C-730ED7CF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3740658"/>
            <a:ext cx="3035300" cy="2107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Reconnect the strongest evidence patterns across the semester. If enrollment exceeds 12, use parallel gallery/code-review rounds before reconvening.</a:t>
            </a:r>
          </a:p>
        </p:txBody>
      </p:sp>
    </p:spTree>
    <p:extLst>
      <p:ext uri="{BB962C8B-B14F-4D97-AF65-F5344CB8AC3E}">
        <p14:creationId xmlns:p14="http://schemas.microsoft.com/office/powerpoint/2010/main" val="105364108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5F7B84B2-3170-4201-8C0E-010E740A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BEFORE YOU SUBMIT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63CE4F5-2DE0-4ACA-8FF5-344CB39F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Reproducibility and AI-use-record, one more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C2B7A-B4F5-4A0D-80B2-691708AB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9DB035-6E02-49C8-AEFB-FA4971D3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8731F77-D488-4F46-927C-E51ABB09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BAF4C-DE71-4E28-8E6E-FDBB4EA3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9742F939-187B-4840-BE79-B39B8B74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6697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458E9-2CA0-4EED-A34B-EB63B94E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9077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108AA0F5-4565-4655-9D1A-E5C99344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6697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requirement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924D12-043B-4458-8ECB-4100C153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3714750" cy="1318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cell-0-0">
            <a:extLst xmlns:a="http://schemas.openxmlformats.org/drawingml/2006/main">
              <a:ext uri="{FF2B5EF4-FFF2-40B4-BE49-F238E27FC236}">
                <a16:creationId xmlns:a16="http://schemas.microsoft.com/office/drawing/2014/main" id="{E7FECC5C-BF29-4E3B-B90B-5551613C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3486150" cy="1165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Reproducibility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2696F3-3226-4555-BDF5-3B97FC6E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24175"/>
            <a:ext cx="3714750" cy="1318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1">
            <a:extLst xmlns:a="http://schemas.openxmlformats.org/drawingml/2006/main">
              <a:ext uri="{FF2B5EF4-FFF2-40B4-BE49-F238E27FC236}">
                <a16:creationId xmlns:a16="http://schemas.microsoft.com/office/drawing/2014/main" id="{E3C34515-9C4A-441D-9CB9-2C489513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00375"/>
            <a:ext cx="3486150" cy="1165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random_state=42 on every split, a script that runs top to bottom after a kernel restart, and every reported number traceable to a printed cell output — the same standard as every prior week.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E5B1E1-5E87-4D5B-ABC9-6F0B22A1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2435"/>
            <a:ext cx="3714750" cy="1318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1-0">
            <a:extLst xmlns:a="http://schemas.openxmlformats.org/drawingml/2006/main">
              <a:ext uri="{FF2B5EF4-FFF2-40B4-BE49-F238E27FC236}">
                <a16:creationId xmlns:a16="http://schemas.microsoft.com/office/drawing/2014/main" id="{A199CFB7-7D94-4785-A878-A62C2FD9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8635"/>
            <a:ext cx="3486150" cy="1165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AI-use record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8DBB3D-0EF1-4768-8597-B67D3F10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42435"/>
            <a:ext cx="3714750" cy="1318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1-1">
            <a:extLst xmlns:a="http://schemas.openxmlformats.org/drawingml/2006/main">
              <a:ext uri="{FF2B5EF4-FFF2-40B4-BE49-F238E27FC236}">
                <a16:creationId xmlns:a16="http://schemas.microsoft.com/office/drawing/2014/main" id="{BEF47921-5E23-48C5-828F-66795C08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18635"/>
            <a:ext cx="3486150" cy="1165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Project 2's deliverable list requires a filled-in AI-use record: tool/model, prompt, what you accepted/modified/rejected, and one limitation you found — not a blank template.</a:t>
            </a:r>
          </a:p>
        </p:txBody>
      </p:sp>
      <p:sp>
        <p:nvSpPr>
          <p:cNvPr id="18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52ABAAF5-6B05-4B14-91DA-EA21A0A7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19" name="callout">
            <a:extLst xmlns:a="http://schemas.openxmlformats.org/drawingml/2006/main">
              <a:ext uri="{FF2B5EF4-FFF2-40B4-BE49-F238E27FC236}">
                <a16:creationId xmlns:a16="http://schemas.microsoft.com/office/drawing/2014/main" id="{D1134F14-CCBE-4FEC-9E0D-8640E761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same AI-use-record convention from Week 4 onward, restated one final time because it is due with today's submission.</a:t>
            </a:r>
          </a:p>
        </p:txBody>
      </p:sp>
    </p:spTree>
    <p:extLst>
      <p:ext uri="{BB962C8B-B14F-4D97-AF65-F5344CB8AC3E}">
        <p14:creationId xmlns:p14="http://schemas.microsoft.com/office/powerpoint/2010/main" val="193579327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B48B9F81-54BA-436F-8ACF-BD012B05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2026 PRACTICE HORIZON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3DB62D1-5849-4795-890D-B1A16816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surrogate proposal graduates through independent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780DE-9594-4AB4-B71E-2F31494A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174DB99-5934-4A46-8010-CA19340D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3E3A520-6C2E-43D5-9797-62C64981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1B94AFB3-0099-439B-A6CB-D5B4D4A0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D8F73CCE-4F35-42A4-B384-20963174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A1F65745-5B15-4777-8315-D5078390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DEB9C40C-6CE7-45DF-A620-11599AB8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6F9B5E71-B5F0-4B69-959C-88C1A98C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3499A89E-547E-4FFC-96E4-35EBFC5E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SCREEN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12DC3-9F05-4601-B8CF-F5786AE0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A12EA515-0937-4B3B-BC0A-9D673984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Surrogate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4EFB0235-30BC-4406-8F5B-EF33A239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Rank many supported candidates quickly and expose the model domain and uncertainty.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D23BF20A-42CC-4899-8A38-4A00CF6F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73F342F4-A0ED-40C7-9FBC-8392434F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4D2A6533-49ED-4574-ABFE-91829A1B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2246ED-E261-4D67-A18B-81F1BE0A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DB383642-2E70-4BCA-A9E5-86B9AC5B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Optimizer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B6B0CA28-A032-4D77-BDEE-EA3E6C31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Explore a bounded decision space with an explicit objective, constraints, budget, and seed.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6A48E22D-E13E-4F3E-BAD7-025DF888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2454C5C8-BAB9-455E-9894-8669D1F5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F2C93503-B16D-4815-93BD-A2524178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CONFIRM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23469C-6E1E-4500-B2A8-7A653878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9349E0F5-0D83-4137-A43E-B8EFC980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Truth model or measurement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4E6422FA-1641-4FB0-A3A6-AA16A30B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Re-run finalists in EnergyPlus, another domain simulator, measurement, or expert audit.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99C9F1B4-8548-4434-B80A-FF86AEB3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AB033DDC-C5B0-4138-B329-194B3F34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AD2A4C6E-B17C-433E-B972-F04BAF9B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BENCHMARK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E01256-3396-4A1A-A75E-D905375A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87D63C08-1EBD-4EAC-854E-807C0B86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Repeatable test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8C32731D-8457-4387-A799-5129642D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For controls, a framework such as BOPTEST supports comparable cases, KPIs, and baselines.</a:t>
            </a:r>
          </a:p>
        </p:txBody>
      </p:sp>
    </p:spTree>
    <p:extLst>
      <p:ext uri="{BB962C8B-B14F-4D97-AF65-F5344CB8AC3E}">
        <p14:creationId xmlns:p14="http://schemas.microsoft.com/office/powerpoint/2010/main" val="178505275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28FC9202-FDEA-4D9F-BA8E-9245A2FD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RESPONSIBLE DEPLOYMENT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743C0E4-A345-475A-B9D9-824EA49E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Risk management is a lifecycle—not a final disclaimer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6CFEA-7D14-47A2-8B67-C0845789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1225510-E7B7-41A6-8CA9-4CDD2B21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15 · Meeting A · Project 2 Capstone Clinic, Presentations, and Synthesis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EDC10AE-B747-444D-9737-F472092B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DC888A06-18F7-4CFB-A107-3C18B909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Govern + map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53AA17EF-367F-4241-97C4-13269200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7436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Name accountable people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Define intended use and refusal conditions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Map affected stakeholders and failure costs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Record data, model, solver, and AI provenance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5E459EEF-4920-4B87-8571-E2A03C28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09850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Measure + manage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3269DA8C-857B-4237-AE36-26F9CF32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07436"/>
            <a:ext cx="5219700" cy="1667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Test validity, calibration, feasibility, and robustness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Monitor drift and subgroup performance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Escalate exceptions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Retire or revise when evidence no longer supports use</a:t>
            </a:r>
          </a:p>
        </p:txBody>
      </p:sp>
    </p:spTree>
    <p:extLst>
      <p:ext uri="{BB962C8B-B14F-4D97-AF65-F5344CB8AC3E}">
        <p14:creationId xmlns:p14="http://schemas.microsoft.com/office/powerpoint/2010/main" val="127328810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week">
            <a:extLst xmlns:a="http://schemas.openxmlformats.org/drawingml/2006/main">
              <a:ext uri="{FF2B5EF4-FFF2-40B4-BE49-F238E27FC236}">
                <a16:creationId xmlns:a16="http://schemas.microsoft.com/office/drawing/2014/main" id="{193A1EA8-F2E1-47C0-BA80-776AD10F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WEEK 15 · MEETING A · PROJECT 2 CAPSTONE CLINIC, PRESENTATIONS, AND SYNTHESIS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123210AD-F4DE-491C-B7A9-B69F1FC2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loop closes: predict, optimize, decide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57237-22E6-485A-BCE3-8FD0AB6A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4" name="take-no-0">
            <a:extLst xmlns:a="http://schemas.openxmlformats.org/drawingml/2006/main">
              <a:ext uri="{FF2B5EF4-FFF2-40B4-BE49-F238E27FC236}">
                <a16:creationId xmlns:a16="http://schemas.microsoft.com/office/drawing/2014/main" id="{2585FEFA-D868-4174-B20E-24D0C3E3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ake-0">
            <a:extLst xmlns:a="http://schemas.openxmlformats.org/drawingml/2006/main">
              <a:ext uri="{FF2B5EF4-FFF2-40B4-BE49-F238E27FC236}">
                <a16:creationId xmlns:a16="http://schemas.microsoft.com/office/drawing/2014/main" id="{15FC5C6B-BDAA-4207-8A3D-E7805F43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05100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fitted model can become an optimizer's objective or a modeled constraint.</a:t>
            </a:r>
          </a:p>
        </p:txBody>
      </p:sp>
      <p:sp>
        <p:nvSpPr>
          <p:cNvPr id="6" name="take-no-1">
            <a:extLst xmlns:a="http://schemas.openxmlformats.org/drawingml/2006/main">
              <a:ext uri="{FF2B5EF4-FFF2-40B4-BE49-F238E27FC236}">
                <a16:creationId xmlns:a16="http://schemas.microsoft.com/office/drawing/2014/main" id="{BA98EB13-B853-4E3A-921B-2EF8CCCD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8822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ake-1">
            <a:extLst xmlns:a="http://schemas.openxmlformats.org/drawingml/2006/main">
              <a:ext uri="{FF2B5EF4-FFF2-40B4-BE49-F238E27FC236}">
                <a16:creationId xmlns:a16="http://schemas.microsoft.com/office/drawing/2014/main" id="{3430031A-D1B5-48FB-9225-960F8AE1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90722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wrapper function connects .predict() or .predict_proba() to the search.</a:t>
            </a:r>
          </a:p>
        </p:txBody>
      </p:sp>
      <p:sp>
        <p:nvSpPr>
          <p:cNvPr id="8" name="take-no-2">
            <a:extLst xmlns:a="http://schemas.openxmlformats.org/drawingml/2006/main">
              <a:ext uri="{FF2B5EF4-FFF2-40B4-BE49-F238E27FC236}">
                <a16:creationId xmlns:a16="http://schemas.microsoft.com/office/drawing/2014/main" id="{7DF22E0B-671A-40F3-AB81-39E63000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444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take-2">
            <a:extLst xmlns:a="http://schemas.openxmlformats.org/drawingml/2006/main">
              <a:ext uri="{FF2B5EF4-FFF2-40B4-BE49-F238E27FC236}">
                <a16:creationId xmlns:a16="http://schemas.microsoft.com/office/drawing/2014/main" id="{DC051024-71EE-481C-B399-FF22042D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76344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linear surrogate has no local trap; that is a property of this model, not a general guarantee.</a:t>
            </a:r>
          </a:p>
        </p:txBody>
      </p:sp>
      <p:sp>
        <p:nvSpPr>
          <p:cNvPr id="10" name="take-no-3">
            <a:extLst xmlns:a="http://schemas.openxmlformats.org/drawingml/2006/main">
              <a:ext uri="{FF2B5EF4-FFF2-40B4-BE49-F238E27FC236}">
                <a16:creationId xmlns:a16="http://schemas.microsoft.com/office/drawing/2014/main" id="{B48BC473-1477-48A5-A561-12E1A0DF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0066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take-3">
            <a:extLst xmlns:a="http://schemas.openxmlformats.org/drawingml/2006/main">
              <a:ext uri="{FF2B5EF4-FFF2-40B4-BE49-F238E27FC236}">
                <a16:creationId xmlns:a16="http://schemas.microsoft.com/office/drawing/2014/main" id="{FDAF9D97-8907-4818-A958-FBDF16BF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61966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 limits and calibrated intervals when available; confirm the candidate with the non-surrogate truth model.</a:t>
            </a:r>
          </a:p>
        </p:txBody>
      </p:sp>
    </p:spTree>
    <p:extLst>
      <p:ext uri="{BB962C8B-B14F-4D97-AF65-F5344CB8AC3E}">
        <p14:creationId xmlns:p14="http://schemas.microsoft.com/office/powerpoint/2010/main" val="5972769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2026-08-20T17:36:53.5080000Z</dcterms:created>
  <dcterms:modified xsi:type="dcterms:W3CDTF">2026-08-20T17:36:53.5080000Z</dcterms:modified>
</coreProperties>
</file>