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9395c0a1244986" /><Relationship Type="http://schemas.openxmlformats.org/officeDocument/2006/relationships/extended-properties" Target="/docProps/app.xml" Id="R07ec26dec5d345f2" /><Relationship Type="http://schemas.openxmlformats.org/officeDocument/2006/relationships/officeDocument" Target="/ppt/presentation.xml" Id="R82effeeb46a046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c84b4783334219"/>
  </p:sldMasterIdLst>
  <p:notesMasterIdLst>
    <p:notesMasterId xmlns:r="http://schemas.openxmlformats.org/officeDocument/2006/relationships" r:id="Rb739762c91214829"/>
  </p:notesMasterIdLst>
  <p:sldIdLst>
    <p:sldId xmlns:r="http://schemas.openxmlformats.org/officeDocument/2006/relationships" id="256" r:id="R531dabb6aa9e4239"/>
    <p:sldId xmlns:r="http://schemas.openxmlformats.org/officeDocument/2006/relationships" id="257" r:id="R633933a8627d4fe0"/>
    <p:sldId xmlns:r="http://schemas.openxmlformats.org/officeDocument/2006/relationships" id="258" r:id="Rc8884e33a9654771"/>
    <p:sldId xmlns:r="http://schemas.openxmlformats.org/officeDocument/2006/relationships" id="259" r:id="Rbbdce34eed534be2"/>
    <p:sldId xmlns:r="http://schemas.openxmlformats.org/officeDocument/2006/relationships" id="260" r:id="R930efbbe93ae4831"/>
    <p:sldId xmlns:r="http://schemas.openxmlformats.org/officeDocument/2006/relationships" id="261" r:id="Rf629d4f0aaa9438a"/>
    <p:sldId xmlns:r="http://schemas.openxmlformats.org/officeDocument/2006/relationships" id="262" r:id="R5e2d81bdf74a4cc6"/>
    <p:sldId xmlns:r="http://schemas.openxmlformats.org/officeDocument/2006/relationships" id="263" r:id="Ree5033dd1d944eb8"/>
    <p:sldId xmlns:r="http://schemas.openxmlformats.org/officeDocument/2006/relationships" id="264" r:id="R4485cd70f0b94485"/>
    <p:sldId xmlns:r="http://schemas.openxmlformats.org/officeDocument/2006/relationships" id="265" r:id="R325bd9204ae94a0f"/>
    <p:sldId xmlns:r="http://schemas.openxmlformats.org/officeDocument/2006/relationships" id="266" r:id="R545d79a0606845dc"/>
    <p:sldId xmlns:r="http://schemas.openxmlformats.org/officeDocument/2006/relationships" id="267" r:id="R28521c297cb54f06"/>
    <p:sldId xmlns:r="http://schemas.openxmlformats.org/officeDocument/2006/relationships" id="268" r:id="Ra0dce98223814487"/>
    <p:sldId xmlns:r="http://schemas.openxmlformats.org/officeDocument/2006/relationships" id="269" r:id="R744f208685cc4c16"/>
    <p:sldId xmlns:r="http://schemas.openxmlformats.org/officeDocument/2006/relationships" id="270" r:id="R38fc8a4b4bfa4cf9"/>
    <p:sldId xmlns:r="http://schemas.openxmlformats.org/officeDocument/2006/relationships" id="271" r:id="R950283e89d474d8b"/>
    <p:sldId xmlns:r="http://schemas.openxmlformats.org/officeDocument/2006/relationships" id="272" r:id="R3db61ea6a52c49de"/>
    <p:sldId xmlns:r="http://schemas.openxmlformats.org/officeDocument/2006/relationships" id="273" r:id="R069508f79d4449e6"/>
    <p:sldId xmlns:r="http://schemas.openxmlformats.org/officeDocument/2006/relationships" id="274" r:id="R12a1783901e14f9c"/>
    <p:sldId xmlns:r="http://schemas.openxmlformats.org/officeDocument/2006/relationships" id="275" r:id="Re30b71dab441474d"/>
    <p:sldId xmlns:r="http://schemas.openxmlformats.org/officeDocument/2006/relationships" id="276" r:id="R9592393de5eb402e"/>
    <p:sldId xmlns:r="http://schemas.openxmlformats.org/officeDocument/2006/relationships" id="277" r:id="Rac504eb11a5d40f8"/>
    <p:sldId xmlns:r="http://schemas.openxmlformats.org/officeDocument/2006/relationships" id="278" r:id="R1555fff5640d457a"/>
    <p:sldId xmlns:r="http://schemas.openxmlformats.org/officeDocument/2006/relationships" id="279" r:id="R10982ce56aac44b3"/>
    <p:sldId xmlns:r="http://schemas.openxmlformats.org/officeDocument/2006/relationships" id="280" r:id="R5afd391969974272"/>
    <p:sldId xmlns:r="http://schemas.openxmlformats.org/officeDocument/2006/relationships" id="281" r:id="R1a6746c12d98461e"/>
    <p:sldId xmlns:r="http://schemas.openxmlformats.org/officeDocument/2006/relationships" id="282" r:id="R1609b924bdc44719"/>
    <p:sldId xmlns:r="http://schemas.openxmlformats.org/officeDocument/2006/relationships" id="283" r:id="R4c155642dd9e4048"/>
    <p:sldId xmlns:r="http://schemas.openxmlformats.org/officeDocument/2006/relationships" id="284" r:id="R02fed91dff6d4572"/>
    <p:sldId xmlns:r="http://schemas.openxmlformats.org/officeDocument/2006/relationships" id="285" r:id="Rfdff80d610af476a"/>
    <p:sldId xmlns:r="http://schemas.openxmlformats.org/officeDocument/2006/relationships" id="286" r:id="R0e9ab33384a24b08"/>
    <p:sldId xmlns:r="http://schemas.openxmlformats.org/officeDocument/2006/relationships" id="287" r:id="R7b2e462366f34e04"/>
    <p:sldId xmlns:r="http://schemas.openxmlformats.org/officeDocument/2006/relationships" id="288" r:id="R9c398a42cefd4c4e"/>
    <p:sldId xmlns:r="http://schemas.openxmlformats.org/officeDocument/2006/relationships" id="289" r:id="R6905bc57c7034030"/>
    <p:sldId xmlns:r="http://schemas.openxmlformats.org/officeDocument/2006/relationships" id="290" r:id="R8051c0a1379e414c"/>
    <p:sldId xmlns:r="http://schemas.openxmlformats.org/officeDocument/2006/relationships" id="291" r:id="R7a517235dd7c4d50"/>
    <p:sldId xmlns:r="http://schemas.openxmlformats.org/officeDocument/2006/relationships" id="292" r:id="R0c92ed9e5c4a4791"/>
    <p:sldId xmlns:r="http://schemas.openxmlformats.org/officeDocument/2006/relationships" id="293" r:id="R977c3cd8317b47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f508ab8b924cf5" /><Relationship Type="http://schemas.openxmlformats.org/officeDocument/2006/relationships/slideMaster" Target="/ppt/slideMasters/slideMaster1.xml" Id="R0fc84b4783334219" /><Relationship Type="http://schemas.openxmlformats.org/officeDocument/2006/relationships/notesMaster" Target="/ppt/notesMasters/notesMaster1.xml" Id="Rb739762c91214829" /><Relationship Type="http://schemas.openxmlformats.org/officeDocument/2006/relationships/presProps" Target="/ppt/presProps.xml" Id="R6780eac825344749" /><Relationship Type="http://schemas.openxmlformats.org/officeDocument/2006/relationships/tableStyles" Target="/ppt/tableStyles.xml" Id="R341605a637534c5c" /><Relationship Type="http://schemas.openxmlformats.org/officeDocument/2006/relationships/slide" Target="/ppt/slides/slide1.xml" Id="R531dabb6aa9e4239" /><Relationship Type="http://schemas.openxmlformats.org/officeDocument/2006/relationships/slide" Target="/ppt/slides/slide2.xml" Id="R633933a8627d4fe0" /><Relationship Type="http://schemas.openxmlformats.org/officeDocument/2006/relationships/slide" Target="/ppt/slides/slide3.xml" Id="Rc8884e33a9654771" /><Relationship Type="http://schemas.openxmlformats.org/officeDocument/2006/relationships/slide" Target="/ppt/slides/slide4.xml" Id="Rbbdce34eed534be2" /><Relationship Type="http://schemas.openxmlformats.org/officeDocument/2006/relationships/slide" Target="/ppt/slides/slide5.xml" Id="R930efbbe93ae4831" /><Relationship Type="http://schemas.openxmlformats.org/officeDocument/2006/relationships/slide" Target="/ppt/slides/slide6.xml" Id="Rf629d4f0aaa9438a" /><Relationship Type="http://schemas.openxmlformats.org/officeDocument/2006/relationships/slide" Target="/ppt/slides/slide7.xml" Id="R5e2d81bdf74a4cc6" /><Relationship Type="http://schemas.openxmlformats.org/officeDocument/2006/relationships/slide" Target="/ppt/slides/slide8.xml" Id="Ree5033dd1d944eb8" /><Relationship Type="http://schemas.openxmlformats.org/officeDocument/2006/relationships/slide" Target="/ppt/slides/slide9.xml" Id="R4485cd70f0b94485" /><Relationship Type="http://schemas.openxmlformats.org/officeDocument/2006/relationships/slide" Target="/ppt/slides/slide10.xml" Id="R325bd9204ae94a0f" /><Relationship Type="http://schemas.openxmlformats.org/officeDocument/2006/relationships/slide" Target="/ppt/slides/slide11.xml" Id="R545d79a0606845dc" /><Relationship Type="http://schemas.openxmlformats.org/officeDocument/2006/relationships/slide" Target="/ppt/slides/slide12.xml" Id="R28521c297cb54f06" /><Relationship Type="http://schemas.openxmlformats.org/officeDocument/2006/relationships/slide" Target="/ppt/slides/slide13.xml" Id="Ra0dce98223814487" /><Relationship Type="http://schemas.openxmlformats.org/officeDocument/2006/relationships/slide" Target="/ppt/slides/slide14.xml" Id="R744f208685cc4c16" /><Relationship Type="http://schemas.openxmlformats.org/officeDocument/2006/relationships/slide" Target="/ppt/slides/slide15.xml" Id="R38fc8a4b4bfa4cf9" /><Relationship Type="http://schemas.openxmlformats.org/officeDocument/2006/relationships/slide" Target="/ppt/slides/slide16.xml" Id="R950283e89d474d8b" /><Relationship Type="http://schemas.openxmlformats.org/officeDocument/2006/relationships/slide" Target="/ppt/slides/slide17.xml" Id="R3db61ea6a52c49de" /><Relationship Type="http://schemas.openxmlformats.org/officeDocument/2006/relationships/slide" Target="/ppt/slides/slide18.xml" Id="R069508f79d4449e6" /><Relationship Type="http://schemas.openxmlformats.org/officeDocument/2006/relationships/slide" Target="/ppt/slides/slide19.xml" Id="R12a1783901e14f9c" /><Relationship Type="http://schemas.openxmlformats.org/officeDocument/2006/relationships/slide" Target="/ppt/slides/slide20.xml" Id="Re30b71dab441474d" /><Relationship Type="http://schemas.openxmlformats.org/officeDocument/2006/relationships/slide" Target="/ppt/slides/slide21.xml" Id="R9592393de5eb402e" /><Relationship Type="http://schemas.openxmlformats.org/officeDocument/2006/relationships/slide" Target="/ppt/slides/slide22.xml" Id="Rac504eb11a5d40f8" /><Relationship Type="http://schemas.openxmlformats.org/officeDocument/2006/relationships/slide" Target="/ppt/slides/slide23.xml" Id="R1555fff5640d457a" /><Relationship Type="http://schemas.openxmlformats.org/officeDocument/2006/relationships/slide" Target="/ppt/slides/slide24.xml" Id="R10982ce56aac44b3" /><Relationship Type="http://schemas.openxmlformats.org/officeDocument/2006/relationships/slide" Target="/ppt/slides/slide25.xml" Id="R5afd391969974272" /><Relationship Type="http://schemas.openxmlformats.org/officeDocument/2006/relationships/slide" Target="/ppt/slides/slide26.xml" Id="R1a6746c12d98461e" /><Relationship Type="http://schemas.openxmlformats.org/officeDocument/2006/relationships/slide" Target="/ppt/slides/slide27.xml" Id="R1609b924bdc44719" /><Relationship Type="http://schemas.openxmlformats.org/officeDocument/2006/relationships/slide" Target="/ppt/slides/slide28.xml" Id="R4c155642dd9e4048" /><Relationship Type="http://schemas.openxmlformats.org/officeDocument/2006/relationships/slide" Target="/ppt/slides/slide29.xml" Id="R02fed91dff6d4572" /><Relationship Type="http://schemas.openxmlformats.org/officeDocument/2006/relationships/slide" Target="/ppt/slides/slide30.xml" Id="Rfdff80d610af476a" /><Relationship Type="http://schemas.openxmlformats.org/officeDocument/2006/relationships/slide" Target="/ppt/slides/slide31.xml" Id="R0e9ab33384a24b08" /><Relationship Type="http://schemas.openxmlformats.org/officeDocument/2006/relationships/slide" Target="/ppt/slides/slide32.xml" Id="R7b2e462366f34e04" /><Relationship Type="http://schemas.openxmlformats.org/officeDocument/2006/relationships/slide" Target="/ppt/slides/slide33.xml" Id="R9c398a42cefd4c4e" /><Relationship Type="http://schemas.openxmlformats.org/officeDocument/2006/relationships/slide" Target="/ppt/slides/slide34.xml" Id="R6905bc57c7034030" /><Relationship Type="http://schemas.openxmlformats.org/officeDocument/2006/relationships/slide" Target="/ppt/slides/slide35.xml" Id="R8051c0a1379e414c" /><Relationship Type="http://schemas.openxmlformats.org/officeDocument/2006/relationships/slide" Target="/ppt/slides/slide36.xml" Id="R7a517235dd7c4d50" /><Relationship Type="http://schemas.openxmlformats.org/officeDocument/2006/relationships/slide" Target="/ppt/slides/slide37.xml" Id="R0c92ed9e5c4a4791" /><Relationship Type="http://schemas.openxmlformats.org/officeDocument/2006/relationships/slide" Target="/ppt/slides/slide38.xml" Id="R977c3cd8317b47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aca5f67d044e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fdab6faed34a36" /><Relationship Type="http://schemas.openxmlformats.org/officeDocument/2006/relationships/notesMaster" Target="/ppt/notesMasters/notesMaster1.xml" Id="R857b517a9e654f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a47c00e8aa460c" /><Relationship Type="http://schemas.openxmlformats.org/officeDocument/2006/relationships/notesMaster" Target="/ppt/notesMasters/notesMaster1.xml" Id="R31caf71c75af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7e2794881f4a8c" /><Relationship Type="http://schemas.openxmlformats.org/officeDocument/2006/relationships/notesMaster" Target="/ppt/notesMasters/notesMaster1.xml" Id="R22853769c2f74f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faf5b61d804a6d" /><Relationship Type="http://schemas.openxmlformats.org/officeDocument/2006/relationships/notesMaster" Target="/ppt/notesMasters/notesMaster1.xml" Id="R9a1fd8707dc34a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dd12f6dcfb493c" /><Relationship Type="http://schemas.openxmlformats.org/officeDocument/2006/relationships/notesMaster" Target="/ppt/notesMasters/notesMaster1.xml" Id="Refc820c51faa4f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793d2c48264907" /><Relationship Type="http://schemas.openxmlformats.org/officeDocument/2006/relationships/notesMaster" Target="/ppt/notesMasters/notesMaster1.xml" Id="R5415624c61104d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01d4e77b9845b2" /><Relationship Type="http://schemas.openxmlformats.org/officeDocument/2006/relationships/notesMaster" Target="/ppt/notesMasters/notesMaster1.xml" Id="Ra7af438fc0a446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8c54bea04e40c4" /><Relationship Type="http://schemas.openxmlformats.org/officeDocument/2006/relationships/notesMaster" Target="/ppt/notesMasters/notesMaster1.xml" Id="Re4db787e927942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f555f666b04143" /><Relationship Type="http://schemas.openxmlformats.org/officeDocument/2006/relationships/notesMaster" Target="/ppt/notesMasters/notesMaster1.xml" Id="Rbb9135d2acec4d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6ba46feff34a3a" /><Relationship Type="http://schemas.openxmlformats.org/officeDocument/2006/relationships/notesMaster" Target="/ppt/notesMasters/notesMaster1.xml" Id="R7c16b7fe15a547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7f1c34707c4c0d" /><Relationship Type="http://schemas.openxmlformats.org/officeDocument/2006/relationships/notesMaster" Target="/ppt/notesMasters/notesMaster1.xml" Id="R53b2761138c045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5be77466234cc7" /><Relationship Type="http://schemas.openxmlformats.org/officeDocument/2006/relationships/notesMaster" Target="/ppt/notesMasters/notesMaster1.xml" Id="R566a06da0f6f4a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67c81f76844087" /><Relationship Type="http://schemas.openxmlformats.org/officeDocument/2006/relationships/notesMaster" Target="/ppt/notesMasters/notesMaster1.xml" Id="Rb28e7cb7427546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848c2ce0dd47bc" /><Relationship Type="http://schemas.openxmlformats.org/officeDocument/2006/relationships/notesMaster" Target="/ppt/notesMasters/notesMaster1.xml" Id="R214ae208efa148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1254070da74828" /><Relationship Type="http://schemas.openxmlformats.org/officeDocument/2006/relationships/notesMaster" Target="/ppt/notesMasters/notesMaster1.xml" Id="R26be5fed2a794d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4b6cb073004f31" /><Relationship Type="http://schemas.openxmlformats.org/officeDocument/2006/relationships/notesMaster" Target="/ppt/notesMasters/notesMaster1.xml" Id="R844f548122f64f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6fac245f7c458f" /><Relationship Type="http://schemas.openxmlformats.org/officeDocument/2006/relationships/notesMaster" Target="/ppt/notesMasters/notesMaster1.xml" Id="Ra9850b1df71d47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cd63059c6f4b04" /><Relationship Type="http://schemas.openxmlformats.org/officeDocument/2006/relationships/notesMaster" Target="/ppt/notesMasters/notesMaster1.xml" Id="R7c506d104986424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89a0947e274ed3" /><Relationship Type="http://schemas.openxmlformats.org/officeDocument/2006/relationships/notesMaster" Target="/ppt/notesMasters/notesMaster1.xml" Id="R28e3e2905bf74c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5e2a37cf4764dde" /><Relationship Type="http://schemas.openxmlformats.org/officeDocument/2006/relationships/notesMaster" Target="/ppt/notesMasters/notesMaster1.xml" Id="R1da63bb1b6ac480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1b2df155c04948" /><Relationship Type="http://schemas.openxmlformats.org/officeDocument/2006/relationships/notesMaster" Target="/ppt/notesMasters/notesMaster1.xml" Id="R653ead7d522f454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5f958c7366d4072" /><Relationship Type="http://schemas.openxmlformats.org/officeDocument/2006/relationships/notesMaster" Target="/ppt/notesMasters/notesMaster1.xml" Id="R46c879ce055c4a4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57a7d5487642fd" /><Relationship Type="http://schemas.openxmlformats.org/officeDocument/2006/relationships/notesMaster" Target="/ppt/notesMasters/notesMaster1.xml" Id="R89d606b6e3ca41f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16ad670c154113" /><Relationship Type="http://schemas.openxmlformats.org/officeDocument/2006/relationships/notesMaster" Target="/ppt/notesMasters/notesMaster1.xml" Id="Rf693ab7f4c3941d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5c44e67ad634019" /><Relationship Type="http://schemas.openxmlformats.org/officeDocument/2006/relationships/notesMaster" Target="/ppt/notesMasters/notesMaster1.xml" Id="R66c8c2657c2342f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aec9589d1fb479a" /><Relationship Type="http://schemas.openxmlformats.org/officeDocument/2006/relationships/notesMaster" Target="/ppt/notesMasters/notesMaster1.xml" Id="R0159d34a1ce34a3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ea4b459dd914697" /><Relationship Type="http://schemas.openxmlformats.org/officeDocument/2006/relationships/notesMaster" Target="/ppt/notesMasters/notesMaster1.xml" Id="Re6b9934f797246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1902a72bf9e468a" /><Relationship Type="http://schemas.openxmlformats.org/officeDocument/2006/relationships/notesMaster" Target="/ppt/notesMasters/notesMaster1.xml" Id="R49224959a5aa4e0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dbfa59a049b4e1a" /><Relationship Type="http://schemas.openxmlformats.org/officeDocument/2006/relationships/notesMaster" Target="/ppt/notesMasters/notesMaster1.xml" Id="R48571bd521b6484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233710a7b2246a0" /><Relationship Type="http://schemas.openxmlformats.org/officeDocument/2006/relationships/notesMaster" Target="/ppt/notesMasters/notesMaster1.xml" Id="R3e4d6f310f77432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828b410acdc45a3" /><Relationship Type="http://schemas.openxmlformats.org/officeDocument/2006/relationships/notesMaster" Target="/ppt/notesMasters/notesMaster1.xml" Id="Rc6a960bc202f4b1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8d3dbd7ed67438b" /><Relationship Type="http://schemas.openxmlformats.org/officeDocument/2006/relationships/notesMaster" Target="/ppt/notesMasters/notesMaster1.xml" Id="Rb53d223ebcee4be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53f5da5ddc74709" /><Relationship Type="http://schemas.openxmlformats.org/officeDocument/2006/relationships/notesMaster" Target="/ppt/notesMasters/notesMaster1.xml" Id="R675ddad5212645b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0199367476b483a" /><Relationship Type="http://schemas.openxmlformats.org/officeDocument/2006/relationships/notesMaster" Target="/ppt/notesMasters/notesMaster1.xml" Id="Rda262bf288cd45f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b834df13cb14175" /><Relationship Type="http://schemas.openxmlformats.org/officeDocument/2006/relationships/notesMaster" Target="/ppt/notesMasters/notesMaster1.xml" Id="Rb06f0982cb664d3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6cda4f899ff4603" /><Relationship Type="http://schemas.openxmlformats.org/officeDocument/2006/relationships/notesMaster" Target="/ppt/notesMasters/notesMaster1.xml" Id="R79d7a452949740f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fa86099f3454e2e" /><Relationship Type="http://schemas.openxmlformats.org/officeDocument/2006/relationships/notesMaster" Target="/ppt/notesMasters/notesMaster1.xml" Id="Rab800880a0ab415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11f9f34322b4c80" /><Relationship Type="http://schemas.openxmlformats.org/officeDocument/2006/relationships/notesMaster" Target="/ppt/notesMasters/notesMaster1.xml" Id="R6ad4de83319844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Open by naming today's fork: Week 13 asked 'how far off is the number?' (regression). Today asks a different question: 'go or no-go?' Same 140-row Radley Hall portfolio, same fitted-model idea, but the target is now a decision, not a quantity. Preview that Meeting B splits into two tracks — go/no-go classification (Track A) or continued regression refinement (Track B) — but today's theory applies to both.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the plan's explicit ask: teach the REASONING behind a threshold choice, not just the arithmetic. Return to this exact sentence after the threshold-sweep table later in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https://scikit-learn.org/stable/modules/generated/sklearn.linear_model.LogisticRegression.html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All four map directly onto Meeting B's Track A studio deliverable (confusion matrix + model card) and onto Project 2 Part IV's go/no-go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Tell students Track A and Track B split next class, but everything today applies to both — Track B's model card and cross-validated R² range use the exact same vocabulary as Track A's confusion matrix and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Emphasize this is not a new dataset: same wwr/shade_m/glazing_shgc/compactness columns as Week 13, only the target and the model type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https://scikit-learn.org/stable/modules/generated/sklearn.linear_model.LogisticRegression.html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Stress the two-step structure — probability, then threshold — early; every later slide (confusion matrix, threshold sweep) depends on students holding onto this distinction.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https://scikit-learn.org/stable/modules/generated/sklearn.linear_model.LogisticRegression.html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stratify=y keeps roughly the same 92/48 proportion in both the train and test slices — worth naming as a keyword argument students haven't seen before, one line, no deep dive.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https://scikit-learn.org/stable/modules/generated/sklearn.model_selection.train_test_split.html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students name what may be decided at each stage. The final test measures the frozen pipeline; it is not another tuning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https://scikit-learn.org/stable/modules/generated/sklearn.linear_model.LogisticRegression.html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Ask students to name the role of each partition before fitting the classifier.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https://scikit-learn.org/stable/modules/generated/sklearn.linear_model.LogisticRegression.html</a:t>
            </a:r>
          </a:p>
          <a:p xmlns:a="http://schemas.openxmlformats.org/drawingml/2006/main">
            <a:r>
              <a:t>- https://scikit-learn.org/stable/modules/generated/sklearn.model_selection.train_test_split.html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Point to 84/28/28 and ask which partition may influence the threshold: validation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https://scikit-learn.org/stable/modules/generated/sklearn.linear_model.LogisticRegression.html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Set up the anatomy and predict slides that follow: students should be able to name all four cells before seeing a single real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https://scikit-learn.org/stable/modules/generated/sklearn.metrics.confusion_matrix.html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Name this as validation evidence. The untouched final test is still sealed and appears only after the threshold is frozen.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https://scikit-learn.org/stable/modules/generated/sklearn.metrics.confusion_matrix.html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Call this a validation result every time. The final test is still sealed.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https://scikit-learn.org/stable/modules/generated/sklearn.metrics.confusion_matrix.html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confirms the predict slide's TP=6 answer. Read the validation table aloud: 18 true negatives, 6 true positives, 1 false positive, and 3 false negatives. The final test remains sealed.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https://scikit-learn.org/stable/modules/generated/sklearn.metrics.confusion_matrix.html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to the validation matrix while naming each cell and consequence. These counts support threshold selection; they are not final-test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https://scikit-learn.org/stable/modules/generated/sklearn.metrics.confusion_matrix.html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Say the plain-English question out loud every time a metric is introduced — students retain 'when it says X, can I trust it' far better than the raw formula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Translate 0.667 back into 6 caught and 3 missed; the count makes the consequence legible.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the pivot into F1 (next slide) and the threshold-sweep table — make sure students can state the trade-off in their own words before either 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F1 summarizes a balance but does not encode the FPR≤10% operational rule. Keep metric and policy reasoning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that 0.4 has attractive recall but narrowly fails the declared FPR limit; 0.5 is the qualifying threshold with the highest recall.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redo the arithmetic from 18/1/3/6 before using metric functions.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Use 0.3–0.7 as a candidate grid, not a recommendation. The predeclared FPR/recall rule on the next slide selects 0.5; the guard only makes the 0.7 edge case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https://scikit-learn.org/stable/modules/generated/sklearn.metrics.confusion_matrix.html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Verify all five validation rows, apply the predeclared FPR rule, freeze 0.5, and only then proceed to final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https://scikit-learn.org/stable/modules/generated/sklearn.linear_model.LogisticRegression.html</a:t>
            </a:r>
          </a:p>
          <a:p xmlns:a="http://schemas.openxmlformats.org/drawingml/2006/main">
            <a:r>
              <a:t>- https://scikit-learn.org/stable/modules/generated/sklearn.metrics.confusion_matrix.html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the term the rest of the deck's threshold-sweep table and consequences argument both depend on — do not let 'threshold' and 'coefficient' blur together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Let students commit to a letter first — many pick 1.000, reasoning 'zero false positives' without checking that zero true positives also means zero credit.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Walk the table left to right: as threshold rises, FP falls toward 0 and precision rises toward 1.0, while FN rises and recall collapses toward 0. At 0.7, precision and recall both hit 0.000 — confirming the predict slide's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Ask students to defend the rule before showing which threshold wins. Selection must use validation data, not the final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Say explicitly: the chosen value happens to equal the default, but the reasoning is not 'because 0.5 is the default.'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Name the core question explicitly: 'does this hold up on data it hasn't seen' — that phrase is the entire point of this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https://scikit-learn.org/stable/modules/cross_validation.html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Label this as development-only default-threshold accuracy variability. It neither selects the threshold nor produces a confidence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https://scikit-learn.org/stable/modules/cross_validation.html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Read the performance drop without softening it. Once the final test is opened, its result is reported—not used to retune.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https://scikit-learn.org/stable/modules/cross_validation.html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Frame the model card as the professional artifact of this session: everything before this slide becomes an entry on this one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a real, filled-in model card, not a blank template — walk it row by row and ask students what would change if THEIR Project 2 dataset and threshold were substituted 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notes: Correct answers: precision=9/11=0.818, recall=9/13=0.692, F1=2(0.818)(0.692)/(0.818+0.692)=0.750. FN=4 is larger than FP=2, so this model actually leans toward MISSING compliant designs (false negatives) — the opposite pattern from today's Radley Hall model at threshold 0.5, a deliberate contrast, not a repeat.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Correct direction: lower the threshold to prioritize recall in this opposite-risk scenario. Choose the actual value on validation data, then reserve a final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Optional horizon slide. Calibration, discrimination, threshold policy, and uncertainty answer different questions. None authorizes threshold selection on the final test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https://scikit-learn.org/stable/modules/calibration.html</a:t>
            </a:r>
          </a:p>
          <a:p xmlns:a="http://schemas.openxmlformats.org/drawingml/2006/main">
            <a:r>
              <a:t>- https://scikit-learn.org/stable/auto_examples/model_selection/plot_tuned_decision_threshold.html</a:t>
            </a:r>
          </a:p>
          <a:p xmlns:a="http://schemas.openxmlformats.org/drawingml/2006/main">
            <a:r>
              <a:t>- https://arxiv.org/abs/2107.07511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pairs diagnose one overclaim in the right column. Explicitly connect the RMSE row to Week 15: plus/minus RMSE is not a prediction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https://scikit-learn.org/stable/modules/calibration.html</a:t>
            </a:r>
          </a:p>
          <a:p xmlns:a="http://schemas.openxmlformats.org/drawingml/2006/main">
            <a:r>
              <a:t>- https://scikit-learn.org/stable/auto_examples/model_selection/plot_tuned_decision_threshold.html</a:t>
            </a:r>
          </a:p>
          <a:p xmlns:a="http://schemas.openxmlformats.org/drawingml/2006/main">
            <a:r>
              <a:t>- https://arxiv.org/abs/2107.07511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Close by naming Meeting B's fork explicitly: Track A builds this exact classifier on their own framing; Track B instead deepens Week 13's regression — but both write a model card using tonight's vocabulary.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7dda0d0c64b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45ebfab4444d58" /><Relationship Type="http://schemas.openxmlformats.org/officeDocument/2006/relationships/slideLayout" Target="/ppt/slideLayouts/slideLayout1.xml" Id="R61d15a735ceb41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d15a735ceb41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dfb2f5c2f4637" /><Relationship Type="http://schemas.openxmlformats.org/officeDocument/2006/relationships/notesSlide" Target="/ppt/notesSlides/notesSlide1.xml" Id="R8a719c1bbbaf49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858aaa1f34593" /><Relationship Type="http://schemas.openxmlformats.org/officeDocument/2006/relationships/notesSlide" Target="/ppt/notesSlides/notesSlide2.xml" Id="R6a6925dfcbd04b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2de1a01c54f23" /><Relationship Type="http://schemas.openxmlformats.org/officeDocument/2006/relationships/notesSlide" Target="/ppt/notesSlides/notesSlide3.xml" Id="Ra8761dab6a2c47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74f4e87df44e6" /><Relationship Type="http://schemas.openxmlformats.org/officeDocument/2006/relationships/notesSlide" Target="/ppt/notesSlides/notesSlide4.xml" Id="R3015c8519a6947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1bca3784f4b2d" /><Relationship Type="http://schemas.openxmlformats.org/officeDocument/2006/relationships/notesSlide" Target="/ppt/notesSlides/notesSlide5.xml" Id="R4d6db427ef5c44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28913e3d941da" /><Relationship Type="http://schemas.openxmlformats.org/officeDocument/2006/relationships/notesSlide" Target="/ppt/notesSlides/notesSlide6.xml" Id="R15b43379a1f148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708ad5bbb4092" /><Relationship Type="http://schemas.openxmlformats.org/officeDocument/2006/relationships/notesSlide" Target="/ppt/notesSlides/notesSlide7.xml" Id="Re32b299d65b947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f06e1f22a4d1c" /><Relationship Type="http://schemas.openxmlformats.org/officeDocument/2006/relationships/notesSlide" Target="/ppt/notesSlides/notesSlide8.xml" Id="R3e6919c3e3b743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7e25cdcdd4584" /><Relationship Type="http://schemas.openxmlformats.org/officeDocument/2006/relationships/notesSlide" Target="/ppt/notesSlides/notesSlide9.xml" Id="R01c2a982ecd74f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a712306964c67" /><Relationship Type="http://schemas.openxmlformats.org/officeDocument/2006/relationships/notesSlide" Target="/ppt/notesSlides/notesSlide10.xml" Id="Rf58f9610293249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8def821b047b3" /><Relationship Type="http://schemas.openxmlformats.org/officeDocument/2006/relationships/notesSlide" Target="/ppt/notesSlides/notesSlide11.xml" Id="R783d1578d02f4c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c2742c3084dc6" /><Relationship Type="http://schemas.openxmlformats.org/officeDocument/2006/relationships/notesSlide" Target="/ppt/notesSlides/notesSlide12.xml" Id="R47703238f49443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95dae8f62463d" /><Relationship Type="http://schemas.openxmlformats.org/officeDocument/2006/relationships/notesSlide" Target="/ppt/notesSlides/notesSlide13.xml" Id="Ra77ef58d9b7741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72bf0cee84c98" /><Relationship Type="http://schemas.openxmlformats.org/officeDocument/2006/relationships/notesSlide" Target="/ppt/notesSlides/notesSlide14.xml" Id="R3d91ab9139f54f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410198cc44f51" /><Relationship Type="http://schemas.openxmlformats.org/officeDocument/2006/relationships/notesSlide" Target="/ppt/notesSlides/notesSlide15.xml" Id="R5d38f7bfff7144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9339000184657" /><Relationship Type="http://schemas.openxmlformats.org/officeDocument/2006/relationships/notesSlide" Target="/ppt/notesSlides/notesSlide16.xml" Id="R7b0edd9e4662494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a70a63fb64b8e" /><Relationship Type="http://schemas.openxmlformats.org/officeDocument/2006/relationships/notesSlide" Target="/ppt/notesSlides/notesSlide17.xml" Id="R4a343420e28942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cd841bb734f40" /><Relationship Type="http://schemas.openxmlformats.org/officeDocument/2006/relationships/notesSlide" Target="/ppt/notesSlides/notesSlide18.xml" Id="Rccdbc0644f9249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1e7310e5d4199" /><Relationship Type="http://schemas.openxmlformats.org/officeDocument/2006/relationships/notesSlide" Target="/ppt/notesSlides/notesSlide19.xml" Id="R7eb3ca9d3ffd472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1fcc2f92541bf" /><Relationship Type="http://schemas.openxmlformats.org/officeDocument/2006/relationships/chart" Target="/ppt/slides/charts/chart1.xml" Id="R666ffef3be7049f0" /><Relationship Type="http://schemas.openxmlformats.org/officeDocument/2006/relationships/notesSlide" Target="/ppt/notesSlides/notesSlide20.xml" Id="R1460f8e7ff3e487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d6f026b774d54" /><Relationship Type="http://schemas.openxmlformats.org/officeDocument/2006/relationships/notesSlide" Target="/ppt/notesSlides/notesSlide21.xml" Id="R229383d3455e47f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3ce46e6754784" /><Relationship Type="http://schemas.openxmlformats.org/officeDocument/2006/relationships/notesSlide" Target="/ppt/notesSlides/notesSlide22.xml" Id="Rae0aacab656c433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cde4acbd043bd" /><Relationship Type="http://schemas.openxmlformats.org/officeDocument/2006/relationships/notesSlide" Target="/ppt/notesSlides/notesSlide23.xml" Id="Ra2db1661f0e04ba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fe43d85534db1" /><Relationship Type="http://schemas.openxmlformats.org/officeDocument/2006/relationships/notesSlide" Target="/ppt/notesSlides/notesSlide24.xml" Id="Ra5bb148b04254f1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7ea8da8dd491b" /><Relationship Type="http://schemas.openxmlformats.org/officeDocument/2006/relationships/notesSlide" Target="/ppt/notesSlides/notesSlide25.xml" Id="R1ff170bcde004d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56144b93441e5" /><Relationship Type="http://schemas.openxmlformats.org/officeDocument/2006/relationships/notesSlide" Target="/ppt/notesSlides/notesSlide26.xml" Id="R9e5031f10bae443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ab60aef834cfd" /><Relationship Type="http://schemas.openxmlformats.org/officeDocument/2006/relationships/notesSlide" Target="/ppt/notesSlides/notesSlide27.xml" Id="R1a3847bd93ea4f1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ee15149604578" /><Relationship Type="http://schemas.openxmlformats.org/officeDocument/2006/relationships/notesSlide" Target="/ppt/notesSlides/notesSlide28.xml" Id="Rf480862bf551402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dd26d781540f3" /><Relationship Type="http://schemas.openxmlformats.org/officeDocument/2006/relationships/notesSlide" Target="/ppt/notesSlides/notesSlide29.xml" Id="R5063495edfc442e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22f778ed94f05" /><Relationship Type="http://schemas.openxmlformats.org/officeDocument/2006/relationships/notesSlide" Target="/ppt/notesSlides/notesSlide30.xml" Id="Rf6d10299216243b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62af68e674d3e" /><Relationship Type="http://schemas.openxmlformats.org/officeDocument/2006/relationships/notesSlide" Target="/ppt/notesSlides/notesSlide31.xml" Id="R62b74f58fd9a41e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b20295a534f84" /><Relationship Type="http://schemas.openxmlformats.org/officeDocument/2006/relationships/notesSlide" Target="/ppt/notesSlides/notesSlide32.xml" Id="Ra0393908186047b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7b5a530ea44f5" /><Relationship Type="http://schemas.openxmlformats.org/officeDocument/2006/relationships/notesSlide" Target="/ppt/notesSlides/notesSlide33.xml" Id="Rd2ceda4a5884430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74a12ac574e48" /><Relationship Type="http://schemas.openxmlformats.org/officeDocument/2006/relationships/notesSlide" Target="/ppt/notesSlides/notesSlide34.xml" Id="R761e80a2bed0485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1dcb3176d41c1" /><Relationship Type="http://schemas.openxmlformats.org/officeDocument/2006/relationships/notesSlide" Target="/ppt/notesSlides/notesSlide35.xml" Id="Re2421e1630f241b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4fdcde8004bfe" /><Relationship Type="http://schemas.openxmlformats.org/officeDocument/2006/relationships/notesSlide" Target="/ppt/notesSlides/notesSlide36.xml" Id="R6be5ed84833342d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8082aa7ae4dd3" /><Relationship Type="http://schemas.openxmlformats.org/officeDocument/2006/relationships/notesSlide" Target="/ppt/notesSlides/notesSlide37.xml" Id="R772d167c96a641f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b2ca4fecb4bb9" /><Relationship Type="http://schemas.openxmlformats.org/officeDocument/2006/relationships/notesSlide" Target="/ppt/notesSlides/notesSlide38.xml" Id="R984be9c02362415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6"/>
                </a:solidFill>
              </a:rPr>
              <a:t>Validation precision and recall vs. threshold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6"/>
              </a:solidFill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precision (%)</c:v>
          </c:tx>
          <c:cat>
            <c:numLit>
              <c:formatCode>General</c:formatCode>
              <c:ptCount val="5"/>
              <c:pt idx="0">
                <c:v>0.3</c:v>
              </c:pt>
              <c:pt idx="1">
                <c:v>0.4</c:v>
              </c:pt>
              <c:pt idx="2">
                <c:v>0.5</c:v>
              </c:pt>
              <c:pt idx="3">
                <c:v>0.6</c:v>
              </c:pt>
              <c:pt idx="4">
                <c:v>0.7</c:v>
              </c:pt>
            </c:numLit>
          </c:cat>
          <c:val>
            <c:numLit>
              <c:formatCode>General</c:formatCode>
              <c:ptCount val="5"/>
              <c:pt idx="0">
                <c:v>53.3</c:v>
              </c:pt>
              <c:pt idx="1">
                <c:v>80</c:v>
              </c:pt>
              <c:pt idx="2">
                <c:v>85.7</c:v>
              </c:pt>
              <c:pt idx="3">
                <c:v>100</c:v>
              </c:pt>
              <c:pt idx="4">
                <c:v>0</c:v>
              </c:pt>
            </c:numLit>
          </c:val>
        </c:ser>
        <c:ser>
          <c:idx val="1"/>
          <c:order val="1"/>
          <c:tx>
            <c:v>recall (%)</c:v>
          </c:tx>
          <c:cat>
            <c:numLit>
              <c:formatCode>General</c:formatCode>
              <c:ptCount val="5"/>
              <c:pt idx="0">
                <c:v>0.3</c:v>
              </c:pt>
              <c:pt idx="1">
                <c:v>0.4</c:v>
              </c:pt>
              <c:pt idx="2">
                <c:v>0.5</c:v>
              </c:pt>
              <c:pt idx="3">
                <c:v>0.6</c:v>
              </c:pt>
              <c:pt idx="4">
                <c:v>0.7</c:v>
              </c:pt>
            </c:numLit>
          </c:cat>
          <c:val>
            <c:numLit>
              <c:formatCode>General</c:formatCode>
              <c:ptCount val="5"/>
              <c:pt idx="0">
                <c:v>88.9</c:v>
              </c:pt>
              <c:pt idx="1">
                <c:v>88.9</c:v>
              </c:pt>
              <c:pt idx="2">
                <c:v>66.7</c:v>
              </c:pt>
              <c:pt idx="3">
                <c:v>11.1</c:v>
              </c:pt>
              <c:pt idx="4">
                <c:v>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threshold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metric value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B8BCC4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A5F6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8F855664-398A-4D4C-8DA3-8B6C1712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1F849CCD-31A7-43F1-863E-822DDE9C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83A92022-5138-47A6-B90E-86278458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289D761A-C481-48EA-A091-97BCB130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14 · MEETING A · CLASSIFICATION, CONFUSION MATRICES, AND MODEL CARDS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DB95C077-98F2-488C-B817-1F660F59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model that's usually right can still be dangerously wrong for the cases that matter.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2FDB414D-2E65-472F-B6FE-D5D0CB0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Classification as a decision rule — confusion matrix, precision vs. recall, choosing a threshold from consequences, cross_val_score, and the model card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024E2-75C9-42D1-8A74-3E2B31CF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BC7BB309-28F5-491D-AD73-3CF5C109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2071218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035B564E-FF42-4B47-9C1A-73188E79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ECB1FF-9CC6-49E1-800B-36BD96BB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threshold decision needs a reason, not a default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0CC38-F332-4661-9B68-48799ED3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B31EEDA-95BF-4715-A0FA-4F2553C1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46C99CE-F2ED-4BEA-A8AB-053E3D40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3965225D-6414-4010-A97F-3E404811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829800" cy="254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classifier's 0/1 answer hides a choice — a threshold on a predicted probability — and picking that threshold is a judgment about which mistake costs more.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FFB02-DFAC-4F50-B3D1-EE640746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E0F5332F-D1BD-4817-A310-22C056F5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6330"/>
            <a:ext cx="93345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Today's central case: for Radley Hall's go/no-go call, a false 'go' (approving a design that actually fails code) is far more dangerous than a false 'no-go' (discarding a design that would have passed). That asymmetry, not the default 0.5 cutoff, is what should set the threshold.</a:t>
            </a:r>
          </a:p>
        </p:txBody>
      </p:sp>
    </p:spTree>
    <p:extLst>
      <p:ext uri="{BB962C8B-B14F-4D97-AF65-F5344CB8AC3E}">
        <p14:creationId xmlns:p14="http://schemas.microsoft.com/office/powerpoint/2010/main" val="1528227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924CCD70-3B92-4334-9F7E-79F9E30E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42B5CD-E24A-4222-BC6E-614C77F6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32C85-3205-4AB2-AD14-B52C4BCE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321D834-BA40-4FBD-8364-A95F5E60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F321BE5-09EB-44B8-A576-9C0F7CCB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B6226C74-120E-44CE-8565-133BD10B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4CF89B45-1717-4DBC-893A-8EAD3DFE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0DBF2C50-5AF3-42D4-B991-16456BC2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Read a confusion matrix (TN/FP/FN/TP) and state, in plain language, what each of the four cells means for a real go/no-go design decision.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4B00DB13-1DF0-448B-B94A-150DDF0B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4A70D72B-0E9A-4435-9058-BBE3A8B4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CA4948D9-173D-4FE4-B3D5-151ECE8D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Hand-compute precision, recall, and F1 from raw confusion-matrix counts, and explain what each metric answers that the others don't.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593F1852-0234-4670-9362-E1601C07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073E545B-6147-479E-BF21-13011B0C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C5AEA05D-212A-4BB8-B340-519D2AEA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Choose an operating threshold from a threshold-sweep table by reasoning about which error (false positive or false negative) is more dangerous — not by defaulting to 0.5.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24B0FD3E-FD65-47B7-9DF3-0E9B2693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E8B576D6-D64B-43B6-B401-1140E149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4B6EE5E8-D03F-4CA9-99A5-F2BE0AAD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Explain what cross_val_score adds beyond a single train/test split, and what a model card must state about a model's scope and limits.</a:t>
            </a:r>
          </a:p>
        </p:txBody>
      </p:sp>
    </p:spTree>
    <p:extLst>
      <p:ext uri="{BB962C8B-B14F-4D97-AF65-F5344CB8AC3E}">
        <p14:creationId xmlns:p14="http://schemas.microsoft.com/office/powerpoint/2010/main" val="2068376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D79E1EF1-182C-4B00-A562-C49D9575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C33B64-40F3-4977-B5BC-12C15451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92CC6-70B0-496B-9BA8-00485B2A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1B646D6-EB56-4110-AA6D-DADABFE4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F18890E-A529-494F-823B-EE0312D6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93A08FAA-7857-49BD-B6E5-4E954BE4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FA4A8-B487-44E2-94ED-41DBEFD4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EC077168-6918-4ACC-A9EE-1D1B951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From a number to a decision: classification as a decision rule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E6605A4C-EAEE-4D79-814E-879066CD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A7CDA-1C49-46A7-8EC3-88F13D8D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DF449168-A729-4EA8-861E-D862D93D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confusion matrix: four ways a go/no-go call can land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06C0BC76-9663-4DBD-9407-4B37D2F0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30E86-7139-4160-ADC1-E791DA0F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38C75319-1F3C-4A59-86C6-0801EBBE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Precision, recall, and choosing a threshold from real consequences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EA988AA9-B381-407C-8E8A-E14A25B4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7CCE1-E8EB-46C4-AA0E-9C983C2F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84909F88-3BE8-4F98-8594-F95410DD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cross_val_score and the model card: does it hold up, and what does it promise</a:t>
            </a:r>
          </a:p>
        </p:txBody>
      </p:sp>
    </p:spTree>
    <p:extLst>
      <p:ext uri="{BB962C8B-B14F-4D97-AF65-F5344CB8AC3E}">
        <p14:creationId xmlns:p14="http://schemas.microsoft.com/office/powerpoint/2010/main" val="153994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D0B37F4A-E656-4AC8-AFD8-E8BE7471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 FROM WEEK 13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681EF6-DB17-4E49-85E0-1C773EF0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portfolio, a different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8EDBA-8AA6-4795-9636-F01BD223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28FD22D-0816-455C-9779-BA103AE5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D1A2B22-F2BD-4DD9-9570-AC034384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1473D79E-1931-436F-AB58-9C58D721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13 asked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7799A326-E19C-4341-9367-C0D21648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How far off is the predicted eui_kwh_m2yr from the actual number? Regression fits a continuous target, and MAE/RMSE/R² measure how close the guesses land.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3D8E5C2A-58A3-44CE-9DB8-55037052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14 asks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D9BF44E3-2C61-4A35-9F1C-9D5D8E17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Does this design meet code, yes or no? meets_code = 1 if eui_kwh_m2yr &lt;= 27.0, else 0 — the exact same 140-row Radley Hall portfolio and design variables, only the target and the model type change.</a:t>
            </a:r>
          </a:p>
        </p:txBody>
      </p:sp>
    </p:spTree>
    <p:extLst>
      <p:ext uri="{BB962C8B-B14F-4D97-AF65-F5344CB8AC3E}">
        <p14:creationId xmlns:p14="http://schemas.microsoft.com/office/powerpoint/2010/main" val="1935529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71F296DB-B9B6-4F5F-AA80-FDD6C965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424622-C82C-485C-AF58-0B78767A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Classification,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7957D-644A-4C6C-8838-81104BE6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EC9E152-F961-4D84-BFDC-2B5BB3F3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2D44496-E85F-492E-B198-C3F2ED1A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1F06078A-ABAD-4A0C-B36B-81C2D265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2F726585-1BD5-45BC-973A-0EF4065A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F9B6D-074B-4BCC-8077-E1D913AA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8D28FB7A-883C-4C72-8A56-9610A793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classification model predicts which CATEGORY a row belongs to, instead of a continuous number. Here, just two categories: meets_code=1 ('go') or meets_code=0 ('no-go') — the same 140-row portfolio Week 13 used, only the target and model type change.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D772FDB1-61A6-464F-9D2C-B8D550EA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977BC79D-407A-494D-826F-EAE3231E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8F9C4AC3-801F-4E41-A5BF-C14CAAF6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Under the hood: probability, then threshold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54F05BC2-EF55-4FE3-AFE7-4B20A27E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1226"/>
            <a:ext cx="4381500" cy="1982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classifier like LogisticRegression first predicts a PROBABILITY between 0 and 1 (predict_proba), then a threshold turns that probability into the final yes/no decision. The decision rule, not just the model, is what you are building today.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AA7073DC-F070-406D-AEA3-0CF553D9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535A0C00-D7CA-4C43-B2F8-19D43373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96B16606-8E6F-4373-9F56-FA07810E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Not the same as a category-valued FEATURE like orientation (N/E/S/W) — that's an input column. Classification predicts the category OUTPUT (meets_code), not a category input.</a:t>
            </a:r>
          </a:p>
        </p:txBody>
      </p:sp>
    </p:spTree>
    <p:extLst>
      <p:ext uri="{BB962C8B-B14F-4D97-AF65-F5344CB8AC3E}">
        <p14:creationId xmlns:p14="http://schemas.microsoft.com/office/powerpoint/2010/main" val="200783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BB03D5C7-5223-4075-B64E-B3795A4B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D8DC05-2995-4C62-95C7-17F28CBE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label: meets_code, and how balanced it 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CC077-5A0B-4E0C-BCBE-EDEBADB6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8A68E77-BCBF-4113-8B43-FAA3F62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EC8827B-BB76-4AC4-A71A-3B70B258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EBD23-569E-498C-A12E-7280DF51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46DF3B3E-4B07-4642-9B61-3CAB0DC6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9B66C-12CC-4B2F-B2CF-6DF033CE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950A8008-AB7C-4DB2-AB9A-E1BFB695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051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BF62B-A05E-4482-BE8F-8939F066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9ACBBC05-4903-4B63-85AB-2553EA6F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label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C3084-A8CD-4249-A2CB-BA09544E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02FCE540-DD14-41B3-8F35-81CFA1D8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meets_code = 1 if eui_kwh_m2yr &lt;= 27.0, else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91454-1B58-4E41-BB2C-82640D69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332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48293662-7446-481B-AACA-235391F4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952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class balance (n=140)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AF4EB-1F7F-46FD-AAB9-B37F0937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0332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E6CBDE1F-E65B-470F-8413-0A2673EA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952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92 designs = 0 ("no"), 48 designs = 1 ("yes") — 34.3% meet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6063F-43BB-41E9-9B18-AA903908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434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0E751DD9-98B1-4B84-85ED-FCE27F81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054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three-way split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632EC-D3A2-44E9-B396-BDDA81E5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4434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94ACFE72-5038-4043-B56E-42BDB4D9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2054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84 train / 28 validation / 28 untouched final test; both splits stratified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A4AAC-1BFB-4602-B975-8924178E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536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99989148-BFC6-4A1A-9153-B0FDAE6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156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features used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4B27E-73EB-4FFC-9C76-7BED37EF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8536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3-1">
            <a:extLst xmlns:a="http://schemas.openxmlformats.org/drawingml/2006/main">
              <a:ext uri="{FF2B5EF4-FFF2-40B4-BE49-F238E27FC236}">
                <a16:creationId xmlns:a16="http://schemas.microsoft.com/office/drawing/2014/main" id="{2923EC6A-8BC4-4805-8509-78C4BD41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6156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wwr, shade_m, glazing_shgc, compactness</a:t>
            </a:r>
          </a:p>
        </p:txBody>
      </p:sp>
      <p:sp>
        <p:nvSpPr>
          <p:cNvPr id="2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53BD3AFC-D504-4497-94D6-B176E190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27" name="callout">
            <a:extLst xmlns:a="http://schemas.openxmlformats.org/drawingml/2006/main">
              <a:ext uri="{FF2B5EF4-FFF2-40B4-BE49-F238E27FC236}">
                <a16:creationId xmlns:a16="http://schemas.microsoft.com/office/drawing/2014/main" id="{70C9A5B6-B018-4087-8D25-0CFA384C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Stratification preserves the class proportion across train, validation, and final-test roles. Train fits coefficients; validation selects the threshold; final test is opened once after the policy is frozen.</a:t>
            </a:r>
          </a:p>
        </p:txBody>
      </p:sp>
    </p:spTree>
    <p:extLst>
      <p:ext uri="{BB962C8B-B14F-4D97-AF65-F5344CB8AC3E}">
        <p14:creationId xmlns:p14="http://schemas.microsoft.com/office/powerpoint/2010/main" val="941691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7FC65445-6289-476D-A706-15EABB51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9767288-A5C4-422C-BEF2-25DA2B0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From design variables to a go/no-go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48A0D-2434-4FBD-9DEE-5B0F235D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B59A52A-1321-4EDF-8E21-1B9B4197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32FB0D8-C42B-4B9C-BF4B-D0D91C43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350A0D0F-3B21-4358-8857-7D174F66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888F5F51-3C34-4AEB-80CC-DD1D85FB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7F05F4C8-FDC2-4C0F-800D-118D29D7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D56C8DC8-DB25-42B7-B49A-E3917EF4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5AB861C8-F116-47E5-AE8D-97BB6BDC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644F2370-F453-49A2-AB5B-D71E5093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0A01E-9BDB-4DAC-8A7F-3383D540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86108E03-D104-4A99-9567-42FE8426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Fit on 84 rows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A5C7D1FE-0846-4DAF-8568-2B8F49E4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model learns coefficients from the training partition only.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99457092-FAC7-44CA-AB12-4F72BE16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86FE8168-A6E9-413B-B65A-C3B3B1BA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D7B59F58-EB5A-43AE-A6C0-4E8FAD59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254A4-C8AC-4450-9719-0FEB8422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8FA901A1-C6A2-4771-BADB-BEE493DC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Choose the policy on 28 rows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FF46A720-1A69-466E-8F89-4CCE7D99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Sweep thresholds and apply a predeclared consequence rule.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69D5B681-EE58-450E-A791-5FD4922E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A4399A38-B50F-4FFF-904F-974ABBA3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627E871E-3E18-4E62-AA72-6B4B5A57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38B8D-2D5F-461C-BBAF-BA15824B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038FD584-68B0-4EA6-801C-B9CF5E1D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Lock model + threshold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C6EAEFFA-448B-4064-9861-D35526EF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Freeze both before seeing any final-test outcomes.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E58D77C8-524F-4E31-BBD0-7417BF06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09CBD54C-D61E-4376-8126-16B00CF5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DFCE3DF3-08BF-4C92-B4DD-4F1EAC88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0EB505-FA66-4BDB-B7D3-7132841E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382C0B7F-E99D-4376-A55E-5CDB822C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Open 28 rows once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E615B8DE-7B5A-449B-AE2B-F7973754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Report final confusion counts and metrics without retuning.</a:t>
            </a:r>
          </a:p>
        </p:txBody>
      </p:sp>
    </p:spTree>
    <p:extLst>
      <p:ext uri="{BB962C8B-B14F-4D97-AF65-F5344CB8AC3E}">
        <p14:creationId xmlns:p14="http://schemas.microsoft.com/office/powerpoint/2010/main" val="11044410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BAD34B4E-657F-4499-AA47-035B4F31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4F7BA0-E5F8-437A-85EA-446E58E9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Reserve train, validation, and final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880C8-3EFF-4396-A759-69D69E21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A67930A-29A7-4CCC-A97C-D38ED29B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B102673-FC95-452C-B22B-406ED29B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9B1A08EA-C03A-4F25-9592-E1015317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1958B5E-4104-4E22-BCFF-2C460E8F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sklearn.linear_model import LogisticRegression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sklearn.model_selection import train_test_split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FEATURES = ['wwr','shade_m','glazing_shgc','compactness']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X, y = df[FEATURES], df['meets_code']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X_dev, X_test, y_dev, y_test = train_test_split(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X, y, test_size=0.20, random_state=42, stratify=y)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X_train, X_val, y_train, y_val = train_test_split(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X_dev, y_dev, test_size=0.25, random_state=42, stratify=y_dev)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5D9E2E9-23CD-4D28-9089-222D7401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Split before fitting or choosing a threshold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C55FCB47-5262-4D56-AAD1-DB22829E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two deterministic stratified splits create 84 training, 28 validation, and 28 untouched final-test rows. Only validation may guide the operating threshold.</a:t>
            </a:r>
          </a:p>
        </p:txBody>
      </p:sp>
    </p:spTree>
    <p:extLst>
      <p:ext uri="{BB962C8B-B14F-4D97-AF65-F5344CB8AC3E}">
        <p14:creationId xmlns:p14="http://schemas.microsoft.com/office/powerpoint/2010/main" val="463011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4851C428-4412-49DE-AC60-24191DD7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773BC7-CF99-47C5-92AF-0D6C8E8A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Fit on training rows; inspect coefficients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86B2C-D808-47D1-97D2-EF27084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42A4781-FF9E-443B-B87C-A5834FF3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D26CBF2-BED7-4864-BE8B-962D5D80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55FE130-19F6-4A7B-937E-D031A774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0B4E7350-E914-4F1B-B64B-8DE4451E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clf = LogisticRegression().fit(X_train, y_train)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print('rows:', len(X_train), len(X_val), len(X_test))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print('coef_:', clf.coef_.round(4))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86A1A-95D1-4C3A-AE34-0EEF35BB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A1515B70-12EE-426B-A525-B03348B1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1980489A-10F6-46E8-8093-4796B40A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rows: 84 28 28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coef_: [[-1.4322  1.6772 -0.1674 -0.6965]]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B12F7D51-CE8A-41AB-B914-1AD93103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670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Three roles, no row reuse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C16E1A9E-3830-43C7-9576-C6CFCE13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64611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Train learns coefficients; validation chooses the threshold policy; final test stays sealed. Coefficient directions are fitted associations, not causal effects.</a:t>
            </a:r>
          </a:p>
        </p:txBody>
      </p:sp>
    </p:spTree>
    <p:extLst>
      <p:ext uri="{BB962C8B-B14F-4D97-AF65-F5344CB8AC3E}">
        <p14:creationId xmlns:p14="http://schemas.microsoft.com/office/powerpoint/2010/main" val="11661120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5363CC67-93DA-40F2-8410-FD365451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20E9241-B238-488F-8CE1-34942515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Confusion matrix,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20F6D-81E5-4C61-AD49-CDD095AC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04D00CC-E33F-410F-9510-98762478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D805C1-8921-44DB-868F-269B0623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B357A1A4-7BC1-4CF0-B0D2-112C5083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8B218CC5-4E54-4F21-8F8D-23DED84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confusion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E93E8-A0BA-4F4B-8FA1-3E4ADC41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2CFB87B2-6DD9-4374-BFDD-7D26D972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2×2 table that cross-tabulates predicted classes against actual outcomes. Every evaluated design lands in one cell after a threshold is applied. During selection we read a validation matrix; final reporting uses a separate untouched test matrix.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CFF37F5E-9839-4312-9DDF-FBE34373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4F53527B-274D-4325-9E66-D5677311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READING IT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9FB6F84C-C25A-409A-8E3D-828610D2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four cells, named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5B9D0CB1-C840-48CC-8967-45EE2326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TN and TP are correct calls; FP and FN are different errors with different consequences. Always label which partition and threshold produced the matrix.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05358D3C-1DC3-4DBD-BC89-17CF37DB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84CF19DF-396E-45F2-9A5B-ABC43191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CCDC47BC-E28D-435C-862D-6A02CC41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confusion matrix is built from PREDICTED class labels (0/1), not the raw probability — it already assumes a threshold has been applied (default 0.5 unless stated otherwise).</a:t>
            </a:r>
          </a:p>
        </p:txBody>
      </p:sp>
    </p:spTree>
    <p:extLst>
      <p:ext uri="{BB962C8B-B14F-4D97-AF65-F5344CB8AC3E}">
        <p14:creationId xmlns:p14="http://schemas.microsoft.com/office/powerpoint/2010/main" val="8457210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921F2D05-43CA-4014-B270-65FC2618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C77784-D55A-4628-98FF-8959401B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Anatomy: the validation confusion_matrix()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8E8AF-72A3-4736-BA5F-473B6769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357D121-C530-4057-8629-A3B4FC57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B155453-2B7F-4068-9F6A-722777CE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89EA74B9-335B-4432-B74D-A6DD55BD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CBC0FE71-3A7F-48E7-A189-F91A5A1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57400"/>
            <a:ext cx="52216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confusion_matrix(y_val, val_pred)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67E26-0291-46BE-9387-5BA99ADD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2346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E0C72161-952F-42DF-8F22-BE8436AE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30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A738245B-2470-4576-971D-FE0DC107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30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59F7EB89-D659-4311-9366-30612AE4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00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A3B6090D-F847-437D-9EF5-630154F0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00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369B6364-D3E4-460A-A0EA-81EFE275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80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function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4AD72DC2-C226-4828-9458-F9C490D3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005" y="3390138"/>
            <a:ext cx="2000250" cy="76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From sklearn.metrics — compares actual vs. predicted, returns the 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19506-777D-41F4-9691-EFC43E7B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295" y="2647950"/>
            <a:ext cx="73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3DB22E72-FA88-445F-B800-FAB8217D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83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2E27C3AB-94B9-42BD-BACC-BBB75D9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83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88822E8E-7B9A-4C4A-9492-2C0DE964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758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38AC5B7B-5C8E-4D3E-8F00-A398873C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758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F04DF42E-BA7C-42D6-AB61-9183501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58" y="4300728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Actual validation labels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187D86B5-31D2-4BA4-891F-54104C5E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758" y="4927854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28 validation outcomes used to choose the operating policy.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73873-4FC2-4330-AD7F-35023F42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090" y="2647950"/>
            <a:ext cx="1173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19899B42-47C7-44EE-A941-FBB32CEF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00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DA5AE1B1-3CBB-4392-97E7-C092FF16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00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376D8EB3-0ECA-46A3-BBC8-0689886D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58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52511FDA-EB18-4FFF-846C-48DDA780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58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90082FB7-F6D1-4DF7-9DD6-27E97D49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380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Predicted validation labels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5DEEF732-0D00-41EE-BDD2-6B326DF0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580" y="3637026"/>
            <a:ext cx="247650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clf.predict(X_val) — training-fitted model, candidate threshold 0.5.</a:t>
            </a:r>
          </a:p>
        </p:txBody>
      </p:sp>
    </p:spTree>
    <p:extLst>
      <p:ext uri="{BB962C8B-B14F-4D97-AF65-F5344CB8AC3E}">
        <p14:creationId xmlns:p14="http://schemas.microsoft.com/office/powerpoint/2010/main" val="15774556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2D0D14EA-717F-4D10-9078-34A6DB8C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0C3F05-8C71-4B59-A87B-476D39D9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Predict: how many truly-compliant designs get caught?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A08E0-818B-470A-A6B0-172D6992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34A05BB-2035-4DEE-9F14-1931E662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59EF26-F784-4313-99F6-4042DD14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6B093D63-EBDB-4D8B-A777-77E462AF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1AF751F-8235-4670-B7B5-5DCC709E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val_pred = clf.predict(X_val)  # candidate threshold 0.5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tn, fp, fn, tp = confusion_matrix(y_val, val_pred).ravel()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print('TP =', tp)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4369AF90-46FE-4579-B0B3-2586F33B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86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How many of 9 compliant validation designs are caught (TP)?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F870277C-2D72-4BBD-8611-C63893A0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2C8A295F-590D-423F-830E-6F70B78F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1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FEA40BDF-E831-4F6B-9C4E-9AD39D17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26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1BAE092D-1A13-4600-9ACC-C73F06D3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9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6FCF5A04-CAB4-4AB2-8DBC-F95AB1C1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2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C57D1BC3-0DF7-4701-AD5A-45D77F6A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7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D941A99B-FCC1-42C4-9AEE-ECAD4EB3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31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FD77FC72-47E2-41E1-8AC8-D1305920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4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6F101642-920D-44DE-9358-CF2F99EB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9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05A61596-707B-43FE-AE70-6BF4A645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02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F3481009-D4F7-4565-9818-2B62A699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45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8AB65579-B635-4F62-A22C-654FF7D4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40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3CF834D3-9E9A-42B1-A1E5-DA13F594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B221DCB0-138F-4DE0-9F59-7E602B65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C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CD2EE029-6687-4E4C-8ED7-F143CF8A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TP=6. The model misses 3 of 9 compliant validation designs, so recall=6/9=0.667.</a:t>
            </a:r>
          </a:p>
        </p:txBody>
      </p:sp>
    </p:spTree>
    <p:extLst>
      <p:ext uri="{BB962C8B-B14F-4D97-AF65-F5344CB8AC3E}">
        <p14:creationId xmlns:p14="http://schemas.microsoft.com/office/powerpoint/2010/main" val="20629893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BF7D4D23-F635-4E79-8160-FEAED03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73C92C-2468-406A-8AE3-EF2359FC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Validation confusion matrix at threshold 0.5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8C30B-2EC7-4097-B602-E3DED58E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2CCF337-A935-4F41-BE76-6968F1EB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95B8912-F355-47FD-BFD9-8BC89FCF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07930-A746-47D4-9A2B-96044FCA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102E9C49-79EF-4C8D-AC81-43791760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20386-052F-4B35-82E2-A0AC327A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529AA1A5-1F39-4D9C-BB25-11AFAC69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predicted: no-go (0)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34582-0171-4CD4-AEC6-E08A38E9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7EA5F1DC-573A-47E5-A3F7-5852F405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predicted: go (1)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BAA27-3A0D-4B47-9CFD-884BBA95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26AAE9B6-8227-4C84-BA18-67587BB0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actual: no-go (0)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ABEBE-7572-4E3D-BBEA-DD361EE4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64620F0A-887C-4893-B513-A56E56F6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TN = 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D946C-04C5-4838-B738-449BCB94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0945D4BE-06F1-47B0-AF4A-039C17C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FP =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8176D-062B-4623-AD6C-BB9E01B4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96318ECE-74C1-41FE-A49C-E23D3304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actual: go (1)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80DDD-B402-4C52-A2CD-0828C7F2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38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36FB2028-4541-4C68-9626-8FA978A3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148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FN =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C9D27-ACFA-44F5-878D-D2A43BD2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8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8067E6CE-D0F3-48EA-A443-B373A3E8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148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TP = 6</a:t>
            </a:r>
          </a:p>
        </p:txBody>
      </p:sp>
      <p:sp>
        <p:nvSpPr>
          <p:cNvPr id="24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BECD9894-B5FA-4C30-9759-FED524F5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25" name="callout">
            <a:extLst xmlns:a="http://schemas.openxmlformats.org/drawingml/2006/main">
              <a:ext uri="{FF2B5EF4-FFF2-40B4-BE49-F238E27FC236}">
                <a16:creationId xmlns:a16="http://schemas.microsoft.com/office/drawing/2014/main" id="{5F8B4FD1-66AB-4891-9D60-41CAD994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28 validation designs. This matrix may guide the threshold choice; it is not the final reported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4696314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76D18667-6DF6-4BE0-B714-DC877271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34BC6E-30A6-4BEC-BF77-E7AFBCCC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Four validation outcomes, one consequence each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97540-5BF8-4273-A201-F7CA1976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4E6B834-198C-405B-92EE-B21BA134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9CA6E38-73D2-4739-B30D-D966C07D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0172E4F6-56F0-4B53-A8EA-8B7F54B3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True negative / true positive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D98539B5-B2A7-493B-BB0E-214E5AFB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TN (18): model says no-go and the design fails code — correctly discarded. TP (6): model says go and the design meets code — correctly approved.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D8945A99-92EE-4B37-82CE-23B24D76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False positive / false negative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E359A092-1C92-4B7C-9590-A31CC14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FP (1): model says GO but the design fails code — a dangerous review failure. FN (3): model says no-go on a design that would pass — a viable option discarded.</a:t>
            </a:r>
          </a:p>
        </p:txBody>
      </p:sp>
    </p:spTree>
    <p:extLst>
      <p:ext uri="{BB962C8B-B14F-4D97-AF65-F5344CB8AC3E}">
        <p14:creationId xmlns:p14="http://schemas.microsoft.com/office/powerpoint/2010/main" val="6087403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06AC46D8-A65A-43E0-BEB5-92D9D789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AF2CAC-3A99-4A62-9114-3177628E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Precision,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F246C-5D84-48D6-AB4B-E86EBAA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5ABBC53-9127-47A3-8EDB-E10FB7B8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1701E4B-4D2E-4535-9BF7-D65919D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A2C3F0F9-78BC-4FC1-9D6E-027ECD63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AF02867F-0781-4947-9FCC-3FA933AC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6C252-0951-416A-8640-364AAA31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4BBDD7E8-FA3B-404B-954A-63935121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Precision = TP / (TP + FP): of every validation design called 'go,' what fraction actually meets code? At 0.5: 6 / (6 + 1) = 0.857.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EBD9927B-0201-4853-B6FE-1AE39CA1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5D0774B6-0D81-40DE-A5D9-616FD9D4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91F9207D-5DF7-4B78-8943-1F917024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question it answers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D80F96FE-F29C-4634-A5D6-4E69DFA3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3220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'When this model says GO, how often can I trust it?' High precision means few false 'go' calls — exactly the property that matters most given the false-positive-is-dangerous argument coming up.</a:t>
            </a:r>
          </a:p>
        </p:txBody>
      </p:sp>
    </p:spTree>
    <p:extLst>
      <p:ext uri="{BB962C8B-B14F-4D97-AF65-F5344CB8AC3E}">
        <p14:creationId xmlns:p14="http://schemas.microsoft.com/office/powerpoint/2010/main" val="12295561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0531BBA2-AEB3-46E1-9EE8-1C1CA7EC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68AC10-1BC1-4BEB-8F2A-491FCA00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2014A-F566-4B8A-994E-E2BDC7AB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DC81833-097E-4E37-8CA4-4E9F65C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EC3AF84-86F1-4461-982A-BFFFB23D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BD80C5B7-AD3B-4175-91AD-C59E0848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808FD666-E09D-431D-AE61-B8BC71C6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80F5E-89BC-4DF2-B59F-94BE7E5C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6E738877-973F-412D-89D5-B1AD669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= TP / (TP + FN): of every validation design that actually meets code, what fraction did the model catch? At 0.5: 6 / (6 + 3) = 0.667.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BE21F331-7208-4F12-8B7A-E719C3A1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373E5EF1-DD51-4DC0-8239-39861E7D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85EE2078-43A5-4F39-8206-9D2458E8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question it answers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1B966229-C692-4322-A10B-842F2DD8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3220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At validation threshold 0.5, recall=0.667: the model catches 6 of 9 truly compliant validation designs and misses 3.</a:t>
            </a:r>
          </a:p>
        </p:txBody>
      </p:sp>
    </p:spTree>
    <p:extLst>
      <p:ext uri="{BB962C8B-B14F-4D97-AF65-F5344CB8AC3E}">
        <p14:creationId xmlns:p14="http://schemas.microsoft.com/office/powerpoint/2010/main" val="12397285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86F587D2-D256-4E3D-8FBD-BE29595C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THE TRADE-OFF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A92E5C-EBD0-4031-990A-9E9F6017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Precision and recall move in opposite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456F1-FF71-41A0-9143-4AFF1D94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0E3EBA1-50C4-4BAA-854D-5EEA121C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50B3EF6-9272-450C-B6E2-47CC7FE0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4CC489F6-5D44-4AED-854A-4591ADFB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Raise the threshold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7702ABAB-A10B-4277-8CE2-459B6F8E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Precision tends to rise — fewer, more-confident 'go' calls, since only the highest-probability designs clear a higher bar. Recall falls — more truly good designs get missed, since some clear 0.5 but not the higher cutoff.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9623DCFE-80BE-47F7-9511-27185E1D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Lower the threshold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46C01110-0928-4280-8229-32CC5049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Recall tends to rise — more truly good designs get caught. Precision falls — more of the designs the model calls 'go' turn out not to actually meet code. You cannot raise both at once with the same fitted model.</a:t>
            </a:r>
          </a:p>
        </p:txBody>
      </p:sp>
    </p:spTree>
    <p:extLst>
      <p:ext uri="{BB962C8B-B14F-4D97-AF65-F5344CB8AC3E}">
        <p14:creationId xmlns:p14="http://schemas.microsoft.com/office/powerpoint/2010/main" val="13261935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FC35544D-170D-4156-9DF3-46EB7141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F963D4-2C9E-405D-92CE-411BE19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F1,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ABD04-A911-4625-8B05-52E09891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DC1574B-02D3-47BB-AAF8-F07AA80D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F2362F5-1435-467F-8346-D0B5B397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B6C93F80-1850-412D-948E-870440CF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DB193076-4E21-4C85-916F-A03C96A2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F1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E5EF6-8EF5-4624-8E1F-DE150A3E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ADCB9DB6-91A1-4670-B949-AEA1B8AA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F1 = 2 × precision × recall / (precision + recall). At validation threshold 0.5: F1 = 0.750.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B526E1C7-9E62-4F81-B029-F2C5D8A7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9284B215-16F9-45BE-B65E-C4A19D8F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WHY IT'S NOT ENOUGH ALONE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BA8A8B16-049D-430F-9647-C013EF72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it hides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18B9DB3C-6040-4D51-A4AD-77876650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F1 balances the two metrics but does not say WHICH error (false positive or false negative) is being made — that is why today's threshold decision uses the full sweep table, not F1 alone.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C875C7AB-2A4F-4776-91FC-EE5B6EDB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B444552C-085E-49EF-92AA-F0872BF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9464F638-98B6-4984-BFE3-1D93A3A8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F1 does not encode the consequence rule. Select a threshold with a stated operational requirement, then evaluate the frozen choice on the untouched final test.</a:t>
            </a:r>
          </a:p>
        </p:txBody>
      </p:sp>
    </p:spTree>
    <p:extLst>
      <p:ext uri="{BB962C8B-B14F-4D97-AF65-F5344CB8AC3E}">
        <p14:creationId xmlns:p14="http://schemas.microsoft.com/office/powerpoint/2010/main" val="13657309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864A6D2B-F5AF-4487-9E4C-0AEE8599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920679E-F2F7-4A15-BFD1-74D9392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Precision and recall, across five thresholds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4F748-7E5A-4CB3-999E-8AD72D1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8C5FB01-A182-4D36-AA57-ECB6AFFD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66A54B3-E9FA-4207-94EB-4FFE6D6D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104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6ffef3be7049f0"/>
          </a:graphicData>
        </a:graphic>
      </p:graphicFrame>
      <p:sp>
        <p:nvSpPr>
          <p:cNvPr id="7" name="chart-explain-head">
            <a:extLst xmlns:a="http://schemas.openxmlformats.org/drawingml/2006/main">
              <a:ext uri="{FF2B5EF4-FFF2-40B4-BE49-F238E27FC236}">
                <a16:creationId xmlns:a16="http://schemas.microsoft.com/office/drawing/2014/main" id="{ED404EC4-44FB-4C64-ADC6-288592F5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05075"/>
            <a:ext cx="35814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selection rule picks 0.5—not because it is the default</a:t>
            </a:r>
          </a:p>
        </p:txBody>
      </p:sp>
      <p:sp>
        <p:nvSpPr>
          <p:cNvPr id="8" name="chart-explain-body">
            <a:extLst xmlns:a="http://schemas.openxmlformats.org/drawingml/2006/main">
              <a:ext uri="{FF2B5EF4-FFF2-40B4-BE49-F238E27FC236}">
                <a16:creationId xmlns:a16="http://schemas.microsoft.com/office/drawing/2014/main" id="{96A05379-E920-4C38-ACC6-866223AB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8733"/>
            <a:ext cx="35814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Require validation false-positive rate ≤10%, then maximize recall. Threshold 0.4 narrowly fails (2/19=10.5%); 0.5 qualifies (1/19=5.3%) and retains 6/9 positives. Threshold 0.6 gives up too much recall.</a:t>
            </a:r>
          </a:p>
        </p:txBody>
      </p:sp>
    </p:spTree>
    <p:extLst>
      <p:ext uri="{BB962C8B-B14F-4D97-AF65-F5344CB8AC3E}">
        <p14:creationId xmlns:p14="http://schemas.microsoft.com/office/powerpoint/2010/main" val="15009685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30B0AD1B-6268-40F3-B81E-B5885E2C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CEEA0F-99F9-47E0-A750-E32F5C93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Hand-computing precision, recall, and F1 from raw counts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05B46-BE23-4FF0-9496-1795E21B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DCEE40B-A826-4726-9046-B4182826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C43DDB0-0923-4236-AB53-E923D579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F3AA3CC-4919-4394-805B-3D23149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589EF6A-4290-4652-87D8-44B221B5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TN, FP, FN, TP = 18, 1, 3, 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precision = TP / (TP + FP)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recall = TP / (TP + FN)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f1 = 2 * precision * recall / (precision + recall)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print(round(precision, 4), round(recall, 4), round(f1, 4))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FE538-E01F-4678-BBD9-60279399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2863F99D-02E1-480B-A79B-4C3ADCB0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AB83A59-6C12-4262-B007-377F56E8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0.8571 0.6667 0.7500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FFE26055-FEBE-4692-AFA7-ECB6E825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No sklearn call needed — just the four counts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0900E55-58E8-4C08-BF96-95A4D6DF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7872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These validation counts reproduce sklearn's metrics. The final-test matrix remains sealed until selection is complete.</a:t>
            </a:r>
          </a:p>
        </p:txBody>
      </p:sp>
    </p:spTree>
    <p:extLst>
      <p:ext uri="{BB962C8B-B14F-4D97-AF65-F5344CB8AC3E}">
        <p14:creationId xmlns:p14="http://schemas.microsoft.com/office/powerpoint/2010/main" val="13635334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3240C19E-1F47-4C62-B614-EC603E1B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1B9BA7-EFC0-4AFC-92F5-C7630C3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function for every threshold, not one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3F7C1-9A11-4E8B-858B-9C2228B0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4EE2259-F38C-4DC0-A5AB-1CC07610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38B58CA-1B54-4FBE-8CB6-0267D989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913AC2F-A4F7-4A16-B3F0-4375F61A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075003B-B751-491B-8E65-026E24CD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sklearn.metrics import confusion_matrix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threshold_sweep(y_true, probs, cuts: list) -&gt; None: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"""Print confusion counts and guarded rates."""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t in cuts: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pred = (probs &gt;= t).astype(int)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tn, fp, fn, tp = confusion_matrix(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y_true, pred).ravel()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precision = tp / (tp + fp) if tp + fp else 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recall = tp / (tp + fn) if tp + fn else 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print(t, "TN FP FN TP:", tn, fp, fn, tp,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"| P", round(precision, 3),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"R", round(recall, 3))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6DD1650-8847-43F1-9231-716BA000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0507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previous slide's arithmetic, now guarded and looped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9DEBADA6-6DCE-458D-9A72-38D7B7EC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78733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formulas are unchanged when denominators are positive. The inline guards return 0.0 when a threshold predicts no positives, so the full candidate grid can be printed without a division error.</a:t>
            </a:r>
          </a:p>
        </p:txBody>
      </p:sp>
    </p:spTree>
    <p:extLst>
      <p:ext uri="{BB962C8B-B14F-4D97-AF65-F5344CB8AC3E}">
        <p14:creationId xmlns:p14="http://schemas.microsoft.com/office/powerpoint/2010/main" val="14828886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21AA565-32E7-4A79-8AE9-886DD109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BCC1F0-12E2-430C-ABC0-177AF107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five cutoffs, one printed sweep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71824-049A-4163-8FD9-B5C07E4B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A1DAD98-F434-4195-A4BE-A9EF5455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AC787B6-7E8C-4173-8246-2E6D61FB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6C5D8972-E096-4812-850B-3C08991A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E8DC1E0-FD85-469C-B576-4E0E5358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27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probs_val = clf.predict_proba(X_val)[:, 1]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cuts = [0.3, 0.4, 0.5, 0.6, 0.7]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threshold_sweep(y_val, probs_val, cuts)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chosen = 0.5  # predeclared FPR/recall rule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print('frozen threshold:', chosen)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D0DD9-7BDC-4ABE-B895-6770E4AE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683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2C48189-FFF9-4854-B333-7C2C3507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113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28340FB7-EE6E-4220-9063-B0EA89BC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9734"/>
            <a:ext cx="6400800" cy="1099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0.3 TN FP FN TP: 12 7 1 8 | P 0.533 R 0.889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0.4 TN FP FN TP: 17 2 1 8 | P 0.800 R 0.889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0.5 TN FP FN TP: 18 1 3 6 | P 0.857 R 0.667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0.6 TN FP FN TP: 19 0 8 1 | P 1.000 R 0.111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0.7 TN FP FN TP: 19 0 9 0 | P 0.000 R 0.000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frozen threshold: 0.5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F8FACB80-7635-4825-81DC-E0679468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5747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consequence rule turns a sweep into a reproducible choice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06208EE-8841-4177-A29B-AD2761CC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1133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Before opening the final test, require validation FPR≤10%, then maximize recall among qualifying thresholds. The selected value is 0.5 by rule, not by default.</a:t>
            </a:r>
          </a:p>
        </p:txBody>
      </p:sp>
    </p:spTree>
    <p:extLst>
      <p:ext uri="{BB962C8B-B14F-4D97-AF65-F5344CB8AC3E}">
        <p14:creationId xmlns:p14="http://schemas.microsoft.com/office/powerpoint/2010/main" val="20152227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52FABE97-35BC-45B4-B666-44D23C6A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936D126-B1F2-4B30-A4E2-9EC8473A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Threshold,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D0BEB-FABA-458D-AA6F-0BFA6F5A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2A0DF52-5ECE-44A5-96A6-ABA15803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F27288-CFEA-4E6B-8D9C-4E5BF19B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A9ECA071-79FA-4569-BBCC-377008B5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3B6A8248-E5A3-4FD4-A787-CBBADA70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threshold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EB349-269B-4788-9AD9-C48D144B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2236F3E8-F526-4C6E-ACCC-FC9D7DBA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probability cutoff — default 0.5 — above which predict_proba's output becomes a 'go' call. Everything below the cutoff becomes 'no-go.' Nothing forces you to keep the default.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F7937B00-C3CF-4CEC-A94F-CAECD9BB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49D50A45-BB0B-44A5-8A9E-59E5FF98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5A134C21-2214-4380-8CD0-CA7D1B31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model, different cutoffs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C83E1DF4-28F3-4FD3-A706-314FC3AA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Raising the threshold from 0.5 to 0.6 does not refit anything — it only changes which predicted probabilities cross the line into a 'go' call. The next slides sweep five different cutoffs on this exact model.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DD532ABF-1E9F-4A6D-8471-00BFCE28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8B1EE614-9835-4D44-8AA8-D634A3D6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34333A7F-77A2-4F72-A537-901C0157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Changing the threshold changes ZERO coefficients — clf.coef_ and clf.intercept_ stay identical. Only the FINAL yes/no decision, and therefore the confusion matrix, changes.</a:t>
            </a:r>
          </a:p>
        </p:txBody>
      </p:sp>
    </p:spTree>
    <p:extLst>
      <p:ext uri="{BB962C8B-B14F-4D97-AF65-F5344CB8AC3E}">
        <p14:creationId xmlns:p14="http://schemas.microsoft.com/office/powerpoint/2010/main" val="7088087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CA6C6BEC-320F-49D9-AF61-369A89B3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AA6078-B731-4E50-A16D-C3F8B981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Predict: F1 at the strictest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C90DF-EA24-485D-862B-4594A82A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73935CA-9CB9-4485-8F4E-38B48880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DA09A3B-F7D9-48E0-9F43-5E535DE1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3EFEBBA7-FDB8-4ED5-A7FC-401F2309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AD48DC6-A6D7-49BF-915D-4C45ACA0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t in [0.5, 0.6, 0.7]: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pred_t = (probs_val &gt;= t).astype(int)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print(t, precision_score(y_val, pred_t, zero_division=0),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recall_score(y_val, pred_t, zero_division=0))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97EC2CE2-4618-4BB3-A40C-23029F02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At threshold 0.7, TP=0. What is the F1 score?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27F1A349-5476-4204-ADFE-DFAD19E2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37A58058-1D7B-4F17-8C4B-41E69D07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E313C63A-43C7-4765-98D4-E8FBB6D2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1.000 — perfect, since there are no false positives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ED0FF8B1-DF3F-4691-8EF8-0717EBB2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A84BE9A8-394F-4193-A693-00AC18D9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03332EBF-0B69-43BD-886B-0F9E74B2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0.400 — same as threshold 0.6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9653C808-6F1D-4A74-B07F-101F28AF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E27D57DB-0CD8-4ED9-B638-B9DA07B3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437AB4CA-656A-4849-B125-72FC8502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0.207 — roughly halfway between 0.5's and 0.6's F1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D9061D07-4B6E-4E31-9C0E-F409DB3A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08A03F7B-664D-4EBD-9828-E1FAAC6E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DC5CA3B4-AF80-4AC6-A347-9BB2B780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0.000 — precision and recall both collapse to zero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C2AB8D9F-C2CF-4460-938D-FEE01F6B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6A806ECD-A554-4CB6-B1EE-BB5D97B0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D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AFD36D71-64A8-4839-9402-15EC2F5C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TP=0 collapses both precision and recall to 0.000 by convention — calling nothing 'go' earns no credit.</a:t>
            </a:r>
          </a:p>
        </p:txBody>
      </p:sp>
    </p:spTree>
    <p:extLst>
      <p:ext uri="{BB962C8B-B14F-4D97-AF65-F5344CB8AC3E}">
        <p14:creationId xmlns:p14="http://schemas.microsoft.com/office/powerpoint/2010/main" val="2278814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kicker">
            <a:extLst xmlns:a="http://schemas.openxmlformats.org/drawingml/2006/main">
              <a:ext uri="{FF2B5EF4-FFF2-40B4-BE49-F238E27FC236}">
                <a16:creationId xmlns:a16="http://schemas.microsoft.com/office/drawing/2014/main" id="{EA8E38E0-BA37-44B4-A879-0C14D70A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9A40F0-983A-4CF6-97C0-D37D2A00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Threshold sweep: same model, only the cutoff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E9839-31CD-40B1-A4B0-27957253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7AC8826-1392-43F0-BC94-994C8D8C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E2E4A2A-85E3-4528-8E25-7A7E1C37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176D5-CC4B-43D0-980B-E08BC559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928688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3EB07039-884E-4921-BFA3-E79BC360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700088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cutoff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532C5-A41F-4525-91CB-E1755029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2266950"/>
            <a:ext cx="928688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EAF86C3D-93DE-4EC6-8FC1-6B9C717B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2343150"/>
            <a:ext cx="700088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2BB4C-D40F-4AB7-8203-BA30D9F4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266950"/>
            <a:ext cx="928688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AACAED72-0DB8-432C-8087-4AB0F2EF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343150"/>
            <a:ext cx="700088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BA20F-41D6-46AD-86B3-3485C266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266950"/>
            <a:ext cx="928688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2D85BDA7-8859-4FED-B5EB-EDE6856F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343150"/>
            <a:ext cx="700088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9989C-0580-4951-BED0-38833282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928688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header-4">
            <a:extLst xmlns:a="http://schemas.openxmlformats.org/drawingml/2006/main">
              <a:ext uri="{FF2B5EF4-FFF2-40B4-BE49-F238E27FC236}">
                <a16:creationId xmlns:a16="http://schemas.microsoft.com/office/drawing/2014/main" id="{8231A20C-8B7E-4F63-9831-D94859AA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700088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AE576-AFA7-474D-9493-C8A008BA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2266950"/>
            <a:ext cx="928688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2D0872D7-EC16-46D7-904A-3C29A9C2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2343150"/>
            <a:ext cx="700088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1F560-40C8-48BF-AC73-F8E2C7E4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66950"/>
            <a:ext cx="928688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header-6">
            <a:extLst xmlns:a="http://schemas.openxmlformats.org/drawingml/2006/main">
              <a:ext uri="{FF2B5EF4-FFF2-40B4-BE49-F238E27FC236}">
                <a16:creationId xmlns:a16="http://schemas.microsoft.com/office/drawing/2014/main" id="{07CF6905-6D3C-4889-8ACA-D77B2739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43150"/>
            <a:ext cx="700088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A0FD7-B194-4F6D-9B5B-F537CDB4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2266950"/>
            <a:ext cx="928688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header-7">
            <a:extLst xmlns:a="http://schemas.openxmlformats.org/drawingml/2006/main">
              <a:ext uri="{FF2B5EF4-FFF2-40B4-BE49-F238E27FC236}">
                <a16:creationId xmlns:a16="http://schemas.microsoft.com/office/drawing/2014/main" id="{E3586885-0AD3-4B2A-B30F-39F0879C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2343150"/>
            <a:ext cx="700088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8DBF3-3393-418A-93B0-2524BDE6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79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0-0">
            <a:extLst xmlns:a="http://schemas.openxmlformats.org/drawingml/2006/main">
              <a:ext uri="{FF2B5EF4-FFF2-40B4-BE49-F238E27FC236}">
                <a16:creationId xmlns:a16="http://schemas.microsoft.com/office/drawing/2014/main" id="{D9D9EE46-040E-4807-BFAC-88EDBEBF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41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B75C6-3895-41BE-AA17-5F89AB84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28079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0-1">
            <a:extLst xmlns:a="http://schemas.openxmlformats.org/drawingml/2006/main">
              <a:ext uri="{FF2B5EF4-FFF2-40B4-BE49-F238E27FC236}">
                <a16:creationId xmlns:a16="http://schemas.microsoft.com/office/drawing/2014/main" id="{AC34176B-CE2A-4FB0-BC1B-12335686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28841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A3B099-F486-4503-8E07-BD8B75C1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079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0-2">
            <a:extLst xmlns:a="http://schemas.openxmlformats.org/drawingml/2006/main">
              <a:ext uri="{FF2B5EF4-FFF2-40B4-BE49-F238E27FC236}">
                <a16:creationId xmlns:a16="http://schemas.microsoft.com/office/drawing/2014/main" id="{02AA1341-B235-49F8-A7CC-DEEDF575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841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597553-1A6D-4155-90FA-C9A66FE2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8079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0-3">
            <a:extLst xmlns:a="http://schemas.openxmlformats.org/drawingml/2006/main">
              <a:ext uri="{FF2B5EF4-FFF2-40B4-BE49-F238E27FC236}">
                <a16:creationId xmlns:a16="http://schemas.microsoft.com/office/drawing/2014/main" id="{F0938193-DEB7-476E-85F5-7F433B0F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8841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E90CEF-FDE2-49CF-B00C-9F23105F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79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0-4">
            <a:extLst xmlns:a="http://schemas.openxmlformats.org/drawingml/2006/main">
              <a:ext uri="{FF2B5EF4-FFF2-40B4-BE49-F238E27FC236}">
                <a16:creationId xmlns:a16="http://schemas.microsoft.com/office/drawing/2014/main" id="{37A05E21-4C79-4801-B9C5-85ED0E78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841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6D3729-FB1B-48D2-8492-CA54B953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28079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0-5">
            <a:extLst xmlns:a="http://schemas.openxmlformats.org/drawingml/2006/main">
              <a:ext uri="{FF2B5EF4-FFF2-40B4-BE49-F238E27FC236}">
                <a16:creationId xmlns:a16="http://schemas.microsoft.com/office/drawing/2014/main" id="{6D9407E8-2569-477D-B242-25DFB4F2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28841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0.533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F7995B-1715-4D44-8FF3-E8A88758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079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0-6">
            <a:extLst xmlns:a="http://schemas.openxmlformats.org/drawingml/2006/main">
              <a:ext uri="{FF2B5EF4-FFF2-40B4-BE49-F238E27FC236}">
                <a16:creationId xmlns:a16="http://schemas.microsoft.com/office/drawing/2014/main" id="{1B8C5980-ACC1-47EE-9B73-44479B0C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841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0.889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D97AC2-A139-4325-ABC3-4EC3101D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28079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0-7">
            <a:extLst xmlns:a="http://schemas.openxmlformats.org/drawingml/2006/main">
              <a:ext uri="{FF2B5EF4-FFF2-40B4-BE49-F238E27FC236}">
                <a16:creationId xmlns:a16="http://schemas.microsoft.com/office/drawing/2014/main" id="{013D27B5-ADD5-449E-98FD-AC1B77BC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28841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0.667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2ECC0D-FE25-4DBA-8197-74D73829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13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1-0">
            <a:extLst xmlns:a="http://schemas.openxmlformats.org/drawingml/2006/main">
              <a:ext uri="{FF2B5EF4-FFF2-40B4-BE49-F238E27FC236}">
                <a16:creationId xmlns:a16="http://schemas.microsoft.com/office/drawing/2014/main" id="{6CF9DE0F-52B1-4CEB-9E7C-0EC6A68E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75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BE838C-0DAB-4AD1-9AEB-4D621B0D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33413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1-1">
            <a:extLst xmlns:a="http://schemas.openxmlformats.org/drawingml/2006/main">
              <a:ext uri="{FF2B5EF4-FFF2-40B4-BE49-F238E27FC236}">
                <a16:creationId xmlns:a16="http://schemas.microsoft.com/office/drawing/2014/main" id="{6D675F46-6E6C-4184-945A-A28E629E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4175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ABC69F-54D6-4FCA-A299-9C9CDC70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413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3" name="cell-1-2">
            <a:extLst xmlns:a="http://schemas.openxmlformats.org/drawingml/2006/main">
              <a:ext uri="{FF2B5EF4-FFF2-40B4-BE49-F238E27FC236}">
                <a16:creationId xmlns:a16="http://schemas.microsoft.com/office/drawing/2014/main" id="{977787BA-AE4E-4005-8A7A-F64DCE0C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175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5C42E8-E4B0-464C-AF59-AA64F43D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33413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5" name="cell-1-3">
            <a:extLst xmlns:a="http://schemas.openxmlformats.org/drawingml/2006/main">
              <a:ext uri="{FF2B5EF4-FFF2-40B4-BE49-F238E27FC236}">
                <a16:creationId xmlns:a16="http://schemas.microsoft.com/office/drawing/2014/main" id="{3A561114-608C-422D-BB02-E3562813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4175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F7D6E0-ED69-460D-8EE0-0E52710C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413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7" name="cell-1-4">
            <a:extLst xmlns:a="http://schemas.openxmlformats.org/drawingml/2006/main">
              <a:ext uri="{FF2B5EF4-FFF2-40B4-BE49-F238E27FC236}">
                <a16:creationId xmlns:a16="http://schemas.microsoft.com/office/drawing/2014/main" id="{E8DF6B39-43E4-4F2D-86B9-1C619929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175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C893D5-63D3-459A-BC53-7A807612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33413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9" name="cell-1-5">
            <a:extLst xmlns:a="http://schemas.openxmlformats.org/drawingml/2006/main">
              <a:ext uri="{FF2B5EF4-FFF2-40B4-BE49-F238E27FC236}">
                <a16:creationId xmlns:a16="http://schemas.microsoft.com/office/drawing/2014/main" id="{B2664A67-16A8-4092-9523-BD20A517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34175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0.800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49DFFF-54F7-497D-A550-1EC04D2A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413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1" name="cell-1-6">
            <a:extLst xmlns:a="http://schemas.openxmlformats.org/drawingml/2006/main">
              <a:ext uri="{FF2B5EF4-FFF2-40B4-BE49-F238E27FC236}">
                <a16:creationId xmlns:a16="http://schemas.microsoft.com/office/drawing/2014/main" id="{1E912BB6-E3D6-48BF-9656-6CD74BB3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175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0.889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CBFD7C-556F-4903-B859-B22AD987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4137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3" name="cell-1-7">
            <a:extLst xmlns:a="http://schemas.openxmlformats.org/drawingml/2006/main">
              <a:ext uri="{FF2B5EF4-FFF2-40B4-BE49-F238E27FC236}">
                <a16:creationId xmlns:a16="http://schemas.microsoft.com/office/drawing/2014/main" id="{5F1426AC-319C-4606-915E-7994A420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341757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0.842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BB1F06-432F-47F4-AAFC-6C7470D5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4770"/>
            <a:ext cx="928688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5" name="cell-2-0">
            <a:extLst xmlns:a="http://schemas.openxmlformats.org/drawingml/2006/main">
              <a:ext uri="{FF2B5EF4-FFF2-40B4-BE49-F238E27FC236}">
                <a16:creationId xmlns:a16="http://schemas.microsoft.com/office/drawing/2014/main" id="{A86BDA5F-1FF8-45D8-816F-E298EBC5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0970"/>
            <a:ext cx="700088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0.5 (selected)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45F9C1-A826-45BB-A90B-0734D788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3874770"/>
            <a:ext cx="928688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7" name="cell-2-1">
            <a:extLst xmlns:a="http://schemas.openxmlformats.org/drawingml/2006/main">
              <a:ext uri="{FF2B5EF4-FFF2-40B4-BE49-F238E27FC236}">
                <a16:creationId xmlns:a16="http://schemas.microsoft.com/office/drawing/2014/main" id="{6F706CDF-EDCD-41CB-93F2-D08655A2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950970"/>
            <a:ext cx="700088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302D01-5A06-4B01-A1B8-51B8E01C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74770"/>
            <a:ext cx="928688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9" name="cell-2-2">
            <a:extLst xmlns:a="http://schemas.openxmlformats.org/drawingml/2006/main">
              <a:ext uri="{FF2B5EF4-FFF2-40B4-BE49-F238E27FC236}">
                <a16:creationId xmlns:a16="http://schemas.microsoft.com/office/drawing/2014/main" id="{D94E40C5-A195-4312-97B0-A55FEA03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950970"/>
            <a:ext cx="700088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E99B4A-F6B8-4B12-B014-F6DCD1C6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3874770"/>
            <a:ext cx="928688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61" name="cell-2-3">
            <a:extLst xmlns:a="http://schemas.openxmlformats.org/drawingml/2006/main">
              <a:ext uri="{FF2B5EF4-FFF2-40B4-BE49-F238E27FC236}">
                <a16:creationId xmlns:a16="http://schemas.microsoft.com/office/drawing/2014/main" id="{8556E0FB-6313-47AF-ACB5-018DC7D8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950970"/>
            <a:ext cx="700088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4907D1A-48C0-4441-B3AC-CAE90BA8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74770"/>
            <a:ext cx="928688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63" name="cell-2-4">
            <a:extLst xmlns:a="http://schemas.openxmlformats.org/drawingml/2006/main">
              <a:ext uri="{FF2B5EF4-FFF2-40B4-BE49-F238E27FC236}">
                <a16:creationId xmlns:a16="http://schemas.microsoft.com/office/drawing/2014/main" id="{C61088C1-55FE-4B98-9F5E-AFD52BE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50970"/>
            <a:ext cx="700088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41F088-A414-4ABD-A7E0-93DE687E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3874770"/>
            <a:ext cx="928688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65" name="cell-2-5">
            <a:extLst xmlns:a="http://schemas.openxmlformats.org/drawingml/2006/main">
              <a:ext uri="{FF2B5EF4-FFF2-40B4-BE49-F238E27FC236}">
                <a16:creationId xmlns:a16="http://schemas.microsoft.com/office/drawing/2014/main" id="{7F208524-8AAE-4B55-AF1B-5F024755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3950970"/>
            <a:ext cx="700088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0.857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3AC30F-07F7-4725-9CDF-81AE5D1D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74770"/>
            <a:ext cx="928688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67" name="cell-2-6">
            <a:extLst xmlns:a="http://schemas.openxmlformats.org/drawingml/2006/main">
              <a:ext uri="{FF2B5EF4-FFF2-40B4-BE49-F238E27FC236}">
                <a16:creationId xmlns:a16="http://schemas.microsoft.com/office/drawing/2014/main" id="{F45061B2-CE60-4819-806A-6B3A7DC2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50970"/>
            <a:ext cx="700088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0.667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24F4F2-2138-4D6D-B71E-914E19E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874770"/>
            <a:ext cx="928688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69" name="cell-2-7">
            <a:extLst xmlns:a="http://schemas.openxmlformats.org/drawingml/2006/main">
              <a:ext uri="{FF2B5EF4-FFF2-40B4-BE49-F238E27FC236}">
                <a16:creationId xmlns:a16="http://schemas.microsoft.com/office/drawing/2014/main" id="{205C8A9E-1E7C-4596-BD5B-D2099D2F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3950970"/>
            <a:ext cx="700088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0.750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CF11FA6-16F7-46DF-A6DD-B8C194A2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1" name="cell-3-0">
            <a:extLst xmlns:a="http://schemas.openxmlformats.org/drawingml/2006/main">
              <a:ext uri="{FF2B5EF4-FFF2-40B4-BE49-F238E27FC236}">
                <a16:creationId xmlns:a16="http://schemas.microsoft.com/office/drawing/2014/main" id="{5C0E9C25-043F-4A8A-B449-4A684D85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167BC7-C3B9-44FE-B737-A44D2F36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46101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3" name="cell-3-1">
            <a:extLst xmlns:a="http://schemas.openxmlformats.org/drawingml/2006/main">
              <a:ext uri="{FF2B5EF4-FFF2-40B4-BE49-F238E27FC236}">
                <a16:creationId xmlns:a16="http://schemas.microsoft.com/office/drawing/2014/main" id="{3A57AE46-8F8E-479A-BBA2-FD68CE99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46863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BCAA49D-1665-44C3-AE43-318E318E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6101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5" name="cell-3-2">
            <a:extLst xmlns:a="http://schemas.openxmlformats.org/drawingml/2006/main">
              <a:ext uri="{FF2B5EF4-FFF2-40B4-BE49-F238E27FC236}">
                <a16:creationId xmlns:a16="http://schemas.microsoft.com/office/drawing/2014/main" id="{F14BC1C2-ACF8-4538-9680-E585AC33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863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9F01EA-5243-4180-BEF6-93C07B03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46101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7" name="cell-3-3">
            <a:extLst xmlns:a="http://schemas.openxmlformats.org/drawingml/2006/main">
              <a:ext uri="{FF2B5EF4-FFF2-40B4-BE49-F238E27FC236}">
                <a16:creationId xmlns:a16="http://schemas.microsoft.com/office/drawing/2014/main" id="{3A87B45F-5BAF-42C7-833C-CBA4E03F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46863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480CFB0-FB73-495D-96A1-D4FA9685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101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9" name="cell-3-4">
            <a:extLst xmlns:a="http://schemas.openxmlformats.org/drawingml/2006/main">
              <a:ext uri="{FF2B5EF4-FFF2-40B4-BE49-F238E27FC236}">
                <a16:creationId xmlns:a16="http://schemas.microsoft.com/office/drawing/2014/main" id="{92CC219B-BEAD-46CB-8194-F8F233EA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863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CCFF631-7B4D-4262-B60B-F777CA55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6101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81" name="cell-3-5">
            <a:extLst xmlns:a="http://schemas.openxmlformats.org/drawingml/2006/main">
              <a:ext uri="{FF2B5EF4-FFF2-40B4-BE49-F238E27FC236}">
                <a16:creationId xmlns:a16="http://schemas.microsoft.com/office/drawing/2014/main" id="{1EAB1974-E1A0-4F6E-B26A-3A218132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46863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1B85B75-FEC2-4040-92AB-424256B8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101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83" name="cell-3-6">
            <a:extLst xmlns:a="http://schemas.openxmlformats.org/drawingml/2006/main">
              <a:ext uri="{FF2B5EF4-FFF2-40B4-BE49-F238E27FC236}">
                <a16:creationId xmlns:a16="http://schemas.microsoft.com/office/drawing/2014/main" id="{A5969850-D60A-43F0-83BA-1F116531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863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0.111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0A63CC6-615D-4ED7-BF8F-02A0D6AD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46101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85" name="cell-3-7">
            <a:extLst xmlns:a="http://schemas.openxmlformats.org/drawingml/2006/main">
              <a:ext uri="{FF2B5EF4-FFF2-40B4-BE49-F238E27FC236}">
                <a16:creationId xmlns:a16="http://schemas.microsoft.com/office/drawing/2014/main" id="{4C9B27EA-2D0A-4CF2-8CC9-FF3928BB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46863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0.200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ED48DEB-621B-4B5B-B646-9AF5DE6A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87" name="cell-4-0">
            <a:extLst xmlns:a="http://schemas.openxmlformats.org/drawingml/2006/main">
              <a:ext uri="{FF2B5EF4-FFF2-40B4-BE49-F238E27FC236}">
                <a16:creationId xmlns:a16="http://schemas.microsoft.com/office/drawing/2014/main" id="{1FF0E947-1DAD-47DB-BA00-60F5024E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7B210CF-B3C6-43E3-99ED-11E0E0D9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51435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89" name="cell-4-1">
            <a:extLst xmlns:a="http://schemas.openxmlformats.org/drawingml/2006/main">
              <a:ext uri="{FF2B5EF4-FFF2-40B4-BE49-F238E27FC236}">
                <a16:creationId xmlns:a16="http://schemas.microsoft.com/office/drawing/2014/main" id="{6BEB4653-6069-41F6-AB2B-EC15D4DA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52197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DF406D-8F09-4ED9-B5F7-57185693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1435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91" name="cell-4-2">
            <a:extLst xmlns:a="http://schemas.openxmlformats.org/drawingml/2006/main">
              <a:ext uri="{FF2B5EF4-FFF2-40B4-BE49-F238E27FC236}">
                <a16:creationId xmlns:a16="http://schemas.microsoft.com/office/drawing/2014/main" id="{B75DFEDA-B497-4722-9194-E8DA669E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2197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39B1E29-3585-4A4A-84D2-23ED8133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51435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93" name="cell-4-3">
            <a:extLst xmlns:a="http://schemas.openxmlformats.org/drawingml/2006/main">
              <a:ext uri="{FF2B5EF4-FFF2-40B4-BE49-F238E27FC236}">
                <a16:creationId xmlns:a16="http://schemas.microsoft.com/office/drawing/2014/main" id="{0D0A2E34-CA38-4595-AE7E-E7BCADD6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52197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1D6D689-74F2-4AA9-AECD-9495B508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435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95" name="cell-4-4">
            <a:extLst xmlns:a="http://schemas.openxmlformats.org/drawingml/2006/main">
              <a:ext uri="{FF2B5EF4-FFF2-40B4-BE49-F238E27FC236}">
                <a16:creationId xmlns:a16="http://schemas.microsoft.com/office/drawing/2014/main" id="{BB89EAB8-4160-4410-8AC9-9E04A8F1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197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DDBC0F6-C47E-48B9-A17E-775FF7A4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51435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97" name="cell-4-5">
            <a:extLst xmlns:a="http://schemas.openxmlformats.org/drawingml/2006/main">
              <a:ext uri="{FF2B5EF4-FFF2-40B4-BE49-F238E27FC236}">
                <a16:creationId xmlns:a16="http://schemas.microsoft.com/office/drawing/2014/main" id="{FFD31FC0-D944-48DC-9D1F-E67E33B5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52197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0.000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E4AF703-7DA8-464D-A753-5DFA1AC0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1435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99" name="cell-4-6">
            <a:extLst xmlns:a="http://schemas.openxmlformats.org/drawingml/2006/main">
              <a:ext uri="{FF2B5EF4-FFF2-40B4-BE49-F238E27FC236}">
                <a16:creationId xmlns:a16="http://schemas.microsoft.com/office/drawing/2014/main" id="{C06B1D95-D7A6-4A48-98FD-2947D52C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2197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0.000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70F30B8-C6B2-4DE5-9FC2-27096D39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5143500"/>
            <a:ext cx="9286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1" name="cell-4-7">
            <a:extLst xmlns:a="http://schemas.openxmlformats.org/drawingml/2006/main">
              <a:ext uri="{FF2B5EF4-FFF2-40B4-BE49-F238E27FC236}">
                <a16:creationId xmlns:a16="http://schemas.microsoft.com/office/drawing/2014/main" id="{46F87F1A-6AB2-4A2A-AA0B-823E5698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5219700"/>
            <a:ext cx="7000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0.000</a:t>
            </a:r>
          </a:p>
        </p:txBody>
      </p:sp>
      <p:sp>
        <p:nvSpPr>
          <p:cNvPr id="10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EFCCC0DC-327E-4935-80D7-9304C6C1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103" name="callout">
            <a:extLst xmlns:a="http://schemas.openxmlformats.org/drawingml/2006/main">
              <a:ext uri="{FF2B5EF4-FFF2-40B4-BE49-F238E27FC236}">
                <a16:creationId xmlns:a16="http://schemas.microsoft.com/office/drawing/2014/main" id="{1566C3B7-76E1-4D45-8BFB-5E8538AD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fitted model and 28 validation designs; only the cutoff changes. Use these rows to select the policy—never to report final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7078845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279C9EC-F325-4C88-A02A-9982DD4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79BD29-E591-4B2B-A8C5-D1206845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Which mistake is more dangerous here?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B71A8-C9F8-4652-8A2C-B81C4A54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3D4C81A-7F6A-4658-A107-C00AB0B5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5C7BD80-8E6E-4462-8C84-09E5E1FF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887FA3AF-00AB-4E2B-95EA-DFBCE4FC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829800" cy="2051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false positive—saying GO when a design actually fails code—creates a costly failed review. A false negative discards a viable option.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15BA9-14EE-439C-94DC-D0DCE044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1104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C3EA073E-B3B9-434F-9380-20B09461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4954"/>
            <a:ext cx="93345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Turn that asymmetry into a reproducible validation rule: require FPR≤10%, then maximize recall among qualifying thresholds. Threshold 0.4 narrowly fails; 0.5 qualifies and retains far more positives than 0.6. The value equals the software default only by coincidence.</a:t>
            </a:r>
          </a:p>
        </p:txBody>
      </p:sp>
    </p:spTree>
    <p:extLst>
      <p:ext uri="{BB962C8B-B14F-4D97-AF65-F5344CB8AC3E}">
        <p14:creationId xmlns:p14="http://schemas.microsoft.com/office/powerpoint/2010/main" val="21118696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37844835-4674-4A19-B732-81CFA2DE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02FD77-7D88-40BF-8818-487F7F37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Freeze the operating point: threshold = 0.5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A33DB-87BA-4794-94FE-724EA810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B84E028-A886-41AC-950C-CA6404CE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058F7E2-D9C2-41F0-9DB1-E05CF103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8507C-7D10-415D-A475-E3F34438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23E62429-1F5B-46C0-8D8D-E6CC1535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selection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71661-5B62-482E-A64E-ADAE03C8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C80364D4-3562-4F7C-8967-AEE955B6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051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A06B3-716B-4268-96FD-A8DFDF28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DCCFE905-DF79-4846-8B48-B27E0AA0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predeclared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FA195-DF91-4D63-96A8-C3C49D6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248E04A8-995C-4C2D-BFF4-31F9C3A5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FPR ≤10%; among qualifying thresholds, maximize 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615D5-831D-4E90-8E5C-A6252A86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332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846DA176-ACF7-4FEA-B5B4-4F21CCE2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952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at 0.5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3A53F-15F6-4743-9E7A-4100EA99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0332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CE050BFE-D3ED-40B8-A493-10DF1984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952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TN=18, FP=1, FN=3, TP=6; FPR=5.3%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81319-C95C-4F3D-8303-1FCEBF7E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672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EC33E93C-D6F6-456A-8464-19B3C75A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292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precision / recall / 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508AF-8B30-49D5-A50C-D21F2A7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3672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D13C86FD-BA24-4C8B-AB42-AAD5C266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292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0.857 / 0.667 / 0.750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5620C-A864-4E51-A9FD-ECDBD461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012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AEA1FC2F-1530-49C8-B2D9-66FAA989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632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not 0.6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2F02EB-47A1-4143-B621-EB58C36E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7012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3-1">
            <a:extLst xmlns:a="http://schemas.openxmlformats.org/drawingml/2006/main">
              <a:ext uri="{FF2B5EF4-FFF2-40B4-BE49-F238E27FC236}">
                <a16:creationId xmlns:a16="http://schemas.microsoft.com/office/drawing/2014/main" id="{066795D1-08D2-4733-A3D1-6CBC835E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4632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FPR improves to 0%, but recall collapses to 0.111</a:t>
            </a:r>
          </a:p>
        </p:txBody>
      </p:sp>
      <p:sp>
        <p:nvSpPr>
          <p:cNvPr id="2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C635C1AC-4E92-447F-9065-EE90A89B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27" name="callout">
            <a:extLst xmlns:a="http://schemas.openxmlformats.org/drawingml/2006/main">
              <a:ext uri="{FF2B5EF4-FFF2-40B4-BE49-F238E27FC236}">
                <a16:creationId xmlns:a16="http://schemas.microsoft.com/office/drawing/2014/main" id="{888FED28-A8A8-4B8F-BC7A-FBCD7E7D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Now freeze the model and threshold. The final test may be opened once; its result cannot send us back to retune.</a:t>
            </a:r>
          </a:p>
        </p:txBody>
      </p:sp>
    </p:spTree>
    <p:extLst>
      <p:ext uri="{BB962C8B-B14F-4D97-AF65-F5344CB8AC3E}">
        <p14:creationId xmlns:p14="http://schemas.microsoft.com/office/powerpoint/2010/main" val="661037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22AC84D4-399F-45F7-B1D5-DF9AFFC3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C55859-6D3A-420B-B499-31F52382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cross_val_score,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4F088-0912-45AE-9A10-3E9244F9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A5A40AF-CD48-4484-B5F4-1164F79D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237A501-B80B-4D39-946C-7FB70A7D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E040790C-B4B5-46DC-A4BD-80254302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978AEE03-9805-4F3E-BAE8-B3E362B5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cross_val_score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A30B6-25ED-4404-90EC-FF6E3B87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83059087-5920-4BA6-86B1-D204E3EE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Refits the model across several development-data folds and returns one score per held-out fold. Here it checks default-0.5 accuracy variability on the 112-row development set; it does not select or validate the threshold policy and it does not touch the final test.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D477D335-801C-4CF4-9383-3B96B4F6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454A110A-CF79-4224-BDA6-E1306C8F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WHAT IT ANSWERS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576C6D61-7587-4C07-87B0-7D4204D2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question it answers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97E6C356-5166-423F-BC9E-26777EFC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'Does this hold up on data it hasn't seen?' Five folds means five honest re-tries, not five chances to cherry-pick the best-looking one.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6BF2821D-EAD8-43EE-A28A-A443C6BB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3744C535-0299-4CC7-8291-D88C36B2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DF85292F-DA95-41EF-86A8-F57EE5CC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Fold-to-fold scores describe variability across these partitions. They are not a confidence interval, a prediction interval, or proof that a policy generalizes.</a:t>
            </a:r>
          </a:p>
        </p:txBody>
      </p:sp>
    </p:spTree>
    <p:extLst>
      <p:ext uri="{BB962C8B-B14F-4D97-AF65-F5344CB8AC3E}">
        <p14:creationId xmlns:p14="http://schemas.microsoft.com/office/powerpoint/2010/main" val="194880001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2882C9C4-5F97-446B-9D1B-DFD3D77D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FFD00C-516F-4FF0-A183-A5527EB0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cross_val_score in action — does this hold up?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AD2DD-555A-4A3C-954F-59F95A2A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CD6570C-7A6C-4325-9E91-565035B1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1ED415D-7F54-427D-A19C-9E43C5B9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C3D7F41-6A1F-4894-8D0E-F8DE38FD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4161CB7-9A01-4DA7-AADE-821C6D0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sklearn.model_selection import StratifiedKFold, cross_val_score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cv = StratifiedKFold(n_splits=5, shuffle=True, random_state=42)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scores = cross_val_score(LogisticRegression(), X_dev, y_dev,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     cv=cv, scoring='accuracy')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print(scores.round(4), round(scores.mean(), 4))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7EC08-1AA7-4491-88C1-BE93F1B6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5EE6D967-F17A-44AD-912B-9AA1BC45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40BEB8C5-C22F-48B4-8313-491B9D6C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[0.7826 0.6957 0.8636 0.6364 0.8182] 0.7593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7BA9C6E-8B9E-4D8C-BB00-36AB9152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Development-only variability check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598F7D23-649F-4039-9984-86353D23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Accuracy varies from 0.6364 to 0.8636 across folds. This checks a default-threshold scoring pipeline, not the consequence-selected threshold, and it is not an interval for a new case.</a:t>
            </a:r>
          </a:p>
        </p:txBody>
      </p:sp>
    </p:spTree>
    <p:extLst>
      <p:ext uri="{BB962C8B-B14F-4D97-AF65-F5344CB8AC3E}">
        <p14:creationId xmlns:p14="http://schemas.microsoft.com/office/powerpoint/2010/main" val="112898288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4F7E754F-8829-431A-B094-56B5A9D8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EDAB26-EDCD-484B-864E-C4D2CD84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Freeze, then open the final test once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ED4AB-B629-4484-8FB2-DD505EA7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1150CB7-8525-4004-908D-DB7406AC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67A98E8-9AC1-483B-876F-7C6506B0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AF066-2304-413F-94E1-D54EDA7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15C2C7B7-35FE-4693-9870-23EDC518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33D11-F1A8-4786-B004-8C2B5FF6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289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4D8AFE81-DDE1-4CCF-846C-D09B91F8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05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DD826-0EB5-4D74-A863-01182E90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289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488F685E-E784-42C0-9C3C-9D34318C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05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6926E-E72E-4EF4-90CC-B7BEEDCA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32EAE448-A339-4B94-BE94-56B4B2CA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threshold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54F35-FE0E-4444-A562-639F6C9B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23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0EBFD06C-A130-467C-85F3-4E2D09F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385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28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D8CEB-B970-46AC-8A9F-D70CD2B7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623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AED89BAC-7DEB-4D82-AEEF-D863C4E6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385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choose 0.5 under FPR≤10%, then max-recall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C63DB-0A26-4489-9413-23B08984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33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41631715-470B-47C2-B596-29364BC8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95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development CV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46056-D6A4-4B46-A802-5B166529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033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3077D6AC-B213-4910-A2E3-AFE3B98B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95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112 development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BFC8A-01C8-419F-889B-6A8E8158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033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88D9002F-C67C-4C39-9356-5EA59567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795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accuracy 0.6364–0.8636; mean 0.7593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2B511-E860-48E0-B653-D51E617F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434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B034B49C-B54A-47D4-8E75-3C647623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054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final evaluation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0435F-ED1F-49CD-AB15-0F4BF87C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4434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BEFDE9CE-3B0E-422C-98F9-F5CB38B0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2054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28 untouched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B4E0EA-3ECA-40F8-8E76-5B7E65C9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4434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BFFD06F1-CE8C-4D6D-A537-D38B19F2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054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TN=16, FP=2, FN=8, TP=2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4F0EE1-DF4D-44F6-9280-9999610C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774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506F5C72-D7A2-4BEB-AE99-D0F2CEC6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394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final metrics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A43019-5566-4B09-B0E8-5EB04226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7774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3799CB5A-54AC-4A44-A351-E123C57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5394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frozen threshold 0.5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AD8A07-32C0-4569-8EE8-4CAC5C20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7774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E54CF50A-6DE1-44E7-92F1-3A95171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5394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precision=0.500, recall=0.200, F1=0.286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AD7A9BEE-CF84-438C-AC6C-71E13699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3B52CD3F-8165-423F-9F36-97CF4D9D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final-test drop is the honest result. Do not retune after seeing it; revise only in a future, separately evaluated model version.</a:t>
            </a:r>
          </a:p>
        </p:txBody>
      </p:sp>
    </p:spTree>
    <p:extLst>
      <p:ext uri="{BB962C8B-B14F-4D97-AF65-F5344CB8AC3E}">
        <p14:creationId xmlns:p14="http://schemas.microsoft.com/office/powerpoint/2010/main" val="11934320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9F76305D-99E2-41F4-8979-58F11348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E45A5A-1107-4CC4-989D-3F45B0B4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Model card,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0B5EC-E0DE-44AD-AC47-C5652E76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50686EE-8221-4DFF-8A68-36DFE544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8D25D9E-B881-4037-9BE9-179B159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9F243EE1-4404-45E6-8137-C1F3412C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55D4EF67-39B7-4E64-BAE2-78E980A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model 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123AF-3DF1-483A-8FF5-1415F605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45C2D0A0-DC0C-44F6-ADE8-DB16EC13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one-page, plain-language statement of what a fitted model was trained on, what it's for, and — just as important — what it should NOT be trusted to do. It ships WITH the model, not buried in code comments.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97FE2A5A-0E01-4F70-99BB-AE9FAF14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783C1492-2981-4B32-AC86-4EF4702C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8D16563F-B1DE-48EF-8053-CFF06490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it's today's deliverable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A2D176C5-B72B-484A-9883-F97B62E3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3220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confusion matrix and a threshold are only useful to someone who also knows the model's training range, its stated operating threshold, and its honest, cross-validated accuracy — not just its single best-looking number.</a:t>
            </a:r>
          </a:p>
        </p:txBody>
      </p:sp>
    </p:spTree>
    <p:extLst>
      <p:ext uri="{BB962C8B-B14F-4D97-AF65-F5344CB8AC3E}">
        <p14:creationId xmlns:p14="http://schemas.microsoft.com/office/powerpoint/2010/main" val="17156760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6A4778C6-E12A-4A78-9C49-B4DBB09C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FB29C3-6B7E-40C9-9F38-89EC7736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Radley Hall go/no-go classifier — model card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22B23-0B49-43B6-957A-EF91AC6F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3DB25E0-48A8-418A-A9F6-FE21F607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D8C7F52-155B-407B-A289-AD6DA4F1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A1D91-269B-49E2-9EF6-48F8DD90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48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1BC5CD1A-287E-4619-B0D2-666263DE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field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2F642-FC5D-41A9-8C58-EB813211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548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A2FD3F83-DC22-41F7-B4D3-2E99D075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2887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A0B13-0604-498E-8634-9427B3E0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4864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6EF5129B-A40A-4CE6-BB75-B160997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52578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data roles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AAF9E-D9AF-4249-9A41-F9507F82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86075"/>
            <a:ext cx="54864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425250F8-8463-4BAB-8E7E-0C1BC7D2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62275"/>
            <a:ext cx="52578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84 train / 28 validation / 28 untouched final test from n=140 synthetic variants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D5217-B81D-4927-99DC-1DAB387B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7095"/>
            <a:ext cx="54864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91484936-F347-4F7B-A1D2-59A4DFA9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3295"/>
            <a:ext cx="52578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operating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4026F-699E-420A-A682-7FF8F381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7095"/>
            <a:ext cx="54864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EDD257DC-CD3D-44DA-B4DC-A22D007F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03295"/>
            <a:ext cx="52578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0.5; selected on validation by FPR≤10%, then maximize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F48BC-CFB9-43EA-827E-2AC8FD8B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8115"/>
            <a:ext cx="548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3EFC840C-1F94-41B1-A890-1A5D486F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431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selection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F90E8-E5C4-43C4-B04B-F1F5AB0A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8115"/>
            <a:ext cx="548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CD9DD998-CE50-41F2-A7F2-1CFB1E3D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431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validation: precision=0.857, recall=0.667, F1=0.750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BAB25-F210-4F18-BC58-83FAFD33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1515"/>
            <a:ext cx="54864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13D11B44-1451-4C5F-AF4E-9A2565C5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7715"/>
            <a:ext cx="52578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final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62B45-0D1E-4FFB-BFA9-2E8A1109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01515"/>
            <a:ext cx="54864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3-1">
            <a:extLst xmlns:a="http://schemas.openxmlformats.org/drawingml/2006/main">
              <a:ext uri="{FF2B5EF4-FFF2-40B4-BE49-F238E27FC236}">
                <a16:creationId xmlns:a16="http://schemas.microsoft.com/office/drawing/2014/main" id="{DD5AD217-18FA-466C-9058-F7014D51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7715"/>
            <a:ext cx="52578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TN=16, FP=2, FN=8, TP=2; precision=0.500, recall=0.200, F1=0.286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88210-E7C9-470B-8183-DC3F28C0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2535"/>
            <a:ext cx="54864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4-0">
            <a:extLst xmlns:a="http://schemas.openxmlformats.org/drawingml/2006/main">
              <a:ext uri="{FF2B5EF4-FFF2-40B4-BE49-F238E27FC236}">
                <a16:creationId xmlns:a16="http://schemas.microsoft.com/office/drawing/2014/main" id="{933C9A31-C148-44ED-91DC-A83B215A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8735"/>
            <a:ext cx="52578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2EED34-7333-48B8-83FD-539EEAAC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2535"/>
            <a:ext cx="54864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4-1">
            <a:extLst xmlns:a="http://schemas.openxmlformats.org/drawingml/2006/main">
              <a:ext uri="{FF2B5EF4-FFF2-40B4-BE49-F238E27FC236}">
                <a16:creationId xmlns:a16="http://schemas.microsoft.com/office/drawing/2014/main" id="{DD8238FF-F287-4322-8561-BAB6DA70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18735"/>
            <a:ext cx="52578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synthetic data; no causal claim; do not extrapolate beyond stated feature ranges</a:t>
            </a:r>
          </a:p>
        </p:txBody>
      </p:sp>
    </p:spTree>
    <p:extLst>
      <p:ext uri="{BB962C8B-B14F-4D97-AF65-F5344CB8AC3E}">
        <p14:creationId xmlns:p14="http://schemas.microsoft.com/office/powerpoint/2010/main" val="13261972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1E716FD6-3E2A-448D-B8BD-3C18E4C7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681187-DA2D-4208-B4B5-7CF4D5EE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a new confusion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247FC-89B6-4DAF-AEF2-22F0F922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2C6B3A9-9332-4020-9FFE-932A2D16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80FC703-D3AE-411C-82A2-9308DCF8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CBF29083-5F2F-419D-9181-955592A6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30C6E300-3AA1-4DD9-A4B1-25EA7648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second design portfolio's classifier reports TN=15, FP=2, FN=4, TP=9 on its test set. Compute precision, recall, and F1 by hand — then say, in one sentence, what kind of mistake this model makes more often.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4DAF96C9-829D-4F3A-A9B9-24A55A47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281E5E13-89A6-4001-9453-5FEF81EE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772742B4-A9BA-4B8D-A886-B0682EE0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Compute precision = TP/(TP+FP) and recall = TP/(TP+FN).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A852857C-539F-4E19-A950-6F8416B2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37218221-3D61-4BBF-B916-2C7BC71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Compute F1 from those two values.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A045211E-EDE5-4EB3-B109-6FF63D65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0A104B1F-B119-4B56-AA2E-1F163499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Decide: does this model lean toward false positives or false negatives, and how do you know from the numbers alone?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378E7FE7-26C2-4244-8E1A-E6A93C8E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02577F27-C8C7-40FF-A190-470C0411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which error would worry you more if this were a real go/no-go call, and why.</a:t>
            </a:r>
          </a:p>
        </p:txBody>
      </p:sp>
    </p:spTree>
    <p:extLst>
      <p:ext uri="{BB962C8B-B14F-4D97-AF65-F5344CB8AC3E}">
        <p14:creationId xmlns:p14="http://schemas.microsoft.com/office/powerpoint/2010/main" val="171914102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CC5B6364-7BC4-4412-AA84-5F32193A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D162FE-5690-4D8D-841D-3F38D20A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Choose a threshold from consequences, not a default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1A4BC-47EB-48AE-902F-E9A75ACF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EAB5A60-E76F-4EB7-A79B-FC4A7E77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D62DB1D-B363-46CF-A73F-E2A62BC7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D769F3FD-FA26-48EE-9833-99109FDE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10882DEC-0CB0-4DC9-AAF0-F36C8402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structural-screening classifier flags whether a connection detail needs full engineering review. Here, a false negative (skips review on a detail that actually needed one) is the dangerous direction — the opposite asymmetry from today's Radley Hall example.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8E33A93A-2D8A-4BC2-9AA0-C5B54FE6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ECDAF7DE-016F-422A-AD40-B54742F8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C9F50950-01E6-4103-9BC3-944FE6A6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which error (false positive or false negative) is dangerous here, and why — in one sentence.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EA611FF1-135A-4376-9524-739064ED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57CBC057-DC6C-4BB2-BC9D-A5BF1C8C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Given that asymmetry, would you move the threshold UP or DOWN from 0.5 to catch more true positives?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5A0DDA6A-B0A1-40E3-AC70-DDF840D7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03F3FC79-1AE7-40F0-AC88-5C83238C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real-world cost you accept in exchange (more designs sent to review than strictly necessary).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09AF013B-2D42-454C-87FF-982ED220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5E6D5534-651E-4173-B885-4A82C1A4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the one sentence that would go in this model's model card, stating its chosen threshold and why.</a:t>
            </a:r>
          </a:p>
        </p:txBody>
      </p:sp>
    </p:spTree>
    <p:extLst>
      <p:ext uri="{BB962C8B-B14F-4D97-AF65-F5344CB8AC3E}">
        <p14:creationId xmlns:p14="http://schemas.microsoft.com/office/powerpoint/2010/main" val="173452149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073BDC6B-0435-46D0-AE43-B34922B0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2026 PRACTICE HORIZON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BA04E6-65EE-4C9A-83CE-9C4EC750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probability needs calibration, policy, and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D8879-A5BD-4F09-9903-FF7B7D6B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7AA9FA8-A796-4EC4-89F6-5BF64F41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A98B02D-175F-4752-A99C-AC478CDD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A6F44C2C-E127-4977-9940-5A00E866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EC1AE1F2-EEFF-4A88-B4DE-C039281E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4349D408-45E3-4B4B-AC10-BF767C62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0C2E41B6-1D9C-4F8A-B362-B468F251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17A86407-C080-440D-9C74-0B60C367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873A818B-303C-40D0-800A-686507C9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782AE-84ED-43A5-A0DE-1E8C53BB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9EA5D1A1-4312-4221-919D-03C4CAFD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 calibration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FD6D5ED6-1668-48C7-974E-D03A1686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Compare predicted probabilities with observed frequencies using a reliability diagram.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8CCF66FE-6F19-489D-A0B5-17CA4962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4465C102-E8BE-4A80-8526-EBCBD09C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C24377CF-CF8B-43CA-8178-EE0C53DB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C65C7-7541-4FCD-8120-5111EFF8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D0ACE05C-31AF-481F-94FC-AD11681D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Freeze a threshold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35C36985-5B62-4733-9839-796F178C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Select the cutoff on validation evidence with a predeclared cost or rate constraint.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5F3E33AE-53A5-43AF-91F6-C38EA2CC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9E9127D4-8D31-4B1A-8AF0-32D9F93A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840731EA-6B08-4067-887C-245A784C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D0F79-D42C-447A-8C2C-2B65EF3F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D6301A78-7D6D-4CA4-BC85-ED8452B1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Quantify a set or interval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A66E019-75D5-42D5-8329-496087E0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Conformal methods can wrap a frozen model with coverage-oriented prediction sets under stated assumptions.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CBD27E1A-9223-4DB8-9CD1-C2F83F26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5092697C-B2DF-4BE5-83D3-4148D113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3F9387F5-4A3C-4F44-B241-381769EA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REFUSE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F7F07F-ADD3-44F6-908F-D7C09DF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E3F11CC8-E716-4D51-B81D-A5098B1B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Abstain outside support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076DADF6-69CE-4193-A541-AFBBCBB4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Escalate unfamiliar, high-impact, or weakly supported cases to measurement or expert review.</a:t>
            </a:r>
          </a:p>
        </p:txBody>
      </p:sp>
    </p:spTree>
    <p:extLst>
      <p:ext uri="{BB962C8B-B14F-4D97-AF65-F5344CB8AC3E}">
        <p14:creationId xmlns:p14="http://schemas.microsoft.com/office/powerpoint/2010/main" val="47152799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A40FD702-9ED1-4C37-A242-5500B7C3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CLAIM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D906C7-0BDC-411A-A59A-80B74FC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Four familiar numbers are not interchangeable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86D3B-3887-4474-A528-F5A6FC32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021A41D-D73C-4286-9365-B4736B87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14 · Meeting A · Classification, Confusion Matrices, and Model Cards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0580560-158D-4F3E-91BB-165CB955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56BD1-66AB-43D1-A378-4DC4060E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90057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0DD40D15-B064-48B6-92CD-4375FD1B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67197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number or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3E259-9909-490F-92A3-BDF9EC94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170" y="2524125"/>
            <a:ext cx="2678076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3FAD9CD7-8538-4E2B-BC1E-A8FED794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470" y="2600325"/>
            <a:ext cx="2449476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can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37C53-08B2-46BF-974C-EB24A49B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45" y="2524125"/>
            <a:ext cx="285085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D9E95CF1-864E-46E4-96CB-E835539A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45" y="2600325"/>
            <a:ext cx="262225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cannot support by itself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1F2DD-1977-4C3F-A8AD-5636B2BC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90057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42931FF3-53B5-44CA-9AA9-13BC3803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1345"/>
            <a:ext cx="167197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predicted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8BA9D-AA25-49D5-9173-B5C7C27C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170" y="3065145"/>
            <a:ext cx="2678076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BB0F596F-FA72-48E1-B98A-9577DC2B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470" y="3141345"/>
            <a:ext cx="2449476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rank or estimated event likelihood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C048E-6100-4B59-9C06-D0DB8ACD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45" y="3065145"/>
            <a:ext cx="285085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1686DBA5-CAE4-457A-BE5E-3537CA8B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45" y="3141345"/>
            <a:ext cx="262225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calibration or decision utility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A87D8-1416-4539-9F8E-A0755CB0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6165"/>
            <a:ext cx="190057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AFBF5883-ADFA-4562-BF33-EE45A84B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2365"/>
            <a:ext cx="167197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validation F1 / recall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D851C-ACCA-493F-938B-F8FCFF70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170" y="3606165"/>
            <a:ext cx="2678076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81FC9750-70C4-46F2-802F-FD5459DE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470" y="3682365"/>
            <a:ext cx="2449476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comparison under one frozen protocol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4A3A6-B54B-4A5D-9359-096863C0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45" y="3606165"/>
            <a:ext cx="285085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816A7833-2AEC-447C-B4CD-719574FE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45" y="3682365"/>
            <a:ext cx="262225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future performance in a shifted population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A2CEF-9BF5-4A76-A5D6-F1BB1454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7185"/>
            <a:ext cx="190057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1BF6397D-0EBD-42FE-A0E0-6D0830F3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3385"/>
            <a:ext cx="167197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B45ED0-740E-4300-9FBA-8C686584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170" y="4147185"/>
            <a:ext cx="2678076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02F2C5AC-ABF5-4068-BCC1-31A349EE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470" y="4223385"/>
            <a:ext cx="2449476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average squared-error 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70561F-80E5-4983-AC67-08EB0118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45" y="4147185"/>
            <a:ext cx="285085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65D71C1F-C7D0-4639-9964-8D4630F8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45" y="4223385"/>
            <a:ext cx="262225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individual prediction interval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E6BD7-D3FB-4B05-B413-2A63F956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8205"/>
            <a:ext cx="190057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A7307680-CE35-45B5-89DC-166E865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4405"/>
            <a:ext cx="167197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conformal set or interval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BA6EF9-48B2-4A85-B087-9963BCF4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170" y="4688205"/>
            <a:ext cx="2678076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1D6506DE-B655-4B0E-A469-25ECB279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470" y="4764405"/>
            <a:ext cx="2449476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marginal coverage under stated assumptions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46BCB-6317-4954-8834-AD904C1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45" y="4688205"/>
            <a:ext cx="285085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67FF1087-39E6-427F-81E0-54FD19B7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45" y="4764405"/>
            <a:ext cx="262225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conditional certainty for every subgroup or shifted case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10435019-435B-47EF-9329-8E86BA12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B4CD3AA4-C39C-48E4-BAF9-D1E5BEBA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Use an untouched final test once; then monitor calibration, drift, subgroup behavior, and the cost of errors after deployment.</a:t>
            </a:r>
          </a:p>
        </p:txBody>
      </p:sp>
    </p:spTree>
    <p:extLst>
      <p:ext uri="{BB962C8B-B14F-4D97-AF65-F5344CB8AC3E}">
        <p14:creationId xmlns:p14="http://schemas.microsoft.com/office/powerpoint/2010/main" val="47045319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BA2C0BD5-7B07-4B9A-8AAC-2DB71A50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14 · MEETING A · CLASSIFICATION, CONFUSION MATRICES, AND MODEL CARDS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4548D8B-692A-49D1-B763-7712B9F3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threshold is a stated decision, not a default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0F9AE-77F0-446D-96F2-679B1E6F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7FC10611-C02D-408E-91DA-CA81206C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DB633E3B-CBD1-4F08-94EA-BBBB3300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978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confusion matrix's four cells (TN, FP, FN, TP) each carry a different real-world consequence — read them as decisions, not counts.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3D0E0DBD-3D7B-44C4-9642-0FD47CFF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6858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D449F006-7007-44B8-8DDF-EA3CF3E9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8758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a threshold on validation data with a predeclared consequence rule; the selected value may happen to equal 0.5.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0D3192D6-057B-4303-BF9E-09A741F3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41DB8BA3-E961-4D92-BBEA-CF2C0D94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6438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Freeze model and threshold before opening the final test once; do not retune after seeing its outcomes.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EF940F0C-A1F9-43B3-B1A8-E26CAF9E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810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C1E05C49-15BE-4AD8-BA85-51B52255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50002"/>
            <a:ext cx="10172700" cy="978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model card states scope, training ranges, chosen threshold, and honest cross-validated performance — every fitted model should ship with one.</a:t>
            </a:r>
          </a:p>
        </p:txBody>
      </p:sp>
    </p:spTree>
    <p:extLst>
      <p:ext uri="{BB962C8B-B14F-4D97-AF65-F5344CB8AC3E}">
        <p14:creationId xmlns:p14="http://schemas.microsoft.com/office/powerpoint/2010/main" val="99402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2026-08-20T17:43:55.7400000Z</dcterms:created>
  <dcterms:modified xsi:type="dcterms:W3CDTF">2026-08-20T17:43:55.7400000Z</dcterms:modified>
</coreProperties>
</file>