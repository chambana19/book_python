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fdfdda046246d6" /><Relationship Type="http://schemas.openxmlformats.org/officeDocument/2006/relationships/extended-properties" Target="/docProps/app.xml" Id="R6b23143ced3741bb" /><Relationship Type="http://schemas.openxmlformats.org/officeDocument/2006/relationships/officeDocument" Target="/ppt/presentation.xml" Id="R5a4f7519fbfe48d7" /></Relationships>
</file>

<file path=ppt/presentation.xml><?xml version="1.0" encoding="utf-8"?>
<p:presentation xmlns:p="http://schemas.openxmlformats.org/presentationml/2006/main">
  <p:sldMasterIdLst>
    <p:sldMasterId xmlns:r="http://schemas.openxmlformats.org/officeDocument/2006/relationships" id="2147483648" r:id="R7743b090ebc44431"/>
  </p:sldMasterIdLst>
  <p:notesMasterIdLst>
    <p:notesMasterId xmlns:r="http://schemas.openxmlformats.org/officeDocument/2006/relationships" r:id="R05b5ea01b5644c61"/>
  </p:notesMasterIdLst>
  <p:sldIdLst>
    <p:sldId xmlns:r="http://schemas.openxmlformats.org/officeDocument/2006/relationships" id="256" r:id="R109eaefcee4b4c96"/>
    <p:sldId xmlns:r="http://schemas.openxmlformats.org/officeDocument/2006/relationships" id="257" r:id="Raa84461814d64c5b"/>
    <p:sldId xmlns:r="http://schemas.openxmlformats.org/officeDocument/2006/relationships" id="258" r:id="R633630ad40d8423b"/>
    <p:sldId xmlns:r="http://schemas.openxmlformats.org/officeDocument/2006/relationships" id="259" r:id="Rd4bbab30fcca4338"/>
    <p:sldId xmlns:r="http://schemas.openxmlformats.org/officeDocument/2006/relationships" id="260" r:id="R7fc1c86f69f146be"/>
    <p:sldId xmlns:r="http://schemas.openxmlformats.org/officeDocument/2006/relationships" id="261" r:id="Rad50961a5aa9404b"/>
    <p:sldId xmlns:r="http://schemas.openxmlformats.org/officeDocument/2006/relationships" id="262" r:id="R20c140dffc704420"/>
    <p:sldId xmlns:r="http://schemas.openxmlformats.org/officeDocument/2006/relationships" id="263" r:id="Ra8b0a534fd47468f"/>
    <p:sldId xmlns:r="http://schemas.openxmlformats.org/officeDocument/2006/relationships" id="264" r:id="R66e74ebd4b6b4a0b"/>
    <p:sldId xmlns:r="http://schemas.openxmlformats.org/officeDocument/2006/relationships" id="265" r:id="Rdfe66626c0574683"/>
    <p:sldId xmlns:r="http://schemas.openxmlformats.org/officeDocument/2006/relationships" id="266" r:id="R994c32874548452e"/>
    <p:sldId xmlns:r="http://schemas.openxmlformats.org/officeDocument/2006/relationships" id="267" r:id="Rcaac17a10da049ae"/>
    <p:sldId xmlns:r="http://schemas.openxmlformats.org/officeDocument/2006/relationships" id="268" r:id="R21f5e1244c1043d1"/>
    <p:sldId xmlns:r="http://schemas.openxmlformats.org/officeDocument/2006/relationships" id="269" r:id="R2f8c63e7d18740b5"/>
    <p:sldId xmlns:r="http://schemas.openxmlformats.org/officeDocument/2006/relationships" id="270" r:id="Rfc606ec916eb47de"/>
    <p:sldId xmlns:r="http://schemas.openxmlformats.org/officeDocument/2006/relationships" id="271" r:id="Rcd2d96d8dfed401d"/>
    <p:sldId xmlns:r="http://schemas.openxmlformats.org/officeDocument/2006/relationships" id="272" r:id="R9b85565c76674ff0"/>
    <p:sldId xmlns:r="http://schemas.openxmlformats.org/officeDocument/2006/relationships" id="273" r:id="Rfe37216ea4454ffe"/>
    <p:sldId xmlns:r="http://schemas.openxmlformats.org/officeDocument/2006/relationships" id="274" r:id="R7f6b4f0d51384def"/>
    <p:sldId xmlns:r="http://schemas.openxmlformats.org/officeDocument/2006/relationships" id="275" r:id="R0907a204868e46e6"/>
    <p:sldId xmlns:r="http://schemas.openxmlformats.org/officeDocument/2006/relationships" id="276" r:id="R9797c3aafe2c4efb"/>
    <p:sldId xmlns:r="http://schemas.openxmlformats.org/officeDocument/2006/relationships" id="277" r:id="R4a601e7340624a85"/>
    <p:sldId xmlns:r="http://schemas.openxmlformats.org/officeDocument/2006/relationships" id="278" r:id="R8db0652e3b4e464d"/>
    <p:sldId xmlns:r="http://schemas.openxmlformats.org/officeDocument/2006/relationships" id="279" r:id="Raf1ea90ac3ea449a"/>
    <p:sldId xmlns:r="http://schemas.openxmlformats.org/officeDocument/2006/relationships" id="280" r:id="R3e59bd4a4b324082"/>
    <p:sldId xmlns:r="http://schemas.openxmlformats.org/officeDocument/2006/relationships" id="281" r:id="Ra4a1d45d5b4b41a2"/>
    <p:sldId xmlns:r="http://schemas.openxmlformats.org/officeDocument/2006/relationships" id="282" r:id="R17f7c5d7f1f549ad"/>
    <p:sldId xmlns:r="http://schemas.openxmlformats.org/officeDocument/2006/relationships" id="283" r:id="Re694f29526a84787"/>
    <p:sldId xmlns:r="http://schemas.openxmlformats.org/officeDocument/2006/relationships" id="284" r:id="Rbb0420fa96794b0c"/>
    <p:sldId xmlns:r="http://schemas.openxmlformats.org/officeDocument/2006/relationships" id="285" r:id="Ra0f46cf083b046cb"/>
    <p:sldId xmlns:r="http://schemas.openxmlformats.org/officeDocument/2006/relationships" id="286" r:id="R596615be56cc4daf"/>
    <p:sldId xmlns:r="http://schemas.openxmlformats.org/officeDocument/2006/relationships" id="287" r:id="Rc91485132c37477c"/>
    <p:sldId xmlns:r="http://schemas.openxmlformats.org/officeDocument/2006/relationships" id="288" r:id="Rdc19106c36e54a15"/>
    <p:sldId xmlns:r="http://schemas.openxmlformats.org/officeDocument/2006/relationships" id="289" r:id="R77fb7b5bff9b4e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942e2442a646be" /><Relationship Type="http://schemas.openxmlformats.org/officeDocument/2006/relationships/slideMaster" Target="/ppt/slideMasters/slideMaster1.xml" Id="R7743b090ebc44431" /><Relationship Type="http://schemas.openxmlformats.org/officeDocument/2006/relationships/notesMaster" Target="/ppt/notesMasters/notesMaster1.xml" Id="R05b5ea01b5644c61" /><Relationship Type="http://schemas.openxmlformats.org/officeDocument/2006/relationships/presProps" Target="/ppt/presProps.xml" Id="Rbbae1278de6f4ec3" /><Relationship Type="http://schemas.openxmlformats.org/officeDocument/2006/relationships/tableStyles" Target="/ppt/tableStyles.xml" Id="Rc59e440b23774d8d" /><Relationship Type="http://schemas.openxmlformats.org/officeDocument/2006/relationships/slide" Target="/ppt/slides/slide1.xml" Id="R109eaefcee4b4c96" /><Relationship Type="http://schemas.openxmlformats.org/officeDocument/2006/relationships/slide" Target="/ppt/slides/slide2.xml" Id="Raa84461814d64c5b" /><Relationship Type="http://schemas.openxmlformats.org/officeDocument/2006/relationships/slide" Target="/ppt/slides/slide3.xml" Id="R633630ad40d8423b" /><Relationship Type="http://schemas.openxmlformats.org/officeDocument/2006/relationships/slide" Target="/ppt/slides/slide4.xml" Id="Rd4bbab30fcca4338" /><Relationship Type="http://schemas.openxmlformats.org/officeDocument/2006/relationships/slide" Target="/ppt/slides/slide5.xml" Id="R7fc1c86f69f146be" /><Relationship Type="http://schemas.openxmlformats.org/officeDocument/2006/relationships/slide" Target="/ppt/slides/slide6.xml" Id="Rad50961a5aa9404b" /><Relationship Type="http://schemas.openxmlformats.org/officeDocument/2006/relationships/slide" Target="/ppt/slides/slide7.xml" Id="R20c140dffc704420" /><Relationship Type="http://schemas.openxmlformats.org/officeDocument/2006/relationships/slide" Target="/ppt/slides/slide8.xml" Id="Ra8b0a534fd47468f" /><Relationship Type="http://schemas.openxmlformats.org/officeDocument/2006/relationships/slide" Target="/ppt/slides/slide9.xml" Id="R66e74ebd4b6b4a0b" /><Relationship Type="http://schemas.openxmlformats.org/officeDocument/2006/relationships/slide" Target="/ppt/slides/slide10.xml" Id="Rdfe66626c0574683" /><Relationship Type="http://schemas.openxmlformats.org/officeDocument/2006/relationships/slide" Target="/ppt/slides/slide11.xml" Id="R994c32874548452e" /><Relationship Type="http://schemas.openxmlformats.org/officeDocument/2006/relationships/slide" Target="/ppt/slides/slide12.xml" Id="Rcaac17a10da049ae" /><Relationship Type="http://schemas.openxmlformats.org/officeDocument/2006/relationships/slide" Target="/ppt/slides/slide13.xml" Id="R21f5e1244c1043d1" /><Relationship Type="http://schemas.openxmlformats.org/officeDocument/2006/relationships/slide" Target="/ppt/slides/slide14.xml" Id="R2f8c63e7d18740b5" /><Relationship Type="http://schemas.openxmlformats.org/officeDocument/2006/relationships/slide" Target="/ppt/slides/slide15.xml" Id="Rfc606ec916eb47de" /><Relationship Type="http://schemas.openxmlformats.org/officeDocument/2006/relationships/slide" Target="/ppt/slides/slide16.xml" Id="Rcd2d96d8dfed401d" /><Relationship Type="http://schemas.openxmlformats.org/officeDocument/2006/relationships/slide" Target="/ppt/slides/slide17.xml" Id="R9b85565c76674ff0" /><Relationship Type="http://schemas.openxmlformats.org/officeDocument/2006/relationships/slide" Target="/ppt/slides/slide18.xml" Id="Rfe37216ea4454ffe" /><Relationship Type="http://schemas.openxmlformats.org/officeDocument/2006/relationships/slide" Target="/ppt/slides/slide19.xml" Id="R7f6b4f0d51384def" /><Relationship Type="http://schemas.openxmlformats.org/officeDocument/2006/relationships/slide" Target="/ppt/slides/slide20.xml" Id="R0907a204868e46e6" /><Relationship Type="http://schemas.openxmlformats.org/officeDocument/2006/relationships/slide" Target="/ppt/slides/slide21.xml" Id="R9797c3aafe2c4efb" /><Relationship Type="http://schemas.openxmlformats.org/officeDocument/2006/relationships/slide" Target="/ppt/slides/slide22.xml" Id="R4a601e7340624a85" /><Relationship Type="http://schemas.openxmlformats.org/officeDocument/2006/relationships/slide" Target="/ppt/slides/slide23.xml" Id="R8db0652e3b4e464d" /><Relationship Type="http://schemas.openxmlformats.org/officeDocument/2006/relationships/slide" Target="/ppt/slides/slide24.xml" Id="Raf1ea90ac3ea449a" /><Relationship Type="http://schemas.openxmlformats.org/officeDocument/2006/relationships/slide" Target="/ppt/slides/slide25.xml" Id="R3e59bd4a4b324082" /><Relationship Type="http://schemas.openxmlformats.org/officeDocument/2006/relationships/slide" Target="/ppt/slides/slide26.xml" Id="Ra4a1d45d5b4b41a2" /><Relationship Type="http://schemas.openxmlformats.org/officeDocument/2006/relationships/slide" Target="/ppt/slides/slide27.xml" Id="R17f7c5d7f1f549ad" /><Relationship Type="http://schemas.openxmlformats.org/officeDocument/2006/relationships/slide" Target="/ppt/slides/slide28.xml" Id="Re694f29526a84787" /><Relationship Type="http://schemas.openxmlformats.org/officeDocument/2006/relationships/slide" Target="/ppt/slides/slide29.xml" Id="Rbb0420fa96794b0c" /><Relationship Type="http://schemas.openxmlformats.org/officeDocument/2006/relationships/slide" Target="/ppt/slides/slide30.xml" Id="Ra0f46cf083b046cb" /><Relationship Type="http://schemas.openxmlformats.org/officeDocument/2006/relationships/slide" Target="/ppt/slides/slide31.xml" Id="R596615be56cc4daf" /><Relationship Type="http://schemas.openxmlformats.org/officeDocument/2006/relationships/slide" Target="/ppt/slides/slide32.xml" Id="Rc91485132c37477c" /><Relationship Type="http://schemas.openxmlformats.org/officeDocument/2006/relationships/slide" Target="/ppt/slides/slide33.xml" Id="Rdc19106c36e54a15" /><Relationship Type="http://schemas.openxmlformats.org/officeDocument/2006/relationships/slide" Target="/ppt/slides/slide34.xml" Id="R77fb7b5bff9b4e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655a0b4047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4ae31d18894e51" /><Relationship Type="http://schemas.openxmlformats.org/officeDocument/2006/relationships/notesMaster" Target="/ppt/notesMasters/notesMaster1.xml" Id="R3755bd2a1fb048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a50ea7cc7b4047" /><Relationship Type="http://schemas.openxmlformats.org/officeDocument/2006/relationships/notesMaster" Target="/ppt/notesMasters/notesMaster1.xml" Id="Rea738fbc559c4f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cea8e5e41e4f07" /><Relationship Type="http://schemas.openxmlformats.org/officeDocument/2006/relationships/notesMaster" Target="/ppt/notesMasters/notesMaster1.xml" Id="R7c43829bcc6e45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9a106aab0f4cdd" /><Relationship Type="http://schemas.openxmlformats.org/officeDocument/2006/relationships/notesMaster" Target="/ppt/notesMasters/notesMaster1.xml" Id="R8dc984a732e141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8977dffc704a30" /><Relationship Type="http://schemas.openxmlformats.org/officeDocument/2006/relationships/notesMaster" Target="/ppt/notesMasters/notesMaster1.xml" Id="R853974ac57f34e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1892d3a7204a82" /><Relationship Type="http://schemas.openxmlformats.org/officeDocument/2006/relationships/notesMaster" Target="/ppt/notesMasters/notesMaster1.xml" Id="R484e0ac3ccb845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950062125540a0" /><Relationship Type="http://schemas.openxmlformats.org/officeDocument/2006/relationships/notesMaster" Target="/ppt/notesMasters/notesMaster1.xml" Id="R12132d1bdec146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88173af4ea49a1" /><Relationship Type="http://schemas.openxmlformats.org/officeDocument/2006/relationships/notesMaster" Target="/ppt/notesMasters/notesMaster1.xml" Id="Ra788544824504b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75534e232f4f44" /><Relationship Type="http://schemas.openxmlformats.org/officeDocument/2006/relationships/notesMaster" Target="/ppt/notesMasters/notesMaster1.xml" Id="R05e43a856fef49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6775c294084fbe" /><Relationship Type="http://schemas.openxmlformats.org/officeDocument/2006/relationships/notesMaster" Target="/ppt/notesMasters/notesMaster1.xml" Id="Rca85b6f8145448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1bc4ec6d584afd" /><Relationship Type="http://schemas.openxmlformats.org/officeDocument/2006/relationships/notesMaster" Target="/ppt/notesMasters/notesMaster1.xml" Id="R519bcc2a1ed54d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4e3ce83d9945a1" /><Relationship Type="http://schemas.openxmlformats.org/officeDocument/2006/relationships/notesMaster" Target="/ppt/notesMasters/notesMaster1.xml" Id="Rcdb9492614a445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322c0d1e6ce4a80" /><Relationship Type="http://schemas.openxmlformats.org/officeDocument/2006/relationships/notesMaster" Target="/ppt/notesMasters/notesMaster1.xml" Id="Rf5d0a7f114d443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d056284ebbe4f05" /><Relationship Type="http://schemas.openxmlformats.org/officeDocument/2006/relationships/notesMaster" Target="/ppt/notesMasters/notesMaster1.xml" Id="Rd3dfb829219f43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899308462c41c3" /><Relationship Type="http://schemas.openxmlformats.org/officeDocument/2006/relationships/notesMaster" Target="/ppt/notesMasters/notesMaster1.xml" Id="Ra57d210b282542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bcb3314ccc42be" /><Relationship Type="http://schemas.openxmlformats.org/officeDocument/2006/relationships/notesMaster" Target="/ppt/notesMasters/notesMaster1.xml" Id="Rd8065d07894e45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ab6fc1483a463b" /><Relationship Type="http://schemas.openxmlformats.org/officeDocument/2006/relationships/notesMaster" Target="/ppt/notesMasters/notesMaster1.xml" Id="Ra79d875a0eda4b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9dc8be92284225" /><Relationship Type="http://schemas.openxmlformats.org/officeDocument/2006/relationships/notesMaster" Target="/ppt/notesMasters/notesMaster1.xml" Id="Rcedd7b89dfb249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7801c34d4d43a0" /><Relationship Type="http://schemas.openxmlformats.org/officeDocument/2006/relationships/notesMaster" Target="/ppt/notesMasters/notesMaster1.xml" Id="R94f62a2934124c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11c5975a024f76" /><Relationship Type="http://schemas.openxmlformats.org/officeDocument/2006/relationships/notesMaster" Target="/ppt/notesMasters/notesMaster1.xml" Id="R26d072c6c28941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10a3007f8a42ea" /><Relationship Type="http://schemas.openxmlformats.org/officeDocument/2006/relationships/notesMaster" Target="/ppt/notesMasters/notesMaster1.xml" Id="R68b884fb8e39499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5ac661f68f4b9c" /><Relationship Type="http://schemas.openxmlformats.org/officeDocument/2006/relationships/notesMaster" Target="/ppt/notesMasters/notesMaster1.xml" Id="R4ba78b48cbf044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a9855c98604ccf" /><Relationship Type="http://schemas.openxmlformats.org/officeDocument/2006/relationships/notesMaster" Target="/ppt/notesMasters/notesMaster1.xml" Id="Re7bbedf2488c456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8ecf2bed024e2a" /><Relationship Type="http://schemas.openxmlformats.org/officeDocument/2006/relationships/notesMaster" Target="/ppt/notesMasters/notesMaster1.xml" Id="R2da96b3f6f2c48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eefc673a08843b3" /><Relationship Type="http://schemas.openxmlformats.org/officeDocument/2006/relationships/notesMaster" Target="/ppt/notesMasters/notesMaster1.xml" Id="Rbff3a83ea3dc4b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38b963459d94249" /><Relationship Type="http://schemas.openxmlformats.org/officeDocument/2006/relationships/notesMaster" Target="/ppt/notesMasters/notesMaster1.xml" Id="R96383e32ff274f6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3c9ac4be424d49" /><Relationship Type="http://schemas.openxmlformats.org/officeDocument/2006/relationships/notesMaster" Target="/ppt/notesMasters/notesMaster1.xml" Id="R24c400d0456747a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8a6811f08454cce" /><Relationship Type="http://schemas.openxmlformats.org/officeDocument/2006/relationships/notesMaster" Target="/ppt/notesMasters/notesMaster1.xml" Id="Rf248fbce889a4b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5b707f738c342f2" /><Relationship Type="http://schemas.openxmlformats.org/officeDocument/2006/relationships/notesMaster" Target="/ppt/notesMasters/notesMaster1.xml" Id="R64b3aa39cf8c42d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68e16c779704973" /><Relationship Type="http://schemas.openxmlformats.org/officeDocument/2006/relationships/notesMaster" Target="/ppt/notesMasters/notesMaster1.xml" Id="Re8fd3c427d0c4d0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7777ee77bf048af" /><Relationship Type="http://schemas.openxmlformats.org/officeDocument/2006/relationships/notesMaster" Target="/ppt/notesMasters/notesMaster1.xml" Id="R705bc253512649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e6913c13bdd4fda" /><Relationship Type="http://schemas.openxmlformats.org/officeDocument/2006/relationships/notesMaster" Target="/ppt/notesMasters/notesMaster1.xml" Id="Reac4ed1fbfd6427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225e1d6e2254dcf" /><Relationship Type="http://schemas.openxmlformats.org/officeDocument/2006/relationships/notesMaster" Target="/ppt/notesMasters/notesMaster1.xml" Id="Re852c1c590db401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31aaab4a2e0450e" /><Relationship Type="http://schemas.openxmlformats.org/officeDocument/2006/relationships/notesMaster" Target="/ppt/notesMasters/notesMaster1.xml" Id="Rec787978962942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that today ends with a saved, rerunnable .py file—not merely a successful 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who already has Spyder. Pair confident students with someone installing for the first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Explain that students who are already installed should complete the verification checklist rather than waiting.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this slide as the handout map: Easy proves the environment, Medium exposes program state, and Hard combines debugging with reproducibility. Students should not skip the restart-and-run-all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who has used a plain text editor before. Contrast switching between separate windows with Spyder showing everything at once. Preview that Editor, Console, and Variable Explorer are each introduced in detail later this session.</a:t>
            </a:r>
          </a:p>
          <a:p xmlns:a="http://schemas.openxmlformats.org/drawingml/2006/main">
            <a:r>
              <a:t/>
            </a:r>
          </a:p>
          <a:p xmlns:a="http://schemas.openxmlformats.org/drawingml/2006/main">
            <a:r>
              <a:t>[Sources]</a:t>
            </a:r>
          </a:p>
          <a:p xmlns:a="http://schemas.openxmlformats.org/drawingml/2006/main">
            <a:r>
              <a:t>- https://docs.spyder-ide.org/current/faq.html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Define environment in plain language: the Python interpreter plus installed libraries used to run the file.</a:t>
            </a:r>
          </a:p>
          <a:p xmlns:a="http://schemas.openxmlformats.org/drawingml/2006/main">
            <a:r>
              <a:t/>
            </a:r>
          </a:p>
          <a:p xmlns:a="http://schemas.openxmlformats.org/drawingml/2006/main">
            <a:r>
              <a:t>[Sources]</a:t>
            </a:r>
          </a:p>
          <a:p xmlns:a="http://schemas.openxmlformats.org/drawingml/2006/main">
            <a:r>
              <a:t>- https://docs.spyder-ide.org/current/installation.html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Show the two separate objects: the Spyder application and the arc500-f26 interpreter. Current Spyder 6 guidance recommends an external Conda environment when specialized packages are needed.</a:t>
            </a:r>
          </a:p>
          <a:p xmlns:a="http://schemas.openxmlformats.org/drawingml/2006/main">
            <a:r>
              <a:t/>
            </a:r>
          </a:p>
          <a:p xmlns:a="http://schemas.openxmlformats.org/drawingml/2006/main">
            <a:r>
              <a:t>[Sources]</a:t>
            </a:r>
          </a:p>
          <a:p xmlns:a="http://schemas.openxmlformats.org/drawingml/2006/main">
            <a:r>
              <a:t>- https://docs.spyder-ide.org/current/installation.html</a:t>
            </a:r>
          </a:p>
          <a:p xmlns:a="http://schemas.openxmlformats.org/drawingml/2006/main">
            <a:r>
              <a:t>- https://docs.spyder-ide.org/current/faq.html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Demonstrate the Windows path. Verbally note that macOS/Linux use a terminal. Keep the complete commands in the installation guide, not on the projected slide.</a:t>
            </a:r>
          </a:p>
          <a:p xmlns:a="http://schemas.openxmlformats.org/drawingml/2006/main">
            <a:r>
              <a:t/>
            </a:r>
          </a:p>
          <a:p xmlns:a="http://schemas.openxmlformats.org/drawingml/2006/main">
            <a:r>
              <a:t>[Sources]</a:t>
            </a:r>
          </a:p>
          <a:p xmlns:a="http://schemas.openxmlformats.org/drawingml/2006/main">
            <a:r>
              <a:t>- https://docs.spyder-ide.org/current/installation.html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Distinguish Python itself, the IDE, and imported libraries. Students often treat these as one object.</a:t>
            </a:r>
          </a:p>
          <a:p xmlns:a="http://schemas.openxmlformats.org/drawingml/2006/main">
            <a:r>
              <a:t/>
            </a:r>
          </a:p>
          <a:p xmlns:a="http://schemas.openxmlformats.org/drawingml/2006/main">
            <a:r>
              <a:t>[Sources]</a:t>
            </a:r>
          </a:p>
          <a:p xmlns:a="http://schemas.openxmlformats.org/drawingml/2006/main">
            <a:r>
              <a:t>- https://docs.python.org/3/tutorial/modules.html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Circulate with a two-column roster: terminal preflight passed; Spyder preflight passed. Do not troubleshoot by changing several installation methods at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to each pane and ask what evidence it supplies. The Editor stores the procedure; Variable Explorer exposes state; Console displays interaction and output.</a:t>
            </a:r>
          </a:p>
          <a:p xmlns:a="http://schemas.openxmlformats.org/drawingml/2006/main">
            <a:r>
              <a:t/>
            </a:r>
          </a:p>
          <a:p xmlns:a="http://schemas.openxmlformats.org/drawingml/2006/main">
            <a:r>
              <a:t>[Sources]</a:t>
            </a:r>
          </a:p>
          <a:p xmlns:a="http://schemas.openxmlformats.org/drawingml/2006/main">
            <a:r>
              <a:t>- https://docs.spyder-ide.org/current/</a:t>
            </a:r>
          </a:p>
          <a:p xmlns:a="http://schemas.openxmlformats.org/drawingml/2006/main">
            <a:r>
              <a:t>- https://docs.spyder-ide.org/current/panes/editor.html</a:t>
            </a:r>
          </a:p>
          <a:p xmlns:a="http://schemas.openxmlformats.org/drawingml/2006/main">
            <a:r>
              <a:t>- https://docs.spyder-ide.org/current/panes/ipythonconsole.html</a:t>
            </a:r>
          </a:p>
          <a:p xmlns:a="http://schemas.openxmlformats.org/drawingml/2006/main">
            <a:r>
              <a:t>- https://docs.spyder-ide.org/current/panes/variableexplorer.html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L3. Point to the Editor, Variable Explorer, and Console as students identify each term.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Show that # %% is a comment to Python but a cell marker to Spyder. Delete the marker live and show that the code still runs — only the cell divisions disappear.</a:t>
            </a:r>
          </a:p>
          <a:p xmlns:a="http://schemas.openxmlformats.org/drawingml/2006/main">
            <a:r>
              <a:t/>
            </a:r>
          </a:p>
          <a:p xmlns:a="http://schemas.openxmlformats.org/drawingml/2006/main">
            <a:r>
              <a:t>[Sources]</a:t>
            </a:r>
          </a:p>
          <a:p xmlns:a="http://schemas.openxmlformats.org/drawingml/2006/main">
            <a:r>
              <a:t>- https://docs.spyder-ide.org/current/panes/editor.html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Demonstrate a name that exists in the console even after its assignment line is deleted from the Editor.</a:t>
            </a:r>
          </a:p>
          <a:p xmlns:a="http://schemas.openxmlformats.org/drawingml/2006/main">
            <a:r>
              <a:t/>
            </a:r>
          </a:p>
          <a:p xmlns:a="http://schemas.openxmlformats.org/drawingml/2006/main">
            <a:r>
              <a:t>[Sources]</a:t>
            </a:r>
          </a:p>
          <a:p xmlns:a="http://schemas.openxmlformats.org/drawingml/2006/main">
            <a:r>
              <a:t>- https://docs.spyder-ide.org/current/panes/ipythonconsole.html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Restart live, rerun one cell, and let the class watch a name disappear from the Variable Explorer. Name this as the reason restart-and-run-all is a verification method, not a superstition.</a:t>
            </a:r>
          </a:p>
          <a:p xmlns:a="http://schemas.openxmlformats.org/drawingml/2006/main">
            <a:r>
              <a:t/>
            </a:r>
          </a:p>
          <a:p xmlns:a="http://schemas.openxmlformats.org/drawingml/2006/main">
            <a:r>
              <a:t>[Sources]</a:t>
            </a:r>
          </a:p>
          <a:p xmlns:a="http://schemas.openxmlformats.org/drawingml/2006/main">
            <a:r>
              <a:t>- https://docs.spyder-ide.org/current/panes/ipythonconsole.html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locate a variable and say its name, value, type, and unit aloud.</a:t>
            </a:r>
          </a:p>
          <a:p xmlns:a="http://schemas.openxmlformats.org/drawingml/2006/main">
            <a:r>
              <a:t/>
            </a:r>
          </a:p>
          <a:p xmlns:a="http://schemas.openxmlformats.org/drawingml/2006/main">
            <a:r>
              <a:t>[Sources]</a:t>
            </a:r>
          </a:p>
          <a:p xmlns:a="http://schemas.openxmlformats.org/drawingml/2006/main">
            <a:r>
              <a:t>- https://docs.spyder-ide.org/current/panes/variableexplorer.html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Show why an absolute path copied from one laptop is not reproducible.</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Spyder's working-directory box and change it live, then rerun Path.cwd(). Ask which of the two folders on screen Python is actually using.</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back to the toolchain table: NumPy, pandas, and the rest are imported the same way, all semester. Ask why 'from X import Y' saves typing compared to 'import X'.</a:t>
            </a:r>
          </a:p>
          <a:p xmlns:a="http://schemas.openxmlformats.org/drawingml/2006/main">
            <a:r>
              <a:t/>
            </a:r>
          </a:p>
          <a:p xmlns:a="http://schemas.openxmlformats.org/drawingml/2006/main">
            <a:r>
              <a:t>[Sources]</a:t>
            </a:r>
          </a:p>
          <a:p xmlns:a="http://schemas.openxmlformats.org/drawingml/2006/main">
            <a:r>
              <a:t>- https://docs.python.org/3/tutorial/modules.html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Read the line aloud in English: from the pathlib module, import the tool named Path. Then contrast with 'import sys', where nothing is singled out and every tool keeps its sys. prefix.</a:t>
            </a:r>
          </a:p>
          <a:p xmlns:a="http://schemas.openxmlformats.org/drawingml/2006/main">
            <a:r>
              <a:t/>
            </a:r>
          </a:p>
          <a:p xmlns:a="http://schemas.openxmlformats.org/drawingml/2006/main">
            <a:r>
              <a:t>[Sources]</a:t>
            </a:r>
          </a:p>
          <a:p xmlns:a="http://schemas.openxmlformats.org/drawingml/2006/main">
            <a:r>
              <a:t>- https://docs.python.org/3/tutorial/modules.html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Students run this cell and compare their path with the folder containing the handout.</a:t>
            </a:r>
          </a:p>
          <a:p xmlns:a="http://schemas.openxmlformats.org/drawingml/2006/main">
            <a:r>
              <a:t/>
            </a:r>
          </a:p>
          <a:p xmlns:a="http://schemas.openxmlformats.org/drawingml/2006/main">
            <a:r>
              <a:t>[Sources]</a:t>
            </a:r>
          </a:p>
          <a:p xmlns:a="http://schemas.openxmlformats.org/drawingml/2006/main">
            <a:r>
              <a:t>- https://docs.python.org/3/tutorial/stdlib.html</a:t>
            </a:r>
          </a:p>
          <a:p xmlns:a="http://schemas.openxmlformats.org/drawingml/2006/main">
            <a:r>
              <a:t>- https://docs.spyder-ide.org/current/faq.html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Demonstrate Ctrl+Enter. Explain that F9 runs selected lines but should not replace coherent cells.</a:t>
            </a:r>
          </a:p>
          <a:p xmlns:a="http://schemas.openxmlformats.org/drawingml/2006/main">
            <a:r>
              <a:t/>
            </a:r>
          </a:p>
          <a:p xmlns:a="http://schemas.openxmlformats.org/drawingml/2006/main">
            <a:r>
              <a:t>[Sources]</a:t>
            </a:r>
          </a:p>
          <a:p xmlns:a="http://schemas.openxmlformats.org/drawingml/2006/main">
            <a:r>
              <a:t>- https://docs.spyder-ide.org/current/panes/editor.html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this as the guided demonstration before students modify their handout.</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Check file location, not just printed output. Students should be able to close and reopen the module without losing the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a show of hands before revealing. Most rooms split between 44.2 and 51.0 — the 51.0 vote is the spreadsheet habit, where a cell recalculates when its input changes. Option D is the restart superstition: restarting and rerunning this file still prints 44.2, because file order, not kernel history, decides. Option C ('an error') is the belief that reassigning width_m retroactively invalidates area_m2, the way a spreadsheet flags a broken reference — Python assignment is a one-time snapshot, not a standing rule it keeps enforcing. Do not correct anyone verbally; run it, then open the Variable Explorer.</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Step through with the Variable Explorer open: width_m changes to 6.0 in the table while area_m2 sits unchanged at 44.2. Then rerun the assignment line to show 51.0 appear.</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The goal is understanding program state, not memorizing a shortcut. Ask each pair to explain why restart-and-run-all is a verification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Options A and B are the two beliefs beginners actually hold: that Python reads the word as text, or that it understands the English number. Option D is the belief that errors surface only where a value is used. Collect votes, then run it.</a:t>
            </a:r>
          </a:p>
          <a:p xmlns:a="http://schemas.openxmlformats.org/drawingml/2006/main">
            <a:r>
              <a:t/>
            </a:r>
          </a:p>
          <a:p xmlns:a="http://schemas.openxmlformats.org/drawingml/2006/main">
            <a:r>
              <a:t>[Sources]</a:t>
            </a:r>
          </a:p>
          <a:p xmlns:a="http://schemas.openxmlformats.org/drawingml/2006/main">
            <a:r>
              <a:t>- https://docs.python.org/3/tutorial/errors.html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Do not fix the error immediately. Have students identify the category, location, and intended representation. Note that nothing printed: execution stopped at line 3, before print was ever reached.</a:t>
            </a:r>
          </a:p>
          <a:p xmlns:a="http://schemas.openxmlformats.org/drawingml/2006/main">
            <a:r>
              <a:t/>
            </a:r>
          </a:p>
          <a:p xmlns:a="http://schemas.openxmlformats.org/drawingml/2006/main">
            <a:r>
              <a:t>[Sources]</a:t>
            </a:r>
          </a:p>
          <a:p xmlns:a="http://schemas.openxmlformats.org/drawingml/2006/main">
            <a:r>
              <a:t>- https://docs.python.org/3/tutorial/errors.html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read this line back as one English sentence before touching the keyboard. Then ask the two repair questions: should five have been a number, or should it have been quoted text?</a:t>
            </a:r>
          </a:p>
          <a:p xmlns:a="http://schemas.openxmlformats.org/drawingml/2006/main">
            <a:r>
              <a:t/>
            </a:r>
          </a:p>
          <a:p xmlns:a="http://schemas.openxmlformats.org/drawingml/2006/main">
            <a:r>
              <a:t>[Sources]</a:t>
            </a:r>
          </a:p>
          <a:p xmlns:a="http://schemas.openxmlformats.org/drawingml/2006/main">
            <a:r>
              <a:t>- https://docs.python.org/3/tutorial/errors.html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final rectangular-room area is 50 m². Emphasize that the final modeling error may remain after all Python errors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Students fill the AI-use record even when the record states that no generative AI was used.</a:t>
            </a:r>
          </a:p>
          <a:p xmlns:a="http://schemas.openxmlformats.org/drawingml/2006/main">
            <a:r>
              <a:t/>
            </a:r>
          </a:p>
          <a:p xmlns:a="http://schemas.openxmlformats.org/drawingml/2006/main">
            <a:r>
              <a:t>[Sources]</a:t>
            </a:r>
          </a:p>
          <a:p xmlns:a="http://schemas.openxmlformats.org/drawingml/2006/main">
            <a:r>
              <a:t>- https://skillsbuild.org/adult-learners/explore-learning/artificial-intelligence</a:t>
            </a:r>
          </a:p>
          <a:p xmlns:a="http://schemas.openxmlformats.org/drawingml/2006/main">
            <a:r>
              <a:t>- https://www.unesco.org/en/articles/guidance-generative-ai-education-and-research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Use a peer check: one student narrates while the other verifies the saved file, clean restart, output, and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Collect the environment check and one-sentence reflection: which Spyder pane gave the most useful evidence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c2459dccba4e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fb9348437345f7" /><Relationship Type="http://schemas.openxmlformats.org/officeDocument/2006/relationships/slideLayout" Target="/ppt/slideLayouts/slideLayout1.xml" Id="R22f40e2e9d5c49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f40e2e9d5c49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ae8087ebab49d0" /><Relationship Type="http://schemas.openxmlformats.org/officeDocument/2006/relationships/notesSlide" Target="/ppt/notesSlides/notesSlide1.xml" Id="Rd25f9d95d76041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ebd32a63b947c9" /><Relationship Type="http://schemas.openxmlformats.org/officeDocument/2006/relationships/notesSlide" Target="/ppt/notesSlides/notesSlide2.xml" Id="R72abf8197f604d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7eeb2946da420f" /><Relationship Type="http://schemas.openxmlformats.org/officeDocument/2006/relationships/notesSlide" Target="/ppt/notesSlides/notesSlide3.xml" Id="Rdc7b586c18f24f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8b2c6ccab64af3" /><Relationship Type="http://schemas.openxmlformats.org/officeDocument/2006/relationships/notesSlide" Target="/ppt/notesSlides/notesSlide4.xml" Id="R07a076df588341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352919df094b4b" /><Relationship Type="http://schemas.openxmlformats.org/officeDocument/2006/relationships/notesSlide" Target="/ppt/notesSlides/notesSlide5.xml" Id="R03f07f2e528f40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0524728e4c476a" /><Relationship Type="http://schemas.openxmlformats.org/officeDocument/2006/relationships/notesSlide" Target="/ppt/notesSlides/notesSlide6.xml" Id="Rcbe4dda3b5b641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f554b09bd44c06" /><Relationship Type="http://schemas.openxmlformats.org/officeDocument/2006/relationships/notesSlide" Target="/ppt/notesSlides/notesSlide7.xml" Id="R3ccab813061e44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12dbf2f99c4cb0" /><Relationship Type="http://schemas.openxmlformats.org/officeDocument/2006/relationships/notesSlide" Target="/ppt/notesSlides/notesSlide8.xml" Id="Rb49d56164b974f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8c2ad7e70a4c47" /><Relationship Type="http://schemas.openxmlformats.org/officeDocument/2006/relationships/notesSlide" Target="/ppt/notesSlides/notesSlide9.xml" Id="R96e6e91bffa94c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fe1f34889d48da" /><Relationship Type="http://schemas.openxmlformats.org/officeDocument/2006/relationships/notesSlide" Target="/ppt/notesSlides/notesSlide10.xml" Id="Rdf44e3d79fd249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89c8bfbff14474" /><Relationship Type="http://schemas.openxmlformats.org/officeDocument/2006/relationships/notesSlide" Target="/ppt/notesSlides/notesSlide11.xml" Id="R5ecda8240d6d4f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d5aad9e4ae4eae" /><Relationship Type="http://schemas.openxmlformats.org/officeDocument/2006/relationships/notesSlide" Target="/ppt/notesSlides/notesSlide12.xml" Id="Re8b2806acc294d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0123105e9c144c1" /><Relationship Type="http://schemas.openxmlformats.org/officeDocument/2006/relationships/notesSlide" Target="/ppt/notesSlides/notesSlide13.xml" Id="Ra052c23ffadb4f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2cd9ffd0884d93" /><Relationship Type="http://schemas.openxmlformats.org/officeDocument/2006/relationships/notesSlide" Target="/ppt/notesSlides/notesSlide14.xml" Id="R79548a1b46104e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9ce9b425b2d4486" /><Relationship Type="http://schemas.openxmlformats.org/officeDocument/2006/relationships/notesSlide" Target="/ppt/notesSlides/notesSlide15.xml" Id="R9c2f3203f01047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2daffa005204907" /><Relationship Type="http://schemas.openxmlformats.org/officeDocument/2006/relationships/notesSlide" Target="/ppt/notesSlides/notesSlide16.xml" Id="R2f4bdcce5eff45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92900ae6dcc4202" /><Relationship Type="http://schemas.openxmlformats.org/officeDocument/2006/relationships/notesSlide" Target="/ppt/notesSlides/notesSlide17.xml" Id="R0b1f9af0b57747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427b4d292c74531" /><Relationship Type="http://schemas.openxmlformats.org/officeDocument/2006/relationships/notesSlide" Target="/ppt/notesSlides/notesSlide18.xml" Id="Ra32995063da342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cd17937fbc49b4" /><Relationship Type="http://schemas.openxmlformats.org/officeDocument/2006/relationships/notesSlide" Target="/ppt/notesSlides/notesSlide19.xml" Id="R487aa637516949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0a197fd7d494bb9" /><Relationship Type="http://schemas.openxmlformats.org/officeDocument/2006/relationships/notesSlide" Target="/ppt/notesSlides/notesSlide20.xml" Id="Rb6d1b480bf2b44c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dd8d42c921f407a" /><Relationship Type="http://schemas.openxmlformats.org/officeDocument/2006/relationships/notesSlide" Target="/ppt/notesSlides/notesSlide21.xml" Id="Re3cf002ba52f45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6531217ee244ba9" /><Relationship Type="http://schemas.openxmlformats.org/officeDocument/2006/relationships/notesSlide" Target="/ppt/notesSlides/notesSlide22.xml" Id="R421d2602c3f647b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ae6b3d69a41409e" /><Relationship Type="http://schemas.openxmlformats.org/officeDocument/2006/relationships/notesSlide" Target="/ppt/notesSlides/notesSlide23.xml" Id="Ra0fb8c979f5949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7816e545ca4413d" /><Relationship Type="http://schemas.openxmlformats.org/officeDocument/2006/relationships/notesSlide" Target="/ppt/notesSlides/notesSlide24.xml" Id="R919ed2d1e97848d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24f1d59af3f44d9" /><Relationship Type="http://schemas.openxmlformats.org/officeDocument/2006/relationships/notesSlide" Target="/ppt/notesSlides/notesSlide25.xml" Id="Rd098ef21acce4c5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d4d8634dff44713" /><Relationship Type="http://schemas.openxmlformats.org/officeDocument/2006/relationships/notesSlide" Target="/ppt/notesSlides/notesSlide26.xml" Id="Rf5490510032941b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f2c39f48b294caa" /><Relationship Type="http://schemas.openxmlformats.org/officeDocument/2006/relationships/notesSlide" Target="/ppt/notesSlides/notesSlide27.xml" Id="R4013d23c205e45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de503e3177746c2" /><Relationship Type="http://schemas.openxmlformats.org/officeDocument/2006/relationships/notesSlide" Target="/ppt/notesSlides/notesSlide28.xml" Id="R77a74c9d625d415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ac42230d9464554" /><Relationship Type="http://schemas.openxmlformats.org/officeDocument/2006/relationships/notesSlide" Target="/ppt/notesSlides/notesSlide29.xml" Id="R11c6146907ba437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a679f8f11144df9" /><Relationship Type="http://schemas.openxmlformats.org/officeDocument/2006/relationships/notesSlide" Target="/ppt/notesSlides/notesSlide30.xml" Id="R0ac1c9f7ff5945f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3aa571c2b7c40df" /><Relationship Type="http://schemas.openxmlformats.org/officeDocument/2006/relationships/notesSlide" Target="/ppt/notesSlides/notesSlide31.xml" Id="R17f7fd3f3ed94b9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301b17236c6442c" /><Relationship Type="http://schemas.openxmlformats.org/officeDocument/2006/relationships/notesSlide" Target="/ppt/notesSlides/notesSlide32.xml" Id="R258c6f98853648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918d83dcc1a4064" /><Relationship Type="http://schemas.openxmlformats.org/officeDocument/2006/relationships/notesSlide" Target="/ppt/notesSlides/notesSlide33.xml" Id="R7c6e97667c1b4b6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bd98ce1aeb14cc6" /><Relationship Type="http://schemas.openxmlformats.org/officeDocument/2006/relationships/notesSlide" Target="/ppt/notesSlides/notesSlide34.xml" Id="R8073f492c5ed42d4"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02B8EA76-AEFB-4371-947C-9D0C68A2EF99}"/>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5B812D50-2133-4C00-A052-3F9B7B50BD61}"/>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4937BC0D-C837-4354-BFAD-68F516CE6634}"/>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5621B207-537B-4738-9692-84AB94C2E2A2}"/>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 · MEETING B · SPYDER SETUP STUDIO</a:t>
            </a:r>
          </a:p>
        </p:txBody>
      </p:sp>
      <p:sp>
        <p:nvSpPr>
          <p:cNvPr id="5" name="deck-title">
            <a:extLst xmlns:a="http://schemas.openxmlformats.org/drawingml/2006/main">
              <a:ext uri="{FF2B5EF4-FFF2-40B4-BE49-F238E27FC236}">
                <a16:creationId xmlns:a16="http://schemas.microsoft.com/office/drawing/2014/main" id="{3C21EFC0-4D77-4381-9BFE-9F8D29F143DB}"/>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Install Spyder and run a traceable .py workflow</a:t>
            </a:r>
          </a:p>
        </p:txBody>
      </p:sp>
      <p:sp>
        <p:nvSpPr>
          <p:cNvPr id="6" name="deck-subtitle">
            <a:extLst xmlns:a="http://schemas.openxmlformats.org/drawingml/2006/main">
              <a:ext uri="{FF2B5EF4-FFF2-40B4-BE49-F238E27FC236}">
                <a16:creationId xmlns:a16="http://schemas.microsoft.com/office/drawing/2014/main" id="{9B5F3A74-61AB-4CD8-9908-E85FB9F50DFB}"/>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Meeting B · setup, interface, code cells, Variable Explorer, debugging, and first evidence</a:t>
            </a:r>
          </a:p>
        </p:txBody>
      </p:sp>
      <p:sp>
        <p:nvSpPr>
          <p:cNvPr id="7" name="">
            <a:extLst xmlns:a="http://schemas.openxmlformats.org/drawingml/2006/main">
              <a:ext uri="{FF2B5EF4-FFF2-40B4-BE49-F238E27FC236}">
                <a16:creationId xmlns:a16="http://schemas.microsoft.com/office/drawing/2014/main" id="{C5F7F8D9-B83C-4D43-9360-87E5852AA23D}"/>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DC9FC533-5F8C-4915-ADB0-C0F9575CAFBF}"/>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2104993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D7430C7F-535D-47D7-9FA3-B36E4C42033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2A66E188-EB5B-46AD-BEDC-768E796B809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93906052-3E12-4119-8774-7D282E22B09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C772B2A-A4AD-4D37-8ED9-78346BB226C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F0F10452-ADE3-4C25-AB35-16C0A0A9A62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outcome-number-0">
            <a:extLst xmlns:a="http://schemas.openxmlformats.org/drawingml/2006/main">
              <a:ext uri="{FF2B5EF4-FFF2-40B4-BE49-F238E27FC236}">
                <a16:creationId xmlns:a16="http://schemas.microsoft.com/office/drawing/2014/main" id="{8A45365E-06E0-4DB0-9994-74F4E83012BC}"/>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C39094D1-347A-4FB6-9F43-F24E98A6B132}"/>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Install</a:t>
            </a:r>
          </a:p>
        </p:txBody>
      </p:sp>
      <p:sp>
        <p:nvSpPr>
          <p:cNvPr id="8" name="outcome-body-0">
            <a:extLst xmlns:a="http://schemas.openxmlformats.org/drawingml/2006/main">
              <a:ext uri="{FF2B5EF4-FFF2-40B4-BE49-F238E27FC236}">
                <a16:creationId xmlns:a16="http://schemas.microsoft.com/office/drawing/2014/main" id="{E6CCB085-A223-4A1D-BB71-7BB9C99BDEC2}"/>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Choose the supported course installation path and verify the Python environment.</a:t>
            </a:r>
          </a:p>
        </p:txBody>
      </p:sp>
      <p:sp>
        <p:nvSpPr>
          <p:cNvPr id="9" name="outcome-number-1">
            <a:extLst xmlns:a="http://schemas.openxmlformats.org/drawingml/2006/main">
              <a:ext uri="{FF2B5EF4-FFF2-40B4-BE49-F238E27FC236}">
                <a16:creationId xmlns:a16="http://schemas.microsoft.com/office/drawing/2014/main" id="{D508966E-B820-4C06-AB5E-E757B5664512}"/>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08D563AD-4B2A-47AB-A460-DBD00C12BD2D}"/>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Navigate</a:t>
            </a:r>
          </a:p>
        </p:txBody>
      </p:sp>
      <p:sp>
        <p:nvSpPr>
          <p:cNvPr id="11" name="outcome-body-1">
            <a:extLst xmlns:a="http://schemas.openxmlformats.org/drawingml/2006/main">
              <a:ext uri="{FF2B5EF4-FFF2-40B4-BE49-F238E27FC236}">
                <a16:creationId xmlns:a16="http://schemas.microsoft.com/office/drawing/2014/main" id="{4B054FAE-BC88-4A43-A0F9-BF6784F44F7A}"/>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Identify the Editor, IPython Console, Variable Explorer, Files pane, and working folder.</a:t>
            </a:r>
          </a:p>
        </p:txBody>
      </p:sp>
      <p:sp>
        <p:nvSpPr>
          <p:cNvPr id="12" name="outcome-number-2">
            <a:extLst xmlns:a="http://schemas.openxmlformats.org/drawingml/2006/main">
              <a:ext uri="{FF2B5EF4-FFF2-40B4-BE49-F238E27FC236}">
                <a16:creationId xmlns:a16="http://schemas.microsoft.com/office/drawing/2014/main" id="{DC02DCB4-31F8-41B6-99A1-FCF5B7D0F8BF}"/>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7719A181-5D91-4AF2-9E03-CDCF1125F4E0}"/>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Run</a:t>
            </a:r>
          </a:p>
        </p:txBody>
      </p:sp>
      <p:sp>
        <p:nvSpPr>
          <p:cNvPr id="14" name="outcome-body-2">
            <a:extLst xmlns:a="http://schemas.openxmlformats.org/drawingml/2006/main">
              <a:ext uri="{FF2B5EF4-FFF2-40B4-BE49-F238E27FC236}">
                <a16:creationId xmlns:a16="http://schemas.microsoft.com/office/drawing/2014/main" id="{184D9079-67FF-4280-A4D1-BBF650412440}"/>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Execute one # %% cell at a time and restart when verification requires a clean state.</a:t>
            </a:r>
          </a:p>
        </p:txBody>
      </p:sp>
      <p:sp>
        <p:nvSpPr>
          <p:cNvPr id="15" name="outcome-number-3">
            <a:extLst xmlns:a="http://schemas.openxmlformats.org/drawingml/2006/main">
              <a:ext uri="{FF2B5EF4-FFF2-40B4-BE49-F238E27FC236}">
                <a16:creationId xmlns:a16="http://schemas.microsoft.com/office/drawing/2014/main" id="{F3B8B463-0341-41EC-9C8E-44583B24F59A}"/>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D031CEEE-F330-40EB-9791-882511DE06A6}"/>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Document</a:t>
            </a:r>
          </a:p>
        </p:txBody>
      </p:sp>
      <p:sp>
        <p:nvSpPr>
          <p:cNvPr id="17" name="outcome-body-3">
            <a:extLst xmlns:a="http://schemas.openxmlformats.org/drawingml/2006/main">
              <a:ext uri="{FF2B5EF4-FFF2-40B4-BE49-F238E27FC236}">
                <a16:creationId xmlns:a16="http://schemas.microsoft.com/office/drawing/2014/main" id="{7CAFE78A-0046-4642-8F68-4C0E73D2AFDA}"/>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Save a readable .py file with comments, checks, and an AI-use record.</a:t>
            </a:r>
          </a:p>
        </p:txBody>
      </p:sp>
    </p:spTree>
    <p:extLst>
      <p:ext uri="{BB962C8B-B14F-4D97-AF65-F5344CB8AC3E}">
        <p14:creationId xmlns:p14="http://schemas.microsoft.com/office/powerpoint/2010/main" val="16080947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B230C5A1-565A-48BD-922C-B818469E414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4B478D11-05E5-44D6-A91C-6D1C938290F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0E294866-F3F9-4EDF-A32A-CB2CC6F5938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FF2A2EE-5AC3-4593-A4AB-AF04A3C03B0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6E4EB158-25A9-428E-9B45-F04C91BC1C6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agenda-no-0">
            <a:extLst xmlns:a="http://schemas.openxmlformats.org/drawingml/2006/main">
              <a:ext uri="{FF2B5EF4-FFF2-40B4-BE49-F238E27FC236}">
                <a16:creationId xmlns:a16="http://schemas.microsoft.com/office/drawing/2014/main" id="{813416D6-3363-43EF-9E13-7E71012595D1}"/>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6408BA8-D3BE-49CD-A6FB-7D7CD4FD44E7}"/>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88EFEA65-3259-4563-B5FB-FBA952C065C7}"/>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Install or verify the course environment</a:t>
            </a:r>
          </a:p>
        </p:txBody>
      </p:sp>
      <p:sp>
        <p:nvSpPr>
          <p:cNvPr id="9" name="agenda-no-1">
            <a:extLst xmlns:a="http://schemas.openxmlformats.org/drawingml/2006/main">
              <a:ext uri="{FF2B5EF4-FFF2-40B4-BE49-F238E27FC236}">
                <a16:creationId xmlns:a16="http://schemas.microsoft.com/office/drawing/2014/main" id="{5BECF989-34CF-48FB-8412-4F1FD8AF3B89}"/>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5EA324BC-6D45-48C5-8CC9-DB949EC35DE2}"/>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4938D679-E2E6-421E-B054-9A63FC6A62C9}"/>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Map the Spyder interface and project folder</a:t>
            </a:r>
          </a:p>
        </p:txBody>
      </p:sp>
      <p:sp>
        <p:nvSpPr>
          <p:cNvPr id="12" name="agenda-no-2">
            <a:extLst xmlns:a="http://schemas.openxmlformats.org/drawingml/2006/main">
              <a:ext uri="{FF2B5EF4-FFF2-40B4-BE49-F238E27FC236}">
                <a16:creationId xmlns:a16="http://schemas.microsoft.com/office/drawing/2014/main" id="{DD7DE8BF-BC57-44DA-B04A-945AAB313A6B}"/>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BCB368A-A5EE-400D-A7E9-08A8CBDF0EE3}"/>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D40C5D2D-E733-4682-AB36-2FBF440EADEB}"/>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Run, inspect, and debug a first .py program</a:t>
            </a:r>
          </a:p>
        </p:txBody>
      </p:sp>
      <p:sp>
        <p:nvSpPr>
          <p:cNvPr id="15" name="agenda-no-3">
            <a:extLst xmlns:a="http://schemas.openxmlformats.org/drawingml/2006/main">
              <a:ext uri="{FF2B5EF4-FFF2-40B4-BE49-F238E27FC236}">
                <a16:creationId xmlns:a16="http://schemas.microsoft.com/office/drawing/2014/main" id="{89E90018-361D-4424-87E9-A7957B53E019}"/>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BE06F586-473C-4764-862E-B61B6F2FDF69}"/>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50DC8C7C-72B0-4A3B-954D-37E34438A167}"/>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Save evidence and document any AI assistance</a:t>
            </a:r>
          </a:p>
        </p:txBody>
      </p:sp>
    </p:spTree>
    <p:extLst>
      <p:ext uri="{BB962C8B-B14F-4D97-AF65-F5344CB8AC3E}">
        <p14:creationId xmlns:p14="http://schemas.microsoft.com/office/powerpoint/2010/main" val="19200360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kicker">
            <a:extLst xmlns:a="http://schemas.openxmlformats.org/drawingml/2006/main">
              <a:ext uri="{FF2B5EF4-FFF2-40B4-BE49-F238E27FC236}">
                <a16:creationId xmlns:a16="http://schemas.microsoft.com/office/drawing/2014/main" id="{6EFFC105-82B3-4E47-A858-15501E40582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EASY → MEDIUM → HARD</a:t>
            </a:r>
          </a:p>
        </p:txBody>
      </p:sp>
      <p:sp>
        <p:nvSpPr>
          <p:cNvPr id="2" name="title">
            <a:extLst xmlns:a="http://schemas.openxmlformats.org/drawingml/2006/main">
              <a:ext uri="{FF2B5EF4-FFF2-40B4-BE49-F238E27FC236}">
                <a16:creationId xmlns:a16="http://schemas.microsoft.com/office/drawing/2014/main" id="{B50ACA9A-7A03-4209-81B7-B17C370C375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Spyder workflow grows by adding one responsibility at a time</a:t>
            </a:r>
          </a:p>
        </p:txBody>
      </p:sp>
      <p:sp>
        <p:nvSpPr>
          <p:cNvPr id="3" name="">
            <a:extLst xmlns:a="http://schemas.openxmlformats.org/drawingml/2006/main">
              <a:ext uri="{FF2B5EF4-FFF2-40B4-BE49-F238E27FC236}">
                <a16:creationId xmlns:a16="http://schemas.microsoft.com/office/drawing/2014/main" id="{98F389F4-07BA-4BCC-9F38-C22D4EE4B52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9F47200-501E-4380-91E5-2618B7DE9F4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C340B73A-B8B1-4051-98FB-4266A9E12B3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ladder-row-0">
            <a:extLst xmlns:a="http://schemas.openxmlformats.org/drawingml/2006/main">
              <a:ext uri="{FF2B5EF4-FFF2-40B4-BE49-F238E27FC236}">
                <a16:creationId xmlns:a16="http://schemas.microsoft.com/office/drawing/2014/main" id="{8C6C5FE3-23E0-4261-8E27-DD2688007523}"/>
              </a:ext>
            </a:extLst>
          </p:cNvPr>
          <p:cNvSpPr>
            <a:spLocks xmlns:a="http://schemas.openxmlformats.org/drawingml/2006/main" noGrp="1"/>
          </p:cNvSpPr>
          <p:nvPr/>
        </p:nvSpPr>
        <p:spPr>
          <a:xfrm xmlns:a="http://schemas.openxmlformats.org/drawingml/2006/main">
            <a:off x="609600" y="1847850"/>
            <a:ext cx="10972800" cy="1314450"/>
          </a:xfrm>
          <a:prstGeom xmlns:a="http://schemas.openxmlformats.org/drawingml/2006/main" prst="roundRect">
            <a:avLst>
              <a:gd name="adj" fmla="val 5797"/>
            </a:avLst>
          </a:prstGeom>
          <a:solidFill xmlns:a="http://schemas.openxmlformats.org/drawingml/2006/main">
            <a:srgbClr val="F6F7F9"/>
          </a:solidFill>
          <a:ln xmlns:a="http://schemas.openxmlformats.org/drawingml/2006/main" w="9525">
            <a:solidFill>
              <a:srgbClr val="DDE0E5"/>
            </a:solidFill>
            <a:prstDash val="solid"/>
          </a:ln>
        </p:spPr>
      </p:sp>
      <p:sp>
        <p:nvSpPr>
          <p:cNvPr id="7" name="ladder-accent-0">
            <a:extLst xmlns:a="http://schemas.openxmlformats.org/drawingml/2006/main">
              <a:ext uri="{FF2B5EF4-FFF2-40B4-BE49-F238E27FC236}">
                <a16:creationId xmlns:a16="http://schemas.microsoft.com/office/drawing/2014/main" id="{31625CC7-4F52-489D-BCF1-DCC85BF59598}"/>
              </a:ext>
            </a:extLst>
          </p:cNvPr>
          <p:cNvSpPr>
            <a:spLocks xmlns:a="http://schemas.openxmlformats.org/drawingml/2006/main" noGrp="1"/>
          </p:cNvSpPr>
          <p:nvPr/>
        </p:nvSpPr>
        <p:spPr>
          <a:xfrm xmlns:a="http://schemas.openxmlformats.org/drawingml/2006/main">
            <a:off x="609600" y="1847850"/>
            <a:ext cx="76200" cy="1314450"/>
          </a:xfrm>
          <a:prstGeom xmlns:a="http://schemas.openxmlformats.org/drawingml/2006/main" prst="rect">
            <a:avLst/>
          </a:prstGeom>
          <a:solidFill xmlns:a="http://schemas.openxmlformats.org/drawingml/2006/main">
            <a:srgbClr val="2E7D5B"/>
          </a:solidFill>
          <a:ln xmlns:a="http://schemas.openxmlformats.org/drawingml/2006/main" w="0">
            <a:noFill/>
            <a:prstDash val="solid"/>
          </a:ln>
        </p:spPr>
      </p:sp>
      <p:sp>
        <p:nvSpPr>
          <p:cNvPr id="8" name="ladder-level-0">
            <a:extLst xmlns:a="http://schemas.openxmlformats.org/drawingml/2006/main">
              <a:ext uri="{FF2B5EF4-FFF2-40B4-BE49-F238E27FC236}">
                <a16:creationId xmlns:a16="http://schemas.microsoft.com/office/drawing/2014/main" id="{5BE591AB-AB20-4AD4-BB27-3429D2F96318}"/>
              </a:ext>
            </a:extLst>
          </p:cNvPr>
          <p:cNvSpPr>
            <a:spLocks xmlns:a="http://schemas.openxmlformats.org/drawingml/2006/main" noGrp="1"/>
          </p:cNvSpPr>
          <p:nvPr/>
        </p:nvSpPr>
        <p:spPr>
          <a:xfrm xmlns:a="http://schemas.openxmlformats.org/drawingml/2006/main">
            <a:off x="857250" y="20193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D5B"/>
                </a:solidFill>
                <a:latin typeface="Arial"/>
                <a:ea typeface="Arial"/>
                <a:cs typeface="Arial"/>
              </a:defRPr>
            </a:pPr>
            <a:r>
              <a:rPr sz="900" b="1">
                <a:solidFill>
                  <a:srgbClr val="2E7D5B"/>
                </a:solidFill>
                <a:latin typeface="Arial"/>
                <a:ea typeface="Arial"/>
                <a:cs typeface="Arial"/>
              </a:rPr>
              <a:t>EASY</a:t>
            </a:r>
          </a:p>
        </p:txBody>
      </p:sp>
      <p:sp>
        <p:nvSpPr>
          <p:cNvPr id="9" name="ladder-focus-0">
            <a:extLst xmlns:a="http://schemas.openxmlformats.org/drawingml/2006/main">
              <a:ext uri="{FF2B5EF4-FFF2-40B4-BE49-F238E27FC236}">
                <a16:creationId xmlns:a16="http://schemas.microsoft.com/office/drawing/2014/main" id="{D023392F-778F-4C07-B542-7D5BCC152F61}"/>
              </a:ext>
            </a:extLst>
          </p:cNvPr>
          <p:cNvSpPr>
            <a:spLocks xmlns:a="http://schemas.openxmlformats.org/drawingml/2006/main" noGrp="1"/>
          </p:cNvSpPr>
          <p:nvPr/>
        </p:nvSpPr>
        <p:spPr>
          <a:xfrm xmlns:a="http://schemas.openxmlformats.org/drawingml/2006/main">
            <a:off x="857250" y="23241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Run + observe</a:t>
            </a:r>
          </a:p>
        </p:txBody>
      </p:sp>
      <p:sp>
        <p:nvSpPr>
          <p:cNvPr id="10" name="ladder-task-0">
            <a:extLst xmlns:a="http://schemas.openxmlformats.org/drawingml/2006/main">
              <a:ext uri="{FF2B5EF4-FFF2-40B4-BE49-F238E27FC236}">
                <a16:creationId xmlns:a16="http://schemas.microsoft.com/office/drawing/2014/main" id="{4D1ECBB0-785B-4C6A-9DF6-567F60C04005}"/>
              </a:ext>
            </a:extLst>
          </p:cNvPr>
          <p:cNvSpPr>
            <a:spLocks xmlns:a="http://schemas.openxmlformats.org/drawingml/2006/main" noGrp="1"/>
          </p:cNvSpPr>
          <p:nvPr/>
        </p:nvSpPr>
        <p:spPr>
          <a:xfrm xmlns:a="http://schemas.openxmlformats.org/drawingml/2006/main">
            <a:off x="2457450" y="20193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Assign length_m = 7.0 and width_m = 5.0, calculate area_m2, and run from the top.</a:t>
            </a:r>
          </a:p>
        </p:txBody>
      </p:sp>
      <p:sp>
        <p:nvSpPr>
          <p:cNvPr id="11" name="ladder-divider-0">
            <a:extLst xmlns:a="http://schemas.openxmlformats.org/drawingml/2006/main">
              <a:ext uri="{FF2B5EF4-FFF2-40B4-BE49-F238E27FC236}">
                <a16:creationId xmlns:a16="http://schemas.microsoft.com/office/drawing/2014/main" id="{2A83E021-B16C-47B1-8D3F-B5E32AAF06EA}"/>
              </a:ext>
            </a:extLst>
          </p:cNvPr>
          <p:cNvSpPr>
            <a:spLocks xmlns:a="http://schemas.openxmlformats.org/drawingml/2006/main" noGrp="1"/>
          </p:cNvSpPr>
          <p:nvPr/>
        </p:nvSpPr>
        <p:spPr>
          <a:xfrm xmlns:a="http://schemas.openxmlformats.org/drawingml/2006/main">
            <a:off x="8553450" y="20193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ladder-check-label-0">
            <a:extLst xmlns:a="http://schemas.openxmlformats.org/drawingml/2006/main">
              <a:ext uri="{FF2B5EF4-FFF2-40B4-BE49-F238E27FC236}">
                <a16:creationId xmlns:a16="http://schemas.microsoft.com/office/drawing/2014/main" id="{8E177DB8-30AE-4D76-A3B7-E575E646F5ED}"/>
              </a:ext>
            </a:extLst>
          </p:cNvPr>
          <p:cNvSpPr>
            <a:spLocks xmlns:a="http://schemas.openxmlformats.org/drawingml/2006/main" noGrp="1"/>
          </p:cNvSpPr>
          <p:nvPr/>
        </p:nvSpPr>
        <p:spPr>
          <a:xfrm xmlns:a="http://schemas.openxmlformats.org/drawingml/2006/main">
            <a:off x="8743950" y="20193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13" name="ladder-answer-0">
            <a:extLst xmlns:a="http://schemas.openxmlformats.org/drawingml/2006/main">
              <a:ext uri="{FF2B5EF4-FFF2-40B4-BE49-F238E27FC236}">
                <a16:creationId xmlns:a16="http://schemas.microsoft.com/office/drawing/2014/main" id="{E8DDE649-AB4C-4D5C-B3B6-773EC77889FD}"/>
              </a:ext>
            </a:extLst>
          </p:cNvPr>
          <p:cNvSpPr>
            <a:spLocks xmlns:a="http://schemas.openxmlformats.org/drawingml/2006/main" noGrp="1"/>
          </p:cNvSpPr>
          <p:nvPr/>
        </p:nvSpPr>
        <p:spPr>
          <a:xfrm xmlns:a="http://schemas.openxmlformats.org/drawingml/2006/main">
            <a:off x="8743950" y="23050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Consolas"/>
                <a:ea typeface="Consolas"/>
                <a:cs typeface="Consolas"/>
              </a:defRPr>
            </a:pPr>
            <a:r>
              <a:rPr sz="1500" b="1">
                <a:solidFill>
                  <a:srgbClr val="111316"/>
                </a:solidFill>
                <a:latin typeface="Consolas"/>
                <a:ea typeface="Consolas"/>
                <a:cs typeface="Consolas"/>
              </a:rPr>
              <a:t>area_m2 = 35.0</a:t>
            </a:r>
          </a:p>
        </p:txBody>
      </p:sp>
      <p:sp>
        <p:nvSpPr>
          <p:cNvPr id="14" name="ladder-row-1">
            <a:extLst xmlns:a="http://schemas.openxmlformats.org/drawingml/2006/main">
              <a:ext uri="{FF2B5EF4-FFF2-40B4-BE49-F238E27FC236}">
                <a16:creationId xmlns:a16="http://schemas.microsoft.com/office/drawing/2014/main" id="{29E58155-BC38-45E6-A7F1-E89CC92FCCB9}"/>
              </a:ext>
            </a:extLst>
          </p:cNvPr>
          <p:cNvSpPr>
            <a:spLocks xmlns:a="http://schemas.openxmlformats.org/drawingml/2006/main" noGrp="1"/>
          </p:cNvSpPr>
          <p:nvPr/>
        </p:nvSpPr>
        <p:spPr>
          <a:xfrm xmlns:a="http://schemas.openxmlformats.org/drawingml/2006/main">
            <a:off x="609600" y="3295650"/>
            <a:ext cx="10972800" cy="1314450"/>
          </a:xfrm>
          <a:prstGeom xmlns:a="http://schemas.openxmlformats.org/drawingml/2006/main" prst="roundRect">
            <a:avLst>
              <a:gd name="adj" fmla="val 5797"/>
            </a:avLst>
          </a:prstGeom>
          <a:solidFill xmlns:a="http://schemas.openxmlformats.org/drawingml/2006/main">
            <a:srgbClr val="F3F7FB"/>
          </a:solidFill>
          <a:ln xmlns:a="http://schemas.openxmlformats.org/drawingml/2006/main" w="9525">
            <a:solidFill>
              <a:srgbClr val="DDE0E5"/>
            </a:solidFill>
            <a:prstDash val="solid"/>
          </a:ln>
        </p:spPr>
      </p:sp>
      <p:sp>
        <p:nvSpPr>
          <p:cNvPr id="15" name="ladder-accent-1">
            <a:extLst xmlns:a="http://schemas.openxmlformats.org/drawingml/2006/main">
              <a:ext uri="{FF2B5EF4-FFF2-40B4-BE49-F238E27FC236}">
                <a16:creationId xmlns:a16="http://schemas.microsoft.com/office/drawing/2014/main" id="{DC8013C6-BD29-4537-8403-66ACCC707C61}"/>
              </a:ext>
            </a:extLst>
          </p:cNvPr>
          <p:cNvSpPr>
            <a:spLocks xmlns:a="http://schemas.openxmlformats.org/drawingml/2006/main" noGrp="1"/>
          </p:cNvSpPr>
          <p:nvPr/>
        </p:nvSpPr>
        <p:spPr>
          <a:xfrm xmlns:a="http://schemas.openxmlformats.org/drawingml/2006/main">
            <a:off x="609600" y="3295650"/>
            <a:ext cx="76200" cy="131445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16" name="ladder-level-1">
            <a:extLst xmlns:a="http://schemas.openxmlformats.org/drawingml/2006/main">
              <a:ext uri="{FF2B5EF4-FFF2-40B4-BE49-F238E27FC236}">
                <a16:creationId xmlns:a16="http://schemas.microsoft.com/office/drawing/2014/main" id="{4787C940-7F4D-4F9D-A767-DCA9AA3DDB13}"/>
              </a:ext>
            </a:extLst>
          </p:cNvPr>
          <p:cNvSpPr>
            <a:spLocks xmlns:a="http://schemas.openxmlformats.org/drawingml/2006/main" noGrp="1"/>
          </p:cNvSpPr>
          <p:nvPr/>
        </p:nvSpPr>
        <p:spPr>
          <a:xfrm xmlns:a="http://schemas.openxmlformats.org/drawingml/2006/main">
            <a:off x="857250" y="34671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MEDIUM</a:t>
            </a:r>
          </a:p>
        </p:txBody>
      </p:sp>
      <p:sp>
        <p:nvSpPr>
          <p:cNvPr id="17" name="ladder-focus-1">
            <a:extLst xmlns:a="http://schemas.openxmlformats.org/drawingml/2006/main">
              <a:ext uri="{FF2B5EF4-FFF2-40B4-BE49-F238E27FC236}">
                <a16:creationId xmlns:a16="http://schemas.microsoft.com/office/drawing/2014/main" id="{EEC95D79-53E5-451F-8655-D56F56E9E683}"/>
              </a:ext>
            </a:extLst>
          </p:cNvPr>
          <p:cNvSpPr>
            <a:spLocks xmlns:a="http://schemas.openxmlformats.org/drawingml/2006/main" noGrp="1"/>
          </p:cNvSpPr>
          <p:nvPr/>
        </p:nvSpPr>
        <p:spPr>
          <a:xfrm xmlns:a="http://schemas.openxmlformats.org/drawingml/2006/main">
            <a:off x="857250" y="37719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Trace state</a:t>
            </a:r>
          </a:p>
        </p:txBody>
      </p:sp>
      <p:sp>
        <p:nvSpPr>
          <p:cNvPr id="18" name="ladder-task-1">
            <a:extLst xmlns:a="http://schemas.openxmlformats.org/drawingml/2006/main">
              <a:ext uri="{FF2B5EF4-FFF2-40B4-BE49-F238E27FC236}">
                <a16:creationId xmlns:a16="http://schemas.microsoft.com/office/drawing/2014/main" id="{FAD4A5BC-930D-47A9-9682-4F87F35D0224}"/>
              </a:ext>
            </a:extLst>
          </p:cNvPr>
          <p:cNvSpPr>
            <a:spLocks xmlns:a="http://schemas.openxmlformats.org/drawingml/2006/main" noGrp="1"/>
          </p:cNvSpPr>
          <p:nvPr/>
        </p:nvSpPr>
        <p:spPr>
          <a:xfrm xmlns:a="http://schemas.openxmlformats.org/drawingml/2006/main">
            <a:off x="2457450" y="34671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After area_m2 = 35.0, change length_m to 8.5 without recalculating area. Predict the stored area.</a:t>
            </a:r>
          </a:p>
        </p:txBody>
      </p:sp>
      <p:sp>
        <p:nvSpPr>
          <p:cNvPr id="19" name="ladder-divider-1">
            <a:extLst xmlns:a="http://schemas.openxmlformats.org/drawingml/2006/main">
              <a:ext uri="{FF2B5EF4-FFF2-40B4-BE49-F238E27FC236}">
                <a16:creationId xmlns:a16="http://schemas.microsoft.com/office/drawing/2014/main" id="{76F01F78-79EA-4191-86C7-ED7F6F634194}"/>
              </a:ext>
            </a:extLst>
          </p:cNvPr>
          <p:cNvSpPr>
            <a:spLocks xmlns:a="http://schemas.openxmlformats.org/drawingml/2006/main" noGrp="1"/>
          </p:cNvSpPr>
          <p:nvPr/>
        </p:nvSpPr>
        <p:spPr>
          <a:xfrm xmlns:a="http://schemas.openxmlformats.org/drawingml/2006/main">
            <a:off x="8553450" y="34671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ladder-check-label-1">
            <a:extLst xmlns:a="http://schemas.openxmlformats.org/drawingml/2006/main">
              <a:ext uri="{FF2B5EF4-FFF2-40B4-BE49-F238E27FC236}">
                <a16:creationId xmlns:a16="http://schemas.microsoft.com/office/drawing/2014/main" id="{E45D6E53-916B-4320-8C0F-FAA0D086C03F}"/>
              </a:ext>
            </a:extLst>
          </p:cNvPr>
          <p:cNvSpPr>
            <a:spLocks xmlns:a="http://schemas.openxmlformats.org/drawingml/2006/main" noGrp="1"/>
          </p:cNvSpPr>
          <p:nvPr/>
        </p:nvSpPr>
        <p:spPr>
          <a:xfrm xmlns:a="http://schemas.openxmlformats.org/drawingml/2006/main">
            <a:off x="8743950" y="34671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21" name="ladder-answer-1">
            <a:extLst xmlns:a="http://schemas.openxmlformats.org/drawingml/2006/main">
              <a:ext uri="{FF2B5EF4-FFF2-40B4-BE49-F238E27FC236}">
                <a16:creationId xmlns:a16="http://schemas.microsoft.com/office/drawing/2014/main" id="{20AA4EDC-359A-4769-83D5-6F9576ED786C}"/>
              </a:ext>
            </a:extLst>
          </p:cNvPr>
          <p:cNvSpPr>
            <a:spLocks xmlns:a="http://schemas.openxmlformats.org/drawingml/2006/main" noGrp="1"/>
          </p:cNvSpPr>
          <p:nvPr/>
        </p:nvSpPr>
        <p:spPr>
          <a:xfrm xmlns:a="http://schemas.openxmlformats.org/drawingml/2006/main">
            <a:off x="8743950" y="37528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Consolas"/>
                <a:ea typeface="Consolas"/>
                <a:cs typeface="Consolas"/>
              </a:defRPr>
            </a:pPr>
            <a:r>
              <a:rPr sz="1500" b="1">
                <a:solidFill>
                  <a:srgbClr val="111316"/>
                </a:solidFill>
                <a:latin typeface="Consolas"/>
                <a:ea typeface="Consolas"/>
                <a:cs typeface="Consolas"/>
              </a:rPr>
              <a:t>area_m2 remains 35.0</a:t>
            </a:r>
          </a:p>
        </p:txBody>
      </p:sp>
      <p:sp>
        <p:nvSpPr>
          <p:cNvPr id="22" name="ladder-row-2">
            <a:extLst xmlns:a="http://schemas.openxmlformats.org/drawingml/2006/main">
              <a:ext uri="{FF2B5EF4-FFF2-40B4-BE49-F238E27FC236}">
                <a16:creationId xmlns:a16="http://schemas.microsoft.com/office/drawing/2014/main" id="{26E2AC6E-DC9F-498A-BCF5-071C0917BA58}"/>
              </a:ext>
            </a:extLst>
          </p:cNvPr>
          <p:cNvSpPr>
            <a:spLocks xmlns:a="http://schemas.openxmlformats.org/drawingml/2006/main" noGrp="1"/>
          </p:cNvSpPr>
          <p:nvPr/>
        </p:nvSpPr>
        <p:spPr>
          <a:xfrm xmlns:a="http://schemas.openxmlformats.org/drawingml/2006/main">
            <a:off x="609600" y="4743450"/>
            <a:ext cx="10972800" cy="1314450"/>
          </a:xfrm>
          <a:prstGeom xmlns:a="http://schemas.openxmlformats.org/drawingml/2006/main" prst="roundRect">
            <a:avLst>
              <a:gd name="adj" fmla="val 5797"/>
            </a:avLst>
          </a:prstGeom>
          <a:solidFill xmlns:a="http://schemas.openxmlformats.org/drawingml/2006/main">
            <a:srgbClr val="F6F7F9"/>
          </a:solidFill>
          <a:ln xmlns:a="http://schemas.openxmlformats.org/drawingml/2006/main" w="9525">
            <a:solidFill>
              <a:srgbClr val="DDE0E5"/>
            </a:solidFill>
            <a:prstDash val="solid"/>
          </a:ln>
        </p:spPr>
      </p:sp>
      <p:sp>
        <p:nvSpPr>
          <p:cNvPr id="23" name="ladder-accent-2">
            <a:extLst xmlns:a="http://schemas.openxmlformats.org/drawingml/2006/main">
              <a:ext uri="{FF2B5EF4-FFF2-40B4-BE49-F238E27FC236}">
                <a16:creationId xmlns:a16="http://schemas.microsoft.com/office/drawing/2014/main" id="{947129E6-3AD8-43DC-B3EA-1E254ECEBF1F}"/>
              </a:ext>
            </a:extLst>
          </p:cNvPr>
          <p:cNvSpPr>
            <a:spLocks xmlns:a="http://schemas.openxmlformats.org/drawingml/2006/main" noGrp="1"/>
          </p:cNvSpPr>
          <p:nvPr/>
        </p:nvSpPr>
        <p:spPr>
          <a:xfrm xmlns:a="http://schemas.openxmlformats.org/drawingml/2006/main">
            <a:off x="609600" y="4743450"/>
            <a:ext cx="76200" cy="131445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24" name="ladder-level-2">
            <a:extLst xmlns:a="http://schemas.openxmlformats.org/drawingml/2006/main">
              <a:ext uri="{FF2B5EF4-FFF2-40B4-BE49-F238E27FC236}">
                <a16:creationId xmlns:a16="http://schemas.microsoft.com/office/drawing/2014/main" id="{B2E22D84-09DF-46C5-9A9A-F696BDD6B27E}"/>
              </a:ext>
            </a:extLst>
          </p:cNvPr>
          <p:cNvSpPr>
            <a:spLocks xmlns:a="http://schemas.openxmlformats.org/drawingml/2006/main" noGrp="1"/>
          </p:cNvSpPr>
          <p:nvPr/>
        </p:nvSpPr>
        <p:spPr>
          <a:xfrm xmlns:a="http://schemas.openxmlformats.org/drawingml/2006/main">
            <a:off x="857250" y="49149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HARD</a:t>
            </a:r>
          </a:p>
        </p:txBody>
      </p:sp>
      <p:sp>
        <p:nvSpPr>
          <p:cNvPr id="25" name="ladder-focus-2">
            <a:extLst xmlns:a="http://schemas.openxmlformats.org/drawingml/2006/main">
              <a:ext uri="{FF2B5EF4-FFF2-40B4-BE49-F238E27FC236}">
                <a16:creationId xmlns:a16="http://schemas.microsoft.com/office/drawing/2014/main" id="{A7103D51-B7DA-440B-882F-FA749339E90B}"/>
              </a:ext>
            </a:extLst>
          </p:cNvPr>
          <p:cNvSpPr>
            <a:spLocks xmlns:a="http://schemas.openxmlformats.org/drawingml/2006/main" noGrp="1"/>
          </p:cNvSpPr>
          <p:nvPr/>
        </p:nvSpPr>
        <p:spPr>
          <a:xfrm xmlns:a="http://schemas.openxmlformats.org/drawingml/2006/main">
            <a:off x="857250" y="52197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Repair + verify</a:t>
            </a:r>
          </a:p>
        </p:txBody>
      </p:sp>
      <p:sp>
        <p:nvSpPr>
          <p:cNvPr id="26" name="ladder-task-2">
            <a:extLst xmlns:a="http://schemas.openxmlformats.org/drawingml/2006/main">
              <a:ext uri="{FF2B5EF4-FFF2-40B4-BE49-F238E27FC236}">
                <a16:creationId xmlns:a16="http://schemas.microsoft.com/office/drawing/2014/main" id="{E5EB14E8-56AF-476D-B8AB-D494AF876EBD}"/>
              </a:ext>
            </a:extLst>
          </p:cNvPr>
          <p:cNvSpPr>
            <a:spLocks xmlns:a="http://schemas.openxmlformats.org/drawingml/2006/main" noGrp="1"/>
          </p:cNvSpPr>
          <p:nvPr/>
        </p:nvSpPr>
        <p:spPr>
          <a:xfrm xmlns:a="http://schemas.openxmlformats.org/drawingml/2006/main">
            <a:off x="2457450" y="49149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Repair room = Studio, calculate 8.5 × 5.2, restart the kernel, and rerun the complete file.</a:t>
            </a:r>
          </a:p>
        </p:txBody>
      </p:sp>
      <p:sp>
        <p:nvSpPr>
          <p:cNvPr id="27" name="ladder-divider-2">
            <a:extLst xmlns:a="http://schemas.openxmlformats.org/drawingml/2006/main">
              <a:ext uri="{FF2B5EF4-FFF2-40B4-BE49-F238E27FC236}">
                <a16:creationId xmlns:a16="http://schemas.microsoft.com/office/drawing/2014/main" id="{D0DE57CE-C952-479B-9FD5-498CE9B6AF83}"/>
              </a:ext>
            </a:extLst>
          </p:cNvPr>
          <p:cNvSpPr>
            <a:spLocks xmlns:a="http://schemas.openxmlformats.org/drawingml/2006/main" noGrp="1"/>
          </p:cNvSpPr>
          <p:nvPr/>
        </p:nvSpPr>
        <p:spPr>
          <a:xfrm xmlns:a="http://schemas.openxmlformats.org/drawingml/2006/main">
            <a:off x="8553450" y="49149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8" name="ladder-check-label-2">
            <a:extLst xmlns:a="http://schemas.openxmlformats.org/drawingml/2006/main">
              <a:ext uri="{FF2B5EF4-FFF2-40B4-BE49-F238E27FC236}">
                <a16:creationId xmlns:a16="http://schemas.microsoft.com/office/drawing/2014/main" id="{EBC6E579-5909-4C09-B7CC-ED75AFAEC06D}"/>
              </a:ext>
            </a:extLst>
          </p:cNvPr>
          <p:cNvSpPr>
            <a:spLocks xmlns:a="http://schemas.openxmlformats.org/drawingml/2006/main" noGrp="1"/>
          </p:cNvSpPr>
          <p:nvPr/>
        </p:nvSpPr>
        <p:spPr>
          <a:xfrm xmlns:a="http://schemas.openxmlformats.org/drawingml/2006/main">
            <a:off x="8743950" y="49149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29" name="ladder-answer-2">
            <a:extLst xmlns:a="http://schemas.openxmlformats.org/drawingml/2006/main">
              <a:ext uri="{FF2B5EF4-FFF2-40B4-BE49-F238E27FC236}">
                <a16:creationId xmlns:a16="http://schemas.microsoft.com/office/drawing/2014/main" id="{2CE13C6E-0090-4CA3-A3E4-442B810B01AF}"/>
              </a:ext>
            </a:extLst>
          </p:cNvPr>
          <p:cNvSpPr>
            <a:spLocks xmlns:a="http://schemas.openxmlformats.org/drawingml/2006/main" noGrp="1"/>
          </p:cNvSpPr>
          <p:nvPr/>
        </p:nvSpPr>
        <p:spPr>
          <a:xfrm xmlns:a="http://schemas.openxmlformats.org/drawingml/2006/main">
            <a:off x="8743950" y="52006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Consolas"/>
                <a:ea typeface="Consolas"/>
                <a:cs typeface="Consolas"/>
              </a:defRPr>
            </a:pPr>
            <a:r>
              <a:rPr sz="1500" b="1">
                <a:solidFill>
                  <a:srgbClr val="111316"/>
                </a:solidFill>
                <a:latin typeface="Consolas"/>
                <a:ea typeface="Consolas"/>
                <a:cs typeface="Consolas"/>
              </a:rPr>
              <a:t>room = 'Studio'; area_m2 = 44.2</a:t>
            </a:r>
          </a:p>
        </p:txBody>
      </p:sp>
    </p:spTree>
    <p:extLst>
      <p:ext uri="{BB962C8B-B14F-4D97-AF65-F5344CB8AC3E}">
        <p14:creationId xmlns:p14="http://schemas.microsoft.com/office/powerpoint/2010/main" val="16831200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3283A4D-0E06-43B8-8F2D-05CC30FAAD5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E8013A0D-EEED-4844-B9EE-AB376E822E7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 IDE bundles the tools you need in one place</a:t>
            </a:r>
          </a:p>
        </p:txBody>
      </p:sp>
      <p:sp>
        <p:nvSpPr>
          <p:cNvPr id="3" name="">
            <a:extLst xmlns:a="http://schemas.openxmlformats.org/drawingml/2006/main">
              <a:ext uri="{FF2B5EF4-FFF2-40B4-BE49-F238E27FC236}">
                <a16:creationId xmlns:a16="http://schemas.microsoft.com/office/drawing/2014/main" id="{A4824F6E-D73A-471F-AAF8-0CA56235F5D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1D41A7B-F735-4737-9972-F84BF0D5AFE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830EA37-3282-4252-A3D6-21ACDC3E14D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term-label">
            <a:extLst xmlns:a="http://schemas.openxmlformats.org/drawingml/2006/main">
              <a:ext uri="{FF2B5EF4-FFF2-40B4-BE49-F238E27FC236}">
                <a16:creationId xmlns:a16="http://schemas.microsoft.com/office/drawing/2014/main" id="{DFF71A0B-5710-4B6B-87A8-81F3D6994F98}"/>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5C52E51B-E49C-4F17-AE5B-5CB9C6043A8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IDE</a:t>
            </a:r>
          </a:p>
        </p:txBody>
      </p:sp>
      <p:sp>
        <p:nvSpPr>
          <p:cNvPr id="8" name="">
            <a:extLst xmlns:a="http://schemas.openxmlformats.org/drawingml/2006/main">
              <a:ext uri="{FF2B5EF4-FFF2-40B4-BE49-F238E27FC236}">
                <a16:creationId xmlns:a16="http://schemas.microsoft.com/office/drawing/2014/main" id="{AD9D683F-3E2D-4630-A03B-A5FE701EFE3A}"/>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8D1E6C2E-11A2-4006-96DE-08FF3D325B05}"/>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Integrated Development Environment: one application that bundles a code editor, a running Python process, and tools for inspecting what that process holds. Spyder is the IDE used all semester. An IDE changes how much of the work you can see; it does not change what Python means.</a:t>
            </a:r>
          </a:p>
        </p:txBody>
      </p:sp>
      <p:sp>
        <p:nvSpPr>
          <p:cNvPr id="10" name="example-panel">
            <a:extLst xmlns:a="http://schemas.openxmlformats.org/drawingml/2006/main">
              <a:ext uri="{FF2B5EF4-FFF2-40B4-BE49-F238E27FC236}">
                <a16:creationId xmlns:a16="http://schemas.microsoft.com/office/drawing/2014/main" id="{0CE829E7-A9CF-489D-90DD-F6BB4ED562F2}"/>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79D0FC89-CE7E-48B9-80DB-58AA5D1A535B}"/>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WHY IT MATTERS</a:t>
            </a:r>
          </a:p>
        </p:txBody>
      </p:sp>
      <p:sp>
        <p:nvSpPr>
          <p:cNvPr id="12" name="example-head">
            <a:extLst xmlns:a="http://schemas.openxmlformats.org/drawingml/2006/main">
              <a:ext uri="{FF2B5EF4-FFF2-40B4-BE49-F238E27FC236}">
                <a16:creationId xmlns:a16="http://schemas.microsoft.com/office/drawing/2014/main" id="{DC77E365-B90D-406F-9442-569A9B55937D}"/>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Without an IDE vs. with Spyder</a:t>
            </a:r>
          </a:p>
        </p:txBody>
      </p:sp>
      <p:sp>
        <p:nvSpPr>
          <p:cNvPr id="13" name="example-body">
            <a:extLst xmlns:a="http://schemas.openxmlformats.org/drawingml/2006/main">
              <a:ext uri="{FF2B5EF4-FFF2-40B4-BE49-F238E27FC236}">
                <a16:creationId xmlns:a16="http://schemas.microsoft.com/office/drawing/2014/main" id="{34A19C17-94FF-4313-A979-19592ED58654}"/>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Without: a plain text editor in one window and a separate terminal in another, with no easy way to see variable values as you go.</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With Spyder: write, run, and inspect in one window — Editor, Console, and Variable Explorer together.</a:t>
            </a:r>
          </a:p>
        </p:txBody>
      </p:sp>
      <p:sp>
        <p:nvSpPr>
          <p:cNvPr id="14" name="note-bar">
            <a:extLst xmlns:a="http://schemas.openxmlformats.org/drawingml/2006/main">
              <a:ext uri="{FF2B5EF4-FFF2-40B4-BE49-F238E27FC236}">
                <a16:creationId xmlns:a16="http://schemas.microsoft.com/office/drawing/2014/main" id="{0B1F8AEF-CFED-4043-A7C9-9A58F97CEBFE}"/>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1E397008-E961-4DFD-B066-82B9189394C3}"/>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932F779B-2FEE-4458-9648-4E208BD467C9}"/>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Python, the IDE, and the libraries you import are three separate things. Removing Spyder would not remove Python.</a:t>
            </a:r>
          </a:p>
        </p:txBody>
      </p:sp>
    </p:spTree>
    <p:extLst>
      <p:ext uri="{BB962C8B-B14F-4D97-AF65-F5344CB8AC3E}">
        <p14:creationId xmlns:p14="http://schemas.microsoft.com/office/powerpoint/2010/main" val="18162744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C788B462-0D73-4F56-AF5E-DA0930F8B3E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64B59271-C8EB-43C8-915F-62FC8A4C29C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stable environment is part of reproducibility</a:t>
            </a:r>
          </a:p>
        </p:txBody>
      </p:sp>
      <p:sp>
        <p:nvSpPr>
          <p:cNvPr id="3" name="">
            <a:extLst xmlns:a="http://schemas.openxmlformats.org/drawingml/2006/main">
              <a:ext uri="{FF2B5EF4-FFF2-40B4-BE49-F238E27FC236}">
                <a16:creationId xmlns:a16="http://schemas.microsoft.com/office/drawing/2014/main" id="{8C81ED3B-B660-45A5-925E-1BA22C946D1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072E8F5-B6D7-4236-9180-BCBA878236F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86E4033-7447-4CF8-BB84-BC63DB73883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statement">
            <a:extLst xmlns:a="http://schemas.openxmlformats.org/drawingml/2006/main">
              <a:ext uri="{FF2B5EF4-FFF2-40B4-BE49-F238E27FC236}">
                <a16:creationId xmlns:a16="http://schemas.microsoft.com/office/drawing/2014/main" id="{253D62C1-4250-466F-94BB-27699F911734}"/>
              </a:ext>
            </a:extLst>
          </p:cNvPr>
          <p:cNvSpPr>
            <a:spLocks xmlns:a="http://schemas.openxmlformats.org/drawingml/2006/main" noGrp="1"/>
          </p:cNvSpPr>
          <p:nvPr/>
        </p:nvSpPr>
        <p:spPr>
          <a:xfrm xmlns:a="http://schemas.openxmlformats.org/drawingml/2006/main">
            <a:off x="609600" y="2305050"/>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The same script can behave differently when the interpreter, packages, or working folder change.</a:t>
            </a:r>
          </a:p>
        </p:txBody>
      </p:sp>
      <p:sp>
        <p:nvSpPr>
          <p:cNvPr id="7" name="">
            <a:extLst xmlns:a="http://schemas.openxmlformats.org/drawingml/2006/main">
              <a:ext uri="{FF2B5EF4-FFF2-40B4-BE49-F238E27FC236}">
                <a16:creationId xmlns:a16="http://schemas.microsoft.com/office/drawing/2014/main" id="{719EC98F-E3F5-48C6-8772-CF0791E04037}"/>
              </a:ext>
            </a:extLst>
          </p:cNvPr>
          <p:cNvSpPr>
            <a:spLocks xmlns:a="http://schemas.openxmlformats.org/drawingml/2006/main" noGrp="1"/>
          </p:cNvSpPr>
          <p:nvPr/>
        </p:nvSpPr>
        <p:spPr>
          <a:xfrm xmlns:a="http://schemas.openxmlformats.org/drawingml/2006/main">
            <a:off x="609600" y="4072128"/>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6A4F3D4A-17AD-4E19-A20F-F536D449B61B}"/>
              </a:ext>
            </a:extLst>
          </p:cNvPr>
          <p:cNvSpPr>
            <a:spLocks xmlns:a="http://schemas.openxmlformats.org/drawingml/2006/main" noGrp="1"/>
          </p:cNvSpPr>
          <p:nvPr/>
        </p:nvSpPr>
        <p:spPr>
          <a:xfrm xmlns:a="http://schemas.openxmlformats.org/drawingml/2006/main">
            <a:off x="609600" y="4395978"/>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Environment: the Python interpreter plus the installed libraries used to run the file. Record it, keep course files together, and verify dependencies before changing code.</a:t>
            </a:r>
          </a:p>
        </p:txBody>
      </p:sp>
    </p:spTree>
    <p:extLst>
      <p:ext uri="{BB962C8B-B14F-4D97-AF65-F5344CB8AC3E}">
        <p14:creationId xmlns:p14="http://schemas.microsoft.com/office/powerpoint/2010/main" val="490731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344E1756-A7E9-40CC-9685-D9BD462A892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3C0D9409-E808-45F9-8A00-6AB17E59EBD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Use one supported environment for the whole semester</a:t>
            </a:r>
          </a:p>
        </p:txBody>
      </p:sp>
      <p:sp>
        <p:nvSpPr>
          <p:cNvPr id="3" name="">
            <a:extLst xmlns:a="http://schemas.openxmlformats.org/drawingml/2006/main">
              <a:ext uri="{FF2B5EF4-FFF2-40B4-BE49-F238E27FC236}">
                <a16:creationId xmlns:a16="http://schemas.microsoft.com/office/drawing/2014/main" id="{7BBB149A-CE5A-4311-884C-5148582E0F9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2031F6D-E31E-49F1-A512-F94DCFE1692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E0BA7C9-CC7F-4E60-854C-104F7512E12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left-head">
            <a:extLst xmlns:a="http://schemas.openxmlformats.org/drawingml/2006/main">
              <a:ext uri="{FF2B5EF4-FFF2-40B4-BE49-F238E27FC236}">
                <a16:creationId xmlns:a16="http://schemas.microsoft.com/office/drawing/2014/main" id="{45AC728E-B0CF-451E-84E8-44D74393C836}"/>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Course environment</a:t>
            </a:r>
          </a:p>
        </p:txBody>
      </p:sp>
      <p:sp>
        <p:nvSpPr>
          <p:cNvPr id="7" name="left-body">
            <a:extLst xmlns:a="http://schemas.openxmlformats.org/drawingml/2006/main">
              <a:ext uri="{FF2B5EF4-FFF2-40B4-BE49-F238E27FC236}">
                <a16:creationId xmlns:a16="http://schemas.microsoft.com/office/drawing/2014/main" id="{6CF0A515-3ED7-4CBA-8D97-8EC5C751C010}"/>
              </a:ext>
            </a:extLst>
          </p:cNvPr>
          <p:cNvSpPr>
            <a:spLocks xmlns:a="http://schemas.openxmlformats.org/drawingml/2006/main" noGrp="1"/>
          </p:cNvSpPr>
          <p:nvPr/>
        </p:nvSpPr>
        <p:spPr>
          <a:xfrm xmlns:a="http://schemas.openxmlformats.org/drawingml/2006/main">
            <a:off x="6096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Install Miniforge, then create arc500-f26 from the supplied ARC500_environment.yml. Conda keeps the compiled scientific and geospatial packages compatible across the semester.</a:t>
            </a:r>
          </a:p>
        </p:txBody>
      </p:sp>
      <p:sp>
        <p:nvSpPr>
          <p:cNvPr id="8" name="right-head">
            <a:extLst xmlns:a="http://schemas.openxmlformats.org/drawingml/2006/main">
              <a:ext uri="{FF2B5EF4-FFF2-40B4-BE49-F238E27FC236}">
                <a16:creationId xmlns:a16="http://schemas.microsoft.com/office/drawing/2014/main" id="{5C1430BF-D250-4FEA-9933-4AD205F369E5}"/>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Spyder application</a:t>
            </a:r>
          </a:p>
        </p:txBody>
      </p:sp>
      <p:sp>
        <p:nvSpPr>
          <p:cNvPr id="9" name="right-body">
            <a:extLst xmlns:a="http://schemas.openxmlformats.org/drawingml/2006/main">
              <a:ext uri="{FF2B5EF4-FFF2-40B4-BE49-F238E27FC236}">
                <a16:creationId xmlns:a16="http://schemas.microsoft.com/office/drawing/2014/main" id="{13D62C7B-7E27-44F0-B099-48687288DF1E}"/>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Install Spyder with its official standalone installer, then open a console in arc500-f26. Do not install course packages into Spyder’s internal environment from the IPython Console.</a:t>
            </a:r>
          </a:p>
        </p:txBody>
      </p:sp>
    </p:spTree>
    <p:extLst>
      <p:ext uri="{BB962C8B-B14F-4D97-AF65-F5344CB8AC3E}">
        <p14:creationId xmlns:p14="http://schemas.microsoft.com/office/powerpoint/2010/main" val="12709491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FCEBF4BE-2238-4842-A627-11E09F5AFA8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310FADAC-B072-4578-923F-575054706A7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Create, connect, and verify in four checkpoints</a:t>
            </a:r>
          </a:p>
        </p:txBody>
      </p:sp>
      <p:sp>
        <p:nvSpPr>
          <p:cNvPr id="3" name="">
            <a:extLst xmlns:a="http://schemas.openxmlformats.org/drawingml/2006/main">
              <a:ext uri="{FF2B5EF4-FFF2-40B4-BE49-F238E27FC236}">
                <a16:creationId xmlns:a16="http://schemas.microsoft.com/office/drawing/2014/main" id="{733D83F7-A7F8-45DE-81F1-A151F41E327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520DCEE-B0F6-4357-BD54-87B8881887E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1AEF279-87A6-4815-AF12-202FEE1F54C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step-arrow-0">
            <a:extLst xmlns:a="http://schemas.openxmlformats.org/drawingml/2006/main">
              <a:ext uri="{FF2B5EF4-FFF2-40B4-BE49-F238E27FC236}">
                <a16:creationId xmlns:a16="http://schemas.microsoft.com/office/drawing/2014/main" id="{E61FFD43-34B9-4955-B0C1-7D30537E4A78}"/>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B55B9336-F13B-4C66-8503-5D6ABDADC745}"/>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AFAEA86B-9E0A-44D6-B35E-2B2ECAD98847}"/>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DE1191A5-091C-4864-8D31-41E2FD001D62}"/>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D86E2237-BE07-4AE2-AD11-BEBCA027526B}"/>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7D06AC26-8556-4BB3-9541-1C84561624B6}"/>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INSTALL</a:t>
            </a:r>
          </a:p>
        </p:txBody>
      </p:sp>
      <p:sp>
        <p:nvSpPr>
          <p:cNvPr id="12" name="">
            <a:extLst xmlns:a="http://schemas.openxmlformats.org/drawingml/2006/main">
              <a:ext uri="{FF2B5EF4-FFF2-40B4-BE49-F238E27FC236}">
                <a16:creationId xmlns:a16="http://schemas.microsoft.com/office/drawing/2014/main" id="{7E828F68-C3E8-407F-A59D-F6701E7C0B6C}"/>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A736C211-2E89-45EB-9E15-1823523943B1}"/>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Get Miniforge + Spyder</a:t>
            </a:r>
          </a:p>
        </p:txBody>
      </p:sp>
      <p:sp>
        <p:nvSpPr>
          <p:cNvPr id="14" name="step-body-0">
            <a:extLst xmlns:a="http://schemas.openxmlformats.org/drawingml/2006/main">
              <a:ext uri="{FF2B5EF4-FFF2-40B4-BE49-F238E27FC236}">
                <a16:creationId xmlns:a16="http://schemas.microsoft.com/office/drawing/2014/main" id="{5E279182-9B7E-4981-9FEB-3B4735EB834F}"/>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Download each from its official project page; accept the platform defaults.</a:t>
            </a:r>
          </a:p>
        </p:txBody>
      </p:sp>
      <p:sp>
        <p:nvSpPr>
          <p:cNvPr id="15" name="step-node-1">
            <a:extLst xmlns:a="http://schemas.openxmlformats.org/drawingml/2006/main">
              <a:ext uri="{FF2B5EF4-FFF2-40B4-BE49-F238E27FC236}">
                <a16:creationId xmlns:a16="http://schemas.microsoft.com/office/drawing/2014/main" id="{6B06A17C-36E2-4D72-AFE5-8F20AF15D2DA}"/>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E3CAC582-725E-4483-B0D3-C37B85B9BBB7}"/>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12964B69-89FA-41CE-AD8F-D4E7C6AADD9A}"/>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EFD07EF9-E6BD-4970-AA43-4B2FF4DED00E}"/>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6263B2E4-CFAD-4547-A42E-F91B30230BE7}"/>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Build arc500-f26</a:t>
            </a:r>
          </a:p>
        </p:txBody>
      </p:sp>
      <p:sp>
        <p:nvSpPr>
          <p:cNvPr id="20" name="step-body-1">
            <a:extLst xmlns:a="http://schemas.openxmlformats.org/drawingml/2006/main">
              <a:ext uri="{FF2B5EF4-FFF2-40B4-BE49-F238E27FC236}">
                <a16:creationId xmlns:a16="http://schemas.microsoft.com/office/drawing/2014/main" id="{840E2D90-5735-40E9-8928-3E7188D2D4EF}"/>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Create it from the supplied course environment file.</a:t>
            </a:r>
          </a:p>
        </p:txBody>
      </p:sp>
      <p:sp>
        <p:nvSpPr>
          <p:cNvPr id="21" name="step-node-2">
            <a:extLst xmlns:a="http://schemas.openxmlformats.org/drawingml/2006/main">
              <a:ext uri="{FF2B5EF4-FFF2-40B4-BE49-F238E27FC236}">
                <a16:creationId xmlns:a16="http://schemas.microsoft.com/office/drawing/2014/main" id="{BF3B1977-66F6-4D0C-88B3-6A315D2014F1}"/>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480F1739-2441-43D2-A11A-244CC676A751}"/>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26DFC905-ED02-4367-86D5-FD2D6D18CF2F}"/>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CONNECT</a:t>
            </a:r>
          </a:p>
        </p:txBody>
      </p:sp>
      <p:sp>
        <p:nvSpPr>
          <p:cNvPr id="24" name="">
            <a:extLst xmlns:a="http://schemas.openxmlformats.org/drawingml/2006/main">
              <a:ext uri="{FF2B5EF4-FFF2-40B4-BE49-F238E27FC236}">
                <a16:creationId xmlns:a16="http://schemas.microsoft.com/office/drawing/2014/main" id="{627A9B74-8FAF-49EB-8E9A-E9A10EF4E685}"/>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70C7B321-2B49-4FF0-9D1D-258B11ACF343}"/>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Choose the environment</a:t>
            </a:r>
          </a:p>
        </p:txBody>
      </p:sp>
      <p:sp>
        <p:nvSpPr>
          <p:cNvPr id="26" name="step-body-2">
            <a:extLst xmlns:a="http://schemas.openxmlformats.org/drawingml/2006/main">
              <a:ext uri="{FF2B5EF4-FFF2-40B4-BE49-F238E27FC236}">
                <a16:creationId xmlns:a16="http://schemas.microsoft.com/office/drawing/2014/main" id="{65D3CB2A-A627-4671-B385-1B895D43996E}"/>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In Spyder 6, select arc500-f26 for a new console.</a:t>
            </a:r>
          </a:p>
        </p:txBody>
      </p:sp>
      <p:sp>
        <p:nvSpPr>
          <p:cNvPr id="27" name="step-node-3">
            <a:extLst xmlns:a="http://schemas.openxmlformats.org/drawingml/2006/main">
              <a:ext uri="{FF2B5EF4-FFF2-40B4-BE49-F238E27FC236}">
                <a16:creationId xmlns:a16="http://schemas.microsoft.com/office/drawing/2014/main" id="{BDD8DEA8-A4B5-4529-B768-A5B53167E35C}"/>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008ECAB8-52C9-4FD0-A041-3299C3BF5803}"/>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DF5E280E-D9AD-4DEA-AAE4-808A4D8147E8}"/>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VERIFY</a:t>
            </a:r>
          </a:p>
        </p:txBody>
      </p:sp>
      <p:sp>
        <p:nvSpPr>
          <p:cNvPr id="30" name="">
            <a:extLst xmlns:a="http://schemas.openxmlformats.org/drawingml/2006/main">
              <a:ext uri="{FF2B5EF4-FFF2-40B4-BE49-F238E27FC236}">
                <a16:creationId xmlns:a16="http://schemas.microsoft.com/office/drawing/2014/main" id="{3D5175AF-17F7-47CE-84C4-AFBDC044E17A}"/>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620AF9FB-CEAA-4DA5-8FE1-8C2CB7FC1A45}"/>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Run the preflight</a:t>
            </a:r>
          </a:p>
        </p:txBody>
      </p:sp>
      <p:sp>
        <p:nvSpPr>
          <p:cNvPr id="32" name="step-body-3">
            <a:extLst xmlns:a="http://schemas.openxmlformats.org/drawingml/2006/main">
              <a:ext uri="{FF2B5EF4-FFF2-40B4-BE49-F238E27FC236}">
                <a16:creationId xmlns:a16="http://schemas.microsoft.com/office/drawing/2014/main" id="{93E84C9B-49BC-4BA5-9D0C-E2C33C44DC94}"/>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Continue only when the final line says ARC500 PREFLIGHT: PASS.</a:t>
            </a:r>
          </a:p>
        </p:txBody>
      </p:sp>
    </p:spTree>
    <p:extLst>
      <p:ext uri="{BB962C8B-B14F-4D97-AF65-F5344CB8AC3E}">
        <p14:creationId xmlns:p14="http://schemas.microsoft.com/office/powerpoint/2010/main" val="14925471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kicker">
            <a:extLst xmlns:a="http://schemas.openxmlformats.org/drawingml/2006/main">
              <a:ext uri="{FF2B5EF4-FFF2-40B4-BE49-F238E27FC236}">
                <a16:creationId xmlns:a16="http://schemas.microsoft.com/office/drawing/2014/main" id="{24C70BE8-72B2-493A-8558-0BC5EA9E8A0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351277D8-54E5-4791-9B2E-4784A66963D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These libraries form the semester toolchain</a:t>
            </a:r>
          </a:p>
        </p:txBody>
      </p:sp>
      <p:sp>
        <p:nvSpPr>
          <p:cNvPr id="3" name="">
            <a:extLst xmlns:a="http://schemas.openxmlformats.org/drawingml/2006/main">
              <a:ext uri="{FF2B5EF4-FFF2-40B4-BE49-F238E27FC236}">
                <a16:creationId xmlns:a16="http://schemas.microsoft.com/office/drawing/2014/main" id="{247DDF38-B4CA-4C9D-8A28-E1FBF1DD51A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B6E6F88-A1A8-4A92-82D8-B016DB2A42C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DA4CD175-16F2-494A-9851-C198EEA9D0E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402A52A9-E6BB-4FB5-BC67-810E34AAB2EE}"/>
              </a:ext>
            </a:extLst>
          </p:cNvPr>
          <p:cNvSpPr>
            <a:spLocks xmlns:a="http://schemas.openxmlformats.org/drawingml/2006/main" noGrp="1"/>
          </p:cNvSpPr>
          <p:nvPr/>
        </p:nvSpPr>
        <p:spPr>
          <a:xfrm xmlns:a="http://schemas.openxmlformats.org/drawingml/2006/main">
            <a:off x="609600" y="18288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EA3C26A-5C6A-4A7B-B6F3-4239E7347119}"/>
              </a:ext>
            </a:extLst>
          </p:cNvPr>
          <p:cNvSpPr>
            <a:spLocks xmlns:a="http://schemas.openxmlformats.org/drawingml/2006/main" noGrp="1"/>
          </p:cNvSpPr>
          <p:nvPr/>
        </p:nvSpPr>
        <p:spPr>
          <a:xfrm xmlns:a="http://schemas.openxmlformats.org/drawingml/2006/main">
            <a:off x="723900" y="19050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library</a:t>
            </a:r>
          </a:p>
        </p:txBody>
      </p:sp>
      <p:sp>
        <p:nvSpPr>
          <p:cNvPr id="8" name="">
            <a:extLst xmlns:a="http://schemas.openxmlformats.org/drawingml/2006/main">
              <a:ext uri="{FF2B5EF4-FFF2-40B4-BE49-F238E27FC236}">
                <a16:creationId xmlns:a16="http://schemas.microsoft.com/office/drawing/2014/main" id="{683E4829-4E40-4686-B33E-AF1DC726A769}"/>
              </a:ext>
            </a:extLst>
          </p:cNvPr>
          <p:cNvSpPr>
            <a:spLocks xmlns:a="http://schemas.openxmlformats.org/drawingml/2006/main" noGrp="1"/>
          </p:cNvSpPr>
          <p:nvPr/>
        </p:nvSpPr>
        <p:spPr>
          <a:xfrm xmlns:a="http://schemas.openxmlformats.org/drawingml/2006/main">
            <a:off x="3086100" y="18288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A7A4DD58-8441-4C82-A56E-351CCCCA8DA6}"/>
              </a:ext>
            </a:extLst>
          </p:cNvPr>
          <p:cNvSpPr>
            <a:spLocks xmlns:a="http://schemas.openxmlformats.org/drawingml/2006/main" noGrp="1"/>
          </p:cNvSpPr>
          <p:nvPr/>
        </p:nvSpPr>
        <p:spPr>
          <a:xfrm xmlns:a="http://schemas.openxmlformats.org/drawingml/2006/main">
            <a:off x="3200400" y="19050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first major use</a:t>
            </a:r>
          </a:p>
        </p:txBody>
      </p:sp>
      <p:sp>
        <p:nvSpPr>
          <p:cNvPr id="10" name="">
            <a:extLst xmlns:a="http://schemas.openxmlformats.org/drawingml/2006/main">
              <a:ext uri="{FF2B5EF4-FFF2-40B4-BE49-F238E27FC236}">
                <a16:creationId xmlns:a16="http://schemas.microsoft.com/office/drawing/2014/main" id="{75F1FBDA-3925-4821-A4D5-36E7144E6DF2}"/>
              </a:ext>
            </a:extLst>
          </p:cNvPr>
          <p:cNvSpPr>
            <a:spLocks xmlns:a="http://schemas.openxmlformats.org/drawingml/2006/main" noGrp="1"/>
          </p:cNvSpPr>
          <p:nvPr/>
        </p:nvSpPr>
        <p:spPr>
          <a:xfrm xmlns:a="http://schemas.openxmlformats.org/drawingml/2006/main">
            <a:off x="5562600" y="1828800"/>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6D8D1BD6-7F14-4F0C-9331-01E41F56B486}"/>
              </a:ext>
            </a:extLst>
          </p:cNvPr>
          <p:cNvSpPr>
            <a:spLocks xmlns:a="http://schemas.openxmlformats.org/drawingml/2006/main" noGrp="1"/>
          </p:cNvSpPr>
          <p:nvPr/>
        </p:nvSpPr>
        <p:spPr>
          <a:xfrm xmlns:a="http://schemas.openxmlformats.org/drawingml/2006/main">
            <a:off x="5676900" y="190500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role</a:t>
            </a:r>
          </a:p>
        </p:txBody>
      </p:sp>
      <p:sp>
        <p:nvSpPr>
          <p:cNvPr id="12" name="">
            <a:extLst xmlns:a="http://schemas.openxmlformats.org/drawingml/2006/main">
              <a:ext uri="{FF2B5EF4-FFF2-40B4-BE49-F238E27FC236}">
                <a16:creationId xmlns:a16="http://schemas.microsoft.com/office/drawing/2014/main" id="{D757AD6B-669E-483A-B9E1-CF49734E6640}"/>
              </a:ext>
            </a:extLst>
          </p:cNvPr>
          <p:cNvSpPr>
            <a:spLocks xmlns:a="http://schemas.openxmlformats.org/drawingml/2006/main" noGrp="1"/>
          </p:cNvSpPr>
          <p:nvPr/>
        </p:nvSpPr>
        <p:spPr>
          <a:xfrm xmlns:a="http://schemas.openxmlformats.org/drawingml/2006/main">
            <a:off x="609600" y="236220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80B8ECA2-0C08-4431-81BE-F59B27461658}"/>
              </a:ext>
            </a:extLst>
          </p:cNvPr>
          <p:cNvSpPr>
            <a:spLocks xmlns:a="http://schemas.openxmlformats.org/drawingml/2006/main" noGrp="1"/>
          </p:cNvSpPr>
          <p:nvPr/>
        </p:nvSpPr>
        <p:spPr>
          <a:xfrm xmlns:a="http://schemas.openxmlformats.org/drawingml/2006/main">
            <a:off x="723900" y="243840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Python standard library</a:t>
            </a:r>
          </a:p>
        </p:txBody>
      </p:sp>
      <p:sp>
        <p:nvSpPr>
          <p:cNvPr id="14" name="">
            <a:extLst xmlns:a="http://schemas.openxmlformats.org/drawingml/2006/main">
              <a:ext uri="{FF2B5EF4-FFF2-40B4-BE49-F238E27FC236}">
                <a16:creationId xmlns:a16="http://schemas.microsoft.com/office/drawing/2014/main" id="{875E3397-9106-4008-A4F5-4878FB7897C7}"/>
              </a:ext>
            </a:extLst>
          </p:cNvPr>
          <p:cNvSpPr>
            <a:spLocks xmlns:a="http://schemas.openxmlformats.org/drawingml/2006/main" noGrp="1"/>
          </p:cNvSpPr>
          <p:nvPr/>
        </p:nvSpPr>
        <p:spPr>
          <a:xfrm xmlns:a="http://schemas.openxmlformats.org/drawingml/2006/main">
            <a:off x="3086100" y="236220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630F636D-5AF7-498F-AEDF-A842AC4C5FAD}"/>
              </a:ext>
            </a:extLst>
          </p:cNvPr>
          <p:cNvSpPr>
            <a:spLocks xmlns:a="http://schemas.openxmlformats.org/drawingml/2006/main" noGrp="1"/>
          </p:cNvSpPr>
          <p:nvPr/>
        </p:nvSpPr>
        <p:spPr>
          <a:xfrm xmlns:a="http://schemas.openxmlformats.org/drawingml/2006/main">
            <a:off x="3200400" y="243840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Weeks 1–3</a:t>
            </a:r>
          </a:p>
        </p:txBody>
      </p:sp>
      <p:sp>
        <p:nvSpPr>
          <p:cNvPr id="16" name="">
            <a:extLst xmlns:a="http://schemas.openxmlformats.org/drawingml/2006/main">
              <a:ext uri="{FF2B5EF4-FFF2-40B4-BE49-F238E27FC236}">
                <a16:creationId xmlns:a16="http://schemas.microsoft.com/office/drawing/2014/main" id="{3C81CB2D-7D76-41FD-96F8-66D1C9236FA6}"/>
              </a:ext>
            </a:extLst>
          </p:cNvPr>
          <p:cNvSpPr>
            <a:spLocks xmlns:a="http://schemas.openxmlformats.org/drawingml/2006/main" noGrp="1"/>
          </p:cNvSpPr>
          <p:nvPr/>
        </p:nvSpPr>
        <p:spPr>
          <a:xfrm xmlns:a="http://schemas.openxmlformats.org/drawingml/2006/main">
            <a:off x="5562600" y="236220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36747AA5-83B3-4C03-9DD8-D4F262D06529}"/>
              </a:ext>
            </a:extLst>
          </p:cNvPr>
          <p:cNvSpPr>
            <a:spLocks xmlns:a="http://schemas.openxmlformats.org/drawingml/2006/main" noGrp="1"/>
          </p:cNvSpPr>
          <p:nvPr/>
        </p:nvSpPr>
        <p:spPr>
          <a:xfrm xmlns:a="http://schemas.openxmlformats.org/drawingml/2006/main">
            <a:off x="5676900" y="243840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files, math, reusable tools</a:t>
            </a:r>
          </a:p>
        </p:txBody>
      </p:sp>
      <p:sp>
        <p:nvSpPr>
          <p:cNvPr id="18" name="">
            <a:extLst xmlns:a="http://schemas.openxmlformats.org/drawingml/2006/main">
              <a:ext uri="{FF2B5EF4-FFF2-40B4-BE49-F238E27FC236}">
                <a16:creationId xmlns:a16="http://schemas.microsoft.com/office/drawing/2014/main" id="{F344704C-23C1-40BC-A842-A004A135FDD8}"/>
              </a:ext>
            </a:extLst>
          </p:cNvPr>
          <p:cNvSpPr>
            <a:spLocks xmlns:a="http://schemas.openxmlformats.org/drawingml/2006/main" noGrp="1"/>
          </p:cNvSpPr>
          <p:nvPr/>
        </p:nvSpPr>
        <p:spPr>
          <a:xfrm xmlns:a="http://schemas.openxmlformats.org/drawingml/2006/main">
            <a:off x="609600" y="2903220"/>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08D5E22C-2D27-4737-AB3F-A525BBC19CE8}"/>
              </a:ext>
            </a:extLst>
          </p:cNvPr>
          <p:cNvSpPr>
            <a:spLocks xmlns:a="http://schemas.openxmlformats.org/drawingml/2006/main" noGrp="1"/>
          </p:cNvSpPr>
          <p:nvPr/>
        </p:nvSpPr>
        <p:spPr>
          <a:xfrm xmlns:a="http://schemas.openxmlformats.org/drawingml/2006/main">
            <a:off x="723900" y="297942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NumPy</a:t>
            </a:r>
          </a:p>
        </p:txBody>
      </p:sp>
      <p:sp>
        <p:nvSpPr>
          <p:cNvPr id="20" name="">
            <a:extLst xmlns:a="http://schemas.openxmlformats.org/drawingml/2006/main">
              <a:ext uri="{FF2B5EF4-FFF2-40B4-BE49-F238E27FC236}">
                <a16:creationId xmlns:a16="http://schemas.microsoft.com/office/drawing/2014/main" id="{2AB60219-189A-4B38-9300-06D2666A5AB8}"/>
              </a:ext>
            </a:extLst>
          </p:cNvPr>
          <p:cNvSpPr>
            <a:spLocks xmlns:a="http://schemas.openxmlformats.org/drawingml/2006/main" noGrp="1"/>
          </p:cNvSpPr>
          <p:nvPr/>
        </p:nvSpPr>
        <p:spPr>
          <a:xfrm xmlns:a="http://schemas.openxmlformats.org/drawingml/2006/main">
            <a:off x="3086100" y="2903220"/>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DA9D6AC4-CEE6-4EA8-9814-F8CD28415E6E}"/>
              </a:ext>
            </a:extLst>
          </p:cNvPr>
          <p:cNvSpPr>
            <a:spLocks xmlns:a="http://schemas.openxmlformats.org/drawingml/2006/main" noGrp="1"/>
          </p:cNvSpPr>
          <p:nvPr/>
        </p:nvSpPr>
        <p:spPr>
          <a:xfrm xmlns:a="http://schemas.openxmlformats.org/drawingml/2006/main">
            <a:off x="3200400" y="297942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Weeks 4, 9</a:t>
            </a:r>
          </a:p>
        </p:txBody>
      </p:sp>
      <p:sp>
        <p:nvSpPr>
          <p:cNvPr id="22" name="">
            <a:extLst xmlns:a="http://schemas.openxmlformats.org/drawingml/2006/main">
              <a:ext uri="{FF2B5EF4-FFF2-40B4-BE49-F238E27FC236}">
                <a16:creationId xmlns:a16="http://schemas.microsoft.com/office/drawing/2014/main" id="{3857C8E0-DFE7-43F7-A867-51F00CA34878}"/>
              </a:ext>
            </a:extLst>
          </p:cNvPr>
          <p:cNvSpPr>
            <a:spLocks xmlns:a="http://schemas.openxmlformats.org/drawingml/2006/main" noGrp="1"/>
          </p:cNvSpPr>
          <p:nvPr/>
        </p:nvSpPr>
        <p:spPr>
          <a:xfrm xmlns:a="http://schemas.openxmlformats.org/drawingml/2006/main">
            <a:off x="5562600" y="2903220"/>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483522EA-DFAD-400D-8103-16C285F61F9D}"/>
              </a:ext>
            </a:extLst>
          </p:cNvPr>
          <p:cNvSpPr>
            <a:spLocks xmlns:a="http://schemas.openxmlformats.org/drawingml/2006/main" noGrp="1"/>
          </p:cNvSpPr>
          <p:nvPr/>
        </p:nvSpPr>
        <p:spPr>
          <a:xfrm xmlns:a="http://schemas.openxmlformats.org/drawingml/2006/main">
            <a:off x="5676900" y="297942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arrays and parameter sweeps</a:t>
            </a:r>
          </a:p>
        </p:txBody>
      </p:sp>
      <p:sp>
        <p:nvSpPr>
          <p:cNvPr id="24" name="">
            <a:extLst xmlns:a="http://schemas.openxmlformats.org/drawingml/2006/main">
              <a:ext uri="{FF2B5EF4-FFF2-40B4-BE49-F238E27FC236}">
                <a16:creationId xmlns:a16="http://schemas.microsoft.com/office/drawing/2014/main" id="{F5CFA220-A4A8-498A-A845-ED407CA44BE9}"/>
              </a:ext>
            </a:extLst>
          </p:cNvPr>
          <p:cNvSpPr>
            <a:spLocks xmlns:a="http://schemas.openxmlformats.org/drawingml/2006/main" noGrp="1"/>
          </p:cNvSpPr>
          <p:nvPr/>
        </p:nvSpPr>
        <p:spPr>
          <a:xfrm xmlns:a="http://schemas.openxmlformats.org/drawingml/2006/main">
            <a:off x="609600" y="344424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BDAD2A5C-EEFA-418E-8D27-30F23395DD30}"/>
              </a:ext>
            </a:extLst>
          </p:cNvPr>
          <p:cNvSpPr>
            <a:spLocks xmlns:a="http://schemas.openxmlformats.org/drawingml/2006/main" noGrp="1"/>
          </p:cNvSpPr>
          <p:nvPr/>
        </p:nvSpPr>
        <p:spPr>
          <a:xfrm xmlns:a="http://schemas.openxmlformats.org/drawingml/2006/main">
            <a:off x="723900" y="35204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pandas</a:t>
            </a:r>
          </a:p>
        </p:txBody>
      </p:sp>
      <p:sp>
        <p:nvSpPr>
          <p:cNvPr id="26" name="">
            <a:extLst xmlns:a="http://schemas.openxmlformats.org/drawingml/2006/main">
              <a:ext uri="{FF2B5EF4-FFF2-40B4-BE49-F238E27FC236}">
                <a16:creationId xmlns:a16="http://schemas.microsoft.com/office/drawing/2014/main" id="{77948F53-F1F7-4D2E-A18D-EF27777418CC}"/>
              </a:ext>
            </a:extLst>
          </p:cNvPr>
          <p:cNvSpPr>
            <a:spLocks xmlns:a="http://schemas.openxmlformats.org/drawingml/2006/main" noGrp="1"/>
          </p:cNvSpPr>
          <p:nvPr/>
        </p:nvSpPr>
        <p:spPr>
          <a:xfrm xmlns:a="http://schemas.openxmlformats.org/drawingml/2006/main">
            <a:off x="3086100" y="344424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297FF108-5F89-44AE-AB46-CD3566BF63E9}"/>
              </a:ext>
            </a:extLst>
          </p:cNvPr>
          <p:cNvSpPr>
            <a:spLocks xmlns:a="http://schemas.openxmlformats.org/drawingml/2006/main" noGrp="1"/>
          </p:cNvSpPr>
          <p:nvPr/>
        </p:nvSpPr>
        <p:spPr>
          <a:xfrm xmlns:a="http://schemas.openxmlformats.org/drawingml/2006/main">
            <a:off x="3200400" y="35204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Weeks 4–5</a:t>
            </a:r>
          </a:p>
        </p:txBody>
      </p:sp>
      <p:sp>
        <p:nvSpPr>
          <p:cNvPr id="28" name="">
            <a:extLst xmlns:a="http://schemas.openxmlformats.org/drawingml/2006/main">
              <a:ext uri="{FF2B5EF4-FFF2-40B4-BE49-F238E27FC236}">
                <a16:creationId xmlns:a16="http://schemas.microsoft.com/office/drawing/2014/main" id="{2222CF88-4AAF-44C9-AC44-373F9F0E3714}"/>
              </a:ext>
            </a:extLst>
          </p:cNvPr>
          <p:cNvSpPr>
            <a:spLocks xmlns:a="http://schemas.openxmlformats.org/drawingml/2006/main" noGrp="1"/>
          </p:cNvSpPr>
          <p:nvPr/>
        </p:nvSpPr>
        <p:spPr>
          <a:xfrm xmlns:a="http://schemas.openxmlformats.org/drawingml/2006/main">
            <a:off x="5562600" y="344424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D1231742-D439-4661-86AB-546196205CC8}"/>
              </a:ext>
            </a:extLst>
          </p:cNvPr>
          <p:cNvSpPr>
            <a:spLocks xmlns:a="http://schemas.openxmlformats.org/drawingml/2006/main" noGrp="1"/>
          </p:cNvSpPr>
          <p:nvPr/>
        </p:nvSpPr>
        <p:spPr>
          <a:xfrm xmlns:a="http://schemas.openxmlformats.org/drawingml/2006/main">
            <a:off x="5676900" y="35204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labeled tabular evidence</a:t>
            </a:r>
          </a:p>
        </p:txBody>
      </p:sp>
      <p:sp>
        <p:nvSpPr>
          <p:cNvPr id="30" name="">
            <a:extLst xmlns:a="http://schemas.openxmlformats.org/drawingml/2006/main">
              <a:ext uri="{FF2B5EF4-FFF2-40B4-BE49-F238E27FC236}">
                <a16:creationId xmlns:a16="http://schemas.microsoft.com/office/drawing/2014/main" id="{9E4D508C-32E1-4BC4-889F-E1F2C56F45DD}"/>
              </a:ext>
            </a:extLst>
          </p:cNvPr>
          <p:cNvSpPr>
            <a:spLocks xmlns:a="http://schemas.openxmlformats.org/drawingml/2006/main" noGrp="1"/>
          </p:cNvSpPr>
          <p:nvPr/>
        </p:nvSpPr>
        <p:spPr>
          <a:xfrm xmlns:a="http://schemas.openxmlformats.org/drawingml/2006/main">
            <a:off x="609600" y="397764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B0E203CB-F850-4187-8D92-A31F5C0557A4}"/>
              </a:ext>
            </a:extLst>
          </p:cNvPr>
          <p:cNvSpPr>
            <a:spLocks xmlns:a="http://schemas.openxmlformats.org/drawingml/2006/main" noGrp="1"/>
          </p:cNvSpPr>
          <p:nvPr/>
        </p:nvSpPr>
        <p:spPr>
          <a:xfrm xmlns:a="http://schemas.openxmlformats.org/drawingml/2006/main">
            <a:off x="723900" y="40538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Matplotlib</a:t>
            </a:r>
          </a:p>
        </p:txBody>
      </p:sp>
      <p:sp>
        <p:nvSpPr>
          <p:cNvPr id="32" name="">
            <a:extLst xmlns:a="http://schemas.openxmlformats.org/drawingml/2006/main">
              <a:ext uri="{FF2B5EF4-FFF2-40B4-BE49-F238E27FC236}">
                <a16:creationId xmlns:a16="http://schemas.microsoft.com/office/drawing/2014/main" id="{6570D6E7-272F-4D9F-AE3F-D328EF97BF29}"/>
              </a:ext>
            </a:extLst>
          </p:cNvPr>
          <p:cNvSpPr>
            <a:spLocks xmlns:a="http://schemas.openxmlformats.org/drawingml/2006/main" noGrp="1"/>
          </p:cNvSpPr>
          <p:nvPr/>
        </p:nvSpPr>
        <p:spPr>
          <a:xfrm xmlns:a="http://schemas.openxmlformats.org/drawingml/2006/main">
            <a:off x="3086100" y="397764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F424C524-D9EA-494B-A5DD-B67EDA3930C1}"/>
              </a:ext>
            </a:extLst>
          </p:cNvPr>
          <p:cNvSpPr>
            <a:spLocks xmlns:a="http://schemas.openxmlformats.org/drawingml/2006/main" noGrp="1"/>
          </p:cNvSpPr>
          <p:nvPr/>
        </p:nvSpPr>
        <p:spPr>
          <a:xfrm xmlns:a="http://schemas.openxmlformats.org/drawingml/2006/main">
            <a:off x="3200400" y="40538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Weeks 4, 6 onward</a:t>
            </a:r>
          </a:p>
        </p:txBody>
      </p:sp>
      <p:sp>
        <p:nvSpPr>
          <p:cNvPr id="34" name="">
            <a:extLst xmlns:a="http://schemas.openxmlformats.org/drawingml/2006/main">
              <a:ext uri="{FF2B5EF4-FFF2-40B4-BE49-F238E27FC236}">
                <a16:creationId xmlns:a16="http://schemas.microsoft.com/office/drawing/2014/main" id="{8248CE24-7B15-4E3D-9B53-AE9564D6056D}"/>
              </a:ext>
            </a:extLst>
          </p:cNvPr>
          <p:cNvSpPr>
            <a:spLocks xmlns:a="http://schemas.openxmlformats.org/drawingml/2006/main" noGrp="1"/>
          </p:cNvSpPr>
          <p:nvPr/>
        </p:nvSpPr>
        <p:spPr>
          <a:xfrm xmlns:a="http://schemas.openxmlformats.org/drawingml/2006/main">
            <a:off x="5562600" y="397764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65D21F23-BD81-48EF-8CFA-BBDFFA75422D}"/>
              </a:ext>
            </a:extLst>
          </p:cNvPr>
          <p:cNvSpPr>
            <a:spLocks xmlns:a="http://schemas.openxmlformats.org/drawingml/2006/main" noGrp="1"/>
          </p:cNvSpPr>
          <p:nvPr/>
        </p:nvSpPr>
        <p:spPr>
          <a:xfrm xmlns:a="http://schemas.openxmlformats.org/drawingml/2006/main">
            <a:off x="5676900" y="40538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static visual evidence</a:t>
            </a:r>
          </a:p>
        </p:txBody>
      </p:sp>
      <p:sp>
        <p:nvSpPr>
          <p:cNvPr id="36" name="">
            <a:extLst xmlns:a="http://schemas.openxmlformats.org/drawingml/2006/main">
              <a:ext uri="{FF2B5EF4-FFF2-40B4-BE49-F238E27FC236}">
                <a16:creationId xmlns:a16="http://schemas.microsoft.com/office/drawing/2014/main" id="{44D06BB2-0A63-488D-80D0-67EEB93F4A5C}"/>
              </a:ext>
            </a:extLst>
          </p:cNvPr>
          <p:cNvSpPr>
            <a:spLocks xmlns:a="http://schemas.openxmlformats.org/drawingml/2006/main" noGrp="1"/>
          </p:cNvSpPr>
          <p:nvPr/>
        </p:nvSpPr>
        <p:spPr>
          <a:xfrm xmlns:a="http://schemas.openxmlformats.org/drawingml/2006/main">
            <a:off x="609600" y="451104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4-0">
            <a:extLst xmlns:a="http://schemas.openxmlformats.org/drawingml/2006/main">
              <a:ext uri="{FF2B5EF4-FFF2-40B4-BE49-F238E27FC236}">
                <a16:creationId xmlns:a16="http://schemas.microsoft.com/office/drawing/2014/main" id="{5EB7F8D5-CA0E-4FBA-8E6B-4E05154DA510}"/>
              </a:ext>
            </a:extLst>
          </p:cNvPr>
          <p:cNvSpPr>
            <a:spLocks xmlns:a="http://schemas.openxmlformats.org/drawingml/2006/main" noGrp="1"/>
          </p:cNvSpPr>
          <p:nvPr/>
        </p:nvSpPr>
        <p:spPr>
          <a:xfrm xmlns:a="http://schemas.openxmlformats.org/drawingml/2006/main">
            <a:off x="723900" y="45872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SciPy</a:t>
            </a:r>
          </a:p>
        </p:txBody>
      </p:sp>
      <p:sp>
        <p:nvSpPr>
          <p:cNvPr id="38" name="">
            <a:extLst xmlns:a="http://schemas.openxmlformats.org/drawingml/2006/main">
              <a:ext uri="{FF2B5EF4-FFF2-40B4-BE49-F238E27FC236}">
                <a16:creationId xmlns:a16="http://schemas.microsoft.com/office/drawing/2014/main" id="{CB3BB390-C43E-4EAA-A34F-E15E288CDA27}"/>
              </a:ext>
            </a:extLst>
          </p:cNvPr>
          <p:cNvSpPr>
            <a:spLocks xmlns:a="http://schemas.openxmlformats.org/drawingml/2006/main" noGrp="1"/>
          </p:cNvSpPr>
          <p:nvPr/>
        </p:nvSpPr>
        <p:spPr>
          <a:xfrm xmlns:a="http://schemas.openxmlformats.org/drawingml/2006/main">
            <a:off x="3086100" y="451104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9" name="cell-4-1">
            <a:extLst xmlns:a="http://schemas.openxmlformats.org/drawingml/2006/main">
              <a:ext uri="{FF2B5EF4-FFF2-40B4-BE49-F238E27FC236}">
                <a16:creationId xmlns:a16="http://schemas.microsoft.com/office/drawing/2014/main" id="{348B04AF-B593-490C-98B5-6C9D4FC90749}"/>
              </a:ext>
            </a:extLst>
          </p:cNvPr>
          <p:cNvSpPr>
            <a:spLocks xmlns:a="http://schemas.openxmlformats.org/drawingml/2006/main" noGrp="1"/>
          </p:cNvSpPr>
          <p:nvPr/>
        </p:nvSpPr>
        <p:spPr>
          <a:xfrm xmlns:a="http://schemas.openxmlformats.org/drawingml/2006/main">
            <a:off x="3200400" y="45872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Weeks 10–11</a:t>
            </a:r>
          </a:p>
        </p:txBody>
      </p:sp>
      <p:sp>
        <p:nvSpPr>
          <p:cNvPr id="40" name="">
            <a:extLst xmlns:a="http://schemas.openxmlformats.org/drawingml/2006/main">
              <a:ext uri="{FF2B5EF4-FFF2-40B4-BE49-F238E27FC236}">
                <a16:creationId xmlns:a16="http://schemas.microsoft.com/office/drawing/2014/main" id="{A5081B5C-8302-4CA1-8FF4-110D835A3921}"/>
              </a:ext>
            </a:extLst>
          </p:cNvPr>
          <p:cNvSpPr>
            <a:spLocks xmlns:a="http://schemas.openxmlformats.org/drawingml/2006/main" noGrp="1"/>
          </p:cNvSpPr>
          <p:nvPr/>
        </p:nvSpPr>
        <p:spPr>
          <a:xfrm xmlns:a="http://schemas.openxmlformats.org/drawingml/2006/main">
            <a:off x="5562600" y="4511040"/>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1" name="cell-4-2">
            <a:extLst xmlns:a="http://schemas.openxmlformats.org/drawingml/2006/main">
              <a:ext uri="{FF2B5EF4-FFF2-40B4-BE49-F238E27FC236}">
                <a16:creationId xmlns:a16="http://schemas.microsoft.com/office/drawing/2014/main" id="{10831043-7646-4B53-843B-300093C28E4A}"/>
              </a:ext>
            </a:extLst>
          </p:cNvPr>
          <p:cNvSpPr>
            <a:spLocks xmlns:a="http://schemas.openxmlformats.org/drawingml/2006/main" noGrp="1"/>
          </p:cNvSpPr>
          <p:nvPr/>
        </p:nvSpPr>
        <p:spPr>
          <a:xfrm xmlns:a="http://schemas.openxmlformats.org/drawingml/2006/main">
            <a:off x="5676900" y="45872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optimization algorithms</a:t>
            </a:r>
          </a:p>
        </p:txBody>
      </p:sp>
      <p:sp>
        <p:nvSpPr>
          <p:cNvPr id="42" name="">
            <a:extLst xmlns:a="http://schemas.openxmlformats.org/drawingml/2006/main">
              <a:ext uri="{FF2B5EF4-FFF2-40B4-BE49-F238E27FC236}">
                <a16:creationId xmlns:a16="http://schemas.microsoft.com/office/drawing/2014/main" id="{6A8297E4-8B02-4434-823D-CC90FA01568A}"/>
              </a:ext>
            </a:extLst>
          </p:cNvPr>
          <p:cNvSpPr>
            <a:spLocks xmlns:a="http://schemas.openxmlformats.org/drawingml/2006/main" noGrp="1"/>
          </p:cNvSpPr>
          <p:nvPr/>
        </p:nvSpPr>
        <p:spPr>
          <a:xfrm xmlns:a="http://schemas.openxmlformats.org/drawingml/2006/main">
            <a:off x="609600" y="504444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5-0">
            <a:extLst xmlns:a="http://schemas.openxmlformats.org/drawingml/2006/main">
              <a:ext uri="{FF2B5EF4-FFF2-40B4-BE49-F238E27FC236}">
                <a16:creationId xmlns:a16="http://schemas.microsoft.com/office/drawing/2014/main" id="{7E2DA282-8940-430D-A670-1A3EE416BB29}"/>
              </a:ext>
            </a:extLst>
          </p:cNvPr>
          <p:cNvSpPr>
            <a:spLocks xmlns:a="http://schemas.openxmlformats.org/drawingml/2006/main" noGrp="1"/>
          </p:cNvSpPr>
          <p:nvPr/>
        </p:nvSpPr>
        <p:spPr>
          <a:xfrm xmlns:a="http://schemas.openxmlformats.org/drawingml/2006/main">
            <a:off x="723900" y="51206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scikit-learn</a:t>
            </a:r>
          </a:p>
        </p:txBody>
      </p:sp>
      <p:sp>
        <p:nvSpPr>
          <p:cNvPr id="44" name="">
            <a:extLst xmlns:a="http://schemas.openxmlformats.org/drawingml/2006/main">
              <a:ext uri="{FF2B5EF4-FFF2-40B4-BE49-F238E27FC236}">
                <a16:creationId xmlns:a16="http://schemas.microsoft.com/office/drawing/2014/main" id="{899004C5-AFC7-476E-9D11-323BCB9B2095}"/>
              </a:ext>
            </a:extLst>
          </p:cNvPr>
          <p:cNvSpPr>
            <a:spLocks xmlns:a="http://schemas.openxmlformats.org/drawingml/2006/main" noGrp="1"/>
          </p:cNvSpPr>
          <p:nvPr/>
        </p:nvSpPr>
        <p:spPr>
          <a:xfrm xmlns:a="http://schemas.openxmlformats.org/drawingml/2006/main">
            <a:off x="3086100" y="504444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5-1">
            <a:extLst xmlns:a="http://schemas.openxmlformats.org/drawingml/2006/main">
              <a:ext uri="{FF2B5EF4-FFF2-40B4-BE49-F238E27FC236}">
                <a16:creationId xmlns:a16="http://schemas.microsoft.com/office/drawing/2014/main" id="{95C2EE44-D77D-4865-BE45-C6538627BAF5}"/>
              </a:ext>
            </a:extLst>
          </p:cNvPr>
          <p:cNvSpPr>
            <a:spLocks xmlns:a="http://schemas.openxmlformats.org/drawingml/2006/main" noGrp="1"/>
          </p:cNvSpPr>
          <p:nvPr/>
        </p:nvSpPr>
        <p:spPr>
          <a:xfrm xmlns:a="http://schemas.openxmlformats.org/drawingml/2006/main">
            <a:off x="3200400" y="51206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Weeks 13–14</a:t>
            </a:r>
          </a:p>
        </p:txBody>
      </p:sp>
      <p:sp>
        <p:nvSpPr>
          <p:cNvPr id="46" name="">
            <a:extLst xmlns:a="http://schemas.openxmlformats.org/drawingml/2006/main">
              <a:ext uri="{FF2B5EF4-FFF2-40B4-BE49-F238E27FC236}">
                <a16:creationId xmlns:a16="http://schemas.microsoft.com/office/drawing/2014/main" id="{16E56BA0-370D-438E-A117-EDF9AAE8B70D}"/>
              </a:ext>
            </a:extLst>
          </p:cNvPr>
          <p:cNvSpPr>
            <a:spLocks xmlns:a="http://schemas.openxmlformats.org/drawingml/2006/main" noGrp="1"/>
          </p:cNvSpPr>
          <p:nvPr/>
        </p:nvSpPr>
        <p:spPr>
          <a:xfrm xmlns:a="http://schemas.openxmlformats.org/drawingml/2006/main">
            <a:off x="5562600" y="5044440"/>
            <a:ext cx="247650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7" name="cell-5-2">
            <a:extLst xmlns:a="http://schemas.openxmlformats.org/drawingml/2006/main">
              <a:ext uri="{FF2B5EF4-FFF2-40B4-BE49-F238E27FC236}">
                <a16:creationId xmlns:a16="http://schemas.microsoft.com/office/drawing/2014/main" id="{76CE54F0-AFD3-43DC-818C-F768678A9873}"/>
              </a:ext>
            </a:extLst>
          </p:cNvPr>
          <p:cNvSpPr>
            <a:spLocks xmlns:a="http://schemas.openxmlformats.org/drawingml/2006/main" noGrp="1"/>
          </p:cNvSpPr>
          <p:nvPr/>
        </p:nvSpPr>
        <p:spPr>
          <a:xfrm xmlns:a="http://schemas.openxmlformats.org/drawingml/2006/main">
            <a:off x="5676900" y="5120640"/>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evaluated prediction</a:t>
            </a:r>
          </a:p>
        </p:txBody>
      </p:sp>
      <p:sp>
        <p:nvSpPr>
          <p:cNvPr id="48" name="">
            <a:extLst xmlns:a="http://schemas.openxmlformats.org/drawingml/2006/main">
              <a:ext uri="{FF2B5EF4-FFF2-40B4-BE49-F238E27FC236}">
                <a16:creationId xmlns:a16="http://schemas.microsoft.com/office/drawing/2014/main" id="{7C9A125A-8442-451B-9747-57FBDA3341FD}"/>
              </a:ext>
            </a:extLst>
          </p:cNvPr>
          <p:cNvSpPr>
            <a:spLocks xmlns:a="http://schemas.openxmlformats.org/drawingml/2006/main" noGrp="1"/>
          </p:cNvSpPr>
          <p:nvPr/>
        </p:nvSpPr>
        <p:spPr>
          <a:xfrm xmlns:a="http://schemas.openxmlformats.org/drawingml/2006/main">
            <a:off x="609600" y="557784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9" name="cell-6-0">
            <a:extLst xmlns:a="http://schemas.openxmlformats.org/drawingml/2006/main">
              <a:ext uri="{FF2B5EF4-FFF2-40B4-BE49-F238E27FC236}">
                <a16:creationId xmlns:a16="http://schemas.microsoft.com/office/drawing/2014/main" id="{8D39939A-924A-494C-A96C-8B4A5AFA3DCC}"/>
              </a:ext>
            </a:extLst>
          </p:cNvPr>
          <p:cNvSpPr>
            <a:spLocks xmlns:a="http://schemas.openxmlformats.org/drawingml/2006/main" noGrp="1"/>
          </p:cNvSpPr>
          <p:nvPr/>
        </p:nvSpPr>
        <p:spPr>
          <a:xfrm xmlns:a="http://schemas.openxmlformats.org/drawingml/2006/main">
            <a:off x="723900" y="565404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GeoPandas</a:t>
            </a:r>
          </a:p>
        </p:txBody>
      </p:sp>
      <p:sp>
        <p:nvSpPr>
          <p:cNvPr id="50" name="">
            <a:extLst xmlns:a="http://schemas.openxmlformats.org/drawingml/2006/main">
              <a:ext uri="{FF2B5EF4-FFF2-40B4-BE49-F238E27FC236}">
                <a16:creationId xmlns:a16="http://schemas.microsoft.com/office/drawing/2014/main" id="{145EA3B7-8523-4EBB-915D-88167298618F}"/>
              </a:ext>
            </a:extLst>
          </p:cNvPr>
          <p:cNvSpPr>
            <a:spLocks xmlns:a="http://schemas.openxmlformats.org/drawingml/2006/main" noGrp="1"/>
          </p:cNvSpPr>
          <p:nvPr/>
        </p:nvSpPr>
        <p:spPr>
          <a:xfrm xmlns:a="http://schemas.openxmlformats.org/drawingml/2006/main">
            <a:off x="3086100" y="557784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1" name="cell-6-1">
            <a:extLst xmlns:a="http://schemas.openxmlformats.org/drawingml/2006/main">
              <a:ext uri="{FF2B5EF4-FFF2-40B4-BE49-F238E27FC236}">
                <a16:creationId xmlns:a16="http://schemas.microsoft.com/office/drawing/2014/main" id="{A404EA1B-F9B9-490A-8799-2706FD2A4820}"/>
              </a:ext>
            </a:extLst>
          </p:cNvPr>
          <p:cNvSpPr>
            <a:spLocks xmlns:a="http://schemas.openxmlformats.org/drawingml/2006/main" noGrp="1"/>
          </p:cNvSpPr>
          <p:nvPr/>
        </p:nvSpPr>
        <p:spPr>
          <a:xfrm xmlns:a="http://schemas.openxmlformats.org/drawingml/2006/main">
            <a:off x="3200400" y="565404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Week 7</a:t>
            </a:r>
          </a:p>
        </p:txBody>
      </p:sp>
      <p:sp>
        <p:nvSpPr>
          <p:cNvPr id="52" name="">
            <a:extLst xmlns:a="http://schemas.openxmlformats.org/drawingml/2006/main">
              <a:ext uri="{FF2B5EF4-FFF2-40B4-BE49-F238E27FC236}">
                <a16:creationId xmlns:a16="http://schemas.microsoft.com/office/drawing/2014/main" id="{B5165628-6E06-4196-8B71-D76023EBFFA9}"/>
              </a:ext>
            </a:extLst>
          </p:cNvPr>
          <p:cNvSpPr>
            <a:spLocks xmlns:a="http://schemas.openxmlformats.org/drawingml/2006/main" noGrp="1"/>
          </p:cNvSpPr>
          <p:nvPr/>
        </p:nvSpPr>
        <p:spPr>
          <a:xfrm xmlns:a="http://schemas.openxmlformats.org/drawingml/2006/main">
            <a:off x="5562600" y="5577840"/>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3" name="cell-6-2">
            <a:extLst xmlns:a="http://schemas.openxmlformats.org/drawingml/2006/main">
              <a:ext uri="{FF2B5EF4-FFF2-40B4-BE49-F238E27FC236}">
                <a16:creationId xmlns:a16="http://schemas.microsoft.com/office/drawing/2014/main" id="{F09FDFE8-C041-4BF6-A610-92E89E767A1F}"/>
              </a:ext>
            </a:extLst>
          </p:cNvPr>
          <p:cNvSpPr>
            <a:spLocks xmlns:a="http://schemas.openxmlformats.org/drawingml/2006/main" noGrp="1"/>
          </p:cNvSpPr>
          <p:nvPr/>
        </p:nvSpPr>
        <p:spPr>
          <a:xfrm xmlns:a="http://schemas.openxmlformats.org/drawingml/2006/main">
            <a:off x="5676900" y="5654040"/>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spatial tables and coordinates</a:t>
            </a:r>
          </a:p>
        </p:txBody>
      </p:sp>
      <p:sp>
        <p:nvSpPr>
          <p:cNvPr id="54" name="callout-label">
            <a:extLst xmlns:a="http://schemas.openxmlformats.org/drawingml/2006/main">
              <a:ext uri="{FF2B5EF4-FFF2-40B4-BE49-F238E27FC236}">
                <a16:creationId xmlns:a16="http://schemas.microsoft.com/office/drawing/2014/main" id="{CC09BD87-0F79-4E85-8BC3-4CAC3B9192B3}"/>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55" name="callout">
            <a:extLst xmlns:a="http://schemas.openxmlformats.org/drawingml/2006/main">
              <a:ext uri="{FF2B5EF4-FFF2-40B4-BE49-F238E27FC236}">
                <a16:creationId xmlns:a16="http://schemas.microsoft.com/office/drawing/2014/main" id="{0DA05B8C-C59D-4A84-AD15-2907B445D4D5}"/>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The shared environment installs the complete toolchain once. A successful preflight is evidence that the interpreter—not just the Spyder window—can support the course.</a:t>
            </a:r>
          </a:p>
        </p:txBody>
      </p:sp>
    </p:spTree>
    <p:extLst>
      <p:ext uri="{BB962C8B-B14F-4D97-AF65-F5344CB8AC3E}">
        <p14:creationId xmlns:p14="http://schemas.microsoft.com/office/powerpoint/2010/main" val="5058183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BD8D558-D236-4440-8553-5F857BF10AA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A7E2EF67-42CB-4F04-A850-8110627718E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Checkpoint 1: prove the environment works</a:t>
            </a:r>
          </a:p>
        </p:txBody>
      </p:sp>
      <p:sp>
        <p:nvSpPr>
          <p:cNvPr id="3" name="">
            <a:extLst xmlns:a="http://schemas.openxmlformats.org/drawingml/2006/main">
              <a:ext uri="{FF2B5EF4-FFF2-40B4-BE49-F238E27FC236}">
                <a16:creationId xmlns:a16="http://schemas.microsoft.com/office/drawing/2014/main" id="{BC616C6C-777E-46C2-826D-6F2A77AA396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0897496-6AE3-4821-93CC-E0F097391EA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9AE1A227-7DBE-4DA2-B8AD-C25EFF840C1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exercise-accent">
            <a:extLst xmlns:a="http://schemas.openxmlformats.org/drawingml/2006/main">
              <a:ext uri="{FF2B5EF4-FFF2-40B4-BE49-F238E27FC236}">
                <a16:creationId xmlns:a16="http://schemas.microsoft.com/office/drawing/2014/main" id="{BFE35042-3C64-40D7-98CC-F2368CC9D394}"/>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8827E520-4FAE-43B7-9F90-5CB112FAB0A5}"/>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Open Spyder in arc500-f26 and verify the environment before editing the handout.</a:t>
            </a:r>
          </a:p>
        </p:txBody>
      </p:sp>
      <p:sp>
        <p:nvSpPr>
          <p:cNvPr id="8" name="work-label">
            <a:extLst xmlns:a="http://schemas.openxmlformats.org/drawingml/2006/main">
              <a:ext uri="{FF2B5EF4-FFF2-40B4-BE49-F238E27FC236}">
                <a16:creationId xmlns:a16="http://schemas.microsoft.com/office/drawing/2014/main" id="{EE356CAB-3360-4C20-A832-1409248AF1D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A9D68053-4B20-4DAF-BBA5-625E4819D12D}"/>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59076A66-2EB4-480E-B855-F1CA191B708F}"/>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ARC500_environment_preflight.py from a terminal.</a:t>
            </a:r>
          </a:p>
        </p:txBody>
      </p:sp>
      <p:sp>
        <p:nvSpPr>
          <p:cNvPr id="11" name="exercise-no-1">
            <a:extLst xmlns:a="http://schemas.openxmlformats.org/drawingml/2006/main">
              <a:ext uri="{FF2B5EF4-FFF2-40B4-BE49-F238E27FC236}">
                <a16:creationId xmlns:a16="http://schemas.microsoft.com/office/drawing/2014/main" id="{77560B5F-A4EA-43A3-9747-9EAAD84FA751}"/>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85345DF6-792C-4307-B1E9-26FB1E653012}"/>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Open a Spyder console in arc500-f26 and run the file again.</a:t>
            </a:r>
          </a:p>
        </p:txBody>
      </p:sp>
      <p:sp>
        <p:nvSpPr>
          <p:cNvPr id="13" name="exercise-no-2">
            <a:extLst xmlns:a="http://schemas.openxmlformats.org/drawingml/2006/main">
              <a:ext uri="{FF2B5EF4-FFF2-40B4-BE49-F238E27FC236}">
                <a16:creationId xmlns:a16="http://schemas.microsoft.com/office/drawing/2014/main" id="{931E23DB-C0FF-40AD-AC64-FA4228B6E650}"/>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36E9D1A-B7DE-4C54-8B55-CBB91E74A941}"/>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Confirm the executable path names the course environment.</a:t>
            </a:r>
          </a:p>
        </p:txBody>
      </p:sp>
      <p:sp>
        <p:nvSpPr>
          <p:cNvPr id="15" name="exercise-no-3">
            <a:extLst xmlns:a="http://schemas.openxmlformats.org/drawingml/2006/main">
              <a:ext uri="{FF2B5EF4-FFF2-40B4-BE49-F238E27FC236}">
                <a16:creationId xmlns:a16="http://schemas.microsoft.com/office/drawing/2014/main" id="{1A77B894-4B52-4085-BFE2-74E6C77E6EC0}"/>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BDBD0A01-3715-4AC1-8061-DB5C8990C0DC}"/>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Continue only after the final line reads ARC500 PREFLIGHT: PASS.</a:t>
            </a:r>
          </a:p>
        </p:txBody>
      </p:sp>
    </p:spTree>
    <p:extLst>
      <p:ext uri="{BB962C8B-B14F-4D97-AF65-F5344CB8AC3E}">
        <p14:creationId xmlns:p14="http://schemas.microsoft.com/office/powerpoint/2010/main" val="20685548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33C62960-914A-45D1-81DF-B81D1BA843C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SPYDER INTERFACE</a:t>
            </a:r>
          </a:p>
        </p:txBody>
      </p:sp>
      <p:sp>
        <p:nvSpPr>
          <p:cNvPr id="2" name="title">
            <a:extLst xmlns:a="http://schemas.openxmlformats.org/drawingml/2006/main">
              <a:ext uri="{FF2B5EF4-FFF2-40B4-BE49-F238E27FC236}">
                <a16:creationId xmlns:a16="http://schemas.microsoft.com/office/drawing/2014/main" id="{DE67A938-B429-4A13-86E3-1D28E5446E0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Spyder keeps authoring, state, and evidence visible</a:t>
            </a:r>
          </a:p>
        </p:txBody>
      </p:sp>
      <p:sp>
        <p:nvSpPr>
          <p:cNvPr id="3" name="">
            <a:extLst xmlns:a="http://schemas.openxmlformats.org/drawingml/2006/main">
              <a:ext uri="{FF2B5EF4-FFF2-40B4-BE49-F238E27FC236}">
                <a16:creationId xmlns:a16="http://schemas.microsoft.com/office/drawing/2014/main" id="{F27E288C-B6EC-4CF8-88C3-FB0D4E25413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A0B8F3B-A758-464A-AE18-EA7DF9F5521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914C973B-03F9-4DA3-8ECC-1CA3BD83633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app-frame">
            <a:extLst xmlns:a="http://schemas.openxmlformats.org/drawingml/2006/main">
              <a:ext uri="{FF2B5EF4-FFF2-40B4-BE49-F238E27FC236}">
                <a16:creationId xmlns:a16="http://schemas.microsoft.com/office/drawing/2014/main" id="{C71FB3F2-4AF4-4EE0-A391-B76C38BF4931}"/>
              </a:ext>
            </a:extLst>
          </p:cNvPr>
          <p:cNvSpPr>
            <a:spLocks xmlns:a="http://schemas.openxmlformats.org/drawingml/2006/main" noGrp="1"/>
          </p:cNvSpPr>
          <p:nvPr/>
        </p:nvSpPr>
        <p:spPr>
          <a:xfrm xmlns:a="http://schemas.openxmlformats.org/drawingml/2006/main">
            <a:off x="609600" y="1809750"/>
            <a:ext cx="10972800" cy="4248150"/>
          </a:xfrm>
          <a:prstGeom xmlns:a="http://schemas.openxmlformats.org/drawingml/2006/main" prst="roundRect">
            <a:avLst>
              <a:gd name="adj" fmla="val 897"/>
            </a:avLst>
          </a:prstGeom>
          <a:solidFill xmlns:a="http://schemas.openxmlformats.org/drawingml/2006/main">
            <a:srgbClr val="E8EAED"/>
          </a:solidFill>
          <a:ln xmlns:a="http://schemas.openxmlformats.org/drawingml/2006/main" w="9525">
            <a:solidFill>
              <a:srgbClr val="B8BCC4"/>
            </a:solidFill>
            <a:prstDash val="solid"/>
          </a:ln>
        </p:spPr>
      </p:sp>
      <p:sp>
        <p:nvSpPr>
          <p:cNvPr id="7" name="app-toolbar">
            <a:extLst xmlns:a="http://schemas.openxmlformats.org/drawingml/2006/main">
              <a:ext uri="{FF2B5EF4-FFF2-40B4-BE49-F238E27FC236}">
                <a16:creationId xmlns:a16="http://schemas.microsoft.com/office/drawing/2014/main" id="{1985B77B-F87F-4C15-B3ED-6E3B4E143D41}"/>
              </a:ext>
            </a:extLst>
          </p:cNvPr>
          <p:cNvSpPr>
            <a:spLocks xmlns:a="http://schemas.openxmlformats.org/drawingml/2006/main" noGrp="1"/>
          </p:cNvSpPr>
          <p:nvPr/>
        </p:nvSpPr>
        <p:spPr>
          <a:xfrm xmlns:a="http://schemas.openxmlformats.org/drawingml/2006/main">
            <a:off x="609600" y="1809750"/>
            <a:ext cx="10972800" cy="361950"/>
          </a:xfrm>
          <a:prstGeom xmlns:a="http://schemas.openxmlformats.org/drawingml/2006/main" prst="roundRect">
            <a:avLst>
              <a:gd name="adj" fmla="val 10526"/>
            </a:avLst>
          </a:prstGeom>
          <a:solidFill xmlns:a="http://schemas.openxmlformats.org/drawingml/2006/main">
            <a:srgbClr val="17191C"/>
          </a:solidFill>
          <a:ln xmlns:a="http://schemas.openxmlformats.org/drawingml/2006/main" w="9525">
            <a:solidFill>
              <a:srgbClr val="17191C"/>
            </a:solidFill>
            <a:prstDash val="solid"/>
          </a:ln>
        </p:spPr>
      </p:sp>
      <p:sp>
        <p:nvSpPr>
          <p:cNvPr id="8" name="app-name">
            <a:extLst xmlns:a="http://schemas.openxmlformats.org/drawingml/2006/main">
              <a:ext uri="{FF2B5EF4-FFF2-40B4-BE49-F238E27FC236}">
                <a16:creationId xmlns:a16="http://schemas.microsoft.com/office/drawing/2014/main" id="{ED18934B-BB83-4667-B1A9-1EA37057ADE6}"/>
              </a:ext>
            </a:extLst>
          </p:cNvPr>
          <p:cNvSpPr>
            <a:spLocks xmlns:a="http://schemas.openxmlformats.org/drawingml/2006/main" noGrp="1"/>
          </p:cNvSpPr>
          <p:nvPr/>
        </p:nvSpPr>
        <p:spPr>
          <a:xfrm xmlns:a="http://schemas.openxmlformats.org/drawingml/2006/main">
            <a:off x="800100" y="18954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SPYDER</a:t>
            </a:r>
          </a:p>
        </p:txBody>
      </p:sp>
      <p:sp>
        <p:nvSpPr>
          <p:cNvPr id="9" name="editor-pane">
            <a:extLst xmlns:a="http://schemas.openxmlformats.org/drawingml/2006/main">
              <a:ext uri="{FF2B5EF4-FFF2-40B4-BE49-F238E27FC236}">
                <a16:creationId xmlns:a16="http://schemas.microsoft.com/office/drawing/2014/main" id="{1863F1E9-B65E-4340-9C39-1AF3C487E935}"/>
              </a:ext>
            </a:extLst>
          </p:cNvPr>
          <p:cNvSpPr>
            <a:spLocks xmlns:a="http://schemas.openxmlformats.org/drawingml/2006/main" noGrp="1"/>
          </p:cNvSpPr>
          <p:nvPr/>
        </p:nvSpPr>
        <p:spPr>
          <a:xfrm xmlns:a="http://schemas.openxmlformats.org/drawingml/2006/main">
            <a:off x="781050" y="2343150"/>
            <a:ext cx="6286500" cy="22288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0" name="editor-label">
            <a:extLst xmlns:a="http://schemas.openxmlformats.org/drawingml/2006/main">
              <a:ext uri="{FF2B5EF4-FFF2-40B4-BE49-F238E27FC236}">
                <a16:creationId xmlns:a16="http://schemas.microsoft.com/office/drawing/2014/main" id="{7BCFD1D8-B6F8-4CEB-B368-F27CC73B5C7B}"/>
              </a:ext>
            </a:extLst>
          </p:cNvPr>
          <p:cNvSpPr>
            <a:spLocks xmlns:a="http://schemas.openxmlformats.org/drawingml/2006/main" noGrp="1"/>
          </p:cNvSpPr>
          <p:nvPr/>
        </p:nvSpPr>
        <p:spPr>
          <a:xfrm xmlns:a="http://schemas.openxmlformats.org/drawingml/2006/main">
            <a:off x="952500" y="24955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EDITOR</a:t>
            </a:r>
          </a:p>
        </p:txBody>
      </p:sp>
      <p:sp>
        <p:nvSpPr>
          <p:cNvPr id="11" name="editor-text">
            <a:extLst xmlns:a="http://schemas.openxmlformats.org/drawingml/2006/main">
              <a:ext uri="{FF2B5EF4-FFF2-40B4-BE49-F238E27FC236}">
                <a16:creationId xmlns:a16="http://schemas.microsoft.com/office/drawing/2014/main" id="{673BB71C-5271-42FF-9D45-A9381CC0F2F0}"/>
              </a:ext>
            </a:extLst>
          </p:cNvPr>
          <p:cNvSpPr>
            <a:spLocks xmlns:a="http://schemas.openxmlformats.org/drawingml/2006/main" noGrp="1"/>
          </p:cNvSpPr>
          <p:nvPr/>
        </p:nvSpPr>
        <p:spPr>
          <a:xfrm xmlns:a="http://schemas.openxmlformats.org/drawingml/2006/main">
            <a:off x="952500" y="2819400"/>
            <a:ext cx="58674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111316"/>
                </a:solidFill>
                <a:latin typeface="Consolas"/>
                <a:ea typeface="Consolas"/>
                <a:cs typeface="Consolas"/>
              </a:defRPr>
            </a:pPr>
            <a:r>
              <a:rPr sz="1800" b="0">
                <a:solidFill>
                  <a:srgbClr val="111316"/>
                </a:solidFill>
                <a:latin typeface="Consolas"/>
                <a:ea typeface="Consolas"/>
                <a:cs typeface="Consolas"/>
              </a:rPr>
              <a:t># %% first cell</a:t>
            </a:r>
          </a:p>
          <a:p xmlns:a="http://schemas.openxmlformats.org/drawingml/2006/main">
            <a:pPr algn="l">
              <a:lnSpc>
                <a:spcPct val="114000"/>
              </a:lnSpc>
              <a:buNone/>
              <a:defRPr sz="1800" b="0">
                <a:solidFill>
                  <a:srgbClr val="111316"/>
                </a:solidFill>
                <a:latin typeface="Consolas"/>
                <a:ea typeface="Consolas"/>
                <a:cs typeface="Consolas"/>
              </a:defRPr>
            </a:pPr>
            <a:r>
              <a:rPr sz="1800" b="0">
                <a:solidFill>
                  <a:srgbClr val="111316"/>
                </a:solidFill>
                <a:latin typeface="Consolas"/>
                <a:ea typeface="Consolas"/>
                <a:cs typeface="Consolas"/>
              </a:rPr>
              <a:t>length_m = 6.0</a:t>
            </a:r>
          </a:p>
          <a:p xmlns:a="http://schemas.openxmlformats.org/drawingml/2006/main">
            <a:pPr algn="l">
              <a:lnSpc>
                <a:spcPct val="114000"/>
              </a:lnSpc>
              <a:buNone/>
              <a:defRPr sz="1800" b="0">
                <a:solidFill>
                  <a:srgbClr val="111316"/>
                </a:solidFill>
                <a:latin typeface="Consolas"/>
                <a:ea typeface="Consolas"/>
                <a:cs typeface="Consolas"/>
              </a:defRPr>
            </a:pPr>
            <a:r>
              <a:rPr sz="1800" b="0">
                <a:solidFill>
                  <a:srgbClr val="111316"/>
                </a:solidFill>
                <a:latin typeface="Consolas"/>
                <a:ea typeface="Consolas"/>
                <a:cs typeface="Consolas"/>
              </a:rPr>
              <a:t>width_m = 4.0</a:t>
            </a:r>
          </a:p>
          <a:p xmlns:a="http://schemas.openxmlformats.org/drawingml/2006/main">
            <a:pPr algn="l">
              <a:lnSpc>
                <a:spcPct val="114000"/>
              </a:lnSpc>
              <a:buNone/>
              <a:defRPr sz="1800" b="0">
                <a:solidFill>
                  <a:srgbClr val="111316"/>
                </a:solidFill>
                <a:latin typeface="Consolas"/>
                <a:ea typeface="Consolas"/>
                <a:cs typeface="Consolas"/>
              </a:defRPr>
            </a:pPr>
            <a:r>
              <a:rPr sz="1800" b="0">
                <a:solidFill>
                  <a:srgbClr val="111316"/>
                </a:solidFill>
                <a:latin typeface="Consolas"/>
                <a:ea typeface="Consolas"/>
                <a:cs typeface="Consolas"/>
              </a:rPr>
              <a:t>area_m2 = length_m * width_m</a:t>
            </a:r>
          </a:p>
        </p:txBody>
      </p:sp>
      <p:sp>
        <p:nvSpPr>
          <p:cNvPr id="12" name="explorer-pane">
            <a:extLst xmlns:a="http://schemas.openxmlformats.org/drawingml/2006/main">
              <a:ext uri="{FF2B5EF4-FFF2-40B4-BE49-F238E27FC236}">
                <a16:creationId xmlns:a16="http://schemas.microsoft.com/office/drawing/2014/main" id="{8BA20D5B-DBD0-456A-8EA3-E3D63AAC45FF}"/>
              </a:ext>
            </a:extLst>
          </p:cNvPr>
          <p:cNvSpPr>
            <a:spLocks xmlns:a="http://schemas.openxmlformats.org/drawingml/2006/main" noGrp="1"/>
          </p:cNvSpPr>
          <p:nvPr/>
        </p:nvSpPr>
        <p:spPr>
          <a:xfrm xmlns:a="http://schemas.openxmlformats.org/drawingml/2006/main">
            <a:off x="7277100" y="2343150"/>
            <a:ext cx="41338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explorer-label">
            <a:extLst xmlns:a="http://schemas.openxmlformats.org/drawingml/2006/main">
              <a:ext uri="{FF2B5EF4-FFF2-40B4-BE49-F238E27FC236}">
                <a16:creationId xmlns:a16="http://schemas.microsoft.com/office/drawing/2014/main" id="{0143DE47-8FE8-4DDE-854C-64FB59F433F8}"/>
              </a:ext>
            </a:extLst>
          </p:cNvPr>
          <p:cNvSpPr>
            <a:spLocks xmlns:a="http://schemas.openxmlformats.org/drawingml/2006/main" noGrp="1"/>
          </p:cNvSpPr>
          <p:nvPr/>
        </p:nvSpPr>
        <p:spPr>
          <a:xfrm xmlns:a="http://schemas.openxmlformats.org/drawingml/2006/main">
            <a:off x="7448550" y="24955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VARIABLE EXPLORER</a:t>
            </a:r>
          </a:p>
        </p:txBody>
      </p:sp>
      <p:sp>
        <p:nvSpPr>
          <p:cNvPr id="14" name="explorer-text">
            <a:extLst xmlns:a="http://schemas.openxmlformats.org/drawingml/2006/main">
              <a:ext uri="{FF2B5EF4-FFF2-40B4-BE49-F238E27FC236}">
                <a16:creationId xmlns:a16="http://schemas.microsoft.com/office/drawing/2014/main" id="{DC91CD3A-1288-4C22-8462-3042872D642D}"/>
              </a:ext>
            </a:extLst>
          </p:cNvPr>
          <p:cNvSpPr>
            <a:spLocks xmlns:a="http://schemas.openxmlformats.org/drawingml/2006/main" noGrp="1"/>
          </p:cNvSpPr>
          <p:nvPr/>
        </p:nvSpPr>
        <p:spPr>
          <a:xfrm xmlns:a="http://schemas.openxmlformats.org/drawingml/2006/main">
            <a:off x="7448550" y="2819400"/>
            <a:ext cx="3790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area_m2   24.0   float</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length_m   6.0   float</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width_m   4.0   float</a:t>
            </a:r>
          </a:p>
        </p:txBody>
      </p:sp>
      <p:sp>
        <p:nvSpPr>
          <p:cNvPr id="15" name="console-pane">
            <a:extLst xmlns:a="http://schemas.openxmlformats.org/drawingml/2006/main">
              <a:ext uri="{FF2B5EF4-FFF2-40B4-BE49-F238E27FC236}">
                <a16:creationId xmlns:a16="http://schemas.microsoft.com/office/drawing/2014/main" id="{2AF73006-F54D-4FD6-8C2A-4FBED69C7ADF}"/>
              </a:ext>
            </a:extLst>
          </p:cNvPr>
          <p:cNvSpPr>
            <a:spLocks xmlns:a="http://schemas.openxmlformats.org/drawingml/2006/main" noGrp="1"/>
          </p:cNvSpPr>
          <p:nvPr/>
        </p:nvSpPr>
        <p:spPr>
          <a:xfrm xmlns:a="http://schemas.openxmlformats.org/drawingml/2006/main">
            <a:off x="781050" y="4762500"/>
            <a:ext cx="10629900" cy="1143000"/>
          </a:xfrm>
          <a:prstGeom xmlns:a="http://schemas.openxmlformats.org/drawingml/2006/main" prst="rect">
            <a:avLst/>
          </a:prstGeom>
          <a:solidFill xmlns:a="http://schemas.openxmlformats.org/drawingml/2006/main">
            <a:srgbClr val="17191C"/>
          </a:solidFill>
          <a:ln xmlns:a="http://schemas.openxmlformats.org/drawingml/2006/main" w="9525">
            <a:solidFill>
              <a:srgbClr val="17191C"/>
            </a:solidFill>
            <a:prstDash val="solid"/>
          </a:ln>
        </p:spPr>
      </p:sp>
      <p:sp>
        <p:nvSpPr>
          <p:cNvPr id="16" name="console-label">
            <a:extLst xmlns:a="http://schemas.openxmlformats.org/drawingml/2006/main">
              <a:ext uri="{FF2B5EF4-FFF2-40B4-BE49-F238E27FC236}">
                <a16:creationId xmlns:a16="http://schemas.microsoft.com/office/drawing/2014/main" id="{81B9CAE7-4C8D-49D5-9539-F0D16C44971F}"/>
              </a:ext>
            </a:extLst>
          </p:cNvPr>
          <p:cNvSpPr>
            <a:spLocks xmlns:a="http://schemas.openxmlformats.org/drawingml/2006/main" noGrp="1"/>
          </p:cNvSpPr>
          <p:nvPr/>
        </p:nvSpPr>
        <p:spPr>
          <a:xfrm xmlns:a="http://schemas.openxmlformats.org/drawingml/2006/main">
            <a:off x="952500" y="48958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IPYTHON CONSOLE</a:t>
            </a:r>
          </a:p>
        </p:txBody>
      </p:sp>
      <p:sp>
        <p:nvSpPr>
          <p:cNvPr id="17" name="console-text">
            <a:extLst xmlns:a="http://schemas.openxmlformats.org/drawingml/2006/main">
              <a:ext uri="{FF2B5EF4-FFF2-40B4-BE49-F238E27FC236}">
                <a16:creationId xmlns:a16="http://schemas.microsoft.com/office/drawing/2014/main" id="{DF4279B9-88F3-44B6-9653-1F25F3D6F8DD}"/>
              </a:ext>
            </a:extLst>
          </p:cNvPr>
          <p:cNvSpPr>
            <a:spLocks xmlns:a="http://schemas.openxmlformats.org/drawingml/2006/main" noGrp="1"/>
          </p:cNvSpPr>
          <p:nvPr/>
        </p:nvSpPr>
        <p:spPr>
          <a:xfrm xmlns:a="http://schemas.openxmlformats.org/drawingml/2006/main">
            <a:off x="952500" y="5181600"/>
            <a:ext cx="10248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FFFFFF"/>
                </a:solidFill>
                <a:latin typeface="Consolas"/>
                <a:ea typeface="Consolas"/>
                <a:cs typeface="Consolas"/>
              </a:defRPr>
            </a:pPr>
            <a:r>
              <a:rPr sz="1200" b="0">
                <a:solidFill>
                  <a:srgbClr val="FFFFFF"/>
                </a:solidFill>
                <a:latin typeface="Consolas"/>
                <a:ea typeface="Consolas"/>
                <a:cs typeface="Consolas"/>
              </a:rPr>
              <a:t>In [1]: print(area_m2)    24.0</a:t>
            </a:r>
          </a:p>
        </p:txBody>
      </p:sp>
    </p:spTree>
    <p:extLst>
      <p:ext uri="{BB962C8B-B14F-4D97-AF65-F5344CB8AC3E}">
        <p14:creationId xmlns:p14="http://schemas.microsoft.com/office/powerpoint/2010/main" val="2179867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kicker">
            <a:extLst xmlns:a="http://schemas.openxmlformats.org/drawingml/2006/main">
              <a:ext uri="{FF2B5EF4-FFF2-40B4-BE49-F238E27FC236}">
                <a16:creationId xmlns:a16="http://schemas.microsoft.com/office/drawing/2014/main" id="{9232032B-3FBF-442D-9FB9-07A65063C32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C03764ED-08E0-4F47-9D58-518D07C471B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Name the Python role before pressing Run</a:t>
            </a:r>
          </a:p>
        </p:txBody>
      </p:sp>
      <p:sp>
        <p:nvSpPr>
          <p:cNvPr id="3" name="">
            <a:extLst xmlns:a="http://schemas.openxmlformats.org/drawingml/2006/main">
              <a:ext uri="{FF2B5EF4-FFF2-40B4-BE49-F238E27FC236}">
                <a16:creationId xmlns:a16="http://schemas.microsoft.com/office/drawing/2014/main" id="{94805F14-3A2C-499E-A2AD-9901AA9879A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A9F8804-563E-46A0-8263-D3BC97ABE6D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DFA9C4F9-7F91-445D-B71D-8CB7BCA3E05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E9D5C5AA-C2FA-425C-823C-D6D14E7C9185}"/>
              </a:ext>
            </a:extLst>
          </p:cNvPr>
          <p:cNvSpPr>
            <a:spLocks xmlns:a="http://schemas.openxmlformats.org/drawingml/2006/main" noGrp="1"/>
          </p:cNvSpPr>
          <p:nvPr/>
        </p:nvSpPr>
        <p:spPr>
          <a:xfrm xmlns:a="http://schemas.openxmlformats.org/drawingml/2006/main">
            <a:off x="609600" y="235267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46B6716A-739F-4969-93D4-0EA15D54408F}"/>
              </a:ext>
            </a:extLst>
          </p:cNvPr>
          <p:cNvSpPr>
            <a:spLocks xmlns:a="http://schemas.openxmlformats.org/drawingml/2006/main" noGrp="1"/>
          </p:cNvSpPr>
          <p:nvPr/>
        </p:nvSpPr>
        <p:spPr>
          <a:xfrm xmlns:a="http://schemas.openxmlformats.org/drawingml/2006/main">
            <a:off x="723900" y="24288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term</a:t>
            </a:r>
          </a:p>
        </p:txBody>
      </p:sp>
      <p:sp>
        <p:nvSpPr>
          <p:cNvPr id="8" name="">
            <a:extLst xmlns:a="http://schemas.openxmlformats.org/drawingml/2006/main">
              <a:ext uri="{FF2B5EF4-FFF2-40B4-BE49-F238E27FC236}">
                <a16:creationId xmlns:a16="http://schemas.microsoft.com/office/drawing/2014/main" id="{83A71359-330A-44F4-B368-2611524FA719}"/>
              </a:ext>
            </a:extLst>
          </p:cNvPr>
          <p:cNvSpPr>
            <a:spLocks xmlns:a="http://schemas.openxmlformats.org/drawingml/2006/main" noGrp="1"/>
          </p:cNvSpPr>
          <p:nvPr/>
        </p:nvSpPr>
        <p:spPr>
          <a:xfrm xmlns:a="http://schemas.openxmlformats.org/drawingml/2006/main">
            <a:off x="3086100" y="235267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7945E24A-F38D-4887-B9B6-68DAF917F00B}"/>
              </a:ext>
            </a:extLst>
          </p:cNvPr>
          <p:cNvSpPr>
            <a:spLocks xmlns:a="http://schemas.openxmlformats.org/drawingml/2006/main" noGrp="1"/>
          </p:cNvSpPr>
          <p:nvPr/>
        </p:nvSpPr>
        <p:spPr>
          <a:xfrm xmlns:a="http://schemas.openxmlformats.org/drawingml/2006/main">
            <a:off x="3200400" y="24288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plain-language definition</a:t>
            </a:r>
          </a:p>
        </p:txBody>
      </p:sp>
      <p:sp>
        <p:nvSpPr>
          <p:cNvPr id="10" name="">
            <a:extLst xmlns:a="http://schemas.openxmlformats.org/drawingml/2006/main">
              <a:ext uri="{FF2B5EF4-FFF2-40B4-BE49-F238E27FC236}">
                <a16:creationId xmlns:a16="http://schemas.microsoft.com/office/drawing/2014/main" id="{B49C96D4-EF14-4E95-AA75-1F8554A5B20D}"/>
              </a:ext>
            </a:extLst>
          </p:cNvPr>
          <p:cNvSpPr>
            <a:spLocks xmlns:a="http://schemas.openxmlformats.org/drawingml/2006/main" noGrp="1"/>
          </p:cNvSpPr>
          <p:nvPr/>
        </p:nvSpPr>
        <p:spPr>
          <a:xfrm xmlns:a="http://schemas.openxmlformats.org/drawingml/2006/main">
            <a:off x="5562600" y="2352675"/>
            <a:ext cx="2476500"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4A37A01C-6C2F-468F-8DAF-2EB2AFEF9F39}"/>
              </a:ext>
            </a:extLst>
          </p:cNvPr>
          <p:cNvSpPr>
            <a:spLocks xmlns:a="http://schemas.openxmlformats.org/drawingml/2006/main" noGrp="1"/>
          </p:cNvSpPr>
          <p:nvPr/>
        </p:nvSpPr>
        <p:spPr>
          <a:xfrm xmlns:a="http://schemas.openxmlformats.org/drawingml/2006/main">
            <a:off x="5676900" y="24288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example in the first cell</a:t>
            </a:r>
          </a:p>
        </p:txBody>
      </p:sp>
      <p:sp>
        <p:nvSpPr>
          <p:cNvPr id="12" name="">
            <a:extLst xmlns:a="http://schemas.openxmlformats.org/drawingml/2006/main">
              <a:ext uri="{FF2B5EF4-FFF2-40B4-BE49-F238E27FC236}">
                <a16:creationId xmlns:a16="http://schemas.microsoft.com/office/drawing/2014/main" id="{1CA82AE4-6D57-4F7C-85FF-4A10EC60E9B0}"/>
              </a:ext>
            </a:extLst>
          </p:cNvPr>
          <p:cNvSpPr>
            <a:spLocks xmlns:a="http://schemas.openxmlformats.org/drawingml/2006/main" noGrp="1"/>
          </p:cNvSpPr>
          <p:nvPr/>
        </p:nvSpPr>
        <p:spPr>
          <a:xfrm xmlns:a="http://schemas.openxmlformats.org/drawingml/2006/main">
            <a:off x="609600" y="289369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F726CB8F-5BD4-4CFA-AED3-B80BE353F26A}"/>
              </a:ext>
            </a:extLst>
          </p:cNvPr>
          <p:cNvSpPr>
            <a:spLocks xmlns:a="http://schemas.openxmlformats.org/drawingml/2006/main" noGrp="1"/>
          </p:cNvSpPr>
          <p:nvPr/>
        </p:nvSpPr>
        <p:spPr>
          <a:xfrm xmlns:a="http://schemas.openxmlformats.org/drawingml/2006/main">
            <a:off x="723900" y="29698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literal</a:t>
            </a:r>
          </a:p>
        </p:txBody>
      </p:sp>
      <p:sp>
        <p:nvSpPr>
          <p:cNvPr id="14" name="">
            <a:extLst xmlns:a="http://schemas.openxmlformats.org/drawingml/2006/main">
              <a:ext uri="{FF2B5EF4-FFF2-40B4-BE49-F238E27FC236}">
                <a16:creationId xmlns:a16="http://schemas.microsoft.com/office/drawing/2014/main" id="{F00B23A9-2040-4F4B-9967-245B251BCBF0}"/>
              </a:ext>
            </a:extLst>
          </p:cNvPr>
          <p:cNvSpPr>
            <a:spLocks xmlns:a="http://schemas.openxmlformats.org/drawingml/2006/main" noGrp="1"/>
          </p:cNvSpPr>
          <p:nvPr/>
        </p:nvSpPr>
        <p:spPr>
          <a:xfrm xmlns:a="http://schemas.openxmlformats.org/drawingml/2006/main">
            <a:off x="3086100" y="289369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6ED7D226-8976-4C27-B8FA-9885C3D03997}"/>
              </a:ext>
            </a:extLst>
          </p:cNvPr>
          <p:cNvSpPr>
            <a:spLocks xmlns:a="http://schemas.openxmlformats.org/drawingml/2006/main" noGrp="1"/>
          </p:cNvSpPr>
          <p:nvPr/>
        </p:nvSpPr>
        <p:spPr>
          <a:xfrm xmlns:a="http://schemas.openxmlformats.org/drawingml/2006/main">
            <a:off x="3200400" y="29698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value written directly in code</a:t>
            </a:r>
          </a:p>
        </p:txBody>
      </p:sp>
      <p:sp>
        <p:nvSpPr>
          <p:cNvPr id="16" name="">
            <a:extLst xmlns:a="http://schemas.openxmlformats.org/drawingml/2006/main">
              <a:ext uri="{FF2B5EF4-FFF2-40B4-BE49-F238E27FC236}">
                <a16:creationId xmlns:a16="http://schemas.microsoft.com/office/drawing/2014/main" id="{6F98F90D-4D5E-4183-AA01-9CB0CAFAEB7F}"/>
              </a:ext>
            </a:extLst>
          </p:cNvPr>
          <p:cNvSpPr>
            <a:spLocks xmlns:a="http://schemas.openxmlformats.org/drawingml/2006/main" noGrp="1"/>
          </p:cNvSpPr>
          <p:nvPr/>
        </p:nvSpPr>
        <p:spPr>
          <a:xfrm xmlns:a="http://schemas.openxmlformats.org/drawingml/2006/main">
            <a:off x="5562600" y="289369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8DDA5E04-4721-45FF-9DB8-6AC11BEFDA37}"/>
              </a:ext>
            </a:extLst>
          </p:cNvPr>
          <p:cNvSpPr>
            <a:spLocks xmlns:a="http://schemas.openxmlformats.org/drawingml/2006/main" noGrp="1"/>
          </p:cNvSpPr>
          <p:nvPr/>
        </p:nvSpPr>
        <p:spPr>
          <a:xfrm xmlns:a="http://schemas.openxmlformats.org/drawingml/2006/main">
            <a:off x="5676900" y="296989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6.0</a:t>
            </a:r>
          </a:p>
        </p:txBody>
      </p:sp>
      <p:sp>
        <p:nvSpPr>
          <p:cNvPr id="18" name="">
            <a:extLst xmlns:a="http://schemas.openxmlformats.org/drawingml/2006/main">
              <a:ext uri="{FF2B5EF4-FFF2-40B4-BE49-F238E27FC236}">
                <a16:creationId xmlns:a16="http://schemas.microsoft.com/office/drawing/2014/main" id="{87D4A7C7-FD6B-4409-A376-7FDCEBCF6CFC}"/>
              </a:ext>
            </a:extLst>
          </p:cNvPr>
          <p:cNvSpPr>
            <a:spLocks xmlns:a="http://schemas.openxmlformats.org/drawingml/2006/main" noGrp="1"/>
          </p:cNvSpPr>
          <p:nvPr/>
        </p:nvSpPr>
        <p:spPr>
          <a:xfrm xmlns:a="http://schemas.openxmlformats.org/drawingml/2006/main">
            <a:off x="609600" y="343471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BF90CB67-44A3-4C63-A085-AD20A2DA6428}"/>
              </a:ext>
            </a:extLst>
          </p:cNvPr>
          <p:cNvSpPr>
            <a:spLocks xmlns:a="http://schemas.openxmlformats.org/drawingml/2006/main" noGrp="1"/>
          </p:cNvSpPr>
          <p:nvPr/>
        </p:nvSpPr>
        <p:spPr>
          <a:xfrm xmlns:a="http://schemas.openxmlformats.org/drawingml/2006/main">
            <a:off x="723900" y="35109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variable</a:t>
            </a:r>
          </a:p>
        </p:txBody>
      </p:sp>
      <p:sp>
        <p:nvSpPr>
          <p:cNvPr id="20" name="">
            <a:extLst xmlns:a="http://schemas.openxmlformats.org/drawingml/2006/main">
              <a:ext uri="{FF2B5EF4-FFF2-40B4-BE49-F238E27FC236}">
                <a16:creationId xmlns:a16="http://schemas.microsoft.com/office/drawing/2014/main" id="{AD9ADF60-E27D-4E61-AB83-9209AA2420CD}"/>
              </a:ext>
            </a:extLst>
          </p:cNvPr>
          <p:cNvSpPr>
            <a:spLocks xmlns:a="http://schemas.openxmlformats.org/drawingml/2006/main" noGrp="1"/>
          </p:cNvSpPr>
          <p:nvPr/>
        </p:nvSpPr>
        <p:spPr>
          <a:xfrm xmlns:a="http://schemas.openxmlformats.org/drawingml/2006/main">
            <a:off x="3086100" y="343471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2D977EC9-9816-4999-91A6-DB7A8030D62C}"/>
              </a:ext>
            </a:extLst>
          </p:cNvPr>
          <p:cNvSpPr>
            <a:spLocks xmlns:a="http://schemas.openxmlformats.org/drawingml/2006/main" noGrp="1"/>
          </p:cNvSpPr>
          <p:nvPr/>
        </p:nvSpPr>
        <p:spPr>
          <a:xfrm xmlns:a="http://schemas.openxmlformats.org/drawingml/2006/main">
            <a:off x="3200400" y="35109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 name that refers to a value</a:t>
            </a:r>
          </a:p>
        </p:txBody>
      </p:sp>
      <p:sp>
        <p:nvSpPr>
          <p:cNvPr id="22" name="">
            <a:extLst xmlns:a="http://schemas.openxmlformats.org/drawingml/2006/main">
              <a:ext uri="{FF2B5EF4-FFF2-40B4-BE49-F238E27FC236}">
                <a16:creationId xmlns:a16="http://schemas.microsoft.com/office/drawing/2014/main" id="{43159444-A834-4F96-A81F-55ED32C2468E}"/>
              </a:ext>
            </a:extLst>
          </p:cNvPr>
          <p:cNvSpPr>
            <a:spLocks xmlns:a="http://schemas.openxmlformats.org/drawingml/2006/main" noGrp="1"/>
          </p:cNvSpPr>
          <p:nvPr/>
        </p:nvSpPr>
        <p:spPr>
          <a:xfrm xmlns:a="http://schemas.openxmlformats.org/drawingml/2006/main">
            <a:off x="5562600" y="343471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30FD563A-DFA1-44D5-A03B-3299A274DBA3}"/>
              </a:ext>
            </a:extLst>
          </p:cNvPr>
          <p:cNvSpPr>
            <a:spLocks xmlns:a="http://schemas.openxmlformats.org/drawingml/2006/main" noGrp="1"/>
          </p:cNvSpPr>
          <p:nvPr/>
        </p:nvSpPr>
        <p:spPr>
          <a:xfrm xmlns:a="http://schemas.openxmlformats.org/drawingml/2006/main">
            <a:off x="5676900" y="351091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length_m</a:t>
            </a:r>
          </a:p>
        </p:txBody>
      </p:sp>
      <p:sp>
        <p:nvSpPr>
          <p:cNvPr id="24" name="">
            <a:extLst xmlns:a="http://schemas.openxmlformats.org/drawingml/2006/main">
              <a:ext uri="{FF2B5EF4-FFF2-40B4-BE49-F238E27FC236}">
                <a16:creationId xmlns:a16="http://schemas.microsoft.com/office/drawing/2014/main" id="{2752879E-BA0C-497E-9C17-8F9EE27E490F}"/>
              </a:ext>
            </a:extLst>
          </p:cNvPr>
          <p:cNvSpPr>
            <a:spLocks xmlns:a="http://schemas.openxmlformats.org/drawingml/2006/main" noGrp="1"/>
          </p:cNvSpPr>
          <p:nvPr/>
        </p:nvSpPr>
        <p:spPr>
          <a:xfrm xmlns:a="http://schemas.openxmlformats.org/drawingml/2006/main">
            <a:off x="609600" y="397573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2-0">
            <a:extLst xmlns:a="http://schemas.openxmlformats.org/drawingml/2006/main">
              <a:ext uri="{FF2B5EF4-FFF2-40B4-BE49-F238E27FC236}">
                <a16:creationId xmlns:a16="http://schemas.microsoft.com/office/drawing/2014/main" id="{6C6C8DBC-3767-4399-A2E6-965F47BA8F1D}"/>
              </a:ext>
            </a:extLst>
          </p:cNvPr>
          <p:cNvSpPr>
            <a:spLocks xmlns:a="http://schemas.openxmlformats.org/drawingml/2006/main" noGrp="1"/>
          </p:cNvSpPr>
          <p:nvPr/>
        </p:nvSpPr>
        <p:spPr>
          <a:xfrm xmlns:a="http://schemas.openxmlformats.org/drawingml/2006/main">
            <a:off x="723900" y="40519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expression</a:t>
            </a:r>
          </a:p>
        </p:txBody>
      </p:sp>
      <p:sp>
        <p:nvSpPr>
          <p:cNvPr id="26" name="">
            <a:extLst xmlns:a="http://schemas.openxmlformats.org/drawingml/2006/main">
              <a:ext uri="{FF2B5EF4-FFF2-40B4-BE49-F238E27FC236}">
                <a16:creationId xmlns:a16="http://schemas.microsoft.com/office/drawing/2014/main" id="{5179D30F-AD31-49B0-BB1A-BE3DB6A5E084}"/>
              </a:ext>
            </a:extLst>
          </p:cNvPr>
          <p:cNvSpPr>
            <a:spLocks xmlns:a="http://schemas.openxmlformats.org/drawingml/2006/main" noGrp="1"/>
          </p:cNvSpPr>
          <p:nvPr/>
        </p:nvSpPr>
        <p:spPr>
          <a:xfrm xmlns:a="http://schemas.openxmlformats.org/drawingml/2006/main">
            <a:off x="3086100" y="397573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2-1">
            <a:extLst xmlns:a="http://schemas.openxmlformats.org/drawingml/2006/main">
              <a:ext uri="{FF2B5EF4-FFF2-40B4-BE49-F238E27FC236}">
                <a16:creationId xmlns:a16="http://schemas.microsoft.com/office/drawing/2014/main" id="{E7F39DCD-4139-4B34-BCED-A06716B208E7}"/>
              </a:ext>
            </a:extLst>
          </p:cNvPr>
          <p:cNvSpPr>
            <a:spLocks xmlns:a="http://schemas.openxmlformats.org/drawingml/2006/main" noGrp="1"/>
          </p:cNvSpPr>
          <p:nvPr/>
        </p:nvSpPr>
        <p:spPr>
          <a:xfrm xmlns:a="http://schemas.openxmlformats.org/drawingml/2006/main">
            <a:off x="3200400" y="40519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code that evaluates to a value</a:t>
            </a:r>
          </a:p>
        </p:txBody>
      </p:sp>
      <p:sp>
        <p:nvSpPr>
          <p:cNvPr id="28" name="">
            <a:extLst xmlns:a="http://schemas.openxmlformats.org/drawingml/2006/main">
              <a:ext uri="{FF2B5EF4-FFF2-40B4-BE49-F238E27FC236}">
                <a16:creationId xmlns:a16="http://schemas.microsoft.com/office/drawing/2014/main" id="{4A732767-2602-4AA5-8020-11838A0D5540}"/>
              </a:ext>
            </a:extLst>
          </p:cNvPr>
          <p:cNvSpPr>
            <a:spLocks xmlns:a="http://schemas.openxmlformats.org/drawingml/2006/main" noGrp="1"/>
          </p:cNvSpPr>
          <p:nvPr/>
        </p:nvSpPr>
        <p:spPr>
          <a:xfrm xmlns:a="http://schemas.openxmlformats.org/drawingml/2006/main">
            <a:off x="5562600" y="397573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2-2">
            <a:extLst xmlns:a="http://schemas.openxmlformats.org/drawingml/2006/main">
              <a:ext uri="{FF2B5EF4-FFF2-40B4-BE49-F238E27FC236}">
                <a16:creationId xmlns:a16="http://schemas.microsoft.com/office/drawing/2014/main" id="{D17DA13B-C3EA-4055-9215-569A297599DC}"/>
              </a:ext>
            </a:extLst>
          </p:cNvPr>
          <p:cNvSpPr>
            <a:spLocks xmlns:a="http://schemas.openxmlformats.org/drawingml/2006/main" noGrp="1"/>
          </p:cNvSpPr>
          <p:nvPr/>
        </p:nvSpPr>
        <p:spPr>
          <a:xfrm xmlns:a="http://schemas.openxmlformats.org/drawingml/2006/main">
            <a:off x="5676900" y="405193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length_m * width_m</a:t>
            </a:r>
          </a:p>
        </p:txBody>
      </p:sp>
      <p:sp>
        <p:nvSpPr>
          <p:cNvPr id="30" name="">
            <a:extLst xmlns:a="http://schemas.openxmlformats.org/drawingml/2006/main">
              <a:ext uri="{FF2B5EF4-FFF2-40B4-BE49-F238E27FC236}">
                <a16:creationId xmlns:a16="http://schemas.microsoft.com/office/drawing/2014/main" id="{E34309C2-04C8-4457-94FB-A961E47EFAAC}"/>
              </a:ext>
            </a:extLst>
          </p:cNvPr>
          <p:cNvSpPr>
            <a:spLocks xmlns:a="http://schemas.openxmlformats.org/drawingml/2006/main" noGrp="1"/>
          </p:cNvSpPr>
          <p:nvPr/>
        </p:nvSpPr>
        <p:spPr>
          <a:xfrm xmlns:a="http://schemas.openxmlformats.org/drawingml/2006/main">
            <a:off x="609600" y="451675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3-0">
            <a:extLst xmlns:a="http://schemas.openxmlformats.org/drawingml/2006/main">
              <a:ext uri="{FF2B5EF4-FFF2-40B4-BE49-F238E27FC236}">
                <a16:creationId xmlns:a16="http://schemas.microsoft.com/office/drawing/2014/main" id="{DC9AAC9D-68B5-49C1-8490-4A227AB46BBF}"/>
              </a:ext>
            </a:extLst>
          </p:cNvPr>
          <p:cNvSpPr>
            <a:spLocks xmlns:a="http://schemas.openxmlformats.org/drawingml/2006/main" noGrp="1"/>
          </p:cNvSpPr>
          <p:nvPr/>
        </p:nvSpPr>
        <p:spPr>
          <a:xfrm xmlns:a="http://schemas.openxmlformats.org/drawingml/2006/main">
            <a:off x="723900" y="45929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assignment</a:t>
            </a:r>
          </a:p>
        </p:txBody>
      </p:sp>
      <p:sp>
        <p:nvSpPr>
          <p:cNvPr id="32" name="">
            <a:extLst xmlns:a="http://schemas.openxmlformats.org/drawingml/2006/main">
              <a:ext uri="{FF2B5EF4-FFF2-40B4-BE49-F238E27FC236}">
                <a16:creationId xmlns:a16="http://schemas.microsoft.com/office/drawing/2014/main" id="{E3B3B2A9-3B42-48BA-80F3-8B28F2366C29}"/>
              </a:ext>
            </a:extLst>
          </p:cNvPr>
          <p:cNvSpPr>
            <a:spLocks xmlns:a="http://schemas.openxmlformats.org/drawingml/2006/main" noGrp="1"/>
          </p:cNvSpPr>
          <p:nvPr/>
        </p:nvSpPr>
        <p:spPr>
          <a:xfrm xmlns:a="http://schemas.openxmlformats.org/drawingml/2006/main">
            <a:off x="3086100" y="451675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3-1">
            <a:extLst xmlns:a="http://schemas.openxmlformats.org/drawingml/2006/main">
              <a:ext uri="{FF2B5EF4-FFF2-40B4-BE49-F238E27FC236}">
                <a16:creationId xmlns:a16="http://schemas.microsoft.com/office/drawing/2014/main" id="{F8397969-C14A-420F-9D2B-E83C52DC88A1}"/>
              </a:ext>
            </a:extLst>
          </p:cNvPr>
          <p:cNvSpPr>
            <a:spLocks xmlns:a="http://schemas.openxmlformats.org/drawingml/2006/main" noGrp="1"/>
          </p:cNvSpPr>
          <p:nvPr/>
        </p:nvSpPr>
        <p:spPr>
          <a:xfrm xmlns:a="http://schemas.openxmlformats.org/drawingml/2006/main">
            <a:off x="3200400" y="45929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binds a name to the right-side result</a:t>
            </a:r>
          </a:p>
        </p:txBody>
      </p:sp>
      <p:sp>
        <p:nvSpPr>
          <p:cNvPr id="34" name="">
            <a:extLst xmlns:a="http://schemas.openxmlformats.org/drawingml/2006/main">
              <a:ext uri="{FF2B5EF4-FFF2-40B4-BE49-F238E27FC236}">
                <a16:creationId xmlns:a16="http://schemas.microsoft.com/office/drawing/2014/main" id="{16D3BFFD-C5C3-40F9-BB3D-4BEB0FDFC4F1}"/>
              </a:ext>
            </a:extLst>
          </p:cNvPr>
          <p:cNvSpPr>
            <a:spLocks xmlns:a="http://schemas.openxmlformats.org/drawingml/2006/main" noGrp="1"/>
          </p:cNvSpPr>
          <p:nvPr/>
        </p:nvSpPr>
        <p:spPr>
          <a:xfrm xmlns:a="http://schemas.openxmlformats.org/drawingml/2006/main">
            <a:off x="5562600" y="451675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3-2">
            <a:extLst xmlns:a="http://schemas.openxmlformats.org/drawingml/2006/main">
              <a:ext uri="{FF2B5EF4-FFF2-40B4-BE49-F238E27FC236}">
                <a16:creationId xmlns:a16="http://schemas.microsoft.com/office/drawing/2014/main" id="{F7C826D6-A4D1-470E-93C4-771C912B29A1}"/>
              </a:ext>
            </a:extLst>
          </p:cNvPr>
          <p:cNvSpPr>
            <a:spLocks xmlns:a="http://schemas.openxmlformats.org/drawingml/2006/main" noGrp="1"/>
          </p:cNvSpPr>
          <p:nvPr/>
        </p:nvSpPr>
        <p:spPr>
          <a:xfrm xmlns:a="http://schemas.openxmlformats.org/drawingml/2006/main">
            <a:off x="5676900" y="459295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area_m2 = ...</a:t>
            </a:r>
          </a:p>
        </p:txBody>
      </p:sp>
      <p:sp>
        <p:nvSpPr>
          <p:cNvPr id="36" name="">
            <a:extLst xmlns:a="http://schemas.openxmlformats.org/drawingml/2006/main">
              <a:ext uri="{FF2B5EF4-FFF2-40B4-BE49-F238E27FC236}">
                <a16:creationId xmlns:a16="http://schemas.microsoft.com/office/drawing/2014/main" id="{AEB6E580-9BBF-47F4-95CF-355B05E775DB}"/>
              </a:ext>
            </a:extLst>
          </p:cNvPr>
          <p:cNvSpPr>
            <a:spLocks xmlns:a="http://schemas.openxmlformats.org/drawingml/2006/main" noGrp="1"/>
          </p:cNvSpPr>
          <p:nvPr/>
        </p:nvSpPr>
        <p:spPr>
          <a:xfrm xmlns:a="http://schemas.openxmlformats.org/drawingml/2006/main">
            <a:off x="609600" y="50577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4-0">
            <a:extLst xmlns:a="http://schemas.openxmlformats.org/drawingml/2006/main">
              <a:ext uri="{FF2B5EF4-FFF2-40B4-BE49-F238E27FC236}">
                <a16:creationId xmlns:a16="http://schemas.microsoft.com/office/drawing/2014/main" id="{85CD044B-7FF2-4097-882E-65C07B88EF53}"/>
              </a:ext>
            </a:extLst>
          </p:cNvPr>
          <p:cNvSpPr>
            <a:spLocks xmlns:a="http://schemas.openxmlformats.org/drawingml/2006/main" noGrp="1"/>
          </p:cNvSpPr>
          <p:nvPr/>
        </p:nvSpPr>
        <p:spPr>
          <a:xfrm xmlns:a="http://schemas.openxmlformats.org/drawingml/2006/main">
            <a:off x="723900" y="51339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function call</a:t>
            </a:r>
          </a:p>
        </p:txBody>
      </p:sp>
      <p:sp>
        <p:nvSpPr>
          <p:cNvPr id="38" name="">
            <a:extLst xmlns:a="http://schemas.openxmlformats.org/drawingml/2006/main">
              <a:ext uri="{FF2B5EF4-FFF2-40B4-BE49-F238E27FC236}">
                <a16:creationId xmlns:a16="http://schemas.microsoft.com/office/drawing/2014/main" id="{7F42DAE9-6474-48A7-AD28-C9239680210B}"/>
              </a:ext>
            </a:extLst>
          </p:cNvPr>
          <p:cNvSpPr>
            <a:spLocks xmlns:a="http://schemas.openxmlformats.org/drawingml/2006/main" noGrp="1"/>
          </p:cNvSpPr>
          <p:nvPr/>
        </p:nvSpPr>
        <p:spPr>
          <a:xfrm xmlns:a="http://schemas.openxmlformats.org/drawingml/2006/main">
            <a:off x="3086100" y="50577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9" name="cell-4-1">
            <a:extLst xmlns:a="http://schemas.openxmlformats.org/drawingml/2006/main">
              <a:ext uri="{FF2B5EF4-FFF2-40B4-BE49-F238E27FC236}">
                <a16:creationId xmlns:a16="http://schemas.microsoft.com/office/drawing/2014/main" id="{EFAF24EB-6E48-4269-8F4B-1F624D20C795}"/>
              </a:ext>
            </a:extLst>
          </p:cNvPr>
          <p:cNvSpPr>
            <a:spLocks xmlns:a="http://schemas.openxmlformats.org/drawingml/2006/main" noGrp="1"/>
          </p:cNvSpPr>
          <p:nvPr/>
        </p:nvSpPr>
        <p:spPr>
          <a:xfrm xmlns:a="http://schemas.openxmlformats.org/drawingml/2006/main">
            <a:off x="3200400" y="51339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asks a reusable procedure to run</a:t>
            </a:r>
          </a:p>
        </p:txBody>
      </p:sp>
      <p:sp>
        <p:nvSpPr>
          <p:cNvPr id="40" name="">
            <a:extLst xmlns:a="http://schemas.openxmlformats.org/drawingml/2006/main">
              <a:ext uri="{FF2B5EF4-FFF2-40B4-BE49-F238E27FC236}">
                <a16:creationId xmlns:a16="http://schemas.microsoft.com/office/drawing/2014/main" id="{7DED5D39-E240-4673-AE35-B7DB8FA410F2}"/>
              </a:ext>
            </a:extLst>
          </p:cNvPr>
          <p:cNvSpPr>
            <a:spLocks xmlns:a="http://schemas.openxmlformats.org/drawingml/2006/main" noGrp="1"/>
          </p:cNvSpPr>
          <p:nvPr/>
        </p:nvSpPr>
        <p:spPr>
          <a:xfrm xmlns:a="http://schemas.openxmlformats.org/drawingml/2006/main">
            <a:off x="5562600" y="5057775"/>
            <a:ext cx="2476500"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1" name="cell-4-2">
            <a:extLst xmlns:a="http://schemas.openxmlformats.org/drawingml/2006/main">
              <a:ext uri="{FF2B5EF4-FFF2-40B4-BE49-F238E27FC236}">
                <a16:creationId xmlns:a16="http://schemas.microsoft.com/office/drawing/2014/main" id="{385BE6CE-96DA-4035-BF0E-50FAFAC93123}"/>
              </a:ext>
            </a:extLst>
          </p:cNvPr>
          <p:cNvSpPr>
            <a:spLocks xmlns:a="http://schemas.openxmlformats.org/drawingml/2006/main" noGrp="1"/>
          </p:cNvSpPr>
          <p:nvPr/>
        </p:nvSpPr>
        <p:spPr>
          <a:xfrm xmlns:a="http://schemas.openxmlformats.org/drawingml/2006/main">
            <a:off x="5676900" y="513397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print(area_m2)</a:t>
            </a:r>
          </a:p>
        </p:txBody>
      </p:sp>
      <p:sp>
        <p:nvSpPr>
          <p:cNvPr id="42" name="callout-label">
            <a:extLst xmlns:a="http://schemas.openxmlformats.org/drawingml/2006/main">
              <a:ext uri="{FF2B5EF4-FFF2-40B4-BE49-F238E27FC236}">
                <a16:creationId xmlns:a16="http://schemas.microsoft.com/office/drawing/2014/main" id="{38DA0355-4840-4FB6-A372-42E3299C6BC2}"/>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3" name="callout">
            <a:extLst xmlns:a="http://schemas.openxmlformats.org/drawingml/2006/main">
              <a:ext uri="{FF2B5EF4-FFF2-40B4-BE49-F238E27FC236}">
                <a16:creationId xmlns:a16="http://schemas.microsoft.com/office/drawing/2014/main" id="{CD52FB96-FA81-445F-9E4F-EC1FFDEA4E7B}"/>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Spyder helps you inspect these ideas, but it does not change their Python meaning.</a:t>
            </a:r>
          </a:p>
        </p:txBody>
      </p:sp>
    </p:spTree>
    <p:extLst>
      <p:ext uri="{BB962C8B-B14F-4D97-AF65-F5344CB8AC3E}">
        <p14:creationId xmlns:p14="http://schemas.microsoft.com/office/powerpoint/2010/main" val="1109859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B9868ACD-0EB0-45D5-B509-6DB13563E3C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8517E57C-F679-45D8-A968-E71F9BAC96F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Editor holds one file; # %% divides it into cells</a:t>
            </a:r>
          </a:p>
        </p:txBody>
      </p:sp>
      <p:sp>
        <p:nvSpPr>
          <p:cNvPr id="3" name="">
            <a:extLst xmlns:a="http://schemas.openxmlformats.org/drawingml/2006/main">
              <a:ext uri="{FF2B5EF4-FFF2-40B4-BE49-F238E27FC236}">
                <a16:creationId xmlns:a16="http://schemas.microsoft.com/office/drawing/2014/main" id="{A8815229-6E93-434F-A8E1-CF706FDFB83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4831ED4-61F6-4C4A-879B-EFD9C3C27AE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AC354BC-63D3-4F31-A926-12CAFAC89FA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term-label">
            <a:extLst xmlns:a="http://schemas.openxmlformats.org/drawingml/2006/main">
              <a:ext uri="{FF2B5EF4-FFF2-40B4-BE49-F238E27FC236}">
                <a16:creationId xmlns:a16="http://schemas.microsoft.com/office/drawing/2014/main" id="{82E85E10-B7D0-4E6E-BB91-058EDDB5829F}"/>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01EA6C43-4AB5-4CB0-9D61-5D4D5918C81F}"/>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 %%</a:t>
            </a:r>
          </a:p>
        </p:txBody>
      </p:sp>
      <p:sp>
        <p:nvSpPr>
          <p:cNvPr id="8" name="">
            <a:extLst xmlns:a="http://schemas.openxmlformats.org/drawingml/2006/main">
              <a:ext uri="{FF2B5EF4-FFF2-40B4-BE49-F238E27FC236}">
                <a16:creationId xmlns:a16="http://schemas.microsoft.com/office/drawing/2014/main" id="{25287B2B-F559-442C-BA30-099BCC4B17F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BACB859C-98FE-4D2D-BD17-F75F7978B59C}"/>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cell marker. To Python it is only a comment, ignored at run time. To Spyder it marks where one runnable chunk of the file ends and the next begins, so Ctrl+Enter can run a few lines at a time instead of the whole script.</a:t>
            </a:r>
          </a:p>
        </p:txBody>
      </p:sp>
      <p:sp>
        <p:nvSpPr>
          <p:cNvPr id="10" name="example-panel">
            <a:extLst xmlns:a="http://schemas.openxmlformats.org/drawingml/2006/main">
              <a:ext uri="{FF2B5EF4-FFF2-40B4-BE49-F238E27FC236}">
                <a16:creationId xmlns:a16="http://schemas.microsoft.com/office/drawing/2014/main" id="{8BED9B24-EC89-40CC-B61C-11DBBA0204A9}"/>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F9A92FE-4269-4EAA-832E-B163B230A1A9}"/>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THE EDITOR</a:t>
            </a:r>
          </a:p>
        </p:txBody>
      </p:sp>
      <p:sp>
        <p:nvSpPr>
          <p:cNvPr id="12" name="example-head">
            <a:extLst xmlns:a="http://schemas.openxmlformats.org/drawingml/2006/main">
              <a:ext uri="{FF2B5EF4-FFF2-40B4-BE49-F238E27FC236}">
                <a16:creationId xmlns:a16="http://schemas.microsoft.com/office/drawing/2014/main" id="{B1323FC6-4542-4C5D-B279-84C8C789A115}"/>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 %% room-area checkpoint</a:t>
            </a:r>
          </a:p>
        </p:txBody>
      </p:sp>
      <p:sp>
        <p:nvSpPr>
          <p:cNvPr id="13" name="example-body">
            <a:extLst xmlns:a="http://schemas.openxmlformats.org/drawingml/2006/main">
              <a:ext uri="{FF2B5EF4-FFF2-40B4-BE49-F238E27FC236}">
                <a16:creationId xmlns:a16="http://schemas.microsoft.com/office/drawing/2014/main" id="{1FBDF547-E8E1-4623-B4E3-6F8DCD843E72}"/>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Editor holds the saved .py file: its cells, its comments and assumptions, the complete rerunnable sequence, and text you can search and revise.</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Words after the marker name the cell, so one file reads as a sequence of checkpoints.</a:t>
            </a:r>
          </a:p>
        </p:txBody>
      </p:sp>
      <p:sp>
        <p:nvSpPr>
          <p:cNvPr id="14" name="note-bar">
            <a:extLst xmlns:a="http://schemas.openxmlformats.org/drawingml/2006/main">
              <a:ext uri="{FF2B5EF4-FFF2-40B4-BE49-F238E27FC236}">
                <a16:creationId xmlns:a16="http://schemas.microsoft.com/office/drawing/2014/main" id="{3B33860D-CD5D-404B-8470-5D3615409B80}"/>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7CB3569D-09FF-4505-BB32-C7ECA9231834}"/>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COURSE CONVENTION</a:t>
            </a:r>
          </a:p>
        </p:txBody>
      </p:sp>
      <p:sp>
        <p:nvSpPr>
          <p:cNvPr id="16" name="note">
            <a:extLst xmlns:a="http://schemas.openxmlformats.org/drawingml/2006/main">
              <a:ext uri="{FF2B5EF4-FFF2-40B4-BE49-F238E27FC236}">
                <a16:creationId xmlns:a16="http://schemas.microsoft.com/office/drawing/2014/main" id="{9E040BEE-F1E5-4C31-ACBB-4DB32ED87A14}"/>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One file tells one coherent story. Cells create checkpoints, but the script must still run from top to bottom after a restart.</a:t>
            </a:r>
          </a:p>
        </p:txBody>
      </p:sp>
    </p:spTree>
    <p:extLst>
      <p:ext uri="{BB962C8B-B14F-4D97-AF65-F5344CB8AC3E}">
        <p14:creationId xmlns:p14="http://schemas.microsoft.com/office/powerpoint/2010/main" val="10923559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22059647-9EBC-4158-BD41-E7F85A46BAE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C94A11E8-A371-4E37-809A-6AEC6160D3E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Console records execution history</a:t>
            </a:r>
          </a:p>
        </p:txBody>
      </p:sp>
      <p:sp>
        <p:nvSpPr>
          <p:cNvPr id="3" name="">
            <a:extLst xmlns:a="http://schemas.openxmlformats.org/drawingml/2006/main">
              <a:ext uri="{FF2B5EF4-FFF2-40B4-BE49-F238E27FC236}">
                <a16:creationId xmlns:a16="http://schemas.microsoft.com/office/drawing/2014/main" id="{345D4CE5-8B3F-463C-A6D3-E1B11D68456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8DC2386-4B21-4C9B-8C44-ADCB0FE98A0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D89CEF42-09C7-4352-8C2C-6B4DF7FA2A3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left-head">
            <a:extLst xmlns:a="http://schemas.openxmlformats.org/drawingml/2006/main">
              <a:ext uri="{FF2B5EF4-FFF2-40B4-BE49-F238E27FC236}">
                <a16:creationId xmlns:a16="http://schemas.microsoft.com/office/drawing/2014/main" id="{8C856F2B-6E8B-4B40-8EFC-905641DFACD3}"/>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Useful evidence</a:t>
            </a:r>
          </a:p>
        </p:txBody>
      </p:sp>
      <p:sp>
        <p:nvSpPr>
          <p:cNvPr id="7" name="left-body">
            <a:extLst xmlns:a="http://schemas.openxmlformats.org/drawingml/2006/main">
              <a:ext uri="{FF2B5EF4-FFF2-40B4-BE49-F238E27FC236}">
                <a16:creationId xmlns:a16="http://schemas.microsoft.com/office/drawing/2014/main" id="{DC4A2C56-D1B1-43F1-A8D3-CB68D2F9B1CD}"/>
              </a:ext>
            </a:extLst>
          </p:cNvPr>
          <p:cNvSpPr>
            <a:spLocks xmlns:a="http://schemas.openxmlformats.org/drawingml/2006/main" noGrp="1"/>
          </p:cNvSpPr>
          <p:nvPr/>
        </p:nvSpPr>
        <p:spPr>
          <a:xfrm xmlns:a="http://schemas.openxmlformats.org/drawingml/2006/main">
            <a:off x="609600" y="321221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Printed output from print()</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Warnings and error messages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Interactive checks typed at the prompt</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numbered In and Out history</a:t>
            </a:r>
          </a:p>
        </p:txBody>
      </p:sp>
      <p:sp>
        <p:nvSpPr>
          <p:cNvPr id="8" name="right-head">
            <a:extLst xmlns:a="http://schemas.openxmlformats.org/drawingml/2006/main">
              <a:ext uri="{FF2B5EF4-FFF2-40B4-BE49-F238E27FC236}">
                <a16:creationId xmlns:a16="http://schemas.microsoft.com/office/drawing/2014/main" id="{9D97962A-22F2-482D-8A01-73C808E12085}"/>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Important limitation</a:t>
            </a:r>
          </a:p>
        </p:txBody>
      </p:sp>
      <p:sp>
        <p:nvSpPr>
          <p:cNvPr id="9" name="right-body">
            <a:extLst xmlns:a="http://schemas.openxmlformats.org/drawingml/2006/main">
              <a:ext uri="{FF2B5EF4-FFF2-40B4-BE49-F238E27FC236}">
                <a16:creationId xmlns:a16="http://schemas.microsoft.com/office/drawing/2014/main" id="{C9C24DF2-4FB6-4CB4-A95D-CF4DD37B37B7}"/>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console remembers earlier objects. Code may appear to work because a value survives from an old run — or may fail because a name from a deleted line is still there. Restart periodically and run from the top.</a:t>
            </a:r>
          </a:p>
        </p:txBody>
      </p:sp>
    </p:spTree>
    <p:extLst>
      <p:ext uri="{BB962C8B-B14F-4D97-AF65-F5344CB8AC3E}">
        <p14:creationId xmlns:p14="http://schemas.microsoft.com/office/powerpoint/2010/main" val="17731958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3716EAA-199B-4230-B276-AC02FEEB0ED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30B5D923-0E28-4C8A-A9DA-8FD1D55B440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kernel is the Python process that remembers</a:t>
            </a:r>
          </a:p>
        </p:txBody>
      </p:sp>
      <p:sp>
        <p:nvSpPr>
          <p:cNvPr id="3" name="">
            <a:extLst xmlns:a="http://schemas.openxmlformats.org/drawingml/2006/main">
              <a:ext uri="{FF2B5EF4-FFF2-40B4-BE49-F238E27FC236}">
                <a16:creationId xmlns:a16="http://schemas.microsoft.com/office/drawing/2014/main" id="{C822C6C3-9F42-4A7E-B017-893A97C6EE1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DFF64F2-9D12-48C3-A22E-484CBAAEEE0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B32E6850-5260-46C8-A049-23CB80FD38E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term-label">
            <a:extLst xmlns:a="http://schemas.openxmlformats.org/drawingml/2006/main">
              <a:ext uri="{FF2B5EF4-FFF2-40B4-BE49-F238E27FC236}">
                <a16:creationId xmlns:a16="http://schemas.microsoft.com/office/drawing/2014/main" id="{B7EB33F1-D56F-48A0-997C-E630B0D77827}"/>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314C09AF-A3AD-4CCE-BA34-936C6FFEBC3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kernel</a:t>
            </a:r>
          </a:p>
        </p:txBody>
      </p:sp>
      <p:sp>
        <p:nvSpPr>
          <p:cNvPr id="8" name="">
            <a:extLst xmlns:a="http://schemas.openxmlformats.org/drawingml/2006/main">
              <a:ext uri="{FF2B5EF4-FFF2-40B4-BE49-F238E27FC236}">
                <a16:creationId xmlns:a16="http://schemas.microsoft.com/office/drawing/2014/main" id="{5185AC8A-9883-4896-BB9E-61736AA9FD8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69F28807-4E85-4232-A7FD-21454948B8B2}"/>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running Python process behind the Console. It executes whatever you send it and keeps every name you create until you restart it. Deleting a line in the Editor does not remove the name that line already created.</a:t>
            </a:r>
          </a:p>
        </p:txBody>
      </p:sp>
      <p:sp>
        <p:nvSpPr>
          <p:cNvPr id="10" name="example-panel">
            <a:extLst xmlns:a="http://schemas.openxmlformats.org/drawingml/2006/main">
              <a:ext uri="{FF2B5EF4-FFF2-40B4-BE49-F238E27FC236}">
                <a16:creationId xmlns:a16="http://schemas.microsoft.com/office/drawing/2014/main" id="{8062ED67-6BF1-4C28-B37D-B056B9E981BD}"/>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6BBA0108-1959-4B76-8D10-2C7B219FC7DE}"/>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RESTART TO VERIFY</a:t>
            </a:r>
          </a:p>
        </p:txBody>
      </p:sp>
      <p:sp>
        <p:nvSpPr>
          <p:cNvPr id="12" name="example-head">
            <a:extLst xmlns:a="http://schemas.openxmlformats.org/drawingml/2006/main">
              <a:ext uri="{FF2B5EF4-FFF2-40B4-BE49-F238E27FC236}">
                <a16:creationId xmlns:a16="http://schemas.microsoft.com/office/drawing/2014/main" id="{A877B27A-20FB-4608-B067-DBEACA76A647}"/>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Consoles → Restart kernel</a:t>
            </a:r>
          </a:p>
        </p:txBody>
      </p:sp>
      <p:sp>
        <p:nvSpPr>
          <p:cNvPr id="13" name="example-body">
            <a:extLst xmlns:a="http://schemas.openxmlformats.org/drawingml/2006/main">
              <a:ext uri="{FF2B5EF4-FFF2-40B4-BE49-F238E27FC236}">
                <a16:creationId xmlns:a16="http://schemas.microsoft.com/office/drawing/2014/main" id="{15A7C800-4AD3-4F61-98F0-7BAD81809EEE}"/>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Restarting discards every variable and every import, then hands back an empty Console. Run the file again from the top: any name that only survived from an older run now fails, which is exactly the evidence you want.</a:t>
            </a:r>
          </a:p>
        </p:txBody>
      </p:sp>
      <p:sp>
        <p:nvSpPr>
          <p:cNvPr id="14" name="note-bar">
            <a:extLst xmlns:a="http://schemas.openxmlformats.org/drawingml/2006/main">
              <a:ext uri="{FF2B5EF4-FFF2-40B4-BE49-F238E27FC236}">
                <a16:creationId xmlns:a16="http://schemas.microsoft.com/office/drawing/2014/main" id="{C986680B-BEAB-453F-9C92-1637C5A89611}"/>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DF063947-61F6-44C6-81A6-843B0DCC1703}"/>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D8C99A9C-DFBB-4EEB-9EAC-29A5BB8AF156}"/>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Two students can run identical files and see different results if one has a kernel still holding names from an earlier attempt.</a:t>
            </a:r>
          </a:p>
        </p:txBody>
      </p:sp>
    </p:spTree>
    <p:extLst>
      <p:ext uri="{BB962C8B-B14F-4D97-AF65-F5344CB8AC3E}">
        <p14:creationId xmlns:p14="http://schemas.microsoft.com/office/powerpoint/2010/main" val="735778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C42C27AB-443D-440B-9011-5EC79465CF4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EF0CE3E7-F3E8-4FB7-97B2-8C59B8D27F4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Variable Explorer makes program state inspectable</a:t>
            </a:r>
          </a:p>
        </p:txBody>
      </p:sp>
      <p:sp>
        <p:nvSpPr>
          <p:cNvPr id="3" name="">
            <a:extLst xmlns:a="http://schemas.openxmlformats.org/drawingml/2006/main">
              <a:ext uri="{FF2B5EF4-FFF2-40B4-BE49-F238E27FC236}">
                <a16:creationId xmlns:a16="http://schemas.microsoft.com/office/drawing/2014/main" id="{BE2B45FF-B9FF-4485-8F47-E2B63B2059B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1734E25-DBEB-4DA7-B83C-E6C4C7C049A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51702B83-7B76-4FA5-870D-9859C8A56AC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left-head">
            <a:extLst xmlns:a="http://schemas.openxmlformats.org/drawingml/2006/main">
              <a:ext uri="{FF2B5EF4-FFF2-40B4-BE49-F238E27FC236}">
                <a16:creationId xmlns:a16="http://schemas.microsoft.com/office/drawing/2014/main" id="{F468F505-7A20-4F1F-91F0-C8F0BCBCC59C}"/>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Inspect</a:t>
            </a:r>
          </a:p>
        </p:txBody>
      </p:sp>
      <p:sp>
        <p:nvSpPr>
          <p:cNvPr id="7" name="left-body">
            <a:extLst xmlns:a="http://schemas.openxmlformats.org/drawingml/2006/main">
              <a:ext uri="{FF2B5EF4-FFF2-40B4-BE49-F238E27FC236}">
                <a16:creationId xmlns:a16="http://schemas.microsoft.com/office/drawing/2014/main" id="{D0C88405-C002-4B79-942E-A7EE89E7633A}"/>
              </a:ext>
            </a:extLst>
          </p:cNvPr>
          <p:cNvSpPr>
            <a:spLocks xmlns:a="http://schemas.openxmlformats.org/drawingml/2006/main" noGrp="1"/>
          </p:cNvSpPr>
          <p:nvPr/>
        </p:nvSpPr>
        <p:spPr>
          <a:xfrm xmlns:a="http://schemas.openxmlformats.org/drawingml/2006/main">
            <a:off x="6096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Name — what you called it</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Type — the kind of value it holds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Value — what it holds right now</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Shape or size — for larger objects</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Changes — after every cell you run</a:t>
            </a:r>
          </a:p>
        </p:txBody>
      </p:sp>
      <p:sp>
        <p:nvSpPr>
          <p:cNvPr id="8" name="right-head">
            <a:extLst xmlns:a="http://schemas.openxmlformats.org/drawingml/2006/main">
              <a:ext uri="{FF2B5EF4-FFF2-40B4-BE49-F238E27FC236}">
                <a16:creationId xmlns:a16="http://schemas.microsoft.com/office/drawing/2014/main" id="{F1FCB505-6BF0-492D-BA20-3963CB9B71D2}"/>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Do not rely on it alone</a:t>
            </a:r>
          </a:p>
        </p:txBody>
      </p:sp>
      <p:sp>
        <p:nvSpPr>
          <p:cNvPr id="9" name="right-body">
            <a:extLst xmlns:a="http://schemas.openxmlformats.org/drawingml/2006/main">
              <a:ext uri="{FF2B5EF4-FFF2-40B4-BE49-F238E27FC236}">
                <a16:creationId xmlns:a16="http://schemas.microsoft.com/office/drawing/2014/main" id="{8414596D-39D6-4539-A5F6-8C93B4884D79}"/>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visible value can still be wrong: right number, wrong unit; right unit, wrong assumption. Pair inspection with comments, units, predicted results, assertions, and independent calculations.</a:t>
            </a:r>
          </a:p>
        </p:txBody>
      </p:sp>
    </p:spTree>
    <p:extLst>
      <p:ext uri="{BB962C8B-B14F-4D97-AF65-F5344CB8AC3E}">
        <p14:creationId xmlns:p14="http://schemas.microsoft.com/office/powerpoint/2010/main" val="15226134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BECAE1A4-AD6F-4EC2-BC5F-B53A84DADEB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0845A9E1-BFD5-45AC-AF48-4DE104D1E05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project folder keeps relative paths portable</a:t>
            </a:r>
          </a:p>
        </p:txBody>
      </p:sp>
      <p:sp>
        <p:nvSpPr>
          <p:cNvPr id="3" name="">
            <a:extLst xmlns:a="http://schemas.openxmlformats.org/drawingml/2006/main">
              <a:ext uri="{FF2B5EF4-FFF2-40B4-BE49-F238E27FC236}">
                <a16:creationId xmlns:a16="http://schemas.microsoft.com/office/drawing/2014/main" id="{E5885B0E-DFDE-4EC7-8651-6DF3E40D0BE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5735F4A-72AE-4024-8BBE-09C77998221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924F2333-1177-4C23-8A2E-8861C406A8E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step-arrow-0">
            <a:extLst xmlns:a="http://schemas.openxmlformats.org/drawingml/2006/main">
              <a:ext uri="{FF2B5EF4-FFF2-40B4-BE49-F238E27FC236}">
                <a16:creationId xmlns:a16="http://schemas.microsoft.com/office/drawing/2014/main" id="{56B72AAA-F7D8-4706-882A-1DE29C74659B}"/>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D0E24B2B-3F39-4301-88AE-E9B529CE6A27}"/>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4B6EB5B7-C2F1-450C-A99D-04BF9034FB2D}"/>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93246150-37F9-4992-BBE2-2260B226863B}"/>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E1B3A6A4-D346-40FC-9AF0-C5410C0CC65B}"/>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0AFCD799-0F33-499C-BBE3-1EB3A415C0CD}"/>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FOLDER</a:t>
            </a:r>
          </a:p>
        </p:txBody>
      </p:sp>
      <p:sp>
        <p:nvSpPr>
          <p:cNvPr id="12" name="">
            <a:extLst xmlns:a="http://schemas.openxmlformats.org/drawingml/2006/main">
              <a:ext uri="{FF2B5EF4-FFF2-40B4-BE49-F238E27FC236}">
                <a16:creationId xmlns:a16="http://schemas.microsoft.com/office/drawing/2014/main" id="{524D93B0-DA19-46EC-BC0C-9B5CAD741628}"/>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F43480FF-EB93-417B-9057-C399E9353960}"/>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Create one module folder</a:t>
            </a:r>
          </a:p>
        </p:txBody>
      </p:sp>
      <p:sp>
        <p:nvSpPr>
          <p:cNvPr id="14" name="step-body-0">
            <a:extLst xmlns:a="http://schemas.openxmlformats.org/drawingml/2006/main">
              <a:ext uri="{FF2B5EF4-FFF2-40B4-BE49-F238E27FC236}">
                <a16:creationId xmlns:a16="http://schemas.microsoft.com/office/drawing/2014/main" id="{D14C5714-589D-41D4-AC48-AB1F9BF2C148}"/>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Keep the handout, data, and outputs under one Week 01 folder. Confirm it also appears in Spyder's Files pane, which mirrors your file system.</a:t>
            </a:r>
          </a:p>
        </p:txBody>
      </p:sp>
      <p:sp>
        <p:nvSpPr>
          <p:cNvPr id="15" name="step-node-1">
            <a:extLst xmlns:a="http://schemas.openxmlformats.org/drawingml/2006/main">
              <a:ext uri="{FF2B5EF4-FFF2-40B4-BE49-F238E27FC236}">
                <a16:creationId xmlns:a16="http://schemas.microsoft.com/office/drawing/2014/main" id="{205D3D40-9947-4761-80B2-2DE11463ED24}"/>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6429195E-3C4E-491D-AF99-21523EDD99CC}"/>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9D0FA32C-61A2-434E-8547-0B9D88AFFDDE}"/>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SAVE</a:t>
            </a:r>
          </a:p>
        </p:txBody>
      </p:sp>
      <p:sp>
        <p:nvSpPr>
          <p:cNvPr id="18" name="">
            <a:extLst xmlns:a="http://schemas.openxmlformats.org/drawingml/2006/main">
              <a:ext uri="{FF2B5EF4-FFF2-40B4-BE49-F238E27FC236}">
                <a16:creationId xmlns:a16="http://schemas.microsoft.com/office/drawing/2014/main" id="{B46AED86-E2AD-4F04-8011-0E371E6F900C}"/>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8E0FA6C0-9249-48F0-AC2F-D99572DFDB45}"/>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Save the .py file</a:t>
            </a:r>
          </a:p>
        </p:txBody>
      </p:sp>
      <p:sp>
        <p:nvSpPr>
          <p:cNvPr id="20" name="step-body-1">
            <a:extLst xmlns:a="http://schemas.openxmlformats.org/drawingml/2006/main">
              <a:ext uri="{FF2B5EF4-FFF2-40B4-BE49-F238E27FC236}">
                <a16:creationId xmlns:a16="http://schemas.microsoft.com/office/drawing/2014/main" id="{4362406D-F7B5-4BFF-941A-6580CBE55400}"/>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a descriptive filename before the first run.</a:t>
            </a:r>
          </a:p>
        </p:txBody>
      </p:sp>
      <p:sp>
        <p:nvSpPr>
          <p:cNvPr id="21" name="step-node-2">
            <a:extLst xmlns:a="http://schemas.openxmlformats.org/drawingml/2006/main">
              <a:ext uri="{FF2B5EF4-FFF2-40B4-BE49-F238E27FC236}">
                <a16:creationId xmlns:a16="http://schemas.microsoft.com/office/drawing/2014/main" id="{9BD9BE1D-83FC-4A96-BAD7-EC7D675DBCAE}"/>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B20B0841-144B-49D1-BDAF-5356ABEA2412}"/>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FF106E8D-BBA9-4D08-80A2-06A00F9E2AC3}"/>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SET</a:t>
            </a:r>
          </a:p>
        </p:txBody>
      </p:sp>
      <p:sp>
        <p:nvSpPr>
          <p:cNvPr id="24" name="">
            <a:extLst xmlns:a="http://schemas.openxmlformats.org/drawingml/2006/main">
              <a:ext uri="{FF2B5EF4-FFF2-40B4-BE49-F238E27FC236}">
                <a16:creationId xmlns:a16="http://schemas.microsoft.com/office/drawing/2014/main" id="{9ECBD751-703E-46D5-B73A-FC5A065590D0}"/>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CD86C15E-F440-46DF-8DE8-7C34EF66F55D}"/>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Choose working folder</a:t>
            </a:r>
          </a:p>
        </p:txBody>
      </p:sp>
      <p:sp>
        <p:nvSpPr>
          <p:cNvPr id="26" name="step-body-2">
            <a:extLst xmlns:a="http://schemas.openxmlformats.org/drawingml/2006/main">
              <a:ext uri="{FF2B5EF4-FFF2-40B4-BE49-F238E27FC236}">
                <a16:creationId xmlns:a16="http://schemas.microsoft.com/office/drawing/2014/main" id="{401952D4-1A15-4014-BD6E-6515C31572A5}"/>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Working folder (or working directory): the folder Python checks first for relative file paths. Point Spyder to your module folder, not Downloads or an old project.</a:t>
            </a:r>
          </a:p>
        </p:txBody>
      </p:sp>
      <p:sp>
        <p:nvSpPr>
          <p:cNvPr id="27" name="step-node-3">
            <a:extLst xmlns:a="http://schemas.openxmlformats.org/drawingml/2006/main">
              <a:ext uri="{FF2B5EF4-FFF2-40B4-BE49-F238E27FC236}">
                <a16:creationId xmlns:a16="http://schemas.microsoft.com/office/drawing/2014/main" id="{C97D8D1C-2B63-4123-9437-89CE4698792D}"/>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CE3C90F7-3838-473B-9C6A-1446ABB1BE11}"/>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0FFEEF59-4E6E-4991-81A1-903C36C4AE6A}"/>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CHECK</a:t>
            </a:r>
          </a:p>
        </p:txBody>
      </p:sp>
      <p:sp>
        <p:nvSpPr>
          <p:cNvPr id="30" name="">
            <a:extLst xmlns:a="http://schemas.openxmlformats.org/drawingml/2006/main">
              <a:ext uri="{FF2B5EF4-FFF2-40B4-BE49-F238E27FC236}">
                <a16:creationId xmlns:a16="http://schemas.microsoft.com/office/drawing/2014/main" id="{A7E92668-AB7E-4061-973D-F66A4DB74942}"/>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93DA58D3-8126-4F76-81E3-4AAE849C81E8}"/>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Confirm with Path.cwd()</a:t>
            </a:r>
          </a:p>
        </p:txBody>
      </p:sp>
      <p:sp>
        <p:nvSpPr>
          <p:cNvPr id="32" name="step-body-3">
            <a:extLst xmlns:a="http://schemas.openxmlformats.org/drawingml/2006/main">
              <a:ext uri="{FF2B5EF4-FFF2-40B4-BE49-F238E27FC236}">
                <a16:creationId xmlns:a16="http://schemas.microsoft.com/office/drawing/2014/main" id="{F80D82FD-561F-404F-B8BC-C9BB21B96C17}"/>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Print the current path and verify that required files exist.</a:t>
            </a:r>
          </a:p>
        </p:txBody>
      </p:sp>
    </p:spTree>
    <p:extLst>
      <p:ext uri="{BB962C8B-B14F-4D97-AF65-F5344CB8AC3E}">
        <p14:creationId xmlns:p14="http://schemas.microsoft.com/office/powerpoint/2010/main" val="8067255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FB90551-439E-47CA-B679-307D75FF23F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485AC0F6-914B-42FA-AAFE-CD8FE43F90F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working directory is where relative paths start</a:t>
            </a:r>
          </a:p>
        </p:txBody>
      </p:sp>
      <p:sp>
        <p:nvSpPr>
          <p:cNvPr id="3" name="">
            <a:extLst xmlns:a="http://schemas.openxmlformats.org/drawingml/2006/main">
              <a:ext uri="{FF2B5EF4-FFF2-40B4-BE49-F238E27FC236}">
                <a16:creationId xmlns:a16="http://schemas.microsoft.com/office/drawing/2014/main" id="{C9106003-CE50-47A5-9A62-6678D98AD9F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B2120C5-5850-4AD9-B134-541E42EEDAE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2FA351DB-7E0A-4BAC-B43A-15C49D939D6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term-label">
            <a:extLst xmlns:a="http://schemas.openxmlformats.org/drawingml/2006/main">
              <a:ext uri="{FF2B5EF4-FFF2-40B4-BE49-F238E27FC236}">
                <a16:creationId xmlns:a16="http://schemas.microsoft.com/office/drawing/2014/main" id="{1A17CE81-B0C0-4B34-AC5C-F18AEFF86227}"/>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AA51F100-7178-4353-9676-18EE566903B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working directory</a:t>
            </a:r>
          </a:p>
        </p:txBody>
      </p:sp>
      <p:sp>
        <p:nvSpPr>
          <p:cNvPr id="8" name="">
            <a:extLst xmlns:a="http://schemas.openxmlformats.org/drawingml/2006/main">
              <a:ext uri="{FF2B5EF4-FFF2-40B4-BE49-F238E27FC236}">
                <a16:creationId xmlns:a16="http://schemas.microsoft.com/office/drawing/2014/main" id="{99F66411-D04D-4307-9FEC-97155EEAE891}"/>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DEC534CD-C654-4DAC-8D4A-14E2FCCFC0CA}"/>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folder Python treats as “here” while your code runs. A relative path such as 'rooms.csv' is looked for inside it. Spyder shows the current one in the toolbar and in the Files pane — and it is not automatically the folder your .py file was saved in.</a:t>
            </a:r>
          </a:p>
        </p:txBody>
      </p:sp>
      <p:sp>
        <p:nvSpPr>
          <p:cNvPr id="10" name="example-panel">
            <a:extLst xmlns:a="http://schemas.openxmlformats.org/drawingml/2006/main">
              <a:ext uri="{FF2B5EF4-FFF2-40B4-BE49-F238E27FC236}">
                <a16:creationId xmlns:a16="http://schemas.microsoft.com/office/drawing/2014/main" id="{E3C240B2-716B-42F2-B7D3-AE93070A367F}"/>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A36C44F2-92D9-44A3-BBFF-A5B89E2CB903}"/>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CHECK IT, DO NOT ASSUME</a:t>
            </a:r>
          </a:p>
        </p:txBody>
      </p:sp>
      <p:sp>
        <p:nvSpPr>
          <p:cNvPr id="12" name="example-head">
            <a:extLst xmlns:a="http://schemas.openxmlformats.org/drawingml/2006/main">
              <a:ext uri="{FF2B5EF4-FFF2-40B4-BE49-F238E27FC236}">
                <a16:creationId xmlns:a16="http://schemas.microsoft.com/office/drawing/2014/main" id="{5B478098-9906-4A06-83B5-FB963A10DEDA}"/>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Path.cwd()</a:t>
            </a:r>
          </a:p>
        </p:txBody>
      </p:sp>
      <p:sp>
        <p:nvSpPr>
          <p:cNvPr id="13" name="example-body">
            <a:extLst xmlns:a="http://schemas.openxmlformats.org/drawingml/2006/main">
              <a:ext uri="{FF2B5EF4-FFF2-40B4-BE49-F238E27FC236}">
                <a16:creationId xmlns:a16="http://schemas.microsoft.com/office/drawing/2014/main" id="{97B6DA69-0705-49AC-B4D8-BDF635808AF1}"/>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Prints the folder Python is actually using. Compare it with where the handout is saved before blaming the code for a file it cannot find.</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box in Spyder's toolbar sets it, and the Files pane then lists that folder's contents.</a:t>
            </a:r>
          </a:p>
        </p:txBody>
      </p:sp>
      <p:sp>
        <p:nvSpPr>
          <p:cNvPr id="14" name="note-bar">
            <a:extLst xmlns:a="http://schemas.openxmlformats.org/drawingml/2006/main">
              <a:ext uri="{FF2B5EF4-FFF2-40B4-BE49-F238E27FC236}">
                <a16:creationId xmlns:a16="http://schemas.microsoft.com/office/drawing/2014/main" id="{93E82148-E48F-40DC-80E2-3B20352F96E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DC6D8B51-79FF-44E0-8FF3-96C95A1955A0}"/>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WHY IT MATTERS</a:t>
            </a:r>
          </a:p>
        </p:txBody>
      </p:sp>
      <p:sp>
        <p:nvSpPr>
          <p:cNvPr id="16" name="note">
            <a:extLst xmlns:a="http://schemas.openxmlformats.org/drawingml/2006/main">
              <a:ext uri="{FF2B5EF4-FFF2-40B4-BE49-F238E27FC236}">
                <a16:creationId xmlns:a16="http://schemas.microsoft.com/office/drawing/2014/main" id="{AE8FFAF7-A04B-4F3F-9F16-0612C1CD8DA7}"/>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An absolute path typed from your own laptop breaks on someone else's. Set the working directory, then keep paths short and relative.</a:t>
            </a:r>
          </a:p>
        </p:txBody>
      </p:sp>
    </p:spTree>
    <p:extLst>
      <p:ext uri="{BB962C8B-B14F-4D97-AF65-F5344CB8AC3E}">
        <p14:creationId xmlns:p14="http://schemas.microsoft.com/office/powerpoint/2010/main" val="23474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2987FCC-BF51-425C-929D-17D9274F7E2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4FFE44F5-6B4D-42EF-89D3-9EF1D69C106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import brings in code someone else already wrote</a:t>
            </a:r>
          </a:p>
        </p:txBody>
      </p:sp>
      <p:sp>
        <p:nvSpPr>
          <p:cNvPr id="3" name="">
            <a:extLst xmlns:a="http://schemas.openxmlformats.org/drawingml/2006/main">
              <a:ext uri="{FF2B5EF4-FFF2-40B4-BE49-F238E27FC236}">
                <a16:creationId xmlns:a16="http://schemas.microsoft.com/office/drawing/2014/main" id="{911D7DC6-E10C-42EE-8452-D12A167CF78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AD3E79C-C41D-4AD9-9DE8-F521768B59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A12874AA-B260-4AC7-AE33-0E341B49182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term-label">
            <a:extLst xmlns:a="http://schemas.openxmlformats.org/drawingml/2006/main">
              <a:ext uri="{FF2B5EF4-FFF2-40B4-BE49-F238E27FC236}">
                <a16:creationId xmlns:a16="http://schemas.microsoft.com/office/drawing/2014/main" id="{A74456E6-D344-4C9E-BC29-8EE5165F309A}"/>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137ACC70-7CBC-4800-AE00-C91561CE9E78}"/>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import</a:t>
            </a:r>
          </a:p>
        </p:txBody>
      </p:sp>
      <p:sp>
        <p:nvSpPr>
          <p:cNvPr id="8" name="">
            <a:extLst xmlns:a="http://schemas.openxmlformats.org/drawingml/2006/main">
              <a:ext uri="{FF2B5EF4-FFF2-40B4-BE49-F238E27FC236}">
                <a16:creationId xmlns:a16="http://schemas.microsoft.com/office/drawing/2014/main" id="{5A6F6D30-06D7-4625-BC69-EF47EC8A942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4972A5CC-3067-49BE-A76F-912BBB14C109}"/>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module is a file of pre-written Python code with a name, such as sys or pathlib. A library such as NumPy or pandas is a published collection of modules. import loads a module into the kernel so its tools become available by name.</a:t>
            </a:r>
          </a:p>
        </p:txBody>
      </p:sp>
      <p:sp>
        <p:nvSpPr>
          <p:cNvPr id="10" name="example-panel">
            <a:extLst xmlns:a="http://schemas.openxmlformats.org/drawingml/2006/main">
              <a:ext uri="{FF2B5EF4-FFF2-40B4-BE49-F238E27FC236}">
                <a16:creationId xmlns:a16="http://schemas.microsoft.com/office/drawing/2014/main" id="{8FE760AE-DA66-4546-8FD8-A33FD35ADF3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AAF89A9B-9C8F-4D6F-BB3A-B8319AD1B49A}"/>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TWO STYLES USED TODAY</a:t>
            </a:r>
          </a:p>
        </p:txBody>
      </p:sp>
      <p:sp>
        <p:nvSpPr>
          <p:cNvPr id="12" name="example-head">
            <a:extLst xmlns:a="http://schemas.openxmlformats.org/drawingml/2006/main">
              <a:ext uri="{FF2B5EF4-FFF2-40B4-BE49-F238E27FC236}">
                <a16:creationId xmlns:a16="http://schemas.microsoft.com/office/drawing/2014/main" id="{DDA3A132-DF94-4CD1-8CC7-BB86E403AB75}"/>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import sys</a:t>
            </a:r>
          </a:p>
        </p:txBody>
      </p:sp>
      <p:sp>
        <p:nvSpPr>
          <p:cNvPr id="13" name="example-body">
            <a:extLst xmlns:a="http://schemas.openxmlformats.org/drawingml/2006/main">
              <a:ext uri="{FF2B5EF4-FFF2-40B4-BE49-F238E27FC236}">
                <a16:creationId xmlns:a16="http://schemas.microsoft.com/office/drawing/2014/main" id="{B81E44F6-C320-4C59-91B9-A819D303ADB1}"/>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Loads the whole module. Call its tools through the module name: sys.version.</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from pathlib import Path takes one tool out of its module, so you call Path.cwd() directly — no module name in front.</a:t>
            </a:r>
          </a:p>
        </p:txBody>
      </p:sp>
      <p:sp>
        <p:nvSpPr>
          <p:cNvPr id="14" name="note-bar">
            <a:extLst xmlns:a="http://schemas.openxmlformats.org/drawingml/2006/main">
              <a:ext uri="{FF2B5EF4-FFF2-40B4-BE49-F238E27FC236}">
                <a16:creationId xmlns:a16="http://schemas.microsoft.com/office/drawing/2014/main" id="{2C7C5326-E38B-42FA-AB86-BD8953FA735C}"/>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82A07EAE-A881-4CD2-94A3-8539A94F8CB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58C6617-912B-43D1-9DF5-D701B386B625}"/>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import does not download anything. The module must already be installed in the environment, which is what the check cell proved.</a:t>
            </a:r>
          </a:p>
        </p:txBody>
      </p:sp>
    </p:spTree>
    <p:extLst>
      <p:ext uri="{BB962C8B-B14F-4D97-AF65-F5344CB8AC3E}">
        <p14:creationId xmlns:p14="http://schemas.microsoft.com/office/powerpoint/2010/main" val="6704141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E631E044-D6E4-488F-B155-25EB303DD6B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D95DA5D4-F3BA-4D71-898C-DAE77F6AD99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an import line from left to right</a:t>
            </a:r>
          </a:p>
        </p:txBody>
      </p:sp>
      <p:sp>
        <p:nvSpPr>
          <p:cNvPr id="3" name="">
            <a:extLst xmlns:a="http://schemas.openxmlformats.org/drawingml/2006/main">
              <a:ext uri="{FF2B5EF4-FFF2-40B4-BE49-F238E27FC236}">
                <a16:creationId xmlns:a16="http://schemas.microsoft.com/office/drawing/2014/main" id="{A19282FC-0434-4761-B3CA-C1743F8CD0F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256726B-324B-45E1-B79B-E9D0F6A1D8D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BFDDF414-82A1-41DB-8D1A-602E3B0FB5E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anatomy-code-panel">
            <a:extLst xmlns:a="http://schemas.openxmlformats.org/drawingml/2006/main">
              <a:ext uri="{FF2B5EF4-FFF2-40B4-BE49-F238E27FC236}">
                <a16:creationId xmlns:a16="http://schemas.microsoft.com/office/drawing/2014/main" id="{99AEE85D-D543-41D3-8BE7-3074FCB04795}"/>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4DA09A0E-F177-4EDC-A16A-ED8BF022E529}"/>
              </a:ext>
            </a:extLst>
          </p:cNvPr>
          <p:cNvSpPr>
            <a:spLocks xmlns:a="http://schemas.openxmlformats.org/drawingml/2006/main" noGrp="1"/>
          </p:cNvSpPr>
          <p:nvPr/>
        </p:nvSpPr>
        <p:spPr>
          <a:xfrm xmlns:a="http://schemas.openxmlformats.org/drawingml/2006/main">
            <a:off x="3581400" y="2057400"/>
            <a:ext cx="5410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from pathlib import Path</a:t>
            </a:r>
          </a:p>
        </p:txBody>
      </p:sp>
      <p:sp>
        <p:nvSpPr>
          <p:cNvPr id="8" name="">
            <a:extLst xmlns:a="http://schemas.openxmlformats.org/drawingml/2006/main">
              <a:ext uri="{FF2B5EF4-FFF2-40B4-BE49-F238E27FC236}">
                <a16:creationId xmlns:a16="http://schemas.microsoft.com/office/drawing/2014/main" id="{CA40565A-0E1C-4311-901F-BC12DBFF2541}"/>
              </a:ext>
            </a:extLst>
          </p:cNvPr>
          <p:cNvSpPr>
            <a:spLocks xmlns:a="http://schemas.openxmlformats.org/drawingml/2006/main" noGrp="1"/>
          </p:cNvSpPr>
          <p:nvPr/>
        </p:nvSpPr>
        <p:spPr>
          <a:xfrm xmlns:a="http://schemas.openxmlformats.org/drawingml/2006/main">
            <a:off x="3581400" y="2647950"/>
            <a:ext cx="8382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3A3B44FF-F61A-47F5-82B1-C63F205C4F81}"/>
              </a:ext>
            </a:extLst>
          </p:cNvPr>
          <p:cNvSpPr>
            <a:spLocks xmlns:a="http://schemas.openxmlformats.org/drawingml/2006/main" noGrp="1"/>
          </p:cNvSpPr>
          <p:nvPr/>
        </p:nvSpPr>
        <p:spPr>
          <a:xfrm xmlns:a="http://schemas.openxmlformats.org/drawingml/2006/main">
            <a:off x="38766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3B90348B-7174-4559-B635-2D395A803E67}"/>
              </a:ext>
            </a:extLst>
          </p:cNvPr>
          <p:cNvSpPr>
            <a:spLocks xmlns:a="http://schemas.openxmlformats.org/drawingml/2006/main" noGrp="1"/>
          </p:cNvSpPr>
          <p:nvPr/>
        </p:nvSpPr>
        <p:spPr>
          <a:xfrm xmlns:a="http://schemas.openxmlformats.org/drawingml/2006/main">
            <a:off x="38766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D2A73E5F-4642-4318-84BA-871FF16C0934}"/>
              </a:ext>
            </a:extLst>
          </p:cNvPr>
          <p:cNvSpPr>
            <a:spLocks xmlns:a="http://schemas.openxmlformats.org/drawingml/2006/main" noGrp="1"/>
          </p:cNvSpPr>
          <p:nvPr/>
        </p:nvSpPr>
        <p:spPr>
          <a:xfrm xmlns:a="http://schemas.openxmlformats.org/drawingml/2006/main">
            <a:off x="30003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D534B81C-0148-4FBB-ACB2-5FD6235DF678}"/>
              </a:ext>
            </a:extLst>
          </p:cNvPr>
          <p:cNvSpPr>
            <a:spLocks xmlns:a="http://schemas.openxmlformats.org/drawingml/2006/main" noGrp="1"/>
          </p:cNvSpPr>
          <p:nvPr/>
        </p:nvSpPr>
        <p:spPr>
          <a:xfrm xmlns:a="http://schemas.openxmlformats.org/drawingml/2006/main">
            <a:off x="30003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9271A0F6-B21D-4833-8637-3EB90141BAE3}"/>
              </a:ext>
            </a:extLst>
          </p:cNvPr>
          <p:cNvSpPr>
            <a:spLocks xmlns:a="http://schemas.openxmlformats.org/drawingml/2006/main" noGrp="1"/>
          </p:cNvSpPr>
          <p:nvPr/>
        </p:nvSpPr>
        <p:spPr>
          <a:xfrm xmlns:a="http://schemas.openxmlformats.org/drawingml/2006/main">
            <a:off x="330517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Where it lives</a:t>
            </a:r>
          </a:p>
        </p:txBody>
      </p:sp>
      <p:sp>
        <p:nvSpPr>
          <p:cNvPr id="14" name="part-body-0">
            <a:extLst xmlns:a="http://schemas.openxmlformats.org/drawingml/2006/main">
              <a:ext uri="{FF2B5EF4-FFF2-40B4-BE49-F238E27FC236}">
                <a16:creationId xmlns:a16="http://schemas.microsoft.com/office/drawing/2014/main" id="{4C632DC3-9131-4982-9241-C8D2F7F97C0C}"/>
              </a:ext>
            </a:extLst>
          </p:cNvPr>
          <p:cNvSpPr>
            <a:spLocks xmlns:a="http://schemas.openxmlformats.org/drawingml/2006/main" noGrp="1"/>
          </p:cNvSpPr>
          <p:nvPr/>
        </p:nvSpPr>
        <p:spPr>
          <a:xfrm xmlns:a="http://schemas.openxmlformats.org/drawingml/2006/main">
            <a:off x="3000375"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Names the module you are reaching into for one tool.</a:t>
            </a:r>
          </a:p>
        </p:txBody>
      </p:sp>
      <p:sp>
        <p:nvSpPr>
          <p:cNvPr id="15" name="">
            <a:extLst xmlns:a="http://schemas.openxmlformats.org/drawingml/2006/main">
              <a:ext uri="{FF2B5EF4-FFF2-40B4-BE49-F238E27FC236}">
                <a16:creationId xmlns:a16="http://schemas.microsoft.com/office/drawing/2014/main" id="{CDAEF9C9-E300-4024-A37B-12729F344160}"/>
              </a:ext>
            </a:extLst>
          </p:cNvPr>
          <p:cNvSpPr>
            <a:spLocks xmlns:a="http://schemas.openxmlformats.org/drawingml/2006/main" noGrp="1"/>
          </p:cNvSpPr>
          <p:nvPr/>
        </p:nvSpPr>
        <p:spPr>
          <a:xfrm xmlns:a="http://schemas.openxmlformats.org/drawingml/2006/main">
            <a:off x="4629150"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BF835777-3B36-4DDE-8BDF-C15D26D59B66}"/>
              </a:ext>
            </a:extLst>
          </p:cNvPr>
          <p:cNvSpPr>
            <a:spLocks xmlns:a="http://schemas.openxmlformats.org/drawingml/2006/main" noGrp="1"/>
          </p:cNvSpPr>
          <p:nvPr/>
        </p:nvSpPr>
        <p:spPr>
          <a:xfrm xmlns:a="http://schemas.openxmlformats.org/drawingml/2006/main">
            <a:off x="52387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AB325121-7878-43FE-9AF9-76EFC9430C93}"/>
              </a:ext>
            </a:extLst>
          </p:cNvPr>
          <p:cNvSpPr>
            <a:spLocks xmlns:a="http://schemas.openxmlformats.org/drawingml/2006/main" noGrp="1"/>
          </p:cNvSpPr>
          <p:nvPr/>
        </p:nvSpPr>
        <p:spPr>
          <a:xfrm xmlns:a="http://schemas.openxmlformats.org/drawingml/2006/main">
            <a:off x="52387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35D69E9A-6F99-45CC-AAB1-0E8F4BFF2D1D}"/>
              </a:ext>
            </a:extLst>
          </p:cNvPr>
          <p:cNvSpPr>
            <a:spLocks xmlns:a="http://schemas.openxmlformats.org/drawingml/2006/main" noGrp="1"/>
          </p:cNvSpPr>
          <p:nvPr/>
        </p:nvSpPr>
        <p:spPr>
          <a:xfrm xmlns:a="http://schemas.openxmlformats.org/drawingml/2006/main">
            <a:off x="436245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30C006E9-E09A-41A2-AD98-C14655D4EF04}"/>
              </a:ext>
            </a:extLst>
          </p:cNvPr>
          <p:cNvSpPr>
            <a:spLocks xmlns:a="http://schemas.openxmlformats.org/drawingml/2006/main" noGrp="1"/>
          </p:cNvSpPr>
          <p:nvPr/>
        </p:nvSpPr>
        <p:spPr>
          <a:xfrm xmlns:a="http://schemas.openxmlformats.org/drawingml/2006/main">
            <a:off x="436245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36BB9E07-D5DE-4358-8BAE-7092D58AADB5}"/>
              </a:ext>
            </a:extLst>
          </p:cNvPr>
          <p:cNvSpPr>
            <a:spLocks xmlns:a="http://schemas.openxmlformats.org/drawingml/2006/main" noGrp="1"/>
          </p:cNvSpPr>
          <p:nvPr/>
        </p:nvSpPr>
        <p:spPr>
          <a:xfrm xmlns:a="http://schemas.openxmlformats.org/drawingml/2006/main">
            <a:off x="4667250" y="4123944"/>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module</a:t>
            </a:r>
          </a:p>
        </p:txBody>
      </p:sp>
      <p:sp>
        <p:nvSpPr>
          <p:cNvPr id="21" name="part-body-1">
            <a:extLst xmlns:a="http://schemas.openxmlformats.org/drawingml/2006/main">
              <a:ext uri="{FF2B5EF4-FFF2-40B4-BE49-F238E27FC236}">
                <a16:creationId xmlns:a16="http://schemas.microsoft.com/office/drawing/2014/main" id="{9AD5BBCB-03C3-4EE7-9B51-25CB43C1115B}"/>
              </a:ext>
            </a:extLst>
          </p:cNvPr>
          <p:cNvSpPr>
            <a:spLocks xmlns:a="http://schemas.openxmlformats.org/drawingml/2006/main" noGrp="1"/>
          </p:cNvSpPr>
          <p:nvPr/>
        </p:nvSpPr>
        <p:spPr>
          <a:xfrm xmlns:a="http://schemas.openxmlformats.org/drawingml/2006/main">
            <a:off x="4362450" y="4504182"/>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A standard-library module for working with file paths.</a:t>
            </a:r>
          </a:p>
        </p:txBody>
      </p:sp>
      <p:sp>
        <p:nvSpPr>
          <p:cNvPr id="22" name="">
            <a:extLst xmlns:a="http://schemas.openxmlformats.org/drawingml/2006/main">
              <a:ext uri="{FF2B5EF4-FFF2-40B4-BE49-F238E27FC236}">
                <a16:creationId xmlns:a16="http://schemas.microsoft.com/office/drawing/2014/main" id="{A600F960-35F9-4974-B4B9-EA5AD7B8F25D}"/>
              </a:ext>
            </a:extLst>
          </p:cNvPr>
          <p:cNvSpPr>
            <a:spLocks xmlns:a="http://schemas.openxmlformats.org/drawingml/2006/main" noGrp="1"/>
          </p:cNvSpPr>
          <p:nvPr/>
        </p:nvSpPr>
        <p:spPr>
          <a:xfrm xmlns:a="http://schemas.openxmlformats.org/drawingml/2006/main">
            <a:off x="6305550" y="2647950"/>
            <a:ext cx="1257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A00A4019-EBA4-4CF4-A969-78B16475527B}"/>
              </a:ext>
            </a:extLst>
          </p:cNvPr>
          <p:cNvSpPr>
            <a:spLocks xmlns:a="http://schemas.openxmlformats.org/drawingml/2006/main" noGrp="1"/>
          </p:cNvSpPr>
          <p:nvPr/>
        </p:nvSpPr>
        <p:spPr>
          <a:xfrm xmlns:a="http://schemas.openxmlformats.org/drawingml/2006/main">
            <a:off x="68103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1E22B471-F13C-43A3-BFB6-B970CCA491F0}"/>
              </a:ext>
            </a:extLst>
          </p:cNvPr>
          <p:cNvSpPr>
            <a:spLocks xmlns:a="http://schemas.openxmlformats.org/drawingml/2006/main" noGrp="1"/>
          </p:cNvSpPr>
          <p:nvPr/>
        </p:nvSpPr>
        <p:spPr>
          <a:xfrm xmlns:a="http://schemas.openxmlformats.org/drawingml/2006/main">
            <a:off x="68103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C018611C-5852-49B4-AC08-EF391F20C4CE}"/>
              </a:ext>
            </a:extLst>
          </p:cNvPr>
          <p:cNvSpPr>
            <a:spLocks xmlns:a="http://schemas.openxmlformats.org/drawingml/2006/main" noGrp="1"/>
          </p:cNvSpPr>
          <p:nvPr/>
        </p:nvSpPr>
        <p:spPr>
          <a:xfrm xmlns:a="http://schemas.openxmlformats.org/drawingml/2006/main">
            <a:off x="59340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A6FDBEB0-7F97-46E4-9BA8-BF4DA4258D5A}"/>
              </a:ext>
            </a:extLst>
          </p:cNvPr>
          <p:cNvSpPr>
            <a:spLocks xmlns:a="http://schemas.openxmlformats.org/drawingml/2006/main" noGrp="1"/>
          </p:cNvSpPr>
          <p:nvPr/>
        </p:nvSpPr>
        <p:spPr>
          <a:xfrm xmlns:a="http://schemas.openxmlformats.org/drawingml/2006/main">
            <a:off x="59340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07319807-8849-413E-A27F-72E501CB33FA}"/>
              </a:ext>
            </a:extLst>
          </p:cNvPr>
          <p:cNvSpPr>
            <a:spLocks xmlns:a="http://schemas.openxmlformats.org/drawingml/2006/main" noGrp="1"/>
          </p:cNvSpPr>
          <p:nvPr/>
        </p:nvSpPr>
        <p:spPr>
          <a:xfrm xmlns:a="http://schemas.openxmlformats.org/drawingml/2006/main">
            <a:off x="623887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action</a:t>
            </a:r>
          </a:p>
        </p:txBody>
      </p:sp>
      <p:sp>
        <p:nvSpPr>
          <p:cNvPr id="28" name="part-body-2">
            <a:extLst xmlns:a="http://schemas.openxmlformats.org/drawingml/2006/main">
              <a:ext uri="{FF2B5EF4-FFF2-40B4-BE49-F238E27FC236}">
                <a16:creationId xmlns:a16="http://schemas.microsoft.com/office/drawing/2014/main" id="{1E30A462-9FA8-44E5-B98B-FE9A4EEE40DC}"/>
              </a:ext>
            </a:extLst>
          </p:cNvPr>
          <p:cNvSpPr>
            <a:spLocks xmlns:a="http://schemas.openxmlformats.org/drawingml/2006/main" noGrp="1"/>
          </p:cNvSpPr>
          <p:nvPr/>
        </p:nvSpPr>
        <p:spPr>
          <a:xfrm xmlns:a="http://schemas.openxmlformats.org/drawingml/2006/main">
            <a:off x="5934075"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Loads it now, in this kernel, at this line — not before.</a:t>
            </a:r>
          </a:p>
        </p:txBody>
      </p:sp>
      <p:sp>
        <p:nvSpPr>
          <p:cNvPr id="29" name="">
            <a:extLst xmlns:a="http://schemas.openxmlformats.org/drawingml/2006/main">
              <a:ext uri="{FF2B5EF4-FFF2-40B4-BE49-F238E27FC236}">
                <a16:creationId xmlns:a16="http://schemas.microsoft.com/office/drawing/2014/main" id="{C5404880-CB20-46E2-AE15-C5A869BDEF45}"/>
              </a:ext>
            </a:extLst>
          </p:cNvPr>
          <p:cNvSpPr>
            <a:spLocks xmlns:a="http://schemas.openxmlformats.org/drawingml/2006/main" noGrp="1"/>
          </p:cNvSpPr>
          <p:nvPr/>
        </p:nvSpPr>
        <p:spPr>
          <a:xfrm xmlns:a="http://schemas.openxmlformats.org/drawingml/2006/main">
            <a:off x="7772400" y="2647950"/>
            <a:ext cx="8382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A847C8D5-C9F4-4425-A050-51AA5E5E230C}"/>
              </a:ext>
            </a:extLst>
          </p:cNvPr>
          <p:cNvSpPr>
            <a:spLocks xmlns:a="http://schemas.openxmlformats.org/drawingml/2006/main" noGrp="1"/>
          </p:cNvSpPr>
          <p:nvPr/>
        </p:nvSpPr>
        <p:spPr>
          <a:xfrm xmlns:a="http://schemas.openxmlformats.org/drawingml/2006/main">
            <a:off x="80676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E67B39E7-172D-41CC-9DD0-DFB04170E409}"/>
              </a:ext>
            </a:extLst>
          </p:cNvPr>
          <p:cNvSpPr>
            <a:spLocks xmlns:a="http://schemas.openxmlformats.org/drawingml/2006/main" noGrp="1"/>
          </p:cNvSpPr>
          <p:nvPr/>
        </p:nvSpPr>
        <p:spPr>
          <a:xfrm xmlns:a="http://schemas.openxmlformats.org/drawingml/2006/main">
            <a:off x="80676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9F58F6CE-ED92-49D1-97F6-569C849FBB82}"/>
              </a:ext>
            </a:extLst>
          </p:cNvPr>
          <p:cNvSpPr>
            <a:spLocks xmlns:a="http://schemas.openxmlformats.org/drawingml/2006/main" noGrp="1"/>
          </p:cNvSpPr>
          <p:nvPr/>
        </p:nvSpPr>
        <p:spPr>
          <a:xfrm xmlns:a="http://schemas.openxmlformats.org/drawingml/2006/main">
            <a:off x="7191375"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A1F5ABAE-8AAF-43B1-A4F2-0996240D4C23}"/>
              </a:ext>
            </a:extLst>
          </p:cNvPr>
          <p:cNvSpPr>
            <a:spLocks xmlns:a="http://schemas.openxmlformats.org/drawingml/2006/main" noGrp="1"/>
          </p:cNvSpPr>
          <p:nvPr/>
        </p:nvSpPr>
        <p:spPr>
          <a:xfrm xmlns:a="http://schemas.openxmlformats.org/drawingml/2006/main">
            <a:off x="7191375"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5EF6458C-F338-4145-B810-EB2095CF755E}"/>
              </a:ext>
            </a:extLst>
          </p:cNvPr>
          <p:cNvSpPr>
            <a:spLocks xmlns:a="http://schemas.openxmlformats.org/drawingml/2006/main" noGrp="1"/>
          </p:cNvSpPr>
          <p:nvPr/>
        </p:nvSpPr>
        <p:spPr>
          <a:xfrm xmlns:a="http://schemas.openxmlformats.org/drawingml/2006/main">
            <a:off x="7496175" y="4123944"/>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one tool</a:t>
            </a:r>
          </a:p>
        </p:txBody>
      </p:sp>
      <p:sp>
        <p:nvSpPr>
          <p:cNvPr id="35" name="part-body-3">
            <a:extLst xmlns:a="http://schemas.openxmlformats.org/drawingml/2006/main">
              <a:ext uri="{FF2B5EF4-FFF2-40B4-BE49-F238E27FC236}">
                <a16:creationId xmlns:a16="http://schemas.microsoft.com/office/drawing/2014/main" id="{E7A8D635-8F28-43F2-88D6-027ADE3B9227}"/>
              </a:ext>
            </a:extLst>
          </p:cNvPr>
          <p:cNvSpPr>
            <a:spLocks xmlns:a="http://schemas.openxmlformats.org/drawingml/2006/main" noGrp="1"/>
          </p:cNvSpPr>
          <p:nvPr/>
        </p:nvSpPr>
        <p:spPr>
          <a:xfrm xmlns:a="http://schemas.openxmlformats.org/drawingml/2006/main">
            <a:off x="7191375" y="4504182"/>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Only this name arrives; call it with no prefix.</a:t>
            </a:r>
          </a:p>
        </p:txBody>
      </p:sp>
    </p:spTree>
    <p:extLst>
      <p:ext uri="{BB962C8B-B14F-4D97-AF65-F5344CB8AC3E}">
        <p14:creationId xmlns:p14="http://schemas.microsoft.com/office/powerpoint/2010/main" val="3821330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00A82C7C-5901-40CD-9E52-9E237EDAC57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0323D3A-8B91-4083-841D-4F4B551681D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Print the environment before trusting it</a:t>
            </a:r>
          </a:p>
        </p:txBody>
      </p:sp>
      <p:sp>
        <p:nvSpPr>
          <p:cNvPr id="3" name="">
            <a:extLst xmlns:a="http://schemas.openxmlformats.org/drawingml/2006/main">
              <a:ext uri="{FF2B5EF4-FFF2-40B4-BE49-F238E27FC236}">
                <a16:creationId xmlns:a16="http://schemas.microsoft.com/office/drawing/2014/main" id="{60FFE6D7-85ED-42F0-B06C-3C2349CB924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9BCEAA4-A95F-4409-B1C1-5EB0AB75FCA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9DDC0F86-4125-49FE-B567-569E224ABBD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03009043-C358-412D-B7E8-D5CFA59E3DAE}"/>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F02ED44-56B2-4DD9-8F6F-37D8FFA769FD}"/>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from pathlib import Path</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sys</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print('Python:', sys.version.split()[0])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print('Executable:', sys.executable)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print('Working folder:', Path.cwd())</a:t>
            </a:r>
          </a:p>
        </p:txBody>
      </p:sp>
      <p:sp>
        <p:nvSpPr>
          <p:cNvPr id="8" name="explain-head">
            <a:extLst xmlns:a="http://schemas.openxmlformats.org/drawingml/2006/main">
              <a:ext uri="{FF2B5EF4-FFF2-40B4-BE49-F238E27FC236}">
                <a16:creationId xmlns:a16="http://schemas.microsoft.com/office/drawing/2014/main" id="{DE6E17A3-83AE-45C2-9350-53E5216A7E13}"/>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Environment evidence</a:t>
            </a:r>
          </a:p>
        </p:txBody>
      </p:sp>
      <p:sp>
        <p:nvSpPr>
          <p:cNvPr id="9" name="explain-body">
            <a:extLst xmlns:a="http://schemas.openxmlformats.org/drawingml/2006/main">
              <a:ext uri="{FF2B5EF4-FFF2-40B4-BE49-F238E27FC236}">
                <a16:creationId xmlns:a16="http://schemas.microsoft.com/office/drawing/2014/main" id="{91A44DDB-D9A6-4690-AA0E-FB3DE80B8C66}"/>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sys and pathlib are two standard-library modules (previous slides). The executable identifies which Python runs the file; the working folder controls relative file paths. Record both instead of guessing.</a:t>
            </a:r>
          </a:p>
        </p:txBody>
      </p:sp>
    </p:spTree>
    <p:extLst>
      <p:ext uri="{BB962C8B-B14F-4D97-AF65-F5344CB8AC3E}">
        <p14:creationId xmlns:p14="http://schemas.microsoft.com/office/powerpoint/2010/main" val="21364350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A0266726-48DE-42C5-AE7E-CC0734B05D8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6238F4BC-9262-4EA0-A604-9FEF9C952A0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Use cells as a repeatable verification cycle</a:t>
            </a:r>
          </a:p>
        </p:txBody>
      </p:sp>
      <p:sp>
        <p:nvSpPr>
          <p:cNvPr id="3" name="">
            <a:extLst xmlns:a="http://schemas.openxmlformats.org/drawingml/2006/main">
              <a:ext uri="{FF2B5EF4-FFF2-40B4-BE49-F238E27FC236}">
                <a16:creationId xmlns:a16="http://schemas.microsoft.com/office/drawing/2014/main" id="{0996E974-BAB9-4602-BB56-3DD7C07F347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4507706-9CE5-497B-B37F-60F28495AF0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3FB80B9-3491-4EF1-8E3E-CD51116F526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step-arrow-0">
            <a:extLst xmlns:a="http://schemas.openxmlformats.org/drawingml/2006/main">
              <a:ext uri="{FF2B5EF4-FFF2-40B4-BE49-F238E27FC236}">
                <a16:creationId xmlns:a16="http://schemas.microsoft.com/office/drawing/2014/main" id="{97EFC0CA-3FE7-49FF-97B4-1D4CE9D86F8E}"/>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9C619A5E-BC48-4FA4-987A-8C800C78486C}"/>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0B3AB43C-BC6E-4C0C-AFF6-930FF847858C}"/>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45644B19-DDEE-48EA-833A-FB27F518E3C2}"/>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1771C2D0-A5FD-4340-9001-5480DAF8E6E6}"/>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D382BA54-F979-41C7-87DD-EEE35C4EBC34}"/>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a:t>
            </a:r>
          </a:p>
        </p:txBody>
      </p:sp>
      <p:sp>
        <p:nvSpPr>
          <p:cNvPr id="12" name="">
            <a:extLst xmlns:a="http://schemas.openxmlformats.org/drawingml/2006/main">
              <a:ext uri="{FF2B5EF4-FFF2-40B4-BE49-F238E27FC236}">
                <a16:creationId xmlns:a16="http://schemas.microsoft.com/office/drawing/2014/main" id="{E70EC2B9-C4AA-438A-85C7-DCE9D1BE7D5E}"/>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A110BF5E-032A-4A01-B6CE-26979575D272}"/>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 the cell</a:t>
            </a:r>
          </a:p>
        </p:txBody>
      </p:sp>
      <p:sp>
        <p:nvSpPr>
          <p:cNvPr id="14" name="step-body-0">
            <a:extLst xmlns:a="http://schemas.openxmlformats.org/drawingml/2006/main">
              <a:ext uri="{FF2B5EF4-FFF2-40B4-BE49-F238E27FC236}">
                <a16:creationId xmlns:a16="http://schemas.microsoft.com/office/drawing/2014/main" id="{8D41BA76-D209-474B-BD59-CDE6684E6DA7}"/>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Identify inputs, created names, and expected output.</a:t>
            </a:r>
          </a:p>
        </p:txBody>
      </p:sp>
      <p:sp>
        <p:nvSpPr>
          <p:cNvPr id="15" name="step-node-1">
            <a:extLst xmlns:a="http://schemas.openxmlformats.org/drawingml/2006/main">
              <a:ext uri="{FF2B5EF4-FFF2-40B4-BE49-F238E27FC236}">
                <a16:creationId xmlns:a16="http://schemas.microsoft.com/office/drawing/2014/main" id="{66E57A04-45CF-412A-B5DA-57E661BF30C0}"/>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9B439C7A-ECDD-47D3-8147-E98FFD06D97F}"/>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D90373FE-04D4-44D7-AD0C-29B18734D439}"/>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a:t>
            </a:r>
          </a:p>
        </p:txBody>
      </p:sp>
      <p:sp>
        <p:nvSpPr>
          <p:cNvPr id="18" name="">
            <a:extLst xmlns:a="http://schemas.openxmlformats.org/drawingml/2006/main">
              <a:ext uri="{FF2B5EF4-FFF2-40B4-BE49-F238E27FC236}">
                <a16:creationId xmlns:a16="http://schemas.microsoft.com/office/drawing/2014/main" id="{700A4100-532E-4700-B448-D17F4C548B08}"/>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B498A16A-E2AA-4B1F-BB8D-363A739226F6}"/>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Predict first</a:t>
            </a:r>
          </a:p>
        </p:txBody>
      </p:sp>
      <p:sp>
        <p:nvSpPr>
          <p:cNvPr id="20" name="step-body-1">
            <a:extLst xmlns:a="http://schemas.openxmlformats.org/drawingml/2006/main">
              <a:ext uri="{FF2B5EF4-FFF2-40B4-BE49-F238E27FC236}">
                <a16:creationId xmlns:a16="http://schemas.microsoft.com/office/drawing/2014/main" id="{42C7918D-B2E0-49EE-BF9C-AC8992F589CD}"/>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Write the value, type, or error you expect.</a:t>
            </a:r>
          </a:p>
        </p:txBody>
      </p:sp>
      <p:sp>
        <p:nvSpPr>
          <p:cNvPr id="21" name="step-node-2">
            <a:extLst xmlns:a="http://schemas.openxmlformats.org/drawingml/2006/main">
              <a:ext uri="{FF2B5EF4-FFF2-40B4-BE49-F238E27FC236}">
                <a16:creationId xmlns:a16="http://schemas.microsoft.com/office/drawing/2014/main" id="{EF66207E-3C01-4774-8848-8EDBD5D082D6}"/>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926FB39F-1F83-4961-889B-810AE079DD9F}"/>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9BF54454-1851-40F5-BB41-2361C32E5BD7}"/>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RUN</a:t>
            </a:r>
          </a:p>
        </p:txBody>
      </p:sp>
      <p:sp>
        <p:nvSpPr>
          <p:cNvPr id="24" name="">
            <a:extLst xmlns:a="http://schemas.openxmlformats.org/drawingml/2006/main">
              <a:ext uri="{FF2B5EF4-FFF2-40B4-BE49-F238E27FC236}">
                <a16:creationId xmlns:a16="http://schemas.microsoft.com/office/drawing/2014/main" id="{2D253669-C06F-424B-B98E-A7248FE00326}"/>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1D2ED633-32CE-4BB5-AD6C-C7395F662D7B}"/>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Execute the cell</a:t>
            </a:r>
          </a:p>
        </p:txBody>
      </p:sp>
      <p:sp>
        <p:nvSpPr>
          <p:cNvPr id="26" name="step-body-2">
            <a:extLst xmlns:a="http://schemas.openxmlformats.org/drawingml/2006/main">
              <a:ext uri="{FF2B5EF4-FFF2-40B4-BE49-F238E27FC236}">
                <a16:creationId xmlns:a16="http://schemas.microsoft.com/office/drawing/2014/main" id="{685A157A-A532-448F-A7AA-7CA1CCA4E789}"/>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Ctrl+Enter runs the current # %% cell inside the kernel—the running Python process that holds your variables between runs.</a:t>
            </a:r>
          </a:p>
        </p:txBody>
      </p:sp>
      <p:sp>
        <p:nvSpPr>
          <p:cNvPr id="27" name="step-node-3">
            <a:extLst xmlns:a="http://schemas.openxmlformats.org/drawingml/2006/main">
              <a:ext uri="{FF2B5EF4-FFF2-40B4-BE49-F238E27FC236}">
                <a16:creationId xmlns:a16="http://schemas.microsoft.com/office/drawing/2014/main" id="{9F62B48F-29EA-41CE-83F3-B903D5A34715}"/>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4BE4AFEB-6EEB-457D-9635-35CF16981305}"/>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F97671F1-3D11-48B2-8F6C-32B5DC135131}"/>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VERIFY</a:t>
            </a:r>
          </a:p>
        </p:txBody>
      </p:sp>
      <p:sp>
        <p:nvSpPr>
          <p:cNvPr id="30" name="">
            <a:extLst xmlns:a="http://schemas.openxmlformats.org/drawingml/2006/main">
              <a:ext uri="{FF2B5EF4-FFF2-40B4-BE49-F238E27FC236}">
                <a16:creationId xmlns:a16="http://schemas.microsoft.com/office/drawing/2014/main" id="{2BF9F915-BE78-44E9-9EB3-6BF6B7FA9B12}"/>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9F5E056F-27E9-4BDA-A4FE-230AA094C36A}"/>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Inspect evidence</a:t>
            </a:r>
          </a:p>
        </p:txBody>
      </p:sp>
      <p:sp>
        <p:nvSpPr>
          <p:cNvPr id="32" name="step-body-3">
            <a:extLst xmlns:a="http://schemas.openxmlformats.org/drawingml/2006/main">
              <a:ext uri="{FF2B5EF4-FFF2-40B4-BE49-F238E27FC236}">
                <a16:creationId xmlns:a16="http://schemas.microsoft.com/office/drawing/2014/main" id="{EECD2188-2DB4-4880-BBE3-57E90FBBA3E6}"/>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Check console output, Variable Explorer, and any assertions.</a:t>
            </a:r>
          </a:p>
        </p:txBody>
      </p:sp>
    </p:spTree>
    <p:extLst>
      <p:ext uri="{BB962C8B-B14F-4D97-AF65-F5344CB8AC3E}">
        <p14:creationId xmlns:p14="http://schemas.microsoft.com/office/powerpoint/2010/main" val="112634530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448B484A-DE20-4E9B-A4C5-6E96EF5D73F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04386BCA-F341-4CBF-AEBB-08D85700478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Your first saved program creates named evidence</a:t>
            </a:r>
          </a:p>
        </p:txBody>
      </p:sp>
      <p:sp>
        <p:nvSpPr>
          <p:cNvPr id="3" name="">
            <a:extLst xmlns:a="http://schemas.openxmlformats.org/drawingml/2006/main">
              <a:ext uri="{FF2B5EF4-FFF2-40B4-BE49-F238E27FC236}">
                <a16:creationId xmlns:a16="http://schemas.microsoft.com/office/drawing/2014/main" id="{A8D5EF50-0B45-4D15-8067-251C9D13433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44EF0A9-4E26-4E31-97B3-5682F37E1CE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1F6ABE87-44F2-40A8-8D6C-9CE0F507933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code-panel">
            <a:extLst xmlns:a="http://schemas.openxmlformats.org/drawingml/2006/main">
              <a:ext uri="{FF2B5EF4-FFF2-40B4-BE49-F238E27FC236}">
                <a16:creationId xmlns:a16="http://schemas.microsoft.com/office/drawing/2014/main" id="{55A41C17-7E45-4CBF-855A-66212D8A521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02FC05F-13A5-4B07-8A44-A96AF3E2304D}"/>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 room-area checkpoint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room_name = 'Gallery'</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length_m = 8.5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width_m = 5.2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area_m2 = length_m * width_m</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print(room_name)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print(area_m2)</a:t>
            </a:r>
          </a:p>
        </p:txBody>
      </p:sp>
      <p:sp>
        <p:nvSpPr>
          <p:cNvPr id="8" name="">
            <a:extLst xmlns:a="http://schemas.openxmlformats.org/drawingml/2006/main">
              <a:ext uri="{FF2B5EF4-FFF2-40B4-BE49-F238E27FC236}">
                <a16:creationId xmlns:a16="http://schemas.microsoft.com/office/drawing/2014/main" id="{09FB19C8-16A5-4464-B0BB-4E3B58697177}"/>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D4F048DA-0F2C-4EFB-9A5D-6D29B1112BAE}"/>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564A353D-245C-464B-B0A1-2C9FE40F31C2}"/>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Gallery</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44.2</a:t>
            </a:r>
          </a:p>
        </p:txBody>
      </p:sp>
      <p:sp>
        <p:nvSpPr>
          <p:cNvPr id="11" name="explain-head">
            <a:extLst xmlns:a="http://schemas.openxmlformats.org/drawingml/2006/main">
              <a:ext uri="{FF2B5EF4-FFF2-40B4-BE49-F238E27FC236}">
                <a16:creationId xmlns:a16="http://schemas.microsoft.com/office/drawing/2014/main" id="{806132AB-682F-4D79-8328-DA72BF149525}"/>
              </a:ext>
            </a:extLst>
          </p:cNvPr>
          <p:cNvSpPr>
            <a:spLocks xmlns:a="http://schemas.openxmlformats.org/drawingml/2006/main" noGrp="1"/>
          </p:cNvSpPr>
          <p:nvPr/>
        </p:nvSpPr>
        <p:spPr>
          <a:xfrm xmlns:a="http://schemas.openxmlformats.org/drawingml/2006/main">
            <a:off x="7886700" y="28670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Predict, run, inspect</a:t>
            </a:r>
          </a:p>
        </p:txBody>
      </p:sp>
      <p:sp>
        <p:nvSpPr>
          <p:cNvPr id="12" name="explain-body">
            <a:extLst xmlns:a="http://schemas.openxmlformats.org/drawingml/2006/main">
              <a:ext uri="{FF2B5EF4-FFF2-40B4-BE49-F238E27FC236}">
                <a16:creationId xmlns:a16="http://schemas.microsoft.com/office/drawing/2014/main" id="{E30676CD-798A-4303-AD47-669D56B90E09}"/>
              </a:ext>
            </a:extLst>
          </p:cNvPr>
          <p:cNvSpPr>
            <a:spLocks xmlns:a="http://schemas.openxmlformats.org/drawingml/2006/main" noGrp="1"/>
          </p:cNvSpPr>
          <p:nvPr/>
        </p:nvSpPr>
        <p:spPr>
          <a:xfrm xmlns:a="http://schemas.openxmlformats.org/drawingml/2006/main">
            <a:off x="7886700" y="3364611"/>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Before running, state every name and expected value. After running, confirm output and types. Save the file, restart the kernel, and run the cell again.</a:t>
            </a:r>
          </a:p>
        </p:txBody>
      </p:sp>
    </p:spTree>
    <p:extLst>
      <p:ext uri="{BB962C8B-B14F-4D97-AF65-F5344CB8AC3E}">
        <p14:creationId xmlns:p14="http://schemas.microsoft.com/office/powerpoint/2010/main" val="1879333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11C301B8-254C-468D-ADBB-09E877AB947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EASY STUDIO</a:t>
            </a:r>
          </a:p>
        </p:txBody>
      </p:sp>
      <p:sp>
        <p:nvSpPr>
          <p:cNvPr id="2" name="title">
            <a:extLst xmlns:a="http://schemas.openxmlformats.org/drawingml/2006/main">
              <a:ext uri="{FF2B5EF4-FFF2-40B4-BE49-F238E27FC236}">
                <a16:creationId xmlns:a16="http://schemas.microsoft.com/office/drawing/2014/main" id="{A0E369D2-B80D-4F6E-B36C-2F59A77FAF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1: establish a clean project</a:t>
            </a:r>
          </a:p>
        </p:txBody>
      </p:sp>
      <p:sp>
        <p:nvSpPr>
          <p:cNvPr id="3" name="">
            <a:extLst xmlns:a="http://schemas.openxmlformats.org/drawingml/2006/main">
              <a:ext uri="{FF2B5EF4-FFF2-40B4-BE49-F238E27FC236}">
                <a16:creationId xmlns:a16="http://schemas.microsoft.com/office/drawing/2014/main" id="{D1BD858E-5D1D-47AD-B13D-1840B40D162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2C6FEB5-2CF8-4288-91CC-E467673DD2A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502D4217-F647-4B0B-95F2-654E474F652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exercise-accent">
            <a:extLst xmlns:a="http://schemas.openxmlformats.org/drawingml/2006/main">
              <a:ext uri="{FF2B5EF4-FFF2-40B4-BE49-F238E27FC236}">
                <a16:creationId xmlns:a16="http://schemas.microsoft.com/office/drawing/2014/main" id="{FAC78E87-52ED-4D8E-8687-041359EED45C}"/>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AFEAF2BB-6274-43A6-A2BE-4D10288A30EE}"/>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Create a Week 01 module that another student could run without editing paths.</a:t>
            </a:r>
          </a:p>
        </p:txBody>
      </p:sp>
      <p:sp>
        <p:nvSpPr>
          <p:cNvPr id="8" name="work-label">
            <a:extLst xmlns:a="http://schemas.openxmlformats.org/drawingml/2006/main">
              <a:ext uri="{FF2B5EF4-FFF2-40B4-BE49-F238E27FC236}">
                <a16:creationId xmlns:a16="http://schemas.microsoft.com/office/drawing/2014/main" id="{A480F9BE-A805-4BDC-ABF4-5F1516067BF0}"/>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9514AE74-6A16-45A4-A498-4FAC5000B337}"/>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69941B2D-0CA4-41D5-A864-B8E312918749}"/>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Save the student .py file inside the module folder.</a:t>
            </a:r>
          </a:p>
        </p:txBody>
      </p:sp>
      <p:sp>
        <p:nvSpPr>
          <p:cNvPr id="11" name="exercise-no-1">
            <a:extLst xmlns:a="http://schemas.openxmlformats.org/drawingml/2006/main">
              <a:ext uri="{FF2B5EF4-FFF2-40B4-BE49-F238E27FC236}">
                <a16:creationId xmlns:a16="http://schemas.microsoft.com/office/drawing/2014/main" id="{B03CE0DB-EA0B-4BBE-A2FB-E921242E4136}"/>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B96EF2D1-0E1C-452F-B375-6C7DB320FF68}"/>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the environment and working-folder check.</a:t>
            </a:r>
          </a:p>
        </p:txBody>
      </p:sp>
      <p:sp>
        <p:nvSpPr>
          <p:cNvPr id="13" name="exercise-no-2">
            <a:extLst xmlns:a="http://schemas.openxmlformats.org/drawingml/2006/main">
              <a:ext uri="{FF2B5EF4-FFF2-40B4-BE49-F238E27FC236}">
                <a16:creationId xmlns:a16="http://schemas.microsoft.com/office/drawing/2014/main" id="{F67DEF83-D39D-49B5-927A-D42F5F929BE4}"/>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ED7CF42B-12AC-4A7C-AB12-A2D67C7451D0}"/>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Add your name and one architectural interest to the opening output.</a:t>
            </a:r>
          </a:p>
        </p:txBody>
      </p:sp>
      <p:sp>
        <p:nvSpPr>
          <p:cNvPr id="15" name="exercise-no-3">
            <a:extLst xmlns:a="http://schemas.openxmlformats.org/drawingml/2006/main">
              <a:ext uri="{FF2B5EF4-FFF2-40B4-BE49-F238E27FC236}">
                <a16:creationId xmlns:a16="http://schemas.microsoft.com/office/drawing/2014/main" id="{70B0A160-3CCE-4514-B851-71D0485B1075}"/>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C015BB02-96EA-4AFD-B99E-9D5BED5D7A4E}"/>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Restart and run the first two cells again.</a:t>
            </a:r>
          </a:p>
        </p:txBody>
      </p:sp>
    </p:spTree>
    <p:extLst>
      <p:ext uri="{BB962C8B-B14F-4D97-AF65-F5344CB8AC3E}">
        <p14:creationId xmlns:p14="http://schemas.microsoft.com/office/powerpoint/2010/main" val="6356067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A40E7C2E-131F-4320-8E75-ED1DD63A2C3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93C4BD44-6E28-4311-BBCD-5248295FC22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Which value does area_m2 still hold?</a:t>
            </a:r>
          </a:p>
        </p:txBody>
      </p:sp>
      <p:sp>
        <p:nvSpPr>
          <p:cNvPr id="3" name="">
            <a:extLst xmlns:a="http://schemas.openxmlformats.org/drawingml/2006/main">
              <a:ext uri="{FF2B5EF4-FFF2-40B4-BE49-F238E27FC236}">
                <a16:creationId xmlns:a16="http://schemas.microsoft.com/office/drawing/2014/main" id="{86DD47FB-B7D1-4F28-A832-11077EF2C63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032529F-3A68-4D8A-8AD5-0F22AB74D8A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543D1D51-DAB3-42D0-8D93-098FD589570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code-panel">
            <a:extLst xmlns:a="http://schemas.openxmlformats.org/drawingml/2006/main">
              <a:ext uri="{FF2B5EF4-FFF2-40B4-BE49-F238E27FC236}">
                <a16:creationId xmlns:a16="http://schemas.microsoft.com/office/drawing/2014/main" id="{BD7260CD-073C-4286-B863-1050B339D621}"/>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530DA6A-3512-4129-AEFF-3E31D3F5CD18}"/>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length_m = 8.5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5.2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length_m * width_m</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6.0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a:t>
            </a:r>
          </a:p>
        </p:txBody>
      </p:sp>
      <p:sp>
        <p:nvSpPr>
          <p:cNvPr id="8" name="question">
            <a:extLst xmlns:a="http://schemas.openxmlformats.org/drawingml/2006/main">
              <a:ext uri="{FF2B5EF4-FFF2-40B4-BE49-F238E27FC236}">
                <a16:creationId xmlns:a16="http://schemas.microsoft.com/office/drawing/2014/main" id="{8BD17AF7-20E8-480A-B7A0-6C4C56BBB7A6}"/>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does the last line print?</a:t>
            </a:r>
          </a:p>
        </p:txBody>
      </p:sp>
      <p:sp>
        <p:nvSpPr>
          <p:cNvPr id="9" name="opt-0">
            <a:extLst xmlns:a="http://schemas.openxmlformats.org/drawingml/2006/main">
              <a:ext uri="{FF2B5EF4-FFF2-40B4-BE49-F238E27FC236}">
                <a16:creationId xmlns:a16="http://schemas.microsoft.com/office/drawing/2014/main" id="{519FF7F8-85BD-47C1-9C8F-A691D91334F5}"/>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94FF992A-502A-4440-BF2B-52C26DD52141}"/>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C68EB63D-3AAA-4A90-AEAD-3594B37FFC0B}"/>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44.2</a:t>
            </a:r>
          </a:p>
        </p:txBody>
      </p:sp>
      <p:sp>
        <p:nvSpPr>
          <p:cNvPr id="12" name="opt-1">
            <a:extLst xmlns:a="http://schemas.openxmlformats.org/drawingml/2006/main">
              <a:ext uri="{FF2B5EF4-FFF2-40B4-BE49-F238E27FC236}">
                <a16:creationId xmlns:a16="http://schemas.microsoft.com/office/drawing/2014/main" id="{6BF5756F-127E-4043-907C-A323A1FFB24F}"/>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468E336F-77F4-4ABE-964B-D40AA9FCFB79}"/>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A8DFC149-401B-4A52-A34D-9F0A3C19DB30}"/>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51.0</a:t>
            </a:r>
          </a:p>
        </p:txBody>
      </p:sp>
      <p:sp>
        <p:nvSpPr>
          <p:cNvPr id="15" name="opt-2">
            <a:extLst xmlns:a="http://schemas.openxmlformats.org/drawingml/2006/main">
              <a:ext uri="{FF2B5EF4-FFF2-40B4-BE49-F238E27FC236}">
                <a16:creationId xmlns:a16="http://schemas.microsoft.com/office/drawing/2014/main" id="{3C9A14B6-7202-4234-9DBE-C695BF5AAD1D}"/>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E2A2F457-7661-442E-8ABD-5FDDBB6F699A}"/>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30720F60-B12A-4270-A385-F385BE865614}"/>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an error</a:t>
            </a:r>
          </a:p>
        </p:txBody>
      </p:sp>
      <p:sp>
        <p:nvSpPr>
          <p:cNvPr id="18" name="opt-3">
            <a:extLst xmlns:a="http://schemas.openxmlformats.org/drawingml/2006/main">
              <a:ext uri="{FF2B5EF4-FFF2-40B4-BE49-F238E27FC236}">
                <a16:creationId xmlns:a16="http://schemas.microsoft.com/office/drawing/2014/main" id="{1FC77897-6425-4922-8054-9FDCE7D2E29F}"/>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70A711C2-4219-417E-BAF0-A67392914C4C}"/>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A0AA5AFA-8A00-4E13-8050-7025607914FC}"/>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44.2 now, 51.0 after a restart</a:t>
            </a:r>
          </a:p>
        </p:txBody>
      </p:sp>
      <p:sp>
        <p:nvSpPr>
          <p:cNvPr id="21" name="answer-panel">
            <a:extLst xmlns:a="http://schemas.openxmlformats.org/drawingml/2006/main">
              <a:ext uri="{FF2B5EF4-FFF2-40B4-BE49-F238E27FC236}">
                <a16:creationId xmlns:a16="http://schemas.microsoft.com/office/drawing/2014/main" id="{A1703F12-34FC-445C-A26A-9E1070DF26B9}"/>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D2BEA9FE-7391-456C-BAAD-215E78737622}"/>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3" name="why">
            <a:extLst xmlns:a="http://schemas.openxmlformats.org/drawingml/2006/main">
              <a:ext uri="{FF2B5EF4-FFF2-40B4-BE49-F238E27FC236}">
                <a16:creationId xmlns:a16="http://schemas.microsoft.com/office/drawing/2014/main" id="{08F7ADEC-9915-4258-9A76-3302D9E292FA}"/>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51.0 assumes line 3 is a live formula. It stored one value; changing width_m afterwards leaves it alone.</a:t>
            </a:r>
          </a:p>
        </p:txBody>
      </p:sp>
    </p:spTree>
    <p:extLst>
      <p:ext uri="{BB962C8B-B14F-4D97-AF65-F5344CB8AC3E}">
        <p14:creationId xmlns:p14="http://schemas.microsoft.com/office/powerpoint/2010/main" val="155395019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6917934C-138B-4598-90E0-4B5A2B92A37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31DC886-74C3-457C-A12A-42FAF00C56D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Changing one name does not recalculate another</a:t>
            </a:r>
          </a:p>
        </p:txBody>
      </p:sp>
      <p:sp>
        <p:nvSpPr>
          <p:cNvPr id="3" name="">
            <a:extLst xmlns:a="http://schemas.openxmlformats.org/drawingml/2006/main">
              <a:ext uri="{FF2B5EF4-FFF2-40B4-BE49-F238E27FC236}">
                <a16:creationId xmlns:a16="http://schemas.microsoft.com/office/drawing/2014/main" id="{B572B997-E5D3-4F78-8DBE-BBC1A72B867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75E1AA0-962F-441B-8646-09E01FDBB0E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DCC7731D-7993-4B9E-87E3-7DFB97D7F40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code-panel">
            <a:extLst xmlns:a="http://schemas.openxmlformats.org/drawingml/2006/main">
              <a:ext uri="{FF2B5EF4-FFF2-40B4-BE49-F238E27FC236}">
                <a16:creationId xmlns:a16="http://schemas.microsoft.com/office/drawing/2014/main" id="{105AA1CB-C6E7-4DAE-AF47-3E7F59AA12C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179D99AF-6FC4-41E5-BC6A-11710D8F9A40}"/>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length_m = 8.5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5.2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length_m * width_m</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6.0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a:t>
            </a:r>
          </a:p>
        </p:txBody>
      </p:sp>
      <p:sp>
        <p:nvSpPr>
          <p:cNvPr id="8" name="">
            <a:extLst xmlns:a="http://schemas.openxmlformats.org/drawingml/2006/main">
              <a:ext uri="{FF2B5EF4-FFF2-40B4-BE49-F238E27FC236}">
                <a16:creationId xmlns:a16="http://schemas.microsoft.com/office/drawing/2014/main" id="{9FB22696-40A2-4611-82F3-3EE6A2251EE2}"/>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34A0C9CA-FC59-455B-87D3-BFAA972ABAF6}"/>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C9A77B2-A2BB-4D0C-BC2B-C7869333D4CB}"/>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44.2</a:t>
            </a:r>
          </a:p>
        </p:txBody>
      </p:sp>
      <p:sp>
        <p:nvSpPr>
          <p:cNvPr id="11" name="explain-head">
            <a:extLst xmlns:a="http://schemas.openxmlformats.org/drawingml/2006/main">
              <a:ext uri="{FF2B5EF4-FFF2-40B4-BE49-F238E27FC236}">
                <a16:creationId xmlns:a16="http://schemas.microsoft.com/office/drawing/2014/main" id="{1DE39C82-4D39-4B7A-ABFC-05A53086081B}"/>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Execution creates state</a:t>
            </a:r>
          </a:p>
        </p:txBody>
      </p:sp>
      <p:sp>
        <p:nvSpPr>
          <p:cNvPr id="12" name="explain-body">
            <a:extLst xmlns:a="http://schemas.openxmlformats.org/drawingml/2006/main">
              <a:ext uri="{FF2B5EF4-FFF2-40B4-BE49-F238E27FC236}">
                <a16:creationId xmlns:a16="http://schemas.microsoft.com/office/drawing/2014/main" id="{63E0970F-D93B-43B6-8DED-5C7DEE337206}"/>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area_m2 keeps the earlier result. Changing width_m does not automatically rerun the prior assignment. Rerun the calculation cell or structure the script so dependencies execute in order.</a:t>
            </a:r>
          </a:p>
        </p:txBody>
      </p:sp>
    </p:spTree>
    <p:extLst>
      <p:ext uri="{BB962C8B-B14F-4D97-AF65-F5344CB8AC3E}">
        <p14:creationId xmlns:p14="http://schemas.microsoft.com/office/powerpoint/2010/main" val="154543572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807820C1-76E8-454D-8AB3-20F9F8F13BA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MEDIUM STUDIO</a:t>
            </a:r>
          </a:p>
        </p:txBody>
      </p:sp>
      <p:sp>
        <p:nvSpPr>
          <p:cNvPr id="2" name="title">
            <a:extLst xmlns:a="http://schemas.openxmlformats.org/drawingml/2006/main">
              <a:ext uri="{FF2B5EF4-FFF2-40B4-BE49-F238E27FC236}">
                <a16:creationId xmlns:a16="http://schemas.microsoft.com/office/drawing/2014/main" id="{2FE2FA77-38C9-4243-B36C-D5E6671A501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2: trace values through cells</a:t>
            </a:r>
          </a:p>
        </p:txBody>
      </p:sp>
      <p:sp>
        <p:nvSpPr>
          <p:cNvPr id="3" name="">
            <a:extLst xmlns:a="http://schemas.openxmlformats.org/drawingml/2006/main">
              <a:ext uri="{FF2B5EF4-FFF2-40B4-BE49-F238E27FC236}">
                <a16:creationId xmlns:a16="http://schemas.microsoft.com/office/drawing/2014/main" id="{EBA57202-F2E3-411D-B786-7238E141FE9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F47992A-7A18-474B-97B3-4BA8B8085EF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D07BF595-C335-44C1-B747-78F2B68B093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exercise-accent">
            <a:extLst xmlns:a="http://schemas.openxmlformats.org/drawingml/2006/main">
              <a:ext uri="{FF2B5EF4-FFF2-40B4-BE49-F238E27FC236}">
                <a16:creationId xmlns:a16="http://schemas.microsoft.com/office/drawing/2014/main" id="{8F98ABBA-5C1C-494F-AAD0-56FE6113A0D0}"/>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DF4B7930-8601-4F31-8729-FF3263F07266}"/>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Predict every value before running the next cell.</a:t>
            </a:r>
          </a:p>
        </p:txBody>
      </p:sp>
      <p:sp>
        <p:nvSpPr>
          <p:cNvPr id="8" name="work-label">
            <a:extLst xmlns:a="http://schemas.openxmlformats.org/drawingml/2006/main">
              <a:ext uri="{FF2B5EF4-FFF2-40B4-BE49-F238E27FC236}">
                <a16:creationId xmlns:a16="http://schemas.microsoft.com/office/drawing/2014/main" id="{F3EF1974-F699-45BA-B984-A204A676E682}"/>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CF907CB5-CD46-44A7-8F3D-148714429015}"/>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57A7D171-BA56-4EA5-8D12-F4723F4E8891}"/>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Complete the supplied trace table for length, width, and area.</a:t>
            </a:r>
          </a:p>
        </p:txBody>
      </p:sp>
      <p:sp>
        <p:nvSpPr>
          <p:cNvPr id="11" name="exercise-no-1">
            <a:extLst xmlns:a="http://schemas.openxmlformats.org/drawingml/2006/main">
              <a:ext uri="{FF2B5EF4-FFF2-40B4-BE49-F238E27FC236}">
                <a16:creationId xmlns:a16="http://schemas.microsoft.com/office/drawing/2014/main" id="{25508718-EBC0-4E4D-8FD3-852C481E8C53}"/>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BA309B03-980E-4A99-8430-44E59782ABAA}"/>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one cell and compare the Variable Explorer with the table.</a:t>
            </a:r>
          </a:p>
        </p:txBody>
      </p:sp>
      <p:sp>
        <p:nvSpPr>
          <p:cNvPr id="13" name="exercise-no-2">
            <a:extLst xmlns:a="http://schemas.openxmlformats.org/drawingml/2006/main">
              <a:ext uri="{FF2B5EF4-FFF2-40B4-BE49-F238E27FC236}">
                <a16:creationId xmlns:a16="http://schemas.microsoft.com/office/drawing/2014/main" id="{D2A3E135-0D1E-4119-BDBD-C258A8F30ED6}"/>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1166B9B1-81BF-413B-96DF-D17EAC36FD65}"/>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Change width_m without rerunning area; explain the stale result.</a:t>
            </a:r>
          </a:p>
        </p:txBody>
      </p:sp>
      <p:sp>
        <p:nvSpPr>
          <p:cNvPr id="15" name="exercise-no-3">
            <a:extLst xmlns:a="http://schemas.openxmlformats.org/drawingml/2006/main">
              <a:ext uri="{FF2B5EF4-FFF2-40B4-BE49-F238E27FC236}">
                <a16:creationId xmlns:a16="http://schemas.microsoft.com/office/drawing/2014/main" id="{77E43A7E-7CEF-4227-BD08-66AC42276D5E}"/>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5C520C3A-9468-464A-8605-4347D0B9D32A}"/>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Restart and run from the top to restore a coherent state.</a:t>
            </a:r>
          </a:p>
        </p:txBody>
      </p:sp>
    </p:spTree>
    <p:extLst>
      <p:ext uri="{BB962C8B-B14F-4D97-AF65-F5344CB8AC3E}">
        <p14:creationId xmlns:p14="http://schemas.microsoft.com/office/powerpoint/2010/main" val="61441543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50C5A037-D961-4D59-8895-2EEAC0C395F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4F956845-C9B2-43FE-9C31-85FAA951C21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What does a bare word on the right side do?</a:t>
            </a:r>
          </a:p>
        </p:txBody>
      </p:sp>
      <p:sp>
        <p:nvSpPr>
          <p:cNvPr id="3" name="">
            <a:extLst xmlns:a="http://schemas.openxmlformats.org/drawingml/2006/main">
              <a:ext uri="{FF2B5EF4-FFF2-40B4-BE49-F238E27FC236}">
                <a16:creationId xmlns:a16="http://schemas.microsoft.com/office/drawing/2014/main" id="{E654FC51-050B-4F42-8F35-BC0E635BDD5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ED63CFF-D2F8-4024-A585-C8EC92C1F28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F93F37C8-F7A7-4FF2-9CE6-1AC93FED933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code-panel">
            <a:extLst xmlns:a="http://schemas.openxmlformats.org/drawingml/2006/main">
              <a:ext uri="{FF2B5EF4-FFF2-40B4-BE49-F238E27FC236}">
                <a16:creationId xmlns:a16="http://schemas.microsoft.com/office/drawing/2014/main" id="{EDD27F38-0783-49B1-9D6C-A07643D96D28}"/>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B9A28EA-C21D-4B5E-B344-C7FF61924CFD}"/>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 = 'Studio'</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length_m = 10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five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length_m * width_m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a:t>
            </a:r>
          </a:p>
        </p:txBody>
      </p:sp>
      <p:sp>
        <p:nvSpPr>
          <p:cNvPr id="8" name="question">
            <a:extLst xmlns:a="http://schemas.openxmlformats.org/drawingml/2006/main">
              <a:ext uri="{FF2B5EF4-FFF2-40B4-BE49-F238E27FC236}">
                <a16:creationId xmlns:a16="http://schemas.microsoft.com/office/drawing/2014/main" id="{B1D19B84-66CE-4E04-9CF6-63EABA6F8D7A}"/>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happens when line 3 runs?</a:t>
            </a:r>
          </a:p>
        </p:txBody>
      </p:sp>
      <p:sp>
        <p:nvSpPr>
          <p:cNvPr id="9" name="opt-0">
            <a:extLst xmlns:a="http://schemas.openxmlformats.org/drawingml/2006/main">
              <a:ext uri="{FF2B5EF4-FFF2-40B4-BE49-F238E27FC236}">
                <a16:creationId xmlns:a16="http://schemas.microsoft.com/office/drawing/2014/main" id="{365AD7E9-7E4D-4A08-A487-5D646F08432D}"/>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4070D7D0-D0D5-4760-AC42-11E19C2B45C4}"/>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04D89D9C-CB40-425F-9622-70F57272CA9F}"/>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width_m becomes the text 'five'</a:t>
            </a:r>
          </a:p>
        </p:txBody>
      </p:sp>
      <p:sp>
        <p:nvSpPr>
          <p:cNvPr id="12" name="opt-1">
            <a:extLst xmlns:a="http://schemas.openxmlformats.org/drawingml/2006/main">
              <a:ext uri="{FF2B5EF4-FFF2-40B4-BE49-F238E27FC236}">
                <a16:creationId xmlns:a16="http://schemas.microsoft.com/office/drawing/2014/main" id="{FC9E6317-4707-4990-AE89-D22837391931}"/>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5806A555-17B7-4625-9321-A90440B91E4C}"/>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D4F67258-7720-4744-89FA-AD17BF77AF4D}"/>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width_m becomes 5</a:t>
            </a:r>
          </a:p>
        </p:txBody>
      </p:sp>
      <p:sp>
        <p:nvSpPr>
          <p:cNvPr id="15" name="opt-2">
            <a:extLst xmlns:a="http://schemas.openxmlformats.org/drawingml/2006/main">
              <a:ext uri="{FF2B5EF4-FFF2-40B4-BE49-F238E27FC236}">
                <a16:creationId xmlns:a16="http://schemas.microsoft.com/office/drawing/2014/main" id="{029FAB96-82A8-406D-91CF-3ACD359A2EA1}"/>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A0ADB2B7-64DC-4B81-88A7-726957EEB37F}"/>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8765946D-E95C-42BE-9066-2F9C24867FF1}"/>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NameError, and the script stops</a:t>
            </a:r>
          </a:p>
        </p:txBody>
      </p:sp>
      <p:sp>
        <p:nvSpPr>
          <p:cNvPr id="18" name="opt-3">
            <a:extLst xmlns:a="http://schemas.openxmlformats.org/drawingml/2006/main">
              <a:ext uri="{FF2B5EF4-FFF2-40B4-BE49-F238E27FC236}">
                <a16:creationId xmlns:a16="http://schemas.microsoft.com/office/drawing/2014/main" id="{45B556DB-6403-49AE-B5D9-59FCD5E1DC7E}"/>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1BF616B4-8007-40EA-ABC7-D30FB53E78B1}"/>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86F737F4-2561-473C-ABEA-5762B51C5452}"/>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the script runs; print fails instead</a:t>
            </a:r>
          </a:p>
        </p:txBody>
      </p:sp>
      <p:sp>
        <p:nvSpPr>
          <p:cNvPr id="21" name="answer-panel">
            <a:extLst xmlns:a="http://schemas.openxmlformats.org/drawingml/2006/main">
              <a:ext uri="{FF2B5EF4-FFF2-40B4-BE49-F238E27FC236}">
                <a16:creationId xmlns:a16="http://schemas.microsoft.com/office/drawing/2014/main" id="{7BE5D00A-0480-4A79-B7B6-A58547A0684C}"/>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299DF669-B91E-4876-84A4-A075734FBC69}"/>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C42CF141-E2B1-4C16-ACF0-626DFBB67D98}"/>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bare word is a name lookup, not text. Quotes would make it text; five was never assigned, so line 3 stops.</a:t>
            </a:r>
          </a:p>
        </p:txBody>
      </p:sp>
    </p:spTree>
    <p:extLst>
      <p:ext uri="{BB962C8B-B14F-4D97-AF65-F5344CB8AC3E}">
        <p14:creationId xmlns:p14="http://schemas.microsoft.com/office/powerpoint/2010/main" val="203727488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81E72D0B-9456-46AC-8267-BF211384561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ACB3A9E7-7A60-405D-8B07-CAC72E701F7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a traceback from its final line</a:t>
            </a:r>
          </a:p>
        </p:txBody>
      </p:sp>
      <p:sp>
        <p:nvSpPr>
          <p:cNvPr id="3" name="">
            <a:extLst xmlns:a="http://schemas.openxmlformats.org/drawingml/2006/main">
              <a:ext uri="{FF2B5EF4-FFF2-40B4-BE49-F238E27FC236}">
                <a16:creationId xmlns:a16="http://schemas.microsoft.com/office/drawing/2014/main" id="{AE201CA5-F375-44D7-A2FF-FAFDE70062B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F8712EC-DFBD-4EFA-85A4-B8C1F11E19D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522F84F2-CEA7-486A-9A35-9C8E43E2CAA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B7A4C186-2B3E-48CF-A560-42614A522A4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3EBF5BF2-461F-4020-A849-D1E473A05962}"/>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 = 'Studio'</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length_m = 10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five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length_m * width_m</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a:t>
            </a:r>
          </a:p>
        </p:txBody>
      </p:sp>
      <p:sp>
        <p:nvSpPr>
          <p:cNvPr id="8" name="">
            <a:extLst xmlns:a="http://schemas.openxmlformats.org/drawingml/2006/main">
              <a:ext uri="{FF2B5EF4-FFF2-40B4-BE49-F238E27FC236}">
                <a16:creationId xmlns:a16="http://schemas.microsoft.com/office/drawing/2014/main" id="{932FCAED-4DE8-4B6D-B9BB-12289D5EB602}"/>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1C88D493-0893-492C-AFC9-0DCF98F88871}"/>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3FF18444-F06A-4078-9715-CB4AA0C1B46F}"/>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Traceback (most recent call last):</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File "week01b_demo.py", line 3, in &lt;module&gt;</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width_m = five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              ^^^^</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NameError: name 'five' is not defined</a:t>
            </a:r>
          </a:p>
        </p:txBody>
      </p:sp>
      <p:sp>
        <p:nvSpPr>
          <p:cNvPr id="11" name="explain-head">
            <a:extLst xmlns:a="http://schemas.openxmlformats.org/drawingml/2006/main">
              <a:ext uri="{FF2B5EF4-FFF2-40B4-BE49-F238E27FC236}">
                <a16:creationId xmlns:a16="http://schemas.microsoft.com/office/drawing/2014/main" id="{D1279DF8-FB5C-458D-BCE8-7C3A09CD7DAB}"/>
              </a:ext>
            </a:extLst>
          </p:cNvPr>
          <p:cNvSpPr>
            <a:spLocks xmlns:a="http://schemas.openxmlformats.org/drawingml/2006/main" noGrp="1"/>
          </p:cNvSpPr>
          <p:nvPr/>
        </p:nvSpPr>
        <p:spPr>
          <a:xfrm xmlns:a="http://schemas.openxmlformats.org/drawingml/2006/main">
            <a:off x="7886700" y="2628900"/>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NameError is evidence</a:t>
            </a:r>
          </a:p>
        </p:txBody>
      </p:sp>
      <p:sp>
        <p:nvSpPr>
          <p:cNvPr id="12" name="explain-body">
            <a:extLst xmlns:a="http://schemas.openxmlformats.org/drawingml/2006/main">
              <a:ext uri="{FF2B5EF4-FFF2-40B4-BE49-F238E27FC236}">
                <a16:creationId xmlns:a16="http://schemas.microsoft.com/office/drawing/2014/main" id="{B4E35B79-9508-4F73-851C-9C834B671C05}"/>
              </a:ext>
            </a:extLst>
          </p:cNvPr>
          <p:cNvSpPr>
            <a:spLocks xmlns:a="http://schemas.openxmlformats.org/drawingml/2006/main" noGrp="1"/>
          </p:cNvSpPr>
          <p:nvPr/>
        </p:nvSpPr>
        <p:spPr>
          <a:xfrm xmlns:a="http://schemas.openxmlformats.org/drawingml/2006/main">
            <a:off x="7886700" y="3126486"/>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traceback is the block Python prints when it cannot continue; it lists the chain of calls, most specific line last. The carets mark the word that failed. Read the final line, locate the statement, compare intent with syntax, change one thing, and rerun.</a:t>
            </a:r>
          </a:p>
        </p:txBody>
      </p:sp>
    </p:spTree>
    <p:extLst>
      <p:ext uri="{BB962C8B-B14F-4D97-AF65-F5344CB8AC3E}">
        <p14:creationId xmlns:p14="http://schemas.microsoft.com/office/powerpoint/2010/main" val="13136637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717225A2-E10C-4F5B-A88C-ABCE0275537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A7A20D16-5ACB-41F7-A660-02D346D5674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last line of a traceback names the failure</a:t>
            </a:r>
          </a:p>
        </p:txBody>
      </p:sp>
      <p:sp>
        <p:nvSpPr>
          <p:cNvPr id="3" name="">
            <a:extLst xmlns:a="http://schemas.openxmlformats.org/drawingml/2006/main">
              <a:ext uri="{FF2B5EF4-FFF2-40B4-BE49-F238E27FC236}">
                <a16:creationId xmlns:a16="http://schemas.microsoft.com/office/drawing/2014/main" id="{2C982CEF-7BE2-41E0-93EC-B4FFA31DAB9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59B1E6A-9423-4AE2-AF6F-635DD9503B4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7CFA6849-7619-41BD-BC53-347212CC88D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anatomy-code-panel">
            <a:extLst xmlns:a="http://schemas.openxmlformats.org/drawingml/2006/main">
              <a:ext uri="{FF2B5EF4-FFF2-40B4-BE49-F238E27FC236}">
                <a16:creationId xmlns:a16="http://schemas.microsoft.com/office/drawing/2014/main" id="{C9908896-0DBF-4105-80ED-84F1024969C0}"/>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D2AC6EAB-94EE-470D-9F7A-7F7122B9BD89}"/>
              </a:ext>
            </a:extLst>
          </p:cNvPr>
          <p:cNvSpPr>
            <a:spLocks xmlns:a="http://schemas.openxmlformats.org/drawingml/2006/main" noGrp="1"/>
          </p:cNvSpPr>
          <p:nvPr/>
        </p:nvSpPr>
        <p:spPr>
          <a:xfrm xmlns:a="http://schemas.openxmlformats.org/drawingml/2006/main">
            <a:off x="2219325" y="2057400"/>
            <a:ext cx="813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NameError: name 'five' is not defined</a:t>
            </a:r>
          </a:p>
        </p:txBody>
      </p:sp>
      <p:sp>
        <p:nvSpPr>
          <p:cNvPr id="8" name="">
            <a:extLst xmlns:a="http://schemas.openxmlformats.org/drawingml/2006/main">
              <a:ext uri="{FF2B5EF4-FFF2-40B4-BE49-F238E27FC236}">
                <a16:creationId xmlns:a16="http://schemas.microsoft.com/office/drawing/2014/main" id="{15426A51-92A7-402F-A5AD-C4E3CA8E469C}"/>
              </a:ext>
            </a:extLst>
          </p:cNvPr>
          <p:cNvSpPr>
            <a:spLocks xmlns:a="http://schemas.openxmlformats.org/drawingml/2006/main" noGrp="1"/>
          </p:cNvSpPr>
          <p:nvPr/>
        </p:nvSpPr>
        <p:spPr>
          <a:xfrm xmlns:a="http://schemas.openxmlformats.org/drawingml/2006/main">
            <a:off x="2219325" y="2647950"/>
            <a:ext cx="1885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610B7BC7-ED98-405D-8A35-ADCDAC5981E7}"/>
              </a:ext>
            </a:extLst>
          </p:cNvPr>
          <p:cNvSpPr>
            <a:spLocks xmlns:a="http://schemas.openxmlformats.org/drawingml/2006/main" noGrp="1"/>
          </p:cNvSpPr>
          <p:nvPr/>
        </p:nvSpPr>
        <p:spPr>
          <a:xfrm xmlns:a="http://schemas.openxmlformats.org/drawingml/2006/main">
            <a:off x="30384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139BF055-8F72-4BB4-952C-6C1A9ECEA66D}"/>
              </a:ext>
            </a:extLst>
          </p:cNvPr>
          <p:cNvSpPr>
            <a:spLocks xmlns:a="http://schemas.openxmlformats.org/drawingml/2006/main" noGrp="1"/>
          </p:cNvSpPr>
          <p:nvPr/>
        </p:nvSpPr>
        <p:spPr>
          <a:xfrm xmlns:a="http://schemas.openxmlformats.org/drawingml/2006/main">
            <a:off x="30384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1733DB83-A2D5-4B0F-8F22-C3916934E41B}"/>
              </a:ext>
            </a:extLst>
          </p:cNvPr>
          <p:cNvSpPr>
            <a:spLocks xmlns:a="http://schemas.openxmlformats.org/drawingml/2006/main" noGrp="1"/>
          </p:cNvSpPr>
          <p:nvPr/>
        </p:nvSpPr>
        <p:spPr>
          <a:xfrm xmlns:a="http://schemas.openxmlformats.org/drawingml/2006/main">
            <a:off x="21621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80981D45-5550-43D0-A518-2D4F0FF9BDDC}"/>
              </a:ext>
            </a:extLst>
          </p:cNvPr>
          <p:cNvSpPr>
            <a:spLocks xmlns:a="http://schemas.openxmlformats.org/drawingml/2006/main" noGrp="1"/>
          </p:cNvSpPr>
          <p:nvPr/>
        </p:nvSpPr>
        <p:spPr>
          <a:xfrm xmlns:a="http://schemas.openxmlformats.org/drawingml/2006/main">
            <a:off x="21621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0F9997C1-FF27-4654-B6FC-ACA32F484A53}"/>
              </a:ext>
            </a:extLst>
          </p:cNvPr>
          <p:cNvSpPr>
            <a:spLocks xmlns:a="http://schemas.openxmlformats.org/drawingml/2006/main" noGrp="1"/>
          </p:cNvSpPr>
          <p:nvPr/>
        </p:nvSpPr>
        <p:spPr>
          <a:xfrm xmlns:a="http://schemas.openxmlformats.org/drawingml/2006/main">
            <a:off x="246697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error type</a:t>
            </a:r>
          </a:p>
        </p:txBody>
      </p:sp>
      <p:sp>
        <p:nvSpPr>
          <p:cNvPr id="14" name="part-body-0">
            <a:extLst xmlns:a="http://schemas.openxmlformats.org/drawingml/2006/main">
              <a:ext uri="{FF2B5EF4-FFF2-40B4-BE49-F238E27FC236}">
                <a16:creationId xmlns:a16="http://schemas.microsoft.com/office/drawing/2014/main" id="{710AE406-2909-4C92-A49D-06B40D51F17B}"/>
              </a:ext>
            </a:extLst>
          </p:cNvPr>
          <p:cNvSpPr>
            <a:spLocks xmlns:a="http://schemas.openxmlformats.org/drawingml/2006/main" noGrp="1"/>
          </p:cNvSpPr>
          <p:nvPr/>
        </p:nvSpPr>
        <p:spPr>
          <a:xfrm xmlns:a="http://schemas.openxmlformats.org/drawingml/2006/main">
            <a:off x="2162175"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The category of failure. Python names it first.</a:t>
            </a:r>
          </a:p>
        </p:txBody>
      </p:sp>
      <p:sp>
        <p:nvSpPr>
          <p:cNvPr id="15" name="">
            <a:extLst xmlns:a="http://schemas.openxmlformats.org/drawingml/2006/main">
              <a:ext uri="{FF2B5EF4-FFF2-40B4-BE49-F238E27FC236}">
                <a16:creationId xmlns:a16="http://schemas.microsoft.com/office/drawing/2014/main" id="{5E135F3B-3342-4017-AA08-645B0F565996}"/>
              </a:ext>
            </a:extLst>
          </p:cNvPr>
          <p:cNvSpPr>
            <a:spLocks xmlns:a="http://schemas.openxmlformats.org/drawingml/2006/main" noGrp="1"/>
          </p:cNvSpPr>
          <p:nvPr/>
        </p:nvSpPr>
        <p:spPr>
          <a:xfrm xmlns:a="http://schemas.openxmlformats.org/drawingml/2006/main">
            <a:off x="4524375" y="2647950"/>
            <a:ext cx="8382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36FAA156-485F-43F2-9183-435971ABFC3F}"/>
              </a:ext>
            </a:extLst>
          </p:cNvPr>
          <p:cNvSpPr>
            <a:spLocks xmlns:a="http://schemas.openxmlformats.org/drawingml/2006/main" noGrp="1"/>
          </p:cNvSpPr>
          <p:nvPr/>
        </p:nvSpPr>
        <p:spPr>
          <a:xfrm xmlns:a="http://schemas.openxmlformats.org/drawingml/2006/main">
            <a:off x="48196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B4BAB455-72C6-4ECA-8BE0-CA73537724EF}"/>
              </a:ext>
            </a:extLst>
          </p:cNvPr>
          <p:cNvSpPr>
            <a:spLocks xmlns:a="http://schemas.openxmlformats.org/drawingml/2006/main" noGrp="1"/>
          </p:cNvSpPr>
          <p:nvPr/>
        </p:nvSpPr>
        <p:spPr>
          <a:xfrm xmlns:a="http://schemas.openxmlformats.org/drawingml/2006/main">
            <a:off x="48196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8967E51F-A3B3-4192-B7F7-7E18FEFC477A}"/>
              </a:ext>
            </a:extLst>
          </p:cNvPr>
          <p:cNvSpPr>
            <a:spLocks xmlns:a="http://schemas.openxmlformats.org/drawingml/2006/main" noGrp="1"/>
          </p:cNvSpPr>
          <p:nvPr/>
        </p:nvSpPr>
        <p:spPr>
          <a:xfrm xmlns:a="http://schemas.openxmlformats.org/drawingml/2006/main">
            <a:off x="394335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1A063AAA-73D9-40A6-95BD-83598004DB26}"/>
              </a:ext>
            </a:extLst>
          </p:cNvPr>
          <p:cNvSpPr>
            <a:spLocks xmlns:a="http://schemas.openxmlformats.org/drawingml/2006/main" noGrp="1"/>
          </p:cNvSpPr>
          <p:nvPr/>
        </p:nvSpPr>
        <p:spPr>
          <a:xfrm xmlns:a="http://schemas.openxmlformats.org/drawingml/2006/main">
            <a:off x="394335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F02B831A-2429-4E76-9E87-46C1F26979A5}"/>
              </a:ext>
            </a:extLst>
          </p:cNvPr>
          <p:cNvSpPr>
            <a:spLocks xmlns:a="http://schemas.openxmlformats.org/drawingml/2006/main" noGrp="1"/>
          </p:cNvSpPr>
          <p:nvPr/>
        </p:nvSpPr>
        <p:spPr>
          <a:xfrm xmlns:a="http://schemas.openxmlformats.org/drawingml/2006/main">
            <a:off x="4248150" y="4123944"/>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 name lookup</a:t>
            </a:r>
          </a:p>
        </p:txBody>
      </p:sp>
      <p:sp>
        <p:nvSpPr>
          <p:cNvPr id="21" name="part-body-1">
            <a:extLst xmlns:a="http://schemas.openxmlformats.org/drawingml/2006/main">
              <a:ext uri="{FF2B5EF4-FFF2-40B4-BE49-F238E27FC236}">
                <a16:creationId xmlns:a16="http://schemas.microsoft.com/office/drawing/2014/main" id="{E1884146-A8C1-40FB-8B7D-25B905326913}"/>
              </a:ext>
            </a:extLst>
          </p:cNvPr>
          <p:cNvSpPr>
            <a:spLocks xmlns:a="http://schemas.openxmlformats.org/drawingml/2006/main" noGrp="1"/>
          </p:cNvSpPr>
          <p:nvPr/>
        </p:nvSpPr>
        <p:spPr>
          <a:xfrm xmlns:a="http://schemas.openxmlformats.org/drawingml/2006/main">
            <a:off x="3943350" y="4504182"/>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Python was resolving a name, not a file or number.</a:t>
            </a:r>
          </a:p>
        </p:txBody>
      </p:sp>
      <p:sp>
        <p:nvSpPr>
          <p:cNvPr id="22" name="">
            <a:extLst xmlns:a="http://schemas.openxmlformats.org/drawingml/2006/main">
              <a:ext uri="{FF2B5EF4-FFF2-40B4-BE49-F238E27FC236}">
                <a16:creationId xmlns:a16="http://schemas.microsoft.com/office/drawing/2014/main" id="{F97C4A69-DF23-400F-A5DE-C0659F88755B}"/>
              </a:ext>
            </a:extLst>
          </p:cNvPr>
          <p:cNvSpPr>
            <a:spLocks xmlns:a="http://schemas.openxmlformats.org/drawingml/2006/main" noGrp="1"/>
          </p:cNvSpPr>
          <p:nvPr/>
        </p:nvSpPr>
        <p:spPr>
          <a:xfrm xmlns:a="http://schemas.openxmlformats.org/drawingml/2006/main">
            <a:off x="5572125" y="2647950"/>
            <a:ext cx="1257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B04140DD-3C21-4104-A92B-5FF90CD0E2ED}"/>
              </a:ext>
            </a:extLst>
          </p:cNvPr>
          <p:cNvSpPr>
            <a:spLocks xmlns:a="http://schemas.openxmlformats.org/drawingml/2006/main" noGrp="1"/>
          </p:cNvSpPr>
          <p:nvPr/>
        </p:nvSpPr>
        <p:spPr>
          <a:xfrm xmlns:a="http://schemas.openxmlformats.org/drawingml/2006/main">
            <a:off x="60769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AA04D695-4B8F-40AC-BBB4-2AF8689DDC13}"/>
              </a:ext>
            </a:extLst>
          </p:cNvPr>
          <p:cNvSpPr>
            <a:spLocks xmlns:a="http://schemas.openxmlformats.org/drawingml/2006/main" noGrp="1"/>
          </p:cNvSpPr>
          <p:nvPr/>
        </p:nvSpPr>
        <p:spPr>
          <a:xfrm xmlns:a="http://schemas.openxmlformats.org/drawingml/2006/main">
            <a:off x="60769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AE28A763-77CB-4456-A68C-67501C5FC76C}"/>
              </a:ext>
            </a:extLst>
          </p:cNvPr>
          <p:cNvSpPr>
            <a:spLocks xmlns:a="http://schemas.openxmlformats.org/drawingml/2006/main" noGrp="1"/>
          </p:cNvSpPr>
          <p:nvPr/>
        </p:nvSpPr>
        <p:spPr>
          <a:xfrm xmlns:a="http://schemas.openxmlformats.org/drawingml/2006/main">
            <a:off x="52006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FBA2E2BA-78D4-41E5-A986-B31EB772BBF0}"/>
              </a:ext>
            </a:extLst>
          </p:cNvPr>
          <p:cNvSpPr>
            <a:spLocks xmlns:a="http://schemas.openxmlformats.org/drawingml/2006/main" noGrp="1"/>
          </p:cNvSpPr>
          <p:nvPr/>
        </p:nvSpPr>
        <p:spPr>
          <a:xfrm xmlns:a="http://schemas.openxmlformats.org/drawingml/2006/main">
            <a:off x="52006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3986A955-C9DD-4182-9914-CC2B1E70AC82}"/>
              </a:ext>
            </a:extLst>
          </p:cNvPr>
          <p:cNvSpPr>
            <a:spLocks xmlns:a="http://schemas.openxmlformats.org/drawingml/2006/main" noGrp="1"/>
          </p:cNvSpPr>
          <p:nvPr/>
        </p:nvSpPr>
        <p:spPr>
          <a:xfrm xmlns:a="http://schemas.openxmlformats.org/drawingml/2006/main">
            <a:off x="550545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exact name</a:t>
            </a:r>
          </a:p>
        </p:txBody>
      </p:sp>
      <p:sp>
        <p:nvSpPr>
          <p:cNvPr id="28" name="part-body-2">
            <a:extLst xmlns:a="http://schemas.openxmlformats.org/drawingml/2006/main">
              <a:ext uri="{FF2B5EF4-FFF2-40B4-BE49-F238E27FC236}">
                <a16:creationId xmlns:a16="http://schemas.microsoft.com/office/drawing/2014/main" id="{3340260A-6844-4C2C-AA68-5B0380767A65}"/>
              </a:ext>
            </a:extLst>
          </p:cNvPr>
          <p:cNvSpPr>
            <a:spLocks xmlns:a="http://schemas.openxmlformats.org/drawingml/2006/main" noGrp="1"/>
          </p:cNvSpPr>
          <p:nvPr/>
        </p:nvSpPr>
        <p:spPr>
          <a:xfrm xmlns:a="http://schemas.openxmlformats.org/drawingml/2006/main">
            <a:off x="520065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Quoted, so you can copy it into Editor search.</a:t>
            </a:r>
          </a:p>
        </p:txBody>
      </p:sp>
      <p:sp>
        <p:nvSpPr>
          <p:cNvPr id="29" name="">
            <a:extLst xmlns:a="http://schemas.openxmlformats.org/drawingml/2006/main">
              <a:ext uri="{FF2B5EF4-FFF2-40B4-BE49-F238E27FC236}">
                <a16:creationId xmlns:a16="http://schemas.microsoft.com/office/drawing/2014/main" id="{058D975E-4BFD-4695-8FEA-8017DB40C477}"/>
              </a:ext>
            </a:extLst>
          </p:cNvPr>
          <p:cNvSpPr>
            <a:spLocks xmlns:a="http://schemas.openxmlformats.org/drawingml/2006/main" noGrp="1"/>
          </p:cNvSpPr>
          <p:nvPr/>
        </p:nvSpPr>
        <p:spPr>
          <a:xfrm xmlns:a="http://schemas.openxmlformats.org/drawingml/2006/main">
            <a:off x="7038975" y="2647950"/>
            <a:ext cx="29337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6AA70422-CF08-4108-BB61-4754F10D2346}"/>
              </a:ext>
            </a:extLst>
          </p:cNvPr>
          <p:cNvSpPr>
            <a:spLocks xmlns:a="http://schemas.openxmlformats.org/drawingml/2006/main" noGrp="1"/>
          </p:cNvSpPr>
          <p:nvPr/>
        </p:nvSpPr>
        <p:spPr>
          <a:xfrm xmlns:a="http://schemas.openxmlformats.org/drawingml/2006/main">
            <a:off x="83820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72CF86FF-48BB-4627-A28D-84E614B788EB}"/>
              </a:ext>
            </a:extLst>
          </p:cNvPr>
          <p:cNvSpPr>
            <a:spLocks xmlns:a="http://schemas.openxmlformats.org/drawingml/2006/main" noGrp="1"/>
          </p:cNvSpPr>
          <p:nvPr/>
        </p:nvSpPr>
        <p:spPr>
          <a:xfrm xmlns:a="http://schemas.openxmlformats.org/drawingml/2006/main">
            <a:off x="83820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D87C916A-FFD7-4AE8-8C91-9B9A420D58B2}"/>
              </a:ext>
            </a:extLst>
          </p:cNvPr>
          <p:cNvSpPr>
            <a:spLocks xmlns:a="http://schemas.openxmlformats.org/drawingml/2006/main" noGrp="1"/>
          </p:cNvSpPr>
          <p:nvPr/>
        </p:nvSpPr>
        <p:spPr>
          <a:xfrm xmlns:a="http://schemas.openxmlformats.org/drawingml/2006/main">
            <a:off x="75057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6B068CD5-9134-40F0-B5F9-3942A1DE0F09}"/>
              </a:ext>
            </a:extLst>
          </p:cNvPr>
          <p:cNvSpPr>
            <a:spLocks xmlns:a="http://schemas.openxmlformats.org/drawingml/2006/main" noGrp="1"/>
          </p:cNvSpPr>
          <p:nvPr/>
        </p:nvSpPr>
        <p:spPr>
          <a:xfrm xmlns:a="http://schemas.openxmlformats.org/drawingml/2006/main">
            <a:off x="75057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CEAE9444-CF65-45D9-B976-A750388D5CDD}"/>
              </a:ext>
            </a:extLst>
          </p:cNvPr>
          <p:cNvSpPr>
            <a:spLocks xmlns:a="http://schemas.openxmlformats.org/drawingml/2006/main" noGrp="1"/>
          </p:cNvSpPr>
          <p:nvPr/>
        </p:nvSpPr>
        <p:spPr>
          <a:xfrm xmlns:a="http://schemas.openxmlformats.org/drawingml/2006/main">
            <a:off x="781050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Never assigned</a:t>
            </a:r>
          </a:p>
        </p:txBody>
      </p:sp>
      <p:sp>
        <p:nvSpPr>
          <p:cNvPr id="35" name="part-body-3">
            <a:extLst xmlns:a="http://schemas.openxmlformats.org/drawingml/2006/main">
              <a:ext uri="{FF2B5EF4-FFF2-40B4-BE49-F238E27FC236}">
                <a16:creationId xmlns:a16="http://schemas.microsoft.com/office/drawing/2014/main" id="{F463B1EA-E617-4DF8-820F-030DC1A7DB20}"/>
              </a:ext>
            </a:extLst>
          </p:cNvPr>
          <p:cNvSpPr>
            <a:spLocks xmlns:a="http://schemas.openxmlformats.org/drawingml/2006/main" noGrp="1"/>
          </p:cNvSpPr>
          <p:nvPr/>
        </p:nvSpPr>
        <p:spPr>
          <a:xfrm xmlns:a="http://schemas.openxmlformats.org/drawingml/2006/main">
            <a:off x="750570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No line in this kernel ever assigned that name.</a:t>
            </a:r>
          </a:p>
        </p:txBody>
      </p:sp>
    </p:spTree>
    <p:extLst>
      <p:ext uri="{BB962C8B-B14F-4D97-AF65-F5344CB8AC3E}">
        <p14:creationId xmlns:p14="http://schemas.microsoft.com/office/powerpoint/2010/main" val="206923330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14BB3AA-FD1D-4C60-AA5B-3E71254DD90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78C45A74-C0CF-4FF6-B71B-625D387EFA1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Studio 3: repair one defect at a time</a:t>
            </a:r>
          </a:p>
        </p:txBody>
      </p:sp>
      <p:sp>
        <p:nvSpPr>
          <p:cNvPr id="3" name="">
            <a:extLst xmlns:a="http://schemas.openxmlformats.org/drawingml/2006/main">
              <a:ext uri="{FF2B5EF4-FFF2-40B4-BE49-F238E27FC236}">
                <a16:creationId xmlns:a16="http://schemas.microsoft.com/office/drawing/2014/main" id="{CAB341C6-37B8-4055-B86A-E034D7A0A6C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A1715ED-4D82-4E13-9A8A-4D20493DFBB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6283C472-352C-4CAF-9DAB-CF497E085E0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exercise-accent">
            <a:extLst xmlns:a="http://schemas.openxmlformats.org/drawingml/2006/main">
              <a:ext uri="{FF2B5EF4-FFF2-40B4-BE49-F238E27FC236}">
                <a16:creationId xmlns:a16="http://schemas.microsoft.com/office/drawing/2014/main" id="{10D945B9-DDC2-4855-8C86-BF28A6F3E892}"/>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B048C879-82CE-498A-93E4-6FB44EF9B76A}"/>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The handout contains syntax, runtime, and modeling defects.</a:t>
            </a:r>
          </a:p>
        </p:txBody>
      </p:sp>
      <p:sp>
        <p:nvSpPr>
          <p:cNvPr id="8" name="work-label">
            <a:extLst xmlns:a="http://schemas.openxmlformats.org/drawingml/2006/main">
              <a:ext uri="{FF2B5EF4-FFF2-40B4-BE49-F238E27FC236}">
                <a16:creationId xmlns:a16="http://schemas.microsoft.com/office/drawing/2014/main" id="{4E079618-0A08-4288-BA62-AC6D7BE0F595}"/>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FCA057CB-B1B5-45F9-A7E9-63D025ED9D25}"/>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BFBA33DF-5724-4FFC-A538-F23AE1BD7A08}"/>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 the first failure before running.</a:t>
            </a:r>
          </a:p>
        </p:txBody>
      </p:sp>
      <p:sp>
        <p:nvSpPr>
          <p:cNvPr id="11" name="exercise-no-1">
            <a:extLst xmlns:a="http://schemas.openxmlformats.org/drawingml/2006/main">
              <a:ext uri="{FF2B5EF4-FFF2-40B4-BE49-F238E27FC236}">
                <a16:creationId xmlns:a16="http://schemas.microsoft.com/office/drawing/2014/main" id="{98AF6E62-3EE2-4F21-B66A-9F02A0878AEA}"/>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090903C0-2D8C-4303-A34D-5AF77D4FB5A4}"/>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Repair only that defect and rerun.</a:t>
            </a:r>
          </a:p>
        </p:txBody>
      </p:sp>
      <p:sp>
        <p:nvSpPr>
          <p:cNvPr id="13" name="exercise-no-2">
            <a:extLst xmlns:a="http://schemas.openxmlformats.org/drawingml/2006/main">
              <a:ext uri="{FF2B5EF4-FFF2-40B4-BE49-F238E27FC236}">
                <a16:creationId xmlns:a16="http://schemas.microsoft.com/office/drawing/2014/main" id="{93BCD2EB-EB34-4C49-BCA6-BC4F8741BC73}"/>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E151AACE-7438-47D8-936D-F80D16F32537}"/>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Continue until the program executes, then check the arithmetic model.</a:t>
            </a:r>
          </a:p>
        </p:txBody>
      </p:sp>
      <p:sp>
        <p:nvSpPr>
          <p:cNvPr id="15" name="exercise-no-3">
            <a:extLst xmlns:a="http://schemas.openxmlformats.org/drawingml/2006/main">
              <a:ext uri="{FF2B5EF4-FFF2-40B4-BE49-F238E27FC236}">
                <a16:creationId xmlns:a16="http://schemas.microsoft.com/office/drawing/2014/main" id="{13D48DD6-010A-4101-A816-B8D6D5DB7F39}"/>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ACDD16B1-BF56-4869-8CC5-4A51DADFCB14}"/>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Add a comment classifying every repaired defect.</a:t>
            </a:r>
          </a:p>
        </p:txBody>
      </p:sp>
    </p:spTree>
    <p:extLst>
      <p:ext uri="{BB962C8B-B14F-4D97-AF65-F5344CB8AC3E}">
        <p14:creationId xmlns:p14="http://schemas.microsoft.com/office/powerpoint/2010/main" val="68590290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88D21C11-9819-4A3A-8C3D-29EE486625B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54D36D4D-19E2-41EF-8856-B7B246ACEF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Audit AI assistance at the point of use</a:t>
            </a:r>
          </a:p>
        </p:txBody>
      </p:sp>
      <p:sp>
        <p:nvSpPr>
          <p:cNvPr id="3" name="">
            <a:extLst xmlns:a="http://schemas.openxmlformats.org/drawingml/2006/main">
              <a:ext uri="{FF2B5EF4-FFF2-40B4-BE49-F238E27FC236}">
                <a16:creationId xmlns:a16="http://schemas.microsoft.com/office/drawing/2014/main" id="{64950619-6A35-473C-8205-769D430712E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6A218E0-88AF-4122-86D6-E6B7360F841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ECAD9EB6-880F-4023-8CC0-103EC063697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step-arrow-0">
            <a:extLst xmlns:a="http://schemas.openxmlformats.org/drawingml/2006/main">
              <a:ext uri="{FF2B5EF4-FFF2-40B4-BE49-F238E27FC236}">
                <a16:creationId xmlns:a16="http://schemas.microsoft.com/office/drawing/2014/main" id="{B6E072F7-C518-4297-856C-B1981B388FF0}"/>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C273DDC4-9FC4-49A4-83A8-9900A0326DDD}"/>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CD7A08E5-569A-4EAC-A19D-07CD2E5F672D}"/>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BC35375A-BB2C-467F-97E6-B1F7A20572E0}"/>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138657EE-7B0B-487F-B51C-B5FD5C8498A1}"/>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B8D3D9B4-6142-4131-B186-758A265088E2}"/>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PROMPT</a:t>
            </a:r>
          </a:p>
        </p:txBody>
      </p:sp>
      <p:sp>
        <p:nvSpPr>
          <p:cNvPr id="12" name="">
            <a:extLst xmlns:a="http://schemas.openxmlformats.org/drawingml/2006/main">
              <a:ext uri="{FF2B5EF4-FFF2-40B4-BE49-F238E27FC236}">
                <a16:creationId xmlns:a16="http://schemas.microsoft.com/office/drawing/2014/main" id="{4A7C1CEF-BA86-4955-AA78-4BF852E72AAE}"/>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CBBCFC8A-BE73-426F-9EA5-13973A9629AB}"/>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Preserve the request</a:t>
            </a:r>
          </a:p>
        </p:txBody>
      </p:sp>
      <p:sp>
        <p:nvSpPr>
          <p:cNvPr id="14" name="step-body-0">
            <a:extLst xmlns:a="http://schemas.openxmlformats.org/drawingml/2006/main">
              <a:ext uri="{FF2B5EF4-FFF2-40B4-BE49-F238E27FC236}">
                <a16:creationId xmlns:a16="http://schemas.microsoft.com/office/drawing/2014/main" id="{4A728EC4-38E5-473C-8DD9-A0D2577D164F}"/>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Record the question and relevant context.</a:t>
            </a:r>
          </a:p>
        </p:txBody>
      </p:sp>
      <p:sp>
        <p:nvSpPr>
          <p:cNvPr id="15" name="step-node-1">
            <a:extLst xmlns:a="http://schemas.openxmlformats.org/drawingml/2006/main">
              <a:ext uri="{FF2B5EF4-FFF2-40B4-BE49-F238E27FC236}">
                <a16:creationId xmlns:a16="http://schemas.microsoft.com/office/drawing/2014/main" id="{EFB79110-BE4E-4722-B9B8-EE17185FEA26}"/>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FF65A50A-DC51-4400-A007-CA8B1CCB63A3}"/>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04F0000E-7A6C-4327-AD12-DAFC12CD42C5}"/>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COMPARE</a:t>
            </a:r>
          </a:p>
        </p:txBody>
      </p:sp>
      <p:sp>
        <p:nvSpPr>
          <p:cNvPr id="18" name="">
            <a:extLst xmlns:a="http://schemas.openxmlformats.org/drawingml/2006/main">
              <a:ext uri="{FF2B5EF4-FFF2-40B4-BE49-F238E27FC236}">
                <a16:creationId xmlns:a16="http://schemas.microsoft.com/office/drawing/2014/main" id="{593127A9-EE5E-43A1-9B4F-4050E2BB9462}"/>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55C53AE1-2F84-4A64-B29E-79D423F5321F}"/>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Inspect the suggestion</a:t>
            </a:r>
          </a:p>
        </p:txBody>
      </p:sp>
      <p:sp>
        <p:nvSpPr>
          <p:cNvPr id="20" name="step-body-1">
            <a:extLst xmlns:a="http://schemas.openxmlformats.org/drawingml/2006/main">
              <a:ext uri="{FF2B5EF4-FFF2-40B4-BE49-F238E27FC236}">
                <a16:creationId xmlns:a16="http://schemas.microsoft.com/office/drawing/2014/main" id="{FC0E1995-9647-4998-80CE-4B19F8DDEBA5}"/>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Compare every line with course concepts and project assumptions.</a:t>
            </a:r>
          </a:p>
        </p:txBody>
      </p:sp>
      <p:sp>
        <p:nvSpPr>
          <p:cNvPr id="21" name="step-node-2">
            <a:extLst xmlns:a="http://schemas.openxmlformats.org/drawingml/2006/main">
              <a:ext uri="{FF2B5EF4-FFF2-40B4-BE49-F238E27FC236}">
                <a16:creationId xmlns:a16="http://schemas.microsoft.com/office/drawing/2014/main" id="{6DA997DD-1E32-45C1-9B51-ABA25696CA2B}"/>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1BF19E24-924E-4F3A-B269-458690037CE3}"/>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D6CE1E7C-86CF-43B2-81F1-CF1418764DA7}"/>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TEST</a:t>
            </a:r>
          </a:p>
        </p:txBody>
      </p:sp>
      <p:sp>
        <p:nvSpPr>
          <p:cNvPr id="24" name="">
            <a:extLst xmlns:a="http://schemas.openxmlformats.org/drawingml/2006/main">
              <a:ext uri="{FF2B5EF4-FFF2-40B4-BE49-F238E27FC236}">
                <a16:creationId xmlns:a16="http://schemas.microsoft.com/office/drawing/2014/main" id="{1065F9B5-2649-434A-931D-FE7D91AD9623}"/>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23F12EE0-352F-4609-AC39-90906DBA08A2}"/>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Add evidence</a:t>
            </a:r>
          </a:p>
        </p:txBody>
      </p:sp>
      <p:sp>
        <p:nvSpPr>
          <p:cNvPr id="26" name="step-body-2">
            <a:extLst xmlns:a="http://schemas.openxmlformats.org/drawingml/2006/main">
              <a:ext uri="{FF2B5EF4-FFF2-40B4-BE49-F238E27FC236}">
                <a16:creationId xmlns:a16="http://schemas.microsoft.com/office/drawing/2014/main" id="{876F57F2-E1DA-4884-8B59-1C7AFBB35BCE}"/>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predicted, known, and boundary cases.</a:t>
            </a:r>
          </a:p>
        </p:txBody>
      </p:sp>
      <p:sp>
        <p:nvSpPr>
          <p:cNvPr id="27" name="step-node-3">
            <a:extLst xmlns:a="http://schemas.openxmlformats.org/drawingml/2006/main">
              <a:ext uri="{FF2B5EF4-FFF2-40B4-BE49-F238E27FC236}">
                <a16:creationId xmlns:a16="http://schemas.microsoft.com/office/drawing/2014/main" id="{2BEB8793-8A2A-415C-9DD8-179130856A99}"/>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6B1F209E-C763-4241-B805-503789E7BE6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8B503BC9-E0A4-40A9-9ADC-8A2CF981501F}"/>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DECIDE</a:t>
            </a:r>
          </a:p>
        </p:txBody>
      </p:sp>
      <p:sp>
        <p:nvSpPr>
          <p:cNvPr id="30" name="">
            <a:extLst xmlns:a="http://schemas.openxmlformats.org/drawingml/2006/main">
              <a:ext uri="{FF2B5EF4-FFF2-40B4-BE49-F238E27FC236}">
                <a16:creationId xmlns:a16="http://schemas.microsoft.com/office/drawing/2014/main" id="{D35B7EDB-A712-4655-8732-31A3580ED594}"/>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56ABFEDD-2622-4185-87A4-3682D473EB8E}"/>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Accept, modify, or reject</a:t>
            </a:r>
          </a:p>
        </p:txBody>
      </p:sp>
      <p:sp>
        <p:nvSpPr>
          <p:cNvPr id="32" name="step-body-3">
            <a:extLst xmlns:a="http://schemas.openxmlformats.org/drawingml/2006/main">
              <a:ext uri="{FF2B5EF4-FFF2-40B4-BE49-F238E27FC236}">
                <a16:creationId xmlns:a16="http://schemas.microsoft.com/office/drawing/2014/main" id="{CEE03DFB-DBCA-472C-A740-25D9FCAD10C9}"/>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State the reason and preserve the final tested version.</a:t>
            </a:r>
          </a:p>
        </p:txBody>
      </p:sp>
    </p:spTree>
    <p:extLst>
      <p:ext uri="{BB962C8B-B14F-4D97-AF65-F5344CB8AC3E}">
        <p14:creationId xmlns:p14="http://schemas.microsoft.com/office/powerpoint/2010/main" val="168621322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6280C6F-76C3-4321-9BEB-DE499396C80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DB092E8F-356A-4515-80B7-8CC44E154B2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Exit check: prove the workflow is reproducible</a:t>
            </a:r>
          </a:p>
        </p:txBody>
      </p:sp>
      <p:sp>
        <p:nvSpPr>
          <p:cNvPr id="3" name="">
            <a:extLst xmlns:a="http://schemas.openxmlformats.org/drawingml/2006/main">
              <a:ext uri="{FF2B5EF4-FFF2-40B4-BE49-F238E27FC236}">
                <a16:creationId xmlns:a16="http://schemas.microsoft.com/office/drawing/2014/main" id="{46F6CD8F-6B8B-45E1-BD1B-C053190B40D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2CC5568-A652-4CDA-8C30-3EB848B38A9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B · Spyder Setup Studio</a:t>
            </a:r>
          </a:p>
        </p:txBody>
      </p:sp>
      <p:sp>
        <p:nvSpPr>
          <p:cNvPr id="5" name="page">
            <a:extLst xmlns:a="http://schemas.openxmlformats.org/drawingml/2006/main">
              <a:ext uri="{FF2B5EF4-FFF2-40B4-BE49-F238E27FC236}">
                <a16:creationId xmlns:a16="http://schemas.microsoft.com/office/drawing/2014/main" id="{DB73180D-8A83-4830-B457-0000AB5009F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exercise-accent">
            <a:extLst xmlns:a="http://schemas.openxmlformats.org/drawingml/2006/main">
              <a:ext uri="{FF2B5EF4-FFF2-40B4-BE49-F238E27FC236}">
                <a16:creationId xmlns:a16="http://schemas.microsoft.com/office/drawing/2014/main" id="{32327262-ABAE-44C0-BF9B-03B442D92662}"/>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4C259AC5-8992-4465-B061-56EEC64C61FC}"/>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Demonstrate your file from a clean Spyder state.</a:t>
            </a:r>
          </a:p>
        </p:txBody>
      </p:sp>
      <p:sp>
        <p:nvSpPr>
          <p:cNvPr id="8" name="work-label">
            <a:extLst xmlns:a="http://schemas.openxmlformats.org/drawingml/2006/main">
              <a:ext uri="{FF2B5EF4-FFF2-40B4-BE49-F238E27FC236}">
                <a16:creationId xmlns:a16="http://schemas.microsoft.com/office/drawing/2014/main" id="{72F43C5B-5AC0-4E6A-AE7F-48ACFAEF6EF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E0E87B7C-BF8A-45DF-BFC3-ADFE4A2B71B3}"/>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78312EB0-35E8-41A9-8442-98F25ACFFA78}"/>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Save the file and close all open plots or consoles.</a:t>
            </a:r>
          </a:p>
        </p:txBody>
      </p:sp>
      <p:sp>
        <p:nvSpPr>
          <p:cNvPr id="11" name="exercise-no-1">
            <a:extLst xmlns:a="http://schemas.openxmlformats.org/drawingml/2006/main">
              <a:ext uri="{FF2B5EF4-FFF2-40B4-BE49-F238E27FC236}">
                <a16:creationId xmlns:a16="http://schemas.microsoft.com/office/drawing/2014/main" id="{7D3FF27F-E47D-495A-AE70-4BDECA6674F6}"/>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4B83448D-0E77-4D0A-8BDB-16A7DD94ACE9}"/>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Restart the IPython kernel.</a:t>
            </a:r>
          </a:p>
        </p:txBody>
      </p:sp>
      <p:sp>
        <p:nvSpPr>
          <p:cNvPr id="13" name="exercise-no-2">
            <a:extLst xmlns:a="http://schemas.openxmlformats.org/drawingml/2006/main">
              <a:ext uri="{FF2B5EF4-FFF2-40B4-BE49-F238E27FC236}">
                <a16:creationId xmlns:a16="http://schemas.microsoft.com/office/drawing/2014/main" id="{F68529F8-1974-4AED-9D07-41AB1F768C7C}"/>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40E8A3A4-2584-425B-8534-38E4752F05E7}"/>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Run the complete file from the top.</a:t>
            </a:r>
          </a:p>
        </p:txBody>
      </p:sp>
      <p:sp>
        <p:nvSpPr>
          <p:cNvPr id="15" name="exercise-no-3">
            <a:extLst xmlns:a="http://schemas.openxmlformats.org/drawingml/2006/main">
              <a:ext uri="{FF2B5EF4-FFF2-40B4-BE49-F238E27FC236}">
                <a16:creationId xmlns:a16="http://schemas.microsoft.com/office/drawing/2014/main" id="{10DB6E3E-F8F6-40C3-B713-C58DC3DE7791}"/>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937BADCF-3912-46B9-A546-89117B49CF57}"/>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Show the expected output, final variables, and AI-use record.</a:t>
            </a:r>
          </a:p>
        </p:txBody>
      </p:sp>
    </p:spTree>
    <p:extLst>
      <p:ext uri="{BB962C8B-B14F-4D97-AF65-F5344CB8AC3E}">
        <p14:creationId xmlns:p14="http://schemas.microsoft.com/office/powerpoint/2010/main" val="2108153698"/>
      </p:ext>
    </p:extLst>
  </p:cSld>
</p:sld>
</file>

<file path=ppt/slides/slide34.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C71224CA-CD1F-4CE2-90C7-2131DF5A486C}"/>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 · MEETING B · SPYDER SETUP STUDIO</a:t>
            </a:r>
          </a:p>
        </p:txBody>
      </p:sp>
      <p:sp>
        <p:nvSpPr>
          <p:cNvPr id="2" name="close-title">
            <a:extLst xmlns:a="http://schemas.openxmlformats.org/drawingml/2006/main">
              <a:ext uri="{FF2B5EF4-FFF2-40B4-BE49-F238E27FC236}">
                <a16:creationId xmlns:a16="http://schemas.microsoft.com/office/drawing/2014/main" id="{21FF42D3-A2DC-4E20-82F2-88C46A8CB4D6}"/>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The IDE supports evidence—not understanding by itself</a:t>
            </a:r>
          </a:p>
        </p:txBody>
      </p:sp>
      <p:sp>
        <p:nvSpPr>
          <p:cNvPr id="3" name="">
            <a:extLst xmlns:a="http://schemas.openxmlformats.org/drawingml/2006/main">
              <a:ext uri="{FF2B5EF4-FFF2-40B4-BE49-F238E27FC236}">
                <a16:creationId xmlns:a16="http://schemas.microsoft.com/office/drawing/2014/main" id="{996FBECC-058C-4455-B215-46FFB004ACB0}"/>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60EAE1BA-7D4D-491F-A9FD-4A0752ADA197}"/>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62B13772-52A7-42FA-9CFD-595402DD2453}"/>
              </a:ext>
            </a:extLst>
          </p:cNvPr>
          <p:cNvSpPr>
            <a:spLocks xmlns:a="http://schemas.openxmlformats.org/drawingml/2006/main" noGrp="1"/>
          </p:cNvSpPr>
          <p:nvPr/>
        </p:nvSpPr>
        <p:spPr>
          <a:xfrm xmlns:a="http://schemas.openxmlformats.org/drawingml/2006/main">
            <a:off x="1409700" y="2705100"/>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Install one stable course environment and verify its interpreter.</a:t>
            </a:r>
          </a:p>
        </p:txBody>
      </p:sp>
      <p:sp>
        <p:nvSpPr>
          <p:cNvPr id="6" name="take-no-1">
            <a:extLst xmlns:a="http://schemas.openxmlformats.org/drawingml/2006/main">
              <a:ext uri="{FF2B5EF4-FFF2-40B4-BE49-F238E27FC236}">
                <a16:creationId xmlns:a16="http://schemas.microsoft.com/office/drawing/2014/main" id="{3B5ABA9C-F37E-4659-851F-03CB7C2F05DF}"/>
              </a:ext>
            </a:extLst>
          </p:cNvPr>
          <p:cNvSpPr>
            <a:spLocks xmlns:a="http://schemas.openxmlformats.org/drawingml/2006/main" noGrp="1"/>
          </p:cNvSpPr>
          <p:nvPr/>
        </p:nvSpPr>
        <p:spPr>
          <a:xfrm xmlns:a="http://schemas.openxmlformats.org/drawingml/2006/main">
            <a:off x="609600" y="324078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305A5482-C84F-461B-9C21-B12762CF7866}"/>
              </a:ext>
            </a:extLst>
          </p:cNvPr>
          <p:cNvSpPr>
            <a:spLocks xmlns:a="http://schemas.openxmlformats.org/drawingml/2006/main" noGrp="1"/>
          </p:cNvSpPr>
          <p:nvPr/>
        </p:nvSpPr>
        <p:spPr>
          <a:xfrm xmlns:a="http://schemas.openxmlformats.org/drawingml/2006/main">
            <a:off x="1409700" y="3202686"/>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Use Editor, Console, and Variable Explorer for different forms of evidence.</a:t>
            </a:r>
          </a:p>
        </p:txBody>
      </p:sp>
      <p:sp>
        <p:nvSpPr>
          <p:cNvPr id="8" name="take-no-2">
            <a:extLst xmlns:a="http://schemas.openxmlformats.org/drawingml/2006/main">
              <a:ext uri="{FF2B5EF4-FFF2-40B4-BE49-F238E27FC236}">
                <a16:creationId xmlns:a16="http://schemas.microsoft.com/office/drawing/2014/main" id="{AC90A873-3563-4107-84CE-5E8C4A2F1734}"/>
              </a:ext>
            </a:extLst>
          </p:cNvPr>
          <p:cNvSpPr>
            <a:spLocks xmlns:a="http://schemas.openxmlformats.org/drawingml/2006/main" noGrp="1"/>
          </p:cNvSpPr>
          <p:nvPr/>
        </p:nvSpPr>
        <p:spPr>
          <a:xfrm xmlns:a="http://schemas.openxmlformats.org/drawingml/2006/main">
            <a:off x="609600" y="4026408"/>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9FD21842-867A-48C5-BD51-564544D492F0}"/>
              </a:ext>
            </a:extLst>
          </p:cNvPr>
          <p:cNvSpPr>
            <a:spLocks xmlns:a="http://schemas.openxmlformats.org/drawingml/2006/main" noGrp="1"/>
          </p:cNvSpPr>
          <p:nvPr/>
        </p:nvSpPr>
        <p:spPr>
          <a:xfrm xmlns:a="http://schemas.openxmlformats.org/drawingml/2006/main">
            <a:off x="1409700" y="3988308"/>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Treat # %% cells as checkpoints inside one complete script.</a:t>
            </a:r>
          </a:p>
        </p:txBody>
      </p:sp>
      <p:sp>
        <p:nvSpPr>
          <p:cNvPr id="10" name="take-no-3">
            <a:extLst xmlns:a="http://schemas.openxmlformats.org/drawingml/2006/main">
              <a:ext uri="{FF2B5EF4-FFF2-40B4-BE49-F238E27FC236}">
                <a16:creationId xmlns:a16="http://schemas.microsoft.com/office/drawing/2014/main" id="{42D7C363-7901-418D-BDBC-219E3123D47D}"/>
              </a:ext>
            </a:extLst>
          </p:cNvPr>
          <p:cNvSpPr>
            <a:spLocks xmlns:a="http://schemas.openxmlformats.org/drawingml/2006/main" noGrp="1"/>
          </p:cNvSpPr>
          <p:nvPr/>
        </p:nvSpPr>
        <p:spPr>
          <a:xfrm xmlns:a="http://schemas.openxmlformats.org/drawingml/2006/main">
            <a:off x="609600" y="452399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EA6A3490-29AC-413E-9F51-6C967863058F}"/>
              </a:ext>
            </a:extLst>
          </p:cNvPr>
          <p:cNvSpPr>
            <a:spLocks xmlns:a="http://schemas.openxmlformats.org/drawingml/2006/main" noGrp="1"/>
          </p:cNvSpPr>
          <p:nvPr/>
        </p:nvSpPr>
        <p:spPr>
          <a:xfrm xmlns:a="http://schemas.openxmlformats.org/drawingml/2006/main">
            <a:off x="1409700" y="4485894"/>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Restart, rerun, inspect, test, and document assistance.</a:t>
            </a:r>
          </a:p>
        </p:txBody>
      </p:sp>
    </p:spTree>
    <p:extLst>
      <p:ext uri="{BB962C8B-B14F-4D97-AF65-F5344CB8AC3E}">
        <p14:creationId xmlns:p14="http://schemas.microsoft.com/office/powerpoint/2010/main" val="457348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2026-08-20T17:46:50.0110000Z</dcterms:created>
  <dcterms:modified xsi:type="dcterms:W3CDTF">2026-08-20T17:46:50.0110000Z</dcterms:modified>
</coreProperties>
</file>