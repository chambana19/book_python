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bb5f065683841f4" /><Relationship Type="http://schemas.openxmlformats.org/officeDocument/2006/relationships/extended-properties" Target="/docProps/app.xml" Id="Rd89d8d10aba3402c" /><Relationship Type="http://schemas.openxmlformats.org/officeDocument/2006/relationships/officeDocument" Target="/ppt/presentation.xml" Id="Rd6053a9172ab4ac0" /></Relationships>
</file>

<file path=ppt/presentation.xml><?xml version="1.0" encoding="utf-8"?>
<p:presentation xmlns:p="http://schemas.openxmlformats.org/presentationml/2006/main">
  <p:sldMasterIdLst>
    <p:sldMasterId xmlns:r="http://schemas.openxmlformats.org/officeDocument/2006/relationships" id="2147483648" r:id="Rd309a7a2df0d4a30"/>
  </p:sldMasterIdLst>
  <p:notesMasterIdLst>
    <p:notesMasterId xmlns:r="http://schemas.openxmlformats.org/officeDocument/2006/relationships" r:id="R41ebcb2c3d5343ed"/>
  </p:notesMasterIdLst>
  <p:sldIdLst>
    <p:sldId xmlns:r="http://schemas.openxmlformats.org/officeDocument/2006/relationships" id="256" r:id="R83391e2511f549aa"/>
    <p:sldId xmlns:r="http://schemas.openxmlformats.org/officeDocument/2006/relationships" id="257" r:id="R5eabab3981e142e1"/>
    <p:sldId xmlns:r="http://schemas.openxmlformats.org/officeDocument/2006/relationships" id="258" r:id="Rcd44951d5bf24369"/>
    <p:sldId xmlns:r="http://schemas.openxmlformats.org/officeDocument/2006/relationships" id="259" r:id="Rade832cd87824765"/>
    <p:sldId xmlns:r="http://schemas.openxmlformats.org/officeDocument/2006/relationships" id="260" r:id="R09c34de2cc3b4d13"/>
    <p:sldId xmlns:r="http://schemas.openxmlformats.org/officeDocument/2006/relationships" id="261" r:id="R6b328abe15804f00"/>
    <p:sldId xmlns:r="http://schemas.openxmlformats.org/officeDocument/2006/relationships" id="262" r:id="Ra99ab55e8c734f26"/>
    <p:sldId xmlns:r="http://schemas.openxmlformats.org/officeDocument/2006/relationships" id="263" r:id="Rc7b07c5167dc44a2"/>
    <p:sldId xmlns:r="http://schemas.openxmlformats.org/officeDocument/2006/relationships" id="264" r:id="R4e78f7bd5ed54c5f"/>
    <p:sldId xmlns:r="http://schemas.openxmlformats.org/officeDocument/2006/relationships" id="265" r:id="R6f0fb05738fb4cad"/>
    <p:sldId xmlns:r="http://schemas.openxmlformats.org/officeDocument/2006/relationships" id="266" r:id="Rf9e459dd271d4ef9"/>
    <p:sldId xmlns:r="http://schemas.openxmlformats.org/officeDocument/2006/relationships" id="267" r:id="R1e0ca3fe23b443b1"/>
    <p:sldId xmlns:r="http://schemas.openxmlformats.org/officeDocument/2006/relationships" id="268" r:id="R89118dd87d004826"/>
    <p:sldId xmlns:r="http://schemas.openxmlformats.org/officeDocument/2006/relationships" id="269" r:id="R6ea5443595434850"/>
    <p:sldId xmlns:r="http://schemas.openxmlformats.org/officeDocument/2006/relationships" id="270" r:id="R7d7b7d7e498842ab"/>
    <p:sldId xmlns:r="http://schemas.openxmlformats.org/officeDocument/2006/relationships" id="271" r:id="Rfba577976f7f4661"/>
    <p:sldId xmlns:r="http://schemas.openxmlformats.org/officeDocument/2006/relationships" id="272" r:id="Ra90346bfa6504e23"/>
    <p:sldId xmlns:r="http://schemas.openxmlformats.org/officeDocument/2006/relationships" id="273" r:id="R803fef99efc6488c"/>
    <p:sldId xmlns:r="http://schemas.openxmlformats.org/officeDocument/2006/relationships" id="274" r:id="R0785e5f3f8674942"/>
    <p:sldId xmlns:r="http://schemas.openxmlformats.org/officeDocument/2006/relationships" id="275" r:id="Re5b6d7ccbe614aea"/>
    <p:sldId xmlns:r="http://schemas.openxmlformats.org/officeDocument/2006/relationships" id="276" r:id="R742444013f6c4f69"/>
    <p:sldId xmlns:r="http://schemas.openxmlformats.org/officeDocument/2006/relationships" id="277" r:id="Rd77e5bf13aa943ab"/>
    <p:sldId xmlns:r="http://schemas.openxmlformats.org/officeDocument/2006/relationships" id="278" r:id="R60757f6a18ce4ca9"/>
    <p:sldId xmlns:r="http://schemas.openxmlformats.org/officeDocument/2006/relationships" id="279" r:id="Rbb08be6c61de4e01"/>
    <p:sldId xmlns:r="http://schemas.openxmlformats.org/officeDocument/2006/relationships" id="280" r:id="Ra787c09ee81643b7"/>
    <p:sldId xmlns:r="http://schemas.openxmlformats.org/officeDocument/2006/relationships" id="281" r:id="R1b840a50041b4d76"/>
    <p:sldId xmlns:r="http://schemas.openxmlformats.org/officeDocument/2006/relationships" id="282" r:id="R9e21f9a344dd4720"/>
    <p:sldId xmlns:r="http://schemas.openxmlformats.org/officeDocument/2006/relationships" id="283" r:id="Ree3f526081d04052"/>
    <p:sldId xmlns:r="http://schemas.openxmlformats.org/officeDocument/2006/relationships" id="284" r:id="Rdaba34ae79234a3e"/>
    <p:sldId xmlns:r="http://schemas.openxmlformats.org/officeDocument/2006/relationships" id="285" r:id="R7e0b05b45184471b"/>
    <p:sldId xmlns:r="http://schemas.openxmlformats.org/officeDocument/2006/relationships" id="286" r:id="Rb506107ff01348d6"/>
    <p:sldId xmlns:r="http://schemas.openxmlformats.org/officeDocument/2006/relationships" id="287" r:id="R36a4b11d7d1542d6"/>
    <p:sldId xmlns:r="http://schemas.openxmlformats.org/officeDocument/2006/relationships" id="288" r:id="R56094a50350e43b4"/>
    <p:sldId xmlns:r="http://schemas.openxmlformats.org/officeDocument/2006/relationships" id="289" r:id="Rbef098ff9cb04c41"/>
    <p:sldId xmlns:r="http://schemas.openxmlformats.org/officeDocument/2006/relationships" id="290" r:id="Ra2ffabff15d34151"/>
    <p:sldId xmlns:r="http://schemas.openxmlformats.org/officeDocument/2006/relationships" id="291" r:id="Ra764a0f1d64d4645"/>
    <p:sldId xmlns:r="http://schemas.openxmlformats.org/officeDocument/2006/relationships" id="292" r:id="Rffb6c72d84ec43a2"/>
    <p:sldId xmlns:r="http://schemas.openxmlformats.org/officeDocument/2006/relationships" id="293" r:id="R1d9b456e87d24a6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a8ab0f9e7764540" /><Relationship Type="http://schemas.openxmlformats.org/officeDocument/2006/relationships/slideMaster" Target="/ppt/slideMasters/slideMaster1.xml" Id="Rd309a7a2df0d4a30" /><Relationship Type="http://schemas.openxmlformats.org/officeDocument/2006/relationships/notesMaster" Target="/ppt/notesMasters/notesMaster1.xml" Id="R41ebcb2c3d5343ed" /><Relationship Type="http://schemas.openxmlformats.org/officeDocument/2006/relationships/presProps" Target="/ppt/presProps.xml" Id="R8f22793541bf43a1" /><Relationship Type="http://schemas.openxmlformats.org/officeDocument/2006/relationships/tableStyles" Target="/ppt/tableStyles.xml" Id="R57de4df09ed0407e" /><Relationship Type="http://schemas.openxmlformats.org/officeDocument/2006/relationships/slide" Target="/ppt/slides/slide1.xml" Id="R83391e2511f549aa" /><Relationship Type="http://schemas.openxmlformats.org/officeDocument/2006/relationships/slide" Target="/ppt/slides/slide2.xml" Id="R5eabab3981e142e1" /><Relationship Type="http://schemas.openxmlformats.org/officeDocument/2006/relationships/slide" Target="/ppt/slides/slide3.xml" Id="Rcd44951d5bf24369" /><Relationship Type="http://schemas.openxmlformats.org/officeDocument/2006/relationships/slide" Target="/ppt/slides/slide4.xml" Id="Rade832cd87824765" /><Relationship Type="http://schemas.openxmlformats.org/officeDocument/2006/relationships/slide" Target="/ppt/slides/slide5.xml" Id="R09c34de2cc3b4d13" /><Relationship Type="http://schemas.openxmlformats.org/officeDocument/2006/relationships/slide" Target="/ppt/slides/slide6.xml" Id="R6b328abe15804f00" /><Relationship Type="http://schemas.openxmlformats.org/officeDocument/2006/relationships/slide" Target="/ppt/slides/slide7.xml" Id="Ra99ab55e8c734f26" /><Relationship Type="http://schemas.openxmlformats.org/officeDocument/2006/relationships/slide" Target="/ppt/slides/slide8.xml" Id="Rc7b07c5167dc44a2" /><Relationship Type="http://schemas.openxmlformats.org/officeDocument/2006/relationships/slide" Target="/ppt/slides/slide9.xml" Id="R4e78f7bd5ed54c5f" /><Relationship Type="http://schemas.openxmlformats.org/officeDocument/2006/relationships/slide" Target="/ppt/slides/slide10.xml" Id="R6f0fb05738fb4cad" /><Relationship Type="http://schemas.openxmlformats.org/officeDocument/2006/relationships/slide" Target="/ppt/slides/slide11.xml" Id="Rf9e459dd271d4ef9" /><Relationship Type="http://schemas.openxmlformats.org/officeDocument/2006/relationships/slide" Target="/ppt/slides/slide12.xml" Id="R1e0ca3fe23b443b1" /><Relationship Type="http://schemas.openxmlformats.org/officeDocument/2006/relationships/slide" Target="/ppt/slides/slide13.xml" Id="R89118dd87d004826" /><Relationship Type="http://schemas.openxmlformats.org/officeDocument/2006/relationships/slide" Target="/ppt/slides/slide14.xml" Id="R6ea5443595434850" /><Relationship Type="http://schemas.openxmlformats.org/officeDocument/2006/relationships/slide" Target="/ppt/slides/slide15.xml" Id="R7d7b7d7e498842ab" /><Relationship Type="http://schemas.openxmlformats.org/officeDocument/2006/relationships/slide" Target="/ppt/slides/slide16.xml" Id="Rfba577976f7f4661" /><Relationship Type="http://schemas.openxmlformats.org/officeDocument/2006/relationships/slide" Target="/ppt/slides/slide17.xml" Id="Ra90346bfa6504e23" /><Relationship Type="http://schemas.openxmlformats.org/officeDocument/2006/relationships/slide" Target="/ppt/slides/slide18.xml" Id="R803fef99efc6488c" /><Relationship Type="http://schemas.openxmlformats.org/officeDocument/2006/relationships/slide" Target="/ppt/slides/slide19.xml" Id="R0785e5f3f8674942" /><Relationship Type="http://schemas.openxmlformats.org/officeDocument/2006/relationships/slide" Target="/ppt/slides/slide20.xml" Id="Re5b6d7ccbe614aea" /><Relationship Type="http://schemas.openxmlformats.org/officeDocument/2006/relationships/slide" Target="/ppt/slides/slide21.xml" Id="R742444013f6c4f69" /><Relationship Type="http://schemas.openxmlformats.org/officeDocument/2006/relationships/slide" Target="/ppt/slides/slide22.xml" Id="Rd77e5bf13aa943ab" /><Relationship Type="http://schemas.openxmlformats.org/officeDocument/2006/relationships/slide" Target="/ppt/slides/slide23.xml" Id="R60757f6a18ce4ca9" /><Relationship Type="http://schemas.openxmlformats.org/officeDocument/2006/relationships/slide" Target="/ppt/slides/slide24.xml" Id="Rbb08be6c61de4e01" /><Relationship Type="http://schemas.openxmlformats.org/officeDocument/2006/relationships/slide" Target="/ppt/slides/slide25.xml" Id="Ra787c09ee81643b7" /><Relationship Type="http://schemas.openxmlformats.org/officeDocument/2006/relationships/slide" Target="/ppt/slides/slide26.xml" Id="R1b840a50041b4d76" /><Relationship Type="http://schemas.openxmlformats.org/officeDocument/2006/relationships/slide" Target="/ppt/slides/slide27.xml" Id="R9e21f9a344dd4720" /><Relationship Type="http://schemas.openxmlformats.org/officeDocument/2006/relationships/slide" Target="/ppt/slides/slide28.xml" Id="Ree3f526081d04052" /><Relationship Type="http://schemas.openxmlformats.org/officeDocument/2006/relationships/slide" Target="/ppt/slides/slide29.xml" Id="Rdaba34ae79234a3e" /><Relationship Type="http://schemas.openxmlformats.org/officeDocument/2006/relationships/slide" Target="/ppt/slides/slide30.xml" Id="R7e0b05b45184471b" /><Relationship Type="http://schemas.openxmlformats.org/officeDocument/2006/relationships/slide" Target="/ppt/slides/slide31.xml" Id="Rb506107ff01348d6" /><Relationship Type="http://schemas.openxmlformats.org/officeDocument/2006/relationships/slide" Target="/ppt/slides/slide32.xml" Id="R36a4b11d7d1542d6" /><Relationship Type="http://schemas.openxmlformats.org/officeDocument/2006/relationships/slide" Target="/ppt/slides/slide33.xml" Id="R56094a50350e43b4" /><Relationship Type="http://schemas.openxmlformats.org/officeDocument/2006/relationships/slide" Target="/ppt/slides/slide34.xml" Id="Rbef098ff9cb04c41" /><Relationship Type="http://schemas.openxmlformats.org/officeDocument/2006/relationships/slide" Target="/ppt/slides/slide35.xml" Id="Ra2ffabff15d34151" /><Relationship Type="http://schemas.openxmlformats.org/officeDocument/2006/relationships/slide" Target="/ppt/slides/slide36.xml" Id="Ra764a0f1d64d4645" /><Relationship Type="http://schemas.openxmlformats.org/officeDocument/2006/relationships/slide" Target="/ppt/slides/slide37.xml" Id="Rffb6c72d84ec43a2" /><Relationship Type="http://schemas.openxmlformats.org/officeDocument/2006/relationships/slide" Target="/ppt/slides/slide38.xml" Id="R1d9b456e87d24a6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b0aa22b6881476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5f4b7a609774060" /><Relationship Type="http://schemas.openxmlformats.org/officeDocument/2006/relationships/notesMaster" Target="/ppt/notesMasters/notesMaster1.xml" Id="R1acf5c63d6f64ede" /></Relationships>
</file>

<file path=ppt/notesSlides/_rels/notesSlide2.xml.rels>&#65279;<?xml version="1.0" encoding="utf-8"?><Relationships xmlns="http://schemas.openxmlformats.org/package/2006/relationships"><Relationship Type="http://schemas.openxmlformats.org/officeDocument/2006/relationships/slide" Target="/ppt/slides/slide2.xml" Id="Rcf8c24ef2abd4112" /><Relationship Type="http://schemas.openxmlformats.org/officeDocument/2006/relationships/notesMaster" Target="/ppt/notesMasters/notesMaster1.xml" Id="R9321ebba57264f8b" /></Relationships>
</file>

<file path=ppt/notesSlides/_rels/notesSlide3.xml.rels>&#65279;<?xml version="1.0" encoding="utf-8"?><Relationships xmlns="http://schemas.openxmlformats.org/package/2006/relationships"><Relationship Type="http://schemas.openxmlformats.org/officeDocument/2006/relationships/slide" Target="/ppt/slides/slide3.xml" Id="R5ead3993db694812" /><Relationship Type="http://schemas.openxmlformats.org/officeDocument/2006/relationships/notesMaster" Target="/ppt/notesMasters/notesMaster1.xml" Id="R3e2c39d7ecc04e36" /></Relationships>
</file>

<file path=ppt/notesSlides/_rels/notesSlide4.xml.rels>&#65279;<?xml version="1.0" encoding="utf-8"?><Relationships xmlns="http://schemas.openxmlformats.org/package/2006/relationships"><Relationship Type="http://schemas.openxmlformats.org/officeDocument/2006/relationships/slide" Target="/ppt/slides/slide4.xml" Id="Race89f1a0bbc40f7" /><Relationship Type="http://schemas.openxmlformats.org/officeDocument/2006/relationships/notesMaster" Target="/ppt/notesMasters/notesMaster1.xml" Id="R43548c23f9ed4a59" /></Relationships>
</file>

<file path=ppt/notesSlides/_rels/notesSlide5.xml.rels>&#65279;<?xml version="1.0" encoding="utf-8"?><Relationships xmlns="http://schemas.openxmlformats.org/package/2006/relationships"><Relationship Type="http://schemas.openxmlformats.org/officeDocument/2006/relationships/slide" Target="/ppt/slides/slide5.xml" Id="R693213b51d1d4efb" /><Relationship Type="http://schemas.openxmlformats.org/officeDocument/2006/relationships/notesMaster" Target="/ppt/notesMasters/notesMaster1.xml" Id="Rb2f2bd32e8dd4822" /></Relationships>
</file>

<file path=ppt/notesSlides/_rels/notesSlide6.xml.rels>&#65279;<?xml version="1.0" encoding="utf-8"?><Relationships xmlns="http://schemas.openxmlformats.org/package/2006/relationships"><Relationship Type="http://schemas.openxmlformats.org/officeDocument/2006/relationships/slide" Target="/ppt/slides/slide6.xml" Id="Raf7b16daf0014386" /><Relationship Type="http://schemas.openxmlformats.org/officeDocument/2006/relationships/notesMaster" Target="/ppt/notesMasters/notesMaster1.xml" Id="Rfc9982320e864fec" /></Relationships>
</file>

<file path=ppt/notesSlides/_rels/notesSlide7.xml.rels>&#65279;<?xml version="1.0" encoding="utf-8"?><Relationships xmlns="http://schemas.openxmlformats.org/package/2006/relationships"><Relationship Type="http://schemas.openxmlformats.org/officeDocument/2006/relationships/slide" Target="/ppt/slides/slide7.xml" Id="R1ca732dfefec448d" /><Relationship Type="http://schemas.openxmlformats.org/officeDocument/2006/relationships/notesMaster" Target="/ppt/notesMasters/notesMaster1.xml" Id="Rc34ad64cb0df4d2b" /></Relationships>
</file>

<file path=ppt/notesSlides/_rels/notesSlide8.xml.rels>&#65279;<?xml version="1.0" encoding="utf-8"?><Relationships xmlns="http://schemas.openxmlformats.org/package/2006/relationships"><Relationship Type="http://schemas.openxmlformats.org/officeDocument/2006/relationships/slide" Target="/ppt/slides/slide8.xml" Id="R53c6db7f282b4e45" /><Relationship Type="http://schemas.openxmlformats.org/officeDocument/2006/relationships/notesMaster" Target="/ppt/notesMasters/notesMaster1.xml" Id="R5d2da4a89e394541" /></Relationships>
</file>

<file path=ppt/notesSlides/_rels/notesSlide9.xml.rels>&#65279;<?xml version="1.0" encoding="utf-8"?><Relationships xmlns="http://schemas.openxmlformats.org/package/2006/relationships"><Relationship Type="http://schemas.openxmlformats.org/officeDocument/2006/relationships/slide" Target="/ppt/slides/slide9.xml" Id="R9b971db168aa42d9" /><Relationship Type="http://schemas.openxmlformats.org/officeDocument/2006/relationships/notesMaster" Target="/ppt/notesMasters/notesMaster1.xml" Id="R45e7d7c559e4412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cefd93b16874815" /><Relationship Type="http://schemas.openxmlformats.org/officeDocument/2006/relationships/notesMaster" Target="/ppt/notesMasters/notesMaster1.xml" Id="R3da8757cd31146d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3fb7c3d49684706" /><Relationship Type="http://schemas.openxmlformats.org/officeDocument/2006/relationships/notesMaster" Target="/ppt/notesMasters/notesMaster1.xml" Id="R3f9937743e374c9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cb4a8475b8c49ef" /><Relationship Type="http://schemas.openxmlformats.org/officeDocument/2006/relationships/notesMaster" Target="/ppt/notesMasters/notesMaster1.xml" Id="R550b35c8277c4e6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882b0bc3094405b" /><Relationship Type="http://schemas.openxmlformats.org/officeDocument/2006/relationships/notesMaster" Target="/ppt/notesMasters/notesMaster1.xml" Id="Rddcf4c8215b94f5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a50dc851d9d4da0" /><Relationship Type="http://schemas.openxmlformats.org/officeDocument/2006/relationships/notesMaster" Target="/ppt/notesMasters/notesMaster1.xml" Id="R96a263be27ef474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fffa4a2e18d4ada" /><Relationship Type="http://schemas.openxmlformats.org/officeDocument/2006/relationships/notesMaster" Target="/ppt/notesMasters/notesMaster1.xml" Id="R47f91fed3ddd437e"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634179689e74be4" /><Relationship Type="http://schemas.openxmlformats.org/officeDocument/2006/relationships/notesMaster" Target="/ppt/notesMasters/notesMaster1.xml" Id="R4cb1a56853524f6a"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5be2a60496b946e4" /><Relationship Type="http://schemas.openxmlformats.org/officeDocument/2006/relationships/notesMaster" Target="/ppt/notesMasters/notesMaster1.xml" Id="R8eab7befff104587"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b2c88a92ea314290" /><Relationship Type="http://schemas.openxmlformats.org/officeDocument/2006/relationships/notesMaster" Target="/ppt/notesMasters/notesMaster1.xml" Id="R3023f6f66ee74d4c"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51aebd7f84a84ac0" /><Relationship Type="http://schemas.openxmlformats.org/officeDocument/2006/relationships/notesMaster" Target="/ppt/notesMasters/notesMaster1.xml" Id="Rac7eecd2498348b0"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e29e5e31434747e0" /><Relationship Type="http://schemas.openxmlformats.org/officeDocument/2006/relationships/notesMaster" Target="/ppt/notesMasters/notesMaster1.xml" Id="R0df24dfe5e3e4032"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1a83383b80084143" /><Relationship Type="http://schemas.openxmlformats.org/officeDocument/2006/relationships/notesMaster" Target="/ppt/notesMasters/notesMaster1.xml" Id="R26297531f8464ea9"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e7ffc32bed2449c1" /><Relationship Type="http://schemas.openxmlformats.org/officeDocument/2006/relationships/notesMaster" Target="/ppt/notesMasters/notesMaster1.xml" Id="R016d1a91024341b6"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7ab2940a3ab641d3" /><Relationship Type="http://schemas.openxmlformats.org/officeDocument/2006/relationships/notesMaster" Target="/ppt/notesMasters/notesMaster1.xml" Id="Rea387270c5814a44"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00505cd452944d12" /><Relationship Type="http://schemas.openxmlformats.org/officeDocument/2006/relationships/notesMaster" Target="/ppt/notesMasters/notesMaster1.xml" Id="R7fc22b4e640d4578"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14280903466445dc" /><Relationship Type="http://schemas.openxmlformats.org/officeDocument/2006/relationships/notesMaster" Target="/ppt/notesMasters/notesMaster1.xml" Id="R11f88f9b801f42a3"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306369c466bd4ef6" /><Relationship Type="http://schemas.openxmlformats.org/officeDocument/2006/relationships/notesMaster" Target="/ppt/notesMasters/notesMaster1.xml" Id="R15d9ff164e194a6b"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4358c48ef59c4cb5" /><Relationship Type="http://schemas.openxmlformats.org/officeDocument/2006/relationships/notesMaster" Target="/ppt/notesMasters/notesMaster1.xml" Id="R17251d6e52764422"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c185129fa06c4dad" /><Relationship Type="http://schemas.openxmlformats.org/officeDocument/2006/relationships/notesMaster" Target="/ppt/notesMasters/notesMaster1.xml" Id="R13c28e82f59346f1"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0b5307bb52234d57" /><Relationship Type="http://schemas.openxmlformats.org/officeDocument/2006/relationships/notesMaster" Target="/ppt/notesMasters/notesMaster1.xml" Id="Re33283449e2e4287"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3ef33ff3f31c44ed" /><Relationship Type="http://schemas.openxmlformats.org/officeDocument/2006/relationships/notesMaster" Target="/ppt/notesMasters/notesMaster1.xml" Id="Rbb829afa473649eb"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a6e86c8ecf8942d3" /><Relationship Type="http://schemas.openxmlformats.org/officeDocument/2006/relationships/notesMaster" Target="/ppt/notesMasters/notesMaster1.xml" Id="Rf7659b318d9f4302"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a77cb6c9b40d4d85" /><Relationship Type="http://schemas.openxmlformats.org/officeDocument/2006/relationships/notesMaster" Target="/ppt/notesMasters/notesMaster1.xml" Id="Rcecd686a52bb498e"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0606289aedfa493b" /><Relationship Type="http://schemas.openxmlformats.org/officeDocument/2006/relationships/notesMaster" Target="/ppt/notesMasters/notesMaster1.xml" Id="R13e6b0cf717048b4"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e9baae2da04f44f1" /><Relationship Type="http://schemas.openxmlformats.org/officeDocument/2006/relationships/notesMaster" Target="/ppt/notesMasters/notesMaster1.xml" Id="R195db986699544a6"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b66fde6a0006430f" /><Relationship Type="http://schemas.openxmlformats.org/officeDocument/2006/relationships/notesMaster" Target="/ppt/notesMasters/notesMaster1.xml" Id="R3e76ad0b9e2f44f6"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0c025e41204344ad" /><Relationship Type="http://schemas.openxmlformats.org/officeDocument/2006/relationships/notesMaster" Target="/ppt/notesMasters/notesMaster1.xml" Id="R7802e06fca854b60"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196532c24e394e80" /><Relationship Type="http://schemas.openxmlformats.org/officeDocument/2006/relationships/notesMaster" Target="/ppt/notesMasters/notesMaster1.xml" Id="Ra1d632bc089d4b04"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d1ed376e03b04007" /><Relationship Type="http://schemas.openxmlformats.org/officeDocument/2006/relationships/notesMaster" Target="/ppt/notesMasters/notesMaster1.xml" Id="Rdd499554d1ab45c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This is the full 82-minute source deck. The instructor may hide or skip slides at delivery time; the distributed file preserves every authored explanation and example.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Distinguish screening from approval. A pass/fail output may represent only one criterion among many.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Explain that the primer deliberately stops before loops and compound rules; those are introduced and practiced live on Wednesday.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Preview a focused progression from one value, to one decision, to one reusable procedure. Students will add repetition in the live studio.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Explain the cumulative dependency: a loop repeats a comparison, an accumulator summarizes it, and a function centralizes the policy. The handout repeats the same ladder in Spyder.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Use a 40 m² program minimum. Ask where equality belongs and what the rule cannot judge.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Recall from Week 2A (same light-switch analogy)—students should name it, not relearn it. Move quickly to the architectural questions; compound rules using and/or/not arrive Wednesday. Adapted from FS25 L3 slide 21, L4 slides 11–12, and L7 slides 2–3.</a:t>
            </a:r>
          </a:p>
          <a:p xmlns:a="http://schemas.openxmlformats.org/drawingml/2006/main">
            <a:r>
              <a:t/>
            </a:r>
          </a:p>
          <a:p xmlns:a="http://schemas.openxmlformats.org/drawingml/2006/main">
            <a:r>
              <a:t>[Sources]</a:t>
            </a:r>
          </a:p>
          <a:p xmlns:a="http://schemas.openxmlformats.org/drawingml/2006/main">
            <a:r>
              <a:t>- https://docs.python.org/3/tutorial/introduction.html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Recall from Week 2A slide 27, same code and threshold—students should name it, not relearn it. Test 39.9, 40.0, and 40.1 to establish the boundary, then move quickly to the conditional that finally acts on this evidence.</a:t>
            </a:r>
          </a:p>
          <a:p xmlns:a="http://schemas.openxmlformats.org/drawingml/2006/main">
            <a:r>
              <a:t/>
            </a:r>
          </a:p>
          <a:p xmlns:a="http://schemas.openxmlformats.org/drawingml/2006/main">
            <a:r>
              <a:t>[Sources]</a:t>
            </a:r>
          </a:p>
          <a:p xmlns:a="http://schemas.openxmlformats.org/drawingml/2006/main">
            <a:r>
              <a:t>- https://docs.python.org/3/tutorial/controlflow.html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Recall from Week 2A's operator table (same six operators)—students should name it, not relearn it. Adapted from FS25 L7 slide 5 and Lxx Operator slide 7. Students say each comparison aloud before running it.</a:t>
            </a:r>
          </a:p>
          <a:p xmlns:a="http://schemas.openxmlformats.org/drawingml/2006/main">
            <a:r>
              <a:t/>
            </a:r>
          </a:p>
          <a:p xmlns:a="http://schemas.openxmlformats.org/drawingml/2006/main">
            <a:r>
              <a:t>[Sources]</a:t>
            </a:r>
          </a:p>
          <a:p xmlns:a="http://schemas.openxmlformats.org/drawingml/2006/main">
            <a:r>
              <a:t>- https://docs.python.org/3/tutorial/introduction.html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Adapted from FS25 L8 slides 2, 5, and 6. Contrast ordinary top-to-bottom execution with a branch that may be skipped, then read the line part by part on the next slide.</a:t>
            </a:r>
          </a:p>
          <a:p xmlns:a="http://schemas.openxmlformats.org/drawingml/2006/main">
            <a:r>
              <a:t/>
            </a:r>
          </a:p>
          <a:p xmlns:a="http://schemas.openxmlformats.org/drawingml/2006/main">
            <a:r>
              <a:t>[Sources]</a:t>
            </a:r>
          </a:p>
          <a:p xmlns:a="http://schemas.openxmlformats.org/drawingml/2006/main">
            <a:r>
              <a:t>- https://docs.python.org/3/tutorial/controlflow.html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Point at each numbered part in turn and have students say it aloud: keyword, evidence, operator, threshold, colon. Ask which single character students are most likely to forget, then show the SyntaxError that follows a missing colon.</a:t>
            </a:r>
          </a:p>
          <a:p xmlns:a="http://schemas.openxmlformats.org/drawingml/2006/main">
            <a:r>
              <a:t/>
            </a:r>
          </a:p>
          <a:p xmlns:a="http://schemas.openxmlformats.org/drawingml/2006/main">
            <a:r>
              <a:t>[Sources]</a:t>
            </a:r>
          </a:p>
          <a:p xmlns:a="http://schemas.openxmlformats.org/drawingml/2006/main">
            <a:r>
              <a:t>- https://docs.python.org/3/tutorial/controlflow.html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Point to the condition, colon, indentation, and controlled statement. Then run with 35 m².</a:t>
            </a:r>
          </a:p>
          <a:p xmlns:a="http://schemas.openxmlformats.org/drawingml/2006/main">
            <a:r>
              <a:t/>
            </a:r>
          </a:p>
          <a:p xmlns:a="http://schemas.openxmlformats.org/drawingml/2006/main">
            <a:r>
              <a:t>[Sources]</a:t>
            </a:r>
          </a:p>
          <a:p xmlns:a="http://schemas.openxmlformats.org/drawingml/2006/main">
            <a:r>
              <a:t>- https://docs.python.org/3/tutorial/controlflow.html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Have students annotate one conditional with these four labels.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Make everyone commit before revealing. A is chosen by students who read &gt;= as 'is 35 near 40' or assume the first branch always runs. C assumes print shows the quotation marks that appear in the code. D assumes print(status) reports the comparison rather than the text that was assigned. Reveal the answer strip, then run the same code on the next slide.</a:t>
            </a:r>
          </a:p>
          <a:p xmlns:a="http://schemas.openxmlformats.org/drawingml/2006/main">
            <a:r>
              <a:t/>
            </a:r>
          </a:p>
          <a:p xmlns:a="http://schemas.openxmlformats.org/drawingml/2006/main">
            <a:r>
              <a:t>[Sources]</a:t>
            </a:r>
          </a:p>
          <a:p xmlns:a="http://schemas.openxmlformats.org/drawingml/2006/main">
            <a:r>
              <a:t>- https://docs.python.org/3/tutorial/controlflow.html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This is the reveal for the previous predict slide. Ask whether 'bad room' would be a defensible else message. Replace it with bounded language.</a:t>
            </a:r>
          </a:p>
          <a:p xmlns:a="http://schemas.openxmlformats.org/drawingml/2006/main">
            <a:r>
              <a:t/>
            </a:r>
          </a:p>
          <a:p xmlns:a="http://schemas.openxmlformats.org/drawingml/2006/main">
            <a:r>
              <a:t>[Sources]</a:t>
            </a:r>
          </a:p>
          <a:p xmlns:a="http://schemas.openxmlformats.org/drawingml/2006/main">
            <a:r>
              <a:t>- https://docs.python.org/3/tutorial/controlflow.html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 minutes.</a:t>
            </a:r>
          </a:p>
          <a:p xmlns:a="http://schemas.openxmlformats.org/drawingml/2006/main">
            <a:r>
              <a:t>Teaching notes: Trace only one route at a time. Emphasize that the diagram records a criterion result, not an overall design approval.</a:t>
            </a:r>
          </a:p>
          <a:p xmlns:a="http://schemas.openxmlformats.org/drawingml/2006/main">
            <a:r>
              <a:t/>
            </a:r>
          </a:p>
          <a:p xmlns:a="http://schemas.openxmlformats.org/drawingml/2006/main">
            <a:r>
              <a:t>[Sources]</a:t>
            </a:r>
          </a:p>
          <a:p xmlns:a="http://schemas.openxmlformats.org/drawingml/2006/main">
            <a:r>
              <a:t>- https://docs.python.org/3/tutorial/controlflow.html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Only the middle row separates the two operators, and that row is the whole policy argument. Ask which operator matches the words in the program brief, then keep this table on screen for the closing exercise.</a:t>
            </a:r>
          </a:p>
          <a:p xmlns:a="http://schemas.openxmlformats.org/drawingml/2006/main">
            <a:r>
              <a:t/>
            </a:r>
          </a:p>
          <a:p xmlns:a="http://schemas.openxmlformats.org/drawingml/2006/main">
            <a:r>
              <a:t>[Sources]</a:t>
            </a:r>
          </a:p>
          <a:p xmlns:a="http://schemas.openxmlformats.org/drawingml/2006/main">
            <a:r>
              <a:t>- https://docs.python.org/3/tutorial/controlflow.html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Reverse the first two thresholds and ask why 30 would be classified incorrectly.</a:t>
            </a:r>
          </a:p>
          <a:p xmlns:a="http://schemas.openxmlformats.org/drawingml/2006/main">
            <a:r>
              <a:t/>
            </a:r>
          </a:p>
          <a:p xmlns:a="http://schemas.openxmlformats.org/drawingml/2006/main">
            <a:r>
              <a:t>[Sources]</a:t>
            </a:r>
          </a:p>
          <a:p xmlns:a="http://schemas.openxmlformats.org/drawingml/2006/main">
            <a:r>
              <a:t>- https://docs.python.org/3/tutorial/controlflow.html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Adapted from FS25 L7 slide 6. Keep short-circuit evaluation as an optional verbal extension.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Use egress width and travel-distance criteria. Ask whether the policy requires both or either.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Test all four combinations of criterion True/False and daylight True/False.</a:t>
            </a:r>
          </a:p>
          <a:p xmlns:a="http://schemas.openxmlformats.org/drawingml/2006/main">
            <a:r>
              <a:t/>
            </a:r>
          </a:p>
          <a:p xmlns:a="http://schemas.openxmlformats.org/drawingml/2006/main">
            <a:r>
              <a:t>[Sources]</a:t>
            </a:r>
          </a:p>
          <a:p xmlns:a="http://schemas.openxmlformats.org/drawingml/2006/main">
            <a:r>
              <a:t>- https://docs.python.org/3/tutorial/controlflow.html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Students identify which row would change if the operator were &gt; rather than &gt;=.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Adapted from FS25 L8 slides 11, 13, 14, and 25. The course begins with for because room records form a known sequence. The while example is illustrative contrast only—do not imply it received the same practice as for; no while exercise follows.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Contrast repeating a tested operation with copy-pasting several slightly different versions.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Teaching notes: Trace the loop variable through three iterations before running.</a:t>
            </a:r>
          </a:p>
          <a:p xmlns:a="http://schemas.openxmlformats.org/drawingml/2006/main">
            <a:r>
              <a:t/>
            </a:r>
          </a:p>
          <a:p xmlns:a="http://schemas.openxmlformats.org/drawingml/2006/main">
            <a:r>
              <a:t>[Sources]</a:t>
            </a:r>
          </a:p>
          <a:p xmlns:a="http://schemas.openxmlformats.org/drawingml/2006/main">
            <a:r>
              <a:t>- https://docs.python.org/3/tutorial/controlflow.html</a:t>
            </a:r>
          </a:p>
          <a:p xmlns:a="http://schemas.openxmlformats.org/drawingml/2006/main">
            <a:r>
              <a:t>- https://docs.python.org/3/tutorial/datastructures.html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Teaching notes: Use a trace table with iteration, area, comparison result, and passing_count.</a:t>
            </a:r>
          </a:p>
          <a:p xmlns:a="http://schemas.openxmlformats.org/drawingml/2006/main">
            <a:r>
              <a:t/>
            </a:r>
          </a:p>
          <a:p xmlns:a="http://schemas.openxmlformats.org/drawingml/2006/main">
            <a:r>
              <a:t>[Sources]</a:t>
            </a:r>
          </a:p>
          <a:p xmlns:a="http://schemas.openxmlformats.org/drawingml/2006/main">
            <a:r>
              <a:t>- https://docs.python.org/3/tutorial/controlflow.html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Show how indentation determines whether an action happens once or once per room.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Teaching notes: Adapted from FS25 L10 slides 2–6. Use the machine analogy: inputs enter, instructions operate, and a result leaves.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Teaching notes: Trace definition, call, parameter values, local result, return value, and assignment. Read the def line the same way as the if line earlier: keyword, name, parameters, colon, indented block.</a:t>
            </a:r>
          </a:p>
          <a:p xmlns:a="http://schemas.openxmlformats.org/drawingml/2006/main">
            <a:r>
              <a:t/>
            </a:r>
          </a:p>
          <a:p xmlns:a="http://schemas.openxmlformats.org/drawingml/2006/main">
            <a:r>
              <a:t>[Sources]</a:t>
            </a:r>
          </a:p>
          <a:p xmlns:a="http://schemas.openxmlformats.org/drawingml/2006/main">
            <a:r>
              <a:t>- https://docs.python.org/3/tutorial/controlflow.html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Teaching notes: Ask whether a function called calculate_everything has a clear contract. Prefer smaller responsibilities.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 minutes.</a:t>
            </a:r>
          </a:p>
          <a:p xmlns:a="http://schemas.openxmlformats.org/drawingml/2006/main">
            <a:r>
              <a:t>Teaching notes: Connect the function box to the handout's three boundary cases. The same rule should give predictable results for every call.</a:t>
            </a:r>
          </a:p>
          <a:p xmlns:a="http://schemas.openxmlformats.org/drawingml/2006/main">
            <a:r>
              <a:t/>
            </a:r>
          </a:p>
          <a:p xmlns:a="http://schemas.openxmlformats.org/drawingml/2006/main">
            <a:r>
              <a:t>[Sources]</a:t>
            </a:r>
          </a:p>
          <a:p xmlns:a="http://schemas.openxmlformats.org/drawingml/2006/main">
            <a:r>
              <a:t>- https://docs.python.org/3/tutorial/controlflow.html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Teaching notes: Ask why the returned float is more useful later than one preformatted sentence.</a:t>
            </a:r>
          </a:p>
          <a:p xmlns:a="http://schemas.openxmlformats.org/drawingml/2006/main">
            <a:r>
              <a:t/>
            </a:r>
          </a:p>
          <a:p xmlns:a="http://schemas.openxmlformats.org/drawingml/2006/main">
            <a:r>
              <a:t>[Sources]</a:t>
            </a:r>
          </a:p>
          <a:p xmlns:a="http://schemas.openxmlformats.org/drawingml/2006/main">
            <a:r>
              <a:t>- https://docs.python.org/3/tutorial/controlflow.html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Teaching notes: Ask whether a universal 10% allowance is defensible and when a required argument would be safer.</a:t>
            </a:r>
          </a:p>
          <a:p xmlns:a="http://schemas.openxmlformats.org/drawingml/2006/main">
            <a:r>
              <a:t/>
            </a:r>
          </a:p>
          <a:p xmlns:a="http://schemas.openxmlformats.org/drawingml/2006/main">
            <a:r>
              <a:t>[Sources]</a:t>
            </a:r>
          </a:p>
          <a:p xmlns:a="http://schemas.openxmlformats.org/drawingml/2006/main">
            <a:r>
              <a:t>- https://docs.python.org/3/tutorial/controlflow.html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Teaching notes: Ask what changes if generous_m2 were lowered to 60.0 — which room's classification flips?</a:t>
            </a:r>
          </a:p>
          <a:p xmlns:a="http://schemas.openxmlformats.org/drawingml/2006/main">
            <a:r>
              <a:t/>
            </a:r>
          </a:p>
          <a:p xmlns:a="http://schemas.openxmlformats.org/drawingml/2006/main">
            <a:r>
              <a:t>[Sources]</a:t>
            </a:r>
          </a:p>
          <a:p xmlns:a="http://schemas.openxmlformats.org/drawingml/2006/main">
            <a:r>
              <a:t>- https://docs.python.org/3/tutorial/controlflow.html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Trace the first, fourth, and seventh records. Ask which single function line controls the 40.0 boundary.</a:t>
            </a:r>
          </a:p>
          <a:p xmlns:a="http://schemas.openxmlformats.org/drawingml/2006/main">
            <a:r>
              <a:t/>
            </a:r>
          </a:p>
          <a:p xmlns:a="http://schemas.openxmlformats.org/drawingml/2006/main">
            <a:r>
              <a:t>[Sources]</a:t>
            </a:r>
          </a:p>
          <a:p xmlns:a="http://schemas.openxmlformats.org/drawingml/2006/main">
            <a:r>
              <a:t>- https://docs.python.org/3/tutorial/controlflow.html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Have students hand-count the three groups before revealing 3, 4, and 1. Then explain what the final assertion checks and what it cannot check.</a:t>
            </a:r>
          </a:p>
          <a:p xmlns:a="http://schemas.openxmlformats.org/drawingml/2006/main">
            <a:r>
              <a:t/>
            </a:r>
          </a:p>
          <a:p xmlns:a="http://schemas.openxmlformats.org/drawingml/2006/main">
            <a:r>
              <a:t>[Sources]</a:t>
            </a:r>
          </a:p>
          <a:p xmlns:a="http://schemas.openxmlformats.org/drawingml/2006/main">
            <a:r>
              <a:t>- https://docs.python.org/3/tutorial/controlflow.html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Teaching notes: Expected: 39.9 fails, 40.0 and 40.1 pass. Review &gt;=, Boolean values, indentation, return values, and repeated calls. Bounded language might say 'meets area criterion' rather than 'approved.' Limitations can include daylight quality, accessibility, egress, proportion, or program fit.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 minutes.</a:t>
            </a:r>
          </a:p>
          <a:p xmlns:a="http://schemas.openxmlformats.org/drawingml/2006/main">
            <a:r>
              <a:t>Teaching notes: Exit ticket: students write one architectural rule and its most important boundary case. Tell them to bring that rule to the live Spyder studio.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d41a3890b434d1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eb5eb20125e45aa" /><Relationship Type="http://schemas.openxmlformats.org/officeDocument/2006/relationships/slideLayout" Target="/ppt/slideLayouts/slideLayout1.xml" Id="Rd2cba84bb42c4ef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2cba84bb42c4ef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687bd7d5fb047bc" /><Relationship Type="http://schemas.openxmlformats.org/officeDocument/2006/relationships/notesSlide" Target="/ppt/notesSlides/notesSlide1.xml" Id="Rf816d311edf9489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3fc967da3f0456e" /><Relationship Type="http://schemas.openxmlformats.org/officeDocument/2006/relationships/notesSlide" Target="/ppt/notesSlides/notesSlide2.xml" Id="Rbf72cfc5b156407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c0a1154078b4ad6" /><Relationship Type="http://schemas.openxmlformats.org/officeDocument/2006/relationships/notesSlide" Target="/ppt/notesSlides/notesSlide3.xml" Id="R95193dda03d54a3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94dec76d54940ca" /><Relationship Type="http://schemas.openxmlformats.org/officeDocument/2006/relationships/notesSlide" Target="/ppt/notesSlides/notesSlide4.xml" Id="R923ba1b20237421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db5fefa092d4921" /><Relationship Type="http://schemas.openxmlformats.org/officeDocument/2006/relationships/notesSlide" Target="/ppt/notesSlides/notesSlide5.xml" Id="Re8bcfda87ded475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81a9ec0b5d949a7" /><Relationship Type="http://schemas.openxmlformats.org/officeDocument/2006/relationships/notesSlide" Target="/ppt/notesSlides/notesSlide6.xml" Id="Rb030c3838e26444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2881049531642af" /><Relationship Type="http://schemas.openxmlformats.org/officeDocument/2006/relationships/notesSlide" Target="/ppt/notesSlides/notesSlide7.xml" Id="R1c03109bf4e64bc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9c68dd5435b420c" /><Relationship Type="http://schemas.openxmlformats.org/officeDocument/2006/relationships/notesSlide" Target="/ppt/notesSlides/notesSlide8.xml" Id="R42c13edf070f42f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1d74ec8cf594675" /><Relationship Type="http://schemas.openxmlformats.org/officeDocument/2006/relationships/notesSlide" Target="/ppt/notesSlides/notesSlide9.xml" Id="Re1fcce565ebc48c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ccb31684ae83415f" /><Relationship Type="http://schemas.openxmlformats.org/officeDocument/2006/relationships/notesSlide" Target="/ppt/notesSlides/notesSlide10.xml" Id="R6f29591790d64e0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5759c9be96d14181" /><Relationship Type="http://schemas.openxmlformats.org/officeDocument/2006/relationships/notesSlide" Target="/ppt/notesSlides/notesSlide11.xml" Id="Rac3aa5824f63484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48bd4dd7719148cb" /><Relationship Type="http://schemas.openxmlformats.org/officeDocument/2006/relationships/notesSlide" Target="/ppt/notesSlides/notesSlide12.xml" Id="R76dbd7aa5dfb4be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8fd0d20624ce49ac" /><Relationship Type="http://schemas.openxmlformats.org/officeDocument/2006/relationships/notesSlide" Target="/ppt/notesSlides/notesSlide13.xml" Id="R90e2e7892d8540b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b7c97b248e524cf5" /><Relationship Type="http://schemas.openxmlformats.org/officeDocument/2006/relationships/notesSlide" Target="/ppt/notesSlides/notesSlide14.xml" Id="R5180836a5aaf46f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7e71bd7ac6d04b4e" /><Relationship Type="http://schemas.openxmlformats.org/officeDocument/2006/relationships/notesSlide" Target="/ppt/notesSlides/notesSlide15.xml" Id="R546ee7c86d8241af"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1b7c84f9403344d2" /><Relationship Type="http://schemas.openxmlformats.org/officeDocument/2006/relationships/notesSlide" Target="/ppt/notesSlides/notesSlide16.xml" Id="R33769a6061a743f3"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eab9a8699d194b1f" /><Relationship Type="http://schemas.openxmlformats.org/officeDocument/2006/relationships/notesSlide" Target="/ppt/notesSlides/notesSlide17.xml" Id="R45c278a12c704292"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21dfae8cfd994b4d" /><Relationship Type="http://schemas.openxmlformats.org/officeDocument/2006/relationships/notesSlide" Target="/ppt/notesSlides/notesSlide18.xml" Id="R200cb3c26ca9462d"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9380247b33ad4876" /><Relationship Type="http://schemas.openxmlformats.org/officeDocument/2006/relationships/notesSlide" Target="/ppt/notesSlides/notesSlide19.xml" Id="R2cb1dba72e3c49c1"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01f692f111d74966" /><Relationship Type="http://schemas.openxmlformats.org/officeDocument/2006/relationships/notesSlide" Target="/ppt/notesSlides/notesSlide20.xml" Id="R3fbc0ccf24254bea"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f618f6a0de9d4559" /><Relationship Type="http://schemas.openxmlformats.org/officeDocument/2006/relationships/notesSlide" Target="/ppt/notesSlides/notesSlide21.xml" Id="Rb1e3fea3d985499b"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874d05cf2eeb40cd" /><Relationship Type="http://schemas.openxmlformats.org/officeDocument/2006/relationships/notesSlide" Target="/ppt/notesSlides/notesSlide22.xml" Id="R46256ac2aa4a4417"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11268dc14c63407b" /><Relationship Type="http://schemas.openxmlformats.org/officeDocument/2006/relationships/notesSlide" Target="/ppt/notesSlides/notesSlide23.xml" Id="R457eedf948644adf"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fd4032faf491474e" /><Relationship Type="http://schemas.openxmlformats.org/officeDocument/2006/relationships/notesSlide" Target="/ppt/notesSlides/notesSlide24.xml" Id="R2e8f7fdc97024423"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18a7df62242c48b5" /><Relationship Type="http://schemas.openxmlformats.org/officeDocument/2006/relationships/notesSlide" Target="/ppt/notesSlides/notesSlide25.xml" Id="Ra9ae2bd4d0ba40fd"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2c73805cd40e49ff" /><Relationship Type="http://schemas.openxmlformats.org/officeDocument/2006/relationships/notesSlide" Target="/ppt/notesSlides/notesSlide26.xml" Id="R04f274ac22bc400a"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b0d0d23562794c1f" /><Relationship Type="http://schemas.openxmlformats.org/officeDocument/2006/relationships/notesSlide" Target="/ppt/notesSlides/notesSlide27.xml" Id="Raa630cc521604835"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34d76ceb51664515" /><Relationship Type="http://schemas.openxmlformats.org/officeDocument/2006/relationships/notesSlide" Target="/ppt/notesSlides/notesSlide28.xml" Id="R3cc5436d38c24bf3"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0a6b1cb6340e4901" /><Relationship Type="http://schemas.openxmlformats.org/officeDocument/2006/relationships/notesSlide" Target="/ppt/notesSlides/notesSlide29.xml" Id="R84230eed31824772"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f5a817e7ea474a5f" /><Relationship Type="http://schemas.openxmlformats.org/officeDocument/2006/relationships/notesSlide" Target="/ppt/notesSlides/notesSlide30.xml" Id="Rf7c9c3c0c22e4f6b"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dbe9989284cc46cf" /><Relationship Type="http://schemas.openxmlformats.org/officeDocument/2006/relationships/notesSlide" Target="/ppt/notesSlides/notesSlide31.xml" Id="R6644b4569ba6476a"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e72c059fef0a49b2" /><Relationship Type="http://schemas.openxmlformats.org/officeDocument/2006/relationships/notesSlide" Target="/ppt/notesSlides/notesSlide32.xml" Id="R4a5dcaa099624c25"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b8cb1773fbc3476c" /><Relationship Type="http://schemas.openxmlformats.org/officeDocument/2006/relationships/notesSlide" Target="/ppt/notesSlides/notesSlide33.xml" Id="R90686c7dc0c54039"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baefd8472b0a42cb" /><Relationship Type="http://schemas.openxmlformats.org/officeDocument/2006/relationships/notesSlide" Target="/ppt/notesSlides/notesSlide34.xml" Id="R5da507aaadc54f56"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d4d07e74ee3f4cd0" /><Relationship Type="http://schemas.openxmlformats.org/officeDocument/2006/relationships/notesSlide" Target="/ppt/notesSlides/notesSlide35.xml" Id="R2cefd082998c4b6e"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0055295a437a44a1" /><Relationship Type="http://schemas.openxmlformats.org/officeDocument/2006/relationships/notesSlide" Target="/ppt/notesSlides/notesSlide36.xml" Id="R013ec44a7a5c453b"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ecc6cf62c9fa4430" /><Relationship Type="http://schemas.openxmlformats.org/officeDocument/2006/relationships/notesSlide" Target="/ppt/notesSlides/notesSlide37.xml" Id="R1d35e45a0211455d"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776af3aa82fd4755" /><Relationship Type="http://schemas.openxmlformats.org/officeDocument/2006/relationships/notesSlide" Target="/ppt/notesSlides/notesSlide38.xml" Id="Re30522329a8d441f" /></Relationships>
</file>

<file path=ppt/slides/slide1.xml><?xml version="1.0" encoding="utf-8"?>
<p:sld xmlns:p="http://schemas.openxmlformats.org/presentationml/2006/main">
  <p:cSld>
    <p:bg>
      <p:bgPr>
        <a:solidFill xmlns:a="http://schemas.openxmlformats.org/drawingml/2006/main">
          <a:srgbClr val="17191C"/>
        </a:solidFill>
      </p:bgPr>
    </p:bg>
    <p:spTree>
      <p:nvGrpSpPr>
        <p:cNvPr id="1" name=""/>
        <p:cNvGrpSpPr/>
        <p:nvPr/>
      </p:nvGrpSpPr>
      <p:grpSpPr>
        <a:xfrm xmlns:a="http://schemas.openxmlformats.org/drawingml/2006/main"/>
      </p:grpSpPr>
      <p:sp>
        <p:nvSpPr>
          <p:cNvPr id="9" name="course-mark">
            <a:extLst xmlns:a="http://schemas.openxmlformats.org/drawingml/2006/main">
              <a:ext uri="{FF2B5EF4-FFF2-40B4-BE49-F238E27FC236}">
                <a16:creationId xmlns:a16="http://schemas.microsoft.com/office/drawing/2014/main" id="{8B175B9A-9D15-4C49-BBBA-C9A336ECE291}"/>
              </a:ext>
            </a:extLst>
          </p:cNvPr>
          <p:cNvSpPr>
            <a:spLocks xmlns:a="http://schemas.openxmlformats.org/drawingml/2006/main" noGrp="1"/>
          </p:cNvSpPr>
          <p:nvPr/>
        </p:nvSpPr>
        <p:spPr>
          <a:xfrm xmlns:a="http://schemas.openxmlformats.org/drawingml/2006/main">
            <a:off x="609600" y="457200"/>
            <a:ext cx="304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1">
                <a:solidFill>
                  <a:srgbClr val="FFFFFF"/>
                </a:solidFill>
                <a:latin typeface="Arial"/>
                <a:ea typeface="Arial"/>
                <a:cs typeface="Arial"/>
              </a:defRPr>
            </a:pPr>
            <a:r>
              <a:rPr sz="1800" b="1">
                <a:solidFill>
                  <a:srgbClr val="FFFFFF"/>
                </a:solidFill>
                <a:latin typeface="Arial"/>
                <a:ea typeface="Arial"/>
                <a:cs typeface="Arial"/>
              </a:rPr>
              <a:t>&lt;&gt;  ARC 500</a:t>
            </a:r>
          </a:p>
        </p:txBody>
      </p:sp>
      <p:sp>
        <p:nvSpPr>
          <p:cNvPr id="2" name="course-full-title">
            <a:extLst xmlns:a="http://schemas.openxmlformats.org/drawingml/2006/main">
              <a:ext uri="{FF2B5EF4-FFF2-40B4-BE49-F238E27FC236}">
                <a16:creationId xmlns:a16="http://schemas.microsoft.com/office/drawing/2014/main" id="{16FD15E2-15E0-42DA-B927-D1A6E59080C9}"/>
              </a:ext>
            </a:extLst>
          </p:cNvPr>
          <p:cNvSpPr>
            <a:spLocks xmlns:a="http://schemas.openxmlformats.org/drawingml/2006/main" noGrp="1"/>
          </p:cNvSpPr>
          <p:nvPr/>
        </p:nvSpPr>
        <p:spPr>
          <a:xfrm xmlns:a="http://schemas.openxmlformats.org/drawingml/2006/main">
            <a:off x="609600" y="819150"/>
            <a:ext cx="1009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9AA1AC"/>
                </a:solidFill>
                <a:latin typeface="Arial"/>
                <a:ea typeface="Arial"/>
                <a:cs typeface="Arial"/>
              </a:defRPr>
            </a:pPr>
            <a:r>
              <a:rPr sz="900" b="0">
                <a:solidFill>
                  <a:srgbClr val="9AA1AC"/>
                </a:solidFill>
                <a:latin typeface="Arial"/>
                <a:ea typeface="Arial"/>
                <a:cs typeface="Arial"/>
              </a:rPr>
              <a:t>Programming with Python and Generative AI  ·  Scripting, Data Analysis, Visualization, Problem-Solving, and Optimization</a:t>
            </a:r>
          </a:p>
        </p:txBody>
      </p:sp>
      <p:sp>
        <p:nvSpPr>
          <p:cNvPr id="3" name="accent-bar">
            <a:extLst xmlns:a="http://schemas.openxmlformats.org/drawingml/2006/main">
              <a:ext uri="{FF2B5EF4-FFF2-40B4-BE49-F238E27FC236}">
                <a16:creationId xmlns:a16="http://schemas.microsoft.com/office/drawing/2014/main" id="{5767DC69-1958-4573-BA40-7C80AF55A1B9}"/>
              </a:ext>
            </a:extLst>
          </p:cNvPr>
          <p:cNvSpPr>
            <a:spLocks xmlns:a="http://schemas.openxmlformats.org/drawingml/2006/main" noGrp="1"/>
          </p:cNvSpPr>
          <p:nvPr/>
        </p:nvSpPr>
        <p:spPr>
          <a:xfrm xmlns:a="http://schemas.openxmlformats.org/drawingml/2006/main">
            <a:off x="609600" y="1333500"/>
            <a:ext cx="133350" cy="2857500"/>
          </a:xfrm>
          <a:prstGeom xmlns:a="http://schemas.openxmlformats.org/drawingml/2006/main" prst="rect">
            <a:avLst/>
          </a:prstGeom>
          <a:solidFill xmlns:a="http://schemas.openxmlformats.org/drawingml/2006/main">
            <a:srgbClr val="2E74B5"/>
          </a:solidFill>
          <a:ln xmlns:a="http://schemas.openxmlformats.org/drawingml/2006/main" w="0">
            <a:noFill/>
            <a:prstDash val="solid"/>
          </a:ln>
        </p:spPr>
      </p:sp>
      <p:sp>
        <p:nvSpPr>
          <p:cNvPr id="4" name="week-label">
            <a:extLst xmlns:a="http://schemas.openxmlformats.org/drawingml/2006/main">
              <a:ext uri="{FF2B5EF4-FFF2-40B4-BE49-F238E27FC236}">
                <a16:creationId xmlns:a16="http://schemas.microsoft.com/office/drawing/2014/main" id="{2B8DCA0F-87ED-4909-9F59-F1DD6F57807A}"/>
              </a:ext>
            </a:extLst>
          </p:cNvPr>
          <p:cNvSpPr>
            <a:spLocks xmlns:a="http://schemas.openxmlformats.org/drawingml/2006/main" noGrp="1"/>
          </p:cNvSpPr>
          <p:nvPr/>
        </p:nvSpPr>
        <p:spPr>
          <a:xfrm xmlns:a="http://schemas.openxmlformats.org/drawingml/2006/main">
            <a:off x="1028700" y="1352550"/>
            <a:ext cx="723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E8EEF5"/>
                </a:solidFill>
                <a:latin typeface="Arial"/>
                <a:ea typeface="Arial"/>
                <a:cs typeface="Arial"/>
              </a:defRPr>
            </a:pPr>
            <a:r>
              <a:rPr sz="1200" b="1">
                <a:solidFill>
                  <a:srgbClr val="E8EEF5"/>
                </a:solidFill>
                <a:latin typeface="Arial"/>
                <a:ea typeface="Arial"/>
                <a:cs typeface="Arial"/>
              </a:rPr>
              <a:t>WEEK 3 · MEETING A · DECISIONS AND FUNCTIONS · FULL SOURCE DECK</a:t>
            </a:r>
          </a:p>
        </p:txBody>
      </p:sp>
      <p:sp>
        <p:nvSpPr>
          <p:cNvPr id="5" name="deck-title">
            <a:extLst xmlns:a="http://schemas.openxmlformats.org/drawingml/2006/main">
              <a:ext uri="{FF2B5EF4-FFF2-40B4-BE49-F238E27FC236}">
                <a16:creationId xmlns:a16="http://schemas.microsoft.com/office/drawing/2014/main" id="{AF7DD0A4-0879-4038-A813-BCA1B9987729}"/>
              </a:ext>
            </a:extLst>
          </p:cNvPr>
          <p:cNvSpPr>
            <a:spLocks xmlns:a="http://schemas.openxmlformats.org/drawingml/2006/main" noGrp="1"/>
          </p:cNvSpPr>
          <p:nvPr/>
        </p:nvSpPr>
        <p:spPr>
          <a:xfrm xmlns:a="http://schemas.openxmlformats.org/drawingml/2006/main">
            <a:off x="1028700" y="1771650"/>
            <a:ext cx="9906000" cy="1905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4500" b="1">
                <a:solidFill>
                  <a:srgbClr val="FFFFFF"/>
                </a:solidFill>
                <a:latin typeface="Arial"/>
                <a:ea typeface="Arial"/>
                <a:cs typeface="Arial"/>
              </a:defRPr>
            </a:pPr>
            <a:r>
              <a:rPr sz="4500" b="1">
                <a:solidFill>
                  <a:srgbClr val="FFFFFF"/>
                </a:solidFill>
                <a:latin typeface="Arial"/>
                <a:ea typeface="Arial"/>
                <a:cs typeface="Arial"/>
              </a:rPr>
              <a:t>Turn design criteria into inspectable program logic</a:t>
            </a:r>
          </a:p>
        </p:txBody>
      </p:sp>
      <p:sp>
        <p:nvSpPr>
          <p:cNvPr id="6" name="deck-subtitle">
            <a:extLst xmlns:a="http://schemas.openxmlformats.org/drawingml/2006/main">
              <a:ext uri="{FF2B5EF4-FFF2-40B4-BE49-F238E27FC236}">
                <a16:creationId xmlns:a16="http://schemas.microsoft.com/office/drawing/2014/main" id="{E8E4A661-AC64-4E84-9796-942B27F1484A}"/>
              </a:ext>
            </a:extLst>
          </p:cNvPr>
          <p:cNvSpPr>
            <a:spLocks xmlns:a="http://schemas.openxmlformats.org/drawingml/2006/main" noGrp="1"/>
          </p:cNvSpPr>
          <p:nvPr/>
        </p:nvSpPr>
        <p:spPr>
          <a:xfrm xmlns:a="http://schemas.openxmlformats.org/drawingml/2006/main">
            <a:off x="1028700" y="3848100"/>
            <a:ext cx="91440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D7D9DC"/>
                </a:solidFill>
                <a:latin typeface="Arial"/>
                <a:ea typeface="Arial"/>
                <a:cs typeface="Arial"/>
              </a:defRPr>
            </a:pPr>
            <a:r>
              <a:rPr sz="2100" b="0">
                <a:solidFill>
                  <a:srgbClr val="D7D9DC"/>
                </a:solidFill>
                <a:latin typeface="Arial"/>
                <a:ea typeface="Arial"/>
                <a:cs typeface="Arial"/>
              </a:rPr>
              <a:t>Booleans, comparisons, branches, loops, functions, and bounded architectural claims</a:t>
            </a:r>
          </a:p>
        </p:txBody>
      </p:sp>
      <p:sp>
        <p:nvSpPr>
          <p:cNvPr id="7" name="">
            <a:extLst xmlns:a="http://schemas.openxmlformats.org/drawingml/2006/main">
              <a:ext uri="{FF2B5EF4-FFF2-40B4-BE49-F238E27FC236}">
                <a16:creationId xmlns:a16="http://schemas.microsoft.com/office/drawing/2014/main" id="{9C0E1FB7-A121-4909-A8C9-D77994A16BE8}"/>
              </a:ext>
            </a:extLst>
          </p:cNvPr>
          <p:cNvSpPr>
            <a:spLocks xmlns:a="http://schemas.openxmlformats.org/drawingml/2006/main" noGrp="1"/>
          </p:cNvSpPr>
          <p:nvPr/>
        </p:nvSpPr>
        <p:spPr>
          <a:xfrm xmlns:a="http://schemas.openxmlformats.org/drawingml/2006/main">
            <a:off x="1028700" y="5295900"/>
            <a:ext cx="2476500" cy="0"/>
          </a:xfrm>
          <a:prstGeom xmlns:a="http://schemas.openxmlformats.org/drawingml/2006/main" prst="line">
            <a:avLst/>
          </a:prstGeom>
          <a:noFill xmlns:a="http://schemas.openxmlformats.org/drawingml/2006/main"/>
          <a:ln xmlns:a="http://schemas.openxmlformats.org/drawingml/2006/main" w="9525">
            <a:solidFill>
              <a:srgbClr val="FFFFFF"/>
            </a:solidFill>
            <a:prstDash val="solid"/>
          </a:ln>
        </p:spPr>
      </p:sp>
      <p:sp>
        <p:nvSpPr>
          <p:cNvPr id="8" name="instructor">
            <a:extLst xmlns:a="http://schemas.openxmlformats.org/drawingml/2006/main">
              <a:ext uri="{FF2B5EF4-FFF2-40B4-BE49-F238E27FC236}">
                <a16:creationId xmlns:a16="http://schemas.microsoft.com/office/drawing/2014/main" id="{D4525B13-8905-44EC-A7C7-B6D4A2B60476}"/>
              </a:ext>
            </a:extLst>
          </p:cNvPr>
          <p:cNvSpPr>
            <a:spLocks xmlns:a="http://schemas.openxmlformats.org/drawingml/2006/main" noGrp="1"/>
          </p:cNvSpPr>
          <p:nvPr/>
        </p:nvSpPr>
        <p:spPr>
          <a:xfrm xmlns:a="http://schemas.openxmlformats.org/drawingml/2006/main">
            <a:off x="1028700" y="5524500"/>
            <a:ext cx="781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0">
                <a:solidFill>
                  <a:srgbClr val="D7D9DC"/>
                </a:solidFill>
                <a:latin typeface="Arial"/>
                <a:ea typeface="Arial"/>
                <a:cs typeface="Arial"/>
              </a:defRPr>
            </a:pPr>
            <a:r>
              <a:rPr sz="1200" b="0">
                <a:solidFill>
                  <a:srgbClr val="D7D9DC"/>
                </a:solidFill>
                <a:latin typeface="Arial"/>
                <a:ea typeface="Arial"/>
                <a:cs typeface="Arial"/>
              </a:rPr>
              <a:t>JunHo Chun, PhD  ·  School of Architecture  ·  Syracuse University  ·  Fall 2026</a:t>
            </a:r>
          </a:p>
        </p:txBody>
      </p:sp>
    </p:spTree>
    <p:extLst>
      <p:ext uri="{BB962C8B-B14F-4D97-AF65-F5344CB8AC3E}">
        <p14:creationId xmlns:p14="http://schemas.microsoft.com/office/powerpoint/2010/main" val="175862906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kicker">
            <a:extLst xmlns:a="http://schemas.openxmlformats.org/drawingml/2006/main">
              <a:ext uri="{FF2B5EF4-FFF2-40B4-BE49-F238E27FC236}">
                <a16:creationId xmlns:a16="http://schemas.microsoft.com/office/drawing/2014/main" id="{E256EBA2-2748-4F54-8A25-F85F5AD7FD78}"/>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PRINCIPLE</a:t>
            </a:r>
          </a:p>
        </p:txBody>
      </p:sp>
      <p:sp>
        <p:nvSpPr>
          <p:cNvPr id="2" name="title">
            <a:extLst xmlns:a="http://schemas.openxmlformats.org/drawingml/2006/main">
              <a:ext uri="{FF2B5EF4-FFF2-40B4-BE49-F238E27FC236}">
                <a16:creationId xmlns:a16="http://schemas.microsoft.com/office/drawing/2014/main" id="{4A2A045B-72B2-49EA-83AE-147AC3E97053}"/>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A design rule is a model of a decision</a:t>
            </a:r>
          </a:p>
        </p:txBody>
      </p:sp>
      <p:sp>
        <p:nvSpPr>
          <p:cNvPr id="3" name="">
            <a:extLst xmlns:a="http://schemas.openxmlformats.org/drawingml/2006/main">
              <a:ext uri="{FF2B5EF4-FFF2-40B4-BE49-F238E27FC236}">
                <a16:creationId xmlns:a16="http://schemas.microsoft.com/office/drawing/2014/main" id="{385532B9-FBE2-4C99-BDF0-921CE14B55F9}"/>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FE370837-9873-4CE0-A76F-2DA347D63DFA}"/>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3 · Meeting A · Decisions and Functions · Full Source Deck</a:t>
            </a:r>
          </a:p>
        </p:txBody>
      </p:sp>
      <p:sp>
        <p:nvSpPr>
          <p:cNvPr id="5" name="page">
            <a:extLst xmlns:a="http://schemas.openxmlformats.org/drawingml/2006/main">
              <a:ext uri="{FF2B5EF4-FFF2-40B4-BE49-F238E27FC236}">
                <a16:creationId xmlns:a16="http://schemas.microsoft.com/office/drawing/2014/main" id="{8613A9C5-984E-45A4-B804-5857541A314D}"/>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02</a:t>
            </a:r>
          </a:p>
        </p:txBody>
      </p:sp>
      <p:sp>
        <p:nvSpPr>
          <p:cNvPr id="6" name="statement">
            <a:extLst xmlns:a="http://schemas.openxmlformats.org/drawingml/2006/main">
              <a:ext uri="{FF2B5EF4-FFF2-40B4-BE49-F238E27FC236}">
                <a16:creationId xmlns:a16="http://schemas.microsoft.com/office/drawing/2014/main" id="{7BB93FFF-06D5-4E5A-B206-F1636F0E9C88}"/>
              </a:ext>
            </a:extLst>
          </p:cNvPr>
          <p:cNvSpPr>
            <a:spLocks xmlns:a="http://schemas.openxmlformats.org/drawingml/2006/main" noGrp="1"/>
          </p:cNvSpPr>
          <p:nvPr/>
        </p:nvSpPr>
        <p:spPr>
          <a:xfrm xmlns:a="http://schemas.openxmlformats.org/drawingml/2006/main">
            <a:off x="609600" y="2305050"/>
            <a:ext cx="9829800" cy="155752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600" b="1">
                <a:solidFill>
                  <a:srgbClr val="111316"/>
                </a:solidFill>
                <a:latin typeface="Arial"/>
                <a:ea typeface="Arial"/>
                <a:cs typeface="Arial"/>
              </a:defRPr>
            </a:pPr>
            <a:r>
              <a:rPr sz="3600" b="1">
                <a:solidFill>
                  <a:srgbClr val="111316"/>
                </a:solidFill>
                <a:latin typeface="Arial"/>
                <a:ea typeface="Arial"/>
                <a:cs typeface="Arial"/>
              </a:rPr>
              <a:t>A conditional turns evidence into different program actions—but only according to the rule we wrote.</a:t>
            </a:r>
          </a:p>
        </p:txBody>
      </p:sp>
      <p:sp>
        <p:nvSpPr>
          <p:cNvPr id="7" name="">
            <a:extLst xmlns:a="http://schemas.openxmlformats.org/drawingml/2006/main">
              <a:ext uri="{FF2B5EF4-FFF2-40B4-BE49-F238E27FC236}">
                <a16:creationId xmlns:a16="http://schemas.microsoft.com/office/drawing/2014/main" id="{118667BC-A3B9-4E9D-98FC-B8C3BDA17ABD}"/>
              </a:ext>
            </a:extLst>
          </p:cNvPr>
          <p:cNvSpPr>
            <a:spLocks xmlns:a="http://schemas.openxmlformats.org/drawingml/2006/main" noGrp="1"/>
          </p:cNvSpPr>
          <p:nvPr/>
        </p:nvSpPr>
        <p:spPr>
          <a:xfrm xmlns:a="http://schemas.openxmlformats.org/drawingml/2006/main">
            <a:off x="609600" y="4072128"/>
            <a:ext cx="1600200" cy="0"/>
          </a:xfrm>
          <a:prstGeom xmlns:a="http://schemas.openxmlformats.org/drawingml/2006/main" prst="line">
            <a:avLst/>
          </a:prstGeom>
          <a:noFill xmlns:a="http://schemas.openxmlformats.org/drawingml/2006/main"/>
          <a:ln xmlns:a="http://schemas.openxmlformats.org/drawingml/2006/main" w="47625">
            <a:solidFill>
              <a:srgbClr val="2E74B5"/>
            </a:solidFill>
            <a:prstDash val="solid"/>
          </a:ln>
        </p:spPr>
      </p:sp>
      <p:sp>
        <p:nvSpPr>
          <p:cNvPr id="8" name="supporting">
            <a:extLst xmlns:a="http://schemas.openxmlformats.org/drawingml/2006/main">
              <a:ext uri="{FF2B5EF4-FFF2-40B4-BE49-F238E27FC236}">
                <a16:creationId xmlns:a16="http://schemas.microsoft.com/office/drawing/2014/main" id="{D4A655A3-8CFB-4E6B-BC33-B41D088C2100}"/>
              </a:ext>
            </a:extLst>
          </p:cNvPr>
          <p:cNvSpPr>
            <a:spLocks xmlns:a="http://schemas.openxmlformats.org/drawingml/2006/main" noGrp="1"/>
          </p:cNvSpPr>
          <p:nvPr/>
        </p:nvSpPr>
        <p:spPr>
          <a:xfrm xmlns:a="http://schemas.openxmlformats.org/drawingml/2006/main">
            <a:off x="609600" y="4395978"/>
            <a:ext cx="9334500" cy="60655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5A5F66"/>
                </a:solidFill>
                <a:latin typeface="Arial"/>
                <a:ea typeface="Arial"/>
                <a:cs typeface="Arial"/>
              </a:defRPr>
            </a:pPr>
            <a:r>
              <a:rPr sz="1800" b="0">
                <a:solidFill>
                  <a:srgbClr val="5A5F66"/>
                </a:solidFill>
                <a:latin typeface="Arial"/>
                <a:ea typeface="Arial"/>
                <a:cs typeface="Arial"/>
              </a:rPr>
              <a:t>The program can apply a criterion consistently. The designer remains responsible for the criterion, boundary, exceptions, and interpretation.</a:t>
            </a:r>
          </a:p>
        </p:txBody>
      </p:sp>
    </p:spTree>
    <p:extLst>
      <p:ext uri="{BB962C8B-B14F-4D97-AF65-F5344CB8AC3E}">
        <p14:creationId xmlns:p14="http://schemas.microsoft.com/office/powerpoint/2010/main" val="14001389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kicker">
            <a:extLst xmlns:a="http://schemas.openxmlformats.org/drawingml/2006/main">
              <a:ext uri="{FF2B5EF4-FFF2-40B4-BE49-F238E27FC236}">
                <a16:creationId xmlns:a16="http://schemas.microsoft.com/office/drawing/2014/main" id="{E7980EF7-A7B7-4CD8-92BA-88446645337E}"/>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LEARNING OUTCOMES</a:t>
            </a:r>
          </a:p>
        </p:txBody>
      </p:sp>
      <p:sp>
        <p:nvSpPr>
          <p:cNvPr id="2" name="title">
            <a:extLst xmlns:a="http://schemas.openxmlformats.org/drawingml/2006/main">
              <a:ext uri="{FF2B5EF4-FFF2-40B4-BE49-F238E27FC236}">
                <a16:creationId xmlns:a16="http://schemas.microsoft.com/office/drawing/2014/main" id="{F7DC003A-4E3D-499F-A433-322F13937B58}"/>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By the end, you should be able to…</a:t>
            </a:r>
          </a:p>
        </p:txBody>
      </p:sp>
      <p:sp>
        <p:nvSpPr>
          <p:cNvPr id="3" name="">
            <a:extLst xmlns:a="http://schemas.openxmlformats.org/drawingml/2006/main">
              <a:ext uri="{FF2B5EF4-FFF2-40B4-BE49-F238E27FC236}">
                <a16:creationId xmlns:a16="http://schemas.microsoft.com/office/drawing/2014/main" id="{22B90448-D774-4A91-B661-27E6AF719390}"/>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60DF3523-C9F0-4218-B861-6AE95CD084C8}"/>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3 · Meeting A · Decisions and Functions · Full Source Deck</a:t>
            </a:r>
          </a:p>
        </p:txBody>
      </p:sp>
      <p:sp>
        <p:nvSpPr>
          <p:cNvPr id="5" name="page">
            <a:extLst xmlns:a="http://schemas.openxmlformats.org/drawingml/2006/main">
              <a:ext uri="{FF2B5EF4-FFF2-40B4-BE49-F238E27FC236}">
                <a16:creationId xmlns:a16="http://schemas.microsoft.com/office/drawing/2014/main" id="{C946C2F1-2338-4565-A848-656638EBD13A}"/>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03</a:t>
            </a:r>
          </a:p>
        </p:txBody>
      </p:sp>
      <p:sp>
        <p:nvSpPr>
          <p:cNvPr id="6" name="outcome-number-0">
            <a:extLst xmlns:a="http://schemas.openxmlformats.org/drawingml/2006/main">
              <a:ext uri="{FF2B5EF4-FFF2-40B4-BE49-F238E27FC236}">
                <a16:creationId xmlns:a16="http://schemas.microsoft.com/office/drawing/2014/main" id="{5DA445E1-FB32-4AB2-B309-EAE9C30663D5}"/>
              </a:ext>
            </a:extLst>
          </p:cNvPr>
          <p:cNvSpPr>
            <a:spLocks xmlns:a="http://schemas.openxmlformats.org/drawingml/2006/main" noGrp="1"/>
          </p:cNvSpPr>
          <p:nvPr/>
        </p:nvSpPr>
        <p:spPr>
          <a:xfrm xmlns:a="http://schemas.openxmlformats.org/drawingml/2006/main">
            <a:off x="609600" y="1885950"/>
            <a:ext cx="4953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000" b="1">
                <a:solidFill>
                  <a:srgbClr val="2E74B5"/>
                </a:solidFill>
                <a:latin typeface="Arial"/>
                <a:ea typeface="Arial"/>
                <a:cs typeface="Arial"/>
              </a:defRPr>
            </a:pPr>
            <a:r>
              <a:rPr sz="3000" b="1">
                <a:solidFill>
                  <a:srgbClr val="2E74B5"/>
                </a:solidFill>
                <a:latin typeface="Arial"/>
                <a:ea typeface="Arial"/>
                <a:cs typeface="Arial"/>
              </a:rPr>
              <a:t>1</a:t>
            </a:r>
          </a:p>
        </p:txBody>
      </p:sp>
      <p:sp>
        <p:nvSpPr>
          <p:cNvPr id="7" name="outcome-head-0">
            <a:extLst xmlns:a="http://schemas.openxmlformats.org/drawingml/2006/main">
              <a:ext uri="{FF2B5EF4-FFF2-40B4-BE49-F238E27FC236}">
                <a16:creationId xmlns:a16="http://schemas.microsoft.com/office/drawing/2014/main" id="{6118D2C1-882D-41F4-A3E1-C9216CC2F03F}"/>
              </a:ext>
            </a:extLst>
          </p:cNvPr>
          <p:cNvSpPr>
            <a:spLocks xmlns:a="http://schemas.openxmlformats.org/drawingml/2006/main" noGrp="1"/>
          </p:cNvSpPr>
          <p:nvPr/>
        </p:nvSpPr>
        <p:spPr>
          <a:xfrm xmlns:a="http://schemas.openxmlformats.org/drawingml/2006/main">
            <a:off x="1200150" y="1905000"/>
            <a:ext cx="4495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Recognize</a:t>
            </a:r>
          </a:p>
        </p:txBody>
      </p:sp>
      <p:sp>
        <p:nvSpPr>
          <p:cNvPr id="8" name="outcome-body-0">
            <a:extLst xmlns:a="http://schemas.openxmlformats.org/drawingml/2006/main">
              <a:ext uri="{FF2B5EF4-FFF2-40B4-BE49-F238E27FC236}">
                <a16:creationId xmlns:a16="http://schemas.microsoft.com/office/drawing/2014/main" id="{D850EACF-F28D-4FC6-A53B-EA849395BEC9}"/>
              </a:ext>
            </a:extLst>
          </p:cNvPr>
          <p:cNvSpPr>
            <a:spLocks xmlns:a="http://schemas.openxmlformats.org/drawingml/2006/main" noGrp="1"/>
          </p:cNvSpPr>
          <p:nvPr/>
        </p:nvSpPr>
        <p:spPr>
          <a:xfrm xmlns:a="http://schemas.openxmlformats.org/drawingml/2006/main">
            <a:off x="1200150" y="2400300"/>
            <a:ext cx="46291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Read Boolean values and comparisons as evidence about one criterion.</a:t>
            </a:r>
          </a:p>
        </p:txBody>
      </p:sp>
      <p:sp>
        <p:nvSpPr>
          <p:cNvPr id="9" name="outcome-number-1">
            <a:extLst xmlns:a="http://schemas.openxmlformats.org/drawingml/2006/main">
              <a:ext uri="{FF2B5EF4-FFF2-40B4-BE49-F238E27FC236}">
                <a16:creationId xmlns:a16="http://schemas.microsoft.com/office/drawing/2014/main" id="{0DC98E38-546F-4236-96C5-1EFCAA09C54D}"/>
              </a:ext>
            </a:extLst>
          </p:cNvPr>
          <p:cNvSpPr>
            <a:spLocks xmlns:a="http://schemas.openxmlformats.org/drawingml/2006/main" noGrp="1"/>
          </p:cNvSpPr>
          <p:nvPr/>
        </p:nvSpPr>
        <p:spPr>
          <a:xfrm xmlns:a="http://schemas.openxmlformats.org/drawingml/2006/main">
            <a:off x="6362700" y="1885950"/>
            <a:ext cx="4953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000" b="1">
                <a:solidFill>
                  <a:srgbClr val="2E74B5"/>
                </a:solidFill>
                <a:latin typeface="Arial"/>
                <a:ea typeface="Arial"/>
                <a:cs typeface="Arial"/>
              </a:defRPr>
            </a:pPr>
            <a:r>
              <a:rPr sz="3000" b="1">
                <a:solidFill>
                  <a:srgbClr val="2E74B5"/>
                </a:solidFill>
                <a:latin typeface="Arial"/>
                <a:ea typeface="Arial"/>
                <a:cs typeface="Arial"/>
              </a:rPr>
              <a:t>2</a:t>
            </a:r>
          </a:p>
        </p:txBody>
      </p:sp>
      <p:sp>
        <p:nvSpPr>
          <p:cNvPr id="10" name="outcome-head-1">
            <a:extLst xmlns:a="http://schemas.openxmlformats.org/drawingml/2006/main">
              <a:ext uri="{FF2B5EF4-FFF2-40B4-BE49-F238E27FC236}">
                <a16:creationId xmlns:a16="http://schemas.microsoft.com/office/drawing/2014/main" id="{EE5E9248-3732-4C89-8F1F-4D90271ADD50}"/>
              </a:ext>
            </a:extLst>
          </p:cNvPr>
          <p:cNvSpPr>
            <a:spLocks xmlns:a="http://schemas.openxmlformats.org/drawingml/2006/main" noGrp="1"/>
          </p:cNvSpPr>
          <p:nvPr/>
        </p:nvSpPr>
        <p:spPr>
          <a:xfrm xmlns:a="http://schemas.openxmlformats.org/drawingml/2006/main">
            <a:off x="6953250" y="1905000"/>
            <a:ext cx="4495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Branch</a:t>
            </a:r>
          </a:p>
        </p:txBody>
      </p:sp>
      <p:sp>
        <p:nvSpPr>
          <p:cNvPr id="11" name="outcome-body-1">
            <a:extLst xmlns:a="http://schemas.openxmlformats.org/drawingml/2006/main">
              <a:ext uri="{FF2B5EF4-FFF2-40B4-BE49-F238E27FC236}">
                <a16:creationId xmlns:a16="http://schemas.microsoft.com/office/drawing/2014/main" id="{B2825489-32F9-4203-82F9-5A51352ACEC0}"/>
              </a:ext>
            </a:extLst>
          </p:cNvPr>
          <p:cNvSpPr>
            <a:spLocks xmlns:a="http://schemas.openxmlformats.org/drawingml/2006/main" noGrp="1"/>
          </p:cNvSpPr>
          <p:nvPr/>
        </p:nvSpPr>
        <p:spPr>
          <a:xfrm xmlns:a="http://schemas.openxmlformats.org/drawingml/2006/main">
            <a:off x="6953250" y="2400300"/>
            <a:ext cx="46291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Use if and else to produce bounded alternative actions.</a:t>
            </a:r>
          </a:p>
        </p:txBody>
      </p:sp>
      <p:sp>
        <p:nvSpPr>
          <p:cNvPr id="12" name="outcome-number-2">
            <a:extLst xmlns:a="http://schemas.openxmlformats.org/drawingml/2006/main">
              <a:ext uri="{FF2B5EF4-FFF2-40B4-BE49-F238E27FC236}">
                <a16:creationId xmlns:a16="http://schemas.microsoft.com/office/drawing/2014/main" id="{12181EB7-6613-484E-BDE1-908422BC660A}"/>
              </a:ext>
            </a:extLst>
          </p:cNvPr>
          <p:cNvSpPr>
            <a:spLocks xmlns:a="http://schemas.openxmlformats.org/drawingml/2006/main" noGrp="1"/>
          </p:cNvSpPr>
          <p:nvPr/>
        </p:nvSpPr>
        <p:spPr>
          <a:xfrm xmlns:a="http://schemas.openxmlformats.org/drawingml/2006/main">
            <a:off x="609600" y="4095750"/>
            <a:ext cx="4953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000" b="1">
                <a:solidFill>
                  <a:srgbClr val="2E74B5"/>
                </a:solidFill>
                <a:latin typeface="Arial"/>
                <a:ea typeface="Arial"/>
                <a:cs typeface="Arial"/>
              </a:defRPr>
            </a:pPr>
            <a:r>
              <a:rPr sz="3000" b="1">
                <a:solidFill>
                  <a:srgbClr val="2E74B5"/>
                </a:solidFill>
                <a:latin typeface="Arial"/>
                <a:ea typeface="Arial"/>
                <a:cs typeface="Arial"/>
              </a:rPr>
              <a:t>3</a:t>
            </a:r>
          </a:p>
        </p:txBody>
      </p:sp>
      <p:sp>
        <p:nvSpPr>
          <p:cNvPr id="13" name="outcome-head-2">
            <a:extLst xmlns:a="http://schemas.openxmlformats.org/drawingml/2006/main">
              <a:ext uri="{FF2B5EF4-FFF2-40B4-BE49-F238E27FC236}">
                <a16:creationId xmlns:a16="http://schemas.microsoft.com/office/drawing/2014/main" id="{AB760604-FC89-4577-A8BF-D8AD6D8FE617}"/>
              </a:ext>
            </a:extLst>
          </p:cNvPr>
          <p:cNvSpPr>
            <a:spLocks xmlns:a="http://schemas.openxmlformats.org/drawingml/2006/main" noGrp="1"/>
          </p:cNvSpPr>
          <p:nvPr/>
        </p:nvSpPr>
        <p:spPr>
          <a:xfrm xmlns:a="http://schemas.openxmlformats.org/drawingml/2006/main">
            <a:off x="1200150" y="4114800"/>
            <a:ext cx="4495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Test</a:t>
            </a:r>
          </a:p>
        </p:txBody>
      </p:sp>
      <p:sp>
        <p:nvSpPr>
          <p:cNvPr id="14" name="outcome-body-2">
            <a:extLst xmlns:a="http://schemas.openxmlformats.org/drawingml/2006/main">
              <a:ext uri="{FF2B5EF4-FFF2-40B4-BE49-F238E27FC236}">
                <a16:creationId xmlns:a16="http://schemas.microsoft.com/office/drawing/2014/main" id="{F045B16C-15A2-4F95-BADF-6DDEDE6CA90E}"/>
              </a:ext>
            </a:extLst>
          </p:cNvPr>
          <p:cNvSpPr>
            <a:spLocks xmlns:a="http://schemas.openxmlformats.org/drawingml/2006/main" noGrp="1"/>
          </p:cNvSpPr>
          <p:nvPr/>
        </p:nvSpPr>
        <p:spPr>
          <a:xfrm xmlns:a="http://schemas.openxmlformats.org/drawingml/2006/main">
            <a:off x="1200150" y="4610100"/>
            <a:ext cx="46291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Predict below, equal, and above-boundary outcomes before running code.</a:t>
            </a:r>
          </a:p>
        </p:txBody>
      </p:sp>
      <p:sp>
        <p:nvSpPr>
          <p:cNvPr id="15" name="outcome-number-3">
            <a:extLst xmlns:a="http://schemas.openxmlformats.org/drawingml/2006/main">
              <a:ext uri="{FF2B5EF4-FFF2-40B4-BE49-F238E27FC236}">
                <a16:creationId xmlns:a16="http://schemas.microsoft.com/office/drawing/2014/main" id="{C858492F-F1B7-460A-9138-B4AA4DF4CDB0}"/>
              </a:ext>
            </a:extLst>
          </p:cNvPr>
          <p:cNvSpPr>
            <a:spLocks xmlns:a="http://schemas.openxmlformats.org/drawingml/2006/main" noGrp="1"/>
          </p:cNvSpPr>
          <p:nvPr/>
        </p:nvSpPr>
        <p:spPr>
          <a:xfrm xmlns:a="http://schemas.openxmlformats.org/drawingml/2006/main">
            <a:off x="6362700" y="4095750"/>
            <a:ext cx="4953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000" b="1">
                <a:solidFill>
                  <a:srgbClr val="2E74B5"/>
                </a:solidFill>
                <a:latin typeface="Arial"/>
                <a:ea typeface="Arial"/>
                <a:cs typeface="Arial"/>
              </a:defRPr>
            </a:pPr>
            <a:r>
              <a:rPr sz="3000" b="1">
                <a:solidFill>
                  <a:srgbClr val="2E74B5"/>
                </a:solidFill>
                <a:latin typeface="Arial"/>
                <a:ea typeface="Arial"/>
                <a:cs typeface="Arial"/>
              </a:rPr>
              <a:t>4</a:t>
            </a:r>
          </a:p>
        </p:txBody>
      </p:sp>
      <p:sp>
        <p:nvSpPr>
          <p:cNvPr id="16" name="outcome-head-3">
            <a:extLst xmlns:a="http://schemas.openxmlformats.org/drawingml/2006/main">
              <a:ext uri="{FF2B5EF4-FFF2-40B4-BE49-F238E27FC236}">
                <a16:creationId xmlns:a16="http://schemas.microsoft.com/office/drawing/2014/main" id="{B561D718-35A4-4183-AC69-4638A47F7E88}"/>
              </a:ext>
            </a:extLst>
          </p:cNvPr>
          <p:cNvSpPr>
            <a:spLocks xmlns:a="http://schemas.openxmlformats.org/drawingml/2006/main" noGrp="1"/>
          </p:cNvSpPr>
          <p:nvPr/>
        </p:nvSpPr>
        <p:spPr>
          <a:xfrm xmlns:a="http://schemas.openxmlformats.org/drawingml/2006/main">
            <a:off x="6953250" y="4114800"/>
            <a:ext cx="4495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Package</a:t>
            </a:r>
          </a:p>
        </p:txBody>
      </p:sp>
      <p:sp>
        <p:nvSpPr>
          <p:cNvPr id="17" name="outcome-body-3">
            <a:extLst xmlns:a="http://schemas.openxmlformats.org/drawingml/2006/main">
              <a:ext uri="{FF2B5EF4-FFF2-40B4-BE49-F238E27FC236}">
                <a16:creationId xmlns:a16="http://schemas.microsoft.com/office/drawing/2014/main" id="{FAA3F589-3EAC-48F9-966F-E4F57979088C}"/>
              </a:ext>
            </a:extLst>
          </p:cNvPr>
          <p:cNvSpPr>
            <a:spLocks xmlns:a="http://schemas.openxmlformats.org/drawingml/2006/main" noGrp="1"/>
          </p:cNvSpPr>
          <p:nvPr/>
        </p:nvSpPr>
        <p:spPr>
          <a:xfrm xmlns:a="http://schemas.openxmlformats.org/drawingml/2006/main">
            <a:off x="6953250" y="4610100"/>
            <a:ext cx="46291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Define, call, and explain a small function that returns reusable evidence.</a:t>
            </a:r>
          </a:p>
        </p:txBody>
      </p:sp>
    </p:spTree>
    <p:extLst>
      <p:ext uri="{BB962C8B-B14F-4D97-AF65-F5344CB8AC3E}">
        <p14:creationId xmlns:p14="http://schemas.microsoft.com/office/powerpoint/2010/main" val="122086561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kicker">
            <a:extLst xmlns:a="http://schemas.openxmlformats.org/drawingml/2006/main">
              <a:ext uri="{FF2B5EF4-FFF2-40B4-BE49-F238E27FC236}">
                <a16:creationId xmlns:a16="http://schemas.microsoft.com/office/drawing/2014/main" id="{C056E8F4-9891-4AA4-8186-BE4FBF73A369}"/>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ROAD MAP</a:t>
            </a:r>
          </a:p>
        </p:txBody>
      </p:sp>
      <p:sp>
        <p:nvSpPr>
          <p:cNvPr id="2" name="title">
            <a:extLst xmlns:a="http://schemas.openxmlformats.org/drawingml/2006/main">
              <a:ext uri="{FF2B5EF4-FFF2-40B4-BE49-F238E27FC236}">
                <a16:creationId xmlns:a16="http://schemas.microsoft.com/office/drawing/2014/main" id="{1B4568B5-ECDF-4D11-86F1-716A268340C5}"/>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Today’s learning sequence</a:t>
            </a:r>
          </a:p>
        </p:txBody>
      </p:sp>
      <p:sp>
        <p:nvSpPr>
          <p:cNvPr id="3" name="">
            <a:extLst xmlns:a="http://schemas.openxmlformats.org/drawingml/2006/main">
              <a:ext uri="{FF2B5EF4-FFF2-40B4-BE49-F238E27FC236}">
                <a16:creationId xmlns:a16="http://schemas.microsoft.com/office/drawing/2014/main" id="{D1FBB51D-F6F3-4FA9-A3C9-BCBE7B64FC75}"/>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0C7026B6-CEA6-452B-B9AB-C3A88EE2C310}"/>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3 · Meeting A · Decisions and Functions · Full Source Deck</a:t>
            </a:r>
          </a:p>
        </p:txBody>
      </p:sp>
      <p:sp>
        <p:nvSpPr>
          <p:cNvPr id="5" name="page">
            <a:extLst xmlns:a="http://schemas.openxmlformats.org/drawingml/2006/main">
              <a:ext uri="{FF2B5EF4-FFF2-40B4-BE49-F238E27FC236}">
                <a16:creationId xmlns:a16="http://schemas.microsoft.com/office/drawing/2014/main" id="{DE2C75EA-5AD0-4F26-8B9D-B0EE8D45274A}"/>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04</a:t>
            </a:r>
          </a:p>
        </p:txBody>
      </p:sp>
      <p:sp>
        <p:nvSpPr>
          <p:cNvPr id="6" name="agenda-no-0">
            <a:extLst xmlns:a="http://schemas.openxmlformats.org/drawingml/2006/main">
              <a:ext uri="{FF2B5EF4-FFF2-40B4-BE49-F238E27FC236}">
                <a16:creationId xmlns:a16="http://schemas.microsoft.com/office/drawing/2014/main" id="{64DC7EF2-7A15-44A2-AEBD-D9F34E3D72A8}"/>
              </a:ext>
            </a:extLst>
          </p:cNvPr>
          <p:cNvSpPr>
            <a:spLocks xmlns:a="http://schemas.openxmlformats.org/drawingml/2006/main" noGrp="1"/>
          </p:cNvSpPr>
          <p:nvPr/>
        </p:nvSpPr>
        <p:spPr>
          <a:xfrm xmlns:a="http://schemas.openxmlformats.org/drawingml/2006/main">
            <a:off x="609600" y="2200275"/>
            <a:ext cx="590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2E74B5"/>
                </a:solidFill>
                <a:latin typeface="Arial"/>
                <a:ea typeface="Arial"/>
                <a:cs typeface="Arial"/>
              </a:defRPr>
            </a:pPr>
            <a:r>
              <a:rPr sz="1200" b="1">
                <a:solidFill>
                  <a:srgbClr val="2E74B5"/>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7B3D8B7C-2C80-4400-8CE9-563547CEA963}"/>
              </a:ext>
            </a:extLst>
          </p:cNvPr>
          <p:cNvSpPr>
            <a:spLocks xmlns:a="http://schemas.openxmlformats.org/drawingml/2006/main" noGrp="1"/>
          </p:cNvSpPr>
          <p:nvPr/>
        </p:nvSpPr>
        <p:spPr>
          <a:xfrm xmlns:a="http://schemas.openxmlformats.org/drawingml/2006/main">
            <a:off x="1314450" y="2352675"/>
            <a:ext cx="742950" cy="0"/>
          </a:xfrm>
          <a:prstGeom xmlns:a="http://schemas.openxmlformats.org/drawingml/2006/main" prst="line">
            <a:avLst/>
          </a:prstGeom>
          <a:noFill xmlns:a="http://schemas.openxmlformats.org/drawingml/2006/main"/>
          <a:ln xmlns:a="http://schemas.openxmlformats.org/drawingml/2006/main" w="28575">
            <a:solidFill>
              <a:srgbClr val="2E74B5"/>
            </a:solidFill>
            <a:prstDash val="solid"/>
          </a:ln>
        </p:spPr>
      </p:sp>
      <p:sp>
        <p:nvSpPr>
          <p:cNvPr id="8" name="agenda-item-0">
            <a:extLst xmlns:a="http://schemas.openxmlformats.org/drawingml/2006/main">
              <a:ext uri="{FF2B5EF4-FFF2-40B4-BE49-F238E27FC236}">
                <a16:creationId xmlns:a16="http://schemas.microsoft.com/office/drawing/2014/main" id="{A6C08146-AB16-4F51-8E0D-1890BC335050}"/>
              </a:ext>
            </a:extLst>
          </p:cNvPr>
          <p:cNvSpPr>
            <a:spLocks xmlns:a="http://schemas.openxmlformats.org/drawingml/2006/main" noGrp="1"/>
          </p:cNvSpPr>
          <p:nvPr/>
        </p:nvSpPr>
        <p:spPr>
          <a:xfrm xmlns:a="http://schemas.openxmlformats.org/drawingml/2006/main">
            <a:off x="2381250" y="2143125"/>
            <a:ext cx="92011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111316"/>
                </a:solidFill>
                <a:latin typeface="Arial"/>
                <a:ea typeface="Arial"/>
                <a:cs typeface="Arial"/>
              </a:defRPr>
            </a:pPr>
            <a:r>
              <a:rPr sz="2100" b="0">
                <a:solidFill>
                  <a:srgbClr val="111316"/>
                </a:solidFill>
                <a:latin typeface="Arial"/>
                <a:ea typeface="Arial"/>
                <a:cs typeface="Arial"/>
              </a:rPr>
              <a:t>Boolean values and comparisons</a:t>
            </a:r>
          </a:p>
        </p:txBody>
      </p:sp>
      <p:sp>
        <p:nvSpPr>
          <p:cNvPr id="9" name="agenda-no-1">
            <a:extLst xmlns:a="http://schemas.openxmlformats.org/drawingml/2006/main">
              <a:ext uri="{FF2B5EF4-FFF2-40B4-BE49-F238E27FC236}">
                <a16:creationId xmlns:a16="http://schemas.microsoft.com/office/drawing/2014/main" id="{13910B0C-07F9-47D1-BC28-D238DF5395E0}"/>
              </a:ext>
            </a:extLst>
          </p:cNvPr>
          <p:cNvSpPr>
            <a:spLocks xmlns:a="http://schemas.openxmlformats.org/drawingml/2006/main" noGrp="1"/>
          </p:cNvSpPr>
          <p:nvPr/>
        </p:nvSpPr>
        <p:spPr>
          <a:xfrm xmlns:a="http://schemas.openxmlformats.org/drawingml/2006/main">
            <a:off x="609600" y="3114675"/>
            <a:ext cx="590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2E74B5"/>
                </a:solidFill>
                <a:latin typeface="Arial"/>
                <a:ea typeface="Arial"/>
                <a:cs typeface="Arial"/>
              </a:defRPr>
            </a:pPr>
            <a:r>
              <a:rPr sz="1200" b="1">
                <a:solidFill>
                  <a:srgbClr val="2E74B5"/>
                </a:solidFill>
                <a:latin typeface="Arial"/>
                <a:ea typeface="Arial"/>
                <a:cs typeface="Arial"/>
              </a:rPr>
              <a:t>02</a:t>
            </a:r>
          </a:p>
        </p:txBody>
      </p:sp>
      <p:sp>
        <p:nvSpPr>
          <p:cNvPr id="10" name="">
            <a:extLst xmlns:a="http://schemas.openxmlformats.org/drawingml/2006/main">
              <a:ext uri="{FF2B5EF4-FFF2-40B4-BE49-F238E27FC236}">
                <a16:creationId xmlns:a16="http://schemas.microsoft.com/office/drawing/2014/main" id="{85DA3222-3A3B-40B5-B5D7-E03F2C9A23F6}"/>
              </a:ext>
            </a:extLst>
          </p:cNvPr>
          <p:cNvSpPr>
            <a:spLocks xmlns:a="http://schemas.openxmlformats.org/drawingml/2006/main" noGrp="1"/>
          </p:cNvSpPr>
          <p:nvPr/>
        </p:nvSpPr>
        <p:spPr>
          <a:xfrm xmlns:a="http://schemas.openxmlformats.org/drawingml/2006/main">
            <a:off x="1314450" y="3267075"/>
            <a:ext cx="74295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11" name="agenda-item-1">
            <a:extLst xmlns:a="http://schemas.openxmlformats.org/drawingml/2006/main">
              <a:ext uri="{FF2B5EF4-FFF2-40B4-BE49-F238E27FC236}">
                <a16:creationId xmlns:a16="http://schemas.microsoft.com/office/drawing/2014/main" id="{98D0A8CD-5E0D-45AC-8901-4FBC8D6A51F9}"/>
              </a:ext>
            </a:extLst>
          </p:cNvPr>
          <p:cNvSpPr>
            <a:spLocks xmlns:a="http://schemas.openxmlformats.org/drawingml/2006/main" noGrp="1"/>
          </p:cNvSpPr>
          <p:nvPr/>
        </p:nvSpPr>
        <p:spPr>
          <a:xfrm xmlns:a="http://schemas.openxmlformats.org/drawingml/2006/main">
            <a:off x="2381250" y="3057525"/>
            <a:ext cx="92011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111316"/>
                </a:solidFill>
                <a:latin typeface="Arial"/>
                <a:ea typeface="Arial"/>
                <a:cs typeface="Arial"/>
              </a:defRPr>
            </a:pPr>
            <a:r>
              <a:rPr sz="2100" b="0">
                <a:solidFill>
                  <a:srgbClr val="111316"/>
                </a:solidFill>
                <a:latin typeface="Arial"/>
                <a:ea typeface="Arial"/>
                <a:cs typeface="Arial"/>
              </a:rPr>
              <a:t>if/else and indentation</a:t>
            </a:r>
          </a:p>
        </p:txBody>
      </p:sp>
      <p:sp>
        <p:nvSpPr>
          <p:cNvPr id="12" name="agenda-no-2">
            <a:extLst xmlns:a="http://schemas.openxmlformats.org/drawingml/2006/main">
              <a:ext uri="{FF2B5EF4-FFF2-40B4-BE49-F238E27FC236}">
                <a16:creationId xmlns:a16="http://schemas.microsoft.com/office/drawing/2014/main" id="{6CB8C91F-6B4B-400F-A0A6-DF6D04EEEB80}"/>
              </a:ext>
            </a:extLst>
          </p:cNvPr>
          <p:cNvSpPr>
            <a:spLocks xmlns:a="http://schemas.openxmlformats.org/drawingml/2006/main" noGrp="1"/>
          </p:cNvSpPr>
          <p:nvPr/>
        </p:nvSpPr>
        <p:spPr>
          <a:xfrm xmlns:a="http://schemas.openxmlformats.org/drawingml/2006/main">
            <a:off x="609600" y="4029075"/>
            <a:ext cx="590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2E74B5"/>
                </a:solidFill>
                <a:latin typeface="Arial"/>
                <a:ea typeface="Arial"/>
                <a:cs typeface="Arial"/>
              </a:defRPr>
            </a:pPr>
            <a:r>
              <a:rPr sz="1200" b="1">
                <a:solidFill>
                  <a:srgbClr val="2E74B5"/>
                </a:solidFill>
                <a:latin typeface="Arial"/>
                <a:ea typeface="Arial"/>
                <a:cs typeface="Arial"/>
              </a:rPr>
              <a:t>03</a:t>
            </a:r>
          </a:p>
        </p:txBody>
      </p:sp>
      <p:sp>
        <p:nvSpPr>
          <p:cNvPr id="13" name="">
            <a:extLst xmlns:a="http://schemas.openxmlformats.org/drawingml/2006/main">
              <a:ext uri="{FF2B5EF4-FFF2-40B4-BE49-F238E27FC236}">
                <a16:creationId xmlns:a16="http://schemas.microsoft.com/office/drawing/2014/main" id="{5C10BE60-6278-4D63-8498-DAF11B17D4C9}"/>
              </a:ext>
            </a:extLst>
          </p:cNvPr>
          <p:cNvSpPr>
            <a:spLocks xmlns:a="http://schemas.openxmlformats.org/drawingml/2006/main" noGrp="1"/>
          </p:cNvSpPr>
          <p:nvPr/>
        </p:nvSpPr>
        <p:spPr>
          <a:xfrm xmlns:a="http://schemas.openxmlformats.org/drawingml/2006/main">
            <a:off x="1314450" y="4181475"/>
            <a:ext cx="74295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14" name="agenda-item-2">
            <a:extLst xmlns:a="http://schemas.openxmlformats.org/drawingml/2006/main">
              <a:ext uri="{FF2B5EF4-FFF2-40B4-BE49-F238E27FC236}">
                <a16:creationId xmlns:a16="http://schemas.microsoft.com/office/drawing/2014/main" id="{7941E1DB-E6FD-4DC0-91CE-BCF00C949A52}"/>
              </a:ext>
            </a:extLst>
          </p:cNvPr>
          <p:cNvSpPr>
            <a:spLocks xmlns:a="http://schemas.openxmlformats.org/drawingml/2006/main" noGrp="1"/>
          </p:cNvSpPr>
          <p:nvPr/>
        </p:nvSpPr>
        <p:spPr>
          <a:xfrm xmlns:a="http://schemas.openxmlformats.org/drawingml/2006/main">
            <a:off x="2381250" y="3971925"/>
            <a:ext cx="92011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111316"/>
                </a:solidFill>
                <a:latin typeface="Arial"/>
                <a:ea typeface="Arial"/>
                <a:cs typeface="Arial"/>
              </a:defRPr>
            </a:pPr>
            <a:r>
              <a:rPr sz="2100" b="0">
                <a:solidFill>
                  <a:srgbClr val="111316"/>
                </a:solidFill>
                <a:latin typeface="Arial"/>
                <a:ea typeface="Arial"/>
                <a:cs typeface="Arial"/>
              </a:rPr>
              <a:t>Boundary cases as policy choices</a:t>
            </a:r>
          </a:p>
        </p:txBody>
      </p:sp>
      <p:sp>
        <p:nvSpPr>
          <p:cNvPr id="15" name="agenda-no-3">
            <a:extLst xmlns:a="http://schemas.openxmlformats.org/drawingml/2006/main">
              <a:ext uri="{FF2B5EF4-FFF2-40B4-BE49-F238E27FC236}">
                <a16:creationId xmlns:a16="http://schemas.microsoft.com/office/drawing/2014/main" id="{B58C5EA3-5077-4117-A592-30B5A0B7B12B}"/>
              </a:ext>
            </a:extLst>
          </p:cNvPr>
          <p:cNvSpPr>
            <a:spLocks xmlns:a="http://schemas.openxmlformats.org/drawingml/2006/main" noGrp="1"/>
          </p:cNvSpPr>
          <p:nvPr/>
        </p:nvSpPr>
        <p:spPr>
          <a:xfrm xmlns:a="http://schemas.openxmlformats.org/drawingml/2006/main">
            <a:off x="609600" y="4943475"/>
            <a:ext cx="590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2E74B5"/>
                </a:solidFill>
                <a:latin typeface="Arial"/>
                <a:ea typeface="Arial"/>
                <a:cs typeface="Arial"/>
              </a:defRPr>
            </a:pPr>
            <a:r>
              <a:rPr sz="1200" b="1">
                <a:solidFill>
                  <a:srgbClr val="2E74B5"/>
                </a:solidFill>
                <a:latin typeface="Arial"/>
                <a:ea typeface="Arial"/>
                <a:cs typeface="Arial"/>
              </a:rPr>
              <a:t>04</a:t>
            </a:r>
          </a:p>
        </p:txBody>
      </p:sp>
      <p:sp>
        <p:nvSpPr>
          <p:cNvPr id="16" name="">
            <a:extLst xmlns:a="http://schemas.openxmlformats.org/drawingml/2006/main">
              <a:ext uri="{FF2B5EF4-FFF2-40B4-BE49-F238E27FC236}">
                <a16:creationId xmlns:a16="http://schemas.microsoft.com/office/drawing/2014/main" id="{83B7C8F9-CCD9-4D20-B406-0E9D5FEFD6F5}"/>
              </a:ext>
            </a:extLst>
          </p:cNvPr>
          <p:cNvSpPr>
            <a:spLocks xmlns:a="http://schemas.openxmlformats.org/drawingml/2006/main" noGrp="1"/>
          </p:cNvSpPr>
          <p:nvPr/>
        </p:nvSpPr>
        <p:spPr>
          <a:xfrm xmlns:a="http://schemas.openxmlformats.org/drawingml/2006/main">
            <a:off x="1314450" y="5095875"/>
            <a:ext cx="74295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17" name="agenda-item-3">
            <a:extLst xmlns:a="http://schemas.openxmlformats.org/drawingml/2006/main">
              <a:ext uri="{FF2B5EF4-FFF2-40B4-BE49-F238E27FC236}">
                <a16:creationId xmlns:a16="http://schemas.microsoft.com/office/drawing/2014/main" id="{A7E5E54A-87ED-4972-942A-C15440B295E4}"/>
              </a:ext>
            </a:extLst>
          </p:cNvPr>
          <p:cNvSpPr>
            <a:spLocks xmlns:a="http://schemas.openxmlformats.org/drawingml/2006/main" noGrp="1"/>
          </p:cNvSpPr>
          <p:nvPr/>
        </p:nvSpPr>
        <p:spPr>
          <a:xfrm xmlns:a="http://schemas.openxmlformats.org/drawingml/2006/main">
            <a:off x="2381250" y="4886325"/>
            <a:ext cx="92011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111316"/>
                </a:solidFill>
                <a:latin typeface="Arial"/>
                <a:ea typeface="Arial"/>
                <a:cs typeface="Arial"/>
              </a:defRPr>
            </a:pPr>
            <a:r>
              <a:rPr sz="2100" b="0">
                <a:solidFill>
                  <a:srgbClr val="111316"/>
                </a:solidFill>
                <a:latin typeface="Arial"/>
                <a:ea typeface="Arial"/>
                <a:cs typeface="Arial"/>
              </a:rPr>
              <a:t>Function definition, call, and return</a:t>
            </a:r>
          </a:p>
        </p:txBody>
      </p:sp>
    </p:spTree>
    <p:extLst>
      <p:ext uri="{BB962C8B-B14F-4D97-AF65-F5344CB8AC3E}">
        <p14:creationId xmlns:p14="http://schemas.microsoft.com/office/powerpoint/2010/main" val="86853757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kicker">
            <a:extLst xmlns:a="http://schemas.openxmlformats.org/drawingml/2006/main">
              <a:ext uri="{FF2B5EF4-FFF2-40B4-BE49-F238E27FC236}">
                <a16:creationId xmlns:a16="http://schemas.microsoft.com/office/drawing/2014/main" id="{2E8CD4D3-8E37-4566-8C99-F7F1CC338050}"/>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EASY → MEDIUM → HARD</a:t>
            </a:r>
          </a:p>
        </p:txBody>
      </p:sp>
      <p:sp>
        <p:nvSpPr>
          <p:cNvPr id="2" name="title">
            <a:extLst xmlns:a="http://schemas.openxmlformats.org/drawingml/2006/main">
              <a:ext uri="{FF2B5EF4-FFF2-40B4-BE49-F238E27FC236}">
                <a16:creationId xmlns:a16="http://schemas.microsoft.com/office/drawing/2014/main" id="{7F881893-E43A-4E10-A46A-F8B4AD44D8D5}"/>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One threshold becomes a reusable schedule-screening procedure</a:t>
            </a:r>
          </a:p>
        </p:txBody>
      </p:sp>
      <p:sp>
        <p:nvSpPr>
          <p:cNvPr id="3" name="">
            <a:extLst xmlns:a="http://schemas.openxmlformats.org/drawingml/2006/main">
              <a:ext uri="{FF2B5EF4-FFF2-40B4-BE49-F238E27FC236}">
                <a16:creationId xmlns:a16="http://schemas.microsoft.com/office/drawing/2014/main" id="{0DB227FD-24D0-4291-8331-705F0EC61462}"/>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06B57869-F9F0-4B07-AC8E-2123EF038B77}"/>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3 · Meeting A · Decisions and Functions · Full Source Deck</a:t>
            </a:r>
          </a:p>
        </p:txBody>
      </p:sp>
      <p:sp>
        <p:nvSpPr>
          <p:cNvPr id="5" name="page">
            <a:extLst xmlns:a="http://schemas.openxmlformats.org/drawingml/2006/main">
              <a:ext uri="{FF2B5EF4-FFF2-40B4-BE49-F238E27FC236}">
                <a16:creationId xmlns:a16="http://schemas.microsoft.com/office/drawing/2014/main" id="{CF27BC0A-B203-460E-AC75-0D8B68D2031F}"/>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05</a:t>
            </a:r>
          </a:p>
        </p:txBody>
      </p:sp>
      <p:sp>
        <p:nvSpPr>
          <p:cNvPr id="6" name="ladder-row-0">
            <a:extLst xmlns:a="http://schemas.openxmlformats.org/drawingml/2006/main">
              <a:ext uri="{FF2B5EF4-FFF2-40B4-BE49-F238E27FC236}">
                <a16:creationId xmlns:a16="http://schemas.microsoft.com/office/drawing/2014/main" id="{BCCA181E-6C14-449F-9E30-078A06EAAF3E}"/>
              </a:ext>
            </a:extLst>
          </p:cNvPr>
          <p:cNvSpPr>
            <a:spLocks xmlns:a="http://schemas.openxmlformats.org/drawingml/2006/main" noGrp="1"/>
          </p:cNvSpPr>
          <p:nvPr/>
        </p:nvSpPr>
        <p:spPr>
          <a:xfrm xmlns:a="http://schemas.openxmlformats.org/drawingml/2006/main">
            <a:off x="609600" y="1847850"/>
            <a:ext cx="10972800" cy="1314450"/>
          </a:xfrm>
          <a:prstGeom xmlns:a="http://schemas.openxmlformats.org/drawingml/2006/main" prst="roundRect">
            <a:avLst>
              <a:gd name="adj" fmla="val 5797"/>
            </a:avLst>
          </a:prstGeom>
          <a:solidFill xmlns:a="http://schemas.openxmlformats.org/drawingml/2006/main">
            <a:srgbClr val="F6F7F9"/>
          </a:solidFill>
          <a:ln xmlns:a="http://schemas.openxmlformats.org/drawingml/2006/main" w="9525">
            <a:solidFill>
              <a:srgbClr val="DDE0E5"/>
            </a:solidFill>
            <a:prstDash val="solid"/>
          </a:ln>
        </p:spPr>
      </p:sp>
      <p:sp>
        <p:nvSpPr>
          <p:cNvPr id="7" name="ladder-accent-0">
            <a:extLst xmlns:a="http://schemas.openxmlformats.org/drawingml/2006/main">
              <a:ext uri="{FF2B5EF4-FFF2-40B4-BE49-F238E27FC236}">
                <a16:creationId xmlns:a16="http://schemas.microsoft.com/office/drawing/2014/main" id="{7DA14C86-9FB7-4629-B3AB-1E7CEA56ADAE}"/>
              </a:ext>
            </a:extLst>
          </p:cNvPr>
          <p:cNvSpPr>
            <a:spLocks xmlns:a="http://schemas.openxmlformats.org/drawingml/2006/main" noGrp="1"/>
          </p:cNvSpPr>
          <p:nvPr/>
        </p:nvSpPr>
        <p:spPr>
          <a:xfrm xmlns:a="http://schemas.openxmlformats.org/drawingml/2006/main">
            <a:off x="609600" y="1847850"/>
            <a:ext cx="76200" cy="1314450"/>
          </a:xfrm>
          <a:prstGeom xmlns:a="http://schemas.openxmlformats.org/drawingml/2006/main" prst="rect">
            <a:avLst/>
          </a:prstGeom>
          <a:solidFill xmlns:a="http://schemas.openxmlformats.org/drawingml/2006/main">
            <a:srgbClr val="2E7D5B"/>
          </a:solidFill>
          <a:ln xmlns:a="http://schemas.openxmlformats.org/drawingml/2006/main" w="0">
            <a:noFill/>
            <a:prstDash val="solid"/>
          </a:ln>
        </p:spPr>
      </p:sp>
      <p:sp>
        <p:nvSpPr>
          <p:cNvPr id="8" name="ladder-level-0">
            <a:extLst xmlns:a="http://schemas.openxmlformats.org/drawingml/2006/main">
              <a:ext uri="{FF2B5EF4-FFF2-40B4-BE49-F238E27FC236}">
                <a16:creationId xmlns:a16="http://schemas.microsoft.com/office/drawing/2014/main" id="{5BE5164C-A086-437A-BE28-4C4845910872}"/>
              </a:ext>
            </a:extLst>
          </p:cNvPr>
          <p:cNvSpPr>
            <a:spLocks xmlns:a="http://schemas.openxmlformats.org/drawingml/2006/main" noGrp="1"/>
          </p:cNvSpPr>
          <p:nvPr/>
        </p:nvSpPr>
        <p:spPr>
          <a:xfrm xmlns:a="http://schemas.openxmlformats.org/drawingml/2006/main">
            <a:off x="857250" y="2019300"/>
            <a:ext cx="1371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D5B"/>
                </a:solidFill>
                <a:latin typeface="Arial"/>
                <a:ea typeface="Arial"/>
                <a:cs typeface="Arial"/>
              </a:defRPr>
            </a:pPr>
            <a:r>
              <a:rPr sz="900" b="1">
                <a:solidFill>
                  <a:srgbClr val="2E7D5B"/>
                </a:solidFill>
                <a:latin typeface="Arial"/>
                <a:ea typeface="Arial"/>
                <a:cs typeface="Arial"/>
              </a:rPr>
              <a:t>EASY</a:t>
            </a:r>
          </a:p>
        </p:txBody>
      </p:sp>
      <p:sp>
        <p:nvSpPr>
          <p:cNvPr id="9" name="ladder-focus-0">
            <a:extLst xmlns:a="http://schemas.openxmlformats.org/drawingml/2006/main">
              <a:ext uri="{FF2B5EF4-FFF2-40B4-BE49-F238E27FC236}">
                <a16:creationId xmlns:a16="http://schemas.microsoft.com/office/drawing/2014/main" id="{8C9EC9F4-C86E-45E7-9618-DF737E0675FB}"/>
              </a:ext>
            </a:extLst>
          </p:cNvPr>
          <p:cNvSpPr>
            <a:spLocks xmlns:a="http://schemas.openxmlformats.org/drawingml/2006/main" noGrp="1"/>
          </p:cNvSpPr>
          <p:nvPr/>
        </p:nvSpPr>
        <p:spPr>
          <a:xfrm xmlns:a="http://schemas.openxmlformats.org/drawingml/2006/main">
            <a:off x="857250" y="2324100"/>
            <a:ext cx="13716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200" b="1">
                <a:solidFill>
                  <a:srgbClr val="111316"/>
                </a:solidFill>
                <a:latin typeface="Arial"/>
                <a:ea typeface="Arial"/>
                <a:cs typeface="Arial"/>
              </a:defRPr>
            </a:pPr>
            <a:r>
              <a:rPr sz="1200" b="1">
                <a:solidFill>
                  <a:srgbClr val="111316"/>
                </a:solidFill>
                <a:latin typeface="Arial"/>
                <a:ea typeface="Arial"/>
                <a:cs typeface="Arial"/>
              </a:rPr>
              <a:t>One comparison</a:t>
            </a:r>
          </a:p>
        </p:txBody>
      </p:sp>
      <p:sp>
        <p:nvSpPr>
          <p:cNvPr id="10" name="ladder-task-0">
            <a:extLst xmlns:a="http://schemas.openxmlformats.org/drawingml/2006/main">
              <a:ext uri="{FF2B5EF4-FFF2-40B4-BE49-F238E27FC236}">
                <a16:creationId xmlns:a16="http://schemas.microsoft.com/office/drawing/2014/main" id="{DA4A8938-0CA1-4035-96CE-0BFE2DCFBABC}"/>
              </a:ext>
            </a:extLst>
          </p:cNvPr>
          <p:cNvSpPr>
            <a:spLocks xmlns:a="http://schemas.openxmlformats.org/drawingml/2006/main" noGrp="1"/>
          </p:cNvSpPr>
          <p:nvPr/>
        </p:nvSpPr>
        <p:spPr>
          <a:xfrm xmlns:a="http://schemas.openxmlformats.org/drawingml/2006/main">
            <a:off x="2457450" y="2019300"/>
            <a:ext cx="594360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Evaluate 39.9, 40.0, and 40.1 against an 'at least 40.0 m²' criterion.</a:t>
            </a:r>
          </a:p>
        </p:txBody>
      </p:sp>
      <p:sp>
        <p:nvSpPr>
          <p:cNvPr id="11" name="ladder-divider-0">
            <a:extLst xmlns:a="http://schemas.openxmlformats.org/drawingml/2006/main">
              <a:ext uri="{FF2B5EF4-FFF2-40B4-BE49-F238E27FC236}">
                <a16:creationId xmlns:a16="http://schemas.microsoft.com/office/drawing/2014/main" id="{EE4B8806-D095-4191-A3C3-CFAEC39DF661}"/>
              </a:ext>
            </a:extLst>
          </p:cNvPr>
          <p:cNvSpPr>
            <a:spLocks xmlns:a="http://schemas.openxmlformats.org/drawingml/2006/main" noGrp="1"/>
          </p:cNvSpPr>
          <p:nvPr/>
        </p:nvSpPr>
        <p:spPr>
          <a:xfrm xmlns:a="http://schemas.openxmlformats.org/drawingml/2006/main">
            <a:off x="8553450" y="2019300"/>
            <a:ext cx="9525" cy="97155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2" name="ladder-check-label-0">
            <a:extLst xmlns:a="http://schemas.openxmlformats.org/drawingml/2006/main">
              <a:ext uri="{FF2B5EF4-FFF2-40B4-BE49-F238E27FC236}">
                <a16:creationId xmlns:a16="http://schemas.microsoft.com/office/drawing/2014/main" id="{EBC246E9-ED5D-4E53-98F3-117F0FE78EC5}"/>
              </a:ext>
            </a:extLst>
          </p:cNvPr>
          <p:cNvSpPr>
            <a:spLocks xmlns:a="http://schemas.openxmlformats.org/drawingml/2006/main" noGrp="1"/>
          </p:cNvSpPr>
          <p:nvPr/>
        </p:nvSpPr>
        <p:spPr>
          <a:xfrm xmlns:a="http://schemas.openxmlformats.org/drawingml/2006/main">
            <a:off x="8743950" y="2019300"/>
            <a:ext cx="2590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1F4D78"/>
                </a:solidFill>
                <a:latin typeface="Arial"/>
                <a:ea typeface="Arial"/>
                <a:cs typeface="Arial"/>
              </a:defRPr>
            </a:pPr>
            <a:r>
              <a:rPr sz="900" b="1">
                <a:solidFill>
                  <a:srgbClr val="1F4D78"/>
                </a:solidFill>
                <a:latin typeface="Arial"/>
                <a:ea typeface="Arial"/>
                <a:cs typeface="Arial"/>
              </a:rPr>
              <a:t>EXPECTED CHECK</a:t>
            </a:r>
          </a:p>
        </p:txBody>
      </p:sp>
      <p:sp>
        <p:nvSpPr>
          <p:cNvPr id="13" name="ladder-answer-0">
            <a:extLst xmlns:a="http://schemas.openxmlformats.org/drawingml/2006/main">
              <a:ext uri="{FF2B5EF4-FFF2-40B4-BE49-F238E27FC236}">
                <a16:creationId xmlns:a16="http://schemas.microsoft.com/office/drawing/2014/main" id="{99969F43-E158-4DFD-A131-A3B9EBC3EB2D}"/>
              </a:ext>
            </a:extLst>
          </p:cNvPr>
          <p:cNvSpPr>
            <a:spLocks xmlns:a="http://schemas.openxmlformats.org/drawingml/2006/main" noGrp="1"/>
          </p:cNvSpPr>
          <p:nvPr/>
        </p:nvSpPr>
        <p:spPr>
          <a:xfrm xmlns:a="http://schemas.openxmlformats.org/drawingml/2006/main">
            <a:off x="8743950" y="2305050"/>
            <a:ext cx="25908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1">
                <a:solidFill>
                  <a:srgbClr val="111316"/>
                </a:solidFill>
                <a:latin typeface="Arial"/>
                <a:ea typeface="Arial"/>
                <a:cs typeface="Arial"/>
              </a:defRPr>
            </a:pPr>
            <a:r>
              <a:rPr sz="1500" b="1">
                <a:solidFill>
                  <a:srgbClr val="111316"/>
                </a:solidFill>
                <a:latin typeface="Arial"/>
                <a:ea typeface="Arial"/>
                <a:cs typeface="Arial"/>
              </a:rPr>
              <a:t>False, True, True</a:t>
            </a:r>
          </a:p>
        </p:txBody>
      </p:sp>
      <p:sp>
        <p:nvSpPr>
          <p:cNvPr id="14" name="ladder-row-1">
            <a:extLst xmlns:a="http://schemas.openxmlformats.org/drawingml/2006/main">
              <a:ext uri="{FF2B5EF4-FFF2-40B4-BE49-F238E27FC236}">
                <a16:creationId xmlns:a16="http://schemas.microsoft.com/office/drawing/2014/main" id="{FE9C6DE3-BBE5-4B02-8B20-701757057D0E}"/>
              </a:ext>
            </a:extLst>
          </p:cNvPr>
          <p:cNvSpPr>
            <a:spLocks xmlns:a="http://schemas.openxmlformats.org/drawingml/2006/main" noGrp="1"/>
          </p:cNvSpPr>
          <p:nvPr/>
        </p:nvSpPr>
        <p:spPr>
          <a:xfrm xmlns:a="http://schemas.openxmlformats.org/drawingml/2006/main">
            <a:off x="609600" y="3295650"/>
            <a:ext cx="10972800" cy="1314450"/>
          </a:xfrm>
          <a:prstGeom xmlns:a="http://schemas.openxmlformats.org/drawingml/2006/main" prst="roundRect">
            <a:avLst>
              <a:gd name="adj" fmla="val 5797"/>
            </a:avLst>
          </a:prstGeom>
          <a:solidFill xmlns:a="http://schemas.openxmlformats.org/drawingml/2006/main">
            <a:srgbClr val="F3F7FB"/>
          </a:solidFill>
          <a:ln xmlns:a="http://schemas.openxmlformats.org/drawingml/2006/main" w="9525">
            <a:solidFill>
              <a:srgbClr val="DDE0E5"/>
            </a:solidFill>
            <a:prstDash val="solid"/>
          </a:ln>
        </p:spPr>
      </p:sp>
      <p:sp>
        <p:nvSpPr>
          <p:cNvPr id="15" name="ladder-accent-1">
            <a:extLst xmlns:a="http://schemas.openxmlformats.org/drawingml/2006/main">
              <a:ext uri="{FF2B5EF4-FFF2-40B4-BE49-F238E27FC236}">
                <a16:creationId xmlns:a16="http://schemas.microsoft.com/office/drawing/2014/main" id="{42064A1B-D8C4-4F3C-B696-4CFBC66233E6}"/>
              </a:ext>
            </a:extLst>
          </p:cNvPr>
          <p:cNvSpPr>
            <a:spLocks xmlns:a="http://schemas.openxmlformats.org/drawingml/2006/main" noGrp="1"/>
          </p:cNvSpPr>
          <p:nvPr/>
        </p:nvSpPr>
        <p:spPr>
          <a:xfrm xmlns:a="http://schemas.openxmlformats.org/drawingml/2006/main">
            <a:off x="609600" y="3295650"/>
            <a:ext cx="76200" cy="1314450"/>
          </a:xfrm>
          <a:prstGeom xmlns:a="http://schemas.openxmlformats.org/drawingml/2006/main" prst="rect">
            <a:avLst/>
          </a:prstGeom>
          <a:solidFill xmlns:a="http://schemas.openxmlformats.org/drawingml/2006/main">
            <a:srgbClr val="2E74B5"/>
          </a:solidFill>
          <a:ln xmlns:a="http://schemas.openxmlformats.org/drawingml/2006/main" w="0">
            <a:noFill/>
            <a:prstDash val="solid"/>
          </a:ln>
        </p:spPr>
      </p:sp>
      <p:sp>
        <p:nvSpPr>
          <p:cNvPr id="16" name="ladder-level-1">
            <a:extLst xmlns:a="http://schemas.openxmlformats.org/drawingml/2006/main">
              <a:ext uri="{FF2B5EF4-FFF2-40B4-BE49-F238E27FC236}">
                <a16:creationId xmlns:a16="http://schemas.microsoft.com/office/drawing/2014/main" id="{2C8DC799-C54C-48DD-ACFF-199FB46E9D0E}"/>
              </a:ext>
            </a:extLst>
          </p:cNvPr>
          <p:cNvSpPr>
            <a:spLocks xmlns:a="http://schemas.openxmlformats.org/drawingml/2006/main" noGrp="1"/>
          </p:cNvSpPr>
          <p:nvPr/>
        </p:nvSpPr>
        <p:spPr>
          <a:xfrm xmlns:a="http://schemas.openxmlformats.org/drawingml/2006/main">
            <a:off x="857250" y="3467100"/>
            <a:ext cx="1371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MEDIUM</a:t>
            </a:r>
          </a:p>
        </p:txBody>
      </p:sp>
      <p:sp>
        <p:nvSpPr>
          <p:cNvPr id="17" name="ladder-focus-1">
            <a:extLst xmlns:a="http://schemas.openxmlformats.org/drawingml/2006/main">
              <a:ext uri="{FF2B5EF4-FFF2-40B4-BE49-F238E27FC236}">
                <a16:creationId xmlns:a16="http://schemas.microsoft.com/office/drawing/2014/main" id="{20D10EEC-7743-4CDA-B2D0-DB7114DBE12C}"/>
              </a:ext>
            </a:extLst>
          </p:cNvPr>
          <p:cNvSpPr>
            <a:spLocks xmlns:a="http://schemas.openxmlformats.org/drawingml/2006/main" noGrp="1"/>
          </p:cNvSpPr>
          <p:nvPr/>
        </p:nvSpPr>
        <p:spPr>
          <a:xfrm xmlns:a="http://schemas.openxmlformats.org/drawingml/2006/main">
            <a:off x="857250" y="3771900"/>
            <a:ext cx="13716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200" b="1">
                <a:solidFill>
                  <a:srgbClr val="111316"/>
                </a:solidFill>
                <a:latin typeface="Arial"/>
                <a:ea typeface="Arial"/>
                <a:cs typeface="Arial"/>
              </a:defRPr>
            </a:pPr>
            <a:r>
              <a:rPr sz="1200" b="1">
                <a:solidFill>
                  <a:srgbClr val="111316"/>
                </a:solidFill>
                <a:latin typeface="Arial"/>
                <a:ea typeface="Arial"/>
                <a:cs typeface="Arial"/>
              </a:rPr>
              <a:t>Repeat + count</a:t>
            </a:r>
          </a:p>
        </p:txBody>
      </p:sp>
      <p:sp>
        <p:nvSpPr>
          <p:cNvPr id="18" name="ladder-task-1">
            <a:extLst xmlns:a="http://schemas.openxmlformats.org/drawingml/2006/main">
              <a:ext uri="{FF2B5EF4-FFF2-40B4-BE49-F238E27FC236}">
                <a16:creationId xmlns:a16="http://schemas.microsoft.com/office/drawing/2014/main" id="{17C79A80-315F-4FE3-9C3F-4F805F424CC6}"/>
              </a:ext>
            </a:extLst>
          </p:cNvPr>
          <p:cNvSpPr>
            <a:spLocks xmlns:a="http://schemas.openxmlformats.org/drawingml/2006/main" noGrp="1"/>
          </p:cNvSpPr>
          <p:nvPr/>
        </p:nvSpPr>
        <p:spPr>
          <a:xfrm xmlns:a="http://schemas.openxmlformats.org/drawingml/2006/main">
            <a:off x="2457450" y="3467100"/>
            <a:ext cx="594360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Screen [35.0, 40.0, 62.5, 44.2, 28.0] and count values meeting the criterion.</a:t>
            </a:r>
          </a:p>
        </p:txBody>
      </p:sp>
      <p:sp>
        <p:nvSpPr>
          <p:cNvPr id="19" name="ladder-divider-1">
            <a:extLst xmlns:a="http://schemas.openxmlformats.org/drawingml/2006/main">
              <a:ext uri="{FF2B5EF4-FFF2-40B4-BE49-F238E27FC236}">
                <a16:creationId xmlns:a16="http://schemas.microsoft.com/office/drawing/2014/main" id="{12AC5A06-04F5-42C3-94FA-4B165722207C}"/>
              </a:ext>
            </a:extLst>
          </p:cNvPr>
          <p:cNvSpPr>
            <a:spLocks xmlns:a="http://schemas.openxmlformats.org/drawingml/2006/main" noGrp="1"/>
          </p:cNvSpPr>
          <p:nvPr/>
        </p:nvSpPr>
        <p:spPr>
          <a:xfrm xmlns:a="http://schemas.openxmlformats.org/drawingml/2006/main">
            <a:off x="8553450" y="3467100"/>
            <a:ext cx="9525" cy="97155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20" name="ladder-check-label-1">
            <a:extLst xmlns:a="http://schemas.openxmlformats.org/drawingml/2006/main">
              <a:ext uri="{FF2B5EF4-FFF2-40B4-BE49-F238E27FC236}">
                <a16:creationId xmlns:a16="http://schemas.microsoft.com/office/drawing/2014/main" id="{B91D3FC6-74D2-4186-80E2-C96BBF21CD40}"/>
              </a:ext>
            </a:extLst>
          </p:cNvPr>
          <p:cNvSpPr>
            <a:spLocks xmlns:a="http://schemas.openxmlformats.org/drawingml/2006/main" noGrp="1"/>
          </p:cNvSpPr>
          <p:nvPr/>
        </p:nvSpPr>
        <p:spPr>
          <a:xfrm xmlns:a="http://schemas.openxmlformats.org/drawingml/2006/main">
            <a:off x="8743950" y="3467100"/>
            <a:ext cx="2590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1F4D78"/>
                </a:solidFill>
                <a:latin typeface="Arial"/>
                <a:ea typeface="Arial"/>
                <a:cs typeface="Arial"/>
              </a:defRPr>
            </a:pPr>
            <a:r>
              <a:rPr sz="900" b="1">
                <a:solidFill>
                  <a:srgbClr val="1F4D78"/>
                </a:solidFill>
                <a:latin typeface="Arial"/>
                <a:ea typeface="Arial"/>
                <a:cs typeface="Arial"/>
              </a:rPr>
              <a:t>EXPECTED CHECK</a:t>
            </a:r>
          </a:p>
        </p:txBody>
      </p:sp>
      <p:sp>
        <p:nvSpPr>
          <p:cNvPr id="21" name="ladder-answer-1">
            <a:extLst xmlns:a="http://schemas.openxmlformats.org/drawingml/2006/main">
              <a:ext uri="{FF2B5EF4-FFF2-40B4-BE49-F238E27FC236}">
                <a16:creationId xmlns:a16="http://schemas.microsoft.com/office/drawing/2014/main" id="{CA4D9CA0-46E6-4EB0-9FE5-0FB64D8FE7A5}"/>
              </a:ext>
            </a:extLst>
          </p:cNvPr>
          <p:cNvSpPr>
            <a:spLocks xmlns:a="http://schemas.openxmlformats.org/drawingml/2006/main" noGrp="1"/>
          </p:cNvSpPr>
          <p:nvPr/>
        </p:nvSpPr>
        <p:spPr>
          <a:xfrm xmlns:a="http://schemas.openxmlformats.org/drawingml/2006/main">
            <a:off x="8743950" y="3752850"/>
            <a:ext cx="25908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1">
                <a:solidFill>
                  <a:srgbClr val="111316"/>
                </a:solidFill>
                <a:latin typeface="Consolas"/>
                <a:ea typeface="Consolas"/>
                <a:cs typeface="Consolas"/>
              </a:defRPr>
            </a:pPr>
            <a:r>
              <a:rPr sz="1500" b="1">
                <a:solidFill>
                  <a:srgbClr val="111316"/>
                </a:solidFill>
                <a:latin typeface="Consolas"/>
                <a:ea typeface="Consolas"/>
                <a:cs typeface="Consolas"/>
              </a:rPr>
              <a:t>passing_count = 3</a:t>
            </a:r>
          </a:p>
        </p:txBody>
      </p:sp>
      <p:sp>
        <p:nvSpPr>
          <p:cNvPr id="22" name="ladder-row-2">
            <a:extLst xmlns:a="http://schemas.openxmlformats.org/drawingml/2006/main">
              <a:ext uri="{FF2B5EF4-FFF2-40B4-BE49-F238E27FC236}">
                <a16:creationId xmlns:a16="http://schemas.microsoft.com/office/drawing/2014/main" id="{C15967E0-E8B7-4F79-8727-A16C9BA8E193}"/>
              </a:ext>
            </a:extLst>
          </p:cNvPr>
          <p:cNvSpPr>
            <a:spLocks xmlns:a="http://schemas.openxmlformats.org/drawingml/2006/main" noGrp="1"/>
          </p:cNvSpPr>
          <p:nvPr/>
        </p:nvSpPr>
        <p:spPr>
          <a:xfrm xmlns:a="http://schemas.openxmlformats.org/drawingml/2006/main">
            <a:off x="609600" y="4743450"/>
            <a:ext cx="10972800" cy="1314450"/>
          </a:xfrm>
          <a:prstGeom xmlns:a="http://schemas.openxmlformats.org/drawingml/2006/main" prst="roundRect">
            <a:avLst>
              <a:gd name="adj" fmla="val 5797"/>
            </a:avLst>
          </a:prstGeom>
          <a:solidFill xmlns:a="http://schemas.openxmlformats.org/drawingml/2006/main">
            <a:srgbClr val="F6F7F9"/>
          </a:solidFill>
          <a:ln xmlns:a="http://schemas.openxmlformats.org/drawingml/2006/main" w="9525">
            <a:solidFill>
              <a:srgbClr val="DDE0E5"/>
            </a:solidFill>
            <a:prstDash val="solid"/>
          </a:ln>
        </p:spPr>
      </p:sp>
      <p:sp>
        <p:nvSpPr>
          <p:cNvPr id="23" name="ladder-accent-2">
            <a:extLst xmlns:a="http://schemas.openxmlformats.org/drawingml/2006/main">
              <a:ext uri="{FF2B5EF4-FFF2-40B4-BE49-F238E27FC236}">
                <a16:creationId xmlns:a16="http://schemas.microsoft.com/office/drawing/2014/main" id="{49B551E4-8362-4F75-AFE8-F3EA2E8D20BE}"/>
              </a:ext>
            </a:extLst>
          </p:cNvPr>
          <p:cNvSpPr>
            <a:spLocks xmlns:a="http://schemas.openxmlformats.org/drawingml/2006/main" noGrp="1"/>
          </p:cNvSpPr>
          <p:nvPr/>
        </p:nvSpPr>
        <p:spPr>
          <a:xfrm xmlns:a="http://schemas.openxmlformats.org/drawingml/2006/main">
            <a:off x="609600" y="4743450"/>
            <a:ext cx="76200" cy="1314450"/>
          </a:xfrm>
          <a:prstGeom xmlns:a="http://schemas.openxmlformats.org/drawingml/2006/main" prst="rect">
            <a:avLst/>
          </a:prstGeom>
          <a:solidFill xmlns:a="http://schemas.openxmlformats.org/drawingml/2006/main">
            <a:srgbClr val="B5731A"/>
          </a:solidFill>
          <a:ln xmlns:a="http://schemas.openxmlformats.org/drawingml/2006/main" w="0">
            <a:noFill/>
            <a:prstDash val="solid"/>
          </a:ln>
        </p:spPr>
      </p:sp>
      <p:sp>
        <p:nvSpPr>
          <p:cNvPr id="24" name="ladder-level-2">
            <a:extLst xmlns:a="http://schemas.openxmlformats.org/drawingml/2006/main">
              <a:ext uri="{FF2B5EF4-FFF2-40B4-BE49-F238E27FC236}">
                <a16:creationId xmlns:a16="http://schemas.microsoft.com/office/drawing/2014/main" id="{3E1A1945-6C9E-4DC7-81DC-8B86F356203D}"/>
              </a:ext>
            </a:extLst>
          </p:cNvPr>
          <p:cNvSpPr>
            <a:spLocks xmlns:a="http://schemas.openxmlformats.org/drawingml/2006/main" noGrp="1"/>
          </p:cNvSpPr>
          <p:nvPr/>
        </p:nvSpPr>
        <p:spPr>
          <a:xfrm xmlns:a="http://schemas.openxmlformats.org/drawingml/2006/main">
            <a:off x="857250" y="4914900"/>
            <a:ext cx="1371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B5731A"/>
                </a:solidFill>
                <a:latin typeface="Arial"/>
                <a:ea typeface="Arial"/>
                <a:cs typeface="Arial"/>
              </a:defRPr>
            </a:pPr>
            <a:r>
              <a:rPr sz="900" b="1">
                <a:solidFill>
                  <a:srgbClr val="B5731A"/>
                </a:solidFill>
                <a:latin typeface="Arial"/>
                <a:ea typeface="Arial"/>
                <a:cs typeface="Arial"/>
              </a:rPr>
              <a:t>HARD</a:t>
            </a:r>
          </a:p>
        </p:txBody>
      </p:sp>
      <p:sp>
        <p:nvSpPr>
          <p:cNvPr id="25" name="ladder-focus-2">
            <a:extLst xmlns:a="http://schemas.openxmlformats.org/drawingml/2006/main">
              <a:ext uri="{FF2B5EF4-FFF2-40B4-BE49-F238E27FC236}">
                <a16:creationId xmlns:a16="http://schemas.microsoft.com/office/drawing/2014/main" id="{1EFCE8D2-45F4-4EFF-992B-3711834461F9}"/>
              </a:ext>
            </a:extLst>
          </p:cNvPr>
          <p:cNvSpPr>
            <a:spLocks xmlns:a="http://schemas.openxmlformats.org/drawingml/2006/main" noGrp="1"/>
          </p:cNvSpPr>
          <p:nvPr/>
        </p:nvSpPr>
        <p:spPr>
          <a:xfrm xmlns:a="http://schemas.openxmlformats.org/drawingml/2006/main">
            <a:off x="857250" y="5219700"/>
            <a:ext cx="13716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200" b="1">
                <a:solidFill>
                  <a:srgbClr val="111316"/>
                </a:solidFill>
                <a:latin typeface="Arial"/>
                <a:ea typeface="Arial"/>
                <a:cs typeface="Arial"/>
              </a:defRPr>
            </a:pPr>
            <a:r>
              <a:rPr sz="1200" b="1">
                <a:solidFill>
                  <a:srgbClr val="111316"/>
                </a:solidFill>
                <a:latin typeface="Arial"/>
                <a:ea typeface="Arial"/>
                <a:cs typeface="Arial"/>
              </a:rPr>
              <a:t>Function + records</a:t>
            </a:r>
          </a:p>
        </p:txBody>
      </p:sp>
      <p:sp>
        <p:nvSpPr>
          <p:cNvPr id="26" name="ladder-task-2">
            <a:extLst xmlns:a="http://schemas.openxmlformats.org/drawingml/2006/main">
              <a:ext uri="{FF2B5EF4-FFF2-40B4-BE49-F238E27FC236}">
                <a16:creationId xmlns:a16="http://schemas.microsoft.com/office/drawing/2014/main" id="{680C087F-7886-4534-A2D4-C24A40499E28}"/>
              </a:ext>
            </a:extLst>
          </p:cNvPr>
          <p:cNvSpPr>
            <a:spLocks xmlns:a="http://schemas.openxmlformats.org/drawingml/2006/main" noGrp="1"/>
          </p:cNvSpPr>
          <p:nvPr/>
        </p:nvSpPr>
        <p:spPr>
          <a:xfrm xmlns:a="http://schemas.openxmlformats.org/drawingml/2006/main">
            <a:off x="2457450" y="4914900"/>
            <a:ext cx="594360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Apply one tested area-and-daylight screen to three cases: (39.9, True), (40.0, True), (45.0, False).</a:t>
            </a:r>
          </a:p>
        </p:txBody>
      </p:sp>
      <p:sp>
        <p:nvSpPr>
          <p:cNvPr id="27" name="ladder-divider-2">
            <a:extLst xmlns:a="http://schemas.openxmlformats.org/drawingml/2006/main">
              <a:ext uri="{FF2B5EF4-FFF2-40B4-BE49-F238E27FC236}">
                <a16:creationId xmlns:a16="http://schemas.microsoft.com/office/drawing/2014/main" id="{EDFCC966-818E-4DD5-B7EC-3742F0E53A3C}"/>
              </a:ext>
            </a:extLst>
          </p:cNvPr>
          <p:cNvSpPr>
            <a:spLocks xmlns:a="http://schemas.openxmlformats.org/drawingml/2006/main" noGrp="1"/>
          </p:cNvSpPr>
          <p:nvPr/>
        </p:nvSpPr>
        <p:spPr>
          <a:xfrm xmlns:a="http://schemas.openxmlformats.org/drawingml/2006/main">
            <a:off x="8553450" y="4914900"/>
            <a:ext cx="9525" cy="97155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28" name="ladder-check-label-2">
            <a:extLst xmlns:a="http://schemas.openxmlformats.org/drawingml/2006/main">
              <a:ext uri="{FF2B5EF4-FFF2-40B4-BE49-F238E27FC236}">
                <a16:creationId xmlns:a16="http://schemas.microsoft.com/office/drawing/2014/main" id="{47C38323-5BCE-4755-8618-5D102D2F7CAD}"/>
              </a:ext>
            </a:extLst>
          </p:cNvPr>
          <p:cNvSpPr>
            <a:spLocks xmlns:a="http://schemas.openxmlformats.org/drawingml/2006/main" noGrp="1"/>
          </p:cNvSpPr>
          <p:nvPr/>
        </p:nvSpPr>
        <p:spPr>
          <a:xfrm xmlns:a="http://schemas.openxmlformats.org/drawingml/2006/main">
            <a:off x="8743950" y="4914900"/>
            <a:ext cx="2590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1F4D78"/>
                </a:solidFill>
                <a:latin typeface="Arial"/>
                <a:ea typeface="Arial"/>
                <a:cs typeface="Arial"/>
              </a:defRPr>
            </a:pPr>
            <a:r>
              <a:rPr sz="900" b="1">
                <a:solidFill>
                  <a:srgbClr val="1F4D78"/>
                </a:solidFill>
                <a:latin typeface="Arial"/>
                <a:ea typeface="Arial"/>
                <a:cs typeface="Arial"/>
              </a:rPr>
              <a:t>EXPECTED CHECK</a:t>
            </a:r>
          </a:p>
        </p:txBody>
      </p:sp>
      <p:sp>
        <p:nvSpPr>
          <p:cNvPr id="29" name="ladder-answer-2">
            <a:extLst xmlns:a="http://schemas.openxmlformats.org/drawingml/2006/main">
              <a:ext uri="{FF2B5EF4-FFF2-40B4-BE49-F238E27FC236}">
                <a16:creationId xmlns:a16="http://schemas.microsoft.com/office/drawing/2014/main" id="{282C7020-60DD-4D9A-9E9D-516A918D6BBB}"/>
              </a:ext>
            </a:extLst>
          </p:cNvPr>
          <p:cNvSpPr>
            <a:spLocks xmlns:a="http://schemas.openxmlformats.org/drawingml/2006/main" noGrp="1"/>
          </p:cNvSpPr>
          <p:nvPr/>
        </p:nvSpPr>
        <p:spPr>
          <a:xfrm xmlns:a="http://schemas.openxmlformats.org/drawingml/2006/main">
            <a:off x="8743950" y="5200650"/>
            <a:ext cx="25908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1">
                <a:solidFill>
                  <a:srgbClr val="111316"/>
                </a:solidFill>
                <a:latin typeface="Arial"/>
                <a:ea typeface="Arial"/>
                <a:cs typeface="Arial"/>
              </a:defRPr>
            </a:pPr>
            <a:r>
              <a:rPr sz="1500" b="1">
                <a:solidFill>
                  <a:srgbClr val="111316"/>
                </a:solidFill>
                <a:latin typeface="Arial"/>
                <a:ea typeface="Arial"/>
                <a:cs typeface="Arial"/>
              </a:rPr>
              <a:t>False, True, False</a:t>
            </a:r>
          </a:p>
        </p:txBody>
      </p:sp>
    </p:spTree>
    <p:extLst>
      <p:ext uri="{BB962C8B-B14F-4D97-AF65-F5344CB8AC3E}">
        <p14:creationId xmlns:p14="http://schemas.microsoft.com/office/powerpoint/2010/main" val="178024323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3" name="kicker">
            <a:extLst xmlns:a="http://schemas.openxmlformats.org/drawingml/2006/main">
              <a:ext uri="{FF2B5EF4-FFF2-40B4-BE49-F238E27FC236}">
                <a16:creationId xmlns:a16="http://schemas.microsoft.com/office/drawing/2014/main" id="{B15614ED-C1D7-4898-85B8-0824DE319670}"/>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METHOD</a:t>
            </a:r>
          </a:p>
        </p:txBody>
      </p:sp>
      <p:sp>
        <p:nvSpPr>
          <p:cNvPr id="2" name="title">
            <a:extLst xmlns:a="http://schemas.openxmlformats.org/drawingml/2006/main">
              <a:ext uri="{FF2B5EF4-FFF2-40B4-BE49-F238E27FC236}">
                <a16:creationId xmlns:a16="http://schemas.microsoft.com/office/drawing/2014/main" id="{D275B5F9-4452-43CF-9107-16F6D09C198F}"/>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A defensible rule has four parts</a:t>
            </a:r>
          </a:p>
        </p:txBody>
      </p:sp>
      <p:sp>
        <p:nvSpPr>
          <p:cNvPr id="3" name="">
            <a:extLst xmlns:a="http://schemas.openxmlformats.org/drawingml/2006/main">
              <a:ext uri="{FF2B5EF4-FFF2-40B4-BE49-F238E27FC236}">
                <a16:creationId xmlns:a16="http://schemas.microsoft.com/office/drawing/2014/main" id="{F20CFFCD-A555-49D2-A4DD-B2A2AE7E6193}"/>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37514D89-6AD9-4DE3-B558-B516E8C51711}"/>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3 · Meeting A · Decisions and Functions · Full Source Deck</a:t>
            </a:r>
          </a:p>
        </p:txBody>
      </p:sp>
      <p:sp>
        <p:nvSpPr>
          <p:cNvPr id="5" name="page">
            <a:extLst xmlns:a="http://schemas.openxmlformats.org/drawingml/2006/main">
              <a:ext uri="{FF2B5EF4-FFF2-40B4-BE49-F238E27FC236}">
                <a16:creationId xmlns:a16="http://schemas.microsoft.com/office/drawing/2014/main" id="{A4E7E227-919D-4444-B300-8A98226A7433}"/>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06</a:t>
            </a:r>
          </a:p>
        </p:txBody>
      </p:sp>
      <p:sp>
        <p:nvSpPr>
          <p:cNvPr id="6" name="step-arrow-0">
            <a:extLst xmlns:a="http://schemas.openxmlformats.org/drawingml/2006/main">
              <a:ext uri="{FF2B5EF4-FFF2-40B4-BE49-F238E27FC236}">
                <a16:creationId xmlns:a16="http://schemas.microsoft.com/office/drawing/2014/main" id="{13DBA537-DC2F-4D76-85F5-B8BE165C1189}"/>
              </a:ext>
            </a:extLst>
          </p:cNvPr>
          <p:cNvSpPr>
            <a:spLocks xmlns:a="http://schemas.openxmlformats.org/drawingml/2006/main" noGrp="1"/>
          </p:cNvSpPr>
          <p:nvPr/>
        </p:nvSpPr>
        <p:spPr>
          <a:xfrm xmlns:a="http://schemas.openxmlformats.org/drawingml/2006/main">
            <a:off x="3219450" y="3686175"/>
            <a:ext cx="152400" cy="495300"/>
          </a:xfrm>
          <a:prstGeom xmlns:a="http://schemas.openxmlformats.org/drawingml/2006/main" prst="chevron">
            <a:avLst/>
          </a:prstGeom>
          <a:solidFill xmlns:a="http://schemas.openxmlformats.org/drawingml/2006/main">
            <a:srgbClr val="E8EEF5"/>
          </a:solidFill>
          <a:ln xmlns:a="http://schemas.openxmlformats.org/drawingml/2006/main" w="0">
            <a:solidFill>
              <a:srgbClr val="E8EEF5"/>
            </a:solidFill>
            <a:prstDash val="solid"/>
          </a:ln>
        </p:spPr>
      </p:sp>
      <p:sp>
        <p:nvSpPr>
          <p:cNvPr id="7" name="step-arrow-1">
            <a:extLst xmlns:a="http://schemas.openxmlformats.org/drawingml/2006/main">
              <a:ext uri="{FF2B5EF4-FFF2-40B4-BE49-F238E27FC236}">
                <a16:creationId xmlns:a16="http://schemas.microsoft.com/office/drawing/2014/main" id="{1906B600-DFA8-45C9-ABF9-4A41E18A1C14}"/>
              </a:ext>
            </a:extLst>
          </p:cNvPr>
          <p:cNvSpPr>
            <a:spLocks xmlns:a="http://schemas.openxmlformats.org/drawingml/2006/main" noGrp="1"/>
          </p:cNvSpPr>
          <p:nvPr/>
        </p:nvSpPr>
        <p:spPr>
          <a:xfrm xmlns:a="http://schemas.openxmlformats.org/drawingml/2006/main">
            <a:off x="6019800" y="3686175"/>
            <a:ext cx="152400" cy="495300"/>
          </a:xfrm>
          <a:prstGeom xmlns:a="http://schemas.openxmlformats.org/drawingml/2006/main" prst="chevron">
            <a:avLst/>
          </a:prstGeom>
          <a:solidFill xmlns:a="http://schemas.openxmlformats.org/drawingml/2006/main">
            <a:srgbClr val="E8EEF5"/>
          </a:solidFill>
          <a:ln xmlns:a="http://schemas.openxmlformats.org/drawingml/2006/main" w="0">
            <a:solidFill>
              <a:srgbClr val="E8EEF5"/>
            </a:solidFill>
            <a:prstDash val="solid"/>
          </a:ln>
        </p:spPr>
      </p:sp>
      <p:sp>
        <p:nvSpPr>
          <p:cNvPr id="8" name="step-arrow-2">
            <a:extLst xmlns:a="http://schemas.openxmlformats.org/drawingml/2006/main">
              <a:ext uri="{FF2B5EF4-FFF2-40B4-BE49-F238E27FC236}">
                <a16:creationId xmlns:a16="http://schemas.microsoft.com/office/drawing/2014/main" id="{4BBD291B-B560-4903-ABC2-BAE2F037D36F}"/>
              </a:ext>
            </a:extLst>
          </p:cNvPr>
          <p:cNvSpPr>
            <a:spLocks xmlns:a="http://schemas.openxmlformats.org/drawingml/2006/main" noGrp="1"/>
          </p:cNvSpPr>
          <p:nvPr/>
        </p:nvSpPr>
        <p:spPr>
          <a:xfrm xmlns:a="http://schemas.openxmlformats.org/drawingml/2006/main">
            <a:off x="8820150" y="3686175"/>
            <a:ext cx="152400" cy="495300"/>
          </a:xfrm>
          <a:prstGeom xmlns:a="http://schemas.openxmlformats.org/drawingml/2006/main" prst="chevron">
            <a:avLst/>
          </a:prstGeom>
          <a:solidFill xmlns:a="http://schemas.openxmlformats.org/drawingml/2006/main">
            <a:srgbClr val="E8EEF5"/>
          </a:solidFill>
          <a:ln xmlns:a="http://schemas.openxmlformats.org/drawingml/2006/main" w="0">
            <a:solidFill>
              <a:srgbClr val="E8EEF5"/>
            </a:solidFill>
            <a:prstDash val="solid"/>
          </a:ln>
        </p:spPr>
      </p:sp>
      <p:sp>
        <p:nvSpPr>
          <p:cNvPr id="9" name="step-node-0">
            <a:extLst xmlns:a="http://schemas.openxmlformats.org/drawingml/2006/main">
              <a:ext uri="{FF2B5EF4-FFF2-40B4-BE49-F238E27FC236}">
                <a16:creationId xmlns:a16="http://schemas.microsoft.com/office/drawing/2014/main" id="{8F844E4C-CAED-4E09-B9A4-B7D22E467B69}"/>
              </a:ext>
            </a:extLst>
          </p:cNvPr>
          <p:cNvSpPr>
            <a:spLocks xmlns:a="http://schemas.openxmlformats.org/drawingml/2006/main" noGrp="1"/>
          </p:cNvSpPr>
          <p:nvPr/>
        </p:nvSpPr>
        <p:spPr>
          <a:xfrm xmlns:a="http://schemas.openxmlformats.org/drawingml/2006/main">
            <a:off x="609600" y="1847850"/>
            <a:ext cx="2571750" cy="4171950"/>
          </a:xfrm>
          <a:prstGeom xmlns:a="http://schemas.openxmlformats.org/drawingml/2006/main" prst="roundRect">
            <a:avLst>
              <a:gd name="adj" fmla="val 3704"/>
            </a:avLst>
          </a:prstGeom>
          <a:solidFill xmlns:a="http://schemas.openxmlformats.org/drawingml/2006/main">
            <a:srgbClr val="F3F7FB"/>
          </a:solidFill>
          <a:ln xmlns:a="http://schemas.openxmlformats.org/drawingml/2006/main" w="9525">
            <a:solidFill>
              <a:srgbClr val="2E74B5"/>
            </a:solidFill>
            <a:prstDash val="solid"/>
          </a:ln>
        </p:spPr>
      </p:sp>
      <p:sp>
        <p:nvSpPr>
          <p:cNvPr id="10" name="step-number-0">
            <a:extLst xmlns:a="http://schemas.openxmlformats.org/drawingml/2006/main">
              <a:ext uri="{FF2B5EF4-FFF2-40B4-BE49-F238E27FC236}">
                <a16:creationId xmlns:a16="http://schemas.microsoft.com/office/drawing/2014/main" id="{C39A03B6-59EB-4445-BEFB-A52315111884}"/>
              </a:ext>
            </a:extLst>
          </p:cNvPr>
          <p:cNvSpPr>
            <a:spLocks xmlns:a="http://schemas.openxmlformats.org/drawingml/2006/main" noGrp="1"/>
          </p:cNvSpPr>
          <p:nvPr/>
        </p:nvSpPr>
        <p:spPr>
          <a:xfrm xmlns:a="http://schemas.openxmlformats.org/drawingml/2006/main">
            <a:off x="800100" y="203835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2E74B5"/>
                </a:solidFill>
                <a:latin typeface="Arial"/>
                <a:ea typeface="Arial"/>
                <a:cs typeface="Arial"/>
              </a:defRPr>
            </a:pPr>
            <a:r>
              <a:rPr sz="1200" b="1">
                <a:solidFill>
                  <a:srgbClr val="2E74B5"/>
                </a:solidFill>
                <a:latin typeface="Arial"/>
                <a:ea typeface="Arial"/>
                <a:cs typeface="Arial"/>
              </a:rPr>
              <a:t>01</a:t>
            </a:r>
          </a:p>
        </p:txBody>
      </p:sp>
      <p:sp>
        <p:nvSpPr>
          <p:cNvPr id="11" name="step-label-0">
            <a:extLst xmlns:a="http://schemas.openxmlformats.org/drawingml/2006/main">
              <a:ext uri="{FF2B5EF4-FFF2-40B4-BE49-F238E27FC236}">
                <a16:creationId xmlns:a16="http://schemas.microsoft.com/office/drawing/2014/main" id="{1971BFE4-9281-4A53-BDAB-21E6E0DE0533}"/>
              </a:ext>
            </a:extLst>
          </p:cNvPr>
          <p:cNvSpPr>
            <a:spLocks xmlns:a="http://schemas.openxmlformats.org/drawingml/2006/main" noGrp="1"/>
          </p:cNvSpPr>
          <p:nvPr/>
        </p:nvSpPr>
        <p:spPr>
          <a:xfrm xmlns:a="http://schemas.openxmlformats.org/drawingml/2006/main">
            <a:off x="1295400" y="2057400"/>
            <a:ext cx="1695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EVIDENCE</a:t>
            </a:r>
          </a:p>
        </p:txBody>
      </p:sp>
      <p:sp>
        <p:nvSpPr>
          <p:cNvPr id="12" name="">
            <a:extLst xmlns:a="http://schemas.openxmlformats.org/drawingml/2006/main">
              <a:ext uri="{FF2B5EF4-FFF2-40B4-BE49-F238E27FC236}">
                <a16:creationId xmlns:a16="http://schemas.microsoft.com/office/drawing/2014/main" id="{076074B5-63E5-4AF5-B82C-54EEFD7D9689}"/>
              </a:ext>
            </a:extLst>
          </p:cNvPr>
          <p:cNvSpPr>
            <a:spLocks xmlns:a="http://schemas.openxmlformats.org/drawingml/2006/main" noGrp="1"/>
          </p:cNvSpPr>
          <p:nvPr/>
        </p:nvSpPr>
        <p:spPr>
          <a:xfrm xmlns:a="http://schemas.openxmlformats.org/drawingml/2006/main">
            <a:off x="800100" y="2476500"/>
            <a:ext cx="2190750" cy="0"/>
          </a:xfrm>
          <a:prstGeom xmlns:a="http://schemas.openxmlformats.org/drawingml/2006/main" prst="line">
            <a:avLst/>
          </a:prstGeom>
          <a:noFill xmlns:a="http://schemas.openxmlformats.org/drawingml/2006/main"/>
          <a:ln xmlns:a="http://schemas.openxmlformats.org/drawingml/2006/main" w="28575">
            <a:solidFill>
              <a:srgbClr val="2E74B5"/>
            </a:solidFill>
            <a:prstDash val="solid"/>
          </a:ln>
        </p:spPr>
      </p:sp>
      <p:sp>
        <p:nvSpPr>
          <p:cNvPr id="13" name="step-head-0">
            <a:extLst xmlns:a="http://schemas.openxmlformats.org/drawingml/2006/main">
              <a:ext uri="{FF2B5EF4-FFF2-40B4-BE49-F238E27FC236}">
                <a16:creationId xmlns:a16="http://schemas.microsoft.com/office/drawing/2014/main" id="{0A356530-61BF-42F8-B0E3-47E8D8932BE8}"/>
              </a:ext>
            </a:extLst>
          </p:cNvPr>
          <p:cNvSpPr>
            <a:spLocks xmlns:a="http://schemas.openxmlformats.org/drawingml/2006/main" noGrp="1"/>
          </p:cNvSpPr>
          <p:nvPr/>
        </p:nvSpPr>
        <p:spPr>
          <a:xfrm xmlns:a="http://schemas.openxmlformats.org/drawingml/2006/main">
            <a:off x="800100" y="2667000"/>
            <a:ext cx="2190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What is measured?</a:t>
            </a:r>
          </a:p>
        </p:txBody>
      </p:sp>
      <p:sp>
        <p:nvSpPr>
          <p:cNvPr id="14" name="step-body-0">
            <a:extLst xmlns:a="http://schemas.openxmlformats.org/drawingml/2006/main">
              <a:ext uri="{FF2B5EF4-FFF2-40B4-BE49-F238E27FC236}">
                <a16:creationId xmlns:a16="http://schemas.microsoft.com/office/drawing/2014/main" id="{F8B66038-94A9-4D59-9377-316CB822A843}"/>
              </a:ext>
            </a:extLst>
          </p:cNvPr>
          <p:cNvSpPr>
            <a:spLocks xmlns:a="http://schemas.openxmlformats.org/drawingml/2006/main" noGrp="1"/>
          </p:cNvSpPr>
          <p:nvPr/>
        </p:nvSpPr>
        <p:spPr>
          <a:xfrm xmlns:a="http://schemas.openxmlformats.org/drawingml/2006/main">
            <a:off x="800100" y="3352800"/>
            <a:ext cx="2190750" cy="2495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Area, width, ratio, count, category, or another explicit input.</a:t>
            </a:r>
          </a:p>
        </p:txBody>
      </p:sp>
      <p:sp>
        <p:nvSpPr>
          <p:cNvPr id="15" name="step-node-1">
            <a:extLst xmlns:a="http://schemas.openxmlformats.org/drawingml/2006/main">
              <a:ext uri="{FF2B5EF4-FFF2-40B4-BE49-F238E27FC236}">
                <a16:creationId xmlns:a16="http://schemas.microsoft.com/office/drawing/2014/main" id="{D3B9F502-6A38-4EAB-98D1-48F65BE1255C}"/>
              </a:ext>
            </a:extLst>
          </p:cNvPr>
          <p:cNvSpPr>
            <a:spLocks xmlns:a="http://schemas.openxmlformats.org/drawingml/2006/main" noGrp="1"/>
          </p:cNvSpPr>
          <p:nvPr/>
        </p:nvSpPr>
        <p:spPr>
          <a:xfrm xmlns:a="http://schemas.openxmlformats.org/drawingml/2006/main">
            <a:off x="3409950" y="1847850"/>
            <a:ext cx="2571750" cy="4171950"/>
          </a:xfrm>
          <a:prstGeom xmlns:a="http://schemas.openxmlformats.org/drawingml/2006/main" prst="roundRect">
            <a:avLst>
              <a:gd name="adj" fmla="val 3704"/>
            </a:avLst>
          </a:prstGeom>
          <a:solidFill xmlns:a="http://schemas.openxmlformats.org/drawingml/2006/main">
            <a:srgbClr val="F6F7F9"/>
          </a:solidFill>
          <a:ln xmlns:a="http://schemas.openxmlformats.org/drawingml/2006/main" w="9525">
            <a:solidFill>
              <a:srgbClr val="DDE0E5"/>
            </a:solidFill>
            <a:prstDash val="solid"/>
          </a:ln>
        </p:spPr>
      </p:sp>
      <p:sp>
        <p:nvSpPr>
          <p:cNvPr id="16" name="step-number-1">
            <a:extLst xmlns:a="http://schemas.openxmlformats.org/drawingml/2006/main">
              <a:ext uri="{FF2B5EF4-FFF2-40B4-BE49-F238E27FC236}">
                <a16:creationId xmlns:a16="http://schemas.microsoft.com/office/drawing/2014/main" id="{67226B45-889E-4960-8A04-A24DE8D87F40}"/>
              </a:ext>
            </a:extLst>
          </p:cNvPr>
          <p:cNvSpPr>
            <a:spLocks xmlns:a="http://schemas.openxmlformats.org/drawingml/2006/main" noGrp="1"/>
          </p:cNvSpPr>
          <p:nvPr/>
        </p:nvSpPr>
        <p:spPr>
          <a:xfrm xmlns:a="http://schemas.openxmlformats.org/drawingml/2006/main">
            <a:off x="3600450" y="203835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2E74B5"/>
                </a:solidFill>
                <a:latin typeface="Arial"/>
                <a:ea typeface="Arial"/>
                <a:cs typeface="Arial"/>
              </a:defRPr>
            </a:pPr>
            <a:r>
              <a:rPr sz="1200" b="1">
                <a:solidFill>
                  <a:srgbClr val="2E74B5"/>
                </a:solidFill>
                <a:latin typeface="Arial"/>
                <a:ea typeface="Arial"/>
                <a:cs typeface="Arial"/>
              </a:rPr>
              <a:t>02</a:t>
            </a:r>
          </a:p>
        </p:txBody>
      </p:sp>
      <p:sp>
        <p:nvSpPr>
          <p:cNvPr id="17" name="step-label-1">
            <a:extLst xmlns:a="http://schemas.openxmlformats.org/drawingml/2006/main">
              <a:ext uri="{FF2B5EF4-FFF2-40B4-BE49-F238E27FC236}">
                <a16:creationId xmlns:a16="http://schemas.microsoft.com/office/drawing/2014/main" id="{2625C23A-F0C9-4720-8733-DC93E7D244F4}"/>
              </a:ext>
            </a:extLst>
          </p:cNvPr>
          <p:cNvSpPr>
            <a:spLocks xmlns:a="http://schemas.openxmlformats.org/drawingml/2006/main" noGrp="1"/>
          </p:cNvSpPr>
          <p:nvPr/>
        </p:nvSpPr>
        <p:spPr>
          <a:xfrm xmlns:a="http://schemas.openxmlformats.org/drawingml/2006/main">
            <a:off x="4095750" y="2057400"/>
            <a:ext cx="1695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CRITERION</a:t>
            </a:r>
          </a:p>
        </p:txBody>
      </p:sp>
      <p:sp>
        <p:nvSpPr>
          <p:cNvPr id="18" name="">
            <a:extLst xmlns:a="http://schemas.openxmlformats.org/drawingml/2006/main">
              <a:ext uri="{FF2B5EF4-FFF2-40B4-BE49-F238E27FC236}">
                <a16:creationId xmlns:a16="http://schemas.microsoft.com/office/drawing/2014/main" id="{C55F662E-45CB-495E-BDF9-F50D3A355D2C}"/>
              </a:ext>
            </a:extLst>
          </p:cNvPr>
          <p:cNvSpPr>
            <a:spLocks xmlns:a="http://schemas.openxmlformats.org/drawingml/2006/main" noGrp="1"/>
          </p:cNvSpPr>
          <p:nvPr/>
        </p:nvSpPr>
        <p:spPr>
          <a:xfrm xmlns:a="http://schemas.openxmlformats.org/drawingml/2006/main">
            <a:off x="3600450" y="2476500"/>
            <a:ext cx="2190750" cy="0"/>
          </a:xfrm>
          <a:prstGeom xmlns:a="http://schemas.openxmlformats.org/drawingml/2006/main" prst="line">
            <a:avLst/>
          </a:prstGeom>
          <a:noFill xmlns:a="http://schemas.openxmlformats.org/drawingml/2006/main"/>
          <a:ln xmlns:a="http://schemas.openxmlformats.org/drawingml/2006/main" w="19050">
            <a:solidFill>
              <a:srgbClr val="111316"/>
            </a:solidFill>
            <a:prstDash val="solid"/>
          </a:ln>
        </p:spPr>
      </p:sp>
      <p:sp>
        <p:nvSpPr>
          <p:cNvPr id="19" name="step-head-1">
            <a:extLst xmlns:a="http://schemas.openxmlformats.org/drawingml/2006/main">
              <a:ext uri="{FF2B5EF4-FFF2-40B4-BE49-F238E27FC236}">
                <a16:creationId xmlns:a16="http://schemas.microsoft.com/office/drawing/2014/main" id="{804C6CFB-DA54-4FCF-8A53-9574DCF3B610}"/>
              </a:ext>
            </a:extLst>
          </p:cNvPr>
          <p:cNvSpPr>
            <a:spLocks xmlns:a="http://schemas.openxmlformats.org/drawingml/2006/main" noGrp="1"/>
          </p:cNvSpPr>
          <p:nvPr/>
        </p:nvSpPr>
        <p:spPr>
          <a:xfrm xmlns:a="http://schemas.openxmlformats.org/drawingml/2006/main">
            <a:off x="3600450" y="2667000"/>
            <a:ext cx="2190750" cy="55092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What test applies?</a:t>
            </a:r>
          </a:p>
        </p:txBody>
      </p:sp>
      <p:sp>
        <p:nvSpPr>
          <p:cNvPr id="20" name="step-body-1">
            <a:extLst xmlns:a="http://schemas.openxmlformats.org/drawingml/2006/main">
              <a:ext uri="{FF2B5EF4-FFF2-40B4-BE49-F238E27FC236}">
                <a16:creationId xmlns:a16="http://schemas.microsoft.com/office/drawing/2014/main" id="{1FBB3241-0461-4B83-8BDF-5D046DF65B27}"/>
              </a:ext>
            </a:extLst>
          </p:cNvPr>
          <p:cNvSpPr>
            <a:spLocks xmlns:a="http://schemas.openxmlformats.org/drawingml/2006/main" noGrp="1"/>
          </p:cNvSpPr>
          <p:nvPr/>
        </p:nvSpPr>
        <p:spPr>
          <a:xfrm xmlns:a="http://schemas.openxmlformats.org/drawingml/2006/main">
            <a:off x="3600450" y="3370326"/>
            <a:ext cx="2190750" cy="24780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A comparison with a threshold, range, membership, or combination.</a:t>
            </a:r>
          </a:p>
        </p:txBody>
      </p:sp>
      <p:sp>
        <p:nvSpPr>
          <p:cNvPr id="21" name="step-node-2">
            <a:extLst xmlns:a="http://schemas.openxmlformats.org/drawingml/2006/main">
              <a:ext uri="{FF2B5EF4-FFF2-40B4-BE49-F238E27FC236}">
                <a16:creationId xmlns:a16="http://schemas.microsoft.com/office/drawing/2014/main" id="{2736330D-5FB7-4B4E-B1EF-F600D93A0850}"/>
              </a:ext>
            </a:extLst>
          </p:cNvPr>
          <p:cNvSpPr>
            <a:spLocks xmlns:a="http://schemas.openxmlformats.org/drawingml/2006/main" noGrp="1"/>
          </p:cNvSpPr>
          <p:nvPr/>
        </p:nvSpPr>
        <p:spPr>
          <a:xfrm xmlns:a="http://schemas.openxmlformats.org/drawingml/2006/main">
            <a:off x="6210300" y="1847850"/>
            <a:ext cx="2571750" cy="4171950"/>
          </a:xfrm>
          <a:prstGeom xmlns:a="http://schemas.openxmlformats.org/drawingml/2006/main" prst="roundRect">
            <a:avLst>
              <a:gd name="adj" fmla="val 3704"/>
            </a:avLst>
          </a:prstGeom>
          <a:solidFill xmlns:a="http://schemas.openxmlformats.org/drawingml/2006/main">
            <a:srgbClr val="F6F7F9"/>
          </a:solidFill>
          <a:ln xmlns:a="http://schemas.openxmlformats.org/drawingml/2006/main" w="9525">
            <a:solidFill>
              <a:srgbClr val="DDE0E5"/>
            </a:solidFill>
            <a:prstDash val="solid"/>
          </a:ln>
        </p:spPr>
      </p:sp>
      <p:sp>
        <p:nvSpPr>
          <p:cNvPr id="22" name="step-number-2">
            <a:extLst xmlns:a="http://schemas.openxmlformats.org/drawingml/2006/main">
              <a:ext uri="{FF2B5EF4-FFF2-40B4-BE49-F238E27FC236}">
                <a16:creationId xmlns:a16="http://schemas.microsoft.com/office/drawing/2014/main" id="{3258A38D-C939-472B-B655-572CFEF4A8DC}"/>
              </a:ext>
            </a:extLst>
          </p:cNvPr>
          <p:cNvSpPr>
            <a:spLocks xmlns:a="http://schemas.openxmlformats.org/drawingml/2006/main" noGrp="1"/>
          </p:cNvSpPr>
          <p:nvPr/>
        </p:nvSpPr>
        <p:spPr>
          <a:xfrm xmlns:a="http://schemas.openxmlformats.org/drawingml/2006/main">
            <a:off x="6400800" y="203835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2E74B5"/>
                </a:solidFill>
                <a:latin typeface="Arial"/>
                <a:ea typeface="Arial"/>
                <a:cs typeface="Arial"/>
              </a:defRPr>
            </a:pPr>
            <a:r>
              <a:rPr sz="1200" b="1">
                <a:solidFill>
                  <a:srgbClr val="2E74B5"/>
                </a:solidFill>
                <a:latin typeface="Arial"/>
                <a:ea typeface="Arial"/>
                <a:cs typeface="Arial"/>
              </a:rPr>
              <a:t>03</a:t>
            </a:r>
          </a:p>
        </p:txBody>
      </p:sp>
      <p:sp>
        <p:nvSpPr>
          <p:cNvPr id="23" name="step-label-2">
            <a:extLst xmlns:a="http://schemas.openxmlformats.org/drawingml/2006/main">
              <a:ext uri="{FF2B5EF4-FFF2-40B4-BE49-F238E27FC236}">
                <a16:creationId xmlns:a16="http://schemas.microsoft.com/office/drawing/2014/main" id="{E929B966-22CF-4177-B432-CDCB621A0270}"/>
              </a:ext>
            </a:extLst>
          </p:cNvPr>
          <p:cNvSpPr>
            <a:spLocks xmlns:a="http://schemas.openxmlformats.org/drawingml/2006/main" noGrp="1"/>
          </p:cNvSpPr>
          <p:nvPr/>
        </p:nvSpPr>
        <p:spPr>
          <a:xfrm xmlns:a="http://schemas.openxmlformats.org/drawingml/2006/main">
            <a:off x="6896100" y="2057400"/>
            <a:ext cx="1695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ACTION</a:t>
            </a:r>
          </a:p>
        </p:txBody>
      </p:sp>
      <p:sp>
        <p:nvSpPr>
          <p:cNvPr id="24" name="">
            <a:extLst xmlns:a="http://schemas.openxmlformats.org/drawingml/2006/main">
              <a:ext uri="{FF2B5EF4-FFF2-40B4-BE49-F238E27FC236}">
                <a16:creationId xmlns:a16="http://schemas.microsoft.com/office/drawing/2014/main" id="{915C50F0-9308-4EF0-9199-F2B5AB3862AD}"/>
              </a:ext>
            </a:extLst>
          </p:cNvPr>
          <p:cNvSpPr>
            <a:spLocks xmlns:a="http://schemas.openxmlformats.org/drawingml/2006/main" noGrp="1"/>
          </p:cNvSpPr>
          <p:nvPr/>
        </p:nvSpPr>
        <p:spPr>
          <a:xfrm xmlns:a="http://schemas.openxmlformats.org/drawingml/2006/main">
            <a:off x="6400800" y="2476500"/>
            <a:ext cx="2190750" cy="0"/>
          </a:xfrm>
          <a:prstGeom xmlns:a="http://schemas.openxmlformats.org/drawingml/2006/main" prst="line">
            <a:avLst/>
          </a:prstGeom>
          <a:noFill xmlns:a="http://schemas.openxmlformats.org/drawingml/2006/main"/>
          <a:ln xmlns:a="http://schemas.openxmlformats.org/drawingml/2006/main" w="19050">
            <a:solidFill>
              <a:srgbClr val="111316"/>
            </a:solidFill>
            <a:prstDash val="solid"/>
          </a:ln>
        </p:spPr>
      </p:sp>
      <p:sp>
        <p:nvSpPr>
          <p:cNvPr id="25" name="step-head-2">
            <a:extLst xmlns:a="http://schemas.openxmlformats.org/drawingml/2006/main">
              <a:ext uri="{FF2B5EF4-FFF2-40B4-BE49-F238E27FC236}">
                <a16:creationId xmlns:a16="http://schemas.microsoft.com/office/drawing/2014/main" id="{658C80BF-D5FA-42A7-832A-D32D0018E059}"/>
              </a:ext>
            </a:extLst>
          </p:cNvPr>
          <p:cNvSpPr>
            <a:spLocks xmlns:a="http://schemas.openxmlformats.org/drawingml/2006/main" noGrp="1"/>
          </p:cNvSpPr>
          <p:nvPr/>
        </p:nvSpPr>
        <p:spPr>
          <a:xfrm xmlns:a="http://schemas.openxmlformats.org/drawingml/2006/main">
            <a:off x="6400800" y="2667000"/>
            <a:ext cx="2190750" cy="55092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What should code do?</a:t>
            </a:r>
          </a:p>
        </p:txBody>
      </p:sp>
      <p:sp>
        <p:nvSpPr>
          <p:cNvPr id="26" name="step-body-2">
            <a:extLst xmlns:a="http://schemas.openxmlformats.org/drawingml/2006/main">
              <a:ext uri="{FF2B5EF4-FFF2-40B4-BE49-F238E27FC236}">
                <a16:creationId xmlns:a16="http://schemas.microsoft.com/office/drawing/2014/main" id="{93188124-15B2-475B-9916-D2C726F9ED9C}"/>
              </a:ext>
            </a:extLst>
          </p:cNvPr>
          <p:cNvSpPr>
            <a:spLocks xmlns:a="http://schemas.openxmlformats.org/drawingml/2006/main" noGrp="1"/>
          </p:cNvSpPr>
          <p:nvPr/>
        </p:nvSpPr>
        <p:spPr>
          <a:xfrm xmlns:a="http://schemas.openxmlformats.org/drawingml/2006/main">
            <a:off x="6400800" y="3370326"/>
            <a:ext cx="2190750" cy="24780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Print, record, classify, calculate, or request review.</a:t>
            </a:r>
          </a:p>
        </p:txBody>
      </p:sp>
      <p:sp>
        <p:nvSpPr>
          <p:cNvPr id="27" name="step-node-3">
            <a:extLst xmlns:a="http://schemas.openxmlformats.org/drawingml/2006/main">
              <a:ext uri="{FF2B5EF4-FFF2-40B4-BE49-F238E27FC236}">
                <a16:creationId xmlns:a16="http://schemas.microsoft.com/office/drawing/2014/main" id="{576B2DAB-4737-4EB0-9924-90D4211610E5}"/>
              </a:ext>
            </a:extLst>
          </p:cNvPr>
          <p:cNvSpPr>
            <a:spLocks xmlns:a="http://schemas.openxmlformats.org/drawingml/2006/main" noGrp="1"/>
          </p:cNvSpPr>
          <p:nvPr/>
        </p:nvSpPr>
        <p:spPr>
          <a:xfrm xmlns:a="http://schemas.openxmlformats.org/drawingml/2006/main">
            <a:off x="9010650" y="1847850"/>
            <a:ext cx="2571750" cy="4171950"/>
          </a:xfrm>
          <a:prstGeom xmlns:a="http://schemas.openxmlformats.org/drawingml/2006/main" prst="roundRect">
            <a:avLst>
              <a:gd name="adj" fmla="val 3704"/>
            </a:avLst>
          </a:prstGeom>
          <a:solidFill xmlns:a="http://schemas.openxmlformats.org/drawingml/2006/main">
            <a:srgbClr val="F6F7F9"/>
          </a:solidFill>
          <a:ln xmlns:a="http://schemas.openxmlformats.org/drawingml/2006/main" w="9525">
            <a:solidFill>
              <a:srgbClr val="DDE0E5"/>
            </a:solidFill>
            <a:prstDash val="solid"/>
          </a:ln>
        </p:spPr>
      </p:sp>
      <p:sp>
        <p:nvSpPr>
          <p:cNvPr id="28" name="step-number-3">
            <a:extLst xmlns:a="http://schemas.openxmlformats.org/drawingml/2006/main">
              <a:ext uri="{FF2B5EF4-FFF2-40B4-BE49-F238E27FC236}">
                <a16:creationId xmlns:a16="http://schemas.microsoft.com/office/drawing/2014/main" id="{9B5137C0-342D-4A74-99B5-067479252637}"/>
              </a:ext>
            </a:extLst>
          </p:cNvPr>
          <p:cNvSpPr>
            <a:spLocks xmlns:a="http://schemas.openxmlformats.org/drawingml/2006/main" noGrp="1"/>
          </p:cNvSpPr>
          <p:nvPr/>
        </p:nvSpPr>
        <p:spPr>
          <a:xfrm xmlns:a="http://schemas.openxmlformats.org/drawingml/2006/main">
            <a:off x="9201150" y="203835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2E74B5"/>
                </a:solidFill>
                <a:latin typeface="Arial"/>
                <a:ea typeface="Arial"/>
                <a:cs typeface="Arial"/>
              </a:defRPr>
            </a:pPr>
            <a:r>
              <a:rPr sz="1200" b="1">
                <a:solidFill>
                  <a:srgbClr val="2E74B5"/>
                </a:solidFill>
                <a:latin typeface="Arial"/>
                <a:ea typeface="Arial"/>
                <a:cs typeface="Arial"/>
              </a:rPr>
              <a:t>04</a:t>
            </a:r>
          </a:p>
        </p:txBody>
      </p:sp>
      <p:sp>
        <p:nvSpPr>
          <p:cNvPr id="29" name="step-label-3">
            <a:extLst xmlns:a="http://schemas.openxmlformats.org/drawingml/2006/main">
              <a:ext uri="{FF2B5EF4-FFF2-40B4-BE49-F238E27FC236}">
                <a16:creationId xmlns:a16="http://schemas.microsoft.com/office/drawing/2014/main" id="{E0A05D40-12C9-4FA5-8123-FEEBA15EC205}"/>
              </a:ext>
            </a:extLst>
          </p:cNvPr>
          <p:cNvSpPr>
            <a:spLocks xmlns:a="http://schemas.openxmlformats.org/drawingml/2006/main" noGrp="1"/>
          </p:cNvSpPr>
          <p:nvPr/>
        </p:nvSpPr>
        <p:spPr>
          <a:xfrm xmlns:a="http://schemas.openxmlformats.org/drawingml/2006/main">
            <a:off x="9696450" y="2057400"/>
            <a:ext cx="1695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LIMIT</a:t>
            </a:r>
          </a:p>
        </p:txBody>
      </p:sp>
      <p:sp>
        <p:nvSpPr>
          <p:cNvPr id="30" name="">
            <a:extLst xmlns:a="http://schemas.openxmlformats.org/drawingml/2006/main">
              <a:ext uri="{FF2B5EF4-FFF2-40B4-BE49-F238E27FC236}">
                <a16:creationId xmlns:a16="http://schemas.microsoft.com/office/drawing/2014/main" id="{F53660BD-142D-430C-BD5B-7BFC69E12E62}"/>
              </a:ext>
            </a:extLst>
          </p:cNvPr>
          <p:cNvSpPr>
            <a:spLocks xmlns:a="http://schemas.openxmlformats.org/drawingml/2006/main" noGrp="1"/>
          </p:cNvSpPr>
          <p:nvPr/>
        </p:nvSpPr>
        <p:spPr>
          <a:xfrm xmlns:a="http://schemas.openxmlformats.org/drawingml/2006/main">
            <a:off x="9201150" y="2476500"/>
            <a:ext cx="2190750" cy="0"/>
          </a:xfrm>
          <a:prstGeom xmlns:a="http://schemas.openxmlformats.org/drawingml/2006/main" prst="line">
            <a:avLst/>
          </a:prstGeom>
          <a:noFill xmlns:a="http://schemas.openxmlformats.org/drawingml/2006/main"/>
          <a:ln xmlns:a="http://schemas.openxmlformats.org/drawingml/2006/main" w="19050">
            <a:solidFill>
              <a:srgbClr val="111316"/>
            </a:solidFill>
            <a:prstDash val="solid"/>
          </a:ln>
        </p:spPr>
      </p:sp>
      <p:sp>
        <p:nvSpPr>
          <p:cNvPr id="31" name="step-head-3">
            <a:extLst xmlns:a="http://schemas.openxmlformats.org/drawingml/2006/main">
              <a:ext uri="{FF2B5EF4-FFF2-40B4-BE49-F238E27FC236}">
                <a16:creationId xmlns:a16="http://schemas.microsoft.com/office/drawing/2014/main" id="{0EBEE103-CC30-4215-9EDF-5E6D5B32CE3F}"/>
              </a:ext>
            </a:extLst>
          </p:cNvPr>
          <p:cNvSpPr>
            <a:spLocks xmlns:a="http://schemas.openxmlformats.org/drawingml/2006/main" noGrp="1"/>
          </p:cNvSpPr>
          <p:nvPr/>
        </p:nvSpPr>
        <p:spPr>
          <a:xfrm xmlns:a="http://schemas.openxmlformats.org/drawingml/2006/main">
            <a:off x="9201150" y="2667000"/>
            <a:ext cx="2190750" cy="55092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What remains outside?</a:t>
            </a:r>
          </a:p>
        </p:txBody>
      </p:sp>
      <p:sp>
        <p:nvSpPr>
          <p:cNvPr id="32" name="step-body-3">
            <a:extLst xmlns:a="http://schemas.openxmlformats.org/drawingml/2006/main">
              <a:ext uri="{FF2B5EF4-FFF2-40B4-BE49-F238E27FC236}">
                <a16:creationId xmlns:a16="http://schemas.microsoft.com/office/drawing/2014/main" id="{C236D319-F959-4718-ABBB-34834CAD2949}"/>
              </a:ext>
            </a:extLst>
          </p:cNvPr>
          <p:cNvSpPr>
            <a:spLocks xmlns:a="http://schemas.openxmlformats.org/drawingml/2006/main" noGrp="1"/>
          </p:cNvSpPr>
          <p:nvPr/>
        </p:nvSpPr>
        <p:spPr>
          <a:xfrm xmlns:a="http://schemas.openxmlformats.org/drawingml/2006/main">
            <a:off x="9201150" y="3370326"/>
            <a:ext cx="2190750" cy="24780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Context, quality, exceptions, uncertainty, and human decision.</a:t>
            </a:r>
          </a:p>
        </p:txBody>
      </p:sp>
    </p:spTree>
    <p:extLst>
      <p:ext uri="{BB962C8B-B14F-4D97-AF65-F5344CB8AC3E}">
        <p14:creationId xmlns:p14="http://schemas.microsoft.com/office/powerpoint/2010/main" val="170255653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kicker">
            <a:extLst xmlns:a="http://schemas.openxmlformats.org/drawingml/2006/main">
              <a:ext uri="{FF2B5EF4-FFF2-40B4-BE49-F238E27FC236}">
                <a16:creationId xmlns:a16="http://schemas.microsoft.com/office/drawing/2014/main" id="{7FD56D36-8979-4BF0-A54D-454E32CBDE9B}"/>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RECALL · WEEK 2A</a:t>
            </a:r>
          </a:p>
        </p:txBody>
      </p:sp>
      <p:sp>
        <p:nvSpPr>
          <p:cNvPr id="2" name="title">
            <a:extLst xmlns:a="http://schemas.openxmlformats.org/drawingml/2006/main">
              <a:ext uri="{FF2B5EF4-FFF2-40B4-BE49-F238E27FC236}">
                <a16:creationId xmlns:a16="http://schemas.microsoft.com/office/drawing/2014/main" id="{52FC58CC-AC53-4F7C-909E-ECE3F9D2B262}"/>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Recall: a Boolean answers one yes/no question</a:t>
            </a:r>
          </a:p>
        </p:txBody>
      </p:sp>
      <p:sp>
        <p:nvSpPr>
          <p:cNvPr id="3" name="">
            <a:extLst xmlns:a="http://schemas.openxmlformats.org/drawingml/2006/main">
              <a:ext uri="{FF2B5EF4-FFF2-40B4-BE49-F238E27FC236}">
                <a16:creationId xmlns:a16="http://schemas.microsoft.com/office/drawing/2014/main" id="{DE9187C6-1EC3-4128-8B5C-420ECD1066B6}"/>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2AC2F468-6F19-4F81-A02C-898E67DAE714}"/>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3 · Meeting A · Decisions and Functions · Full Source Deck</a:t>
            </a:r>
          </a:p>
        </p:txBody>
      </p:sp>
      <p:sp>
        <p:nvSpPr>
          <p:cNvPr id="5" name="page">
            <a:extLst xmlns:a="http://schemas.openxmlformats.org/drawingml/2006/main">
              <a:ext uri="{FF2B5EF4-FFF2-40B4-BE49-F238E27FC236}">
                <a16:creationId xmlns:a16="http://schemas.microsoft.com/office/drawing/2014/main" id="{BDD6DCD6-B7BD-4D42-973A-D5A2D063363F}"/>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07</a:t>
            </a:r>
          </a:p>
        </p:txBody>
      </p:sp>
      <p:sp>
        <p:nvSpPr>
          <p:cNvPr id="6" name="term-label">
            <a:extLst xmlns:a="http://schemas.openxmlformats.org/drawingml/2006/main">
              <a:ext uri="{FF2B5EF4-FFF2-40B4-BE49-F238E27FC236}">
                <a16:creationId xmlns:a16="http://schemas.microsoft.com/office/drawing/2014/main" id="{AC03D9A5-E75F-4BDC-9060-C940885D7796}"/>
              </a:ext>
            </a:extLst>
          </p:cNvPr>
          <p:cNvSpPr>
            <a:spLocks xmlns:a="http://schemas.openxmlformats.org/drawingml/2006/main" noGrp="1"/>
          </p:cNvSpPr>
          <p:nvPr/>
        </p:nvSpPr>
        <p:spPr>
          <a:xfrm xmlns:a="http://schemas.openxmlformats.org/drawingml/2006/main">
            <a:off x="609600" y="1809750"/>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TERM</a:t>
            </a:r>
          </a:p>
        </p:txBody>
      </p:sp>
      <p:sp>
        <p:nvSpPr>
          <p:cNvPr id="7" name="term">
            <a:extLst xmlns:a="http://schemas.openxmlformats.org/drawingml/2006/main">
              <a:ext uri="{FF2B5EF4-FFF2-40B4-BE49-F238E27FC236}">
                <a16:creationId xmlns:a16="http://schemas.microsoft.com/office/drawing/2014/main" id="{CC724A2F-CFF1-4F36-A7E0-DD9025BA1188}"/>
              </a:ext>
            </a:extLst>
          </p:cNvPr>
          <p:cNvSpPr>
            <a:spLocks xmlns:a="http://schemas.openxmlformats.org/drawingml/2006/main" noGrp="1"/>
          </p:cNvSpPr>
          <p:nvPr/>
        </p:nvSpPr>
        <p:spPr>
          <a:xfrm xmlns:a="http://schemas.openxmlformats.org/drawingml/2006/main">
            <a:off x="609600" y="2057400"/>
            <a:ext cx="5905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1">
                <a:solidFill>
                  <a:srgbClr val="111316"/>
                </a:solidFill>
                <a:latin typeface="Consolas"/>
                <a:ea typeface="Consolas"/>
                <a:cs typeface="Consolas"/>
              </a:defRPr>
            </a:pPr>
            <a:r>
              <a:rPr sz="3000" b="1">
                <a:solidFill>
                  <a:srgbClr val="111316"/>
                </a:solidFill>
                <a:latin typeface="Consolas"/>
                <a:ea typeface="Consolas"/>
                <a:cs typeface="Consolas"/>
              </a:rPr>
              <a:t>bool</a:t>
            </a:r>
          </a:p>
        </p:txBody>
      </p:sp>
      <p:sp>
        <p:nvSpPr>
          <p:cNvPr id="8" name="">
            <a:extLst xmlns:a="http://schemas.openxmlformats.org/drawingml/2006/main">
              <a:ext uri="{FF2B5EF4-FFF2-40B4-BE49-F238E27FC236}">
                <a16:creationId xmlns:a16="http://schemas.microsoft.com/office/drawing/2014/main" id="{27D72AA7-2BA5-45B9-88B0-3ED0859FE06F}"/>
              </a:ext>
            </a:extLst>
          </p:cNvPr>
          <p:cNvSpPr>
            <a:spLocks xmlns:a="http://schemas.openxmlformats.org/drawingml/2006/main" noGrp="1"/>
          </p:cNvSpPr>
          <p:nvPr/>
        </p:nvSpPr>
        <p:spPr>
          <a:xfrm xmlns:a="http://schemas.openxmlformats.org/drawingml/2006/main">
            <a:off x="609600" y="2724150"/>
            <a:ext cx="1143000" cy="0"/>
          </a:xfrm>
          <a:prstGeom xmlns:a="http://schemas.openxmlformats.org/drawingml/2006/main" prst="line">
            <a:avLst/>
          </a:prstGeom>
          <a:noFill xmlns:a="http://schemas.openxmlformats.org/drawingml/2006/main"/>
          <a:ln xmlns:a="http://schemas.openxmlformats.org/drawingml/2006/main" w="38100">
            <a:solidFill>
              <a:srgbClr val="2E74B5"/>
            </a:solidFill>
            <a:prstDash val="solid"/>
          </a:ln>
        </p:spPr>
      </p:sp>
      <p:sp>
        <p:nvSpPr>
          <p:cNvPr id="9" name="definition">
            <a:extLst xmlns:a="http://schemas.openxmlformats.org/drawingml/2006/main">
              <a:ext uri="{FF2B5EF4-FFF2-40B4-BE49-F238E27FC236}">
                <a16:creationId xmlns:a16="http://schemas.microsoft.com/office/drawing/2014/main" id="{216A02E0-EB90-4D4A-A47B-119299565D07}"/>
              </a:ext>
            </a:extLst>
          </p:cNvPr>
          <p:cNvSpPr>
            <a:spLocks xmlns:a="http://schemas.openxmlformats.org/drawingml/2006/main" noGrp="1"/>
          </p:cNvSpPr>
          <p:nvPr/>
        </p:nvSpPr>
        <p:spPr>
          <a:xfrm xmlns:a="http://schemas.openxmlformats.org/drawingml/2006/main">
            <a:off x="609600" y="2971800"/>
            <a:ext cx="5905500" cy="2076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Recall from Week 2A: a value of type bool — a Boolean — is one of exactly two truth values, True or False. Capitalization matters. A Boolean is evidence about one question; it is not yet a decision, and not yet an action.</a:t>
            </a:r>
          </a:p>
        </p:txBody>
      </p:sp>
      <p:sp>
        <p:nvSpPr>
          <p:cNvPr id="10" name="example-panel">
            <a:extLst xmlns:a="http://schemas.openxmlformats.org/drawingml/2006/main">
              <a:ext uri="{FF2B5EF4-FFF2-40B4-BE49-F238E27FC236}">
                <a16:creationId xmlns:a16="http://schemas.microsoft.com/office/drawing/2014/main" id="{630115A3-D52B-4260-8BDB-CEC0740179C9}"/>
              </a:ext>
            </a:extLst>
          </p:cNvPr>
          <p:cNvSpPr>
            <a:spLocks xmlns:a="http://schemas.openxmlformats.org/drawingml/2006/main" noGrp="1"/>
          </p:cNvSpPr>
          <p:nvPr/>
        </p:nvSpPr>
        <p:spPr>
          <a:xfrm xmlns:a="http://schemas.openxmlformats.org/drawingml/2006/main">
            <a:off x="6762750" y="1809750"/>
            <a:ext cx="4819650" cy="3257550"/>
          </a:xfrm>
          <a:prstGeom xmlns:a="http://schemas.openxmlformats.org/drawingml/2006/main" prst="roundRect">
            <a:avLst>
              <a:gd name="adj" fmla="val 2339"/>
            </a:avLst>
          </a:prstGeom>
          <a:solidFill xmlns:a="http://schemas.openxmlformats.org/drawingml/2006/main">
            <a:srgbClr val="F3F7FB"/>
          </a:solidFill>
          <a:ln xmlns:a="http://schemas.openxmlformats.org/drawingml/2006/main" w="9525">
            <a:solidFill>
              <a:srgbClr val="DDE0E5"/>
            </a:solidFill>
            <a:prstDash val="solid"/>
          </a:ln>
        </p:spPr>
      </p:sp>
      <p:sp>
        <p:nvSpPr>
          <p:cNvPr id="11" name="example-label">
            <a:extLst xmlns:a="http://schemas.openxmlformats.org/drawingml/2006/main">
              <a:ext uri="{FF2B5EF4-FFF2-40B4-BE49-F238E27FC236}">
                <a16:creationId xmlns:a16="http://schemas.microsoft.com/office/drawing/2014/main" id="{67D689D3-A857-4A85-90A2-09239F8B1940}"/>
              </a:ext>
            </a:extLst>
          </p:cNvPr>
          <p:cNvSpPr>
            <a:spLocks xmlns:a="http://schemas.openxmlformats.org/drawingml/2006/main" noGrp="1"/>
          </p:cNvSpPr>
          <p:nvPr/>
        </p:nvSpPr>
        <p:spPr>
          <a:xfrm xmlns:a="http://schemas.openxmlformats.org/drawingml/2006/main">
            <a:off x="6972300" y="2019300"/>
            <a:ext cx="438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1F4D78"/>
                </a:solidFill>
                <a:latin typeface="Arial"/>
                <a:ea typeface="Arial"/>
                <a:cs typeface="Arial"/>
              </a:defRPr>
            </a:pPr>
            <a:r>
              <a:rPr sz="900" b="1">
                <a:solidFill>
                  <a:srgbClr val="1F4D78"/>
                </a:solidFill>
                <a:latin typeface="Arial"/>
                <a:ea typeface="Arial"/>
                <a:cs typeface="Arial"/>
              </a:rPr>
              <a:t>IN PRACTICE</a:t>
            </a:r>
          </a:p>
        </p:txBody>
      </p:sp>
      <p:sp>
        <p:nvSpPr>
          <p:cNvPr id="12" name="example-head">
            <a:extLst xmlns:a="http://schemas.openxmlformats.org/drawingml/2006/main">
              <a:ext uri="{FF2B5EF4-FFF2-40B4-BE49-F238E27FC236}">
                <a16:creationId xmlns:a16="http://schemas.microsoft.com/office/drawing/2014/main" id="{1725398E-17B4-41C9-BECF-CAEB2823DB35}"/>
              </a:ext>
            </a:extLst>
          </p:cNvPr>
          <p:cNvSpPr>
            <a:spLocks xmlns:a="http://schemas.openxmlformats.org/drawingml/2006/main" noGrp="1"/>
          </p:cNvSpPr>
          <p:nvPr/>
        </p:nvSpPr>
        <p:spPr>
          <a:xfrm xmlns:a="http://schemas.openxmlformats.org/drawingml/2006/main">
            <a:off x="6972300" y="2286000"/>
            <a:ext cx="4381500" cy="3040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Consolas"/>
                <a:ea typeface="Consolas"/>
                <a:cs typeface="Consolas"/>
              </a:defRPr>
            </a:pPr>
            <a:r>
              <a:rPr sz="1800" b="1">
                <a:solidFill>
                  <a:srgbClr val="111316"/>
                </a:solidFill>
                <a:latin typeface="Consolas"/>
                <a:ea typeface="Consolas"/>
                <a:cs typeface="Consolas"/>
              </a:rPr>
              <a:t>has_daylight = True</a:t>
            </a:r>
          </a:p>
        </p:txBody>
      </p:sp>
      <p:sp>
        <p:nvSpPr>
          <p:cNvPr id="13" name="example-body">
            <a:extLst xmlns:a="http://schemas.openxmlformats.org/drawingml/2006/main">
              <a:ext uri="{FF2B5EF4-FFF2-40B4-BE49-F238E27FC236}">
                <a16:creationId xmlns:a16="http://schemas.microsoft.com/office/drawing/2014/main" id="{00F0C7A7-056C-4F9C-8921-47C65FC6D570}"/>
              </a:ext>
            </a:extLst>
          </p:cNvPr>
          <p:cNvSpPr>
            <a:spLocks xmlns:a="http://schemas.openxmlformats.org/drawingml/2006/main" noGrp="1"/>
          </p:cNvSpPr>
          <p:nvPr/>
        </p:nvSpPr>
        <p:spPr>
          <a:xfrm xmlns:a="http://schemas.openxmlformats.org/drawingml/2006/main">
            <a:off x="6972300" y="2704338"/>
            <a:ext cx="4381500" cy="22296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Architectural questions that produce Boolean evidence:</a:t>
            </a:r>
          </a:p>
          <a:p xmlns:a="http://schemas.openxmlformats.org/drawingml/2006/main">
            <a:r>
              <a:t/>
            </a:r>
          </a:p>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Is the area at least 40 m²?</a:t>
            </a:r>
          </a:p>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Is the material exterior-rated?</a:t>
            </a:r>
          </a:p>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Does the room have daylight?</a:t>
            </a:r>
          </a:p>
        </p:txBody>
      </p:sp>
      <p:sp>
        <p:nvSpPr>
          <p:cNvPr id="14" name="note-bar">
            <a:extLst xmlns:a="http://schemas.openxmlformats.org/drawingml/2006/main">
              <a:ext uri="{FF2B5EF4-FFF2-40B4-BE49-F238E27FC236}">
                <a16:creationId xmlns:a16="http://schemas.microsoft.com/office/drawing/2014/main" id="{BEB44C38-9B6C-4B26-A83E-61DC8686C055}"/>
              </a:ext>
            </a:extLst>
          </p:cNvPr>
          <p:cNvSpPr>
            <a:spLocks xmlns:a="http://schemas.openxmlformats.org/drawingml/2006/main" noGrp="1"/>
          </p:cNvSpPr>
          <p:nvPr/>
        </p:nvSpPr>
        <p:spPr>
          <a:xfrm xmlns:a="http://schemas.openxmlformats.org/drawingml/2006/main">
            <a:off x="609600" y="5334000"/>
            <a:ext cx="57150" cy="723900"/>
          </a:xfrm>
          <a:prstGeom xmlns:a="http://schemas.openxmlformats.org/drawingml/2006/main" prst="rect">
            <a:avLst/>
          </a:prstGeom>
          <a:solidFill xmlns:a="http://schemas.openxmlformats.org/drawingml/2006/main">
            <a:srgbClr val="B5731A"/>
          </a:solidFill>
          <a:ln xmlns:a="http://schemas.openxmlformats.org/drawingml/2006/main" w="0">
            <a:noFill/>
            <a:prstDash val="solid"/>
          </a:ln>
        </p:spPr>
      </p:sp>
      <p:sp>
        <p:nvSpPr>
          <p:cNvPr id="15" name="note-label">
            <a:extLst xmlns:a="http://schemas.openxmlformats.org/drawingml/2006/main">
              <a:ext uri="{FF2B5EF4-FFF2-40B4-BE49-F238E27FC236}">
                <a16:creationId xmlns:a16="http://schemas.microsoft.com/office/drawing/2014/main" id="{0BE0CEAB-70CD-45DB-9267-534780BC3815}"/>
              </a:ext>
            </a:extLst>
          </p:cNvPr>
          <p:cNvSpPr>
            <a:spLocks xmlns:a="http://schemas.openxmlformats.org/drawingml/2006/main" noGrp="1"/>
          </p:cNvSpPr>
          <p:nvPr/>
        </p:nvSpPr>
        <p:spPr>
          <a:xfrm xmlns:a="http://schemas.openxmlformats.org/drawingml/2006/main">
            <a:off x="819150" y="5353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B5731A"/>
                </a:solidFill>
                <a:latin typeface="Arial"/>
                <a:ea typeface="Arial"/>
                <a:cs typeface="Arial"/>
              </a:defRPr>
            </a:pPr>
            <a:r>
              <a:rPr sz="900" b="1">
                <a:solidFill>
                  <a:srgbClr val="B5731A"/>
                </a:solidFill>
                <a:latin typeface="Arial"/>
                <a:ea typeface="Arial"/>
                <a:cs typeface="Arial"/>
              </a:rPr>
              <a:t>COMMON CONFUSION</a:t>
            </a:r>
          </a:p>
        </p:txBody>
      </p:sp>
      <p:sp>
        <p:nvSpPr>
          <p:cNvPr id="16" name="note">
            <a:extLst xmlns:a="http://schemas.openxmlformats.org/drawingml/2006/main">
              <a:ext uri="{FF2B5EF4-FFF2-40B4-BE49-F238E27FC236}">
                <a16:creationId xmlns:a16="http://schemas.microsoft.com/office/drawing/2014/main" id="{806EA4A2-32C5-4210-A8F4-4D651B0B767F}"/>
              </a:ext>
            </a:extLst>
          </p:cNvPr>
          <p:cNvSpPr>
            <a:spLocks xmlns:a="http://schemas.openxmlformats.org/drawingml/2006/main" noGrp="1"/>
          </p:cNvSpPr>
          <p:nvPr/>
        </p:nvSpPr>
        <p:spPr>
          <a:xfrm xmlns:a="http://schemas.openxmlformats.org/drawingml/2006/main">
            <a:off x="819150" y="5562600"/>
            <a:ext cx="10763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111316"/>
                </a:solidFill>
                <a:latin typeface="Arial"/>
                <a:ea typeface="Arial"/>
                <a:cs typeface="Arial"/>
              </a:defRPr>
            </a:pPr>
            <a:r>
              <a:rPr sz="1500" b="0">
                <a:solidFill>
                  <a:srgbClr val="111316"/>
                </a:solidFill>
                <a:latin typeface="Arial"/>
                <a:ea typeface="Arial"/>
                <a:cs typeface="Arial"/>
              </a:rPr>
              <a:t>Quotation marks change the meaning: 'True' is text, not a Boolean. Only True and False — capitalized and unquoted — are bool values.</a:t>
            </a:r>
          </a:p>
        </p:txBody>
      </p:sp>
    </p:spTree>
    <p:extLst>
      <p:ext uri="{BB962C8B-B14F-4D97-AF65-F5344CB8AC3E}">
        <p14:creationId xmlns:p14="http://schemas.microsoft.com/office/powerpoint/2010/main" val="119312424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kicker">
            <a:extLst xmlns:a="http://schemas.openxmlformats.org/drawingml/2006/main">
              <a:ext uri="{FF2B5EF4-FFF2-40B4-BE49-F238E27FC236}">
                <a16:creationId xmlns:a16="http://schemas.microsoft.com/office/drawing/2014/main" id="{82859DBB-3B33-4FE3-93D7-CEE6D56E58CA}"/>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EASY NUMERICAL EXAMPLE</a:t>
            </a:r>
          </a:p>
        </p:txBody>
      </p:sp>
      <p:sp>
        <p:nvSpPr>
          <p:cNvPr id="2" name="title">
            <a:extLst xmlns:a="http://schemas.openxmlformats.org/drawingml/2006/main">
              <a:ext uri="{FF2B5EF4-FFF2-40B4-BE49-F238E27FC236}">
                <a16:creationId xmlns:a16="http://schemas.microsoft.com/office/drawing/2014/main" id="{507445B6-C195-461B-8070-A1E007EA6C06}"/>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Recall: a comparison creates Boolean evidence</a:t>
            </a:r>
          </a:p>
        </p:txBody>
      </p:sp>
      <p:sp>
        <p:nvSpPr>
          <p:cNvPr id="3" name="">
            <a:extLst xmlns:a="http://schemas.openxmlformats.org/drawingml/2006/main">
              <a:ext uri="{FF2B5EF4-FFF2-40B4-BE49-F238E27FC236}">
                <a16:creationId xmlns:a16="http://schemas.microsoft.com/office/drawing/2014/main" id="{CF4FD7CD-82AD-446E-8CEF-A10DBBF909DC}"/>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A8873222-D81D-41CC-AE0A-705A3811546E}"/>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3 · Meeting A · Decisions and Functions · Full Source Deck</a:t>
            </a:r>
          </a:p>
        </p:txBody>
      </p:sp>
      <p:sp>
        <p:nvSpPr>
          <p:cNvPr id="5" name="page">
            <a:extLst xmlns:a="http://schemas.openxmlformats.org/drawingml/2006/main">
              <a:ext uri="{FF2B5EF4-FFF2-40B4-BE49-F238E27FC236}">
                <a16:creationId xmlns:a16="http://schemas.microsoft.com/office/drawing/2014/main" id="{282C35A3-6578-408A-BCA7-7BDBCEC094E5}"/>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08</a:t>
            </a:r>
          </a:p>
        </p:txBody>
      </p:sp>
      <p:sp>
        <p:nvSpPr>
          <p:cNvPr id="6" name="code-panel">
            <a:extLst xmlns:a="http://schemas.openxmlformats.org/drawingml/2006/main">
              <a:ext uri="{FF2B5EF4-FFF2-40B4-BE49-F238E27FC236}">
                <a16:creationId xmlns:a16="http://schemas.microsoft.com/office/drawing/2014/main" id="{3AE56FDF-8909-4A55-AE47-22BCCE8B87E1}"/>
              </a:ext>
            </a:extLst>
          </p:cNvPr>
          <p:cNvSpPr>
            <a:spLocks xmlns:a="http://schemas.openxmlformats.org/drawingml/2006/main" noGrp="1"/>
          </p:cNvSpPr>
          <p:nvPr/>
        </p:nvSpPr>
        <p:spPr>
          <a:xfrm xmlns:a="http://schemas.openxmlformats.org/drawingml/2006/main">
            <a:off x="609600" y="1809750"/>
            <a:ext cx="6896100" cy="4267200"/>
          </a:xfrm>
          <a:prstGeom xmlns:a="http://schemas.openxmlformats.org/drawingml/2006/main" prst="roundRect">
            <a:avLst>
              <a:gd name="adj" fmla="val 1786"/>
            </a:avLst>
          </a:prstGeom>
          <a:solidFill xmlns:a="http://schemas.openxmlformats.org/drawingml/2006/main">
            <a:srgbClr val="17191C"/>
          </a:solidFill>
          <a:ln xmlns:a="http://schemas.openxmlformats.org/drawingml/2006/main" w="9525">
            <a:solidFill>
              <a:srgbClr val="17191C"/>
            </a:solidFill>
            <a:prstDash val="solid"/>
          </a:ln>
        </p:spPr>
      </p:sp>
      <p:sp>
        <p:nvSpPr>
          <p:cNvPr id="7" name="code">
            <a:extLst xmlns:a="http://schemas.openxmlformats.org/drawingml/2006/main">
              <a:ext uri="{FF2B5EF4-FFF2-40B4-BE49-F238E27FC236}">
                <a16:creationId xmlns:a16="http://schemas.microsoft.com/office/drawing/2014/main" id="{333119FF-7B53-43C5-AF2D-E52DD82342C7}"/>
              </a:ext>
            </a:extLst>
          </p:cNvPr>
          <p:cNvSpPr>
            <a:spLocks xmlns:a="http://schemas.openxmlformats.org/drawingml/2006/main" noGrp="1"/>
          </p:cNvSpPr>
          <p:nvPr/>
        </p:nvSpPr>
        <p:spPr>
          <a:xfrm xmlns:a="http://schemas.openxmlformats.org/drawingml/2006/main">
            <a:off x="857250" y="2057400"/>
            <a:ext cx="6400800" cy="314096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area_m2 = 44.2</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minimum_m2 = 40.0</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meets_minimum = area_m2 &gt;= minimum_m2</a:t>
            </a:r>
          </a:p>
          <a:p xmlns:a="http://schemas.openxmlformats.org/drawingml/2006/main">
            <a:r>
              <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print(meets_minimum)</a:t>
            </a:r>
          </a:p>
        </p:txBody>
      </p:sp>
      <p:sp>
        <p:nvSpPr>
          <p:cNvPr id="8" name="">
            <a:extLst xmlns:a="http://schemas.openxmlformats.org/drawingml/2006/main">
              <a:ext uri="{FF2B5EF4-FFF2-40B4-BE49-F238E27FC236}">
                <a16:creationId xmlns:a16="http://schemas.microsoft.com/office/drawing/2014/main" id="{EA69C808-07EF-45A9-8935-432F8A9A36C2}"/>
              </a:ext>
            </a:extLst>
          </p:cNvPr>
          <p:cNvSpPr>
            <a:spLocks xmlns:a="http://schemas.openxmlformats.org/drawingml/2006/main" noGrp="1"/>
          </p:cNvSpPr>
          <p:nvPr/>
        </p:nvSpPr>
        <p:spPr>
          <a:xfrm xmlns:a="http://schemas.openxmlformats.org/drawingml/2006/main">
            <a:off x="857250" y="5255514"/>
            <a:ext cx="6400800" cy="0"/>
          </a:xfrm>
          <a:prstGeom xmlns:a="http://schemas.openxmlformats.org/drawingml/2006/main" prst="line">
            <a:avLst/>
          </a:prstGeom>
          <a:noFill xmlns:a="http://schemas.openxmlformats.org/drawingml/2006/main"/>
          <a:ln xmlns:a="http://schemas.openxmlformats.org/drawingml/2006/main" w="9525">
            <a:solidFill>
              <a:srgbClr val="4E5258"/>
            </a:solidFill>
            <a:prstDash val="solid"/>
          </a:ln>
        </p:spPr>
      </p:sp>
      <p:sp>
        <p:nvSpPr>
          <p:cNvPr id="9" name="output-label">
            <a:extLst xmlns:a="http://schemas.openxmlformats.org/drawingml/2006/main">
              <a:ext uri="{FF2B5EF4-FFF2-40B4-BE49-F238E27FC236}">
                <a16:creationId xmlns:a16="http://schemas.microsoft.com/office/drawing/2014/main" id="{5BAD4A46-387A-4753-9B14-6AE3C4E979FE}"/>
              </a:ext>
            </a:extLst>
          </p:cNvPr>
          <p:cNvSpPr>
            <a:spLocks xmlns:a="http://schemas.openxmlformats.org/drawingml/2006/main" noGrp="1"/>
          </p:cNvSpPr>
          <p:nvPr/>
        </p:nvSpPr>
        <p:spPr>
          <a:xfrm xmlns:a="http://schemas.openxmlformats.org/drawingml/2006/main">
            <a:off x="857250" y="5369814"/>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E8EEF5"/>
                </a:solidFill>
                <a:latin typeface="Arial"/>
                <a:ea typeface="Arial"/>
                <a:cs typeface="Arial"/>
              </a:defRPr>
            </a:pPr>
            <a:r>
              <a:rPr sz="900" b="1">
                <a:solidFill>
                  <a:srgbClr val="E8EEF5"/>
                </a:solidFill>
                <a:latin typeface="Arial"/>
                <a:ea typeface="Arial"/>
                <a:cs typeface="Arial"/>
              </a:rPr>
              <a:t>OUTPUT</a:t>
            </a:r>
          </a:p>
        </p:txBody>
      </p:sp>
      <p:sp>
        <p:nvSpPr>
          <p:cNvPr id="10" name="output">
            <a:extLst xmlns:a="http://schemas.openxmlformats.org/drawingml/2006/main">
              <a:ext uri="{FF2B5EF4-FFF2-40B4-BE49-F238E27FC236}">
                <a16:creationId xmlns:a16="http://schemas.microsoft.com/office/drawing/2014/main" id="{AD6D3FF1-4DA9-4402-B64A-80D94278E2DE}"/>
              </a:ext>
            </a:extLst>
          </p:cNvPr>
          <p:cNvSpPr>
            <a:spLocks xmlns:a="http://schemas.openxmlformats.org/drawingml/2006/main" noGrp="1"/>
          </p:cNvSpPr>
          <p:nvPr/>
        </p:nvSpPr>
        <p:spPr>
          <a:xfrm xmlns:a="http://schemas.openxmlformats.org/drawingml/2006/main">
            <a:off x="857250" y="5598414"/>
            <a:ext cx="6400800" cy="2308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True</a:t>
            </a:r>
          </a:p>
        </p:txBody>
      </p:sp>
      <p:sp>
        <p:nvSpPr>
          <p:cNvPr id="11" name="explain-head">
            <a:extLst xmlns:a="http://schemas.openxmlformats.org/drawingml/2006/main">
              <a:ext uri="{FF2B5EF4-FFF2-40B4-BE49-F238E27FC236}">
                <a16:creationId xmlns:a16="http://schemas.microsoft.com/office/drawing/2014/main" id="{984E3204-B7EB-4120-BB67-00B0AAB5B55C}"/>
              </a:ext>
            </a:extLst>
          </p:cNvPr>
          <p:cNvSpPr>
            <a:spLocks xmlns:a="http://schemas.openxmlformats.org/drawingml/2006/main" noGrp="1"/>
          </p:cNvSpPr>
          <p:nvPr/>
        </p:nvSpPr>
        <p:spPr>
          <a:xfrm xmlns:a="http://schemas.openxmlformats.org/drawingml/2006/main">
            <a:off x="7886700" y="2686050"/>
            <a:ext cx="3695700" cy="63322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A comparison asks one question</a:t>
            </a:r>
          </a:p>
        </p:txBody>
      </p:sp>
      <p:sp>
        <p:nvSpPr>
          <p:cNvPr id="12" name="explain-body">
            <a:extLst xmlns:a="http://schemas.openxmlformats.org/drawingml/2006/main">
              <a:ext uri="{FF2B5EF4-FFF2-40B4-BE49-F238E27FC236}">
                <a16:creationId xmlns:a16="http://schemas.microsoft.com/office/drawing/2014/main" id="{EFF52C1E-4CBA-4F82-9305-6BF178CB8A9F}"/>
              </a:ext>
            </a:extLst>
          </p:cNvPr>
          <p:cNvSpPr>
            <a:spLocks xmlns:a="http://schemas.openxmlformats.org/drawingml/2006/main" noGrp="1"/>
          </p:cNvSpPr>
          <p:nvPr/>
        </p:nvSpPr>
        <p:spPr>
          <a:xfrm xmlns:a="http://schemas.openxmlformats.org/drawingml/2006/main">
            <a:off x="7886700" y="3471672"/>
            <a:ext cx="369570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Recall from Week 2A: a comparison expression evaluates two values and returns True or False. It records evidence about one criterion; it does not yet determine a message or action.</a:t>
            </a:r>
          </a:p>
        </p:txBody>
      </p:sp>
    </p:spTree>
    <p:extLst>
      <p:ext uri="{BB962C8B-B14F-4D97-AF65-F5344CB8AC3E}">
        <p14:creationId xmlns:p14="http://schemas.microsoft.com/office/powerpoint/2010/main" val="82684189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8" name="kicker">
            <a:extLst xmlns:a="http://schemas.openxmlformats.org/drawingml/2006/main">
              <a:ext uri="{FF2B5EF4-FFF2-40B4-BE49-F238E27FC236}">
                <a16:creationId xmlns:a16="http://schemas.microsoft.com/office/drawing/2014/main" id="{311154BD-DF39-45FA-A8BF-87268FBCBBDB}"/>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READ THE DATA</a:t>
            </a:r>
          </a:p>
        </p:txBody>
      </p:sp>
      <p:sp>
        <p:nvSpPr>
          <p:cNvPr id="2" name="title">
            <a:extLst xmlns:a="http://schemas.openxmlformats.org/drawingml/2006/main">
              <a:ext uri="{FF2B5EF4-FFF2-40B4-BE49-F238E27FC236}">
                <a16:creationId xmlns:a16="http://schemas.microsoft.com/office/drawing/2014/main" id="{932129BC-1EB7-446B-8599-300016946802}"/>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Recall: comparison operators translate different questions</a:t>
            </a:r>
          </a:p>
        </p:txBody>
      </p:sp>
      <p:sp>
        <p:nvSpPr>
          <p:cNvPr id="3" name="">
            <a:extLst xmlns:a="http://schemas.openxmlformats.org/drawingml/2006/main">
              <a:ext uri="{FF2B5EF4-FFF2-40B4-BE49-F238E27FC236}">
                <a16:creationId xmlns:a16="http://schemas.microsoft.com/office/drawing/2014/main" id="{99DAD11F-1BE8-4A38-B17E-BCAA2FF9779D}"/>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6E08C879-9974-4A84-9395-92A41095F71F}"/>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3 · Meeting A · Decisions and Functions · Full Source Deck</a:t>
            </a:r>
          </a:p>
        </p:txBody>
      </p:sp>
      <p:sp>
        <p:nvSpPr>
          <p:cNvPr id="5" name="page">
            <a:extLst xmlns:a="http://schemas.openxmlformats.org/drawingml/2006/main">
              <a:ext uri="{FF2B5EF4-FFF2-40B4-BE49-F238E27FC236}">
                <a16:creationId xmlns:a16="http://schemas.microsoft.com/office/drawing/2014/main" id="{B32F0198-C70E-4530-BFF8-B3D144A7ED27}"/>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09</a:t>
            </a:r>
          </a:p>
        </p:txBody>
      </p:sp>
      <p:sp>
        <p:nvSpPr>
          <p:cNvPr id="6" name="">
            <a:extLst xmlns:a="http://schemas.openxmlformats.org/drawingml/2006/main">
              <a:ext uri="{FF2B5EF4-FFF2-40B4-BE49-F238E27FC236}">
                <a16:creationId xmlns:a16="http://schemas.microsoft.com/office/drawing/2014/main" id="{36C67815-9350-4530-9C30-D118A12648A2}"/>
              </a:ext>
            </a:extLst>
          </p:cNvPr>
          <p:cNvSpPr>
            <a:spLocks xmlns:a="http://schemas.openxmlformats.org/drawingml/2006/main" noGrp="1"/>
          </p:cNvSpPr>
          <p:nvPr/>
        </p:nvSpPr>
        <p:spPr>
          <a:xfrm xmlns:a="http://schemas.openxmlformats.org/drawingml/2006/main">
            <a:off x="609600" y="2638425"/>
            <a:ext cx="2476500" cy="533400"/>
          </a:xfrm>
          <a:prstGeom xmlns:a="http://schemas.openxmlformats.org/drawingml/2006/main" prst="rect">
            <a:avLst/>
          </a:prstGeom>
          <a:solidFill xmlns:a="http://schemas.openxmlformats.org/drawingml/2006/main">
            <a:srgbClr val="17191C"/>
          </a:solidFill>
          <a:ln xmlns:a="http://schemas.openxmlformats.org/drawingml/2006/main" w="9525">
            <a:solidFill>
              <a:srgbClr val="FFFFFF"/>
            </a:solidFill>
            <a:prstDash val="solid"/>
          </a:ln>
        </p:spPr>
      </p:sp>
      <p:sp>
        <p:nvSpPr>
          <p:cNvPr id="7" name="header-0">
            <a:extLst xmlns:a="http://schemas.openxmlformats.org/drawingml/2006/main">
              <a:ext uri="{FF2B5EF4-FFF2-40B4-BE49-F238E27FC236}">
                <a16:creationId xmlns:a16="http://schemas.microsoft.com/office/drawing/2014/main" id="{F07B8A24-D9BE-40DB-8723-FB68DEE22606}"/>
              </a:ext>
            </a:extLst>
          </p:cNvPr>
          <p:cNvSpPr>
            <a:spLocks xmlns:a="http://schemas.openxmlformats.org/drawingml/2006/main" noGrp="1"/>
          </p:cNvSpPr>
          <p:nvPr/>
        </p:nvSpPr>
        <p:spPr>
          <a:xfrm xmlns:a="http://schemas.openxmlformats.org/drawingml/2006/main">
            <a:off x="723900" y="2714625"/>
            <a:ext cx="2247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1">
                <a:solidFill>
                  <a:srgbClr val="FFFFFF"/>
                </a:solidFill>
                <a:latin typeface="Arial"/>
                <a:ea typeface="Arial"/>
                <a:cs typeface="Arial"/>
              </a:defRPr>
            </a:pPr>
            <a:r>
              <a:rPr sz="1500" b="1">
                <a:solidFill>
                  <a:srgbClr val="FFFFFF"/>
                </a:solidFill>
                <a:latin typeface="Arial"/>
                <a:ea typeface="Arial"/>
                <a:cs typeface="Arial"/>
              </a:rPr>
              <a:t>operator</a:t>
            </a:r>
          </a:p>
        </p:txBody>
      </p:sp>
      <p:sp>
        <p:nvSpPr>
          <p:cNvPr id="8" name="">
            <a:extLst xmlns:a="http://schemas.openxmlformats.org/drawingml/2006/main">
              <a:ext uri="{FF2B5EF4-FFF2-40B4-BE49-F238E27FC236}">
                <a16:creationId xmlns:a16="http://schemas.microsoft.com/office/drawing/2014/main" id="{95FDEDE5-34EC-4984-BDFD-A06D8BED2A41}"/>
              </a:ext>
            </a:extLst>
          </p:cNvPr>
          <p:cNvSpPr>
            <a:spLocks xmlns:a="http://schemas.openxmlformats.org/drawingml/2006/main" noGrp="1"/>
          </p:cNvSpPr>
          <p:nvPr/>
        </p:nvSpPr>
        <p:spPr>
          <a:xfrm xmlns:a="http://schemas.openxmlformats.org/drawingml/2006/main">
            <a:off x="3086100" y="2638425"/>
            <a:ext cx="2476500" cy="533400"/>
          </a:xfrm>
          <a:prstGeom xmlns:a="http://schemas.openxmlformats.org/drawingml/2006/main" prst="rect">
            <a:avLst/>
          </a:prstGeom>
          <a:solidFill xmlns:a="http://schemas.openxmlformats.org/drawingml/2006/main">
            <a:srgbClr val="17191C"/>
          </a:solidFill>
          <a:ln xmlns:a="http://schemas.openxmlformats.org/drawingml/2006/main" w="9525">
            <a:solidFill>
              <a:srgbClr val="FFFFFF"/>
            </a:solidFill>
            <a:prstDash val="solid"/>
          </a:ln>
        </p:spPr>
      </p:sp>
      <p:sp>
        <p:nvSpPr>
          <p:cNvPr id="9" name="header-1">
            <a:extLst xmlns:a="http://schemas.openxmlformats.org/drawingml/2006/main">
              <a:ext uri="{FF2B5EF4-FFF2-40B4-BE49-F238E27FC236}">
                <a16:creationId xmlns:a16="http://schemas.microsoft.com/office/drawing/2014/main" id="{68D5958F-E3E5-4A46-89F6-9D2692DA0995}"/>
              </a:ext>
            </a:extLst>
          </p:cNvPr>
          <p:cNvSpPr>
            <a:spLocks xmlns:a="http://schemas.openxmlformats.org/drawingml/2006/main" noGrp="1"/>
          </p:cNvSpPr>
          <p:nvPr/>
        </p:nvSpPr>
        <p:spPr>
          <a:xfrm xmlns:a="http://schemas.openxmlformats.org/drawingml/2006/main">
            <a:off x="3200400" y="2714625"/>
            <a:ext cx="2247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1">
                <a:solidFill>
                  <a:srgbClr val="FFFFFF"/>
                </a:solidFill>
                <a:latin typeface="Arial"/>
                <a:ea typeface="Arial"/>
                <a:cs typeface="Arial"/>
              </a:defRPr>
            </a:pPr>
            <a:r>
              <a:rPr sz="1500" b="1">
                <a:solidFill>
                  <a:srgbClr val="FFFFFF"/>
                </a:solidFill>
                <a:latin typeface="Arial"/>
                <a:ea typeface="Arial"/>
                <a:cs typeface="Arial"/>
              </a:rPr>
              <a:t>meaning</a:t>
            </a:r>
          </a:p>
        </p:txBody>
      </p:sp>
      <p:sp>
        <p:nvSpPr>
          <p:cNvPr id="10" name="">
            <a:extLst xmlns:a="http://schemas.openxmlformats.org/drawingml/2006/main">
              <a:ext uri="{FF2B5EF4-FFF2-40B4-BE49-F238E27FC236}">
                <a16:creationId xmlns:a16="http://schemas.microsoft.com/office/drawing/2014/main" id="{C6E5A8C9-24DA-4DAA-A32B-E5E17BCCC17A}"/>
              </a:ext>
            </a:extLst>
          </p:cNvPr>
          <p:cNvSpPr>
            <a:spLocks xmlns:a="http://schemas.openxmlformats.org/drawingml/2006/main" noGrp="1"/>
          </p:cNvSpPr>
          <p:nvPr/>
        </p:nvSpPr>
        <p:spPr>
          <a:xfrm xmlns:a="http://schemas.openxmlformats.org/drawingml/2006/main">
            <a:off x="5562600" y="2638425"/>
            <a:ext cx="2476500" cy="533400"/>
          </a:xfrm>
          <a:prstGeom xmlns:a="http://schemas.openxmlformats.org/drawingml/2006/main" prst="rect">
            <a:avLst/>
          </a:prstGeom>
          <a:solidFill xmlns:a="http://schemas.openxmlformats.org/drawingml/2006/main">
            <a:srgbClr val="17191C"/>
          </a:solidFill>
          <a:ln xmlns:a="http://schemas.openxmlformats.org/drawingml/2006/main" w="9525">
            <a:solidFill>
              <a:srgbClr val="FFFFFF"/>
            </a:solidFill>
            <a:prstDash val="solid"/>
          </a:ln>
        </p:spPr>
      </p:sp>
      <p:sp>
        <p:nvSpPr>
          <p:cNvPr id="11" name="header-2">
            <a:extLst xmlns:a="http://schemas.openxmlformats.org/drawingml/2006/main">
              <a:ext uri="{FF2B5EF4-FFF2-40B4-BE49-F238E27FC236}">
                <a16:creationId xmlns:a16="http://schemas.microsoft.com/office/drawing/2014/main" id="{A0AE2F5F-7DB7-4A23-90AF-F13C12A3BEE2}"/>
              </a:ext>
            </a:extLst>
          </p:cNvPr>
          <p:cNvSpPr>
            <a:spLocks xmlns:a="http://schemas.openxmlformats.org/drawingml/2006/main" noGrp="1"/>
          </p:cNvSpPr>
          <p:nvPr/>
        </p:nvSpPr>
        <p:spPr>
          <a:xfrm xmlns:a="http://schemas.openxmlformats.org/drawingml/2006/main">
            <a:off x="5676900" y="2714625"/>
            <a:ext cx="2247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1">
                <a:solidFill>
                  <a:srgbClr val="FFFFFF"/>
                </a:solidFill>
                <a:latin typeface="Arial"/>
                <a:ea typeface="Arial"/>
                <a:cs typeface="Arial"/>
              </a:defRPr>
            </a:pPr>
            <a:r>
              <a:rPr sz="1500" b="1">
                <a:solidFill>
                  <a:srgbClr val="FFFFFF"/>
                </a:solidFill>
                <a:latin typeface="Arial"/>
                <a:ea typeface="Arial"/>
                <a:cs typeface="Arial"/>
              </a:rPr>
              <a:t>architectural reading</a:t>
            </a:r>
          </a:p>
        </p:txBody>
      </p:sp>
      <p:sp>
        <p:nvSpPr>
          <p:cNvPr id="12" name="">
            <a:extLst xmlns:a="http://schemas.openxmlformats.org/drawingml/2006/main">
              <a:ext uri="{FF2B5EF4-FFF2-40B4-BE49-F238E27FC236}">
                <a16:creationId xmlns:a16="http://schemas.microsoft.com/office/drawing/2014/main" id="{7A18D5FD-0FB2-4296-8F05-8419ADC0F4A4}"/>
              </a:ext>
            </a:extLst>
          </p:cNvPr>
          <p:cNvSpPr>
            <a:spLocks xmlns:a="http://schemas.openxmlformats.org/drawingml/2006/main" noGrp="1"/>
          </p:cNvSpPr>
          <p:nvPr/>
        </p:nvSpPr>
        <p:spPr>
          <a:xfrm xmlns:a="http://schemas.openxmlformats.org/drawingml/2006/main">
            <a:off x="609600" y="3171825"/>
            <a:ext cx="2476500"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13" name="cell-0-0">
            <a:extLst xmlns:a="http://schemas.openxmlformats.org/drawingml/2006/main">
              <a:ext uri="{FF2B5EF4-FFF2-40B4-BE49-F238E27FC236}">
                <a16:creationId xmlns:a16="http://schemas.microsoft.com/office/drawing/2014/main" id="{2266F9E5-EC32-407B-80C1-0B54B01A299D}"/>
              </a:ext>
            </a:extLst>
          </p:cNvPr>
          <p:cNvSpPr>
            <a:spLocks xmlns:a="http://schemas.openxmlformats.org/drawingml/2006/main" noGrp="1"/>
          </p:cNvSpPr>
          <p:nvPr/>
        </p:nvSpPr>
        <p:spPr>
          <a:xfrm xmlns:a="http://schemas.openxmlformats.org/drawingml/2006/main">
            <a:off x="723900" y="3248025"/>
            <a:ext cx="2247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a:t>
            </a:r>
          </a:p>
        </p:txBody>
      </p:sp>
      <p:sp>
        <p:nvSpPr>
          <p:cNvPr id="14" name="">
            <a:extLst xmlns:a="http://schemas.openxmlformats.org/drawingml/2006/main">
              <a:ext uri="{FF2B5EF4-FFF2-40B4-BE49-F238E27FC236}">
                <a16:creationId xmlns:a16="http://schemas.microsoft.com/office/drawing/2014/main" id="{9F393F0D-5886-4B77-8AAB-25B2934A3C8D}"/>
              </a:ext>
            </a:extLst>
          </p:cNvPr>
          <p:cNvSpPr>
            <a:spLocks xmlns:a="http://schemas.openxmlformats.org/drawingml/2006/main" noGrp="1"/>
          </p:cNvSpPr>
          <p:nvPr/>
        </p:nvSpPr>
        <p:spPr>
          <a:xfrm xmlns:a="http://schemas.openxmlformats.org/drawingml/2006/main">
            <a:off x="3086100" y="3171825"/>
            <a:ext cx="2476500"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15" name="cell-0-1">
            <a:extLst xmlns:a="http://schemas.openxmlformats.org/drawingml/2006/main">
              <a:ext uri="{FF2B5EF4-FFF2-40B4-BE49-F238E27FC236}">
                <a16:creationId xmlns:a16="http://schemas.microsoft.com/office/drawing/2014/main" id="{202A5A51-8AD3-4E62-B85A-A15151071067}"/>
              </a:ext>
            </a:extLst>
          </p:cNvPr>
          <p:cNvSpPr>
            <a:spLocks xmlns:a="http://schemas.openxmlformats.org/drawingml/2006/main" noGrp="1"/>
          </p:cNvSpPr>
          <p:nvPr/>
        </p:nvSpPr>
        <p:spPr>
          <a:xfrm xmlns:a="http://schemas.openxmlformats.org/drawingml/2006/main">
            <a:off x="3200400" y="3248025"/>
            <a:ext cx="2247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equal to</a:t>
            </a:r>
          </a:p>
        </p:txBody>
      </p:sp>
      <p:sp>
        <p:nvSpPr>
          <p:cNvPr id="16" name="">
            <a:extLst xmlns:a="http://schemas.openxmlformats.org/drawingml/2006/main">
              <a:ext uri="{FF2B5EF4-FFF2-40B4-BE49-F238E27FC236}">
                <a16:creationId xmlns:a16="http://schemas.microsoft.com/office/drawing/2014/main" id="{30CBB8E8-0B69-4519-82FF-6DBC30BE5669}"/>
              </a:ext>
            </a:extLst>
          </p:cNvPr>
          <p:cNvSpPr>
            <a:spLocks xmlns:a="http://schemas.openxmlformats.org/drawingml/2006/main" noGrp="1"/>
          </p:cNvSpPr>
          <p:nvPr/>
        </p:nvSpPr>
        <p:spPr>
          <a:xfrm xmlns:a="http://schemas.openxmlformats.org/drawingml/2006/main">
            <a:off x="5562600" y="3171825"/>
            <a:ext cx="2476500"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17" name="cell-0-2">
            <a:extLst xmlns:a="http://schemas.openxmlformats.org/drawingml/2006/main">
              <a:ext uri="{FF2B5EF4-FFF2-40B4-BE49-F238E27FC236}">
                <a16:creationId xmlns:a16="http://schemas.microsoft.com/office/drawing/2014/main" id="{D1FD2117-D6D9-4255-B700-EC9801BBF282}"/>
              </a:ext>
            </a:extLst>
          </p:cNvPr>
          <p:cNvSpPr>
            <a:spLocks xmlns:a="http://schemas.openxmlformats.org/drawingml/2006/main" noGrp="1"/>
          </p:cNvSpPr>
          <p:nvPr/>
        </p:nvSpPr>
        <p:spPr>
          <a:xfrm xmlns:a="http://schemas.openxmlformats.org/drawingml/2006/main">
            <a:off x="5676900" y="3248025"/>
            <a:ext cx="2247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material == 'steel'</a:t>
            </a:r>
          </a:p>
        </p:txBody>
      </p:sp>
      <p:sp>
        <p:nvSpPr>
          <p:cNvPr id="18" name="">
            <a:extLst xmlns:a="http://schemas.openxmlformats.org/drawingml/2006/main">
              <a:ext uri="{FF2B5EF4-FFF2-40B4-BE49-F238E27FC236}">
                <a16:creationId xmlns:a16="http://schemas.microsoft.com/office/drawing/2014/main" id="{0EEF0552-E6F7-450B-B3AB-4E52CA394203}"/>
              </a:ext>
            </a:extLst>
          </p:cNvPr>
          <p:cNvSpPr>
            <a:spLocks xmlns:a="http://schemas.openxmlformats.org/drawingml/2006/main" noGrp="1"/>
          </p:cNvSpPr>
          <p:nvPr/>
        </p:nvSpPr>
        <p:spPr>
          <a:xfrm xmlns:a="http://schemas.openxmlformats.org/drawingml/2006/main">
            <a:off x="609600" y="3705225"/>
            <a:ext cx="2476500" cy="53340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19" name="cell-1-0">
            <a:extLst xmlns:a="http://schemas.openxmlformats.org/drawingml/2006/main">
              <a:ext uri="{FF2B5EF4-FFF2-40B4-BE49-F238E27FC236}">
                <a16:creationId xmlns:a16="http://schemas.microsoft.com/office/drawing/2014/main" id="{05C5F363-31A6-48C8-B364-D0EF94ADF600}"/>
              </a:ext>
            </a:extLst>
          </p:cNvPr>
          <p:cNvSpPr>
            <a:spLocks xmlns:a="http://schemas.openxmlformats.org/drawingml/2006/main" noGrp="1"/>
          </p:cNvSpPr>
          <p:nvPr/>
        </p:nvSpPr>
        <p:spPr>
          <a:xfrm xmlns:a="http://schemas.openxmlformats.org/drawingml/2006/main">
            <a:off x="723900" y="3781425"/>
            <a:ext cx="2247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a:t>
            </a:r>
          </a:p>
        </p:txBody>
      </p:sp>
      <p:sp>
        <p:nvSpPr>
          <p:cNvPr id="20" name="">
            <a:extLst xmlns:a="http://schemas.openxmlformats.org/drawingml/2006/main">
              <a:ext uri="{FF2B5EF4-FFF2-40B4-BE49-F238E27FC236}">
                <a16:creationId xmlns:a16="http://schemas.microsoft.com/office/drawing/2014/main" id="{3C78A50B-0FC1-49F6-896A-7F2D5C8D0F07}"/>
              </a:ext>
            </a:extLst>
          </p:cNvPr>
          <p:cNvSpPr>
            <a:spLocks xmlns:a="http://schemas.openxmlformats.org/drawingml/2006/main" noGrp="1"/>
          </p:cNvSpPr>
          <p:nvPr/>
        </p:nvSpPr>
        <p:spPr>
          <a:xfrm xmlns:a="http://schemas.openxmlformats.org/drawingml/2006/main">
            <a:off x="3086100" y="3705225"/>
            <a:ext cx="2476500" cy="53340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21" name="cell-1-1">
            <a:extLst xmlns:a="http://schemas.openxmlformats.org/drawingml/2006/main">
              <a:ext uri="{FF2B5EF4-FFF2-40B4-BE49-F238E27FC236}">
                <a16:creationId xmlns:a16="http://schemas.microsoft.com/office/drawing/2014/main" id="{03A9D6B2-498F-4605-B61B-52150EB94EA6}"/>
              </a:ext>
            </a:extLst>
          </p:cNvPr>
          <p:cNvSpPr>
            <a:spLocks xmlns:a="http://schemas.openxmlformats.org/drawingml/2006/main" noGrp="1"/>
          </p:cNvSpPr>
          <p:nvPr/>
        </p:nvSpPr>
        <p:spPr>
          <a:xfrm xmlns:a="http://schemas.openxmlformats.org/drawingml/2006/main">
            <a:off x="3200400" y="3781425"/>
            <a:ext cx="2247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not equal to</a:t>
            </a:r>
          </a:p>
        </p:txBody>
      </p:sp>
      <p:sp>
        <p:nvSpPr>
          <p:cNvPr id="22" name="">
            <a:extLst xmlns:a="http://schemas.openxmlformats.org/drawingml/2006/main">
              <a:ext uri="{FF2B5EF4-FFF2-40B4-BE49-F238E27FC236}">
                <a16:creationId xmlns:a16="http://schemas.microsoft.com/office/drawing/2014/main" id="{6033842D-62CB-4712-A4AD-AFBB2F8A6BA3}"/>
              </a:ext>
            </a:extLst>
          </p:cNvPr>
          <p:cNvSpPr>
            <a:spLocks xmlns:a="http://schemas.openxmlformats.org/drawingml/2006/main" noGrp="1"/>
          </p:cNvSpPr>
          <p:nvPr/>
        </p:nvSpPr>
        <p:spPr>
          <a:xfrm xmlns:a="http://schemas.openxmlformats.org/drawingml/2006/main">
            <a:off x="5562600" y="3705225"/>
            <a:ext cx="2476500" cy="53340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23" name="cell-1-2">
            <a:extLst xmlns:a="http://schemas.openxmlformats.org/drawingml/2006/main">
              <a:ext uri="{FF2B5EF4-FFF2-40B4-BE49-F238E27FC236}">
                <a16:creationId xmlns:a16="http://schemas.microsoft.com/office/drawing/2014/main" id="{F7BCD054-80D6-4A86-91F1-60706046AF62}"/>
              </a:ext>
            </a:extLst>
          </p:cNvPr>
          <p:cNvSpPr>
            <a:spLocks xmlns:a="http://schemas.openxmlformats.org/drawingml/2006/main" noGrp="1"/>
          </p:cNvSpPr>
          <p:nvPr/>
        </p:nvSpPr>
        <p:spPr>
          <a:xfrm xmlns:a="http://schemas.openxmlformats.org/drawingml/2006/main">
            <a:off x="5676900" y="3781425"/>
            <a:ext cx="2247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zone != 'service'</a:t>
            </a:r>
          </a:p>
        </p:txBody>
      </p:sp>
      <p:sp>
        <p:nvSpPr>
          <p:cNvPr id="24" name="">
            <a:extLst xmlns:a="http://schemas.openxmlformats.org/drawingml/2006/main">
              <a:ext uri="{FF2B5EF4-FFF2-40B4-BE49-F238E27FC236}">
                <a16:creationId xmlns:a16="http://schemas.microsoft.com/office/drawing/2014/main" id="{18E237CE-5C6E-46F1-B09D-2742DE6B322D}"/>
              </a:ext>
            </a:extLst>
          </p:cNvPr>
          <p:cNvSpPr>
            <a:spLocks xmlns:a="http://schemas.openxmlformats.org/drawingml/2006/main" noGrp="1"/>
          </p:cNvSpPr>
          <p:nvPr/>
        </p:nvSpPr>
        <p:spPr>
          <a:xfrm xmlns:a="http://schemas.openxmlformats.org/drawingml/2006/main">
            <a:off x="609600" y="4238625"/>
            <a:ext cx="2476500"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25" name="cell-2-0">
            <a:extLst xmlns:a="http://schemas.openxmlformats.org/drawingml/2006/main">
              <a:ext uri="{FF2B5EF4-FFF2-40B4-BE49-F238E27FC236}">
                <a16:creationId xmlns:a16="http://schemas.microsoft.com/office/drawing/2014/main" id="{ACCF059D-DAA1-4957-A557-640082710E42}"/>
              </a:ext>
            </a:extLst>
          </p:cNvPr>
          <p:cNvSpPr>
            <a:spLocks xmlns:a="http://schemas.openxmlformats.org/drawingml/2006/main" noGrp="1"/>
          </p:cNvSpPr>
          <p:nvPr/>
        </p:nvSpPr>
        <p:spPr>
          <a:xfrm xmlns:a="http://schemas.openxmlformats.org/drawingml/2006/main">
            <a:off x="723900" y="4314825"/>
            <a:ext cx="2247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&lt;  &lt;=</a:t>
            </a:r>
          </a:p>
        </p:txBody>
      </p:sp>
      <p:sp>
        <p:nvSpPr>
          <p:cNvPr id="26" name="">
            <a:extLst xmlns:a="http://schemas.openxmlformats.org/drawingml/2006/main">
              <a:ext uri="{FF2B5EF4-FFF2-40B4-BE49-F238E27FC236}">
                <a16:creationId xmlns:a16="http://schemas.microsoft.com/office/drawing/2014/main" id="{6AF692D6-1A10-4697-B61C-B03E1B5C42B5}"/>
              </a:ext>
            </a:extLst>
          </p:cNvPr>
          <p:cNvSpPr>
            <a:spLocks xmlns:a="http://schemas.openxmlformats.org/drawingml/2006/main" noGrp="1"/>
          </p:cNvSpPr>
          <p:nvPr/>
        </p:nvSpPr>
        <p:spPr>
          <a:xfrm xmlns:a="http://schemas.openxmlformats.org/drawingml/2006/main">
            <a:off x="3086100" y="4238625"/>
            <a:ext cx="2476500"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27" name="cell-2-1">
            <a:extLst xmlns:a="http://schemas.openxmlformats.org/drawingml/2006/main">
              <a:ext uri="{FF2B5EF4-FFF2-40B4-BE49-F238E27FC236}">
                <a16:creationId xmlns:a16="http://schemas.microsoft.com/office/drawing/2014/main" id="{3F4638E4-4E12-4219-8D5B-B66FFE5DE28C}"/>
              </a:ext>
            </a:extLst>
          </p:cNvPr>
          <p:cNvSpPr>
            <a:spLocks xmlns:a="http://schemas.openxmlformats.org/drawingml/2006/main" noGrp="1"/>
          </p:cNvSpPr>
          <p:nvPr/>
        </p:nvSpPr>
        <p:spPr>
          <a:xfrm xmlns:a="http://schemas.openxmlformats.org/drawingml/2006/main">
            <a:off x="3200400" y="4314825"/>
            <a:ext cx="2247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less than / at most</a:t>
            </a:r>
          </a:p>
        </p:txBody>
      </p:sp>
      <p:sp>
        <p:nvSpPr>
          <p:cNvPr id="28" name="">
            <a:extLst xmlns:a="http://schemas.openxmlformats.org/drawingml/2006/main">
              <a:ext uri="{FF2B5EF4-FFF2-40B4-BE49-F238E27FC236}">
                <a16:creationId xmlns:a16="http://schemas.microsoft.com/office/drawing/2014/main" id="{F7109152-A766-4617-BC0A-192F941F1CE2}"/>
              </a:ext>
            </a:extLst>
          </p:cNvPr>
          <p:cNvSpPr>
            <a:spLocks xmlns:a="http://schemas.openxmlformats.org/drawingml/2006/main" noGrp="1"/>
          </p:cNvSpPr>
          <p:nvPr/>
        </p:nvSpPr>
        <p:spPr>
          <a:xfrm xmlns:a="http://schemas.openxmlformats.org/drawingml/2006/main">
            <a:off x="5562600" y="4238625"/>
            <a:ext cx="2476500"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29" name="cell-2-2">
            <a:extLst xmlns:a="http://schemas.openxmlformats.org/drawingml/2006/main">
              <a:ext uri="{FF2B5EF4-FFF2-40B4-BE49-F238E27FC236}">
                <a16:creationId xmlns:a16="http://schemas.microsoft.com/office/drawing/2014/main" id="{F01D5D42-3352-4DBB-A4BC-6F0CC22BE1E7}"/>
              </a:ext>
            </a:extLst>
          </p:cNvPr>
          <p:cNvSpPr>
            <a:spLocks xmlns:a="http://schemas.openxmlformats.org/drawingml/2006/main" noGrp="1"/>
          </p:cNvSpPr>
          <p:nvPr/>
        </p:nvSpPr>
        <p:spPr>
          <a:xfrm xmlns:a="http://schemas.openxmlformats.org/drawingml/2006/main">
            <a:off x="5676900" y="4314825"/>
            <a:ext cx="2247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height_m &lt;= limit_m</a:t>
            </a:r>
          </a:p>
        </p:txBody>
      </p:sp>
      <p:sp>
        <p:nvSpPr>
          <p:cNvPr id="30" name="">
            <a:extLst xmlns:a="http://schemas.openxmlformats.org/drawingml/2006/main">
              <a:ext uri="{FF2B5EF4-FFF2-40B4-BE49-F238E27FC236}">
                <a16:creationId xmlns:a16="http://schemas.microsoft.com/office/drawing/2014/main" id="{75AE31EE-BAB1-44C2-ABCF-325C7F3DAF30}"/>
              </a:ext>
            </a:extLst>
          </p:cNvPr>
          <p:cNvSpPr>
            <a:spLocks xmlns:a="http://schemas.openxmlformats.org/drawingml/2006/main" noGrp="1"/>
          </p:cNvSpPr>
          <p:nvPr/>
        </p:nvSpPr>
        <p:spPr>
          <a:xfrm xmlns:a="http://schemas.openxmlformats.org/drawingml/2006/main">
            <a:off x="609600" y="4772025"/>
            <a:ext cx="2476500" cy="53340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31" name="cell-3-0">
            <a:extLst xmlns:a="http://schemas.openxmlformats.org/drawingml/2006/main">
              <a:ext uri="{FF2B5EF4-FFF2-40B4-BE49-F238E27FC236}">
                <a16:creationId xmlns:a16="http://schemas.microsoft.com/office/drawing/2014/main" id="{EBC14B7A-C23F-4B08-9090-97F17EC9CC46}"/>
              </a:ext>
            </a:extLst>
          </p:cNvPr>
          <p:cNvSpPr>
            <a:spLocks xmlns:a="http://schemas.openxmlformats.org/drawingml/2006/main" noGrp="1"/>
          </p:cNvSpPr>
          <p:nvPr/>
        </p:nvSpPr>
        <p:spPr>
          <a:xfrm xmlns:a="http://schemas.openxmlformats.org/drawingml/2006/main">
            <a:off x="723900" y="4848225"/>
            <a:ext cx="2247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&gt;  &gt;=</a:t>
            </a:r>
          </a:p>
        </p:txBody>
      </p:sp>
      <p:sp>
        <p:nvSpPr>
          <p:cNvPr id="32" name="">
            <a:extLst xmlns:a="http://schemas.openxmlformats.org/drawingml/2006/main">
              <a:ext uri="{FF2B5EF4-FFF2-40B4-BE49-F238E27FC236}">
                <a16:creationId xmlns:a16="http://schemas.microsoft.com/office/drawing/2014/main" id="{4AF51EB4-3599-473A-B6F9-230ED402F3B5}"/>
              </a:ext>
            </a:extLst>
          </p:cNvPr>
          <p:cNvSpPr>
            <a:spLocks xmlns:a="http://schemas.openxmlformats.org/drawingml/2006/main" noGrp="1"/>
          </p:cNvSpPr>
          <p:nvPr/>
        </p:nvSpPr>
        <p:spPr>
          <a:xfrm xmlns:a="http://schemas.openxmlformats.org/drawingml/2006/main">
            <a:off x="3086100" y="4772025"/>
            <a:ext cx="2476500" cy="53340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33" name="cell-3-1">
            <a:extLst xmlns:a="http://schemas.openxmlformats.org/drawingml/2006/main">
              <a:ext uri="{FF2B5EF4-FFF2-40B4-BE49-F238E27FC236}">
                <a16:creationId xmlns:a16="http://schemas.microsoft.com/office/drawing/2014/main" id="{2E6E3648-622C-4C4B-8540-418E5B6DCDDA}"/>
              </a:ext>
            </a:extLst>
          </p:cNvPr>
          <p:cNvSpPr>
            <a:spLocks xmlns:a="http://schemas.openxmlformats.org/drawingml/2006/main" noGrp="1"/>
          </p:cNvSpPr>
          <p:nvPr/>
        </p:nvSpPr>
        <p:spPr>
          <a:xfrm xmlns:a="http://schemas.openxmlformats.org/drawingml/2006/main">
            <a:off x="3200400" y="4848225"/>
            <a:ext cx="2247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greater than / at least</a:t>
            </a:r>
          </a:p>
        </p:txBody>
      </p:sp>
      <p:sp>
        <p:nvSpPr>
          <p:cNvPr id="34" name="">
            <a:extLst xmlns:a="http://schemas.openxmlformats.org/drawingml/2006/main">
              <a:ext uri="{FF2B5EF4-FFF2-40B4-BE49-F238E27FC236}">
                <a16:creationId xmlns:a16="http://schemas.microsoft.com/office/drawing/2014/main" id="{92DD5A2A-7B20-45E3-B94B-F6E6333BF7EB}"/>
              </a:ext>
            </a:extLst>
          </p:cNvPr>
          <p:cNvSpPr>
            <a:spLocks xmlns:a="http://schemas.openxmlformats.org/drawingml/2006/main" noGrp="1"/>
          </p:cNvSpPr>
          <p:nvPr/>
        </p:nvSpPr>
        <p:spPr>
          <a:xfrm xmlns:a="http://schemas.openxmlformats.org/drawingml/2006/main">
            <a:off x="5562600" y="4772025"/>
            <a:ext cx="2476500" cy="53340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35" name="cell-3-2">
            <a:extLst xmlns:a="http://schemas.openxmlformats.org/drawingml/2006/main">
              <a:ext uri="{FF2B5EF4-FFF2-40B4-BE49-F238E27FC236}">
                <a16:creationId xmlns:a16="http://schemas.microsoft.com/office/drawing/2014/main" id="{20F863EA-4C7F-444F-BC3D-0C0F57EC0D5B}"/>
              </a:ext>
            </a:extLst>
          </p:cNvPr>
          <p:cNvSpPr>
            <a:spLocks xmlns:a="http://schemas.openxmlformats.org/drawingml/2006/main" noGrp="1"/>
          </p:cNvSpPr>
          <p:nvPr/>
        </p:nvSpPr>
        <p:spPr>
          <a:xfrm xmlns:a="http://schemas.openxmlformats.org/drawingml/2006/main">
            <a:off x="5676900" y="4848225"/>
            <a:ext cx="2247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area_m2 &gt;= minimum_m2</a:t>
            </a:r>
          </a:p>
        </p:txBody>
      </p:sp>
      <p:sp>
        <p:nvSpPr>
          <p:cNvPr id="36" name="callout-label">
            <a:extLst xmlns:a="http://schemas.openxmlformats.org/drawingml/2006/main">
              <a:ext uri="{FF2B5EF4-FFF2-40B4-BE49-F238E27FC236}">
                <a16:creationId xmlns:a16="http://schemas.microsoft.com/office/drawing/2014/main" id="{13C64F96-AB2E-4300-9F34-F8B358F4E80F}"/>
              </a:ext>
            </a:extLst>
          </p:cNvPr>
          <p:cNvSpPr>
            <a:spLocks xmlns:a="http://schemas.openxmlformats.org/drawingml/2006/main" noGrp="1"/>
          </p:cNvSpPr>
          <p:nvPr/>
        </p:nvSpPr>
        <p:spPr>
          <a:xfrm xmlns:a="http://schemas.openxmlformats.org/drawingml/2006/main">
            <a:off x="8420100" y="1866900"/>
            <a:ext cx="3162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ARCHITECTURAL LENS</a:t>
            </a:r>
          </a:p>
        </p:txBody>
      </p:sp>
      <p:sp>
        <p:nvSpPr>
          <p:cNvPr id="37" name="callout">
            <a:extLst xmlns:a="http://schemas.openxmlformats.org/drawingml/2006/main">
              <a:ext uri="{FF2B5EF4-FFF2-40B4-BE49-F238E27FC236}">
                <a16:creationId xmlns:a16="http://schemas.microsoft.com/office/drawing/2014/main" id="{D234E500-87C9-462B-8CAE-8B6B778133D7}"/>
              </a:ext>
            </a:extLst>
          </p:cNvPr>
          <p:cNvSpPr>
            <a:spLocks xmlns:a="http://schemas.openxmlformats.org/drawingml/2006/main" noGrp="1"/>
          </p:cNvSpPr>
          <p:nvPr/>
        </p:nvSpPr>
        <p:spPr>
          <a:xfrm xmlns:a="http://schemas.openxmlformats.org/drawingml/2006/main">
            <a:off x="8420100" y="2190750"/>
            <a:ext cx="3162300" cy="3790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1">
                <a:solidFill>
                  <a:srgbClr val="111316"/>
                </a:solidFill>
                <a:latin typeface="Arial"/>
                <a:ea typeface="Arial"/>
                <a:cs typeface="Arial"/>
              </a:defRPr>
            </a:pPr>
            <a:r>
              <a:rPr sz="1800" b="1">
                <a:solidFill>
                  <a:srgbClr val="111316"/>
                </a:solidFill>
                <a:latin typeface="Arial"/>
                <a:ea typeface="Arial"/>
                <a:cs typeface="Arial"/>
              </a:rPr>
              <a:t>Recall from Week 2A: every comparison returns True or False. = assigns a value; == compares two values.</a:t>
            </a:r>
          </a:p>
        </p:txBody>
      </p:sp>
    </p:spTree>
    <p:extLst>
      <p:ext uri="{BB962C8B-B14F-4D97-AF65-F5344CB8AC3E}">
        <p14:creationId xmlns:p14="http://schemas.microsoft.com/office/powerpoint/2010/main" val="116400138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kicker">
            <a:extLst xmlns:a="http://schemas.openxmlformats.org/drawingml/2006/main">
              <a:ext uri="{FF2B5EF4-FFF2-40B4-BE49-F238E27FC236}">
                <a16:creationId xmlns:a16="http://schemas.microsoft.com/office/drawing/2014/main" id="{E84CACDB-9FD4-4FDF-A6BD-532075707375}"/>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VOCABULARY</a:t>
            </a:r>
          </a:p>
        </p:txBody>
      </p:sp>
      <p:sp>
        <p:nvSpPr>
          <p:cNvPr id="2" name="title">
            <a:extLst xmlns:a="http://schemas.openxmlformats.org/drawingml/2006/main">
              <a:ext uri="{FF2B5EF4-FFF2-40B4-BE49-F238E27FC236}">
                <a16:creationId xmlns:a16="http://schemas.microsoft.com/office/drawing/2014/main" id="{87CE9235-156C-468F-981A-08A60C457AA5}"/>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A conditional chooses which block of code runs</a:t>
            </a:r>
          </a:p>
        </p:txBody>
      </p:sp>
      <p:sp>
        <p:nvSpPr>
          <p:cNvPr id="3" name="">
            <a:extLst xmlns:a="http://schemas.openxmlformats.org/drawingml/2006/main">
              <a:ext uri="{FF2B5EF4-FFF2-40B4-BE49-F238E27FC236}">
                <a16:creationId xmlns:a16="http://schemas.microsoft.com/office/drawing/2014/main" id="{84BC9406-4489-4588-81E9-7D52A6891B13}"/>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3F921AA8-3B04-4D44-9F44-19A3CC236674}"/>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3 · Meeting A · Decisions and Functions · Full Source Deck</a:t>
            </a:r>
          </a:p>
        </p:txBody>
      </p:sp>
      <p:sp>
        <p:nvSpPr>
          <p:cNvPr id="5" name="page">
            <a:extLst xmlns:a="http://schemas.openxmlformats.org/drawingml/2006/main">
              <a:ext uri="{FF2B5EF4-FFF2-40B4-BE49-F238E27FC236}">
                <a16:creationId xmlns:a16="http://schemas.microsoft.com/office/drawing/2014/main" id="{A53BEB27-4A20-43C0-BE83-233A502DECA7}"/>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10</a:t>
            </a:r>
          </a:p>
        </p:txBody>
      </p:sp>
      <p:sp>
        <p:nvSpPr>
          <p:cNvPr id="6" name="term-label">
            <a:extLst xmlns:a="http://schemas.openxmlformats.org/drawingml/2006/main">
              <a:ext uri="{FF2B5EF4-FFF2-40B4-BE49-F238E27FC236}">
                <a16:creationId xmlns:a16="http://schemas.microsoft.com/office/drawing/2014/main" id="{E2D78E16-988D-43E5-8EBB-C0C297CDDB9E}"/>
              </a:ext>
            </a:extLst>
          </p:cNvPr>
          <p:cNvSpPr>
            <a:spLocks xmlns:a="http://schemas.openxmlformats.org/drawingml/2006/main" noGrp="1"/>
          </p:cNvSpPr>
          <p:nvPr/>
        </p:nvSpPr>
        <p:spPr>
          <a:xfrm xmlns:a="http://schemas.openxmlformats.org/drawingml/2006/main">
            <a:off x="609600" y="1809750"/>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TERM</a:t>
            </a:r>
          </a:p>
        </p:txBody>
      </p:sp>
      <p:sp>
        <p:nvSpPr>
          <p:cNvPr id="7" name="term">
            <a:extLst xmlns:a="http://schemas.openxmlformats.org/drawingml/2006/main">
              <a:ext uri="{FF2B5EF4-FFF2-40B4-BE49-F238E27FC236}">
                <a16:creationId xmlns:a16="http://schemas.microsoft.com/office/drawing/2014/main" id="{ACC298FF-0670-4CD7-9126-4A1D9542F697}"/>
              </a:ext>
            </a:extLst>
          </p:cNvPr>
          <p:cNvSpPr>
            <a:spLocks xmlns:a="http://schemas.openxmlformats.org/drawingml/2006/main" noGrp="1"/>
          </p:cNvSpPr>
          <p:nvPr/>
        </p:nvSpPr>
        <p:spPr>
          <a:xfrm xmlns:a="http://schemas.openxmlformats.org/drawingml/2006/main">
            <a:off x="609600" y="2057400"/>
            <a:ext cx="5905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1">
                <a:solidFill>
                  <a:srgbClr val="111316"/>
                </a:solidFill>
                <a:latin typeface="Consolas"/>
                <a:ea typeface="Consolas"/>
                <a:cs typeface="Consolas"/>
              </a:defRPr>
            </a:pPr>
            <a:r>
              <a:rPr sz="3000" b="1">
                <a:solidFill>
                  <a:srgbClr val="111316"/>
                </a:solidFill>
                <a:latin typeface="Consolas"/>
                <a:ea typeface="Consolas"/>
                <a:cs typeface="Consolas"/>
              </a:rPr>
              <a:t>if</a:t>
            </a:r>
          </a:p>
        </p:txBody>
      </p:sp>
      <p:sp>
        <p:nvSpPr>
          <p:cNvPr id="8" name="">
            <a:extLst xmlns:a="http://schemas.openxmlformats.org/drawingml/2006/main">
              <a:ext uri="{FF2B5EF4-FFF2-40B4-BE49-F238E27FC236}">
                <a16:creationId xmlns:a16="http://schemas.microsoft.com/office/drawing/2014/main" id="{39298303-1818-4D95-A43C-CF4B01EE5778}"/>
              </a:ext>
            </a:extLst>
          </p:cNvPr>
          <p:cNvSpPr>
            <a:spLocks xmlns:a="http://schemas.openxmlformats.org/drawingml/2006/main" noGrp="1"/>
          </p:cNvSpPr>
          <p:nvPr/>
        </p:nvSpPr>
        <p:spPr>
          <a:xfrm xmlns:a="http://schemas.openxmlformats.org/drawingml/2006/main">
            <a:off x="609600" y="2724150"/>
            <a:ext cx="1143000" cy="0"/>
          </a:xfrm>
          <a:prstGeom xmlns:a="http://schemas.openxmlformats.org/drawingml/2006/main" prst="line">
            <a:avLst/>
          </a:prstGeom>
          <a:noFill xmlns:a="http://schemas.openxmlformats.org/drawingml/2006/main"/>
          <a:ln xmlns:a="http://schemas.openxmlformats.org/drawingml/2006/main" w="38100">
            <a:solidFill>
              <a:srgbClr val="2E74B5"/>
            </a:solidFill>
            <a:prstDash val="solid"/>
          </a:ln>
        </p:spPr>
      </p:sp>
      <p:sp>
        <p:nvSpPr>
          <p:cNvPr id="9" name="definition">
            <a:extLst xmlns:a="http://schemas.openxmlformats.org/drawingml/2006/main">
              <a:ext uri="{FF2B5EF4-FFF2-40B4-BE49-F238E27FC236}">
                <a16:creationId xmlns:a16="http://schemas.microsoft.com/office/drawing/2014/main" id="{C8493E1B-3923-4B4E-ABD8-588C22EBF25E}"/>
              </a:ext>
            </a:extLst>
          </p:cNvPr>
          <p:cNvSpPr>
            <a:spLocks xmlns:a="http://schemas.openxmlformats.org/drawingml/2006/main" noGrp="1"/>
          </p:cNvSpPr>
          <p:nvPr/>
        </p:nvSpPr>
        <p:spPr>
          <a:xfrm xmlns:a="http://schemas.openxmlformats.org/drawingml/2006/main">
            <a:off x="609600" y="2971800"/>
            <a:ext cx="5905500" cy="2076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A conditional statement uses a Boolean condition to decide whether a block of code runs. Python gives you if for the first case, else for everything that remains, and elif for cases in between.</a:t>
            </a:r>
          </a:p>
        </p:txBody>
      </p:sp>
      <p:sp>
        <p:nvSpPr>
          <p:cNvPr id="10" name="example-panel">
            <a:extLst xmlns:a="http://schemas.openxmlformats.org/drawingml/2006/main">
              <a:ext uri="{FF2B5EF4-FFF2-40B4-BE49-F238E27FC236}">
                <a16:creationId xmlns:a16="http://schemas.microsoft.com/office/drawing/2014/main" id="{5CD2D311-EDE6-44AF-866A-090BEC9DDE8C}"/>
              </a:ext>
            </a:extLst>
          </p:cNvPr>
          <p:cNvSpPr>
            <a:spLocks xmlns:a="http://schemas.openxmlformats.org/drawingml/2006/main" noGrp="1"/>
          </p:cNvSpPr>
          <p:nvPr/>
        </p:nvSpPr>
        <p:spPr>
          <a:xfrm xmlns:a="http://schemas.openxmlformats.org/drawingml/2006/main">
            <a:off x="6762750" y="1809750"/>
            <a:ext cx="4819650" cy="3257550"/>
          </a:xfrm>
          <a:prstGeom xmlns:a="http://schemas.openxmlformats.org/drawingml/2006/main" prst="roundRect">
            <a:avLst>
              <a:gd name="adj" fmla="val 2339"/>
            </a:avLst>
          </a:prstGeom>
          <a:solidFill xmlns:a="http://schemas.openxmlformats.org/drawingml/2006/main">
            <a:srgbClr val="F3F7FB"/>
          </a:solidFill>
          <a:ln xmlns:a="http://schemas.openxmlformats.org/drawingml/2006/main" w="9525">
            <a:solidFill>
              <a:srgbClr val="DDE0E5"/>
            </a:solidFill>
            <a:prstDash val="solid"/>
          </a:ln>
        </p:spPr>
      </p:sp>
      <p:sp>
        <p:nvSpPr>
          <p:cNvPr id="11" name="example-label">
            <a:extLst xmlns:a="http://schemas.openxmlformats.org/drawingml/2006/main">
              <a:ext uri="{FF2B5EF4-FFF2-40B4-BE49-F238E27FC236}">
                <a16:creationId xmlns:a16="http://schemas.microsoft.com/office/drawing/2014/main" id="{179FC2E6-A23A-49E5-AC71-8A76ADAC23E9}"/>
              </a:ext>
            </a:extLst>
          </p:cNvPr>
          <p:cNvSpPr>
            <a:spLocks xmlns:a="http://schemas.openxmlformats.org/drawingml/2006/main" noGrp="1"/>
          </p:cNvSpPr>
          <p:nvPr/>
        </p:nvSpPr>
        <p:spPr>
          <a:xfrm xmlns:a="http://schemas.openxmlformats.org/drawingml/2006/main">
            <a:off x="6972300" y="2019300"/>
            <a:ext cx="438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1F4D78"/>
                </a:solidFill>
                <a:latin typeface="Arial"/>
                <a:ea typeface="Arial"/>
                <a:cs typeface="Arial"/>
              </a:defRPr>
            </a:pPr>
            <a:r>
              <a:rPr sz="900" b="1">
                <a:solidFill>
                  <a:srgbClr val="1F4D78"/>
                </a:solidFill>
                <a:latin typeface="Arial"/>
                <a:ea typeface="Arial"/>
                <a:cs typeface="Arial"/>
              </a:rPr>
              <a:t>REQUIRED SYNTAX</a:t>
            </a:r>
          </a:p>
        </p:txBody>
      </p:sp>
      <p:sp>
        <p:nvSpPr>
          <p:cNvPr id="12" name="example-head">
            <a:extLst xmlns:a="http://schemas.openxmlformats.org/drawingml/2006/main">
              <a:ext uri="{FF2B5EF4-FFF2-40B4-BE49-F238E27FC236}">
                <a16:creationId xmlns:a16="http://schemas.microsoft.com/office/drawing/2014/main" id="{22F89E20-4CF4-4F78-A618-D1FD0D4A661A}"/>
              </a:ext>
            </a:extLst>
          </p:cNvPr>
          <p:cNvSpPr>
            <a:spLocks xmlns:a="http://schemas.openxmlformats.org/drawingml/2006/main" noGrp="1"/>
          </p:cNvSpPr>
          <p:nvPr/>
        </p:nvSpPr>
        <p:spPr>
          <a:xfrm xmlns:a="http://schemas.openxmlformats.org/drawingml/2006/main">
            <a:off x="6972300" y="2286000"/>
            <a:ext cx="4381500" cy="3040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Consolas"/>
                <a:ea typeface="Consolas"/>
                <a:cs typeface="Consolas"/>
              </a:defRPr>
            </a:pPr>
            <a:r>
              <a:rPr sz="1800" b="1">
                <a:solidFill>
                  <a:srgbClr val="111316"/>
                </a:solidFill>
                <a:latin typeface="Consolas"/>
                <a:ea typeface="Consolas"/>
                <a:cs typeface="Consolas"/>
              </a:rPr>
              <a:t>if area_m2 &gt;= minimum_m2:</a:t>
            </a:r>
          </a:p>
        </p:txBody>
      </p:sp>
      <p:sp>
        <p:nvSpPr>
          <p:cNvPr id="13" name="example-body">
            <a:extLst xmlns:a="http://schemas.openxmlformats.org/drawingml/2006/main">
              <a:ext uri="{FF2B5EF4-FFF2-40B4-BE49-F238E27FC236}">
                <a16:creationId xmlns:a16="http://schemas.microsoft.com/office/drawing/2014/main" id="{FF031E79-9D35-4EEC-8FCE-830B4B7196F7}"/>
              </a:ext>
            </a:extLst>
          </p:cNvPr>
          <p:cNvSpPr>
            <a:spLocks xmlns:a="http://schemas.openxmlformats.org/drawingml/2006/main" noGrp="1"/>
          </p:cNvSpPr>
          <p:nvPr/>
        </p:nvSpPr>
        <p:spPr>
          <a:xfrm xmlns:a="http://schemas.openxmlformats.org/drawingml/2006/main">
            <a:off x="6972300" y="2704338"/>
            <a:ext cx="4381500" cy="22296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The condition is any expression that evaluates to True or False. When it is True the indented block runs. When it is False Python skips that whole block and continues below it.</a:t>
            </a:r>
          </a:p>
        </p:txBody>
      </p:sp>
      <p:sp>
        <p:nvSpPr>
          <p:cNvPr id="14" name="note-bar">
            <a:extLst xmlns:a="http://schemas.openxmlformats.org/drawingml/2006/main">
              <a:ext uri="{FF2B5EF4-FFF2-40B4-BE49-F238E27FC236}">
                <a16:creationId xmlns:a16="http://schemas.microsoft.com/office/drawing/2014/main" id="{A7CC587A-1570-43E3-B94B-5803CB35E768}"/>
              </a:ext>
            </a:extLst>
          </p:cNvPr>
          <p:cNvSpPr>
            <a:spLocks xmlns:a="http://schemas.openxmlformats.org/drawingml/2006/main" noGrp="1"/>
          </p:cNvSpPr>
          <p:nvPr/>
        </p:nvSpPr>
        <p:spPr>
          <a:xfrm xmlns:a="http://schemas.openxmlformats.org/drawingml/2006/main">
            <a:off x="609600" y="5334000"/>
            <a:ext cx="57150" cy="723900"/>
          </a:xfrm>
          <a:prstGeom xmlns:a="http://schemas.openxmlformats.org/drawingml/2006/main" prst="rect">
            <a:avLst/>
          </a:prstGeom>
          <a:solidFill xmlns:a="http://schemas.openxmlformats.org/drawingml/2006/main">
            <a:srgbClr val="B5731A"/>
          </a:solidFill>
          <a:ln xmlns:a="http://schemas.openxmlformats.org/drawingml/2006/main" w="0">
            <a:noFill/>
            <a:prstDash val="solid"/>
          </a:ln>
        </p:spPr>
      </p:sp>
      <p:sp>
        <p:nvSpPr>
          <p:cNvPr id="15" name="note-label">
            <a:extLst xmlns:a="http://schemas.openxmlformats.org/drawingml/2006/main">
              <a:ext uri="{FF2B5EF4-FFF2-40B4-BE49-F238E27FC236}">
                <a16:creationId xmlns:a16="http://schemas.microsoft.com/office/drawing/2014/main" id="{953B0302-106B-476B-8842-38FC4C156526}"/>
              </a:ext>
            </a:extLst>
          </p:cNvPr>
          <p:cNvSpPr>
            <a:spLocks xmlns:a="http://schemas.openxmlformats.org/drawingml/2006/main" noGrp="1"/>
          </p:cNvSpPr>
          <p:nvPr/>
        </p:nvSpPr>
        <p:spPr>
          <a:xfrm xmlns:a="http://schemas.openxmlformats.org/drawingml/2006/main">
            <a:off x="819150" y="5353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B5731A"/>
                </a:solidFill>
                <a:latin typeface="Arial"/>
                <a:ea typeface="Arial"/>
                <a:cs typeface="Arial"/>
              </a:defRPr>
            </a:pPr>
            <a:r>
              <a:rPr sz="900" b="1">
                <a:solidFill>
                  <a:srgbClr val="B5731A"/>
                </a:solidFill>
                <a:latin typeface="Arial"/>
                <a:ea typeface="Arial"/>
                <a:cs typeface="Arial"/>
              </a:rPr>
              <a:t>WHAT IS NEW HERE</a:t>
            </a:r>
          </a:p>
        </p:txBody>
      </p:sp>
      <p:sp>
        <p:nvSpPr>
          <p:cNvPr id="16" name="note">
            <a:extLst xmlns:a="http://schemas.openxmlformats.org/drawingml/2006/main">
              <a:ext uri="{FF2B5EF4-FFF2-40B4-BE49-F238E27FC236}">
                <a16:creationId xmlns:a16="http://schemas.microsoft.com/office/drawing/2014/main" id="{35EC8FAC-6137-458C-A6B2-E46076760914}"/>
              </a:ext>
            </a:extLst>
          </p:cNvPr>
          <p:cNvSpPr>
            <a:spLocks xmlns:a="http://schemas.openxmlformats.org/drawingml/2006/main" noGrp="1"/>
          </p:cNvSpPr>
          <p:nvPr/>
        </p:nvSpPr>
        <p:spPr>
          <a:xfrm xmlns:a="http://schemas.openxmlformats.org/drawingml/2006/main">
            <a:off x="819150" y="5562600"/>
            <a:ext cx="10763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111316"/>
                </a:solidFill>
                <a:latin typeface="Arial"/>
                <a:ea typeface="Arial"/>
                <a:cs typeface="Arial"/>
              </a:defRPr>
            </a:pPr>
            <a:r>
              <a:rPr sz="1500" b="0">
                <a:solidFill>
                  <a:srgbClr val="111316"/>
                </a:solidFill>
                <a:latin typeface="Arial"/>
                <a:ea typeface="Arial"/>
                <a:cs typeface="Arial"/>
              </a:rPr>
              <a:t>Ordinary code runs every line from top to bottom. A conditional is the first structure that lets Python skip lines entirely.</a:t>
            </a:r>
          </a:p>
        </p:txBody>
      </p:sp>
    </p:spTree>
    <p:extLst>
      <p:ext uri="{BB962C8B-B14F-4D97-AF65-F5344CB8AC3E}">
        <p14:creationId xmlns:p14="http://schemas.microsoft.com/office/powerpoint/2010/main" val="1857331508"/>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3" name="kicker">
            <a:extLst xmlns:a="http://schemas.openxmlformats.org/drawingml/2006/main">
              <a:ext uri="{FF2B5EF4-FFF2-40B4-BE49-F238E27FC236}">
                <a16:creationId xmlns:a16="http://schemas.microsoft.com/office/drawing/2014/main" id="{B0A87B2B-A11B-4F91-9519-103C00F811BE}"/>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ANATOMY</a:t>
            </a:r>
          </a:p>
        </p:txBody>
      </p:sp>
      <p:sp>
        <p:nvSpPr>
          <p:cNvPr id="2" name="title">
            <a:extLst xmlns:a="http://schemas.openxmlformats.org/drawingml/2006/main">
              <a:ext uri="{FF2B5EF4-FFF2-40B4-BE49-F238E27FC236}">
                <a16:creationId xmlns:a16="http://schemas.microsoft.com/office/drawing/2014/main" id="{DC670171-A297-4012-A53D-842888DFF5AB}"/>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Every if line carries the same five parts</a:t>
            </a:r>
          </a:p>
        </p:txBody>
      </p:sp>
      <p:sp>
        <p:nvSpPr>
          <p:cNvPr id="3" name="">
            <a:extLst xmlns:a="http://schemas.openxmlformats.org/drawingml/2006/main">
              <a:ext uri="{FF2B5EF4-FFF2-40B4-BE49-F238E27FC236}">
                <a16:creationId xmlns:a16="http://schemas.microsoft.com/office/drawing/2014/main" id="{0DC00019-F84F-4C1B-BC7F-F43B46961D9C}"/>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38D51058-24B7-4E32-84E5-04C963873C6B}"/>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3 · Meeting A · Decisions and Functions · Full Source Deck</a:t>
            </a:r>
          </a:p>
        </p:txBody>
      </p:sp>
      <p:sp>
        <p:nvSpPr>
          <p:cNvPr id="5" name="page">
            <a:extLst xmlns:a="http://schemas.openxmlformats.org/drawingml/2006/main">
              <a:ext uri="{FF2B5EF4-FFF2-40B4-BE49-F238E27FC236}">
                <a16:creationId xmlns:a16="http://schemas.microsoft.com/office/drawing/2014/main" id="{5A3B885D-63C4-459C-8D7E-CC4B1591ACA5}"/>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11</a:t>
            </a:r>
          </a:p>
        </p:txBody>
      </p:sp>
      <p:sp>
        <p:nvSpPr>
          <p:cNvPr id="6" name="anatomy-code-panel">
            <a:extLst xmlns:a="http://schemas.openxmlformats.org/drawingml/2006/main">
              <a:ext uri="{FF2B5EF4-FFF2-40B4-BE49-F238E27FC236}">
                <a16:creationId xmlns:a16="http://schemas.microsoft.com/office/drawing/2014/main" id="{8CAB1B32-5C91-4155-AF68-ECDE2BA12262}"/>
              </a:ext>
            </a:extLst>
          </p:cNvPr>
          <p:cNvSpPr>
            <a:spLocks xmlns:a="http://schemas.openxmlformats.org/drawingml/2006/main" noGrp="1"/>
          </p:cNvSpPr>
          <p:nvPr/>
        </p:nvSpPr>
        <p:spPr>
          <a:xfrm xmlns:a="http://schemas.openxmlformats.org/drawingml/2006/main">
            <a:off x="609600" y="1733550"/>
            <a:ext cx="10972800" cy="876300"/>
          </a:xfrm>
          <a:prstGeom xmlns:a="http://schemas.openxmlformats.org/drawingml/2006/main" prst="roundRect">
            <a:avLst>
              <a:gd name="adj" fmla="val 8696"/>
            </a:avLst>
          </a:prstGeom>
          <a:solidFill xmlns:a="http://schemas.openxmlformats.org/drawingml/2006/main">
            <a:srgbClr val="17191C"/>
          </a:solidFill>
          <a:ln xmlns:a="http://schemas.openxmlformats.org/drawingml/2006/main" w="9525">
            <a:solidFill>
              <a:srgbClr val="17191C"/>
            </a:solidFill>
            <a:prstDash val="solid"/>
          </a:ln>
        </p:spPr>
      </p:sp>
      <p:sp>
        <p:nvSpPr>
          <p:cNvPr id="7" name="anatomy-code">
            <a:extLst xmlns:a="http://schemas.openxmlformats.org/drawingml/2006/main">
              <a:ext uri="{FF2B5EF4-FFF2-40B4-BE49-F238E27FC236}">
                <a16:creationId xmlns:a16="http://schemas.microsoft.com/office/drawing/2014/main" id="{107D3496-A1C5-4421-8BF1-B10403CF4CA5}"/>
              </a:ext>
            </a:extLst>
          </p:cNvPr>
          <p:cNvSpPr>
            <a:spLocks xmlns:a="http://schemas.openxmlformats.org/drawingml/2006/main" noGrp="1"/>
          </p:cNvSpPr>
          <p:nvPr/>
        </p:nvSpPr>
        <p:spPr>
          <a:xfrm xmlns:a="http://schemas.openxmlformats.org/drawingml/2006/main">
            <a:off x="2952750" y="2057400"/>
            <a:ext cx="666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600" b="0">
                <a:solidFill>
                  <a:srgbClr val="FFFFFF"/>
                </a:solidFill>
                <a:latin typeface="Consolas"/>
                <a:ea typeface="Consolas"/>
                <a:cs typeface="Consolas"/>
              </a:defRPr>
            </a:pPr>
            <a:r>
              <a:rPr sz="3600" b="0">
                <a:solidFill>
                  <a:srgbClr val="FFFFFF"/>
                </a:solidFill>
                <a:latin typeface="Consolas"/>
                <a:ea typeface="Consolas"/>
                <a:cs typeface="Consolas"/>
              </a:rPr>
              <a:t>if area_m2 &gt;= minimum_m2:</a:t>
            </a:r>
          </a:p>
        </p:txBody>
      </p:sp>
      <p:sp>
        <p:nvSpPr>
          <p:cNvPr id="8" name="">
            <a:extLst xmlns:a="http://schemas.openxmlformats.org/drawingml/2006/main">
              <a:ext uri="{FF2B5EF4-FFF2-40B4-BE49-F238E27FC236}">
                <a16:creationId xmlns:a16="http://schemas.microsoft.com/office/drawing/2014/main" id="{71684E6B-D7D5-43BF-9ED8-F790AF2AC493}"/>
              </a:ext>
            </a:extLst>
          </p:cNvPr>
          <p:cNvSpPr>
            <a:spLocks xmlns:a="http://schemas.openxmlformats.org/drawingml/2006/main" noGrp="1"/>
          </p:cNvSpPr>
          <p:nvPr/>
        </p:nvSpPr>
        <p:spPr>
          <a:xfrm xmlns:a="http://schemas.openxmlformats.org/drawingml/2006/main">
            <a:off x="2952750" y="2647950"/>
            <a:ext cx="502920" cy="0"/>
          </a:xfrm>
          <a:prstGeom xmlns:a="http://schemas.openxmlformats.org/drawingml/2006/main" prst="line">
            <a:avLst/>
          </a:prstGeom>
          <a:noFill xmlns:a="http://schemas.openxmlformats.org/drawingml/2006/main"/>
          <a:ln xmlns:a="http://schemas.openxmlformats.org/drawingml/2006/main" w="28575">
            <a:solidFill>
              <a:srgbClr val="2E74B5"/>
            </a:solidFill>
            <a:prstDash val="solid"/>
          </a:ln>
        </p:spPr>
      </p:sp>
      <p:sp>
        <p:nvSpPr>
          <p:cNvPr id="9" name="part-chip-0">
            <a:extLst xmlns:a="http://schemas.openxmlformats.org/drawingml/2006/main">
              <a:ext uri="{FF2B5EF4-FFF2-40B4-BE49-F238E27FC236}">
                <a16:creationId xmlns:a16="http://schemas.microsoft.com/office/drawing/2014/main" id="{279C0970-5BA8-42E8-8318-85FD637D3150}"/>
              </a:ext>
            </a:extLst>
          </p:cNvPr>
          <p:cNvSpPr>
            <a:spLocks xmlns:a="http://schemas.openxmlformats.org/drawingml/2006/main" noGrp="1"/>
          </p:cNvSpPr>
          <p:nvPr/>
        </p:nvSpPr>
        <p:spPr>
          <a:xfrm xmlns:a="http://schemas.openxmlformats.org/drawingml/2006/main">
            <a:off x="3080385" y="2724150"/>
            <a:ext cx="247650" cy="247650"/>
          </a:xfrm>
          <a:prstGeom xmlns:a="http://schemas.openxmlformats.org/drawingml/2006/main" prst="roundRect">
            <a:avLst>
              <a:gd name="adj" fmla="val 50000"/>
            </a:avLst>
          </a:prstGeom>
          <a:solidFill xmlns:a="http://schemas.openxmlformats.org/drawingml/2006/main">
            <a:srgbClr val="2E74B5"/>
          </a:solidFill>
          <a:ln xmlns:a="http://schemas.openxmlformats.org/drawingml/2006/main" w="0">
            <a:noFill/>
            <a:prstDash val="solid"/>
          </a:ln>
        </p:spPr>
      </p:sp>
      <p:sp>
        <p:nvSpPr>
          <p:cNvPr id="10" name="part-chipno-0">
            <a:extLst xmlns:a="http://schemas.openxmlformats.org/drawingml/2006/main">
              <a:ext uri="{FF2B5EF4-FFF2-40B4-BE49-F238E27FC236}">
                <a16:creationId xmlns:a16="http://schemas.microsoft.com/office/drawing/2014/main" id="{9435A730-64C8-404E-A6D9-F4F963C7CA4E}"/>
              </a:ext>
            </a:extLst>
          </p:cNvPr>
          <p:cNvSpPr>
            <a:spLocks xmlns:a="http://schemas.openxmlformats.org/drawingml/2006/main" noGrp="1"/>
          </p:cNvSpPr>
          <p:nvPr/>
        </p:nvSpPr>
        <p:spPr>
          <a:xfrm xmlns:a="http://schemas.openxmlformats.org/drawingml/2006/main">
            <a:off x="3080385" y="2771775"/>
            <a:ext cx="247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900" b="1">
                <a:solidFill>
                  <a:srgbClr val="FFFFFF"/>
                </a:solidFill>
                <a:latin typeface="Arial"/>
                <a:ea typeface="Arial"/>
                <a:cs typeface="Arial"/>
              </a:defRPr>
            </a:pPr>
            <a:r>
              <a:rPr sz="900" b="1">
                <a:solidFill>
                  <a:srgbClr val="FFFFFF"/>
                </a:solidFill>
                <a:latin typeface="Arial"/>
                <a:ea typeface="Arial"/>
                <a:cs typeface="Arial"/>
              </a:rPr>
              <a:t>1</a:t>
            </a:r>
          </a:p>
        </p:txBody>
      </p:sp>
      <p:sp>
        <p:nvSpPr>
          <p:cNvPr id="11" name="part-lchip-0">
            <a:extLst xmlns:a="http://schemas.openxmlformats.org/drawingml/2006/main">
              <a:ext uri="{FF2B5EF4-FFF2-40B4-BE49-F238E27FC236}">
                <a16:creationId xmlns:a16="http://schemas.microsoft.com/office/drawing/2014/main" id="{663FBA07-FEB5-4986-92D4-31E2975DAC3C}"/>
              </a:ext>
            </a:extLst>
          </p:cNvPr>
          <p:cNvSpPr>
            <a:spLocks xmlns:a="http://schemas.openxmlformats.org/drawingml/2006/main" noGrp="1"/>
          </p:cNvSpPr>
          <p:nvPr/>
        </p:nvSpPr>
        <p:spPr>
          <a:xfrm xmlns:a="http://schemas.openxmlformats.org/drawingml/2006/main">
            <a:off x="2204085" y="3028950"/>
            <a:ext cx="209550" cy="209550"/>
          </a:xfrm>
          <a:prstGeom xmlns:a="http://schemas.openxmlformats.org/drawingml/2006/main" prst="roundRect">
            <a:avLst>
              <a:gd name="adj" fmla="val 50000"/>
            </a:avLst>
          </a:prstGeom>
          <a:solidFill xmlns:a="http://schemas.openxmlformats.org/drawingml/2006/main">
            <a:srgbClr val="2E74B5"/>
          </a:solidFill>
          <a:ln xmlns:a="http://schemas.openxmlformats.org/drawingml/2006/main" w="0">
            <a:noFill/>
            <a:prstDash val="solid"/>
          </a:ln>
        </p:spPr>
      </p:sp>
      <p:sp>
        <p:nvSpPr>
          <p:cNvPr id="12" name="part-lchipno-0">
            <a:extLst xmlns:a="http://schemas.openxmlformats.org/drawingml/2006/main">
              <a:ext uri="{FF2B5EF4-FFF2-40B4-BE49-F238E27FC236}">
                <a16:creationId xmlns:a16="http://schemas.microsoft.com/office/drawing/2014/main" id="{5BD7CD18-4DC1-40C4-9537-F67732B28FFC}"/>
              </a:ext>
            </a:extLst>
          </p:cNvPr>
          <p:cNvSpPr>
            <a:spLocks xmlns:a="http://schemas.openxmlformats.org/drawingml/2006/main" noGrp="1"/>
          </p:cNvSpPr>
          <p:nvPr/>
        </p:nvSpPr>
        <p:spPr>
          <a:xfrm xmlns:a="http://schemas.openxmlformats.org/drawingml/2006/main">
            <a:off x="2204085" y="3067050"/>
            <a:ext cx="209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900" b="1">
                <a:solidFill>
                  <a:srgbClr val="FFFFFF"/>
                </a:solidFill>
                <a:latin typeface="Arial"/>
                <a:ea typeface="Arial"/>
                <a:cs typeface="Arial"/>
              </a:defRPr>
            </a:pPr>
            <a:r>
              <a:rPr sz="900" b="1">
                <a:solidFill>
                  <a:srgbClr val="FFFFFF"/>
                </a:solidFill>
                <a:latin typeface="Arial"/>
                <a:ea typeface="Arial"/>
                <a:cs typeface="Arial"/>
              </a:rPr>
              <a:t>1</a:t>
            </a:r>
          </a:p>
        </p:txBody>
      </p:sp>
      <p:sp>
        <p:nvSpPr>
          <p:cNvPr id="13" name="part-head-0">
            <a:extLst xmlns:a="http://schemas.openxmlformats.org/drawingml/2006/main">
              <a:ext uri="{FF2B5EF4-FFF2-40B4-BE49-F238E27FC236}">
                <a16:creationId xmlns:a16="http://schemas.microsoft.com/office/drawing/2014/main" id="{61B01DA4-11EC-49A7-BF5B-8ED53C527EF5}"/>
              </a:ext>
            </a:extLst>
          </p:cNvPr>
          <p:cNvSpPr>
            <a:spLocks xmlns:a="http://schemas.openxmlformats.org/drawingml/2006/main" noGrp="1"/>
          </p:cNvSpPr>
          <p:nvPr/>
        </p:nvSpPr>
        <p:spPr>
          <a:xfrm xmlns:a="http://schemas.openxmlformats.org/drawingml/2006/main">
            <a:off x="2508885" y="3009900"/>
            <a:ext cx="1695450" cy="284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The keyword</a:t>
            </a:r>
          </a:p>
        </p:txBody>
      </p:sp>
      <p:sp>
        <p:nvSpPr>
          <p:cNvPr id="14" name="part-body-0">
            <a:extLst xmlns:a="http://schemas.openxmlformats.org/drawingml/2006/main">
              <a:ext uri="{FF2B5EF4-FFF2-40B4-BE49-F238E27FC236}">
                <a16:creationId xmlns:a16="http://schemas.microsoft.com/office/drawing/2014/main" id="{DCB068FA-129C-4B55-A51B-A9A6B6FD97A3}"/>
              </a:ext>
            </a:extLst>
          </p:cNvPr>
          <p:cNvSpPr>
            <a:spLocks xmlns:a="http://schemas.openxmlformats.org/drawingml/2006/main" noGrp="1"/>
          </p:cNvSpPr>
          <p:nvPr/>
        </p:nvSpPr>
        <p:spPr>
          <a:xfrm xmlns:a="http://schemas.openxmlformats.org/drawingml/2006/main">
            <a:off x="2204085" y="3390138"/>
            <a:ext cx="2000250" cy="4107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200" b="0">
                <a:solidFill>
                  <a:srgbClr val="5A5F66"/>
                </a:solidFill>
                <a:latin typeface="Arial"/>
                <a:ea typeface="Arial"/>
                <a:cs typeface="Arial"/>
              </a:defRPr>
            </a:pPr>
            <a:r>
              <a:rPr sz="1200" b="0">
                <a:solidFill>
                  <a:srgbClr val="5A5F66"/>
                </a:solidFill>
                <a:latin typeface="Arial"/>
                <a:ea typeface="Arial"/>
                <a:cs typeface="Arial"/>
              </a:rPr>
              <a:t>Announces that a decision starts here.</a:t>
            </a:r>
          </a:p>
        </p:txBody>
      </p:sp>
      <p:sp>
        <p:nvSpPr>
          <p:cNvPr id="15" name="">
            <a:extLst xmlns:a="http://schemas.openxmlformats.org/drawingml/2006/main">
              <a:ext uri="{FF2B5EF4-FFF2-40B4-BE49-F238E27FC236}">
                <a16:creationId xmlns:a16="http://schemas.microsoft.com/office/drawing/2014/main" id="{9E5FE88E-924E-4250-A7BF-8848D9B20C9E}"/>
              </a:ext>
            </a:extLst>
          </p:cNvPr>
          <p:cNvSpPr>
            <a:spLocks xmlns:a="http://schemas.openxmlformats.org/drawingml/2006/main" noGrp="1"/>
          </p:cNvSpPr>
          <p:nvPr/>
        </p:nvSpPr>
        <p:spPr>
          <a:xfrm xmlns:a="http://schemas.openxmlformats.org/drawingml/2006/main">
            <a:off x="3707130" y="2647950"/>
            <a:ext cx="1760220" cy="0"/>
          </a:xfrm>
          <a:prstGeom xmlns:a="http://schemas.openxmlformats.org/drawingml/2006/main" prst="line">
            <a:avLst/>
          </a:prstGeom>
          <a:noFill xmlns:a="http://schemas.openxmlformats.org/drawingml/2006/main"/>
          <a:ln xmlns:a="http://schemas.openxmlformats.org/drawingml/2006/main" w="28575">
            <a:solidFill>
              <a:srgbClr val="2E74B5"/>
            </a:solidFill>
            <a:prstDash val="solid"/>
          </a:ln>
        </p:spPr>
      </p:sp>
      <p:sp>
        <p:nvSpPr>
          <p:cNvPr id="16" name="part-chip-1">
            <a:extLst xmlns:a="http://schemas.openxmlformats.org/drawingml/2006/main">
              <a:ext uri="{FF2B5EF4-FFF2-40B4-BE49-F238E27FC236}">
                <a16:creationId xmlns:a16="http://schemas.microsoft.com/office/drawing/2014/main" id="{56D5D2C6-D3FD-4EDE-9C2F-0C08E7FC2107}"/>
              </a:ext>
            </a:extLst>
          </p:cNvPr>
          <p:cNvSpPr>
            <a:spLocks xmlns:a="http://schemas.openxmlformats.org/drawingml/2006/main" noGrp="1"/>
          </p:cNvSpPr>
          <p:nvPr/>
        </p:nvSpPr>
        <p:spPr>
          <a:xfrm xmlns:a="http://schemas.openxmlformats.org/drawingml/2006/main">
            <a:off x="4463415" y="2724150"/>
            <a:ext cx="247650" cy="247650"/>
          </a:xfrm>
          <a:prstGeom xmlns:a="http://schemas.openxmlformats.org/drawingml/2006/main" prst="roundRect">
            <a:avLst>
              <a:gd name="adj" fmla="val 50000"/>
            </a:avLst>
          </a:prstGeom>
          <a:solidFill xmlns:a="http://schemas.openxmlformats.org/drawingml/2006/main">
            <a:srgbClr val="2E74B5"/>
          </a:solidFill>
          <a:ln xmlns:a="http://schemas.openxmlformats.org/drawingml/2006/main" w="0">
            <a:noFill/>
            <a:prstDash val="solid"/>
          </a:ln>
        </p:spPr>
      </p:sp>
      <p:sp>
        <p:nvSpPr>
          <p:cNvPr id="17" name="part-chipno-1">
            <a:extLst xmlns:a="http://schemas.openxmlformats.org/drawingml/2006/main">
              <a:ext uri="{FF2B5EF4-FFF2-40B4-BE49-F238E27FC236}">
                <a16:creationId xmlns:a16="http://schemas.microsoft.com/office/drawing/2014/main" id="{75820432-8A14-4332-BE42-D5FFEDC80A4D}"/>
              </a:ext>
            </a:extLst>
          </p:cNvPr>
          <p:cNvSpPr>
            <a:spLocks xmlns:a="http://schemas.openxmlformats.org/drawingml/2006/main" noGrp="1"/>
          </p:cNvSpPr>
          <p:nvPr/>
        </p:nvSpPr>
        <p:spPr>
          <a:xfrm xmlns:a="http://schemas.openxmlformats.org/drawingml/2006/main">
            <a:off x="4463415" y="2771775"/>
            <a:ext cx="247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900" b="1">
                <a:solidFill>
                  <a:srgbClr val="FFFFFF"/>
                </a:solidFill>
                <a:latin typeface="Arial"/>
                <a:ea typeface="Arial"/>
                <a:cs typeface="Arial"/>
              </a:defRPr>
            </a:pPr>
            <a:r>
              <a:rPr sz="900" b="1">
                <a:solidFill>
                  <a:srgbClr val="FFFFFF"/>
                </a:solidFill>
                <a:latin typeface="Arial"/>
                <a:ea typeface="Arial"/>
                <a:cs typeface="Arial"/>
              </a:rPr>
              <a:t>2</a:t>
            </a:r>
          </a:p>
        </p:txBody>
      </p:sp>
      <p:sp>
        <p:nvSpPr>
          <p:cNvPr id="18" name="part-lchip-1">
            <a:extLst xmlns:a="http://schemas.openxmlformats.org/drawingml/2006/main">
              <a:ext uri="{FF2B5EF4-FFF2-40B4-BE49-F238E27FC236}">
                <a16:creationId xmlns:a16="http://schemas.microsoft.com/office/drawing/2014/main" id="{72377452-F0C9-409C-AD0D-4BC4BA8789B9}"/>
              </a:ext>
            </a:extLst>
          </p:cNvPr>
          <p:cNvSpPr>
            <a:spLocks xmlns:a="http://schemas.openxmlformats.org/drawingml/2006/main" noGrp="1"/>
          </p:cNvSpPr>
          <p:nvPr/>
        </p:nvSpPr>
        <p:spPr>
          <a:xfrm xmlns:a="http://schemas.openxmlformats.org/drawingml/2006/main">
            <a:off x="3587115" y="3896106"/>
            <a:ext cx="209550" cy="209550"/>
          </a:xfrm>
          <a:prstGeom xmlns:a="http://schemas.openxmlformats.org/drawingml/2006/main" prst="roundRect">
            <a:avLst>
              <a:gd name="adj" fmla="val 50000"/>
            </a:avLst>
          </a:prstGeom>
          <a:solidFill xmlns:a="http://schemas.openxmlformats.org/drawingml/2006/main">
            <a:srgbClr val="2E74B5"/>
          </a:solidFill>
          <a:ln xmlns:a="http://schemas.openxmlformats.org/drawingml/2006/main" w="0">
            <a:noFill/>
            <a:prstDash val="solid"/>
          </a:ln>
        </p:spPr>
      </p:sp>
      <p:sp>
        <p:nvSpPr>
          <p:cNvPr id="19" name="part-lchipno-1">
            <a:extLst xmlns:a="http://schemas.openxmlformats.org/drawingml/2006/main">
              <a:ext uri="{FF2B5EF4-FFF2-40B4-BE49-F238E27FC236}">
                <a16:creationId xmlns:a16="http://schemas.microsoft.com/office/drawing/2014/main" id="{F6C6464A-039B-4F4A-9B41-66619917F8C5}"/>
              </a:ext>
            </a:extLst>
          </p:cNvPr>
          <p:cNvSpPr>
            <a:spLocks xmlns:a="http://schemas.openxmlformats.org/drawingml/2006/main" noGrp="1"/>
          </p:cNvSpPr>
          <p:nvPr/>
        </p:nvSpPr>
        <p:spPr>
          <a:xfrm xmlns:a="http://schemas.openxmlformats.org/drawingml/2006/main">
            <a:off x="3587115" y="3934206"/>
            <a:ext cx="209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900" b="1">
                <a:solidFill>
                  <a:srgbClr val="FFFFFF"/>
                </a:solidFill>
                <a:latin typeface="Arial"/>
                <a:ea typeface="Arial"/>
                <a:cs typeface="Arial"/>
              </a:defRPr>
            </a:pPr>
            <a:r>
              <a:rPr sz="900" b="1">
                <a:solidFill>
                  <a:srgbClr val="FFFFFF"/>
                </a:solidFill>
                <a:latin typeface="Arial"/>
                <a:ea typeface="Arial"/>
                <a:cs typeface="Arial"/>
              </a:rPr>
              <a:t>2</a:t>
            </a:r>
          </a:p>
        </p:txBody>
      </p:sp>
      <p:sp>
        <p:nvSpPr>
          <p:cNvPr id="20" name="part-head-1">
            <a:extLst xmlns:a="http://schemas.openxmlformats.org/drawingml/2006/main">
              <a:ext uri="{FF2B5EF4-FFF2-40B4-BE49-F238E27FC236}">
                <a16:creationId xmlns:a16="http://schemas.microsoft.com/office/drawing/2014/main" id="{F00B28A9-AECF-4977-800A-597A01486BCF}"/>
              </a:ext>
            </a:extLst>
          </p:cNvPr>
          <p:cNvSpPr>
            <a:spLocks xmlns:a="http://schemas.openxmlformats.org/drawingml/2006/main" noGrp="1"/>
          </p:cNvSpPr>
          <p:nvPr/>
        </p:nvSpPr>
        <p:spPr>
          <a:xfrm xmlns:a="http://schemas.openxmlformats.org/drawingml/2006/main">
            <a:off x="3891915" y="3877056"/>
            <a:ext cx="1695450" cy="284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The evidence</a:t>
            </a:r>
          </a:p>
        </p:txBody>
      </p:sp>
      <p:sp>
        <p:nvSpPr>
          <p:cNvPr id="21" name="part-body-1">
            <a:extLst xmlns:a="http://schemas.openxmlformats.org/drawingml/2006/main">
              <a:ext uri="{FF2B5EF4-FFF2-40B4-BE49-F238E27FC236}">
                <a16:creationId xmlns:a16="http://schemas.microsoft.com/office/drawing/2014/main" id="{F8A6AFB6-CB19-4865-9594-D9E9D385D2D9}"/>
              </a:ext>
            </a:extLst>
          </p:cNvPr>
          <p:cNvSpPr>
            <a:spLocks xmlns:a="http://schemas.openxmlformats.org/drawingml/2006/main" noGrp="1"/>
          </p:cNvSpPr>
          <p:nvPr/>
        </p:nvSpPr>
        <p:spPr>
          <a:xfrm xmlns:a="http://schemas.openxmlformats.org/drawingml/2006/main">
            <a:off x="3587115" y="4257294"/>
            <a:ext cx="2000250" cy="4107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200" b="0">
                <a:solidFill>
                  <a:srgbClr val="5A5F66"/>
                </a:solidFill>
                <a:latin typeface="Arial"/>
                <a:ea typeface="Arial"/>
                <a:cs typeface="Arial"/>
              </a:defRPr>
            </a:pPr>
            <a:r>
              <a:rPr sz="1200" b="0">
                <a:solidFill>
                  <a:srgbClr val="5A5F66"/>
                </a:solidFill>
                <a:latin typeface="Arial"/>
                <a:ea typeface="Arial"/>
                <a:cs typeface="Arial"/>
              </a:rPr>
              <a:t>The measured value being tested.</a:t>
            </a:r>
          </a:p>
        </p:txBody>
      </p:sp>
      <p:sp>
        <p:nvSpPr>
          <p:cNvPr id="22" name="">
            <a:extLst xmlns:a="http://schemas.openxmlformats.org/drawingml/2006/main">
              <a:ext uri="{FF2B5EF4-FFF2-40B4-BE49-F238E27FC236}">
                <a16:creationId xmlns:a16="http://schemas.microsoft.com/office/drawing/2014/main" id="{2118E82D-3632-4F87-AF9F-D4284ECA1835}"/>
              </a:ext>
            </a:extLst>
          </p:cNvPr>
          <p:cNvSpPr>
            <a:spLocks xmlns:a="http://schemas.openxmlformats.org/drawingml/2006/main" noGrp="1"/>
          </p:cNvSpPr>
          <p:nvPr/>
        </p:nvSpPr>
        <p:spPr>
          <a:xfrm xmlns:a="http://schemas.openxmlformats.org/drawingml/2006/main">
            <a:off x="5718810" y="2647950"/>
            <a:ext cx="502920" cy="0"/>
          </a:xfrm>
          <a:prstGeom xmlns:a="http://schemas.openxmlformats.org/drawingml/2006/main" prst="line">
            <a:avLst/>
          </a:prstGeom>
          <a:noFill xmlns:a="http://schemas.openxmlformats.org/drawingml/2006/main"/>
          <a:ln xmlns:a="http://schemas.openxmlformats.org/drawingml/2006/main" w="28575">
            <a:solidFill>
              <a:srgbClr val="2E74B5"/>
            </a:solidFill>
            <a:prstDash val="solid"/>
          </a:ln>
        </p:spPr>
      </p:sp>
      <p:sp>
        <p:nvSpPr>
          <p:cNvPr id="23" name="part-chip-2">
            <a:extLst xmlns:a="http://schemas.openxmlformats.org/drawingml/2006/main">
              <a:ext uri="{FF2B5EF4-FFF2-40B4-BE49-F238E27FC236}">
                <a16:creationId xmlns:a16="http://schemas.microsoft.com/office/drawing/2014/main" id="{50E6E112-9387-4882-802C-901BCBD6B5CE}"/>
              </a:ext>
            </a:extLst>
          </p:cNvPr>
          <p:cNvSpPr>
            <a:spLocks xmlns:a="http://schemas.openxmlformats.org/drawingml/2006/main" noGrp="1"/>
          </p:cNvSpPr>
          <p:nvPr/>
        </p:nvSpPr>
        <p:spPr>
          <a:xfrm xmlns:a="http://schemas.openxmlformats.org/drawingml/2006/main">
            <a:off x="5846445" y="2724150"/>
            <a:ext cx="247650" cy="247650"/>
          </a:xfrm>
          <a:prstGeom xmlns:a="http://schemas.openxmlformats.org/drawingml/2006/main" prst="roundRect">
            <a:avLst>
              <a:gd name="adj" fmla="val 50000"/>
            </a:avLst>
          </a:prstGeom>
          <a:solidFill xmlns:a="http://schemas.openxmlformats.org/drawingml/2006/main">
            <a:srgbClr val="2E74B5"/>
          </a:solidFill>
          <a:ln xmlns:a="http://schemas.openxmlformats.org/drawingml/2006/main" w="0">
            <a:noFill/>
            <a:prstDash val="solid"/>
          </a:ln>
        </p:spPr>
      </p:sp>
      <p:sp>
        <p:nvSpPr>
          <p:cNvPr id="24" name="part-chipno-2">
            <a:extLst xmlns:a="http://schemas.openxmlformats.org/drawingml/2006/main">
              <a:ext uri="{FF2B5EF4-FFF2-40B4-BE49-F238E27FC236}">
                <a16:creationId xmlns:a16="http://schemas.microsoft.com/office/drawing/2014/main" id="{A883D65F-1A4C-4942-A2C9-7DD4C7A69AD4}"/>
              </a:ext>
            </a:extLst>
          </p:cNvPr>
          <p:cNvSpPr>
            <a:spLocks xmlns:a="http://schemas.openxmlformats.org/drawingml/2006/main" noGrp="1"/>
          </p:cNvSpPr>
          <p:nvPr/>
        </p:nvSpPr>
        <p:spPr>
          <a:xfrm xmlns:a="http://schemas.openxmlformats.org/drawingml/2006/main">
            <a:off x="5846445" y="2771775"/>
            <a:ext cx="247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900" b="1">
                <a:solidFill>
                  <a:srgbClr val="FFFFFF"/>
                </a:solidFill>
                <a:latin typeface="Arial"/>
                <a:ea typeface="Arial"/>
                <a:cs typeface="Arial"/>
              </a:defRPr>
            </a:pPr>
            <a:r>
              <a:rPr sz="900" b="1">
                <a:solidFill>
                  <a:srgbClr val="FFFFFF"/>
                </a:solidFill>
                <a:latin typeface="Arial"/>
                <a:ea typeface="Arial"/>
                <a:cs typeface="Arial"/>
              </a:rPr>
              <a:t>3</a:t>
            </a:r>
          </a:p>
        </p:txBody>
      </p:sp>
      <p:sp>
        <p:nvSpPr>
          <p:cNvPr id="25" name="part-lchip-2">
            <a:extLst xmlns:a="http://schemas.openxmlformats.org/drawingml/2006/main">
              <a:ext uri="{FF2B5EF4-FFF2-40B4-BE49-F238E27FC236}">
                <a16:creationId xmlns:a16="http://schemas.microsoft.com/office/drawing/2014/main" id="{42F032AC-C8BD-49EE-93F8-A2BB2E88205F}"/>
              </a:ext>
            </a:extLst>
          </p:cNvPr>
          <p:cNvSpPr>
            <a:spLocks xmlns:a="http://schemas.openxmlformats.org/drawingml/2006/main" noGrp="1"/>
          </p:cNvSpPr>
          <p:nvPr/>
        </p:nvSpPr>
        <p:spPr>
          <a:xfrm xmlns:a="http://schemas.openxmlformats.org/drawingml/2006/main">
            <a:off x="4970145" y="3028950"/>
            <a:ext cx="209550" cy="209550"/>
          </a:xfrm>
          <a:prstGeom xmlns:a="http://schemas.openxmlformats.org/drawingml/2006/main" prst="roundRect">
            <a:avLst>
              <a:gd name="adj" fmla="val 50000"/>
            </a:avLst>
          </a:prstGeom>
          <a:solidFill xmlns:a="http://schemas.openxmlformats.org/drawingml/2006/main">
            <a:srgbClr val="2E74B5"/>
          </a:solidFill>
          <a:ln xmlns:a="http://schemas.openxmlformats.org/drawingml/2006/main" w="0">
            <a:noFill/>
            <a:prstDash val="solid"/>
          </a:ln>
        </p:spPr>
      </p:sp>
      <p:sp>
        <p:nvSpPr>
          <p:cNvPr id="26" name="part-lchipno-2">
            <a:extLst xmlns:a="http://schemas.openxmlformats.org/drawingml/2006/main">
              <a:ext uri="{FF2B5EF4-FFF2-40B4-BE49-F238E27FC236}">
                <a16:creationId xmlns:a16="http://schemas.microsoft.com/office/drawing/2014/main" id="{7D6949CB-F6AA-4D0D-BCC4-32A817DFF50D}"/>
              </a:ext>
            </a:extLst>
          </p:cNvPr>
          <p:cNvSpPr>
            <a:spLocks xmlns:a="http://schemas.openxmlformats.org/drawingml/2006/main" noGrp="1"/>
          </p:cNvSpPr>
          <p:nvPr/>
        </p:nvSpPr>
        <p:spPr>
          <a:xfrm xmlns:a="http://schemas.openxmlformats.org/drawingml/2006/main">
            <a:off x="4970145" y="3067050"/>
            <a:ext cx="209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900" b="1">
                <a:solidFill>
                  <a:srgbClr val="FFFFFF"/>
                </a:solidFill>
                <a:latin typeface="Arial"/>
                <a:ea typeface="Arial"/>
                <a:cs typeface="Arial"/>
              </a:defRPr>
            </a:pPr>
            <a:r>
              <a:rPr sz="900" b="1">
                <a:solidFill>
                  <a:srgbClr val="FFFFFF"/>
                </a:solidFill>
                <a:latin typeface="Arial"/>
                <a:ea typeface="Arial"/>
                <a:cs typeface="Arial"/>
              </a:rPr>
              <a:t>3</a:t>
            </a:r>
          </a:p>
        </p:txBody>
      </p:sp>
      <p:sp>
        <p:nvSpPr>
          <p:cNvPr id="27" name="part-head-2">
            <a:extLst xmlns:a="http://schemas.openxmlformats.org/drawingml/2006/main">
              <a:ext uri="{FF2B5EF4-FFF2-40B4-BE49-F238E27FC236}">
                <a16:creationId xmlns:a16="http://schemas.microsoft.com/office/drawing/2014/main" id="{660E65CF-E25D-48E7-9358-3A4CFBF0950C}"/>
              </a:ext>
            </a:extLst>
          </p:cNvPr>
          <p:cNvSpPr>
            <a:spLocks xmlns:a="http://schemas.openxmlformats.org/drawingml/2006/main" noGrp="1"/>
          </p:cNvSpPr>
          <p:nvPr/>
        </p:nvSpPr>
        <p:spPr>
          <a:xfrm xmlns:a="http://schemas.openxmlformats.org/drawingml/2006/main">
            <a:off x="5274945" y="3009900"/>
            <a:ext cx="1695450" cy="284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At least</a:t>
            </a:r>
          </a:p>
        </p:txBody>
      </p:sp>
      <p:sp>
        <p:nvSpPr>
          <p:cNvPr id="28" name="part-body-2">
            <a:extLst xmlns:a="http://schemas.openxmlformats.org/drawingml/2006/main">
              <a:ext uri="{FF2B5EF4-FFF2-40B4-BE49-F238E27FC236}">
                <a16:creationId xmlns:a16="http://schemas.microsoft.com/office/drawing/2014/main" id="{3CD3C78B-2FCE-4BF7-ADF0-69AB9C7F1DE3}"/>
              </a:ext>
            </a:extLst>
          </p:cNvPr>
          <p:cNvSpPr>
            <a:spLocks xmlns:a="http://schemas.openxmlformats.org/drawingml/2006/main" noGrp="1"/>
          </p:cNvSpPr>
          <p:nvPr/>
        </p:nvSpPr>
        <p:spPr>
          <a:xfrm xmlns:a="http://schemas.openxmlformats.org/drawingml/2006/main">
            <a:off x="4970145" y="3390138"/>
            <a:ext cx="2000250" cy="4107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200" b="0">
                <a:solidFill>
                  <a:srgbClr val="5A5F66"/>
                </a:solidFill>
                <a:latin typeface="Arial"/>
                <a:ea typeface="Arial"/>
                <a:cs typeface="Arial"/>
              </a:defRPr>
            </a:pPr>
            <a:r>
              <a:rPr sz="1200" b="0">
                <a:solidFill>
                  <a:srgbClr val="5A5F66"/>
                </a:solidFill>
                <a:latin typeface="Arial"/>
                <a:ea typeface="Arial"/>
                <a:cs typeface="Arial"/>
              </a:rPr>
              <a:t>Includes the boundary value. Plain &gt; would reject 40.0.</a:t>
            </a:r>
          </a:p>
        </p:txBody>
      </p:sp>
      <p:sp>
        <p:nvSpPr>
          <p:cNvPr id="29" name="">
            <a:extLst xmlns:a="http://schemas.openxmlformats.org/drawingml/2006/main">
              <a:ext uri="{FF2B5EF4-FFF2-40B4-BE49-F238E27FC236}">
                <a16:creationId xmlns:a16="http://schemas.microsoft.com/office/drawing/2014/main" id="{6EDB2838-3EAE-4363-B217-2A1D21A327E2}"/>
              </a:ext>
            </a:extLst>
          </p:cNvPr>
          <p:cNvSpPr>
            <a:spLocks xmlns:a="http://schemas.openxmlformats.org/drawingml/2006/main" noGrp="1"/>
          </p:cNvSpPr>
          <p:nvPr/>
        </p:nvSpPr>
        <p:spPr>
          <a:xfrm xmlns:a="http://schemas.openxmlformats.org/drawingml/2006/main">
            <a:off x="6473190" y="2647950"/>
            <a:ext cx="2514600" cy="0"/>
          </a:xfrm>
          <a:prstGeom xmlns:a="http://schemas.openxmlformats.org/drawingml/2006/main" prst="line">
            <a:avLst/>
          </a:prstGeom>
          <a:noFill xmlns:a="http://schemas.openxmlformats.org/drawingml/2006/main"/>
          <a:ln xmlns:a="http://schemas.openxmlformats.org/drawingml/2006/main" w="28575">
            <a:solidFill>
              <a:srgbClr val="2E74B5"/>
            </a:solidFill>
            <a:prstDash val="solid"/>
          </a:ln>
        </p:spPr>
      </p:sp>
      <p:sp>
        <p:nvSpPr>
          <p:cNvPr id="30" name="part-chip-3">
            <a:extLst xmlns:a="http://schemas.openxmlformats.org/drawingml/2006/main">
              <a:ext uri="{FF2B5EF4-FFF2-40B4-BE49-F238E27FC236}">
                <a16:creationId xmlns:a16="http://schemas.microsoft.com/office/drawing/2014/main" id="{9EFE5987-9510-47A5-96E8-74A62CA4E2B8}"/>
              </a:ext>
            </a:extLst>
          </p:cNvPr>
          <p:cNvSpPr>
            <a:spLocks xmlns:a="http://schemas.openxmlformats.org/drawingml/2006/main" noGrp="1"/>
          </p:cNvSpPr>
          <p:nvPr/>
        </p:nvSpPr>
        <p:spPr>
          <a:xfrm xmlns:a="http://schemas.openxmlformats.org/drawingml/2006/main">
            <a:off x="7606665" y="2724150"/>
            <a:ext cx="247650" cy="247650"/>
          </a:xfrm>
          <a:prstGeom xmlns:a="http://schemas.openxmlformats.org/drawingml/2006/main" prst="roundRect">
            <a:avLst>
              <a:gd name="adj" fmla="val 50000"/>
            </a:avLst>
          </a:prstGeom>
          <a:solidFill xmlns:a="http://schemas.openxmlformats.org/drawingml/2006/main">
            <a:srgbClr val="2E74B5"/>
          </a:solidFill>
          <a:ln xmlns:a="http://schemas.openxmlformats.org/drawingml/2006/main" w="0">
            <a:noFill/>
            <a:prstDash val="solid"/>
          </a:ln>
        </p:spPr>
      </p:sp>
      <p:sp>
        <p:nvSpPr>
          <p:cNvPr id="31" name="part-chipno-3">
            <a:extLst xmlns:a="http://schemas.openxmlformats.org/drawingml/2006/main">
              <a:ext uri="{FF2B5EF4-FFF2-40B4-BE49-F238E27FC236}">
                <a16:creationId xmlns:a16="http://schemas.microsoft.com/office/drawing/2014/main" id="{28FB33F8-ECD6-4C79-A891-50E1575696CD}"/>
              </a:ext>
            </a:extLst>
          </p:cNvPr>
          <p:cNvSpPr>
            <a:spLocks xmlns:a="http://schemas.openxmlformats.org/drawingml/2006/main" noGrp="1"/>
          </p:cNvSpPr>
          <p:nvPr/>
        </p:nvSpPr>
        <p:spPr>
          <a:xfrm xmlns:a="http://schemas.openxmlformats.org/drawingml/2006/main">
            <a:off x="7606665" y="2771775"/>
            <a:ext cx="247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900" b="1">
                <a:solidFill>
                  <a:srgbClr val="FFFFFF"/>
                </a:solidFill>
                <a:latin typeface="Arial"/>
                <a:ea typeface="Arial"/>
                <a:cs typeface="Arial"/>
              </a:defRPr>
            </a:pPr>
            <a:r>
              <a:rPr sz="900" b="1">
                <a:solidFill>
                  <a:srgbClr val="FFFFFF"/>
                </a:solidFill>
                <a:latin typeface="Arial"/>
                <a:ea typeface="Arial"/>
                <a:cs typeface="Arial"/>
              </a:rPr>
              <a:t>4</a:t>
            </a:r>
          </a:p>
        </p:txBody>
      </p:sp>
      <p:sp>
        <p:nvSpPr>
          <p:cNvPr id="32" name="part-lchip-3">
            <a:extLst xmlns:a="http://schemas.openxmlformats.org/drawingml/2006/main">
              <a:ext uri="{FF2B5EF4-FFF2-40B4-BE49-F238E27FC236}">
                <a16:creationId xmlns:a16="http://schemas.microsoft.com/office/drawing/2014/main" id="{F7832FFB-78D9-445B-B49E-CE37651A2C8F}"/>
              </a:ext>
            </a:extLst>
          </p:cNvPr>
          <p:cNvSpPr>
            <a:spLocks xmlns:a="http://schemas.openxmlformats.org/drawingml/2006/main" noGrp="1"/>
          </p:cNvSpPr>
          <p:nvPr/>
        </p:nvSpPr>
        <p:spPr>
          <a:xfrm xmlns:a="http://schemas.openxmlformats.org/drawingml/2006/main">
            <a:off x="6730365" y="3896106"/>
            <a:ext cx="209550" cy="209550"/>
          </a:xfrm>
          <a:prstGeom xmlns:a="http://schemas.openxmlformats.org/drawingml/2006/main" prst="roundRect">
            <a:avLst>
              <a:gd name="adj" fmla="val 50000"/>
            </a:avLst>
          </a:prstGeom>
          <a:solidFill xmlns:a="http://schemas.openxmlformats.org/drawingml/2006/main">
            <a:srgbClr val="2E74B5"/>
          </a:solidFill>
          <a:ln xmlns:a="http://schemas.openxmlformats.org/drawingml/2006/main" w="0">
            <a:noFill/>
            <a:prstDash val="solid"/>
          </a:ln>
        </p:spPr>
      </p:sp>
      <p:sp>
        <p:nvSpPr>
          <p:cNvPr id="33" name="part-lchipno-3">
            <a:extLst xmlns:a="http://schemas.openxmlformats.org/drawingml/2006/main">
              <a:ext uri="{FF2B5EF4-FFF2-40B4-BE49-F238E27FC236}">
                <a16:creationId xmlns:a16="http://schemas.microsoft.com/office/drawing/2014/main" id="{1A5A5097-EACA-4012-A4F0-875C0BA58692}"/>
              </a:ext>
            </a:extLst>
          </p:cNvPr>
          <p:cNvSpPr>
            <a:spLocks xmlns:a="http://schemas.openxmlformats.org/drawingml/2006/main" noGrp="1"/>
          </p:cNvSpPr>
          <p:nvPr/>
        </p:nvSpPr>
        <p:spPr>
          <a:xfrm xmlns:a="http://schemas.openxmlformats.org/drawingml/2006/main">
            <a:off x="6730365" y="3934206"/>
            <a:ext cx="209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900" b="1">
                <a:solidFill>
                  <a:srgbClr val="FFFFFF"/>
                </a:solidFill>
                <a:latin typeface="Arial"/>
                <a:ea typeface="Arial"/>
                <a:cs typeface="Arial"/>
              </a:defRPr>
            </a:pPr>
            <a:r>
              <a:rPr sz="900" b="1">
                <a:solidFill>
                  <a:srgbClr val="FFFFFF"/>
                </a:solidFill>
                <a:latin typeface="Arial"/>
                <a:ea typeface="Arial"/>
                <a:cs typeface="Arial"/>
              </a:rPr>
              <a:t>4</a:t>
            </a:r>
          </a:p>
        </p:txBody>
      </p:sp>
      <p:sp>
        <p:nvSpPr>
          <p:cNvPr id="34" name="part-head-3">
            <a:extLst xmlns:a="http://schemas.openxmlformats.org/drawingml/2006/main">
              <a:ext uri="{FF2B5EF4-FFF2-40B4-BE49-F238E27FC236}">
                <a16:creationId xmlns:a16="http://schemas.microsoft.com/office/drawing/2014/main" id="{6EFD6056-A05D-49B0-8868-FEF021AF0F20}"/>
              </a:ext>
            </a:extLst>
          </p:cNvPr>
          <p:cNvSpPr>
            <a:spLocks xmlns:a="http://schemas.openxmlformats.org/drawingml/2006/main" noGrp="1"/>
          </p:cNvSpPr>
          <p:nvPr/>
        </p:nvSpPr>
        <p:spPr>
          <a:xfrm xmlns:a="http://schemas.openxmlformats.org/drawingml/2006/main">
            <a:off x="7035165" y="3877056"/>
            <a:ext cx="1695450" cy="284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The threshold</a:t>
            </a:r>
          </a:p>
        </p:txBody>
      </p:sp>
      <p:sp>
        <p:nvSpPr>
          <p:cNvPr id="35" name="part-body-3">
            <a:extLst xmlns:a="http://schemas.openxmlformats.org/drawingml/2006/main">
              <a:ext uri="{FF2B5EF4-FFF2-40B4-BE49-F238E27FC236}">
                <a16:creationId xmlns:a16="http://schemas.microsoft.com/office/drawing/2014/main" id="{65C5B3F1-3B27-4A9A-958C-95859892BF22}"/>
              </a:ext>
            </a:extLst>
          </p:cNvPr>
          <p:cNvSpPr>
            <a:spLocks xmlns:a="http://schemas.openxmlformats.org/drawingml/2006/main" noGrp="1"/>
          </p:cNvSpPr>
          <p:nvPr/>
        </p:nvSpPr>
        <p:spPr>
          <a:xfrm xmlns:a="http://schemas.openxmlformats.org/drawingml/2006/main">
            <a:off x="6730365" y="4257294"/>
            <a:ext cx="2000250" cy="4107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200" b="0">
                <a:solidFill>
                  <a:srgbClr val="5A5F66"/>
                </a:solidFill>
                <a:latin typeface="Arial"/>
                <a:ea typeface="Arial"/>
                <a:cs typeface="Arial"/>
              </a:defRPr>
            </a:pPr>
            <a:r>
              <a:rPr sz="1200" b="0">
                <a:solidFill>
                  <a:srgbClr val="5A5F66"/>
                </a:solidFill>
                <a:latin typeface="Arial"/>
                <a:ea typeface="Arial"/>
                <a:cs typeface="Arial"/>
              </a:rPr>
              <a:t>Named once, so the policy is visible and easy to change.</a:t>
            </a:r>
          </a:p>
        </p:txBody>
      </p:sp>
      <p:sp>
        <p:nvSpPr>
          <p:cNvPr id="36" name="">
            <a:extLst xmlns:a="http://schemas.openxmlformats.org/drawingml/2006/main">
              <a:ext uri="{FF2B5EF4-FFF2-40B4-BE49-F238E27FC236}">
                <a16:creationId xmlns:a16="http://schemas.microsoft.com/office/drawing/2014/main" id="{36A793BE-983F-4D74-B706-C7C2B4A804E4}"/>
              </a:ext>
            </a:extLst>
          </p:cNvPr>
          <p:cNvSpPr>
            <a:spLocks xmlns:a="http://schemas.openxmlformats.org/drawingml/2006/main" noGrp="1"/>
          </p:cNvSpPr>
          <p:nvPr/>
        </p:nvSpPr>
        <p:spPr>
          <a:xfrm xmlns:a="http://schemas.openxmlformats.org/drawingml/2006/main">
            <a:off x="8987790" y="2647950"/>
            <a:ext cx="251460" cy="0"/>
          </a:xfrm>
          <a:prstGeom xmlns:a="http://schemas.openxmlformats.org/drawingml/2006/main" prst="line">
            <a:avLst/>
          </a:prstGeom>
          <a:noFill xmlns:a="http://schemas.openxmlformats.org/drawingml/2006/main"/>
          <a:ln xmlns:a="http://schemas.openxmlformats.org/drawingml/2006/main" w="28575">
            <a:solidFill>
              <a:srgbClr val="2E74B5"/>
            </a:solidFill>
            <a:prstDash val="solid"/>
          </a:ln>
        </p:spPr>
      </p:sp>
      <p:sp>
        <p:nvSpPr>
          <p:cNvPr id="37" name="part-chip-4">
            <a:extLst xmlns:a="http://schemas.openxmlformats.org/drawingml/2006/main">
              <a:ext uri="{FF2B5EF4-FFF2-40B4-BE49-F238E27FC236}">
                <a16:creationId xmlns:a16="http://schemas.microsoft.com/office/drawing/2014/main" id="{5CFCF306-6A60-4796-8DE1-CBB219110545}"/>
              </a:ext>
            </a:extLst>
          </p:cNvPr>
          <p:cNvSpPr>
            <a:spLocks xmlns:a="http://schemas.openxmlformats.org/drawingml/2006/main" noGrp="1"/>
          </p:cNvSpPr>
          <p:nvPr/>
        </p:nvSpPr>
        <p:spPr>
          <a:xfrm xmlns:a="http://schemas.openxmlformats.org/drawingml/2006/main">
            <a:off x="8989695" y="2724150"/>
            <a:ext cx="247650" cy="247650"/>
          </a:xfrm>
          <a:prstGeom xmlns:a="http://schemas.openxmlformats.org/drawingml/2006/main" prst="roundRect">
            <a:avLst>
              <a:gd name="adj" fmla="val 50000"/>
            </a:avLst>
          </a:prstGeom>
          <a:solidFill xmlns:a="http://schemas.openxmlformats.org/drawingml/2006/main">
            <a:srgbClr val="2E74B5"/>
          </a:solidFill>
          <a:ln xmlns:a="http://schemas.openxmlformats.org/drawingml/2006/main" w="0">
            <a:noFill/>
            <a:prstDash val="solid"/>
          </a:ln>
        </p:spPr>
      </p:sp>
      <p:sp>
        <p:nvSpPr>
          <p:cNvPr id="38" name="part-chipno-4">
            <a:extLst xmlns:a="http://schemas.openxmlformats.org/drawingml/2006/main">
              <a:ext uri="{FF2B5EF4-FFF2-40B4-BE49-F238E27FC236}">
                <a16:creationId xmlns:a16="http://schemas.microsoft.com/office/drawing/2014/main" id="{C6AE3472-6130-4523-9514-D55B4D8FD4B7}"/>
              </a:ext>
            </a:extLst>
          </p:cNvPr>
          <p:cNvSpPr>
            <a:spLocks xmlns:a="http://schemas.openxmlformats.org/drawingml/2006/main" noGrp="1"/>
          </p:cNvSpPr>
          <p:nvPr/>
        </p:nvSpPr>
        <p:spPr>
          <a:xfrm xmlns:a="http://schemas.openxmlformats.org/drawingml/2006/main">
            <a:off x="8989695" y="2771775"/>
            <a:ext cx="247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900" b="1">
                <a:solidFill>
                  <a:srgbClr val="FFFFFF"/>
                </a:solidFill>
                <a:latin typeface="Arial"/>
                <a:ea typeface="Arial"/>
                <a:cs typeface="Arial"/>
              </a:defRPr>
            </a:pPr>
            <a:r>
              <a:rPr sz="900" b="1">
                <a:solidFill>
                  <a:srgbClr val="FFFFFF"/>
                </a:solidFill>
                <a:latin typeface="Arial"/>
                <a:ea typeface="Arial"/>
                <a:cs typeface="Arial"/>
              </a:rPr>
              <a:t>5</a:t>
            </a:r>
          </a:p>
        </p:txBody>
      </p:sp>
      <p:sp>
        <p:nvSpPr>
          <p:cNvPr id="39" name="part-lchip-4">
            <a:extLst xmlns:a="http://schemas.openxmlformats.org/drawingml/2006/main">
              <a:ext uri="{FF2B5EF4-FFF2-40B4-BE49-F238E27FC236}">
                <a16:creationId xmlns:a16="http://schemas.microsoft.com/office/drawing/2014/main" id="{FE6E4DA4-AFB0-4194-8AC9-D72FAB24BCF3}"/>
              </a:ext>
            </a:extLst>
          </p:cNvPr>
          <p:cNvSpPr>
            <a:spLocks xmlns:a="http://schemas.openxmlformats.org/drawingml/2006/main" noGrp="1"/>
          </p:cNvSpPr>
          <p:nvPr/>
        </p:nvSpPr>
        <p:spPr>
          <a:xfrm xmlns:a="http://schemas.openxmlformats.org/drawingml/2006/main">
            <a:off x="8113395" y="3028950"/>
            <a:ext cx="209550" cy="209550"/>
          </a:xfrm>
          <a:prstGeom xmlns:a="http://schemas.openxmlformats.org/drawingml/2006/main" prst="roundRect">
            <a:avLst>
              <a:gd name="adj" fmla="val 50000"/>
            </a:avLst>
          </a:prstGeom>
          <a:solidFill xmlns:a="http://schemas.openxmlformats.org/drawingml/2006/main">
            <a:srgbClr val="2E74B5"/>
          </a:solidFill>
          <a:ln xmlns:a="http://schemas.openxmlformats.org/drawingml/2006/main" w="0">
            <a:noFill/>
            <a:prstDash val="solid"/>
          </a:ln>
        </p:spPr>
      </p:sp>
      <p:sp>
        <p:nvSpPr>
          <p:cNvPr id="40" name="part-lchipno-4">
            <a:extLst xmlns:a="http://schemas.openxmlformats.org/drawingml/2006/main">
              <a:ext uri="{FF2B5EF4-FFF2-40B4-BE49-F238E27FC236}">
                <a16:creationId xmlns:a16="http://schemas.microsoft.com/office/drawing/2014/main" id="{18FAD390-F76E-4ABD-9B7B-A533C7AEF9A5}"/>
              </a:ext>
            </a:extLst>
          </p:cNvPr>
          <p:cNvSpPr>
            <a:spLocks xmlns:a="http://schemas.openxmlformats.org/drawingml/2006/main" noGrp="1"/>
          </p:cNvSpPr>
          <p:nvPr/>
        </p:nvSpPr>
        <p:spPr>
          <a:xfrm xmlns:a="http://schemas.openxmlformats.org/drawingml/2006/main">
            <a:off x="8113395" y="3067050"/>
            <a:ext cx="209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900" b="1">
                <a:solidFill>
                  <a:srgbClr val="FFFFFF"/>
                </a:solidFill>
                <a:latin typeface="Arial"/>
                <a:ea typeface="Arial"/>
                <a:cs typeface="Arial"/>
              </a:defRPr>
            </a:pPr>
            <a:r>
              <a:rPr sz="900" b="1">
                <a:solidFill>
                  <a:srgbClr val="FFFFFF"/>
                </a:solidFill>
                <a:latin typeface="Arial"/>
                <a:ea typeface="Arial"/>
                <a:cs typeface="Arial"/>
              </a:rPr>
              <a:t>5</a:t>
            </a:r>
          </a:p>
        </p:txBody>
      </p:sp>
      <p:sp>
        <p:nvSpPr>
          <p:cNvPr id="41" name="part-head-4">
            <a:extLst xmlns:a="http://schemas.openxmlformats.org/drawingml/2006/main">
              <a:ext uri="{FF2B5EF4-FFF2-40B4-BE49-F238E27FC236}">
                <a16:creationId xmlns:a16="http://schemas.microsoft.com/office/drawing/2014/main" id="{41BE14C2-811E-4B13-BB52-0682877AC1A0}"/>
              </a:ext>
            </a:extLst>
          </p:cNvPr>
          <p:cNvSpPr>
            <a:spLocks xmlns:a="http://schemas.openxmlformats.org/drawingml/2006/main" noGrp="1"/>
          </p:cNvSpPr>
          <p:nvPr/>
        </p:nvSpPr>
        <p:spPr>
          <a:xfrm xmlns:a="http://schemas.openxmlformats.org/drawingml/2006/main">
            <a:off x="8418195" y="3009900"/>
            <a:ext cx="1695450" cy="284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The colon</a:t>
            </a:r>
          </a:p>
        </p:txBody>
      </p:sp>
      <p:sp>
        <p:nvSpPr>
          <p:cNvPr id="42" name="part-body-4">
            <a:extLst xmlns:a="http://schemas.openxmlformats.org/drawingml/2006/main">
              <a:ext uri="{FF2B5EF4-FFF2-40B4-BE49-F238E27FC236}">
                <a16:creationId xmlns:a16="http://schemas.microsoft.com/office/drawing/2014/main" id="{58055F04-1402-43AF-A5D6-AA8545A94D80}"/>
              </a:ext>
            </a:extLst>
          </p:cNvPr>
          <p:cNvSpPr>
            <a:spLocks xmlns:a="http://schemas.openxmlformats.org/drawingml/2006/main" noGrp="1"/>
          </p:cNvSpPr>
          <p:nvPr/>
        </p:nvSpPr>
        <p:spPr>
          <a:xfrm xmlns:a="http://schemas.openxmlformats.org/drawingml/2006/main">
            <a:off x="8113395" y="3390138"/>
            <a:ext cx="2000250" cy="4107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200" b="0">
                <a:solidFill>
                  <a:srgbClr val="5A5F66"/>
                </a:solidFill>
                <a:latin typeface="Arial"/>
                <a:ea typeface="Arial"/>
                <a:cs typeface="Arial"/>
              </a:defRPr>
            </a:pPr>
            <a:r>
              <a:rPr sz="1200" b="0">
                <a:solidFill>
                  <a:srgbClr val="5A5F66"/>
                </a:solidFill>
                <a:latin typeface="Arial"/>
                <a:ea typeface="Arial"/>
                <a:cs typeface="Arial"/>
              </a:rPr>
              <a:t>Opens the indented block that runs when True.</a:t>
            </a:r>
          </a:p>
        </p:txBody>
      </p:sp>
    </p:spTree>
    <p:extLst>
      <p:ext uri="{BB962C8B-B14F-4D97-AF65-F5344CB8AC3E}">
        <p14:creationId xmlns:p14="http://schemas.microsoft.com/office/powerpoint/2010/main" val="1785784706"/>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kicker">
            <a:extLst xmlns:a="http://schemas.openxmlformats.org/drawingml/2006/main">
              <a:ext uri="{FF2B5EF4-FFF2-40B4-BE49-F238E27FC236}">
                <a16:creationId xmlns:a16="http://schemas.microsoft.com/office/drawing/2014/main" id="{F6A53D07-BCD4-4FAA-9C4C-DDEE32FA8D3F}"/>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PYTHON SYNTAX</a:t>
            </a:r>
          </a:p>
        </p:txBody>
      </p:sp>
      <p:sp>
        <p:nvSpPr>
          <p:cNvPr id="2" name="title">
            <a:extLst xmlns:a="http://schemas.openxmlformats.org/drawingml/2006/main">
              <a:ext uri="{FF2B5EF4-FFF2-40B4-BE49-F238E27FC236}">
                <a16:creationId xmlns:a16="http://schemas.microsoft.com/office/drawing/2014/main" id="{00AAF911-D999-4E4C-9D52-D2FF3F9AC505}"/>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if executes a block only when its condition is true</a:t>
            </a:r>
          </a:p>
        </p:txBody>
      </p:sp>
      <p:sp>
        <p:nvSpPr>
          <p:cNvPr id="3" name="">
            <a:extLst xmlns:a="http://schemas.openxmlformats.org/drawingml/2006/main">
              <a:ext uri="{FF2B5EF4-FFF2-40B4-BE49-F238E27FC236}">
                <a16:creationId xmlns:a16="http://schemas.microsoft.com/office/drawing/2014/main" id="{5D783BDB-2760-4B64-9C9A-A35A8BC105F3}"/>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4E087EF0-751A-4CD1-8AAE-54D4774CEB5D}"/>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3 · Meeting A · Decisions and Functions · Full Source Deck</a:t>
            </a:r>
          </a:p>
        </p:txBody>
      </p:sp>
      <p:sp>
        <p:nvSpPr>
          <p:cNvPr id="5" name="page">
            <a:extLst xmlns:a="http://schemas.openxmlformats.org/drawingml/2006/main">
              <a:ext uri="{FF2B5EF4-FFF2-40B4-BE49-F238E27FC236}">
                <a16:creationId xmlns:a16="http://schemas.microsoft.com/office/drawing/2014/main" id="{1275F148-1CBB-459D-AC75-20B2D1CD4BD6}"/>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12</a:t>
            </a:r>
          </a:p>
        </p:txBody>
      </p:sp>
      <p:sp>
        <p:nvSpPr>
          <p:cNvPr id="6" name="code-panel">
            <a:extLst xmlns:a="http://schemas.openxmlformats.org/drawingml/2006/main">
              <a:ext uri="{FF2B5EF4-FFF2-40B4-BE49-F238E27FC236}">
                <a16:creationId xmlns:a16="http://schemas.microsoft.com/office/drawing/2014/main" id="{3288F05E-E9A2-41BA-BD90-5BB150FA9B4C}"/>
              </a:ext>
            </a:extLst>
          </p:cNvPr>
          <p:cNvSpPr>
            <a:spLocks xmlns:a="http://schemas.openxmlformats.org/drawingml/2006/main" noGrp="1"/>
          </p:cNvSpPr>
          <p:nvPr/>
        </p:nvSpPr>
        <p:spPr>
          <a:xfrm xmlns:a="http://schemas.openxmlformats.org/drawingml/2006/main">
            <a:off x="609600" y="1809750"/>
            <a:ext cx="6896100" cy="4267200"/>
          </a:xfrm>
          <a:prstGeom xmlns:a="http://schemas.openxmlformats.org/drawingml/2006/main" prst="roundRect">
            <a:avLst>
              <a:gd name="adj" fmla="val 1786"/>
            </a:avLst>
          </a:prstGeom>
          <a:solidFill xmlns:a="http://schemas.openxmlformats.org/drawingml/2006/main">
            <a:srgbClr val="17191C"/>
          </a:solidFill>
          <a:ln xmlns:a="http://schemas.openxmlformats.org/drawingml/2006/main" w="9525">
            <a:solidFill>
              <a:srgbClr val="17191C"/>
            </a:solidFill>
            <a:prstDash val="solid"/>
          </a:ln>
        </p:spPr>
      </p:sp>
      <p:sp>
        <p:nvSpPr>
          <p:cNvPr id="7" name="code">
            <a:extLst xmlns:a="http://schemas.openxmlformats.org/drawingml/2006/main">
              <a:ext uri="{FF2B5EF4-FFF2-40B4-BE49-F238E27FC236}">
                <a16:creationId xmlns:a16="http://schemas.microsoft.com/office/drawing/2014/main" id="{E4BA26A7-C596-45A0-86CF-D25076D51F14}"/>
              </a:ext>
            </a:extLst>
          </p:cNvPr>
          <p:cNvSpPr>
            <a:spLocks xmlns:a="http://schemas.openxmlformats.org/drawingml/2006/main" noGrp="1"/>
          </p:cNvSpPr>
          <p:nvPr/>
        </p:nvSpPr>
        <p:spPr>
          <a:xfrm xmlns:a="http://schemas.openxmlformats.org/drawingml/2006/main">
            <a:off x="857250" y="2057400"/>
            <a:ext cx="6400800" cy="314096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area_m2 = 44.2</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minimum_m2 = 40.0</a:t>
            </a:r>
          </a:p>
          <a:p xmlns:a="http://schemas.openxmlformats.org/drawingml/2006/main">
            <a:r>
              <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if area_m2 &gt;= minimum_m2:</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    print('meets area criterion')</a:t>
            </a:r>
          </a:p>
        </p:txBody>
      </p:sp>
      <p:sp>
        <p:nvSpPr>
          <p:cNvPr id="8" name="">
            <a:extLst xmlns:a="http://schemas.openxmlformats.org/drawingml/2006/main">
              <a:ext uri="{FF2B5EF4-FFF2-40B4-BE49-F238E27FC236}">
                <a16:creationId xmlns:a16="http://schemas.microsoft.com/office/drawing/2014/main" id="{E87A52A8-96F3-4CA9-BE05-EA85E8E9402C}"/>
              </a:ext>
            </a:extLst>
          </p:cNvPr>
          <p:cNvSpPr>
            <a:spLocks xmlns:a="http://schemas.openxmlformats.org/drawingml/2006/main" noGrp="1"/>
          </p:cNvSpPr>
          <p:nvPr/>
        </p:nvSpPr>
        <p:spPr>
          <a:xfrm xmlns:a="http://schemas.openxmlformats.org/drawingml/2006/main">
            <a:off x="857250" y="5255514"/>
            <a:ext cx="6400800" cy="0"/>
          </a:xfrm>
          <a:prstGeom xmlns:a="http://schemas.openxmlformats.org/drawingml/2006/main" prst="line">
            <a:avLst/>
          </a:prstGeom>
          <a:noFill xmlns:a="http://schemas.openxmlformats.org/drawingml/2006/main"/>
          <a:ln xmlns:a="http://schemas.openxmlformats.org/drawingml/2006/main" w="9525">
            <a:solidFill>
              <a:srgbClr val="4E5258"/>
            </a:solidFill>
            <a:prstDash val="solid"/>
          </a:ln>
        </p:spPr>
      </p:sp>
      <p:sp>
        <p:nvSpPr>
          <p:cNvPr id="9" name="output-label">
            <a:extLst xmlns:a="http://schemas.openxmlformats.org/drawingml/2006/main">
              <a:ext uri="{FF2B5EF4-FFF2-40B4-BE49-F238E27FC236}">
                <a16:creationId xmlns:a16="http://schemas.microsoft.com/office/drawing/2014/main" id="{971C0C56-8D7F-44DD-82AB-87016F10DB78}"/>
              </a:ext>
            </a:extLst>
          </p:cNvPr>
          <p:cNvSpPr>
            <a:spLocks xmlns:a="http://schemas.openxmlformats.org/drawingml/2006/main" noGrp="1"/>
          </p:cNvSpPr>
          <p:nvPr/>
        </p:nvSpPr>
        <p:spPr>
          <a:xfrm xmlns:a="http://schemas.openxmlformats.org/drawingml/2006/main">
            <a:off x="857250" y="5369814"/>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E8EEF5"/>
                </a:solidFill>
                <a:latin typeface="Arial"/>
                <a:ea typeface="Arial"/>
                <a:cs typeface="Arial"/>
              </a:defRPr>
            </a:pPr>
            <a:r>
              <a:rPr sz="900" b="1">
                <a:solidFill>
                  <a:srgbClr val="E8EEF5"/>
                </a:solidFill>
                <a:latin typeface="Arial"/>
                <a:ea typeface="Arial"/>
                <a:cs typeface="Arial"/>
              </a:rPr>
              <a:t>OUTPUT</a:t>
            </a:r>
          </a:p>
        </p:txBody>
      </p:sp>
      <p:sp>
        <p:nvSpPr>
          <p:cNvPr id="10" name="output">
            <a:extLst xmlns:a="http://schemas.openxmlformats.org/drawingml/2006/main">
              <a:ext uri="{FF2B5EF4-FFF2-40B4-BE49-F238E27FC236}">
                <a16:creationId xmlns:a16="http://schemas.microsoft.com/office/drawing/2014/main" id="{9E8C6044-B45F-4E23-8AFE-8D17264B1D81}"/>
              </a:ext>
            </a:extLst>
          </p:cNvPr>
          <p:cNvSpPr>
            <a:spLocks xmlns:a="http://schemas.openxmlformats.org/drawingml/2006/main" noGrp="1"/>
          </p:cNvSpPr>
          <p:nvPr/>
        </p:nvSpPr>
        <p:spPr>
          <a:xfrm xmlns:a="http://schemas.openxmlformats.org/drawingml/2006/main">
            <a:off x="857250" y="5598414"/>
            <a:ext cx="6400800" cy="2308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meets area criterion</a:t>
            </a:r>
          </a:p>
        </p:txBody>
      </p:sp>
      <p:sp>
        <p:nvSpPr>
          <p:cNvPr id="11" name="explain-head">
            <a:extLst xmlns:a="http://schemas.openxmlformats.org/drawingml/2006/main">
              <a:ext uri="{FF2B5EF4-FFF2-40B4-BE49-F238E27FC236}">
                <a16:creationId xmlns:a16="http://schemas.microsoft.com/office/drawing/2014/main" id="{6196CD10-9580-4E35-9A2D-F11DF81443B3}"/>
              </a:ext>
            </a:extLst>
          </p:cNvPr>
          <p:cNvSpPr>
            <a:spLocks xmlns:a="http://schemas.openxmlformats.org/drawingml/2006/main" noGrp="1"/>
          </p:cNvSpPr>
          <p:nvPr/>
        </p:nvSpPr>
        <p:spPr>
          <a:xfrm xmlns:a="http://schemas.openxmlformats.org/drawingml/2006/main">
            <a:off x="7886700" y="2762250"/>
            <a:ext cx="3695700" cy="63322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Colon and indentation define the block</a:t>
            </a:r>
          </a:p>
        </p:txBody>
      </p:sp>
      <p:sp>
        <p:nvSpPr>
          <p:cNvPr id="12" name="explain-body">
            <a:extLst xmlns:a="http://schemas.openxmlformats.org/drawingml/2006/main">
              <a:ext uri="{FF2B5EF4-FFF2-40B4-BE49-F238E27FC236}">
                <a16:creationId xmlns:a16="http://schemas.microsoft.com/office/drawing/2014/main" id="{5833B95C-4CE5-4B1B-85EA-18AAFD79A0C3}"/>
              </a:ext>
            </a:extLst>
          </p:cNvPr>
          <p:cNvSpPr>
            <a:spLocks xmlns:a="http://schemas.openxmlformats.org/drawingml/2006/main" noGrp="1"/>
          </p:cNvSpPr>
          <p:nvPr/>
        </p:nvSpPr>
        <p:spPr>
          <a:xfrm xmlns:a="http://schemas.openxmlformats.org/drawingml/2006/main">
            <a:off x="7886700" y="3547872"/>
            <a:ext cx="3695700" cy="9601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The condition follows if and ends with a colon. Indented statements belong to the branch. When the condition is False, the block is skipped.</a:t>
            </a:r>
          </a:p>
        </p:txBody>
      </p:sp>
    </p:spTree>
    <p:extLst>
      <p:ext uri="{BB962C8B-B14F-4D97-AF65-F5344CB8AC3E}">
        <p14:creationId xmlns:p14="http://schemas.microsoft.com/office/powerpoint/2010/main" val="173930781"/>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kicker">
            <a:extLst xmlns:a="http://schemas.openxmlformats.org/drawingml/2006/main">
              <a:ext uri="{FF2B5EF4-FFF2-40B4-BE49-F238E27FC236}">
                <a16:creationId xmlns:a16="http://schemas.microsoft.com/office/drawing/2014/main" id="{DA973FBF-7DD3-4E4C-9481-E7F04AB1DEEA}"/>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CONCEPT</a:t>
            </a:r>
          </a:p>
        </p:txBody>
      </p:sp>
      <p:sp>
        <p:nvSpPr>
          <p:cNvPr id="2" name="title">
            <a:extLst xmlns:a="http://schemas.openxmlformats.org/drawingml/2006/main">
              <a:ext uri="{FF2B5EF4-FFF2-40B4-BE49-F238E27FC236}">
                <a16:creationId xmlns:a16="http://schemas.microsoft.com/office/drawing/2014/main" id="{5C8B98BD-A5BC-459D-8DD8-7A352EC391FA}"/>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Read a conditional as evidence, policy, and action</a:t>
            </a:r>
          </a:p>
        </p:txBody>
      </p:sp>
      <p:sp>
        <p:nvSpPr>
          <p:cNvPr id="3" name="">
            <a:extLst xmlns:a="http://schemas.openxmlformats.org/drawingml/2006/main">
              <a:ext uri="{FF2B5EF4-FFF2-40B4-BE49-F238E27FC236}">
                <a16:creationId xmlns:a16="http://schemas.microsoft.com/office/drawing/2014/main" id="{47F5919C-D347-43AC-9D0B-F3901527CC2C}"/>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ACC2AD34-8390-41D2-B952-D0271EBACF23}"/>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3 · Meeting A · Decisions and Functions · Full Source Deck</a:t>
            </a:r>
          </a:p>
        </p:txBody>
      </p:sp>
      <p:sp>
        <p:nvSpPr>
          <p:cNvPr id="5" name="page">
            <a:extLst xmlns:a="http://schemas.openxmlformats.org/drawingml/2006/main">
              <a:ext uri="{FF2B5EF4-FFF2-40B4-BE49-F238E27FC236}">
                <a16:creationId xmlns:a16="http://schemas.microsoft.com/office/drawing/2014/main" id="{87C29B41-F2B0-46BB-AE5C-61BB7BF11020}"/>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13</a:t>
            </a:r>
          </a:p>
        </p:txBody>
      </p:sp>
      <p:sp>
        <p:nvSpPr>
          <p:cNvPr id="6" name="left-head">
            <a:extLst xmlns:a="http://schemas.openxmlformats.org/drawingml/2006/main">
              <a:ext uri="{FF2B5EF4-FFF2-40B4-BE49-F238E27FC236}">
                <a16:creationId xmlns:a16="http://schemas.microsoft.com/office/drawing/2014/main" id="{59E68F38-FF98-4E05-9D88-F90373A689DD}"/>
              </a:ext>
            </a:extLst>
          </p:cNvPr>
          <p:cNvSpPr>
            <a:spLocks xmlns:a="http://schemas.openxmlformats.org/drawingml/2006/main" noGrp="1"/>
          </p:cNvSpPr>
          <p:nvPr/>
        </p:nvSpPr>
        <p:spPr>
          <a:xfrm xmlns:a="http://schemas.openxmlformats.org/drawingml/2006/main">
            <a:off x="609600" y="2809875"/>
            <a:ext cx="5219700" cy="3451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Python structure</a:t>
            </a:r>
          </a:p>
        </p:txBody>
      </p:sp>
      <p:sp>
        <p:nvSpPr>
          <p:cNvPr id="7" name="left-body">
            <a:extLst xmlns:a="http://schemas.openxmlformats.org/drawingml/2006/main">
              <a:ext uri="{FF2B5EF4-FFF2-40B4-BE49-F238E27FC236}">
                <a16:creationId xmlns:a16="http://schemas.microsoft.com/office/drawing/2014/main" id="{2C739A6B-C3EC-44FE-AD9D-825EF98FDDE0}"/>
              </a:ext>
            </a:extLst>
          </p:cNvPr>
          <p:cNvSpPr>
            <a:spLocks xmlns:a="http://schemas.openxmlformats.org/drawingml/2006/main" noGrp="1"/>
          </p:cNvSpPr>
          <p:nvPr/>
        </p:nvSpPr>
        <p:spPr>
          <a:xfrm xmlns:a="http://schemas.openxmlformats.org/drawingml/2006/main">
            <a:off x="609600" y="3307461"/>
            <a:ext cx="5219700" cy="113690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5A5F66"/>
                </a:solidFill>
                <a:latin typeface="Arial"/>
                <a:ea typeface="Arial"/>
                <a:cs typeface="Arial"/>
              </a:defRPr>
            </a:pPr>
            <a:r>
              <a:rPr sz="1800" b="0">
                <a:solidFill>
                  <a:srgbClr val="5A5F66"/>
                </a:solidFill>
                <a:latin typeface="Arial"/>
                <a:ea typeface="Arial"/>
                <a:cs typeface="Arial"/>
              </a:rPr>
              <a:t>if condition:</a:t>
            </a:r>
          </a:p>
          <a:p xmlns:a="http://schemas.openxmlformats.org/drawingml/2006/main">
            <a:pPr algn="l">
              <a:lnSpc>
                <a:spcPct val="116000"/>
              </a:lnSpc>
              <a:buNone/>
              <a:defRPr sz="1800" b="0">
                <a:solidFill>
                  <a:srgbClr val="5A5F66"/>
                </a:solidFill>
                <a:latin typeface="Arial"/>
                <a:ea typeface="Arial"/>
                <a:cs typeface="Arial"/>
              </a:defRPr>
            </a:pPr>
            <a:r>
              <a:rPr sz="1800" b="0">
                <a:solidFill>
                  <a:srgbClr val="5A5F66"/>
                </a:solidFill>
                <a:latin typeface="Arial"/>
                <a:ea typeface="Arial"/>
                <a:cs typeface="Arial"/>
              </a:rPr>
              <a:t>    action</a:t>
            </a:r>
          </a:p>
          <a:p xmlns:a="http://schemas.openxmlformats.org/drawingml/2006/main">
            <a:r>
              <a:t/>
            </a:r>
          </a:p>
          <a:p xmlns:a="http://schemas.openxmlformats.org/drawingml/2006/main">
            <a:pPr algn="l">
              <a:lnSpc>
                <a:spcPct val="116000"/>
              </a:lnSpc>
              <a:buNone/>
              <a:defRPr sz="1800" b="0">
                <a:solidFill>
                  <a:srgbClr val="5A5F66"/>
                </a:solidFill>
                <a:latin typeface="Arial"/>
                <a:ea typeface="Arial"/>
                <a:cs typeface="Arial"/>
              </a:defRPr>
            </a:pPr>
            <a:r>
              <a:rPr sz="1800" b="0">
                <a:solidFill>
                  <a:srgbClr val="5A5F66"/>
                </a:solidFill>
                <a:latin typeface="Arial"/>
                <a:ea typeface="Arial"/>
                <a:cs typeface="Arial"/>
              </a:rPr>
              <a:t>The condition must evaluate to True or False.</a:t>
            </a:r>
          </a:p>
        </p:txBody>
      </p:sp>
      <p:sp>
        <p:nvSpPr>
          <p:cNvPr id="8" name="right-head">
            <a:extLst xmlns:a="http://schemas.openxmlformats.org/drawingml/2006/main">
              <a:ext uri="{FF2B5EF4-FFF2-40B4-BE49-F238E27FC236}">
                <a16:creationId xmlns:a16="http://schemas.microsoft.com/office/drawing/2014/main" id="{24D55EC2-ABAA-4CC7-A5B4-BCBDF2EE132A}"/>
              </a:ext>
            </a:extLst>
          </p:cNvPr>
          <p:cNvSpPr>
            <a:spLocks xmlns:a="http://schemas.openxmlformats.org/drawingml/2006/main" noGrp="1"/>
          </p:cNvSpPr>
          <p:nvPr/>
        </p:nvSpPr>
        <p:spPr>
          <a:xfrm xmlns:a="http://schemas.openxmlformats.org/drawingml/2006/main">
            <a:off x="6362700" y="2809875"/>
            <a:ext cx="5219700" cy="3451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Architectural reading</a:t>
            </a:r>
          </a:p>
        </p:txBody>
      </p:sp>
      <p:sp>
        <p:nvSpPr>
          <p:cNvPr id="9" name="right-body">
            <a:extLst xmlns:a="http://schemas.openxmlformats.org/drawingml/2006/main">
              <a:ext uri="{FF2B5EF4-FFF2-40B4-BE49-F238E27FC236}">
                <a16:creationId xmlns:a16="http://schemas.microsoft.com/office/drawing/2014/main" id="{087DA8D9-CF5F-48E9-84EF-9AC35EAEBCA9}"/>
              </a:ext>
            </a:extLst>
          </p:cNvPr>
          <p:cNvSpPr>
            <a:spLocks xmlns:a="http://schemas.openxmlformats.org/drawingml/2006/main" noGrp="1"/>
          </p:cNvSpPr>
          <p:nvPr/>
        </p:nvSpPr>
        <p:spPr>
          <a:xfrm xmlns:a="http://schemas.openxmlformats.org/drawingml/2006/main">
            <a:off x="6362700" y="3307461"/>
            <a:ext cx="5219700" cy="113690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5A5F66"/>
                </a:solidFill>
                <a:latin typeface="Arial"/>
                <a:ea typeface="Arial"/>
                <a:cs typeface="Arial"/>
              </a:defRPr>
            </a:pPr>
            <a:r>
              <a:rPr sz="1800" b="0">
                <a:solidFill>
                  <a:srgbClr val="5A5F66"/>
                </a:solidFill>
                <a:latin typeface="Arial"/>
                <a:ea typeface="Arial"/>
                <a:cs typeface="Arial"/>
              </a:rPr>
              <a:t>Evidence: room area</a:t>
            </a:r>
          </a:p>
          <a:p xmlns:a="http://schemas.openxmlformats.org/drawingml/2006/main">
            <a:pPr algn="l">
              <a:lnSpc>
                <a:spcPct val="116000"/>
              </a:lnSpc>
              <a:buNone/>
              <a:defRPr sz="1800" b="0">
                <a:solidFill>
                  <a:srgbClr val="5A5F66"/>
                </a:solidFill>
                <a:latin typeface="Arial"/>
                <a:ea typeface="Arial"/>
                <a:cs typeface="Arial"/>
              </a:defRPr>
            </a:pPr>
            <a:r>
              <a:rPr sz="1800" b="0">
                <a:solidFill>
                  <a:srgbClr val="5A5F66"/>
                </a:solidFill>
                <a:latin typeface="Arial"/>
                <a:ea typeface="Arial"/>
                <a:cs typeface="Arial"/>
              </a:rPr>
              <a:t>Policy: area ≥ 40 m²</a:t>
            </a:r>
          </a:p>
          <a:p xmlns:a="http://schemas.openxmlformats.org/drawingml/2006/main">
            <a:pPr algn="l">
              <a:lnSpc>
                <a:spcPct val="116000"/>
              </a:lnSpc>
              <a:buNone/>
              <a:defRPr sz="1800" b="0">
                <a:solidFill>
                  <a:srgbClr val="5A5F66"/>
                </a:solidFill>
                <a:latin typeface="Arial"/>
                <a:ea typeface="Arial"/>
                <a:cs typeface="Arial"/>
              </a:defRPr>
            </a:pPr>
            <a:r>
              <a:rPr sz="1800" b="0">
                <a:solidFill>
                  <a:srgbClr val="5A5F66"/>
                </a:solidFill>
                <a:latin typeface="Arial"/>
                <a:ea typeface="Arial"/>
                <a:cs typeface="Arial"/>
              </a:rPr>
              <a:t>Action: mark this criterion as met</a:t>
            </a:r>
          </a:p>
          <a:p xmlns:a="http://schemas.openxmlformats.org/drawingml/2006/main">
            <a:pPr algn="l">
              <a:lnSpc>
                <a:spcPct val="116000"/>
              </a:lnSpc>
              <a:buNone/>
              <a:defRPr sz="1800" b="0">
                <a:solidFill>
                  <a:srgbClr val="5A5F66"/>
                </a:solidFill>
                <a:latin typeface="Arial"/>
                <a:ea typeface="Arial"/>
                <a:cs typeface="Arial"/>
              </a:defRPr>
            </a:pPr>
            <a:r>
              <a:rPr sz="1800" b="0">
                <a:solidFill>
                  <a:srgbClr val="5A5F66"/>
                </a:solidFill>
                <a:latin typeface="Arial"/>
                <a:ea typeface="Arial"/>
                <a:cs typeface="Arial"/>
              </a:rPr>
              <a:t>Limit: no claim about overall room quality</a:t>
            </a:r>
          </a:p>
        </p:txBody>
      </p:sp>
    </p:spTree>
    <p:extLst>
      <p:ext uri="{BB962C8B-B14F-4D97-AF65-F5344CB8AC3E}">
        <p14:creationId xmlns:p14="http://schemas.microsoft.com/office/powerpoint/2010/main" val="39261124"/>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kicker">
            <a:extLst xmlns:a="http://schemas.openxmlformats.org/drawingml/2006/main">
              <a:ext uri="{FF2B5EF4-FFF2-40B4-BE49-F238E27FC236}">
                <a16:creationId xmlns:a16="http://schemas.microsoft.com/office/drawing/2014/main" id="{786E6974-93E7-479D-9775-7729BD5CCCF6}"/>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PREDICT BEFORE YOU RUN</a:t>
            </a:r>
          </a:p>
        </p:txBody>
      </p:sp>
      <p:sp>
        <p:nvSpPr>
          <p:cNvPr id="2" name="title">
            <a:extLst xmlns:a="http://schemas.openxmlformats.org/drawingml/2006/main">
              <a:ext uri="{FF2B5EF4-FFF2-40B4-BE49-F238E27FC236}">
                <a16:creationId xmlns:a16="http://schemas.microsoft.com/office/drawing/2014/main" id="{17BE3CCC-3090-4964-B1C9-643BD292BF9B}"/>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Commit to an answer before Python gives you one</a:t>
            </a:r>
          </a:p>
        </p:txBody>
      </p:sp>
      <p:sp>
        <p:nvSpPr>
          <p:cNvPr id="3" name="">
            <a:extLst xmlns:a="http://schemas.openxmlformats.org/drawingml/2006/main">
              <a:ext uri="{FF2B5EF4-FFF2-40B4-BE49-F238E27FC236}">
                <a16:creationId xmlns:a16="http://schemas.microsoft.com/office/drawing/2014/main" id="{C8EDD3F2-11C5-4DAF-A784-659F636EEAD6}"/>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03A02AED-4F7D-4408-B4A5-DA13B062D351}"/>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3 · Meeting A · Decisions and Functions · Full Source Deck</a:t>
            </a:r>
          </a:p>
        </p:txBody>
      </p:sp>
      <p:sp>
        <p:nvSpPr>
          <p:cNvPr id="5" name="page">
            <a:extLst xmlns:a="http://schemas.openxmlformats.org/drawingml/2006/main">
              <a:ext uri="{FF2B5EF4-FFF2-40B4-BE49-F238E27FC236}">
                <a16:creationId xmlns:a16="http://schemas.microsoft.com/office/drawing/2014/main" id="{46667B5E-8D70-4F1F-B072-DB22E191AFD1}"/>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14</a:t>
            </a:r>
          </a:p>
        </p:txBody>
      </p:sp>
      <p:sp>
        <p:nvSpPr>
          <p:cNvPr id="6" name="code-panel">
            <a:extLst xmlns:a="http://schemas.openxmlformats.org/drawingml/2006/main">
              <a:ext uri="{FF2B5EF4-FFF2-40B4-BE49-F238E27FC236}">
                <a16:creationId xmlns:a16="http://schemas.microsoft.com/office/drawing/2014/main" id="{0C6FBC14-6B11-4091-85DA-66DA60649476}"/>
              </a:ext>
            </a:extLst>
          </p:cNvPr>
          <p:cNvSpPr>
            <a:spLocks xmlns:a="http://schemas.openxmlformats.org/drawingml/2006/main" noGrp="1"/>
          </p:cNvSpPr>
          <p:nvPr/>
        </p:nvSpPr>
        <p:spPr>
          <a:xfrm xmlns:a="http://schemas.openxmlformats.org/drawingml/2006/main">
            <a:off x="609600" y="1809750"/>
            <a:ext cx="6324600" cy="3238500"/>
          </a:xfrm>
          <a:prstGeom xmlns:a="http://schemas.openxmlformats.org/drawingml/2006/main" prst="roundRect">
            <a:avLst>
              <a:gd name="adj" fmla="val 2353"/>
            </a:avLst>
          </a:prstGeom>
          <a:solidFill xmlns:a="http://schemas.openxmlformats.org/drawingml/2006/main">
            <a:srgbClr val="17191C"/>
          </a:solidFill>
          <a:ln xmlns:a="http://schemas.openxmlformats.org/drawingml/2006/main" w="9525">
            <a:solidFill>
              <a:srgbClr val="17191C"/>
            </a:solidFill>
            <a:prstDash val="solid"/>
          </a:ln>
        </p:spPr>
      </p:sp>
      <p:sp>
        <p:nvSpPr>
          <p:cNvPr id="7" name="code">
            <a:extLst xmlns:a="http://schemas.openxmlformats.org/drawingml/2006/main">
              <a:ext uri="{FF2B5EF4-FFF2-40B4-BE49-F238E27FC236}">
                <a16:creationId xmlns:a16="http://schemas.microsoft.com/office/drawing/2014/main" id="{31D682E1-5D9C-4799-B914-B378828B3CBE}"/>
              </a:ext>
            </a:extLst>
          </p:cNvPr>
          <p:cNvSpPr>
            <a:spLocks xmlns:a="http://schemas.openxmlformats.org/drawingml/2006/main" noGrp="1"/>
          </p:cNvSpPr>
          <p:nvPr/>
        </p:nvSpPr>
        <p:spPr>
          <a:xfrm xmlns:a="http://schemas.openxmlformats.org/drawingml/2006/main">
            <a:off x="857250" y="2038350"/>
            <a:ext cx="5829300" cy="2781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area_m2 = 35.0</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minimum_m2 = 40.0</a:t>
            </a:r>
          </a:p>
          <a:p xmlns:a="http://schemas.openxmlformats.org/drawingml/2006/main">
            <a:r>
              <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if area_m2 &gt;= minimum_m2:</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    status = 'meets criterion'</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else:</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    status = 'review area'</a:t>
            </a:r>
          </a:p>
          <a:p xmlns:a="http://schemas.openxmlformats.org/drawingml/2006/main">
            <a:r>
              <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print(status)</a:t>
            </a:r>
          </a:p>
        </p:txBody>
      </p:sp>
      <p:sp>
        <p:nvSpPr>
          <p:cNvPr id="8" name="question">
            <a:extLst xmlns:a="http://schemas.openxmlformats.org/drawingml/2006/main">
              <a:ext uri="{FF2B5EF4-FFF2-40B4-BE49-F238E27FC236}">
                <a16:creationId xmlns:a16="http://schemas.microsoft.com/office/drawing/2014/main" id="{2F12B0F1-3E20-4796-A8A5-4728C07B99B9}"/>
              </a:ext>
            </a:extLst>
          </p:cNvPr>
          <p:cNvSpPr>
            <a:spLocks xmlns:a="http://schemas.openxmlformats.org/drawingml/2006/main" noGrp="1"/>
          </p:cNvSpPr>
          <p:nvPr/>
        </p:nvSpPr>
        <p:spPr>
          <a:xfrm xmlns:a="http://schemas.openxmlformats.org/drawingml/2006/main">
            <a:off x="7315200" y="1809750"/>
            <a:ext cx="42672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What does this print?</a:t>
            </a:r>
          </a:p>
        </p:txBody>
      </p:sp>
      <p:sp>
        <p:nvSpPr>
          <p:cNvPr id="9" name="opt-0">
            <a:extLst xmlns:a="http://schemas.openxmlformats.org/drawingml/2006/main">
              <a:ext uri="{FF2B5EF4-FFF2-40B4-BE49-F238E27FC236}">
                <a16:creationId xmlns:a16="http://schemas.microsoft.com/office/drawing/2014/main" id="{9728AA0C-28DB-43C9-9519-7596C1B0E3DB}"/>
              </a:ext>
            </a:extLst>
          </p:cNvPr>
          <p:cNvSpPr>
            <a:spLocks xmlns:a="http://schemas.openxmlformats.org/drawingml/2006/main" noGrp="1"/>
          </p:cNvSpPr>
          <p:nvPr/>
        </p:nvSpPr>
        <p:spPr>
          <a:xfrm xmlns:a="http://schemas.openxmlformats.org/drawingml/2006/main">
            <a:off x="7315200" y="2571750"/>
            <a:ext cx="4267200" cy="552450"/>
          </a:xfrm>
          <a:prstGeom xmlns:a="http://schemas.openxmlformats.org/drawingml/2006/main" prst="roundRect">
            <a:avLst>
              <a:gd name="adj" fmla="val 10345"/>
            </a:avLst>
          </a:prstGeom>
          <a:solidFill xmlns:a="http://schemas.openxmlformats.org/drawingml/2006/main">
            <a:srgbClr val="F6F7F9"/>
          </a:solidFill>
          <a:ln xmlns:a="http://schemas.openxmlformats.org/drawingml/2006/main" w="9525">
            <a:solidFill>
              <a:srgbClr val="DDE0E5"/>
            </a:solidFill>
            <a:prstDash val="solid"/>
          </a:ln>
        </p:spPr>
      </p:sp>
      <p:sp>
        <p:nvSpPr>
          <p:cNvPr id="10" name="opt-letter-0">
            <a:extLst xmlns:a="http://schemas.openxmlformats.org/drawingml/2006/main">
              <a:ext uri="{FF2B5EF4-FFF2-40B4-BE49-F238E27FC236}">
                <a16:creationId xmlns:a16="http://schemas.microsoft.com/office/drawing/2014/main" id="{4A07EC48-4713-4611-9556-EDC16C20C538}"/>
              </a:ext>
            </a:extLst>
          </p:cNvPr>
          <p:cNvSpPr>
            <a:spLocks xmlns:a="http://schemas.openxmlformats.org/drawingml/2006/main" noGrp="1"/>
          </p:cNvSpPr>
          <p:nvPr/>
        </p:nvSpPr>
        <p:spPr>
          <a:xfrm xmlns:a="http://schemas.openxmlformats.org/drawingml/2006/main">
            <a:off x="7448550" y="2733675"/>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1">
                <a:solidFill>
                  <a:srgbClr val="2E74B5"/>
                </a:solidFill>
                <a:latin typeface="Arial"/>
                <a:ea typeface="Arial"/>
                <a:cs typeface="Arial"/>
              </a:defRPr>
            </a:pPr>
            <a:r>
              <a:rPr sz="1800" b="1">
                <a:solidFill>
                  <a:srgbClr val="2E74B5"/>
                </a:solidFill>
                <a:latin typeface="Arial"/>
                <a:ea typeface="Arial"/>
                <a:cs typeface="Arial"/>
              </a:rPr>
              <a:t>A</a:t>
            </a:r>
          </a:p>
        </p:txBody>
      </p:sp>
      <p:sp>
        <p:nvSpPr>
          <p:cNvPr id="11" name="opt-text-0">
            <a:extLst xmlns:a="http://schemas.openxmlformats.org/drawingml/2006/main">
              <a:ext uri="{FF2B5EF4-FFF2-40B4-BE49-F238E27FC236}">
                <a16:creationId xmlns:a16="http://schemas.microsoft.com/office/drawing/2014/main" id="{D7C5486D-A633-4DC8-9ACB-57BDA7432957}"/>
              </a:ext>
            </a:extLst>
          </p:cNvPr>
          <p:cNvSpPr>
            <a:spLocks xmlns:a="http://schemas.openxmlformats.org/drawingml/2006/main" noGrp="1"/>
          </p:cNvSpPr>
          <p:nvPr/>
        </p:nvSpPr>
        <p:spPr>
          <a:xfrm xmlns:a="http://schemas.openxmlformats.org/drawingml/2006/main">
            <a:off x="7772400" y="2609850"/>
            <a:ext cx="3676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200" b="0">
                <a:solidFill>
                  <a:srgbClr val="111316"/>
                </a:solidFill>
                <a:latin typeface="Consolas"/>
                <a:ea typeface="Consolas"/>
                <a:cs typeface="Consolas"/>
              </a:defRPr>
            </a:pPr>
            <a:r>
              <a:rPr sz="1200" b="0">
                <a:solidFill>
                  <a:srgbClr val="111316"/>
                </a:solidFill>
                <a:latin typeface="Consolas"/>
                <a:ea typeface="Consolas"/>
                <a:cs typeface="Consolas"/>
              </a:rPr>
              <a:t>meets criterion</a:t>
            </a:r>
          </a:p>
        </p:txBody>
      </p:sp>
      <p:sp>
        <p:nvSpPr>
          <p:cNvPr id="12" name="opt-1">
            <a:extLst xmlns:a="http://schemas.openxmlformats.org/drawingml/2006/main">
              <a:ext uri="{FF2B5EF4-FFF2-40B4-BE49-F238E27FC236}">
                <a16:creationId xmlns:a16="http://schemas.microsoft.com/office/drawing/2014/main" id="{987CF923-94B5-4478-BC94-9FF59B0A05DD}"/>
              </a:ext>
            </a:extLst>
          </p:cNvPr>
          <p:cNvSpPr>
            <a:spLocks xmlns:a="http://schemas.openxmlformats.org/drawingml/2006/main" noGrp="1"/>
          </p:cNvSpPr>
          <p:nvPr/>
        </p:nvSpPr>
        <p:spPr>
          <a:xfrm xmlns:a="http://schemas.openxmlformats.org/drawingml/2006/main">
            <a:off x="7315200" y="3181350"/>
            <a:ext cx="4267200" cy="552450"/>
          </a:xfrm>
          <a:prstGeom xmlns:a="http://schemas.openxmlformats.org/drawingml/2006/main" prst="roundRect">
            <a:avLst>
              <a:gd name="adj" fmla="val 10345"/>
            </a:avLst>
          </a:prstGeom>
          <a:solidFill xmlns:a="http://schemas.openxmlformats.org/drawingml/2006/main">
            <a:srgbClr val="F6F7F9"/>
          </a:solidFill>
          <a:ln xmlns:a="http://schemas.openxmlformats.org/drawingml/2006/main" w="9525">
            <a:solidFill>
              <a:srgbClr val="DDE0E5"/>
            </a:solidFill>
            <a:prstDash val="solid"/>
          </a:ln>
        </p:spPr>
      </p:sp>
      <p:sp>
        <p:nvSpPr>
          <p:cNvPr id="13" name="opt-letter-1">
            <a:extLst xmlns:a="http://schemas.openxmlformats.org/drawingml/2006/main">
              <a:ext uri="{FF2B5EF4-FFF2-40B4-BE49-F238E27FC236}">
                <a16:creationId xmlns:a16="http://schemas.microsoft.com/office/drawing/2014/main" id="{9A323EE2-C323-4E04-8C8F-CFC8FBBE6A8C}"/>
              </a:ext>
            </a:extLst>
          </p:cNvPr>
          <p:cNvSpPr>
            <a:spLocks xmlns:a="http://schemas.openxmlformats.org/drawingml/2006/main" noGrp="1"/>
          </p:cNvSpPr>
          <p:nvPr/>
        </p:nvSpPr>
        <p:spPr>
          <a:xfrm xmlns:a="http://schemas.openxmlformats.org/drawingml/2006/main">
            <a:off x="7448550" y="3343275"/>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1">
                <a:solidFill>
                  <a:srgbClr val="2E74B5"/>
                </a:solidFill>
                <a:latin typeface="Arial"/>
                <a:ea typeface="Arial"/>
                <a:cs typeface="Arial"/>
              </a:defRPr>
            </a:pPr>
            <a:r>
              <a:rPr sz="1800" b="1">
                <a:solidFill>
                  <a:srgbClr val="2E74B5"/>
                </a:solidFill>
                <a:latin typeface="Arial"/>
                <a:ea typeface="Arial"/>
                <a:cs typeface="Arial"/>
              </a:rPr>
              <a:t>B</a:t>
            </a:r>
          </a:p>
        </p:txBody>
      </p:sp>
      <p:sp>
        <p:nvSpPr>
          <p:cNvPr id="14" name="opt-text-1">
            <a:extLst xmlns:a="http://schemas.openxmlformats.org/drawingml/2006/main">
              <a:ext uri="{FF2B5EF4-FFF2-40B4-BE49-F238E27FC236}">
                <a16:creationId xmlns:a16="http://schemas.microsoft.com/office/drawing/2014/main" id="{E8A0A8D4-CB0D-44DA-816C-CEF7C8F905F6}"/>
              </a:ext>
            </a:extLst>
          </p:cNvPr>
          <p:cNvSpPr>
            <a:spLocks xmlns:a="http://schemas.openxmlformats.org/drawingml/2006/main" noGrp="1"/>
          </p:cNvSpPr>
          <p:nvPr/>
        </p:nvSpPr>
        <p:spPr>
          <a:xfrm xmlns:a="http://schemas.openxmlformats.org/drawingml/2006/main">
            <a:off x="7772400" y="3219450"/>
            <a:ext cx="3676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200" b="0">
                <a:solidFill>
                  <a:srgbClr val="111316"/>
                </a:solidFill>
                <a:latin typeface="Consolas"/>
                <a:ea typeface="Consolas"/>
                <a:cs typeface="Consolas"/>
              </a:defRPr>
            </a:pPr>
            <a:r>
              <a:rPr sz="1200" b="0">
                <a:solidFill>
                  <a:srgbClr val="111316"/>
                </a:solidFill>
                <a:latin typeface="Consolas"/>
                <a:ea typeface="Consolas"/>
                <a:cs typeface="Consolas"/>
              </a:rPr>
              <a:t>review area</a:t>
            </a:r>
          </a:p>
        </p:txBody>
      </p:sp>
      <p:sp>
        <p:nvSpPr>
          <p:cNvPr id="15" name="opt-2">
            <a:extLst xmlns:a="http://schemas.openxmlformats.org/drawingml/2006/main">
              <a:ext uri="{FF2B5EF4-FFF2-40B4-BE49-F238E27FC236}">
                <a16:creationId xmlns:a16="http://schemas.microsoft.com/office/drawing/2014/main" id="{1E2E1553-43A5-496E-A393-9B5DE2F37E28}"/>
              </a:ext>
            </a:extLst>
          </p:cNvPr>
          <p:cNvSpPr>
            <a:spLocks xmlns:a="http://schemas.openxmlformats.org/drawingml/2006/main" noGrp="1"/>
          </p:cNvSpPr>
          <p:nvPr/>
        </p:nvSpPr>
        <p:spPr>
          <a:xfrm xmlns:a="http://schemas.openxmlformats.org/drawingml/2006/main">
            <a:off x="7315200" y="3790950"/>
            <a:ext cx="4267200" cy="552450"/>
          </a:xfrm>
          <a:prstGeom xmlns:a="http://schemas.openxmlformats.org/drawingml/2006/main" prst="roundRect">
            <a:avLst>
              <a:gd name="adj" fmla="val 10345"/>
            </a:avLst>
          </a:prstGeom>
          <a:solidFill xmlns:a="http://schemas.openxmlformats.org/drawingml/2006/main">
            <a:srgbClr val="F6F7F9"/>
          </a:solidFill>
          <a:ln xmlns:a="http://schemas.openxmlformats.org/drawingml/2006/main" w="9525">
            <a:solidFill>
              <a:srgbClr val="DDE0E5"/>
            </a:solidFill>
            <a:prstDash val="solid"/>
          </a:ln>
        </p:spPr>
      </p:sp>
      <p:sp>
        <p:nvSpPr>
          <p:cNvPr id="16" name="opt-letter-2">
            <a:extLst xmlns:a="http://schemas.openxmlformats.org/drawingml/2006/main">
              <a:ext uri="{FF2B5EF4-FFF2-40B4-BE49-F238E27FC236}">
                <a16:creationId xmlns:a16="http://schemas.microsoft.com/office/drawing/2014/main" id="{A4A2DAC3-390C-4809-968B-B3F2A12E718B}"/>
              </a:ext>
            </a:extLst>
          </p:cNvPr>
          <p:cNvSpPr>
            <a:spLocks xmlns:a="http://schemas.openxmlformats.org/drawingml/2006/main" noGrp="1"/>
          </p:cNvSpPr>
          <p:nvPr/>
        </p:nvSpPr>
        <p:spPr>
          <a:xfrm xmlns:a="http://schemas.openxmlformats.org/drawingml/2006/main">
            <a:off x="7448550" y="3952875"/>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1">
                <a:solidFill>
                  <a:srgbClr val="2E74B5"/>
                </a:solidFill>
                <a:latin typeface="Arial"/>
                <a:ea typeface="Arial"/>
                <a:cs typeface="Arial"/>
              </a:defRPr>
            </a:pPr>
            <a:r>
              <a:rPr sz="1800" b="1">
                <a:solidFill>
                  <a:srgbClr val="2E74B5"/>
                </a:solidFill>
                <a:latin typeface="Arial"/>
                <a:ea typeface="Arial"/>
                <a:cs typeface="Arial"/>
              </a:rPr>
              <a:t>C</a:t>
            </a:r>
          </a:p>
        </p:txBody>
      </p:sp>
      <p:sp>
        <p:nvSpPr>
          <p:cNvPr id="17" name="opt-text-2">
            <a:extLst xmlns:a="http://schemas.openxmlformats.org/drawingml/2006/main">
              <a:ext uri="{FF2B5EF4-FFF2-40B4-BE49-F238E27FC236}">
                <a16:creationId xmlns:a16="http://schemas.microsoft.com/office/drawing/2014/main" id="{01C3FA66-07C2-445F-8970-3FFF343F823B}"/>
              </a:ext>
            </a:extLst>
          </p:cNvPr>
          <p:cNvSpPr>
            <a:spLocks xmlns:a="http://schemas.openxmlformats.org/drawingml/2006/main" noGrp="1"/>
          </p:cNvSpPr>
          <p:nvPr/>
        </p:nvSpPr>
        <p:spPr>
          <a:xfrm xmlns:a="http://schemas.openxmlformats.org/drawingml/2006/main">
            <a:off x="7772400" y="3829050"/>
            <a:ext cx="3676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200" b="0">
                <a:solidFill>
                  <a:srgbClr val="111316"/>
                </a:solidFill>
                <a:latin typeface="Consolas"/>
                <a:ea typeface="Consolas"/>
                <a:cs typeface="Consolas"/>
              </a:defRPr>
            </a:pPr>
            <a:r>
              <a:rPr sz="1200" b="0">
                <a:solidFill>
                  <a:srgbClr val="111316"/>
                </a:solidFill>
                <a:latin typeface="Consolas"/>
                <a:ea typeface="Consolas"/>
                <a:cs typeface="Consolas"/>
              </a:rPr>
              <a:t>'review area'</a:t>
            </a:r>
          </a:p>
        </p:txBody>
      </p:sp>
      <p:sp>
        <p:nvSpPr>
          <p:cNvPr id="18" name="opt-3">
            <a:extLst xmlns:a="http://schemas.openxmlformats.org/drawingml/2006/main">
              <a:ext uri="{FF2B5EF4-FFF2-40B4-BE49-F238E27FC236}">
                <a16:creationId xmlns:a16="http://schemas.microsoft.com/office/drawing/2014/main" id="{1453B82E-EE82-40AF-AD52-DEC851BA0700}"/>
              </a:ext>
            </a:extLst>
          </p:cNvPr>
          <p:cNvSpPr>
            <a:spLocks xmlns:a="http://schemas.openxmlformats.org/drawingml/2006/main" noGrp="1"/>
          </p:cNvSpPr>
          <p:nvPr/>
        </p:nvSpPr>
        <p:spPr>
          <a:xfrm xmlns:a="http://schemas.openxmlformats.org/drawingml/2006/main">
            <a:off x="7315200" y="4400550"/>
            <a:ext cx="4267200" cy="552450"/>
          </a:xfrm>
          <a:prstGeom xmlns:a="http://schemas.openxmlformats.org/drawingml/2006/main" prst="roundRect">
            <a:avLst>
              <a:gd name="adj" fmla="val 10345"/>
            </a:avLst>
          </a:prstGeom>
          <a:solidFill xmlns:a="http://schemas.openxmlformats.org/drawingml/2006/main">
            <a:srgbClr val="F6F7F9"/>
          </a:solidFill>
          <a:ln xmlns:a="http://schemas.openxmlformats.org/drawingml/2006/main" w="9525">
            <a:solidFill>
              <a:srgbClr val="DDE0E5"/>
            </a:solidFill>
            <a:prstDash val="solid"/>
          </a:ln>
        </p:spPr>
      </p:sp>
      <p:sp>
        <p:nvSpPr>
          <p:cNvPr id="19" name="opt-letter-3">
            <a:extLst xmlns:a="http://schemas.openxmlformats.org/drawingml/2006/main">
              <a:ext uri="{FF2B5EF4-FFF2-40B4-BE49-F238E27FC236}">
                <a16:creationId xmlns:a16="http://schemas.microsoft.com/office/drawing/2014/main" id="{989CF7A9-6877-41A7-8EEA-2C9702B249F7}"/>
              </a:ext>
            </a:extLst>
          </p:cNvPr>
          <p:cNvSpPr>
            <a:spLocks xmlns:a="http://schemas.openxmlformats.org/drawingml/2006/main" noGrp="1"/>
          </p:cNvSpPr>
          <p:nvPr/>
        </p:nvSpPr>
        <p:spPr>
          <a:xfrm xmlns:a="http://schemas.openxmlformats.org/drawingml/2006/main">
            <a:off x="7448550" y="4562475"/>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1">
                <a:solidFill>
                  <a:srgbClr val="2E74B5"/>
                </a:solidFill>
                <a:latin typeface="Arial"/>
                <a:ea typeface="Arial"/>
                <a:cs typeface="Arial"/>
              </a:defRPr>
            </a:pPr>
            <a:r>
              <a:rPr sz="1800" b="1">
                <a:solidFill>
                  <a:srgbClr val="2E74B5"/>
                </a:solidFill>
                <a:latin typeface="Arial"/>
                <a:ea typeface="Arial"/>
                <a:cs typeface="Arial"/>
              </a:rPr>
              <a:t>D</a:t>
            </a:r>
          </a:p>
        </p:txBody>
      </p:sp>
      <p:sp>
        <p:nvSpPr>
          <p:cNvPr id="20" name="opt-text-3">
            <a:extLst xmlns:a="http://schemas.openxmlformats.org/drawingml/2006/main">
              <a:ext uri="{FF2B5EF4-FFF2-40B4-BE49-F238E27FC236}">
                <a16:creationId xmlns:a16="http://schemas.microsoft.com/office/drawing/2014/main" id="{2506266F-2839-4438-B1D3-E5946B4068A6}"/>
              </a:ext>
            </a:extLst>
          </p:cNvPr>
          <p:cNvSpPr>
            <a:spLocks xmlns:a="http://schemas.openxmlformats.org/drawingml/2006/main" noGrp="1"/>
          </p:cNvSpPr>
          <p:nvPr/>
        </p:nvSpPr>
        <p:spPr>
          <a:xfrm xmlns:a="http://schemas.openxmlformats.org/drawingml/2006/main">
            <a:off x="7772400" y="4438650"/>
            <a:ext cx="3676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200" b="0">
                <a:solidFill>
                  <a:srgbClr val="111316"/>
                </a:solidFill>
                <a:latin typeface="Consolas"/>
                <a:ea typeface="Consolas"/>
                <a:cs typeface="Consolas"/>
              </a:defRPr>
            </a:pPr>
            <a:r>
              <a:rPr sz="1200" b="0">
                <a:solidFill>
                  <a:srgbClr val="111316"/>
                </a:solidFill>
                <a:latin typeface="Consolas"/>
                <a:ea typeface="Consolas"/>
                <a:cs typeface="Consolas"/>
              </a:rPr>
              <a:t>False</a:t>
            </a:r>
          </a:p>
        </p:txBody>
      </p:sp>
      <p:sp>
        <p:nvSpPr>
          <p:cNvPr id="21" name="answer-panel">
            <a:extLst xmlns:a="http://schemas.openxmlformats.org/drawingml/2006/main">
              <a:ext uri="{FF2B5EF4-FFF2-40B4-BE49-F238E27FC236}">
                <a16:creationId xmlns:a16="http://schemas.microsoft.com/office/drawing/2014/main" id="{D376597F-F8F9-40C5-BBDD-B05876A93761}"/>
              </a:ext>
            </a:extLst>
          </p:cNvPr>
          <p:cNvSpPr>
            <a:spLocks xmlns:a="http://schemas.openxmlformats.org/drawingml/2006/main" noGrp="1"/>
          </p:cNvSpPr>
          <p:nvPr/>
        </p:nvSpPr>
        <p:spPr>
          <a:xfrm xmlns:a="http://schemas.openxmlformats.org/drawingml/2006/main">
            <a:off x="609600" y="5219700"/>
            <a:ext cx="10972800" cy="914400"/>
          </a:xfrm>
          <a:prstGeom xmlns:a="http://schemas.openxmlformats.org/drawingml/2006/main" prst="roundRect">
            <a:avLst>
              <a:gd name="adj" fmla="val 8333"/>
            </a:avLst>
          </a:prstGeom>
          <a:solidFill xmlns:a="http://schemas.openxmlformats.org/drawingml/2006/main">
            <a:srgbClr val="F3F7FB"/>
          </a:solidFill>
          <a:ln xmlns:a="http://schemas.openxmlformats.org/drawingml/2006/main" w="9525">
            <a:solidFill>
              <a:srgbClr val="2E74B5"/>
            </a:solidFill>
            <a:prstDash val="solid"/>
          </a:ln>
        </p:spPr>
      </p:sp>
      <p:sp>
        <p:nvSpPr>
          <p:cNvPr id="22" name="answer-label">
            <a:extLst xmlns:a="http://schemas.openxmlformats.org/drawingml/2006/main">
              <a:ext uri="{FF2B5EF4-FFF2-40B4-BE49-F238E27FC236}">
                <a16:creationId xmlns:a16="http://schemas.microsoft.com/office/drawing/2014/main" id="{1D33DC47-28A5-4000-9EF8-AAF205CACA6B}"/>
              </a:ext>
            </a:extLst>
          </p:cNvPr>
          <p:cNvSpPr>
            <a:spLocks xmlns:a="http://schemas.openxmlformats.org/drawingml/2006/main" noGrp="1"/>
          </p:cNvSpPr>
          <p:nvPr/>
        </p:nvSpPr>
        <p:spPr>
          <a:xfrm xmlns:a="http://schemas.openxmlformats.org/drawingml/2006/main">
            <a:off x="819150" y="5372100"/>
            <a:ext cx="304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1F4D78"/>
                </a:solidFill>
                <a:latin typeface="Arial"/>
                <a:ea typeface="Arial"/>
                <a:cs typeface="Arial"/>
              </a:defRPr>
            </a:pPr>
            <a:r>
              <a:rPr sz="900" b="1">
                <a:solidFill>
                  <a:srgbClr val="1F4D78"/>
                </a:solidFill>
                <a:latin typeface="Arial"/>
                <a:ea typeface="Arial"/>
                <a:cs typeface="Arial"/>
              </a:rPr>
              <a:t>ANSWER  ·  B</a:t>
            </a:r>
          </a:p>
        </p:txBody>
      </p:sp>
      <p:sp>
        <p:nvSpPr>
          <p:cNvPr id="23" name="why">
            <a:extLst xmlns:a="http://schemas.openxmlformats.org/drawingml/2006/main">
              <a:ext uri="{FF2B5EF4-FFF2-40B4-BE49-F238E27FC236}">
                <a16:creationId xmlns:a16="http://schemas.microsoft.com/office/drawing/2014/main" id="{962B5329-2CC2-405A-80C9-7F2C029DA8D3}"/>
              </a:ext>
            </a:extLst>
          </p:cNvPr>
          <p:cNvSpPr>
            <a:spLocks xmlns:a="http://schemas.openxmlformats.org/drawingml/2006/main" noGrp="1"/>
          </p:cNvSpPr>
          <p:nvPr/>
        </p:nvSpPr>
        <p:spPr>
          <a:xfrm xmlns:a="http://schemas.openxmlformats.org/drawingml/2006/main">
            <a:off x="819150" y="5638800"/>
            <a:ext cx="105537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111316"/>
                </a:solidFill>
                <a:latin typeface="Arial"/>
                <a:ea typeface="Arial"/>
                <a:cs typeface="Arial"/>
              </a:defRPr>
            </a:pPr>
            <a:r>
              <a:rPr sz="1500" b="0">
                <a:solidFill>
                  <a:srgbClr val="111316"/>
                </a:solidFill>
                <a:latin typeface="Arial"/>
                <a:ea typeface="Arial"/>
                <a:cs typeface="Arial"/>
              </a:rPr>
              <a:t>35.0 &gt;= 40.0 is False, so only the else branch runs. print shows a string's characters, not its quotes.</a:t>
            </a:r>
          </a:p>
        </p:txBody>
      </p:sp>
    </p:spTree>
    <p:extLst>
      <p:ext uri="{BB962C8B-B14F-4D97-AF65-F5344CB8AC3E}">
        <p14:creationId xmlns:p14="http://schemas.microsoft.com/office/powerpoint/2010/main" val="274357040"/>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kicker">
            <a:extLst xmlns:a="http://schemas.openxmlformats.org/drawingml/2006/main">
              <a:ext uri="{FF2B5EF4-FFF2-40B4-BE49-F238E27FC236}">
                <a16:creationId xmlns:a16="http://schemas.microsoft.com/office/drawing/2014/main" id="{80497C31-3E9C-4353-9347-923B696BCA61}"/>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PYTHON SYNTAX</a:t>
            </a:r>
          </a:p>
        </p:txBody>
      </p:sp>
      <p:sp>
        <p:nvSpPr>
          <p:cNvPr id="2" name="title">
            <a:extLst xmlns:a="http://schemas.openxmlformats.org/drawingml/2006/main">
              <a:ext uri="{FF2B5EF4-FFF2-40B4-BE49-F238E27FC236}">
                <a16:creationId xmlns:a16="http://schemas.microsoft.com/office/drawing/2014/main" id="{BBB7936E-3A84-48D5-8D12-EEB8DFD341D6}"/>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else makes the alternative action explicit</a:t>
            </a:r>
          </a:p>
        </p:txBody>
      </p:sp>
      <p:sp>
        <p:nvSpPr>
          <p:cNvPr id="3" name="">
            <a:extLst xmlns:a="http://schemas.openxmlformats.org/drawingml/2006/main">
              <a:ext uri="{FF2B5EF4-FFF2-40B4-BE49-F238E27FC236}">
                <a16:creationId xmlns:a16="http://schemas.microsoft.com/office/drawing/2014/main" id="{39409B92-B62D-4935-9546-1890BF154D99}"/>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FC33004B-DEDE-4935-B7DC-E9A66AAB736F}"/>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3 · Meeting A · Decisions and Functions · Full Source Deck</a:t>
            </a:r>
          </a:p>
        </p:txBody>
      </p:sp>
      <p:sp>
        <p:nvSpPr>
          <p:cNvPr id="5" name="page">
            <a:extLst xmlns:a="http://schemas.openxmlformats.org/drawingml/2006/main">
              <a:ext uri="{FF2B5EF4-FFF2-40B4-BE49-F238E27FC236}">
                <a16:creationId xmlns:a16="http://schemas.microsoft.com/office/drawing/2014/main" id="{8F4CC534-63EA-46C1-B967-43E17487DB1D}"/>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15</a:t>
            </a:r>
          </a:p>
        </p:txBody>
      </p:sp>
      <p:sp>
        <p:nvSpPr>
          <p:cNvPr id="6" name="code-panel">
            <a:extLst xmlns:a="http://schemas.openxmlformats.org/drawingml/2006/main">
              <a:ext uri="{FF2B5EF4-FFF2-40B4-BE49-F238E27FC236}">
                <a16:creationId xmlns:a16="http://schemas.microsoft.com/office/drawing/2014/main" id="{49D8ACD1-5782-48D7-87A6-D62C04335A12}"/>
              </a:ext>
            </a:extLst>
          </p:cNvPr>
          <p:cNvSpPr>
            <a:spLocks xmlns:a="http://schemas.openxmlformats.org/drawingml/2006/main" noGrp="1"/>
          </p:cNvSpPr>
          <p:nvPr/>
        </p:nvSpPr>
        <p:spPr>
          <a:xfrm xmlns:a="http://schemas.openxmlformats.org/drawingml/2006/main">
            <a:off x="609600" y="1809750"/>
            <a:ext cx="6896100" cy="4267200"/>
          </a:xfrm>
          <a:prstGeom xmlns:a="http://schemas.openxmlformats.org/drawingml/2006/main" prst="roundRect">
            <a:avLst>
              <a:gd name="adj" fmla="val 1786"/>
            </a:avLst>
          </a:prstGeom>
          <a:solidFill xmlns:a="http://schemas.openxmlformats.org/drawingml/2006/main">
            <a:srgbClr val="17191C"/>
          </a:solidFill>
          <a:ln xmlns:a="http://schemas.openxmlformats.org/drawingml/2006/main" w="9525">
            <a:solidFill>
              <a:srgbClr val="17191C"/>
            </a:solidFill>
            <a:prstDash val="solid"/>
          </a:ln>
        </p:spPr>
      </p:sp>
      <p:sp>
        <p:nvSpPr>
          <p:cNvPr id="7" name="code">
            <a:extLst xmlns:a="http://schemas.openxmlformats.org/drawingml/2006/main">
              <a:ext uri="{FF2B5EF4-FFF2-40B4-BE49-F238E27FC236}">
                <a16:creationId xmlns:a16="http://schemas.microsoft.com/office/drawing/2014/main" id="{B16B7D5E-A034-4693-B907-524C9EFF765D}"/>
              </a:ext>
            </a:extLst>
          </p:cNvPr>
          <p:cNvSpPr>
            <a:spLocks xmlns:a="http://schemas.openxmlformats.org/drawingml/2006/main" noGrp="1"/>
          </p:cNvSpPr>
          <p:nvPr/>
        </p:nvSpPr>
        <p:spPr>
          <a:xfrm xmlns:a="http://schemas.openxmlformats.org/drawingml/2006/main">
            <a:off x="857250" y="2057400"/>
            <a:ext cx="6400800" cy="314096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area_m2 = 35.0</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minimum_m2 = 40.0</a:t>
            </a:r>
          </a:p>
          <a:p xmlns:a="http://schemas.openxmlformats.org/drawingml/2006/main">
            <a:r>
              <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if area_m2 &gt;= minimum_m2:</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status = 'meets criterion'</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else:</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status = 'review area'</a:t>
            </a:r>
          </a:p>
          <a:p xmlns:a="http://schemas.openxmlformats.org/drawingml/2006/main">
            <a:r>
              <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print(status)</a:t>
            </a:r>
          </a:p>
        </p:txBody>
      </p:sp>
      <p:sp>
        <p:nvSpPr>
          <p:cNvPr id="8" name="">
            <a:extLst xmlns:a="http://schemas.openxmlformats.org/drawingml/2006/main">
              <a:ext uri="{FF2B5EF4-FFF2-40B4-BE49-F238E27FC236}">
                <a16:creationId xmlns:a16="http://schemas.microsoft.com/office/drawing/2014/main" id="{19763D6B-C150-450B-90F5-6EB4CBA3F810}"/>
              </a:ext>
            </a:extLst>
          </p:cNvPr>
          <p:cNvSpPr>
            <a:spLocks xmlns:a="http://schemas.openxmlformats.org/drawingml/2006/main" noGrp="1"/>
          </p:cNvSpPr>
          <p:nvPr/>
        </p:nvSpPr>
        <p:spPr>
          <a:xfrm xmlns:a="http://schemas.openxmlformats.org/drawingml/2006/main">
            <a:off x="857250" y="5255514"/>
            <a:ext cx="6400800" cy="0"/>
          </a:xfrm>
          <a:prstGeom xmlns:a="http://schemas.openxmlformats.org/drawingml/2006/main" prst="line">
            <a:avLst/>
          </a:prstGeom>
          <a:noFill xmlns:a="http://schemas.openxmlformats.org/drawingml/2006/main"/>
          <a:ln xmlns:a="http://schemas.openxmlformats.org/drawingml/2006/main" w="9525">
            <a:solidFill>
              <a:srgbClr val="4E5258"/>
            </a:solidFill>
            <a:prstDash val="solid"/>
          </a:ln>
        </p:spPr>
      </p:sp>
      <p:sp>
        <p:nvSpPr>
          <p:cNvPr id="9" name="output-label">
            <a:extLst xmlns:a="http://schemas.openxmlformats.org/drawingml/2006/main">
              <a:ext uri="{FF2B5EF4-FFF2-40B4-BE49-F238E27FC236}">
                <a16:creationId xmlns:a16="http://schemas.microsoft.com/office/drawing/2014/main" id="{A0ADD929-41CA-4919-AE3A-039CF83B6CC1}"/>
              </a:ext>
            </a:extLst>
          </p:cNvPr>
          <p:cNvSpPr>
            <a:spLocks xmlns:a="http://schemas.openxmlformats.org/drawingml/2006/main" noGrp="1"/>
          </p:cNvSpPr>
          <p:nvPr/>
        </p:nvSpPr>
        <p:spPr>
          <a:xfrm xmlns:a="http://schemas.openxmlformats.org/drawingml/2006/main">
            <a:off x="857250" y="5369814"/>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E8EEF5"/>
                </a:solidFill>
                <a:latin typeface="Arial"/>
                <a:ea typeface="Arial"/>
                <a:cs typeface="Arial"/>
              </a:defRPr>
            </a:pPr>
            <a:r>
              <a:rPr sz="900" b="1">
                <a:solidFill>
                  <a:srgbClr val="E8EEF5"/>
                </a:solidFill>
                <a:latin typeface="Arial"/>
                <a:ea typeface="Arial"/>
                <a:cs typeface="Arial"/>
              </a:rPr>
              <a:t>OUTPUT</a:t>
            </a:r>
          </a:p>
        </p:txBody>
      </p:sp>
      <p:sp>
        <p:nvSpPr>
          <p:cNvPr id="10" name="output">
            <a:extLst xmlns:a="http://schemas.openxmlformats.org/drawingml/2006/main">
              <a:ext uri="{FF2B5EF4-FFF2-40B4-BE49-F238E27FC236}">
                <a16:creationId xmlns:a16="http://schemas.microsoft.com/office/drawing/2014/main" id="{64F3ABF3-D6B0-4C64-B446-EA9B7D4DD0C6}"/>
              </a:ext>
            </a:extLst>
          </p:cNvPr>
          <p:cNvSpPr>
            <a:spLocks xmlns:a="http://schemas.openxmlformats.org/drawingml/2006/main" noGrp="1"/>
          </p:cNvSpPr>
          <p:nvPr/>
        </p:nvSpPr>
        <p:spPr>
          <a:xfrm xmlns:a="http://schemas.openxmlformats.org/drawingml/2006/main">
            <a:off x="857250" y="5598414"/>
            <a:ext cx="6400800" cy="2308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review area</a:t>
            </a:r>
          </a:p>
        </p:txBody>
      </p:sp>
      <p:sp>
        <p:nvSpPr>
          <p:cNvPr id="11" name="explain-head">
            <a:extLst xmlns:a="http://schemas.openxmlformats.org/drawingml/2006/main">
              <a:ext uri="{FF2B5EF4-FFF2-40B4-BE49-F238E27FC236}">
                <a16:creationId xmlns:a16="http://schemas.microsoft.com/office/drawing/2014/main" id="{C1D18FC0-7D7E-4177-ABAA-5762D89223A3}"/>
              </a:ext>
            </a:extLst>
          </p:cNvPr>
          <p:cNvSpPr>
            <a:spLocks xmlns:a="http://schemas.openxmlformats.org/drawingml/2006/main" noGrp="1"/>
          </p:cNvSpPr>
          <p:nvPr/>
        </p:nvSpPr>
        <p:spPr>
          <a:xfrm xmlns:a="http://schemas.openxmlformats.org/drawingml/2006/main">
            <a:off x="7886700" y="2867025"/>
            <a:ext cx="3695700" cy="3451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Exactly one branch runs</a:t>
            </a:r>
          </a:p>
        </p:txBody>
      </p:sp>
      <p:sp>
        <p:nvSpPr>
          <p:cNvPr id="12" name="explain-body">
            <a:extLst xmlns:a="http://schemas.openxmlformats.org/drawingml/2006/main">
              <a:ext uri="{FF2B5EF4-FFF2-40B4-BE49-F238E27FC236}">
                <a16:creationId xmlns:a16="http://schemas.microsoft.com/office/drawing/2014/main" id="{E788439C-CB88-425D-AB3F-9D3D9AF79A8A}"/>
              </a:ext>
            </a:extLst>
          </p:cNvPr>
          <p:cNvSpPr>
            <a:spLocks xmlns:a="http://schemas.openxmlformats.org/drawingml/2006/main" noGrp="1"/>
          </p:cNvSpPr>
          <p:nvPr/>
        </p:nvSpPr>
        <p:spPr>
          <a:xfrm xmlns:a="http://schemas.openxmlformats.org/drawingml/2006/main">
            <a:off x="7886700" y="3364611"/>
            <a:ext cx="3695700" cy="9601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if handles True; else handles every remaining case. The two messages should describe evidence and required review without overstating design quality.</a:t>
            </a:r>
          </a:p>
        </p:txBody>
      </p:sp>
    </p:spTree>
    <p:extLst>
      <p:ext uri="{BB962C8B-B14F-4D97-AF65-F5344CB8AC3E}">
        <p14:creationId xmlns:p14="http://schemas.microsoft.com/office/powerpoint/2010/main" val="1461555593"/>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3" name="kicker">
            <a:extLst xmlns:a="http://schemas.openxmlformats.org/drawingml/2006/main">
              <a:ext uri="{FF2B5EF4-FFF2-40B4-BE49-F238E27FC236}">
                <a16:creationId xmlns:a16="http://schemas.microsoft.com/office/drawing/2014/main" id="{7B159D6C-AA93-47D4-9983-AF25D8A7FEBD}"/>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VISUAL MODEL</a:t>
            </a:r>
          </a:p>
        </p:txBody>
      </p:sp>
      <p:sp>
        <p:nvSpPr>
          <p:cNvPr id="2" name="title">
            <a:extLst xmlns:a="http://schemas.openxmlformats.org/drawingml/2006/main">
              <a:ext uri="{FF2B5EF4-FFF2-40B4-BE49-F238E27FC236}">
                <a16:creationId xmlns:a16="http://schemas.microsoft.com/office/drawing/2014/main" id="{5A8089AA-8DA9-4866-AE76-4BCB5EF7A699}"/>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If/else routes one question to two explicit actions</a:t>
            </a:r>
          </a:p>
        </p:txBody>
      </p:sp>
      <p:sp>
        <p:nvSpPr>
          <p:cNvPr id="3" name="">
            <a:extLst xmlns:a="http://schemas.openxmlformats.org/drawingml/2006/main">
              <a:ext uri="{FF2B5EF4-FFF2-40B4-BE49-F238E27FC236}">
                <a16:creationId xmlns:a16="http://schemas.microsoft.com/office/drawing/2014/main" id="{D66BA4B7-777E-4572-9154-27806B619B47}"/>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8E7A484D-F0AC-4B3C-ABA3-C994415B53EB}"/>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3 · Meeting A · Decisions and Functions · Full Source Deck</a:t>
            </a:r>
          </a:p>
        </p:txBody>
      </p:sp>
      <p:sp>
        <p:nvSpPr>
          <p:cNvPr id="5" name="page">
            <a:extLst xmlns:a="http://schemas.openxmlformats.org/drawingml/2006/main">
              <a:ext uri="{FF2B5EF4-FFF2-40B4-BE49-F238E27FC236}">
                <a16:creationId xmlns:a16="http://schemas.microsoft.com/office/drawing/2014/main" id="{ACB4D268-05BC-41C1-9714-B5A2E4EE1A33}"/>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16</a:t>
            </a:r>
          </a:p>
        </p:txBody>
      </p:sp>
      <p:sp>
        <p:nvSpPr>
          <p:cNvPr id="6" name="step-arrow-0">
            <a:extLst xmlns:a="http://schemas.openxmlformats.org/drawingml/2006/main">
              <a:ext uri="{FF2B5EF4-FFF2-40B4-BE49-F238E27FC236}">
                <a16:creationId xmlns:a16="http://schemas.microsoft.com/office/drawing/2014/main" id="{2C6F01FD-641C-454D-9188-A9BCD46B50AD}"/>
              </a:ext>
            </a:extLst>
          </p:cNvPr>
          <p:cNvSpPr>
            <a:spLocks xmlns:a="http://schemas.openxmlformats.org/drawingml/2006/main" noGrp="1"/>
          </p:cNvSpPr>
          <p:nvPr/>
        </p:nvSpPr>
        <p:spPr>
          <a:xfrm xmlns:a="http://schemas.openxmlformats.org/drawingml/2006/main">
            <a:off x="3219450" y="3686175"/>
            <a:ext cx="152400" cy="495300"/>
          </a:xfrm>
          <a:prstGeom xmlns:a="http://schemas.openxmlformats.org/drawingml/2006/main" prst="chevron">
            <a:avLst/>
          </a:prstGeom>
          <a:solidFill xmlns:a="http://schemas.openxmlformats.org/drawingml/2006/main">
            <a:srgbClr val="E8EEF5"/>
          </a:solidFill>
          <a:ln xmlns:a="http://schemas.openxmlformats.org/drawingml/2006/main" w="0">
            <a:solidFill>
              <a:srgbClr val="E8EEF5"/>
            </a:solidFill>
            <a:prstDash val="solid"/>
          </a:ln>
        </p:spPr>
      </p:sp>
      <p:sp>
        <p:nvSpPr>
          <p:cNvPr id="7" name="step-arrow-1">
            <a:extLst xmlns:a="http://schemas.openxmlformats.org/drawingml/2006/main">
              <a:ext uri="{FF2B5EF4-FFF2-40B4-BE49-F238E27FC236}">
                <a16:creationId xmlns:a16="http://schemas.microsoft.com/office/drawing/2014/main" id="{EB708014-12DC-473E-8AB6-E80EEEAAE322}"/>
              </a:ext>
            </a:extLst>
          </p:cNvPr>
          <p:cNvSpPr>
            <a:spLocks xmlns:a="http://schemas.openxmlformats.org/drawingml/2006/main" noGrp="1"/>
          </p:cNvSpPr>
          <p:nvPr/>
        </p:nvSpPr>
        <p:spPr>
          <a:xfrm xmlns:a="http://schemas.openxmlformats.org/drawingml/2006/main">
            <a:off x="6019800" y="3686175"/>
            <a:ext cx="152400" cy="495300"/>
          </a:xfrm>
          <a:prstGeom xmlns:a="http://schemas.openxmlformats.org/drawingml/2006/main" prst="chevron">
            <a:avLst/>
          </a:prstGeom>
          <a:solidFill xmlns:a="http://schemas.openxmlformats.org/drawingml/2006/main">
            <a:srgbClr val="E8EEF5"/>
          </a:solidFill>
          <a:ln xmlns:a="http://schemas.openxmlformats.org/drawingml/2006/main" w="0">
            <a:solidFill>
              <a:srgbClr val="E8EEF5"/>
            </a:solidFill>
            <a:prstDash val="solid"/>
          </a:ln>
        </p:spPr>
      </p:sp>
      <p:sp>
        <p:nvSpPr>
          <p:cNvPr id="8" name="step-arrow-2">
            <a:extLst xmlns:a="http://schemas.openxmlformats.org/drawingml/2006/main">
              <a:ext uri="{FF2B5EF4-FFF2-40B4-BE49-F238E27FC236}">
                <a16:creationId xmlns:a16="http://schemas.microsoft.com/office/drawing/2014/main" id="{EBA79AE2-15D7-434C-BD5E-841E7DDA5C72}"/>
              </a:ext>
            </a:extLst>
          </p:cNvPr>
          <p:cNvSpPr>
            <a:spLocks xmlns:a="http://schemas.openxmlformats.org/drawingml/2006/main" noGrp="1"/>
          </p:cNvSpPr>
          <p:nvPr/>
        </p:nvSpPr>
        <p:spPr>
          <a:xfrm xmlns:a="http://schemas.openxmlformats.org/drawingml/2006/main">
            <a:off x="8820150" y="3686175"/>
            <a:ext cx="152400" cy="495300"/>
          </a:xfrm>
          <a:prstGeom xmlns:a="http://schemas.openxmlformats.org/drawingml/2006/main" prst="chevron">
            <a:avLst/>
          </a:prstGeom>
          <a:solidFill xmlns:a="http://schemas.openxmlformats.org/drawingml/2006/main">
            <a:srgbClr val="E8EEF5"/>
          </a:solidFill>
          <a:ln xmlns:a="http://schemas.openxmlformats.org/drawingml/2006/main" w="0">
            <a:solidFill>
              <a:srgbClr val="E8EEF5"/>
            </a:solidFill>
            <a:prstDash val="solid"/>
          </a:ln>
        </p:spPr>
      </p:sp>
      <p:sp>
        <p:nvSpPr>
          <p:cNvPr id="9" name="step-node-0">
            <a:extLst xmlns:a="http://schemas.openxmlformats.org/drawingml/2006/main">
              <a:ext uri="{FF2B5EF4-FFF2-40B4-BE49-F238E27FC236}">
                <a16:creationId xmlns:a16="http://schemas.microsoft.com/office/drawing/2014/main" id="{01C14E76-9939-4FE7-82B4-3B0E677BB203}"/>
              </a:ext>
            </a:extLst>
          </p:cNvPr>
          <p:cNvSpPr>
            <a:spLocks xmlns:a="http://schemas.openxmlformats.org/drawingml/2006/main" noGrp="1"/>
          </p:cNvSpPr>
          <p:nvPr/>
        </p:nvSpPr>
        <p:spPr>
          <a:xfrm xmlns:a="http://schemas.openxmlformats.org/drawingml/2006/main">
            <a:off x="609600" y="1847850"/>
            <a:ext cx="2571750" cy="4171950"/>
          </a:xfrm>
          <a:prstGeom xmlns:a="http://schemas.openxmlformats.org/drawingml/2006/main" prst="roundRect">
            <a:avLst>
              <a:gd name="adj" fmla="val 3704"/>
            </a:avLst>
          </a:prstGeom>
          <a:solidFill xmlns:a="http://schemas.openxmlformats.org/drawingml/2006/main">
            <a:srgbClr val="F3F7FB"/>
          </a:solidFill>
          <a:ln xmlns:a="http://schemas.openxmlformats.org/drawingml/2006/main" w="9525">
            <a:solidFill>
              <a:srgbClr val="2E74B5"/>
            </a:solidFill>
            <a:prstDash val="solid"/>
          </a:ln>
        </p:spPr>
      </p:sp>
      <p:sp>
        <p:nvSpPr>
          <p:cNvPr id="10" name="step-number-0">
            <a:extLst xmlns:a="http://schemas.openxmlformats.org/drawingml/2006/main">
              <a:ext uri="{FF2B5EF4-FFF2-40B4-BE49-F238E27FC236}">
                <a16:creationId xmlns:a16="http://schemas.microsoft.com/office/drawing/2014/main" id="{29376D07-EEE4-4290-B14E-CE77D7DD2470}"/>
              </a:ext>
            </a:extLst>
          </p:cNvPr>
          <p:cNvSpPr>
            <a:spLocks xmlns:a="http://schemas.openxmlformats.org/drawingml/2006/main" noGrp="1"/>
          </p:cNvSpPr>
          <p:nvPr/>
        </p:nvSpPr>
        <p:spPr>
          <a:xfrm xmlns:a="http://schemas.openxmlformats.org/drawingml/2006/main">
            <a:off x="800100" y="203835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2E74B5"/>
                </a:solidFill>
                <a:latin typeface="Arial"/>
                <a:ea typeface="Arial"/>
                <a:cs typeface="Arial"/>
              </a:defRPr>
            </a:pPr>
            <a:r>
              <a:rPr sz="1200" b="1">
                <a:solidFill>
                  <a:srgbClr val="2E74B5"/>
                </a:solidFill>
                <a:latin typeface="Arial"/>
                <a:ea typeface="Arial"/>
                <a:cs typeface="Arial"/>
              </a:rPr>
              <a:t>01</a:t>
            </a:r>
          </a:p>
        </p:txBody>
      </p:sp>
      <p:sp>
        <p:nvSpPr>
          <p:cNvPr id="11" name="step-label-0">
            <a:extLst xmlns:a="http://schemas.openxmlformats.org/drawingml/2006/main">
              <a:ext uri="{FF2B5EF4-FFF2-40B4-BE49-F238E27FC236}">
                <a16:creationId xmlns:a16="http://schemas.microsoft.com/office/drawing/2014/main" id="{DB2DE211-F2A0-474A-BCC0-2CACE22549BF}"/>
              </a:ext>
            </a:extLst>
          </p:cNvPr>
          <p:cNvSpPr>
            <a:spLocks xmlns:a="http://schemas.openxmlformats.org/drawingml/2006/main" noGrp="1"/>
          </p:cNvSpPr>
          <p:nvPr/>
        </p:nvSpPr>
        <p:spPr>
          <a:xfrm xmlns:a="http://schemas.openxmlformats.org/drawingml/2006/main">
            <a:off x="1295400" y="2057400"/>
            <a:ext cx="1695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EVIDENCE</a:t>
            </a:r>
          </a:p>
        </p:txBody>
      </p:sp>
      <p:sp>
        <p:nvSpPr>
          <p:cNvPr id="12" name="">
            <a:extLst xmlns:a="http://schemas.openxmlformats.org/drawingml/2006/main">
              <a:ext uri="{FF2B5EF4-FFF2-40B4-BE49-F238E27FC236}">
                <a16:creationId xmlns:a16="http://schemas.microsoft.com/office/drawing/2014/main" id="{9C87133D-D53C-49B4-A010-2FAA9FA94212}"/>
              </a:ext>
            </a:extLst>
          </p:cNvPr>
          <p:cNvSpPr>
            <a:spLocks xmlns:a="http://schemas.openxmlformats.org/drawingml/2006/main" noGrp="1"/>
          </p:cNvSpPr>
          <p:nvPr/>
        </p:nvSpPr>
        <p:spPr>
          <a:xfrm xmlns:a="http://schemas.openxmlformats.org/drawingml/2006/main">
            <a:off x="800100" y="2476500"/>
            <a:ext cx="2190750" cy="0"/>
          </a:xfrm>
          <a:prstGeom xmlns:a="http://schemas.openxmlformats.org/drawingml/2006/main" prst="line">
            <a:avLst/>
          </a:prstGeom>
          <a:noFill xmlns:a="http://schemas.openxmlformats.org/drawingml/2006/main"/>
          <a:ln xmlns:a="http://schemas.openxmlformats.org/drawingml/2006/main" w="28575">
            <a:solidFill>
              <a:srgbClr val="2E74B5"/>
            </a:solidFill>
            <a:prstDash val="solid"/>
          </a:ln>
        </p:spPr>
      </p:sp>
      <p:sp>
        <p:nvSpPr>
          <p:cNvPr id="13" name="step-head-0">
            <a:extLst xmlns:a="http://schemas.openxmlformats.org/drawingml/2006/main">
              <a:ext uri="{FF2B5EF4-FFF2-40B4-BE49-F238E27FC236}">
                <a16:creationId xmlns:a16="http://schemas.microsoft.com/office/drawing/2014/main" id="{3185B9A1-FB74-4F8A-A187-A324F76A16C7}"/>
              </a:ext>
            </a:extLst>
          </p:cNvPr>
          <p:cNvSpPr>
            <a:spLocks xmlns:a="http://schemas.openxmlformats.org/drawingml/2006/main" noGrp="1"/>
          </p:cNvSpPr>
          <p:nvPr/>
        </p:nvSpPr>
        <p:spPr>
          <a:xfrm xmlns:a="http://schemas.openxmlformats.org/drawingml/2006/main">
            <a:off x="800100" y="2667000"/>
            <a:ext cx="2190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Read one input</a:t>
            </a:r>
          </a:p>
        </p:txBody>
      </p:sp>
      <p:sp>
        <p:nvSpPr>
          <p:cNvPr id="14" name="step-body-0">
            <a:extLst xmlns:a="http://schemas.openxmlformats.org/drawingml/2006/main">
              <a:ext uri="{FF2B5EF4-FFF2-40B4-BE49-F238E27FC236}">
                <a16:creationId xmlns:a16="http://schemas.microsoft.com/office/drawing/2014/main" id="{27A4E9B3-621D-41A0-AE17-6A3F0F1CD1BC}"/>
              </a:ext>
            </a:extLst>
          </p:cNvPr>
          <p:cNvSpPr>
            <a:spLocks xmlns:a="http://schemas.openxmlformats.org/drawingml/2006/main" noGrp="1"/>
          </p:cNvSpPr>
          <p:nvPr/>
        </p:nvSpPr>
        <p:spPr>
          <a:xfrm xmlns:a="http://schemas.openxmlformats.org/drawingml/2006/main">
            <a:off x="800100" y="3352800"/>
            <a:ext cx="2190750" cy="2495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Example: room area = 39.9 m².</a:t>
            </a:r>
          </a:p>
        </p:txBody>
      </p:sp>
      <p:sp>
        <p:nvSpPr>
          <p:cNvPr id="15" name="step-node-1">
            <a:extLst xmlns:a="http://schemas.openxmlformats.org/drawingml/2006/main">
              <a:ext uri="{FF2B5EF4-FFF2-40B4-BE49-F238E27FC236}">
                <a16:creationId xmlns:a16="http://schemas.microsoft.com/office/drawing/2014/main" id="{F5B64C2F-3312-462A-B925-E75088ED7384}"/>
              </a:ext>
            </a:extLst>
          </p:cNvPr>
          <p:cNvSpPr>
            <a:spLocks xmlns:a="http://schemas.openxmlformats.org/drawingml/2006/main" noGrp="1"/>
          </p:cNvSpPr>
          <p:nvPr/>
        </p:nvSpPr>
        <p:spPr>
          <a:xfrm xmlns:a="http://schemas.openxmlformats.org/drawingml/2006/main">
            <a:off x="3409950" y="1847850"/>
            <a:ext cx="2571750" cy="4171950"/>
          </a:xfrm>
          <a:prstGeom xmlns:a="http://schemas.openxmlformats.org/drawingml/2006/main" prst="roundRect">
            <a:avLst>
              <a:gd name="adj" fmla="val 3704"/>
            </a:avLst>
          </a:prstGeom>
          <a:solidFill xmlns:a="http://schemas.openxmlformats.org/drawingml/2006/main">
            <a:srgbClr val="F6F7F9"/>
          </a:solidFill>
          <a:ln xmlns:a="http://schemas.openxmlformats.org/drawingml/2006/main" w="9525">
            <a:solidFill>
              <a:srgbClr val="DDE0E5"/>
            </a:solidFill>
            <a:prstDash val="solid"/>
          </a:ln>
        </p:spPr>
      </p:sp>
      <p:sp>
        <p:nvSpPr>
          <p:cNvPr id="16" name="step-number-1">
            <a:extLst xmlns:a="http://schemas.openxmlformats.org/drawingml/2006/main">
              <a:ext uri="{FF2B5EF4-FFF2-40B4-BE49-F238E27FC236}">
                <a16:creationId xmlns:a16="http://schemas.microsoft.com/office/drawing/2014/main" id="{11563686-5811-4BA0-95B0-1B69FF1CAEEC}"/>
              </a:ext>
            </a:extLst>
          </p:cNvPr>
          <p:cNvSpPr>
            <a:spLocks xmlns:a="http://schemas.openxmlformats.org/drawingml/2006/main" noGrp="1"/>
          </p:cNvSpPr>
          <p:nvPr/>
        </p:nvSpPr>
        <p:spPr>
          <a:xfrm xmlns:a="http://schemas.openxmlformats.org/drawingml/2006/main">
            <a:off x="3600450" y="203835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2E74B5"/>
                </a:solidFill>
                <a:latin typeface="Arial"/>
                <a:ea typeface="Arial"/>
                <a:cs typeface="Arial"/>
              </a:defRPr>
            </a:pPr>
            <a:r>
              <a:rPr sz="1200" b="1">
                <a:solidFill>
                  <a:srgbClr val="2E74B5"/>
                </a:solidFill>
                <a:latin typeface="Arial"/>
                <a:ea typeface="Arial"/>
                <a:cs typeface="Arial"/>
              </a:rPr>
              <a:t>02</a:t>
            </a:r>
          </a:p>
        </p:txBody>
      </p:sp>
      <p:sp>
        <p:nvSpPr>
          <p:cNvPr id="17" name="step-label-1">
            <a:extLst xmlns:a="http://schemas.openxmlformats.org/drawingml/2006/main">
              <a:ext uri="{FF2B5EF4-FFF2-40B4-BE49-F238E27FC236}">
                <a16:creationId xmlns:a16="http://schemas.microsoft.com/office/drawing/2014/main" id="{AD3C2016-7143-485E-B515-BAB1B58A500D}"/>
              </a:ext>
            </a:extLst>
          </p:cNvPr>
          <p:cNvSpPr>
            <a:spLocks xmlns:a="http://schemas.openxmlformats.org/drawingml/2006/main" noGrp="1"/>
          </p:cNvSpPr>
          <p:nvPr/>
        </p:nvSpPr>
        <p:spPr>
          <a:xfrm xmlns:a="http://schemas.openxmlformats.org/drawingml/2006/main">
            <a:off x="4095750" y="2057400"/>
            <a:ext cx="1695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QUESTION</a:t>
            </a:r>
          </a:p>
        </p:txBody>
      </p:sp>
      <p:sp>
        <p:nvSpPr>
          <p:cNvPr id="18" name="">
            <a:extLst xmlns:a="http://schemas.openxmlformats.org/drawingml/2006/main">
              <a:ext uri="{FF2B5EF4-FFF2-40B4-BE49-F238E27FC236}">
                <a16:creationId xmlns:a16="http://schemas.microsoft.com/office/drawing/2014/main" id="{F6DE69D9-7C4B-4633-9EA4-8BA663994151}"/>
              </a:ext>
            </a:extLst>
          </p:cNvPr>
          <p:cNvSpPr>
            <a:spLocks xmlns:a="http://schemas.openxmlformats.org/drawingml/2006/main" noGrp="1"/>
          </p:cNvSpPr>
          <p:nvPr/>
        </p:nvSpPr>
        <p:spPr>
          <a:xfrm xmlns:a="http://schemas.openxmlformats.org/drawingml/2006/main">
            <a:off x="3600450" y="2476500"/>
            <a:ext cx="2190750" cy="0"/>
          </a:xfrm>
          <a:prstGeom xmlns:a="http://schemas.openxmlformats.org/drawingml/2006/main" prst="line">
            <a:avLst/>
          </a:prstGeom>
          <a:noFill xmlns:a="http://schemas.openxmlformats.org/drawingml/2006/main"/>
          <a:ln xmlns:a="http://schemas.openxmlformats.org/drawingml/2006/main" w="19050">
            <a:solidFill>
              <a:srgbClr val="111316"/>
            </a:solidFill>
            <a:prstDash val="solid"/>
          </a:ln>
        </p:spPr>
      </p:sp>
      <p:sp>
        <p:nvSpPr>
          <p:cNvPr id="19" name="step-head-1">
            <a:extLst xmlns:a="http://schemas.openxmlformats.org/drawingml/2006/main">
              <a:ext uri="{FF2B5EF4-FFF2-40B4-BE49-F238E27FC236}">
                <a16:creationId xmlns:a16="http://schemas.microsoft.com/office/drawing/2014/main" id="{14A8BEA5-D4C2-4295-A2D0-90ADDA4C547F}"/>
              </a:ext>
            </a:extLst>
          </p:cNvPr>
          <p:cNvSpPr>
            <a:spLocks xmlns:a="http://schemas.openxmlformats.org/drawingml/2006/main" noGrp="1"/>
          </p:cNvSpPr>
          <p:nvPr/>
        </p:nvSpPr>
        <p:spPr>
          <a:xfrm xmlns:a="http://schemas.openxmlformats.org/drawingml/2006/main">
            <a:off x="3600450" y="2667000"/>
            <a:ext cx="2190750" cy="55092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Evaluate a Boolean</a:t>
            </a:r>
          </a:p>
        </p:txBody>
      </p:sp>
      <p:sp>
        <p:nvSpPr>
          <p:cNvPr id="20" name="step-body-1">
            <a:extLst xmlns:a="http://schemas.openxmlformats.org/drawingml/2006/main">
              <a:ext uri="{FF2B5EF4-FFF2-40B4-BE49-F238E27FC236}">
                <a16:creationId xmlns:a16="http://schemas.microsoft.com/office/drawing/2014/main" id="{3359D622-8A12-4C96-A5BB-EFC31ECEF565}"/>
              </a:ext>
            </a:extLst>
          </p:cNvPr>
          <p:cNvSpPr>
            <a:spLocks xmlns:a="http://schemas.openxmlformats.org/drawingml/2006/main" noGrp="1"/>
          </p:cNvSpPr>
          <p:nvPr/>
        </p:nvSpPr>
        <p:spPr>
          <a:xfrm xmlns:a="http://schemas.openxmlformats.org/drawingml/2006/main">
            <a:off x="3600450" y="3370326"/>
            <a:ext cx="2190750" cy="24780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Is area_m2 &gt;= 40.0?</a:t>
            </a:r>
          </a:p>
        </p:txBody>
      </p:sp>
      <p:sp>
        <p:nvSpPr>
          <p:cNvPr id="21" name="step-node-2">
            <a:extLst xmlns:a="http://schemas.openxmlformats.org/drawingml/2006/main">
              <a:ext uri="{FF2B5EF4-FFF2-40B4-BE49-F238E27FC236}">
                <a16:creationId xmlns:a16="http://schemas.microsoft.com/office/drawing/2014/main" id="{C90F3E8D-BCC4-4DBA-BC7A-4A01C33DA000}"/>
              </a:ext>
            </a:extLst>
          </p:cNvPr>
          <p:cNvSpPr>
            <a:spLocks xmlns:a="http://schemas.openxmlformats.org/drawingml/2006/main" noGrp="1"/>
          </p:cNvSpPr>
          <p:nvPr/>
        </p:nvSpPr>
        <p:spPr>
          <a:xfrm xmlns:a="http://schemas.openxmlformats.org/drawingml/2006/main">
            <a:off x="6210300" y="1847850"/>
            <a:ext cx="2571750" cy="4171950"/>
          </a:xfrm>
          <a:prstGeom xmlns:a="http://schemas.openxmlformats.org/drawingml/2006/main" prst="roundRect">
            <a:avLst>
              <a:gd name="adj" fmla="val 3704"/>
            </a:avLst>
          </a:prstGeom>
          <a:solidFill xmlns:a="http://schemas.openxmlformats.org/drawingml/2006/main">
            <a:srgbClr val="F6F7F9"/>
          </a:solidFill>
          <a:ln xmlns:a="http://schemas.openxmlformats.org/drawingml/2006/main" w="9525">
            <a:solidFill>
              <a:srgbClr val="DDE0E5"/>
            </a:solidFill>
            <a:prstDash val="solid"/>
          </a:ln>
        </p:spPr>
      </p:sp>
      <p:sp>
        <p:nvSpPr>
          <p:cNvPr id="22" name="step-number-2">
            <a:extLst xmlns:a="http://schemas.openxmlformats.org/drawingml/2006/main">
              <a:ext uri="{FF2B5EF4-FFF2-40B4-BE49-F238E27FC236}">
                <a16:creationId xmlns:a16="http://schemas.microsoft.com/office/drawing/2014/main" id="{376C56A9-2CEC-4F1A-85BE-74E55833EC02}"/>
              </a:ext>
            </a:extLst>
          </p:cNvPr>
          <p:cNvSpPr>
            <a:spLocks xmlns:a="http://schemas.openxmlformats.org/drawingml/2006/main" noGrp="1"/>
          </p:cNvSpPr>
          <p:nvPr/>
        </p:nvSpPr>
        <p:spPr>
          <a:xfrm xmlns:a="http://schemas.openxmlformats.org/drawingml/2006/main">
            <a:off x="6400800" y="203835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2E74B5"/>
                </a:solidFill>
                <a:latin typeface="Arial"/>
                <a:ea typeface="Arial"/>
                <a:cs typeface="Arial"/>
              </a:defRPr>
            </a:pPr>
            <a:r>
              <a:rPr sz="1200" b="1">
                <a:solidFill>
                  <a:srgbClr val="2E74B5"/>
                </a:solidFill>
                <a:latin typeface="Arial"/>
                <a:ea typeface="Arial"/>
                <a:cs typeface="Arial"/>
              </a:rPr>
              <a:t>03</a:t>
            </a:r>
          </a:p>
        </p:txBody>
      </p:sp>
      <p:sp>
        <p:nvSpPr>
          <p:cNvPr id="23" name="step-label-2">
            <a:extLst xmlns:a="http://schemas.openxmlformats.org/drawingml/2006/main">
              <a:ext uri="{FF2B5EF4-FFF2-40B4-BE49-F238E27FC236}">
                <a16:creationId xmlns:a16="http://schemas.microsoft.com/office/drawing/2014/main" id="{AE18D5FF-D854-4234-AFAC-256A1FF7FB68}"/>
              </a:ext>
            </a:extLst>
          </p:cNvPr>
          <p:cNvSpPr>
            <a:spLocks xmlns:a="http://schemas.openxmlformats.org/drawingml/2006/main" noGrp="1"/>
          </p:cNvSpPr>
          <p:nvPr/>
        </p:nvSpPr>
        <p:spPr>
          <a:xfrm xmlns:a="http://schemas.openxmlformats.org/drawingml/2006/main">
            <a:off x="6896100" y="2057400"/>
            <a:ext cx="1695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TRUE</a:t>
            </a:r>
          </a:p>
        </p:txBody>
      </p:sp>
      <p:sp>
        <p:nvSpPr>
          <p:cNvPr id="24" name="">
            <a:extLst xmlns:a="http://schemas.openxmlformats.org/drawingml/2006/main">
              <a:ext uri="{FF2B5EF4-FFF2-40B4-BE49-F238E27FC236}">
                <a16:creationId xmlns:a16="http://schemas.microsoft.com/office/drawing/2014/main" id="{73C2B28D-7645-41F6-8415-92C71DDED004}"/>
              </a:ext>
            </a:extLst>
          </p:cNvPr>
          <p:cNvSpPr>
            <a:spLocks xmlns:a="http://schemas.openxmlformats.org/drawingml/2006/main" noGrp="1"/>
          </p:cNvSpPr>
          <p:nvPr/>
        </p:nvSpPr>
        <p:spPr>
          <a:xfrm xmlns:a="http://schemas.openxmlformats.org/drawingml/2006/main">
            <a:off x="6400800" y="2476500"/>
            <a:ext cx="2190750" cy="0"/>
          </a:xfrm>
          <a:prstGeom xmlns:a="http://schemas.openxmlformats.org/drawingml/2006/main" prst="line">
            <a:avLst/>
          </a:prstGeom>
          <a:noFill xmlns:a="http://schemas.openxmlformats.org/drawingml/2006/main"/>
          <a:ln xmlns:a="http://schemas.openxmlformats.org/drawingml/2006/main" w="19050">
            <a:solidFill>
              <a:srgbClr val="111316"/>
            </a:solidFill>
            <a:prstDash val="solid"/>
          </a:ln>
        </p:spPr>
      </p:sp>
      <p:sp>
        <p:nvSpPr>
          <p:cNvPr id="25" name="step-head-2">
            <a:extLst xmlns:a="http://schemas.openxmlformats.org/drawingml/2006/main">
              <a:ext uri="{FF2B5EF4-FFF2-40B4-BE49-F238E27FC236}">
                <a16:creationId xmlns:a16="http://schemas.microsoft.com/office/drawing/2014/main" id="{FEB0A8C1-29B1-4276-9DF0-7827E0A0A5F9}"/>
              </a:ext>
            </a:extLst>
          </p:cNvPr>
          <p:cNvSpPr>
            <a:spLocks xmlns:a="http://schemas.openxmlformats.org/drawingml/2006/main" noGrp="1"/>
          </p:cNvSpPr>
          <p:nvPr/>
        </p:nvSpPr>
        <p:spPr>
          <a:xfrm xmlns:a="http://schemas.openxmlformats.org/drawingml/2006/main">
            <a:off x="6400800" y="2667000"/>
            <a:ext cx="2190750" cy="55092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Take the if branch</a:t>
            </a:r>
          </a:p>
        </p:txBody>
      </p:sp>
      <p:sp>
        <p:nvSpPr>
          <p:cNvPr id="26" name="step-body-2">
            <a:extLst xmlns:a="http://schemas.openxmlformats.org/drawingml/2006/main">
              <a:ext uri="{FF2B5EF4-FFF2-40B4-BE49-F238E27FC236}">
                <a16:creationId xmlns:a16="http://schemas.microsoft.com/office/drawing/2014/main" id="{F093184D-45A1-4186-9E5B-3E8E6E4EA211}"/>
              </a:ext>
            </a:extLst>
          </p:cNvPr>
          <p:cNvSpPr>
            <a:spLocks xmlns:a="http://schemas.openxmlformats.org/drawingml/2006/main" noGrp="1"/>
          </p:cNvSpPr>
          <p:nvPr/>
        </p:nvSpPr>
        <p:spPr>
          <a:xfrm xmlns:a="http://schemas.openxmlformats.org/drawingml/2006/main">
            <a:off x="6400800" y="3370326"/>
            <a:ext cx="2190750" cy="24780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Record: criterion met.</a:t>
            </a:r>
          </a:p>
        </p:txBody>
      </p:sp>
      <p:sp>
        <p:nvSpPr>
          <p:cNvPr id="27" name="step-node-3">
            <a:extLst xmlns:a="http://schemas.openxmlformats.org/drawingml/2006/main">
              <a:ext uri="{FF2B5EF4-FFF2-40B4-BE49-F238E27FC236}">
                <a16:creationId xmlns:a16="http://schemas.microsoft.com/office/drawing/2014/main" id="{687D1FFB-C4E2-4F8B-9A01-05EC91340094}"/>
              </a:ext>
            </a:extLst>
          </p:cNvPr>
          <p:cNvSpPr>
            <a:spLocks xmlns:a="http://schemas.openxmlformats.org/drawingml/2006/main" noGrp="1"/>
          </p:cNvSpPr>
          <p:nvPr/>
        </p:nvSpPr>
        <p:spPr>
          <a:xfrm xmlns:a="http://schemas.openxmlformats.org/drawingml/2006/main">
            <a:off x="9010650" y="1847850"/>
            <a:ext cx="2571750" cy="4171950"/>
          </a:xfrm>
          <a:prstGeom xmlns:a="http://schemas.openxmlformats.org/drawingml/2006/main" prst="roundRect">
            <a:avLst>
              <a:gd name="adj" fmla="val 3704"/>
            </a:avLst>
          </a:prstGeom>
          <a:solidFill xmlns:a="http://schemas.openxmlformats.org/drawingml/2006/main">
            <a:srgbClr val="F6F7F9"/>
          </a:solidFill>
          <a:ln xmlns:a="http://schemas.openxmlformats.org/drawingml/2006/main" w="9525">
            <a:solidFill>
              <a:srgbClr val="DDE0E5"/>
            </a:solidFill>
            <a:prstDash val="solid"/>
          </a:ln>
        </p:spPr>
      </p:sp>
      <p:sp>
        <p:nvSpPr>
          <p:cNvPr id="28" name="step-number-3">
            <a:extLst xmlns:a="http://schemas.openxmlformats.org/drawingml/2006/main">
              <a:ext uri="{FF2B5EF4-FFF2-40B4-BE49-F238E27FC236}">
                <a16:creationId xmlns:a16="http://schemas.microsoft.com/office/drawing/2014/main" id="{6E2D18A5-FE73-4A4B-8C1E-0AEEE9773887}"/>
              </a:ext>
            </a:extLst>
          </p:cNvPr>
          <p:cNvSpPr>
            <a:spLocks xmlns:a="http://schemas.openxmlformats.org/drawingml/2006/main" noGrp="1"/>
          </p:cNvSpPr>
          <p:nvPr/>
        </p:nvSpPr>
        <p:spPr>
          <a:xfrm xmlns:a="http://schemas.openxmlformats.org/drawingml/2006/main">
            <a:off x="9201150" y="203835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2E74B5"/>
                </a:solidFill>
                <a:latin typeface="Arial"/>
                <a:ea typeface="Arial"/>
                <a:cs typeface="Arial"/>
              </a:defRPr>
            </a:pPr>
            <a:r>
              <a:rPr sz="1200" b="1">
                <a:solidFill>
                  <a:srgbClr val="2E74B5"/>
                </a:solidFill>
                <a:latin typeface="Arial"/>
                <a:ea typeface="Arial"/>
                <a:cs typeface="Arial"/>
              </a:rPr>
              <a:t>04</a:t>
            </a:r>
          </a:p>
        </p:txBody>
      </p:sp>
      <p:sp>
        <p:nvSpPr>
          <p:cNvPr id="29" name="step-label-3">
            <a:extLst xmlns:a="http://schemas.openxmlformats.org/drawingml/2006/main">
              <a:ext uri="{FF2B5EF4-FFF2-40B4-BE49-F238E27FC236}">
                <a16:creationId xmlns:a16="http://schemas.microsoft.com/office/drawing/2014/main" id="{CF7C2F45-9203-4234-B15C-C7A33FCB8133}"/>
              </a:ext>
            </a:extLst>
          </p:cNvPr>
          <p:cNvSpPr>
            <a:spLocks xmlns:a="http://schemas.openxmlformats.org/drawingml/2006/main" noGrp="1"/>
          </p:cNvSpPr>
          <p:nvPr/>
        </p:nvSpPr>
        <p:spPr>
          <a:xfrm xmlns:a="http://schemas.openxmlformats.org/drawingml/2006/main">
            <a:off x="9696450" y="2057400"/>
            <a:ext cx="1695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FALSE</a:t>
            </a:r>
          </a:p>
        </p:txBody>
      </p:sp>
      <p:sp>
        <p:nvSpPr>
          <p:cNvPr id="30" name="">
            <a:extLst xmlns:a="http://schemas.openxmlformats.org/drawingml/2006/main">
              <a:ext uri="{FF2B5EF4-FFF2-40B4-BE49-F238E27FC236}">
                <a16:creationId xmlns:a16="http://schemas.microsoft.com/office/drawing/2014/main" id="{DDD2BC66-5549-464F-A5E9-E12186FCD9F4}"/>
              </a:ext>
            </a:extLst>
          </p:cNvPr>
          <p:cNvSpPr>
            <a:spLocks xmlns:a="http://schemas.openxmlformats.org/drawingml/2006/main" noGrp="1"/>
          </p:cNvSpPr>
          <p:nvPr/>
        </p:nvSpPr>
        <p:spPr>
          <a:xfrm xmlns:a="http://schemas.openxmlformats.org/drawingml/2006/main">
            <a:off x="9201150" y="2476500"/>
            <a:ext cx="2190750" cy="0"/>
          </a:xfrm>
          <a:prstGeom xmlns:a="http://schemas.openxmlformats.org/drawingml/2006/main" prst="line">
            <a:avLst/>
          </a:prstGeom>
          <a:noFill xmlns:a="http://schemas.openxmlformats.org/drawingml/2006/main"/>
          <a:ln xmlns:a="http://schemas.openxmlformats.org/drawingml/2006/main" w="19050">
            <a:solidFill>
              <a:srgbClr val="111316"/>
            </a:solidFill>
            <a:prstDash val="solid"/>
          </a:ln>
        </p:spPr>
      </p:sp>
      <p:sp>
        <p:nvSpPr>
          <p:cNvPr id="31" name="step-head-3">
            <a:extLst xmlns:a="http://schemas.openxmlformats.org/drawingml/2006/main">
              <a:ext uri="{FF2B5EF4-FFF2-40B4-BE49-F238E27FC236}">
                <a16:creationId xmlns:a16="http://schemas.microsoft.com/office/drawing/2014/main" id="{EE8090B8-4A0D-4DDC-8DAB-F8E9D3722EBA}"/>
              </a:ext>
            </a:extLst>
          </p:cNvPr>
          <p:cNvSpPr>
            <a:spLocks xmlns:a="http://schemas.openxmlformats.org/drawingml/2006/main" noGrp="1"/>
          </p:cNvSpPr>
          <p:nvPr/>
        </p:nvSpPr>
        <p:spPr>
          <a:xfrm xmlns:a="http://schemas.openxmlformats.org/drawingml/2006/main">
            <a:off x="9201150" y="2667000"/>
            <a:ext cx="2190750" cy="55092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Take the else branch</a:t>
            </a:r>
          </a:p>
        </p:txBody>
      </p:sp>
      <p:sp>
        <p:nvSpPr>
          <p:cNvPr id="32" name="step-body-3">
            <a:extLst xmlns:a="http://schemas.openxmlformats.org/drawingml/2006/main">
              <a:ext uri="{FF2B5EF4-FFF2-40B4-BE49-F238E27FC236}">
                <a16:creationId xmlns:a16="http://schemas.microsoft.com/office/drawing/2014/main" id="{7CC63BF2-D105-4A47-83D2-C76D49DB772E}"/>
              </a:ext>
            </a:extLst>
          </p:cNvPr>
          <p:cNvSpPr>
            <a:spLocks xmlns:a="http://schemas.openxmlformats.org/drawingml/2006/main" noGrp="1"/>
          </p:cNvSpPr>
          <p:nvPr/>
        </p:nvSpPr>
        <p:spPr>
          <a:xfrm xmlns:a="http://schemas.openxmlformats.org/drawingml/2006/main">
            <a:off x="9201150" y="3370326"/>
            <a:ext cx="2190750" cy="24780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Record: review needed.</a:t>
            </a:r>
          </a:p>
        </p:txBody>
      </p:sp>
    </p:spTree>
    <p:extLst>
      <p:ext uri="{BB962C8B-B14F-4D97-AF65-F5344CB8AC3E}">
        <p14:creationId xmlns:p14="http://schemas.microsoft.com/office/powerpoint/2010/main" val="1393509543"/>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0" name="kicker">
            <a:extLst xmlns:a="http://schemas.openxmlformats.org/drawingml/2006/main">
              <a:ext uri="{FF2B5EF4-FFF2-40B4-BE49-F238E27FC236}">
                <a16:creationId xmlns:a16="http://schemas.microsoft.com/office/drawing/2014/main" id="{63B94225-09DC-4E57-B6CA-94669A2DAEC8}"/>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READ THE DATA</a:t>
            </a:r>
          </a:p>
        </p:txBody>
      </p:sp>
      <p:sp>
        <p:nvSpPr>
          <p:cNvPr id="2" name="title">
            <a:extLst xmlns:a="http://schemas.openxmlformats.org/drawingml/2006/main">
              <a:ext uri="{FF2B5EF4-FFF2-40B4-BE49-F238E27FC236}">
                <a16:creationId xmlns:a16="http://schemas.microsoft.com/office/drawing/2014/main" id="{3133F48C-E536-40C2-8382-93B0CC1240D1}"/>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The boundary is a policy choice, not a Python default</a:t>
            </a:r>
          </a:p>
        </p:txBody>
      </p:sp>
      <p:sp>
        <p:nvSpPr>
          <p:cNvPr id="3" name="">
            <a:extLst xmlns:a="http://schemas.openxmlformats.org/drawingml/2006/main">
              <a:ext uri="{FF2B5EF4-FFF2-40B4-BE49-F238E27FC236}">
                <a16:creationId xmlns:a16="http://schemas.microsoft.com/office/drawing/2014/main" id="{76BDD36F-439B-4542-A952-8E0C8A048FEE}"/>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690B5703-6468-41FA-A67F-B0B51468C29B}"/>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3 · Meeting A · Decisions and Functions · Full Source Deck</a:t>
            </a:r>
          </a:p>
        </p:txBody>
      </p:sp>
      <p:sp>
        <p:nvSpPr>
          <p:cNvPr id="5" name="page">
            <a:extLst xmlns:a="http://schemas.openxmlformats.org/drawingml/2006/main">
              <a:ext uri="{FF2B5EF4-FFF2-40B4-BE49-F238E27FC236}">
                <a16:creationId xmlns:a16="http://schemas.microsoft.com/office/drawing/2014/main" id="{AA75D0F1-0A5F-4F4B-B44D-0FD05EF18301}"/>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17</a:t>
            </a:r>
          </a:p>
        </p:txBody>
      </p:sp>
      <p:sp>
        <p:nvSpPr>
          <p:cNvPr id="6" name="">
            <a:extLst xmlns:a="http://schemas.openxmlformats.org/drawingml/2006/main">
              <a:ext uri="{FF2B5EF4-FFF2-40B4-BE49-F238E27FC236}">
                <a16:creationId xmlns:a16="http://schemas.microsoft.com/office/drawing/2014/main" id="{5ED05C57-BECD-4B0B-8196-70E2313D31A3}"/>
              </a:ext>
            </a:extLst>
          </p:cNvPr>
          <p:cNvSpPr>
            <a:spLocks xmlns:a="http://schemas.openxmlformats.org/drawingml/2006/main" noGrp="1"/>
          </p:cNvSpPr>
          <p:nvPr/>
        </p:nvSpPr>
        <p:spPr>
          <a:xfrm xmlns:a="http://schemas.openxmlformats.org/drawingml/2006/main">
            <a:off x="609600" y="2886075"/>
            <a:ext cx="1350818" cy="541020"/>
          </a:xfrm>
          <a:prstGeom xmlns:a="http://schemas.openxmlformats.org/drawingml/2006/main" prst="rect">
            <a:avLst/>
          </a:prstGeom>
          <a:solidFill xmlns:a="http://schemas.openxmlformats.org/drawingml/2006/main">
            <a:srgbClr val="17191C"/>
          </a:solidFill>
          <a:ln xmlns:a="http://schemas.openxmlformats.org/drawingml/2006/main" w="9525">
            <a:solidFill>
              <a:srgbClr val="FFFFFF"/>
            </a:solidFill>
            <a:prstDash val="solid"/>
          </a:ln>
        </p:spPr>
      </p:sp>
      <p:sp>
        <p:nvSpPr>
          <p:cNvPr id="7" name="header-0">
            <a:extLst xmlns:a="http://schemas.openxmlformats.org/drawingml/2006/main">
              <a:ext uri="{FF2B5EF4-FFF2-40B4-BE49-F238E27FC236}">
                <a16:creationId xmlns:a16="http://schemas.microsoft.com/office/drawing/2014/main" id="{8787536E-B64B-4B96-894F-481E65C5D1E0}"/>
              </a:ext>
            </a:extLst>
          </p:cNvPr>
          <p:cNvSpPr>
            <a:spLocks xmlns:a="http://schemas.openxmlformats.org/drawingml/2006/main" noGrp="1"/>
          </p:cNvSpPr>
          <p:nvPr/>
        </p:nvSpPr>
        <p:spPr>
          <a:xfrm xmlns:a="http://schemas.openxmlformats.org/drawingml/2006/main">
            <a:off x="723900" y="2962275"/>
            <a:ext cx="1122218"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1">
                <a:solidFill>
                  <a:srgbClr val="FFFFFF"/>
                </a:solidFill>
                <a:latin typeface="Arial"/>
                <a:ea typeface="Arial"/>
                <a:cs typeface="Arial"/>
              </a:defRPr>
            </a:pPr>
            <a:r>
              <a:rPr sz="1500" b="1">
                <a:solidFill>
                  <a:srgbClr val="FFFFFF"/>
                </a:solidFill>
                <a:latin typeface="Arial"/>
                <a:ea typeface="Arial"/>
                <a:cs typeface="Arial"/>
              </a:rPr>
              <a:t>area_m2</a:t>
            </a:r>
          </a:p>
        </p:txBody>
      </p:sp>
      <p:sp>
        <p:nvSpPr>
          <p:cNvPr id="8" name="">
            <a:extLst xmlns:a="http://schemas.openxmlformats.org/drawingml/2006/main">
              <a:ext uri="{FF2B5EF4-FFF2-40B4-BE49-F238E27FC236}">
                <a16:creationId xmlns:a16="http://schemas.microsoft.com/office/drawing/2014/main" id="{A3F815E6-3F47-470E-BA81-23CF2BED1B63}"/>
              </a:ext>
            </a:extLst>
          </p:cNvPr>
          <p:cNvSpPr>
            <a:spLocks xmlns:a="http://schemas.openxmlformats.org/drawingml/2006/main" noGrp="1"/>
          </p:cNvSpPr>
          <p:nvPr/>
        </p:nvSpPr>
        <p:spPr>
          <a:xfrm xmlns:a="http://schemas.openxmlformats.org/drawingml/2006/main">
            <a:off x="1960418" y="2886075"/>
            <a:ext cx="1688523" cy="541020"/>
          </a:xfrm>
          <a:prstGeom xmlns:a="http://schemas.openxmlformats.org/drawingml/2006/main" prst="rect">
            <a:avLst/>
          </a:prstGeom>
          <a:solidFill xmlns:a="http://schemas.openxmlformats.org/drawingml/2006/main">
            <a:srgbClr val="17191C"/>
          </a:solidFill>
          <a:ln xmlns:a="http://schemas.openxmlformats.org/drawingml/2006/main" w="9525">
            <a:solidFill>
              <a:srgbClr val="FFFFFF"/>
            </a:solidFill>
            <a:prstDash val="solid"/>
          </a:ln>
        </p:spPr>
      </p:sp>
      <p:sp>
        <p:nvSpPr>
          <p:cNvPr id="9" name="header-1">
            <a:extLst xmlns:a="http://schemas.openxmlformats.org/drawingml/2006/main">
              <a:ext uri="{FF2B5EF4-FFF2-40B4-BE49-F238E27FC236}">
                <a16:creationId xmlns:a16="http://schemas.microsoft.com/office/drawing/2014/main" id="{74F63EE9-D39C-4D08-8DAE-87EF29BBFDED}"/>
              </a:ext>
            </a:extLst>
          </p:cNvPr>
          <p:cNvSpPr>
            <a:spLocks xmlns:a="http://schemas.openxmlformats.org/drawingml/2006/main" noGrp="1"/>
          </p:cNvSpPr>
          <p:nvPr/>
        </p:nvSpPr>
        <p:spPr>
          <a:xfrm xmlns:a="http://schemas.openxmlformats.org/drawingml/2006/main">
            <a:off x="2074718" y="2962275"/>
            <a:ext cx="1459923"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1">
                <a:solidFill>
                  <a:srgbClr val="FFFFFF"/>
                </a:solidFill>
                <a:latin typeface="Arial"/>
                <a:ea typeface="Arial"/>
                <a:cs typeface="Arial"/>
              </a:defRPr>
            </a:pPr>
            <a:r>
              <a:rPr sz="1500" b="1">
                <a:solidFill>
                  <a:srgbClr val="FFFFFF"/>
                </a:solidFill>
                <a:latin typeface="Arial"/>
                <a:ea typeface="Arial"/>
                <a:cs typeface="Arial"/>
              </a:rPr>
              <a:t>area_m2 &gt;= 40.0</a:t>
            </a:r>
          </a:p>
        </p:txBody>
      </p:sp>
      <p:sp>
        <p:nvSpPr>
          <p:cNvPr id="10" name="">
            <a:extLst xmlns:a="http://schemas.openxmlformats.org/drawingml/2006/main">
              <a:ext uri="{FF2B5EF4-FFF2-40B4-BE49-F238E27FC236}">
                <a16:creationId xmlns:a16="http://schemas.microsoft.com/office/drawing/2014/main" id="{8057256C-7550-44C3-89E6-1EE625642B2A}"/>
              </a:ext>
            </a:extLst>
          </p:cNvPr>
          <p:cNvSpPr>
            <a:spLocks xmlns:a="http://schemas.openxmlformats.org/drawingml/2006/main" noGrp="1"/>
          </p:cNvSpPr>
          <p:nvPr/>
        </p:nvSpPr>
        <p:spPr>
          <a:xfrm xmlns:a="http://schemas.openxmlformats.org/drawingml/2006/main">
            <a:off x="3648941" y="2886075"/>
            <a:ext cx="1688523" cy="541020"/>
          </a:xfrm>
          <a:prstGeom xmlns:a="http://schemas.openxmlformats.org/drawingml/2006/main" prst="rect">
            <a:avLst/>
          </a:prstGeom>
          <a:solidFill xmlns:a="http://schemas.openxmlformats.org/drawingml/2006/main">
            <a:srgbClr val="17191C"/>
          </a:solidFill>
          <a:ln xmlns:a="http://schemas.openxmlformats.org/drawingml/2006/main" w="9525">
            <a:solidFill>
              <a:srgbClr val="FFFFFF"/>
            </a:solidFill>
            <a:prstDash val="solid"/>
          </a:ln>
        </p:spPr>
      </p:sp>
      <p:sp>
        <p:nvSpPr>
          <p:cNvPr id="11" name="header-2">
            <a:extLst xmlns:a="http://schemas.openxmlformats.org/drawingml/2006/main">
              <a:ext uri="{FF2B5EF4-FFF2-40B4-BE49-F238E27FC236}">
                <a16:creationId xmlns:a16="http://schemas.microsoft.com/office/drawing/2014/main" id="{F7B52450-99F6-455D-932F-1BAB3926E91B}"/>
              </a:ext>
            </a:extLst>
          </p:cNvPr>
          <p:cNvSpPr>
            <a:spLocks xmlns:a="http://schemas.openxmlformats.org/drawingml/2006/main" noGrp="1"/>
          </p:cNvSpPr>
          <p:nvPr/>
        </p:nvSpPr>
        <p:spPr>
          <a:xfrm xmlns:a="http://schemas.openxmlformats.org/drawingml/2006/main">
            <a:off x="3763241" y="2962275"/>
            <a:ext cx="1459923"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1">
                <a:solidFill>
                  <a:srgbClr val="FFFFFF"/>
                </a:solidFill>
                <a:latin typeface="Arial"/>
                <a:ea typeface="Arial"/>
                <a:cs typeface="Arial"/>
              </a:defRPr>
            </a:pPr>
            <a:r>
              <a:rPr sz="1500" b="1">
                <a:solidFill>
                  <a:srgbClr val="FFFFFF"/>
                </a:solidFill>
                <a:latin typeface="Arial"/>
                <a:ea typeface="Arial"/>
                <a:cs typeface="Arial"/>
              </a:rPr>
              <a:t>area_m2 &gt; 40.0</a:t>
            </a:r>
          </a:p>
        </p:txBody>
      </p:sp>
      <p:sp>
        <p:nvSpPr>
          <p:cNvPr id="12" name="">
            <a:extLst xmlns:a="http://schemas.openxmlformats.org/drawingml/2006/main">
              <a:ext uri="{FF2B5EF4-FFF2-40B4-BE49-F238E27FC236}">
                <a16:creationId xmlns:a16="http://schemas.microsoft.com/office/drawing/2014/main" id="{CF69C7EE-0435-41CB-AF87-4614D172EFC2}"/>
              </a:ext>
            </a:extLst>
          </p:cNvPr>
          <p:cNvSpPr>
            <a:spLocks xmlns:a="http://schemas.openxmlformats.org/drawingml/2006/main" noGrp="1"/>
          </p:cNvSpPr>
          <p:nvPr/>
        </p:nvSpPr>
        <p:spPr>
          <a:xfrm xmlns:a="http://schemas.openxmlformats.org/drawingml/2006/main">
            <a:off x="5337464" y="2886075"/>
            <a:ext cx="2701636" cy="541020"/>
          </a:xfrm>
          <a:prstGeom xmlns:a="http://schemas.openxmlformats.org/drawingml/2006/main" prst="rect">
            <a:avLst/>
          </a:prstGeom>
          <a:solidFill xmlns:a="http://schemas.openxmlformats.org/drawingml/2006/main">
            <a:srgbClr val="17191C"/>
          </a:solidFill>
          <a:ln xmlns:a="http://schemas.openxmlformats.org/drawingml/2006/main" w="9525">
            <a:solidFill>
              <a:srgbClr val="FFFFFF"/>
            </a:solidFill>
            <a:prstDash val="solid"/>
          </a:ln>
        </p:spPr>
      </p:sp>
      <p:sp>
        <p:nvSpPr>
          <p:cNvPr id="13" name="header-3">
            <a:extLst xmlns:a="http://schemas.openxmlformats.org/drawingml/2006/main">
              <a:ext uri="{FF2B5EF4-FFF2-40B4-BE49-F238E27FC236}">
                <a16:creationId xmlns:a16="http://schemas.microsoft.com/office/drawing/2014/main" id="{15FDA4C4-7FFC-4C01-8CEE-E41A08F6030F}"/>
              </a:ext>
            </a:extLst>
          </p:cNvPr>
          <p:cNvSpPr>
            <a:spLocks xmlns:a="http://schemas.openxmlformats.org/drawingml/2006/main" noGrp="1"/>
          </p:cNvSpPr>
          <p:nvPr/>
        </p:nvSpPr>
        <p:spPr>
          <a:xfrm xmlns:a="http://schemas.openxmlformats.org/drawingml/2006/main">
            <a:off x="5451764" y="2962275"/>
            <a:ext cx="2473036"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1">
                <a:solidFill>
                  <a:srgbClr val="FFFFFF"/>
                </a:solidFill>
                <a:latin typeface="Arial"/>
                <a:ea typeface="Arial"/>
                <a:cs typeface="Arial"/>
              </a:defRPr>
            </a:pPr>
            <a:r>
              <a:rPr sz="1500" b="1">
                <a:solidFill>
                  <a:srgbClr val="FFFFFF"/>
                </a:solidFill>
                <a:latin typeface="Arial"/>
                <a:ea typeface="Arial"/>
                <a:cs typeface="Arial"/>
              </a:rPr>
              <a:t>what the difference means</a:t>
            </a:r>
          </a:p>
        </p:txBody>
      </p:sp>
      <p:sp>
        <p:nvSpPr>
          <p:cNvPr id="14" name="">
            <a:extLst xmlns:a="http://schemas.openxmlformats.org/drawingml/2006/main">
              <a:ext uri="{FF2B5EF4-FFF2-40B4-BE49-F238E27FC236}">
                <a16:creationId xmlns:a16="http://schemas.microsoft.com/office/drawing/2014/main" id="{1AECD56F-3663-477D-A7F2-8DCF589EB6B8}"/>
              </a:ext>
            </a:extLst>
          </p:cNvPr>
          <p:cNvSpPr>
            <a:spLocks xmlns:a="http://schemas.openxmlformats.org/drawingml/2006/main" noGrp="1"/>
          </p:cNvSpPr>
          <p:nvPr/>
        </p:nvSpPr>
        <p:spPr>
          <a:xfrm xmlns:a="http://schemas.openxmlformats.org/drawingml/2006/main">
            <a:off x="609600" y="3427095"/>
            <a:ext cx="1350818" cy="54102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15" name="cell-0-0">
            <a:extLst xmlns:a="http://schemas.openxmlformats.org/drawingml/2006/main">
              <a:ext uri="{FF2B5EF4-FFF2-40B4-BE49-F238E27FC236}">
                <a16:creationId xmlns:a16="http://schemas.microsoft.com/office/drawing/2014/main" id="{3A2C41B6-5710-41F8-9D2D-C12E0311FFD7}"/>
              </a:ext>
            </a:extLst>
          </p:cNvPr>
          <p:cNvSpPr>
            <a:spLocks xmlns:a="http://schemas.openxmlformats.org/drawingml/2006/main" noGrp="1"/>
          </p:cNvSpPr>
          <p:nvPr/>
        </p:nvSpPr>
        <p:spPr>
          <a:xfrm xmlns:a="http://schemas.openxmlformats.org/drawingml/2006/main">
            <a:off x="723900" y="3503295"/>
            <a:ext cx="1122218"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39.9</a:t>
            </a:r>
          </a:p>
        </p:txBody>
      </p:sp>
      <p:sp>
        <p:nvSpPr>
          <p:cNvPr id="16" name="">
            <a:extLst xmlns:a="http://schemas.openxmlformats.org/drawingml/2006/main">
              <a:ext uri="{FF2B5EF4-FFF2-40B4-BE49-F238E27FC236}">
                <a16:creationId xmlns:a16="http://schemas.microsoft.com/office/drawing/2014/main" id="{DDEFC85C-9930-4FA0-AA8E-089D32213D08}"/>
              </a:ext>
            </a:extLst>
          </p:cNvPr>
          <p:cNvSpPr>
            <a:spLocks xmlns:a="http://schemas.openxmlformats.org/drawingml/2006/main" noGrp="1"/>
          </p:cNvSpPr>
          <p:nvPr/>
        </p:nvSpPr>
        <p:spPr>
          <a:xfrm xmlns:a="http://schemas.openxmlformats.org/drawingml/2006/main">
            <a:off x="1960418" y="3427095"/>
            <a:ext cx="1688523" cy="54102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17" name="cell-0-1">
            <a:extLst xmlns:a="http://schemas.openxmlformats.org/drawingml/2006/main">
              <a:ext uri="{FF2B5EF4-FFF2-40B4-BE49-F238E27FC236}">
                <a16:creationId xmlns:a16="http://schemas.microsoft.com/office/drawing/2014/main" id="{516E3D66-363D-4C20-BF15-2ED535CDABE6}"/>
              </a:ext>
            </a:extLst>
          </p:cNvPr>
          <p:cNvSpPr>
            <a:spLocks xmlns:a="http://schemas.openxmlformats.org/drawingml/2006/main" noGrp="1"/>
          </p:cNvSpPr>
          <p:nvPr/>
        </p:nvSpPr>
        <p:spPr>
          <a:xfrm xmlns:a="http://schemas.openxmlformats.org/drawingml/2006/main">
            <a:off x="2074718" y="3503295"/>
            <a:ext cx="1459923"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False</a:t>
            </a:r>
          </a:p>
        </p:txBody>
      </p:sp>
      <p:sp>
        <p:nvSpPr>
          <p:cNvPr id="18" name="">
            <a:extLst xmlns:a="http://schemas.openxmlformats.org/drawingml/2006/main">
              <a:ext uri="{FF2B5EF4-FFF2-40B4-BE49-F238E27FC236}">
                <a16:creationId xmlns:a16="http://schemas.microsoft.com/office/drawing/2014/main" id="{D016F265-ABF5-4564-AD98-38D90867B4ED}"/>
              </a:ext>
            </a:extLst>
          </p:cNvPr>
          <p:cNvSpPr>
            <a:spLocks xmlns:a="http://schemas.openxmlformats.org/drawingml/2006/main" noGrp="1"/>
          </p:cNvSpPr>
          <p:nvPr/>
        </p:nvSpPr>
        <p:spPr>
          <a:xfrm xmlns:a="http://schemas.openxmlformats.org/drawingml/2006/main">
            <a:off x="3648941" y="3427095"/>
            <a:ext cx="1688523" cy="54102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19" name="cell-0-2">
            <a:extLst xmlns:a="http://schemas.openxmlformats.org/drawingml/2006/main">
              <a:ext uri="{FF2B5EF4-FFF2-40B4-BE49-F238E27FC236}">
                <a16:creationId xmlns:a16="http://schemas.microsoft.com/office/drawing/2014/main" id="{ABAD3E77-34FB-4118-88CB-4465BBA34E4A}"/>
              </a:ext>
            </a:extLst>
          </p:cNvPr>
          <p:cNvSpPr>
            <a:spLocks xmlns:a="http://schemas.openxmlformats.org/drawingml/2006/main" noGrp="1"/>
          </p:cNvSpPr>
          <p:nvPr/>
        </p:nvSpPr>
        <p:spPr>
          <a:xfrm xmlns:a="http://schemas.openxmlformats.org/drawingml/2006/main">
            <a:off x="3763241" y="3503295"/>
            <a:ext cx="1459923"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False</a:t>
            </a:r>
          </a:p>
        </p:txBody>
      </p:sp>
      <p:sp>
        <p:nvSpPr>
          <p:cNvPr id="20" name="">
            <a:extLst xmlns:a="http://schemas.openxmlformats.org/drawingml/2006/main">
              <a:ext uri="{FF2B5EF4-FFF2-40B4-BE49-F238E27FC236}">
                <a16:creationId xmlns:a16="http://schemas.microsoft.com/office/drawing/2014/main" id="{F1C9ECA9-A4B6-4170-BF17-6F400C78D79A}"/>
              </a:ext>
            </a:extLst>
          </p:cNvPr>
          <p:cNvSpPr>
            <a:spLocks xmlns:a="http://schemas.openxmlformats.org/drawingml/2006/main" noGrp="1"/>
          </p:cNvSpPr>
          <p:nvPr/>
        </p:nvSpPr>
        <p:spPr>
          <a:xfrm xmlns:a="http://schemas.openxmlformats.org/drawingml/2006/main">
            <a:off x="5337464" y="3427095"/>
            <a:ext cx="2701636" cy="54102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21" name="cell-0-3">
            <a:extLst xmlns:a="http://schemas.openxmlformats.org/drawingml/2006/main">
              <a:ext uri="{FF2B5EF4-FFF2-40B4-BE49-F238E27FC236}">
                <a16:creationId xmlns:a16="http://schemas.microsoft.com/office/drawing/2014/main" id="{3A5059FD-07BD-45C2-B1E0-19C1D1FAB9DA}"/>
              </a:ext>
            </a:extLst>
          </p:cNvPr>
          <p:cNvSpPr>
            <a:spLocks xmlns:a="http://schemas.openxmlformats.org/drawingml/2006/main" noGrp="1"/>
          </p:cNvSpPr>
          <p:nvPr/>
        </p:nvSpPr>
        <p:spPr>
          <a:xfrm xmlns:a="http://schemas.openxmlformats.org/drawingml/2006/main">
            <a:off x="5451764" y="3503295"/>
            <a:ext cx="2473036"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below the minimum on either rule</a:t>
            </a:r>
          </a:p>
        </p:txBody>
      </p:sp>
      <p:sp>
        <p:nvSpPr>
          <p:cNvPr id="22" name="">
            <a:extLst xmlns:a="http://schemas.openxmlformats.org/drawingml/2006/main">
              <a:ext uri="{FF2B5EF4-FFF2-40B4-BE49-F238E27FC236}">
                <a16:creationId xmlns:a16="http://schemas.microsoft.com/office/drawing/2014/main" id="{9F8DB202-B530-46AC-9C59-0C2C5FFF81A4}"/>
              </a:ext>
            </a:extLst>
          </p:cNvPr>
          <p:cNvSpPr>
            <a:spLocks xmlns:a="http://schemas.openxmlformats.org/drawingml/2006/main" noGrp="1"/>
          </p:cNvSpPr>
          <p:nvPr/>
        </p:nvSpPr>
        <p:spPr>
          <a:xfrm xmlns:a="http://schemas.openxmlformats.org/drawingml/2006/main">
            <a:off x="609600" y="3968115"/>
            <a:ext cx="1350818" cy="54102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23" name="cell-1-0">
            <a:extLst xmlns:a="http://schemas.openxmlformats.org/drawingml/2006/main">
              <a:ext uri="{FF2B5EF4-FFF2-40B4-BE49-F238E27FC236}">
                <a16:creationId xmlns:a16="http://schemas.microsoft.com/office/drawing/2014/main" id="{36BE654C-1BEF-4C8A-BEDA-F61FBF3D880F}"/>
              </a:ext>
            </a:extLst>
          </p:cNvPr>
          <p:cNvSpPr>
            <a:spLocks xmlns:a="http://schemas.openxmlformats.org/drawingml/2006/main" noGrp="1"/>
          </p:cNvSpPr>
          <p:nvPr/>
        </p:nvSpPr>
        <p:spPr>
          <a:xfrm xmlns:a="http://schemas.openxmlformats.org/drawingml/2006/main">
            <a:off x="723900" y="4044315"/>
            <a:ext cx="1122218"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40.0</a:t>
            </a:r>
          </a:p>
        </p:txBody>
      </p:sp>
      <p:sp>
        <p:nvSpPr>
          <p:cNvPr id="24" name="">
            <a:extLst xmlns:a="http://schemas.openxmlformats.org/drawingml/2006/main">
              <a:ext uri="{FF2B5EF4-FFF2-40B4-BE49-F238E27FC236}">
                <a16:creationId xmlns:a16="http://schemas.microsoft.com/office/drawing/2014/main" id="{60492BF8-25A1-4D22-9849-1290A00051A1}"/>
              </a:ext>
            </a:extLst>
          </p:cNvPr>
          <p:cNvSpPr>
            <a:spLocks xmlns:a="http://schemas.openxmlformats.org/drawingml/2006/main" noGrp="1"/>
          </p:cNvSpPr>
          <p:nvPr/>
        </p:nvSpPr>
        <p:spPr>
          <a:xfrm xmlns:a="http://schemas.openxmlformats.org/drawingml/2006/main">
            <a:off x="1960418" y="3968115"/>
            <a:ext cx="1688523" cy="54102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25" name="cell-1-1">
            <a:extLst xmlns:a="http://schemas.openxmlformats.org/drawingml/2006/main">
              <a:ext uri="{FF2B5EF4-FFF2-40B4-BE49-F238E27FC236}">
                <a16:creationId xmlns:a16="http://schemas.microsoft.com/office/drawing/2014/main" id="{B182343B-0796-48CD-809B-D987963B28B7}"/>
              </a:ext>
            </a:extLst>
          </p:cNvPr>
          <p:cNvSpPr>
            <a:spLocks xmlns:a="http://schemas.openxmlformats.org/drawingml/2006/main" noGrp="1"/>
          </p:cNvSpPr>
          <p:nvPr/>
        </p:nvSpPr>
        <p:spPr>
          <a:xfrm xmlns:a="http://schemas.openxmlformats.org/drawingml/2006/main">
            <a:off x="2074718" y="4044315"/>
            <a:ext cx="1459923"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True</a:t>
            </a:r>
          </a:p>
        </p:txBody>
      </p:sp>
      <p:sp>
        <p:nvSpPr>
          <p:cNvPr id="26" name="">
            <a:extLst xmlns:a="http://schemas.openxmlformats.org/drawingml/2006/main">
              <a:ext uri="{FF2B5EF4-FFF2-40B4-BE49-F238E27FC236}">
                <a16:creationId xmlns:a16="http://schemas.microsoft.com/office/drawing/2014/main" id="{CE4168DF-5850-4BCE-B0D4-1BF5149CE4E6}"/>
              </a:ext>
            </a:extLst>
          </p:cNvPr>
          <p:cNvSpPr>
            <a:spLocks xmlns:a="http://schemas.openxmlformats.org/drawingml/2006/main" noGrp="1"/>
          </p:cNvSpPr>
          <p:nvPr/>
        </p:nvSpPr>
        <p:spPr>
          <a:xfrm xmlns:a="http://schemas.openxmlformats.org/drawingml/2006/main">
            <a:off x="3648941" y="3968115"/>
            <a:ext cx="1688523" cy="54102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27" name="cell-1-2">
            <a:extLst xmlns:a="http://schemas.openxmlformats.org/drawingml/2006/main">
              <a:ext uri="{FF2B5EF4-FFF2-40B4-BE49-F238E27FC236}">
                <a16:creationId xmlns:a16="http://schemas.microsoft.com/office/drawing/2014/main" id="{28EF9FBA-36B6-49D8-B21D-98395EE2BBB1}"/>
              </a:ext>
            </a:extLst>
          </p:cNvPr>
          <p:cNvSpPr>
            <a:spLocks xmlns:a="http://schemas.openxmlformats.org/drawingml/2006/main" noGrp="1"/>
          </p:cNvSpPr>
          <p:nvPr/>
        </p:nvSpPr>
        <p:spPr>
          <a:xfrm xmlns:a="http://schemas.openxmlformats.org/drawingml/2006/main">
            <a:off x="3763241" y="4044315"/>
            <a:ext cx="1459923"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False</a:t>
            </a:r>
          </a:p>
        </p:txBody>
      </p:sp>
      <p:sp>
        <p:nvSpPr>
          <p:cNvPr id="28" name="">
            <a:extLst xmlns:a="http://schemas.openxmlformats.org/drawingml/2006/main">
              <a:ext uri="{FF2B5EF4-FFF2-40B4-BE49-F238E27FC236}">
                <a16:creationId xmlns:a16="http://schemas.microsoft.com/office/drawing/2014/main" id="{306DDD26-23EC-48EF-B6C2-45941ADB741B}"/>
              </a:ext>
            </a:extLst>
          </p:cNvPr>
          <p:cNvSpPr>
            <a:spLocks xmlns:a="http://schemas.openxmlformats.org/drawingml/2006/main" noGrp="1"/>
          </p:cNvSpPr>
          <p:nvPr/>
        </p:nvSpPr>
        <p:spPr>
          <a:xfrm xmlns:a="http://schemas.openxmlformats.org/drawingml/2006/main">
            <a:off x="5337464" y="3968115"/>
            <a:ext cx="2701636" cy="54102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29" name="cell-1-3">
            <a:extLst xmlns:a="http://schemas.openxmlformats.org/drawingml/2006/main">
              <a:ext uri="{FF2B5EF4-FFF2-40B4-BE49-F238E27FC236}">
                <a16:creationId xmlns:a16="http://schemas.microsoft.com/office/drawing/2014/main" id="{6A1970AC-80A9-46F2-B36B-45D90D10B09E}"/>
              </a:ext>
            </a:extLst>
          </p:cNvPr>
          <p:cNvSpPr>
            <a:spLocks xmlns:a="http://schemas.openxmlformats.org/drawingml/2006/main" noGrp="1"/>
          </p:cNvSpPr>
          <p:nvPr/>
        </p:nvSpPr>
        <p:spPr>
          <a:xfrm xmlns:a="http://schemas.openxmlformats.org/drawingml/2006/main">
            <a:off x="5451764" y="4044315"/>
            <a:ext cx="2473036"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only &gt;= admits the exact minimum</a:t>
            </a:r>
          </a:p>
        </p:txBody>
      </p:sp>
      <p:sp>
        <p:nvSpPr>
          <p:cNvPr id="30" name="">
            <a:extLst xmlns:a="http://schemas.openxmlformats.org/drawingml/2006/main">
              <a:ext uri="{FF2B5EF4-FFF2-40B4-BE49-F238E27FC236}">
                <a16:creationId xmlns:a16="http://schemas.microsoft.com/office/drawing/2014/main" id="{D0FFB3EB-BA3C-4949-B4EA-E9B2078FCC8E}"/>
              </a:ext>
            </a:extLst>
          </p:cNvPr>
          <p:cNvSpPr>
            <a:spLocks xmlns:a="http://schemas.openxmlformats.org/drawingml/2006/main" noGrp="1"/>
          </p:cNvSpPr>
          <p:nvPr/>
        </p:nvSpPr>
        <p:spPr>
          <a:xfrm xmlns:a="http://schemas.openxmlformats.org/drawingml/2006/main">
            <a:off x="609600" y="4509135"/>
            <a:ext cx="1350818" cy="54102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31" name="cell-2-0">
            <a:extLst xmlns:a="http://schemas.openxmlformats.org/drawingml/2006/main">
              <a:ext uri="{FF2B5EF4-FFF2-40B4-BE49-F238E27FC236}">
                <a16:creationId xmlns:a16="http://schemas.microsoft.com/office/drawing/2014/main" id="{1FB7DDF1-5ADB-484F-A789-AD5D62E233B0}"/>
              </a:ext>
            </a:extLst>
          </p:cNvPr>
          <p:cNvSpPr>
            <a:spLocks xmlns:a="http://schemas.openxmlformats.org/drawingml/2006/main" noGrp="1"/>
          </p:cNvSpPr>
          <p:nvPr/>
        </p:nvSpPr>
        <p:spPr>
          <a:xfrm xmlns:a="http://schemas.openxmlformats.org/drawingml/2006/main">
            <a:off x="723900" y="4585335"/>
            <a:ext cx="1122218"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40.1</a:t>
            </a:r>
          </a:p>
        </p:txBody>
      </p:sp>
      <p:sp>
        <p:nvSpPr>
          <p:cNvPr id="32" name="">
            <a:extLst xmlns:a="http://schemas.openxmlformats.org/drawingml/2006/main">
              <a:ext uri="{FF2B5EF4-FFF2-40B4-BE49-F238E27FC236}">
                <a16:creationId xmlns:a16="http://schemas.microsoft.com/office/drawing/2014/main" id="{05428709-C3FD-416A-980E-A58CBEAB39AC}"/>
              </a:ext>
            </a:extLst>
          </p:cNvPr>
          <p:cNvSpPr>
            <a:spLocks xmlns:a="http://schemas.openxmlformats.org/drawingml/2006/main" noGrp="1"/>
          </p:cNvSpPr>
          <p:nvPr/>
        </p:nvSpPr>
        <p:spPr>
          <a:xfrm xmlns:a="http://schemas.openxmlformats.org/drawingml/2006/main">
            <a:off x="1960418" y="4509135"/>
            <a:ext cx="1688523" cy="54102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33" name="cell-2-1">
            <a:extLst xmlns:a="http://schemas.openxmlformats.org/drawingml/2006/main">
              <a:ext uri="{FF2B5EF4-FFF2-40B4-BE49-F238E27FC236}">
                <a16:creationId xmlns:a16="http://schemas.microsoft.com/office/drawing/2014/main" id="{341848D6-42CC-4536-9E01-115892C54BD0}"/>
              </a:ext>
            </a:extLst>
          </p:cNvPr>
          <p:cNvSpPr>
            <a:spLocks xmlns:a="http://schemas.openxmlformats.org/drawingml/2006/main" noGrp="1"/>
          </p:cNvSpPr>
          <p:nvPr/>
        </p:nvSpPr>
        <p:spPr>
          <a:xfrm xmlns:a="http://schemas.openxmlformats.org/drawingml/2006/main">
            <a:off x="2074718" y="4585335"/>
            <a:ext cx="1459923"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True</a:t>
            </a:r>
          </a:p>
        </p:txBody>
      </p:sp>
      <p:sp>
        <p:nvSpPr>
          <p:cNvPr id="34" name="">
            <a:extLst xmlns:a="http://schemas.openxmlformats.org/drawingml/2006/main">
              <a:ext uri="{FF2B5EF4-FFF2-40B4-BE49-F238E27FC236}">
                <a16:creationId xmlns:a16="http://schemas.microsoft.com/office/drawing/2014/main" id="{974BAE99-C65B-4A15-B828-7A37697A1B2A}"/>
              </a:ext>
            </a:extLst>
          </p:cNvPr>
          <p:cNvSpPr>
            <a:spLocks xmlns:a="http://schemas.openxmlformats.org/drawingml/2006/main" noGrp="1"/>
          </p:cNvSpPr>
          <p:nvPr/>
        </p:nvSpPr>
        <p:spPr>
          <a:xfrm xmlns:a="http://schemas.openxmlformats.org/drawingml/2006/main">
            <a:off x="3648941" y="4509135"/>
            <a:ext cx="1688523" cy="54102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35" name="cell-2-2">
            <a:extLst xmlns:a="http://schemas.openxmlformats.org/drawingml/2006/main">
              <a:ext uri="{FF2B5EF4-FFF2-40B4-BE49-F238E27FC236}">
                <a16:creationId xmlns:a16="http://schemas.microsoft.com/office/drawing/2014/main" id="{85C1A2BD-18C5-45D1-BCAF-34726BAB4D67}"/>
              </a:ext>
            </a:extLst>
          </p:cNvPr>
          <p:cNvSpPr>
            <a:spLocks xmlns:a="http://schemas.openxmlformats.org/drawingml/2006/main" noGrp="1"/>
          </p:cNvSpPr>
          <p:nvPr/>
        </p:nvSpPr>
        <p:spPr>
          <a:xfrm xmlns:a="http://schemas.openxmlformats.org/drawingml/2006/main">
            <a:off x="3763241" y="4585335"/>
            <a:ext cx="1459923"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True</a:t>
            </a:r>
          </a:p>
        </p:txBody>
      </p:sp>
      <p:sp>
        <p:nvSpPr>
          <p:cNvPr id="36" name="">
            <a:extLst xmlns:a="http://schemas.openxmlformats.org/drawingml/2006/main">
              <a:ext uri="{FF2B5EF4-FFF2-40B4-BE49-F238E27FC236}">
                <a16:creationId xmlns:a16="http://schemas.microsoft.com/office/drawing/2014/main" id="{AEE6268F-16DD-4697-8CF5-81C14FDD596B}"/>
              </a:ext>
            </a:extLst>
          </p:cNvPr>
          <p:cNvSpPr>
            <a:spLocks xmlns:a="http://schemas.openxmlformats.org/drawingml/2006/main" noGrp="1"/>
          </p:cNvSpPr>
          <p:nvPr/>
        </p:nvSpPr>
        <p:spPr>
          <a:xfrm xmlns:a="http://schemas.openxmlformats.org/drawingml/2006/main">
            <a:off x="5337464" y="4509135"/>
            <a:ext cx="2701636" cy="54102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37" name="cell-2-3">
            <a:extLst xmlns:a="http://schemas.openxmlformats.org/drawingml/2006/main">
              <a:ext uri="{FF2B5EF4-FFF2-40B4-BE49-F238E27FC236}">
                <a16:creationId xmlns:a16="http://schemas.microsoft.com/office/drawing/2014/main" id="{A696F4C1-67AA-496A-A313-8BE12F32884A}"/>
              </a:ext>
            </a:extLst>
          </p:cNvPr>
          <p:cNvSpPr>
            <a:spLocks xmlns:a="http://schemas.openxmlformats.org/drawingml/2006/main" noGrp="1"/>
          </p:cNvSpPr>
          <p:nvPr/>
        </p:nvSpPr>
        <p:spPr>
          <a:xfrm xmlns:a="http://schemas.openxmlformats.org/drawingml/2006/main">
            <a:off x="5451764" y="4585335"/>
            <a:ext cx="2473036"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above the minimum on either rule</a:t>
            </a:r>
          </a:p>
        </p:txBody>
      </p:sp>
      <p:sp>
        <p:nvSpPr>
          <p:cNvPr id="38" name="callout-label">
            <a:extLst xmlns:a="http://schemas.openxmlformats.org/drawingml/2006/main">
              <a:ext uri="{FF2B5EF4-FFF2-40B4-BE49-F238E27FC236}">
                <a16:creationId xmlns:a16="http://schemas.microsoft.com/office/drawing/2014/main" id="{42E4031B-7519-4357-B1F6-9C126DDE3828}"/>
              </a:ext>
            </a:extLst>
          </p:cNvPr>
          <p:cNvSpPr>
            <a:spLocks xmlns:a="http://schemas.openxmlformats.org/drawingml/2006/main" noGrp="1"/>
          </p:cNvSpPr>
          <p:nvPr/>
        </p:nvSpPr>
        <p:spPr>
          <a:xfrm xmlns:a="http://schemas.openxmlformats.org/drawingml/2006/main">
            <a:off x="8420100" y="1866900"/>
            <a:ext cx="3162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ARCHITECTURAL LENS</a:t>
            </a:r>
          </a:p>
        </p:txBody>
      </p:sp>
      <p:sp>
        <p:nvSpPr>
          <p:cNvPr id="39" name="callout">
            <a:extLst xmlns:a="http://schemas.openxmlformats.org/drawingml/2006/main">
              <a:ext uri="{FF2B5EF4-FFF2-40B4-BE49-F238E27FC236}">
                <a16:creationId xmlns:a16="http://schemas.microsoft.com/office/drawing/2014/main" id="{A77C1207-DC7F-4915-8B60-8BD02DC48C0F}"/>
              </a:ext>
            </a:extLst>
          </p:cNvPr>
          <p:cNvSpPr>
            <a:spLocks xmlns:a="http://schemas.openxmlformats.org/drawingml/2006/main" noGrp="1"/>
          </p:cNvSpPr>
          <p:nvPr/>
        </p:nvSpPr>
        <p:spPr>
          <a:xfrm xmlns:a="http://schemas.openxmlformats.org/drawingml/2006/main">
            <a:off x="8420100" y="2190750"/>
            <a:ext cx="3162300" cy="3790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1">
                <a:solidFill>
                  <a:srgbClr val="111316"/>
                </a:solidFill>
                <a:latin typeface="Arial"/>
                <a:ea typeface="Arial"/>
                <a:cs typeface="Arial"/>
              </a:defRPr>
            </a:pPr>
            <a:r>
              <a:rPr sz="1800" b="1">
                <a:solidFill>
                  <a:srgbClr val="111316"/>
                </a:solidFill>
                <a:latin typeface="Arial"/>
                <a:ea typeface="Arial"/>
                <a:cs typeface="Arial"/>
              </a:rPr>
              <a:t>Write the expected column before you run the code. 'At least 40 m²' means &gt;=. Choosing &gt; silently rejects a room that exactly meets the requirement.</a:t>
            </a:r>
          </a:p>
        </p:txBody>
      </p:sp>
    </p:spTree>
    <p:extLst>
      <p:ext uri="{BB962C8B-B14F-4D97-AF65-F5344CB8AC3E}">
        <p14:creationId xmlns:p14="http://schemas.microsoft.com/office/powerpoint/2010/main" val="384499834"/>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kicker">
            <a:extLst xmlns:a="http://schemas.openxmlformats.org/drawingml/2006/main">
              <a:ext uri="{FF2B5EF4-FFF2-40B4-BE49-F238E27FC236}">
                <a16:creationId xmlns:a16="http://schemas.microsoft.com/office/drawing/2014/main" id="{70BEB65D-413C-474A-B457-33659F8C3392}"/>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PYTHON SYNTAX</a:t>
            </a:r>
          </a:p>
        </p:txBody>
      </p:sp>
      <p:sp>
        <p:nvSpPr>
          <p:cNvPr id="2" name="title">
            <a:extLst xmlns:a="http://schemas.openxmlformats.org/drawingml/2006/main">
              <a:ext uri="{FF2B5EF4-FFF2-40B4-BE49-F238E27FC236}">
                <a16:creationId xmlns:a16="http://schemas.microsoft.com/office/drawing/2014/main" id="{B8AE31F4-C649-4E69-BF65-FF368C96ECC0}"/>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elif represents more than two meaningful ranges</a:t>
            </a:r>
          </a:p>
        </p:txBody>
      </p:sp>
      <p:sp>
        <p:nvSpPr>
          <p:cNvPr id="3" name="">
            <a:extLst xmlns:a="http://schemas.openxmlformats.org/drawingml/2006/main">
              <a:ext uri="{FF2B5EF4-FFF2-40B4-BE49-F238E27FC236}">
                <a16:creationId xmlns:a16="http://schemas.microsoft.com/office/drawing/2014/main" id="{F77350CA-6D0B-4C0C-9760-71642A1C20DC}"/>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6A4A5112-D5C6-4DDC-AB3B-AEB73C7B50F7}"/>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3 · Meeting A · Decisions and Functions · Full Source Deck</a:t>
            </a:r>
          </a:p>
        </p:txBody>
      </p:sp>
      <p:sp>
        <p:nvSpPr>
          <p:cNvPr id="5" name="page">
            <a:extLst xmlns:a="http://schemas.openxmlformats.org/drawingml/2006/main">
              <a:ext uri="{FF2B5EF4-FFF2-40B4-BE49-F238E27FC236}">
                <a16:creationId xmlns:a16="http://schemas.microsoft.com/office/drawing/2014/main" id="{3106977B-02B7-4B22-A7DE-9738B5848459}"/>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18</a:t>
            </a:r>
          </a:p>
        </p:txBody>
      </p:sp>
      <p:sp>
        <p:nvSpPr>
          <p:cNvPr id="6" name="code-panel">
            <a:extLst xmlns:a="http://schemas.openxmlformats.org/drawingml/2006/main">
              <a:ext uri="{FF2B5EF4-FFF2-40B4-BE49-F238E27FC236}">
                <a16:creationId xmlns:a16="http://schemas.microsoft.com/office/drawing/2014/main" id="{9D7AE7CE-F586-478B-9421-F26B10B1AB67}"/>
              </a:ext>
            </a:extLst>
          </p:cNvPr>
          <p:cNvSpPr>
            <a:spLocks xmlns:a="http://schemas.openxmlformats.org/drawingml/2006/main" noGrp="1"/>
          </p:cNvSpPr>
          <p:nvPr/>
        </p:nvSpPr>
        <p:spPr>
          <a:xfrm xmlns:a="http://schemas.openxmlformats.org/drawingml/2006/main">
            <a:off x="609600" y="1809750"/>
            <a:ext cx="6896100" cy="4267200"/>
          </a:xfrm>
          <a:prstGeom xmlns:a="http://schemas.openxmlformats.org/drawingml/2006/main" prst="roundRect">
            <a:avLst>
              <a:gd name="adj" fmla="val 1786"/>
            </a:avLst>
          </a:prstGeom>
          <a:solidFill xmlns:a="http://schemas.openxmlformats.org/drawingml/2006/main">
            <a:srgbClr val="17191C"/>
          </a:solidFill>
          <a:ln xmlns:a="http://schemas.openxmlformats.org/drawingml/2006/main" w="9525">
            <a:solidFill>
              <a:srgbClr val="17191C"/>
            </a:solidFill>
            <a:prstDash val="solid"/>
          </a:ln>
        </p:spPr>
      </p:sp>
      <p:sp>
        <p:nvSpPr>
          <p:cNvPr id="7" name="code">
            <a:extLst xmlns:a="http://schemas.openxmlformats.org/drawingml/2006/main">
              <a:ext uri="{FF2B5EF4-FFF2-40B4-BE49-F238E27FC236}">
                <a16:creationId xmlns:a16="http://schemas.microsoft.com/office/drawing/2014/main" id="{F1C43D7C-54E6-4CEC-80E8-48F120C37D55}"/>
              </a:ext>
            </a:extLst>
          </p:cNvPr>
          <p:cNvSpPr>
            <a:spLocks xmlns:a="http://schemas.openxmlformats.org/drawingml/2006/main" noGrp="1"/>
          </p:cNvSpPr>
          <p:nvPr/>
        </p:nvSpPr>
        <p:spPr>
          <a:xfrm xmlns:a="http://schemas.openxmlformats.org/drawingml/2006/main">
            <a:off x="857250" y="2057400"/>
            <a:ext cx="6400800" cy="314096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daylight_pct = 18</a:t>
            </a:r>
          </a:p>
          <a:p xmlns:a="http://schemas.openxmlformats.org/drawingml/2006/main">
            <a:r>
              <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if daylight_pct &gt;= 25:</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status = 'high'</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elif daylight_pct &gt;= 15:</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status = 'moderate'</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else:</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status = 'low'</a:t>
            </a:r>
          </a:p>
          <a:p xmlns:a="http://schemas.openxmlformats.org/drawingml/2006/main">
            <a:r>
              <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print(status)</a:t>
            </a:r>
          </a:p>
        </p:txBody>
      </p:sp>
      <p:sp>
        <p:nvSpPr>
          <p:cNvPr id="8" name="">
            <a:extLst xmlns:a="http://schemas.openxmlformats.org/drawingml/2006/main">
              <a:ext uri="{FF2B5EF4-FFF2-40B4-BE49-F238E27FC236}">
                <a16:creationId xmlns:a16="http://schemas.microsoft.com/office/drawing/2014/main" id="{31660837-0CB4-4214-8F35-A7424927849C}"/>
              </a:ext>
            </a:extLst>
          </p:cNvPr>
          <p:cNvSpPr>
            <a:spLocks xmlns:a="http://schemas.openxmlformats.org/drawingml/2006/main" noGrp="1"/>
          </p:cNvSpPr>
          <p:nvPr/>
        </p:nvSpPr>
        <p:spPr>
          <a:xfrm xmlns:a="http://schemas.openxmlformats.org/drawingml/2006/main">
            <a:off x="857250" y="5255514"/>
            <a:ext cx="6400800" cy="0"/>
          </a:xfrm>
          <a:prstGeom xmlns:a="http://schemas.openxmlformats.org/drawingml/2006/main" prst="line">
            <a:avLst/>
          </a:prstGeom>
          <a:noFill xmlns:a="http://schemas.openxmlformats.org/drawingml/2006/main"/>
          <a:ln xmlns:a="http://schemas.openxmlformats.org/drawingml/2006/main" w="9525">
            <a:solidFill>
              <a:srgbClr val="4E5258"/>
            </a:solidFill>
            <a:prstDash val="solid"/>
          </a:ln>
        </p:spPr>
      </p:sp>
      <p:sp>
        <p:nvSpPr>
          <p:cNvPr id="9" name="output-label">
            <a:extLst xmlns:a="http://schemas.openxmlformats.org/drawingml/2006/main">
              <a:ext uri="{FF2B5EF4-FFF2-40B4-BE49-F238E27FC236}">
                <a16:creationId xmlns:a16="http://schemas.microsoft.com/office/drawing/2014/main" id="{7045CBC9-1AFD-4005-82D5-4026E0633E55}"/>
              </a:ext>
            </a:extLst>
          </p:cNvPr>
          <p:cNvSpPr>
            <a:spLocks xmlns:a="http://schemas.openxmlformats.org/drawingml/2006/main" noGrp="1"/>
          </p:cNvSpPr>
          <p:nvPr/>
        </p:nvSpPr>
        <p:spPr>
          <a:xfrm xmlns:a="http://schemas.openxmlformats.org/drawingml/2006/main">
            <a:off x="857250" y="5369814"/>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E8EEF5"/>
                </a:solidFill>
                <a:latin typeface="Arial"/>
                <a:ea typeface="Arial"/>
                <a:cs typeface="Arial"/>
              </a:defRPr>
            </a:pPr>
            <a:r>
              <a:rPr sz="900" b="1">
                <a:solidFill>
                  <a:srgbClr val="E8EEF5"/>
                </a:solidFill>
                <a:latin typeface="Arial"/>
                <a:ea typeface="Arial"/>
                <a:cs typeface="Arial"/>
              </a:rPr>
              <a:t>OUTPUT</a:t>
            </a:r>
          </a:p>
        </p:txBody>
      </p:sp>
      <p:sp>
        <p:nvSpPr>
          <p:cNvPr id="10" name="output">
            <a:extLst xmlns:a="http://schemas.openxmlformats.org/drawingml/2006/main">
              <a:ext uri="{FF2B5EF4-FFF2-40B4-BE49-F238E27FC236}">
                <a16:creationId xmlns:a16="http://schemas.microsoft.com/office/drawing/2014/main" id="{5A2865F1-2369-4368-8EBD-D3A6CA8301EB}"/>
              </a:ext>
            </a:extLst>
          </p:cNvPr>
          <p:cNvSpPr>
            <a:spLocks xmlns:a="http://schemas.openxmlformats.org/drawingml/2006/main" noGrp="1"/>
          </p:cNvSpPr>
          <p:nvPr/>
        </p:nvSpPr>
        <p:spPr>
          <a:xfrm xmlns:a="http://schemas.openxmlformats.org/drawingml/2006/main">
            <a:off x="857250" y="5598414"/>
            <a:ext cx="6400800" cy="2308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moderate</a:t>
            </a:r>
          </a:p>
        </p:txBody>
      </p:sp>
      <p:sp>
        <p:nvSpPr>
          <p:cNvPr id="11" name="explain-head">
            <a:extLst xmlns:a="http://schemas.openxmlformats.org/drawingml/2006/main">
              <a:ext uri="{FF2B5EF4-FFF2-40B4-BE49-F238E27FC236}">
                <a16:creationId xmlns:a16="http://schemas.microsoft.com/office/drawing/2014/main" id="{1A3E05EA-5227-437C-AADD-E9E6C497AFE3}"/>
              </a:ext>
            </a:extLst>
          </p:cNvPr>
          <p:cNvSpPr>
            <a:spLocks xmlns:a="http://schemas.openxmlformats.org/drawingml/2006/main" noGrp="1"/>
          </p:cNvSpPr>
          <p:nvPr/>
        </p:nvSpPr>
        <p:spPr>
          <a:xfrm xmlns:a="http://schemas.openxmlformats.org/drawingml/2006/main">
            <a:off x="7886700" y="2867025"/>
            <a:ext cx="3695700" cy="3451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Order changes meaning</a:t>
            </a:r>
          </a:p>
        </p:txBody>
      </p:sp>
      <p:sp>
        <p:nvSpPr>
          <p:cNvPr id="12" name="explain-body">
            <a:extLst xmlns:a="http://schemas.openxmlformats.org/drawingml/2006/main">
              <a:ext uri="{FF2B5EF4-FFF2-40B4-BE49-F238E27FC236}">
                <a16:creationId xmlns:a16="http://schemas.microsoft.com/office/drawing/2014/main" id="{13E02770-6280-4847-9EFA-DC26EDFDEB18}"/>
              </a:ext>
            </a:extLst>
          </p:cNvPr>
          <p:cNvSpPr>
            <a:spLocks xmlns:a="http://schemas.openxmlformats.org/drawingml/2006/main" noGrp="1"/>
          </p:cNvSpPr>
          <p:nvPr/>
        </p:nvSpPr>
        <p:spPr>
          <a:xfrm xmlns:a="http://schemas.openxmlformats.org/drawingml/2006/main">
            <a:off x="7886700" y="3364611"/>
            <a:ext cx="3695700" cy="9601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Conditions are checked from top to bottom. The first true branch runs and the rest are skipped. Put the most restrictive relevant threshold first.</a:t>
            </a:r>
          </a:p>
        </p:txBody>
      </p:sp>
    </p:spTree>
    <p:extLst>
      <p:ext uri="{BB962C8B-B14F-4D97-AF65-F5344CB8AC3E}">
        <p14:creationId xmlns:p14="http://schemas.microsoft.com/office/powerpoint/2010/main" val="818804457"/>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kicker">
            <a:extLst xmlns:a="http://schemas.openxmlformats.org/drawingml/2006/main">
              <a:ext uri="{FF2B5EF4-FFF2-40B4-BE49-F238E27FC236}">
                <a16:creationId xmlns:a16="http://schemas.microsoft.com/office/drawing/2014/main" id="{946599E0-E1DE-4666-BC4B-E3D3BF0DCEAF}"/>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READ THE DATA</a:t>
            </a:r>
          </a:p>
        </p:txBody>
      </p:sp>
      <p:sp>
        <p:nvSpPr>
          <p:cNvPr id="2" name="title">
            <a:extLst xmlns:a="http://schemas.openxmlformats.org/drawingml/2006/main">
              <a:ext uri="{FF2B5EF4-FFF2-40B4-BE49-F238E27FC236}">
                <a16:creationId xmlns:a16="http://schemas.microsoft.com/office/drawing/2014/main" id="{01E24635-5149-463F-85CB-A8F302BAE10E}"/>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Logical operators combine Boolean questions</a:t>
            </a:r>
          </a:p>
        </p:txBody>
      </p:sp>
      <p:sp>
        <p:nvSpPr>
          <p:cNvPr id="3" name="">
            <a:extLst xmlns:a="http://schemas.openxmlformats.org/drawingml/2006/main">
              <a:ext uri="{FF2B5EF4-FFF2-40B4-BE49-F238E27FC236}">
                <a16:creationId xmlns:a16="http://schemas.microsoft.com/office/drawing/2014/main" id="{F182374B-2EE5-4609-96D8-A74E928A552C}"/>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C13C4D76-8681-4543-847A-70E5BE29AB1C}"/>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3 · Meeting A · Decisions and Functions · Full Source Deck</a:t>
            </a:r>
          </a:p>
        </p:txBody>
      </p:sp>
      <p:sp>
        <p:nvSpPr>
          <p:cNvPr id="5" name="page">
            <a:extLst xmlns:a="http://schemas.openxmlformats.org/drawingml/2006/main">
              <a:ext uri="{FF2B5EF4-FFF2-40B4-BE49-F238E27FC236}">
                <a16:creationId xmlns:a16="http://schemas.microsoft.com/office/drawing/2014/main" id="{2551D7DC-7F40-4B03-A138-745012CB749D}"/>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19</a:t>
            </a:r>
          </a:p>
        </p:txBody>
      </p:sp>
      <p:sp>
        <p:nvSpPr>
          <p:cNvPr id="6" name="">
            <a:extLst xmlns:a="http://schemas.openxmlformats.org/drawingml/2006/main">
              <a:ext uri="{FF2B5EF4-FFF2-40B4-BE49-F238E27FC236}">
                <a16:creationId xmlns:a16="http://schemas.microsoft.com/office/drawing/2014/main" id="{DCFB92B4-7B20-456A-BD94-ADA8FDA8C42E}"/>
              </a:ext>
            </a:extLst>
          </p:cNvPr>
          <p:cNvSpPr>
            <a:spLocks xmlns:a="http://schemas.openxmlformats.org/drawingml/2006/main" noGrp="1"/>
          </p:cNvSpPr>
          <p:nvPr/>
        </p:nvSpPr>
        <p:spPr>
          <a:xfrm xmlns:a="http://schemas.openxmlformats.org/drawingml/2006/main">
            <a:off x="609600" y="2886075"/>
            <a:ext cx="2476500" cy="541020"/>
          </a:xfrm>
          <a:prstGeom xmlns:a="http://schemas.openxmlformats.org/drawingml/2006/main" prst="rect">
            <a:avLst/>
          </a:prstGeom>
          <a:solidFill xmlns:a="http://schemas.openxmlformats.org/drawingml/2006/main">
            <a:srgbClr val="17191C"/>
          </a:solidFill>
          <a:ln xmlns:a="http://schemas.openxmlformats.org/drawingml/2006/main" w="9525">
            <a:solidFill>
              <a:srgbClr val="FFFFFF"/>
            </a:solidFill>
            <a:prstDash val="solid"/>
          </a:ln>
        </p:spPr>
      </p:sp>
      <p:sp>
        <p:nvSpPr>
          <p:cNvPr id="7" name="header-0">
            <a:extLst xmlns:a="http://schemas.openxmlformats.org/drawingml/2006/main">
              <a:ext uri="{FF2B5EF4-FFF2-40B4-BE49-F238E27FC236}">
                <a16:creationId xmlns:a16="http://schemas.microsoft.com/office/drawing/2014/main" id="{FF7A4363-FB7A-4C7B-8844-02AF3A44479A}"/>
              </a:ext>
            </a:extLst>
          </p:cNvPr>
          <p:cNvSpPr>
            <a:spLocks xmlns:a="http://schemas.openxmlformats.org/drawingml/2006/main" noGrp="1"/>
          </p:cNvSpPr>
          <p:nvPr/>
        </p:nvSpPr>
        <p:spPr>
          <a:xfrm xmlns:a="http://schemas.openxmlformats.org/drawingml/2006/main">
            <a:off x="723900" y="2962275"/>
            <a:ext cx="2247900"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1">
                <a:solidFill>
                  <a:srgbClr val="FFFFFF"/>
                </a:solidFill>
                <a:latin typeface="Arial"/>
                <a:ea typeface="Arial"/>
                <a:cs typeface="Arial"/>
              </a:defRPr>
            </a:pPr>
            <a:r>
              <a:rPr sz="1500" b="1">
                <a:solidFill>
                  <a:srgbClr val="FFFFFF"/>
                </a:solidFill>
                <a:latin typeface="Arial"/>
                <a:ea typeface="Arial"/>
                <a:cs typeface="Arial"/>
              </a:rPr>
              <a:t>operator</a:t>
            </a:r>
          </a:p>
        </p:txBody>
      </p:sp>
      <p:sp>
        <p:nvSpPr>
          <p:cNvPr id="8" name="">
            <a:extLst xmlns:a="http://schemas.openxmlformats.org/drawingml/2006/main">
              <a:ext uri="{FF2B5EF4-FFF2-40B4-BE49-F238E27FC236}">
                <a16:creationId xmlns:a16="http://schemas.microsoft.com/office/drawing/2014/main" id="{B1525804-2D1E-4ED5-B56E-299F3C909EA8}"/>
              </a:ext>
            </a:extLst>
          </p:cNvPr>
          <p:cNvSpPr>
            <a:spLocks xmlns:a="http://schemas.openxmlformats.org/drawingml/2006/main" noGrp="1"/>
          </p:cNvSpPr>
          <p:nvPr/>
        </p:nvSpPr>
        <p:spPr>
          <a:xfrm xmlns:a="http://schemas.openxmlformats.org/drawingml/2006/main">
            <a:off x="3086100" y="2886075"/>
            <a:ext cx="2476500" cy="541020"/>
          </a:xfrm>
          <a:prstGeom xmlns:a="http://schemas.openxmlformats.org/drawingml/2006/main" prst="rect">
            <a:avLst/>
          </a:prstGeom>
          <a:solidFill xmlns:a="http://schemas.openxmlformats.org/drawingml/2006/main">
            <a:srgbClr val="17191C"/>
          </a:solidFill>
          <a:ln xmlns:a="http://schemas.openxmlformats.org/drawingml/2006/main" w="9525">
            <a:solidFill>
              <a:srgbClr val="FFFFFF"/>
            </a:solidFill>
            <a:prstDash val="solid"/>
          </a:ln>
        </p:spPr>
      </p:sp>
      <p:sp>
        <p:nvSpPr>
          <p:cNvPr id="9" name="header-1">
            <a:extLst xmlns:a="http://schemas.openxmlformats.org/drawingml/2006/main">
              <a:ext uri="{FF2B5EF4-FFF2-40B4-BE49-F238E27FC236}">
                <a16:creationId xmlns:a16="http://schemas.microsoft.com/office/drawing/2014/main" id="{55286C4F-A90F-47D2-B71E-68F6E79ACE55}"/>
              </a:ext>
            </a:extLst>
          </p:cNvPr>
          <p:cNvSpPr>
            <a:spLocks xmlns:a="http://schemas.openxmlformats.org/drawingml/2006/main" noGrp="1"/>
          </p:cNvSpPr>
          <p:nvPr/>
        </p:nvSpPr>
        <p:spPr>
          <a:xfrm xmlns:a="http://schemas.openxmlformats.org/drawingml/2006/main">
            <a:off x="3200400" y="2962275"/>
            <a:ext cx="2247900"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1">
                <a:solidFill>
                  <a:srgbClr val="FFFFFF"/>
                </a:solidFill>
                <a:latin typeface="Arial"/>
                <a:ea typeface="Arial"/>
                <a:cs typeface="Arial"/>
              </a:defRPr>
            </a:pPr>
            <a:r>
              <a:rPr sz="1500" b="1">
                <a:solidFill>
                  <a:srgbClr val="FFFFFF"/>
                </a:solidFill>
                <a:latin typeface="Arial"/>
                <a:ea typeface="Arial"/>
                <a:cs typeface="Arial"/>
              </a:rPr>
              <a:t>result is True when</a:t>
            </a:r>
          </a:p>
        </p:txBody>
      </p:sp>
      <p:sp>
        <p:nvSpPr>
          <p:cNvPr id="10" name="">
            <a:extLst xmlns:a="http://schemas.openxmlformats.org/drawingml/2006/main">
              <a:ext uri="{FF2B5EF4-FFF2-40B4-BE49-F238E27FC236}">
                <a16:creationId xmlns:a16="http://schemas.microsoft.com/office/drawing/2014/main" id="{8ADB1215-233B-4423-905C-B6DC7F0A59A1}"/>
              </a:ext>
            </a:extLst>
          </p:cNvPr>
          <p:cNvSpPr>
            <a:spLocks xmlns:a="http://schemas.openxmlformats.org/drawingml/2006/main" noGrp="1"/>
          </p:cNvSpPr>
          <p:nvPr/>
        </p:nvSpPr>
        <p:spPr>
          <a:xfrm xmlns:a="http://schemas.openxmlformats.org/drawingml/2006/main">
            <a:off x="5562600" y="2886075"/>
            <a:ext cx="2476500" cy="541020"/>
          </a:xfrm>
          <a:prstGeom xmlns:a="http://schemas.openxmlformats.org/drawingml/2006/main" prst="rect">
            <a:avLst/>
          </a:prstGeom>
          <a:solidFill xmlns:a="http://schemas.openxmlformats.org/drawingml/2006/main">
            <a:srgbClr val="17191C"/>
          </a:solidFill>
          <a:ln xmlns:a="http://schemas.openxmlformats.org/drawingml/2006/main" w="9525">
            <a:solidFill>
              <a:srgbClr val="FFFFFF"/>
            </a:solidFill>
            <a:prstDash val="solid"/>
          </a:ln>
        </p:spPr>
      </p:sp>
      <p:sp>
        <p:nvSpPr>
          <p:cNvPr id="11" name="header-2">
            <a:extLst xmlns:a="http://schemas.openxmlformats.org/drawingml/2006/main">
              <a:ext uri="{FF2B5EF4-FFF2-40B4-BE49-F238E27FC236}">
                <a16:creationId xmlns:a16="http://schemas.microsoft.com/office/drawing/2014/main" id="{1A770AD5-7839-440C-8ADD-C60A3E40D5E5}"/>
              </a:ext>
            </a:extLst>
          </p:cNvPr>
          <p:cNvSpPr>
            <a:spLocks xmlns:a="http://schemas.openxmlformats.org/drawingml/2006/main" noGrp="1"/>
          </p:cNvSpPr>
          <p:nvPr/>
        </p:nvSpPr>
        <p:spPr>
          <a:xfrm xmlns:a="http://schemas.openxmlformats.org/drawingml/2006/main">
            <a:off x="5676900" y="2962275"/>
            <a:ext cx="2247900"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1">
                <a:solidFill>
                  <a:srgbClr val="FFFFFF"/>
                </a:solidFill>
                <a:latin typeface="Arial"/>
                <a:ea typeface="Arial"/>
                <a:cs typeface="Arial"/>
              </a:defRPr>
            </a:pPr>
            <a:r>
              <a:rPr sz="1500" b="1">
                <a:solidFill>
                  <a:srgbClr val="FFFFFF"/>
                </a:solidFill>
                <a:latin typeface="Arial"/>
                <a:ea typeface="Arial"/>
                <a:cs typeface="Arial"/>
              </a:rPr>
              <a:t>plain-language question</a:t>
            </a:r>
          </a:p>
        </p:txBody>
      </p:sp>
      <p:sp>
        <p:nvSpPr>
          <p:cNvPr id="12" name="">
            <a:extLst xmlns:a="http://schemas.openxmlformats.org/drawingml/2006/main">
              <a:ext uri="{FF2B5EF4-FFF2-40B4-BE49-F238E27FC236}">
                <a16:creationId xmlns:a16="http://schemas.microsoft.com/office/drawing/2014/main" id="{CDE31D31-C386-499E-A0CB-8AF48FB7AE33}"/>
              </a:ext>
            </a:extLst>
          </p:cNvPr>
          <p:cNvSpPr>
            <a:spLocks xmlns:a="http://schemas.openxmlformats.org/drawingml/2006/main" noGrp="1"/>
          </p:cNvSpPr>
          <p:nvPr/>
        </p:nvSpPr>
        <p:spPr>
          <a:xfrm xmlns:a="http://schemas.openxmlformats.org/drawingml/2006/main">
            <a:off x="609600" y="3427095"/>
            <a:ext cx="2476500" cy="54102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13" name="cell-0-0">
            <a:extLst xmlns:a="http://schemas.openxmlformats.org/drawingml/2006/main">
              <a:ext uri="{FF2B5EF4-FFF2-40B4-BE49-F238E27FC236}">
                <a16:creationId xmlns:a16="http://schemas.microsoft.com/office/drawing/2014/main" id="{6411E50D-8896-48F3-842E-CAB339B54575}"/>
              </a:ext>
            </a:extLst>
          </p:cNvPr>
          <p:cNvSpPr>
            <a:spLocks xmlns:a="http://schemas.openxmlformats.org/drawingml/2006/main" noGrp="1"/>
          </p:cNvSpPr>
          <p:nvPr/>
        </p:nvSpPr>
        <p:spPr>
          <a:xfrm xmlns:a="http://schemas.openxmlformats.org/drawingml/2006/main">
            <a:off x="723900" y="3503295"/>
            <a:ext cx="2247900"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and</a:t>
            </a:r>
          </a:p>
        </p:txBody>
      </p:sp>
      <p:sp>
        <p:nvSpPr>
          <p:cNvPr id="14" name="">
            <a:extLst xmlns:a="http://schemas.openxmlformats.org/drawingml/2006/main">
              <a:ext uri="{FF2B5EF4-FFF2-40B4-BE49-F238E27FC236}">
                <a16:creationId xmlns:a16="http://schemas.microsoft.com/office/drawing/2014/main" id="{3353DE69-E65D-48FB-8262-A79451116749}"/>
              </a:ext>
            </a:extLst>
          </p:cNvPr>
          <p:cNvSpPr>
            <a:spLocks xmlns:a="http://schemas.openxmlformats.org/drawingml/2006/main" noGrp="1"/>
          </p:cNvSpPr>
          <p:nvPr/>
        </p:nvSpPr>
        <p:spPr>
          <a:xfrm xmlns:a="http://schemas.openxmlformats.org/drawingml/2006/main">
            <a:off x="3086100" y="3427095"/>
            <a:ext cx="2476500" cy="54102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15" name="cell-0-1">
            <a:extLst xmlns:a="http://schemas.openxmlformats.org/drawingml/2006/main">
              <a:ext uri="{FF2B5EF4-FFF2-40B4-BE49-F238E27FC236}">
                <a16:creationId xmlns:a16="http://schemas.microsoft.com/office/drawing/2014/main" id="{A7B76DB0-5603-4204-8295-5A3A84C62C4C}"/>
              </a:ext>
            </a:extLst>
          </p:cNvPr>
          <p:cNvSpPr>
            <a:spLocks xmlns:a="http://schemas.openxmlformats.org/drawingml/2006/main" noGrp="1"/>
          </p:cNvSpPr>
          <p:nvPr/>
        </p:nvSpPr>
        <p:spPr>
          <a:xfrm xmlns:a="http://schemas.openxmlformats.org/drawingml/2006/main">
            <a:off x="3200400" y="3503295"/>
            <a:ext cx="2247900"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both conditions are True</a:t>
            </a:r>
          </a:p>
        </p:txBody>
      </p:sp>
      <p:sp>
        <p:nvSpPr>
          <p:cNvPr id="16" name="">
            <a:extLst xmlns:a="http://schemas.openxmlformats.org/drawingml/2006/main">
              <a:ext uri="{FF2B5EF4-FFF2-40B4-BE49-F238E27FC236}">
                <a16:creationId xmlns:a16="http://schemas.microsoft.com/office/drawing/2014/main" id="{5B6765D6-FDB0-40AA-8E19-9393253EEF2C}"/>
              </a:ext>
            </a:extLst>
          </p:cNvPr>
          <p:cNvSpPr>
            <a:spLocks xmlns:a="http://schemas.openxmlformats.org/drawingml/2006/main" noGrp="1"/>
          </p:cNvSpPr>
          <p:nvPr/>
        </p:nvSpPr>
        <p:spPr>
          <a:xfrm xmlns:a="http://schemas.openxmlformats.org/drawingml/2006/main">
            <a:off x="5562600" y="3427095"/>
            <a:ext cx="2476500" cy="54102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17" name="cell-0-2">
            <a:extLst xmlns:a="http://schemas.openxmlformats.org/drawingml/2006/main">
              <a:ext uri="{FF2B5EF4-FFF2-40B4-BE49-F238E27FC236}">
                <a16:creationId xmlns:a16="http://schemas.microsoft.com/office/drawing/2014/main" id="{466F5217-155C-4287-BF89-874A2733CE82}"/>
              </a:ext>
            </a:extLst>
          </p:cNvPr>
          <p:cNvSpPr>
            <a:spLocks xmlns:a="http://schemas.openxmlformats.org/drawingml/2006/main" noGrp="1"/>
          </p:cNvSpPr>
          <p:nvPr/>
        </p:nvSpPr>
        <p:spPr>
          <a:xfrm xmlns:a="http://schemas.openxmlformats.org/drawingml/2006/main">
            <a:off x="5676900" y="3503295"/>
            <a:ext cx="2247900"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Are area AND daylight criteria met?</a:t>
            </a:r>
          </a:p>
        </p:txBody>
      </p:sp>
      <p:sp>
        <p:nvSpPr>
          <p:cNvPr id="18" name="">
            <a:extLst xmlns:a="http://schemas.openxmlformats.org/drawingml/2006/main">
              <a:ext uri="{FF2B5EF4-FFF2-40B4-BE49-F238E27FC236}">
                <a16:creationId xmlns:a16="http://schemas.microsoft.com/office/drawing/2014/main" id="{B7118DFA-3AFE-4B74-97F2-1CDADDA98C9D}"/>
              </a:ext>
            </a:extLst>
          </p:cNvPr>
          <p:cNvSpPr>
            <a:spLocks xmlns:a="http://schemas.openxmlformats.org/drawingml/2006/main" noGrp="1"/>
          </p:cNvSpPr>
          <p:nvPr/>
        </p:nvSpPr>
        <p:spPr>
          <a:xfrm xmlns:a="http://schemas.openxmlformats.org/drawingml/2006/main">
            <a:off x="609600" y="3968115"/>
            <a:ext cx="2476500" cy="54102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19" name="cell-1-0">
            <a:extLst xmlns:a="http://schemas.openxmlformats.org/drawingml/2006/main">
              <a:ext uri="{FF2B5EF4-FFF2-40B4-BE49-F238E27FC236}">
                <a16:creationId xmlns:a16="http://schemas.microsoft.com/office/drawing/2014/main" id="{ABE3D889-515F-46A4-9806-901E5A1F592C}"/>
              </a:ext>
            </a:extLst>
          </p:cNvPr>
          <p:cNvSpPr>
            <a:spLocks xmlns:a="http://schemas.openxmlformats.org/drawingml/2006/main" noGrp="1"/>
          </p:cNvSpPr>
          <p:nvPr/>
        </p:nvSpPr>
        <p:spPr>
          <a:xfrm xmlns:a="http://schemas.openxmlformats.org/drawingml/2006/main">
            <a:off x="723900" y="4044315"/>
            <a:ext cx="2247900"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or</a:t>
            </a:r>
          </a:p>
        </p:txBody>
      </p:sp>
      <p:sp>
        <p:nvSpPr>
          <p:cNvPr id="20" name="">
            <a:extLst xmlns:a="http://schemas.openxmlformats.org/drawingml/2006/main">
              <a:ext uri="{FF2B5EF4-FFF2-40B4-BE49-F238E27FC236}">
                <a16:creationId xmlns:a16="http://schemas.microsoft.com/office/drawing/2014/main" id="{B9813A65-D259-4F9C-A79F-8B3B85972DBF}"/>
              </a:ext>
            </a:extLst>
          </p:cNvPr>
          <p:cNvSpPr>
            <a:spLocks xmlns:a="http://schemas.openxmlformats.org/drawingml/2006/main" noGrp="1"/>
          </p:cNvSpPr>
          <p:nvPr/>
        </p:nvSpPr>
        <p:spPr>
          <a:xfrm xmlns:a="http://schemas.openxmlformats.org/drawingml/2006/main">
            <a:off x="3086100" y="3968115"/>
            <a:ext cx="2476500" cy="54102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21" name="cell-1-1">
            <a:extLst xmlns:a="http://schemas.openxmlformats.org/drawingml/2006/main">
              <a:ext uri="{FF2B5EF4-FFF2-40B4-BE49-F238E27FC236}">
                <a16:creationId xmlns:a16="http://schemas.microsoft.com/office/drawing/2014/main" id="{332C0BDE-43E6-43C1-9C49-80BE355BA3A8}"/>
              </a:ext>
            </a:extLst>
          </p:cNvPr>
          <p:cNvSpPr>
            <a:spLocks xmlns:a="http://schemas.openxmlformats.org/drawingml/2006/main" noGrp="1"/>
          </p:cNvSpPr>
          <p:nvPr/>
        </p:nvSpPr>
        <p:spPr>
          <a:xfrm xmlns:a="http://schemas.openxmlformats.org/drawingml/2006/main">
            <a:off x="3200400" y="4044315"/>
            <a:ext cx="2247900"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at least one condition is True</a:t>
            </a:r>
          </a:p>
        </p:txBody>
      </p:sp>
      <p:sp>
        <p:nvSpPr>
          <p:cNvPr id="22" name="">
            <a:extLst xmlns:a="http://schemas.openxmlformats.org/drawingml/2006/main">
              <a:ext uri="{FF2B5EF4-FFF2-40B4-BE49-F238E27FC236}">
                <a16:creationId xmlns:a16="http://schemas.microsoft.com/office/drawing/2014/main" id="{0A7746ED-CCC3-46E7-B5DA-925ED110B74B}"/>
              </a:ext>
            </a:extLst>
          </p:cNvPr>
          <p:cNvSpPr>
            <a:spLocks xmlns:a="http://schemas.openxmlformats.org/drawingml/2006/main" noGrp="1"/>
          </p:cNvSpPr>
          <p:nvPr/>
        </p:nvSpPr>
        <p:spPr>
          <a:xfrm xmlns:a="http://schemas.openxmlformats.org/drawingml/2006/main">
            <a:off x="5562600" y="3968115"/>
            <a:ext cx="2476500" cy="54102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23" name="cell-1-2">
            <a:extLst xmlns:a="http://schemas.openxmlformats.org/drawingml/2006/main">
              <a:ext uri="{FF2B5EF4-FFF2-40B4-BE49-F238E27FC236}">
                <a16:creationId xmlns:a16="http://schemas.microsoft.com/office/drawing/2014/main" id="{929E7038-3DFC-4007-A8CC-3C61F4E73E9E}"/>
              </a:ext>
            </a:extLst>
          </p:cNvPr>
          <p:cNvSpPr>
            <a:spLocks xmlns:a="http://schemas.openxmlformats.org/drawingml/2006/main" noGrp="1"/>
          </p:cNvSpPr>
          <p:nvPr/>
        </p:nvSpPr>
        <p:spPr>
          <a:xfrm xmlns:a="http://schemas.openxmlformats.org/drawingml/2006/main">
            <a:off x="5676900" y="4044315"/>
            <a:ext cx="2247900"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Is either route available?</a:t>
            </a:r>
          </a:p>
        </p:txBody>
      </p:sp>
      <p:sp>
        <p:nvSpPr>
          <p:cNvPr id="24" name="">
            <a:extLst xmlns:a="http://schemas.openxmlformats.org/drawingml/2006/main">
              <a:ext uri="{FF2B5EF4-FFF2-40B4-BE49-F238E27FC236}">
                <a16:creationId xmlns:a16="http://schemas.microsoft.com/office/drawing/2014/main" id="{B6C49EC6-ABFE-446A-8B35-886359212589}"/>
              </a:ext>
            </a:extLst>
          </p:cNvPr>
          <p:cNvSpPr>
            <a:spLocks xmlns:a="http://schemas.openxmlformats.org/drawingml/2006/main" noGrp="1"/>
          </p:cNvSpPr>
          <p:nvPr/>
        </p:nvSpPr>
        <p:spPr>
          <a:xfrm xmlns:a="http://schemas.openxmlformats.org/drawingml/2006/main">
            <a:off x="609600" y="4509135"/>
            <a:ext cx="2476500" cy="54102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25" name="cell-2-0">
            <a:extLst xmlns:a="http://schemas.openxmlformats.org/drawingml/2006/main">
              <a:ext uri="{FF2B5EF4-FFF2-40B4-BE49-F238E27FC236}">
                <a16:creationId xmlns:a16="http://schemas.microsoft.com/office/drawing/2014/main" id="{215CF6DC-86AF-4D88-BD5B-389A04642D71}"/>
              </a:ext>
            </a:extLst>
          </p:cNvPr>
          <p:cNvSpPr>
            <a:spLocks xmlns:a="http://schemas.openxmlformats.org/drawingml/2006/main" noGrp="1"/>
          </p:cNvSpPr>
          <p:nvPr/>
        </p:nvSpPr>
        <p:spPr>
          <a:xfrm xmlns:a="http://schemas.openxmlformats.org/drawingml/2006/main">
            <a:off x="723900" y="4585335"/>
            <a:ext cx="2247900"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not</a:t>
            </a:r>
          </a:p>
        </p:txBody>
      </p:sp>
      <p:sp>
        <p:nvSpPr>
          <p:cNvPr id="26" name="">
            <a:extLst xmlns:a="http://schemas.openxmlformats.org/drawingml/2006/main">
              <a:ext uri="{FF2B5EF4-FFF2-40B4-BE49-F238E27FC236}">
                <a16:creationId xmlns:a16="http://schemas.microsoft.com/office/drawing/2014/main" id="{C2BB2EC3-8A59-4B97-BCFA-5D51D1DF97B4}"/>
              </a:ext>
            </a:extLst>
          </p:cNvPr>
          <p:cNvSpPr>
            <a:spLocks xmlns:a="http://schemas.openxmlformats.org/drawingml/2006/main" noGrp="1"/>
          </p:cNvSpPr>
          <p:nvPr/>
        </p:nvSpPr>
        <p:spPr>
          <a:xfrm xmlns:a="http://schemas.openxmlformats.org/drawingml/2006/main">
            <a:off x="3086100" y="4509135"/>
            <a:ext cx="2476500" cy="54102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27" name="cell-2-1">
            <a:extLst xmlns:a="http://schemas.openxmlformats.org/drawingml/2006/main">
              <a:ext uri="{FF2B5EF4-FFF2-40B4-BE49-F238E27FC236}">
                <a16:creationId xmlns:a16="http://schemas.microsoft.com/office/drawing/2014/main" id="{19C81AD3-F49A-482B-9E7C-215C68F0869C}"/>
              </a:ext>
            </a:extLst>
          </p:cNvPr>
          <p:cNvSpPr>
            <a:spLocks xmlns:a="http://schemas.openxmlformats.org/drawingml/2006/main" noGrp="1"/>
          </p:cNvSpPr>
          <p:nvPr/>
        </p:nvSpPr>
        <p:spPr>
          <a:xfrm xmlns:a="http://schemas.openxmlformats.org/drawingml/2006/main">
            <a:off x="3200400" y="4585335"/>
            <a:ext cx="2247900"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the original condition is False</a:t>
            </a:r>
          </a:p>
        </p:txBody>
      </p:sp>
      <p:sp>
        <p:nvSpPr>
          <p:cNvPr id="28" name="">
            <a:extLst xmlns:a="http://schemas.openxmlformats.org/drawingml/2006/main">
              <a:ext uri="{FF2B5EF4-FFF2-40B4-BE49-F238E27FC236}">
                <a16:creationId xmlns:a16="http://schemas.microsoft.com/office/drawing/2014/main" id="{D3E79CEA-F500-4280-8659-4E48E5778487}"/>
              </a:ext>
            </a:extLst>
          </p:cNvPr>
          <p:cNvSpPr>
            <a:spLocks xmlns:a="http://schemas.openxmlformats.org/drawingml/2006/main" noGrp="1"/>
          </p:cNvSpPr>
          <p:nvPr/>
        </p:nvSpPr>
        <p:spPr>
          <a:xfrm xmlns:a="http://schemas.openxmlformats.org/drawingml/2006/main">
            <a:off x="5562600" y="4509135"/>
            <a:ext cx="2476500" cy="54102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29" name="cell-2-2">
            <a:extLst xmlns:a="http://schemas.openxmlformats.org/drawingml/2006/main">
              <a:ext uri="{FF2B5EF4-FFF2-40B4-BE49-F238E27FC236}">
                <a16:creationId xmlns:a16="http://schemas.microsoft.com/office/drawing/2014/main" id="{FFF8382B-561E-430A-895F-F6CB03C24253}"/>
              </a:ext>
            </a:extLst>
          </p:cNvPr>
          <p:cNvSpPr>
            <a:spLocks xmlns:a="http://schemas.openxmlformats.org/drawingml/2006/main" noGrp="1"/>
          </p:cNvSpPr>
          <p:nvPr/>
        </p:nvSpPr>
        <p:spPr>
          <a:xfrm xmlns:a="http://schemas.openxmlformats.org/drawingml/2006/main">
            <a:off x="5676900" y="4585335"/>
            <a:ext cx="2247900"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Is the room NOT occupied?</a:t>
            </a:r>
          </a:p>
        </p:txBody>
      </p:sp>
      <p:sp>
        <p:nvSpPr>
          <p:cNvPr id="30" name="callout-label">
            <a:extLst xmlns:a="http://schemas.openxmlformats.org/drawingml/2006/main">
              <a:ext uri="{FF2B5EF4-FFF2-40B4-BE49-F238E27FC236}">
                <a16:creationId xmlns:a16="http://schemas.microsoft.com/office/drawing/2014/main" id="{24184463-FBFC-455F-98D3-19CADC833BE1}"/>
              </a:ext>
            </a:extLst>
          </p:cNvPr>
          <p:cNvSpPr>
            <a:spLocks xmlns:a="http://schemas.openxmlformats.org/drawingml/2006/main" noGrp="1"/>
          </p:cNvSpPr>
          <p:nvPr/>
        </p:nvSpPr>
        <p:spPr>
          <a:xfrm xmlns:a="http://schemas.openxmlformats.org/drawingml/2006/main">
            <a:off x="8420100" y="1866900"/>
            <a:ext cx="3162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ARCHITECTURAL LENS</a:t>
            </a:r>
          </a:p>
        </p:txBody>
      </p:sp>
      <p:sp>
        <p:nvSpPr>
          <p:cNvPr id="31" name="callout">
            <a:extLst xmlns:a="http://schemas.openxmlformats.org/drawingml/2006/main">
              <a:ext uri="{FF2B5EF4-FFF2-40B4-BE49-F238E27FC236}">
                <a16:creationId xmlns:a16="http://schemas.microsoft.com/office/drawing/2014/main" id="{F940D3DF-1455-4307-8408-F28939E1D898}"/>
              </a:ext>
            </a:extLst>
          </p:cNvPr>
          <p:cNvSpPr>
            <a:spLocks xmlns:a="http://schemas.openxmlformats.org/drawingml/2006/main" noGrp="1"/>
          </p:cNvSpPr>
          <p:nvPr/>
        </p:nvSpPr>
        <p:spPr>
          <a:xfrm xmlns:a="http://schemas.openxmlformats.org/drawingml/2006/main">
            <a:off x="8420100" y="2190750"/>
            <a:ext cx="3162300" cy="3790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1">
                <a:solidFill>
                  <a:srgbClr val="111316"/>
                </a:solidFill>
                <a:latin typeface="Arial"/>
                <a:ea typeface="Arial"/>
                <a:cs typeface="Arial"/>
              </a:defRPr>
            </a:pPr>
            <a:r>
              <a:rPr sz="1800" b="1">
                <a:solidFill>
                  <a:srgbClr val="111316"/>
                </a:solidFill>
                <a:latin typeface="Arial"/>
                <a:ea typeface="Arial"/>
                <a:cs typeface="Arial"/>
              </a:rPr>
              <a:t>Write compound conditions in words first. Parentheses make grouping and policy visible.</a:t>
            </a:r>
          </a:p>
        </p:txBody>
      </p:sp>
    </p:spTree>
    <p:extLst>
      <p:ext uri="{BB962C8B-B14F-4D97-AF65-F5344CB8AC3E}">
        <p14:creationId xmlns:p14="http://schemas.microsoft.com/office/powerpoint/2010/main" val="2081088947"/>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kicker">
            <a:extLst xmlns:a="http://schemas.openxmlformats.org/drawingml/2006/main">
              <a:ext uri="{FF2B5EF4-FFF2-40B4-BE49-F238E27FC236}">
                <a16:creationId xmlns:a16="http://schemas.microsoft.com/office/drawing/2014/main" id="{A5365456-43CD-488D-A50C-F6B9E92A9868}"/>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CONCEPT</a:t>
            </a:r>
          </a:p>
        </p:txBody>
      </p:sp>
      <p:sp>
        <p:nvSpPr>
          <p:cNvPr id="2" name="title">
            <a:extLst xmlns:a="http://schemas.openxmlformats.org/drawingml/2006/main">
              <a:ext uri="{FF2B5EF4-FFF2-40B4-BE49-F238E27FC236}">
                <a16:creationId xmlns:a16="http://schemas.microsoft.com/office/drawing/2014/main" id="{72B2F616-8F0D-435D-B328-9A9B9584134A}"/>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Compound rules combine Boolean evidence</a:t>
            </a:r>
          </a:p>
        </p:txBody>
      </p:sp>
      <p:sp>
        <p:nvSpPr>
          <p:cNvPr id="3" name="">
            <a:extLst xmlns:a="http://schemas.openxmlformats.org/drawingml/2006/main">
              <a:ext uri="{FF2B5EF4-FFF2-40B4-BE49-F238E27FC236}">
                <a16:creationId xmlns:a16="http://schemas.microsoft.com/office/drawing/2014/main" id="{266B9C99-AE7B-4E49-8FE9-D4D3906501D1}"/>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CFC6F6BD-8035-4307-92D0-0A8A729D1FBF}"/>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3 · Meeting A · Decisions and Functions · Full Source Deck</a:t>
            </a:r>
          </a:p>
        </p:txBody>
      </p:sp>
      <p:sp>
        <p:nvSpPr>
          <p:cNvPr id="5" name="page">
            <a:extLst xmlns:a="http://schemas.openxmlformats.org/drawingml/2006/main">
              <a:ext uri="{FF2B5EF4-FFF2-40B4-BE49-F238E27FC236}">
                <a16:creationId xmlns:a16="http://schemas.microsoft.com/office/drawing/2014/main" id="{FF0CD18D-FB60-474D-806F-6EF8C81402CC}"/>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20</a:t>
            </a:r>
          </a:p>
        </p:txBody>
      </p:sp>
      <p:sp>
        <p:nvSpPr>
          <p:cNvPr id="6" name="left-head">
            <a:extLst xmlns:a="http://schemas.openxmlformats.org/drawingml/2006/main">
              <a:ext uri="{FF2B5EF4-FFF2-40B4-BE49-F238E27FC236}">
                <a16:creationId xmlns:a16="http://schemas.microsoft.com/office/drawing/2014/main" id="{D5CC5346-AD5E-4556-92A6-904C9E4FBF69}"/>
              </a:ext>
            </a:extLst>
          </p:cNvPr>
          <p:cNvSpPr>
            <a:spLocks xmlns:a="http://schemas.openxmlformats.org/drawingml/2006/main" noGrp="1"/>
          </p:cNvSpPr>
          <p:nvPr/>
        </p:nvSpPr>
        <p:spPr>
          <a:xfrm xmlns:a="http://schemas.openxmlformats.org/drawingml/2006/main">
            <a:off x="609600" y="2905125"/>
            <a:ext cx="5219700" cy="3451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AND</a:t>
            </a:r>
          </a:p>
        </p:txBody>
      </p:sp>
      <p:sp>
        <p:nvSpPr>
          <p:cNvPr id="7" name="left-body">
            <a:extLst xmlns:a="http://schemas.openxmlformats.org/drawingml/2006/main">
              <a:ext uri="{FF2B5EF4-FFF2-40B4-BE49-F238E27FC236}">
                <a16:creationId xmlns:a16="http://schemas.microsoft.com/office/drawing/2014/main" id="{0525A424-5B1F-44E2-90DC-D6BB220325DF}"/>
              </a:ext>
            </a:extLst>
          </p:cNvPr>
          <p:cNvSpPr>
            <a:spLocks xmlns:a="http://schemas.openxmlformats.org/drawingml/2006/main" noGrp="1"/>
          </p:cNvSpPr>
          <p:nvPr/>
        </p:nvSpPr>
        <p:spPr>
          <a:xfrm xmlns:a="http://schemas.openxmlformats.org/drawingml/2006/main">
            <a:off x="609600" y="3402711"/>
            <a:ext cx="5219700" cy="60655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5A5F66"/>
                </a:solidFill>
                <a:latin typeface="Arial"/>
                <a:ea typeface="Arial"/>
                <a:cs typeface="Arial"/>
              </a:defRPr>
            </a:pPr>
            <a:r>
              <a:rPr sz="1800" b="0">
                <a:solidFill>
                  <a:srgbClr val="5A5F66"/>
                </a:solidFill>
                <a:latin typeface="Arial"/>
                <a:ea typeface="Arial"/>
                <a:cs typeface="Arial"/>
              </a:rPr>
              <a:t>A and B is True only when both are True. Use when all stated criteria must be satisfied.</a:t>
            </a:r>
          </a:p>
        </p:txBody>
      </p:sp>
      <p:sp>
        <p:nvSpPr>
          <p:cNvPr id="8" name="right-head">
            <a:extLst xmlns:a="http://schemas.openxmlformats.org/drawingml/2006/main">
              <a:ext uri="{FF2B5EF4-FFF2-40B4-BE49-F238E27FC236}">
                <a16:creationId xmlns:a16="http://schemas.microsoft.com/office/drawing/2014/main" id="{EE1505A1-01DA-48E6-B978-3D132F4148BB}"/>
              </a:ext>
            </a:extLst>
          </p:cNvPr>
          <p:cNvSpPr>
            <a:spLocks xmlns:a="http://schemas.openxmlformats.org/drawingml/2006/main" noGrp="1"/>
          </p:cNvSpPr>
          <p:nvPr/>
        </p:nvSpPr>
        <p:spPr>
          <a:xfrm xmlns:a="http://schemas.openxmlformats.org/drawingml/2006/main">
            <a:off x="6362700" y="2905125"/>
            <a:ext cx="5219700" cy="3451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OR and NOT</a:t>
            </a:r>
          </a:p>
        </p:txBody>
      </p:sp>
      <p:sp>
        <p:nvSpPr>
          <p:cNvPr id="9" name="right-body">
            <a:extLst xmlns:a="http://schemas.openxmlformats.org/drawingml/2006/main">
              <a:ext uri="{FF2B5EF4-FFF2-40B4-BE49-F238E27FC236}">
                <a16:creationId xmlns:a16="http://schemas.microsoft.com/office/drawing/2014/main" id="{4F8472E4-EFB5-4C11-8FB4-4F48FB5C2E94}"/>
              </a:ext>
            </a:extLst>
          </p:cNvPr>
          <p:cNvSpPr>
            <a:spLocks xmlns:a="http://schemas.openxmlformats.org/drawingml/2006/main" noGrp="1"/>
          </p:cNvSpPr>
          <p:nvPr/>
        </p:nvSpPr>
        <p:spPr>
          <a:xfrm xmlns:a="http://schemas.openxmlformats.org/drawingml/2006/main">
            <a:off x="6362700" y="3402711"/>
            <a:ext cx="5219700" cy="87172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5A5F66"/>
                </a:solidFill>
                <a:latin typeface="Arial"/>
                <a:ea typeface="Arial"/>
                <a:cs typeface="Arial"/>
              </a:defRPr>
            </a:pPr>
            <a:r>
              <a:rPr sz="1800" b="0">
                <a:solidFill>
                  <a:srgbClr val="5A5F66"/>
                </a:solidFill>
                <a:latin typeface="Arial"/>
                <a:ea typeface="Arial"/>
                <a:cs typeface="Arial"/>
              </a:rPr>
              <a:t>A or B is True when either is True. not A reverses a Boolean. Parentheses make compound intent visible.</a:t>
            </a:r>
          </a:p>
        </p:txBody>
      </p:sp>
    </p:spTree>
    <p:extLst>
      <p:ext uri="{BB962C8B-B14F-4D97-AF65-F5344CB8AC3E}">
        <p14:creationId xmlns:p14="http://schemas.microsoft.com/office/powerpoint/2010/main" val="786731459"/>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kicker">
            <a:extLst xmlns:a="http://schemas.openxmlformats.org/drawingml/2006/main">
              <a:ext uri="{FF2B5EF4-FFF2-40B4-BE49-F238E27FC236}">
                <a16:creationId xmlns:a16="http://schemas.microsoft.com/office/drawing/2014/main" id="{DC690035-54DD-4CB6-AA02-0C5B6801B70A}"/>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PYTHON SYNTAX</a:t>
            </a:r>
          </a:p>
        </p:txBody>
      </p:sp>
      <p:sp>
        <p:nvSpPr>
          <p:cNvPr id="2" name="title">
            <a:extLst xmlns:a="http://schemas.openxmlformats.org/drawingml/2006/main">
              <a:ext uri="{FF2B5EF4-FFF2-40B4-BE49-F238E27FC236}">
                <a16:creationId xmlns:a16="http://schemas.microsoft.com/office/drawing/2014/main" id="{EFE0981C-F7CF-4813-BE1F-52D5436FA21B}"/>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and requires both criteria to pass</a:t>
            </a:r>
          </a:p>
        </p:txBody>
      </p:sp>
      <p:sp>
        <p:nvSpPr>
          <p:cNvPr id="3" name="">
            <a:extLst xmlns:a="http://schemas.openxmlformats.org/drawingml/2006/main">
              <a:ext uri="{FF2B5EF4-FFF2-40B4-BE49-F238E27FC236}">
                <a16:creationId xmlns:a16="http://schemas.microsoft.com/office/drawing/2014/main" id="{C27BCACA-98BC-4548-9102-8BBBEF254920}"/>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37FED7D8-6B0C-444A-B333-6ABDF073F6CE}"/>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3 · Meeting A · Decisions and Functions · Full Source Deck</a:t>
            </a:r>
          </a:p>
        </p:txBody>
      </p:sp>
      <p:sp>
        <p:nvSpPr>
          <p:cNvPr id="5" name="page">
            <a:extLst xmlns:a="http://schemas.openxmlformats.org/drawingml/2006/main">
              <a:ext uri="{FF2B5EF4-FFF2-40B4-BE49-F238E27FC236}">
                <a16:creationId xmlns:a16="http://schemas.microsoft.com/office/drawing/2014/main" id="{F4962F02-0A18-4E40-9172-5B945C324EE1}"/>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21</a:t>
            </a:r>
          </a:p>
        </p:txBody>
      </p:sp>
      <p:sp>
        <p:nvSpPr>
          <p:cNvPr id="6" name="code-panel">
            <a:extLst xmlns:a="http://schemas.openxmlformats.org/drawingml/2006/main">
              <a:ext uri="{FF2B5EF4-FFF2-40B4-BE49-F238E27FC236}">
                <a16:creationId xmlns:a16="http://schemas.microsoft.com/office/drawing/2014/main" id="{140FF990-FD2B-4589-9D2B-60762909F9F0}"/>
              </a:ext>
            </a:extLst>
          </p:cNvPr>
          <p:cNvSpPr>
            <a:spLocks xmlns:a="http://schemas.openxmlformats.org/drawingml/2006/main" noGrp="1"/>
          </p:cNvSpPr>
          <p:nvPr/>
        </p:nvSpPr>
        <p:spPr>
          <a:xfrm xmlns:a="http://schemas.openxmlformats.org/drawingml/2006/main">
            <a:off x="609600" y="1809750"/>
            <a:ext cx="6896100" cy="4267200"/>
          </a:xfrm>
          <a:prstGeom xmlns:a="http://schemas.openxmlformats.org/drawingml/2006/main" prst="roundRect">
            <a:avLst>
              <a:gd name="adj" fmla="val 1786"/>
            </a:avLst>
          </a:prstGeom>
          <a:solidFill xmlns:a="http://schemas.openxmlformats.org/drawingml/2006/main">
            <a:srgbClr val="17191C"/>
          </a:solidFill>
          <a:ln xmlns:a="http://schemas.openxmlformats.org/drawingml/2006/main" w="9525">
            <a:solidFill>
              <a:srgbClr val="17191C"/>
            </a:solidFill>
            <a:prstDash val="solid"/>
          </a:ln>
        </p:spPr>
      </p:sp>
      <p:sp>
        <p:nvSpPr>
          <p:cNvPr id="7" name="code">
            <a:extLst xmlns:a="http://schemas.openxmlformats.org/drawingml/2006/main">
              <a:ext uri="{FF2B5EF4-FFF2-40B4-BE49-F238E27FC236}">
                <a16:creationId xmlns:a16="http://schemas.microsoft.com/office/drawing/2014/main" id="{2E3DA2ED-6A9D-4707-961B-7678D0F8B2CE}"/>
              </a:ext>
            </a:extLst>
          </p:cNvPr>
          <p:cNvSpPr>
            <a:spLocks xmlns:a="http://schemas.openxmlformats.org/drawingml/2006/main" noGrp="1"/>
          </p:cNvSpPr>
          <p:nvPr/>
        </p:nvSpPr>
        <p:spPr>
          <a:xfrm xmlns:a="http://schemas.openxmlformats.org/drawingml/2006/main">
            <a:off x="857250" y="2057400"/>
            <a:ext cx="6400800" cy="314096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area_m2 = 44.2</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has_daylight = True</a:t>
            </a:r>
          </a:p>
          <a:p xmlns:a="http://schemas.openxmlformats.org/drawingml/2006/main">
            <a:r>
              <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ready_for_review = (</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area_m2 &gt;= 40.0</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and has_daylight</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print(ready_for_review)</a:t>
            </a:r>
          </a:p>
        </p:txBody>
      </p:sp>
      <p:sp>
        <p:nvSpPr>
          <p:cNvPr id="8" name="">
            <a:extLst xmlns:a="http://schemas.openxmlformats.org/drawingml/2006/main">
              <a:ext uri="{FF2B5EF4-FFF2-40B4-BE49-F238E27FC236}">
                <a16:creationId xmlns:a16="http://schemas.microsoft.com/office/drawing/2014/main" id="{C8F5AEE0-9588-4F6F-AF9C-30D3C4D35A45}"/>
              </a:ext>
            </a:extLst>
          </p:cNvPr>
          <p:cNvSpPr>
            <a:spLocks xmlns:a="http://schemas.openxmlformats.org/drawingml/2006/main" noGrp="1"/>
          </p:cNvSpPr>
          <p:nvPr/>
        </p:nvSpPr>
        <p:spPr>
          <a:xfrm xmlns:a="http://schemas.openxmlformats.org/drawingml/2006/main">
            <a:off x="857250" y="5255514"/>
            <a:ext cx="6400800" cy="0"/>
          </a:xfrm>
          <a:prstGeom xmlns:a="http://schemas.openxmlformats.org/drawingml/2006/main" prst="line">
            <a:avLst/>
          </a:prstGeom>
          <a:noFill xmlns:a="http://schemas.openxmlformats.org/drawingml/2006/main"/>
          <a:ln xmlns:a="http://schemas.openxmlformats.org/drawingml/2006/main" w="9525">
            <a:solidFill>
              <a:srgbClr val="4E5258"/>
            </a:solidFill>
            <a:prstDash val="solid"/>
          </a:ln>
        </p:spPr>
      </p:sp>
      <p:sp>
        <p:nvSpPr>
          <p:cNvPr id="9" name="output-label">
            <a:extLst xmlns:a="http://schemas.openxmlformats.org/drawingml/2006/main">
              <a:ext uri="{FF2B5EF4-FFF2-40B4-BE49-F238E27FC236}">
                <a16:creationId xmlns:a16="http://schemas.microsoft.com/office/drawing/2014/main" id="{DC26E422-A103-4FDF-814F-E248EF9B4DE7}"/>
              </a:ext>
            </a:extLst>
          </p:cNvPr>
          <p:cNvSpPr>
            <a:spLocks xmlns:a="http://schemas.openxmlformats.org/drawingml/2006/main" noGrp="1"/>
          </p:cNvSpPr>
          <p:nvPr/>
        </p:nvSpPr>
        <p:spPr>
          <a:xfrm xmlns:a="http://schemas.openxmlformats.org/drawingml/2006/main">
            <a:off x="857250" y="5369814"/>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E8EEF5"/>
                </a:solidFill>
                <a:latin typeface="Arial"/>
                <a:ea typeface="Arial"/>
                <a:cs typeface="Arial"/>
              </a:defRPr>
            </a:pPr>
            <a:r>
              <a:rPr sz="900" b="1">
                <a:solidFill>
                  <a:srgbClr val="E8EEF5"/>
                </a:solidFill>
                <a:latin typeface="Arial"/>
                <a:ea typeface="Arial"/>
                <a:cs typeface="Arial"/>
              </a:rPr>
              <a:t>OUTPUT</a:t>
            </a:r>
          </a:p>
        </p:txBody>
      </p:sp>
      <p:sp>
        <p:nvSpPr>
          <p:cNvPr id="10" name="output">
            <a:extLst xmlns:a="http://schemas.openxmlformats.org/drawingml/2006/main">
              <a:ext uri="{FF2B5EF4-FFF2-40B4-BE49-F238E27FC236}">
                <a16:creationId xmlns:a16="http://schemas.microsoft.com/office/drawing/2014/main" id="{734403EC-4900-4E3F-A873-3CE366C8D1FD}"/>
              </a:ext>
            </a:extLst>
          </p:cNvPr>
          <p:cNvSpPr>
            <a:spLocks xmlns:a="http://schemas.openxmlformats.org/drawingml/2006/main" noGrp="1"/>
          </p:cNvSpPr>
          <p:nvPr/>
        </p:nvSpPr>
        <p:spPr>
          <a:xfrm xmlns:a="http://schemas.openxmlformats.org/drawingml/2006/main">
            <a:off x="857250" y="5598414"/>
            <a:ext cx="6400800" cy="2308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True</a:t>
            </a:r>
          </a:p>
        </p:txBody>
      </p:sp>
      <p:sp>
        <p:nvSpPr>
          <p:cNvPr id="11" name="explain-head">
            <a:extLst xmlns:a="http://schemas.openxmlformats.org/drawingml/2006/main">
              <a:ext uri="{FF2B5EF4-FFF2-40B4-BE49-F238E27FC236}">
                <a16:creationId xmlns:a16="http://schemas.microsoft.com/office/drawing/2014/main" id="{117D9713-FF42-4922-BE03-7C0E1A768953}"/>
              </a:ext>
            </a:extLst>
          </p:cNvPr>
          <p:cNvSpPr>
            <a:spLocks xmlns:a="http://schemas.openxmlformats.org/drawingml/2006/main" noGrp="1"/>
          </p:cNvSpPr>
          <p:nvPr/>
        </p:nvSpPr>
        <p:spPr>
          <a:xfrm xmlns:a="http://schemas.openxmlformats.org/drawingml/2006/main">
            <a:off x="7886700" y="2762250"/>
            <a:ext cx="3695700" cy="63322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Name the combined evidence</a:t>
            </a:r>
          </a:p>
        </p:txBody>
      </p:sp>
      <p:sp>
        <p:nvSpPr>
          <p:cNvPr id="12" name="explain-body">
            <a:extLst xmlns:a="http://schemas.openxmlformats.org/drawingml/2006/main">
              <a:ext uri="{FF2B5EF4-FFF2-40B4-BE49-F238E27FC236}">
                <a16:creationId xmlns:a16="http://schemas.microsoft.com/office/drawing/2014/main" id="{F2191DD2-9CB7-4BFF-A238-A1607338BEF5}"/>
              </a:ext>
            </a:extLst>
          </p:cNvPr>
          <p:cNvSpPr>
            <a:spLocks xmlns:a="http://schemas.openxmlformats.org/drawingml/2006/main" noGrp="1"/>
          </p:cNvSpPr>
          <p:nvPr/>
        </p:nvSpPr>
        <p:spPr>
          <a:xfrm xmlns:a="http://schemas.openxmlformats.org/drawingml/2006/main">
            <a:off x="7886700" y="3547872"/>
            <a:ext cx="3695700" cy="9601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Parentheses make the grouping readable across lines. The Boolean name should describe exactly what the rule supports—not imply final design approval.</a:t>
            </a:r>
          </a:p>
        </p:txBody>
      </p:sp>
    </p:spTree>
    <p:extLst>
      <p:ext uri="{BB962C8B-B14F-4D97-AF65-F5344CB8AC3E}">
        <p14:creationId xmlns:p14="http://schemas.microsoft.com/office/powerpoint/2010/main" val="928516298"/>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8" name="kicker">
            <a:extLst xmlns:a="http://schemas.openxmlformats.org/drawingml/2006/main">
              <a:ext uri="{FF2B5EF4-FFF2-40B4-BE49-F238E27FC236}">
                <a16:creationId xmlns:a16="http://schemas.microsoft.com/office/drawing/2014/main" id="{8B5C5937-D0CA-491A-8B41-691764FD457C}"/>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READ THE DATA</a:t>
            </a:r>
          </a:p>
        </p:txBody>
      </p:sp>
      <p:sp>
        <p:nvSpPr>
          <p:cNvPr id="2" name="title">
            <a:extLst xmlns:a="http://schemas.openxmlformats.org/drawingml/2006/main">
              <a:ext uri="{FF2B5EF4-FFF2-40B4-BE49-F238E27FC236}">
                <a16:creationId xmlns:a16="http://schemas.microsoft.com/office/drawing/2014/main" id="{53370325-9C7C-483E-9054-A248D4D5A077}"/>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Boundary cases define the policy</a:t>
            </a:r>
          </a:p>
        </p:txBody>
      </p:sp>
      <p:sp>
        <p:nvSpPr>
          <p:cNvPr id="3" name="">
            <a:extLst xmlns:a="http://schemas.openxmlformats.org/drawingml/2006/main">
              <a:ext uri="{FF2B5EF4-FFF2-40B4-BE49-F238E27FC236}">
                <a16:creationId xmlns:a16="http://schemas.microsoft.com/office/drawing/2014/main" id="{BBEEA41C-FBA8-4AEB-88AE-A2ADBF6551E9}"/>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0EBBCAF9-DFED-497D-8DAC-9757A00D93A1}"/>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3 · Meeting A · Decisions and Functions · Full Source Deck</a:t>
            </a:r>
          </a:p>
        </p:txBody>
      </p:sp>
      <p:sp>
        <p:nvSpPr>
          <p:cNvPr id="5" name="page">
            <a:extLst xmlns:a="http://schemas.openxmlformats.org/drawingml/2006/main">
              <a:ext uri="{FF2B5EF4-FFF2-40B4-BE49-F238E27FC236}">
                <a16:creationId xmlns:a16="http://schemas.microsoft.com/office/drawing/2014/main" id="{8192637B-4615-4DF0-8E76-D727A31BF086}"/>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22</a:t>
            </a:r>
          </a:p>
        </p:txBody>
      </p:sp>
      <p:sp>
        <p:nvSpPr>
          <p:cNvPr id="6" name="">
            <a:extLst xmlns:a="http://schemas.openxmlformats.org/drawingml/2006/main">
              <a:ext uri="{FF2B5EF4-FFF2-40B4-BE49-F238E27FC236}">
                <a16:creationId xmlns:a16="http://schemas.microsoft.com/office/drawing/2014/main" id="{034E7AB5-7293-42F4-9DA8-88B7B96CD896}"/>
              </a:ext>
            </a:extLst>
          </p:cNvPr>
          <p:cNvSpPr>
            <a:spLocks xmlns:a="http://schemas.openxmlformats.org/drawingml/2006/main" noGrp="1"/>
          </p:cNvSpPr>
          <p:nvPr/>
        </p:nvSpPr>
        <p:spPr>
          <a:xfrm xmlns:a="http://schemas.openxmlformats.org/drawingml/2006/main">
            <a:off x="609600" y="2628900"/>
            <a:ext cx="1857375" cy="533400"/>
          </a:xfrm>
          <a:prstGeom xmlns:a="http://schemas.openxmlformats.org/drawingml/2006/main" prst="rect">
            <a:avLst/>
          </a:prstGeom>
          <a:solidFill xmlns:a="http://schemas.openxmlformats.org/drawingml/2006/main">
            <a:srgbClr val="17191C"/>
          </a:solidFill>
          <a:ln xmlns:a="http://schemas.openxmlformats.org/drawingml/2006/main" w="9525">
            <a:solidFill>
              <a:srgbClr val="FFFFFF"/>
            </a:solidFill>
            <a:prstDash val="solid"/>
          </a:ln>
        </p:spPr>
      </p:sp>
      <p:sp>
        <p:nvSpPr>
          <p:cNvPr id="7" name="header-0">
            <a:extLst xmlns:a="http://schemas.openxmlformats.org/drawingml/2006/main">
              <a:ext uri="{FF2B5EF4-FFF2-40B4-BE49-F238E27FC236}">
                <a16:creationId xmlns:a16="http://schemas.microsoft.com/office/drawing/2014/main" id="{FF682F24-4747-4195-82F1-C2CEEDE9514C}"/>
              </a:ext>
            </a:extLst>
          </p:cNvPr>
          <p:cNvSpPr>
            <a:spLocks xmlns:a="http://schemas.openxmlformats.org/drawingml/2006/main" noGrp="1"/>
          </p:cNvSpPr>
          <p:nvPr/>
        </p:nvSpPr>
        <p:spPr>
          <a:xfrm xmlns:a="http://schemas.openxmlformats.org/drawingml/2006/main">
            <a:off x="723900" y="2705100"/>
            <a:ext cx="16287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1">
                <a:solidFill>
                  <a:srgbClr val="FFFFFF"/>
                </a:solidFill>
                <a:latin typeface="Arial"/>
                <a:ea typeface="Arial"/>
                <a:cs typeface="Arial"/>
              </a:defRPr>
            </a:pPr>
            <a:r>
              <a:rPr sz="1500" b="1">
                <a:solidFill>
                  <a:srgbClr val="FFFFFF"/>
                </a:solidFill>
                <a:latin typeface="Arial"/>
                <a:ea typeface="Arial"/>
                <a:cs typeface="Arial"/>
              </a:rPr>
              <a:t>area_m2</a:t>
            </a:r>
          </a:p>
        </p:txBody>
      </p:sp>
      <p:sp>
        <p:nvSpPr>
          <p:cNvPr id="8" name="">
            <a:extLst xmlns:a="http://schemas.openxmlformats.org/drawingml/2006/main">
              <a:ext uri="{FF2B5EF4-FFF2-40B4-BE49-F238E27FC236}">
                <a16:creationId xmlns:a16="http://schemas.microsoft.com/office/drawing/2014/main" id="{66DCF0A1-796D-4E52-995D-F9CB374A93A7}"/>
              </a:ext>
            </a:extLst>
          </p:cNvPr>
          <p:cNvSpPr>
            <a:spLocks xmlns:a="http://schemas.openxmlformats.org/drawingml/2006/main" noGrp="1"/>
          </p:cNvSpPr>
          <p:nvPr/>
        </p:nvSpPr>
        <p:spPr>
          <a:xfrm xmlns:a="http://schemas.openxmlformats.org/drawingml/2006/main">
            <a:off x="2466975" y="2628900"/>
            <a:ext cx="1857375" cy="533400"/>
          </a:xfrm>
          <a:prstGeom xmlns:a="http://schemas.openxmlformats.org/drawingml/2006/main" prst="rect">
            <a:avLst/>
          </a:prstGeom>
          <a:solidFill xmlns:a="http://schemas.openxmlformats.org/drawingml/2006/main">
            <a:srgbClr val="17191C"/>
          </a:solidFill>
          <a:ln xmlns:a="http://schemas.openxmlformats.org/drawingml/2006/main" w="9525">
            <a:solidFill>
              <a:srgbClr val="FFFFFF"/>
            </a:solidFill>
            <a:prstDash val="solid"/>
          </a:ln>
        </p:spPr>
      </p:sp>
      <p:sp>
        <p:nvSpPr>
          <p:cNvPr id="9" name="header-1">
            <a:extLst xmlns:a="http://schemas.openxmlformats.org/drawingml/2006/main">
              <a:ext uri="{FF2B5EF4-FFF2-40B4-BE49-F238E27FC236}">
                <a16:creationId xmlns:a16="http://schemas.microsoft.com/office/drawing/2014/main" id="{861E7B3A-56C1-4EDF-8026-098A28460FF9}"/>
              </a:ext>
            </a:extLst>
          </p:cNvPr>
          <p:cNvSpPr>
            <a:spLocks xmlns:a="http://schemas.openxmlformats.org/drawingml/2006/main" noGrp="1"/>
          </p:cNvSpPr>
          <p:nvPr/>
        </p:nvSpPr>
        <p:spPr>
          <a:xfrm xmlns:a="http://schemas.openxmlformats.org/drawingml/2006/main">
            <a:off x="2581275" y="2705100"/>
            <a:ext cx="16287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1">
                <a:solidFill>
                  <a:srgbClr val="FFFFFF"/>
                </a:solidFill>
                <a:latin typeface="Arial"/>
                <a:ea typeface="Arial"/>
                <a:cs typeface="Arial"/>
              </a:defRPr>
            </a:pPr>
            <a:r>
              <a:rPr sz="1500" b="1">
                <a:solidFill>
                  <a:srgbClr val="FFFFFF"/>
                </a:solidFill>
                <a:latin typeface="Arial"/>
                <a:ea typeface="Arial"/>
                <a:cs typeface="Arial"/>
              </a:rPr>
              <a:t>has_daylight</a:t>
            </a:r>
          </a:p>
        </p:txBody>
      </p:sp>
      <p:sp>
        <p:nvSpPr>
          <p:cNvPr id="10" name="">
            <a:extLst xmlns:a="http://schemas.openxmlformats.org/drawingml/2006/main">
              <a:ext uri="{FF2B5EF4-FFF2-40B4-BE49-F238E27FC236}">
                <a16:creationId xmlns:a16="http://schemas.microsoft.com/office/drawing/2014/main" id="{1DA1D5C4-F850-44A7-8CA3-24EAB80847B8}"/>
              </a:ext>
            </a:extLst>
          </p:cNvPr>
          <p:cNvSpPr>
            <a:spLocks xmlns:a="http://schemas.openxmlformats.org/drawingml/2006/main" noGrp="1"/>
          </p:cNvSpPr>
          <p:nvPr/>
        </p:nvSpPr>
        <p:spPr>
          <a:xfrm xmlns:a="http://schemas.openxmlformats.org/drawingml/2006/main">
            <a:off x="4324350" y="2628900"/>
            <a:ext cx="1857375" cy="533400"/>
          </a:xfrm>
          <a:prstGeom xmlns:a="http://schemas.openxmlformats.org/drawingml/2006/main" prst="rect">
            <a:avLst/>
          </a:prstGeom>
          <a:solidFill xmlns:a="http://schemas.openxmlformats.org/drawingml/2006/main">
            <a:srgbClr val="17191C"/>
          </a:solidFill>
          <a:ln xmlns:a="http://schemas.openxmlformats.org/drawingml/2006/main" w="9525">
            <a:solidFill>
              <a:srgbClr val="FFFFFF"/>
            </a:solidFill>
            <a:prstDash val="solid"/>
          </a:ln>
        </p:spPr>
      </p:sp>
      <p:sp>
        <p:nvSpPr>
          <p:cNvPr id="11" name="header-2">
            <a:extLst xmlns:a="http://schemas.openxmlformats.org/drawingml/2006/main">
              <a:ext uri="{FF2B5EF4-FFF2-40B4-BE49-F238E27FC236}">
                <a16:creationId xmlns:a16="http://schemas.microsoft.com/office/drawing/2014/main" id="{68E080EB-937E-42C9-BD6B-6E4AAFED0F8B}"/>
              </a:ext>
            </a:extLst>
          </p:cNvPr>
          <p:cNvSpPr>
            <a:spLocks xmlns:a="http://schemas.openxmlformats.org/drawingml/2006/main" noGrp="1"/>
          </p:cNvSpPr>
          <p:nvPr/>
        </p:nvSpPr>
        <p:spPr>
          <a:xfrm xmlns:a="http://schemas.openxmlformats.org/drawingml/2006/main">
            <a:off x="4438650" y="2705100"/>
            <a:ext cx="16287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1">
                <a:solidFill>
                  <a:srgbClr val="FFFFFF"/>
                </a:solidFill>
                <a:latin typeface="Arial"/>
                <a:ea typeface="Arial"/>
                <a:cs typeface="Arial"/>
              </a:defRPr>
            </a:pPr>
            <a:r>
              <a:rPr sz="1500" b="1">
                <a:solidFill>
                  <a:srgbClr val="FFFFFF"/>
                </a:solidFill>
                <a:latin typeface="Arial"/>
                <a:ea typeface="Arial"/>
                <a:cs typeface="Arial"/>
              </a:rPr>
              <a:t>expected result</a:t>
            </a:r>
          </a:p>
        </p:txBody>
      </p:sp>
      <p:sp>
        <p:nvSpPr>
          <p:cNvPr id="12" name="">
            <a:extLst xmlns:a="http://schemas.openxmlformats.org/drawingml/2006/main">
              <a:ext uri="{FF2B5EF4-FFF2-40B4-BE49-F238E27FC236}">
                <a16:creationId xmlns:a16="http://schemas.microsoft.com/office/drawing/2014/main" id="{D42080D7-4DFA-4EA3-B0AA-E7ECE3D88D27}"/>
              </a:ext>
            </a:extLst>
          </p:cNvPr>
          <p:cNvSpPr>
            <a:spLocks xmlns:a="http://schemas.openxmlformats.org/drawingml/2006/main" noGrp="1"/>
          </p:cNvSpPr>
          <p:nvPr/>
        </p:nvSpPr>
        <p:spPr>
          <a:xfrm xmlns:a="http://schemas.openxmlformats.org/drawingml/2006/main">
            <a:off x="6181725" y="2628900"/>
            <a:ext cx="1857375" cy="533400"/>
          </a:xfrm>
          <a:prstGeom xmlns:a="http://schemas.openxmlformats.org/drawingml/2006/main" prst="rect">
            <a:avLst/>
          </a:prstGeom>
          <a:solidFill xmlns:a="http://schemas.openxmlformats.org/drawingml/2006/main">
            <a:srgbClr val="17191C"/>
          </a:solidFill>
          <a:ln xmlns:a="http://schemas.openxmlformats.org/drawingml/2006/main" w="9525">
            <a:solidFill>
              <a:srgbClr val="FFFFFF"/>
            </a:solidFill>
            <a:prstDash val="solid"/>
          </a:ln>
        </p:spPr>
      </p:sp>
      <p:sp>
        <p:nvSpPr>
          <p:cNvPr id="13" name="header-3">
            <a:extLst xmlns:a="http://schemas.openxmlformats.org/drawingml/2006/main">
              <a:ext uri="{FF2B5EF4-FFF2-40B4-BE49-F238E27FC236}">
                <a16:creationId xmlns:a16="http://schemas.microsoft.com/office/drawing/2014/main" id="{98B26617-7CC6-41C6-9D73-B0F4BBFD5951}"/>
              </a:ext>
            </a:extLst>
          </p:cNvPr>
          <p:cNvSpPr>
            <a:spLocks xmlns:a="http://schemas.openxmlformats.org/drawingml/2006/main" noGrp="1"/>
          </p:cNvSpPr>
          <p:nvPr/>
        </p:nvSpPr>
        <p:spPr>
          <a:xfrm xmlns:a="http://schemas.openxmlformats.org/drawingml/2006/main">
            <a:off x="6296025" y="2705100"/>
            <a:ext cx="16287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1">
                <a:solidFill>
                  <a:srgbClr val="FFFFFF"/>
                </a:solidFill>
                <a:latin typeface="Arial"/>
                <a:ea typeface="Arial"/>
                <a:cs typeface="Arial"/>
              </a:defRPr>
            </a:pPr>
            <a:r>
              <a:rPr sz="1500" b="1">
                <a:solidFill>
                  <a:srgbClr val="FFFFFF"/>
                </a:solidFill>
                <a:latin typeface="Arial"/>
                <a:ea typeface="Arial"/>
                <a:cs typeface="Arial"/>
              </a:rPr>
              <a:t>reason</a:t>
            </a:r>
          </a:p>
        </p:txBody>
      </p:sp>
      <p:sp>
        <p:nvSpPr>
          <p:cNvPr id="14" name="">
            <a:extLst xmlns:a="http://schemas.openxmlformats.org/drawingml/2006/main">
              <a:ext uri="{FF2B5EF4-FFF2-40B4-BE49-F238E27FC236}">
                <a16:creationId xmlns:a16="http://schemas.microsoft.com/office/drawing/2014/main" id="{B2911D05-462E-4A46-8279-95C0AD201D04}"/>
              </a:ext>
            </a:extLst>
          </p:cNvPr>
          <p:cNvSpPr>
            <a:spLocks xmlns:a="http://schemas.openxmlformats.org/drawingml/2006/main" noGrp="1"/>
          </p:cNvSpPr>
          <p:nvPr/>
        </p:nvSpPr>
        <p:spPr>
          <a:xfrm xmlns:a="http://schemas.openxmlformats.org/drawingml/2006/main">
            <a:off x="609600" y="3162300"/>
            <a:ext cx="1857375" cy="54102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15" name="cell-0-0">
            <a:extLst xmlns:a="http://schemas.openxmlformats.org/drawingml/2006/main">
              <a:ext uri="{FF2B5EF4-FFF2-40B4-BE49-F238E27FC236}">
                <a16:creationId xmlns:a16="http://schemas.microsoft.com/office/drawing/2014/main" id="{9B4D580E-E0C5-41A2-81A1-31487F01DF25}"/>
              </a:ext>
            </a:extLst>
          </p:cNvPr>
          <p:cNvSpPr>
            <a:spLocks xmlns:a="http://schemas.openxmlformats.org/drawingml/2006/main" noGrp="1"/>
          </p:cNvSpPr>
          <p:nvPr/>
        </p:nvSpPr>
        <p:spPr>
          <a:xfrm xmlns:a="http://schemas.openxmlformats.org/drawingml/2006/main">
            <a:off x="723900" y="3238500"/>
            <a:ext cx="1628775"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39.9</a:t>
            </a:r>
          </a:p>
        </p:txBody>
      </p:sp>
      <p:sp>
        <p:nvSpPr>
          <p:cNvPr id="16" name="">
            <a:extLst xmlns:a="http://schemas.openxmlformats.org/drawingml/2006/main">
              <a:ext uri="{FF2B5EF4-FFF2-40B4-BE49-F238E27FC236}">
                <a16:creationId xmlns:a16="http://schemas.microsoft.com/office/drawing/2014/main" id="{51DA7D82-8464-4614-9900-A98AD4750DCB}"/>
              </a:ext>
            </a:extLst>
          </p:cNvPr>
          <p:cNvSpPr>
            <a:spLocks xmlns:a="http://schemas.openxmlformats.org/drawingml/2006/main" noGrp="1"/>
          </p:cNvSpPr>
          <p:nvPr/>
        </p:nvSpPr>
        <p:spPr>
          <a:xfrm xmlns:a="http://schemas.openxmlformats.org/drawingml/2006/main">
            <a:off x="2466975" y="3162300"/>
            <a:ext cx="1857375" cy="54102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17" name="cell-0-1">
            <a:extLst xmlns:a="http://schemas.openxmlformats.org/drawingml/2006/main">
              <a:ext uri="{FF2B5EF4-FFF2-40B4-BE49-F238E27FC236}">
                <a16:creationId xmlns:a16="http://schemas.microsoft.com/office/drawing/2014/main" id="{42F291E4-BE58-4B04-ADCF-F8A876BBDF68}"/>
              </a:ext>
            </a:extLst>
          </p:cNvPr>
          <p:cNvSpPr>
            <a:spLocks xmlns:a="http://schemas.openxmlformats.org/drawingml/2006/main" noGrp="1"/>
          </p:cNvSpPr>
          <p:nvPr/>
        </p:nvSpPr>
        <p:spPr>
          <a:xfrm xmlns:a="http://schemas.openxmlformats.org/drawingml/2006/main">
            <a:off x="2581275" y="3238500"/>
            <a:ext cx="1628775"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True</a:t>
            </a:r>
          </a:p>
        </p:txBody>
      </p:sp>
      <p:sp>
        <p:nvSpPr>
          <p:cNvPr id="18" name="">
            <a:extLst xmlns:a="http://schemas.openxmlformats.org/drawingml/2006/main">
              <a:ext uri="{FF2B5EF4-FFF2-40B4-BE49-F238E27FC236}">
                <a16:creationId xmlns:a16="http://schemas.microsoft.com/office/drawing/2014/main" id="{0B04D415-3982-42C7-88DB-D6E8F02D3AC0}"/>
              </a:ext>
            </a:extLst>
          </p:cNvPr>
          <p:cNvSpPr>
            <a:spLocks xmlns:a="http://schemas.openxmlformats.org/drawingml/2006/main" noGrp="1"/>
          </p:cNvSpPr>
          <p:nvPr/>
        </p:nvSpPr>
        <p:spPr>
          <a:xfrm xmlns:a="http://schemas.openxmlformats.org/drawingml/2006/main">
            <a:off x="4324350" y="3162300"/>
            <a:ext cx="1857375" cy="54102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19" name="cell-0-2">
            <a:extLst xmlns:a="http://schemas.openxmlformats.org/drawingml/2006/main">
              <a:ext uri="{FF2B5EF4-FFF2-40B4-BE49-F238E27FC236}">
                <a16:creationId xmlns:a16="http://schemas.microsoft.com/office/drawing/2014/main" id="{AC9DF02C-E292-4CD0-86B6-D6B81E8E504E}"/>
              </a:ext>
            </a:extLst>
          </p:cNvPr>
          <p:cNvSpPr>
            <a:spLocks xmlns:a="http://schemas.openxmlformats.org/drawingml/2006/main" noGrp="1"/>
          </p:cNvSpPr>
          <p:nvPr/>
        </p:nvSpPr>
        <p:spPr>
          <a:xfrm xmlns:a="http://schemas.openxmlformats.org/drawingml/2006/main">
            <a:off x="4438650" y="3238500"/>
            <a:ext cx="1628775"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False</a:t>
            </a:r>
          </a:p>
        </p:txBody>
      </p:sp>
      <p:sp>
        <p:nvSpPr>
          <p:cNvPr id="20" name="">
            <a:extLst xmlns:a="http://schemas.openxmlformats.org/drawingml/2006/main">
              <a:ext uri="{FF2B5EF4-FFF2-40B4-BE49-F238E27FC236}">
                <a16:creationId xmlns:a16="http://schemas.microsoft.com/office/drawing/2014/main" id="{0F85193C-4801-46F1-B65D-70E22BB5B1C9}"/>
              </a:ext>
            </a:extLst>
          </p:cNvPr>
          <p:cNvSpPr>
            <a:spLocks xmlns:a="http://schemas.openxmlformats.org/drawingml/2006/main" noGrp="1"/>
          </p:cNvSpPr>
          <p:nvPr/>
        </p:nvSpPr>
        <p:spPr>
          <a:xfrm xmlns:a="http://schemas.openxmlformats.org/drawingml/2006/main">
            <a:off x="6181725" y="3162300"/>
            <a:ext cx="1857375" cy="54102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21" name="cell-0-3">
            <a:extLst xmlns:a="http://schemas.openxmlformats.org/drawingml/2006/main">
              <a:ext uri="{FF2B5EF4-FFF2-40B4-BE49-F238E27FC236}">
                <a16:creationId xmlns:a16="http://schemas.microsoft.com/office/drawing/2014/main" id="{2ABCC9A1-08FE-4484-A381-258A8BA9BCAA}"/>
              </a:ext>
            </a:extLst>
          </p:cNvPr>
          <p:cNvSpPr>
            <a:spLocks xmlns:a="http://schemas.openxmlformats.org/drawingml/2006/main" noGrp="1"/>
          </p:cNvSpPr>
          <p:nvPr/>
        </p:nvSpPr>
        <p:spPr>
          <a:xfrm xmlns:a="http://schemas.openxmlformats.org/drawingml/2006/main">
            <a:off x="6296025" y="3238500"/>
            <a:ext cx="1628775"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area below boundary</a:t>
            </a:r>
          </a:p>
        </p:txBody>
      </p:sp>
      <p:sp>
        <p:nvSpPr>
          <p:cNvPr id="22" name="">
            <a:extLst xmlns:a="http://schemas.openxmlformats.org/drawingml/2006/main">
              <a:ext uri="{FF2B5EF4-FFF2-40B4-BE49-F238E27FC236}">
                <a16:creationId xmlns:a16="http://schemas.microsoft.com/office/drawing/2014/main" id="{D33FCF53-A3FE-445E-9F7F-D8409EA66CE5}"/>
              </a:ext>
            </a:extLst>
          </p:cNvPr>
          <p:cNvSpPr>
            <a:spLocks xmlns:a="http://schemas.openxmlformats.org/drawingml/2006/main" noGrp="1"/>
          </p:cNvSpPr>
          <p:nvPr/>
        </p:nvSpPr>
        <p:spPr>
          <a:xfrm xmlns:a="http://schemas.openxmlformats.org/drawingml/2006/main">
            <a:off x="609600" y="3703320"/>
            <a:ext cx="1857375" cy="53340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23" name="cell-1-0">
            <a:extLst xmlns:a="http://schemas.openxmlformats.org/drawingml/2006/main">
              <a:ext uri="{FF2B5EF4-FFF2-40B4-BE49-F238E27FC236}">
                <a16:creationId xmlns:a16="http://schemas.microsoft.com/office/drawing/2014/main" id="{22209378-6F1D-4B83-BA36-FCC99DBECB7A}"/>
              </a:ext>
            </a:extLst>
          </p:cNvPr>
          <p:cNvSpPr>
            <a:spLocks xmlns:a="http://schemas.openxmlformats.org/drawingml/2006/main" noGrp="1"/>
          </p:cNvSpPr>
          <p:nvPr/>
        </p:nvSpPr>
        <p:spPr>
          <a:xfrm xmlns:a="http://schemas.openxmlformats.org/drawingml/2006/main">
            <a:off x="723900" y="3779520"/>
            <a:ext cx="16287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40.0</a:t>
            </a:r>
          </a:p>
        </p:txBody>
      </p:sp>
      <p:sp>
        <p:nvSpPr>
          <p:cNvPr id="24" name="">
            <a:extLst xmlns:a="http://schemas.openxmlformats.org/drawingml/2006/main">
              <a:ext uri="{FF2B5EF4-FFF2-40B4-BE49-F238E27FC236}">
                <a16:creationId xmlns:a16="http://schemas.microsoft.com/office/drawing/2014/main" id="{6BFC89E0-E8B9-49ED-93F8-E28C0522D8A2}"/>
              </a:ext>
            </a:extLst>
          </p:cNvPr>
          <p:cNvSpPr>
            <a:spLocks xmlns:a="http://schemas.openxmlformats.org/drawingml/2006/main" noGrp="1"/>
          </p:cNvSpPr>
          <p:nvPr/>
        </p:nvSpPr>
        <p:spPr>
          <a:xfrm xmlns:a="http://schemas.openxmlformats.org/drawingml/2006/main">
            <a:off x="2466975" y="3703320"/>
            <a:ext cx="1857375" cy="53340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25" name="cell-1-1">
            <a:extLst xmlns:a="http://schemas.openxmlformats.org/drawingml/2006/main">
              <a:ext uri="{FF2B5EF4-FFF2-40B4-BE49-F238E27FC236}">
                <a16:creationId xmlns:a16="http://schemas.microsoft.com/office/drawing/2014/main" id="{21821676-6C61-41C2-BBA7-A9C7F6D84151}"/>
              </a:ext>
            </a:extLst>
          </p:cNvPr>
          <p:cNvSpPr>
            <a:spLocks xmlns:a="http://schemas.openxmlformats.org/drawingml/2006/main" noGrp="1"/>
          </p:cNvSpPr>
          <p:nvPr/>
        </p:nvSpPr>
        <p:spPr>
          <a:xfrm xmlns:a="http://schemas.openxmlformats.org/drawingml/2006/main">
            <a:off x="2581275" y="3779520"/>
            <a:ext cx="16287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True</a:t>
            </a:r>
          </a:p>
        </p:txBody>
      </p:sp>
      <p:sp>
        <p:nvSpPr>
          <p:cNvPr id="26" name="">
            <a:extLst xmlns:a="http://schemas.openxmlformats.org/drawingml/2006/main">
              <a:ext uri="{FF2B5EF4-FFF2-40B4-BE49-F238E27FC236}">
                <a16:creationId xmlns:a16="http://schemas.microsoft.com/office/drawing/2014/main" id="{6E8AFB5C-6FAB-4AD1-B3CD-E7861423A894}"/>
              </a:ext>
            </a:extLst>
          </p:cNvPr>
          <p:cNvSpPr>
            <a:spLocks xmlns:a="http://schemas.openxmlformats.org/drawingml/2006/main" noGrp="1"/>
          </p:cNvSpPr>
          <p:nvPr/>
        </p:nvSpPr>
        <p:spPr>
          <a:xfrm xmlns:a="http://schemas.openxmlformats.org/drawingml/2006/main">
            <a:off x="4324350" y="3703320"/>
            <a:ext cx="1857375" cy="53340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27" name="cell-1-2">
            <a:extLst xmlns:a="http://schemas.openxmlformats.org/drawingml/2006/main">
              <a:ext uri="{FF2B5EF4-FFF2-40B4-BE49-F238E27FC236}">
                <a16:creationId xmlns:a16="http://schemas.microsoft.com/office/drawing/2014/main" id="{0FEEFBEE-D870-45BE-9BFD-DFF2BE8EE0FC}"/>
              </a:ext>
            </a:extLst>
          </p:cNvPr>
          <p:cNvSpPr>
            <a:spLocks xmlns:a="http://schemas.openxmlformats.org/drawingml/2006/main" noGrp="1"/>
          </p:cNvSpPr>
          <p:nvPr/>
        </p:nvSpPr>
        <p:spPr>
          <a:xfrm xmlns:a="http://schemas.openxmlformats.org/drawingml/2006/main">
            <a:off x="4438650" y="3779520"/>
            <a:ext cx="16287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True</a:t>
            </a:r>
          </a:p>
        </p:txBody>
      </p:sp>
      <p:sp>
        <p:nvSpPr>
          <p:cNvPr id="28" name="">
            <a:extLst xmlns:a="http://schemas.openxmlformats.org/drawingml/2006/main">
              <a:ext uri="{FF2B5EF4-FFF2-40B4-BE49-F238E27FC236}">
                <a16:creationId xmlns:a16="http://schemas.microsoft.com/office/drawing/2014/main" id="{D6AA9D91-3900-470B-BB66-7A91A596B471}"/>
              </a:ext>
            </a:extLst>
          </p:cNvPr>
          <p:cNvSpPr>
            <a:spLocks xmlns:a="http://schemas.openxmlformats.org/drawingml/2006/main" noGrp="1"/>
          </p:cNvSpPr>
          <p:nvPr/>
        </p:nvSpPr>
        <p:spPr>
          <a:xfrm xmlns:a="http://schemas.openxmlformats.org/drawingml/2006/main">
            <a:off x="6181725" y="3703320"/>
            <a:ext cx="1857375" cy="53340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29" name="cell-1-3">
            <a:extLst xmlns:a="http://schemas.openxmlformats.org/drawingml/2006/main">
              <a:ext uri="{FF2B5EF4-FFF2-40B4-BE49-F238E27FC236}">
                <a16:creationId xmlns:a16="http://schemas.microsoft.com/office/drawing/2014/main" id="{E14FAECD-A77A-4B5D-80C3-931F09FA6D5E}"/>
              </a:ext>
            </a:extLst>
          </p:cNvPr>
          <p:cNvSpPr>
            <a:spLocks xmlns:a="http://schemas.openxmlformats.org/drawingml/2006/main" noGrp="1"/>
          </p:cNvSpPr>
          <p:nvPr/>
        </p:nvSpPr>
        <p:spPr>
          <a:xfrm xmlns:a="http://schemas.openxmlformats.org/drawingml/2006/main">
            <a:off x="6296025" y="3779520"/>
            <a:ext cx="16287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equality included</a:t>
            </a:r>
          </a:p>
        </p:txBody>
      </p:sp>
      <p:sp>
        <p:nvSpPr>
          <p:cNvPr id="30" name="">
            <a:extLst xmlns:a="http://schemas.openxmlformats.org/drawingml/2006/main">
              <a:ext uri="{FF2B5EF4-FFF2-40B4-BE49-F238E27FC236}">
                <a16:creationId xmlns:a16="http://schemas.microsoft.com/office/drawing/2014/main" id="{6C8049A0-0DC3-4017-817A-54EC7EAE89BA}"/>
              </a:ext>
            </a:extLst>
          </p:cNvPr>
          <p:cNvSpPr>
            <a:spLocks xmlns:a="http://schemas.openxmlformats.org/drawingml/2006/main" noGrp="1"/>
          </p:cNvSpPr>
          <p:nvPr/>
        </p:nvSpPr>
        <p:spPr>
          <a:xfrm xmlns:a="http://schemas.openxmlformats.org/drawingml/2006/main">
            <a:off x="609600" y="4236720"/>
            <a:ext cx="1857375" cy="54102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31" name="cell-2-0">
            <a:extLst xmlns:a="http://schemas.openxmlformats.org/drawingml/2006/main">
              <a:ext uri="{FF2B5EF4-FFF2-40B4-BE49-F238E27FC236}">
                <a16:creationId xmlns:a16="http://schemas.microsoft.com/office/drawing/2014/main" id="{C56B3968-DBEC-409F-8000-630440027117}"/>
              </a:ext>
            </a:extLst>
          </p:cNvPr>
          <p:cNvSpPr>
            <a:spLocks xmlns:a="http://schemas.openxmlformats.org/drawingml/2006/main" noGrp="1"/>
          </p:cNvSpPr>
          <p:nvPr/>
        </p:nvSpPr>
        <p:spPr>
          <a:xfrm xmlns:a="http://schemas.openxmlformats.org/drawingml/2006/main">
            <a:off x="723900" y="4312920"/>
            <a:ext cx="1628775"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44.2</a:t>
            </a:r>
          </a:p>
        </p:txBody>
      </p:sp>
      <p:sp>
        <p:nvSpPr>
          <p:cNvPr id="32" name="">
            <a:extLst xmlns:a="http://schemas.openxmlformats.org/drawingml/2006/main">
              <a:ext uri="{FF2B5EF4-FFF2-40B4-BE49-F238E27FC236}">
                <a16:creationId xmlns:a16="http://schemas.microsoft.com/office/drawing/2014/main" id="{CD0D1162-C2DE-440E-91B2-A9754565DE07}"/>
              </a:ext>
            </a:extLst>
          </p:cNvPr>
          <p:cNvSpPr>
            <a:spLocks xmlns:a="http://schemas.openxmlformats.org/drawingml/2006/main" noGrp="1"/>
          </p:cNvSpPr>
          <p:nvPr/>
        </p:nvSpPr>
        <p:spPr>
          <a:xfrm xmlns:a="http://schemas.openxmlformats.org/drawingml/2006/main">
            <a:off x="2466975" y="4236720"/>
            <a:ext cx="1857375" cy="54102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33" name="cell-2-1">
            <a:extLst xmlns:a="http://schemas.openxmlformats.org/drawingml/2006/main">
              <a:ext uri="{FF2B5EF4-FFF2-40B4-BE49-F238E27FC236}">
                <a16:creationId xmlns:a16="http://schemas.microsoft.com/office/drawing/2014/main" id="{B42AF0A1-252F-4609-A348-4A545782F4C2}"/>
              </a:ext>
            </a:extLst>
          </p:cNvPr>
          <p:cNvSpPr>
            <a:spLocks xmlns:a="http://schemas.openxmlformats.org/drawingml/2006/main" noGrp="1"/>
          </p:cNvSpPr>
          <p:nvPr/>
        </p:nvSpPr>
        <p:spPr>
          <a:xfrm xmlns:a="http://schemas.openxmlformats.org/drawingml/2006/main">
            <a:off x="2581275" y="4312920"/>
            <a:ext cx="1628775"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False</a:t>
            </a:r>
          </a:p>
        </p:txBody>
      </p:sp>
      <p:sp>
        <p:nvSpPr>
          <p:cNvPr id="34" name="">
            <a:extLst xmlns:a="http://schemas.openxmlformats.org/drawingml/2006/main">
              <a:ext uri="{FF2B5EF4-FFF2-40B4-BE49-F238E27FC236}">
                <a16:creationId xmlns:a16="http://schemas.microsoft.com/office/drawing/2014/main" id="{E536BC9C-C93D-41FE-A1AA-3FF9199BDDD7}"/>
              </a:ext>
            </a:extLst>
          </p:cNvPr>
          <p:cNvSpPr>
            <a:spLocks xmlns:a="http://schemas.openxmlformats.org/drawingml/2006/main" noGrp="1"/>
          </p:cNvSpPr>
          <p:nvPr/>
        </p:nvSpPr>
        <p:spPr>
          <a:xfrm xmlns:a="http://schemas.openxmlformats.org/drawingml/2006/main">
            <a:off x="4324350" y="4236720"/>
            <a:ext cx="1857375" cy="54102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35" name="cell-2-2">
            <a:extLst xmlns:a="http://schemas.openxmlformats.org/drawingml/2006/main">
              <a:ext uri="{FF2B5EF4-FFF2-40B4-BE49-F238E27FC236}">
                <a16:creationId xmlns:a16="http://schemas.microsoft.com/office/drawing/2014/main" id="{00031471-03A1-4B7C-B3FA-6AAF9D135A88}"/>
              </a:ext>
            </a:extLst>
          </p:cNvPr>
          <p:cNvSpPr>
            <a:spLocks xmlns:a="http://schemas.openxmlformats.org/drawingml/2006/main" noGrp="1"/>
          </p:cNvSpPr>
          <p:nvPr/>
        </p:nvSpPr>
        <p:spPr>
          <a:xfrm xmlns:a="http://schemas.openxmlformats.org/drawingml/2006/main">
            <a:off x="4438650" y="4312920"/>
            <a:ext cx="1628775"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False</a:t>
            </a:r>
          </a:p>
        </p:txBody>
      </p:sp>
      <p:sp>
        <p:nvSpPr>
          <p:cNvPr id="36" name="">
            <a:extLst xmlns:a="http://schemas.openxmlformats.org/drawingml/2006/main">
              <a:ext uri="{FF2B5EF4-FFF2-40B4-BE49-F238E27FC236}">
                <a16:creationId xmlns:a16="http://schemas.microsoft.com/office/drawing/2014/main" id="{005E2949-A97A-4B98-A9E5-74B0074BA854}"/>
              </a:ext>
            </a:extLst>
          </p:cNvPr>
          <p:cNvSpPr>
            <a:spLocks xmlns:a="http://schemas.openxmlformats.org/drawingml/2006/main" noGrp="1"/>
          </p:cNvSpPr>
          <p:nvPr/>
        </p:nvSpPr>
        <p:spPr>
          <a:xfrm xmlns:a="http://schemas.openxmlformats.org/drawingml/2006/main">
            <a:off x="6181725" y="4236720"/>
            <a:ext cx="1857375" cy="54102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37" name="cell-2-3">
            <a:extLst xmlns:a="http://schemas.openxmlformats.org/drawingml/2006/main">
              <a:ext uri="{FF2B5EF4-FFF2-40B4-BE49-F238E27FC236}">
                <a16:creationId xmlns:a16="http://schemas.microsoft.com/office/drawing/2014/main" id="{A70B2549-F2EB-4578-8E2D-D7CAE30E65E8}"/>
              </a:ext>
            </a:extLst>
          </p:cNvPr>
          <p:cNvSpPr>
            <a:spLocks xmlns:a="http://schemas.openxmlformats.org/drawingml/2006/main" noGrp="1"/>
          </p:cNvSpPr>
          <p:nvPr/>
        </p:nvSpPr>
        <p:spPr>
          <a:xfrm xmlns:a="http://schemas.openxmlformats.org/drawingml/2006/main">
            <a:off x="6296025" y="4312920"/>
            <a:ext cx="1628775"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daylight criterion fails</a:t>
            </a:r>
          </a:p>
        </p:txBody>
      </p:sp>
      <p:sp>
        <p:nvSpPr>
          <p:cNvPr id="38" name="">
            <a:extLst xmlns:a="http://schemas.openxmlformats.org/drawingml/2006/main">
              <a:ext uri="{FF2B5EF4-FFF2-40B4-BE49-F238E27FC236}">
                <a16:creationId xmlns:a16="http://schemas.microsoft.com/office/drawing/2014/main" id="{2284BEC2-BA81-4CD3-9979-C0B8DC5E4798}"/>
              </a:ext>
            </a:extLst>
          </p:cNvPr>
          <p:cNvSpPr>
            <a:spLocks xmlns:a="http://schemas.openxmlformats.org/drawingml/2006/main" noGrp="1"/>
          </p:cNvSpPr>
          <p:nvPr/>
        </p:nvSpPr>
        <p:spPr>
          <a:xfrm xmlns:a="http://schemas.openxmlformats.org/drawingml/2006/main">
            <a:off x="609600" y="4777740"/>
            <a:ext cx="1857375" cy="53340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39" name="cell-3-0">
            <a:extLst xmlns:a="http://schemas.openxmlformats.org/drawingml/2006/main">
              <a:ext uri="{FF2B5EF4-FFF2-40B4-BE49-F238E27FC236}">
                <a16:creationId xmlns:a16="http://schemas.microsoft.com/office/drawing/2014/main" id="{90042515-85D8-40CD-A925-69C21014B624}"/>
              </a:ext>
            </a:extLst>
          </p:cNvPr>
          <p:cNvSpPr>
            <a:spLocks xmlns:a="http://schemas.openxmlformats.org/drawingml/2006/main" noGrp="1"/>
          </p:cNvSpPr>
          <p:nvPr/>
        </p:nvSpPr>
        <p:spPr>
          <a:xfrm xmlns:a="http://schemas.openxmlformats.org/drawingml/2006/main">
            <a:off x="723900" y="4853940"/>
            <a:ext cx="16287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44.2</a:t>
            </a:r>
          </a:p>
        </p:txBody>
      </p:sp>
      <p:sp>
        <p:nvSpPr>
          <p:cNvPr id="40" name="">
            <a:extLst xmlns:a="http://schemas.openxmlformats.org/drawingml/2006/main">
              <a:ext uri="{FF2B5EF4-FFF2-40B4-BE49-F238E27FC236}">
                <a16:creationId xmlns:a16="http://schemas.microsoft.com/office/drawing/2014/main" id="{C306BBB4-8430-46DE-AE8B-D87ABF2E98BD}"/>
              </a:ext>
            </a:extLst>
          </p:cNvPr>
          <p:cNvSpPr>
            <a:spLocks xmlns:a="http://schemas.openxmlformats.org/drawingml/2006/main" noGrp="1"/>
          </p:cNvSpPr>
          <p:nvPr/>
        </p:nvSpPr>
        <p:spPr>
          <a:xfrm xmlns:a="http://schemas.openxmlformats.org/drawingml/2006/main">
            <a:off x="2466975" y="4777740"/>
            <a:ext cx="1857375" cy="53340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41" name="cell-3-1">
            <a:extLst xmlns:a="http://schemas.openxmlformats.org/drawingml/2006/main">
              <a:ext uri="{FF2B5EF4-FFF2-40B4-BE49-F238E27FC236}">
                <a16:creationId xmlns:a16="http://schemas.microsoft.com/office/drawing/2014/main" id="{74316237-5476-4A73-9731-726B7759CBB3}"/>
              </a:ext>
            </a:extLst>
          </p:cNvPr>
          <p:cNvSpPr>
            <a:spLocks xmlns:a="http://schemas.openxmlformats.org/drawingml/2006/main" noGrp="1"/>
          </p:cNvSpPr>
          <p:nvPr/>
        </p:nvSpPr>
        <p:spPr>
          <a:xfrm xmlns:a="http://schemas.openxmlformats.org/drawingml/2006/main">
            <a:off x="2581275" y="4853940"/>
            <a:ext cx="16287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True</a:t>
            </a:r>
          </a:p>
        </p:txBody>
      </p:sp>
      <p:sp>
        <p:nvSpPr>
          <p:cNvPr id="42" name="">
            <a:extLst xmlns:a="http://schemas.openxmlformats.org/drawingml/2006/main">
              <a:ext uri="{FF2B5EF4-FFF2-40B4-BE49-F238E27FC236}">
                <a16:creationId xmlns:a16="http://schemas.microsoft.com/office/drawing/2014/main" id="{F92C5DA6-904E-4390-AE54-F5E9F523FF36}"/>
              </a:ext>
            </a:extLst>
          </p:cNvPr>
          <p:cNvSpPr>
            <a:spLocks xmlns:a="http://schemas.openxmlformats.org/drawingml/2006/main" noGrp="1"/>
          </p:cNvSpPr>
          <p:nvPr/>
        </p:nvSpPr>
        <p:spPr>
          <a:xfrm xmlns:a="http://schemas.openxmlformats.org/drawingml/2006/main">
            <a:off x="4324350" y="4777740"/>
            <a:ext cx="1857375" cy="53340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43" name="cell-3-2">
            <a:extLst xmlns:a="http://schemas.openxmlformats.org/drawingml/2006/main">
              <a:ext uri="{FF2B5EF4-FFF2-40B4-BE49-F238E27FC236}">
                <a16:creationId xmlns:a16="http://schemas.microsoft.com/office/drawing/2014/main" id="{488ABCE8-3EAF-4C83-A802-6E07B84C3E8B}"/>
              </a:ext>
            </a:extLst>
          </p:cNvPr>
          <p:cNvSpPr>
            <a:spLocks xmlns:a="http://schemas.openxmlformats.org/drawingml/2006/main" noGrp="1"/>
          </p:cNvSpPr>
          <p:nvPr/>
        </p:nvSpPr>
        <p:spPr>
          <a:xfrm xmlns:a="http://schemas.openxmlformats.org/drawingml/2006/main">
            <a:off x="4438650" y="4853940"/>
            <a:ext cx="16287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True</a:t>
            </a:r>
          </a:p>
        </p:txBody>
      </p:sp>
      <p:sp>
        <p:nvSpPr>
          <p:cNvPr id="44" name="">
            <a:extLst xmlns:a="http://schemas.openxmlformats.org/drawingml/2006/main">
              <a:ext uri="{FF2B5EF4-FFF2-40B4-BE49-F238E27FC236}">
                <a16:creationId xmlns:a16="http://schemas.microsoft.com/office/drawing/2014/main" id="{02EB7540-B2D2-4240-A359-8CC990DD6330}"/>
              </a:ext>
            </a:extLst>
          </p:cNvPr>
          <p:cNvSpPr>
            <a:spLocks xmlns:a="http://schemas.openxmlformats.org/drawingml/2006/main" noGrp="1"/>
          </p:cNvSpPr>
          <p:nvPr/>
        </p:nvSpPr>
        <p:spPr>
          <a:xfrm xmlns:a="http://schemas.openxmlformats.org/drawingml/2006/main">
            <a:off x="6181725" y="4777740"/>
            <a:ext cx="1857375" cy="53340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45" name="cell-3-3">
            <a:extLst xmlns:a="http://schemas.openxmlformats.org/drawingml/2006/main">
              <a:ext uri="{FF2B5EF4-FFF2-40B4-BE49-F238E27FC236}">
                <a16:creationId xmlns:a16="http://schemas.microsoft.com/office/drawing/2014/main" id="{7C14A617-1EFE-4BEA-9B72-4D7C8447BD74}"/>
              </a:ext>
            </a:extLst>
          </p:cNvPr>
          <p:cNvSpPr>
            <a:spLocks xmlns:a="http://schemas.openxmlformats.org/drawingml/2006/main" noGrp="1"/>
          </p:cNvSpPr>
          <p:nvPr/>
        </p:nvSpPr>
        <p:spPr>
          <a:xfrm xmlns:a="http://schemas.openxmlformats.org/drawingml/2006/main">
            <a:off x="6296025" y="4853940"/>
            <a:ext cx="16287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both criteria pass</a:t>
            </a:r>
          </a:p>
        </p:txBody>
      </p:sp>
      <p:sp>
        <p:nvSpPr>
          <p:cNvPr id="46" name="callout-label">
            <a:extLst xmlns:a="http://schemas.openxmlformats.org/drawingml/2006/main">
              <a:ext uri="{FF2B5EF4-FFF2-40B4-BE49-F238E27FC236}">
                <a16:creationId xmlns:a16="http://schemas.microsoft.com/office/drawing/2014/main" id="{07CD0288-6E4F-4FA0-BD34-0FF62F73B00E}"/>
              </a:ext>
            </a:extLst>
          </p:cNvPr>
          <p:cNvSpPr>
            <a:spLocks xmlns:a="http://schemas.openxmlformats.org/drawingml/2006/main" noGrp="1"/>
          </p:cNvSpPr>
          <p:nvPr/>
        </p:nvSpPr>
        <p:spPr>
          <a:xfrm xmlns:a="http://schemas.openxmlformats.org/drawingml/2006/main">
            <a:off x="8420100" y="1866900"/>
            <a:ext cx="3162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ARCHITECTURAL LENS</a:t>
            </a:r>
          </a:p>
        </p:txBody>
      </p:sp>
      <p:sp>
        <p:nvSpPr>
          <p:cNvPr id="47" name="callout">
            <a:extLst xmlns:a="http://schemas.openxmlformats.org/drawingml/2006/main">
              <a:ext uri="{FF2B5EF4-FFF2-40B4-BE49-F238E27FC236}">
                <a16:creationId xmlns:a16="http://schemas.microsoft.com/office/drawing/2014/main" id="{07532481-97DA-4CA1-B999-2B1DBAFA0A70}"/>
              </a:ext>
            </a:extLst>
          </p:cNvPr>
          <p:cNvSpPr>
            <a:spLocks xmlns:a="http://schemas.openxmlformats.org/drawingml/2006/main" noGrp="1"/>
          </p:cNvSpPr>
          <p:nvPr/>
        </p:nvSpPr>
        <p:spPr>
          <a:xfrm xmlns:a="http://schemas.openxmlformats.org/drawingml/2006/main">
            <a:off x="8420100" y="2190750"/>
            <a:ext cx="3162300" cy="3790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1">
                <a:solidFill>
                  <a:srgbClr val="111316"/>
                </a:solidFill>
                <a:latin typeface="Arial"/>
                <a:ea typeface="Arial"/>
                <a:cs typeface="Arial"/>
              </a:defRPr>
            </a:pPr>
            <a:r>
              <a:rPr sz="1800" b="1">
                <a:solidFill>
                  <a:srgbClr val="111316"/>
                </a:solidFill>
                <a:latin typeface="Arial"/>
                <a:ea typeface="Arial"/>
                <a:cs typeface="Arial"/>
              </a:rPr>
              <a:t>Write expected results before execution. Boundaries are policy decisions, not Python defaults.</a:t>
            </a:r>
          </a:p>
        </p:txBody>
      </p:sp>
    </p:spTree>
    <p:extLst>
      <p:ext uri="{BB962C8B-B14F-4D97-AF65-F5344CB8AC3E}">
        <p14:creationId xmlns:p14="http://schemas.microsoft.com/office/powerpoint/2010/main" val="2099778248"/>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kicker">
            <a:extLst xmlns:a="http://schemas.openxmlformats.org/drawingml/2006/main">
              <a:ext uri="{FF2B5EF4-FFF2-40B4-BE49-F238E27FC236}">
                <a16:creationId xmlns:a16="http://schemas.microsoft.com/office/drawing/2014/main" id="{435D6B7D-AC4B-4C4B-BD0C-4701785B060D}"/>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CONCEPT</a:t>
            </a:r>
          </a:p>
        </p:txBody>
      </p:sp>
      <p:sp>
        <p:nvSpPr>
          <p:cNvPr id="2" name="title">
            <a:extLst xmlns:a="http://schemas.openxmlformats.org/drawingml/2006/main">
              <a:ext uri="{FF2B5EF4-FFF2-40B4-BE49-F238E27FC236}">
                <a16:creationId xmlns:a16="http://schemas.microsoft.com/office/drawing/2014/main" id="{F340ED39-EB2F-4726-B19F-4D7BE51CB6EF}"/>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A loop repeats a block of code</a:t>
            </a:r>
          </a:p>
        </p:txBody>
      </p:sp>
      <p:sp>
        <p:nvSpPr>
          <p:cNvPr id="3" name="">
            <a:extLst xmlns:a="http://schemas.openxmlformats.org/drawingml/2006/main">
              <a:ext uri="{FF2B5EF4-FFF2-40B4-BE49-F238E27FC236}">
                <a16:creationId xmlns:a16="http://schemas.microsoft.com/office/drawing/2014/main" id="{49A110DC-9C12-463B-989F-AFD30C6A86B7}"/>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A7EEB149-41AA-45E4-95D0-8F13030D048E}"/>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3 · Meeting A · Decisions and Functions · Full Source Deck</a:t>
            </a:r>
          </a:p>
        </p:txBody>
      </p:sp>
      <p:sp>
        <p:nvSpPr>
          <p:cNvPr id="5" name="page">
            <a:extLst xmlns:a="http://schemas.openxmlformats.org/drawingml/2006/main">
              <a:ext uri="{FF2B5EF4-FFF2-40B4-BE49-F238E27FC236}">
                <a16:creationId xmlns:a16="http://schemas.microsoft.com/office/drawing/2014/main" id="{428818B4-8D91-4FB3-A7E6-71C89AFF7920}"/>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23</a:t>
            </a:r>
          </a:p>
        </p:txBody>
      </p:sp>
      <p:sp>
        <p:nvSpPr>
          <p:cNvPr id="6" name="left-head">
            <a:extLst xmlns:a="http://schemas.openxmlformats.org/drawingml/2006/main">
              <a:ext uri="{FF2B5EF4-FFF2-40B4-BE49-F238E27FC236}">
                <a16:creationId xmlns:a16="http://schemas.microsoft.com/office/drawing/2014/main" id="{6BC29FD4-7DF6-45A6-B9CF-04004238DE53}"/>
              </a:ext>
            </a:extLst>
          </p:cNvPr>
          <p:cNvSpPr>
            <a:spLocks xmlns:a="http://schemas.openxmlformats.org/drawingml/2006/main" noGrp="1"/>
          </p:cNvSpPr>
          <p:nvPr/>
        </p:nvSpPr>
        <p:spPr>
          <a:xfrm xmlns:a="http://schemas.openxmlformats.org/drawingml/2006/main">
            <a:off x="609600" y="2133600"/>
            <a:ext cx="5219700" cy="3451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Definition</a:t>
            </a:r>
          </a:p>
        </p:txBody>
      </p:sp>
      <p:sp>
        <p:nvSpPr>
          <p:cNvPr id="7" name="left-body">
            <a:extLst xmlns:a="http://schemas.openxmlformats.org/drawingml/2006/main">
              <a:ext uri="{FF2B5EF4-FFF2-40B4-BE49-F238E27FC236}">
                <a16:creationId xmlns:a16="http://schemas.microsoft.com/office/drawing/2014/main" id="{2D39EB03-A769-4E9E-B95F-E1EC45C36C0B}"/>
              </a:ext>
            </a:extLst>
          </p:cNvPr>
          <p:cNvSpPr>
            <a:spLocks xmlns:a="http://schemas.openxmlformats.org/drawingml/2006/main" noGrp="1"/>
          </p:cNvSpPr>
          <p:nvPr/>
        </p:nvSpPr>
        <p:spPr>
          <a:xfrm xmlns:a="http://schemas.openxmlformats.org/drawingml/2006/main">
            <a:off x="609600" y="2631186"/>
            <a:ext cx="5219700" cy="29931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5A5F66"/>
                </a:solidFill>
                <a:latin typeface="Arial"/>
                <a:ea typeface="Arial"/>
                <a:cs typeface="Arial"/>
              </a:defRPr>
            </a:pPr>
            <a:r>
              <a:rPr sz="1800" b="0">
                <a:solidFill>
                  <a:srgbClr val="5A5F66"/>
                </a:solidFill>
                <a:latin typeface="Arial"/>
                <a:ea typeface="Arial"/>
                <a:cs typeface="Arial"/>
              </a:rPr>
              <a:t>A loop is a control structure that executes the same indented block repeatedly. A for loop—used all course—visits each item in a sequence, once per item.</a:t>
            </a:r>
          </a:p>
          <a:p xmlns:a="http://schemas.openxmlformats.org/drawingml/2006/main">
            <a:r>
              <a:t/>
            </a:r>
          </a:p>
          <a:p xmlns:a="http://schemas.openxmlformats.org/drawingml/2006/main">
            <a:pPr algn="l">
              <a:lnSpc>
                <a:spcPct val="116000"/>
              </a:lnSpc>
              <a:buNone/>
              <a:defRPr sz="1800" b="0">
                <a:solidFill>
                  <a:srgbClr val="5A5F66"/>
                </a:solidFill>
                <a:latin typeface="Arial"/>
                <a:ea typeface="Arial"/>
                <a:cs typeface="Arial"/>
              </a:defRPr>
            </a:pPr>
            <a:r>
              <a:rPr sz="1800" b="0">
                <a:solidFill>
                  <a:srgbClr val="5A5F66"/>
                </a:solidFill>
                <a:latin typeface="Arial"/>
                <a:ea typeface="Arial"/>
                <a:cs typeface="Arial"/>
              </a:rPr>
              <a:t>A while loop instead repeats only while a condition stays True, for example (shown for contrast only, not used further this semester):</a:t>
            </a:r>
          </a:p>
          <a:p xmlns:a="http://schemas.openxmlformats.org/drawingml/2006/main">
            <a:pPr algn="l">
              <a:lnSpc>
                <a:spcPct val="116000"/>
              </a:lnSpc>
              <a:buNone/>
              <a:defRPr sz="1800" b="0">
                <a:solidFill>
                  <a:srgbClr val="5A5F66"/>
                </a:solidFill>
                <a:latin typeface="Arial"/>
                <a:ea typeface="Arial"/>
                <a:cs typeface="Arial"/>
              </a:defRPr>
            </a:pPr>
            <a:r>
              <a:rPr sz="1800" b="0">
                <a:solidFill>
                  <a:srgbClr val="5A5F66"/>
                </a:solidFill>
                <a:latin typeface="Arial"/>
                <a:ea typeface="Arial"/>
                <a:cs typeface="Arial"/>
              </a:rPr>
              <a:t>count = 0</a:t>
            </a:r>
          </a:p>
          <a:p xmlns:a="http://schemas.openxmlformats.org/drawingml/2006/main">
            <a:pPr algn="l">
              <a:lnSpc>
                <a:spcPct val="116000"/>
              </a:lnSpc>
              <a:buNone/>
              <a:defRPr sz="1800" b="0">
                <a:solidFill>
                  <a:srgbClr val="5A5F66"/>
                </a:solidFill>
                <a:latin typeface="Arial"/>
                <a:ea typeface="Arial"/>
                <a:cs typeface="Arial"/>
              </a:defRPr>
            </a:pPr>
            <a:r>
              <a:rPr sz="1800" b="0">
                <a:solidFill>
                  <a:srgbClr val="5A5F66"/>
                </a:solidFill>
                <a:latin typeface="Arial"/>
                <a:ea typeface="Arial"/>
                <a:cs typeface="Arial"/>
              </a:rPr>
              <a:t>while count &lt; 3:</a:t>
            </a:r>
          </a:p>
          <a:p xmlns:a="http://schemas.openxmlformats.org/drawingml/2006/main">
            <a:pPr algn="l">
              <a:lnSpc>
                <a:spcPct val="116000"/>
              </a:lnSpc>
              <a:buNone/>
              <a:defRPr sz="1800" b="0">
                <a:solidFill>
                  <a:srgbClr val="5A5F66"/>
                </a:solidFill>
                <a:latin typeface="Arial"/>
                <a:ea typeface="Arial"/>
                <a:cs typeface="Arial"/>
              </a:defRPr>
            </a:pPr>
            <a:r>
              <a:rPr sz="1800" b="0">
                <a:solidFill>
                  <a:srgbClr val="5A5F66"/>
                </a:solidFill>
                <a:latin typeface="Arial"/>
                <a:ea typeface="Arial"/>
                <a:cs typeface="Arial"/>
              </a:rPr>
              <a:t>    count += 1</a:t>
            </a:r>
          </a:p>
        </p:txBody>
      </p:sp>
      <p:sp>
        <p:nvSpPr>
          <p:cNvPr id="8" name="right-head">
            <a:extLst xmlns:a="http://schemas.openxmlformats.org/drawingml/2006/main">
              <a:ext uri="{FF2B5EF4-FFF2-40B4-BE49-F238E27FC236}">
                <a16:creationId xmlns:a16="http://schemas.microsoft.com/office/drawing/2014/main" id="{9AC2B89F-1C08-4718-9279-FE0FD37E891F}"/>
              </a:ext>
            </a:extLst>
          </p:cNvPr>
          <p:cNvSpPr>
            <a:spLocks xmlns:a="http://schemas.openxmlformats.org/drawingml/2006/main" noGrp="1"/>
          </p:cNvSpPr>
          <p:nvPr/>
        </p:nvSpPr>
        <p:spPr>
          <a:xfrm xmlns:a="http://schemas.openxmlformats.org/drawingml/2006/main">
            <a:off x="6362700" y="2133600"/>
            <a:ext cx="5219700" cy="3451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Why use one</a:t>
            </a:r>
          </a:p>
        </p:txBody>
      </p:sp>
      <p:sp>
        <p:nvSpPr>
          <p:cNvPr id="9" name="right-body">
            <a:extLst xmlns:a="http://schemas.openxmlformats.org/drawingml/2006/main">
              <a:ext uri="{FF2B5EF4-FFF2-40B4-BE49-F238E27FC236}">
                <a16:creationId xmlns:a16="http://schemas.microsoft.com/office/drawing/2014/main" id="{31B94EF5-DFE3-4AF5-8EB6-26107C50D23B}"/>
              </a:ext>
            </a:extLst>
          </p:cNvPr>
          <p:cNvSpPr>
            <a:spLocks xmlns:a="http://schemas.openxmlformats.org/drawingml/2006/main" noGrp="1"/>
          </p:cNvSpPr>
          <p:nvPr/>
        </p:nvSpPr>
        <p:spPr>
          <a:xfrm xmlns:a="http://schemas.openxmlformats.org/drawingml/2006/main">
            <a:off x="6362700" y="2631186"/>
            <a:ext cx="5219700" cy="113690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5A5F66"/>
                </a:solidFill>
                <a:latin typeface="Arial"/>
                <a:ea typeface="Arial"/>
                <a:cs typeface="Arial"/>
              </a:defRPr>
            </a:pPr>
            <a:r>
              <a:rPr sz="1800" b="0">
                <a:solidFill>
                  <a:srgbClr val="5A5F66"/>
                </a:solidFill>
                <a:latin typeface="Arial"/>
                <a:ea typeface="Arial"/>
                <a:cs typeface="Arial"/>
              </a:rPr>
              <a:t>Apply one tested rule consistently</a:t>
            </a:r>
          </a:p>
          <a:p xmlns:a="http://schemas.openxmlformats.org/drawingml/2006/main">
            <a:pPr algn="l">
              <a:lnSpc>
                <a:spcPct val="116000"/>
              </a:lnSpc>
              <a:buNone/>
              <a:defRPr sz="1800" b="0">
                <a:solidFill>
                  <a:srgbClr val="5A5F66"/>
                </a:solidFill>
                <a:latin typeface="Arial"/>
                <a:ea typeface="Arial"/>
                <a:cs typeface="Arial"/>
              </a:defRPr>
            </a:pPr>
            <a:r>
              <a:rPr sz="1800" b="0">
                <a:solidFill>
                  <a:srgbClr val="5A5F66"/>
                </a:solidFill>
                <a:latin typeface="Arial"/>
                <a:ea typeface="Arial"/>
                <a:cs typeface="Arial"/>
              </a:rPr>
              <a:t>Avoid copied calculations</a:t>
            </a:r>
          </a:p>
          <a:p xmlns:a="http://schemas.openxmlformats.org/drawingml/2006/main">
            <a:pPr algn="l">
              <a:lnSpc>
                <a:spcPct val="116000"/>
              </a:lnSpc>
              <a:buNone/>
              <a:defRPr sz="1800" b="0">
                <a:solidFill>
                  <a:srgbClr val="5A5F66"/>
                </a:solidFill>
                <a:latin typeface="Arial"/>
                <a:ea typeface="Arial"/>
                <a:cs typeface="Arial"/>
              </a:defRPr>
            </a:pPr>
            <a:r>
              <a:rPr sz="1800" b="0">
                <a:solidFill>
                  <a:srgbClr val="5A5F66"/>
                </a:solidFill>
                <a:latin typeface="Arial"/>
                <a:ea typeface="Arial"/>
                <a:cs typeface="Arial"/>
              </a:rPr>
              <a:t>Process several rooms or options</a:t>
            </a:r>
          </a:p>
          <a:p xmlns:a="http://schemas.openxmlformats.org/drawingml/2006/main">
            <a:pPr algn="l">
              <a:lnSpc>
                <a:spcPct val="116000"/>
              </a:lnSpc>
              <a:buNone/>
              <a:defRPr sz="1800" b="0">
                <a:solidFill>
                  <a:srgbClr val="5A5F66"/>
                </a:solidFill>
                <a:latin typeface="Arial"/>
                <a:ea typeface="Arial"/>
                <a:cs typeface="Arial"/>
              </a:defRPr>
            </a:pPr>
            <a:r>
              <a:rPr sz="1800" b="0">
                <a:solidFill>
                  <a:srgbClr val="5A5F66"/>
                </a:solidFill>
                <a:latin typeface="Arial"/>
                <a:ea typeface="Arial"/>
                <a:cs typeface="Arial"/>
              </a:rPr>
              <a:t>Summarize repeated results</a:t>
            </a:r>
          </a:p>
        </p:txBody>
      </p:sp>
    </p:spTree>
    <p:extLst>
      <p:ext uri="{BB962C8B-B14F-4D97-AF65-F5344CB8AC3E}">
        <p14:creationId xmlns:p14="http://schemas.microsoft.com/office/powerpoint/2010/main" val="1062332137"/>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kicker">
            <a:extLst xmlns:a="http://schemas.openxmlformats.org/drawingml/2006/main">
              <a:ext uri="{FF2B5EF4-FFF2-40B4-BE49-F238E27FC236}">
                <a16:creationId xmlns:a16="http://schemas.microsoft.com/office/drawing/2014/main" id="{BE94F77E-E102-42E6-AD09-55DF358A64A8}"/>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PRINCIPLE</a:t>
            </a:r>
          </a:p>
        </p:txBody>
      </p:sp>
      <p:sp>
        <p:nvSpPr>
          <p:cNvPr id="2" name="title">
            <a:extLst xmlns:a="http://schemas.openxmlformats.org/drawingml/2006/main">
              <a:ext uri="{FF2B5EF4-FFF2-40B4-BE49-F238E27FC236}">
                <a16:creationId xmlns:a16="http://schemas.microsoft.com/office/drawing/2014/main" id="{1488F8DF-FE69-4E5E-B0A7-E422FBAA4F1B}"/>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Repetition should preserve one tested rule</a:t>
            </a:r>
          </a:p>
        </p:txBody>
      </p:sp>
      <p:sp>
        <p:nvSpPr>
          <p:cNvPr id="3" name="">
            <a:extLst xmlns:a="http://schemas.openxmlformats.org/drawingml/2006/main">
              <a:ext uri="{FF2B5EF4-FFF2-40B4-BE49-F238E27FC236}">
                <a16:creationId xmlns:a16="http://schemas.microsoft.com/office/drawing/2014/main" id="{9081F440-9F0E-4577-8D2C-C95C25DC2BFA}"/>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46352218-671F-499B-998E-E207063171A2}"/>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3 · Meeting A · Decisions and Functions · Full Source Deck</a:t>
            </a:r>
          </a:p>
        </p:txBody>
      </p:sp>
      <p:sp>
        <p:nvSpPr>
          <p:cNvPr id="5" name="page">
            <a:extLst xmlns:a="http://schemas.openxmlformats.org/drawingml/2006/main">
              <a:ext uri="{FF2B5EF4-FFF2-40B4-BE49-F238E27FC236}">
                <a16:creationId xmlns:a16="http://schemas.microsoft.com/office/drawing/2014/main" id="{271CA912-21FB-46EA-B771-471A5E7997DA}"/>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24</a:t>
            </a:r>
          </a:p>
        </p:txBody>
      </p:sp>
      <p:sp>
        <p:nvSpPr>
          <p:cNvPr id="6" name="statement">
            <a:extLst xmlns:a="http://schemas.openxmlformats.org/drawingml/2006/main">
              <a:ext uri="{FF2B5EF4-FFF2-40B4-BE49-F238E27FC236}">
                <a16:creationId xmlns:a16="http://schemas.microsoft.com/office/drawing/2014/main" id="{24A22C6C-AB1B-4550-AA3C-5BED71D1CEDF}"/>
              </a:ext>
            </a:extLst>
          </p:cNvPr>
          <p:cNvSpPr>
            <a:spLocks xmlns:a="http://schemas.openxmlformats.org/drawingml/2006/main" noGrp="1"/>
          </p:cNvSpPr>
          <p:nvPr/>
        </p:nvSpPr>
        <p:spPr>
          <a:xfrm xmlns:a="http://schemas.openxmlformats.org/drawingml/2006/main">
            <a:off x="609600" y="2305050"/>
            <a:ext cx="9829800" cy="155752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600" b="1">
                <a:solidFill>
                  <a:srgbClr val="111316"/>
                </a:solidFill>
                <a:latin typeface="Arial"/>
                <a:ea typeface="Arial"/>
                <a:cs typeface="Arial"/>
              </a:defRPr>
            </a:pPr>
            <a:r>
              <a:rPr sz="3600" b="1">
                <a:solidFill>
                  <a:srgbClr val="111316"/>
                </a:solidFill>
                <a:latin typeface="Arial"/>
                <a:ea typeface="Arial"/>
                <a:cs typeface="Arial"/>
              </a:rPr>
              <a:t>A loop applies the same operation to several items without copying the code block.</a:t>
            </a:r>
          </a:p>
        </p:txBody>
      </p:sp>
      <p:sp>
        <p:nvSpPr>
          <p:cNvPr id="7" name="">
            <a:extLst xmlns:a="http://schemas.openxmlformats.org/drawingml/2006/main">
              <a:ext uri="{FF2B5EF4-FFF2-40B4-BE49-F238E27FC236}">
                <a16:creationId xmlns:a16="http://schemas.microsoft.com/office/drawing/2014/main" id="{6457E893-3A48-44CD-A6E4-64A7F100040D}"/>
              </a:ext>
            </a:extLst>
          </p:cNvPr>
          <p:cNvSpPr>
            <a:spLocks xmlns:a="http://schemas.openxmlformats.org/drawingml/2006/main" noGrp="1"/>
          </p:cNvSpPr>
          <p:nvPr/>
        </p:nvSpPr>
        <p:spPr>
          <a:xfrm xmlns:a="http://schemas.openxmlformats.org/drawingml/2006/main">
            <a:off x="609600" y="4072128"/>
            <a:ext cx="1600200" cy="0"/>
          </a:xfrm>
          <a:prstGeom xmlns:a="http://schemas.openxmlformats.org/drawingml/2006/main" prst="line">
            <a:avLst/>
          </a:prstGeom>
          <a:noFill xmlns:a="http://schemas.openxmlformats.org/drawingml/2006/main"/>
          <a:ln xmlns:a="http://schemas.openxmlformats.org/drawingml/2006/main" w="47625">
            <a:solidFill>
              <a:srgbClr val="2E74B5"/>
            </a:solidFill>
            <a:prstDash val="solid"/>
          </a:ln>
        </p:spPr>
      </p:sp>
      <p:sp>
        <p:nvSpPr>
          <p:cNvPr id="8" name="supporting">
            <a:extLst xmlns:a="http://schemas.openxmlformats.org/drawingml/2006/main">
              <a:ext uri="{FF2B5EF4-FFF2-40B4-BE49-F238E27FC236}">
                <a16:creationId xmlns:a16="http://schemas.microsoft.com/office/drawing/2014/main" id="{0A4FAB56-0B17-486E-9F74-46CEB4992393}"/>
              </a:ext>
            </a:extLst>
          </p:cNvPr>
          <p:cNvSpPr>
            <a:spLocks xmlns:a="http://schemas.openxmlformats.org/drawingml/2006/main" noGrp="1"/>
          </p:cNvSpPr>
          <p:nvPr/>
        </p:nvSpPr>
        <p:spPr>
          <a:xfrm xmlns:a="http://schemas.openxmlformats.org/drawingml/2006/main">
            <a:off x="609600" y="4395978"/>
            <a:ext cx="9334500" cy="60655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5A5F66"/>
                </a:solidFill>
                <a:latin typeface="Arial"/>
                <a:ea typeface="Arial"/>
                <a:cs typeface="Arial"/>
              </a:defRPr>
            </a:pPr>
            <a:r>
              <a:rPr sz="1800" b="0">
                <a:solidFill>
                  <a:srgbClr val="5A5F66"/>
                </a:solidFill>
                <a:latin typeface="Arial"/>
                <a:ea typeface="Arial"/>
                <a:cs typeface="Arial"/>
              </a:rPr>
              <a:t>Write and test the rule on one record first. Then repeat it and inspect whether each iteration uses the intended item.</a:t>
            </a:r>
          </a:p>
        </p:txBody>
      </p:sp>
    </p:spTree>
    <p:extLst>
      <p:ext uri="{BB962C8B-B14F-4D97-AF65-F5344CB8AC3E}">
        <p14:creationId xmlns:p14="http://schemas.microsoft.com/office/powerpoint/2010/main" val="1125683970"/>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kicker">
            <a:extLst xmlns:a="http://schemas.openxmlformats.org/drawingml/2006/main">
              <a:ext uri="{FF2B5EF4-FFF2-40B4-BE49-F238E27FC236}">
                <a16:creationId xmlns:a16="http://schemas.microsoft.com/office/drawing/2014/main" id="{DE73A766-ED8D-434F-B05A-73396F36E8A5}"/>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PYTHON SYNTAX</a:t>
            </a:r>
          </a:p>
        </p:txBody>
      </p:sp>
      <p:sp>
        <p:nvSpPr>
          <p:cNvPr id="2" name="title">
            <a:extLst xmlns:a="http://schemas.openxmlformats.org/drawingml/2006/main">
              <a:ext uri="{FF2B5EF4-FFF2-40B4-BE49-F238E27FC236}">
                <a16:creationId xmlns:a16="http://schemas.microsoft.com/office/drawing/2014/main" id="{63E8FC22-BCAA-41AF-BDFC-038734C6C075}"/>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A for loop visits each item in an ordered collection</a:t>
            </a:r>
          </a:p>
        </p:txBody>
      </p:sp>
      <p:sp>
        <p:nvSpPr>
          <p:cNvPr id="3" name="">
            <a:extLst xmlns:a="http://schemas.openxmlformats.org/drawingml/2006/main">
              <a:ext uri="{FF2B5EF4-FFF2-40B4-BE49-F238E27FC236}">
                <a16:creationId xmlns:a16="http://schemas.microsoft.com/office/drawing/2014/main" id="{4BBAA134-3715-473D-BB3C-6183AE0CEA03}"/>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44E06F84-0733-4475-8263-42AC608CBE1F}"/>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3 · Meeting A · Decisions and Functions · Full Source Deck</a:t>
            </a:r>
          </a:p>
        </p:txBody>
      </p:sp>
      <p:sp>
        <p:nvSpPr>
          <p:cNvPr id="5" name="page">
            <a:extLst xmlns:a="http://schemas.openxmlformats.org/drawingml/2006/main">
              <a:ext uri="{FF2B5EF4-FFF2-40B4-BE49-F238E27FC236}">
                <a16:creationId xmlns:a16="http://schemas.microsoft.com/office/drawing/2014/main" id="{4BB50BC9-BABD-41A8-9FAE-20F132922E3E}"/>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25</a:t>
            </a:r>
          </a:p>
        </p:txBody>
      </p:sp>
      <p:sp>
        <p:nvSpPr>
          <p:cNvPr id="6" name="code-panel">
            <a:extLst xmlns:a="http://schemas.openxmlformats.org/drawingml/2006/main">
              <a:ext uri="{FF2B5EF4-FFF2-40B4-BE49-F238E27FC236}">
                <a16:creationId xmlns:a16="http://schemas.microsoft.com/office/drawing/2014/main" id="{64CF8D7E-6A09-441C-82F1-AF6B0623CC37}"/>
              </a:ext>
            </a:extLst>
          </p:cNvPr>
          <p:cNvSpPr>
            <a:spLocks xmlns:a="http://schemas.openxmlformats.org/drawingml/2006/main" noGrp="1"/>
          </p:cNvSpPr>
          <p:nvPr/>
        </p:nvSpPr>
        <p:spPr>
          <a:xfrm xmlns:a="http://schemas.openxmlformats.org/drawingml/2006/main">
            <a:off x="609600" y="1809750"/>
            <a:ext cx="6896100" cy="4267200"/>
          </a:xfrm>
          <a:prstGeom xmlns:a="http://schemas.openxmlformats.org/drawingml/2006/main" prst="roundRect">
            <a:avLst>
              <a:gd name="adj" fmla="val 1786"/>
            </a:avLst>
          </a:prstGeom>
          <a:solidFill xmlns:a="http://schemas.openxmlformats.org/drawingml/2006/main">
            <a:srgbClr val="17191C"/>
          </a:solidFill>
          <a:ln xmlns:a="http://schemas.openxmlformats.org/drawingml/2006/main" w="9525">
            <a:solidFill>
              <a:srgbClr val="17191C"/>
            </a:solidFill>
            <a:prstDash val="solid"/>
          </a:ln>
        </p:spPr>
      </p:sp>
      <p:sp>
        <p:nvSpPr>
          <p:cNvPr id="7" name="code">
            <a:extLst xmlns:a="http://schemas.openxmlformats.org/drawingml/2006/main">
              <a:ext uri="{FF2B5EF4-FFF2-40B4-BE49-F238E27FC236}">
                <a16:creationId xmlns:a16="http://schemas.microsoft.com/office/drawing/2014/main" id="{8803DD64-08E9-4F9A-BB9A-36392BF2ECB1}"/>
              </a:ext>
            </a:extLst>
          </p:cNvPr>
          <p:cNvSpPr>
            <a:spLocks xmlns:a="http://schemas.openxmlformats.org/drawingml/2006/main" noGrp="1"/>
          </p:cNvSpPr>
          <p:nvPr/>
        </p:nvSpPr>
        <p:spPr>
          <a:xfrm xmlns:a="http://schemas.openxmlformats.org/drawingml/2006/main">
            <a:off x="857250" y="2057400"/>
            <a:ext cx="6400800" cy="279349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room_areas_m2 = [35.0, 62.5, 44.2]</a:t>
            </a:r>
          </a:p>
          <a:p xmlns:a="http://schemas.openxmlformats.org/drawingml/2006/main">
            <a:r>
              <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for area_m2 in room_areas_m2:</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    print(area_m2, area_m2 &gt;= 40.0)</a:t>
            </a:r>
          </a:p>
        </p:txBody>
      </p:sp>
      <p:sp>
        <p:nvSpPr>
          <p:cNvPr id="8" name="">
            <a:extLst xmlns:a="http://schemas.openxmlformats.org/drawingml/2006/main">
              <a:ext uri="{FF2B5EF4-FFF2-40B4-BE49-F238E27FC236}">
                <a16:creationId xmlns:a16="http://schemas.microsoft.com/office/drawing/2014/main" id="{F2ED2EBA-8C17-4433-9E08-E1D21E898C8A}"/>
              </a:ext>
            </a:extLst>
          </p:cNvPr>
          <p:cNvSpPr>
            <a:spLocks xmlns:a="http://schemas.openxmlformats.org/drawingml/2006/main" noGrp="1"/>
          </p:cNvSpPr>
          <p:nvPr/>
        </p:nvSpPr>
        <p:spPr>
          <a:xfrm xmlns:a="http://schemas.openxmlformats.org/drawingml/2006/main">
            <a:off x="857250" y="4908042"/>
            <a:ext cx="6400800" cy="0"/>
          </a:xfrm>
          <a:prstGeom xmlns:a="http://schemas.openxmlformats.org/drawingml/2006/main" prst="line">
            <a:avLst/>
          </a:prstGeom>
          <a:noFill xmlns:a="http://schemas.openxmlformats.org/drawingml/2006/main"/>
          <a:ln xmlns:a="http://schemas.openxmlformats.org/drawingml/2006/main" w="9525">
            <a:solidFill>
              <a:srgbClr val="4E5258"/>
            </a:solidFill>
            <a:prstDash val="solid"/>
          </a:ln>
        </p:spPr>
      </p:sp>
      <p:sp>
        <p:nvSpPr>
          <p:cNvPr id="9" name="output-label">
            <a:extLst xmlns:a="http://schemas.openxmlformats.org/drawingml/2006/main">
              <a:ext uri="{FF2B5EF4-FFF2-40B4-BE49-F238E27FC236}">
                <a16:creationId xmlns:a16="http://schemas.microsoft.com/office/drawing/2014/main" id="{4B478B11-DD0E-4041-9794-126729D2A86D}"/>
              </a:ext>
            </a:extLst>
          </p:cNvPr>
          <p:cNvSpPr>
            <a:spLocks xmlns:a="http://schemas.openxmlformats.org/drawingml/2006/main" noGrp="1"/>
          </p:cNvSpPr>
          <p:nvPr/>
        </p:nvSpPr>
        <p:spPr>
          <a:xfrm xmlns:a="http://schemas.openxmlformats.org/drawingml/2006/main">
            <a:off x="857250" y="5022342"/>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E8EEF5"/>
                </a:solidFill>
                <a:latin typeface="Arial"/>
                <a:ea typeface="Arial"/>
                <a:cs typeface="Arial"/>
              </a:defRPr>
            </a:pPr>
            <a:r>
              <a:rPr sz="900" b="1">
                <a:solidFill>
                  <a:srgbClr val="E8EEF5"/>
                </a:solidFill>
                <a:latin typeface="Arial"/>
                <a:ea typeface="Arial"/>
                <a:cs typeface="Arial"/>
              </a:rPr>
              <a:t>OUTPUT</a:t>
            </a:r>
          </a:p>
        </p:txBody>
      </p:sp>
      <p:sp>
        <p:nvSpPr>
          <p:cNvPr id="10" name="output">
            <a:extLst xmlns:a="http://schemas.openxmlformats.org/drawingml/2006/main">
              <a:ext uri="{FF2B5EF4-FFF2-40B4-BE49-F238E27FC236}">
                <a16:creationId xmlns:a16="http://schemas.microsoft.com/office/drawing/2014/main" id="{6DFB9167-FD83-47B1-8D68-1BC60492C792}"/>
              </a:ext>
            </a:extLst>
          </p:cNvPr>
          <p:cNvSpPr>
            <a:spLocks xmlns:a="http://schemas.openxmlformats.org/drawingml/2006/main" noGrp="1"/>
          </p:cNvSpPr>
          <p:nvPr/>
        </p:nvSpPr>
        <p:spPr>
          <a:xfrm xmlns:a="http://schemas.openxmlformats.org/drawingml/2006/main">
            <a:off x="857250" y="5250942"/>
            <a:ext cx="6400800" cy="578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35.0 False</a:t>
            </a:r>
          </a:p>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62.5 True</a:t>
            </a:r>
          </a:p>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44.2 True</a:t>
            </a:r>
          </a:p>
        </p:txBody>
      </p:sp>
      <p:sp>
        <p:nvSpPr>
          <p:cNvPr id="11" name="explain-head">
            <a:extLst xmlns:a="http://schemas.openxmlformats.org/drawingml/2006/main">
              <a:ext uri="{FF2B5EF4-FFF2-40B4-BE49-F238E27FC236}">
                <a16:creationId xmlns:a16="http://schemas.microsoft.com/office/drawing/2014/main" id="{E77E72A4-6EA9-49AF-ADC4-AE0CE0E53613}"/>
              </a:ext>
            </a:extLst>
          </p:cNvPr>
          <p:cNvSpPr>
            <a:spLocks xmlns:a="http://schemas.openxmlformats.org/drawingml/2006/main" noGrp="1"/>
          </p:cNvSpPr>
          <p:nvPr/>
        </p:nvSpPr>
        <p:spPr>
          <a:xfrm xmlns:a="http://schemas.openxmlformats.org/drawingml/2006/main">
            <a:off x="7886700" y="2524125"/>
            <a:ext cx="3695700" cy="63322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A list, then the loop variable</a:t>
            </a:r>
          </a:p>
        </p:txBody>
      </p:sp>
      <p:sp>
        <p:nvSpPr>
          <p:cNvPr id="12" name="explain-body">
            <a:extLst xmlns:a="http://schemas.openxmlformats.org/drawingml/2006/main">
              <a:ext uri="{FF2B5EF4-FFF2-40B4-BE49-F238E27FC236}">
                <a16:creationId xmlns:a16="http://schemas.microsoft.com/office/drawing/2014/main" id="{3F3C30D0-97DF-4466-9F8C-DEBDAB3B1F7F}"/>
              </a:ext>
            </a:extLst>
          </p:cNvPr>
          <p:cNvSpPr>
            <a:spLocks xmlns:a="http://schemas.openxmlformats.org/drawingml/2006/main" noGrp="1"/>
          </p:cNvSpPr>
          <p:nvPr/>
        </p:nvSpPr>
        <p:spPr>
          <a:xfrm xmlns:a="http://schemas.openxmlformats.org/drawingml/2006/main">
            <a:off x="7886700" y="3309747"/>
            <a:ext cx="3695700" cy="16230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A list is an ordered collection of values, written in square brackets and separated by commas—room_areas_m2 = [35.0, 62.5, 44.2] holds three areas in order. On each iteration, area_m2 refers to the next list item, and the indented block runs once per item.</a:t>
            </a:r>
          </a:p>
        </p:txBody>
      </p:sp>
    </p:spTree>
    <p:extLst>
      <p:ext uri="{BB962C8B-B14F-4D97-AF65-F5344CB8AC3E}">
        <p14:creationId xmlns:p14="http://schemas.microsoft.com/office/powerpoint/2010/main" val="1353191769"/>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kicker">
            <a:extLst xmlns:a="http://schemas.openxmlformats.org/drawingml/2006/main">
              <a:ext uri="{FF2B5EF4-FFF2-40B4-BE49-F238E27FC236}">
                <a16:creationId xmlns:a16="http://schemas.microsoft.com/office/drawing/2014/main" id="{68B52CC1-EF1D-4F8F-82B8-E2E35AF3148D}"/>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MEDIUM NUMERICAL EXAMPLE</a:t>
            </a:r>
          </a:p>
        </p:txBody>
      </p:sp>
      <p:sp>
        <p:nvSpPr>
          <p:cNvPr id="2" name="title">
            <a:extLst xmlns:a="http://schemas.openxmlformats.org/drawingml/2006/main">
              <a:ext uri="{FF2B5EF4-FFF2-40B4-BE49-F238E27FC236}">
                <a16:creationId xmlns:a16="http://schemas.microsoft.com/office/drawing/2014/main" id="{29CD9133-BBF9-4E01-B510-6389D7EE38D6}"/>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An accumulator summarizes repeated results</a:t>
            </a:r>
          </a:p>
        </p:txBody>
      </p:sp>
      <p:sp>
        <p:nvSpPr>
          <p:cNvPr id="3" name="">
            <a:extLst xmlns:a="http://schemas.openxmlformats.org/drawingml/2006/main">
              <a:ext uri="{FF2B5EF4-FFF2-40B4-BE49-F238E27FC236}">
                <a16:creationId xmlns:a16="http://schemas.microsoft.com/office/drawing/2014/main" id="{2054391E-D47A-49EC-9C99-0A3859BF9F0B}"/>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C9FBACB3-9449-43F0-BA78-532172768F69}"/>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3 · Meeting A · Decisions and Functions · Full Source Deck</a:t>
            </a:r>
          </a:p>
        </p:txBody>
      </p:sp>
      <p:sp>
        <p:nvSpPr>
          <p:cNvPr id="5" name="page">
            <a:extLst xmlns:a="http://schemas.openxmlformats.org/drawingml/2006/main">
              <a:ext uri="{FF2B5EF4-FFF2-40B4-BE49-F238E27FC236}">
                <a16:creationId xmlns:a16="http://schemas.microsoft.com/office/drawing/2014/main" id="{16992C97-B54C-440E-804F-F85C6D33BA01}"/>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26</a:t>
            </a:r>
          </a:p>
        </p:txBody>
      </p:sp>
      <p:sp>
        <p:nvSpPr>
          <p:cNvPr id="6" name="code-panel">
            <a:extLst xmlns:a="http://schemas.openxmlformats.org/drawingml/2006/main">
              <a:ext uri="{FF2B5EF4-FFF2-40B4-BE49-F238E27FC236}">
                <a16:creationId xmlns:a16="http://schemas.microsoft.com/office/drawing/2014/main" id="{B2C2DF59-14FE-497F-A28A-515386185498}"/>
              </a:ext>
            </a:extLst>
          </p:cNvPr>
          <p:cNvSpPr>
            <a:spLocks xmlns:a="http://schemas.openxmlformats.org/drawingml/2006/main" noGrp="1"/>
          </p:cNvSpPr>
          <p:nvPr/>
        </p:nvSpPr>
        <p:spPr>
          <a:xfrm xmlns:a="http://schemas.openxmlformats.org/drawingml/2006/main">
            <a:off x="609600" y="1809750"/>
            <a:ext cx="6896100" cy="4267200"/>
          </a:xfrm>
          <a:prstGeom xmlns:a="http://schemas.openxmlformats.org/drawingml/2006/main" prst="roundRect">
            <a:avLst>
              <a:gd name="adj" fmla="val 1786"/>
            </a:avLst>
          </a:prstGeom>
          <a:solidFill xmlns:a="http://schemas.openxmlformats.org/drawingml/2006/main">
            <a:srgbClr val="17191C"/>
          </a:solidFill>
          <a:ln xmlns:a="http://schemas.openxmlformats.org/drawingml/2006/main" w="9525">
            <a:solidFill>
              <a:srgbClr val="17191C"/>
            </a:solidFill>
            <a:prstDash val="solid"/>
          </a:ln>
        </p:spPr>
      </p:sp>
      <p:sp>
        <p:nvSpPr>
          <p:cNvPr id="7" name="code">
            <a:extLst xmlns:a="http://schemas.openxmlformats.org/drawingml/2006/main">
              <a:ext uri="{FF2B5EF4-FFF2-40B4-BE49-F238E27FC236}">
                <a16:creationId xmlns:a16="http://schemas.microsoft.com/office/drawing/2014/main" id="{C8A8FA2B-6F25-4B0B-B8B6-4A4081442A18}"/>
              </a:ext>
            </a:extLst>
          </p:cNvPr>
          <p:cNvSpPr>
            <a:spLocks xmlns:a="http://schemas.openxmlformats.org/drawingml/2006/main" noGrp="1"/>
          </p:cNvSpPr>
          <p:nvPr/>
        </p:nvSpPr>
        <p:spPr>
          <a:xfrm xmlns:a="http://schemas.openxmlformats.org/drawingml/2006/main">
            <a:off x="857250" y="2057400"/>
            <a:ext cx="6400800" cy="314096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room_areas_m2 = [35.0, 62.5, 44.2]</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passing_count = 0</a:t>
            </a:r>
          </a:p>
          <a:p xmlns:a="http://schemas.openxmlformats.org/drawingml/2006/main">
            <a:r>
              <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for area_m2 in room_areas_m2:</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if area_m2 &gt;= 40.0:</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passing_count = passing_count + 1</a:t>
            </a:r>
          </a:p>
          <a:p xmlns:a="http://schemas.openxmlformats.org/drawingml/2006/main">
            <a:r>
              <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print(passing_count)</a:t>
            </a:r>
          </a:p>
        </p:txBody>
      </p:sp>
      <p:sp>
        <p:nvSpPr>
          <p:cNvPr id="8" name="">
            <a:extLst xmlns:a="http://schemas.openxmlformats.org/drawingml/2006/main">
              <a:ext uri="{FF2B5EF4-FFF2-40B4-BE49-F238E27FC236}">
                <a16:creationId xmlns:a16="http://schemas.microsoft.com/office/drawing/2014/main" id="{B8A15DB6-4F46-420E-97BB-672027737838}"/>
              </a:ext>
            </a:extLst>
          </p:cNvPr>
          <p:cNvSpPr>
            <a:spLocks xmlns:a="http://schemas.openxmlformats.org/drawingml/2006/main" noGrp="1"/>
          </p:cNvSpPr>
          <p:nvPr/>
        </p:nvSpPr>
        <p:spPr>
          <a:xfrm xmlns:a="http://schemas.openxmlformats.org/drawingml/2006/main">
            <a:off x="857250" y="5255514"/>
            <a:ext cx="6400800" cy="0"/>
          </a:xfrm>
          <a:prstGeom xmlns:a="http://schemas.openxmlformats.org/drawingml/2006/main" prst="line">
            <a:avLst/>
          </a:prstGeom>
          <a:noFill xmlns:a="http://schemas.openxmlformats.org/drawingml/2006/main"/>
          <a:ln xmlns:a="http://schemas.openxmlformats.org/drawingml/2006/main" w="9525">
            <a:solidFill>
              <a:srgbClr val="4E5258"/>
            </a:solidFill>
            <a:prstDash val="solid"/>
          </a:ln>
        </p:spPr>
      </p:sp>
      <p:sp>
        <p:nvSpPr>
          <p:cNvPr id="9" name="output-label">
            <a:extLst xmlns:a="http://schemas.openxmlformats.org/drawingml/2006/main">
              <a:ext uri="{FF2B5EF4-FFF2-40B4-BE49-F238E27FC236}">
                <a16:creationId xmlns:a16="http://schemas.microsoft.com/office/drawing/2014/main" id="{EDC48F6A-0963-4321-B119-50CD24D20F98}"/>
              </a:ext>
            </a:extLst>
          </p:cNvPr>
          <p:cNvSpPr>
            <a:spLocks xmlns:a="http://schemas.openxmlformats.org/drawingml/2006/main" noGrp="1"/>
          </p:cNvSpPr>
          <p:nvPr/>
        </p:nvSpPr>
        <p:spPr>
          <a:xfrm xmlns:a="http://schemas.openxmlformats.org/drawingml/2006/main">
            <a:off x="857250" y="5369814"/>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E8EEF5"/>
                </a:solidFill>
                <a:latin typeface="Arial"/>
                <a:ea typeface="Arial"/>
                <a:cs typeface="Arial"/>
              </a:defRPr>
            </a:pPr>
            <a:r>
              <a:rPr sz="900" b="1">
                <a:solidFill>
                  <a:srgbClr val="E8EEF5"/>
                </a:solidFill>
                <a:latin typeface="Arial"/>
                <a:ea typeface="Arial"/>
                <a:cs typeface="Arial"/>
              </a:rPr>
              <a:t>OUTPUT</a:t>
            </a:r>
          </a:p>
        </p:txBody>
      </p:sp>
      <p:sp>
        <p:nvSpPr>
          <p:cNvPr id="10" name="output">
            <a:extLst xmlns:a="http://schemas.openxmlformats.org/drawingml/2006/main">
              <a:ext uri="{FF2B5EF4-FFF2-40B4-BE49-F238E27FC236}">
                <a16:creationId xmlns:a16="http://schemas.microsoft.com/office/drawing/2014/main" id="{8E57D476-618A-4B9D-B2FE-E8B89A3F1614}"/>
              </a:ext>
            </a:extLst>
          </p:cNvPr>
          <p:cNvSpPr>
            <a:spLocks xmlns:a="http://schemas.openxmlformats.org/drawingml/2006/main" noGrp="1"/>
          </p:cNvSpPr>
          <p:nvPr/>
        </p:nvSpPr>
        <p:spPr>
          <a:xfrm xmlns:a="http://schemas.openxmlformats.org/drawingml/2006/main">
            <a:off x="857250" y="5598414"/>
            <a:ext cx="6400800" cy="2308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2</a:t>
            </a:r>
          </a:p>
        </p:txBody>
      </p:sp>
      <p:sp>
        <p:nvSpPr>
          <p:cNvPr id="11" name="explain-head">
            <a:extLst xmlns:a="http://schemas.openxmlformats.org/drawingml/2006/main">
              <a:ext uri="{FF2B5EF4-FFF2-40B4-BE49-F238E27FC236}">
                <a16:creationId xmlns:a16="http://schemas.microsoft.com/office/drawing/2014/main" id="{2F162876-2286-4A95-BE24-F7877C7FF107}"/>
              </a:ext>
            </a:extLst>
          </p:cNvPr>
          <p:cNvSpPr>
            <a:spLocks xmlns:a="http://schemas.openxmlformats.org/drawingml/2006/main" noGrp="1"/>
          </p:cNvSpPr>
          <p:nvPr/>
        </p:nvSpPr>
        <p:spPr>
          <a:xfrm xmlns:a="http://schemas.openxmlformats.org/drawingml/2006/main">
            <a:off x="7886700" y="2762250"/>
            <a:ext cx="3695700" cy="63322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State changes each iteration</a:t>
            </a:r>
          </a:p>
        </p:txBody>
      </p:sp>
      <p:sp>
        <p:nvSpPr>
          <p:cNvPr id="12" name="explain-body">
            <a:extLst xmlns:a="http://schemas.openxmlformats.org/drawingml/2006/main">
              <a:ext uri="{FF2B5EF4-FFF2-40B4-BE49-F238E27FC236}">
                <a16:creationId xmlns:a16="http://schemas.microsoft.com/office/drawing/2014/main" id="{35D7F0A5-5075-4E93-B45D-4E7CC80D1923}"/>
              </a:ext>
            </a:extLst>
          </p:cNvPr>
          <p:cNvSpPr>
            <a:spLocks xmlns:a="http://schemas.openxmlformats.org/drawingml/2006/main" noGrp="1"/>
          </p:cNvSpPr>
          <p:nvPr/>
        </p:nvSpPr>
        <p:spPr>
          <a:xfrm xmlns:a="http://schemas.openxmlformats.org/drawingml/2006/main">
            <a:off x="7886700" y="3547872"/>
            <a:ext cx="3695700" cy="9601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Initialize before the loop. Update inside the conditional block. Inspect after the loop. A wrong indentation can reset or report the count at the wrong time.</a:t>
            </a:r>
          </a:p>
        </p:txBody>
      </p:sp>
    </p:spTree>
    <p:extLst>
      <p:ext uri="{BB962C8B-B14F-4D97-AF65-F5344CB8AC3E}">
        <p14:creationId xmlns:p14="http://schemas.microsoft.com/office/powerpoint/2010/main" val="1807667439"/>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kicker">
            <a:extLst xmlns:a="http://schemas.openxmlformats.org/drawingml/2006/main">
              <a:ext uri="{FF2B5EF4-FFF2-40B4-BE49-F238E27FC236}">
                <a16:creationId xmlns:a16="http://schemas.microsoft.com/office/drawing/2014/main" id="{F6FC2C8D-70DA-40BF-9AB5-5D9B772F5382}"/>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CONCEPT</a:t>
            </a:r>
          </a:p>
        </p:txBody>
      </p:sp>
      <p:sp>
        <p:nvSpPr>
          <p:cNvPr id="2" name="title">
            <a:extLst xmlns:a="http://schemas.openxmlformats.org/drawingml/2006/main">
              <a:ext uri="{FF2B5EF4-FFF2-40B4-BE49-F238E27FC236}">
                <a16:creationId xmlns:a16="http://schemas.microsoft.com/office/drawing/2014/main" id="{61CCC1F0-AB5A-464B-ABB3-BFF7BAEFC46B}"/>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Loop structure reveals where state changes</a:t>
            </a:r>
          </a:p>
        </p:txBody>
      </p:sp>
      <p:sp>
        <p:nvSpPr>
          <p:cNvPr id="3" name="">
            <a:extLst xmlns:a="http://schemas.openxmlformats.org/drawingml/2006/main">
              <a:ext uri="{FF2B5EF4-FFF2-40B4-BE49-F238E27FC236}">
                <a16:creationId xmlns:a16="http://schemas.microsoft.com/office/drawing/2014/main" id="{24476187-F077-4FF4-9C9B-B12CF5D93391}"/>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7180511A-F39F-4F70-B59F-E95AF73B70AA}"/>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3 · Meeting A · Decisions and Functions · Full Source Deck</a:t>
            </a:r>
          </a:p>
        </p:txBody>
      </p:sp>
      <p:sp>
        <p:nvSpPr>
          <p:cNvPr id="5" name="page">
            <a:extLst xmlns:a="http://schemas.openxmlformats.org/drawingml/2006/main">
              <a:ext uri="{FF2B5EF4-FFF2-40B4-BE49-F238E27FC236}">
                <a16:creationId xmlns:a16="http://schemas.microsoft.com/office/drawing/2014/main" id="{331788B4-F494-446B-876A-9122BC4814EE}"/>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27</a:t>
            </a:r>
          </a:p>
        </p:txBody>
      </p:sp>
      <p:sp>
        <p:nvSpPr>
          <p:cNvPr id="6" name="left-head">
            <a:extLst xmlns:a="http://schemas.openxmlformats.org/drawingml/2006/main">
              <a:ext uri="{FF2B5EF4-FFF2-40B4-BE49-F238E27FC236}">
                <a16:creationId xmlns:a16="http://schemas.microsoft.com/office/drawing/2014/main" id="{69902CD0-DD38-4886-A0DF-B6A732D58EBA}"/>
              </a:ext>
            </a:extLst>
          </p:cNvPr>
          <p:cNvSpPr>
            <a:spLocks xmlns:a="http://schemas.openxmlformats.org/drawingml/2006/main" noGrp="1"/>
          </p:cNvSpPr>
          <p:nvPr/>
        </p:nvSpPr>
        <p:spPr>
          <a:xfrm xmlns:a="http://schemas.openxmlformats.org/drawingml/2006/main">
            <a:off x="609600" y="2809875"/>
            <a:ext cx="5219700" cy="3451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Outside the loop</a:t>
            </a:r>
          </a:p>
        </p:txBody>
      </p:sp>
      <p:sp>
        <p:nvSpPr>
          <p:cNvPr id="7" name="left-body">
            <a:extLst xmlns:a="http://schemas.openxmlformats.org/drawingml/2006/main">
              <a:ext uri="{FF2B5EF4-FFF2-40B4-BE49-F238E27FC236}">
                <a16:creationId xmlns:a16="http://schemas.microsoft.com/office/drawing/2014/main" id="{A2EBCD9D-ECE4-4870-9629-CC419DB19621}"/>
              </a:ext>
            </a:extLst>
          </p:cNvPr>
          <p:cNvSpPr>
            <a:spLocks xmlns:a="http://schemas.openxmlformats.org/drawingml/2006/main" noGrp="1"/>
          </p:cNvSpPr>
          <p:nvPr/>
        </p:nvSpPr>
        <p:spPr>
          <a:xfrm xmlns:a="http://schemas.openxmlformats.org/drawingml/2006/main">
            <a:off x="609600" y="3307461"/>
            <a:ext cx="5219700" cy="87172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5A5F66"/>
                </a:solidFill>
                <a:latin typeface="Arial"/>
                <a:ea typeface="Arial"/>
                <a:cs typeface="Arial"/>
              </a:defRPr>
            </a:pPr>
            <a:r>
              <a:rPr sz="1800" b="0">
                <a:solidFill>
                  <a:srgbClr val="5A5F66"/>
                </a:solidFill>
                <a:latin typeface="Arial"/>
                <a:ea typeface="Arial"/>
                <a:cs typeface="Arial"/>
              </a:rPr>
              <a:t>Inputs and initial state</a:t>
            </a:r>
          </a:p>
          <a:p xmlns:a="http://schemas.openxmlformats.org/drawingml/2006/main">
            <a:r>
              <a:t/>
            </a:r>
          </a:p>
          <a:p xmlns:a="http://schemas.openxmlformats.org/drawingml/2006/main">
            <a:pPr algn="l">
              <a:lnSpc>
                <a:spcPct val="116000"/>
              </a:lnSpc>
              <a:buNone/>
              <a:defRPr sz="1800" b="0">
                <a:solidFill>
                  <a:srgbClr val="5A5F66"/>
                </a:solidFill>
                <a:latin typeface="Arial"/>
                <a:ea typeface="Arial"/>
                <a:cs typeface="Arial"/>
              </a:defRPr>
            </a:pPr>
            <a:r>
              <a:rPr sz="1800" b="0">
                <a:solidFill>
                  <a:srgbClr val="5A5F66"/>
                </a:solidFill>
                <a:latin typeface="Arial"/>
                <a:ea typeface="Arial"/>
                <a:cs typeface="Arial"/>
              </a:rPr>
              <a:t>Final reporting after all items are processed</a:t>
            </a:r>
          </a:p>
        </p:txBody>
      </p:sp>
      <p:sp>
        <p:nvSpPr>
          <p:cNvPr id="8" name="right-head">
            <a:extLst xmlns:a="http://schemas.openxmlformats.org/drawingml/2006/main">
              <a:ext uri="{FF2B5EF4-FFF2-40B4-BE49-F238E27FC236}">
                <a16:creationId xmlns:a16="http://schemas.microsoft.com/office/drawing/2014/main" id="{09C079E4-9166-4483-A5DA-B07DD6AC5F4C}"/>
              </a:ext>
            </a:extLst>
          </p:cNvPr>
          <p:cNvSpPr>
            <a:spLocks xmlns:a="http://schemas.openxmlformats.org/drawingml/2006/main" noGrp="1"/>
          </p:cNvSpPr>
          <p:nvPr/>
        </p:nvSpPr>
        <p:spPr>
          <a:xfrm xmlns:a="http://schemas.openxmlformats.org/drawingml/2006/main">
            <a:off x="6362700" y="2809875"/>
            <a:ext cx="5219700" cy="3451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Inside the loop</a:t>
            </a:r>
          </a:p>
        </p:txBody>
      </p:sp>
      <p:sp>
        <p:nvSpPr>
          <p:cNvPr id="9" name="right-body">
            <a:extLst xmlns:a="http://schemas.openxmlformats.org/drawingml/2006/main">
              <a:ext uri="{FF2B5EF4-FFF2-40B4-BE49-F238E27FC236}">
                <a16:creationId xmlns:a16="http://schemas.microsoft.com/office/drawing/2014/main" id="{313E307F-3AD8-4C1F-81B1-92303F2917C2}"/>
              </a:ext>
            </a:extLst>
          </p:cNvPr>
          <p:cNvSpPr>
            <a:spLocks xmlns:a="http://schemas.openxmlformats.org/drawingml/2006/main" noGrp="1"/>
          </p:cNvSpPr>
          <p:nvPr/>
        </p:nvSpPr>
        <p:spPr>
          <a:xfrm xmlns:a="http://schemas.openxmlformats.org/drawingml/2006/main">
            <a:off x="6362700" y="3307461"/>
            <a:ext cx="5219700" cy="113690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5A5F66"/>
                </a:solidFill>
                <a:latin typeface="Arial"/>
                <a:ea typeface="Arial"/>
                <a:cs typeface="Arial"/>
              </a:defRPr>
            </a:pPr>
            <a:r>
              <a:rPr sz="1800" b="0">
                <a:solidFill>
                  <a:srgbClr val="5A5F66"/>
                </a:solidFill>
                <a:latin typeface="Arial"/>
                <a:ea typeface="Arial"/>
                <a:cs typeface="Arial"/>
              </a:rPr>
              <a:t>Current item</a:t>
            </a:r>
          </a:p>
          <a:p xmlns:a="http://schemas.openxmlformats.org/drawingml/2006/main">
            <a:pPr algn="l">
              <a:lnSpc>
                <a:spcPct val="116000"/>
              </a:lnSpc>
              <a:buNone/>
              <a:defRPr sz="1800" b="0">
                <a:solidFill>
                  <a:srgbClr val="5A5F66"/>
                </a:solidFill>
                <a:latin typeface="Arial"/>
                <a:ea typeface="Arial"/>
                <a:cs typeface="Arial"/>
              </a:defRPr>
            </a:pPr>
            <a:r>
              <a:rPr sz="1800" b="0">
                <a:solidFill>
                  <a:srgbClr val="5A5F66"/>
                </a:solidFill>
                <a:latin typeface="Arial"/>
                <a:ea typeface="Arial"/>
                <a:cs typeface="Arial"/>
              </a:rPr>
              <a:t>Per-item comparison</a:t>
            </a:r>
          </a:p>
          <a:p xmlns:a="http://schemas.openxmlformats.org/drawingml/2006/main">
            <a:pPr algn="l">
              <a:lnSpc>
                <a:spcPct val="116000"/>
              </a:lnSpc>
              <a:buNone/>
              <a:defRPr sz="1800" b="0">
                <a:solidFill>
                  <a:srgbClr val="5A5F66"/>
                </a:solidFill>
                <a:latin typeface="Arial"/>
                <a:ea typeface="Arial"/>
                <a:cs typeface="Arial"/>
              </a:defRPr>
            </a:pPr>
            <a:r>
              <a:rPr sz="1800" b="0">
                <a:solidFill>
                  <a:srgbClr val="5A5F66"/>
                </a:solidFill>
                <a:latin typeface="Arial"/>
                <a:ea typeface="Arial"/>
                <a:cs typeface="Arial"/>
              </a:rPr>
              <a:t>Per-item output</a:t>
            </a:r>
          </a:p>
          <a:p xmlns:a="http://schemas.openxmlformats.org/drawingml/2006/main">
            <a:pPr algn="l">
              <a:lnSpc>
                <a:spcPct val="116000"/>
              </a:lnSpc>
              <a:buNone/>
              <a:defRPr sz="1800" b="0">
                <a:solidFill>
                  <a:srgbClr val="5A5F66"/>
                </a:solidFill>
                <a:latin typeface="Arial"/>
                <a:ea typeface="Arial"/>
                <a:cs typeface="Arial"/>
              </a:defRPr>
            </a:pPr>
            <a:r>
              <a:rPr sz="1800" b="0">
                <a:solidFill>
                  <a:srgbClr val="5A5F66"/>
                </a:solidFill>
                <a:latin typeface="Arial"/>
                <a:ea typeface="Arial"/>
                <a:cs typeface="Arial"/>
              </a:rPr>
              <a:t>Accumulator update</a:t>
            </a:r>
          </a:p>
        </p:txBody>
      </p:sp>
    </p:spTree>
    <p:extLst>
      <p:ext uri="{BB962C8B-B14F-4D97-AF65-F5344CB8AC3E}">
        <p14:creationId xmlns:p14="http://schemas.microsoft.com/office/powerpoint/2010/main" val="1390684627"/>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kicker">
            <a:extLst xmlns:a="http://schemas.openxmlformats.org/drawingml/2006/main">
              <a:ext uri="{FF2B5EF4-FFF2-40B4-BE49-F238E27FC236}">
                <a16:creationId xmlns:a16="http://schemas.microsoft.com/office/drawing/2014/main" id="{60E55302-BDAD-46E3-8E0B-3D5B0E452285}"/>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METHOD</a:t>
            </a:r>
          </a:p>
        </p:txBody>
      </p:sp>
      <p:sp>
        <p:nvSpPr>
          <p:cNvPr id="2" name="title">
            <a:extLst xmlns:a="http://schemas.openxmlformats.org/drawingml/2006/main">
              <a:ext uri="{FF2B5EF4-FFF2-40B4-BE49-F238E27FC236}">
                <a16:creationId xmlns:a16="http://schemas.microsoft.com/office/drawing/2014/main" id="{1D296D30-97D6-4417-B87B-62877F1C7502}"/>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A function is a named reusable procedure</a:t>
            </a:r>
          </a:p>
        </p:txBody>
      </p:sp>
      <p:sp>
        <p:nvSpPr>
          <p:cNvPr id="3" name="">
            <a:extLst xmlns:a="http://schemas.openxmlformats.org/drawingml/2006/main">
              <a:ext uri="{FF2B5EF4-FFF2-40B4-BE49-F238E27FC236}">
                <a16:creationId xmlns:a16="http://schemas.microsoft.com/office/drawing/2014/main" id="{226CECA1-D630-4F2B-99C4-C2800B8D7520}"/>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4FAC4F5E-E534-4C1D-A07B-7432384345F4}"/>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3 · Meeting A · Decisions and Functions · Full Source Deck</a:t>
            </a:r>
          </a:p>
        </p:txBody>
      </p:sp>
      <p:sp>
        <p:nvSpPr>
          <p:cNvPr id="5" name="page">
            <a:extLst xmlns:a="http://schemas.openxmlformats.org/drawingml/2006/main">
              <a:ext uri="{FF2B5EF4-FFF2-40B4-BE49-F238E27FC236}">
                <a16:creationId xmlns:a16="http://schemas.microsoft.com/office/drawing/2014/main" id="{0C6B8586-F001-4DCC-A55E-70EA5C2E4BC2}"/>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28</a:t>
            </a:r>
          </a:p>
        </p:txBody>
      </p:sp>
      <p:sp>
        <p:nvSpPr>
          <p:cNvPr id="6" name="step-arrow-0">
            <a:extLst xmlns:a="http://schemas.openxmlformats.org/drawingml/2006/main">
              <a:ext uri="{FF2B5EF4-FFF2-40B4-BE49-F238E27FC236}">
                <a16:creationId xmlns:a16="http://schemas.microsoft.com/office/drawing/2014/main" id="{DDCDB4E1-4E93-4B2D-B377-FFB4D69BABCA}"/>
              </a:ext>
            </a:extLst>
          </p:cNvPr>
          <p:cNvSpPr>
            <a:spLocks xmlns:a="http://schemas.openxmlformats.org/drawingml/2006/main" noGrp="1"/>
          </p:cNvSpPr>
          <p:nvPr/>
        </p:nvSpPr>
        <p:spPr>
          <a:xfrm xmlns:a="http://schemas.openxmlformats.org/drawingml/2006/main">
            <a:off x="4130675" y="3686175"/>
            <a:ext cx="152400" cy="495300"/>
          </a:xfrm>
          <a:prstGeom xmlns:a="http://schemas.openxmlformats.org/drawingml/2006/main" prst="chevron">
            <a:avLst/>
          </a:prstGeom>
          <a:solidFill xmlns:a="http://schemas.openxmlformats.org/drawingml/2006/main">
            <a:srgbClr val="E8EEF5"/>
          </a:solidFill>
          <a:ln xmlns:a="http://schemas.openxmlformats.org/drawingml/2006/main" w="0">
            <a:solidFill>
              <a:srgbClr val="E8EEF5"/>
            </a:solidFill>
            <a:prstDash val="solid"/>
          </a:ln>
        </p:spPr>
      </p:sp>
      <p:sp>
        <p:nvSpPr>
          <p:cNvPr id="7" name="step-arrow-1">
            <a:extLst xmlns:a="http://schemas.openxmlformats.org/drawingml/2006/main">
              <a:ext uri="{FF2B5EF4-FFF2-40B4-BE49-F238E27FC236}">
                <a16:creationId xmlns:a16="http://schemas.microsoft.com/office/drawing/2014/main" id="{53956E2C-9B32-4D2A-912F-3025CC17F756}"/>
              </a:ext>
            </a:extLst>
          </p:cNvPr>
          <p:cNvSpPr>
            <a:spLocks xmlns:a="http://schemas.openxmlformats.org/drawingml/2006/main" noGrp="1"/>
          </p:cNvSpPr>
          <p:nvPr/>
        </p:nvSpPr>
        <p:spPr>
          <a:xfrm xmlns:a="http://schemas.openxmlformats.org/drawingml/2006/main">
            <a:off x="7908925" y="3686175"/>
            <a:ext cx="152400" cy="495300"/>
          </a:xfrm>
          <a:prstGeom xmlns:a="http://schemas.openxmlformats.org/drawingml/2006/main" prst="chevron">
            <a:avLst/>
          </a:prstGeom>
          <a:solidFill xmlns:a="http://schemas.openxmlformats.org/drawingml/2006/main">
            <a:srgbClr val="E8EEF5"/>
          </a:solidFill>
          <a:ln xmlns:a="http://schemas.openxmlformats.org/drawingml/2006/main" w="0">
            <a:solidFill>
              <a:srgbClr val="E8EEF5"/>
            </a:solidFill>
            <a:prstDash val="solid"/>
          </a:ln>
        </p:spPr>
      </p:sp>
      <p:sp>
        <p:nvSpPr>
          <p:cNvPr id="8" name="step-node-0">
            <a:extLst xmlns:a="http://schemas.openxmlformats.org/drawingml/2006/main">
              <a:ext uri="{FF2B5EF4-FFF2-40B4-BE49-F238E27FC236}">
                <a16:creationId xmlns:a16="http://schemas.microsoft.com/office/drawing/2014/main" id="{E8BCBF6A-9228-482B-AA01-1E4EB757B61D}"/>
              </a:ext>
            </a:extLst>
          </p:cNvPr>
          <p:cNvSpPr>
            <a:spLocks xmlns:a="http://schemas.openxmlformats.org/drawingml/2006/main" noGrp="1"/>
          </p:cNvSpPr>
          <p:nvPr/>
        </p:nvSpPr>
        <p:spPr>
          <a:xfrm xmlns:a="http://schemas.openxmlformats.org/drawingml/2006/main">
            <a:off x="609600" y="1847850"/>
            <a:ext cx="3416300" cy="4171950"/>
          </a:xfrm>
          <a:prstGeom xmlns:a="http://schemas.openxmlformats.org/drawingml/2006/main" prst="roundRect">
            <a:avLst>
              <a:gd name="adj" fmla="val 2788"/>
            </a:avLst>
          </a:prstGeom>
          <a:solidFill xmlns:a="http://schemas.openxmlformats.org/drawingml/2006/main">
            <a:srgbClr val="F3F7FB"/>
          </a:solidFill>
          <a:ln xmlns:a="http://schemas.openxmlformats.org/drawingml/2006/main" w="9525">
            <a:solidFill>
              <a:srgbClr val="2E74B5"/>
            </a:solidFill>
            <a:prstDash val="solid"/>
          </a:ln>
        </p:spPr>
      </p:sp>
      <p:sp>
        <p:nvSpPr>
          <p:cNvPr id="9" name="step-number-0">
            <a:extLst xmlns:a="http://schemas.openxmlformats.org/drawingml/2006/main">
              <a:ext uri="{FF2B5EF4-FFF2-40B4-BE49-F238E27FC236}">
                <a16:creationId xmlns:a16="http://schemas.microsoft.com/office/drawing/2014/main" id="{AD918E51-03E7-4F71-9E3E-F5FDC1817C67}"/>
              </a:ext>
            </a:extLst>
          </p:cNvPr>
          <p:cNvSpPr>
            <a:spLocks xmlns:a="http://schemas.openxmlformats.org/drawingml/2006/main" noGrp="1"/>
          </p:cNvSpPr>
          <p:nvPr/>
        </p:nvSpPr>
        <p:spPr>
          <a:xfrm xmlns:a="http://schemas.openxmlformats.org/drawingml/2006/main">
            <a:off x="800100" y="203835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2E74B5"/>
                </a:solidFill>
                <a:latin typeface="Arial"/>
                <a:ea typeface="Arial"/>
                <a:cs typeface="Arial"/>
              </a:defRPr>
            </a:pPr>
            <a:r>
              <a:rPr sz="1200" b="1">
                <a:solidFill>
                  <a:srgbClr val="2E74B5"/>
                </a:solidFill>
                <a:latin typeface="Arial"/>
                <a:ea typeface="Arial"/>
                <a:cs typeface="Arial"/>
              </a:rPr>
              <a:t>01</a:t>
            </a:r>
          </a:p>
        </p:txBody>
      </p:sp>
      <p:sp>
        <p:nvSpPr>
          <p:cNvPr id="10" name="step-label-0">
            <a:extLst xmlns:a="http://schemas.openxmlformats.org/drawingml/2006/main">
              <a:ext uri="{FF2B5EF4-FFF2-40B4-BE49-F238E27FC236}">
                <a16:creationId xmlns:a16="http://schemas.microsoft.com/office/drawing/2014/main" id="{000C0B7E-1A7B-404E-B322-37828605295A}"/>
              </a:ext>
            </a:extLst>
          </p:cNvPr>
          <p:cNvSpPr>
            <a:spLocks xmlns:a="http://schemas.openxmlformats.org/drawingml/2006/main" noGrp="1"/>
          </p:cNvSpPr>
          <p:nvPr/>
        </p:nvSpPr>
        <p:spPr>
          <a:xfrm xmlns:a="http://schemas.openxmlformats.org/drawingml/2006/main">
            <a:off x="1295400" y="2057400"/>
            <a:ext cx="2540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INPUT</a:t>
            </a:r>
          </a:p>
        </p:txBody>
      </p:sp>
      <p:sp>
        <p:nvSpPr>
          <p:cNvPr id="11" name="">
            <a:extLst xmlns:a="http://schemas.openxmlformats.org/drawingml/2006/main">
              <a:ext uri="{FF2B5EF4-FFF2-40B4-BE49-F238E27FC236}">
                <a16:creationId xmlns:a16="http://schemas.microsoft.com/office/drawing/2014/main" id="{9C6138B1-7304-4CD8-82BC-DE168A13ABB5}"/>
              </a:ext>
            </a:extLst>
          </p:cNvPr>
          <p:cNvSpPr>
            <a:spLocks xmlns:a="http://schemas.openxmlformats.org/drawingml/2006/main" noGrp="1"/>
          </p:cNvSpPr>
          <p:nvPr/>
        </p:nvSpPr>
        <p:spPr>
          <a:xfrm xmlns:a="http://schemas.openxmlformats.org/drawingml/2006/main">
            <a:off x="800100" y="2476500"/>
            <a:ext cx="3035300" cy="0"/>
          </a:xfrm>
          <a:prstGeom xmlns:a="http://schemas.openxmlformats.org/drawingml/2006/main" prst="line">
            <a:avLst/>
          </a:prstGeom>
          <a:noFill xmlns:a="http://schemas.openxmlformats.org/drawingml/2006/main"/>
          <a:ln xmlns:a="http://schemas.openxmlformats.org/drawingml/2006/main" w="28575">
            <a:solidFill>
              <a:srgbClr val="2E74B5"/>
            </a:solidFill>
            <a:prstDash val="solid"/>
          </a:ln>
        </p:spPr>
      </p:sp>
      <p:sp>
        <p:nvSpPr>
          <p:cNvPr id="12" name="step-head-0">
            <a:extLst xmlns:a="http://schemas.openxmlformats.org/drawingml/2006/main">
              <a:ext uri="{FF2B5EF4-FFF2-40B4-BE49-F238E27FC236}">
                <a16:creationId xmlns:a16="http://schemas.microsoft.com/office/drawing/2014/main" id="{BF2588DD-D327-49CD-810C-E912E47E2F05}"/>
              </a:ext>
            </a:extLst>
          </p:cNvPr>
          <p:cNvSpPr>
            <a:spLocks xmlns:a="http://schemas.openxmlformats.org/drawingml/2006/main" noGrp="1"/>
          </p:cNvSpPr>
          <p:nvPr/>
        </p:nvSpPr>
        <p:spPr>
          <a:xfrm xmlns:a="http://schemas.openxmlformats.org/drawingml/2006/main">
            <a:off x="800100" y="2667000"/>
            <a:ext cx="30353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Receive arguments</a:t>
            </a:r>
          </a:p>
        </p:txBody>
      </p:sp>
      <p:sp>
        <p:nvSpPr>
          <p:cNvPr id="13" name="step-body-0">
            <a:extLst xmlns:a="http://schemas.openxmlformats.org/drawingml/2006/main">
              <a:ext uri="{FF2B5EF4-FFF2-40B4-BE49-F238E27FC236}">
                <a16:creationId xmlns:a16="http://schemas.microsoft.com/office/drawing/2014/main" id="{3F8F90AA-22DA-4406-8E99-460A54DC6F65}"/>
              </a:ext>
            </a:extLst>
          </p:cNvPr>
          <p:cNvSpPr>
            <a:spLocks xmlns:a="http://schemas.openxmlformats.org/drawingml/2006/main" noGrp="1"/>
          </p:cNvSpPr>
          <p:nvPr/>
        </p:nvSpPr>
        <p:spPr>
          <a:xfrm xmlns:a="http://schemas.openxmlformats.org/drawingml/2006/main">
            <a:off x="800100" y="3352800"/>
            <a:ext cx="3035300" cy="2495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5A5F66"/>
                </a:solidFill>
                <a:latin typeface="Arial"/>
                <a:ea typeface="Arial"/>
                <a:cs typeface="Arial"/>
              </a:defRPr>
            </a:pPr>
            <a:r>
              <a:rPr sz="1800" b="0">
                <a:solidFill>
                  <a:srgbClr val="5A5F66"/>
                </a:solidFill>
                <a:latin typeface="Arial"/>
                <a:ea typeface="Arial"/>
                <a:cs typeface="Arial"/>
              </a:rPr>
              <a:t>Parameters name the values needed for the task.</a:t>
            </a:r>
          </a:p>
        </p:txBody>
      </p:sp>
      <p:sp>
        <p:nvSpPr>
          <p:cNvPr id="14" name="step-node-1">
            <a:extLst xmlns:a="http://schemas.openxmlformats.org/drawingml/2006/main">
              <a:ext uri="{FF2B5EF4-FFF2-40B4-BE49-F238E27FC236}">
                <a16:creationId xmlns:a16="http://schemas.microsoft.com/office/drawing/2014/main" id="{D7FE24B5-AEB9-43CB-BBA2-03F1866C44F3}"/>
              </a:ext>
            </a:extLst>
          </p:cNvPr>
          <p:cNvSpPr>
            <a:spLocks xmlns:a="http://schemas.openxmlformats.org/drawingml/2006/main" noGrp="1"/>
          </p:cNvSpPr>
          <p:nvPr/>
        </p:nvSpPr>
        <p:spPr>
          <a:xfrm xmlns:a="http://schemas.openxmlformats.org/drawingml/2006/main">
            <a:off x="4387850" y="1847850"/>
            <a:ext cx="3416300" cy="4171950"/>
          </a:xfrm>
          <a:prstGeom xmlns:a="http://schemas.openxmlformats.org/drawingml/2006/main" prst="roundRect">
            <a:avLst>
              <a:gd name="adj" fmla="val 2788"/>
            </a:avLst>
          </a:prstGeom>
          <a:solidFill xmlns:a="http://schemas.openxmlformats.org/drawingml/2006/main">
            <a:srgbClr val="F6F7F9"/>
          </a:solidFill>
          <a:ln xmlns:a="http://schemas.openxmlformats.org/drawingml/2006/main" w="9525">
            <a:solidFill>
              <a:srgbClr val="DDE0E5"/>
            </a:solidFill>
            <a:prstDash val="solid"/>
          </a:ln>
        </p:spPr>
      </p:sp>
      <p:sp>
        <p:nvSpPr>
          <p:cNvPr id="15" name="step-number-1">
            <a:extLst xmlns:a="http://schemas.openxmlformats.org/drawingml/2006/main">
              <a:ext uri="{FF2B5EF4-FFF2-40B4-BE49-F238E27FC236}">
                <a16:creationId xmlns:a16="http://schemas.microsoft.com/office/drawing/2014/main" id="{A085C9F9-5A96-4701-9598-930782FABAE4}"/>
              </a:ext>
            </a:extLst>
          </p:cNvPr>
          <p:cNvSpPr>
            <a:spLocks xmlns:a="http://schemas.openxmlformats.org/drawingml/2006/main" noGrp="1"/>
          </p:cNvSpPr>
          <p:nvPr/>
        </p:nvSpPr>
        <p:spPr>
          <a:xfrm xmlns:a="http://schemas.openxmlformats.org/drawingml/2006/main">
            <a:off x="4578350" y="203835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2E74B5"/>
                </a:solidFill>
                <a:latin typeface="Arial"/>
                <a:ea typeface="Arial"/>
                <a:cs typeface="Arial"/>
              </a:defRPr>
            </a:pPr>
            <a:r>
              <a:rPr sz="1200" b="1">
                <a:solidFill>
                  <a:srgbClr val="2E74B5"/>
                </a:solidFill>
                <a:latin typeface="Arial"/>
                <a:ea typeface="Arial"/>
                <a:cs typeface="Arial"/>
              </a:rPr>
              <a:t>02</a:t>
            </a:r>
          </a:p>
        </p:txBody>
      </p:sp>
      <p:sp>
        <p:nvSpPr>
          <p:cNvPr id="16" name="step-label-1">
            <a:extLst xmlns:a="http://schemas.openxmlformats.org/drawingml/2006/main">
              <a:ext uri="{FF2B5EF4-FFF2-40B4-BE49-F238E27FC236}">
                <a16:creationId xmlns:a16="http://schemas.microsoft.com/office/drawing/2014/main" id="{B96FCB03-977D-4F1E-9BA8-3B2627ECAC98}"/>
              </a:ext>
            </a:extLst>
          </p:cNvPr>
          <p:cNvSpPr>
            <a:spLocks xmlns:a="http://schemas.openxmlformats.org/drawingml/2006/main" noGrp="1"/>
          </p:cNvSpPr>
          <p:nvPr/>
        </p:nvSpPr>
        <p:spPr>
          <a:xfrm xmlns:a="http://schemas.openxmlformats.org/drawingml/2006/main">
            <a:off x="5073650" y="2057400"/>
            <a:ext cx="2540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PROCESS</a:t>
            </a:r>
          </a:p>
        </p:txBody>
      </p:sp>
      <p:sp>
        <p:nvSpPr>
          <p:cNvPr id="17" name="">
            <a:extLst xmlns:a="http://schemas.openxmlformats.org/drawingml/2006/main">
              <a:ext uri="{FF2B5EF4-FFF2-40B4-BE49-F238E27FC236}">
                <a16:creationId xmlns:a16="http://schemas.microsoft.com/office/drawing/2014/main" id="{0B52CC2B-CE0D-4744-B6CB-02DD6A988FBC}"/>
              </a:ext>
            </a:extLst>
          </p:cNvPr>
          <p:cNvSpPr>
            <a:spLocks xmlns:a="http://schemas.openxmlformats.org/drawingml/2006/main" noGrp="1"/>
          </p:cNvSpPr>
          <p:nvPr/>
        </p:nvSpPr>
        <p:spPr>
          <a:xfrm xmlns:a="http://schemas.openxmlformats.org/drawingml/2006/main">
            <a:off x="4578350" y="2476500"/>
            <a:ext cx="3035300" cy="0"/>
          </a:xfrm>
          <a:prstGeom xmlns:a="http://schemas.openxmlformats.org/drawingml/2006/main" prst="line">
            <a:avLst/>
          </a:prstGeom>
          <a:noFill xmlns:a="http://schemas.openxmlformats.org/drawingml/2006/main"/>
          <a:ln xmlns:a="http://schemas.openxmlformats.org/drawingml/2006/main" w="19050">
            <a:solidFill>
              <a:srgbClr val="111316"/>
            </a:solidFill>
            <a:prstDash val="solid"/>
          </a:ln>
        </p:spPr>
      </p:sp>
      <p:sp>
        <p:nvSpPr>
          <p:cNvPr id="18" name="step-head-1">
            <a:extLst xmlns:a="http://schemas.openxmlformats.org/drawingml/2006/main">
              <a:ext uri="{FF2B5EF4-FFF2-40B4-BE49-F238E27FC236}">
                <a16:creationId xmlns:a16="http://schemas.microsoft.com/office/drawing/2014/main" id="{439323DA-7427-42A7-82F4-B6850C85231E}"/>
              </a:ext>
            </a:extLst>
          </p:cNvPr>
          <p:cNvSpPr>
            <a:spLocks xmlns:a="http://schemas.openxmlformats.org/drawingml/2006/main" noGrp="1"/>
          </p:cNvSpPr>
          <p:nvPr/>
        </p:nvSpPr>
        <p:spPr>
          <a:xfrm xmlns:a="http://schemas.openxmlformats.org/drawingml/2006/main">
            <a:off x="4578350" y="2667000"/>
            <a:ext cx="30353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Run instructions</a:t>
            </a:r>
          </a:p>
        </p:txBody>
      </p:sp>
      <p:sp>
        <p:nvSpPr>
          <p:cNvPr id="19" name="step-body-1">
            <a:extLst xmlns:a="http://schemas.openxmlformats.org/drawingml/2006/main">
              <a:ext uri="{FF2B5EF4-FFF2-40B4-BE49-F238E27FC236}">
                <a16:creationId xmlns:a16="http://schemas.microsoft.com/office/drawing/2014/main" id="{E997BE96-28BD-4060-953C-EC1AC9E09AE4}"/>
              </a:ext>
            </a:extLst>
          </p:cNvPr>
          <p:cNvSpPr>
            <a:spLocks xmlns:a="http://schemas.openxmlformats.org/drawingml/2006/main" noGrp="1"/>
          </p:cNvSpPr>
          <p:nvPr/>
        </p:nvSpPr>
        <p:spPr>
          <a:xfrm xmlns:a="http://schemas.openxmlformats.org/drawingml/2006/main">
            <a:off x="4578350" y="3352800"/>
            <a:ext cx="3035300" cy="2495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5A5F66"/>
                </a:solidFill>
                <a:latin typeface="Arial"/>
                <a:ea typeface="Arial"/>
                <a:cs typeface="Arial"/>
              </a:defRPr>
            </a:pPr>
            <a:r>
              <a:rPr sz="1800" b="0">
                <a:solidFill>
                  <a:srgbClr val="5A5F66"/>
                </a:solidFill>
                <a:latin typeface="Arial"/>
                <a:ea typeface="Arial"/>
                <a:cs typeface="Arial"/>
              </a:rPr>
              <a:t>The indented body calculates or applies a rule.</a:t>
            </a:r>
          </a:p>
        </p:txBody>
      </p:sp>
      <p:sp>
        <p:nvSpPr>
          <p:cNvPr id="20" name="step-node-2">
            <a:extLst xmlns:a="http://schemas.openxmlformats.org/drawingml/2006/main">
              <a:ext uri="{FF2B5EF4-FFF2-40B4-BE49-F238E27FC236}">
                <a16:creationId xmlns:a16="http://schemas.microsoft.com/office/drawing/2014/main" id="{ECDB2F18-9455-49C6-A57C-E68A9CD2E323}"/>
              </a:ext>
            </a:extLst>
          </p:cNvPr>
          <p:cNvSpPr>
            <a:spLocks xmlns:a="http://schemas.openxmlformats.org/drawingml/2006/main" noGrp="1"/>
          </p:cNvSpPr>
          <p:nvPr/>
        </p:nvSpPr>
        <p:spPr>
          <a:xfrm xmlns:a="http://schemas.openxmlformats.org/drawingml/2006/main">
            <a:off x="8166100" y="1847850"/>
            <a:ext cx="3416300" cy="4171950"/>
          </a:xfrm>
          <a:prstGeom xmlns:a="http://schemas.openxmlformats.org/drawingml/2006/main" prst="roundRect">
            <a:avLst>
              <a:gd name="adj" fmla="val 2788"/>
            </a:avLst>
          </a:prstGeom>
          <a:solidFill xmlns:a="http://schemas.openxmlformats.org/drawingml/2006/main">
            <a:srgbClr val="F6F7F9"/>
          </a:solidFill>
          <a:ln xmlns:a="http://schemas.openxmlformats.org/drawingml/2006/main" w="9525">
            <a:solidFill>
              <a:srgbClr val="DDE0E5"/>
            </a:solidFill>
            <a:prstDash val="solid"/>
          </a:ln>
        </p:spPr>
      </p:sp>
      <p:sp>
        <p:nvSpPr>
          <p:cNvPr id="21" name="step-number-2">
            <a:extLst xmlns:a="http://schemas.openxmlformats.org/drawingml/2006/main">
              <a:ext uri="{FF2B5EF4-FFF2-40B4-BE49-F238E27FC236}">
                <a16:creationId xmlns:a16="http://schemas.microsoft.com/office/drawing/2014/main" id="{5CE9BD3C-21CC-4E2E-BFED-C33C2FBF5E0C}"/>
              </a:ext>
            </a:extLst>
          </p:cNvPr>
          <p:cNvSpPr>
            <a:spLocks xmlns:a="http://schemas.openxmlformats.org/drawingml/2006/main" noGrp="1"/>
          </p:cNvSpPr>
          <p:nvPr/>
        </p:nvSpPr>
        <p:spPr>
          <a:xfrm xmlns:a="http://schemas.openxmlformats.org/drawingml/2006/main">
            <a:off x="8356600" y="203835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2E74B5"/>
                </a:solidFill>
                <a:latin typeface="Arial"/>
                <a:ea typeface="Arial"/>
                <a:cs typeface="Arial"/>
              </a:defRPr>
            </a:pPr>
            <a:r>
              <a:rPr sz="1200" b="1">
                <a:solidFill>
                  <a:srgbClr val="2E74B5"/>
                </a:solidFill>
                <a:latin typeface="Arial"/>
                <a:ea typeface="Arial"/>
                <a:cs typeface="Arial"/>
              </a:rPr>
              <a:t>03</a:t>
            </a:r>
          </a:p>
        </p:txBody>
      </p:sp>
      <p:sp>
        <p:nvSpPr>
          <p:cNvPr id="22" name="step-label-2">
            <a:extLst xmlns:a="http://schemas.openxmlformats.org/drawingml/2006/main">
              <a:ext uri="{FF2B5EF4-FFF2-40B4-BE49-F238E27FC236}">
                <a16:creationId xmlns:a16="http://schemas.microsoft.com/office/drawing/2014/main" id="{A02A29FA-7F9D-4BA3-ABBF-212AF299B798}"/>
              </a:ext>
            </a:extLst>
          </p:cNvPr>
          <p:cNvSpPr>
            <a:spLocks xmlns:a="http://schemas.openxmlformats.org/drawingml/2006/main" noGrp="1"/>
          </p:cNvSpPr>
          <p:nvPr/>
        </p:nvSpPr>
        <p:spPr>
          <a:xfrm xmlns:a="http://schemas.openxmlformats.org/drawingml/2006/main">
            <a:off x="8851900" y="2057400"/>
            <a:ext cx="2540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RETURN</a:t>
            </a:r>
          </a:p>
        </p:txBody>
      </p:sp>
      <p:sp>
        <p:nvSpPr>
          <p:cNvPr id="23" name="">
            <a:extLst xmlns:a="http://schemas.openxmlformats.org/drawingml/2006/main">
              <a:ext uri="{FF2B5EF4-FFF2-40B4-BE49-F238E27FC236}">
                <a16:creationId xmlns:a16="http://schemas.microsoft.com/office/drawing/2014/main" id="{65798F1B-74A2-416E-8FF4-CAE910FCA2BE}"/>
              </a:ext>
            </a:extLst>
          </p:cNvPr>
          <p:cNvSpPr>
            <a:spLocks xmlns:a="http://schemas.openxmlformats.org/drawingml/2006/main" noGrp="1"/>
          </p:cNvSpPr>
          <p:nvPr/>
        </p:nvSpPr>
        <p:spPr>
          <a:xfrm xmlns:a="http://schemas.openxmlformats.org/drawingml/2006/main">
            <a:off x="8356600" y="2476500"/>
            <a:ext cx="3035300" cy="0"/>
          </a:xfrm>
          <a:prstGeom xmlns:a="http://schemas.openxmlformats.org/drawingml/2006/main" prst="line">
            <a:avLst/>
          </a:prstGeom>
          <a:noFill xmlns:a="http://schemas.openxmlformats.org/drawingml/2006/main"/>
          <a:ln xmlns:a="http://schemas.openxmlformats.org/drawingml/2006/main" w="19050">
            <a:solidFill>
              <a:srgbClr val="111316"/>
            </a:solidFill>
            <a:prstDash val="solid"/>
          </a:ln>
        </p:spPr>
      </p:sp>
      <p:sp>
        <p:nvSpPr>
          <p:cNvPr id="24" name="step-head-2">
            <a:extLst xmlns:a="http://schemas.openxmlformats.org/drawingml/2006/main">
              <a:ext uri="{FF2B5EF4-FFF2-40B4-BE49-F238E27FC236}">
                <a16:creationId xmlns:a16="http://schemas.microsoft.com/office/drawing/2014/main" id="{86996DE7-9E05-4221-8805-86FD659010E2}"/>
              </a:ext>
            </a:extLst>
          </p:cNvPr>
          <p:cNvSpPr>
            <a:spLocks xmlns:a="http://schemas.openxmlformats.org/drawingml/2006/main" noGrp="1"/>
          </p:cNvSpPr>
          <p:nvPr/>
        </p:nvSpPr>
        <p:spPr>
          <a:xfrm xmlns:a="http://schemas.openxmlformats.org/drawingml/2006/main">
            <a:off x="8356600" y="2667000"/>
            <a:ext cx="30353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Send a result back</a:t>
            </a:r>
          </a:p>
        </p:txBody>
      </p:sp>
      <p:sp>
        <p:nvSpPr>
          <p:cNvPr id="25" name="step-body-2">
            <a:extLst xmlns:a="http://schemas.openxmlformats.org/drawingml/2006/main">
              <a:ext uri="{FF2B5EF4-FFF2-40B4-BE49-F238E27FC236}">
                <a16:creationId xmlns:a16="http://schemas.microsoft.com/office/drawing/2014/main" id="{627E5255-837D-4FA2-B867-0DBC2A68E07D}"/>
              </a:ext>
            </a:extLst>
          </p:cNvPr>
          <p:cNvSpPr>
            <a:spLocks xmlns:a="http://schemas.openxmlformats.org/drawingml/2006/main" noGrp="1"/>
          </p:cNvSpPr>
          <p:nvPr/>
        </p:nvSpPr>
        <p:spPr>
          <a:xfrm xmlns:a="http://schemas.openxmlformats.org/drawingml/2006/main">
            <a:off x="8356600" y="3352800"/>
            <a:ext cx="3035300" cy="2495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5A5F66"/>
                </a:solidFill>
                <a:latin typeface="Arial"/>
                <a:ea typeface="Arial"/>
                <a:cs typeface="Arial"/>
              </a:defRPr>
            </a:pPr>
            <a:r>
              <a:rPr sz="1800" b="0">
                <a:solidFill>
                  <a:srgbClr val="5A5F66"/>
                </a:solidFill>
                <a:latin typeface="Arial"/>
                <a:ea typeface="Arial"/>
                <a:cs typeface="Arial"/>
              </a:rPr>
              <a:t>The caller can store, compare, test, or display it.</a:t>
            </a:r>
          </a:p>
        </p:txBody>
      </p:sp>
    </p:spTree>
    <p:extLst>
      <p:ext uri="{BB962C8B-B14F-4D97-AF65-F5344CB8AC3E}">
        <p14:creationId xmlns:p14="http://schemas.microsoft.com/office/powerpoint/2010/main" val="1766467743"/>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kicker">
            <a:extLst xmlns:a="http://schemas.openxmlformats.org/drawingml/2006/main">
              <a:ext uri="{FF2B5EF4-FFF2-40B4-BE49-F238E27FC236}">
                <a16:creationId xmlns:a16="http://schemas.microsoft.com/office/drawing/2014/main" id="{EA025567-68AC-4442-B510-78A66E655F2B}"/>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PYTHON SYNTAX</a:t>
            </a:r>
          </a:p>
        </p:txBody>
      </p:sp>
      <p:sp>
        <p:nvSpPr>
          <p:cNvPr id="2" name="title">
            <a:extLst xmlns:a="http://schemas.openxmlformats.org/drawingml/2006/main">
              <a:ext uri="{FF2B5EF4-FFF2-40B4-BE49-F238E27FC236}">
                <a16:creationId xmlns:a16="http://schemas.microsoft.com/office/drawing/2014/main" id="{716430F4-120B-4D6F-9D14-28B4A6D24D82}"/>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Function definition and call are separate</a:t>
            </a:r>
          </a:p>
        </p:txBody>
      </p:sp>
      <p:sp>
        <p:nvSpPr>
          <p:cNvPr id="3" name="">
            <a:extLst xmlns:a="http://schemas.openxmlformats.org/drawingml/2006/main">
              <a:ext uri="{FF2B5EF4-FFF2-40B4-BE49-F238E27FC236}">
                <a16:creationId xmlns:a16="http://schemas.microsoft.com/office/drawing/2014/main" id="{DFB6B38D-C31F-45E5-93A4-C59D2F28ACA3}"/>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7E2ECA27-99A7-4642-BF08-2AF262ED4380}"/>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3 · Meeting A · Decisions and Functions · Full Source Deck</a:t>
            </a:r>
          </a:p>
        </p:txBody>
      </p:sp>
      <p:sp>
        <p:nvSpPr>
          <p:cNvPr id="5" name="page">
            <a:extLst xmlns:a="http://schemas.openxmlformats.org/drawingml/2006/main">
              <a:ext uri="{FF2B5EF4-FFF2-40B4-BE49-F238E27FC236}">
                <a16:creationId xmlns:a16="http://schemas.microsoft.com/office/drawing/2014/main" id="{71599CD3-EC84-46C1-ADDA-BFE24C44E62B}"/>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29</a:t>
            </a:r>
          </a:p>
        </p:txBody>
      </p:sp>
      <p:sp>
        <p:nvSpPr>
          <p:cNvPr id="6" name="code-panel">
            <a:extLst xmlns:a="http://schemas.openxmlformats.org/drawingml/2006/main">
              <a:ext uri="{FF2B5EF4-FFF2-40B4-BE49-F238E27FC236}">
                <a16:creationId xmlns:a16="http://schemas.microsoft.com/office/drawing/2014/main" id="{3C97124E-4871-4AEB-9333-556933AEE2F5}"/>
              </a:ext>
            </a:extLst>
          </p:cNvPr>
          <p:cNvSpPr>
            <a:spLocks xmlns:a="http://schemas.openxmlformats.org/drawingml/2006/main" noGrp="1"/>
          </p:cNvSpPr>
          <p:nvPr/>
        </p:nvSpPr>
        <p:spPr>
          <a:xfrm xmlns:a="http://schemas.openxmlformats.org/drawingml/2006/main">
            <a:off x="609600" y="1809750"/>
            <a:ext cx="6896100" cy="4267200"/>
          </a:xfrm>
          <a:prstGeom xmlns:a="http://schemas.openxmlformats.org/drawingml/2006/main" prst="roundRect">
            <a:avLst>
              <a:gd name="adj" fmla="val 1786"/>
            </a:avLst>
          </a:prstGeom>
          <a:solidFill xmlns:a="http://schemas.openxmlformats.org/drawingml/2006/main">
            <a:srgbClr val="17191C"/>
          </a:solidFill>
          <a:ln xmlns:a="http://schemas.openxmlformats.org/drawingml/2006/main" w="9525">
            <a:solidFill>
              <a:srgbClr val="17191C"/>
            </a:solidFill>
            <a:prstDash val="solid"/>
          </a:ln>
        </p:spPr>
      </p:sp>
      <p:sp>
        <p:nvSpPr>
          <p:cNvPr id="7" name="code">
            <a:extLst xmlns:a="http://schemas.openxmlformats.org/drawingml/2006/main">
              <a:ext uri="{FF2B5EF4-FFF2-40B4-BE49-F238E27FC236}">
                <a16:creationId xmlns:a16="http://schemas.microsoft.com/office/drawing/2014/main" id="{D911230D-96D9-4210-BA2C-1B6F3CC3673A}"/>
              </a:ext>
            </a:extLst>
          </p:cNvPr>
          <p:cNvSpPr>
            <a:spLocks xmlns:a="http://schemas.openxmlformats.org/drawingml/2006/main" noGrp="1"/>
          </p:cNvSpPr>
          <p:nvPr/>
        </p:nvSpPr>
        <p:spPr>
          <a:xfrm xmlns:a="http://schemas.openxmlformats.org/drawingml/2006/main">
            <a:off x="857250" y="2057400"/>
            <a:ext cx="6400800" cy="314096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def rectangular_area(length_m, width_m):</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    area_m2 = length_m * width_m</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    return area_m2</a:t>
            </a:r>
          </a:p>
          <a:p xmlns:a="http://schemas.openxmlformats.org/drawingml/2006/main">
            <a:r>
              <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gallery_area = rectangular_area(8.5, 5.2)</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print(gallery_area)</a:t>
            </a:r>
          </a:p>
        </p:txBody>
      </p:sp>
      <p:sp>
        <p:nvSpPr>
          <p:cNvPr id="8" name="">
            <a:extLst xmlns:a="http://schemas.openxmlformats.org/drawingml/2006/main">
              <a:ext uri="{FF2B5EF4-FFF2-40B4-BE49-F238E27FC236}">
                <a16:creationId xmlns:a16="http://schemas.microsoft.com/office/drawing/2014/main" id="{79402DE9-64E0-4C4F-A586-12977443A14A}"/>
              </a:ext>
            </a:extLst>
          </p:cNvPr>
          <p:cNvSpPr>
            <a:spLocks xmlns:a="http://schemas.openxmlformats.org/drawingml/2006/main" noGrp="1"/>
          </p:cNvSpPr>
          <p:nvPr/>
        </p:nvSpPr>
        <p:spPr>
          <a:xfrm xmlns:a="http://schemas.openxmlformats.org/drawingml/2006/main">
            <a:off x="857250" y="5255514"/>
            <a:ext cx="6400800" cy="0"/>
          </a:xfrm>
          <a:prstGeom xmlns:a="http://schemas.openxmlformats.org/drawingml/2006/main" prst="line">
            <a:avLst/>
          </a:prstGeom>
          <a:noFill xmlns:a="http://schemas.openxmlformats.org/drawingml/2006/main"/>
          <a:ln xmlns:a="http://schemas.openxmlformats.org/drawingml/2006/main" w="9525">
            <a:solidFill>
              <a:srgbClr val="4E5258"/>
            </a:solidFill>
            <a:prstDash val="solid"/>
          </a:ln>
        </p:spPr>
      </p:sp>
      <p:sp>
        <p:nvSpPr>
          <p:cNvPr id="9" name="output-label">
            <a:extLst xmlns:a="http://schemas.openxmlformats.org/drawingml/2006/main">
              <a:ext uri="{FF2B5EF4-FFF2-40B4-BE49-F238E27FC236}">
                <a16:creationId xmlns:a16="http://schemas.microsoft.com/office/drawing/2014/main" id="{B3595D36-8F9F-47A2-8F27-9F9497EFFE47}"/>
              </a:ext>
            </a:extLst>
          </p:cNvPr>
          <p:cNvSpPr>
            <a:spLocks xmlns:a="http://schemas.openxmlformats.org/drawingml/2006/main" noGrp="1"/>
          </p:cNvSpPr>
          <p:nvPr/>
        </p:nvSpPr>
        <p:spPr>
          <a:xfrm xmlns:a="http://schemas.openxmlformats.org/drawingml/2006/main">
            <a:off x="857250" y="5369814"/>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E8EEF5"/>
                </a:solidFill>
                <a:latin typeface="Arial"/>
                <a:ea typeface="Arial"/>
                <a:cs typeface="Arial"/>
              </a:defRPr>
            </a:pPr>
            <a:r>
              <a:rPr sz="900" b="1">
                <a:solidFill>
                  <a:srgbClr val="E8EEF5"/>
                </a:solidFill>
                <a:latin typeface="Arial"/>
                <a:ea typeface="Arial"/>
                <a:cs typeface="Arial"/>
              </a:rPr>
              <a:t>OUTPUT</a:t>
            </a:r>
          </a:p>
        </p:txBody>
      </p:sp>
      <p:sp>
        <p:nvSpPr>
          <p:cNvPr id="10" name="output">
            <a:extLst xmlns:a="http://schemas.openxmlformats.org/drawingml/2006/main">
              <a:ext uri="{FF2B5EF4-FFF2-40B4-BE49-F238E27FC236}">
                <a16:creationId xmlns:a16="http://schemas.microsoft.com/office/drawing/2014/main" id="{6AB9A971-BF72-44A2-8879-72CDF22BE9B0}"/>
              </a:ext>
            </a:extLst>
          </p:cNvPr>
          <p:cNvSpPr>
            <a:spLocks xmlns:a="http://schemas.openxmlformats.org/drawingml/2006/main" noGrp="1"/>
          </p:cNvSpPr>
          <p:nvPr/>
        </p:nvSpPr>
        <p:spPr>
          <a:xfrm xmlns:a="http://schemas.openxmlformats.org/drawingml/2006/main">
            <a:off x="857250" y="5598414"/>
            <a:ext cx="6400800" cy="2308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44.2</a:t>
            </a:r>
          </a:p>
        </p:txBody>
      </p:sp>
      <p:sp>
        <p:nvSpPr>
          <p:cNvPr id="11" name="explain-head">
            <a:extLst xmlns:a="http://schemas.openxmlformats.org/drawingml/2006/main">
              <a:ext uri="{FF2B5EF4-FFF2-40B4-BE49-F238E27FC236}">
                <a16:creationId xmlns:a16="http://schemas.microsoft.com/office/drawing/2014/main" id="{D5DB39A6-4A50-4BC6-8BEE-A060238170DB}"/>
              </a:ext>
            </a:extLst>
          </p:cNvPr>
          <p:cNvSpPr>
            <a:spLocks xmlns:a="http://schemas.openxmlformats.org/drawingml/2006/main" noGrp="1"/>
          </p:cNvSpPr>
          <p:nvPr/>
        </p:nvSpPr>
        <p:spPr>
          <a:xfrm xmlns:a="http://schemas.openxmlformats.org/drawingml/2006/main">
            <a:off x="7886700" y="2762250"/>
            <a:ext cx="3695700" cy="63322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Definition and call are separate</a:t>
            </a:r>
          </a:p>
        </p:txBody>
      </p:sp>
      <p:sp>
        <p:nvSpPr>
          <p:cNvPr id="12" name="explain-body">
            <a:extLst xmlns:a="http://schemas.openxmlformats.org/drawingml/2006/main">
              <a:ext uri="{FF2B5EF4-FFF2-40B4-BE49-F238E27FC236}">
                <a16:creationId xmlns:a16="http://schemas.microsoft.com/office/drawing/2014/main" id="{49B9E6CE-01D5-481A-96D7-1124FE7953A5}"/>
              </a:ext>
            </a:extLst>
          </p:cNvPr>
          <p:cNvSpPr>
            <a:spLocks xmlns:a="http://schemas.openxmlformats.org/drawingml/2006/main" noGrp="1"/>
          </p:cNvSpPr>
          <p:nvPr/>
        </p:nvSpPr>
        <p:spPr>
          <a:xfrm xmlns:a="http://schemas.openxmlformats.org/drawingml/2006/main">
            <a:off x="7886700" y="3547872"/>
            <a:ext cx="3695700" cy="9601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def creates the function. Parameters name required inputs. The body performs the procedure. return sends one result back to the calling code.</a:t>
            </a:r>
          </a:p>
        </p:txBody>
      </p:sp>
    </p:spTree>
    <p:extLst>
      <p:ext uri="{BB962C8B-B14F-4D97-AF65-F5344CB8AC3E}">
        <p14:creationId xmlns:p14="http://schemas.microsoft.com/office/powerpoint/2010/main" val="1428188892"/>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3" name="kicker">
            <a:extLst xmlns:a="http://schemas.openxmlformats.org/drawingml/2006/main">
              <a:ext uri="{FF2B5EF4-FFF2-40B4-BE49-F238E27FC236}">
                <a16:creationId xmlns:a16="http://schemas.microsoft.com/office/drawing/2014/main" id="{9A1C38B9-0776-4199-8BC6-7E323DFBF672}"/>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METHOD</a:t>
            </a:r>
          </a:p>
        </p:txBody>
      </p:sp>
      <p:sp>
        <p:nvSpPr>
          <p:cNvPr id="2" name="title">
            <a:extLst xmlns:a="http://schemas.openxmlformats.org/drawingml/2006/main">
              <a:ext uri="{FF2B5EF4-FFF2-40B4-BE49-F238E27FC236}">
                <a16:creationId xmlns:a16="http://schemas.microsoft.com/office/drawing/2014/main" id="{6916F372-6258-4F2F-8DF3-61AF411AA49F}"/>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A function is a small tested contract</a:t>
            </a:r>
          </a:p>
        </p:txBody>
      </p:sp>
      <p:sp>
        <p:nvSpPr>
          <p:cNvPr id="3" name="">
            <a:extLst xmlns:a="http://schemas.openxmlformats.org/drawingml/2006/main">
              <a:ext uri="{FF2B5EF4-FFF2-40B4-BE49-F238E27FC236}">
                <a16:creationId xmlns:a16="http://schemas.microsoft.com/office/drawing/2014/main" id="{A00C8986-2955-4706-B356-FD4A2C28D627}"/>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EACF5D4D-31D0-44EA-924B-111723FF7867}"/>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3 · Meeting A · Decisions and Functions · Full Source Deck</a:t>
            </a:r>
          </a:p>
        </p:txBody>
      </p:sp>
      <p:sp>
        <p:nvSpPr>
          <p:cNvPr id="5" name="page">
            <a:extLst xmlns:a="http://schemas.openxmlformats.org/drawingml/2006/main">
              <a:ext uri="{FF2B5EF4-FFF2-40B4-BE49-F238E27FC236}">
                <a16:creationId xmlns:a16="http://schemas.microsoft.com/office/drawing/2014/main" id="{9B5A1E39-F0D0-4791-BA1C-49713FD08C98}"/>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30</a:t>
            </a:r>
          </a:p>
        </p:txBody>
      </p:sp>
      <p:sp>
        <p:nvSpPr>
          <p:cNvPr id="6" name="step-arrow-0">
            <a:extLst xmlns:a="http://schemas.openxmlformats.org/drawingml/2006/main">
              <a:ext uri="{FF2B5EF4-FFF2-40B4-BE49-F238E27FC236}">
                <a16:creationId xmlns:a16="http://schemas.microsoft.com/office/drawing/2014/main" id="{9F946CA1-296E-49E4-A67E-B551C50232B3}"/>
              </a:ext>
            </a:extLst>
          </p:cNvPr>
          <p:cNvSpPr>
            <a:spLocks xmlns:a="http://schemas.openxmlformats.org/drawingml/2006/main" noGrp="1"/>
          </p:cNvSpPr>
          <p:nvPr/>
        </p:nvSpPr>
        <p:spPr>
          <a:xfrm xmlns:a="http://schemas.openxmlformats.org/drawingml/2006/main">
            <a:off x="3219450" y="3686175"/>
            <a:ext cx="152400" cy="495300"/>
          </a:xfrm>
          <a:prstGeom xmlns:a="http://schemas.openxmlformats.org/drawingml/2006/main" prst="chevron">
            <a:avLst/>
          </a:prstGeom>
          <a:solidFill xmlns:a="http://schemas.openxmlformats.org/drawingml/2006/main">
            <a:srgbClr val="E8EEF5"/>
          </a:solidFill>
          <a:ln xmlns:a="http://schemas.openxmlformats.org/drawingml/2006/main" w="0">
            <a:solidFill>
              <a:srgbClr val="E8EEF5"/>
            </a:solidFill>
            <a:prstDash val="solid"/>
          </a:ln>
        </p:spPr>
      </p:sp>
      <p:sp>
        <p:nvSpPr>
          <p:cNvPr id="7" name="step-arrow-1">
            <a:extLst xmlns:a="http://schemas.openxmlformats.org/drawingml/2006/main">
              <a:ext uri="{FF2B5EF4-FFF2-40B4-BE49-F238E27FC236}">
                <a16:creationId xmlns:a16="http://schemas.microsoft.com/office/drawing/2014/main" id="{2463511E-9532-44B2-9F4D-89141B9601B8}"/>
              </a:ext>
            </a:extLst>
          </p:cNvPr>
          <p:cNvSpPr>
            <a:spLocks xmlns:a="http://schemas.openxmlformats.org/drawingml/2006/main" noGrp="1"/>
          </p:cNvSpPr>
          <p:nvPr/>
        </p:nvSpPr>
        <p:spPr>
          <a:xfrm xmlns:a="http://schemas.openxmlformats.org/drawingml/2006/main">
            <a:off x="6019800" y="3686175"/>
            <a:ext cx="152400" cy="495300"/>
          </a:xfrm>
          <a:prstGeom xmlns:a="http://schemas.openxmlformats.org/drawingml/2006/main" prst="chevron">
            <a:avLst/>
          </a:prstGeom>
          <a:solidFill xmlns:a="http://schemas.openxmlformats.org/drawingml/2006/main">
            <a:srgbClr val="E8EEF5"/>
          </a:solidFill>
          <a:ln xmlns:a="http://schemas.openxmlformats.org/drawingml/2006/main" w="0">
            <a:solidFill>
              <a:srgbClr val="E8EEF5"/>
            </a:solidFill>
            <a:prstDash val="solid"/>
          </a:ln>
        </p:spPr>
      </p:sp>
      <p:sp>
        <p:nvSpPr>
          <p:cNvPr id="8" name="step-arrow-2">
            <a:extLst xmlns:a="http://schemas.openxmlformats.org/drawingml/2006/main">
              <a:ext uri="{FF2B5EF4-FFF2-40B4-BE49-F238E27FC236}">
                <a16:creationId xmlns:a16="http://schemas.microsoft.com/office/drawing/2014/main" id="{CDA6203E-874D-4163-B736-12C77AE88A64}"/>
              </a:ext>
            </a:extLst>
          </p:cNvPr>
          <p:cNvSpPr>
            <a:spLocks xmlns:a="http://schemas.openxmlformats.org/drawingml/2006/main" noGrp="1"/>
          </p:cNvSpPr>
          <p:nvPr/>
        </p:nvSpPr>
        <p:spPr>
          <a:xfrm xmlns:a="http://schemas.openxmlformats.org/drawingml/2006/main">
            <a:off x="8820150" y="3686175"/>
            <a:ext cx="152400" cy="495300"/>
          </a:xfrm>
          <a:prstGeom xmlns:a="http://schemas.openxmlformats.org/drawingml/2006/main" prst="chevron">
            <a:avLst/>
          </a:prstGeom>
          <a:solidFill xmlns:a="http://schemas.openxmlformats.org/drawingml/2006/main">
            <a:srgbClr val="E8EEF5"/>
          </a:solidFill>
          <a:ln xmlns:a="http://schemas.openxmlformats.org/drawingml/2006/main" w="0">
            <a:solidFill>
              <a:srgbClr val="E8EEF5"/>
            </a:solidFill>
            <a:prstDash val="solid"/>
          </a:ln>
        </p:spPr>
      </p:sp>
      <p:sp>
        <p:nvSpPr>
          <p:cNvPr id="9" name="step-node-0">
            <a:extLst xmlns:a="http://schemas.openxmlformats.org/drawingml/2006/main">
              <a:ext uri="{FF2B5EF4-FFF2-40B4-BE49-F238E27FC236}">
                <a16:creationId xmlns:a16="http://schemas.microsoft.com/office/drawing/2014/main" id="{7CF66181-1285-4E1D-89CC-F606E76B508C}"/>
              </a:ext>
            </a:extLst>
          </p:cNvPr>
          <p:cNvSpPr>
            <a:spLocks xmlns:a="http://schemas.openxmlformats.org/drawingml/2006/main" noGrp="1"/>
          </p:cNvSpPr>
          <p:nvPr/>
        </p:nvSpPr>
        <p:spPr>
          <a:xfrm xmlns:a="http://schemas.openxmlformats.org/drawingml/2006/main">
            <a:off x="609600" y="1847850"/>
            <a:ext cx="2571750" cy="4171950"/>
          </a:xfrm>
          <a:prstGeom xmlns:a="http://schemas.openxmlformats.org/drawingml/2006/main" prst="roundRect">
            <a:avLst>
              <a:gd name="adj" fmla="val 3704"/>
            </a:avLst>
          </a:prstGeom>
          <a:solidFill xmlns:a="http://schemas.openxmlformats.org/drawingml/2006/main">
            <a:srgbClr val="F3F7FB"/>
          </a:solidFill>
          <a:ln xmlns:a="http://schemas.openxmlformats.org/drawingml/2006/main" w="9525">
            <a:solidFill>
              <a:srgbClr val="2E74B5"/>
            </a:solidFill>
            <a:prstDash val="solid"/>
          </a:ln>
        </p:spPr>
      </p:sp>
      <p:sp>
        <p:nvSpPr>
          <p:cNvPr id="10" name="step-number-0">
            <a:extLst xmlns:a="http://schemas.openxmlformats.org/drawingml/2006/main">
              <a:ext uri="{FF2B5EF4-FFF2-40B4-BE49-F238E27FC236}">
                <a16:creationId xmlns:a16="http://schemas.microsoft.com/office/drawing/2014/main" id="{E0793CC6-05F5-4EAF-8F7A-8E80BA282A76}"/>
              </a:ext>
            </a:extLst>
          </p:cNvPr>
          <p:cNvSpPr>
            <a:spLocks xmlns:a="http://schemas.openxmlformats.org/drawingml/2006/main" noGrp="1"/>
          </p:cNvSpPr>
          <p:nvPr/>
        </p:nvSpPr>
        <p:spPr>
          <a:xfrm xmlns:a="http://schemas.openxmlformats.org/drawingml/2006/main">
            <a:off x="800100" y="203835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2E74B5"/>
                </a:solidFill>
                <a:latin typeface="Arial"/>
                <a:ea typeface="Arial"/>
                <a:cs typeface="Arial"/>
              </a:defRPr>
            </a:pPr>
            <a:r>
              <a:rPr sz="1200" b="1">
                <a:solidFill>
                  <a:srgbClr val="2E74B5"/>
                </a:solidFill>
                <a:latin typeface="Arial"/>
                <a:ea typeface="Arial"/>
                <a:cs typeface="Arial"/>
              </a:rPr>
              <a:t>01</a:t>
            </a:r>
          </a:p>
        </p:txBody>
      </p:sp>
      <p:sp>
        <p:nvSpPr>
          <p:cNvPr id="11" name="step-label-0">
            <a:extLst xmlns:a="http://schemas.openxmlformats.org/drawingml/2006/main">
              <a:ext uri="{FF2B5EF4-FFF2-40B4-BE49-F238E27FC236}">
                <a16:creationId xmlns:a16="http://schemas.microsoft.com/office/drawing/2014/main" id="{4CE93ADB-628D-4B94-9BA7-D11B5BC0CFC1}"/>
              </a:ext>
            </a:extLst>
          </p:cNvPr>
          <p:cNvSpPr>
            <a:spLocks xmlns:a="http://schemas.openxmlformats.org/drawingml/2006/main" noGrp="1"/>
          </p:cNvSpPr>
          <p:nvPr/>
        </p:nvSpPr>
        <p:spPr>
          <a:xfrm xmlns:a="http://schemas.openxmlformats.org/drawingml/2006/main">
            <a:off x="1295400" y="2057400"/>
            <a:ext cx="1695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NAME</a:t>
            </a:r>
          </a:p>
        </p:txBody>
      </p:sp>
      <p:sp>
        <p:nvSpPr>
          <p:cNvPr id="12" name="">
            <a:extLst xmlns:a="http://schemas.openxmlformats.org/drawingml/2006/main">
              <a:ext uri="{FF2B5EF4-FFF2-40B4-BE49-F238E27FC236}">
                <a16:creationId xmlns:a16="http://schemas.microsoft.com/office/drawing/2014/main" id="{E52636C2-B950-464C-9208-B28EB6D66181}"/>
              </a:ext>
            </a:extLst>
          </p:cNvPr>
          <p:cNvSpPr>
            <a:spLocks xmlns:a="http://schemas.openxmlformats.org/drawingml/2006/main" noGrp="1"/>
          </p:cNvSpPr>
          <p:nvPr/>
        </p:nvSpPr>
        <p:spPr>
          <a:xfrm xmlns:a="http://schemas.openxmlformats.org/drawingml/2006/main">
            <a:off x="800100" y="2476500"/>
            <a:ext cx="2190750" cy="0"/>
          </a:xfrm>
          <a:prstGeom xmlns:a="http://schemas.openxmlformats.org/drawingml/2006/main" prst="line">
            <a:avLst/>
          </a:prstGeom>
          <a:noFill xmlns:a="http://schemas.openxmlformats.org/drawingml/2006/main"/>
          <a:ln xmlns:a="http://schemas.openxmlformats.org/drawingml/2006/main" w="28575">
            <a:solidFill>
              <a:srgbClr val="2E74B5"/>
            </a:solidFill>
            <a:prstDash val="solid"/>
          </a:ln>
        </p:spPr>
      </p:sp>
      <p:sp>
        <p:nvSpPr>
          <p:cNvPr id="13" name="step-head-0">
            <a:extLst xmlns:a="http://schemas.openxmlformats.org/drawingml/2006/main">
              <a:ext uri="{FF2B5EF4-FFF2-40B4-BE49-F238E27FC236}">
                <a16:creationId xmlns:a16="http://schemas.microsoft.com/office/drawing/2014/main" id="{AD06474C-68A6-4113-BDCB-080FA48E1A60}"/>
              </a:ext>
            </a:extLst>
          </p:cNvPr>
          <p:cNvSpPr>
            <a:spLocks xmlns:a="http://schemas.openxmlformats.org/drawingml/2006/main" noGrp="1"/>
          </p:cNvSpPr>
          <p:nvPr/>
        </p:nvSpPr>
        <p:spPr>
          <a:xfrm xmlns:a="http://schemas.openxmlformats.org/drawingml/2006/main">
            <a:off x="800100" y="2667000"/>
            <a:ext cx="2190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State the purpose</a:t>
            </a:r>
          </a:p>
        </p:txBody>
      </p:sp>
      <p:sp>
        <p:nvSpPr>
          <p:cNvPr id="14" name="step-body-0">
            <a:extLst xmlns:a="http://schemas.openxmlformats.org/drawingml/2006/main">
              <a:ext uri="{FF2B5EF4-FFF2-40B4-BE49-F238E27FC236}">
                <a16:creationId xmlns:a16="http://schemas.microsoft.com/office/drawing/2014/main" id="{46F7C668-DC41-47A9-85E4-FB8A31DF0DB5}"/>
              </a:ext>
            </a:extLst>
          </p:cNvPr>
          <p:cNvSpPr>
            <a:spLocks xmlns:a="http://schemas.openxmlformats.org/drawingml/2006/main" noGrp="1"/>
          </p:cNvSpPr>
          <p:nvPr/>
        </p:nvSpPr>
        <p:spPr>
          <a:xfrm xmlns:a="http://schemas.openxmlformats.org/drawingml/2006/main">
            <a:off x="800100" y="3352800"/>
            <a:ext cx="2190750" cy="2495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Use a verb or precise noun phrase describing one coherent responsibility.</a:t>
            </a:r>
          </a:p>
        </p:txBody>
      </p:sp>
      <p:sp>
        <p:nvSpPr>
          <p:cNvPr id="15" name="step-node-1">
            <a:extLst xmlns:a="http://schemas.openxmlformats.org/drawingml/2006/main">
              <a:ext uri="{FF2B5EF4-FFF2-40B4-BE49-F238E27FC236}">
                <a16:creationId xmlns:a16="http://schemas.microsoft.com/office/drawing/2014/main" id="{C89D01A1-319B-46EA-8E31-E082F78AB849}"/>
              </a:ext>
            </a:extLst>
          </p:cNvPr>
          <p:cNvSpPr>
            <a:spLocks xmlns:a="http://schemas.openxmlformats.org/drawingml/2006/main" noGrp="1"/>
          </p:cNvSpPr>
          <p:nvPr/>
        </p:nvSpPr>
        <p:spPr>
          <a:xfrm xmlns:a="http://schemas.openxmlformats.org/drawingml/2006/main">
            <a:off x="3409950" y="1847850"/>
            <a:ext cx="2571750" cy="4171950"/>
          </a:xfrm>
          <a:prstGeom xmlns:a="http://schemas.openxmlformats.org/drawingml/2006/main" prst="roundRect">
            <a:avLst>
              <a:gd name="adj" fmla="val 3704"/>
            </a:avLst>
          </a:prstGeom>
          <a:solidFill xmlns:a="http://schemas.openxmlformats.org/drawingml/2006/main">
            <a:srgbClr val="F6F7F9"/>
          </a:solidFill>
          <a:ln xmlns:a="http://schemas.openxmlformats.org/drawingml/2006/main" w="9525">
            <a:solidFill>
              <a:srgbClr val="DDE0E5"/>
            </a:solidFill>
            <a:prstDash val="solid"/>
          </a:ln>
        </p:spPr>
      </p:sp>
      <p:sp>
        <p:nvSpPr>
          <p:cNvPr id="16" name="step-number-1">
            <a:extLst xmlns:a="http://schemas.openxmlformats.org/drawingml/2006/main">
              <a:ext uri="{FF2B5EF4-FFF2-40B4-BE49-F238E27FC236}">
                <a16:creationId xmlns:a16="http://schemas.microsoft.com/office/drawing/2014/main" id="{6E1090E5-945A-4F6A-8C20-C8E516E384B4}"/>
              </a:ext>
            </a:extLst>
          </p:cNvPr>
          <p:cNvSpPr>
            <a:spLocks xmlns:a="http://schemas.openxmlformats.org/drawingml/2006/main" noGrp="1"/>
          </p:cNvSpPr>
          <p:nvPr/>
        </p:nvSpPr>
        <p:spPr>
          <a:xfrm xmlns:a="http://schemas.openxmlformats.org/drawingml/2006/main">
            <a:off x="3600450" y="203835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2E74B5"/>
                </a:solidFill>
                <a:latin typeface="Arial"/>
                <a:ea typeface="Arial"/>
                <a:cs typeface="Arial"/>
              </a:defRPr>
            </a:pPr>
            <a:r>
              <a:rPr sz="1200" b="1">
                <a:solidFill>
                  <a:srgbClr val="2E74B5"/>
                </a:solidFill>
                <a:latin typeface="Arial"/>
                <a:ea typeface="Arial"/>
                <a:cs typeface="Arial"/>
              </a:rPr>
              <a:t>02</a:t>
            </a:r>
          </a:p>
        </p:txBody>
      </p:sp>
      <p:sp>
        <p:nvSpPr>
          <p:cNvPr id="17" name="step-label-1">
            <a:extLst xmlns:a="http://schemas.openxmlformats.org/drawingml/2006/main">
              <a:ext uri="{FF2B5EF4-FFF2-40B4-BE49-F238E27FC236}">
                <a16:creationId xmlns:a16="http://schemas.microsoft.com/office/drawing/2014/main" id="{2F4B5199-669F-4D13-83E9-40B1646EB190}"/>
              </a:ext>
            </a:extLst>
          </p:cNvPr>
          <p:cNvSpPr>
            <a:spLocks xmlns:a="http://schemas.openxmlformats.org/drawingml/2006/main" noGrp="1"/>
          </p:cNvSpPr>
          <p:nvPr/>
        </p:nvSpPr>
        <p:spPr>
          <a:xfrm xmlns:a="http://schemas.openxmlformats.org/drawingml/2006/main">
            <a:off x="4095750" y="2057400"/>
            <a:ext cx="1695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INPUT</a:t>
            </a:r>
          </a:p>
        </p:txBody>
      </p:sp>
      <p:sp>
        <p:nvSpPr>
          <p:cNvPr id="18" name="">
            <a:extLst xmlns:a="http://schemas.openxmlformats.org/drawingml/2006/main">
              <a:ext uri="{FF2B5EF4-FFF2-40B4-BE49-F238E27FC236}">
                <a16:creationId xmlns:a16="http://schemas.microsoft.com/office/drawing/2014/main" id="{474D6C09-EF8C-44CE-BBC8-75BDE59F0EF6}"/>
              </a:ext>
            </a:extLst>
          </p:cNvPr>
          <p:cNvSpPr>
            <a:spLocks xmlns:a="http://schemas.openxmlformats.org/drawingml/2006/main" noGrp="1"/>
          </p:cNvSpPr>
          <p:nvPr/>
        </p:nvSpPr>
        <p:spPr>
          <a:xfrm xmlns:a="http://schemas.openxmlformats.org/drawingml/2006/main">
            <a:off x="3600450" y="2476500"/>
            <a:ext cx="2190750" cy="0"/>
          </a:xfrm>
          <a:prstGeom xmlns:a="http://schemas.openxmlformats.org/drawingml/2006/main" prst="line">
            <a:avLst/>
          </a:prstGeom>
          <a:noFill xmlns:a="http://schemas.openxmlformats.org/drawingml/2006/main"/>
          <a:ln xmlns:a="http://schemas.openxmlformats.org/drawingml/2006/main" w="19050">
            <a:solidFill>
              <a:srgbClr val="111316"/>
            </a:solidFill>
            <a:prstDash val="solid"/>
          </a:ln>
        </p:spPr>
      </p:sp>
      <p:sp>
        <p:nvSpPr>
          <p:cNvPr id="19" name="step-head-1">
            <a:extLst xmlns:a="http://schemas.openxmlformats.org/drawingml/2006/main">
              <a:ext uri="{FF2B5EF4-FFF2-40B4-BE49-F238E27FC236}">
                <a16:creationId xmlns:a16="http://schemas.microsoft.com/office/drawing/2014/main" id="{A8DCDD1F-BF6A-4746-9163-E5D7A41ABD06}"/>
              </a:ext>
            </a:extLst>
          </p:cNvPr>
          <p:cNvSpPr>
            <a:spLocks xmlns:a="http://schemas.openxmlformats.org/drawingml/2006/main" noGrp="1"/>
          </p:cNvSpPr>
          <p:nvPr/>
        </p:nvSpPr>
        <p:spPr>
          <a:xfrm xmlns:a="http://schemas.openxmlformats.org/drawingml/2006/main">
            <a:off x="3600450" y="2667000"/>
            <a:ext cx="2190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Define parameters</a:t>
            </a:r>
          </a:p>
        </p:txBody>
      </p:sp>
      <p:sp>
        <p:nvSpPr>
          <p:cNvPr id="20" name="step-body-1">
            <a:extLst xmlns:a="http://schemas.openxmlformats.org/drawingml/2006/main">
              <a:ext uri="{FF2B5EF4-FFF2-40B4-BE49-F238E27FC236}">
                <a16:creationId xmlns:a16="http://schemas.microsoft.com/office/drawing/2014/main" id="{52035DD1-DFDA-4416-92EE-668C8050F53D}"/>
              </a:ext>
            </a:extLst>
          </p:cNvPr>
          <p:cNvSpPr>
            <a:spLocks xmlns:a="http://schemas.openxmlformats.org/drawingml/2006/main" noGrp="1"/>
          </p:cNvSpPr>
          <p:nvPr/>
        </p:nvSpPr>
        <p:spPr>
          <a:xfrm xmlns:a="http://schemas.openxmlformats.org/drawingml/2006/main">
            <a:off x="3600450" y="3352800"/>
            <a:ext cx="2190750" cy="2495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Name required quantities, meanings, and units.</a:t>
            </a:r>
          </a:p>
        </p:txBody>
      </p:sp>
      <p:sp>
        <p:nvSpPr>
          <p:cNvPr id="21" name="step-node-2">
            <a:extLst xmlns:a="http://schemas.openxmlformats.org/drawingml/2006/main">
              <a:ext uri="{FF2B5EF4-FFF2-40B4-BE49-F238E27FC236}">
                <a16:creationId xmlns:a16="http://schemas.microsoft.com/office/drawing/2014/main" id="{EC992F40-43C9-427F-AE8A-BCC3895AA92D}"/>
              </a:ext>
            </a:extLst>
          </p:cNvPr>
          <p:cNvSpPr>
            <a:spLocks xmlns:a="http://schemas.openxmlformats.org/drawingml/2006/main" noGrp="1"/>
          </p:cNvSpPr>
          <p:nvPr/>
        </p:nvSpPr>
        <p:spPr>
          <a:xfrm xmlns:a="http://schemas.openxmlformats.org/drawingml/2006/main">
            <a:off x="6210300" y="1847850"/>
            <a:ext cx="2571750" cy="4171950"/>
          </a:xfrm>
          <a:prstGeom xmlns:a="http://schemas.openxmlformats.org/drawingml/2006/main" prst="roundRect">
            <a:avLst>
              <a:gd name="adj" fmla="val 3704"/>
            </a:avLst>
          </a:prstGeom>
          <a:solidFill xmlns:a="http://schemas.openxmlformats.org/drawingml/2006/main">
            <a:srgbClr val="F6F7F9"/>
          </a:solidFill>
          <a:ln xmlns:a="http://schemas.openxmlformats.org/drawingml/2006/main" w="9525">
            <a:solidFill>
              <a:srgbClr val="DDE0E5"/>
            </a:solidFill>
            <a:prstDash val="solid"/>
          </a:ln>
        </p:spPr>
      </p:sp>
      <p:sp>
        <p:nvSpPr>
          <p:cNvPr id="22" name="step-number-2">
            <a:extLst xmlns:a="http://schemas.openxmlformats.org/drawingml/2006/main">
              <a:ext uri="{FF2B5EF4-FFF2-40B4-BE49-F238E27FC236}">
                <a16:creationId xmlns:a16="http://schemas.microsoft.com/office/drawing/2014/main" id="{E540087B-6972-4A6A-8562-42CBDB40C806}"/>
              </a:ext>
            </a:extLst>
          </p:cNvPr>
          <p:cNvSpPr>
            <a:spLocks xmlns:a="http://schemas.openxmlformats.org/drawingml/2006/main" noGrp="1"/>
          </p:cNvSpPr>
          <p:nvPr/>
        </p:nvSpPr>
        <p:spPr>
          <a:xfrm xmlns:a="http://schemas.openxmlformats.org/drawingml/2006/main">
            <a:off x="6400800" y="203835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2E74B5"/>
                </a:solidFill>
                <a:latin typeface="Arial"/>
                <a:ea typeface="Arial"/>
                <a:cs typeface="Arial"/>
              </a:defRPr>
            </a:pPr>
            <a:r>
              <a:rPr sz="1200" b="1">
                <a:solidFill>
                  <a:srgbClr val="2E74B5"/>
                </a:solidFill>
                <a:latin typeface="Arial"/>
                <a:ea typeface="Arial"/>
                <a:cs typeface="Arial"/>
              </a:rPr>
              <a:t>03</a:t>
            </a:r>
          </a:p>
        </p:txBody>
      </p:sp>
      <p:sp>
        <p:nvSpPr>
          <p:cNvPr id="23" name="step-label-2">
            <a:extLst xmlns:a="http://schemas.openxmlformats.org/drawingml/2006/main">
              <a:ext uri="{FF2B5EF4-FFF2-40B4-BE49-F238E27FC236}">
                <a16:creationId xmlns:a16="http://schemas.microsoft.com/office/drawing/2014/main" id="{9EED7190-2324-4A5B-A686-C81774D065F8}"/>
              </a:ext>
            </a:extLst>
          </p:cNvPr>
          <p:cNvSpPr>
            <a:spLocks xmlns:a="http://schemas.openxmlformats.org/drawingml/2006/main" noGrp="1"/>
          </p:cNvSpPr>
          <p:nvPr/>
        </p:nvSpPr>
        <p:spPr>
          <a:xfrm xmlns:a="http://schemas.openxmlformats.org/drawingml/2006/main">
            <a:off x="6896100" y="2057400"/>
            <a:ext cx="1695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RETURN</a:t>
            </a:r>
          </a:p>
        </p:txBody>
      </p:sp>
      <p:sp>
        <p:nvSpPr>
          <p:cNvPr id="24" name="">
            <a:extLst xmlns:a="http://schemas.openxmlformats.org/drawingml/2006/main">
              <a:ext uri="{FF2B5EF4-FFF2-40B4-BE49-F238E27FC236}">
                <a16:creationId xmlns:a16="http://schemas.microsoft.com/office/drawing/2014/main" id="{A098BCE5-8F1A-464C-BDD7-306413B2B054}"/>
              </a:ext>
            </a:extLst>
          </p:cNvPr>
          <p:cNvSpPr>
            <a:spLocks xmlns:a="http://schemas.openxmlformats.org/drawingml/2006/main" noGrp="1"/>
          </p:cNvSpPr>
          <p:nvPr/>
        </p:nvSpPr>
        <p:spPr>
          <a:xfrm xmlns:a="http://schemas.openxmlformats.org/drawingml/2006/main">
            <a:off x="6400800" y="2476500"/>
            <a:ext cx="2190750" cy="0"/>
          </a:xfrm>
          <a:prstGeom xmlns:a="http://schemas.openxmlformats.org/drawingml/2006/main" prst="line">
            <a:avLst/>
          </a:prstGeom>
          <a:noFill xmlns:a="http://schemas.openxmlformats.org/drawingml/2006/main"/>
          <a:ln xmlns:a="http://schemas.openxmlformats.org/drawingml/2006/main" w="19050">
            <a:solidFill>
              <a:srgbClr val="111316"/>
            </a:solidFill>
            <a:prstDash val="solid"/>
          </a:ln>
        </p:spPr>
      </p:sp>
      <p:sp>
        <p:nvSpPr>
          <p:cNvPr id="25" name="step-head-2">
            <a:extLst xmlns:a="http://schemas.openxmlformats.org/drawingml/2006/main">
              <a:ext uri="{FF2B5EF4-FFF2-40B4-BE49-F238E27FC236}">
                <a16:creationId xmlns:a16="http://schemas.microsoft.com/office/drawing/2014/main" id="{6375E4DE-D926-475C-90D2-571980AB1D0E}"/>
              </a:ext>
            </a:extLst>
          </p:cNvPr>
          <p:cNvSpPr>
            <a:spLocks xmlns:a="http://schemas.openxmlformats.org/drawingml/2006/main" noGrp="1"/>
          </p:cNvSpPr>
          <p:nvPr/>
        </p:nvSpPr>
        <p:spPr>
          <a:xfrm xmlns:a="http://schemas.openxmlformats.org/drawingml/2006/main">
            <a:off x="6400800" y="2667000"/>
            <a:ext cx="2190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Produce a result</a:t>
            </a:r>
          </a:p>
        </p:txBody>
      </p:sp>
      <p:sp>
        <p:nvSpPr>
          <p:cNvPr id="26" name="step-body-2">
            <a:extLst xmlns:a="http://schemas.openxmlformats.org/drawingml/2006/main">
              <a:ext uri="{FF2B5EF4-FFF2-40B4-BE49-F238E27FC236}">
                <a16:creationId xmlns:a16="http://schemas.microsoft.com/office/drawing/2014/main" id="{5E01179C-CF2C-4A8F-A79D-D7573BBA6FCD}"/>
              </a:ext>
            </a:extLst>
          </p:cNvPr>
          <p:cNvSpPr>
            <a:spLocks xmlns:a="http://schemas.openxmlformats.org/drawingml/2006/main" noGrp="1"/>
          </p:cNvSpPr>
          <p:nvPr/>
        </p:nvSpPr>
        <p:spPr>
          <a:xfrm xmlns:a="http://schemas.openxmlformats.org/drawingml/2006/main">
            <a:off x="6400800" y="3352800"/>
            <a:ext cx="2190750" cy="2495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Return evidence that later code can store, compare, visualize, or test.</a:t>
            </a:r>
          </a:p>
        </p:txBody>
      </p:sp>
      <p:sp>
        <p:nvSpPr>
          <p:cNvPr id="27" name="step-node-3">
            <a:extLst xmlns:a="http://schemas.openxmlformats.org/drawingml/2006/main">
              <a:ext uri="{FF2B5EF4-FFF2-40B4-BE49-F238E27FC236}">
                <a16:creationId xmlns:a16="http://schemas.microsoft.com/office/drawing/2014/main" id="{1A2441FE-640B-40DB-BB6B-AFFEBF0C9561}"/>
              </a:ext>
            </a:extLst>
          </p:cNvPr>
          <p:cNvSpPr>
            <a:spLocks xmlns:a="http://schemas.openxmlformats.org/drawingml/2006/main" noGrp="1"/>
          </p:cNvSpPr>
          <p:nvPr/>
        </p:nvSpPr>
        <p:spPr>
          <a:xfrm xmlns:a="http://schemas.openxmlformats.org/drawingml/2006/main">
            <a:off x="9010650" y="1847850"/>
            <a:ext cx="2571750" cy="4171950"/>
          </a:xfrm>
          <a:prstGeom xmlns:a="http://schemas.openxmlformats.org/drawingml/2006/main" prst="roundRect">
            <a:avLst>
              <a:gd name="adj" fmla="val 3704"/>
            </a:avLst>
          </a:prstGeom>
          <a:solidFill xmlns:a="http://schemas.openxmlformats.org/drawingml/2006/main">
            <a:srgbClr val="F6F7F9"/>
          </a:solidFill>
          <a:ln xmlns:a="http://schemas.openxmlformats.org/drawingml/2006/main" w="9525">
            <a:solidFill>
              <a:srgbClr val="DDE0E5"/>
            </a:solidFill>
            <a:prstDash val="solid"/>
          </a:ln>
        </p:spPr>
      </p:sp>
      <p:sp>
        <p:nvSpPr>
          <p:cNvPr id="28" name="step-number-3">
            <a:extLst xmlns:a="http://schemas.openxmlformats.org/drawingml/2006/main">
              <a:ext uri="{FF2B5EF4-FFF2-40B4-BE49-F238E27FC236}">
                <a16:creationId xmlns:a16="http://schemas.microsoft.com/office/drawing/2014/main" id="{B5E90549-9D8F-4CBC-9E58-5C682BEB7A5D}"/>
              </a:ext>
            </a:extLst>
          </p:cNvPr>
          <p:cNvSpPr>
            <a:spLocks xmlns:a="http://schemas.openxmlformats.org/drawingml/2006/main" noGrp="1"/>
          </p:cNvSpPr>
          <p:nvPr/>
        </p:nvSpPr>
        <p:spPr>
          <a:xfrm xmlns:a="http://schemas.openxmlformats.org/drawingml/2006/main">
            <a:off x="9201150" y="203835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2E74B5"/>
                </a:solidFill>
                <a:latin typeface="Arial"/>
                <a:ea typeface="Arial"/>
                <a:cs typeface="Arial"/>
              </a:defRPr>
            </a:pPr>
            <a:r>
              <a:rPr sz="1200" b="1">
                <a:solidFill>
                  <a:srgbClr val="2E74B5"/>
                </a:solidFill>
                <a:latin typeface="Arial"/>
                <a:ea typeface="Arial"/>
                <a:cs typeface="Arial"/>
              </a:rPr>
              <a:t>04</a:t>
            </a:r>
          </a:p>
        </p:txBody>
      </p:sp>
      <p:sp>
        <p:nvSpPr>
          <p:cNvPr id="29" name="step-label-3">
            <a:extLst xmlns:a="http://schemas.openxmlformats.org/drawingml/2006/main">
              <a:ext uri="{FF2B5EF4-FFF2-40B4-BE49-F238E27FC236}">
                <a16:creationId xmlns:a16="http://schemas.microsoft.com/office/drawing/2014/main" id="{F3E84A9F-828C-4BD6-8268-632BAE909FA0}"/>
              </a:ext>
            </a:extLst>
          </p:cNvPr>
          <p:cNvSpPr>
            <a:spLocks xmlns:a="http://schemas.openxmlformats.org/drawingml/2006/main" noGrp="1"/>
          </p:cNvSpPr>
          <p:nvPr/>
        </p:nvSpPr>
        <p:spPr>
          <a:xfrm xmlns:a="http://schemas.openxmlformats.org/drawingml/2006/main">
            <a:off x="9696450" y="2057400"/>
            <a:ext cx="1695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TEST</a:t>
            </a:r>
          </a:p>
        </p:txBody>
      </p:sp>
      <p:sp>
        <p:nvSpPr>
          <p:cNvPr id="30" name="">
            <a:extLst xmlns:a="http://schemas.openxmlformats.org/drawingml/2006/main">
              <a:ext uri="{FF2B5EF4-FFF2-40B4-BE49-F238E27FC236}">
                <a16:creationId xmlns:a16="http://schemas.microsoft.com/office/drawing/2014/main" id="{CF60CE51-4BAF-4F5E-984C-AC5FB2996167}"/>
              </a:ext>
            </a:extLst>
          </p:cNvPr>
          <p:cNvSpPr>
            <a:spLocks xmlns:a="http://schemas.openxmlformats.org/drawingml/2006/main" noGrp="1"/>
          </p:cNvSpPr>
          <p:nvPr/>
        </p:nvSpPr>
        <p:spPr>
          <a:xfrm xmlns:a="http://schemas.openxmlformats.org/drawingml/2006/main">
            <a:off x="9201150" y="2476500"/>
            <a:ext cx="2190750" cy="0"/>
          </a:xfrm>
          <a:prstGeom xmlns:a="http://schemas.openxmlformats.org/drawingml/2006/main" prst="line">
            <a:avLst/>
          </a:prstGeom>
          <a:noFill xmlns:a="http://schemas.openxmlformats.org/drawingml/2006/main"/>
          <a:ln xmlns:a="http://schemas.openxmlformats.org/drawingml/2006/main" w="19050">
            <a:solidFill>
              <a:srgbClr val="111316"/>
            </a:solidFill>
            <a:prstDash val="solid"/>
          </a:ln>
        </p:spPr>
      </p:sp>
      <p:sp>
        <p:nvSpPr>
          <p:cNvPr id="31" name="step-head-3">
            <a:extLst xmlns:a="http://schemas.openxmlformats.org/drawingml/2006/main">
              <a:ext uri="{FF2B5EF4-FFF2-40B4-BE49-F238E27FC236}">
                <a16:creationId xmlns:a16="http://schemas.microsoft.com/office/drawing/2014/main" id="{0EED15BD-3D7E-4AFC-87B5-AE891A481309}"/>
              </a:ext>
            </a:extLst>
          </p:cNvPr>
          <p:cNvSpPr>
            <a:spLocks xmlns:a="http://schemas.openxmlformats.org/drawingml/2006/main" noGrp="1"/>
          </p:cNvSpPr>
          <p:nvPr/>
        </p:nvSpPr>
        <p:spPr>
          <a:xfrm xmlns:a="http://schemas.openxmlformats.org/drawingml/2006/main">
            <a:off x="9201150" y="2667000"/>
            <a:ext cx="2190750" cy="55092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Check the contract</a:t>
            </a:r>
          </a:p>
        </p:txBody>
      </p:sp>
      <p:sp>
        <p:nvSpPr>
          <p:cNvPr id="32" name="step-body-3">
            <a:extLst xmlns:a="http://schemas.openxmlformats.org/drawingml/2006/main">
              <a:ext uri="{FF2B5EF4-FFF2-40B4-BE49-F238E27FC236}">
                <a16:creationId xmlns:a16="http://schemas.microsoft.com/office/drawing/2014/main" id="{E1C21681-8FCE-4BB6-ABA2-EE7B22FC112A}"/>
              </a:ext>
            </a:extLst>
          </p:cNvPr>
          <p:cNvSpPr>
            <a:spLocks xmlns:a="http://schemas.openxmlformats.org/drawingml/2006/main" noGrp="1"/>
          </p:cNvSpPr>
          <p:nvPr/>
        </p:nvSpPr>
        <p:spPr>
          <a:xfrm xmlns:a="http://schemas.openxmlformats.org/drawingml/2006/main">
            <a:off x="9201150" y="3370326"/>
            <a:ext cx="2190750" cy="24780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Use known, boundary, and invalid cases.</a:t>
            </a:r>
          </a:p>
        </p:txBody>
      </p:sp>
    </p:spTree>
    <p:extLst>
      <p:ext uri="{BB962C8B-B14F-4D97-AF65-F5344CB8AC3E}">
        <p14:creationId xmlns:p14="http://schemas.microsoft.com/office/powerpoint/2010/main" val="2029387144"/>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3" name="kicker">
            <a:extLst xmlns:a="http://schemas.openxmlformats.org/drawingml/2006/main">
              <a:ext uri="{FF2B5EF4-FFF2-40B4-BE49-F238E27FC236}">
                <a16:creationId xmlns:a16="http://schemas.microsoft.com/office/drawing/2014/main" id="{F68CDE81-2479-4063-9EFA-8E8565DE37A8}"/>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VISUAL MODEL</a:t>
            </a:r>
          </a:p>
        </p:txBody>
      </p:sp>
      <p:sp>
        <p:nvSpPr>
          <p:cNvPr id="2" name="title">
            <a:extLst xmlns:a="http://schemas.openxmlformats.org/drawingml/2006/main">
              <a:ext uri="{FF2B5EF4-FFF2-40B4-BE49-F238E27FC236}">
                <a16:creationId xmlns:a16="http://schemas.microsoft.com/office/drawing/2014/main" id="{AF99BD74-D6DD-4EA4-996C-A9F87DF92E3C}"/>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A function is a reusable evidence machine</a:t>
            </a:r>
          </a:p>
        </p:txBody>
      </p:sp>
      <p:sp>
        <p:nvSpPr>
          <p:cNvPr id="3" name="">
            <a:extLst xmlns:a="http://schemas.openxmlformats.org/drawingml/2006/main">
              <a:ext uri="{FF2B5EF4-FFF2-40B4-BE49-F238E27FC236}">
                <a16:creationId xmlns:a16="http://schemas.microsoft.com/office/drawing/2014/main" id="{2BA00D6E-FA81-4740-8937-6F7F88B350DC}"/>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33EFA93E-6D1C-4C8F-9AD6-9D3593A36C79}"/>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3 · Meeting A · Decisions and Functions · Full Source Deck</a:t>
            </a:r>
          </a:p>
        </p:txBody>
      </p:sp>
      <p:sp>
        <p:nvSpPr>
          <p:cNvPr id="5" name="page">
            <a:extLst xmlns:a="http://schemas.openxmlformats.org/drawingml/2006/main">
              <a:ext uri="{FF2B5EF4-FFF2-40B4-BE49-F238E27FC236}">
                <a16:creationId xmlns:a16="http://schemas.microsoft.com/office/drawing/2014/main" id="{DC2EF311-3E79-44BD-8C88-B73A99EE9F59}"/>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31</a:t>
            </a:r>
          </a:p>
        </p:txBody>
      </p:sp>
      <p:sp>
        <p:nvSpPr>
          <p:cNvPr id="6" name="step-arrow-0">
            <a:extLst xmlns:a="http://schemas.openxmlformats.org/drawingml/2006/main">
              <a:ext uri="{FF2B5EF4-FFF2-40B4-BE49-F238E27FC236}">
                <a16:creationId xmlns:a16="http://schemas.microsoft.com/office/drawing/2014/main" id="{B1AEF036-29B8-45D7-B24F-2DC7518D98A2}"/>
              </a:ext>
            </a:extLst>
          </p:cNvPr>
          <p:cNvSpPr>
            <a:spLocks xmlns:a="http://schemas.openxmlformats.org/drawingml/2006/main" noGrp="1"/>
          </p:cNvSpPr>
          <p:nvPr/>
        </p:nvSpPr>
        <p:spPr>
          <a:xfrm xmlns:a="http://schemas.openxmlformats.org/drawingml/2006/main">
            <a:off x="3219450" y="3686175"/>
            <a:ext cx="152400" cy="495300"/>
          </a:xfrm>
          <a:prstGeom xmlns:a="http://schemas.openxmlformats.org/drawingml/2006/main" prst="chevron">
            <a:avLst/>
          </a:prstGeom>
          <a:solidFill xmlns:a="http://schemas.openxmlformats.org/drawingml/2006/main">
            <a:srgbClr val="E8EEF5"/>
          </a:solidFill>
          <a:ln xmlns:a="http://schemas.openxmlformats.org/drawingml/2006/main" w="0">
            <a:solidFill>
              <a:srgbClr val="E8EEF5"/>
            </a:solidFill>
            <a:prstDash val="solid"/>
          </a:ln>
        </p:spPr>
      </p:sp>
      <p:sp>
        <p:nvSpPr>
          <p:cNvPr id="7" name="step-arrow-1">
            <a:extLst xmlns:a="http://schemas.openxmlformats.org/drawingml/2006/main">
              <a:ext uri="{FF2B5EF4-FFF2-40B4-BE49-F238E27FC236}">
                <a16:creationId xmlns:a16="http://schemas.microsoft.com/office/drawing/2014/main" id="{85F549E0-3FC0-421E-8CD9-7336C5A774E5}"/>
              </a:ext>
            </a:extLst>
          </p:cNvPr>
          <p:cNvSpPr>
            <a:spLocks xmlns:a="http://schemas.openxmlformats.org/drawingml/2006/main" noGrp="1"/>
          </p:cNvSpPr>
          <p:nvPr/>
        </p:nvSpPr>
        <p:spPr>
          <a:xfrm xmlns:a="http://schemas.openxmlformats.org/drawingml/2006/main">
            <a:off x="6019800" y="3686175"/>
            <a:ext cx="152400" cy="495300"/>
          </a:xfrm>
          <a:prstGeom xmlns:a="http://schemas.openxmlformats.org/drawingml/2006/main" prst="chevron">
            <a:avLst/>
          </a:prstGeom>
          <a:solidFill xmlns:a="http://schemas.openxmlformats.org/drawingml/2006/main">
            <a:srgbClr val="E8EEF5"/>
          </a:solidFill>
          <a:ln xmlns:a="http://schemas.openxmlformats.org/drawingml/2006/main" w="0">
            <a:solidFill>
              <a:srgbClr val="E8EEF5"/>
            </a:solidFill>
            <a:prstDash val="solid"/>
          </a:ln>
        </p:spPr>
      </p:sp>
      <p:sp>
        <p:nvSpPr>
          <p:cNvPr id="8" name="step-arrow-2">
            <a:extLst xmlns:a="http://schemas.openxmlformats.org/drawingml/2006/main">
              <a:ext uri="{FF2B5EF4-FFF2-40B4-BE49-F238E27FC236}">
                <a16:creationId xmlns:a16="http://schemas.microsoft.com/office/drawing/2014/main" id="{496C7EF9-D7F6-4244-9256-FB1997129DEE}"/>
              </a:ext>
            </a:extLst>
          </p:cNvPr>
          <p:cNvSpPr>
            <a:spLocks xmlns:a="http://schemas.openxmlformats.org/drawingml/2006/main" noGrp="1"/>
          </p:cNvSpPr>
          <p:nvPr/>
        </p:nvSpPr>
        <p:spPr>
          <a:xfrm xmlns:a="http://schemas.openxmlformats.org/drawingml/2006/main">
            <a:off x="8820150" y="3686175"/>
            <a:ext cx="152400" cy="495300"/>
          </a:xfrm>
          <a:prstGeom xmlns:a="http://schemas.openxmlformats.org/drawingml/2006/main" prst="chevron">
            <a:avLst/>
          </a:prstGeom>
          <a:solidFill xmlns:a="http://schemas.openxmlformats.org/drawingml/2006/main">
            <a:srgbClr val="E8EEF5"/>
          </a:solidFill>
          <a:ln xmlns:a="http://schemas.openxmlformats.org/drawingml/2006/main" w="0">
            <a:solidFill>
              <a:srgbClr val="E8EEF5"/>
            </a:solidFill>
            <a:prstDash val="solid"/>
          </a:ln>
        </p:spPr>
      </p:sp>
      <p:sp>
        <p:nvSpPr>
          <p:cNvPr id="9" name="step-node-0">
            <a:extLst xmlns:a="http://schemas.openxmlformats.org/drawingml/2006/main">
              <a:ext uri="{FF2B5EF4-FFF2-40B4-BE49-F238E27FC236}">
                <a16:creationId xmlns:a16="http://schemas.microsoft.com/office/drawing/2014/main" id="{62EC6794-2711-4E36-A443-B64E57B45D01}"/>
              </a:ext>
            </a:extLst>
          </p:cNvPr>
          <p:cNvSpPr>
            <a:spLocks xmlns:a="http://schemas.openxmlformats.org/drawingml/2006/main" noGrp="1"/>
          </p:cNvSpPr>
          <p:nvPr/>
        </p:nvSpPr>
        <p:spPr>
          <a:xfrm xmlns:a="http://schemas.openxmlformats.org/drawingml/2006/main">
            <a:off x="609600" y="1847850"/>
            <a:ext cx="2571750" cy="4171950"/>
          </a:xfrm>
          <a:prstGeom xmlns:a="http://schemas.openxmlformats.org/drawingml/2006/main" prst="roundRect">
            <a:avLst>
              <a:gd name="adj" fmla="val 3704"/>
            </a:avLst>
          </a:prstGeom>
          <a:solidFill xmlns:a="http://schemas.openxmlformats.org/drawingml/2006/main">
            <a:srgbClr val="F3F7FB"/>
          </a:solidFill>
          <a:ln xmlns:a="http://schemas.openxmlformats.org/drawingml/2006/main" w="9525">
            <a:solidFill>
              <a:srgbClr val="2E74B5"/>
            </a:solidFill>
            <a:prstDash val="solid"/>
          </a:ln>
        </p:spPr>
      </p:sp>
      <p:sp>
        <p:nvSpPr>
          <p:cNvPr id="10" name="step-number-0">
            <a:extLst xmlns:a="http://schemas.openxmlformats.org/drawingml/2006/main">
              <a:ext uri="{FF2B5EF4-FFF2-40B4-BE49-F238E27FC236}">
                <a16:creationId xmlns:a16="http://schemas.microsoft.com/office/drawing/2014/main" id="{E1942EC0-68E3-4E00-AC6F-AEA825398078}"/>
              </a:ext>
            </a:extLst>
          </p:cNvPr>
          <p:cNvSpPr>
            <a:spLocks xmlns:a="http://schemas.openxmlformats.org/drawingml/2006/main" noGrp="1"/>
          </p:cNvSpPr>
          <p:nvPr/>
        </p:nvSpPr>
        <p:spPr>
          <a:xfrm xmlns:a="http://schemas.openxmlformats.org/drawingml/2006/main">
            <a:off x="800100" y="203835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2E74B5"/>
                </a:solidFill>
                <a:latin typeface="Arial"/>
                <a:ea typeface="Arial"/>
                <a:cs typeface="Arial"/>
              </a:defRPr>
            </a:pPr>
            <a:r>
              <a:rPr sz="1200" b="1">
                <a:solidFill>
                  <a:srgbClr val="2E74B5"/>
                </a:solidFill>
                <a:latin typeface="Arial"/>
                <a:ea typeface="Arial"/>
                <a:cs typeface="Arial"/>
              </a:rPr>
              <a:t>01</a:t>
            </a:r>
          </a:p>
        </p:txBody>
      </p:sp>
      <p:sp>
        <p:nvSpPr>
          <p:cNvPr id="11" name="step-label-0">
            <a:extLst xmlns:a="http://schemas.openxmlformats.org/drawingml/2006/main">
              <a:ext uri="{FF2B5EF4-FFF2-40B4-BE49-F238E27FC236}">
                <a16:creationId xmlns:a16="http://schemas.microsoft.com/office/drawing/2014/main" id="{3679821F-D62C-4BFF-998F-014D470D4026}"/>
              </a:ext>
            </a:extLst>
          </p:cNvPr>
          <p:cNvSpPr>
            <a:spLocks xmlns:a="http://schemas.openxmlformats.org/drawingml/2006/main" noGrp="1"/>
          </p:cNvSpPr>
          <p:nvPr/>
        </p:nvSpPr>
        <p:spPr>
          <a:xfrm xmlns:a="http://schemas.openxmlformats.org/drawingml/2006/main">
            <a:off x="1295400" y="2057400"/>
            <a:ext cx="1695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INPUT</a:t>
            </a:r>
          </a:p>
        </p:txBody>
      </p:sp>
      <p:sp>
        <p:nvSpPr>
          <p:cNvPr id="12" name="">
            <a:extLst xmlns:a="http://schemas.openxmlformats.org/drawingml/2006/main">
              <a:ext uri="{FF2B5EF4-FFF2-40B4-BE49-F238E27FC236}">
                <a16:creationId xmlns:a16="http://schemas.microsoft.com/office/drawing/2014/main" id="{672ABAD6-5AE9-49FC-8C4F-40895701428E}"/>
              </a:ext>
            </a:extLst>
          </p:cNvPr>
          <p:cNvSpPr>
            <a:spLocks xmlns:a="http://schemas.openxmlformats.org/drawingml/2006/main" noGrp="1"/>
          </p:cNvSpPr>
          <p:nvPr/>
        </p:nvSpPr>
        <p:spPr>
          <a:xfrm xmlns:a="http://schemas.openxmlformats.org/drawingml/2006/main">
            <a:off x="800100" y="2476500"/>
            <a:ext cx="2190750" cy="0"/>
          </a:xfrm>
          <a:prstGeom xmlns:a="http://schemas.openxmlformats.org/drawingml/2006/main" prst="line">
            <a:avLst/>
          </a:prstGeom>
          <a:noFill xmlns:a="http://schemas.openxmlformats.org/drawingml/2006/main"/>
          <a:ln xmlns:a="http://schemas.openxmlformats.org/drawingml/2006/main" w="28575">
            <a:solidFill>
              <a:srgbClr val="2E74B5"/>
            </a:solidFill>
            <a:prstDash val="solid"/>
          </a:ln>
        </p:spPr>
      </p:sp>
      <p:sp>
        <p:nvSpPr>
          <p:cNvPr id="13" name="step-head-0">
            <a:extLst xmlns:a="http://schemas.openxmlformats.org/drawingml/2006/main">
              <a:ext uri="{FF2B5EF4-FFF2-40B4-BE49-F238E27FC236}">
                <a16:creationId xmlns:a16="http://schemas.microsoft.com/office/drawing/2014/main" id="{C68083F9-9971-47BC-A92D-312176969262}"/>
              </a:ext>
            </a:extLst>
          </p:cNvPr>
          <p:cNvSpPr>
            <a:spLocks xmlns:a="http://schemas.openxmlformats.org/drawingml/2006/main" noGrp="1"/>
          </p:cNvSpPr>
          <p:nvPr/>
        </p:nvSpPr>
        <p:spPr>
          <a:xfrm xmlns:a="http://schemas.openxmlformats.org/drawingml/2006/main">
            <a:off x="800100" y="2667000"/>
            <a:ext cx="2190750" cy="55092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Receive named values</a:t>
            </a:r>
          </a:p>
        </p:txBody>
      </p:sp>
      <p:sp>
        <p:nvSpPr>
          <p:cNvPr id="14" name="step-body-0">
            <a:extLst xmlns:a="http://schemas.openxmlformats.org/drawingml/2006/main">
              <a:ext uri="{FF2B5EF4-FFF2-40B4-BE49-F238E27FC236}">
                <a16:creationId xmlns:a16="http://schemas.microsoft.com/office/drawing/2014/main" id="{1A940A94-4629-4CBE-927E-D4A8174AAAB1}"/>
              </a:ext>
            </a:extLst>
          </p:cNvPr>
          <p:cNvSpPr>
            <a:spLocks xmlns:a="http://schemas.openxmlformats.org/drawingml/2006/main" noGrp="1"/>
          </p:cNvSpPr>
          <p:nvPr/>
        </p:nvSpPr>
        <p:spPr>
          <a:xfrm xmlns:a="http://schemas.openxmlformats.org/drawingml/2006/main">
            <a:off x="800100" y="3370326"/>
            <a:ext cx="2190750" cy="24780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area_m2 and minimum_m2.</a:t>
            </a:r>
          </a:p>
        </p:txBody>
      </p:sp>
      <p:sp>
        <p:nvSpPr>
          <p:cNvPr id="15" name="step-node-1">
            <a:extLst xmlns:a="http://schemas.openxmlformats.org/drawingml/2006/main">
              <a:ext uri="{FF2B5EF4-FFF2-40B4-BE49-F238E27FC236}">
                <a16:creationId xmlns:a16="http://schemas.microsoft.com/office/drawing/2014/main" id="{1A8F32BF-CA40-444E-982B-6722C6690A25}"/>
              </a:ext>
            </a:extLst>
          </p:cNvPr>
          <p:cNvSpPr>
            <a:spLocks xmlns:a="http://schemas.openxmlformats.org/drawingml/2006/main" noGrp="1"/>
          </p:cNvSpPr>
          <p:nvPr/>
        </p:nvSpPr>
        <p:spPr>
          <a:xfrm xmlns:a="http://schemas.openxmlformats.org/drawingml/2006/main">
            <a:off x="3409950" y="1847850"/>
            <a:ext cx="2571750" cy="4171950"/>
          </a:xfrm>
          <a:prstGeom xmlns:a="http://schemas.openxmlformats.org/drawingml/2006/main" prst="roundRect">
            <a:avLst>
              <a:gd name="adj" fmla="val 3704"/>
            </a:avLst>
          </a:prstGeom>
          <a:solidFill xmlns:a="http://schemas.openxmlformats.org/drawingml/2006/main">
            <a:srgbClr val="F6F7F9"/>
          </a:solidFill>
          <a:ln xmlns:a="http://schemas.openxmlformats.org/drawingml/2006/main" w="9525">
            <a:solidFill>
              <a:srgbClr val="DDE0E5"/>
            </a:solidFill>
            <a:prstDash val="solid"/>
          </a:ln>
        </p:spPr>
      </p:sp>
      <p:sp>
        <p:nvSpPr>
          <p:cNvPr id="16" name="step-number-1">
            <a:extLst xmlns:a="http://schemas.openxmlformats.org/drawingml/2006/main">
              <a:ext uri="{FF2B5EF4-FFF2-40B4-BE49-F238E27FC236}">
                <a16:creationId xmlns:a16="http://schemas.microsoft.com/office/drawing/2014/main" id="{9CF7A2FE-91D1-4ED1-848E-420ED67AEA35}"/>
              </a:ext>
            </a:extLst>
          </p:cNvPr>
          <p:cNvSpPr>
            <a:spLocks xmlns:a="http://schemas.openxmlformats.org/drawingml/2006/main" noGrp="1"/>
          </p:cNvSpPr>
          <p:nvPr/>
        </p:nvSpPr>
        <p:spPr>
          <a:xfrm xmlns:a="http://schemas.openxmlformats.org/drawingml/2006/main">
            <a:off x="3600450" y="203835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2E74B5"/>
                </a:solidFill>
                <a:latin typeface="Arial"/>
                <a:ea typeface="Arial"/>
                <a:cs typeface="Arial"/>
              </a:defRPr>
            </a:pPr>
            <a:r>
              <a:rPr sz="1200" b="1">
                <a:solidFill>
                  <a:srgbClr val="2E74B5"/>
                </a:solidFill>
                <a:latin typeface="Arial"/>
                <a:ea typeface="Arial"/>
                <a:cs typeface="Arial"/>
              </a:rPr>
              <a:t>02</a:t>
            </a:r>
          </a:p>
        </p:txBody>
      </p:sp>
      <p:sp>
        <p:nvSpPr>
          <p:cNvPr id="17" name="step-label-1">
            <a:extLst xmlns:a="http://schemas.openxmlformats.org/drawingml/2006/main">
              <a:ext uri="{FF2B5EF4-FFF2-40B4-BE49-F238E27FC236}">
                <a16:creationId xmlns:a16="http://schemas.microsoft.com/office/drawing/2014/main" id="{E61950BD-E0F0-4271-ACE1-54A4B6C46152}"/>
              </a:ext>
            </a:extLst>
          </p:cNvPr>
          <p:cNvSpPr>
            <a:spLocks xmlns:a="http://schemas.openxmlformats.org/drawingml/2006/main" noGrp="1"/>
          </p:cNvSpPr>
          <p:nvPr/>
        </p:nvSpPr>
        <p:spPr>
          <a:xfrm xmlns:a="http://schemas.openxmlformats.org/drawingml/2006/main">
            <a:off x="4095750" y="2057400"/>
            <a:ext cx="1695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RULE</a:t>
            </a:r>
          </a:p>
        </p:txBody>
      </p:sp>
      <p:sp>
        <p:nvSpPr>
          <p:cNvPr id="18" name="">
            <a:extLst xmlns:a="http://schemas.openxmlformats.org/drawingml/2006/main">
              <a:ext uri="{FF2B5EF4-FFF2-40B4-BE49-F238E27FC236}">
                <a16:creationId xmlns:a16="http://schemas.microsoft.com/office/drawing/2014/main" id="{732B37FC-472A-4C06-80E4-750D8675416E}"/>
              </a:ext>
            </a:extLst>
          </p:cNvPr>
          <p:cNvSpPr>
            <a:spLocks xmlns:a="http://schemas.openxmlformats.org/drawingml/2006/main" noGrp="1"/>
          </p:cNvSpPr>
          <p:nvPr/>
        </p:nvSpPr>
        <p:spPr>
          <a:xfrm xmlns:a="http://schemas.openxmlformats.org/drawingml/2006/main">
            <a:off x="3600450" y="2476500"/>
            <a:ext cx="2190750" cy="0"/>
          </a:xfrm>
          <a:prstGeom xmlns:a="http://schemas.openxmlformats.org/drawingml/2006/main" prst="line">
            <a:avLst/>
          </a:prstGeom>
          <a:noFill xmlns:a="http://schemas.openxmlformats.org/drawingml/2006/main"/>
          <a:ln xmlns:a="http://schemas.openxmlformats.org/drawingml/2006/main" w="19050">
            <a:solidFill>
              <a:srgbClr val="111316"/>
            </a:solidFill>
            <a:prstDash val="solid"/>
          </a:ln>
        </p:spPr>
      </p:sp>
      <p:sp>
        <p:nvSpPr>
          <p:cNvPr id="19" name="step-head-1">
            <a:extLst xmlns:a="http://schemas.openxmlformats.org/drawingml/2006/main">
              <a:ext uri="{FF2B5EF4-FFF2-40B4-BE49-F238E27FC236}">
                <a16:creationId xmlns:a16="http://schemas.microsoft.com/office/drawing/2014/main" id="{CE7AC438-4CAA-4327-8C46-EB7E05CCADEB}"/>
              </a:ext>
            </a:extLst>
          </p:cNvPr>
          <p:cNvSpPr>
            <a:spLocks xmlns:a="http://schemas.openxmlformats.org/drawingml/2006/main" noGrp="1"/>
          </p:cNvSpPr>
          <p:nvPr/>
        </p:nvSpPr>
        <p:spPr>
          <a:xfrm xmlns:a="http://schemas.openxmlformats.org/drawingml/2006/main">
            <a:off x="3600450" y="2667000"/>
            <a:ext cx="2190750" cy="55092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Apply one tested policy</a:t>
            </a:r>
          </a:p>
        </p:txBody>
      </p:sp>
      <p:sp>
        <p:nvSpPr>
          <p:cNvPr id="20" name="step-body-1">
            <a:extLst xmlns:a="http://schemas.openxmlformats.org/drawingml/2006/main">
              <a:ext uri="{FF2B5EF4-FFF2-40B4-BE49-F238E27FC236}">
                <a16:creationId xmlns:a16="http://schemas.microsoft.com/office/drawing/2014/main" id="{10995F58-A5E5-4554-BB09-EEA1E0F01B3E}"/>
              </a:ext>
            </a:extLst>
          </p:cNvPr>
          <p:cNvSpPr>
            <a:spLocks xmlns:a="http://schemas.openxmlformats.org/drawingml/2006/main" noGrp="1"/>
          </p:cNvSpPr>
          <p:nvPr/>
        </p:nvSpPr>
        <p:spPr>
          <a:xfrm xmlns:a="http://schemas.openxmlformats.org/drawingml/2006/main">
            <a:off x="3600450" y="3370326"/>
            <a:ext cx="2190750" cy="24780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Compare the two values once, in one place.</a:t>
            </a:r>
          </a:p>
        </p:txBody>
      </p:sp>
      <p:sp>
        <p:nvSpPr>
          <p:cNvPr id="21" name="step-node-2">
            <a:extLst xmlns:a="http://schemas.openxmlformats.org/drawingml/2006/main">
              <a:ext uri="{FF2B5EF4-FFF2-40B4-BE49-F238E27FC236}">
                <a16:creationId xmlns:a16="http://schemas.microsoft.com/office/drawing/2014/main" id="{65DA1C2E-E96D-4413-A2E6-64FA95DE0315}"/>
              </a:ext>
            </a:extLst>
          </p:cNvPr>
          <p:cNvSpPr>
            <a:spLocks xmlns:a="http://schemas.openxmlformats.org/drawingml/2006/main" noGrp="1"/>
          </p:cNvSpPr>
          <p:nvPr/>
        </p:nvSpPr>
        <p:spPr>
          <a:xfrm xmlns:a="http://schemas.openxmlformats.org/drawingml/2006/main">
            <a:off x="6210300" y="1847850"/>
            <a:ext cx="2571750" cy="4171950"/>
          </a:xfrm>
          <a:prstGeom xmlns:a="http://schemas.openxmlformats.org/drawingml/2006/main" prst="roundRect">
            <a:avLst>
              <a:gd name="adj" fmla="val 3704"/>
            </a:avLst>
          </a:prstGeom>
          <a:solidFill xmlns:a="http://schemas.openxmlformats.org/drawingml/2006/main">
            <a:srgbClr val="F6F7F9"/>
          </a:solidFill>
          <a:ln xmlns:a="http://schemas.openxmlformats.org/drawingml/2006/main" w="9525">
            <a:solidFill>
              <a:srgbClr val="DDE0E5"/>
            </a:solidFill>
            <a:prstDash val="solid"/>
          </a:ln>
        </p:spPr>
      </p:sp>
      <p:sp>
        <p:nvSpPr>
          <p:cNvPr id="22" name="step-number-2">
            <a:extLst xmlns:a="http://schemas.openxmlformats.org/drawingml/2006/main">
              <a:ext uri="{FF2B5EF4-FFF2-40B4-BE49-F238E27FC236}">
                <a16:creationId xmlns:a16="http://schemas.microsoft.com/office/drawing/2014/main" id="{B7C4B562-DBDF-4F8C-8F2E-2360966A7D2E}"/>
              </a:ext>
            </a:extLst>
          </p:cNvPr>
          <p:cNvSpPr>
            <a:spLocks xmlns:a="http://schemas.openxmlformats.org/drawingml/2006/main" noGrp="1"/>
          </p:cNvSpPr>
          <p:nvPr/>
        </p:nvSpPr>
        <p:spPr>
          <a:xfrm xmlns:a="http://schemas.openxmlformats.org/drawingml/2006/main">
            <a:off x="6400800" y="203835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2E74B5"/>
                </a:solidFill>
                <a:latin typeface="Arial"/>
                <a:ea typeface="Arial"/>
                <a:cs typeface="Arial"/>
              </a:defRPr>
            </a:pPr>
            <a:r>
              <a:rPr sz="1200" b="1">
                <a:solidFill>
                  <a:srgbClr val="2E74B5"/>
                </a:solidFill>
                <a:latin typeface="Arial"/>
                <a:ea typeface="Arial"/>
                <a:cs typeface="Arial"/>
              </a:rPr>
              <a:t>03</a:t>
            </a:r>
          </a:p>
        </p:txBody>
      </p:sp>
      <p:sp>
        <p:nvSpPr>
          <p:cNvPr id="23" name="step-label-2">
            <a:extLst xmlns:a="http://schemas.openxmlformats.org/drawingml/2006/main">
              <a:ext uri="{FF2B5EF4-FFF2-40B4-BE49-F238E27FC236}">
                <a16:creationId xmlns:a16="http://schemas.microsoft.com/office/drawing/2014/main" id="{3D54E6D6-F189-46C9-9E3F-FD41C5AD2D21}"/>
              </a:ext>
            </a:extLst>
          </p:cNvPr>
          <p:cNvSpPr>
            <a:spLocks xmlns:a="http://schemas.openxmlformats.org/drawingml/2006/main" noGrp="1"/>
          </p:cNvSpPr>
          <p:nvPr/>
        </p:nvSpPr>
        <p:spPr>
          <a:xfrm xmlns:a="http://schemas.openxmlformats.org/drawingml/2006/main">
            <a:off x="6896100" y="2057400"/>
            <a:ext cx="1695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RETURN</a:t>
            </a:r>
          </a:p>
        </p:txBody>
      </p:sp>
      <p:sp>
        <p:nvSpPr>
          <p:cNvPr id="24" name="">
            <a:extLst xmlns:a="http://schemas.openxmlformats.org/drawingml/2006/main">
              <a:ext uri="{FF2B5EF4-FFF2-40B4-BE49-F238E27FC236}">
                <a16:creationId xmlns:a16="http://schemas.microsoft.com/office/drawing/2014/main" id="{3B33968F-96B5-4274-A591-FD3F2C446C4B}"/>
              </a:ext>
            </a:extLst>
          </p:cNvPr>
          <p:cNvSpPr>
            <a:spLocks xmlns:a="http://schemas.openxmlformats.org/drawingml/2006/main" noGrp="1"/>
          </p:cNvSpPr>
          <p:nvPr/>
        </p:nvSpPr>
        <p:spPr>
          <a:xfrm xmlns:a="http://schemas.openxmlformats.org/drawingml/2006/main">
            <a:off x="6400800" y="2476500"/>
            <a:ext cx="2190750" cy="0"/>
          </a:xfrm>
          <a:prstGeom xmlns:a="http://schemas.openxmlformats.org/drawingml/2006/main" prst="line">
            <a:avLst/>
          </a:prstGeom>
          <a:noFill xmlns:a="http://schemas.openxmlformats.org/drawingml/2006/main"/>
          <a:ln xmlns:a="http://schemas.openxmlformats.org/drawingml/2006/main" w="19050">
            <a:solidFill>
              <a:srgbClr val="111316"/>
            </a:solidFill>
            <a:prstDash val="solid"/>
          </a:ln>
        </p:spPr>
      </p:sp>
      <p:sp>
        <p:nvSpPr>
          <p:cNvPr id="25" name="step-head-2">
            <a:extLst xmlns:a="http://schemas.openxmlformats.org/drawingml/2006/main">
              <a:ext uri="{FF2B5EF4-FFF2-40B4-BE49-F238E27FC236}">
                <a16:creationId xmlns:a16="http://schemas.microsoft.com/office/drawing/2014/main" id="{CA5E9D66-D425-4AB8-9799-E8C9C61E2517}"/>
              </a:ext>
            </a:extLst>
          </p:cNvPr>
          <p:cNvSpPr>
            <a:spLocks xmlns:a="http://schemas.openxmlformats.org/drawingml/2006/main" noGrp="1"/>
          </p:cNvSpPr>
          <p:nvPr/>
        </p:nvSpPr>
        <p:spPr>
          <a:xfrm xmlns:a="http://schemas.openxmlformats.org/drawingml/2006/main">
            <a:off x="6400800" y="2667000"/>
            <a:ext cx="2190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Produce data</a:t>
            </a:r>
          </a:p>
        </p:txBody>
      </p:sp>
      <p:sp>
        <p:nvSpPr>
          <p:cNvPr id="26" name="step-body-2">
            <a:extLst xmlns:a="http://schemas.openxmlformats.org/drawingml/2006/main">
              <a:ext uri="{FF2B5EF4-FFF2-40B4-BE49-F238E27FC236}">
                <a16:creationId xmlns:a16="http://schemas.microsoft.com/office/drawing/2014/main" id="{4B92C6E0-12BA-4C90-AC1B-4394D61F49A1}"/>
              </a:ext>
            </a:extLst>
          </p:cNvPr>
          <p:cNvSpPr>
            <a:spLocks xmlns:a="http://schemas.openxmlformats.org/drawingml/2006/main" noGrp="1"/>
          </p:cNvSpPr>
          <p:nvPr/>
        </p:nvSpPr>
        <p:spPr>
          <a:xfrm xmlns:a="http://schemas.openxmlformats.org/drawingml/2006/main">
            <a:off x="6400800" y="3352800"/>
            <a:ext cx="2190750" cy="2495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Return True or False; do not hide it in print().</a:t>
            </a:r>
          </a:p>
        </p:txBody>
      </p:sp>
      <p:sp>
        <p:nvSpPr>
          <p:cNvPr id="27" name="step-node-3">
            <a:extLst xmlns:a="http://schemas.openxmlformats.org/drawingml/2006/main">
              <a:ext uri="{FF2B5EF4-FFF2-40B4-BE49-F238E27FC236}">
                <a16:creationId xmlns:a16="http://schemas.microsoft.com/office/drawing/2014/main" id="{B2B0AAEF-DAFF-485B-ADAD-FF27F566A9D7}"/>
              </a:ext>
            </a:extLst>
          </p:cNvPr>
          <p:cNvSpPr>
            <a:spLocks xmlns:a="http://schemas.openxmlformats.org/drawingml/2006/main" noGrp="1"/>
          </p:cNvSpPr>
          <p:nvPr/>
        </p:nvSpPr>
        <p:spPr>
          <a:xfrm xmlns:a="http://schemas.openxmlformats.org/drawingml/2006/main">
            <a:off x="9010650" y="1847850"/>
            <a:ext cx="2571750" cy="4171950"/>
          </a:xfrm>
          <a:prstGeom xmlns:a="http://schemas.openxmlformats.org/drawingml/2006/main" prst="roundRect">
            <a:avLst>
              <a:gd name="adj" fmla="val 3704"/>
            </a:avLst>
          </a:prstGeom>
          <a:solidFill xmlns:a="http://schemas.openxmlformats.org/drawingml/2006/main">
            <a:srgbClr val="F6F7F9"/>
          </a:solidFill>
          <a:ln xmlns:a="http://schemas.openxmlformats.org/drawingml/2006/main" w="9525">
            <a:solidFill>
              <a:srgbClr val="DDE0E5"/>
            </a:solidFill>
            <a:prstDash val="solid"/>
          </a:ln>
        </p:spPr>
      </p:sp>
      <p:sp>
        <p:nvSpPr>
          <p:cNvPr id="28" name="step-number-3">
            <a:extLst xmlns:a="http://schemas.openxmlformats.org/drawingml/2006/main">
              <a:ext uri="{FF2B5EF4-FFF2-40B4-BE49-F238E27FC236}">
                <a16:creationId xmlns:a16="http://schemas.microsoft.com/office/drawing/2014/main" id="{54569676-C434-4B52-BBF5-168D5329DF62}"/>
              </a:ext>
            </a:extLst>
          </p:cNvPr>
          <p:cNvSpPr>
            <a:spLocks xmlns:a="http://schemas.openxmlformats.org/drawingml/2006/main" noGrp="1"/>
          </p:cNvSpPr>
          <p:nvPr/>
        </p:nvSpPr>
        <p:spPr>
          <a:xfrm xmlns:a="http://schemas.openxmlformats.org/drawingml/2006/main">
            <a:off x="9201150" y="203835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2E74B5"/>
                </a:solidFill>
                <a:latin typeface="Arial"/>
                <a:ea typeface="Arial"/>
                <a:cs typeface="Arial"/>
              </a:defRPr>
            </a:pPr>
            <a:r>
              <a:rPr sz="1200" b="1">
                <a:solidFill>
                  <a:srgbClr val="2E74B5"/>
                </a:solidFill>
                <a:latin typeface="Arial"/>
                <a:ea typeface="Arial"/>
                <a:cs typeface="Arial"/>
              </a:rPr>
              <a:t>04</a:t>
            </a:r>
          </a:p>
        </p:txBody>
      </p:sp>
      <p:sp>
        <p:nvSpPr>
          <p:cNvPr id="29" name="step-label-3">
            <a:extLst xmlns:a="http://schemas.openxmlformats.org/drawingml/2006/main">
              <a:ext uri="{FF2B5EF4-FFF2-40B4-BE49-F238E27FC236}">
                <a16:creationId xmlns:a16="http://schemas.microsoft.com/office/drawing/2014/main" id="{52B3D463-4974-4F74-AA64-526FD1BCF2C7}"/>
              </a:ext>
            </a:extLst>
          </p:cNvPr>
          <p:cNvSpPr>
            <a:spLocks xmlns:a="http://schemas.openxmlformats.org/drawingml/2006/main" noGrp="1"/>
          </p:cNvSpPr>
          <p:nvPr/>
        </p:nvSpPr>
        <p:spPr>
          <a:xfrm xmlns:a="http://schemas.openxmlformats.org/drawingml/2006/main">
            <a:off x="9696450" y="2057400"/>
            <a:ext cx="1695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REUSE</a:t>
            </a:r>
          </a:p>
        </p:txBody>
      </p:sp>
      <p:sp>
        <p:nvSpPr>
          <p:cNvPr id="30" name="">
            <a:extLst xmlns:a="http://schemas.openxmlformats.org/drawingml/2006/main">
              <a:ext uri="{FF2B5EF4-FFF2-40B4-BE49-F238E27FC236}">
                <a16:creationId xmlns:a16="http://schemas.microsoft.com/office/drawing/2014/main" id="{E60710FF-ED5C-4383-9B17-A2CDD772787F}"/>
              </a:ext>
            </a:extLst>
          </p:cNvPr>
          <p:cNvSpPr>
            <a:spLocks xmlns:a="http://schemas.openxmlformats.org/drawingml/2006/main" noGrp="1"/>
          </p:cNvSpPr>
          <p:nvPr/>
        </p:nvSpPr>
        <p:spPr>
          <a:xfrm xmlns:a="http://schemas.openxmlformats.org/drawingml/2006/main">
            <a:off x="9201150" y="2476500"/>
            <a:ext cx="2190750" cy="0"/>
          </a:xfrm>
          <a:prstGeom xmlns:a="http://schemas.openxmlformats.org/drawingml/2006/main" prst="line">
            <a:avLst/>
          </a:prstGeom>
          <a:noFill xmlns:a="http://schemas.openxmlformats.org/drawingml/2006/main"/>
          <a:ln xmlns:a="http://schemas.openxmlformats.org/drawingml/2006/main" w="19050">
            <a:solidFill>
              <a:srgbClr val="111316"/>
            </a:solidFill>
            <a:prstDash val="solid"/>
          </a:ln>
        </p:spPr>
      </p:sp>
      <p:sp>
        <p:nvSpPr>
          <p:cNvPr id="31" name="step-head-3">
            <a:extLst xmlns:a="http://schemas.openxmlformats.org/drawingml/2006/main">
              <a:ext uri="{FF2B5EF4-FFF2-40B4-BE49-F238E27FC236}">
                <a16:creationId xmlns:a16="http://schemas.microsoft.com/office/drawing/2014/main" id="{D6C23BA6-A6B0-419F-B8D6-6057A92A47BD}"/>
              </a:ext>
            </a:extLst>
          </p:cNvPr>
          <p:cNvSpPr>
            <a:spLocks xmlns:a="http://schemas.openxmlformats.org/drawingml/2006/main" noGrp="1"/>
          </p:cNvSpPr>
          <p:nvPr/>
        </p:nvSpPr>
        <p:spPr>
          <a:xfrm xmlns:a="http://schemas.openxmlformats.org/drawingml/2006/main">
            <a:off x="9201150" y="2667000"/>
            <a:ext cx="2190750" cy="55092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Call with new cases</a:t>
            </a:r>
          </a:p>
        </p:txBody>
      </p:sp>
      <p:sp>
        <p:nvSpPr>
          <p:cNvPr id="32" name="step-body-3">
            <a:extLst xmlns:a="http://schemas.openxmlformats.org/drawingml/2006/main">
              <a:ext uri="{FF2B5EF4-FFF2-40B4-BE49-F238E27FC236}">
                <a16:creationId xmlns:a16="http://schemas.microsoft.com/office/drawing/2014/main" id="{C1EEEE5D-161B-4290-AD24-FF748097BBD1}"/>
              </a:ext>
            </a:extLst>
          </p:cNvPr>
          <p:cNvSpPr>
            <a:spLocks xmlns:a="http://schemas.openxmlformats.org/drawingml/2006/main" noGrp="1"/>
          </p:cNvSpPr>
          <p:nvPr/>
        </p:nvSpPr>
        <p:spPr>
          <a:xfrm xmlns:a="http://schemas.openxmlformats.org/drawingml/2006/main">
            <a:off x="9201150" y="3370326"/>
            <a:ext cx="2190750" cy="24780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Test below, equal, and above the boundary.</a:t>
            </a:r>
          </a:p>
        </p:txBody>
      </p:sp>
    </p:spTree>
    <p:extLst>
      <p:ext uri="{BB962C8B-B14F-4D97-AF65-F5344CB8AC3E}">
        <p14:creationId xmlns:p14="http://schemas.microsoft.com/office/powerpoint/2010/main" val="1700349328"/>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kicker">
            <a:extLst xmlns:a="http://schemas.openxmlformats.org/drawingml/2006/main">
              <a:ext uri="{FF2B5EF4-FFF2-40B4-BE49-F238E27FC236}">
                <a16:creationId xmlns:a16="http://schemas.microsoft.com/office/drawing/2014/main" id="{B851F98E-7122-4DCF-BA78-4409B219C7BB}"/>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PYTHON SYNTAX</a:t>
            </a:r>
          </a:p>
        </p:txBody>
      </p:sp>
      <p:sp>
        <p:nvSpPr>
          <p:cNvPr id="2" name="title">
            <a:extLst xmlns:a="http://schemas.openxmlformats.org/drawingml/2006/main">
              <a:ext uri="{FF2B5EF4-FFF2-40B4-BE49-F238E27FC236}">
                <a16:creationId xmlns:a16="http://schemas.microsoft.com/office/drawing/2014/main" id="{29469617-EAAC-4EC8-AC45-1B5A9B26364D}"/>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return provides data; print displays text</a:t>
            </a:r>
          </a:p>
        </p:txBody>
      </p:sp>
      <p:sp>
        <p:nvSpPr>
          <p:cNvPr id="3" name="">
            <a:extLst xmlns:a="http://schemas.openxmlformats.org/drawingml/2006/main">
              <a:ext uri="{FF2B5EF4-FFF2-40B4-BE49-F238E27FC236}">
                <a16:creationId xmlns:a16="http://schemas.microsoft.com/office/drawing/2014/main" id="{71B1C389-4043-4C8F-89D0-F371082DA4CF}"/>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4DF21742-D9EB-4FDD-87D8-D8F490E4FC13}"/>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3 · Meeting A · Decisions and Functions · Full Source Deck</a:t>
            </a:r>
          </a:p>
        </p:txBody>
      </p:sp>
      <p:sp>
        <p:nvSpPr>
          <p:cNvPr id="5" name="page">
            <a:extLst xmlns:a="http://schemas.openxmlformats.org/drawingml/2006/main">
              <a:ext uri="{FF2B5EF4-FFF2-40B4-BE49-F238E27FC236}">
                <a16:creationId xmlns:a16="http://schemas.microsoft.com/office/drawing/2014/main" id="{59569B83-A66F-4FEA-AFCC-E6CF4ECBEBE8}"/>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32</a:t>
            </a:r>
          </a:p>
        </p:txBody>
      </p:sp>
      <p:sp>
        <p:nvSpPr>
          <p:cNvPr id="6" name="code-panel">
            <a:extLst xmlns:a="http://schemas.openxmlformats.org/drawingml/2006/main">
              <a:ext uri="{FF2B5EF4-FFF2-40B4-BE49-F238E27FC236}">
                <a16:creationId xmlns:a16="http://schemas.microsoft.com/office/drawing/2014/main" id="{ABE13EFC-7245-4376-B04C-B5121524FB06}"/>
              </a:ext>
            </a:extLst>
          </p:cNvPr>
          <p:cNvSpPr>
            <a:spLocks xmlns:a="http://schemas.openxmlformats.org/drawingml/2006/main" noGrp="1"/>
          </p:cNvSpPr>
          <p:nvPr/>
        </p:nvSpPr>
        <p:spPr>
          <a:xfrm xmlns:a="http://schemas.openxmlformats.org/drawingml/2006/main">
            <a:off x="609600" y="1809750"/>
            <a:ext cx="6896100" cy="4267200"/>
          </a:xfrm>
          <a:prstGeom xmlns:a="http://schemas.openxmlformats.org/drawingml/2006/main" prst="roundRect">
            <a:avLst>
              <a:gd name="adj" fmla="val 1786"/>
            </a:avLst>
          </a:prstGeom>
          <a:solidFill xmlns:a="http://schemas.openxmlformats.org/drawingml/2006/main">
            <a:srgbClr val="17191C"/>
          </a:solidFill>
          <a:ln xmlns:a="http://schemas.openxmlformats.org/drawingml/2006/main" w="9525">
            <a:solidFill>
              <a:srgbClr val="17191C"/>
            </a:solidFill>
            <a:prstDash val="solid"/>
          </a:ln>
        </p:spPr>
      </p:sp>
      <p:sp>
        <p:nvSpPr>
          <p:cNvPr id="7" name="code">
            <a:extLst xmlns:a="http://schemas.openxmlformats.org/drawingml/2006/main">
              <a:ext uri="{FF2B5EF4-FFF2-40B4-BE49-F238E27FC236}">
                <a16:creationId xmlns:a16="http://schemas.microsoft.com/office/drawing/2014/main" id="{FE98D25A-984A-4BBB-B6D0-BA51A638A0D0}"/>
              </a:ext>
            </a:extLst>
          </p:cNvPr>
          <p:cNvSpPr>
            <a:spLocks xmlns:a="http://schemas.openxmlformats.org/drawingml/2006/main" noGrp="1"/>
          </p:cNvSpPr>
          <p:nvPr/>
        </p:nvSpPr>
        <p:spPr>
          <a:xfrm xmlns:a="http://schemas.openxmlformats.org/drawingml/2006/main">
            <a:off x="857250" y="2057400"/>
            <a:ext cx="6400800" cy="296722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def rectangular_area(length_m, width_m):</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    return length_m * width_m</a:t>
            </a:r>
          </a:p>
          <a:p xmlns:a="http://schemas.openxmlformats.org/drawingml/2006/main">
            <a:r>
              <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area_m2 = rectangular_area(8.5, 5.2)</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print(f'Area: {area_m2:.1f} m²')</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print(area_m2 &gt;= 40.0)</a:t>
            </a:r>
          </a:p>
        </p:txBody>
      </p:sp>
      <p:sp>
        <p:nvSpPr>
          <p:cNvPr id="8" name="">
            <a:extLst xmlns:a="http://schemas.openxmlformats.org/drawingml/2006/main">
              <a:ext uri="{FF2B5EF4-FFF2-40B4-BE49-F238E27FC236}">
                <a16:creationId xmlns:a16="http://schemas.microsoft.com/office/drawing/2014/main" id="{1BDB4728-87D6-49B9-AD23-7582CF370231}"/>
              </a:ext>
            </a:extLst>
          </p:cNvPr>
          <p:cNvSpPr>
            <a:spLocks xmlns:a="http://schemas.openxmlformats.org/drawingml/2006/main" noGrp="1"/>
          </p:cNvSpPr>
          <p:nvPr/>
        </p:nvSpPr>
        <p:spPr>
          <a:xfrm xmlns:a="http://schemas.openxmlformats.org/drawingml/2006/main">
            <a:off x="857250" y="5081778"/>
            <a:ext cx="6400800" cy="0"/>
          </a:xfrm>
          <a:prstGeom xmlns:a="http://schemas.openxmlformats.org/drawingml/2006/main" prst="line">
            <a:avLst/>
          </a:prstGeom>
          <a:noFill xmlns:a="http://schemas.openxmlformats.org/drawingml/2006/main"/>
          <a:ln xmlns:a="http://schemas.openxmlformats.org/drawingml/2006/main" w="9525">
            <a:solidFill>
              <a:srgbClr val="4E5258"/>
            </a:solidFill>
            <a:prstDash val="solid"/>
          </a:ln>
        </p:spPr>
      </p:sp>
      <p:sp>
        <p:nvSpPr>
          <p:cNvPr id="9" name="output-label">
            <a:extLst xmlns:a="http://schemas.openxmlformats.org/drawingml/2006/main">
              <a:ext uri="{FF2B5EF4-FFF2-40B4-BE49-F238E27FC236}">
                <a16:creationId xmlns:a16="http://schemas.microsoft.com/office/drawing/2014/main" id="{06A072DE-B2B3-4629-8023-684720804916}"/>
              </a:ext>
            </a:extLst>
          </p:cNvPr>
          <p:cNvSpPr>
            <a:spLocks xmlns:a="http://schemas.openxmlformats.org/drawingml/2006/main" noGrp="1"/>
          </p:cNvSpPr>
          <p:nvPr/>
        </p:nvSpPr>
        <p:spPr>
          <a:xfrm xmlns:a="http://schemas.openxmlformats.org/drawingml/2006/main">
            <a:off x="857250" y="5196078"/>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E8EEF5"/>
                </a:solidFill>
                <a:latin typeface="Arial"/>
                <a:ea typeface="Arial"/>
                <a:cs typeface="Arial"/>
              </a:defRPr>
            </a:pPr>
            <a:r>
              <a:rPr sz="900" b="1">
                <a:solidFill>
                  <a:srgbClr val="E8EEF5"/>
                </a:solidFill>
                <a:latin typeface="Arial"/>
                <a:ea typeface="Arial"/>
                <a:cs typeface="Arial"/>
              </a:rPr>
              <a:t>OUTPUT</a:t>
            </a:r>
          </a:p>
        </p:txBody>
      </p:sp>
      <p:sp>
        <p:nvSpPr>
          <p:cNvPr id="10" name="output">
            <a:extLst xmlns:a="http://schemas.openxmlformats.org/drawingml/2006/main">
              <a:ext uri="{FF2B5EF4-FFF2-40B4-BE49-F238E27FC236}">
                <a16:creationId xmlns:a16="http://schemas.microsoft.com/office/drawing/2014/main" id="{7A1937EC-BF76-4BC5-8A67-D28646B9DE87}"/>
              </a:ext>
            </a:extLst>
          </p:cNvPr>
          <p:cNvSpPr>
            <a:spLocks xmlns:a="http://schemas.openxmlformats.org/drawingml/2006/main" noGrp="1"/>
          </p:cNvSpPr>
          <p:nvPr/>
        </p:nvSpPr>
        <p:spPr>
          <a:xfrm xmlns:a="http://schemas.openxmlformats.org/drawingml/2006/main">
            <a:off x="857250" y="5424678"/>
            <a:ext cx="6400800" cy="40462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Area: 44.2 m²</a:t>
            </a:r>
          </a:p>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True</a:t>
            </a:r>
          </a:p>
        </p:txBody>
      </p:sp>
      <p:sp>
        <p:nvSpPr>
          <p:cNvPr id="11" name="explain-head">
            <a:extLst xmlns:a="http://schemas.openxmlformats.org/drawingml/2006/main">
              <a:ext uri="{FF2B5EF4-FFF2-40B4-BE49-F238E27FC236}">
                <a16:creationId xmlns:a16="http://schemas.microsoft.com/office/drawing/2014/main" id="{2D0934A1-678E-4785-B50F-2E8877C95530}"/>
              </a:ext>
            </a:extLst>
          </p:cNvPr>
          <p:cNvSpPr>
            <a:spLocks xmlns:a="http://schemas.openxmlformats.org/drawingml/2006/main" noGrp="1"/>
          </p:cNvSpPr>
          <p:nvPr/>
        </p:nvSpPr>
        <p:spPr>
          <a:xfrm xmlns:a="http://schemas.openxmlformats.org/drawingml/2006/main">
            <a:off x="7886700" y="2790825"/>
            <a:ext cx="3695700" cy="3451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Keep calculation reusable</a:t>
            </a:r>
          </a:p>
        </p:txBody>
      </p:sp>
      <p:sp>
        <p:nvSpPr>
          <p:cNvPr id="12" name="explain-body">
            <a:extLst xmlns:a="http://schemas.openxmlformats.org/drawingml/2006/main">
              <a:ext uri="{FF2B5EF4-FFF2-40B4-BE49-F238E27FC236}">
                <a16:creationId xmlns:a16="http://schemas.microsoft.com/office/drawing/2014/main" id="{272FCC06-3985-46DD-8A93-F35F2D658F35}"/>
              </a:ext>
            </a:extLst>
          </p:cNvPr>
          <p:cNvSpPr>
            <a:spLocks xmlns:a="http://schemas.openxmlformats.org/drawingml/2006/main" noGrp="1"/>
          </p:cNvSpPr>
          <p:nvPr/>
        </p:nvSpPr>
        <p:spPr>
          <a:xfrm xmlns:a="http://schemas.openxmlformats.org/drawingml/2006/main">
            <a:off x="7886700" y="3288411"/>
            <a:ext cx="369570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The function returns a numerical value. Calling code decides how to store, format, compare, or visualize it. Printing inside every function would reduce reuse.</a:t>
            </a:r>
          </a:p>
        </p:txBody>
      </p:sp>
    </p:spTree>
    <p:extLst>
      <p:ext uri="{BB962C8B-B14F-4D97-AF65-F5344CB8AC3E}">
        <p14:creationId xmlns:p14="http://schemas.microsoft.com/office/powerpoint/2010/main" val="948383305"/>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kicker">
            <a:extLst xmlns:a="http://schemas.openxmlformats.org/drawingml/2006/main">
              <a:ext uri="{FF2B5EF4-FFF2-40B4-BE49-F238E27FC236}">
                <a16:creationId xmlns:a16="http://schemas.microsoft.com/office/drawing/2014/main" id="{02C626B0-F7B1-49CE-A577-97767A3DD2A4}"/>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PYTHON SYNTAX</a:t>
            </a:r>
          </a:p>
        </p:txBody>
      </p:sp>
      <p:sp>
        <p:nvSpPr>
          <p:cNvPr id="2" name="title">
            <a:extLst xmlns:a="http://schemas.openxmlformats.org/drawingml/2006/main">
              <a:ext uri="{FF2B5EF4-FFF2-40B4-BE49-F238E27FC236}">
                <a16:creationId xmlns:a16="http://schemas.microsoft.com/office/drawing/2014/main" id="{D5B9C97D-A187-4EF3-AF08-1DAD2187695A}"/>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Default arguments make a stated assumption visible</a:t>
            </a:r>
          </a:p>
        </p:txBody>
      </p:sp>
      <p:sp>
        <p:nvSpPr>
          <p:cNvPr id="3" name="">
            <a:extLst xmlns:a="http://schemas.openxmlformats.org/drawingml/2006/main">
              <a:ext uri="{FF2B5EF4-FFF2-40B4-BE49-F238E27FC236}">
                <a16:creationId xmlns:a16="http://schemas.microsoft.com/office/drawing/2014/main" id="{70A290BA-69E2-49F6-B180-EC1CC9181A85}"/>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F561BDAF-D118-4EF6-A89A-C2E0BDE8CA00}"/>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3 · Meeting A · Decisions and Functions · Full Source Deck</a:t>
            </a:r>
          </a:p>
        </p:txBody>
      </p:sp>
      <p:sp>
        <p:nvSpPr>
          <p:cNvPr id="5" name="page">
            <a:extLst xmlns:a="http://schemas.openxmlformats.org/drawingml/2006/main">
              <a:ext uri="{FF2B5EF4-FFF2-40B4-BE49-F238E27FC236}">
                <a16:creationId xmlns:a16="http://schemas.microsoft.com/office/drawing/2014/main" id="{C78A102B-3C62-4D09-AF5C-B50F8E478C5B}"/>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33</a:t>
            </a:r>
          </a:p>
        </p:txBody>
      </p:sp>
      <p:sp>
        <p:nvSpPr>
          <p:cNvPr id="6" name="code-panel">
            <a:extLst xmlns:a="http://schemas.openxmlformats.org/drawingml/2006/main">
              <a:ext uri="{FF2B5EF4-FFF2-40B4-BE49-F238E27FC236}">
                <a16:creationId xmlns:a16="http://schemas.microsoft.com/office/drawing/2014/main" id="{D00E688E-8C02-4F6D-AF09-BAD6A22AD332}"/>
              </a:ext>
            </a:extLst>
          </p:cNvPr>
          <p:cNvSpPr>
            <a:spLocks xmlns:a="http://schemas.openxmlformats.org/drawingml/2006/main" noGrp="1"/>
          </p:cNvSpPr>
          <p:nvPr/>
        </p:nvSpPr>
        <p:spPr>
          <a:xfrm xmlns:a="http://schemas.openxmlformats.org/drawingml/2006/main">
            <a:off x="609600" y="1809750"/>
            <a:ext cx="6896100" cy="4267200"/>
          </a:xfrm>
          <a:prstGeom xmlns:a="http://schemas.openxmlformats.org/drawingml/2006/main" prst="roundRect">
            <a:avLst>
              <a:gd name="adj" fmla="val 1786"/>
            </a:avLst>
          </a:prstGeom>
          <a:solidFill xmlns:a="http://schemas.openxmlformats.org/drawingml/2006/main">
            <a:srgbClr val="17191C"/>
          </a:solidFill>
          <a:ln xmlns:a="http://schemas.openxmlformats.org/drawingml/2006/main" w="9525">
            <a:solidFill>
              <a:srgbClr val="17191C"/>
            </a:solidFill>
            <a:prstDash val="solid"/>
          </a:ln>
        </p:spPr>
      </p:sp>
      <p:sp>
        <p:nvSpPr>
          <p:cNvPr id="7" name="code">
            <a:extLst xmlns:a="http://schemas.openxmlformats.org/drawingml/2006/main">
              <a:ext uri="{FF2B5EF4-FFF2-40B4-BE49-F238E27FC236}">
                <a16:creationId xmlns:a16="http://schemas.microsoft.com/office/drawing/2014/main" id="{F5777C97-6FC9-4899-ACA6-4651CC274E0E}"/>
              </a:ext>
            </a:extLst>
          </p:cNvPr>
          <p:cNvSpPr>
            <a:spLocks xmlns:a="http://schemas.openxmlformats.org/drawingml/2006/main" noGrp="1"/>
          </p:cNvSpPr>
          <p:nvPr/>
        </p:nvSpPr>
        <p:spPr>
          <a:xfrm xmlns:a="http://schemas.openxmlformats.org/drawingml/2006/main">
            <a:off x="857250" y="2057400"/>
            <a:ext cx="6400800" cy="296722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def material_required(area_m2, allowance=0.10):</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    return area_m2 * (1 + allowance)</a:t>
            </a:r>
          </a:p>
          <a:p xmlns:a="http://schemas.openxmlformats.org/drawingml/2006/main">
            <a:r>
              <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print(material_required(44.2))</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print(material_required(44.2, 0.15))</a:t>
            </a:r>
          </a:p>
        </p:txBody>
      </p:sp>
      <p:sp>
        <p:nvSpPr>
          <p:cNvPr id="8" name="">
            <a:extLst xmlns:a="http://schemas.openxmlformats.org/drawingml/2006/main">
              <a:ext uri="{FF2B5EF4-FFF2-40B4-BE49-F238E27FC236}">
                <a16:creationId xmlns:a16="http://schemas.microsoft.com/office/drawing/2014/main" id="{7D099ADB-009B-4989-93A6-B208520E97DF}"/>
              </a:ext>
            </a:extLst>
          </p:cNvPr>
          <p:cNvSpPr>
            <a:spLocks xmlns:a="http://schemas.openxmlformats.org/drawingml/2006/main" noGrp="1"/>
          </p:cNvSpPr>
          <p:nvPr/>
        </p:nvSpPr>
        <p:spPr>
          <a:xfrm xmlns:a="http://schemas.openxmlformats.org/drawingml/2006/main">
            <a:off x="857250" y="5081778"/>
            <a:ext cx="6400800" cy="0"/>
          </a:xfrm>
          <a:prstGeom xmlns:a="http://schemas.openxmlformats.org/drawingml/2006/main" prst="line">
            <a:avLst/>
          </a:prstGeom>
          <a:noFill xmlns:a="http://schemas.openxmlformats.org/drawingml/2006/main"/>
          <a:ln xmlns:a="http://schemas.openxmlformats.org/drawingml/2006/main" w="9525">
            <a:solidFill>
              <a:srgbClr val="4E5258"/>
            </a:solidFill>
            <a:prstDash val="solid"/>
          </a:ln>
        </p:spPr>
      </p:sp>
      <p:sp>
        <p:nvSpPr>
          <p:cNvPr id="9" name="output-label">
            <a:extLst xmlns:a="http://schemas.openxmlformats.org/drawingml/2006/main">
              <a:ext uri="{FF2B5EF4-FFF2-40B4-BE49-F238E27FC236}">
                <a16:creationId xmlns:a16="http://schemas.microsoft.com/office/drawing/2014/main" id="{4355983A-8D11-4E79-A93B-5CA03EA4E741}"/>
              </a:ext>
            </a:extLst>
          </p:cNvPr>
          <p:cNvSpPr>
            <a:spLocks xmlns:a="http://schemas.openxmlformats.org/drawingml/2006/main" noGrp="1"/>
          </p:cNvSpPr>
          <p:nvPr/>
        </p:nvSpPr>
        <p:spPr>
          <a:xfrm xmlns:a="http://schemas.openxmlformats.org/drawingml/2006/main">
            <a:off x="857250" y="5196078"/>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E8EEF5"/>
                </a:solidFill>
                <a:latin typeface="Arial"/>
                <a:ea typeface="Arial"/>
                <a:cs typeface="Arial"/>
              </a:defRPr>
            </a:pPr>
            <a:r>
              <a:rPr sz="900" b="1">
                <a:solidFill>
                  <a:srgbClr val="E8EEF5"/>
                </a:solidFill>
                <a:latin typeface="Arial"/>
                <a:ea typeface="Arial"/>
                <a:cs typeface="Arial"/>
              </a:rPr>
              <a:t>OUTPUT</a:t>
            </a:r>
          </a:p>
        </p:txBody>
      </p:sp>
      <p:sp>
        <p:nvSpPr>
          <p:cNvPr id="10" name="output">
            <a:extLst xmlns:a="http://schemas.openxmlformats.org/drawingml/2006/main">
              <a:ext uri="{FF2B5EF4-FFF2-40B4-BE49-F238E27FC236}">
                <a16:creationId xmlns:a16="http://schemas.microsoft.com/office/drawing/2014/main" id="{4B55CA5C-894A-4EAA-95E2-4306970C0FCD}"/>
              </a:ext>
            </a:extLst>
          </p:cNvPr>
          <p:cNvSpPr>
            <a:spLocks xmlns:a="http://schemas.openxmlformats.org/drawingml/2006/main" noGrp="1"/>
          </p:cNvSpPr>
          <p:nvPr/>
        </p:nvSpPr>
        <p:spPr>
          <a:xfrm xmlns:a="http://schemas.openxmlformats.org/drawingml/2006/main">
            <a:off x="857250" y="5424678"/>
            <a:ext cx="6400800" cy="40462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48.620000000000005</a:t>
            </a:r>
          </a:p>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50.83</a:t>
            </a:r>
          </a:p>
        </p:txBody>
      </p:sp>
      <p:sp>
        <p:nvSpPr>
          <p:cNvPr id="11" name="explain-head">
            <a:extLst xmlns:a="http://schemas.openxmlformats.org/drawingml/2006/main">
              <a:ext uri="{FF2B5EF4-FFF2-40B4-BE49-F238E27FC236}">
                <a16:creationId xmlns:a16="http://schemas.microsoft.com/office/drawing/2014/main" id="{1A3D2CF3-B2E0-41BD-920D-E739661CD1DC}"/>
              </a:ext>
            </a:extLst>
          </p:cNvPr>
          <p:cNvSpPr>
            <a:spLocks xmlns:a="http://schemas.openxmlformats.org/drawingml/2006/main" noGrp="1"/>
          </p:cNvSpPr>
          <p:nvPr/>
        </p:nvSpPr>
        <p:spPr>
          <a:xfrm xmlns:a="http://schemas.openxmlformats.org/drawingml/2006/main">
            <a:off x="7886700" y="2790825"/>
            <a:ext cx="3695700" cy="3451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Defaults are policies</a:t>
            </a:r>
          </a:p>
        </p:txBody>
      </p:sp>
      <p:sp>
        <p:nvSpPr>
          <p:cNvPr id="12" name="explain-body">
            <a:extLst xmlns:a="http://schemas.openxmlformats.org/drawingml/2006/main">
              <a:ext uri="{FF2B5EF4-FFF2-40B4-BE49-F238E27FC236}">
                <a16:creationId xmlns:a16="http://schemas.microsoft.com/office/drawing/2014/main" id="{38726545-17F3-41A4-B137-708312F17413}"/>
              </a:ext>
            </a:extLst>
          </p:cNvPr>
          <p:cNvSpPr>
            <a:spLocks xmlns:a="http://schemas.openxmlformats.org/drawingml/2006/main" noGrp="1"/>
          </p:cNvSpPr>
          <p:nvPr/>
        </p:nvSpPr>
        <p:spPr>
          <a:xfrm xmlns:a="http://schemas.openxmlformats.org/drawingml/2006/main">
            <a:off x="7886700" y="3288411"/>
            <a:ext cx="369570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A default is used when the caller omits that argument. It should be documented, justified, and easy to override. Formatting may control display, but not model validity.</a:t>
            </a:r>
          </a:p>
        </p:txBody>
      </p:sp>
    </p:spTree>
    <p:extLst>
      <p:ext uri="{BB962C8B-B14F-4D97-AF65-F5344CB8AC3E}">
        <p14:creationId xmlns:p14="http://schemas.microsoft.com/office/powerpoint/2010/main" val="1002280652"/>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kicker">
            <a:extLst xmlns:a="http://schemas.openxmlformats.org/drawingml/2006/main">
              <a:ext uri="{FF2B5EF4-FFF2-40B4-BE49-F238E27FC236}">
                <a16:creationId xmlns:a16="http://schemas.microsoft.com/office/drawing/2014/main" id="{59F9555A-818A-481F-9C8F-39E9BF70B255}"/>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PYTHON SYNTAX</a:t>
            </a:r>
          </a:p>
        </p:txBody>
      </p:sp>
      <p:sp>
        <p:nvSpPr>
          <p:cNvPr id="2" name="title">
            <a:extLst xmlns:a="http://schemas.openxmlformats.org/drawingml/2006/main">
              <a:ext uri="{FF2B5EF4-FFF2-40B4-BE49-F238E27FC236}">
                <a16:creationId xmlns:a16="http://schemas.microsoft.com/office/drawing/2014/main" id="{F2E74595-D7F7-4B8E-9558-D8F8367BAF93}"/>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A function can return more than two answers</a:t>
            </a:r>
          </a:p>
        </p:txBody>
      </p:sp>
      <p:sp>
        <p:nvSpPr>
          <p:cNvPr id="3" name="">
            <a:extLst xmlns:a="http://schemas.openxmlformats.org/drawingml/2006/main">
              <a:ext uri="{FF2B5EF4-FFF2-40B4-BE49-F238E27FC236}">
                <a16:creationId xmlns:a16="http://schemas.microsoft.com/office/drawing/2014/main" id="{62F95846-91B4-42C0-86EB-EFE45DF089FD}"/>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7B5E053B-1AE3-42F9-9BA5-60FF89720B8E}"/>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3 · Meeting A · Decisions and Functions · Full Source Deck</a:t>
            </a:r>
          </a:p>
        </p:txBody>
      </p:sp>
      <p:sp>
        <p:nvSpPr>
          <p:cNvPr id="5" name="page">
            <a:extLst xmlns:a="http://schemas.openxmlformats.org/drawingml/2006/main">
              <a:ext uri="{FF2B5EF4-FFF2-40B4-BE49-F238E27FC236}">
                <a16:creationId xmlns:a16="http://schemas.microsoft.com/office/drawing/2014/main" id="{532B8A81-DD7E-4CC9-BE2F-93783E8B2BCC}"/>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34</a:t>
            </a:r>
          </a:p>
        </p:txBody>
      </p:sp>
      <p:sp>
        <p:nvSpPr>
          <p:cNvPr id="6" name="code-panel">
            <a:extLst xmlns:a="http://schemas.openxmlformats.org/drawingml/2006/main">
              <a:ext uri="{FF2B5EF4-FFF2-40B4-BE49-F238E27FC236}">
                <a16:creationId xmlns:a16="http://schemas.microsoft.com/office/drawing/2014/main" id="{49B9E606-619D-40EE-925B-4EDF6D734F0D}"/>
              </a:ext>
            </a:extLst>
          </p:cNvPr>
          <p:cNvSpPr>
            <a:spLocks xmlns:a="http://schemas.openxmlformats.org/drawingml/2006/main" noGrp="1"/>
          </p:cNvSpPr>
          <p:nvPr/>
        </p:nvSpPr>
        <p:spPr>
          <a:xfrm xmlns:a="http://schemas.openxmlformats.org/drawingml/2006/main">
            <a:off x="609600" y="1809750"/>
            <a:ext cx="6896100" cy="4267200"/>
          </a:xfrm>
          <a:prstGeom xmlns:a="http://schemas.openxmlformats.org/drawingml/2006/main" prst="roundRect">
            <a:avLst>
              <a:gd name="adj" fmla="val 1786"/>
            </a:avLst>
          </a:prstGeom>
          <a:solidFill xmlns:a="http://schemas.openxmlformats.org/drawingml/2006/main">
            <a:srgbClr val="17191C"/>
          </a:solidFill>
          <a:ln xmlns:a="http://schemas.openxmlformats.org/drawingml/2006/main" w="9525">
            <a:solidFill>
              <a:srgbClr val="17191C"/>
            </a:solidFill>
            <a:prstDash val="solid"/>
          </a:ln>
        </p:spPr>
      </p:sp>
      <p:sp>
        <p:nvSpPr>
          <p:cNvPr id="7" name="code">
            <a:extLst xmlns:a="http://schemas.openxmlformats.org/drawingml/2006/main">
              <a:ext uri="{FF2B5EF4-FFF2-40B4-BE49-F238E27FC236}">
                <a16:creationId xmlns:a16="http://schemas.microsoft.com/office/drawing/2014/main" id="{698C8663-064C-42AF-8BBA-1DF51B5097AD}"/>
              </a:ext>
            </a:extLst>
          </p:cNvPr>
          <p:cNvSpPr>
            <a:spLocks xmlns:a="http://schemas.openxmlformats.org/drawingml/2006/main" noGrp="1"/>
          </p:cNvSpPr>
          <p:nvPr/>
        </p:nvSpPr>
        <p:spPr>
          <a:xfrm xmlns:a="http://schemas.openxmlformats.org/drawingml/2006/main">
            <a:off x="857250" y="2057400"/>
            <a:ext cx="6400800" cy="279349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def area_tier(area_m2, minimum_m2=40.0, generous_m2=70.0):</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"""Classify one room area into a three-tier evidence band."""</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if area_m2 &gt;= generous_m2:</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return 'generous area'</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elif area_m2 &gt;= minimum_m2:</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return 'meets area criterion'</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return 'review area'</a:t>
            </a:r>
          </a:p>
          <a:p xmlns:a="http://schemas.openxmlformats.org/drawingml/2006/main">
            <a:r>
              <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print(area_tier(35.0))</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print(area_tier(62.5))</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print(area_tier(78.0))</a:t>
            </a:r>
          </a:p>
        </p:txBody>
      </p:sp>
      <p:sp>
        <p:nvSpPr>
          <p:cNvPr id="8" name="">
            <a:extLst xmlns:a="http://schemas.openxmlformats.org/drawingml/2006/main">
              <a:ext uri="{FF2B5EF4-FFF2-40B4-BE49-F238E27FC236}">
                <a16:creationId xmlns:a16="http://schemas.microsoft.com/office/drawing/2014/main" id="{2CEB673C-A9C5-46D3-AD8F-2568A8F57DAE}"/>
              </a:ext>
            </a:extLst>
          </p:cNvPr>
          <p:cNvSpPr>
            <a:spLocks xmlns:a="http://schemas.openxmlformats.org/drawingml/2006/main" noGrp="1"/>
          </p:cNvSpPr>
          <p:nvPr/>
        </p:nvSpPr>
        <p:spPr>
          <a:xfrm xmlns:a="http://schemas.openxmlformats.org/drawingml/2006/main">
            <a:off x="857250" y="4908042"/>
            <a:ext cx="6400800" cy="0"/>
          </a:xfrm>
          <a:prstGeom xmlns:a="http://schemas.openxmlformats.org/drawingml/2006/main" prst="line">
            <a:avLst/>
          </a:prstGeom>
          <a:noFill xmlns:a="http://schemas.openxmlformats.org/drawingml/2006/main"/>
          <a:ln xmlns:a="http://schemas.openxmlformats.org/drawingml/2006/main" w="9525">
            <a:solidFill>
              <a:srgbClr val="4E5258"/>
            </a:solidFill>
            <a:prstDash val="solid"/>
          </a:ln>
        </p:spPr>
      </p:sp>
      <p:sp>
        <p:nvSpPr>
          <p:cNvPr id="9" name="output-label">
            <a:extLst xmlns:a="http://schemas.openxmlformats.org/drawingml/2006/main">
              <a:ext uri="{FF2B5EF4-FFF2-40B4-BE49-F238E27FC236}">
                <a16:creationId xmlns:a16="http://schemas.microsoft.com/office/drawing/2014/main" id="{FBD43332-0CFF-4203-91A7-94DDD81F47A5}"/>
              </a:ext>
            </a:extLst>
          </p:cNvPr>
          <p:cNvSpPr>
            <a:spLocks xmlns:a="http://schemas.openxmlformats.org/drawingml/2006/main" noGrp="1"/>
          </p:cNvSpPr>
          <p:nvPr/>
        </p:nvSpPr>
        <p:spPr>
          <a:xfrm xmlns:a="http://schemas.openxmlformats.org/drawingml/2006/main">
            <a:off x="857250" y="5022342"/>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E8EEF5"/>
                </a:solidFill>
                <a:latin typeface="Arial"/>
                <a:ea typeface="Arial"/>
                <a:cs typeface="Arial"/>
              </a:defRPr>
            </a:pPr>
            <a:r>
              <a:rPr sz="900" b="1">
                <a:solidFill>
                  <a:srgbClr val="E8EEF5"/>
                </a:solidFill>
                <a:latin typeface="Arial"/>
                <a:ea typeface="Arial"/>
                <a:cs typeface="Arial"/>
              </a:rPr>
              <a:t>OUTPUT</a:t>
            </a:r>
          </a:p>
        </p:txBody>
      </p:sp>
      <p:sp>
        <p:nvSpPr>
          <p:cNvPr id="10" name="output">
            <a:extLst xmlns:a="http://schemas.openxmlformats.org/drawingml/2006/main">
              <a:ext uri="{FF2B5EF4-FFF2-40B4-BE49-F238E27FC236}">
                <a16:creationId xmlns:a16="http://schemas.microsoft.com/office/drawing/2014/main" id="{1893123D-2444-4C66-8C25-5B96A4FDA03E}"/>
              </a:ext>
            </a:extLst>
          </p:cNvPr>
          <p:cNvSpPr>
            <a:spLocks xmlns:a="http://schemas.openxmlformats.org/drawingml/2006/main" noGrp="1"/>
          </p:cNvSpPr>
          <p:nvPr/>
        </p:nvSpPr>
        <p:spPr>
          <a:xfrm xmlns:a="http://schemas.openxmlformats.org/drawingml/2006/main">
            <a:off x="857250" y="5250942"/>
            <a:ext cx="6400800" cy="578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review area</a:t>
            </a:r>
          </a:p>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meets area criterion</a:t>
            </a:r>
          </a:p>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generous area</a:t>
            </a:r>
          </a:p>
        </p:txBody>
      </p:sp>
      <p:sp>
        <p:nvSpPr>
          <p:cNvPr id="11" name="explain-head">
            <a:extLst xmlns:a="http://schemas.openxmlformats.org/drawingml/2006/main">
              <a:ext uri="{FF2B5EF4-FFF2-40B4-BE49-F238E27FC236}">
                <a16:creationId xmlns:a16="http://schemas.microsoft.com/office/drawing/2014/main" id="{9272F3BE-6921-42F2-BDD8-18382E73D95A}"/>
              </a:ext>
            </a:extLst>
          </p:cNvPr>
          <p:cNvSpPr>
            <a:spLocks xmlns:a="http://schemas.openxmlformats.org/drawingml/2006/main" noGrp="1"/>
          </p:cNvSpPr>
          <p:nvPr/>
        </p:nvSpPr>
        <p:spPr>
          <a:xfrm xmlns:a="http://schemas.openxmlformats.org/drawingml/2006/main">
            <a:off x="7886700" y="2609850"/>
            <a:ext cx="3695700" cy="63322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Same rule shape, one more branch</a:t>
            </a:r>
          </a:p>
        </p:txBody>
      </p:sp>
      <p:sp>
        <p:nvSpPr>
          <p:cNvPr id="12" name="explain-body">
            <a:extLst xmlns:a="http://schemas.openxmlformats.org/drawingml/2006/main">
              <a:ext uri="{FF2B5EF4-FFF2-40B4-BE49-F238E27FC236}">
                <a16:creationId xmlns:a16="http://schemas.microsoft.com/office/drawing/2014/main" id="{6166BAFD-E706-4910-BD7E-B2CA917F270E}"/>
              </a:ext>
            </a:extLst>
          </p:cNvPr>
          <p:cNvSpPr>
            <a:spLocks xmlns:a="http://schemas.openxmlformats.org/drawingml/2006/main" noGrp="1"/>
          </p:cNvSpPr>
          <p:nvPr/>
        </p:nvSpPr>
        <p:spPr>
          <a:xfrm xmlns:a="http://schemas.openxmlformats.org/drawingml/2006/main">
            <a:off x="7886700" y="3395472"/>
            <a:ext cx="3695700" cy="14020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elif inside a function works exactly like elif on its own — the function just returns evidence language instead of printing it, so the SAME tested rule can be reused anywhere in the script without retyping the thresholds.</a:t>
            </a:r>
          </a:p>
        </p:txBody>
      </p:sp>
    </p:spTree>
    <p:extLst>
      <p:ext uri="{BB962C8B-B14F-4D97-AF65-F5344CB8AC3E}">
        <p14:creationId xmlns:p14="http://schemas.microsoft.com/office/powerpoint/2010/main" val="1962083822"/>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kicker">
            <a:extLst xmlns:a="http://schemas.openxmlformats.org/drawingml/2006/main">
              <a:ext uri="{FF2B5EF4-FFF2-40B4-BE49-F238E27FC236}">
                <a16:creationId xmlns:a16="http://schemas.microsoft.com/office/drawing/2014/main" id="{A070EC4F-04BB-49B2-9390-B29934B9ADF8}"/>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HARD MODEL · PART 1</a:t>
            </a:r>
          </a:p>
        </p:txBody>
      </p:sp>
      <p:sp>
        <p:nvSpPr>
          <p:cNvPr id="2" name="title">
            <a:extLst xmlns:a="http://schemas.openxmlformats.org/drawingml/2006/main">
              <a:ext uri="{FF2B5EF4-FFF2-40B4-BE49-F238E27FC236}">
                <a16:creationId xmlns:a16="http://schemas.microsoft.com/office/drawing/2014/main" id="{AA8D81BA-C4B6-466F-A894-0AF03DFE9963}"/>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Apply one tested function to the full room schedule</a:t>
            </a:r>
          </a:p>
        </p:txBody>
      </p:sp>
      <p:sp>
        <p:nvSpPr>
          <p:cNvPr id="3" name="">
            <a:extLst xmlns:a="http://schemas.openxmlformats.org/drawingml/2006/main">
              <a:ext uri="{FF2B5EF4-FFF2-40B4-BE49-F238E27FC236}">
                <a16:creationId xmlns:a16="http://schemas.microsoft.com/office/drawing/2014/main" id="{4192A3C8-A678-40F5-B577-77D56D3D1F52}"/>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E08C6689-D3D7-4D5D-BBAD-C6749594D369}"/>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3 · Meeting A · Decisions and Functions · Full Source Deck</a:t>
            </a:r>
          </a:p>
        </p:txBody>
      </p:sp>
      <p:sp>
        <p:nvSpPr>
          <p:cNvPr id="5" name="page">
            <a:extLst xmlns:a="http://schemas.openxmlformats.org/drawingml/2006/main">
              <a:ext uri="{FF2B5EF4-FFF2-40B4-BE49-F238E27FC236}">
                <a16:creationId xmlns:a16="http://schemas.microsoft.com/office/drawing/2014/main" id="{32D3F15A-4EB6-4611-850E-60DA19AC9AB8}"/>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35</a:t>
            </a:r>
          </a:p>
        </p:txBody>
      </p:sp>
      <p:sp>
        <p:nvSpPr>
          <p:cNvPr id="6" name="code-panel">
            <a:extLst xmlns:a="http://schemas.openxmlformats.org/drawingml/2006/main">
              <a:ext uri="{FF2B5EF4-FFF2-40B4-BE49-F238E27FC236}">
                <a16:creationId xmlns:a16="http://schemas.microsoft.com/office/drawing/2014/main" id="{46E31729-279F-43A7-8BC7-8173D412DB9A}"/>
              </a:ext>
            </a:extLst>
          </p:cNvPr>
          <p:cNvSpPr>
            <a:spLocks xmlns:a="http://schemas.openxmlformats.org/drawingml/2006/main" noGrp="1"/>
          </p:cNvSpPr>
          <p:nvPr/>
        </p:nvSpPr>
        <p:spPr>
          <a:xfrm xmlns:a="http://schemas.openxmlformats.org/drawingml/2006/main">
            <a:off x="609600" y="1809750"/>
            <a:ext cx="6896100" cy="4267200"/>
          </a:xfrm>
          <a:prstGeom xmlns:a="http://schemas.openxmlformats.org/drawingml/2006/main" prst="roundRect">
            <a:avLst>
              <a:gd name="adj" fmla="val 1786"/>
            </a:avLst>
          </a:prstGeom>
          <a:solidFill xmlns:a="http://schemas.openxmlformats.org/drawingml/2006/main">
            <a:srgbClr val="17191C"/>
          </a:solidFill>
          <a:ln xmlns:a="http://schemas.openxmlformats.org/drawingml/2006/main" w="9525">
            <a:solidFill>
              <a:srgbClr val="17191C"/>
            </a:solidFill>
            <a:prstDash val="solid"/>
          </a:ln>
        </p:spPr>
      </p:sp>
      <p:sp>
        <p:nvSpPr>
          <p:cNvPr id="7" name="code">
            <a:extLst xmlns:a="http://schemas.openxmlformats.org/drawingml/2006/main">
              <a:ext uri="{FF2B5EF4-FFF2-40B4-BE49-F238E27FC236}">
                <a16:creationId xmlns:a16="http://schemas.microsoft.com/office/drawing/2014/main" id="{70791C71-EEB2-42C0-A541-9D6CE956462D}"/>
              </a:ext>
            </a:extLst>
          </p:cNvPr>
          <p:cNvSpPr>
            <a:spLocks xmlns:a="http://schemas.openxmlformats.org/drawingml/2006/main" noGrp="1"/>
          </p:cNvSpPr>
          <p:nvPr/>
        </p:nvSpPr>
        <p:spPr>
          <a:xfrm xmlns:a="http://schemas.openxmlformats.org/drawingml/2006/main">
            <a:off x="857250" y="2057400"/>
            <a:ext cx="6400800" cy="19248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room_areas_m2 = [35.0, 62.5, 44.2, 78.0,</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28.5, 55.0, 40.0, 18.0]</a:t>
            </a:r>
          </a:p>
          <a:p xmlns:a="http://schemas.openxmlformats.org/drawingml/2006/main">
            <a:r>
              <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for area_m2 in room_areas_m2:</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print(area_m2, area_tier(area_m2))</a:t>
            </a:r>
          </a:p>
        </p:txBody>
      </p:sp>
      <p:sp>
        <p:nvSpPr>
          <p:cNvPr id="8" name="">
            <a:extLst xmlns:a="http://schemas.openxmlformats.org/drawingml/2006/main">
              <a:ext uri="{FF2B5EF4-FFF2-40B4-BE49-F238E27FC236}">
                <a16:creationId xmlns:a16="http://schemas.microsoft.com/office/drawing/2014/main" id="{21990F5A-284F-40D5-B5AC-FEBD97E32EEB}"/>
              </a:ext>
            </a:extLst>
          </p:cNvPr>
          <p:cNvSpPr>
            <a:spLocks xmlns:a="http://schemas.openxmlformats.org/drawingml/2006/main" noGrp="1"/>
          </p:cNvSpPr>
          <p:nvPr/>
        </p:nvSpPr>
        <p:spPr>
          <a:xfrm xmlns:a="http://schemas.openxmlformats.org/drawingml/2006/main">
            <a:off x="857250" y="4039362"/>
            <a:ext cx="6400800" cy="0"/>
          </a:xfrm>
          <a:prstGeom xmlns:a="http://schemas.openxmlformats.org/drawingml/2006/main" prst="line">
            <a:avLst/>
          </a:prstGeom>
          <a:noFill xmlns:a="http://schemas.openxmlformats.org/drawingml/2006/main"/>
          <a:ln xmlns:a="http://schemas.openxmlformats.org/drawingml/2006/main" w="9525">
            <a:solidFill>
              <a:srgbClr val="4E5258"/>
            </a:solidFill>
            <a:prstDash val="solid"/>
          </a:ln>
        </p:spPr>
      </p:sp>
      <p:sp>
        <p:nvSpPr>
          <p:cNvPr id="9" name="output-label">
            <a:extLst xmlns:a="http://schemas.openxmlformats.org/drawingml/2006/main">
              <a:ext uri="{FF2B5EF4-FFF2-40B4-BE49-F238E27FC236}">
                <a16:creationId xmlns:a16="http://schemas.microsoft.com/office/drawing/2014/main" id="{06149A05-613B-4D38-B75C-0873E2D00FF4}"/>
              </a:ext>
            </a:extLst>
          </p:cNvPr>
          <p:cNvSpPr>
            <a:spLocks xmlns:a="http://schemas.openxmlformats.org/drawingml/2006/main" noGrp="1"/>
          </p:cNvSpPr>
          <p:nvPr/>
        </p:nvSpPr>
        <p:spPr>
          <a:xfrm xmlns:a="http://schemas.openxmlformats.org/drawingml/2006/main">
            <a:off x="857250" y="4153662"/>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E8EEF5"/>
                </a:solidFill>
                <a:latin typeface="Arial"/>
                <a:ea typeface="Arial"/>
                <a:cs typeface="Arial"/>
              </a:defRPr>
            </a:pPr>
            <a:r>
              <a:rPr sz="900" b="1">
                <a:solidFill>
                  <a:srgbClr val="E8EEF5"/>
                </a:solidFill>
                <a:latin typeface="Arial"/>
                <a:ea typeface="Arial"/>
                <a:cs typeface="Arial"/>
              </a:rPr>
              <a:t>OUTPUT</a:t>
            </a:r>
          </a:p>
        </p:txBody>
      </p:sp>
      <p:sp>
        <p:nvSpPr>
          <p:cNvPr id="10" name="output">
            <a:extLst xmlns:a="http://schemas.openxmlformats.org/drawingml/2006/main">
              <a:ext uri="{FF2B5EF4-FFF2-40B4-BE49-F238E27FC236}">
                <a16:creationId xmlns:a16="http://schemas.microsoft.com/office/drawing/2014/main" id="{C065357A-C7A7-4864-B45E-EA71B4BEE101}"/>
              </a:ext>
            </a:extLst>
          </p:cNvPr>
          <p:cNvSpPr>
            <a:spLocks xmlns:a="http://schemas.openxmlformats.org/drawingml/2006/main" noGrp="1"/>
          </p:cNvSpPr>
          <p:nvPr/>
        </p:nvSpPr>
        <p:spPr>
          <a:xfrm xmlns:a="http://schemas.openxmlformats.org/drawingml/2006/main">
            <a:off x="857250" y="4382262"/>
            <a:ext cx="6400800" cy="14470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35.0 review area</a:t>
            </a:r>
          </a:p>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62.5 meets area criterion</a:t>
            </a:r>
          </a:p>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44.2 meets area criterion</a:t>
            </a:r>
          </a:p>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78.0 generous area</a:t>
            </a:r>
          </a:p>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28.5 review area</a:t>
            </a:r>
          </a:p>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55.0 meets area criterion</a:t>
            </a:r>
          </a:p>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40.0 meets area criterion</a:t>
            </a:r>
          </a:p>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18.0 review area</a:t>
            </a:r>
          </a:p>
        </p:txBody>
      </p:sp>
      <p:sp>
        <p:nvSpPr>
          <p:cNvPr id="11" name="explain-head">
            <a:extLst xmlns:a="http://schemas.openxmlformats.org/drawingml/2006/main">
              <a:ext uri="{FF2B5EF4-FFF2-40B4-BE49-F238E27FC236}">
                <a16:creationId xmlns:a16="http://schemas.microsoft.com/office/drawing/2014/main" id="{48CEF8F5-141D-464D-8586-4B20A0C2F32C}"/>
              </a:ext>
            </a:extLst>
          </p:cNvPr>
          <p:cNvSpPr>
            <a:spLocks xmlns:a="http://schemas.openxmlformats.org/drawingml/2006/main" noGrp="1"/>
          </p:cNvSpPr>
          <p:nvPr/>
        </p:nvSpPr>
        <p:spPr>
          <a:xfrm xmlns:a="http://schemas.openxmlformats.org/drawingml/2006/main">
            <a:off x="7886700" y="2762250"/>
            <a:ext cx="3695700" cy="63322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The function owns the policy</a:t>
            </a:r>
          </a:p>
        </p:txBody>
      </p:sp>
      <p:sp>
        <p:nvSpPr>
          <p:cNvPr id="12" name="explain-body">
            <a:extLst xmlns:a="http://schemas.openxmlformats.org/drawingml/2006/main">
              <a:ext uri="{FF2B5EF4-FFF2-40B4-BE49-F238E27FC236}">
                <a16:creationId xmlns:a16="http://schemas.microsoft.com/office/drawing/2014/main" id="{F9309AF7-0797-425A-827F-9D88B6B5FCED}"/>
              </a:ext>
            </a:extLst>
          </p:cNvPr>
          <p:cNvSpPr>
            <a:spLocks xmlns:a="http://schemas.openxmlformats.org/drawingml/2006/main" noGrp="1"/>
          </p:cNvSpPr>
          <p:nvPr/>
        </p:nvSpPr>
        <p:spPr>
          <a:xfrm xmlns:a="http://schemas.openxmlformats.org/drawingml/2006/main">
            <a:off x="7886700" y="3547872"/>
            <a:ext cx="3695700" cy="9601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The loop supplies every record to the same tested function. Office at exactly 40.0 reaches 'meets area criterion' because the function includes equality.</a:t>
            </a:r>
          </a:p>
        </p:txBody>
      </p:sp>
    </p:spTree>
    <p:extLst>
      <p:ext uri="{BB962C8B-B14F-4D97-AF65-F5344CB8AC3E}">
        <p14:creationId xmlns:p14="http://schemas.microsoft.com/office/powerpoint/2010/main" val="2105146723"/>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kicker">
            <a:extLst xmlns:a="http://schemas.openxmlformats.org/drawingml/2006/main">
              <a:ext uri="{FF2B5EF4-FFF2-40B4-BE49-F238E27FC236}">
                <a16:creationId xmlns:a16="http://schemas.microsoft.com/office/drawing/2014/main" id="{83A97A93-60A2-4737-B55F-958B7EAC3065}"/>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HARD MODEL · PART 2</a:t>
            </a:r>
          </a:p>
        </p:txBody>
      </p:sp>
      <p:sp>
        <p:nvSpPr>
          <p:cNvPr id="2" name="title">
            <a:extLst xmlns:a="http://schemas.openxmlformats.org/drawingml/2006/main">
              <a:ext uri="{FF2B5EF4-FFF2-40B4-BE49-F238E27FC236}">
                <a16:creationId xmlns:a16="http://schemas.microsoft.com/office/drawing/2014/main" id="{2B5DA31A-F634-4844-BE31-AC1CB9E91DB6}"/>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Count the schedule and verify that every room was classified</a:t>
            </a:r>
          </a:p>
        </p:txBody>
      </p:sp>
      <p:sp>
        <p:nvSpPr>
          <p:cNvPr id="3" name="">
            <a:extLst xmlns:a="http://schemas.openxmlformats.org/drawingml/2006/main">
              <a:ext uri="{FF2B5EF4-FFF2-40B4-BE49-F238E27FC236}">
                <a16:creationId xmlns:a16="http://schemas.microsoft.com/office/drawing/2014/main" id="{7F034388-E88F-4790-99D4-21A9A8A5CB8D}"/>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E386436B-A58C-4A40-B816-95941B711A0B}"/>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3 · Meeting A · Decisions and Functions · Full Source Deck</a:t>
            </a:r>
          </a:p>
        </p:txBody>
      </p:sp>
      <p:sp>
        <p:nvSpPr>
          <p:cNvPr id="5" name="page">
            <a:extLst xmlns:a="http://schemas.openxmlformats.org/drawingml/2006/main">
              <a:ext uri="{FF2B5EF4-FFF2-40B4-BE49-F238E27FC236}">
                <a16:creationId xmlns:a16="http://schemas.microsoft.com/office/drawing/2014/main" id="{B89960FD-2F60-43BF-918A-91C49A4EA6A9}"/>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36</a:t>
            </a:r>
          </a:p>
        </p:txBody>
      </p:sp>
      <p:sp>
        <p:nvSpPr>
          <p:cNvPr id="6" name="code-panel">
            <a:extLst xmlns:a="http://schemas.openxmlformats.org/drawingml/2006/main">
              <a:ext uri="{FF2B5EF4-FFF2-40B4-BE49-F238E27FC236}">
                <a16:creationId xmlns:a16="http://schemas.microsoft.com/office/drawing/2014/main" id="{F1FB99D8-3F9D-47D3-A21D-723E92538855}"/>
              </a:ext>
            </a:extLst>
          </p:cNvPr>
          <p:cNvSpPr>
            <a:spLocks xmlns:a="http://schemas.openxmlformats.org/drawingml/2006/main" noGrp="1"/>
          </p:cNvSpPr>
          <p:nvPr/>
        </p:nvSpPr>
        <p:spPr>
          <a:xfrm xmlns:a="http://schemas.openxmlformats.org/drawingml/2006/main">
            <a:off x="609600" y="1809750"/>
            <a:ext cx="6896100" cy="4267200"/>
          </a:xfrm>
          <a:prstGeom xmlns:a="http://schemas.openxmlformats.org/drawingml/2006/main" prst="roundRect">
            <a:avLst>
              <a:gd name="adj" fmla="val 1786"/>
            </a:avLst>
          </a:prstGeom>
          <a:solidFill xmlns:a="http://schemas.openxmlformats.org/drawingml/2006/main">
            <a:srgbClr val="17191C"/>
          </a:solidFill>
          <a:ln xmlns:a="http://schemas.openxmlformats.org/drawingml/2006/main" w="9525">
            <a:solidFill>
              <a:srgbClr val="17191C"/>
            </a:solidFill>
            <a:prstDash val="solid"/>
          </a:ln>
        </p:spPr>
      </p:sp>
      <p:sp>
        <p:nvSpPr>
          <p:cNvPr id="7" name="code">
            <a:extLst xmlns:a="http://schemas.openxmlformats.org/drawingml/2006/main">
              <a:ext uri="{FF2B5EF4-FFF2-40B4-BE49-F238E27FC236}">
                <a16:creationId xmlns:a16="http://schemas.microsoft.com/office/drawing/2014/main" id="{92862642-AB51-4875-9764-770D539665D1}"/>
              </a:ext>
            </a:extLst>
          </p:cNvPr>
          <p:cNvSpPr>
            <a:spLocks xmlns:a="http://schemas.openxmlformats.org/drawingml/2006/main" noGrp="1"/>
          </p:cNvSpPr>
          <p:nvPr/>
        </p:nvSpPr>
        <p:spPr>
          <a:xfrm xmlns:a="http://schemas.openxmlformats.org/drawingml/2006/main">
            <a:off x="857250" y="2057400"/>
            <a:ext cx="6400800" cy="3771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200" b="0">
                <a:solidFill>
                  <a:srgbClr val="FFFFFF"/>
                </a:solidFill>
                <a:latin typeface="Consolas"/>
                <a:ea typeface="Consolas"/>
                <a:cs typeface="Consolas"/>
              </a:defRPr>
            </a:pPr>
            <a:r>
              <a:rPr sz="1200" b="0">
                <a:solidFill>
                  <a:srgbClr val="FFFFFF"/>
                </a:solidFill>
                <a:latin typeface="Consolas"/>
                <a:ea typeface="Consolas"/>
                <a:cs typeface="Consolas"/>
              </a:rPr>
              <a:t>review_count = 0</a:t>
            </a:r>
          </a:p>
          <a:p xmlns:a="http://schemas.openxmlformats.org/drawingml/2006/main">
            <a:pPr algn="l">
              <a:lnSpc>
                <a:spcPct val="114000"/>
              </a:lnSpc>
              <a:buNone/>
              <a:defRPr sz="1200" b="0">
                <a:solidFill>
                  <a:srgbClr val="FFFFFF"/>
                </a:solidFill>
                <a:latin typeface="Consolas"/>
                <a:ea typeface="Consolas"/>
                <a:cs typeface="Consolas"/>
              </a:defRPr>
            </a:pPr>
            <a:r>
              <a:rPr sz="1200" b="0">
                <a:solidFill>
                  <a:srgbClr val="FFFFFF"/>
                </a:solidFill>
                <a:latin typeface="Consolas"/>
                <a:ea typeface="Consolas"/>
                <a:cs typeface="Consolas"/>
              </a:rPr>
              <a:t>meets_count = 0</a:t>
            </a:r>
          </a:p>
          <a:p xmlns:a="http://schemas.openxmlformats.org/drawingml/2006/main">
            <a:pPr algn="l">
              <a:lnSpc>
                <a:spcPct val="114000"/>
              </a:lnSpc>
              <a:buNone/>
              <a:defRPr sz="1200" b="0">
                <a:solidFill>
                  <a:srgbClr val="FFFFFF"/>
                </a:solidFill>
                <a:latin typeface="Consolas"/>
                <a:ea typeface="Consolas"/>
                <a:cs typeface="Consolas"/>
              </a:defRPr>
            </a:pPr>
            <a:r>
              <a:rPr sz="1200" b="0">
                <a:solidFill>
                  <a:srgbClr val="FFFFFF"/>
                </a:solidFill>
                <a:latin typeface="Consolas"/>
                <a:ea typeface="Consolas"/>
                <a:cs typeface="Consolas"/>
              </a:rPr>
              <a:t>generous_count = 0</a:t>
            </a:r>
          </a:p>
          <a:p xmlns:a="http://schemas.openxmlformats.org/drawingml/2006/main">
            <a:r>
              <a:t/>
            </a:r>
          </a:p>
          <a:p xmlns:a="http://schemas.openxmlformats.org/drawingml/2006/main">
            <a:pPr algn="l">
              <a:lnSpc>
                <a:spcPct val="114000"/>
              </a:lnSpc>
              <a:buNone/>
              <a:defRPr sz="1200" b="0">
                <a:solidFill>
                  <a:srgbClr val="FFFFFF"/>
                </a:solidFill>
                <a:latin typeface="Consolas"/>
                <a:ea typeface="Consolas"/>
                <a:cs typeface="Consolas"/>
              </a:defRPr>
            </a:pPr>
            <a:r>
              <a:rPr sz="1200" b="0">
                <a:solidFill>
                  <a:srgbClr val="FFFFFF"/>
                </a:solidFill>
                <a:latin typeface="Consolas"/>
                <a:ea typeface="Consolas"/>
                <a:cs typeface="Consolas"/>
              </a:rPr>
              <a:t>for area_m2 in room_areas_m2:</a:t>
            </a:r>
          </a:p>
          <a:p xmlns:a="http://schemas.openxmlformats.org/drawingml/2006/main">
            <a:pPr algn="l">
              <a:lnSpc>
                <a:spcPct val="114000"/>
              </a:lnSpc>
              <a:buNone/>
              <a:defRPr sz="1200" b="0">
                <a:solidFill>
                  <a:srgbClr val="FFFFFF"/>
                </a:solidFill>
                <a:latin typeface="Consolas"/>
                <a:ea typeface="Consolas"/>
                <a:cs typeface="Consolas"/>
              </a:defRPr>
            </a:pPr>
            <a:r>
              <a:rPr sz="1200" b="0">
                <a:solidFill>
                  <a:srgbClr val="FFFFFF"/>
                </a:solidFill>
                <a:latin typeface="Consolas"/>
                <a:ea typeface="Consolas"/>
                <a:cs typeface="Consolas"/>
              </a:rPr>
              <a:t>    tier = area_tier(area_m2)</a:t>
            </a:r>
          </a:p>
          <a:p xmlns:a="http://schemas.openxmlformats.org/drawingml/2006/main">
            <a:pPr algn="l">
              <a:lnSpc>
                <a:spcPct val="114000"/>
              </a:lnSpc>
              <a:buNone/>
              <a:defRPr sz="1200" b="0">
                <a:solidFill>
                  <a:srgbClr val="FFFFFF"/>
                </a:solidFill>
                <a:latin typeface="Consolas"/>
                <a:ea typeface="Consolas"/>
                <a:cs typeface="Consolas"/>
              </a:defRPr>
            </a:pPr>
            <a:r>
              <a:rPr sz="1200" b="0">
                <a:solidFill>
                  <a:srgbClr val="FFFFFF"/>
                </a:solidFill>
                <a:latin typeface="Consolas"/>
                <a:ea typeface="Consolas"/>
                <a:cs typeface="Consolas"/>
              </a:rPr>
              <a:t>    if tier == 'review area':</a:t>
            </a:r>
          </a:p>
          <a:p xmlns:a="http://schemas.openxmlformats.org/drawingml/2006/main">
            <a:pPr algn="l">
              <a:lnSpc>
                <a:spcPct val="114000"/>
              </a:lnSpc>
              <a:buNone/>
              <a:defRPr sz="1200" b="0">
                <a:solidFill>
                  <a:srgbClr val="FFFFFF"/>
                </a:solidFill>
                <a:latin typeface="Consolas"/>
                <a:ea typeface="Consolas"/>
                <a:cs typeface="Consolas"/>
              </a:defRPr>
            </a:pPr>
            <a:r>
              <a:rPr sz="1200" b="0">
                <a:solidFill>
                  <a:srgbClr val="FFFFFF"/>
                </a:solidFill>
                <a:latin typeface="Consolas"/>
                <a:ea typeface="Consolas"/>
                <a:cs typeface="Consolas"/>
              </a:rPr>
              <a:t>        review_count += 1</a:t>
            </a:r>
          </a:p>
          <a:p xmlns:a="http://schemas.openxmlformats.org/drawingml/2006/main">
            <a:pPr algn="l">
              <a:lnSpc>
                <a:spcPct val="114000"/>
              </a:lnSpc>
              <a:buNone/>
              <a:defRPr sz="1200" b="0">
                <a:solidFill>
                  <a:srgbClr val="FFFFFF"/>
                </a:solidFill>
                <a:latin typeface="Consolas"/>
                <a:ea typeface="Consolas"/>
                <a:cs typeface="Consolas"/>
              </a:defRPr>
            </a:pPr>
            <a:r>
              <a:rPr sz="1200" b="0">
                <a:solidFill>
                  <a:srgbClr val="FFFFFF"/>
                </a:solidFill>
                <a:latin typeface="Consolas"/>
                <a:ea typeface="Consolas"/>
                <a:cs typeface="Consolas"/>
              </a:rPr>
              <a:t>    elif tier == 'meets area criterion':</a:t>
            </a:r>
          </a:p>
          <a:p xmlns:a="http://schemas.openxmlformats.org/drawingml/2006/main">
            <a:pPr algn="l">
              <a:lnSpc>
                <a:spcPct val="114000"/>
              </a:lnSpc>
              <a:buNone/>
              <a:defRPr sz="1200" b="0">
                <a:solidFill>
                  <a:srgbClr val="FFFFFF"/>
                </a:solidFill>
                <a:latin typeface="Consolas"/>
                <a:ea typeface="Consolas"/>
                <a:cs typeface="Consolas"/>
              </a:defRPr>
            </a:pPr>
            <a:r>
              <a:rPr sz="1200" b="0">
                <a:solidFill>
                  <a:srgbClr val="FFFFFF"/>
                </a:solidFill>
                <a:latin typeface="Consolas"/>
                <a:ea typeface="Consolas"/>
                <a:cs typeface="Consolas"/>
              </a:rPr>
              <a:t>        meets_count += 1</a:t>
            </a:r>
          </a:p>
          <a:p xmlns:a="http://schemas.openxmlformats.org/drawingml/2006/main">
            <a:pPr algn="l">
              <a:lnSpc>
                <a:spcPct val="114000"/>
              </a:lnSpc>
              <a:buNone/>
              <a:defRPr sz="1200" b="0">
                <a:solidFill>
                  <a:srgbClr val="FFFFFF"/>
                </a:solidFill>
                <a:latin typeface="Consolas"/>
                <a:ea typeface="Consolas"/>
                <a:cs typeface="Consolas"/>
              </a:defRPr>
            </a:pPr>
            <a:r>
              <a:rPr sz="1200" b="0">
                <a:solidFill>
                  <a:srgbClr val="FFFFFF"/>
                </a:solidFill>
                <a:latin typeface="Consolas"/>
                <a:ea typeface="Consolas"/>
                <a:cs typeface="Consolas"/>
              </a:rPr>
              <a:t>    else:</a:t>
            </a:r>
          </a:p>
          <a:p xmlns:a="http://schemas.openxmlformats.org/drawingml/2006/main">
            <a:pPr algn="l">
              <a:lnSpc>
                <a:spcPct val="114000"/>
              </a:lnSpc>
              <a:buNone/>
              <a:defRPr sz="1200" b="0">
                <a:solidFill>
                  <a:srgbClr val="FFFFFF"/>
                </a:solidFill>
                <a:latin typeface="Consolas"/>
                <a:ea typeface="Consolas"/>
                <a:cs typeface="Consolas"/>
              </a:defRPr>
            </a:pPr>
            <a:r>
              <a:rPr sz="1200" b="0">
                <a:solidFill>
                  <a:srgbClr val="FFFFFF"/>
                </a:solidFill>
                <a:latin typeface="Consolas"/>
                <a:ea typeface="Consolas"/>
                <a:cs typeface="Consolas"/>
              </a:rPr>
              <a:t>        generous_count += 1</a:t>
            </a:r>
          </a:p>
          <a:p xmlns:a="http://schemas.openxmlformats.org/drawingml/2006/main">
            <a:r>
              <a:t/>
            </a:r>
          </a:p>
          <a:p xmlns:a="http://schemas.openxmlformats.org/drawingml/2006/main">
            <a:pPr algn="l">
              <a:lnSpc>
                <a:spcPct val="114000"/>
              </a:lnSpc>
              <a:buNone/>
              <a:defRPr sz="1200" b="0">
                <a:solidFill>
                  <a:srgbClr val="FFFFFF"/>
                </a:solidFill>
                <a:latin typeface="Consolas"/>
                <a:ea typeface="Consolas"/>
                <a:cs typeface="Consolas"/>
              </a:defRPr>
            </a:pPr>
            <a:r>
              <a:rPr sz="1200" b="0">
                <a:solidFill>
                  <a:srgbClr val="FFFFFF"/>
                </a:solidFill>
                <a:latin typeface="Consolas"/>
                <a:ea typeface="Consolas"/>
                <a:cs typeface="Consolas"/>
              </a:rPr>
              <a:t>print(review_count, meets_count, generous_count)</a:t>
            </a:r>
          </a:p>
          <a:p xmlns:a="http://schemas.openxmlformats.org/drawingml/2006/main">
            <a:pPr algn="l">
              <a:lnSpc>
                <a:spcPct val="114000"/>
              </a:lnSpc>
              <a:buNone/>
              <a:defRPr sz="1200" b="0">
                <a:solidFill>
                  <a:srgbClr val="FFFFFF"/>
                </a:solidFill>
                <a:latin typeface="Consolas"/>
                <a:ea typeface="Consolas"/>
                <a:cs typeface="Consolas"/>
              </a:defRPr>
            </a:pPr>
            <a:r>
              <a:rPr sz="1200" b="0">
                <a:solidFill>
                  <a:srgbClr val="FFFFFF"/>
                </a:solidFill>
                <a:latin typeface="Consolas"/>
                <a:ea typeface="Consolas"/>
                <a:cs typeface="Consolas"/>
              </a:rPr>
              <a:t>assert review_count + meets_count + generous_count == len(room_areas_m2)</a:t>
            </a:r>
          </a:p>
        </p:txBody>
      </p:sp>
      <p:sp>
        <p:nvSpPr>
          <p:cNvPr id="8" name="explain-head">
            <a:extLst xmlns:a="http://schemas.openxmlformats.org/drawingml/2006/main">
              <a:ext uri="{FF2B5EF4-FFF2-40B4-BE49-F238E27FC236}">
                <a16:creationId xmlns:a16="http://schemas.microsoft.com/office/drawing/2014/main" id="{75D70484-FC50-4594-93E4-D2F08117D000}"/>
              </a:ext>
            </a:extLst>
          </p:cNvPr>
          <p:cNvSpPr>
            <a:spLocks xmlns:a="http://schemas.openxmlformats.org/drawingml/2006/main" noGrp="1"/>
          </p:cNvSpPr>
          <p:nvPr/>
        </p:nvSpPr>
        <p:spPr>
          <a:xfrm xmlns:a="http://schemas.openxmlformats.org/drawingml/2006/main">
            <a:off x="7886700" y="2686050"/>
            <a:ext cx="3695700" cy="63322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Three accumulators, one check</a:t>
            </a:r>
          </a:p>
        </p:txBody>
      </p:sp>
      <p:sp>
        <p:nvSpPr>
          <p:cNvPr id="9" name="explain-body">
            <a:extLst xmlns:a="http://schemas.openxmlformats.org/drawingml/2006/main">
              <a:ext uri="{FF2B5EF4-FFF2-40B4-BE49-F238E27FC236}">
                <a16:creationId xmlns:a16="http://schemas.microsoft.com/office/drawing/2014/main" id="{E5979BD2-33D3-4995-B8D9-5C241AA08296}"/>
              </a:ext>
            </a:extLst>
          </p:cNvPr>
          <p:cNvSpPr>
            <a:spLocks xmlns:a="http://schemas.openxmlformats.org/drawingml/2006/main" noGrp="1"/>
          </p:cNvSpPr>
          <p:nvPr/>
        </p:nvSpPr>
        <p:spPr>
          <a:xfrm xmlns:a="http://schemas.openxmlformats.org/drawingml/2006/main">
            <a:off x="7886700" y="3471672"/>
            <a:ext cx="369570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Expected counts are 3 review, 4 meets, and 1 generous. The assertion proves that all eight records landed in exactly one tier; it does not prove the policy is sufficient for design approval.</a:t>
            </a:r>
          </a:p>
        </p:txBody>
      </p:sp>
    </p:spTree>
    <p:extLst>
      <p:ext uri="{BB962C8B-B14F-4D97-AF65-F5344CB8AC3E}">
        <p14:creationId xmlns:p14="http://schemas.microsoft.com/office/powerpoint/2010/main" val="1331888781"/>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kicker">
            <a:extLst xmlns:a="http://schemas.openxmlformats.org/drawingml/2006/main">
              <a:ext uri="{FF2B5EF4-FFF2-40B4-BE49-F238E27FC236}">
                <a16:creationId xmlns:a16="http://schemas.microsoft.com/office/drawing/2014/main" id="{031F3A3C-2A49-4CB5-B038-74DD560A5B03}"/>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HARD TRANSFER</a:t>
            </a:r>
          </a:p>
        </p:txBody>
      </p:sp>
      <p:sp>
        <p:nvSpPr>
          <p:cNvPr id="2" name="title">
            <a:extLst xmlns:a="http://schemas.openxmlformats.org/drawingml/2006/main">
              <a:ext uri="{FF2B5EF4-FFF2-40B4-BE49-F238E27FC236}">
                <a16:creationId xmlns:a16="http://schemas.microsoft.com/office/drawing/2014/main" id="{5FBDB2D2-45C6-4A15-9D69-9CE333B1D42C}"/>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Translate one room criterion into tested logic</a:t>
            </a:r>
          </a:p>
        </p:txBody>
      </p:sp>
      <p:sp>
        <p:nvSpPr>
          <p:cNvPr id="3" name="">
            <a:extLst xmlns:a="http://schemas.openxmlformats.org/drawingml/2006/main">
              <a:ext uri="{FF2B5EF4-FFF2-40B4-BE49-F238E27FC236}">
                <a16:creationId xmlns:a16="http://schemas.microsoft.com/office/drawing/2014/main" id="{40E13564-0FFB-4906-B18A-039CA5B90D0D}"/>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50DA78EE-F648-4FF4-8B9F-B7DB92919B1B}"/>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3 · Meeting A · Decisions and Functions · Full Source Deck</a:t>
            </a:r>
          </a:p>
        </p:txBody>
      </p:sp>
      <p:sp>
        <p:nvSpPr>
          <p:cNvPr id="5" name="page">
            <a:extLst xmlns:a="http://schemas.openxmlformats.org/drawingml/2006/main">
              <a:ext uri="{FF2B5EF4-FFF2-40B4-BE49-F238E27FC236}">
                <a16:creationId xmlns:a16="http://schemas.microsoft.com/office/drawing/2014/main" id="{2A67F7CC-4F93-4A23-98F0-C9F2F2BE08BD}"/>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37</a:t>
            </a:r>
          </a:p>
        </p:txBody>
      </p:sp>
      <p:sp>
        <p:nvSpPr>
          <p:cNvPr id="6" name="exercise-accent">
            <a:extLst xmlns:a="http://schemas.openxmlformats.org/drawingml/2006/main">
              <a:ext uri="{FF2B5EF4-FFF2-40B4-BE49-F238E27FC236}">
                <a16:creationId xmlns:a16="http://schemas.microsoft.com/office/drawing/2014/main" id="{F966787C-7BA8-4E30-B252-640AC3B36342}"/>
              </a:ext>
            </a:extLst>
          </p:cNvPr>
          <p:cNvSpPr>
            <a:spLocks xmlns:a="http://schemas.openxmlformats.org/drawingml/2006/main" noGrp="1"/>
          </p:cNvSpPr>
          <p:nvPr/>
        </p:nvSpPr>
        <p:spPr>
          <a:xfrm xmlns:a="http://schemas.openxmlformats.org/drawingml/2006/main">
            <a:off x="609600" y="1809750"/>
            <a:ext cx="4000500" cy="4248150"/>
          </a:xfrm>
          <a:prstGeom xmlns:a="http://schemas.openxmlformats.org/drawingml/2006/main" prst="roundRect">
            <a:avLst>
              <a:gd name="adj" fmla="val 1429"/>
            </a:avLst>
          </a:prstGeom>
          <a:solidFill xmlns:a="http://schemas.openxmlformats.org/drawingml/2006/main">
            <a:srgbClr val="2E74B5"/>
          </a:solidFill>
          <a:ln xmlns:a="http://schemas.openxmlformats.org/drawingml/2006/main" w="9525">
            <a:solidFill>
              <a:srgbClr val="2E74B5"/>
            </a:solidFill>
            <a:prstDash val="solid"/>
          </a:ln>
        </p:spPr>
      </p:sp>
      <p:sp>
        <p:nvSpPr>
          <p:cNvPr id="7" name="exercise-prompt">
            <a:extLst xmlns:a="http://schemas.openxmlformats.org/drawingml/2006/main">
              <a:ext uri="{FF2B5EF4-FFF2-40B4-BE49-F238E27FC236}">
                <a16:creationId xmlns:a16="http://schemas.microsoft.com/office/drawing/2014/main" id="{F528FBB8-A6A5-452F-8AA6-1B4AEAFC5580}"/>
              </a:ext>
            </a:extLst>
          </p:cNvPr>
          <p:cNvSpPr>
            <a:spLocks xmlns:a="http://schemas.openxmlformats.org/drawingml/2006/main" noGrp="1"/>
          </p:cNvSpPr>
          <p:nvPr/>
        </p:nvSpPr>
        <p:spPr>
          <a:xfrm xmlns:a="http://schemas.openxmlformats.org/drawingml/2006/main">
            <a:off x="876300" y="2095500"/>
            <a:ext cx="3467100" cy="3676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8000"/>
              </a:lnSpc>
              <a:buNone/>
              <a:defRPr sz="2100" b="1">
                <a:solidFill>
                  <a:srgbClr val="FFFFFF"/>
                </a:solidFill>
                <a:latin typeface="Arial"/>
                <a:ea typeface="Arial"/>
                <a:cs typeface="Arial"/>
              </a:defRPr>
            </a:pPr>
            <a:r>
              <a:rPr sz="2100" b="1">
                <a:solidFill>
                  <a:srgbClr val="FFFFFF"/>
                </a:solidFill>
                <a:latin typeface="Arial"/>
                <a:ea typeface="Arial"/>
                <a:cs typeface="Arial"/>
              </a:rPr>
              <a:t>Screen room area against a 40 m² minimum without calling the room good or bad.</a:t>
            </a:r>
          </a:p>
        </p:txBody>
      </p:sp>
      <p:sp>
        <p:nvSpPr>
          <p:cNvPr id="8" name="work-label">
            <a:extLst xmlns:a="http://schemas.openxmlformats.org/drawingml/2006/main">
              <a:ext uri="{FF2B5EF4-FFF2-40B4-BE49-F238E27FC236}">
                <a16:creationId xmlns:a16="http://schemas.microsoft.com/office/drawing/2014/main" id="{39DF079E-E370-4647-984E-FE017418F239}"/>
              </a:ext>
            </a:extLst>
          </p:cNvPr>
          <p:cNvSpPr>
            <a:spLocks xmlns:a="http://schemas.openxmlformats.org/drawingml/2006/main" noGrp="1"/>
          </p:cNvSpPr>
          <p:nvPr/>
        </p:nvSpPr>
        <p:spPr>
          <a:xfrm xmlns:a="http://schemas.openxmlformats.org/drawingml/2006/main">
            <a:off x="5029200" y="1847850"/>
            <a:ext cx="6553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WORK THROUGH IT</a:t>
            </a:r>
          </a:p>
        </p:txBody>
      </p:sp>
      <p:sp>
        <p:nvSpPr>
          <p:cNvPr id="9" name="exercise-no-0">
            <a:extLst xmlns:a="http://schemas.openxmlformats.org/drawingml/2006/main">
              <a:ext uri="{FF2B5EF4-FFF2-40B4-BE49-F238E27FC236}">
                <a16:creationId xmlns:a16="http://schemas.microsoft.com/office/drawing/2014/main" id="{DEC16797-245F-44E4-962D-EBFE5ACD2FFF}"/>
              </a:ext>
            </a:extLst>
          </p:cNvPr>
          <p:cNvSpPr>
            <a:spLocks xmlns:a="http://schemas.openxmlformats.org/drawingml/2006/main" noGrp="1"/>
          </p:cNvSpPr>
          <p:nvPr/>
        </p:nvSpPr>
        <p:spPr>
          <a:xfrm xmlns:a="http://schemas.openxmlformats.org/drawingml/2006/main">
            <a:off x="5029200" y="2247900"/>
            <a:ext cx="38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2E74B5"/>
                </a:solidFill>
                <a:latin typeface="Arial"/>
                <a:ea typeface="Arial"/>
                <a:cs typeface="Arial"/>
              </a:defRPr>
            </a:pPr>
            <a:r>
              <a:rPr sz="1800" b="1">
                <a:solidFill>
                  <a:srgbClr val="2E74B5"/>
                </a:solidFill>
                <a:latin typeface="Arial"/>
                <a:ea typeface="Arial"/>
                <a:cs typeface="Arial"/>
              </a:rPr>
              <a:t>1.</a:t>
            </a:r>
          </a:p>
        </p:txBody>
      </p:sp>
      <p:sp>
        <p:nvSpPr>
          <p:cNvPr id="10" name="exercise-step-0">
            <a:extLst xmlns:a="http://schemas.openxmlformats.org/drawingml/2006/main">
              <a:ext uri="{FF2B5EF4-FFF2-40B4-BE49-F238E27FC236}">
                <a16:creationId xmlns:a16="http://schemas.microsoft.com/office/drawing/2014/main" id="{E7CCF4BE-A474-4B55-A2F3-FF9A70510CE8}"/>
              </a:ext>
            </a:extLst>
          </p:cNvPr>
          <p:cNvSpPr>
            <a:spLocks xmlns:a="http://schemas.openxmlformats.org/drawingml/2006/main" noGrp="1"/>
          </p:cNvSpPr>
          <p:nvPr/>
        </p:nvSpPr>
        <p:spPr>
          <a:xfrm xmlns:a="http://schemas.openxmlformats.org/drawingml/2006/main">
            <a:off x="5467350" y="2247900"/>
            <a:ext cx="6115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Write the evidence, criterion, action, and limitation.</a:t>
            </a:r>
          </a:p>
        </p:txBody>
      </p:sp>
      <p:sp>
        <p:nvSpPr>
          <p:cNvPr id="11" name="exercise-no-1">
            <a:extLst xmlns:a="http://schemas.openxmlformats.org/drawingml/2006/main">
              <a:ext uri="{FF2B5EF4-FFF2-40B4-BE49-F238E27FC236}">
                <a16:creationId xmlns:a16="http://schemas.microsoft.com/office/drawing/2014/main" id="{56E345B2-AA75-4548-919A-065BC2C57A34}"/>
              </a:ext>
            </a:extLst>
          </p:cNvPr>
          <p:cNvSpPr>
            <a:spLocks xmlns:a="http://schemas.openxmlformats.org/drawingml/2006/main" noGrp="1"/>
          </p:cNvSpPr>
          <p:nvPr/>
        </p:nvSpPr>
        <p:spPr>
          <a:xfrm xmlns:a="http://schemas.openxmlformats.org/drawingml/2006/main">
            <a:off x="5029200" y="3124200"/>
            <a:ext cx="38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2E74B5"/>
                </a:solidFill>
                <a:latin typeface="Arial"/>
                <a:ea typeface="Arial"/>
                <a:cs typeface="Arial"/>
              </a:defRPr>
            </a:pPr>
            <a:r>
              <a:rPr sz="1800" b="1">
                <a:solidFill>
                  <a:srgbClr val="2E74B5"/>
                </a:solidFill>
                <a:latin typeface="Arial"/>
                <a:ea typeface="Arial"/>
                <a:cs typeface="Arial"/>
              </a:rPr>
              <a:t>2.</a:t>
            </a:r>
          </a:p>
        </p:txBody>
      </p:sp>
      <p:sp>
        <p:nvSpPr>
          <p:cNvPr id="12" name="exercise-step-1">
            <a:extLst xmlns:a="http://schemas.openxmlformats.org/drawingml/2006/main">
              <a:ext uri="{FF2B5EF4-FFF2-40B4-BE49-F238E27FC236}">
                <a16:creationId xmlns:a16="http://schemas.microsoft.com/office/drawing/2014/main" id="{686FF021-B64C-4571-9579-83C3BBADF205}"/>
              </a:ext>
            </a:extLst>
          </p:cNvPr>
          <p:cNvSpPr>
            <a:spLocks xmlns:a="http://schemas.openxmlformats.org/drawingml/2006/main" noGrp="1"/>
          </p:cNvSpPr>
          <p:nvPr/>
        </p:nvSpPr>
        <p:spPr>
          <a:xfrm xmlns:a="http://schemas.openxmlformats.org/drawingml/2006/main">
            <a:off x="5467350" y="3124200"/>
            <a:ext cx="6115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Predict results for 39.9, 40.0, and 40.1 m².</a:t>
            </a:r>
          </a:p>
        </p:txBody>
      </p:sp>
      <p:sp>
        <p:nvSpPr>
          <p:cNvPr id="13" name="exercise-no-2">
            <a:extLst xmlns:a="http://schemas.openxmlformats.org/drawingml/2006/main">
              <a:ext uri="{FF2B5EF4-FFF2-40B4-BE49-F238E27FC236}">
                <a16:creationId xmlns:a16="http://schemas.microsoft.com/office/drawing/2014/main" id="{02C23DB4-1184-4AA0-A1C6-7D4D167C7DB7}"/>
              </a:ext>
            </a:extLst>
          </p:cNvPr>
          <p:cNvSpPr>
            <a:spLocks xmlns:a="http://schemas.openxmlformats.org/drawingml/2006/main" noGrp="1"/>
          </p:cNvSpPr>
          <p:nvPr/>
        </p:nvSpPr>
        <p:spPr>
          <a:xfrm xmlns:a="http://schemas.openxmlformats.org/drawingml/2006/main">
            <a:off x="5029200" y="4000500"/>
            <a:ext cx="38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2E74B5"/>
                </a:solidFill>
                <a:latin typeface="Arial"/>
                <a:ea typeface="Arial"/>
                <a:cs typeface="Arial"/>
              </a:defRPr>
            </a:pPr>
            <a:r>
              <a:rPr sz="1800" b="1">
                <a:solidFill>
                  <a:srgbClr val="2E74B5"/>
                </a:solidFill>
                <a:latin typeface="Arial"/>
                <a:ea typeface="Arial"/>
                <a:cs typeface="Arial"/>
              </a:rPr>
              <a:t>3.</a:t>
            </a:r>
          </a:p>
        </p:txBody>
      </p:sp>
      <p:sp>
        <p:nvSpPr>
          <p:cNvPr id="14" name="exercise-step-2">
            <a:extLst xmlns:a="http://schemas.openxmlformats.org/drawingml/2006/main">
              <a:ext uri="{FF2B5EF4-FFF2-40B4-BE49-F238E27FC236}">
                <a16:creationId xmlns:a16="http://schemas.microsoft.com/office/drawing/2014/main" id="{75691F2D-FA72-48C7-BA44-4B1ABD033BDB}"/>
              </a:ext>
            </a:extLst>
          </p:cNvPr>
          <p:cNvSpPr>
            <a:spLocks xmlns:a="http://schemas.openxmlformats.org/drawingml/2006/main" noGrp="1"/>
          </p:cNvSpPr>
          <p:nvPr/>
        </p:nvSpPr>
        <p:spPr>
          <a:xfrm xmlns:a="http://schemas.openxmlformats.org/drawingml/2006/main">
            <a:off x="5467350" y="4000500"/>
            <a:ext cx="6115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Write a function returning bounded status text.</a:t>
            </a:r>
          </a:p>
        </p:txBody>
      </p:sp>
      <p:sp>
        <p:nvSpPr>
          <p:cNvPr id="15" name="exercise-no-3">
            <a:extLst xmlns:a="http://schemas.openxmlformats.org/drawingml/2006/main">
              <a:ext uri="{FF2B5EF4-FFF2-40B4-BE49-F238E27FC236}">
                <a16:creationId xmlns:a16="http://schemas.microsoft.com/office/drawing/2014/main" id="{D716FEDB-8C7C-422D-91CC-7E5C794586E7}"/>
              </a:ext>
            </a:extLst>
          </p:cNvPr>
          <p:cNvSpPr>
            <a:spLocks xmlns:a="http://schemas.openxmlformats.org/drawingml/2006/main" noGrp="1"/>
          </p:cNvSpPr>
          <p:nvPr/>
        </p:nvSpPr>
        <p:spPr>
          <a:xfrm xmlns:a="http://schemas.openxmlformats.org/drawingml/2006/main">
            <a:off x="5029200" y="4876800"/>
            <a:ext cx="38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2E74B5"/>
                </a:solidFill>
                <a:latin typeface="Arial"/>
                <a:ea typeface="Arial"/>
                <a:cs typeface="Arial"/>
              </a:defRPr>
            </a:pPr>
            <a:r>
              <a:rPr sz="1800" b="1">
                <a:solidFill>
                  <a:srgbClr val="2E74B5"/>
                </a:solidFill>
                <a:latin typeface="Arial"/>
                <a:ea typeface="Arial"/>
                <a:cs typeface="Arial"/>
              </a:rPr>
              <a:t>4.</a:t>
            </a:r>
          </a:p>
        </p:txBody>
      </p:sp>
      <p:sp>
        <p:nvSpPr>
          <p:cNvPr id="16" name="exercise-step-3">
            <a:extLst xmlns:a="http://schemas.openxmlformats.org/drawingml/2006/main">
              <a:ext uri="{FF2B5EF4-FFF2-40B4-BE49-F238E27FC236}">
                <a16:creationId xmlns:a16="http://schemas.microsoft.com/office/drawing/2014/main" id="{059A92BA-2FF6-4756-AE8C-6D71B5907463}"/>
              </a:ext>
            </a:extLst>
          </p:cNvPr>
          <p:cNvSpPr>
            <a:spLocks xmlns:a="http://schemas.openxmlformats.org/drawingml/2006/main" noGrp="1"/>
          </p:cNvSpPr>
          <p:nvPr/>
        </p:nvSpPr>
        <p:spPr>
          <a:xfrm xmlns:a="http://schemas.openxmlformats.org/drawingml/2006/main">
            <a:off x="5467350" y="4876800"/>
            <a:ext cx="6115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Call the function three times and compare each result with your prediction.</a:t>
            </a:r>
          </a:p>
        </p:txBody>
      </p:sp>
    </p:spTree>
    <p:extLst>
      <p:ext uri="{BB962C8B-B14F-4D97-AF65-F5344CB8AC3E}">
        <p14:creationId xmlns:p14="http://schemas.microsoft.com/office/powerpoint/2010/main" val="322915394"/>
      </p:ext>
    </p:extLst>
  </p:cSld>
</p:sld>
</file>

<file path=ppt/slides/slide38.xml><?xml version="1.0" encoding="utf-8"?>
<p:sld xmlns:p="http://schemas.openxmlformats.org/presentationml/2006/main">
  <p:cSld>
    <p:bg>
      <p:bgPr>
        <a:solidFill xmlns:a="http://schemas.openxmlformats.org/drawingml/2006/main">
          <a:srgbClr val="17191C"/>
        </a:solidFill>
      </p:bgPr>
    </p:bg>
    <p:spTree>
      <p:nvGrpSpPr>
        <p:cNvPr id="1" name=""/>
        <p:cNvGrpSpPr/>
        <p:nvPr/>
      </p:nvGrpSpPr>
      <p:grpSpPr>
        <a:xfrm xmlns:a="http://schemas.openxmlformats.org/drawingml/2006/main"/>
      </p:grpSpPr>
      <p:sp>
        <p:nvSpPr>
          <p:cNvPr id="12" name="close-week">
            <a:extLst xmlns:a="http://schemas.openxmlformats.org/drawingml/2006/main">
              <a:ext uri="{FF2B5EF4-FFF2-40B4-BE49-F238E27FC236}">
                <a16:creationId xmlns:a16="http://schemas.microsoft.com/office/drawing/2014/main" id="{F6DFB151-CBB3-487A-8197-9AE1C1F1EF3F}"/>
              </a:ext>
            </a:extLst>
          </p:cNvPr>
          <p:cNvSpPr>
            <a:spLocks xmlns:a="http://schemas.openxmlformats.org/drawingml/2006/main" noGrp="1"/>
          </p:cNvSpPr>
          <p:nvPr/>
        </p:nvSpPr>
        <p:spPr>
          <a:xfrm xmlns:a="http://schemas.openxmlformats.org/drawingml/2006/main">
            <a:off x="609600" y="45720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E8EEF5"/>
                </a:solidFill>
                <a:latin typeface="Arial"/>
                <a:ea typeface="Arial"/>
                <a:cs typeface="Arial"/>
              </a:defRPr>
            </a:pPr>
            <a:r>
              <a:rPr sz="1200" b="1">
                <a:solidFill>
                  <a:srgbClr val="E8EEF5"/>
                </a:solidFill>
                <a:latin typeface="Arial"/>
                <a:ea typeface="Arial"/>
                <a:cs typeface="Arial"/>
              </a:rPr>
              <a:t>WEEK 3 · MEETING A · DECISIONS AND FUNCTIONS · FULL SOURCE DECK</a:t>
            </a:r>
          </a:p>
        </p:txBody>
      </p:sp>
      <p:sp>
        <p:nvSpPr>
          <p:cNvPr id="2" name="close-title">
            <a:extLst xmlns:a="http://schemas.openxmlformats.org/drawingml/2006/main">
              <a:ext uri="{FF2B5EF4-FFF2-40B4-BE49-F238E27FC236}">
                <a16:creationId xmlns:a16="http://schemas.microsoft.com/office/drawing/2014/main" id="{5F8B65EA-E5FA-4BE8-8ED5-EB219747C7DD}"/>
              </a:ext>
            </a:extLst>
          </p:cNvPr>
          <p:cNvSpPr>
            <a:spLocks xmlns:a="http://schemas.openxmlformats.org/drawingml/2006/main" noGrp="1"/>
          </p:cNvSpPr>
          <p:nvPr/>
        </p:nvSpPr>
        <p:spPr>
          <a:xfrm xmlns:a="http://schemas.openxmlformats.org/drawingml/2006/main">
            <a:off x="609600" y="1066800"/>
            <a:ext cx="109728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600" b="1">
                <a:solidFill>
                  <a:srgbClr val="FFFFFF"/>
                </a:solidFill>
                <a:latin typeface="Arial"/>
                <a:ea typeface="Arial"/>
                <a:cs typeface="Arial"/>
              </a:defRPr>
            </a:pPr>
            <a:r>
              <a:rPr sz="3600" b="1">
                <a:solidFill>
                  <a:srgbClr val="FFFFFF"/>
                </a:solidFill>
                <a:latin typeface="Arial"/>
                <a:ea typeface="Arial"/>
                <a:cs typeface="Arial"/>
              </a:rPr>
              <a:t>A small rule can already be inspectable</a:t>
            </a:r>
          </a:p>
        </p:txBody>
      </p:sp>
      <p:sp>
        <p:nvSpPr>
          <p:cNvPr id="3" name="">
            <a:extLst xmlns:a="http://schemas.openxmlformats.org/drawingml/2006/main">
              <a:ext uri="{FF2B5EF4-FFF2-40B4-BE49-F238E27FC236}">
                <a16:creationId xmlns:a16="http://schemas.microsoft.com/office/drawing/2014/main" id="{8911D594-09F5-4E18-826C-2D842AF5B607}"/>
              </a:ext>
            </a:extLst>
          </p:cNvPr>
          <p:cNvSpPr>
            <a:spLocks xmlns:a="http://schemas.openxmlformats.org/drawingml/2006/main" noGrp="1"/>
          </p:cNvSpPr>
          <p:nvPr/>
        </p:nvSpPr>
        <p:spPr>
          <a:xfrm xmlns:a="http://schemas.openxmlformats.org/drawingml/2006/main">
            <a:off x="609600" y="2324100"/>
            <a:ext cx="1600200" cy="0"/>
          </a:xfrm>
          <a:prstGeom xmlns:a="http://schemas.openxmlformats.org/drawingml/2006/main" prst="line">
            <a:avLst/>
          </a:prstGeom>
          <a:noFill xmlns:a="http://schemas.openxmlformats.org/drawingml/2006/main"/>
          <a:ln xmlns:a="http://schemas.openxmlformats.org/drawingml/2006/main" w="47625">
            <a:solidFill>
              <a:srgbClr val="2E74B5"/>
            </a:solidFill>
            <a:prstDash val="solid"/>
          </a:ln>
        </p:spPr>
      </p:sp>
      <p:sp>
        <p:nvSpPr>
          <p:cNvPr id="4" name="take-no-0">
            <a:extLst xmlns:a="http://schemas.openxmlformats.org/drawingml/2006/main">
              <a:ext uri="{FF2B5EF4-FFF2-40B4-BE49-F238E27FC236}">
                <a16:creationId xmlns:a16="http://schemas.microsoft.com/office/drawing/2014/main" id="{CEAF675D-C3F8-4AD1-9DC3-27B0ACC87073}"/>
              </a:ext>
            </a:extLst>
          </p:cNvPr>
          <p:cNvSpPr>
            <a:spLocks xmlns:a="http://schemas.openxmlformats.org/drawingml/2006/main" noGrp="1"/>
          </p:cNvSpPr>
          <p:nvPr/>
        </p:nvSpPr>
        <p:spPr>
          <a:xfrm xmlns:a="http://schemas.openxmlformats.org/drawingml/2006/main">
            <a:off x="609600" y="2743200"/>
            <a:ext cx="552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E8EEF5"/>
                </a:solidFill>
                <a:latin typeface="Arial"/>
                <a:ea typeface="Arial"/>
                <a:cs typeface="Arial"/>
              </a:defRPr>
            </a:pPr>
            <a:r>
              <a:rPr sz="900" b="1">
                <a:solidFill>
                  <a:srgbClr val="E8EEF5"/>
                </a:solidFill>
                <a:latin typeface="Arial"/>
                <a:ea typeface="Arial"/>
                <a:cs typeface="Arial"/>
              </a:rPr>
              <a:t>01</a:t>
            </a:r>
          </a:p>
        </p:txBody>
      </p:sp>
      <p:sp>
        <p:nvSpPr>
          <p:cNvPr id="5" name="take-0">
            <a:extLst xmlns:a="http://schemas.openxmlformats.org/drawingml/2006/main">
              <a:ext uri="{FF2B5EF4-FFF2-40B4-BE49-F238E27FC236}">
                <a16:creationId xmlns:a16="http://schemas.microsoft.com/office/drawing/2014/main" id="{21654FED-4E0A-4CDC-B168-4832C4DB6FC1}"/>
              </a:ext>
            </a:extLst>
          </p:cNvPr>
          <p:cNvSpPr>
            <a:spLocks xmlns:a="http://schemas.openxmlformats.org/drawingml/2006/main" noGrp="1"/>
          </p:cNvSpPr>
          <p:nvPr/>
        </p:nvSpPr>
        <p:spPr>
          <a:xfrm xmlns:a="http://schemas.openxmlformats.org/drawingml/2006/main">
            <a:off x="1409700" y="2705100"/>
            <a:ext cx="10172700" cy="4023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FFFFFF"/>
                </a:solidFill>
                <a:latin typeface="Arial"/>
                <a:ea typeface="Arial"/>
                <a:cs typeface="Arial"/>
              </a:defRPr>
            </a:pPr>
            <a:r>
              <a:rPr sz="2100" b="0">
                <a:solidFill>
                  <a:srgbClr val="FFFFFF"/>
                </a:solidFill>
                <a:latin typeface="Arial"/>
                <a:ea typeface="Arial"/>
                <a:cs typeface="Arial"/>
              </a:rPr>
              <a:t>Comparisons create Boolean evidence.</a:t>
            </a:r>
          </a:p>
        </p:txBody>
      </p:sp>
      <p:sp>
        <p:nvSpPr>
          <p:cNvPr id="6" name="take-no-1">
            <a:extLst xmlns:a="http://schemas.openxmlformats.org/drawingml/2006/main">
              <a:ext uri="{FF2B5EF4-FFF2-40B4-BE49-F238E27FC236}">
                <a16:creationId xmlns:a16="http://schemas.microsoft.com/office/drawing/2014/main" id="{B3979377-0C8A-455B-B051-FCB01E8CED3E}"/>
              </a:ext>
            </a:extLst>
          </p:cNvPr>
          <p:cNvSpPr>
            <a:spLocks xmlns:a="http://schemas.openxmlformats.org/drawingml/2006/main" noGrp="1"/>
          </p:cNvSpPr>
          <p:nvPr/>
        </p:nvSpPr>
        <p:spPr>
          <a:xfrm xmlns:a="http://schemas.openxmlformats.org/drawingml/2006/main">
            <a:off x="609600" y="3240786"/>
            <a:ext cx="552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E8EEF5"/>
                </a:solidFill>
                <a:latin typeface="Arial"/>
                <a:ea typeface="Arial"/>
                <a:cs typeface="Arial"/>
              </a:defRPr>
            </a:pPr>
            <a:r>
              <a:rPr sz="900" b="1">
                <a:solidFill>
                  <a:srgbClr val="E8EEF5"/>
                </a:solidFill>
                <a:latin typeface="Arial"/>
                <a:ea typeface="Arial"/>
                <a:cs typeface="Arial"/>
              </a:rPr>
              <a:t>02</a:t>
            </a:r>
          </a:p>
        </p:txBody>
      </p:sp>
      <p:sp>
        <p:nvSpPr>
          <p:cNvPr id="7" name="take-1">
            <a:extLst xmlns:a="http://schemas.openxmlformats.org/drawingml/2006/main">
              <a:ext uri="{FF2B5EF4-FFF2-40B4-BE49-F238E27FC236}">
                <a16:creationId xmlns:a16="http://schemas.microsoft.com/office/drawing/2014/main" id="{2D0C11FA-8D66-4EC5-BAC4-04C777D356DC}"/>
              </a:ext>
            </a:extLst>
          </p:cNvPr>
          <p:cNvSpPr>
            <a:spLocks xmlns:a="http://schemas.openxmlformats.org/drawingml/2006/main" noGrp="1"/>
          </p:cNvSpPr>
          <p:nvPr/>
        </p:nvSpPr>
        <p:spPr>
          <a:xfrm xmlns:a="http://schemas.openxmlformats.org/drawingml/2006/main">
            <a:off x="1409700" y="3202686"/>
            <a:ext cx="10172700" cy="4023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FFFFFF"/>
                </a:solidFill>
                <a:latin typeface="Arial"/>
                <a:ea typeface="Arial"/>
                <a:cs typeface="Arial"/>
              </a:defRPr>
            </a:pPr>
            <a:r>
              <a:rPr sz="2100" b="0">
                <a:solidFill>
                  <a:srgbClr val="FFFFFF"/>
                </a:solidFill>
                <a:latin typeface="Arial"/>
                <a:ea typeface="Arial"/>
                <a:cs typeface="Arial"/>
              </a:rPr>
              <a:t>if/else connects evidence to bounded actions.</a:t>
            </a:r>
          </a:p>
        </p:txBody>
      </p:sp>
      <p:sp>
        <p:nvSpPr>
          <p:cNvPr id="8" name="take-no-2">
            <a:extLst xmlns:a="http://schemas.openxmlformats.org/drawingml/2006/main">
              <a:ext uri="{FF2B5EF4-FFF2-40B4-BE49-F238E27FC236}">
                <a16:creationId xmlns:a16="http://schemas.microsoft.com/office/drawing/2014/main" id="{A492C58E-8F7C-4EBF-832A-E25BE78E0D9A}"/>
              </a:ext>
            </a:extLst>
          </p:cNvPr>
          <p:cNvSpPr>
            <a:spLocks xmlns:a="http://schemas.openxmlformats.org/drawingml/2006/main" noGrp="1"/>
          </p:cNvSpPr>
          <p:nvPr/>
        </p:nvSpPr>
        <p:spPr>
          <a:xfrm xmlns:a="http://schemas.openxmlformats.org/drawingml/2006/main">
            <a:off x="609600" y="3738372"/>
            <a:ext cx="552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E8EEF5"/>
                </a:solidFill>
                <a:latin typeface="Arial"/>
                <a:ea typeface="Arial"/>
                <a:cs typeface="Arial"/>
              </a:defRPr>
            </a:pPr>
            <a:r>
              <a:rPr sz="900" b="1">
                <a:solidFill>
                  <a:srgbClr val="E8EEF5"/>
                </a:solidFill>
                <a:latin typeface="Arial"/>
                <a:ea typeface="Arial"/>
                <a:cs typeface="Arial"/>
              </a:rPr>
              <a:t>03</a:t>
            </a:r>
          </a:p>
        </p:txBody>
      </p:sp>
      <p:sp>
        <p:nvSpPr>
          <p:cNvPr id="9" name="take-2">
            <a:extLst xmlns:a="http://schemas.openxmlformats.org/drawingml/2006/main">
              <a:ext uri="{FF2B5EF4-FFF2-40B4-BE49-F238E27FC236}">
                <a16:creationId xmlns:a16="http://schemas.microsoft.com/office/drawing/2014/main" id="{F5E1665E-ABF3-4194-A389-B87CEF485BAC}"/>
              </a:ext>
            </a:extLst>
          </p:cNvPr>
          <p:cNvSpPr>
            <a:spLocks xmlns:a="http://schemas.openxmlformats.org/drawingml/2006/main" noGrp="1"/>
          </p:cNvSpPr>
          <p:nvPr/>
        </p:nvSpPr>
        <p:spPr>
          <a:xfrm xmlns:a="http://schemas.openxmlformats.org/drawingml/2006/main">
            <a:off x="1409700" y="3700272"/>
            <a:ext cx="10172700" cy="4023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FFFFFF"/>
                </a:solidFill>
                <a:latin typeface="Arial"/>
                <a:ea typeface="Arial"/>
                <a:cs typeface="Arial"/>
              </a:defRPr>
            </a:pPr>
            <a:r>
              <a:rPr sz="2100" b="0">
                <a:solidFill>
                  <a:srgbClr val="FFFFFF"/>
                </a:solidFill>
                <a:latin typeface="Arial"/>
                <a:ea typeface="Arial"/>
                <a:cs typeface="Arial"/>
              </a:rPr>
              <a:t>Boundary cases reveal a policy choice.</a:t>
            </a:r>
          </a:p>
        </p:txBody>
      </p:sp>
      <p:sp>
        <p:nvSpPr>
          <p:cNvPr id="10" name="take-no-3">
            <a:extLst xmlns:a="http://schemas.openxmlformats.org/drawingml/2006/main">
              <a:ext uri="{FF2B5EF4-FFF2-40B4-BE49-F238E27FC236}">
                <a16:creationId xmlns:a16="http://schemas.microsoft.com/office/drawing/2014/main" id="{78EC8041-2E5E-4AF0-8BC6-D45EDDBFC025}"/>
              </a:ext>
            </a:extLst>
          </p:cNvPr>
          <p:cNvSpPr>
            <a:spLocks xmlns:a="http://schemas.openxmlformats.org/drawingml/2006/main" noGrp="1"/>
          </p:cNvSpPr>
          <p:nvPr/>
        </p:nvSpPr>
        <p:spPr>
          <a:xfrm xmlns:a="http://schemas.openxmlformats.org/drawingml/2006/main">
            <a:off x="609600" y="4235958"/>
            <a:ext cx="552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E8EEF5"/>
                </a:solidFill>
                <a:latin typeface="Arial"/>
                <a:ea typeface="Arial"/>
                <a:cs typeface="Arial"/>
              </a:defRPr>
            </a:pPr>
            <a:r>
              <a:rPr sz="900" b="1">
                <a:solidFill>
                  <a:srgbClr val="E8EEF5"/>
                </a:solidFill>
                <a:latin typeface="Arial"/>
                <a:ea typeface="Arial"/>
                <a:cs typeface="Arial"/>
              </a:rPr>
              <a:t>04</a:t>
            </a:r>
          </a:p>
        </p:txBody>
      </p:sp>
      <p:sp>
        <p:nvSpPr>
          <p:cNvPr id="11" name="take-3">
            <a:extLst xmlns:a="http://schemas.openxmlformats.org/drawingml/2006/main">
              <a:ext uri="{FF2B5EF4-FFF2-40B4-BE49-F238E27FC236}">
                <a16:creationId xmlns:a16="http://schemas.microsoft.com/office/drawing/2014/main" id="{16610BEC-D3C4-4A52-BC1A-773B6B7CBEAF}"/>
              </a:ext>
            </a:extLst>
          </p:cNvPr>
          <p:cNvSpPr>
            <a:spLocks xmlns:a="http://schemas.openxmlformats.org/drawingml/2006/main" noGrp="1"/>
          </p:cNvSpPr>
          <p:nvPr/>
        </p:nvSpPr>
        <p:spPr>
          <a:xfrm xmlns:a="http://schemas.openxmlformats.org/drawingml/2006/main">
            <a:off x="1409700" y="4197858"/>
            <a:ext cx="10172700" cy="69037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FFFFFF"/>
                </a:solidFill>
                <a:latin typeface="Arial"/>
                <a:ea typeface="Arial"/>
                <a:cs typeface="Arial"/>
              </a:defRPr>
            </a:pPr>
            <a:r>
              <a:rPr sz="2100" b="0">
                <a:solidFill>
                  <a:srgbClr val="FFFFFF"/>
                </a:solidFill>
                <a:latin typeface="Arial"/>
                <a:ea typeface="Arial"/>
                <a:cs typeface="Arial"/>
              </a:rPr>
              <a:t>Functions package a reusable procedure; Wednesday adds loops and compound rules.</a:t>
            </a:r>
          </a:p>
        </p:txBody>
      </p:sp>
    </p:spTree>
    <p:extLst>
      <p:ext uri="{BB962C8B-B14F-4D97-AF65-F5344CB8AC3E}">
        <p14:creationId xmlns:p14="http://schemas.microsoft.com/office/powerpoint/2010/main" val="192122172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2026-08-20T16:26:56.0890000Z</dcterms:created>
  <dcterms:modified xsi:type="dcterms:W3CDTF">2026-08-20T16:26:56.0890000Z</dcterms:modified>
</coreProperties>
</file>