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c70012a4249dc" /><Relationship Type="http://schemas.openxmlformats.org/officeDocument/2006/relationships/extended-properties" Target="/docProps/app.xml" Id="R6198385fa6674cfb" /><Relationship Type="http://schemas.openxmlformats.org/officeDocument/2006/relationships/officeDocument" Target="/ppt/presentation.xml" Id="R2288d71cde4941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21d2be47da48d7"/>
  </p:sldMasterIdLst>
  <p:notesMasterIdLst>
    <p:notesMasterId xmlns:r="http://schemas.openxmlformats.org/officeDocument/2006/relationships" r:id="R18596bc9be324383"/>
  </p:notesMasterIdLst>
  <p:sldIdLst>
    <p:sldId xmlns:r="http://schemas.openxmlformats.org/officeDocument/2006/relationships" id="256" r:id="R7c3a3997b61e41a6"/>
    <p:sldId xmlns:r="http://schemas.openxmlformats.org/officeDocument/2006/relationships" id="257" r:id="R62b712c9dfe140db"/>
    <p:sldId xmlns:r="http://schemas.openxmlformats.org/officeDocument/2006/relationships" id="258" r:id="R366d4d99e9d84074"/>
    <p:sldId xmlns:r="http://schemas.openxmlformats.org/officeDocument/2006/relationships" id="259" r:id="Rc002970ee7424029"/>
    <p:sldId xmlns:r="http://schemas.openxmlformats.org/officeDocument/2006/relationships" id="260" r:id="Re6ea600127124e05"/>
    <p:sldId xmlns:r="http://schemas.openxmlformats.org/officeDocument/2006/relationships" id="261" r:id="R976bc01e4b2a41c3"/>
    <p:sldId xmlns:r="http://schemas.openxmlformats.org/officeDocument/2006/relationships" id="262" r:id="R24eadb387cf44d82"/>
    <p:sldId xmlns:r="http://schemas.openxmlformats.org/officeDocument/2006/relationships" id="263" r:id="Ra69f43aef72e4f67"/>
    <p:sldId xmlns:r="http://schemas.openxmlformats.org/officeDocument/2006/relationships" id="264" r:id="Ra45fafe1c0984a8c"/>
    <p:sldId xmlns:r="http://schemas.openxmlformats.org/officeDocument/2006/relationships" id="265" r:id="R77c5da51a2474987"/>
    <p:sldId xmlns:r="http://schemas.openxmlformats.org/officeDocument/2006/relationships" id="266" r:id="R2c352e0b253f4bad"/>
    <p:sldId xmlns:r="http://schemas.openxmlformats.org/officeDocument/2006/relationships" id="267" r:id="R5247a6b74c2c4f4c"/>
    <p:sldId xmlns:r="http://schemas.openxmlformats.org/officeDocument/2006/relationships" id="268" r:id="R20a01d38e9df4c05"/>
    <p:sldId xmlns:r="http://schemas.openxmlformats.org/officeDocument/2006/relationships" id="269" r:id="R0fbeb02bc80f4f77"/>
    <p:sldId xmlns:r="http://schemas.openxmlformats.org/officeDocument/2006/relationships" id="270" r:id="R364828657fd44cea"/>
    <p:sldId xmlns:r="http://schemas.openxmlformats.org/officeDocument/2006/relationships" id="271" r:id="R00869c210dcf4702"/>
    <p:sldId xmlns:r="http://schemas.openxmlformats.org/officeDocument/2006/relationships" id="272" r:id="R80bdef364036478c"/>
    <p:sldId xmlns:r="http://schemas.openxmlformats.org/officeDocument/2006/relationships" id="273" r:id="R8d6fef3f332d434d"/>
    <p:sldId xmlns:r="http://schemas.openxmlformats.org/officeDocument/2006/relationships" id="274" r:id="Rb989c55cc5db40f5"/>
    <p:sldId xmlns:r="http://schemas.openxmlformats.org/officeDocument/2006/relationships" id="275" r:id="R3b3b9a9f8610476d"/>
    <p:sldId xmlns:r="http://schemas.openxmlformats.org/officeDocument/2006/relationships" id="276" r:id="Rbc10af68c8b9413a"/>
    <p:sldId xmlns:r="http://schemas.openxmlformats.org/officeDocument/2006/relationships" id="277" r:id="R7548cb88e96f4434"/>
    <p:sldId xmlns:r="http://schemas.openxmlformats.org/officeDocument/2006/relationships" id="278" r:id="Rebdc16d9cda04135"/>
    <p:sldId xmlns:r="http://schemas.openxmlformats.org/officeDocument/2006/relationships" id="279" r:id="R2c1fb5060fed49ca"/>
    <p:sldId xmlns:r="http://schemas.openxmlformats.org/officeDocument/2006/relationships" id="280" r:id="R42a2969888a941b9"/>
    <p:sldId xmlns:r="http://schemas.openxmlformats.org/officeDocument/2006/relationships" id="281" r:id="Rb82eaaf8d2a84fb5"/>
    <p:sldId xmlns:r="http://schemas.openxmlformats.org/officeDocument/2006/relationships" id="282" r:id="Rac9f3acb822444cb"/>
    <p:sldId xmlns:r="http://schemas.openxmlformats.org/officeDocument/2006/relationships" id="283" r:id="R05ca3f2b31064c02"/>
    <p:sldId xmlns:r="http://schemas.openxmlformats.org/officeDocument/2006/relationships" id="284" r:id="Rf5723537b62141b4"/>
    <p:sldId xmlns:r="http://schemas.openxmlformats.org/officeDocument/2006/relationships" id="285" r:id="R84640d1b6a9545f5"/>
    <p:sldId xmlns:r="http://schemas.openxmlformats.org/officeDocument/2006/relationships" id="286" r:id="R4df587612de3401b"/>
    <p:sldId xmlns:r="http://schemas.openxmlformats.org/officeDocument/2006/relationships" id="287" r:id="Rf457d050bff6434e"/>
    <p:sldId xmlns:r="http://schemas.openxmlformats.org/officeDocument/2006/relationships" id="288" r:id="R62c4c7c32f724673"/>
    <p:sldId xmlns:r="http://schemas.openxmlformats.org/officeDocument/2006/relationships" id="289" r:id="Rf619b3f1811245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5e5d33fa2440ef" /><Relationship Type="http://schemas.openxmlformats.org/officeDocument/2006/relationships/slideMaster" Target="/ppt/slideMasters/slideMaster1.xml" Id="Rf321d2be47da48d7" /><Relationship Type="http://schemas.openxmlformats.org/officeDocument/2006/relationships/notesMaster" Target="/ppt/notesMasters/notesMaster1.xml" Id="R18596bc9be324383" /><Relationship Type="http://schemas.openxmlformats.org/officeDocument/2006/relationships/presProps" Target="/ppt/presProps.xml" Id="Rd0ddf89c73f142c9" /><Relationship Type="http://schemas.openxmlformats.org/officeDocument/2006/relationships/tableStyles" Target="/ppt/tableStyles.xml" Id="R9a6d21a49e394ec7" /><Relationship Type="http://schemas.openxmlformats.org/officeDocument/2006/relationships/slide" Target="/ppt/slides/slide1.xml" Id="R7c3a3997b61e41a6" /><Relationship Type="http://schemas.openxmlformats.org/officeDocument/2006/relationships/slide" Target="/ppt/slides/slide2.xml" Id="R62b712c9dfe140db" /><Relationship Type="http://schemas.openxmlformats.org/officeDocument/2006/relationships/slide" Target="/ppt/slides/slide3.xml" Id="R366d4d99e9d84074" /><Relationship Type="http://schemas.openxmlformats.org/officeDocument/2006/relationships/slide" Target="/ppt/slides/slide4.xml" Id="Rc002970ee7424029" /><Relationship Type="http://schemas.openxmlformats.org/officeDocument/2006/relationships/slide" Target="/ppt/slides/slide5.xml" Id="Re6ea600127124e05" /><Relationship Type="http://schemas.openxmlformats.org/officeDocument/2006/relationships/slide" Target="/ppt/slides/slide6.xml" Id="R976bc01e4b2a41c3" /><Relationship Type="http://schemas.openxmlformats.org/officeDocument/2006/relationships/slide" Target="/ppt/slides/slide7.xml" Id="R24eadb387cf44d82" /><Relationship Type="http://schemas.openxmlformats.org/officeDocument/2006/relationships/slide" Target="/ppt/slides/slide8.xml" Id="Ra69f43aef72e4f67" /><Relationship Type="http://schemas.openxmlformats.org/officeDocument/2006/relationships/slide" Target="/ppt/slides/slide9.xml" Id="Ra45fafe1c0984a8c" /><Relationship Type="http://schemas.openxmlformats.org/officeDocument/2006/relationships/slide" Target="/ppt/slides/slide10.xml" Id="R77c5da51a2474987" /><Relationship Type="http://schemas.openxmlformats.org/officeDocument/2006/relationships/slide" Target="/ppt/slides/slide11.xml" Id="R2c352e0b253f4bad" /><Relationship Type="http://schemas.openxmlformats.org/officeDocument/2006/relationships/slide" Target="/ppt/slides/slide12.xml" Id="R5247a6b74c2c4f4c" /><Relationship Type="http://schemas.openxmlformats.org/officeDocument/2006/relationships/slide" Target="/ppt/slides/slide13.xml" Id="R20a01d38e9df4c05" /><Relationship Type="http://schemas.openxmlformats.org/officeDocument/2006/relationships/slide" Target="/ppt/slides/slide14.xml" Id="R0fbeb02bc80f4f77" /><Relationship Type="http://schemas.openxmlformats.org/officeDocument/2006/relationships/slide" Target="/ppt/slides/slide15.xml" Id="R364828657fd44cea" /><Relationship Type="http://schemas.openxmlformats.org/officeDocument/2006/relationships/slide" Target="/ppt/slides/slide16.xml" Id="R00869c210dcf4702" /><Relationship Type="http://schemas.openxmlformats.org/officeDocument/2006/relationships/slide" Target="/ppt/slides/slide17.xml" Id="R80bdef364036478c" /><Relationship Type="http://schemas.openxmlformats.org/officeDocument/2006/relationships/slide" Target="/ppt/slides/slide18.xml" Id="R8d6fef3f332d434d" /><Relationship Type="http://schemas.openxmlformats.org/officeDocument/2006/relationships/slide" Target="/ppt/slides/slide19.xml" Id="Rb989c55cc5db40f5" /><Relationship Type="http://schemas.openxmlformats.org/officeDocument/2006/relationships/slide" Target="/ppt/slides/slide20.xml" Id="R3b3b9a9f8610476d" /><Relationship Type="http://schemas.openxmlformats.org/officeDocument/2006/relationships/slide" Target="/ppt/slides/slide21.xml" Id="Rbc10af68c8b9413a" /><Relationship Type="http://schemas.openxmlformats.org/officeDocument/2006/relationships/slide" Target="/ppt/slides/slide22.xml" Id="R7548cb88e96f4434" /><Relationship Type="http://schemas.openxmlformats.org/officeDocument/2006/relationships/slide" Target="/ppt/slides/slide23.xml" Id="Rebdc16d9cda04135" /><Relationship Type="http://schemas.openxmlformats.org/officeDocument/2006/relationships/slide" Target="/ppt/slides/slide24.xml" Id="R2c1fb5060fed49ca" /><Relationship Type="http://schemas.openxmlformats.org/officeDocument/2006/relationships/slide" Target="/ppt/slides/slide25.xml" Id="R42a2969888a941b9" /><Relationship Type="http://schemas.openxmlformats.org/officeDocument/2006/relationships/slide" Target="/ppt/slides/slide26.xml" Id="Rb82eaaf8d2a84fb5" /><Relationship Type="http://schemas.openxmlformats.org/officeDocument/2006/relationships/slide" Target="/ppt/slides/slide27.xml" Id="Rac9f3acb822444cb" /><Relationship Type="http://schemas.openxmlformats.org/officeDocument/2006/relationships/slide" Target="/ppt/slides/slide28.xml" Id="R05ca3f2b31064c02" /><Relationship Type="http://schemas.openxmlformats.org/officeDocument/2006/relationships/slide" Target="/ppt/slides/slide29.xml" Id="Rf5723537b62141b4" /><Relationship Type="http://schemas.openxmlformats.org/officeDocument/2006/relationships/slide" Target="/ppt/slides/slide30.xml" Id="R84640d1b6a9545f5" /><Relationship Type="http://schemas.openxmlformats.org/officeDocument/2006/relationships/slide" Target="/ppt/slides/slide31.xml" Id="R4df587612de3401b" /><Relationship Type="http://schemas.openxmlformats.org/officeDocument/2006/relationships/slide" Target="/ppt/slides/slide32.xml" Id="Rf457d050bff6434e" /><Relationship Type="http://schemas.openxmlformats.org/officeDocument/2006/relationships/slide" Target="/ppt/slides/slide33.xml" Id="R62c4c7c32f724673" /><Relationship Type="http://schemas.openxmlformats.org/officeDocument/2006/relationships/slide" Target="/ppt/slides/slide34.xml" Id="Rf619b3f1811245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573d6239541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8c6d1ce4a43a5" /><Relationship Type="http://schemas.openxmlformats.org/officeDocument/2006/relationships/notesMaster" Target="/ppt/notesMasters/notesMaster1.xml" Id="Rddef063f75af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20a7aa37a64353" /><Relationship Type="http://schemas.openxmlformats.org/officeDocument/2006/relationships/notesMaster" Target="/ppt/notesMasters/notesMaster1.xml" Id="R90c9ed6f97554e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d90714a8864483" /><Relationship Type="http://schemas.openxmlformats.org/officeDocument/2006/relationships/notesMaster" Target="/ppt/notesMasters/notesMaster1.xml" Id="R94d157ec954846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dc32b2cb0b47d7" /><Relationship Type="http://schemas.openxmlformats.org/officeDocument/2006/relationships/notesMaster" Target="/ppt/notesMasters/notesMaster1.xml" Id="Rf3d60bbfeae642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0a498a209427e" /><Relationship Type="http://schemas.openxmlformats.org/officeDocument/2006/relationships/notesMaster" Target="/ppt/notesMasters/notesMaster1.xml" Id="R6bd8f81152824e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47f55acdce403e" /><Relationship Type="http://schemas.openxmlformats.org/officeDocument/2006/relationships/notesMaster" Target="/ppt/notesMasters/notesMaster1.xml" Id="R4a60635245ac46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0cd8422e284b50" /><Relationship Type="http://schemas.openxmlformats.org/officeDocument/2006/relationships/notesMaster" Target="/ppt/notesMasters/notesMaster1.xml" Id="Rd6affcbb744f49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c64657865443a1" /><Relationship Type="http://schemas.openxmlformats.org/officeDocument/2006/relationships/notesMaster" Target="/ppt/notesMasters/notesMaster1.xml" Id="R1a97e20ee8b34a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8396ca11534ace" /><Relationship Type="http://schemas.openxmlformats.org/officeDocument/2006/relationships/notesMaster" Target="/ppt/notesMasters/notesMaster1.xml" Id="R4dc93b8d98ea41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c280cd12354109" /><Relationship Type="http://schemas.openxmlformats.org/officeDocument/2006/relationships/notesMaster" Target="/ppt/notesMasters/notesMaster1.xml" Id="Rc756e10c400949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57ac49f78d4620" /><Relationship Type="http://schemas.openxmlformats.org/officeDocument/2006/relationships/notesMaster" Target="/ppt/notesMasters/notesMaster1.xml" Id="R5ac2d17972ce4a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b6b4319b594367" /><Relationship Type="http://schemas.openxmlformats.org/officeDocument/2006/relationships/notesMaster" Target="/ppt/notesMasters/notesMaster1.xml" Id="R44c7d50c581547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196c71901a4d34" /><Relationship Type="http://schemas.openxmlformats.org/officeDocument/2006/relationships/notesMaster" Target="/ppt/notesMasters/notesMaster1.xml" Id="R8242b2eb77ae4c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29c8cb460e49f6" /><Relationship Type="http://schemas.openxmlformats.org/officeDocument/2006/relationships/notesMaster" Target="/ppt/notesMasters/notesMaster1.xml" Id="Raa3492989aef4f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041059863949df" /><Relationship Type="http://schemas.openxmlformats.org/officeDocument/2006/relationships/notesMaster" Target="/ppt/notesMasters/notesMaster1.xml" Id="R76f9296af4024e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b558d045424424" /><Relationship Type="http://schemas.openxmlformats.org/officeDocument/2006/relationships/notesMaster" Target="/ppt/notesMasters/notesMaster1.xml" Id="Rb333d8fc000549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e003ca3a94465f" /><Relationship Type="http://schemas.openxmlformats.org/officeDocument/2006/relationships/notesMaster" Target="/ppt/notesMasters/notesMaster1.xml" Id="R75727564d70044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cac88b148f4913" /><Relationship Type="http://schemas.openxmlformats.org/officeDocument/2006/relationships/notesMaster" Target="/ppt/notesMasters/notesMaster1.xml" Id="R33d72f4ce6ad4b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b8826ceb9a406f" /><Relationship Type="http://schemas.openxmlformats.org/officeDocument/2006/relationships/notesMaster" Target="/ppt/notesMasters/notesMaster1.xml" Id="R1727e8fad7964f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5ebeff3b1743ae" /><Relationship Type="http://schemas.openxmlformats.org/officeDocument/2006/relationships/notesMaster" Target="/ppt/notesMasters/notesMaster1.xml" Id="Rae7ca63ebc7f46b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bc318575244b95" /><Relationship Type="http://schemas.openxmlformats.org/officeDocument/2006/relationships/notesMaster" Target="/ppt/notesMasters/notesMaster1.xml" Id="Ra76f79fc3cf3442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01849a8c1549bd" /><Relationship Type="http://schemas.openxmlformats.org/officeDocument/2006/relationships/notesMaster" Target="/ppt/notesMasters/notesMaster1.xml" Id="R137fbe4acb934d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43cf2b521cd4ef0" /><Relationship Type="http://schemas.openxmlformats.org/officeDocument/2006/relationships/notesMaster" Target="/ppt/notesMasters/notesMaster1.xml" Id="R77bc2ad8c83347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13899ab1a74bda" /><Relationship Type="http://schemas.openxmlformats.org/officeDocument/2006/relationships/notesMaster" Target="/ppt/notesMasters/notesMaster1.xml" Id="R12f16715178243b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fe5f3844ff44b0" /><Relationship Type="http://schemas.openxmlformats.org/officeDocument/2006/relationships/notesMaster" Target="/ppt/notesMasters/notesMaster1.xml" Id="Rfb0e8e29929048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8dcc435269f40fd" /><Relationship Type="http://schemas.openxmlformats.org/officeDocument/2006/relationships/notesMaster" Target="/ppt/notesMasters/notesMaster1.xml" Id="Ree90b2cbbcf345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14795d5df8e4621" /><Relationship Type="http://schemas.openxmlformats.org/officeDocument/2006/relationships/notesMaster" Target="/ppt/notesMasters/notesMaster1.xml" Id="R3560a3271b394e7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aed778995a0432a" /><Relationship Type="http://schemas.openxmlformats.org/officeDocument/2006/relationships/notesMaster" Target="/ppt/notesMasters/notesMaster1.xml" Id="R017eb09ad6c74f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606a330a8974289" /><Relationship Type="http://schemas.openxmlformats.org/officeDocument/2006/relationships/notesMaster" Target="/ppt/notesMasters/notesMaster1.xml" Id="R7a032e635d42452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b09dd9b8954df5" /><Relationship Type="http://schemas.openxmlformats.org/officeDocument/2006/relationships/notesMaster" Target="/ppt/notesMasters/notesMaster1.xml" Id="R81c54f5d507f46c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283f3de898946f6" /><Relationship Type="http://schemas.openxmlformats.org/officeDocument/2006/relationships/notesMaster" Target="/ppt/notesMasters/notesMaster1.xml" Id="Ra30ec6ff47604c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5046bd274e4899" /><Relationship Type="http://schemas.openxmlformats.org/officeDocument/2006/relationships/notesMaster" Target="/ppt/notesMasters/notesMaster1.xml" Id="Rcc396fab157949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45f321ef950433f" /><Relationship Type="http://schemas.openxmlformats.org/officeDocument/2006/relationships/notesMaster" Target="/ppt/notesMasters/notesMaster1.xml" Id="R6c2e5fd5d996425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8a82ac2a124426" /><Relationship Type="http://schemas.openxmlformats.org/officeDocument/2006/relationships/notesMaster" Target="/ppt/notesMasters/notesMaster1.xml" Id="Rb9411def621e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open the Week 02 student file and confirm the working directory before running any exercise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Students mark the outcome that needs the most practice and revisit it at the exit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Explain that each activity produces visible evidence in code, output, or a short written interpretation. Point out the recurring rhythm: predict on paper, then run, then a studio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students to the matching easy, medium, and hard activity labels in the editable handout. Require the expected check before each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Adapted from FS25 L3, L4, L7, and the operator lecture. Students point to one example in the handout for every term.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Model the cycle once. Prediction must be recorded before execution. Today's blue PREDICT slides are the whole-class version of step 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show the printed path to a partner before proceeding. This reuses the import pattern from Week 1B—students should name it, not relearn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https://docs.python.org/3/tutorial/stdlib.html</a:t>
            </a:r>
          </a:p>
          <a:p xmlns:a="http://schemas.openxmlformats.org/drawingml/2006/main">
            <a:r>
              <a:t>- https://docs.spyder-ide.org/current/faq.html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The goal is to connect type to possible operations, not merely copy class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explain why c = a * b cannot be evaluated architecturally even though it is executable.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Same line and same values as the previous slide, so 36.0 is already known. Walk the numbered parts in order and ask what breaks if each one is wrong: a vague name, a missing unit, a swapped operator. Part 2 is the state rule from Week 2A—the right side is evaluated once, at that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Reject names that are merely longer but still ambiguous. Require the unit suffix for measured quantities.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Everyone writes a letter down before anyone speaks. Ask the 240 group to say their reading order aloud—that is the misreading the next slide repairs with parentheses. 40.0 assumes every calculation returns a decimal; both operands are int here, so the result is int. 'An error' assumes - and * cannot be mixed without parentheses.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have already committed on the previous slide. Now run both lines, and have each student write one sentence describing each procedure and estimate the result mentally.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Run one passing assert, then change 36.0 to 40.0 and run again so students watch the AssertionError stop the script mid-file. Stress that the assertion records an answer worked out by hand, before the code 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Use a small value such as 100 m² and 10% so the known answer is obvious: 110 m².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overwriting length_ft with meters would damage provenance. Estimate first: 25 feet is a little over 7 metres.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Circulate for unit labels and estimates. A correct number with a missing unit is incomplete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The first print shows 44.3 m², which makes 44.3 the tempting answer for the second. Have students open Variable Explorer afterwards and read both objects: area_m2 is still a float of 44.26, label is a separate str. Rounding for display never edits the source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inspect area_m2 and label in Variable Explorer and compare their types.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Read the line left to right by number. Ask what each part is responsible for, then delete the f in Spyder and run again so students see the braces print literally. Part 4 is display only; part 5 is the unit that makes the label architectural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Ask whether different deliverables may justify different displayed precision while preserving the same underlying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Show the real message: TypeError: can only concatenate str (not "int") to str. Options A, B, and C are three different assumptions about who does the converting; the answer is that you do, with float() or int(). Contrast this loud failure with Studio 9, where '12' * 3 succeeds silently and returns '121212'.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Show the error from float('eight') only after students predict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- https://docs.python.org/3/tutorial/errors.html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Students need not implement try/except yet; they should document observed failures and desired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 boundary case is the exact value where a rule flips. Anywhere except 40.0 these two operators agree, which is why the boundary must be tested deliberately. Ask which operator matches 'a minimum of 40 m²' and who is accountable for that choice—Python has no default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should happen when area equals exactly 40.0 and why &gt;= expresses that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Require explicit treatment of equality. The Boolean is evidence about one criterion, not an overall quality judgment.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Every wrong option assumes Python presents the result for you: B assumes automatic rounding, C assumes division reports a percentage, D assumes a unit is attached. The stored ratio is dimensionless and unrounded; :.1% on the next slide multiplies by 100 and rounds for display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trace value, type, and unit after every assignment. The stored ratio is the number they just predicted; only the display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https://docs.python.org/3/tutorial/introduction.html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Students should identify that the formula can calculate an impossible geometry; validity requires an additional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Expected repaired area is 36.0 m². The important insight is that the original multiplication succeeds while expressing the wrong operation: '12' * 3 returns the string '121212'. Compare it with the earlier + prediction, which failed loudly instead.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confirm all four artifacts before the exit demonstration. At least two assertions are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Cold-call two volunteers for concise explanations. This is preparation for code reviews later in the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Students save, restart, run from the top, and submit the completed handout.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43a922b214d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de94401ad4537" /><Relationship Type="http://schemas.openxmlformats.org/officeDocument/2006/relationships/slideLayout" Target="/ppt/slideLayouts/slideLayout1.xml" Id="R468a64d30c9744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8a64d30c9744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5a681f9b34ed2" /><Relationship Type="http://schemas.openxmlformats.org/officeDocument/2006/relationships/notesSlide" Target="/ppt/notesSlides/notesSlide1.xml" Id="R80164c0bf6b54b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a7e242736424c" /><Relationship Type="http://schemas.openxmlformats.org/officeDocument/2006/relationships/notesSlide" Target="/ppt/notesSlides/notesSlide2.xml" Id="R9d95ec5bc443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219c3713645af" /><Relationship Type="http://schemas.openxmlformats.org/officeDocument/2006/relationships/notesSlide" Target="/ppt/notesSlides/notesSlide3.xml" Id="R5f4f6b616be442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de0d4a6b94fa7" /><Relationship Type="http://schemas.openxmlformats.org/officeDocument/2006/relationships/notesSlide" Target="/ppt/notesSlides/notesSlide4.xml" Id="Rf586b4941cc94b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28ab38b1b4567" /><Relationship Type="http://schemas.openxmlformats.org/officeDocument/2006/relationships/notesSlide" Target="/ppt/notesSlides/notesSlide5.xml" Id="R916b3a39331d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b343243a34b9a" /><Relationship Type="http://schemas.openxmlformats.org/officeDocument/2006/relationships/notesSlide" Target="/ppt/notesSlides/notesSlide6.xml" Id="R062aeb931e4343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e6c5876b441b" /><Relationship Type="http://schemas.openxmlformats.org/officeDocument/2006/relationships/notesSlide" Target="/ppt/notesSlides/notesSlide7.xml" Id="Rfdc33b5435334b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643a599024749" /><Relationship Type="http://schemas.openxmlformats.org/officeDocument/2006/relationships/notesSlide" Target="/ppt/notesSlides/notesSlide8.xml" Id="R6ed9100266c641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3d33219204e07" /><Relationship Type="http://schemas.openxmlformats.org/officeDocument/2006/relationships/notesSlide" Target="/ppt/notesSlides/notesSlide9.xml" Id="R7a8c4f471aa84b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e12cbe0de415c" /><Relationship Type="http://schemas.openxmlformats.org/officeDocument/2006/relationships/notesSlide" Target="/ppt/notesSlides/notesSlide10.xml" Id="Re834d350a6ad4b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f6523411f48a9" /><Relationship Type="http://schemas.openxmlformats.org/officeDocument/2006/relationships/notesSlide" Target="/ppt/notesSlides/notesSlide11.xml" Id="R8430c45d56ce4f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25573f93841ee" /><Relationship Type="http://schemas.openxmlformats.org/officeDocument/2006/relationships/notesSlide" Target="/ppt/notesSlides/notesSlide12.xml" Id="R093631f604d34a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fd9c60540445a" /><Relationship Type="http://schemas.openxmlformats.org/officeDocument/2006/relationships/notesSlide" Target="/ppt/notesSlides/notesSlide13.xml" Id="R05b91e250d9343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27ee2277b49d7" /><Relationship Type="http://schemas.openxmlformats.org/officeDocument/2006/relationships/notesSlide" Target="/ppt/notesSlides/notesSlide14.xml" Id="Rbb9fad1957e245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777811a0a4aaa" /><Relationship Type="http://schemas.openxmlformats.org/officeDocument/2006/relationships/notesSlide" Target="/ppt/notesSlides/notesSlide15.xml" Id="Rd55d41affce14f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46fa1ef1b41dd" /><Relationship Type="http://schemas.openxmlformats.org/officeDocument/2006/relationships/notesSlide" Target="/ppt/notesSlides/notesSlide16.xml" Id="R7385cafafa374d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2a35bceef4a43" /><Relationship Type="http://schemas.openxmlformats.org/officeDocument/2006/relationships/notesSlide" Target="/ppt/notesSlides/notesSlide17.xml" Id="R4d58693b72834e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10475d58e4958" /><Relationship Type="http://schemas.openxmlformats.org/officeDocument/2006/relationships/notesSlide" Target="/ppt/notesSlides/notesSlide18.xml" Id="R1b269ff5e67e43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9fab5f60544aa" /><Relationship Type="http://schemas.openxmlformats.org/officeDocument/2006/relationships/notesSlide" Target="/ppt/notesSlides/notesSlide19.xml" Id="Rbaf744b0909446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8e96b294c4d8a" /><Relationship Type="http://schemas.openxmlformats.org/officeDocument/2006/relationships/notesSlide" Target="/ppt/notesSlides/notesSlide20.xml" Id="R0283232370f541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6066982204588" /><Relationship Type="http://schemas.openxmlformats.org/officeDocument/2006/relationships/notesSlide" Target="/ppt/notesSlides/notesSlide21.xml" Id="Rf6c30d82c57a496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ce200bf464880" /><Relationship Type="http://schemas.openxmlformats.org/officeDocument/2006/relationships/notesSlide" Target="/ppt/notesSlides/notesSlide22.xml" Id="R6bec3316569448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c398fe4d142e8" /><Relationship Type="http://schemas.openxmlformats.org/officeDocument/2006/relationships/notesSlide" Target="/ppt/notesSlides/notesSlide23.xml" Id="R73ee508d67f346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218972f9947b6" /><Relationship Type="http://schemas.openxmlformats.org/officeDocument/2006/relationships/notesSlide" Target="/ppt/notesSlides/notesSlide24.xml" Id="R65b9ce75370848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ba5a67e424665" /><Relationship Type="http://schemas.openxmlformats.org/officeDocument/2006/relationships/notesSlide" Target="/ppt/notesSlides/notesSlide25.xml" Id="R5bde48402d3e40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4fa78b55b413c" /><Relationship Type="http://schemas.openxmlformats.org/officeDocument/2006/relationships/notesSlide" Target="/ppt/notesSlides/notesSlide26.xml" Id="R697cae03c7cb44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879bb19a64fde" /><Relationship Type="http://schemas.openxmlformats.org/officeDocument/2006/relationships/notesSlide" Target="/ppt/notesSlides/notesSlide27.xml" Id="R7b71024fbfe542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ac13774094fc7" /><Relationship Type="http://schemas.openxmlformats.org/officeDocument/2006/relationships/notesSlide" Target="/ppt/notesSlides/notesSlide28.xml" Id="R7b778f2360344b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08c545d3a4042" /><Relationship Type="http://schemas.openxmlformats.org/officeDocument/2006/relationships/notesSlide" Target="/ppt/notesSlides/notesSlide29.xml" Id="R664d0ff736ba46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fe446ed504b13" /><Relationship Type="http://schemas.openxmlformats.org/officeDocument/2006/relationships/notesSlide" Target="/ppt/notesSlides/notesSlide30.xml" Id="R1b8ab91105c34ef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d24057780498a" /><Relationship Type="http://schemas.openxmlformats.org/officeDocument/2006/relationships/notesSlide" Target="/ppt/notesSlides/notesSlide31.xml" Id="R306f88b3f8d84e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6ca908d4548d4" /><Relationship Type="http://schemas.openxmlformats.org/officeDocument/2006/relationships/notesSlide" Target="/ppt/notesSlides/notesSlide32.xml" Id="Rd851ba44a68f4b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3262aa9df462b" /><Relationship Type="http://schemas.openxmlformats.org/officeDocument/2006/relationships/notesSlide" Target="/ppt/notesSlides/notesSlide33.xml" Id="R41a8ab0f40164f1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a46ce642a4996" /><Relationship Type="http://schemas.openxmlformats.org/officeDocument/2006/relationships/notesSlide" Target="/ppt/notesSlides/notesSlide34.xml" Id="R26b5b799e48a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CA377197-835C-4B76-AF67-1A49E64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AED31449-A603-419B-B22B-1D73853D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E4103DFA-F5D3-436A-AB21-5C8D5DC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646EAAAC-868C-4C68-A637-281DC70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2 · MEETING B · QUANTITY STUDIO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A3093495-FEE9-4681-8481-0F7BF1EC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and test an architectural quantity calculator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70DEF9D2-622A-49A4-B1F1-B063A501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Spyder practice with types, units, formatting, comparisons, and boundary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C734F-5E11-4574-BD17-9C875C83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18AC15BA-A9C0-4586-8D22-FCC7F263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679046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D2B0F1A-5630-4904-8256-86C64C7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834D97-1425-4AD3-81DA-1E90660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37EC6-71BC-4CD2-92C3-70EF5D34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9B9F193-5726-4AD2-A97E-44D1612B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DCE96A-0CF8-497D-A361-3FB799B9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D790B66F-5655-4679-A1BE-7F2D6995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DEAFBE9B-FBA1-4CF5-A882-CB6D453E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A574BF44-2B81-4388-9A6F-470B4DB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type(), the Console, and Variable Explorer to verify representation.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26B0DDA8-4D3B-4EDB-9144-C0950ADD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0E619462-631D-4E61-94D6-128BF9BD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82C5A3B1-3359-47DB-8791-9BCC6551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Build unit-aware arithmetic with explicit precedence and conversion.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DACE2B23-49D5-46D0-920A-C3EEF268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7BA5FD20-2687-4398-AE30-F94BCAB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Communicate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F4E777E0-00A8-44A8-81FA-A7C4ED2D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Format outputs so value, precision, label, and unit remain visible.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33D03028-C4B0-4514-918E-C4E54D39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F3357C26-EE09-42F0-A5EE-FF41F331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648A0759-4FAD-4AE0-AAB3-CE1F358F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known, boundary, and invalid cases to audit the calculator and AI suggestions.</a:t>
            </a:r>
          </a:p>
        </p:txBody>
      </p:sp>
    </p:spTree>
    <p:extLst>
      <p:ext uri="{BB962C8B-B14F-4D97-AF65-F5344CB8AC3E}">
        <p14:creationId xmlns:p14="http://schemas.microsoft.com/office/powerpoint/2010/main" val="709016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604A8B33-4422-4790-B8B9-AFE519F9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343482-8658-486F-BE50-544878BB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ED27C-9180-40E2-BCD8-21DBE86E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3240658-5B56-46F7-9B17-4DA38ED9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1E4F74-53C4-413B-8971-DE730169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FF25808E-370F-4031-A307-7279EF1C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7464F-67B3-492C-81AB-C6F55752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8BA60C1B-6F1A-4892-B5F8-5B1DA846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Inspect values and repair ambiguous names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E80798BD-E17C-4F27-90CA-9196F1D0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2F6D1-A16A-482E-90C9-04376E7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E7A8BEC5-D91E-40AA-B9AE-7DEA388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operators, precedence, and conversion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AA262545-4434-4924-BC20-D0C3276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7984E-4CFE-4C82-A3AB-99B3614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57051051-12E8-4D6E-8841-962E289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 the facade opening-ratio calculator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65ADC433-B024-4A81-99DB-ED884CD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AC58E-193F-4083-B5EB-54A26610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4B65939B-AB30-4B54-826D-6C6EEA4C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boundaries and audit AI-generated code</a:t>
            </a:r>
          </a:p>
        </p:txBody>
      </p:sp>
    </p:spTree>
    <p:extLst>
      <p:ext uri="{BB962C8B-B14F-4D97-AF65-F5344CB8AC3E}">
        <p14:creationId xmlns:p14="http://schemas.microsoft.com/office/powerpoint/2010/main" val="979747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E4747910-1289-49BE-9BE7-6EFD95D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EASY → MEDIUM → HARD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F64378-220F-468F-B1BC-23356047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handout advances from a value check to a defensible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EA3B7-B8DD-4D9D-B627-FA5D317A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DB45F3-9B62-4951-BEB8-7654178A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B27751F-1E3F-455A-8A62-30B0F63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ladder-row-0">
            <a:extLst xmlns:a="http://schemas.openxmlformats.org/drawingml/2006/main">
              <a:ext uri="{FF2B5EF4-FFF2-40B4-BE49-F238E27FC236}">
                <a16:creationId xmlns:a16="http://schemas.microsoft.com/office/drawing/2014/main" id="{88142485-A5AC-448D-BCF6-B4340D4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7" name="ladder-accent-0">
            <a:extLst xmlns:a="http://schemas.openxmlformats.org/drawingml/2006/main">
              <a:ext uri="{FF2B5EF4-FFF2-40B4-BE49-F238E27FC236}">
                <a16:creationId xmlns:a16="http://schemas.microsoft.com/office/drawing/2014/main" id="{C03E7A3F-3726-4A6C-988D-C590C4C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dder-level-0">
            <a:extLst xmlns:a="http://schemas.openxmlformats.org/drawingml/2006/main">
              <a:ext uri="{FF2B5EF4-FFF2-40B4-BE49-F238E27FC236}">
                <a16:creationId xmlns:a16="http://schemas.microsoft.com/office/drawing/2014/main" id="{B1C65599-F452-4544-9ECD-C453DBA6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5B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9" name="ladder-focus-0">
            <a:extLst xmlns:a="http://schemas.openxmlformats.org/drawingml/2006/main">
              <a:ext uri="{FF2B5EF4-FFF2-40B4-BE49-F238E27FC236}">
                <a16:creationId xmlns:a16="http://schemas.microsoft.com/office/drawing/2014/main" id="{B12E7856-9EF1-4F27-953A-6DF6E533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Inspect + calculate</a:t>
            </a:r>
          </a:p>
        </p:txBody>
      </p:sp>
      <p:sp>
        <p:nvSpPr>
          <p:cNvPr id="10" name="ladder-task-0">
            <a:extLst xmlns:a="http://schemas.openxmlformats.org/drawingml/2006/main">
              <a:ext uri="{FF2B5EF4-FFF2-40B4-BE49-F238E27FC236}">
                <a16:creationId xmlns:a16="http://schemas.microsoft.com/office/drawing/2014/main" id="{428F7A71-49BF-4AAC-9A83-849B6518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193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Compare 12, 12.0, and '12'; then calculate 12.0 m × 3.0 m.</a:t>
            </a:r>
          </a:p>
        </p:txBody>
      </p:sp>
      <p:sp>
        <p:nvSpPr>
          <p:cNvPr id="11" name="ladder-divider-0">
            <a:extLst xmlns:a="http://schemas.openxmlformats.org/drawingml/2006/main">
              <a:ext uri="{FF2B5EF4-FFF2-40B4-BE49-F238E27FC236}">
                <a16:creationId xmlns:a16="http://schemas.microsoft.com/office/drawing/2014/main" id="{DF3A0561-911F-4596-BD46-97E88174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dder-check-label-0">
            <a:extLst xmlns:a="http://schemas.openxmlformats.org/drawingml/2006/main">
              <a:ext uri="{FF2B5EF4-FFF2-40B4-BE49-F238E27FC236}">
                <a16:creationId xmlns:a16="http://schemas.microsoft.com/office/drawing/2014/main" id="{928A1CEB-626D-4998-8340-6CDA8FFF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193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13" name="ladder-answer-0">
            <a:extLst xmlns:a="http://schemas.openxmlformats.org/drawingml/2006/main">
              <a:ext uri="{FF2B5EF4-FFF2-40B4-BE49-F238E27FC236}">
                <a16:creationId xmlns:a16="http://schemas.microsoft.com/office/drawing/2014/main" id="{BE20B3B6-D87C-44BF-B7CF-E7316273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int, float, str; 36.0 m²</a:t>
            </a:r>
          </a:p>
        </p:txBody>
      </p:sp>
      <p:sp>
        <p:nvSpPr>
          <p:cNvPr id="14" name="ladder-row-1">
            <a:extLst xmlns:a="http://schemas.openxmlformats.org/drawingml/2006/main">
              <a:ext uri="{FF2B5EF4-FFF2-40B4-BE49-F238E27FC236}">
                <a16:creationId xmlns:a16="http://schemas.microsoft.com/office/drawing/2014/main" id="{1E7FFEB4-F0DF-4171-A7C3-C39BD284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ladder-accent-1">
            <a:extLst xmlns:a="http://schemas.openxmlformats.org/drawingml/2006/main">
              <a:ext uri="{FF2B5EF4-FFF2-40B4-BE49-F238E27FC236}">
                <a16:creationId xmlns:a16="http://schemas.microsoft.com/office/drawing/2014/main" id="{B4558E94-6B12-4805-944D-BFC50F1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dder-level-1">
            <a:extLst xmlns:a="http://schemas.openxmlformats.org/drawingml/2006/main">
              <a:ext uri="{FF2B5EF4-FFF2-40B4-BE49-F238E27FC236}">
                <a16:creationId xmlns:a16="http://schemas.microsoft.com/office/drawing/2014/main" id="{B9F4FCE6-2EA2-4C81-A12A-400422EF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7" name="ladder-focus-1">
            <a:extLst xmlns:a="http://schemas.openxmlformats.org/drawingml/2006/main">
              <a:ext uri="{FF2B5EF4-FFF2-40B4-BE49-F238E27FC236}">
                <a16:creationId xmlns:a16="http://schemas.microsoft.com/office/drawing/2014/main" id="{AC326AAB-A73B-4AF0-B14D-1A2B6690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+ compare</a:t>
            </a:r>
          </a:p>
        </p:txBody>
      </p:sp>
      <p:sp>
        <p:nvSpPr>
          <p:cNvPr id="18" name="ladder-task-1">
            <a:extLst xmlns:a="http://schemas.openxmlformats.org/drawingml/2006/main">
              <a:ext uri="{FF2B5EF4-FFF2-40B4-BE49-F238E27FC236}">
                <a16:creationId xmlns:a16="http://schemas.microsoft.com/office/drawing/2014/main" id="{8F8AC142-1AAD-4C78-9417-242FEB9F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'8.5' and '5.2', calculate area, and test area_m2 &gt;= 40.0.</a:t>
            </a:r>
          </a:p>
        </p:txBody>
      </p:sp>
      <p:sp>
        <p:nvSpPr>
          <p:cNvPr id="19" name="ladder-divider-1">
            <a:extLst xmlns:a="http://schemas.openxmlformats.org/drawingml/2006/main">
              <a:ext uri="{FF2B5EF4-FFF2-40B4-BE49-F238E27FC236}">
                <a16:creationId xmlns:a16="http://schemas.microsoft.com/office/drawing/2014/main" id="{A892A491-B103-4BBF-B205-E65E0A2E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dder-check-label-1">
            <a:extLst xmlns:a="http://schemas.openxmlformats.org/drawingml/2006/main">
              <a:ext uri="{FF2B5EF4-FFF2-40B4-BE49-F238E27FC236}">
                <a16:creationId xmlns:a16="http://schemas.microsoft.com/office/drawing/2014/main" id="{E82021F4-53CB-4946-ADBC-FB207FDD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21" name="ladder-answer-1">
            <a:extLst xmlns:a="http://schemas.openxmlformats.org/drawingml/2006/main">
              <a:ext uri="{FF2B5EF4-FFF2-40B4-BE49-F238E27FC236}">
                <a16:creationId xmlns:a16="http://schemas.microsoft.com/office/drawing/2014/main" id="{DFB181A2-8ABC-4296-AA06-9DC2A4C1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528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44.2 m²; True</a:t>
            </a:r>
          </a:p>
        </p:txBody>
      </p:sp>
      <p:sp>
        <p:nvSpPr>
          <p:cNvPr id="22" name="ladder-row-2">
            <a:extLst xmlns:a="http://schemas.openxmlformats.org/drawingml/2006/main">
              <a:ext uri="{FF2B5EF4-FFF2-40B4-BE49-F238E27FC236}">
                <a16:creationId xmlns:a16="http://schemas.microsoft.com/office/drawing/2014/main" id="{157B8FB4-6C46-4208-AF7B-AA69ED1B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728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ladder-accent-2">
            <a:extLst xmlns:a="http://schemas.openxmlformats.org/drawingml/2006/main">
              <a:ext uri="{FF2B5EF4-FFF2-40B4-BE49-F238E27FC236}">
                <a16:creationId xmlns:a16="http://schemas.microsoft.com/office/drawing/2014/main" id="{94CD6432-B4A8-4894-9C23-7C6473FA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dder-level-2">
            <a:extLst xmlns:a="http://schemas.openxmlformats.org/drawingml/2006/main">
              <a:ext uri="{FF2B5EF4-FFF2-40B4-BE49-F238E27FC236}">
                <a16:creationId xmlns:a16="http://schemas.microsoft.com/office/drawing/2014/main" id="{28195AC2-4357-4DDA-92BF-F44590E9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5" name="ladder-focus-2">
            <a:extLst xmlns:a="http://schemas.openxmlformats.org/drawingml/2006/main">
              <a:ext uri="{FF2B5EF4-FFF2-40B4-BE49-F238E27FC236}">
                <a16:creationId xmlns:a16="http://schemas.microsoft.com/office/drawing/2014/main" id="{0B576014-B6B4-4698-8114-059CB846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371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the model</a:t>
            </a:r>
          </a:p>
        </p:txBody>
      </p:sp>
      <p:sp>
        <p:nvSpPr>
          <p:cNvPr id="26" name="ladder-task-2">
            <a:extLst xmlns:a="http://schemas.openxmlformats.org/drawingml/2006/main">
              <a:ext uri="{FF2B5EF4-FFF2-40B4-BE49-F238E27FC236}">
                <a16:creationId xmlns:a16="http://schemas.microsoft.com/office/drawing/2014/main" id="{B29AC11F-94B1-478D-86D2-55C720C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14900"/>
            <a:ext cx="5943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opening ratios for 0, 81, 162, and 200 m² on an 18 m × 9 m facade.</a:t>
            </a:r>
          </a:p>
        </p:txBody>
      </p:sp>
      <p:sp>
        <p:nvSpPr>
          <p:cNvPr id="27" name="ladder-divider-2">
            <a:extLst xmlns:a="http://schemas.openxmlformats.org/drawingml/2006/main">
              <a:ext uri="{FF2B5EF4-FFF2-40B4-BE49-F238E27FC236}">
                <a16:creationId xmlns:a16="http://schemas.microsoft.com/office/drawing/2014/main" id="{9716DCED-98FA-4CF7-ACB4-73BC1FC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9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dder-check-label-2">
            <a:extLst xmlns:a="http://schemas.openxmlformats.org/drawingml/2006/main">
              <a:ext uri="{FF2B5EF4-FFF2-40B4-BE49-F238E27FC236}">
                <a16:creationId xmlns:a16="http://schemas.microsoft.com/office/drawing/2014/main" id="{2A4C884E-5F63-4F72-A1BB-1964DF4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149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EXPECTED CHECK</a:t>
            </a:r>
          </a:p>
        </p:txBody>
      </p:sp>
      <p:sp>
        <p:nvSpPr>
          <p:cNvPr id="29" name="ladder-answer-2">
            <a:extLst xmlns:a="http://schemas.openxmlformats.org/drawingml/2006/main">
              <a:ext uri="{FF2B5EF4-FFF2-40B4-BE49-F238E27FC236}">
                <a16:creationId xmlns:a16="http://schemas.microsoft.com/office/drawing/2014/main" id="{9C8F3F0B-4E9A-4558-BF80-FDF37E1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006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0%, 50%, 100%, 123.5% invalid</a:t>
            </a:r>
          </a:p>
        </p:txBody>
      </p:sp>
    </p:spTree>
    <p:extLst>
      <p:ext uri="{BB962C8B-B14F-4D97-AF65-F5344CB8AC3E}">
        <p14:creationId xmlns:p14="http://schemas.microsoft.com/office/powerpoint/2010/main" val="1435670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kicker">
            <a:extLst xmlns:a="http://schemas.openxmlformats.org/drawingml/2006/main">
              <a:ext uri="{FF2B5EF4-FFF2-40B4-BE49-F238E27FC236}">
                <a16:creationId xmlns:a16="http://schemas.microsoft.com/office/drawing/2014/main" id="{D1F2BAD9-A562-4E16-9435-89D9E033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9489A2-AB2C-4D8D-A989-E1E476BE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the vocabulary used in today's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7BAB8-F2AD-48FA-85CF-71D506F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F987300-E0AA-44FE-B7CE-5F7F9F16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227EF4E-34C6-4826-AC57-4A6F8076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E4489-874A-4F3B-BFC5-0FAAC0D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11EAD708-C3C4-4A92-98E5-ED779FD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4953E-B8A3-425B-A7BB-36B72C68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526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2B8E6F16-EB48-4C2A-A15F-D0967405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288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6E6DB-18E3-45AE-B22D-4F9460F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BD732B1D-A6E9-46EF-B3BF-A4C4A9E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288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architectural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C085E-32DD-4ECB-9414-E41B70C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272BC185-425D-4824-932C-6E2FA073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literal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5036B-6A46-4F0D-AB97-B22CF5EB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860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774565A6-6238-4BBF-AF69-F6CCDE68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622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value written directly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29C6F-F2B1-48C3-8CEE-4A6231E0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860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82099D7A-E742-4AEE-91F5-51E0AD29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622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40.0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645FA-2AF0-4787-9625-678C87BA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8DC32231-6A32-4CD5-A532-2DB556D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DE1F7-F391-4BA6-9D3D-C954B8EA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194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1B9A02E9-D907-4B82-86FC-816740A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56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name referring to a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0E643-F236-4A26-97A1-40953248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94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170269DC-8B77-4ED2-B665-72A36FDD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956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minimum_m2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8346B-4039-4F3D-8C49-24601AB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04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139885A1-9CED-4EA1-A044-C2476E6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66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0754E-9F6A-4AC5-85E6-551FBCF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04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D0D24439-84AF-4BAD-A143-0BBF0801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366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value category defining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68C675-1100-4BAE-B3D7-A1FD2895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6049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683CB61D-CBB4-4E46-8566-27D13D58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3669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float, str, bool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AB3E1-7165-4D68-827C-99BF857B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15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F6E55E31-F47F-4331-A773-A57B76F1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77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C2FB81-79C4-40BE-9A21-927120A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015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2B23057F-4D43-41D0-9F84-59FA2F7F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777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code that evaluates to a value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30BBF9-12C7-4E6D-9597-876B3DAE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0151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434194E5-6675-43CF-A032-8A58B2A2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771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width_m * height_m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0BEE30-D919-473B-B7B7-FE467FF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25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2ECFCF57-586A-4478-8AC9-81FA7BA7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87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D9315-4EEF-450B-908C-E06C9684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25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FF780511-A50E-47AD-9915-2A1DDAD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187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question returning True or False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B52C1-21E3-4AF3-8B45-5B2D2220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4253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1B2A76A0-C9AA-483B-B889-FFD2BDA9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1873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 &gt;= minimum_m2</a:t>
            </a:r>
          </a:p>
        </p:txBody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449BD607-3970-48D8-BEF2-B9F4D02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3" name="callout">
            <a:extLst xmlns:a="http://schemas.openxmlformats.org/drawingml/2006/main">
              <a:ext uri="{FF2B5EF4-FFF2-40B4-BE49-F238E27FC236}">
                <a16:creationId xmlns:a16="http://schemas.microsoft.com/office/drawing/2014/main" id="{2BFBCF4E-D355-46EC-A724-51719CF8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Say each line in words before asking Spyder to run it.</a:t>
            </a:r>
          </a:p>
        </p:txBody>
      </p:sp>
    </p:spTree>
    <p:extLst>
      <p:ext uri="{BB962C8B-B14F-4D97-AF65-F5344CB8AC3E}">
        <p14:creationId xmlns:p14="http://schemas.microsoft.com/office/powerpoint/2010/main" val="1901657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87560161-DD1E-47AE-93F2-D3FE0E5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C2C4B4-18E2-4DAD-9997-D01DB920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Repeat one studio cycle for every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356DB-5103-43FE-B052-D4999020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56B823C-BF0D-4AD9-AAB6-6D4104A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2155B4-DF1B-4311-817B-4A0B3D39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C6979B87-8336-4C1A-B54A-767F541A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59210833-7DDD-477F-AED4-4112591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838E5E4B-C47A-47C8-8796-DC0D4AC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BB6EB233-8230-487C-8A1E-D33A1A2B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3ACD51F3-9028-492F-A9B1-B36DF17D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95EDBED2-2624-4D27-9C35-F72EAD8A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EC0CB-450C-46DC-98F8-C6A9CA2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17F6043C-1BFE-48D7-9916-167F1EC5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expected result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9A78A727-511B-4B50-AA9D-2863DE96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Include value, type, unit, or expected error.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7086F82B-3342-4622-94DB-1215DEA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BD8D43A-D91D-4B9C-809D-18DC549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E549B9F-20B3-4E06-AD82-4B4CE35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E351E-42CC-4FC8-8D96-9AF43686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13DA3E8B-35C8-414C-96F7-EDED315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Execute one cell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8E81878-485E-429D-8A30-2D968C00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Ctrl+Enter and leave later cells untouched.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83ED57E-F7D3-4529-9068-5C6CCE3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F0A010D-FC3A-4D51-AA15-51FB537B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10B1B23-5420-4984-897E-C1CDC2C8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DF546-AE6B-4554-8985-5D845488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70746B2F-032D-495B-A88A-C4BCAE57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evidence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01455BF7-452A-4CA3-A141-3F5EF071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Check Console output and Variable Explorer state.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2A36480B-42CE-400A-BF86-9521E98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1B6A8C46-30BA-45C3-BE00-A02EB621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C75EEDF0-F5E8-4771-A0C0-D6BB8FB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0C854-B048-4DE1-9E7A-B0F02913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9C8AFFA4-9DAA-4FF4-A1CF-8E56FA8E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Interpret the result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F90AE89-23A3-4693-95E0-9767A735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what the result means and one limitation.</a:t>
            </a:r>
          </a:p>
        </p:txBody>
      </p:sp>
    </p:spTree>
    <p:extLst>
      <p:ext uri="{BB962C8B-B14F-4D97-AF65-F5344CB8AC3E}">
        <p14:creationId xmlns:p14="http://schemas.microsoft.com/office/powerpoint/2010/main" val="1628406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3A6B7AF1-756E-4BF8-9039-4C9E2E46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44921D-0B0C-48EE-A418-587FBA6C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Start by confirming the file and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65740-6653-46DF-97A1-1B1909CA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E4E680-9D32-49AD-BB69-2333825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29038A-10C2-4D8D-A678-DF3E415D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42C4372-FF29-4366-B9B2-26E2524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2C6A1C3-0247-43FD-8666-2C821F7A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sys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print(Path.cwd())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print(sys.version.split()[0])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53F3427-1804-4C24-BEB1-2DC7D125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Do not debug the wrong problem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7695189-B639-4F3D-BB47-66E7CEF1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Recall from Week 1B: import loads a module (pathlib, sys) so its tools become available by name. A correct working folder and known interpreter prevent many file and package failures. Save the handout copy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904774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45753E8-258A-4763-AFCD-3F030302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73DDD1-44EF-4F0B-AC2D-DE49B77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classify values before using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95581-96AD-4961-883A-149B5392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EA04A8F-378D-468C-85FB-C5DB7B66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BDF5FBB-7E08-4792-956E-0AA3C763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1F02E38F-CC03-46BE-A6BF-E2ED3775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1E29D76-6A9F-47FB-82D9-C4004A56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 five values and five Python types before running the cell.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6BEDDBC1-DC91-4EEE-A7F9-BB2CB66D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20950C15-DDD7-4545-BA69-B9DB4A76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147A6D8-CA4B-4057-A53C-78A4039B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Annotate int, float, str, bool, and None examples.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A696A339-CF92-4C97-84F1-580BFAD6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D821ED9-2F52-4811-9E69-222D666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and compare with type(value).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57F13F68-3049-439B-9711-B0D21FD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A2AC3BBD-0CCF-4630-901D-3476CF2D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Find each object in Variable Explorer.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E018EA91-B683-439C-9B69-57D4478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DA688B8C-0F30-4CEF-8204-435EB99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valid and one invalid operation for two types.</a:t>
            </a:r>
          </a:p>
        </p:txBody>
      </p:sp>
    </p:spTree>
    <p:extLst>
      <p:ext uri="{BB962C8B-B14F-4D97-AF65-F5344CB8AC3E}">
        <p14:creationId xmlns:p14="http://schemas.microsoft.com/office/powerpoint/2010/main" val="18348268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10089E44-2D03-4ED1-B80B-E72219A7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62378B-DD37-4162-A67F-AD82F1C0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Names turn arithmetic into an architectural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DDB54-19A7-492F-8E42-9CCE5275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7E4248-7E52-40A1-9D31-4F1F5C20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8CC6F4E-DC39-42E3-A61A-AFC86B0A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E92213A-591A-4316-A798-AE17423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86E11E5-5A30-48FD-B85A-D316EA6D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 =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 = 3.0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 = a * b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revise as: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wall_width_m =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wall_height_m = 3.0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wall_area_m2 = wall_width_m * wall_height_m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821B9-A87D-4E5B-BF8C-3C84510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3FF41BA-D765-43C6-9BC5-79CB87F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2A21612B-3755-4C3C-A6ED-66D8A84E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36.0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67DE956-B77E-48CE-A8C3-E6DE3579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Both versions run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1A4D4E0-45B7-4CFB-A32C-076CBC93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4611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Only the second version communicates concept, unit, and result. Readability is part of correctness when another person must audit the model.</a:t>
            </a:r>
          </a:p>
        </p:txBody>
      </p:sp>
    </p:spTree>
    <p:extLst>
      <p:ext uri="{BB962C8B-B14F-4D97-AF65-F5344CB8AC3E}">
        <p14:creationId xmlns:p14="http://schemas.microsoft.com/office/powerpoint/2010/main" val="11482342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8DB21844-235F-43F7-A0C9-7B3DDBA2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D7C46C-DD8F-47BE-A599-254823E6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part of an assignment line is a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C5808-5CE5-4377-B53E-3C89951F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38DA593-1237-4955-A49B-D3B938D6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765E5AD-B0F8-40B3-A3AD-D556DC3C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19D9FBC1-8E67-421A-8A7E-AFC1D303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2E2F6053-2F64-4A7D-B6D6-8FEDF67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057400"/>
            <a:ext cx="939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wall_area_m2 = wall_width_m * wall_height_m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0A6A9-E967-4664-828C-A01A8EC7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479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168313A1-21D0-41ED-BCF6-5DD02270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217D7A88-D83C-4715-8FF2-6BEC7594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EB512EF8-8B2C-4023-BDFF-EE48B9D3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644A94F2-C38A-46A2-8D2D-4B7141AF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22AC77DF-4135-413B-B6B4-400CEE8F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result name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69F7D3C6-9936-4C27-B132-39F61EF1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37026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Names the concept and unit: square metres.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78CB9-11EB-493B-9546-C4D5A65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AB6E7F43-87D8-45E6-8AC7-A8829B12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3BDE5AEE-914D-4993-8FA7-49B3694B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10B865FF-4D16-4CE6-A784-44B3D36F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CA97AC88-91CA-4824-9777-92A7CEFC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DB665FA8-7671-4863-8AF5-0E5B6D0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23944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3AA549CA-436F-443A-B8A0-FEB47A77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04182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right side runs first; then the name is bound.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F8E612-0B4C-421F-B4AC-951EC38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479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4A7D9B15-CF7A-4DCA-AFC7-5E9E4C4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61F3A9B5-21CA-4AAD-AE60-0F3E70B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A37C93B1-08F6-42C8-98E7-D23CBB4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92A3E934-E4B9-4222-AC06-275A635C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5F4E84F7-F53B-42D5-9597-5383064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First input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8FA4CD43-D4C4-4B79-9ECC-320B6F3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12.0 m, with the unit carried in the name.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61E4B-FB5F-42BA-95CE-14B74B18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461F0E80-985A-4DAE-803C-D51DF77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0CE7A7B4-99E0-4D1A-A90E-C5C03DC3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571364D3-7454-4401-ACE3-85C9528B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0297CCC5-C10B-4FF1-B2DA-22C65F73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1140CFDE-8A7F-48A1-8215-D5889F1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123944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Multiplication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A07C1538-9A29-4AED-B2DC-73E0965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51070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Width × height models a rectangular wall.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25A9A5-09FE-4F09-BDFA-7522C3C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47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20935354-A4B3-416C-B35D-E71342B9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796B971F-9130-43E5-B853-87FCC32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F7C60DE3-F8AE-438E-BE3E-E4ED9CE8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37766951-267E-401B-8893-9794E10A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5256A0AB-16A7-487A-A343-72B0D4FF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Second input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11BC6C2A-51C2-4CF7-95C4-135B76F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3.0 m; metre × metre produces m².</a:t>
            </a:r>
          </a:p>
        </p:txBody>
      </p:sp>
    </p:spTree>
    <p:extLst>
      <p:ext uri="{BB962C8B-B14F-4D97-AF65-F5344CB8AC3E}">
        <p14:creationId xmlns:p14="http://schemas.microsoft.com/office/powerpoint/2010/main" val="251366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9C592E4-E812-4707-AFE9-6D7DD9A6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A75C6A-3D15-4788-879D-E04A07F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repair ambiguous quantities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F8F24-91C7-4388-B89E-F3E936E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BA509E6-E159-46DE-9509-F5CAEF40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D0665C-C25E-476B-8CD7-597EEC71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2295C7C6-ACD8-4341-92FD-B4E8A49A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3391D42A-D9FB-4FF7-965D-59F4D4C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Rename a short calculator without changing its numerical behavior.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BC3892B2-2A62-4CF9-AEA7-533F139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445E988F-4639-4752-B6C1-567268AB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6F29CF2C-8A7E-4086-80F8-9BDFF407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Identify the architectural meaning and unit of every input.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B895E589-C1B4-472A-840B-D70CC482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6A8A1DDC-09FB-4091-B035-1F0AB3EA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Rename each variable using snake_case.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BF9341FF-913F-4698-9B70-9989ABA6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54124C16-0A21-4783-97AA-3AD1FC5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one comment for a modeling assumption.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E2B9F6DE-225F-438C-92DF-3D08F3A6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7A9620B-0105-4702-AC0D-663D735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 that the result remains 36.0 m².</a:t>
            </a:r>
          </a:p>
        </p:txBody>
      </p:sp>
    </p:spTree>
    <p:extLst>
      <p:ext uri="{BB962C8B-B14F-4D97-AF65-F5344CB8AC3E}">
        <p14:creationId xmlns:p14="http://schemas.microsoft.com/office/powerpoint/2010/main" val="73910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2114D31-0D29-4CA3-B307-EAB04B5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3DE54D-106E-4013-AB41-32AEE081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Operator order decides this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5617E-FAD1-484E-A51B-6EDF6359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79F3B1-50B9-4876-8181-FD55C4E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3F47A3F-D5AB-4E7A-8673-25C1E89D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88C6D56-E175-4177-82B9-006EA9E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66F3196B-919A-49D4-9666-C18E5792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100 m2 plate, three 20 m2 service zones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100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zone_m2 = 20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print(area_m2 - zone_m2 * zones)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5241303-9814-4AC5-BBBE-1E0225E7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C9C6A964-C48A-4025-8849-6C6FB6B4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A5A4868F-AFF7-4C97-BEA2-67815BF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FE1064C2-5C82-47FE-A368-F4013031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E91F4784-2613-46C3-8FE7-48EEBF9F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DBEA1519-DC07-47A6-9B33-67C11A6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734668DB-0969-43AB-9FC1-463DFC5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240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7F7CDFC1-34D5-420E-AFE7-4911044E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CCDE5F6C-86FC-489E-BAA4-30A2085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310517D5-47B7-49DD-A5D4-94D21759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40.0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A788475B-BFE9-48CF-A263-80C2AE9E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CB6B864A-5B67-4FC4-A276-B34C8C53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2885FFD3-A4C6-48C9-9300-DF1B423E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an error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EB8C0B13-AD00-480A-9FDF-26D9CE0D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0E390056-6CED-400E-9CC5-ED051964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A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CB4E2DBA-4E08-4A38-8048-564E7B5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Python multiplies before it subtracts. Reading strictly left to right gives 240.</a:t>
            </a:r>
          </a:p>
        </p:txBody>
      </p:sp>
    </p:spTree>
    <p:extLst>
      <p:ext uri="{BB962C8B-B14F-4D97-AF65-F5344CB8AC3E}">
        <p14:creationId xmlns:p14="http://schemas.microsoft.com/office/powerpoint/2010/main" val="16727321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E00BE83-DD99-4AD1-A206-9A8A0FDF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79161F-15F1-4237-ACB3-7767244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Parentheses can change the 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DEEBA-A39E-4352-96B6-8851A59A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728552-39D5-431C-B007-22A00EB5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A0ED252-C40D-4B89-BAE6-F61A00E0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FA705BC-EA1C-4E13-A81A-793C006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60AEFE0-000C-4156-846A-126A6FA9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print(100 - 20 * 3)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print((100 - 20) * 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CBB31-BD13-46C5-87B0-553F7C0B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389E28B9-7DB2-4C00-9979-98F68B75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B1609F4A-29F1-447A-B474-30630F52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240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5288090-13CA-4FAC-84A6-74593679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different procedures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975DFEF-D5E3-4F40-8C8B-FFF0C18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first subtracts three groups of 20 from 100. The second subtracts first, then triples the remainder. Grouping changes the model, not just the appearance.</a:t>
            </a:r>
          </a:p>
        </p:txBody>
      </p:sp>
    </p:spTree>
    <p:extLst>
      <p:ext uri="{BB962C8B-B14F-4D97-AF65-F5344CB8AC3E}">
        <p14:creationId xmlns:p14="http://schemas.microsoft.com/office/powerpoint/2010/main" val="974210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F567D73-63B9-41E5-AC00-6499CDB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6C051D-5666-401F-BFA9-5AF442E2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assertion writes a known answer into the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F16B3-4EAA-4681-AECD-70DD28CB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C4A11F7-FA0A-4180-A5F9-30F8637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8DD4E9F-8F39-4C13-AE1A-DE12E7A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D6B352AA-3B2D-490E-B51E-6260632F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C21C1BFC-4599-46A5-AC4B-F5C2D31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assert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A06E9-AB5D-4EAC-AF46-673E36F4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C78B6CD1-4626-426D-AF97-7946CD6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checks that a condition is True. If it is True the script simply continues. If it is False, Python stops at once with an AssertionError, so a wrong number cannot travel into the next calculation. Recall from Week 2A: this is the course's first correctness check, and today's calculator needs at least two of them.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E4A105CF-B8D8-478C-B8EE-E911FAE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083FB52A-1F52-4992-9883-E7C21F33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BF37DEED-432C-4BA3-9D6C-92FEEBF2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assert wall_area_m2 == 36.0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8670D1A1-EF8B-488D-9DBE-AB864DC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 m by 3.0 m must give 36.0 m². Writing that known answer into the script means the next person to edit it finds out immediately if the edit broke the arithmetic. Note == asks a question; a single = would rebind the name instead. Change 36.0 to 40.0 and the script stops on this line instead of printing a wrong area.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335FA18E-6940-4E57-9CC3-949447A6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E22E44C8-58B1-48F7-AA55-EE8C7288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2ADF752A-E2C1-4F7A-B59E-5298E506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passing assert prints nothing. Silence is the pass signal — a blank Console does not mean the line was skipped.</a:t>
            </a:r>
          </a:p>
        </p:txBody>
      </p:sp>
    </p:spTree>
    <p:extLst>
      <p:ext uri="{BB962C8B-B14F-4D97-AF65-F5344CB8AC3E}">
        <p14:creationId xmlns:p14="http://schemas.microsoft.com/office/powerpoint/2010/main" val="7466705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97D57ED-F93E-4189-AE5C-5AC600BF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4DAA39-571F-4493-B2DB-A4BDDA34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expose the intended grouping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FA79A-4640-4AF7-AFDD-0344554A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4DDD137-22EA-4F7A-A34B-B9A53A2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6ECE8A-CA56-4E27-BA86-E7DA7009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41CDDB57-C816-4CF5-83CD-B2612AA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571E2579-5F11-4E1E-B4C3-21CA6AA8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 an area-plus-allowance expression whose parentheses are missing.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010FBBF-18E3-4B28-866B-B96FFEB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DF4A4C8A-869E-4CF1-B1F1-8C463375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DDA013C-6D46-4216-A641-BEFC6A7B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Translate the calculation into words.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718223B-A06A-459B-A9B2-299B756B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E2C98D8C-A2DD-4AEE-8B60-41D67B09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the wrong and correct results.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7EC60665-8D54-4E5D-A9C9-A6C475D8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AA4E2F0D-E7B4-4CA2-A065-4DFF2624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parentheses that match the stated procedure.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E3D6F84A-56F3-4455-A057-C0E54C5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69B0A01A-72A6-417B-862C-71971A13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Create one assertion with a known answer.</a:t>
            </a:r>
          </a:p>
        </p:txBody>
      </p:sp>
    </p:spTree>
    <p:extLst>
      <p:ext uri="{BB962C8B-B14F-4D97-AF65-F5344CB8AC3E}">
        <p14:creationId xmlns:p14="http://schemas.microsoft.com/office/powerpoint/2010/main" val="19094622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FEF034F-D876-4EB4-B644-47A201A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4FE6ED-5032-4A27-8F94-CA211B3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Unit conversion keeps source and result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37F08-4D8E-4AE6-A02B-BF7062D1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680859B-73F7-478A-B778-D1ED386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88F4D7C-929B-4B24-9292-A46513F5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028996AC-E60B-45B8-87F5-63A0F6D5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ABA5B92-308E-4C2A-B2E8-8EBE5321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length_ft = 25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feet_to_m = 0.3048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length_m = length_ft * feet_to_m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print(length_m)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print(7 &lt; length_m &lt; 8)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9E733-17CE-4EA9-99A4-C393A3CB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3441456-9F2A-438D-A416-9980389E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F664CA9-BDF5-4F73-B759-596866FA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7.62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522980CF-886F-4606-828E-8C4010E9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Conversion plus plausibility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53CC105-73AD-4E3D-B466-3766A11D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7872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original value remains available, the factor is named, the converted name carries the new unit, and a rough range check catches order-of-magnitude errors.</a:t>
            </a:r>
          </a:p>
        </p:txBody>
      </p:sp>
    </p:spTree>
    <p:extLst>
      <p:ext uri="{BB962C8B-B14F-4D97-AF65-F5344CB8AC3E}">
        <p14:creationId xmlns:p14="http://schemas.microsoft.com/office/powerpoint/2010/main" val="4183233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AC10426-5FBF-4CF1-978E-633618AD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9A7F2D-FB8E-4936-A350-6770CEB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build a transparent conversion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F19F5-2DA9-4DFD-B4CD-8342BB72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A49E7F2-4514-435F-A763-33F94F2A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509CE9-5E79-4A17-B22F-346A621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9FC2725B-DBC9-4A44-AEAC-289ECDE7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A1EDE568-1818-4BF1-BA4F-3ABB6D29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Convert a supplied dimension and defend the result.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E01EED8C-9C44-4348-9AC5-B97B170A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F1B2641B-AD94-4F71-AEC2-B73235D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D36968B-5747-41E5-8299-1D940BE2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Estimate the converted range before calculation.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AF6F04B9-8E36-461D-B0C9-CD5F54CA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D3663740-64AF-4DEA-8809-379D79E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Use a named factor and preserve the source value.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467C7481-6463-4303-AD58-203DAD9E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3B47327D-11D5-42F3-B49E-9FD09C1C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 the result with its new unit.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027E08B-C1E6-4F04-BBCE-170A808B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91C41373-9CC5-4D02-8D3F-12AC11A6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 Boolean plausibility check.</a:t>
            </a:r>
          </a:p>
        </p:txBody>
      </p:sp>
    </p:spTree>
    <p:extLst>
      <p:ext uri="{BB962C8B-B14F-4D97-AF65-F5344CB8AC3E}">
        <p14:creationId xmlns:p14="http://schemas.microsoft.com/office/powerpoint/2010/main" val="1467118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3F930D7B-573D-4CDD-9C21-8F0C39DA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7E49CA-10E0-488A-95B3-37E1B601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f-string, two objects to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686B7-D2B5-4244-B805-EEE0243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F1C4355-735F-4292-A822-E208B8C9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9CE989A-ECCD-47C1-84DD-CCEE666E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E4B2D54-051D-428B-B398-1E2D702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FB6EA68-FDCC-4C61-92F3-698A5008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44.26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label = f'{area_m2:.1f} m²'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print(label)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print(area_m2)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2A36E38C-8742-4EF5-863C-5DAD0471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the last line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BF87FCC9-750E-4A6B-91EA-6B070DD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11A6ADEC-8DE7-4871-ACF1-DB16757E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2995A99E-E1D2-4DAB-AD9C-82A3510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44.3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E7C35F39-7045-439E-8B7F-32E9C435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231F78CA-21A6-4F4C-9717-8E41A3B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2EE3A700-C4A8-42DF-983A-B64DAE87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44.26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94E7B7C2-0014-4E15-A77A-A9D3FC4A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AB2053F7-FD70-48F8-B41B-2491CE82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637241CA-9A4C-4922-B5C1-D3391B4F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44.3 m²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D12C46E8-CA6F-40DE-A397-2B822F2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7B7A9483-D1D9-4373-92B9-575F960D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AAD6E93F-3C54-45BC-87AC-DA38DD98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44.26 m²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75F3A2C5-7993-481F-8962-DDBBC69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A63572B1-6C39-4AFA-8A7D-E8094B3A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EFA20AA4-A816-4B41-9DA2-70E5505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Formatting builds a new string. The stored number is untouched: area_m2 is still 44.26.</a:t>
            </a:r>
          </a:p>
        </p:txBody>
      </p:sp>
    </p:spTree>
    <p:extLst>
      <p:ext uri="{BB962C8B-B14F-4D97-AF65-F5344CB8AC3E}">
        <p14:creationId xmlns:p14="http://schemas.microsoft.com/office/powerpoint/2010/main" val="10742850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7811034-15D5-4581-891D-E8F34367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6F97D3-9340-49E6-872D-2A8A6F5D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f-strings join calculation and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F9720-8C65-4555-AB7E-7B584995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DA1A333-3E9B-45F6-9FA3-BC26C07D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4B417F9-4996-4B48-A32F-E5107751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38D5853-E883-43FF-A9ED-CBDA08A2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4D00D58-43C3-4014-98E6-598EF9A7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 = 'Gallery'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44.234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label = f'{room}: {area_m2:.1f} m²'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print(label)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A14D9-F47F-40AD-80E3-E2D2BD7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9564E39-FC18-45C1-AA95-985285B6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ECE9AB35-445E-408A-ABF3-C36F75A3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Gallery: 44.2 m²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994E3485-3640-460B-B45F-A59A611C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Display is a choice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9DBD46A-55A6-45AC-B28B-47EED4F0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object remains a number until formatting. The label records room, rounded display, and unit. Do not mistake one decimal place for measurement accuracy.</a:t>
            </a:r>
          </a:p>
        </p:txBody>
      </p:sp>
    </p:spTree>
    <p:extLst>
      <p:ext uri="{BB962C8B-B14F-4D97-AF65-F5344CB8AC3E}">
        <p14:creationId xmlns:p14="http://schemas.microsoft.com/office/powerpoint/2010/main" val="12999156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">
            <a:extLst xmlns:a="http://schemas.openxmlformats.org/drawingml/2006/main">
              <a:ext uri="{FF2B5EF4-FFF2-40B4-BE49-F238E27FC236}">
                <a16:creationId xmlns:a16="http://schemas.microsoft.com/office/drawing/2014/main" id="{98AF1319-F879-425E-B7F5-E61966FC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DFCC65-AF1F-4AA6-9BC5-99557C4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f-string is a template with slots you fill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90C80-85D1-400C-B393-00B0545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83114BD-0EB7-4309-B4EE-46800D11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0FE266-2AF6-4DCF-9887-A8E8894B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5AE48904-F844-4598-B1C7-C5802E0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04B16074-E7C3-4A78-BB46-9519941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5740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label = f'{room}: {area_m2:.1f} m²'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E53A2-D2A7-468E-9613-F9300FEB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0161A73D-02AE-4DE1-9DCF-4B657BA5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0DD08292-73E1-4ED2-8BC8-3E1C3CC3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91168A28-0BD2-435A-A5A6-D5B64D8F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6E1D024F-8CD8-4BCE-BD6D-1A541C23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B80F8AAF-FBF9-40F5-A685-779FD751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9900"/>
            <a:ext cx="1409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label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321BC64F-8F91-4F08-819E-85071D64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138"/>
            <a:ext cx="1714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finished text: an f-string produces a str.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3BF46-39BD-48F0-A942-522503FE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47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5E37B045-1442-4998-9E78-ECC2C4AB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B970E9D3-4FB1-4B4A-AF53-7F185A7B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5DB6593B-03E5-4AE8-B7D7-FEE6B2A7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DF162C72-E3B2-43D2-A9FE-6E816B63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DF12530F-6B53-43FC-BA31-9870103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23944"/>
            <a:ext cx="1409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 prefix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3D5898AB-3656-41F1-AE4F-3F0DD680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51070"/>
            <a:ext cx="1714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Without the f, braces print as characters.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BF47C-D9EB-48C8-9C58-32FDFC6D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479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7CE6433B-1681-4D5E-9810-01712430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3D0079FC-3D61-4FC3-9C5A-E47ECBF8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2A7637EC-DFC8-4572-8AAC-5E28136C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A17473EA-D3F7-4609-B989-136432A9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C9C4C6C9-4CE2-47EA-AA51-D2D5E86A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09900"/>
            <a:ext cx="1409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value slot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59736CFF-5386-4BE6-B667-1114E3E4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7026"/>
            <a:ext cx="1714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Insert whatever room refers to right here.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93324-623A-4036-B510-D986E9EB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A58496B0-9BCD-40EA-9701-E8505A70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3110D420-E5D8-4EC8-85E8-C7D07535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79B0BFE8-C52E-4E71-B877-1EFD9D5C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65C118A0-B0CD-4031-B953-6207F03E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BACDDBEC-EF5A-4254-9DE3-4D99ABD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1409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C63FAB0C-B660-4978-9805-922958BE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138"/>
            <a:ext cx="1714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Any expression works; it is evaluated first.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DC9051-6A70-44A9-97F8-E43BF2DB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47950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B2FD5DAC-2956-4F96-B46D-05FAF24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E0DD406B-B878-4822-8782-EE366EE3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A060F821-9321-40E1-A4FB-4543720B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4299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B5C7422B-6DE3-4524-9174-5954384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81094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C4EA22AA-28F9-4207-B7B5-D675A90F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23944"/>
            <a:ext cx="1409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Format spec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6A51E66C-7577-452C-AF98-8ACA282D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04182"/>
            <a:ext cx="1714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decimal place. Display only, after the colon.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55190B-132B-435E-9D26-AF5CE9ED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44" name="part-chip-5">
            <a:extLst xmlns:a="http://schemas.openxmlformats.org/drawingml/2006/main">
              <a:ext uri="{FF2B5EF4-FFF2-40B4-BE49-F238E27FC236}">
                <a16:creationId xmlns:a16="http://schemas.microsoft.com/office/drawing/2014/main" id="{F9C1A01F-9EE3-48E0-876C-B7B5C895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rt-chipno-5">
            <a:extLst xmlns:a="http://schemas.openxmlformats.org/drawingml/2006/main">
              <a:ext uri="{FF2B5EF4-FFF2-40B4-BE49-F238E27FC236}">
                <a16:creationId xmlns:a16="http://schemas.microsoft.com/office/drawing/2014/main" id="{F60DAB33-D5E0-4972-9324-D4CA3B20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6" name="part-lchip-5">
            <a:extLst xmlns:a="http://schemas.openxmlformats.org/drawingml/2006/main">
              <a:ext uri="{FF2B5EF4-FFF2-40B4-BE49-F238E27FC236}">
                <a16:creationId xmlns:a16="http://schemas.microsoft.com/office/drawing/2014/main" id="{E78716FD-6487-458D-95C3-0799BA82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rt-lchipno-5">
            <a:extLst xmlns:a="http://schemas.openxmlformats.org/drawingml/2006/main">
              <a:ext uri="{FF2B5EF4-FFF2-40B4-BE49-F238E27FC236}">
                <a16:creationId xmlns:a16="http://schemas.microsoft.com/office/drawing/2014/main" id="{95F32521-5A25-45F9-A781-77A72BF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8" name="part-head-5">
            <a:extLst xmlns:a="http://schemas.openxmlformats.org/drawingml/2006/main">
              <a:ext uri="{FF2B5EF4-FFF2-40B4-BE49-F238E27FC236}">
                <a16:creationId xmlns:a16="http://schemas.microsoft.com/office/drawing/2014/main" id="{A6464783-B2F2-44C2-9844-DE26BFC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09900"/>
            <a:ext cx="1409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Literal text</a:t>
            </a:r>
          </a:p>
        </p:txBody>
      </p:sp>
      <p:sp>
        <p:nvSpPr>
          <p:cNvPr id="49" name="part-body-5">
            <a:extLst xmlns:a="http://schemas.openxmlformats.org/drawingml/2006/main">
              <a:ext uri="{FF2B5EF4-FFF2-40B4-BE49-F238E27FC236}">
                <a16:creationId xmlns:a16="http://schemas.microsoft.com/office/drawing/2014/main" id="{9C116518-5E6F-45A2-AF41-161F6E05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37026"/>
            <a:ext cx="1714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Text outside braces is copied exactly as typed.</a:t>
            </a:r>
          </a:p>
        </p:txBody>
      </p:sp>
    </p:spTree>
    <p:extLst>
      <p:ext uri="{BB962C8B-B14F-4D97-AF65-F5344CB8AC3E}">
        <p14:creationId xmlns:p14="http://schemas.microsoft.com/office/powerpoint/2010/main" val="7120320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7B8C182B-2665-4586-BBB2-CE80E124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A88CEA-43F9-433C-AC42-6F407CE1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5: format a room-schedule label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826CF-87F9-4B79-8946-1E5EA10B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8F5A34-2B11-412D-87D4-D663D121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A85DF3D-8E43-46C6-8B0B-0D7335B3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77E4E328-ED84-45E0-8D0D-D10CC0D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A420C95E-C008-49EB-8912-84D5948D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one readable line from a room name, level, and calculated area.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F5E21E0B-75C3-4656-9DD0-10F18A9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6AAD1899-E96B-4AD7-A9D6-B47246E1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E7EA07C-13AB-477C-A2C0-FD72BD6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Keep calculated area as a float.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2C406173-A858-44C6-BCF9-8D717E7C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89610186-1B70-40A4-8CE7-C857CBCB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Use an f-string rather than repeated concatenation.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1446BC80-4320-4742-81D9-BC575DFF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30646A8E-E620-4BAD-A2D3-94CF601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and justify display precision.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B7F41DC-D304-402B-ABBC-40215368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3AC878F-B19F-4A53-ACE3-2A79C860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Include the unit and inspect both objects' types.</a:t>
            </a:r>
          </a:p>
        </p:txBody>
      </p:sp>
    </p:spTree>
    <p:extLst>
      <p:ext uri="{BB962C8B-B14F-4D97-AF65-F5344CB8AC3E}">
        <p14:creationId xmlns:p14="http://schemas.microsoft.com/office/powerpoint/2010/main" val="4399848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91AFCE76-AA7D-427B-BE91-6AAED63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E5CAF8-1B4A-4E7D-8414-99207F3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Text and a number meet at a + 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754FE-7603-4F4B-BF65-ED42D71B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5676B0-37A4-404F-B042-78169A04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ACF3A2C-A7E8-4107-BB6C-2C66CC2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8C9F464-B0BD-4EBB-8AEB-1B31E9C1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D9E28A0-DDDA-4277-9BCD-6F583CB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a count that arrived from a text field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count_text = '12'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extra_floors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print(count_text + extra_floors)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D5AB520-7D59-4829-BC81-54C68CA5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898EB64C-1117-4A75-9A68-DC69131D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88DC0276-5A2E-46C8-974E-A4351895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68948564-AE2D-4496-A671-411889C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F94FF935-E21A-4B7A-85B6-DC89348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5F8546FB-F508-424F-915F-A7FC266F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47FB7E31-9794-429E-92A9-01C7D91B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'123'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FF3977D8-500D-4F73-9808-E4EE3633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A2A1FF49-1CFD-42B2-AC67-949F41EE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19B17A3A-D6CE-417E-9395-EAD8F92D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123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4AE346CD-A2CF-4E21-8666-BDA0A3CA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EEA9374B-2E27-4146-BE2C-AE490D3C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E0CC8296-957F-40C3-A3BC-B90A033A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TypeError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E77384DC-C95F-4F5B-BDC8-8B7A64A2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41137E07-B3F2-47A1-B406-A83F6DFC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D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4E8F9C5C-1777-48B3-B326-3CE91FA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Python never guesses a conversion: + joins two strings or adds two numbers, never one of each.</a:t>
            </a:r>
          </a:p>
        </p:txBody>
      </p:sp>
    </p:spTree>
    <p:extLst>
      <p:ext uri="{BB962C8B-B14F-4D97-AF65-F5344CB8AC3E}">
        <p14:creationId xmlns:p14="http://schemas.microsoft.com/office/powerpoint/2010/main" val="20351328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C7223A05-EA7C-4F1F-A675-5E19B33A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2B0779-EF8B-411C-9856-A6FEB80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text before arithmetic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E3B5C-FACA-41EC-9676-483ED76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ECD652-09A0-4AF8-A0B0-96F0CA8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687938-08EF-4777-A9F4-D81DC504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D306B1B-0F39-43CC-A6A0-67BC6B23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DBDE4742-3825-41AD-8770-39DE71E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length_text = '8.5'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width_text = '5.2'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length_m = float(length_text)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width_m = float(width_text)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length_m * width_m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print(area_m2)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8F340-72F9-49E6-9CC5-C2B3DDF0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DE33854-CAC8-411A-8CBB-1664CD4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4C6F5F21-56F1-4BF8-9B8C-20C3BE8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44.2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ABFEE226-1C38-45E8-8B3D-F79F46E0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Input and calculation differ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23C2955-2CB6-43B9-81F0-0C8BF25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Strings preserve the entered characters. float() creates numerical values that can be multiplied. Conversion can fail, so validation remains a separate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5693817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B744D313-2418-4B88-9D63-C6DCABAF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MEDIUM STUDIO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3ADE0D-7BBF-4760-A755-D44E986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6: convert, calculate, and reject bad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001FD-6FEA-4CE6-A20E-CAFC4D0B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7E4F4EA-6C53-47B7-8B54-2C53B87F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BC8721-F0E4-4C9F-93CD-3B4F9C32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E12801C1-C9C5-4408-8D42-F4E43201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5904D7B-A1DF-4EF8-B627-89BE7F5E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two dimension strings into a tested area calculation.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26731490-9A91-40F5-8A59-1771B7E5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74D0C6FE-1E18-4789-A5BF-842A887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0AE9AD0-81A9-4A12-BB02-958ACFFD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Convert both values explicitly.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80EBDBA9-D155-495F-B12F-5E0B720A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8E53C3A6-B6A0-4FD0-B1C9-144FB3A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Calculate and format area with units.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2540FF86-28B0-4637-9E3A-A12E59D2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1BE0B850-FAB3-49BD-8D98-47F8A82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Try empty text, a word, zero, and a negative dimension.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A383F8C-A772-407B-BAE2-3FAACAA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F58A6D70-4ACB-45D3-8D7D-55B624D8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which cases should be rejected and why.</a:t>
            </a:r>
          </a:p>
        </p:txBody>
      </p:sp>
    </p:spTree>
    <p:extLst>
      <p:ext uri="{BB962C8B-B14F-4D97-AF65-F5344CB8AC3E}">
        <p14:creationId xmlns:p14="http://schemas.microsoft.com/office/powerpoint/2010/main" val="165028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3273C850-081E-4248-968A-01BB1F6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DCA64A-E137-42E5-A3C1-9D9A256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room sits exactly on the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CD0C9-C1B1-4254-AE56-88064754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0AFCF74-5ABA-465F-8AB6-8D0E1410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D35BA46-7862-4BA0-A50A-3F4B2D5C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18160C1-876B-43B2-89F3-A07D559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659F26D-AAC9-4ECA-A50D-E5B4F44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the room sits exactly at the programme minimum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minimum_m2 = 40.0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print(area_m2 &gt; minimum_m2)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print(area_m2 &gt;= minimum_m2)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EE7EC5F4-4806-4E75-AD09-2702000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 the two lines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0B9F90D2-CAD6-4C16-99FE-FB69AB4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85D8B033-00D6-40E5-A951-6E9AD90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6105C710-51C4-4554-A27D-AE2793A5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True, then True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3759D669-0062-467C-A753-60EE0134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BDF80183-814C-4F84-8D5C-A41F1FD9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ED5E0F63-31BA-49B2-B42C-CC297759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False, then True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57D8309B-6C25-471F-9B64-2D92C68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E67D3C15-28A7-49B6-B1D1-C242B8FE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E508475B-AA96-461B-AB63-693F3581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True, then False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F2D89700-3D8D-41B6-978B-0A3E94F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15ED660A-1AB9-4207-88B7-915F62A4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4D82AD14-DBF8-4A08-B3B8-EE57FBAB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False, then False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EF175895-EE31-4BE4-8010-82489191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2E52FAF-BCD3-4A17-A6A0-6B9A4542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908E211F-C4FD-4667-97BF-B9592DB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&gt; excludes the boundary value; &gt;= includes it. 'At least 40' is a policy, so write &gt;=.</a:t>
            </a:r>
          </a:p>
        </p:txBody>
      </p:sp>
    </p:spTree>
    <p:extLst>
      <p:ext uri="{BB962C8B-B14F-4D97-AF65-F5344CB8AC3E}">
        <p14:creationId xmlns:p14="http://schemas.microsoft.com/office/powerpoint/2010/main" val="1898034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5B753BF-8ECA-4740-AEBC-18496A0C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6BEF37-0531-41BC-8B41-E83B9828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comparison converts a rule into Boolean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769BF-970F-4FC8-A58D-59690F98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F0F8CB4-0777-4D08-AD6E-0964E192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6AEA9AC-4F31-42AA-AB2E-CA71BB7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83B63DD-AB65-407E-9F69-38A8B7AA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5CF4E85-1EE7-4A91-AB60-334EFD9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area_m2 = 44.2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minimum_m2 = 40.0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meets_minimum = area_m2 &gt;= minimum_m2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print(meets_minimum)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A4DC9-CE75-42A7-9E95-D791B8B2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9F1BDD5-C09F-40D9-A5A9-1BF413B1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7071F558-5700-40C0-8DA8-171CBB2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8269309-C0D9-41F2-B426-7E65633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670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Evidence precedes action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4E4E7FDD-92CF-4B18-ACDF-78C03F1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64611"/>
            <a:ext cx="369570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comparison returns a Boolean. Week 3 will use that Boolean to control program behavior. Today, verify the rule and boundary carefully.</a:t>
            </a:r>
          </a:p>
        </p:txBody>
      </p:sp>
    </p:spTree>
    <p:extLst>
      <p:ext uri="{BB962C8B-B14F-4D97-AF65-F5344CB8AC3E}">
        <p14:creationId xmlns:p14="http://schemas.microsoft.com/office/powerpoint/2010/main" val="8714264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E52E7E85-0845-4EEC-9337-49DFE026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BCDF50-6EEE-4E1D-BD35-7AC240D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7: translate a requirement into a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7FD3-70DB-4620-8C21-7E7F532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77D13A0-9065-4058-A707-FCC0C2A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F466C8-094B-4C4B-AEF1-9351B6FA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9A782408-8829-4F07-825C-F9320B0D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C9EA310-5AE6-446B-9CC8-8A738B1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 a minimum-area requirement with a named Boolean.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3DAB3DDD-ADF1-4947-96B7-417766AF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892C7772-EF8E-433E-BE96-3DB57C1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91F392AD-8E48-4D83-B4EB-56D83A68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requirement in plain language.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97A615F8-3F6E-462F-9BC8-5F2B5DC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DF184868-3AE2-4AD0-9409-29348A1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Choose the comparison operator deliberately.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7553900-840E-4CDC-9682-403FF253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4D89A372-047E-435D-A85E-7C7B0DB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 below, equal to, and above the threshold.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E2DDC42E-D9CB-4242-8050-D77FF10E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611CC4C-EA63-4E26-A3CE-2250271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whether the threshold alone supports a design decision.</a:t>
            </a:r>
          </a:p>
        </p:txBody>
      </p:sp>
    </p:spTree>
    <p:extLst>
      <p:ext uri="{BB962C8B-B14F-4D97-AF65-F5344CB8AC3E}">
        <p14:creationId xmlns:p14="http://schemas.microsoft.com/office/powerpoint/2010/main" val="13772709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F77DF15-7EBE-4E79-A6E6-7A4F210D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3268719-1FB5-4F53-80E4-1AADD805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division, four plausible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B9637-159C-481C-8F79-D77223B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BED7C3E-F582-41BD-9F08-B670A92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A63D0B-2D42-4057-BFE7-81003B5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E8AFF7B3-1CC5-4CFB-BF43-1A96A4DB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47252E1-7E20-4763-9A8D-CFDA2E60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18.0 m by 9.0 m facade, 42.0 m2 of window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facade_area_m2 = 18.0 * 9.0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window_area_m2 = 42.0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print(window_area_m2 / facade_area_m2)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9851387-3D7C-4F38-9FFA-12CD4495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41A24BAF-A879-42DD-894E-AA1B663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0E3AF4CD-097D-4699-9D07-336EA878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D25F16CB-120E-4DEE-8377-2E310A5A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0.25925925925925924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52F4C832-C322-4811-91A1-AA8E8F33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3B7D8928-9A96-4A3B-87B8-EB86A51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59A86825-7ECB-4D75-BEA5-EC30E1F9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0.26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FA790E82-C5EC-484B-905D-B1E799BB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4AA6F564-8EBA-4553-9F71-576190A2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ADE06766-B23C-4E5D-AB7C-A0D3F93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25.9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CD09573B-7449-4AAE-9959-5F3BEA4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DD7435E7-37C0-4C97-9C2F-ECE53374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7972A920-684F-449E-BE13-02E64096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25.9%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67762789-782E-4BC5-A8D0-8F1317A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33FE80A0-F7A6-4B38-AC09-8E0DD365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A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505081FA-19BA-43E0-BAA3-7BF3991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Division returns the whole float. Rounding and the % sign are display choices you must ask for.</a:t>
            </a:r>
          </a:p>
        </p:txBody>
      </p:sp>
    </p:spTree>
    <p:extLst>
      <p:ext uri="{BB962C8B-B14F-4D97-AF65-F5344CB8AC3E}">
        <p14:creationId xmlns:p14="http://schemas.microsoft.com/office/powerpoint/2010/main" val="14661671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341447E2-E3DC-4091-AB2D-CA33439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F03340-9FE3-4D9D-85E6-EC41777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facade ratio combines the week's core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AC642-E28C-472A-8F84-EB5EBE94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D4C1967-26D6-4CAA-A3D1-A015794C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07A5606-9EA1-4226-929E-E1ABBA14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D0D302C-8571-4FFE-B91D-3E1F5CDF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EDA29347-68D3-489F-9C1A-4F5CBBD1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facade_width_m = 18.0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facade_height_m = 9.0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window_area_m2 = 42.0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facade_area_m2 = facade_width_m * facade_height_m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opening_ratio = window_area_m2 / facade_area_m2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print(f'Opening ratio: {opening_ratio:.1%}')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16519-5C3A-429E-ACF7-C85B9A7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FCC7570-FA4F-4B49-8A7F-58C7BF1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DE14F0F1-2375-4585-9008-DBA65FA5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Opening ratio: 25.9%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51E9093-DC88-44B9-A18A-886E15D4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Trace the evidence chain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763A9CC-6B37-4D07-B1DE-14BC9C0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88411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Inputs carry units, arithmetic creates area, division cancels units into a ratio, and formatting presents a percentage. Every step can be predicted and tested.</a:t>
            </a:r>
          </a:p>
        </p:txBody>
      </p:sp>
    </p:spTree>
    <p:extLst>
      <p:ext uri="{BB962C8B-B14F-4D97-AF65-F5344CB8AC3E}">
        <p14:creationId xmlns:p14="http://schemas.microsoft.com/office/powerpoint/2010/main" val="10053553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B7B7339D-ED50-41DC-A6F6-A816DA7D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HARD STUDIO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C1232B-BEF7-4E0B-A5B2-17355DCF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8: challenge the model at its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A91B2-58CF-469E-B038-6EAF9890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80177AF-7A5E-4A59-A623-73A95DD1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2506421-5889-4ADE-9159-021BA6F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FEE39FC6-3649-44FF-9A75-15C36BC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FA993A8B-958F-40F2-A5F0-C5D7023A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no-opening, half-facade, full-facade, and excessive-opening cases.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17AAC6AB-EF3E-45B0-B9CF-A0B3F64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F6028D3F-0FA1-4AD2-BF8B-1C696F49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D6B9266-88E7-492C-9EF8-124F427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0%, 50%, 100%, and greater than 100%.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EBBE464-0833-413D-8138-38FE2DDF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B3F8908A-4271-4AD3-A66A-F3F5C3E9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 all four results in the same script.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658EADFE-C5A2-45CD-B483-B982152D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52913E2-4E5A-4072-9A16-C13D803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assertions for the three known valid cases.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A5192A22-3007-47A9-8E49-F3E62BE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B8554DF4-4921-447A-935D-86D2D7AC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a warning policy for invalid geometry.</a:t>
            </a:r>
          </a:p>
        </p:txBody>
      </p:sp>
    </p:spTree>
    <p:extLst>
      <p:ext uri="{BB962C8B-B14F-4D97-AF65-F5344CB8AC3E}">
        <p14:creationId xmlns:p14="http://schemas.microsoft.com/office/powerpoint/2010/main" val="14887169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407A366-25D9-42F0-A5AD-9CA996F5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HARD AUDIT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ACFE21-9098-4723-8063-6B4A4A0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9: audit AI-generated calculator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FEC91-9F1A-47AD-8FFB-9F2EA32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167EA78-BE44-4F73-854A-CC9489D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3DE0048-F5E0-4A04-B7D5-24E627A0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1CA6CB0F-7471-468A-83A5-FC5C0130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A0C27D6-00A3-45C2-9E45-DBE97A7E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multiplies the string '12' by 3 and calls the result area.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8DD4FB47-3345-4E1B-80DF-722999AE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40370435-1263-4718-9CC6-F8CDC4F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11F359D-16E9-495C-A6F7-9F65C3D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the intermediate object and its type.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0232AFB-30BE-4D32-A902-E803A2F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F9FB906C-720F-4520-8C82-31150298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Repair conversion, names, units, and formatted output.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BFAD64E2-EB7E-46C5-9D9C-2198767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7A157AAF-EBDE-49FD-A753-4E18B78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 known-answer assertion.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F683F8EA-E707-4E30-A6B7-FBCB3F85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9BAD2151-FDD6-4A88-AA95-6570110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Record what you accepted, modified, and rejected.</a:t>
            </a:r>
          </a:p>
        </p:txBody>
      </p:sp>
    </p:spTree>
    <p:extLst>
      <p:ext uri="{BB962C8B-B14F-4D97-AF65-F5344CB8AC3E}">
        <p14:creationId xmlns:p14="http://schemas.microsoft.com/office/powerpoint/2010/main" val="97058475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6972F549-1D9C-4E73-8A0A-FC6BB5F8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57D018-B437-461C-81B7-31CDE87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Save a compact evidence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572E8-C08D-4068-9A83-D1D29E9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2E3809-0E80-4584-BECB-F6F6C8E7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752B4C-5C91-4A77-ABDD-D86BF24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80FCE3AD-6DB3-4B26-BB8E-648F339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1FD192E-4DC3-49B2-A078-190CDF10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4CE909A2-07AF-495E-855B-4E0E618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71CC514B-07D3-4D26-837A-13D78AC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4354D55-FDA3-4D2A-B8F0-71740CE6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F85C47D-4910-44D0-BEDA-1051C89A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3C1C4-BA2F-4C4F-9358-E584EA9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E3AC9743-7946-47DC-8B7A-D33A5B23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Complete .py file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855686B-D2A7-43C6-81D0-A9616F2A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Runs from the top after a restart.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11BDD761-ED92-4230-98C2-7082B32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E549AA0-8985-410B-97FF-812F6650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F08EE6E-2F37-4670-AF5C-04A2BBF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1544A-2624-4F8C-8E4C-F2B06D5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C6309F81-6787-4AE8-8249-490DEC3F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Expected values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EE889312-2FAD-4CE3-88F6-4A8089EC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Includes units and readable labels.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9FA8E2C3-C5E1-452C-AF2F-35C51E5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78E07F6-5476-4383-B0C3-AA2500E8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0F472134-4EC3-4194-85F1-AC462464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25E00-E2FF-4DB8-B08D-8E8C2358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2F7A4EB8-4F65-4DBA-A2F9-B1576EC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Assertions and cases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5F95038-E6C7-4ABB-87FB-2088180B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Covers known and boundary behavior.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B1EFA176-431A-450A-BA53-02BE6C0F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49678271-A074-4F3A-BAD8-36AEFED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EB1958F0-9E4F-4364-BD42-024256DE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A2A1D-36F9-4ACF-B26A-6BA4B232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638504DB-914A-4BB4-80C8-5870A44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AI-use note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F501265C-F2FB-433D-A1A5-EB80C69D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Explains accepted, modified, or rejected suggestions.</a:t>
            </a:r>
          </a:p>
        </p:txBody>
      </p:sp>
    </p:spTree>
    <p:extLst>
      <p:ext uri="{BB962C8B-B14F-4D97-AF65-F5344CB8AC3E}">
        <p14:creationId xmlns:p14="http://schemas.microsoft.com/office/powerpoint/2010/main" val="13667846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DFAE04A-49A7-4AB3-8A81-E40BF311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BA8987-D1C3-4A9B-845E-4C54963B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Exit check: explain one evidence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22F06-C082-4049-8004-A10806F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A8573F3-7424-42CB-9991-8844553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2 · Meeting B · Quantity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7BE3AF1-E66F-418A-A223-B70F283F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A71C148C-B9E0-4E87-9874-52DE6351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F92E064D-5789-48F6-9E88-2F595F1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one calculator and narrate it without reading comments.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BBAB1BF1-6F9C-430D-B52E-5D197719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8DE89520-CAEA-48CB-AE78-C51023D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BA42852-A28C-4B82-B00F-3978DDCD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every input and unit.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E6C47B4-BF15-4469-BEBF-71C53F3E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382DCF0-C0DF-4ACD-BE58-48931127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every operator and conversion.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FAA10979-320F-41F6-BB9A-BB0524E9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E8F27A9-EC45-45E4-8FBB-4B482A85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one expected result and one boundary case.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1B01D4A3-B24C-4987-8A1A-C400E2C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D8D421C-2DE7-416C-862D-C9A957C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one limitation outside the calculation.</a:t>
            </a:r>
          </a:p>
        </p:txBody>
      </p:sp>
    </p:spTree>
    <p:extLst>
      <p:ext uri="{BB962C8B-B14F-4D97-AF65-F5344CB8AC3E}">
        <p14:creationId xmlns:p14="http://schemas.microsoft.com/office/powerpoint/2010/main" val="12876708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21FA60F6-CCE2-4B5C-AE81-A9C6D285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2 · MEETING B · QUANTITY STUDIO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B72EEB2-65DC-44A7-82CD-1D7843D8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calculator is credible only when its meaning survives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A7D04-6498-4A3D-860B-0EFC3E95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924AA648-1A49-424C-BF62-324537E8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5101B1F5-003D-4C1A-9FF4-B732DCF7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type instead of guessing.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0F1C2FB3-BA39-4061-BEA2-EA90A30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078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CCDDE724-6CD9-46E4-B5CF-B49A588D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2686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Carry concept and unit in names.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0BA5D5C9-3C3A-4B42-8C1F-304B5017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837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03A2817C-34EA-48A6-93A6-8369B128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00272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formatting to communicate—not to manufacture accuracy.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6C69856A-2320-4314-A6EA-73070349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595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A0068A76-29BC-41AB-8EA1-A71C5F5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7858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known, boundary, and invalid cases.</a:t>
            </a:r>
          </a:p>
        </p:txBody>
      </p:sp>
    </p:spTree>
    <p:extLst>
      <p:ext uri="{BB962C8B-B14F-4D97-AF65-F5344CB8AC3E}">
        <p14:creationId xmlns:p14="http://schemas.microsoft.com/office/powerpoint/2010/main" val="1276708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2026-08-20T16:08:19.6590000Z</dcterms:created>
  <dcterms:modified xsi:type="dcterms:W3CDTF">2026-08-20T16:08:19.6590000Z</dcterms:modified>
</coreProperties>
</file>