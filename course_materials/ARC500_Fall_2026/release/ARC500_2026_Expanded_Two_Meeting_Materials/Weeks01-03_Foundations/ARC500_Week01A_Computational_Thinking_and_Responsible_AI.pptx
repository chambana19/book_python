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5369a89f5e459e" /><Relationship Type="http://schemas.openxmlformats.org/officeDocument/2006/relationships/extended-properties" Target="/docProps/app.xml" Id="R73cafc1d7b5640bf" /><Relationship Type="http://schemas.openxmlformats.org/officeDocument/2006/relationships/officeDocument" Target="/ppt/presentation.xml" Id="R9120443cc4574d75" /></Relationships>
</file>

<file path=ppt/presentation.xml><?xml version="1.0" encoding="utf-8"?>
<p:presentation xmlns:p="http://schemas.openxmlformats.org/presentationml/2006/main">
  <p:sldMasterIdLst>
    <p:sldMasterId xmlns:r="http://schemas.openxmlformats.org/officeDocument/2006/relationships" id="2147483648" r:id="R73fa26a1012f4942"/>
  </p:sldMasterIdLst>
  <p:notesMasterIdLst>
    <p:notesMasterId xmlns:r="http://schemas.openxmlformats.org/officeDocument/2006/relationships" r:id="Ra5927f0b859e4835"/>
  </p:notesMasterIdLst>
  <p:sldIdLst>
    <p:sldId xmlns:r="http://schemas.openxmlformats.org/officeDocument/2006/relationships" id="256" r:id="R0db6b22732de46b6"/>
    <p:sldId xmlns:r="http://schemas.openxmlformats.org/officeDocument/2006/relationships" id="257" r:id="R94d7206b7dd94f3c"/>
    <p:sldId xmlns:r="http://schemas.openxmlformats.org/officeDocument/2006/relationships" id="258" r:id="R6a587e9899754510"/>
    <p:sldId xmlns:r="http://schemas.openxmlformats.org/officeDocument/2006/relationships" id="259" r:id="R1c5bed274c834351"/>
    <p:sldId xmlns:r="http://schemas.openxmlformats.org/officeDocument/2006/relationships" id="260" r:id="R35dc0f3113e946ad"/>
    <p:sldId xmlns:r="http://schemas.openxmlformats.org/officeDocument/2006/relationships" id="261" r:id="R186e5a2e027540d0"/>
    <p:sldId xmlns:r="http://schemas.openxmlformats.org/officeDocument/2006/relationships" id="262" r:id="R180a75cfd3f5401b"/>
    <p:sldId xmlns:r="http://schemas.openxmlformats.org/officeDocument/2006/relationships" id="263" r:id="Reb012913a4e64aff"/>
    <p:sldId xmlns:r="http://schemas.openxmlformats.org/officeDocument/2006/relationships" id="264" r:id="R3a9381202c7c41dd"/>
    <p:sldId xmlns:r="http://schemas.openxmlformats.org/officeDocument/2006/relationships" id="265" r:id="R34a7cb56a3c4451d"/>
    <p:sldId xmlns:r="http://schemas.openxmlformats.org/officeDocument/2006/relationships" id="266" r:id="R337f9a8f72344b6e"/>
    <p:sldId xmlns:r="http://schemas.openxmlformats.org/officeDocument/2006/relationships" id="267" r:id="R12b89e15a5e64d9c"/>
    <p:sldId xmlns:r="http://schemas.openxmlformats.org/officeDocument/2006/relationships" id="268" r:id="Raa071f57ec514fe0"/>
    <p:sldId xmlns:r="http://schemas.openxmlformats.org/officeDocument/2006/relationships" id="269" r:id="R8a276425da0443f9"/>
    <p:sldId xmlns:r="http://schemas.openxmlformats.org/officeDocument/2006/relationships" id="270" r:id="Red270e38085d4895"/>
    <p:sldId xmlns:r="http://schemas.openxmlformats.org/officeDocument/2006/relationships" id="271" r:id="R6adbeff773204570"/>
    <p:sldId xmlns:r="http://schemas.openxmlformats.org/officeDocument/2006/relationships" id="272" r:id="R60109f3d9a6e4d38"/>
    <p:sldId xmlns:r="http://schemas.openxmlformats.org/officeDocument/2006/relationships" id="273" r:id="R985ab18bf67a4d74"/>
    <p:sldId xmlns:r="http://schemas.openxmlformats.org/officeDocument/2006/relationships" id="274" r:id="Rad395abd1fcd4c55"/>
    <p:sldId xmlns:r="http://schemas.openxmlformats.org/officeDocument/2006/relationships" id="275" r:id="R9230a43207bd4e1f"/>
    <p:sldId xmlns:r="http://schemas.openxmlformats.org/officeDocument/2006/relationships" id="276" r:id="R772ed5774e8d4687"/>
    <p:sldId xmlns:r="http://schemas.openxmlformats.org/officeDocument/2006/relationships" id="277" r:id="Ref2bd5f13e574c38"/>
    <p:sldId xmlns:r="http://schemas.openxmlformats.org/officeDocument/2006/relationships" id="278" r:id="R642e3db2c37f40ed"/>
    <p:sldId xmlns:r="http://schemas.openxmlformats.org/officeDocument/2006/relationships" id="279" r:id="R396565edc3084134"/>
    <p:sldId xmlns:r="http://schemas.openxmlformats.org/officeDocument/2006/relationships" id="280" r:id="Reb5e2fa6d4f6413c"/>
    <p:sldId xmlns:r="http://schemas.openxmlformats.org/officeDocument/2006/relationships" id="281" r:id="R6e538b71573146cc"/>
    <p:sldId xmlns:r="http://schemas.openxmlformats.org/officeDocument/2006/relationships" id="282" r:id="R954fb9477e1f40af"/>
    <p:sldId xmlns:r="http://schemas.openxmlformats.org/officeDocument/2006/relationships" id="283" r:id="R3e0c45ec68b947fd"/>
    <p:sldId xmlns:r="http://schemas.openxmlformats.org/officeDocument/2006/relationships" id="284" r:id="R23b73e5e3397447e"/>
    <p:sldId xmlns:r="http://schemas.openxmlformats.org/officeDocument/2006/relationships" id="285" r:id="Ra586a4d17ba34001"/>
    <p:sldId xmlns:r="http://schemas.openxmlformats.org/officeDocument/2006/relationships" id="286" r:id="R691c9e360bf04ac6"/>
    <p:sldId xmlns:r="http://schemas.openxmlformats.org/officeDocument/2006/relationships" id="287" r:id="R3c75e9bb5bb14e12"/>
    <p:sldId xmlns:r="http://schemas.openxmlformats.org/officeDocument/2006/relationships" id="288" r:id="R95e01466d0da4a90"/>
    <p:sldId xmlns:r="http://schemas.openxmlformats.org/officeDocument/2006/relationships" id="289" r:id="R61fc1ec7942b4a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de81ae50a34739" /><Relationship Type="http://schemas.openxmlformats.org/officeDocument/2006/relationships/slideMaster" Target="/ppt/slideMasters/slideMaster1.xml" Id="R73fa26a1012f4942" /><Relationship Type="http://schemas.openxmlformats.org/officeDocument/2006/relationships/notesMaster" Target="/ppt/notesMasters/notesMaster1.xml" Id="Ra5927f0b859e4835" /><Relationship Type="http://schemas.openxmlformats.org/officeDocument/2006/relationships/presProps" Target="/ppt/presProps.xml" Id="R7f9915333dec4d59" /><Relationship Type="http://schemas.openxmlformats.org/officeDocument/2006/relationships/tableStyles" Target="/ppt/tableStyles.xml" Id="R1e19ec4d45ad417c" /><Relationship Type="http://schemas.openxmlformats.org/officeDocument/2006/relationships/slide" Target="/ppt/slides/slide1.xml" Id="R0db6b22732de46b6" /><Relationship Type="http://schemas.openxmlformats.org/officeDocument/2006/relationships/slide" Target="/ppt/slides/slide2.xml" Id="R94d7206b7dd94f3c" /><Relationship Type="http://schemas.openxmlformats.org/officeDocument/2006/relationships/slide" Target="/ppt/slides/slide3.xml" Id="R6a587e9899754510" /><Relationship Type="http://schemas.openxmlformats.org/officeDocument/2006/relationships/slide" Target="/ppt/slides/slide4.xml" Id="R1c5bed274c834351" /><Relationship Type="http://schemas.openxmlformats.org/officeDocument/2006/relationships/slide" Target="/ppt/slides/slide5.xml" Id="R35dc0f3113e946ad" /><Relationship Type="http://schemas.openxmlformats.org/officeDocument/2006/relationships/slide" Target="/ppt/slides/slide6.xml" Id="R186e5a2e027540d0" /><Relationship Type="http://schemas.openxmlformats.org/officeDocument/2006/relationships/slide" Target="/ppt/slides/slide7.xml" Id="R180a75cfd3f5401b" /><Relationship Type="http://schemas.openxmlformats.org/officeDocument/2006/relationships/slide" Target="/ppt/slides/slide8.xml" Id="Reb012913a4e64aff" /><Relationship Type="http://schemas.openxmlformats.org/officeDocument/2006/relationships/slide" Target="/ppt/slides/slide9.xml" Id="R3a9381202c7c41dd" /><Relationship Type="http://schemas.openxmlformats.org/officeDocument/2006/relationships/slide" Target="/ppt/slides/slide10.xml" Id="R34a7cb56a3c4451d" /><Relationship Type="http://schemas.openxmlformats.org/officeDocument/2006/relationships/slide" Target="/ppt/slides/slide11.xml" Id="R337f9a8f72344b6e" /><Relationship Type="http://schemas.openxmlformats.org/officeDocument/2006/relationships/slide" Target="/ppt/slides/slide12.xml" Id="R12b89e15a5e64d9c" /><Relationship Type="http://schemas.openxmlformats.org/officeDocument/2006/relationships/slide" Target="/ppt/slides/slide13.xml" Id="Raa071f57ec514fe0" /><Relationship Type="http://schemas.openxmlformats.org/officeDocument/2006/relationships/slide" Target="/ppt/slides/slide14.xml" Id="R8a276425da0443f9" /><Relationship Type="http://schemas.openxmlformats.org/officeDocument/2006/relationships/slide" Target="/ppt/slides/slide15.xml" Id="Red270e38085d4895" /><Relationship Type="http://schemas.openxmlformats.org/officeDocument/2006/relationships/slide" Target="/ppt/slides/slide16.xml" Id="R6adbeff773204570" /><Relationship Type="http://schemas.openxmlformats.org/officeDocument/2006/relationships/slide" Target="/ppt/slides/slide17.xml" Id="R60109f3d9a6e4d38" /><Relationship Type="http://schemas.openxmlformats.org/officeDocument/2006/relationships/slide" Target="/ppt/slides/slide18.xml" Id="R985ab18bf67a4d74" /><Relationship Type="http://schemas.openxmlformats.org/officeDocument/2006/relationships/slide" Target="/ppt/slides/slide19.xml" Id="Rad395abd1fcd4c55" /><Relationship Type="http://schemas.openxmlformats.org/officeDocument/2006/relationships/slide" Target="/ppt/slides/slide20.xml" Id="R9230a43207bd4e1f" /><Relationship Type="http://schemas.openxmlformats.org/officeDocument/2006/relationships/slide" Target="/ppt/slides/slide21.xml" Id="R772ed5774e8d4687" /><Relationship Type="http://schemas.openxmlformats.org/officeDocument/2006/relationships/slide" Target="/ppt/slides/slide22.xml" Id="Ref2bd5f13e574c38" /><Relationship Type="http://schemas.openxmlformats.org/officeDocument/2006/relationships/slide" Target="/ppt/slides/slide23.xml" Id="R642e3db2c37f40ed" /><Relationship Type="http://schemas.openxmlformats.org/officeDocument/2006/relationships/slide" Target="/ppt/slides/slide24.xml" Id="R396565edc3084134" /><Relationship Type="http://schemas.openxmlformats.org/officeDocument/2006/relationships/slide" Target="/ppt/slides/slide25.xml" Id="Reb5e2fa6d4f6413c" /><Relationship Type="http://schemas.openxmlformats.org/officeDocument/2006/relationships/slide" Target="/ppt/slides/slide26.xml" Id="R6e538b71573146cc" /><Relationship Type="http://schemas.openxmlformats.org/officeDocument/2006/relationships/slide" Target="/ppt/slides/slide27.xml" Id="R954fb9477e1f40af" /><Relationship Type="http://schemas.openxmlformats.org/officeDocument/2006/relationships/slide" Target="/ppt/slides/slide28.xml" Id="R3e0c45ec68b947fd" /><Relationship Type="http://schemas.openxmlformats.org/officeDocument/2006/relationships/slide" Target="/ppt/slides/slide29.xml" Id="R23b73e5e3397447e" /><Relationship Type="http://schemas.openxmlformats.org/officeDocument/2006/relationships/slide" Target="/ppt/slides/slide30.xml" Id="Ra586a4d17ba34001" /><Relationship Type="http://schemas.openxmlformats.org/officeDocument/2006/relationships/slide" Target="/ppt/slides/slide31.xml" Id="R691c9e360bf04ac6" /><Relationship Type="http://schemas.openxmlformats.org/officeDocument/2006/relationships/slide" Target="/ppt/slides/slide32.xml" Id="R3c75e9bb5bb14e12" /><Relationship Type="http://schemas.openxmlformats.org/officeDocument/2006/relationships/slide" Target="/ppt/slides/slide33.xml" Id="R95e01466d0da4a90" /><Relationship Type="http://schemas.openxmlformats.org/officeDocument/2006/relationships/slide" Target="/ppt/slides/slide34.xml" Id="R61fc1ec7942b4a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d4e28169a6409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58d671d0cb4775" /><Relationship Type="http://schemas.openxmlformats.org/officeDocument/2006/relationships/notesMaster" Target="/ppt/notesMasters/notesMaster1.xml" Id="Rbb1884052aec4f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7b9ba6245e477a" /><Relationship Type="http://schemas.openxmlformats.org/officeDocument/2006/relationships/notesMaster" Target="/ppt/notesMasters/notesMaster1.xml" Id="Rc66b91fa99ed4d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c0de83ac164b04" /><Relationship Type="http://schemas.openxmlformats.org/officeDocument/2006/relationships/notesMaster" Target="/ppt/notesMasters/notesMaster1.xml" Id="Ra2344c6de4074b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32f65487af4e9f" /><Relationship Type="http://schemas.openxmlformats.org/officeDocument/2006/relationships/notesMaster" Target="/ppt/notesMasters/notesMaster1.xml" Id="Rcb2237d39e9f49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2173d42f2a4a37" /><Relationship Type="http://schemas.openxmlformats.org/officeDocument/2006/relationships/notesMaster" Target="/ppt/notesMasters/notesMaster1.xml" Id="R2f1bac1865ee47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9202951cbe410c" /><Relationship Type="http://schemas.openxmlformats.org/officeDocument/2006/relationships/notesMaster" Target="/ppt/notesMasters/notesMaster1.xml" Id="R2c5d8afbf38347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a8c9df99dd4304" /><Relationship Type="http://schemas.openxmlformats.org/officeDocument/2006/relationships/notesMaster" Target="/ppt/notesMasters/notesMaster1.xml" Id="Re8d1a3eb87cb44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d92f71c8f84297" /><Relationship Type="http://schemas.openxmlformats.org/officeDocument/2006/relationships/notesMaster" Target="/ppt/notesMasters/notesMaster1.xml" Id="R51e581102e32416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6b2df379cf4692" /><Relationship Type="http://schemas.openxmlformats.org/officeDocument/2006/relationships/notesMaster" Target="/ppt/notesMasters/notesMaster1.xml" Id="R21de5b35a8ab4f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e0c3c78eb0497b" /><Relationship Type="http://schemas.openxmlformats.org/officeDocument/2006/relationships/notesMaster" Target="/ppt/notesMasters/notesMaster1.xml" Id="Rab7ec4843a3c41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142ff94ebe4802" /><Relationship Type="http://schemas.openxmlformats.org/officeDocument/2006/relationships/notesMaster" Target="/ppt/notesMasters/notesMaster1.xml" Id="R1953f2c8b7e64d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adedb16e3d4afd" /><Relationship Type="http://schemas.openxmlformats.org/officeDocument/2006/relationships/notesMaster" Target="/ppt/notesMasters/notesMaster1.xml" Id="Rf928712659654f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066d4401e84d75" /><Relationship Type="http://schemas.openxmlformats.org/officeDocument/2006/relationships/notesMaster" Target="/ppt/notesMasters/notesMaster1.xml" Id="R08e380a54a064f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6a815b37794b36" /><Relationship Type="http://schemas.openxmlformats.org/officeDocument/2006/relationships/notesMaster" Target="/ppt/notesMasters/notesMaster1.xml" Id="R246e935fad5444b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898cc6cb5749cb" /><Relationship Type="http://schemas.openxmlformats.org/officeDocument/2006/relationships/notesMaster" Target="/ppt/notesMasters/notesMaster1.xml" Id="Rb7793e5077b34c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eea1dfe22a44b8" /><Relationship Type="http://schemas.openxmlformats.org/officeDocument/2006/relationships/notesMaster" Target="/ppt/notesMasters/notesMaster1.xml" Id="R452bbe94070a4a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c91f78881804f43" /><Relationship Type="http://schemas.openxmlformats.org/officeDocument/2006/relationships/notesMaster" Target="/ppt/notesMasters/notesMaster1.xml" Id="Reda4ef9f6de34b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5ac9ca34124bcd" /><Relationship Type="http://schemas.openxmlformats.org/officeDocument/2006/relationships/notesMaster" Target="/ppt/notesMasters/notesMaster1.xml" Id="Ra70a523a2f984cd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de8207194043e1" /><Relationship Type="http://schemas.openxmlformats.org/officeDocument/2006/relationships/notesMaster" Target="/ppt/notesMasters/notesMaster1.xml" Id="Rc35e07a2171c46d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39119e30b64d53" /><Relationship Type="http://schemas.openxmlformats.org/officeDocument/2006/relationships/notesMaster" Target="/ppt/notesMasters/notesMaster1.xml" Id="R71a05c953ad645d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8e124b26234960" /><Relationship Type="http://schemas.openxmlformats.org/officeDocument/2006/relationships/notesMaster" Target="/ppt/notesMasters/notesMaster1.xml" Id="Ra2d283746fed41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cecd2ae5bf143dc" /><Relationship Type="http://schemas.openxmlformats.org/officeDocument/2006/relationships/notesMaster" Target="/ppt/notesMasters/notesMaster1.xml" Id="R2ecbb24c99dc4ca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bb18320ce6d4164" /><Relationship Type="http://schemas.openxmlformats.org/officeDocument/2006/relationships/notesMaster" Target="/ppt/notesMasters/notesMaster1.xml" Id="R58feed1151dd4a1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4742464ea11437f" /><Relationship Type="http://schemas.openxmlformats.org/officeDocument/2006/relationships/notesMaster" Target="/ppt/notesMasters/notesMaster1.xml" Id="Ra95d991cbfd843b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4bb7647edd0426c" /><Relationship Type="http://schemas.openxmlformats.org/officeDocument/2006/relationships/notesMaster" Target="/ppt/notesMasters/notesMaster1.xml" Id="R991bfd462876460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d3af1f28c834e47" /><Relationship Type="http://schemas.openxmlformats.org/officeDocument/2006/relationships/notesMaster" Target="/ppt/notesMasters/notesMaster1.xml" Id="R0a3cd45c1479456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91829d4a4b5435e" /><Relationship Type="http://schemas.openxmlformats.org/officeDocument/2006/relationships/notesMaster" Target="/ppt/notesMasters/notesMaster1.xml" Id="R769b3bd0a48f47d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66eeffbb15c43e9" /><Relationship Type="http://schemas.openxmlformats.org/officeDocument/2006/relationships/notesMaster" Target="/ppt/notesMasters/notesMaster1.xml" Id="Rb7e403772cb74c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890f88075ee498d" /><Relationship Type="http://schemas.openxmlformats.org/officeDocument/2006/relationships/notesMaster" Target="/ppt/notesMasters/notesMaster1.xml" Id="R3be066519e88470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d9f061df3494cda" /><Relationship Type="http://schemas.openxmlformats.org/officeDocument/2006/relationships/notesMaster" Target="/ppt/notesMasters/notesMaster1.xml" Id="Rfe3f7209bdc4409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88f9b7939794295" /><Relationship Type="http://schemas.openxmlformats.org/officeDocument/2006/relationships/notesMaster" Target="/ppt/notesMasters/notesMaster1.xml" Id="Rca04568a2f0d43f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b47a317de01454b" /><Relationship Type="http://schemas.openxmlformats.org/officeDocument/2006/relationships/notesMaster" Target="/ppt/notesMasters/notesMaster1.xml" Id="R69f45b1710d74f3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e607038588d4174" /><Relationship Type="http://schemas.openxmlformats.org/officeDocument/2006/relationships/notesMaster" Target="/ppt/notesMasters/notesMaster1.xml" Id="Rca5f5524814f401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85b135229f44068" /><Relationship Type="http://schemas.openxmlformats.org/officeDocument/2006/relationships/notesMaster" Target="/ppt/notesMasters/notesMaster1.xml" Id="R54b7acb238f64d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Open with a familiar studio task and ask what would have to become explicit before a computer could perform part of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Contrast a repeatable area calculation with a contextual design judgment. Ask which parts can be made explicit and which still require interpretation.</a:t>
            </a:r>
          </a:p>
          <a:p xmlns:a="http://schemas.openxmlformats.org/drawingml/2006/main">
            <a:r>
              <a:t/>
            </a:r>
          </a:p>
          <a:p xmlns:a="http://schemas.openxmlformats.org/drawingml/2006/main">
            <a:r>
              <a:t>[Sources]</a:t>
            </a:r>
          </a:p>
          <a:p xmlns:a="http://schemas.openxmlformats.org/drawingml/2006/main">
            <a:r>
              <a:t>- https://ocw.mit.edu/courses/6-0001-introduction-to-computer-science-and-programming-in-python-fall-2016/e921a690079369751bcce3e34da6c6ee_MIT6_0001F16_Lec1.pdf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Frame these as abilities students will demonstrate today, not vocabulary to memorize.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Preview the cumulative argument: computational thinking precedes syntax, and evaluation follows 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Model the progression explicitly: one calculation, then a named assumption, then a multi-stage design argument. Students predict before seeing each check. Emphasize that the hard case is still a simplified program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a room-area example. Ask where the rectangular-room assumption belongs and how the result would be checked.</a:t>
            </a:r>
          </a:p>
          <a:p xmlns:a="http://schemas.openxmlformats.org/drawingml/2006/main">
            <a:r>
              <a:t/>
            </a:r>
          </a:p>
          <a:p xmlns:a="http://schemas.openxmlformats.org/drawingml/2006/main">
            <a:r>
              <a:t>[Sources]</a:t>
            </a:r>
          </a:p>
          <a:p xmlns:a="http://schemas.openxmlformats.org/drawingml/2006/main">
            <a:r>
              <a:t>- https://ocw.mit.edu/courses/6-0001-introduction-to-computer-science-and-programming-in-python-fall-2016/e921a690079369751bcce3e34da6c6ee_MIT6_0001F16_Lec1.pdf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Have students identify which step is arithmetic and which step contains a project-dependent assumption. Step 3 is the judgment: the allowance is chosen, not derived.</a:t>
            </a:r>
          </a:p>
          <a:p xmlns:a="http://schemas.openxmlformats.org/drawingml/2006/main">
            <a:r>
              <a:t/>
            </a:r>
          </a:p>
          <a:p xmlns:a="http://schemas.openxmlformats.org/drawingml/2006/main">
            <a:r>
              <a:t>[Sources]</a:t>
            </a:r>
          </a:p>
          <a:p xmlns:a="http://schemas.openxmlformats.org/drawingml/2006/main">
            <a:r>
              <a:t>- https://ocw.mit.edu/courses/6-0001-introduction-to-computer-science-and-programming-in-python-fall-2016/e921a690079369751bcce3e34da6c6ee_MIT6_0001F16_Lec1.pdf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pairs to decompose a daylight, egress, or program-area question into at least four smaller operations, then say which of the four they could not yet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Emphasize that data is constructed evidence. Ask each pair to name one thing their chosen representation makes invisible.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Ask for one acceptable omission in a schematic calculation and one omission that would invalidate a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Stress that speed and consistency are properties of execution, not evidence of relevance or fairness.</a:t>
            </a:r>
          </a:p>
          <a:p xmlns:a="http://schemas.openxmlformats.org/drawingml/2006/main">
            <a:r>
              <a:t/>
            </a:r>
          </a:p>
          <a:p xmlns:a="http://schemas.openxmlformats.org/drawingml/2006/main">
            <a:r>
              <a:t>[Sources]</a:t>
            </a:r>
          </a:p>
          <a:p xmlns:a="http://schemas.openxmlformats.org/drawingml/2006/main">
            <a:r>
              <a:t>- https://www.unesco.org/en/articles/guidance-generative-ai-education-and-research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State the course rule: AI-assisted code is permitted, but unexplained or untested code is not acceptable.</a:t>
            </a:r>
          </a:p>
          <a:p xmlns:a="http://schemas.openxmlformats.org/drawingml/2006/main">
            <a:r>
              <a:t/>
            </a:r>
          </a:p>
          <a:p xmlns:a="http://schemas.openxmlformats.org/drawingml/2006/main">
            <a:r>
              <a:t>[Sources]</a:t>
            </a:r>
          </a:p>
          <a:p xmlns:a="http://schemas.openxmlformats.org/drawingml/2006/main">
            <a:r>
              <a:t>- https://skillsbuild.org/adult-learners/explore-learning/artificial-intelligence</a:t>
            </a:r>
          </a:p>
          <a:p xmlns:a="http://schemas.openxmlformats.org/drawingml/2006/main">
            <a:r>
              <a:t>- https://www.unesco.org/en/articles/guidance-generative-ai-education-and-research</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Introduce the interpreter and program state. Explain that later Spyder cells are checkpoints within one complete .py file.</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L3 slides 3–6. Show a .py file in the file browser so the extension registers as an ordinary saved document.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L3 slides 3–6. Point out that a comment supports the human reader but is not executed.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Take a show of hands on every option before revealing. Option C is what students expect if they think + always joins characters; option D is what the console echo looks like, not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Reveal the output only after the prediction vote. Ask why line one keeps its words and line two does not.</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Adapted from FS25 L3 slides 9–10 and 19. Read the line aloud: call print, on this one text value. A literal is a value written straight into the script; an argument is the value handed to a function. Then cover the code and ask what the comment was for.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Compare the useful unit and geometry comments with an unhelpful comment such as 'multiply two numbers.' Delete a comment live to show that the output does not change.</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Option A is the most common answer and is correct in several other languages. Option D is the same division read backwards. Ask what the trailing .0 tells you about the kind of value, not the quantity.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Ask students to name the operator and predict the value on each line: 5, 5, 20, 4.0, and 8. Only the division produces a decimal.</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This is a preview for Week 2. Ask what operations make sense for a room name versus a room area.</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L3 slide 19. Trace the values aloud and distinguish assignment from mathematical equality.</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Adapted from FS25 L3 slides 9–10 and 19. Cover the left side and ask what the right side is worth; then uncover and ask what changed in memory. Right side first, every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Use one line such as area_m2 = length_m * width_m and have students name every syntactic role, then track which names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Option A ignores the decimal inputs; option C is the belief that print echoes the name; option D assumes the unit in the variable name travels with the value. Python knows none of your 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Adapted from FS25 L3 slide 19. Name each variable and its value aloud before moving to the trace table.</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Cover the final column and have students complete it before showing the answer.</a:t>
            </a:r>
          </a:p>
          <a:p xmlns:a="http://schemas.openxmlformats.org/drawingml/2006/main">
            <a:r>
              <a:t/>
            </a:r>
          </a:p>
          <a:p xmlns:a="http://schemas.openxmlformats.org/drawingml/2006/main">
            <a:r>
              <a:t>[Sources]</a:t>
            </a:r>
          </a:p>
          <a:p xmlns:a="http://schemas.openxmlformats.org/drawingml/2006/main">
            <a:r>
              <a:t>- https://ocw.mit.edu/courses/6-0001-introduction-to-computer-science-and-programming-in-python-fall-2016/e921a690079369751bcce3e34da6c6ee_MIT6_0001F16_Lec1.pdf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Use a feet-versus-meters example to show that successful execution does not guarantee a meaningful result.</a:t>
            </a:r>
          </a:p>
          <a:p xmlns:a="http://schemas.openxmlformats.org/drawingml/2006/main">
            <a:r>
              <a:t/>
            </a:r>
          </a:p>
          <a:p xmlns:a="http://schemas.openxmlformats.org/drawingml/2006/main">
            <a:r>
              <a:t>[Sources]</a:t>
            </a:r>
          </a:p>
          <a:p xmlns:a="http://schemas.openxmlformats.org/drawingml/2006/main">
            <a:r>
              <a:t>- https://docs.python.org/3/tutorial/errors.html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Have students state input, process, output, check, and at least two omissions — then ask what would happen with ten rooms instead of two.</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Option A multiplies by 0.15 and forgets the 1. Option B is what you get from 44.2 + 0.15, and also from dropping the parentheses. Option D assumes the result keeps one decimal like the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Teaching notes: Students estimate first, then identify which value is empirical or project-dependent rather than mathematically necessary. Note that gallery_area_m2 and studio_area_m2 carry over from the previous cell — this is a live Spyder session, not a fresh script.</a:t>
            </a:r>
          </a:p>
          <a:p xmlns:a="http://schemas.openxmlformats.org/drawingml/2006/main">
            <a:r>
              <a:t/>
            </a:r>
          </a:p>
          <a:p xmlns:a="http://schemas.openxmlformats.org/drawingml/2006/main">
            <a:r>
              <a:t>[Sources]</a:t>
            </a:r>
          </a:p>
          <a:p xmlns:a="http://schemas.openxmlformats.org/drawingml/2006/main">
            <a:r>
              <a:t>- https://docs.python.org/3/tutorial/introduction.html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Teaching notes: Expected area: 7 × 5 = 35 m². With an 8% allowance: 35 × 1.08 = 37.8 m². Students should write four named assignments (for example length_m, width_m, area_m2, allowance_pct) and one print statement reporting the final quantity. Accept any reasonable modeling limitation (cutting waste, pattern matching, openings) and any sensible test case, such as confirming allowance_pct = 0 returns the base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Teaching notes: Exit ticket: students name one studio task suitable for computation and one part that remains a design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674c0669f042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bf55ed5dd540b3" /><Relationship Type="http://schemas.openxmlformats.org/officeDocument/2006/relationships/slideLayout" Target="/ppt/slideLayouts/slideLayout1.xml" Id="R73024b07752749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024b07752749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36cc53e70d34ba8" /><Relationship Type="http://schemas.openxmlformats.org/officeDocument/2006/relationships/notesSlide" Target="/ppt/notesSlides/notesSlide1.xml" Id="Ra77d5eeccdc542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7b98b9079949ac" /><Relationship Type="http://schemas.openxmlformats.org/officeDocument/2006/relationships/notesSlide" Target="/ppt/notesSlides/notesSlide2.xml" Id="R9f52a72ed76748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950251c5eb434f" /><Relationship Type="http://schemas.openxmlformats.org/officeDocument/2006/relationships/notesSlide" Target="/ppt/notesSlides/notesSlide3.xml" Id="Re2d5b3fcca1e41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ef4f9cd793f440a" /><Relationship Type="http://schemas.openxmlformats.org/officeDocument/2006/relationships/notesSlide" Target="/ppt/notesSlides/notesSlide4.xml" Id="R2c343059daf441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e045502b5244fe" /><Relationship Type="http://schemas.openxmlformats.org/officeDocument/2006/relationships/notesSlide" Target="/ppt/notesSlides/notesSlide5.xml" Id="R95a9f0070d6043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75ab351fcf40e4" /><Relationship Type="http://schemas.openxmlformats.org/officeDocument/2006/relationships/notesSlide" Target="/ppt/notesSlides/notesSlide6.xml" Id="Rb7e9247b578a4fb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d06208dd25424f" /><Relationship Type="http://schemas.openxmlformats.org/officeDocument/2006/relationships/notesSlide" Target="/ppt/notesSlides/notesSlide7.xml" Id="R87ba75be370445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2b0badfbf5453d" /><Relationship Type="http://schemas.openxmlformats.org/officeDocument/2006/relationships/notesSlide" Target="/ppt/notesSlides/notesSlide8.xml" Id="Rebbf0022a3c94f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5a8e4320ae4cb3" /><Relationship Type="http://schemas.openxmlformats.org/officeDocument/2006/relationships/notesSlide" Target="/ppt/notesSlides/notesSlide9.xml" Id="Rbeb467cfdf4e44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41a258b8814c23" /><Relationship Type="http://schemas.openxmlformats.org/officeDocument/2006/relationships/notesSlide" Target="/ppt/notesSlides/notesSlide10.xml" Id="R92155253ea104d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69b1df6159486a" /><Relationship Type="http://schemas.openxmlformats.org/officeDocument/2006/relationships/notesSlide" Target="/ppt/notesSlides/notesSlide11.xml" Id="R5ed2695d97b841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b59b55583c4b97" /><Relationship Type="http://schemas.openxmlformats.org/officeDocument/2006/relationships/notesSlide" Target="/ppt/notesSlides/notesSlide12.xml" Id="R2e3ceacdf0ad468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e98dbd92f774007" /><Relationship Type="http://schemas.openxmlformats.org/officeDocument/2006/relationships/notesSlide" Target="/ppt/notesSlides/notesSlide13.xml" Id="Reaafe020bb324ff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d8023da4d54496" /><Relationship Type="http://schemas.openxmlformats.org/officeDocument/2006/relationships/notesSlide" Target="/ppt/notesSlides/notesSlide14.xml" Id="R4adc101037c945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4a18151406b4efb" /><Relationship Type="http://schemas.openxmlformats.org/officeDocument/2006/relationships/notesSlide" Target="/ppt/notesSlides/notesSlide15.xml" Id="Rbe3cf5fee0cf4ab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1408b6716c14ec3" /><Relationship Type="http://schemas.openxmlformats.org/officeDocument/2006/relationships/notesSlide" Target="/ppt/notesSlides/notesSlide16.xml" Id="Raa39628d2b134c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9c66a18f3794b91" /><Relationship Type="http://schemas.openxmlformats.org/officeDocument/2006/relationships/notesSlide" Target="/ppt/notesSlides/notesSlide17.xml" Id="Rdf045df6d76948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6a186981ba4d76" /><Relationship Type="http://schemas.openxmlformats.org/officeDocument/2006/relationships/notesSlide" Target="/ppt/notesSlides/notesSlide18.xml" Id="R808cc317cd9b42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c5375f2b974cd1" /><Relationship Type="http://schemas.openxmlformats.org/officeDocument/2006/relationships/notesSlide" Target="/ppt/notesSlides/notesSlide19.xml" Id="R60232587e1fe4f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97e9b00a9bd485a" /><Relationship Type="http://schemas.openxmlformats.org/officeDocument/2006/relationships/notesSlide" Target="/ppt/notesSlides/notesSlide20.xml" Id="Rcdcbbe23f2c347c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61b335c81e4de6" /><Relationship Type="http://schemas.openxmlformats.org/officeDocument/2006/relationships/notesSlide" Target="/ppt/notesSlides/notesSlide21.xml" Id="R71bad17626ca4c7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ba842deb5164e6b" /><Relationship Type="http://schemas.openxmlformats.org/officeDocument/2006/relationships/notesSlide" Target="/ppt/notesSlides/notesSlide22.xml" Id="Rf802e7b6f3dd49d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93c3fbbe98749f6" /><Relationship Type="http://schemas.openxmlformats.org/officeDocument/2006/relationships/notesSlide" Target="/ppt/notesSlides/notesSlide23.xml" Id="R930848ef71ca423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db48ebc5de9439b" /><Relationship Type="http://schemas.openxmlformats.org/officeDocument/2006/relationships/notesSlide" Target="/ppt/notesSlides/notesSlide24.xml" Id="R01de25955a104b5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1683f7ab7904e97" /><Relationship Type="http://schemas.openxmlformats.org/officeDocument/2006/relationships/notesSlide" Target="/ppt/notesSlides/notesSlide25.xml" Id="Ree432d4b1f8445f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51f169d0af3403a" /><Relationship Type="http://schemas.openxmlformats.org/officeDocument/2006/relationships/notesSlide" Target="/ppt/notesSlides/notesSlide26.xml" Id="Rdf358bd866db4f2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716cd9a7c6c4555" /><Relationship Type="http://schemas.openxmlformats.org/officeDocument/2006/relationships/notesSlide" Target="/ppt/notesSlides/notesSlide27.xml" Id="Rea3fe11d51734ff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0c6e17293224d09" /><Relationship Type="http://schemas.openxmlformats.org/officeDocument/2006/relationships/notesSlide" Target="/ppt/notesSlides/notesSlide28.xml" Id="R660267ccbe944a4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28e69faa5954bf2" /><Relationship Type="http://schemas.openxmlformats.org/officeDocument/2006/relationships/notesSlide" Target="/ppt/notesSlides/notesSlide29.xml" Id="R3cbaa4094eb44b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4fc4e8af47e468a" /><Relationship Type="http://schemas.openxmlformats.org/officeDocument/2006/relationships/notesSlide" Target="/ppt/notesSlides/notesSlide30.xml" Id="R5fb83eb74fc048e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85b8738bf654cb7" /><Relationship Type="http://schemas.openxmlformats.org/officeDocument/2006/relationships/notesSlide" Target="/ppt/notesSlides/notesSlide31.xml" Id="Ra1545c9819c14de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a96911f2f8945c3" /><Relationship Type="http://schemas.openxmlformats.org/officeDocument/2006/relationships/notesSlide" Target="/ppt/notesSlides/notesSlide32.xml" Id="Rd4b4c1c51bda4ae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4482a7a704e345dc" /><Relationship Type="http://schemas.openxmlformats.org/officeDocument/2006/relationships/notesSlide" Target="/ppt/notesSlides/notesSlide33.xml" Id="Rb502b994a9dd470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8a6c6d5b3e94db2" /><Relationship Type="http://schemas.openxmlformats.org/officeDocument/2006/relationships/notesSlide" Target="/ppt/notesSlides/notesSlide34.xml" Id="Re18baa25def645a4" /></Relationships>
</file>

<file path=ppt/slides/slide1.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9" name="course-mark">
            <a:extLst xmlns:a="http://schemas.openxmlformats.org/drawingml/2006/main">
              <a:ext uri="{FF2B5EF4-FFF2-40B4-BE49-F238E27FC236}">
                <a16:creationId xmlns:a16="http://schemas.microsoft.com/office/drawing/2014/main" id="{44FBF63B-9DBF-40A6-96C5-6A658C2E1846}"/>
              </a:ext>
            </a:extLst>
          </p:cNvPr>
          <p:cNvSpPr>
            <a:spLocks xmlns:a="http://schemas.openxmlformats.org/drawingml/2006/main" noGrp="1"/>
          </p:cNvSpPr>
          <p:nvPr/>
        </p:nvSpPr>
        <p:spPr>
          <a:xfrm xmlns:a="http://schemas.openxmlformats.org/drawingml/2006/main">
            <a:off x="609600" y="457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FFFFFF"/>
                </a:solidFill>
                <a:latin typeface="Arial"/>
                <a:ea typeface="Arial"/>
                <a:cs typeface="Arial"/>
              </a:defRPr>
            </a:pPr>
            <a:r>
              <a:rPr sz="1800" b="1">
                <a:solidFill>
                  <a:srgbClr val="FFFFFF"/>
                </a:solidFill>
                <a:latin typeface="Arial"/>
                <a:ea typeface="Arial"/>
                <a:cs typeface="Arial"/>
              </a:rPr>
              <a:t>&lt;&gt;  ARC 500</a:t>
            </a:r>
          </a:p>
        </p:txBody>
      </p:sp>
      <p:sp>
        <p:nvSpPr>
          <p:cNvPr id="2" name="course-full-title">
            <a:extLst xmlns:a="http://schemas.openxmlformats.org/drawingml/2006/main">
              <a:ext uri="{FF2B5EF4-FFF2-40B4-BE49-F238E27FC236}">
                <a16:creationId xmlns:a16="http://schemas.microsoft.com/office/drawing/2014/main" id="{00C1A2E9-4291-41C4-921D-6FEED083DCB2}"/>
              </a:ext>
            </a:extLst>
          </p:cNvPr>
          <p:cNvSpPr>
            <a:spLocks xmlns:a="http://schemas.openxmlformats.org/drawingml/2006/main" noGrp="1"/>
          </p:cNvSpPr>
          <p:nvPr/>
        </p:nvSpPr>
        <p:spPr>
          <a:xfrm xmlns:a="http://schemas.openxmlformats.org/drawingml/2006/main">
            <a:off x="609600" y="81915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9AA1AC"/>
                </a:solidFill>
                <a:latin typeface="Arial"/>
                <a:ea typeface="Arial"/>
                <a:cs typeface="Arial"/>
              </a:defRPr>
            </a:pPr>
            <a:r>
              <a:rPr sz="900" b="0">
                <a:solidFill>
                  <a:srgbClr val="9AA1AC"/>
                </a:solidFill>
                <a:latin typeface="Arial"/>
                <a:ea typeface="Arial"/>
                <a:cs typeface="Arial"/>
              </a:rPr>
              <a:t>Programming with Python and Generative AI  ·  Scripting, Data Analysis, Visualization, Problem-Solving, and Optimization</a:t>
            </a:r>
          </a:p>
        </p:txBody>
      </p:sp>
      <p:sp>
        <p:nvSpPr>
          <p:cNvPr id="3" name="accent-bar">
            <a:extLst xmlns:a="http://schemas.openxmlformats.org/drawingml/2006/main">
              <a:ext uri="{FF2B5EF4-FFF2-40B4-BE49-F238E27FC236}">
                <a16:creationId xmlns:a16="http://schemas.microsoft.com/office/drawing/2014/main" id="{E4D1EC68-BB23-4F2F-A334-EF32617ED138}"/>
              </a:ext>
            </a:extLst>
          </p:cNvPr>
          <p:cNvSpPr>
            <a:spLocks xmlns:a="http://schemas.openxmlformats.org/drawingml/2006/main" noGrp="1"/>
          </p:cNvSpPr>
          <p:nvPr/>
        </p:nvSpPr>
        <p:spPr>
          <a:xfrm xmlns:a="http://schemas.openxmlformats.org/drawingml/2006/main">
            <a:off x="609600" y="1333500"/>
            <a:ext cx="133350" cy="285750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4" name="week-label">
            <a:extLst xmlns:a="http://schemas.openxmlformats.org/drawingml/2006/main">
              <a:ext uri="{FF2B5EF4-FFF2-40B4-BE49-F238E27FC236}">
                <a16:creationId xmlns:a16="http://schemas.microsoft.com/office/drawing/2014/main" id="{3E455CB0-3D93-43BE-873A-E5BCB0C41385}"/>
              </a:ext>
            </a:extLst>
          </p:cNvPr>
          <p:cNvSpPr>
            <a:spLocks xmlns:a="http://schemas.openxmlformats.org/drawingml/2006/main" noGrp="1"/>
          </p:cNvSpPr>
          <p:nvPr/>
        </p:nvSpPr>
        <p:spPr>
          <a:xfrm xmlns:a="http://schemas.openxmlformats.org/drawingml/2006/main">
            <a:off x="1028700" y="135255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 · MEETING A · COMPUTATIONAL THINKING</a:t>
            </a:r>
          </a:p>
        </p:txBody>
      </p:sp>
      <p:sp>
        <p:nvSpPr>
          <p:cNvPr id="5" name="deck-title">
            <a:extLst xmlns:a="http://schemas.openxmlformats.org/drawingml/2006/main">
              <a:ext uri="{FF2B5EF4-FFF2-40B4-BE49-F238E27FC236}">
                <a16:creationId xmlns:a16="http://schemas.microsoft.com/office/drawing/2014/main" id="{790AE0CB-B850-4D05-AC4D-31E23DD7751B}"/>
              </a:ext>
            </a:extLst>
          </p:cNvPr>
          <p:cNvSpPr>
            <a:spLocks xmlns:a="http://schemas.openxmlformats.org/drawingml/2006/main" noGrp="1"/>
          </p:cNvSpPr>
          <p:nvPr/>
        </p:nvSpPr>
        <p:spPr>
          <a:xfrm xmlns:a="http://schemas.openxmlformats.org/drawingml/2006/main">
            <a:off x="1028700" y="17716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4500" b="1">
                <a:solidFill>
                  <a:srgbClr val="FFFFFF"/>
                </a:solidFill>
                <a:latin typeface="Arial"/>
                <a:ea typeface="Arial"/>
                <a:cs typeface="Arial"/>
              </a:defRPr>
            </a:pPr>
            <a:r>
              <a:rPr sz="4500" b="1">
                <a:solidFill>
                  <a:srgbClr val="FFFFFF"/>
                </a:solidFill>
                <a:latin typeface="Arial"/>
                <a:ea typeface="Arial"/>
                <a:cs typeface="Arial"/>
              </a:rPr>
              <a:t>Thinking computationally before writing code</a:t>
            </a:r>
          </a:p>
        </p:txBody>
      </p:sp>
      <p:sp>
        <p:nvSpPr>
          <p:cNvPr id="6" name="deck-subtitle">
            <a:extLst xmlns:a="http://schemas.openxmlformats.org/drawingml/2006/main">
              <a:ext uri="{FF2B5EF4-FFF2-40B4-BE49-F238E27FC236}">
                <a16:creationId xmlns:a16="http://schemas.microsoft.com/office/drawing/2014/main" id="{67D85BCD-9255-44DE-B1A5-580C38A8F5CE}"/>
              </a:ext>
            </a:extLst>
          </p:cNvPr>
          <p:cNvSpPr>
            <a:spLocks xmlns:a="http://schemas.openxmlformats.org/drawingml/2006/main" noGrp="1"/>
          </p:cNvSpPr>
          <p:nvPr/>
        </p:nvSpPr>
        <p:spPr>
          <a:xfrm xmlns:a="http://schemas.openxmlformats.org/drawingml/2006/main">
            <a:off x="1028700" y="3848100"/>
            <a:ext cx="9144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D7D9DC"/>
                </a:solidFill>
                <a:latin typeface="Arial"/>
                <a:ea typeface="Arial"/>
                <a:cs typeface="Arial"/>
              </a:defRPr>
            </a:pPr>
            <a:r>
              <a:rPr sz="2100" b="0">
                <a:solidFill>
                  <a:srgbClr val="D7D9DC"/>
                </a:solidFill>
                <a:latin typeface="Arial"/>
                <a:ea typeface="Arial"/>
                <a:cs typeface="Arial"/>
              </a:rPr>
              <a:t>Architecture, explicit procedures, Python, and responsible generative-AI use</a:t>
            </a:r>
          </a:p>
        </p:txBody>
      </p:sp>
      <p:sp>
        <p:nvSpPr>
          <p:cNvPr id="7" name="">
            <a:extLst xmlns:a="http://schemas.openxmlformats.org/drawingml/2006/main">
              <a:ext uri="{FF2B5EF4-FFF2-40B4-BE49-F238E27FC236}">
                <a16:creationId xmlns:a16="http://schemas.microsoft.com/office/drawing/2014/main" id="{F3245D1E-CC6E-49C4-9EC5-5C1F8A8F89C4}"/>
              </a:ext>
            </a:extLst>
          </p:cNvPr>
          <p:cNvSpPr>
            <a:spLocks xmlns:a="http://schemas.openxmlformats.org/drawingml/2006/main" noGrp="1"/>
          </p:cNvSpPr>
          <p:nvPr/>
        </p:nvSpPr>
        <p:spPr>
          <a:xfrm xmlns:a="http://schemas.openxmlformats.org/drawingml/2006/main">
            <a:off x="1028700" y="5295900"/>
            <a:ext cx="2476500" cy="0"/>
          </a:xfrm>
          <a:prstGeom xmlns:a="http://schemas.openxmlformats.org/drawingml/2006/main" prst="line">
            <a:avLst/>
          </a:prstGeom>
          <a:noFill xmlns:a="http://schemas.openxmlformats.org/drawingml/2006/main"/>
          <a:ln xmlns:a="http://schemas.openxmlformats.org/drawingml/2006/main" w="9525">
            <a:solidFill>
              <a:srgbClr val="FFFFFF"/>
            </a:solidFill>
            <a:prstDash val="solid"/>
          </a:ln>
        </p:spPr>
      </p:sp>
      <p:sp>
        <p:nvSpPr>
          <p:cNvPr id="8" name="instructor">
            <a:extLst xmlns:a="http://schemas.openxmlformats.org/drawingml/2006/main">
              <a:ext uri="{FF2B5EF4-FFF2-40B4-BE49-F238E27FC236}">
                <a16:creationId xmlns:a16="http://schemas.microsoft.com/office/drawing/2014/main" id="{0AD6BFA1-29A3-4573-A57B-455A7856E708}"/>
              </a:ext>
            </a:extLst>
          </p:cNvPr>
          <p:cNvSpPr>
            <a:spLocks xmlns:a="http://schemas.openxmlformats.org/drawingml/2006/main" noGrp="1"/>
          </p:cNvSpPr>
          <p:nvPr/>
        </p:nvSpPr>
        <p:spPr>
          <a:xfrm xmlns:a="http://schemas.openxmlformats.org/drawingml/2006/main">
            <a:off x="1028700" y="55245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0">
                <a:solidFill>
                  <a:srgbClr val="D7D9DC"/>
                </a:solidFill>
                <a:latin typeface="Arial"/>
                <a:ea typeface="Arial"/>
                <a:cs typeface="Arial"/>
              </a:defRPr>
            </a:pPr>
            <a:r>
              <a:rPr sz="1200" b="0">
                <a:solidFill>
                  <a:srgbClr val="D7D9DC"/>
                </a:solidFill>
                <a:latin typeface="Arial"/>
                <a:ea typeface="Arial"/>
                <a:cs typeface="Arial"/>
              </a:rPr>
              <a:t>JunHo Chun, PhD  ·  School of Architecture  ·  Syracuse University  ·  Fall 2026</a:t>
            </a:r>
          </a:p>
        </p:txBody>
      </p:sp>
    </p:spTree>
    <p:extLst>
      <p:ext uri="{BB962C8B-B14F-4D97-AF65-F5344CB8AC3E}">
        <p14:creationId xmlns:p14="http://schemas.microsoft.com/office/powerpoint/2010/main" val="10460329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F7AF5D5A-537C-4F24-B57D-A5463E88038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C74B238C-4F70-41E6-8054-1EE3A059660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Why code belongs in architectural thinking</a:t>
            </a:r>
          </a:p>
        </p:txBody>
      </p:sp>
      <p:sp>
        <p:nvSpPr>
          <p:cNvPr id="3" name="">
            <a:extLst xmlns:a="http://schemas.openxmlformats.org/drawingml/2006/main">
              <a:ext uri="{FF2B5EF4-FFF2-40B4-BE49-F238E27FC236}">
                <a16:creationId xmlns:a16="http://schemas.microsoft.com/office/drawing/2014/main" id="{AB5F3977-8F16-438B-BEA5-479D1C0A525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3B44810-DF6E-47D8-AC2F-7FC0A66BD86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C9BA0180-D2A7-4231-8EEC-432617CB727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02</a:t>
            </a:r>
          </a:p>
        </p:txBody>
      </p:sp>
      <p:sp>
        <p:nvSpPr>
          <p:cNvPr id="6" name="statement">
            <a:extLst xmlns:a="http://schemas.openxmlformats.org/drawingml/2006/main">
              <a:ext uri="{FF2B5EF4-FFF2-40B4-BE49-F238E27FC236}">
                <a16:creationId xmlns:a16="http://schemas.microsoft.com/office/drawing/2014/main" id="{06B15DA4-EC9D-4A90-AEE1-DF572145DC61}"/>
              </a:ext>
            </a:extLst>
          </p:cNvPr>
          <p:cNvSpPr>
            <a:spLocks xmlns:a="http://schemas.openxmlformats.org/drawingml/2006/main" noGrp="1"/>
          </p:cNvSpPr>
          <p:nvPr/>
        </p:nvSpPr>
        <p:spPr>
          <a:xfrm xmlns:a="http://schemas.openxmlformats.org/drawingml/2006/main">
            <a:off x="609600" y="2447925"/>
            <a:ext cx="9829800" cy="10637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Code makes a design procedure explicit, repeatable, and open to examination.</a:t>
            </a:r>
          </a:p>
        </p:txBody>
      </p:sp>
      <p:sp>
        <p:nvSpPr>
          <p:cNvPr id="7" name="">
            <a:extLst xmlns:a="http://schemas.openxmlformats.org/drawingml/2006/main">
              <a:ext uri="{FF2B5EF4-FFF2-40B4-BE49-F238E27FC236}">
                <a16:creationId xmlns:a16="http://schemas.microsoft.com/office/drawing/2014/main" id="{55232770-F7E2-4CBE-9EAB-32C880C227C8}"/>
              </a:ext>
            </a:extLst>
          </p:cNvPr>
          <p:cNvSpPr>
            <a:spLocks xmlns:a="http://schemas.openxmlformats.org/drawingml/2006/main" noGrp="1"/>
          </p:cNvSpPr>
          <p:nvPr/>
        </p:nvSpPr>
        <p:spPr>
          <a:xfrm xmlns:a="http://schemas.openxmlformats.org/drawingml/2006/main">
            <a:off x="609600" y="3721227"/>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2C4E80C2-55A2-4F6B-ACE8-79D0C7017DC9}"/>
              </a:ext>
            </a:extLst>
          </p:cNvPr>
          <p:cNvSpPr>
            <a:spLocks xmlns:a="http://schemas.openxmlformats.org/drawingml/2006/main" noGrp="1"/>
          </p:cNvSpPr>
          <p:nvPr/>
        </p:nvSpPr>
        <p:spPr>
          <a:xfrm xmlns:a="http://schemas.openxmlformats.org/drawingml/2006/main">
            <a:off x="609600" y="4045077"/>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A script does not replace judgment. It exposes inputs, assumptions, rules, and consequences so they can be tested and revised.</a:t>
            </a:r>
          </a:p>
        </p:txBody>
      </p:sp>
    </p:spTree>
    <p:extLst>
      <p:ext uri="{BB962C8B-B14F-4D97-AF65-F5344CB8AC3E}">
        <p14:creationId xmlns:p14="http://schemas.microsoft.com/office/powerpoint/2010/main" val="13725429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3C6B13FA-AFE7-49B5-941C-A0AF02A0EDF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LEARNING OUTCOMES</a:t>
            </a:r>
          </a:p>
        </p:txBody>
      </p:sp>
      <p:sp>
        <p:nvSpPr>
          <p:cNvPr id="2" name="title">
            <a:extLst xmlns:a="http://schemas.openxmlformats.org/drawingml/2006/main">
              <a:ext uri="{FF2B5EF4-FFF2-40B4-BE49-F238E27FC236}">
                <a16:creationId xmlns:a16="http://schemas.microsoft.com/office/drawing/2014/main" id="{DCBB1043-4E61-47F9-862A-7AC0FB8184A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By the end, you should be able to…</a:t>
            </a:r>
          </a:p>
        </p:txBody>
      </p:sp>
      <p:sp>
        <p:nvSpPr>
          <p:cNvPr id="3" name="">
            <a:extLst xmlns:a="http://schemas.openxmlformats.org/drawingml/2006/main">
              <a:ext uri="{FF2B5EF4-FFF2-40B4-BE49-F238E27FC236}">
                <a16:creationId xmlns:a16="http://schemas.microsoft.com/office/drawing/2014/main" id="{EC7C76C1-FBB6-4F65-A0F3-C1CC5F0ED8D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DA256F9-A39E-4B7B-86D1-41581A29FEB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57D0729C-7583-4540-9028-210B334ECC1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03</a:t>
            </a:r>
          </a:p>
        </p:txBody>
      </p:sp>
      <p:sp>
        <p:nvSpPr>
          <p:cNvPr id="6" name="outcome-number-0">
            <a:extLst xmlns:a="http://schemas.openxmlformats.org/drawingml/2006/main">
              <a:ext uri="{FF2B5EF4-FFF2-40B4-BE49-F238E27FC236}">
                <a16:creationId xmlns:a16="http://schemas.microsoft.com/office/drawing/2014/main" id="{0E5A9DC7-2258-4F6B-8731-C112104B63F7}"/>
              </a:ext>
            </a:extLst>
          </p:cNvPr>
          <p:cNvSpPr>
            <a:spLocks xmlns:a="http://schemas.openxmlformats.org/drawingml/2006/main" noGrp="1"/>
          </p:cNvSpPr>
          <p:nvPr/>
        </p:nvSpPr>
        <p:spPr>
          <a:xfrm xmlns:a="http://schemas.openxmlformats.org/drawingml/2006/main">
            <a:off x="6096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1</a:t>
            </a:r>
          </a:p>
        </p:txBody>
      </p:sp>
      <p:sp>
        <p:nvSpPr>
          <p:cNvPr id="7" name="outcome-head-0">
            <a:extLst xmlns:a="http://schemas.openxmlformats.org/drawingml/2006/main">
              <a:ext uri="{FF2B5EF4-FFF2-40B4-BE49-F238E27FC236}">
                <a16:creationId xmlns:a16="http://schemas.microsoft.com/office/drawing/2014/main" id="{33C2E9D7-B61D-494A-9955-F9163EEB6A34}"/>
              </a:ext>
            </a:extLst>
          </p:cNvPr>
          <p:cNvSpPr>
            <a:spLocks xmlns:a="http://schemas.openxmlformats.org/drawingml/2006/main" noGrp="1"/>
          </p:cNvSpPr>
          <p:nvPr/>
        </p:nvSpPr>
        <p:spPr>
          <a:xfrm xmlns:a="http://schemas.openxmlformats.org/drawingml/2006/main">
            <a:off x="12001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Explain</a:t>
            </a:r>
          </a:p>
        </p:txBody>
      </p:sp>
      <p:sp>
        <p:nvSpPr>
          <p:cNvPr id="8" name="outcome-body-0">
            <a:extLst xmlns:a="http://schemas.openxmlformats.org/drawingml/2006/main">
              <a:ext uri="{FF2B5EF4-FFF2-40B4-BE49-F238E27FC236}">
                <a16:creationId xmlns:a16="http://schemas.microsoft.com/office/drawing/2014/main" id="{19EB3686-0AB9-49E0-AF17-46CFE61B9F6E}"/>
              </a:ext>
            </a:extLst>
          </p:cNvPr>
          <p:cNvSpPr>
            <a:spLocks xmlns:a="http://schemas.openxmlformats.org/drawingml/2006/main" noGrp="1"/>
          </p:cNvSpPr>
          <p:nvPr/>
        </p:nvSpPr>
        <p:spPr>
          <a:xfrm xmlns:a="http://schemas.openxmlformats.org/drawingml/2006/main">
            <a:off x="12001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Describe a computational problem as inputs, process, outputs, and checks.</a:t>
            </a:r>
          </a:p>
        </p:txBody>
      </p:sp>
      <p:sp>
        <p:nvSpPr>
          <p:cNvPr id="9" name="outcome-number-1">
            <a:extLst xmlns:a="http://schemas.openxmlformats.org/drawingml/2006/main">
              <a:ext uri="{FF2B5EF4-FFF2-40B4-BE49-F238E27FC236}">
                <a16:creationId xmlns:a16="http://schemas.microsoft.com/office/drawing/2014/main" id="{F33949AB-30C6-4363-8EBC-6A5834E4FEFA}"/>
              </a:ext>
            </a:extLst>
          </p:cNvPr>
          <p:cNvSpPr>
            <a:spLocks xmlns:a="http://schemas.openxmlformats.org/drawingml/2006/main" noGrp="1"/>
          </p:cNvSpPr>
          <p:nvPr/>
        </p:nvSpPr>
        <p:spPr>
          <a:xfrm xmlns:a="http://schemas.openxmlformats.org/drawingml/2006/main">
            <a:off x="6362700" y="18859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2</a:t>
            </a:r>
          </a:p>
        </p:txBody>
      </p:sp>
      <p:sp>
        <p:nvSpPr>
          <p:cNvPr id="10" name="outcome-head-1">
            <a:extLst xmlns:a="http://schemas.openxmlformats.org/drawingml/2006/main">
              <a:ext uri="{FF2B5EF4-FFF2-40B4-BE49-F238E27FC236}">
                <a16:creationId xmlns:a16="http://schemas.microsoft.com/office/drawing/2014/main" id="{F134FF98-4355-4FF6-9858-3C4867DBF7F2}"/>
              </a:ext>
            </a:extLst>
          </p:cNvPr>
          <p:cNvSpPr>
            <a:spLocks xmlns:a="http://schemas.openxmlformats.org/drawingml/2006/main" noGrp="1"/>
          </p:cNvSpPr>
          <p:nvPr/>
        </p:nvSpPr>
        <p:spPr>
          <a:xfrm xmlns:a="http://schemas.openxmlformats.org/drawingml/2006/main">
            <a:off x="6953250" y="19050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Decompose</a:t>
            </a:r>
          </a:p>
        </p:txBody>
      </p:sp>
      <p:sp>
        <p:nvSpPr>
          <p:cNvPr id="11" name="outcome-body-1">
            <a:extLst xmlns:a="http://schemas.openxmlformats.org/drawingml/2006/main">
              <a:ext uri="{FF2B5EF4-FFF2-40B4-BE49-F238E27FC236}">
                <a16:creationId xmlns:a16="http://schemas.microsoft.com/office/drawing/2014/main" id="{3D2D0497-7C12-4877-8848-EE1709676D6B}"/>
              </a:ext>
            </a:extLst>
          </p:cNvPr>
          <p:cNvSpPr>
            <a:spLocks xmlns:a="http://schemas.openxmlformats.org/drawingml/2006/main" noGrp="1"/>
          </p:cNvSpPr>
          <p:nvPr/>
        </p:nvSpPr>
        <p:spPr>
          <a:xfrm xmlns:a="http://schemas.openxmlformats.org/drawingml/2006/main">
            <a:off x="6953250" y="24003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Break an architectural question into smaller executable operations.</a:t>
            </a:r>
          </a:p>
        </p:txBody>
      </p:sp>
      <p:sp>
        <p:nvSpPr>
          <p:cNvPr id="12" name="outcome-number-2">
            <a:extLst xmlns:a="http://schemas.openxmlformats.org/drawingml/2006/main">
              <a:ext uri="{FF2B5EF4-FFF2-40B4-BE49-F238E27FC236}">
                <a16:creationId xmlns:a16="http://schemas.microsoft.com/office/drawing/2014/main" id="{6181EA9E-3D23-443B-8A54-4A99F60BCB72}"/>
              </a:ext>
            </a:extLst>
          </p:cNvPr>
          <p:cNvSpPr>
            <a:spLocks xmlns:a="http://schemas.openxmlformats.org/drawingml/2006/main" noGrp="1"/>
          </p:cNvSpPr>
          <p:nvPr/>
        </p:nvSpPr>
        <p:spPr>
          <a:xfrm xmlns:a="http://schemas.openxmlformats.org/drawingml/2006/main">
            <a:off x="6096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3</a:t>
            </a:r>
          </a:p>
        </p:txBody>
      </p:sp>
      <p:sp>
        <p:nvSpPr>
          <p:cNvPr id="13" name="outcome-head-2">
            <a:extLst xmlns:a="http://schemas.openxmlformats.org/drawingml/2006/main">
              <a:ext uri="{FF2B5EF4-FFF2-40B4-BE49-F238E27FC236}">
                <a16:creationId xmlns:a16="http://schemas.microsoft.com/office/drawing/2014/main" id="{697934A1-D24E-4DC2-9278-E94135E21F51}"/>
              </a:ext>
            </a:extLst>
          </p:cNvPr>
          <p:cNvSpPr>
            <a:spLocks xmlns:a="http://schemas.openxmlformats.org/drawingml/2006/main" noGrp="1"/>
          </p:cNvSpPr>
          <p:nvPr/>
        </p:nvSpPr>
        <p:spPr>
          <a:xfrm xmlns:a="http://schemas.openxmlformats.org/drawingml/2006/main">
            <a:off x="12001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a:t>
            </a:r>
          </a:p>
        </p:txBody>
      </p:sp>
      <p:sp>
        <p:nvSpPr>
          <p:cNvPr id="14" name="outcome-body-2">
            <a:extLst xmlns:a="http://schemas.openxmlformats.org/drawingml/2006/main">
              <a:ext uri="{FF2B5EF4-FFF2-40B4-BE49-F238E27FC236}">
                <a16:creationId xmlns:a16="http://schemas.microsoft.com/office/drawing/2014/main" id="{7B6729F0-43CE-4C8D-9E0D-B2EBD6DBAB76}"/>
              </a:ext>
            </a:extLst>
          </p:cNvPr>
          <p:cNvSpPr>
            <a:spLocks xmlns:a="http://schemas.openxmlformats.org/drawingml/2006/main" noGrp="1"/>
          </p:cNvSpPr>
          <p:nvPr/>
        </p:nvSpPr>
        <p:spPr>
          <a:xfrm xmlns:a="http://schemas.openxmlformats.org/drawingml/2006/main">
            <a:off x="12001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Trace a short Python program from top to bottom.</a:t>
            </a:r>
          </a:p>
        </p:txBody>
      </p:sp>
      <p:sp>
        <p:nvSpPr>
          <p:cNvPr id="15" name="outcome-number-3">
            <a:extLst xmlns:a="http://schemas.openxmlformats.org/drawingml/2006/main">
              <a:ext uri="{FF2B5EF4-FFF2-40B4-BE49-F238E27FC236}">
                <a16:creationId xmlns:a16="http://schemas.microsoft.com/office/drawing/2014/main" id="{E7C7AC2A-6212-48F5-B3AC-0D6C1A22213A}"/>
              </a:ext>
            </a:extLst>
          </p:cNvPr>
          <p:cNvSpPr>
            <a:spLocks xmlns:a="http://schemas.openxmlformats.org/drawingml/2006/main" noGrp="1"/>
          </p:cNvSpPr>
          <p:nvPr/>
        </p:nvSpPr>
        <p:spPr>
          <a:xfrm xmlns:a="http://schemas.openxmlformats.org/drawingml/2006/main">
            <a:off x="6362700" y="4095750"/>
            <a:ext cx="495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1">
                <a:solidFill>
                  <a:srgbClr val="2E74B5"/>
                </a:solidFill>
                <a:latin typeface="Arial"/>
                <a:ea typeface="Arial"/>
                <a:cs typeface="Arial"/>
              </a:defRPr>
            </a:pPr>
            <a:r>
              <a:rPr sz="3000" b="1">
                <a:solidFill>
                  <a:srgbClr val="2E74B5"/>
                </a:solidFill>
                <a:latin typeface="Arial"/>
                <a:ea typeface="Arial"/>
                <a:cs typeface="Arial"/>
              </a:rPr>
              <a:t>4</a:t>
            </a:r>
          </a:p>
        </p:txBody>
      </p:sp>
      <p:sp>
        <p:nvSpPr>
          <p:cNvPr id="16" name="outcome-head-3">
            <a:extLst xmlns:a="http://schemas.openxmlformats.org/drawingml/2006/main">
              <a:ext uri="{FF2B5EF4-FFF2-40B4-BE49-F238E27FC236}">
                <a16:creationId xmlns:a16="http://schemas.microsoft.com/office/drawing/2014/main" id="{8BCECC91-8FCF-413E-86F2-254B2F5FB08A}"/>
              </a:ext>
            </a:extLst>
          </p:cNvPr>
          <p:cNvSpPr>
            <a:spLocks xmlns:a="http://schemas.openxmlformats.org/drawingml/2006/main" noGrp="1"/>
          </p:cNvSpPr>
          <p:nvPr/>
        </p:nvSpPr>
        <p:spPr>
          <a:xfrm xmlns:a="http://schemas.openxmlformats.org/drawingml/2006/main">
            <a:off x="6953250" y="4114800"/>
            <a:ext cx="449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Evaluate</a:t>
            </a:r>
          </a:p>
        </p:txBody>
      </p:sp>
      <p:sp>
        <p:nvSpPr>
          <p:cNvPr id="17" name="outcome-body-3">
            <a:extLst xmlns:a="http://schemas.openxmlformats.org/drawingml/2006/main">
              <a:ext uri="{FF2B5EF4-FFF2-40B4-BE49-F238E27FC236}">
                <a16:creationId xmlns:a16="http://schemas.microsoft.com/office/drawing/2014/main" id="{DF4A3839-23C7-4D02-A886-E613CC5D4B28}"/>
              </a:ext>
            </a:extLst>
          </p:cNvPr>
          <p:cNvSpPr>
            <a:spLocks xmlns:a="http://schemas.openxmlformats.org/drawingml/2006/main" noGrp="1"/>
          </p:cNvSpPr>
          <p:nvPr/>
        </p:nvSpPr>
        <p:spPr>
          <a:xfrm xmlns:a="http://schemas.openxmlformats.org/drawingml/2006/main">
            <a:off x="6953250" y="4610100"/>
            <a:ext cx="46291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Distinguish code correctness from model validity and responsible AI use.</a:t>
            </a:r>
          </a:p>
        </p:txBody>
      </p:sp>
    </p:spTree>
    <p:extLst>
      <p:ext uri="{BB962C8B-B14F-4D97-AF65-F5344CB8AC3E}">
        <p14:creationId xmlns:p14="http://schemas.microsoft.com/office/powerpoint/2010/main" val="6980786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kicker">
            <a:extLst xmlns:a="http://schemas.openxmlformats.org/drawingml/2006/main">
              <a:ext uri="{FF2B5EF4-FFF2-40B4-BE49-F238E27FC236}">
                <a16:creationId xmlns:a16="http://schemas.microsoft.com/office/drawing/2014/main" id="{31849210-BD5C-4F4B-956F-D34F1979B43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ROAD MAP</a:t>
            </a:r>
          </a:p>
        </p:txBody>
      </p:sp>
      <p:sp>
        <p:nvSpPr>
          <p:cNvPr id="2" name="title">
            <a:extLst xmlns:a="http://schemas.openxmlformats.org/drawingml/2006/main">
              <a:ext uri="{FF2B5EF4-FFF2-40B4-BE49-F238E27FC236}">
                <a16:creationId xmlns:a16="http://schemas.microsoft.com/office/drawing/2014/main" id="{A8F8DD97-57EE-44D9-B580-7DF395F181D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Today’s learning sequence</a:t>
            </a:r>
          </a:p>
        </p:txBody>
      </p:sp>
      <p:sp>
        <p:nvSpPr>
          <p:cNvPr id="3" name="">
            <a:extLst xmlns:a="http://schemas.openxmlformats.org/drawingml/2006/main">
              <a:ext uri="{FF2B5EF4-FFF2-40B4-BE49-F238E27FC236}">
                <a16:creationId xmlns:a16="http://schemas.microsoft.com/office/drawing/2014/main" id="{31663220-76A7-457C-A4E3-BFFC55F85E6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3B48276-C0E8-45B0-AA65-DCBD373837F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898D1703-C8A0-480C-B9E3-E82EC2CE5E3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04</a:t>
            </a:r>
          </a:p>
        </p:txBody>
      </p:sp>
      <p:sp>
        <p:nvSpPr>
          <p:cNvPr id="6" name="agenda-no-0">
            <a:extLst xmlns:a="http://schemas.openxmlformats.org/drawingml/2006/main">
              <a:ext uri="{FF2B5EF4-FFF2-40B4-BE49-F238E27FC236}">
                <a16:creationId xmlns:a16="http://schemas.microsoft.com/office/drawing/2014/main" id="{0D0E4AC8-59B2-4CB3-801C-B35BC12303DD}"/>
              </a:ext>
            </a:extLst>
          </p:cNvPr>
          <p:cNvSpPr>
            <a:spLocks xmlns:a="http://schemas.openxmlformats.org/drawingml/2006/main" noGrp="1"/>
          </p:cNvSpPr>
          <p:nvPr/>
        </p:nvSpPr>
        <p:spPr>
          <a:xfrm xmlns:a="http://schemas.openxmlformats.org/drawingml/2006/main">
            <a:off x="609600" y="22002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9C5FD5E8-BA3C-48B1-8978-EC7A742F31E7}"/>
              </a:ext>
            </a:extLst>
          </p:cNvPr>
          <p:cNvSpPr>
            <a:spLocks xmlns:a="http://schemas.openxmlformats.org/drawingml/2006/main" noGrp="1"/>
          </p:cNvSpPr>
          <p:nvPr/>
        </p:nvSpPr>
        <p:spPr>
          <a:xfrm xmlns:a="http://schemas.openxmlformats.org/drawingml/2006/main">
            <a:off x="1314450" y="2352675"/>
            <a:ext cx="7429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8" name="agenda-item-0">
            <a:extLst xmlns:a="http://schemas.openxmlformats.org/drawingml/2006/main">
              <a:ext uri="{FF2B5EF4-FFF2-40B4-BE49-F238E27FC236}">
                <a16:creationId xmlns:a16="http://schemas.microsoft.com/office/drawing/2014/main" id="{0AE56AE2-35E7-433A-9DDC-1CE4DE8E0182}"/>
              </a:ext>
            </a:extLst>
          </p:cNvPr>
          <p:cNvSpPr>
            <a:spLocks xmlns:a="http://schemas.openxmlformats.org/drawingml/2006/main" noGrp="1"/>
          </p:cNvSpPr>
          <p:nvPr/>
        </p:nvSpPr>
        <p:spPr>
          <a:xfrm xmlns:a="http://schemas.openxmlformats.org/drawingml/2006/main">
            <a:off x="2381250" y="21431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Architectural questions become explicit procedures</a:t>
            </a:r>
          </a:p>
        </p:txBody>
      </p:sp>
      <p:sp>
        <p:nvSpPr>
          <p:cNvPr id="9" name="agenda-no-1">
            <a:extLst xmlns:a="http://schemas.openxmlformats.org/drawingml/2006/main">
              <a:ext uri="{FF2B5EF4-FFF2-40B4-BE49-F238E27FC236}">
                <a16:creationId xmlns:a16="http://schemas.microsoft.com/office/drawing/2014/main" id="{99B632E4-EB6B-4BDE-A0B7-09C665F38566}"/>
              </a:ext>
            </a:extLst>
          </p:cNvPr>
          <p:cNvSpPr>
            <a:spLocks xmlns:a="http://schemas.openxmlformats.org/drawingml/2006/main" noGrp="1"/>
          </p:cNvSpPr>
          <p:nvPr/>
        </p:nvSpPr>
        <p:spPr>
          <a:xfrm xmlns:a="http://schemas.openxmlformats.org/drawingml/2006/main">
            <a:off x="609600" y="31146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1426BEB-877F-4541-9AA6-CDDA272E006F}"/>
              </a:ext>
            </a:extLst>
          </p:cNvPr>
          <p:cNvSpPr>
            <a:spLocks xmlns:a="http://schemas.openxmlformats.org/drawingml/2006/main" noGrp="1"/>
          </p:cNvSpPr>
          <p:nvPr/>
        </p:nvSpPr>
        <p:spPr>
          <a:xfrm xmlns:a="http://schemas.openxmlformats.org/drawingml/2006/main">
            <a:off x="1314450" y="32670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1" name="agenda-item-1">
            <a:extLst xmlns:a="http://schemas.openxmlformats.org/drawingml/2006/main">
              <a:ext uri="{FF2B5EF4-FFF2-40B4-BE49-F238E27FC236}">
                <a16:creationId xmlns:a16="http://schemas.microsoft.com/office/drawing/2014/main" id="{B0B989A7-6FA8-4244-9198-D363A41CB5CB}"/>
              </a:ext>
            </a:extLst>
          </p:cNvPr>
          <p:cNvSpPr>
            <a:spLocks xmlns:a="http://schemas.openxmlformats.org/drawingml/2006/main" noGrp="1"/>
          </p:cNvSpPr>
          <p:nvPr/>
        </p:nvSpPr>
        <p:spPr>
          <a:xfrm xmlns:a="http://schemas.openxmlformats.org/drawingml/2006/main">
            <a:off x="2381250" y="30575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Programs transform representations into evidence</a:t>
            </a:r>
          </a:p>
        </p:txBody>
      </p:sp>
      <p:sp>
        <p:nvSpPr>
          <p:cNvPr id="12" name="agenda-no-2">
            <a:extLst xmlns:a="http://schemas.openxmlformats.org/drawingml/2006/main">
              <a:ext uri="{FF2B5EF4-FFF2-40B4-BE49-F238E27FC236}">
                <a16:creationId xmlns:a16="http://schemas.microsoft.com/office/drawing/2014/main" id="{1B847919-9FA3-4CB3-ADBD-0166D1467028}"/>
              </a:ext>
            </a:extLst>
          </p:cNvPr>
          <p:cNvSpPr>
            <a:spLocks xmlns:a="http://schemas.openxmlformats.org/drawingml/2006/main" noGrp="1"/>
          </p:cNvSpPr>
          <p:nvPr/>
        </p:nvSpPr>
        <p:spPr>
          <a:xfrm xmlns:a="http://schemas.openxmlformats.org/drawingml/2006/main">
            <a:off x="609600" y="40290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D0D3A6C6-C318-4536-B846-58A07DB463BA}"/>
              </a:ext>
            </a:extLst>
          </p:cNvPr>
          <p:cNvSpPr>
            <a:spLocks xmlns:a="http://schemas.openxmlformats.org/drawingml/2006/main" noGrp="1"/>
          </p:cNvSpPr>
          <p:nvPr/>
        </p:nvSpPr>
        <p:spPr>
          <a:xfrm xmlns:a="http://schemas.openxmlformats.org/drawingml/2006/main">
            <a:off x="1314450" y="41814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4" name="agenda-item-2">
            <a:extLst xmlns:a="http://schemas.openxmlformats.org/drawingml/2006/main">
              <a:ext uri="{FF2B5EF4-FFF2-40B4-BE49-F238E27FC236}">
                <a16:creationId xmlns:a16="http://schemas.microsoft.com/office/drawing/2014/main" id="{DD339D05-EA69-4D8B-9F47-4358140ACBD4}"/>
              </a:ext>
            </a:extLst>
          </p:cNvPr>
          <p:cNvSpPr>
            <a:spLocks xmlns:a="http://schemas.openxmlformats.org/drawingml/2006/main" noGrp="1"/>
          </p:cNvSpPr>
          <p:nvPr/>
        </p:nvSpPr>
        <p:spPr>
          <a:xfrm xmlns:a="http://schemas.openxmlformats.org/drawingml/2006/main">
            <a:off x="2381250" y="39719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Python expresses one step at a time</a:t>
            </a:r>
          </a:p>
        </p:txBody>
      </p:sp>
      <p:sp>
        <p:nvSpPr>
          <p:cNvPr id="15" name="agenda-no-3">
            <a:extLst xmlns:a="http://schemas.openxmlformats.org/drawingml/2006/main">
              <a:ext uri="{FF2B5EF4-FFF2-40B4-BE49-F238E27FC236}">
                <a16:creationId xmlns:a16="http://schemas.microsoft.com/office/drawing/2014/main" id="{A07D3557-D334-496E-A7BF-80C96608E2EE}"/>
              </a:ext>
            </a:extLst>
          </p:cNvPr>
          <p:cNvSpPr>
            <a:spLocks xmlns:a="http://schemas.openxmlformats.org/drawingml/2006/main" noGrp="1"/>
          </p:cNvSpPr>
          <p:nvPr/>
        </p:nvSpPr>
        <p:spPr>
          <a:xfrm xmlns:a="http://schemas.openxmlformats.org/drawingml/2006/main">
            <a:off x="609600" y="4943475"/>
            <a:ext cx="590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16" name="">
            <a:extLst xmlns:a="http://schemas.openxmlformats.org/drawingml/2006/main">
              <a:ext uri="{FF2B5EF4-FFF2-40B4-BE49-F238E27FC236}">
                <a16:creationId xmlns:a16="http://schemas.microsoft.com/office/drawing/2014/main" id="{D2EFA736-8BF3-4209-8972-562170C11C8B}"/>
              </a:ext>
            </a:extLst>
          </p:cNvPr>
          <p:cNvSpPr>
            <a:spLocks xmlns:a="http://schemas.openxmlformats.org/drawingml/2006/main" noGrp="1"/>
          </p:cNvSpPr>
          <p:nvPr/>
        </p:nvSpPr>
        <p:spPr>
          <a:xfrm xmlns:a="http://schemas.openxmlformats.org/drawingml/2006/main">
            <a:off x="1314450" y="5095875"/>
            <a:ext cx="74295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17" name="agenda-item-3">
            <a:extLst xmlns:a="http://schemas.openxmlformats.org/drawingml/2006/main">
              <a:ext uri="{FF2B5EF4-FFF2-40B4-BE49-F238E27FC236}">
                <a16:creationId xmlns:a16="http://schemas.microsoft.com/office/drawing/2014/main" id="{9C8F1B59-7C06-4ED6-9A2A-F7204444DBBE}"/>
              </a:ext>
            </a:extLst>
          </p:cNvPr>
          <p:cNvSpPr>
            <a:spLocks xmlns:a="http://schemas.openxmlformats.org/drawingml/2006/main" noGrp="1"/>
          </p:cNvSpPr>
          <p:nvPr/>
        </p:nvSpPr>
        <p:spPr>
          <a:xfrm xmlns:a="http://schemas.openxmlformats.org/drawingml/2006/main">
            <a:off x="2381250" y="4886325"/>
            <a:ext cx="9201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111316"/>
                </a:solidFill>
                <a:latin typeface="Arial"/>
                <a:ea typeface="Arial"/>
                <a:cs typeface="Arial"/>
              </a:defRPr>
            </a:pPr>
            <a:r>
              <a:rPr sz="2100" b="0">
                <a:solidFill>
                  <a:srgbClr val="111316"/>
                </a:solidFill>
                <a:latin typeface="Arial"/>
                <a:ea typeface="Arial"/>
                <a:cs typeface="Arial"/>
              </a:rPr>
              <a:t>Testing and explanation keep the designer responsible</a:t>
            </a:r>
          </a:p>
        </p:txBody>
      </p:sp>
    </p:spTree>
    <p:extLst>
      <p:ext uri="{BB962C8B-B14F-4D97-AF65-F5344CB8AC3E}">
        <p14:creationId xmlns:p14="http://schemas.microsoft.com/office/powerpoint/2010/main" val="11188135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kicker">
            <a:extLst xmlns:a="http://schemas.openxmlformats.org/drawingml/2006/main">
              <a:ext uri="{FF2B5EF4-FFF2-40B4-BE49-F238E27FC236}">
                <a16:creationId xmlns:a16="http://schemas.microsoft.com/office/drawing/2014/main" id="{2F3C8D21-DDBA-4115-A374-A66EF771DEE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EASY → MEDIUM → HARD</a:t>
            </a:r>
          </a:p>
        </p:txBody>
      </p:sp>
      <p:sp>
        <p:nvSpPr>
          <p:cNvPr id="2" name="title">
            <a:extLst xmlns:a="http://schemas.openxmlformats.org/drawingml/2006/main">
              <a:ext uri="{FF2B5EF4-FFF2-40B4-BE49-F238E27FC236}">
                <a16:creationId xmlns:a16="http://schemas.microsoft.com/office/drawing/2014/main" id="{9DB7EE60-D0C6-494B-94D6-8992E69A984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One architectural question, three levels of numerical reasoning</a:t>
            </a:r>
          </a:p>
        </p:txBody>
      </p:sp>
      <p:sp>
        <p:nvSpPr>
          <p:cNvPr id="3" name="">
            <a:extLst xmlns:a="http://schemas.openxmlformats.org/drawingml/2006/main">
              <a:ext uri="{FF2B5EF4-FFF2-40B4-BE49-F238E27FC236}">
                <a16:creationId xmlns:a16="http://schemas.microsoft.com/office/drawing/2014/main" id="{7B6B3040-E38B-476F-99A4-853C3CED487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CCCAF7C-DD81-4006-AA3A-63FA884B1F1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46FF0695-F3F9-44CE-8837-2ED08F1DF1F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05</a:t>
            </a:r>
          </a:p>
        </p:txBody>
      </p:sp>
      <p:sp>
        <p:nvSpPr>
          <p:cNvPr id="6" name="ladder-row-0">
            <a:extLst xmlns:a="http://schemas.openxmlformats.org/drawingml/2006/main">
              <a:ext uri="{FF2B5EF4-FFF2-40B4-BE49-F238E27FC236}">
                <a16:creationId xmlns:a16="http://schemas.microsoft.com/office/drawing/2014/main" id="{969E11FA-0C18-4BF6-9204-9BA10A09C4AC}"/>
              </a:ext>
            </a:extLst>
          </p:cNvPr>
          <p:cNvSpPr>
            <a:spLocks xmlns:a="http://schemas.openxmlformats.org/drawingml/2006/main" noGrp="1"/>
          </p:cNvSpPr>
          <p:nvPr/>
        </p:nvSpPr>
        <p:spPr>
          <a:xfrm xmlns:a="http://schemas.openxmlformats.org/drawingml/2006/main">
            <a:off x="609600" y="1847850"/>
            <a:ext cx="10972800" cy="1314450"/>
          </a:xfrm>
          <a:prstGeom xmlns:a="http://schemas.openxmlformats.org/drawingml/2006/main" prst="roundRect">
            <a:avLst>
              <a:gd name="adj" fmla="val 5797"/>
            </a:avLst>
          </a:prstGeom>
          <a:solidFill xmlns:a="http://schemas.openxmlformats.org/drawingml/2006/main">
            <a:srgbClr val="F6F7F9"/>
          </a:solidFill>
          <a:ln xmlns:a="http://schemas.openxmlformats.org/drawingml/2006/main" w="9525">
            <a:solidFill>
              <a:srgbClr val="DDE0E5"/>
            </a:solidFill>
            <a:prstDash val="solid"/>
          </a:ln>
        </p:spPr>
      </p:sp>
      <p:sp>
        <p:nvSpPr>
          <p:cNvPr id="7" name="ladder-accent-0">
            <a:extLst xmlns:a="http://schemas.openxmlformats.org/drawingml/2006/main">
              <a:ext uri="{FF2B5EF4-FFF2-40B4-BE49-F238E27FC236}">
                <a16:creationId xmlns:a16="http://schemas.microsoft.com/office/drawing/2014/main" id="{88555202-6798-440A-B4C1-C3E804F2027E}"/>
              </a:ext>
            </a:extLst>
          </p:cNvPr>
          <p:cNvSpPr>
            <a:spLocks xmlns:a="http://schemas.openxmlformats.org/drawingml/2006/main" noGrp="1"/>
          </p:cNvSpPr>
          <p:nvPr/>
        </p:nvSpPr>
        <p:spPr>
          <a:xfrm xmlns:a="http://schemas.openxmlformats.org/drawingml/2006/main">
            <a:off x="609600" y="1847850"/>
            <a:ext cx="76200" cy="1314450"/>
          </a:xfrm>
          <a:prstGeom xmlns:a="http://schemas.openxmlformats.org/drawingml/2006/main" prst="rect">
            <a:avLst/>
          </a:prstGeom>
          <a:solidFill xmlns:a="http://schemas.openxmlformats.org/drawingml/2006/main">
            <a:srgbClr val="2E7D5B"/>
          </a:solidFill>
          <a:ln xmlns:a="http://schemas.openxmlformats.org/drawingml/2006/main" w="0">
            <a:noFill/>
            <a:prstDash val="solid"/>
          </a:ln>
        </p:spPr>
      </p:sp>
      <p:sp>
        <p:nvSpPr>
          <p:cNvPr id="8" name="ladder-level-0">
            <a:extLst xmlns:a="http://schemas.openxmlformats.org/drawingml/2006/main">
              <a:ext uri="{FF2B5EF4-FFF2-40B4-BE49-F238E27FC236}">
                <a16:creationId xmlns:a16="http://schemas.microsoft.com/office/drawing/2014/main" id="{0B7297EE-E2AC-41C7-A3C5-06A2E99F0918}"/>
              </a:ext>
            </a:extLst>
          </p:cNvPr>
          <p:cNvSpPr>
            <a:spLocks xmlns:a="http://schemas.openxmlformats.org/drawingml/2006/main" noGrp="1"/>
          </p:cNvSpPr>
          <p:nvPr/>
        </p:nvSpPr>
        <p:spPr>
          <a:xfrm xmlns:a="http://schemas.openxmlformats.org/drawingml/2006/main">
            <a:off x="857250" y="20193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D5B"/>
                </a:solidFill>
                <a:latin typeface="Arial"/>
                <a:ea typeface="Arial"/>
                <a:cs typeface="Arial"/>
              </a:defRPr>
            </a:pPr>
            <a:r>
              <a:rPr sz="900" b="1">
                <a:solidFill>
                  <a:srgbClr val="2E7D5B"/>
                </a:solidFill>
                <a:latin typeface="Arial"/>
                <a:ea typeface="Arial"/>
                <a:cs typeface="Arial"/>
              </a:rPr>
              <a:t>EASY</a:t>
            </a:r>
          </a:p>
        </p:txBody>
      </p:sp>
      <p:sp>
        <p:nvSpPr>
          <p:cNvPr id="9" name="ladder-focus-0">
            <a:extLst xmlns:a="http://schemas.openxmlformats.org/drawingml/2006/main">
              <a:ext uri="{FF2B5EF4-FFF2-40B4-BE49-F238E27FC236}">
                <a16:creationId xmlns:a16="http://schemas.microsoft.com/office/drawing/2014/main" id="{11055E20-314D-4E69-A932-D6E0B64432CA}"/>
              </a:ext>
            </a:extLst>
          </p:cNvPr>
          <p:cNvSpPr>
            <a:spLocks xmlns:a="http://schemas.openxmlformats.org/drawingml/2006/main" noGrp="1"/>
          </p:cNvSpPr>
          <p:nvPr/>
        </p:nvSpPr>
        <p:spPr>
          <a:xfrm xmlns:a="http://schemas.openxmlformats.org/drawingml/2006/main">
            <a:off x="857250" y="23241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One operation</a:t>
            </a:r>
          </a:p>
        </p:txBody>
      </p:sp>
      <p:sp>
        <p:nvSpPr>
          <p:cNvPr id="10" name="ladder-task-0">
            <a:extLst xmlns:a="http://schemas.openxmlformats.org/drawingml/2006/main">
              <a:ext uri="{FF2B5EF4-FFF2-40B4-BE49-F238E27FC236}">
                <a16:creationId xmlns:a16="http://schemas.microsoft.com/office/drawing/2014/main" id="{DBB9BD86-00DE-45CE-850F-22B4822B0D05}"/>
              </a:ext>
            </a:extLst>
          </p:cNvPr>
          <p:cNvSpPr>
            <a:spLocks xmlns:a="http://schemas.openxmlformats.org/drawingml/2006/main" noGrp="1"/>
          </p:cNvSpPr>
          <p:nvPr/>
        </p:nvSpPr>
        <p:spPr>
          <a:xfrm xmlns:a="http://schemas.openxmlformats.org/drawingml/2006/main">
            <a:off x="2457450" y="20193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rectangular room is 7.0 m × 5.0 m. Calculate its floor area.</a:t>
            </a:r>
          </a:p>
        </p:txBody>
      </p:sp>
      <p:sp>
        <p:nvSpPr>
          <p:cNvPr id="11" name="ladder-divider-0">
            <a:extLst xmlns:a="http://schemas.openxmlformats.org/drawingml/2006/main">
              <a:ext uri="{FF2B5EF4-FFF2-40B4-BE49-F238E27FC236}">
                <a16:creationId xmlns:a16="http://schemas.microsoft.com/office/drawing/2014/main" id="{C8563DFC-79DB-41FE-978E-A44AAB4286A8}"/>
              </a:ext>
            </a:extLst>
          </p:cNvPr>
          <p:cNvSpPr>
            <a:spLocks xmlns:a="http://schemas.openxmlformats.org/drawingml/2006/main" noGrp="1"/>
          </p:cNvSpPr>
          <p:nvPr/>
        </p:nvSpPr>
        <p:spPr>
          <a:xfrm xmlns:a="http://schemas.openxmlformats.org/drawingml/2006/main">
            <a:off x="8553450" y="20193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ladder-check-label-0">
            <a:extLst xmlns:a="http://schemas.openxmlformats.org/drawingml/2006/main">
              <a:ext uri="{FF2B5EF4-FFF2-40B4-BE49-F238E27FC236}">
                <a16:creationId xmlns:a16="http://schemas.microsoft.com/office/drawing/2014/main" id="{EB36A0EB-0E18-46A0-91BB-1E869EB66B88}"/>
              </a:ext>
            </a:extLst>
          </p:cNvPr>
          <p:cNvSpPr>
            <a:spLocks xmlns:a="http://schemas.openxmlformats.org/drawingml/2006/main" noGrp="1"/>
          </p:cNvSpPr>
          <p:nvPr/>
        </p:nvSpPr>
        <p:spPr>
          <a:xfrm xmlns:a="http://schemas.openxmlformats.org/drawingml/2006/main">
            <a:off x="8743950" y="20193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13" name="ladder-answer-0">
            <a:extLst xmlns:a="http://schemas.openxmlformats.org/drawingml/2006/main">
              <a:ext uri="{FF2B5EF4-FFF2-40B4-BE49-F238E27FC236}">
                <a16:creationId xmlns:a16="http://schemas.microsoft.com/office/drawing/2014/main" id="{CD9CAF56-14A8-4A3C-97DA-303D37D2E4AF}"/>
              </a:ext>
            </a:extLst>
          </p:cNvPr>
          <p:cNvSpPr>
            <a:spLocks xmlns:a="http://schemas.openxmlformats.org/drawingml/2006/main" noGrp="1"/>
          </p:cNvSpPr>
          <p:nvPr/>
        </p:nvSpPr>
        <p:spPr>
          <a:xfrm xmlns:a="http://schemas.openxmlformats.org/drawingml/2006/main">
            <a:off x="8743950" y="23050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Arial"/>
                <a:ea typeface="Arial"/>
                <a:cs typeface="Arial"/>
              </a:defRPr>
            </a:pPr>
            <a:r>
              <a:rPr sz="1500" b="1">
                <a:solidFill>
                  <a:srgbClr val="111316"/>
                </a:solidFill>
                <a:latin typeface="Arial"/>
                <a:ea typeface="Arial"/>
                <a:cs typeface="Arial"/>
              </a:rPr>
              <a:t>7.0 × 5.0 = 35.0 m²</a:t>
            </a:r>
          </a:p>
        </p:txBody>
      </p:sp>
      <p:sp>
        <p:nvSpPr>
          <p:cNvPr id="14" name="ladder-row-1">
            <a:extLst xmlns:a="http://schemas.openxmlformats.org/drawingml/2006/main">
              <a:ext uri="{FF2B5EF4-FFF2-40B4-BE49-F238E27FC236}">
                <a16:creationId xmlns:a16="http://schemas.microsoft.com/office/drawing/2014/main" id="{B2C00CD8-D63E-40CC-A55C-137C1D0DF49F}"/>
              </a:ext>
            </a:extLst>
          </p:cNvPr>
          <p:cNvSpPr>
            <a:spLocks xmlns:a="http://schemas.openxmlformats.org/drawingml/2006/main" noGrp="1"/>
          </p:cNvSpPr>
          <p:nvPr/>
        </p:nvSpPr>
        <p:spPr>
          <a:xfrm xmlns:a="http://schemas.openxmlformats.org/drawingml/2006/main">
            <a:off x="609600" y="3295650"/>
            <a:ext cx="10972800" cy="1314450"/>
          </a:xfrm>
          <a:prstGeom xmlns:a="http://schemas.openxmlformats.org/drawingml/2006/main" prst="roundRect">
            <a:avLst>
              <a:gd name="adj" fmla="val 5797"/>
            </a:avLst>
          </a:prstGeom>
          <a:solidFill xmlns:a="http://schemas.openxmlformats.org/drawingml/2006/main">
            <a:srgbClr val="F3F7FB"/>
          </a:solidFill>
          <a:ln xmlns:a="http://schemas.openxmlformats.org/drawingml/2006/main" w="9525">
            <a:solidFill>
              <a:srgbClr val="DDE0E5"/>
            </a:solidFill>
            <a:prstDash val="solid"/>
          </a:ln>
        </p:spPr>
      </p:sp>
      <p:sp>
        <p:nvSpPr>
          <p:cNvPr id="15" name="ladder-accent-1">
            <a:extLst xmlns:a="http://schemas.openxmlformats.org/drawingml/2006/main">
              <a:ext uri="{FF2B5EF4-FFF2-40B4-BE49-F238E27FC236}">
                <a16:creationId xmlns:a16="http://schemas.microsoft.com/office/drawing/2014/main" id="{11FD8277-855C-479A-ACD8-289B79BE153C}"/>
              </a:ext>
            </a:extLst>
          </p:cNvPr>
          <p:cNvSpPr>
            <a:spLocks xmlns:a="http://schemas.openxmlformats.org/drawingml/2006/main" noGrp="1"/>
          </p:cNvSpPr>
          <p:nvPr/>
        </p:nvSpPr>
        <p:spPr>
          <a:xfrm xmlns:a="http://schemas.openxmlformats.org/drawingml/2006/main">
            <a:off x="609600" y="3295650"/>
            <a:ext cx="76200" cy="1314450"/>
          </a:xfrm>
          <a:prstGeom xmlns:a="http://schemas.openxmlformats.org/drawingml/2006/main" prst="rect">
            <a:avLst/>
          </a:prstGeom>
          <a:solidFill xmlns:a="http://schemas.openxmlformats.org/drawingml/2006/main">
            <a:srgbClr val="2E74B5"/>
          </a:solidFill>
          <a:ln xmlns:a="http://schemas.openxmlformats.org/drawingml/2006/main" w="0">
            <a:noFill/>
            <a:prstDash val="solid"/>
          </a:ln>
        </p:spPr>
      </p:sp>
      <p:sp>
        <p:nvSpPr>
          <p:cNvPr id="16" name="ladder-level-1">
            <a:extLst xmlns:a="http://schemas.openxmlformats.org/drawingml/2006/main">
              <a:ext uri="{FF2B5EF4-FFF2-40B4-BE49-F238E27FC236}">
                <a16:creationId xmlns:a16="http://schemas.microsoft.com/office/drawing/2014/main" id="{EA8A1CFC-9D16-47CC-93ED-34F0BEB32D69}"/>
              </a:ext>
            </a:extLst>
          </p:cNvPr>
          <p:cNvSpPr>
            <a:spLocks xmlns:a="http://schemas.openxmlformats.org/drawingml/2006/main" noGrp="1"/>
          </p:cNvSpPr>
          <p:nvPr/>
        </p:nvSpPr>
        <p:spPr>
          <a:xfrm xmlns:a="http://schemas.openxmlformats.org/drawingml/2006/main">
            <a:off x="857250" y="34671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MEDIUM</a:t>
            </a:r>
          </a:p>
        </p:txBody>
      </p:sp>
      <p:sp>
        <p:nvSpPr>
          <p:cNvPr id="17" name="ladder-focus-1">
            <a:extLst xmlns:a="http://schemas.openxmlformats.org/drawingml/2006/main">
              <a:ext uri="{FF2B5EF4-FFF2-40B4-BE49-F238E27FC236}">
                <a16:creationId xmlns:a16="http://schemas.microsoft.com/office/drawing/2014/main" id="{FABBE120-44C5-42A5-9311-1799CC38B9B8}"/>
              </a:ext>
            </a:extLst>
          </p:cNvPr>
          <p:cNvSpPr>
            <a:spLocks xmlns:a="http://schemas.openxmlformats.org/drawingml/2006/main" noGrp="1"/>
          </p:cNvSpPr>
          <p:nvPr/>
        </p:nvSpPr>
        <p:spPr>
          <a:xfrm xmlns:a="http://schemas.openxmlformats.org/drawingml/2006/main">
            <a:off x="857250" y="37719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Names + assumption</a:t>
            </a:r>
          </a:p>
        </p:txBody>
      </p:sp>
      <p:sp>
        <p:nvSpPr>
          <p:cNvPr id="18" name="ladder-task-1">
            <a:extLst xmlns:a="http://schemas.openxmlformats.org/drawingml/2006/main">
              <a:ext uri="{FF2B5EF4-FFF2-40B4-BE49-F238E27FC236}">
                <a16:creationId xmlns:a16="http://schemas.microsoft.com/office/drawing/2014/main" id="{09444293-C451-4896-9D91-DC6FA3997A4F}"/>
              </a:ext>
            </a:extLst>
          </p:cNvPr>
          <p:cNvSpPr>
            <a:spLocks xmlns:a="http://schemas.openxmlformats.org/drawingml/2006/main" noGrp="1"/>
          </p:cNvSpPr>
          <p:nvPr/>
        </p:nvSpPr>
        <p:spPr>
          <a:xfrm xmlns:a="http://schemas.openxmlformats.org/drawingml/2006/main">
            <a:off x="2457450" y="34671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room is 8.5 m × 5.2 m. Apply a stated 15% material allowance.</a:t>
            </a:r>
          </a:p>
        </p:txBody>
      </p:sp>
      <p:sp>
        <p:nvSpPr>
          <p:cNvPr id="19" name="ladder-divider-1">
            <a:extLst xmlns:a="http://schemas.openxmlformats.org/drawingml/2006/main">
              <a:ext uri="{FF2B5EF4-FFF2-40B4-BE49-F238E27FC236}">
                <a16:creationId xmlns:a16="http://schemas.microsoft.com/office/drawing/2014/main" id="{17B8A1A3-2840-4B9F-8523-B98BF972C08E}"/>
              </a:ext>
            </a:extLst>
          </p:cNvPr>
          <p:cNvSpPr>
            <a:spLocks xmlns:a="http://schemas.openxmlformats.org/drawingml/2006/main" noGrp="1"/>
          </p:cNvSpPr>
          <p:nvPr/>
        </p:nvSpPr>
        <p:spPr>
          <a:xfrm xmlns:a="http://schemas.openxmlformats.org/drawingml/2006/main">
            <a:off x="8553450" y="34671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0" name="ladder-check-label-1">
            <a:extLst xmlns:a="http://schemas.openxmlformats.org/drawingml/2006/main">
              <a:ext uri="{FF2B5EF4-FFF2-40B4-BE49-F238E27FC236}">
                <a16:creationId xmlns:a16="http://schemas.microsoft.com/office/drawing/2014/main" id="{31D13FD5-223D-4CBA-B66E-31DCDB1A0965}"/>
              </a:ext>
            </a:extLst>
          </p:cNvPr>
          <p:cNvSpPr>
            <a:spLocks xmlns:a="http://schemas.openxmlformats.org/drawingml/2006/main" noGrp="1"/>
          </p:cNvSpPr>
          <p:nvPr/>
        </p:nvSpPr>
        <p:spPr>
          <a:xfrm xmlns:a="http://schemas.openxmlformats.org/drawingml/2006/main">
            <a:off x="8743950" y="34671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21" name="ladder-answer-1">
            <a:extLst xmlns:a="http://schemas.openxmlformats.org/drawingml/2006/main">
              <a:ext uri="{FF2B5EF4-FFF2-40B4-BE49-F238E27FC236}">
                <a16:creationId xmlns:a16="http://schemas.microsoft.com/office/drawing/2014/main" id="{C37E4624-758D-4668-AA23-E0870A56B9E4}"/>
              </a:ext>
            </a:extLst>
          </p:cNvPr>
          <p:cNvSpPr>
            <a:spLocks xmlns:a="http://schemas.openxmlformats.org/drawingml/2006/main" noGrp="1"/>
          </p:cNvSpPr>
          <p:nvPr/>
        </p:nvSpPr>
        <p:spPr>
          <a:xfrm xmlns:a="http://schemas.openxmlformats.org/drawingml/2006/main">
            <a:off x="8743950" y="37528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Arial"/>
                <a:ea typeface="Arial"/>
                <a:cs typeface="Arial"/>
              </a:defRPr>
            </a:pPr>
            <a:r>
              <a:rPr sz="1500" b="1">
                <a:solidFill>
                  <a:srgbClr val="111316"/>
                </a:solidFill>
                <a:latin typeface="Arial"/>
                <a:ea typeface="Arial"/>
                <a:cs typeface="Arial"/>
              </a:rPr>
              <a:t>44.2 × 1.15 = 50.83 m²</a:t>
            </a:r>
          </a:p>
        </p:txBody>
      </p:sp>
      <p:sp>
        <p:nvSpPr>
          <p:cNvPr id="22" name="ladder-row-2">
            <a:extLst xmlns:a="http://schemas.openxmlformats.org/drawingml/2006/main">
              <a:ext uri="{FF2B5EF4-FFF2-40B4-BE49-F238E27FC236}">
                <a16:creationId xmlns:a16="http://schemas.microsoft.com/office/drawing/2014/main" id="{DCC70172-A479-4D74-A6DB-5FFF8369C508}"/>
              </a:ext>
            </a:extLst>
          </p:cNvPr>
          <p:cNvSpPr>
            <a:spLocks xmlns:a="http://schemas.openxmlformats.org/drawingml/2006/main" noGrp="1"/>
          </p:cNvSpPr>
          <p:nvPr/>
        </p:nvSpPr>
        <p:spPr>
          <a:xfrm xmlns:a="http://schemas.openxmlformats.org/drawingml/2006/main">
            <a:off x="609600" y="4743450"/>
            <a:ext cx="10972800" cy="1314450"/>
          </a:xfrm>
          <a:prstGeom xmlns:a="http://schemas.openxmlformats.org/drawingml/2006/main" prst="roundRect">
            <a:avLst>
              <a:gd name="adj" fmla="val 5797"/>
            </a:avLst>
          </a:prstGeom>
          <a:solidFill xmlns:a="http://schemas.openxmlformats.org/drawingml/2006/main">
            <a:srgbClr val="F6F7F9"/>
          </a:solidFill>
          <a:ln xmlns:a="http://schemas.openxmlformats.org/drawingml/2006/main" w="9525">
            <a:solidFill>
              <a:srgbClr val="DDE0E5"/>
            </a:solidFill>
            <a:prstDash val="solid"/>
          </a:ln>
        </p:spPr>
      </p:sp>
      <p:sp>
        <p:nvSpPr>
          <p:cNvPr id="23" name="ladder-accent-2">
            <a:extLst xmlns:a="http://schemas.openxmlformats.org/drawingml/2006/main">
              <a:ext uri="{FF2B5EF4-FFF2-40B4-BE49-F238E27FC236}">
                <a16:creationId xmlns:a16="http://schemas.microsoft.com/office/drawing/2014/main" id="{A6FB1AFC-BE64-4D99-AC13-06962938E0FE}"/>
              </a:ext>
            </a:extLst>
          </p:cNvPr>
          <p:cNvSpPr>
            <a:spLocks xmlns:a="http://schemas.openxmlformats.org/drawingml/2006/main" noGrp="1"/>
          </p:cNvSpPr>
          <p:nvPr/>
        </p:nvSpPr>
        <p:spPr>
          <a:xfrm xmlns:a="http://schemas.openxmlformats.org/drawingml/2006/main">
            <a:off x="609600" y="4743450"/>
            <a:ext cx="76200" cy="131445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24" name="ladder-level-2">
            <a:extLst xmlns:a="http://schemas.openxmlformats.org/drawingml/2006/main">
              <a:ext uri="{FF2B5EF4-FFF2-40B4-BE49-F238E27FC236}">
                <a16:creationId xmlns:a16="http://schemas.microsoft.com/office/drawing/2014/main" id="{FE7D343B-301D-4282-8735-A8EB65640625}"/>
              </a:ext>
            </a:extLst>
          </p:cNvPr>
          <p:cNvSpPr>
            <a:spLocks xmlns:a="http://schemas.openxmlformats.org/drawingml/2006/main" noGrp="1"/>
          </p:cNvSpPr>
          <p:nvPr/>
        </p:nvSpPr>
        <p:spPr>
          <a:xfrm xmlns:a="http://schemas.openxmlformats.org/drawingml/2006/main">
            <a:off x="857250" y="4914900"/>
            <a:ext cx="1371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HARD</a:t>
            </a:r>
          </a:p>
        </p:txBody>
      </p:sp>
      <p:sp>
        <p:nvSpPr>
          <p:cNvPr id="25" name="ladder-focus-2">
            <a:extLst xmlns:a="http://schemas.openxmlformats.org/drawingml/2006/main">
              <a:ext uri="{FF2B5EF4-FFF2-40B4-BE49-F238E27FC236}">
                <a16:creationId xmlns:a16="http://schemas.microsoft.com/office/drawing/2014/main" id="{F3F39B0B-1238-4228-9BBF-96EFF58290C7}"/>
              </a:ext>
            </a:extLst>
          </p:cNvPr>
          <p:cNvSpPr>
            <a:spLocks xmlns:a="http://schemas.openxmlformats.org/drawingml/2006/main" noGrp="1"/>
          </p:cNvSpPr>
          <p:nvPr/>
        </p:nvSpPr>
        <p:spPr>
          <a:xfrm xmlns:a="http://schemas.openxmlformats.org/drawingml/2006/main">
            <a:off x="857250" y="5219700"/>
            <a:ext cx="1371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1">
                <a:solidFill>
                  <a:srgbClr val="111316"/>
                </a:solidFill>
                <a:latin typeface="Arial"/>
                <a:ea typeface="Arial"/>
                <a:cs typeface="Arial"/>
              </a:defRPr>
            </a:pPr>
            <a:r>
              <a:rPr sz="1200" b="1">
                <a:solidFill>
                  <a:srgbClr val="111316"/>
                </a:solidFill>
                <a:latin typeface="Arial"/>
                <a:ea typeface="Arial"/>
                <a:cs typeface="Arial"/>
              </a:rPr>
              <a:t>Multi-stage model</a:t>
            </a:r>
          </a:p>
        </p:txBody>
      </p:sp>
      <p:sp>
        <p:nvSpPr>
          <p:cNvPr id="26" name="ladder-task-2">
            <a:extLst xmlns:a="http://schemas.openxmlformats.org/drawingml/2006/main">
              <a:ext uri="{FF2B5EF4-FFF2-40B4-BE49-F238E27FC236}">
                <a16:creationId xmlns:a16="http://schemas.microsoft.com/office/drawing/2014/main" id="{F910EB84-993C-48E6-BEF2-6FFD3CA987F6}"/>
              </a:ext>
            </a:extLst>
          </p:cNvPr>
          <p:cNvSpPr>
            <a:spLocks xmlns:a="http://schemas.openxmlformats.org/drawingml/2006/main" noGrp="1"/>
          </p:cNvSpPr>
          <p:nvPr/>
        </p:nvSpPr>
        <p:spPr>
          <a:xfrm xmlns:a="http://schemas.openxmlformats.org/drawingml/2006/main">
            <a:off x="2457450" y="4914900"/>
            <a:ext cx="5943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From 420 m² gross area, remove 18% circulation, then fit twelve 24 m² studios. Find the surplus.</a:t>
            </a:r>
          </a:p>
        </p:txBody>
      </p:sp>
      <p:sp>
        <p:nvSpPr>
          <p:cNvPr id="27" name="ladder-divider-2">
            <a:extLst xmlns:a="http://schemas.openxmlformats.org/drawingml/2006/main">
              <a:ext uri="{FF2B5EF4-FFF2-40B4-BE49-F238E27FC236}">
                <a16:creationId xmlns:a16="http://schemas.microsoft.com/office/drawing/2014/main" id="{974350C0-A426-4267-BC48-9BFE6C365FAC}"/>
              </a:ext>
            </a:extLst>
          </p:cNvPr>
          <p:cNvSpPr>
            <a:spLocks xmlns:a="http://schemas.openxmlformats.org/drawingml/2006/main" noGrp="1"/>
          </p:cNvSpPr>
          <p:nvPr/>
        </p:nvSpPr>
        <p:spPr>
          <a:xfrm xmlns:a="http://schemas.openxmlformats.org/drawingml/2006/main">
            <a:off x="8553450" y="4914900"/>
            <a:ext cx="9525" cy="971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8" name="ladder-check-label-2">
            <a:extLst xmlns:a="http://schemas.openxmlformats.org/drawingml/2006/main">
              <a:ext uri="{FF2B5EF4-FFF2-40B4-BE49-F238E27FC236}">
                <a16:creationId xmlns:a16="http://schemas.microsoft.com/office/drawing/2014/main" id="{FD720CE8-987D-484B-A76F-A342160DEBA3}"/>
              </a:ext>
            </a:extLst>
          </p:cNvPr>
          <p:cNvSpPr>
            <a:spLocks xmlns:a="http://schemas.openxmlformats.org/drawingml/2006/main" noGrp="1"/>
          </p:cNvSpPr>
          <p:nvPr/>
        </p:nvSpPr>
        <p:spPr>
          <a:xfrm xmlns:a="http://schemas.openxmlformats.org/drawingml/2006/main">
            <a:off x="8743950" y="4914900"/>
            <a:ext cx="2590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EXPECTED CHECK</a:t>
            </a:r>
          </a:p>
        </p:txBody>
      </p:sp>
      <p:sp>
        <p:nvSpPr>
          <p:cNvPr id="29" name="ladder-answer-2">
            <a:extLst xmlns:a="http://schemas.openxmlformats.org/drawingml/2006/main">
              <a:ext uri="{FF2B5EF4-FFF2-40B4-BE49-F238E27FC236}">
                <a16:creationId xmlns:a16="http://schemas.microsoft.com/office/drawing/2014/main" id="{2231E9D7-FF39-4B3F-B6F5-577F5D0203B3}"/>
              </a:ext>
            </a:extLst>
          </p:cNvPr>
          <p:cNvSpPr>
            <a:spLocks xmlns:a="http://schemas.openxmlformats.org/drawingml/2006/main" noGrp="1"/>
          </p:cNvSpPr>
          <p:nvPr/>
        </p:nvSpPr>
        <p:spPr>
          <a:xfrm xmlns:a="http://schemas.openxmlformats.org/drawingml/2006/main">
            <a:off x="8743950" y="5200650"/>
            <a:ext cx="2590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1">
                <a:solidFill>
                  <a:srgbClr val="111316"/>
                </a:solidFill>
                <a:latin typeface="Arial"/>
                <a:ea typeface="Arial"/>
                <a:cs typeface="Arial"/>
              </a:defRPr>
            </a:pPr>
            <a:r>
              <a:rPr sz="1500" b="1">
                <a:solidFill>
                  <a:srgbClr val="111316"/>
                </a:solidFill>
                <a:latin typeface="Arial"/>
                <a:ea typeface="Arial"/>
                <a:cs typeface="Arial"/>
              </a:rPr>
              <a:t>420 × 0.82 − 12 × 24 = 56.4 m²</a:t>
            </a:r>
          </a:p>
        </p:txBody>
      </p:sp>
    </p:spTree>
    <p:extLst>
      <p:ext uri="{BB962C8B-B14F-4D97-AF65-F5344CB8AC3E}">
        <p14:creationId xmlns:p14="http://schemas.microsoft.com/office/powerpoint/2010/main" val="61869737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406F5737-9E3C-43C7-B168-B95CFF59B5A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421BC072-06A1-4998-BE9C-456AEB88340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Every computational problem exposes four decisions</a:t>
            </a:r>
          </a:p>
        </p:txBody>
      </p:sp>
      <p:sp>
        <p:nvSpPr>
          <p:cNvPr id="3" name="">
            <a:extLst xmlns:a="http://schemas.openxmlformats.org/drawingml/2006/main">
              <a:ext uri="{FF2B5EF4-FFF2-40B4-BE49-F238E27FC236}">
                <a16:creationId xmlns:a16="http://schemas.microsoft.com/office/drawing/2014/main" id="{1F1FCFA4-A864-4E4B-8015-1DE33FD8770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9683EB4-27AB-4DA7-A580-B90E1B0012C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1DAA71CA-C44C-4F61-BB17-9FB013CD801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06</a:t>
            </a:r>
          </a:p>
        </p:txBody>
      </p:sp>
      <p:sp>
        <p:nvSpPr>
          <p:cNvPr id="6" name="step-arrow-0">
            <a:extLst xmlns:a="http://schemas.openxmlformats.org/drawingml/2006/main">
              <a:ext uri="{FF2B5EF4-FFF2-40B4-BE49-F238E27FC236}">
                <a16:creationId xmlns:a16="http://schemas.microsoft.com/office/drawing/2014/main" id="{99E49282-EA6F-45F6-B59C-705B4B1A254A}"/>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2D2FD70E-166E-4BC1-A00E-E3190E833DEC}"/>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DD2C3ACA-077B-4BD4-B999-395D2D5EDE18}"/>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4ED4D770-2A98-4FB7-9C20-AC1D09874A7E}"/>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65353FCA-945C-4ED4-A75E-A86083AE3736}"/>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7A471425-FEB3-47F5-82AC-B58FC5F514EF}"/>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INPUT</a:t>
            </a:r>
          </a:p>
        </p:txBody>
      </p:sp>
      <p:sp>
        <p:nvSpPr>
          <p:cNvPr id="12" name="">
            <a:extLst xmlns:a="http://schemas.openxmlformats.org/drawingml/2006/main">
              <a:ext uri="{FF2B5EF4-FFF2-40B4-BE49-F238E27FC236}">
                <a16:creationId xmlns:a16="http://schemas.microsoft.com/office/drawing/2014/main" id="{A4B8C2EF-1437-4478-ADAB-4FEA4D2FFAEE}"/>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0BA0E821-DF10-4C7E-B94D-E32D45FEB42D}"/>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is known?</a:t>
            </a:r>
          </a:p>
        </p:txBody>
      </p:sp>
      <p:sp>
        <p:nvSpPr>
          <p:cNvPr id="14" name="step-body-0">
            <a:extLst xmlns:a="http://schemas.openxmlformats.org/drawingml/2006/main">
              <a:ext uri="{FF2B5EF4-FFF2-40B4-BE49-F238E27FC236}">
                <a16:creationId xmlns:a16="http://schemas.microsoft.com/office/drawing/2014/main" id="{0F93073C-81D4-43F3-8FFD-21A075E6BE7E}"/>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Dimensions, counts, requirements, observations, material or site data.</a:t>
            </a:r>
          </a:p>
        </p:txBody>
      </p:sp>
      <p:sp>
        <p:nvSpPr>
          <p:cNvPr id="15" name="step-node-1">
            <a:extLst xmlns:a="http://schemas.openxmlformats.org/drawingml/2006/main">
              <a:ext uri="{FF2B5EF4-FFF2-40B4-BE49-F238E27FC236}">
                <a16:creationId xmlns:a16="http://schemas.microsoft.com/office/drawing/2014/main" id="{BF526FBE-EFD5-4B2D-A8ED-817D4E7612F2}"/>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C7E4D15D-EF7E-42F0-9DDD-A75B5541331B}"/>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2BF41FF9-EB5C-41E7-9BE0-8B45C579A227}"/>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PROCESS</a:t>
            </a:r>
          </a:p>
        </p:txBody>
      </p:sp>
      <p:sp>
        <p:nvSpPr>
          <p:cNvPr id="18" name="">
            <a:extLst xmlns:a="http://schemas.openxmlformats.org/drawingml/2006/main">
              <a:ext uri="{FF2B5EF4-FFF2-40B4-BE49-F238E27FC236}">
                <a16:creationId xmlns:a16="http://schemas.microsoft.com/office/drawing/2014/main" id="{7C4E11A8-5E23-4138-BE41-6629E0FF1FCB}"/>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2F6DB8A4-94AE-4268-9226-1F8AE854F310}"/>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rules apply?</a:t>
            </a:r>
          </a:p>
        </p:txBody>
      </p:sp>
      <p:sp>
        <p:nvSpPr>
          <p:cNvPr id="20" name="step-body-1">
            <a:extLst xmlns:a="http://schemas.openxmlformats.org/drawingml/2006/main">
              <a:ext uri="{FF2B5EF4-FFF2-40B4-BE49-F238E27FC236}">
                <a16:creationId xmlns:a16="http://schemas.microsoft.com/office/drawing/2014/main" id="{24CC2BEF-556A-410B-B280-79F686226C84}"/>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Arithmetic, comparison, repetition, geometry, filtering, or search.</a:t>
            </a:r>
          </a:p>
        </p:txBody>
      </p:sp>
      <p:sp>
        <p:nvSpPr>
          <p:cNvPr id="21" name="step-node-2">
            <a:extLst xmlns:a="http://schemas.openxmlformats.org/drawingml/2006/main">
              <a:ext uri="{FF2B5EF4-FFF2-40B4-BE49-F238E27FC236}">
                <a16:creationId xmlns:a16="http://schemas.microsoft.com/office/drawing/2014/main" id="{AB298F65-750D-4BBE-BA17-FD386EF1D233}"/>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01085428-3C76-48E2-8D2D-4BBB2B9F89A6}"/>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074AB7B2-4106-405D-8703-D6EE3CD8A94E}"/>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OUTPUT</a:t>
            </a:r>
          </a:p>
        </p:txBody>
      </p:sp>
      <p:sp>
        <p:nvSpPr>
          <p:cNvPr id="24" name="">
            <a:extLst xmlns:a="http://schemas.openxmlformats.org/drawingml/2006/main">
              <a:ext uri="{FF2B5EF4-FFF2-40B4-BE49-F238E27FC236}">
                <a16:creationId xmlns:a16="http://schemas.microsoft.com/office/drawing/2014/main" id="{B65063E0-DDD3-474A-ABAC-31849709BF1E}"/>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12EF25A1-5823-4F8E-94E1-D5BEC1F8532A}"/>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What becomes visible?</a:t>
            </a:r>
          </a:p>
        </p:txBody>
      </p:sp>
      <p:sp>
        <p:nvSpPr>
          <p:cNvPr id="26" name="step-body-2">
            <a:extLst xmlns:a="http://schemas.openxmlformats.org/drawingml/2006/main">
              <a:ext uri="{FF2B5EF4-FFF2-40B4-BE49-F238E27FC236}">
                <a16:creationId xmlns:a16="http://schemas.microsoft.com/office/drawing/2014/main" id="{A86388BD-D5B8-4D92-8623-789AA8677824}"/>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quantity, warning, option set, drawing, chart, or recommendation.</a:t>
            </a:r>
          </a:p>
        </p:txBody>
      </p:sp>
      <p:sp>
        <p:nvSpPr>
          <p:cNvPr id="27" name="step-node-3">
            <a:extLst xmlns:a="http://schemas.openxmlformats.org/drawingml/2006/main">
              <a:ext uri="{FF2B5EF4-FFF2-40B4-BE49-F238E27FC236}">
                <a16:creationId xmlns:a16="http://schemas.microsoft.com/office/drawing/2014/main" id="{10272BAC-2F9E-49D8-BB35-8B56F4DA1D2A}"/>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FB651D9A-37DE-4237-9032-BE0838FFEB21}"/>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40E6DDDD-1F4C-45EC-83A2-B214876D2191}"/>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CHECK</a:t>
            </a:r>
          </a:p>
        </p:txBody>
      </p:sp>
      <p:sp>
        <p:nvSpPr>
          <p:cNvPr id="30" name="">
            <a:extLst xmlns:a="http://schemas.openxmlformats.org/drawingml/2006/main">
              <a:ext uri="{FF2B5EF4-FFF2-40B4-BE49-F238E27FC236}">
                <a16:creationId xmlns:a16="http://schemas.microsoft.com/office/drawing/2014/main" id="{5E757774-331F-47C2-8D17-59637C937635}"/>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A91EF93E-3807-40F4-B057-AF41D2812476}"/>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Why trust it?</a:t>
            </a:r>
          </a:p>
        </p:txBody>
      </p:sp>
      <p:sp>
        <p:nvSpPr>
          <p:cNvPr id="32" name="step-body-3">
            <a:extLst xmlns:a="http://schemas.openxmlformats.org/drawingml/2006/main">
              <a:ext uri="{FF2B5EF4-FFF2-40B4-BE49-F238E27FC236}">
                <a16:creationId xmlns:a16="http://schemas.microsoft.com/office/drawing/2014/main" id="{AB162DA7-C85B-44F4-9AA1-D21C80F3DD9B}"/>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Units, known cases, boundary cases, provenance, and interpretation.</a:t>
            </a:r>
          </a:p>
        </p:txBody>
      </p:sp>
    </p:spTree>
    <p:extLst>
      <p:ext uri="{BB962C8B-B14F-4D97-AF65-F5344CB8AC3E}">
        <p14:creationId xmlns:p14="http://schemas.microsoft.com/office/powerpoint/2010/main" val="15058338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D8618C3-5828-400E-B10F-6D4CBFED05D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0D36E457-B10C-402F-8C3A-7098D9DA80B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 algorithm is a precise design procedure</a:t>
            </a:r>
          </a:p>
        </p:txBody>
      </p:sp>
      <p:sp>
        <p:nvSpPr>
          <p:cNvPr id="3" name="">
            <a:extLst xmlns:a="http://schemas.openxmlformats.org/drawingml/2006/main">
              <a:ext uri="{FF2B5EF4-FFF2-40B4-BE49-F238E27FC236}">
                <a16:creationId xmlns:a16="http://schemas.microsoft.com/office/drawing/2014/main" id="{349FDF7B-3DB2-4F42-88D9-FDB007AD1EA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2A24FF9-B4DA-4E1B-A398-2E4F0B86D55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3C7CFB3F-3473-42E7-B1EA-17135439CA1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07</a:t>
            </a:r>
          </a:p>
        </p:txBody>
      </p:sp>
      <p:sp>
        <p:nvSpPr>
          <p:cNvPr id="6" name="term-label">
            <a:extLst xmlns:a="http://schemas.openxmlformats.org/drawingml/2006/main">
              <a:ext uri="{FF2B5EF4-FFF2-40B4-BE49-F238E27FC236}">
                <a16:creationId xmlns:a16="http://schemas.microsoft.com/office/drawing/2014/main" id="{52D2F2ED-B6C8-4535-A43E-B03C8C12EC1C}"/>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8AF6D5C3-B3FC-42C2-A62E-EB4E685158E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algorithm</a:t>
            </a:r>
          </a:p>
        </p:txBody>
      </p:sp>
      <p:sp>
        <p:nvSpPr>
          <p:cNvPr id="8" name="">
            <a:extLst xmlns:a="http://schemas.openxmlformats.org/drawingml/2006/main">
              <a:ext uri="{FF2B5EF4-FFF2-40B4-BE49-F238E27FC236}">
                <a16:creationId xmlns:a16="http://schemas.microsoft.com/office/drawing/2014/main" id="{FC7714E9-7EE3-4350-A79F-A83E300DB7E3}"/>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6F54DADC-75D3-4499-B07C-3E56C6B79274}"/>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finite, ordered, unambiguous, executable, checkable procedure. Finite means it ends. Ordered means the steps run in sequence. Unambiguous means only one reading is possible. Executable means each step can actually be carried out. Checkable means the result can be verified afterwards.</a:t>
            </a:r>
          </a:p>
        </p:txBody>
      </p:sp>
      <p:sp>
        <p:nvSpPr>
          <p:cNvPr id="10" name="example-panel">
            <a:extLst xmlns:a="http://schemas.openxmlformats.org/drawingml/2006/main">
              <a:ext uri="{FF2B5EF4-FFF2-40B4-BE49-F238E27FC236}">
                <a16:creationId xmlns:a16="http://schemas.microsoft.com/office/drawing/2014/main" id="{6E8B217A-C76A-4C2F-A20E-36AD17D6E5D5}"/>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E6845FD8-31B3-4E39-B418-BA5A659F43BC}"/>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WORKED EXAMPLE</a:t>
            </a:r>
          </a:p>
        </p:txBody>
      </p:sp>
      <p:sp>
        <p:nvSpPr>
          <p:cNvPr id="12" name="example-head">
            <a:extLst xmlns:a="http://schemas.openxmlformats.org/drawingml/2006/main">
              <a:ext uri="{FF2B5EF4-FFF2-40B4-BE49-F238E27FC236}">
                <a16:creationId xmlns:a16="http://schemas.microsoft.com/office/drawing/2014/main" id="{6F7B5FCA-1C9A-4ACD-AB3E-008F7FF02102}"/>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Estimate floor finish</a:t>
            </a:r>
          </a:p>
        </p:txBody>
      </p:sp>
      <p:sp>
        <p:nvSpPr>
          <p:cNvPr id="13" name="example-body">
            <a:extLst xmlns:a="http://schemas.openxmlformats.org/drawingml/2006/main">
              <a:ext uri="{FF2B5EF4-FFF2-40B4-BE49-F238E27FC236}">
                <a16:creationId xmlns:a16="http://schemas.microsoft.com/office/drawing/2014/main" id="{9B2FA2C2-4F54-4FBF-B4AF-8293927B2269}"/>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1. Record net room dimensions.</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2. Calculate floor area.</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3. Apply a stated cutting allowance.</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4. Report material required.</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5. Check units and plausibility.</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Five steps, in order, each one testable on its own.</a:t>
            </a:r>
          </a:p>
        </p:txBody>
      </p:sp>
      <p:sp>
        <p:nvSpPr>
          <p:cNvPr id="14" name="note-bar">
            <a:extLst xmlns:a="http://schemas.openxmlformats.org/drawingml/2006/main">
              <a:ext uri="{FF2B5EF4-FFF2-40B4-BE49-F238E27FC236}">
                <a16:creationId xmlns:a16="http://schemas.microsoft.com/office/drawing/2014/main" id="{D7BC4846-42D4-4F51-805C-E74BB9D660FA}"/>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C876A5CF-8C69-424A-8400-45E019BB285C}"/>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E8A24622-C8EF-4856-AE40-2AAFAD210CDE}"/>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An algorithm is not the same thing as code. This one is written in English, and it is already precise enough to hand to another person.</a:t>
            </a:r>
          </a:p>
        </p:txBody>
      </p:sp>
    </p:spTree>
    <p:extLst>
      <p:ext uri="{BB962C8B-B14F-4D97-AF65-F5344CB8AC3E}">
        <p14:creationId xmlns:p14="http://schemas.microsoft.com/office/powerpoint/2010/main" val="31932438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85573D5-62E7-4D32-AED4-177990926D3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4873EB1B-4E56-4769-AA53-38873DB6F4F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Decomposition makes broad questions executable</a:t>
            </a:r>
          </a:p>
        </p:txBody>
      </p:sp>
      <p:sp>
        <p:nvSpPr>
          <p:cNvPr id="3" name="">
            <a:extLst xmlns:a="http://schemas.openxmlformats.org/drawingml/2006/main">
              <a:ext uri="{FF2B5EF4-FFF2-40B4-BE49-F238E27FC236}">
                <a16:creationId xmlns:a16="http://schemas.microsoft.com/office/drawing/2014/main" id="{3F763639-CE06-4CC2-AF54-63302092924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62B8F98-F74E-465B-972E-FFB4927E9847}"/>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DC763625-5D15-49F8-BE37-C1DA6140B4E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08</a:t>
            </a:r>
          </a:p>
        </p:txBody>
      </p:sp>
      <p:sp>
        <p:nvSpPr>
          <p:cNvPr id="6" name="term-label">
            <a:extLst xmlns:a="http://schemas.openxmlformats.org/drawingml/2006/main">
              <a:ext uri="{FF2B5EF4-FFF2-40B4-BE49-F238E27FC236}">
                <a16:creationId xmlns:a16="http://schemas.microsoft.com/office/drawing/2014/main" id="{A82732C4-FD4E-4E33-8763-67AF6412ED93}"/>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5A074DF7-11FB-42E2-8AEC-9C8E315CB69D}"/>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decomposition</a:t>
            </a:r>
          </a:p>
        </p:txBody>
      </p:sp>
      <p:sp>
        <p:nvSpPr>
          <p:cNvPr id="8" name="">
            <a:extLst xmlns:a="http://schemas.openxmlformats.org/drawingml/2006/main">
              <a:ext uri="{FF2B5EF4-FFF2-40B4-BE49-F238E27FC236}">
                <a16:creationId xmlns:a16="http://schemas.microsoft.com/office/drawing/2014/main" id="{3EE099EA-BC07-4763-85B9-61A919AE7C80}"/>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CA452154-FCB4-408A-9CEB-10CD3ADCD7DF}"/>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Breaking one broad question into smaller questions that can each be answered and checked on its own. You stop splitting when every remaining question has a single answer you could defend to a contractor or a reviewer.</a:t>
            </a:r>
          </a:p>
        </p:txBody>
      </p:sp>
      <p:sp>
        <p:nvSpPr>
          <p:cNvPr id="10" name="example-panel">
            <a:extLst xmlns:a="http://schemas.openxmlformats.org/drawingml/2006/main">
              <a:ext uri="{FF2B5EF4-FFF2-40B4-BE49-F238E27FC236}">
                <a16:creationId xmlns:a16="http://schemas.microsoft.com/office/drawing/2014/main" id="{4F87C5E0-7AD8-4F00-87B8-E2079007E00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88CE14CF-DD32-42DE-9863-683297860E25}"/>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ONE QUESTION BECOMES FIVE</a:t>
            </a:r>
          </a:p>
        </p:txBody>
      </p:sp>
      <p:sp>
        <p:nvSpPr>
          <p:cNvPr id="12" name="example-head">
            <a:extLst xmlns:a="http://schemas.openxmlformats.org/drawingml/2006/main">
              <a:ext uri="{FF2B5EF4-FFF2-40B4-BE49-F238E27FC236}">
                <a16:creationId xmlns:a16="http://schemas.microsoft.com/office/drawing/2014/main" id="{F880F794-A4F5-4676-924C-3597E44CA10D}"/>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How much finish material should be ordered for this floor?</a:t>
            </a:r>
          </a:p>
        </p:txBody>
      </p:sp>
      <p:sp>
        <p:nvSpPr>
          <p:cNvPr id="13" name="example-body">
            <a:extLst xmlns:a="http://schemas.openxmlformats.org/drawingml/2006/main">
              <a:ext uri="{FF2B5EF4-FFF2-40B4-BE49-F238E27FC236}">
                <a16:creationId xmlns:a16="http://schemas.microsoft.com/office/drawing/2014/main" id="{3024A53C-6E29-4EEC-B91D-36A969F2E6D6}"/>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Which rooms are included?</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How is each area calculated?</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What unit is required?</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What allowance is justified?</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How are results checked and combined?</a:t>
            </a:r>
          </a:p>
        </p:txBody>
      </p:sp>
      <p:sp>
        <p:nvSpPr>
          <p:cNvPr id="14" name="note-bar">
            <a:extLst xmlns:a="http://schemas.openxmlformats.org/drawingml/2006/main">
              <a:ext uri="{FF2B5EF4-FFF2-40B4-BE49-F238E27FC236}">
                <a16:creationId xmlns:a16="http://schemas.microsoft.com/office/drawing/2014/main" id="{E9509B21-2C28-4F2C-A6E7-607187897B36}"/>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E00EDF09-A46A-4F5F-BCEE-34486C60E88E}"/>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1D2802D0-08A9-44C2-A769-73F562269934}"/>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Decomposition is not guessing the answer in smaller pieces. Each smaller question must be answerable from evidence you actually have.</a:t>
            </a:r>
          </a:p>
        </p:txBody>
      </p:sp>
    </p:spTree>
    <p:extLst>
      <p:ext uri="{BB962C8B-B14F-4D97-AF65-F5344CB8AC3E}">
        <p14:creationId xmlns:p14="http://schemas.microsoft.com/office/powerpoint/2010/main" val="13189626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41B3562E-EC26-45E0-AD77-062B0CFBD41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3DF4DAC3-57A2-4F41-881E-5C60F75C2FF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Representation determines what code can express</a:t>
            </a:r>
          </a:p>
        </p:txBody>
      </p:sp>
      <p:sp>
        <p:nvSpPr>
          <p:cNvPr id="3" name="">
            <a:extLst xmlns:a="http://schemas.openxmlformats.org/drawingml/2006/main">
              <a:ext uri="{FF2B5EF4-FFF2-40B4-BE49-F238E27FC236}">
                <a16:creationId xmlns:a16="http://schemas.microsoft.com/office/drawing/2014/main" id="{4657DE0E-5FFB-4B9A-BF5F-5724AB1E5F8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66BEBA79-DDC1-4A5D-8A8D-DCB1F837DD83}"/>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3E825743-212E-4F7B-AFE9-D0FC5A04371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09</a:t>
            </a:r>
          </a:p>
        </p:txBody>
      </p:sp>
      <p:sp>
        <p:nvSpPr>
          <p:cNvPr id="6" name="term-label">
            <a:extLst xmlns:a="http://schemas.openxmlformats.org/drawingml/2006/main">
              <a:ext uri="{FF2B5EF4-FFF2-40B4-BE49-F238E27FC236}">
                <a16:creationId xmlns:a16="http://schemas.microsoft.com/office/drawing/2014/main" id="{D1A37073-B176-48E2-8E97-EE26A0DFE4F3}"/>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C60A9CB9-083F-40AB-9CA4-4DCDE503D86E}"/>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representation</a:t>
            </a:r>
          </a:p>
        </p:txBody>
      </p:sp>
      <p:sp>
        <p:nvSpPr>
          <p:cNvPr id="8" name="">
            <a:extLst xmlns:a="http://schemas.openxmlformats.org/drawingml/2006/main">
              <a:ext uri="{FF2B5EF4-FFF2-40B4-BE49-F238E27FC236}">
                <a16:creationId xmlns:a16="http://schemas.microsoft.com/office/drawing/2014/main" id="{20549C7F-924D-4379-8E69-B1DF2D34EB6A}"/>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94EFCF4E-931E-44A4-A915-67ABE869BAF9}"/>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Choosing how something becomes data — a number, a label, a condition, or a group — so that code can operate on it. A number holds a dimension or count. Text holds a material or room name. A Boolean records whether a rule passes. A collection holds several rooms or options at once.</a:t>
            </a:r>
          </a:p>
        </p:txBody>
      </p:sp>
      <p:sp>
        <p:nvSpPr>
          <p:cNvPr id="10" name="example-panel">
            <a:extLst xmlns:a="http://schemas.openxmlformats.org/drawingml/2006/main">
              <a:ext uri="{FF2B5EF4-FFF2-40B4-BE49-F238E27FC236}">
                <a16:creationId xmlns:a16="http://schemas.microsoft.com/office/drawing/2014/main" id="{ED283142-DC4B-4F0D-8D4C-9294F15F6846}"/>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B47AC571-8511-433D-B958-671320C349AA}"/>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REPRESENTATION IS SELECTIVE</a:t>
            </a:r>
          </a:p>
        </p:txBody>
      </p:sp>
      <p:sp>
        <p:nvSpPr>
          <p:cNvPr id="12" name="example-head">
            <a:extLst xmlns:a="http://schemas.openxmlformats.org/drawingml/2006/main">
              <a:ext uri="{FF2B5EF4-FFF2-40B4-BE49-F238E27FC236}">
                <a16:creationId xmlns:a16="http://schemas.microsoft.com/office/drawing/2014/main" id="{F8EDC412-7F25-4D7B-9920-D0211C7E3F7F}"/>
              </a:ext>
            </a:extLst>
          </p:cNvPr>
          <p:cNvSpPr>
            <a:spLocks xmlns:a="http://schemas.openxmlformats.org/drawingml/2006/main" noGrp="1"/>
          </p:cNvSpPr>
          <p:nvPr/>
        </p:nvSpPr>
        <p:spPr>
          <a:xfrm xmlns:a="http://schemas.openxmlformats.org/drawingml/2006/main">
            <a:off x="6972300" y="2286000"/>
            <a:ext cx="438150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 rectangular room becomes two numbers</a:t>
            </a:r>
          </a:p>
        </p:txBody>
      </p:sp>
      <p:sp>
        <p:nvSpPr>
          <p:cNvPr id="13" name="example-body">
            <a:extLst xmlns:a="http://schemas.openxmlformats.org/drawingml/2006/main">
              <a:ext uri="{FF2B5EF4-FFF2-40B4-BE49-F238E27FC236}">
                <a16:creationId xmlns:a16="http://schemas.microsoft.com/office/drawing/2014/main" id="{D80BD7A5-E79E-4D38-A3D0-88C4242DF115}"/>
              </a:ext>
            </a:extLst>
          </p:cNvPr>
          <p:cNvSpPr>
            <a:spLocks xmlns:a="http://schemas.openxmlformats.org/drawingml/2006/main" noGrp="1"/>
          </p:cNvSpPr>
          <p:nvPr/>
        </p:nvSpPr>
        <p:spPr>
          <a:xfrm xmlns:a="http://schemas.openxmlformats.org/drawingml/2006/main">
            <a:off x="6972300" y="2951226"/>
            <a:ext cx="4381500" cy="19827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length_m and width_m support an area calculation.</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They omit irregular edges, columns, wall thickness, tolerances, occupancy, and how the room is actually experienced.</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representation is what makes the calculation possible — and what limits it.</a:t>
            </a:r>
          </a:p>
        </p:txBody>
      </p:sp>
      <p:sp>
        <p:nvSpPr>
          <p:cNvPr id="14" name="note-bar">
            <a:extLst xmlns:a="http://schemas.openxmlformats.org/drawingml/2006/main">
              <a:ext uri="{FF2B5EF4-FFF2-40B4-BE49-F238E27FC236}">
                <a16:creationId xmlns:a16="http://schemas.microsoft.com/office/drawing/2014/main" id="{F914BAAE-D330-4F31-8920-46D1F5BAA3AD}"/>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25448A34-DFB9-4D91-9FA0-E5890859F230}"/>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B7D39CC1-BB7F-417C-A072-B03223193251}"/>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Data is constructed evidence, not neutral fact. What a representation leaves out can matter as much as what it encodes.</a:t>
            </a:r>
          </a:p>
        </p:txBody>
      </p:sp>
    </p:spTree>
    <p:extLst>
      <p:ext uri="{BB962C8B-B14F-4D97-AF65-F5344CB8AC3E}">
        <p14:creationId xmlns:p14="http://schemas.microsoft.com/office/powerpoint/2010/main" val="10411040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icker">
            <a:extLst xmlns:a="http://schemas.openxmlformats.org/drawingml/2006/main">
              <a:ext uri="{FF2B5EF4-FFF2-40B4-BE49-F238E27FC236}">
                <a16:creationId xmlns:a16="http://schemas.microsoft.com/office/drawing/2014/main" id="{092A472D-A0CB-4693-B7B9-9B4CA44F4E15}"/>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PRINCIPLE</a:t>
            </a:r>
          </a:p>
        </p:txBody>
      </p:sp>
      <p:sp>
        <p:nvSpPr>
          <p:cNvPr id="2" name="title">
            <a:extLst xmlns:a="http://schemas.openxmlformats.org/drawingml/2006/main">
              <a:ext uri="{FF2B5EF4-FFF2-40B4-BE49-F238E27FC236}">
                <a16:creationId xmlns:a16="http://schemas.microsoft.com/office/drawing/2014/main" id="{0E6D2D56-91DE-4A2E-BDFE-8187B3D8AA8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Abstraction creates power and a boundary</a:t>
            </a:r>
          </a:p>
        </p:txBody>
      </p:sp>
      <p:sp>
        <p:nvSpPr>
          <p:cNvPr id="3" name="">
            <a:extLst xmlns:a="http://schemas.openxmlformats.org/drawingml/2006/main">
              <a:ext uri="{FF2B5EF4-FFF2-40B4-BE49-F238E27FC236}">
                <a16:creationId xmlns:a16="http://schemas.microsoft.com/office/drawing/2014/main" id="{AE43B2CF-A39B-4F83-9184-C5E256CD0671}"/>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9840304-39D7-4C10-999F-03293093086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B63293C6-6925-4052-8FFC-B689A6F5B4B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10</a:t>
            </a:r>
          </a:p>
        </p:txBody>
      </p:sp>
      <p:sp>
        <p:nvSpPr>
          <p:cNvPr id="6" name="statement">
            <a:extLst xmlns:a="http://schemas.openxmlformats.org/drawingml/2006/main">
              <a:ext uri="{FF2B5EF4-FFF2-40B4-BE49-F238E27FC236}">
                <a16:creationId xmlns:a16="http://schemas.microsoft.com/office/drawing/2014/main" id="{CB5A8135-4102-4D3B-95F7-06AB87A310B3}"/>
              </a:ext>
            </a:extLst>
          </p:cNvPr>
          <p:cNvSpPr>
            <a:spLocks xmlns:a="http://schemas.openxmlformats.org/drawingml/2006/main" noGrp="1"/>
          </p:cNvSpPr>
          <p:nvPr/>
        </p:nvSpPr>
        <p:spPr>
          <a:xfrm xmlns:a="http://schemas.openxmlformats.org/drawingml/2006/main">
            <a:off x="609600" y="2305050"/>
            <a:ext cx="9829800" cy="15575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111316"/>
                </a:solidFill>
                <a:latin typeface="Arial"/>
                <a:ea typeface="Arial"/>
                <a:cs typeface="Arial"/>
              </a:defRPr>
            </a:pPr>
            <a:r>
              <a:rPr sz="3600" b="1">
                <a:solidFill>
                  <a:srgbClr val="111316"/>
                </a:solidFill>
                <a:latin typeface="Arial"/>
                <a:ea typeface="Arial"/>
                <a:cs typeface="Arial"/>
              </a:rPr>
              <a:t>Abstraction means choosing what a model leaves out. Each omission adds power and sets a limit.</a:t>
            </a:r>
          </a:p>
        </p:txBody>
      </p:sp>
      <p:sp>
        <p:nvSpPr>
          <p:cNvPr id="7" name="">
            <a:extLst xmlns:a="http://schemas.openxmlformats.org/drawingml/2006/main">
              <a:ext uri="{FF2B5EF4-FFF2-40B4-BE49-F238E27FC236}">
                <a16:creationId xmlns:a16="http://schemas.microsoft.com/office/drawing/2014/main" id="{B455DB30-4B6A-47F7-8981-A2EE236CF017}"/>
              </a:ext>
            </a:extLst>
          </p:cNvPr>
          <p:cNvSpPr>
            <a:spLocks xmlns:a="http://schemas.openxmlformats.org/drawingml/2006/main" noGrp="1"/>
          </p:cNvSpPr>
          <p:nvPr/>
        </p:nvSpPr>
        <p:spPr>
          <a:xfrm xmlns:a="http://schemas.openxmlformats.org/drawingml/2006/main">
            <a:off x="609600" y="4072128"/>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8" name="supporting">
            <a:extLst xmlns:a="http://schemas.openxmlformats.org/drawingml/2006/main">
              <a:ext uri="{FF2B5EF4-FFF2-40B4-BE49-F238E27FC236}">
                <a16:creationId xmlns:a16="http://schemas.microsoft.com/office/drawing/2014/main" id="{8CE56A7D-A3AA-4873-BB66-FFF2C49BDEB5}"/>
              </a:ext>
            </a:extLst>
          </p:cNvPr>
          <p:cNvSpPr>
            <a:spLocks xmlns:a="http://schemas.openxmlformats.org/drawingml/2006/main" noGrp="1"/>
          </p:cNvSpPr>
          <p:nvPr/>
        </p:nvSpPr>
        <p:spPr>
          <a:xfrm xmlns:a="http://schemas.openxmlformats.org/drawingml/2006/main">
            <a:off x="609600" y="4395978"/>
            <a:ext cx="9334500" cy="60655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correct question is not only “Did the program run?” but also “Is this representation adequate for this decision?”</a:t>
            </a:r>
          </a:p>
        </p:txBody>
      </p:sp>
    </p:spTree>
    <p:extLst>
      <p:ext uri="{BB962C8B-B14F-4D97-AF65-F5344CB8AC3E}">
        <p14:creationId xmlns:p14="http://schemas.microsoft.com/office/powerpoint/2010/main" val="20638011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4C8F308-ACC3-463A-9FD7-A4D779437300}"/>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31D692D3-899F-44D1-A7FF-6D53D840DC0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Automation and judgment have different jobs</a:t>
            </a:r>
          </a:p>
        </p:txBody>
      </p:sp>
      <p:sp>
        <p:nvSpPr>
          <p:cNvPr id="3" name="">
            <a:extLst xmlns:a="http://schemas.openxmlformats.org/drawingml/2006/main">
              <a:ext uri="{FF2B5EF4-FFF2-40B4-BE49-F238E27FC236}">
                <a16:creationId xmlns:a16="http://schemas.microsoft.com/office/drawing/2014/main" id="{B06F2B40-CE42-465F-83FA-9C8E7CCFD74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CC0E9941-16E3-4FEC-A717-853794F275C1}"/>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B71555FA-BAAC-4A57-8837-544CEB63AA5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11</a:t>
            </a:r>
          </a:p>
        </p:txBody>
      </p:sp>
      <p:sp>
        <p:nvSpPr>
          <p:cNvPr id="6" name="term-label">
            <a:extLst xmlns:a="http://schemas.openxmlformats.org/drawingml/2006/main">
              <a:ext uri="{FF2B5EF4-FFF2-40B4-BE49-F238E27FC236}">
                <a16:creationId xmlns:a16="http://schemas.microsoft.com/office/drawing/2014/main" id="{89DD7465-5838-418B-A3CE-3AAC9AE836DE}"/>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29CADA92-033D-4799-822F-8EEBF94545A0}"/>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automation</a:t>
            </a:r>
          </a:p>
        </p:txBody>
      </p:sp>
      <p:sp>
        <p:nvSpPr>
          <p:cNvPr id="8" name="">
            <a:extLst xmlns:a="http://schemas.openxmlformats.org/drawingml/2006/main">
              <a:ext uri="{FF2B5EF4-FFF2-40B4-BE49-F238E27FC236}">
                <a16:creationId xmlns:a16="http://schemas.microsoft.com/office/drawing/2014/main" id="{EE5F57D6-377D-4D82-9C1C-ADF44E48620A}"/>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5E2543D1-23EB-47A8-9226-FE5C4997FFA5}"/>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Using code to perform a rule or calculation the same way, every time, without a person repeating it by hand. Good candidates are repeated calculations, consistent transformations, rule screening, searches across many options, and sorting or visualizing data.</a:t>
            </a:r>
          </a:p>
        </p:txBody>
      </p:sp>
      <p:sp>
        <p:nvSpPr>
          <p:cNvPr id="10" name="example-panel">
            <a:extLst xmlns:a="http://schemas.openxmlformats.org/drawingml/2006/main">
              <a:ext uri="{FF2B5EF4-FFF2-40B4-BE49-F238E27FC236}">
                <a16:creationId xmlns:a16="http://schemas.microsoft.com/office/drawing/2014/main" id="{E1F6D898-01CF-44C6-A8A0-EF52D4944C4F}"/>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A0D519C9-6CEE-45F6-ADD8-39B2ADAE2273}"/>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WHAT DOES NOT AUTOMATE</a:t>
            </a:r>
          </a:p>
        </p:txBody>
      </p:sp>
      <p:sp>
        <p:nvSpPr>
          <p:cNvPr id="12" name="example-head">
            <a:extLst xmlns:a="http://schemas.openxmlformats.org/drawingml/2006/main">
              <a:ext uri="{FF2B5EF4-FFF2-40B4-BE49-F238E27FC236}">
                <a16:creationId xmlns:a16="http://schemas.microsoft.com/office/drawing/2014/main" id="{9DD06861-5C63-493C-A339-30A87A938278}"/>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designer still owns</a:t>
            </a:r>
          </a:p>
        </p:txBody>
      </p:sp>
      <p:sp>
        <p:nvSpPr>
          <p:cNvPr id="13" name="example-body">
            <a:extLst xmlns:a="http://schemas.openxmlformats.org/drawingml/2006/main">
              <a:ext uri="{FF2B5EF4-FFF2-40B4-BE49-F238E27FC236}">
                <a16:creationId xmlns:a16="http://schemas.microsoft.com/office/drawing/2014/main" id="{6D01AECA-ED2F-4226-99D3-F1C9B2DF128B}"/>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Framing the question</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Selecting the criteria</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Checking data and assumptions</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Interpreting context</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Explaining the consequences</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None of these become more correct by running faster.</a:t>
            </a:r>
          </a:p>
        </p:txBody>
      </p:sp>
      <p:sp>
        <p:nvSpPr>
          <p:cNvPr id="14" name="note-bar">
            <a:extLst xmlns:a="http://schemas.openxmlformats.org/drawingml/2006/main">
              <a:ext uri="{FF2B5EF4-FFF2-40B4-BE49-F238E27FC236}">
                <a16:creationId xmlns:a16="http://schemas.microsoft.com/office/drawing/2014/main" id="{46C03B34-6C24-41EA-8386-E48B14A6FF90}"/>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882D0A2D-D37E-477B-95C8-4FDF44C03392}"/>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D6B3CDAA-118D-4CA4-8A21-26ACB97DB252}"/>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Speed and consistency are properties of execution. They are not evidence that a rule is relevant, complete, or fair.</a:t>
            </a:r>
          </a:p>
        </p:txBody>
      </p:sp>
    </p:spTree>
    <p:extLst>
      <p:ext uri="{BB962C8B-B14F-4D97-AF65-F5344CB8AC3E}">
        <p14:creationId xmlns:p14="http://schemas.microsoft.com/office/powerpoint/2010/main" val="12915653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0B728B4E-6041-494A-AB9F-0E2E08ADE712}"/>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EB641CBB-161F-4675-A056-0FCD7E0C647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Generative AI requires an evidence trail</a:t>
            </a:r>
          </a:p>
        </p:txBody>
      </p:sp>
      <p:sp>
        <p:nvSpPr>
          <p:cNvPr id="3" name="">
            <a:extLst xmlns:a="http://schemas.openxmlformats.org/drawingml/2006/main">
              <a:ext uri="{FF2B5EF4-FFF2-40B4-BE49-F238E27FC236}">
                <a16:creationId xmlns:a16="http://schemas.microsoft.com/office/drawing/2014/main" id="{866BCD34-A60F-4B71-8B13-0E137408B1F2}"/>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B54FDBA9-C826-409F-AC5F-D0706D29675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4E005698-5E14-43A8-AFBA-821AE15EBE3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12</a:t>
            </a:r>
          </a:p>
        </p:txBody>
      </p:sp>
      <p:sp>
        <p:nvSpPr>
          <p:cNvPr id="6" name="step-arrow-0">
            <a:extLst xmlns:a="http://schemas.openxmlformats.org/drawingml/2006/main">
              <a:ext uri="{FF2B5EF4-FFF2-40B4-BE49-F238E27FC236}">
                <a16:creationId xmlns:a16="http://schemas.microsoft.com/office/drawing/2014/main" id="{84CB276C-C8A6-40F6-AB22-F3027A828168}"/>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645F95FE-192C-46D1-9A27-94079F3B39AA}"/>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AFFCCA49-51D9-4A67-A8E7-9AA866EBB2F2}"/>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65B96A45-4E62-4E9F-879E-5FA553DD62E2}"/>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042C8245-51D5-4146-9E63-CFB63FEAE8F9}"/>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FEE727B4-A6F5-4CB5-8CD3-802AC8DAB681}"/>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ASK</a:t>
            </a:r>
          </a:p>
        </p:txBody>
      </p:sp>
      <p:sp>
        <p:nvSpPr>
          <p:cNvPr id="12" name="">
            <a:extLst xmlns:a="http://schemas.openxmlformats.org/drawingml/2006/main">
              <a:ext uri="{FF2B5EF4-FFF2-40B4-BE49-F238E27FC236}">
                <a16:creationId xmlns:a16="http://schemas.microsoft.com/office/drawing/2014/main" id="{011EF407-BD16-46E9-9222-207E901FCDAA}"/>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7A9F4D32-2FE9-4D8A-8E1C-0DEB63CE8A7D}"/>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State the task</a:t>
            </a:r>
          </a:p>
        </p:txBody>
      </p:sp>
      <p:sp>
        <p:nvSpPr>
          <p:cNvPr id="14" name="step-body-0">
            <a:extLst xmlns:a="http://schemas.openxmlformats.org/drawingml/2006/main">
              <a:ext uri="{FF2B5EF4-FFF2-40B4-BE49-F238E27FC236}">
                <a16:creationId xmlns:a16="http://schemas.microsoft.com/office/drawing/2014/main" id="{DAD38850-AB0F-4FCA-B4D5-8B4162CF2326}"/>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Include known inputs, units, intended output, and constraints.</a:t>
            </a:r>
          </a:p>
        </p:txBody>
      </p:sp>
      <p:sp>
        <p:nvSpPr>
          <p:cNvPr id="15" name="step-node-1">
            <a:extLst xmlns:a="http://schemas.openxmlformats.org/drawingml/2006/main">
              <a:ext uri="{FF2B5EF4-FFF2-40B4-BE49-F238E27FC236}">
                <a16:creationId xmlns:a16="http://schemas.microsoft.com/office/drawing/2014/main" id="{54666375-9AFF-4353-A1B8-A9F0024D96E2}"/>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7EE35108-87F5-4CC7-981E-E7CD3C5AE6FF}"/>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82DF1D6C-D478-4241-8E06-26271563DEEF}"/>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TRACE</a:t>
            </a:r>
          </a:p>
        </p:txBody>
      </p:sp>
      <p:sp>
        <p:nvSpPr>
          <p:cNvPr id="18" name="">
            <a:extLst xmlns:a="http://schemas.openxmlformats.org/drawingml/2006/main">
              <a:ext uri="{FF2B5EF4-FFF2-40B4-BE49-F238E27FC236}">
                <a16:creationId xmlns:a16="http://schemas.microsoft.com/office/drawing/2014/main" id="{A2A21C2F-6D08-4053-8C1E-14FD3B449F7A}"/>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C9F8ACFE-9226-4096-8433-305FFCF241EA}"/>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Read every line</a:t>
            </a:r>
          </a:p>
        </p:txBody>
      </p:sp>
      <p:sp>
        <p:nvSpPr>
          <p:cNvPr id="20" name="step-body-1">
            <a:extLst xmlns:a="http://schemas.openxmlformats.org/drawingml/2006/main">
              <a:ext uri="{FF2B5EF4-FFF2-40B4-BE49-F238E27FC236}">
                <a16:creationId xmlns:a16="http://schemas.microsoft.com/office/drawing/2014/main" id="{5430D000-7D81-4C4D-9F82-C20F14AF3779}"/>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Name each object, operation, dependency, and assumption.</a:t>
            </a:r>
          </a:p>
        </p:txBody>
      </p:sp>
      <p:sp>
        <p:nvSpPr>
          <p:cNvPr id="21" name="step-node-2">
            <a:extLst xmlns:a="http://schemas.openxmlformats.org/drawingml/2006/main">
              <a:ext uri="{FF2B5EF4-FFF2-40B4-BE49-F238E27FC236}">
                <a16:creationId xmlns:a16="http://schemas.microsoft.com/office/drawing/2014/main" id="{64651BB3-B3CF-4B0C-81A7-A69E4CBE0BA4}"/>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DDDDAE87-41FC-4DAD-B403-E7C6BAF92B71}"/>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EA2C226B-C53C-43E8-BBC5-A5A0B8382471}"/>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TEST</a:t>
            </a:r>
          </a:p>
        </p:txBody>
      </p:sp>
      <p:sp>
        <p:nvSpPr>
          <p:cNvPr id="24" name="">
            <a:extLst xmlns:a="http://schemas.openxmlformats.org/drawingml/2006/main">
              <a:ext uri="{FF2B5EF4-FFF2-40B4-BE49-F238E27FC236}">
                <a16:creationId xmlns:a16="http://schemas.microsoft.com/office/drawing/2014/main" id="{965CFDA7-0CD6-4BD6-9443-A4CA3FDE3589}"/>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3166B62E-A3FD-40B3-9F2B-1CAF007F8BF9}"/>
              </a:ext>
            </a:extLst>
          </p:cNvPr>
          <p:cNvSpPr>
            <a:spLocks xmlns:a="http://schemas.openxmlformats.org/drawingml/2006/main" noGrp="1"/>
          </p:cNvSpPr>
          <p:nvPr/>
        </p:nvSpPr>
        <p:spPr>
          <a:xfrm xmlns:a="http://schemas.openxmlformats.org/drawingml/2006/main">
            <a:off x="640080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Challenge the result</a:t>
            </a:r>
          </a:p>
        </p:txBody>
      </p:sp>
      <p:sp>
        <p:nvSpPr>
          <p:cNvPr id="26" name="step-body-2">
            <a:extLst xmlns:a="http://schemas.openxmlformats.org/drawingml/2006/main">
              <a:ext uri="{FF2B5EF4-FFF2-40B4-BE49-F238E27FC236}">
                <a16:creationId xmlns:a16="http://schemas.microsoft.com/office/drawing/2014/main" id="{1FD22307-B894-4B3A-9E06-3D858C155DE4}"/>
              </a:ext>
            </a:extLst>
          </p:cNvPr>
          <p:cNvSpPr>
            <a:spLocks xmlns:a="http://schemas.openxmlformats.org/drawingml/2006/main" noGrp="1"/>
          </p:cNvSpPr>
          <p:nvPr/>
        </p:nvSpPr>
        <p:spPr>
          <a:xfrm xmlns:a="http://schemas.openxmlformats.org/drawingml/2006/main">
            <a:off x="640080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Use a known answer, boundary case, and independent calculation.</a:t>
            </a:r>
          </a:p>
        </p:txBody>
      </p:sp>
      <p:sp>
        <p:nvSpPr>
          <p:cNvPr id="27" name="step-node-3">
            <a:extLst xmlns:a="http://schemas.openxmlformats.org/drawingml/2006/main">
              <a:ext uri="{FF2B5EF4-FFF2-40B4-BE49-F238E27FC236}">
                <a16:creationId xmlns:a16="http://schemas.microsoft.com/office/drawing/2014/main" id="{7BDA3A7D-3BE0-4B69-AE15-5BA26DD05004}"/>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D0F6E1A5-65E8-44D1-98BA-97F4C97228EF}"/>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46DC9EF2-B0BF-4685-90F5-1CFD8077DCBC}"/>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RECORD</a:t>
            </a:r>
          </a:p>
        </p:txBody>
      </p:sp>
      <p:sp>
        <p:nvSpPr>
          <p:cNvPr id="30" name="">
            <a:extLst xmlns:a="http://schemas.openxmlformats.org/drawingml/2006/main">
              <a:ext uri="{FF2B5EF4-FFF2-40B4-BE49-F238E27FC236}">
                <a16:creationId xmlns:a16="http://schemas.microsoft.com/office/drawing/2014/main" id="{F6284247-14AD-4488-ADC7-8C34FA362A62}"/>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F341980A-998C-4EFF-89D6-9D4F99CF45A8}"/>
              </a:ext>
            </a:extLst>
          </p:cNvPr>
          <p:cNvSpPr>
            <a:spLocks xmlns:a="http://schemas.openxmlformats.org/drawingml/2006/main" noGrp="1"/>
          </p:cNvSpPr>
          <p:nvPr/>
        </p:nvSpPr>
        <p:spPr>
          <a:xfrm xmlns:a="http://schemas.openxmlformats.org/drawingml/2006/main">
            <a:off x="92011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Document choices</a:t>
            </a:r>
          </a:p>
        </p:txBody>
      </p:sp>
      <p:sp>
        <p:nvSpPr>
          <p:cNvPr id="32" name="step-body-3">
            <a:extLst xmlns:a="http://schemas.openxmlformats.org/drawingml/2006/main">
              <a:ext uri="{FF2B5EF4-FFF2-40B4-BE49-F238E27FC236}">
                <a16:creationId xmlns:a16="http://schemas.microsoft.com/office/drawing/2014/main" id="{26A0FF8A-E4D0-41F2-9AE5-B3D706480B31}"/>
              </a:ext>
            </a:extLst>
          </p:cNvPr>
          <p:cNvSpPr>
            <a:spLocks xmlns:a="http://schemas.openxmlformats.org/drawingml/2006/main" noGrp="1"/>
          </p:cNvSpPr>
          <p:nvPr/>
        </p:nvSpPr>
        <p:spPr>
          <a:xfrm xmlns:a="http://schemas.openxmlformats.org/drawingml/2006/main">
            <a:off x="92011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Note what was accepted, modified, rejected, and why.</a:t>
            </a:r>
          </a:p>
        </p:txBody>
      </p:sp>
    </p:spTree>
    <p:extLst>
      <p:ext uri="{BB962C8B-B14F-4D97-AF65-F5344CB8AC3E}">
        <p14:creationId xmlns:p14="http://schemas.microsoft.com/office/powerpoint/2010/main" val="11488752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kicker">
            <a:extLst xmlns:a="http://schemas.openxmlformats.org/drawingml/2006/main">
              <a:ext uri="{FF2B5EF4-FFF2-40B4-BE49-F238E27FC236}">
                <a16:creationId xmlns:a16="http://schemas.microsoft.com/office/drawing/2014/main" id="{662B0186-99DB-424D-9B2A-F6650FD07A5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METHOD</a:t>
            </a:r>
          </a:p>
        </p:txBody>
      </p:sp>
      <p:sp>
        <p:nvSpPr>
          <p:cNvPr id="2" name="title">
            <a:extLst xmlns:a="http://schemas.openxmlformats.org/drawingml/2006/main">
              <a:ext uri="{FF2B5EF4-FFF2-40B4-BE49-F238E27FC236}">
                <a16:creationId xmlns:a16="http://schemas.microsoft.com/office/drawing/2014/main" id="{1484A347-B530-406A-9767-FC9A6F3B678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Python separates authoring, execution, and evidence</a:t>
            </a:r>
          </a:p>
        </p:txBody>
      </p:sp>
      <p:sp>
        <p:nvSpPr>
          <p:cNvPr id="3" name="">
            <a:extLst xmlns:a="http://schemas.openxmlformats.org/drawingml/2006/main">
              <a:ext uri="{FF2B5EF4-FFF2-40B4-BE49-F238E27FC236}">
                <a16:creationId xmlns:a16="http://schemas.microsoft.com/office/drawing/2014/main" id="{15DF2EE6-02FC-44CE-81A0-B508D05CA054}"/>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F5FA1511-1D3B-4D57-974D-79499CF962B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A960C079-B76A-4CC7-9710-1E6B504A367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13</a:t>
            </a:r>
          </a:p>
        </p:txBody>
      </p:sp>
      <p:sp>
        <p:nvSpPr>
          <p:cNvPr id="6" name="step-arrow-0">
            <a:extLst xmlns:a="http://schemas.openxmlformats.org/drawingml/2006/main">
              <a:ext uri="{FF2B5EF4-FFF2-40B4-BE49-F238E27FC236}">
                <a16:creationId xmlns:a16="http://schemas.microsoft.com/office/drawing/2014/main" id="{52FB4512-979F-4B89-A8DA-87F1748CA545}"/>
              </a:ext>
            </a:extLst>
          </p:cNvPr>
          <p:cNvSpPr>
            <a:spLocks xmlns:a="http://schemas.openxmlformats.org/drawingml/2006/main" noGrp="1"/>
          </p:cNvSpPr>
          <p:nvPr/>
        </p:nvSpPr>
        <p:spPr>
          <a:xfrm xmlns:a="http://schemas.openxmlformats.org/drawingml/2006/main">
            <a:off x="413067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782DF2EA-AA7D-43E8-80E0-17E92512544D}"/>
              </a:ext>
            </a:extLst>
          </p:cNvPr>
          <p:cNvSpPr>
            <a:spLocks xmlns:a="http://schemas.openxmlformats.org/drawingml/2006/main" noGrp="1"/>
          </p:cNvSpPr>
          <p:nvPr/>
        </p:nvSpPr>
        <p:spPr>
          <a:xfrm xmlns:a="http://schemas.openxmlformats.org/drawingml/2006/main">
            <a:off x="7908925"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node-0">
            <a:extLst xmlns:a="http://schemas.openxmlformats.org/drawingml/2006/main">
              <a:ext uri="{FF2B5EF4-FFF2-40B4-BE49-F238E27FC236}">
                <a16:creationId xmlns:a16="http://schemas.microsoft.com/office/drawing/2014/main" id="{208B192B-A367-400C-B787-C6537843BC52}"/>
              </a:ext>
            </a:extLst>
          </p:cNvPr>
          <p:cNvSpPr>
            <a:spLocks xmlns:a="http://schemas.openxmlformats.org/drawingml/2006/main" noGrp="1"/>
          </p:cNvSpPr>
          <p:nvPr/>
        </p:nvSpPr>
        <p:spPr>
          <a:xfrm xmlns:a="http://schemas.openxmlformats.org/drawingml/2006/main">
            <a:off x="609600" y="1847850"/>
            <a:ext cx="3416300" cy="4171950"/>
          </a:xfrm>
          <a:prstGeom xmlns:a="http://schemas.openxmlformats.org/drawingml/2006/main" prst="roundRect">
            <a:avLst>
              <a:gd name="adj" fmla="val 2788"/>
            </a:avLst>
          </a:prstGeom>
          <a:solidFill xmlns:a="http://schemas.openxmlformats.org/drawingml/2006/main">
            <a:srgbClr val="F3F7FB"/>
          </a:solidFill>
          <a:ln xmlns:a="http://schemas.openxmlformats.org/drawingml/2006/main" w="9525">
            <a:solidFill>
              <a:srgbClr val="2E74B5"/>
            </a:solidFill>
            <a:prstDash val="solid"/>
          </a:ln>
        </p:spPr>
      </p:sp>
      <p:sp>
        <p:nvSpPr>
          <p:cNvPr id="9" name="step-number-0">
            <a:extLst xmlns:a="http://schemas.openxmlformats.org/drawingml/2006/main">
              <a:ext uri="{FF2B5EF4-FFF2-40B4-BE49-F238E27FC236}">
                <a16:creationId xmlns:a16="http://schemas.microsoft.com/office/drawing/2014/main" id="{116BA972-2434-4508-89D4-301D17EB481B}"/>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0" name="step-label-0">
            <a:extLst xmlns:a="http://schemas.openxmlformats.org/drawingml/2006/main">
              <a:ext uri="{FF2B5EF4-FFF2-40B4-BE49-F238E27FC236}">
                <a16:creationId xmlns:a16="http://schemas.microsoft.com/office/drawing/2014/main" id="{21D33C62-6EB4-4456-9888-D39B39B25129}"/>
              </a:ext>
            </a:extLst>
          </p:cNvPr>
          <p:cNvSpPr>
            <a:spLocks xmlns:a="http://schemas.openxmlformats.org/drawingml/2006/main" noGrp="1"/>
          </p:cNvSpPr>
          <p:nvPr/>
        </p:nvSpPr>
        <p:spPr>
          <a:xfrm xmlns:a="http://schemas.openxmlformats.org/drawingml/2006/main">
            <a:off x="12954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AUTHOR</a:t>
            </a:r>
          </a:p>
        </p:txBody>
      </p:sp>
      <p:sp>
        <p:nvSpPr>
          <p:cNvPr id="11" name="">
            <a:extLst xmlns:a="http://schemas.openxmlformats.org/drawingml/2006/main">
              <a:ext uri="{FF2B5EF4-FFF2-40B4-BE49-F238E27FC236}">
                <a16:creationId xmlns:a16="http://schemas.microsoft.com/office/drawing/2014/main" id="{7AA25B2F-8578-46B4-B06F-00C8D4AB4B53}"/>
              </a:ext>
            </a:extLst>
          </p:cNvPr>
          <p:cNvSpPr>
            <a:spLocks xmlns:a="http://schemas.openxmlformats.org/drawingml/2006/main" noGrp="1"/>
          </p:cNvSpPr>
          <p:nvPr/>
        </p:nvSpPr>
        <p:spPr>
          <a:xfrm xmlns:a="http://schemas.openxmlformats.org/drawingml/2006/main">
            <a:off x="800100" y="2476500"/>
            <a:ext cx="30353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2" name="step-head-0">
            <a:extLst xmlns:a="http://schemas.openxmlformats.org/drawingml/2006/main">
              <a:ext uri="{FF2B5EF4-FFF2-40B4-BE49-F238E27FC236}">
                <a16:creationId xmlns:a16="http://schemas.microsoft.com/office/drawing/2014/main" id="{1D1BE034-1AAD-40FC-B018-CA4A337E97D8}"/>
              </a:ext>
            </a:extLst>
          </p:cNvPr>
          <p:cNvSpPr>
            <a:spLocks xmlns:a="http://schemas.openxmlformats.org/drawingml/2006/main" noGrp="1"/>
          </p:cNvSpPr>
          <p:nvPr/>
        </p:nvSpPr>
        <p:spPr>
          <a:xfrm xmlns:a="http://schemas.openxmlformats.org/drawingml/2006/main">
            <a:off x="80010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Write statements</a:t>
            </a:r>
          </a:p>
        </p:txBody>
      </p:sp>
      <p:sp>
        <p:nvSpPr>
          <p:cNvPr id="13" name="step-body-0">
            <a:extLst xmlns:a="http://schemas.openxmlformats.org/drawingml/2006/main">
              <a:ext uri="{FF2B5EF4-FFF2-40B4-BE49-F238E27FC236}">
                <a16:creationId xmlns:a16="http://schemas.microsoft.com/office/drawing/2014/main" id="{7B497D73-16C7-41E1-9F82-EF682E7121F6}"/>
              </a:ext>
            </a:extLst>
          </p:cNvPr>
          <p:cNvSpPr>
            <a:spLocks xmlns:a="http://schemas.openxmlformats.org/drawingml/2006/main" noGrp="1"/>
          </p:cNvSpPr>
          <p:nvPr/>
        </p:nvSpPr>
        <p:spPr>
          <a:xfrm xmlns:a="http://schemas.openxmlformats.org/drawingml/2006/main">
            <a:off x="80010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Translate the intended procedure into explicit Python syntax.</a:t>
            </a:r>
          </a:p>
        </p:txBody>
      </p:sp>
      <p:sp>
        <p:nvSpPr>
          <p:cNvPr id="14" name="step-node-1">
            <a:extLst xmlns:a="http://schemas.openxmlformats.org/drawingml/2006/main">
              <a:ext uri="{FF2B5EF4-FFF2-40B4-BE49-F238E27FC236}">
                <a16:creationId xmlns:a16="http://schemas.microsoft.com/office/drawing/2014/main" id="{52901C1F-FD0B-41B1-9569-180D61DEE912}"/>
              </a:ext>
            </a:extLst>
          </p:cNvPr>
          <p:cNvSpPr>
            <a:spLocks xmlns:a="http://schemas.openxmlformats.org/drawingml/2006/main" noGrp="1"/>
          </p:cNvSpPr>
          <p:nvPr/>
        </p:nvSpPr>
        <p:spPr>
          <a:xfrm xmlns:a="http://schemas.openxmlformats.org/drawingml/2006/main">
            <a:off x="438785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15" name="step-number-1">
            <a:extLst xmlns:a="http://schemas.openxmlformats.org/drawingml/2006/main">
              <a:ext uri="{FF2B5EF4-FFF2-40B4-BE49-F238E27FC236}">
                <a16:creationId xmlns:a16="http://schemas.microsoft.com/office/drawing/2014/main" id="{A650C35C-0289-4697-8CF5-D65AF45C8209}"/>
              </a:ext>
            </a:extLst>
          </p:cNvPr>
          <p:cNvSpPr>
            <a:spLocks xmlns:a="http://schemas.openxmlformats.org/drawingml/2006/main" noGrp="1"/>
          </p:cNvSpPr>
          <p:nvPr/>
        </p:nvSpPr>
        <p:spPr>
          <a:xfrm xmlns:a="http://schemas.openxmlformats.org/drawingml/2006/main">
            <a:off x="45783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6" name="step-label-1">
            <a:extLst xmlns:a="http://schemas.openxmlformats.org/drawingml/2006/main">
              <a:ext uri="{FF2B5EF4-FFF2-40B4-BE49-F238E27FC236}">
                <a16:creationId xmlns:a16="http://schemas.microsoft.com/office/drawing/2014/main" id="{A8E76336-1270-4FEF-8B26-7FC35DC582C7}"/>
              </a:ext>
            </a:extLst>
          </p:cNvPr>
          <p:cNvSpPr>
            <a:spLocks xmlns:a="http://schemas.openxmlformats.org/drawingml/2006/main" noGrp="1"/>
          </p:cNvSpPr>
          <p:nvPr/>
        </p:nvSpPr>
        <p:spPr>
          <a:xfrm xmlns:a="http://schemas.openxmlformats.org/drawingml/2006/main">
            <a:off x="507365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RUN</a:t>
            </a:r>
          </a:p>
        </p:txBody>
      </p:sp>
      <p:sp>
        <p:nvSpPr>
          <p:cNvPr id="17" name="">
            <a:extLst xmlns:a="http://schemas.openxmlformats.org/drawingml/2006/main">
              <a:ext uri="{FF2B5EF4-FFF2-40B4-BE49-F238E27FC236}">
                <a16:creationId xmlns:a16="http://schemas.microsoft.com/office/drawing/2014/main" id="{04A18756-FD46-4272-8EFB-1D8C50B5E1D4}"/>
              </a:ext>
            </a:extLst>
          </p:cNvPr>
          <p:cNvSpPr>
            <a:spLocks xmlns:a="http://schemas.openxmlformats.org/drawingml/2006/main" noGrp="1"/>
          </p:cNvSpPr>
          <p:nvPr/>
        </p:nvSpPr>
        <p:spPr>
          <a:xfrm xmlns:a="http://schemas.openxmlformats.org/drawingml/2006/main">
            <a:off x="457835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8" name="step-head-1">
            <a:extLst xmlns:a="http://schemas.openxmlformats.org/drawingml/2006/main">
              <a:ext uri="{FF2B5EF4-FFF2-40B4-BE49-F238E27FC236}">
                <a16:creationId xmlns:a16="http://schemas.microsoft.com/office/drawing/2014/main" id="{574B1548-C4A4-477F-9465-1A48FA49B2A3}"/>
              </a:ext>
            </a:extLst>
          </p:cNvPr>
          <p:cNvSpPr>
            <a:spLocks xmlns:a="http://schemas.openxmlformats.org/drawingml/2006/main" noGrp="1"/>
          </p:cNvSpPr>
          <p:nvPr/>
        </p:nvSpPr>
        <p:spPr>
          <a:xfrm xmlns:a="http://schemas.openxmlformats.org/drawingml/2006/main">
            <a:off x="457835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Execute in order</a:t>
            </a:r>
          </a:p>
        </p:txBody>
      </p:sp>
      <p:sp>
        <p:nvSpPr>
          <p:cNvPr id="19" name="step-body-1">
            <a:extLst xmlns:a="http://schemas.openxmlformats.org/drawingml/2006/main">
              <a:ext uri="{FF2B5EF4-FFF2-40B4-BE49-F238E27FC236}">
                <a16:creationId xmlns:a16="http://schemas.microsoft.com/office/drawing/2014/main" id="{CDD35450-77F7-4991-A823-24B315C45607}"/>
              </a:ext>
            </a:extLst>
          </p:cNvPr>
          <p:cNvSpPr>
            <a:spLocks xmlns:a="http://schemas.openxmlformats.org/drawingml/2006/main" noGrp="1"/>
          </p:cNvSpPr>
          <p:nvPr/>
        </p:nvSpPr>
        <p:spPr>
          <a:xfrm xmlns:a="http://schemas.openxmlformats.org/drawingml/2006/main">
            <a:off x="457835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interpreter (the program that runs your code) evaluates each statement and creates program state—the current value of every name.</a:t>
            </a:r>
          </a:p>
        </p:txBody>
      </p:sp>
      <p:sp>
        <p:nvSpPr>
          <p:cNvPr id="20" name="step-node-2">
            <a:extLst xmlns:a="http://schemas.openxmlformats.org/drawingml/2006/main">
              <a:ext uri="{FF2B5EF4-FFF2-40B4-BE49-F238E27FC236}">
                <a16:creationId xmlns:a16="http://schemas.microsoft.com/office/drawing/2014/main" id="{44C8EB97-D637-40E3-837B-096C9876925E}"/>
              </a:ext>
            </a:extLst>
          </p:cNvPr>
          <p:cNvSpPr>
            <a:spLocks xmlns:a="http://schemas.openxmlformats.org/drawingml/2006/main" noGrp="1"/>
          </p:cNvSpPr>
          <p:nvPr/>
        </p:nvSpPr>
        <p:spPr>
          <a:xfrm xmlns:a="http://schemas.openxmlformats.org/drawingml/2006/main">
            <a:off x="8166100" y="1847850"/>
            <a:ext cx="3416300" cy="4171950"/>
          </a:xfrm>
          <a:prstGeom xmlns:a="http://schemas.openxmlformats.org/drawingml/2006/main" prst="roundRect">
            <a:avLst>
              <a:gd name="adj" fmla="val 2788"/>
            </a:avLst>
          </a:prstGeom>
          <a:solidFill xmlns:a="http://schemas.openxmlformats.org/drawingml/2006/main">
            <a:srgbClr val="F6F7F9"/>
          </a:solidFill>
          <a:ln xmlns:a="http://schemas.openxmlformats.org/drawingml/2006/main" w="9525">
            <a:solidFill>
              <a:srgbClr val="DDE0E5"/>
            </a:solidFill>
            <a:prstDash val="solid"/>
          </a:ln>
        </p:spPr>
      </p:sp>
      <p:sp>
        <p:nvSpPr>
          <p:cNvPr id="21" name="step-number-2">
            <a:extLst xmlns:a="http://schemas.openxmlformats.org/drawingml/2006/main">
              <a:ext uri="{FF2B5EF4-FFF2-40B4-BE49-F238E27FC236}">
                <a16:creationId xmlns:a16="http://schemas.microsoft.com/office/drawing/2014/main" id="{BCE90132-556E-4B80-A266-5FB1C8105641}"/>
              </a:ext>
            </a:extLst>
          </p:cNvPr>
          <p:cNvSpPr>
            <a:spLocks xmlns:a="http://schemas.openxmlformats.org/drawingml/2006/main" noGrp="1"/>
          </p:cNvSpPr>
          <p:nvPr/>
        </p:nvSpPr>
        <p:spPr>
          <a:xfrm xmlns:a="http://schemas.openxmlformats.org/drawingml/2006/main">
            <a:off x="83566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2" name="step-label-2">
            <a:extLst xmlns:a="http://schemas.openxmlformats.org/drawingml/2006/main">
              <a:ext uri="{FF2B5EF4-FFF2-40B4-BE49-F238E27FC236}">
                <a16:creationId xmlns:a16="http://schemas.microsoft.com/office/drawing/2014/main" id="{E7F22C50-12A9-4E20-9ACD-9193353E7410}"/>
              </a:ext>
            </a:extLst>
          </p:cNvPr>
          <p:cNvSpPr>
            <a:spLocks xmlns:a="http://schemas.openxmlformats.org/drawingml/2006/main" noGrp="1"/>
          </p:cNvSpPr>
          <p:nvPr/>
        </p:nvSpPr>
        <p:spPr>
          <a:xfrm xmlns:a="http://schemas.openxmlformats.org/drawingml/2006/main">
            <a:off x="8851900" y="2057400"/>
            <a:ext cx="254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INSPECT</a:t>
            </a:r>
          </a:p>
        </p:txBody>
      </p:sp>
      <p:sp>
        <p:nvSpPr>
          <p:cNvPr id="23" name="">
            <a:extLst xmlns:a="http://schemas.openxmlformats.org/drawingml/2006/main">
              <a:ext uri="{FF2B5EF4-FFF2-40B4-BE49-F238E27FC236}">
                <a16:creationId xmlns:a16="http://schemas.microsoft.com/office/drawing/2014/main" id="{2BC6F97B-C0C1-4353-B8E1-30B366D72AC4}"/>
              </a:ext>
            </a:extLst>
          </p:cNvPr>
          <p:cNvSpPr>
            <a:spLocks xmlns:a="http://schemas.openxmlformats.org/drawingml/2006/main" noGrp="1"/>
          </p:cNvSpPr>
          <p:nvPr/>
        </p:nvSpPr>
        <p:spPr>
          <a:xfrm xmlns:a="http://schemas.openxmlformats.org/drawingml/2006/main">
            <a:off x="8356600" y="2476500"/>
            <a:ext cx="303530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4" name="step-head-2">
            <a:extLst xmlns:a="http://schemas.openxmlformats.org/drawingml/2006/main">
              <a:ext uri="{FF2B5EF4-FFF2-40B4-BE49-F238E27FC236}">
                <a16:creationId xmlns:a16="http://schemas.microsoft.com/office/drawing/2014/main" id="{B9428433-2446-4CC0-BBD4-27A526499D5C}"/>
              </a:ext>
            </a:extLst>
          </p:cNvPr>
          <p:cNvSpPr>
            <a:spLocks xmlns:a="http://schemas.openxmlformats.org/drawingml/2006/main" noGrp="1"/>
          </p:cNvSpPr>
          <p:nvPr/>
        </p:nvSpPr>
        <p:spPr>
          <a:xfrm xmlns:a="http://schemas.openxmlformats.org/drawingml/2006/main">
            <a:off x="8356600" y="2667000"/>
            <a:ext cx="303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Examine evidence</a:t>
            </a:r>
          </a:p>
        </p:txBody>
      </p:sp>
      <p:sp>
        <p:nvSpPr>
          <p:cNvPr id="25" name="step-body-2">
            <a:extLst xmlns:a="http://schemas.openxmlformats.org/drawingml/2006/main">
              <a:ext uri="{FF2B5EF4-FFF2-40B4-BE49-F238E27FC236}">
                <a16:creationId xmlns:a16="http://schemas.microsoft.com/office/drawing/2014/main" id="{246D0379-72FB-4C89-95A7-6E67D037B65C}"/>
              </a:ext>
            </a:extLst>
          </p:cNvPr>
          <p:cNvSpPr>
            <a:spLocks xmlns:a="http://schemas.openxmlformats.org/drawingml/2006/main" noGrp="1"/>
          </p:cNvSpPr>
          <p:nvPr/>
        </p:nvSpPr>
        <p:spPr>
          <a:xfrm xmlns:a="http://schemas.openxmlformats.org/drawingml/2006/main">
            <a:off x="8356600" y="3352800"/>
            <a:ext cx="30353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Read values, types, output, warnings, errors, and figures.</a:t>
            </a:r>
          </a:p>
        </p:txBody>
      </p:sp>
    </p:spTree>
    <p:extLst>
      <p:ext uri="{BB962C8B-B14F-4D97-AF65-F5344CB8AC3E}">
        <p14:creationId xmlns:p14="http://schemas.microsoft.com/office/powerpoint/2010/main" val="13079018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D56AEEA5-CDC8-4FF2-AA44-3FB4C9D1FCC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86ACF3DC-F8FB-427E-897F-013CC805346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Python script is an ordered sequence of instructions</a:t>
            </a:r>
          </a:p>
        </p:txBody>
      </p:sp>
      <p:sp>
        <p:nvSpPr>
          <p:cNvPr id="3" name="">
            <a:extLst xmlns:a="http://schemas.openxmlformats.org/drawingml/2006/main">
              <a:ext uri="{FF2B5EF4-FFF2-40B4-BE49-F238E27FC236}">
                <a16:creationId xmlns:a16="http://schemas.microsoft.com/office/drawing/2014/main" id="{6782B32C-A91C-4E63-8177-EC836CF91359}"/>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F78046D-FC21-429F-9273-8EC24914297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68FFD48D-9DE1-449A-A5C9-4428DF0FB83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14</a:t>
            </a:r>
          </a:p>
        </p:txBody>
      </p:sp>
      <p:sp>
        <p:nvSpPr>
          <p:cNvPr id="6" name="term-label">
            <a:extLst xmlns:a="http://schemas.openxmlformats.org/drawingml/2006/main">
              <a:ext uri="{FF2B5EF4-FFF2-40B4-BE49-F238E27FC236}">
                <a16:creationId xmlns:a16="http://schemas.microsoft.com/office/drawing/2014/main" id="{BEAF3D3A-1E7F-490C-B090-9290BD52D6EB}"/>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15BBB012-486C-479B-AE24-744C5770DF41}"/>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script</a:t>
            </a:r>
          </a:p>
        </p:txBody>
      </p:sp>
      <p:sp>
        <p:nvSpPr>
          <p:cNvPr id="8" name="">
            <a:extLst xmlns:a="http://schemas.openxmlformats.org/drawingml/2006/main">
              <a:ext uri="{FF2B5EF4-FFF2-40B4-BE49-F238E27FC236}">
                <a16:creationId xmlns:a16="http://schemas.microsoft.com/office/drawing/2014/main" id="{65DC4BE0-B676-4222-A0B0-FAF1F571D9E6}"/>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9FA04315-519F-4D1B-9D32-1373040651C4}"/>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saved .py file holding one complete program. Python normally reads it from the first line to the last. Running the same script again, in the same order, reproduces the same result — which is exactly what makes a procedure repeatable rather than remembered.</a:t>
            </a:r>
          </a:p>
        </p:txBody>
      </p:sp>
      <p:sp>
        <p:nvSpPr>
          <p:cNvPr id="10" name="example-panel">
            <a:extLst xmlns:a="http://schemas.openxmlformats.org/drawingml/2006/main">
              <a:ext uri="{FF2B5EF4-FFF2-40B4-BE49-F238E27FC236}">
                <a16:creationId xmlns:a16="http://schemas.microsoft.com/office/drawing/2014/main" id="{DD94002B-DCEB-4279-9CC7-905D3251E457}"/>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5BAF427E-1B5E-4222-9FA9-011A5810D4B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IN PRACTICE</a:t>
            </a:r>
          </a:p>
        </p:txBody>
      </p:sp>
      <p:sp>
        <p:nvSpPr>
          <p:cNvPr id="12" name="example-head">
            <a:extLst xmlns:a="http://schemas.openxmlformats.org/drawingml/2006/main">
              <a:ext uri="{FF2B5EF4-FFF2-40B4-BE49-F238E27FC236}">
                <a16:creationId xmlns:a16="http://schemas.microsoft.com/office/drawing/2014/main" id="{E24B54AB-DAEF-4789-9A68-F76F78B4C77D}"/>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week01a_area.py</a:t>
            </a:r>
          </a:p>
        </p:txBody>
      </p:sp>
      <p:sp>
        <p:nvSpPr>
          <p:cNvPr id="13" name="example-body">
            <a:extLst xmlns:a="http://schemas.openxmlformats.org/drawingml/2006/main">
              <a:ext uri="{FF2B5EF4-FFF2-40B4-BE49-F238E27FC236}">
                <a16:creationId xmlns:a16="http://schemas.microsoft.com/office/drawing/2014/main" id="{38853B8C-9940-4157-A5F6-DA55C92CE76A}"/>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One file tells one coherent story: the inputs, the calculation, the printed result, and the comments that record the assumptions behind them.</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You will save your first script in Meeting B.</a:t>
            </a:r>
          </a:p>
        </p:txBody>
      </p:sp>
      <p:sp>
        <p:nvSpPr>
          <p:cNvPr id="14" name="note-bar">
            <a:extLst xmlns:a="http://schemas.openxmlformats.org/drawingml/2006/main">
              <a:ext uri="{FF2B5EF4-FFF2-40B4-BE49-F238E27FC236}">
                <a16:creationId xmlns:a16="http://schemas.microsoft.com/office/drawing/2014/main" id="{5DF0B36F-B1F4-4B7F-AA78-F67FB78C218F}"/>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AA852FDE-D21C-4AEC-A98F-26F4685C4374}"/>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6A612EB2-441C-4316-BC25-D466A4062AAF}"/>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A script is not a conversation. Anything Python needs must already appear above the line that uses it.</a:t>
            </a:r>
          </a:p>
        </p:txBody>
      </p:sp>
    </p:spTree>
    <p:extLst>
      <p:ext uri="{BB962C8B-B14F-4D97-AF65-F5344CB8AC3E}">
        <p14:creationId xmlns:p14="http://schemas.microsoft.com/office/powerpoint/2010/main" val="1102315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AA07EBEE-9DF7-4C45-9F38-CC0200F08ACF}"/>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08009707-E16B-4B5F-AA3A-D695FB5CB46D}"/>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One statement is one complete instruction</a:t>
            </a:r>
          </a:p>
        </p:txBody>
      </p:sp>
      <p:sp>
        <p:nvSpPr>
          <p:cNvPr id="3" name="">
            <a:extLst xmlns:a="http://schemas.openxmlformats.org/drawingml/2006/main">
              <a:ext uri="{FF2B5EF4-FFF2-40B4-BE49-F238E27FC236}">
                <a16:creationId xmlns:a16="http://schemas.microsoft.com/office/drawing/2014/main" id="{0D11C6A5-148C-4DEC-8D25-0DD7034C9920}"/>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9729690-B1E2-4491-AE6A-9A34C164381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2D8C5413-7023-4AE8-A0CB-6D7B12636577}"/>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15</a:t>
            </a:r>
          </a:p>
        </p:txBody>
      </p:sp>
      <p:sp>
        <p:nvSpPr>
          <p:cNvPr id="6" name="term-label">
            <a:extLst xmlns:a="http://schemas.openxmlformats.org/drawingml/2006/main">
              <a:ext uri="{FF2B5EF4-FFF2-40B4-BE49-F238E27FC236}">
                <a16:creationId xmlns:a16="http://schemas.microsoft.com/office/drawing/2014/main" id="{3833F6BF-D622-4CFB-AA0A-1C05AB854B29}"/>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56EA6F12-3B56-4434-AE7D-A39120B036FB}"/>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statement</a:t>
            </a:r>
          </a:p>
        </p:txBody>
      </p:sp>
      <p:sp>
        <p:nvSpPr>
          <p:cNvPr id="8" name="">
            <a:extLst xmlns:a="http://schemas.openxmlformats.org/drawingml/2006/main">
              <a:ext uri="{FF2B5EF4-FFF2-40B4-BE49-F238E27FC236}">
                <a16:creationId xmlns:a16="http://schemas.microsoft.com/office/drawing/2014/main" id="{02CB1EBE-9E95-4E37-8E6B-E90518143255}"/>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459651B6-61EC-480D-ACE4-87FFFCD1532A}"/>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smallest complete thing Python can carry out. A finished statement can create a value, bind a name, call a function, or produce output. Python completes one statement before it starts the next, which is why the order of the lines is part of the meaning.</a:t>
            </a:r>
          </a:p>
        </p:txBody>
      </p:sp>
      <p:sp>
        <p:nvSpPr>
          <p:cNvPr id="10" name="example-panel">
            <a:extLst xmlns:a="http://schemas.openxmlformats.org/drawingml/2006/main">
              <a:ext uri="{FF2B5EF4-FFF2-40B4-BE49-F238E27FC236}">
                <a16:creationId xmlns:a16="http://schemas.microsoft.com/office/drawing/2014/main" id="{7E35651A-8617-43FF-B59F-6752561901B2}"/>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BCA86AAB-F5C6-4D4C-99BE-2540765DDC3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ONE STATEMENT</a:t>
            </a:r>
          </a:p>
        </p:txBody>
      </p:sp>
      <p:sp>
        <p:nvSpPr>
          <p:cNvPr id="12" name="example-head">
            <a:extLst xmlns:a="http://schemas.openxmlformats.org/drawingml/2006/main">
              <a:ext uri="{FF2B5EF4-FFF2-40B4-BE49-F238E27FC236}">
                <a16:creationId xmlns:a16="http://schemas.microsoft.com/office/drawing/2014/main" id="{09C21540-682E-4DBB-B738-83553006F32C}"/>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area_m2 = length_m * width_m</a:t>
            </a:r>
          </a:p>
        </p:txBody>
      </p:sp>
      <p:sp>
        <p:nvSpPr>
          <p:cNvPr id="13" name="example-body">
            <a:extLst xmlns:a="http://schemas.openxmlformats.org/drawingml/2006/main">
              <a:ext uri="{FF2B5EF4-FFF2-40B4-BE49-F238E27FC236}">
                <a16:creationId xmlns:a16="http://schemas.microsoft.com/office/drawing/2014/main" id="{C9AA4B2F-8890-4F96-8F27-C4AEF82B6884}"/>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One line, one instruction. Python evaluates the right-hand side first, then binds the name on the left to that result.</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comment line and a blank line are not statements — Python skips both, so neither changes anything.</a:t>
            </a:r>
          </a:p>
        </p:txBody>
      </p:sp>
      <p:sp>
        <p:nvSpPr>
          <p:cNvPr id="14" name="note-bar">
            <a:extLst xmlns:a="http://schemas.openxmlformats.org/drawingml/2006/main">
              <a:ext uri="{FF2B5EF4-FFF2-40B4-BE49-F238E27FC236}">
                <a16:creationId xmlns:a16="http://schemas.microsoft.com/office/drawing/2014/main" id="{4CAC59BC-2584-45E0-B4A9-A9D586E9E633}"/>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53D5B3FA-97C2-4B24-8817-4D87D736AF41}"/>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CB4CCD4B-CA60-4DBA-930F-275B9735B01C}"/>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Nothing is remembered between statements except the names you created. If a value was never assigned to a name, the next line cannot use it.</a:t>
            </a:r>
          </a:p>
        </p:txBody>
      </p:sp>
    </p:spTree>
    <p:extLst>
      <p:ext uri="{BB962C8B-B14F-4D97-AF65-F5344CB8AC3E}">
        <p14:creationId xmlns:p14="http://schemas.microsoft.com/office/powerpoint/2010/main" val="159157713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3FA57CFA-310E-4EB4-8861-5C38938DEE7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59775E23-B43F-4111-AB86-E665516C9CD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Commit to an answer before Python gives you one</a:t>
            </a:r>
          </a:p>
        </p:txBody>
      </p:sp>
      <p:sp>
        <p:nvSpPr>
          <p:cNvPr id="3" name="">
            <a:extLst xmlns:a="http://schemas.openxmlformats.org/drawingml/2006/main">
              <a:ext uri="{FF2B5EF4-FFF2-40B4-BE49-F238E27FC236}">
                <a16:creationId xmlns:a16="http://schemas.microsoft.com/office/drawing/2014/main" id="{053E690D-8E2E-425F-B191-08F30A9841C8}"/>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D51D7B5-2CEB-4BE2-87B0-7EBE75FBA1B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60CF16E6-FB82-453D-A48D-0377786F7E8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16</a:t>
            </a:r>
          </a:p>
        </p:txBody>
      </p:sp>
      <p:sp>
        <p:nvSpPr>
          <p:cNvPr id="6" name="code-panel">
            <a:extLst xmlns:a="http://schemas.openxmlformats.org/drawingml/2006/main">
              <a:ext uri="{FF2B5EF4-FFF2-40B4-BE49-F238E27FC236}">
                <a16:creationId xmlns:a16="http://schemas.microsoft.com/office/drawing/2014/main" id="{085D85FE-4D5E-4D85-BAB2-051E070F5482}"/>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1039C3A-7060-402F-814B-1C81C8ECC996}"/>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print('Hello, ARC 500')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print(3 + 4)</a:t>
            </a:r>
          </a:p>
        </p:txBody>
      </p:sp>
      <p:sp>
        <p:nvSpPr>
          <p:cNvPr id="8" name="question">
            <a:extLst xmlns:a="http://schemas.openxmlformats.org/drawingml/2006/main">
              <a:ext uri="{FF2B5EF4-FFF2-40B4-BE49-F238E27FC236}">
                <a16:creationId xmlns:a16="http://schemas.microsoft.com/office/drawing/2014/main" id="{9206F46C-DBA2-4D41-BEAF-D4ED05882D61}"/>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does the second line print?</a:t>
            </a:r>
          </a:p>
        </p:txBody>
      </p:sp>
      <p:sp>
        <p:nvSpPr>
          <p:cNvPr id="9" name="opt-0">
            <a:extLst xmlns:a="http://schemas.openxmlformats.org/drawingml/2006/main">
              <a:ext uri="{FF2B5EF4-FFF2-40B4-BE49-F238E27FC236}">
                <a16:creationId xmlns:a16="http://schemas.microsoft.com/office/drawing/2014/main" id="{AF246138-B2C7-40A1-8B9E-DC41A2A56EC3}"/>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724FBDFE-7246-480D-9929-8F2F57464DE3}"/>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489EF96B-8CE8-44F8-B96D-146162E4AFA2}"/>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7</a:t>
            </a:r>
          </a:p>
        </p:txBody>
      </p:sp>
      <p:sp>
        <p:nvSpPr>
          <p:cNvPr id="12" name="opt-1">
            <a:extLst xmlns:a="http://schemas.openxmlformats.org/drawingml/2006/main">
              <a:ext uri="{FF2B5EF4-FFF2-40B4-BE49-F238E27FC236}">
                <a16:creationId xmlns:a16="http://schemas.microsoft.com/office/drawing/2014/main" id="{DBE1E32E-BF57-46B9-8EA2-42BBA09FEFC1}"/>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9E854701-19D3-408C-89E1-66683C74046B}"/>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4AE8B9EF-5E91-4FF0-A8D8-0BB814FBBE27}"/>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3 + 4</a:t>
            </a:r>
          </a:p>
        </p:txBody>
      </p:sp>
      <p:sp>
        <p:nvSpPr>
          <p:cNvPr id="15" name="opt-2">
            <a:extLst xmlns:a="http://schemas.openxmlformats.org/drawingml/2006/main">
              <a:ext uri="{FF2B5EF4-FFF2-40B4-BE49-F238E27FC236}">
                <a16:creationId xmlns:a16="http://schemas.microsoft.com/office/drawing/2014/main" id="{D4D999C8-68BD-4556-8B10-FC3697305DE6}"/>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71CC116F-3BBF-466A-A6E7-6AF33DFC900C}"/>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9A2AC133-CA18-4A92-B616-EFEE4BA20595}"/>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34</a:t>
            </a:r>
          </a:p>
        </p:txBody>
      </p:sp>
      <p:sp>
        <p:nvSpPr>
          <p:cNvPr id="18" name="opt-3">
            <a:extLst xmlns:a="http://schemas.openxmlformats.org/drawingml/2006/main">
              <a:ext uri="{FF2B5EF4-FFF2-40B4-BE49-F238E27FC236}">
                <a16:creationId xmlns:a16="http://schemas.microsoft.com/office/drawing/2014/main" id="{6725036D-2C29-4F4E-B9AE-5630FD28CD89}"/>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B75B3FBB-A846-44AC-A6AB-80E8F4281EA5}"/>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A6140490-DE26-4112-AF29-EE9342C9F1C0}"/>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print(3 + 4)</a:t>
            </a:r>
          </a:p>
        </p:txBody>
      </p:sp>
      <p:sp>
        <p:nvSpPr>
          <p:cNvPr id="21" name="answer-panel">
            <a:extLst xmlns:a="http://schemas.openxmlformats.org/drawingml/2006/main">
              <a:ext uri="{FF2B5EF4-FFF2-40B4-BE49-F238E27FC236}">
                <a16:creationId xmlns:a16="http://schemas.microsoft.com/office/drawing/2014/main" id="{65F56E26-D78E-4E65-96DF-FC22E3DC2BFF}"/>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C0B41DAE-884C-4B8B-B976-16472CAAA0A4}"/>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A</a:t>
            </a:r>
          </a:p>
        </p:txBody>
      </p:sp>
      <p:sp>
        <p:nvSpPr>
          <p:cNvPr id="23" name="why">
            <a:extLst xmlns:a="http://schemas.openxmlformats.org/drawingml/2006/main">
              <a:ext uri="{FF2B5EF4-FFF2-40B4-BE49-F238E27FC236}">
                <a16:creationId xmlns:a16="http://schemas.microsoft.com/office/drawing/2014/main" id="{D40DF117-C2C3-48B4-8178-35F2168C8E4E}"/>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print shows the value an expression produces, never the code that produced it and never the quotation marks.</a:t>
            </a:r>
          </a:p>
        </p:txBody>
      </p:sp>
    </p:spTree>
    <p:extLst>
      <p:ext uri="{BB962C8B-B14F-4D97-AF65-F5344CB8AC3E}">
        <p14:creationId xmlns:p14="http://schemas.microsoft.com/office/powerpoint/2010/main" val="8092434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93AC0996-1A10-4C84-AD15-86DFC34C9F1D}"/>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24B4077-7E5A-4193-B191-5AD3A47CF38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The first statement produces visible output</a:t>
            </a:r>
          </a:p>
        </p:txBody>
      </p:sp>
      <p:sp>
        <p:nvSpPr>
          <p:cNvPr id="3" name="">
            <a:extLst xmlns:a="http://schemas.openxmlformats.org/drawingml/2006/main">
              <a:ext uri="{FF2B5EF4-FFF2-40B4-BE49-F238E27FC236}">
                <a16:creationId xmlns:a16="http://schemas.microsoft.com/office/drawing/2014/main" id="{0C7171CE-4F0A-4001-9337-84290E11C7A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594DF5D-5D69-42E0-983E-42964CCB3A80}"/>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90A603BD-C571-42C1-8C0B-C1BA4E7CC641}"/>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17</a:t>
            </a:r>
          </a:p>
        </p:txBody>
      </p:sp>
      <p:sp>
        <p:nvSpPr>
          <p:cNvPr id="6" name="code-panel">
            <a:extLst xmlns:a="http://schemas.openxmlformats.org/drawingml/2006/main">
              <a:ext uri="{FF2B5EF4-FFF2-40B4-BE49-F238E27FC236}">
                <a16:creationId xmlns:a16="http://schemas.microsoft.com/office/drawing/2014/main" id="{898507A7-6C02-4E0C-A3D7-C1A78EB9C017}"/>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960C1AE-0F8D-4435-91E7-66DAD7E026EF}"/>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print('Hello, ARC 500')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print(3 + 4)</a:t>
            </a:r>
          </a:p>
        </p:txBody>
      </p:sp>
      <p:sp>
        <p:nvSpPr>
          <p:cNvPr id="8" name="">
            <a:extLst xmlns:a="http://schemas.openxmlformats.org/drawingml/2006/main">
              <a:ext uri="{FF2B5EF4-FFF2-40B4-BE49-F238E27FC236}">
                <a16:creationId xmlns:a16="http://schemas.microsoft.com/office/drawing/2014/main" id="{EEE49D6B-7883-42D3-9385-5FCC2529F341}"/>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CE74DBC2-7061-4A89-BCF8-03CFFAFA66CA}"/>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C6D74BF6-9E86-4043-AED5-77F8D27348C4}"/>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Hello, ARC 500</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7</a:t>
            </a:r>
          </a:p>
        </p:txBody>
      </p:sp>
      <p:sp>
        <p:nvSpPr>
          <p:cNvPr id="11" name="explain-head">
            <a:extLst xmlns:a="http://schemas.openxmlformats.org/drawingml/2006/main">
              <a:ext uri="{FF2B5EF4-FFF2-40B4-BE49-F238E27FC236}">
                <a16:creationId xmlns:a16="http://schemas.microsoft.com/office/drawing/2014/main" id="{09B4ABB9-8B93-4E39-9A6F-EB9D739566D3}"/>
              </a:ext>
            </a:extLst>
          </p:cNvPr>
          <p:cNvSpPr>
            <a:spLocks xmlns:a="http://schemas.openxmlformats.org/drawingml/2006/main" noGrp="1"/>
          </p:cNvSpPr>
          <p:nvPr/>
        </p:nvSpPr>
        <p:spPr>
          <a:xfrm xmlns:a="http://schemas.openxmlformats.org/drawingml/2006/main">
            <a:off x="7886700" y="28670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Read each line</a:t>
            </a:r>
          </a:p>
        </p:txBody>
      </p:sp>
      <p:sp>
        <p:nvSpPr>
          <p:cNvPr id="12" name="explain-body">
            <a:extLst xmlns:a="http://schemas.openxmlformats.org/drawingml/2006/main">
              <a:ext uri="{FF2B5EF4-FFF2-40B4-BE49-F238E27FC236}">
                <a16:creationId xmlns:a16="http://schemas.microsoft.com/office/drawing/2014/main" id="{C0C2F4E1-0FD7-455D-A242-979EDB5A0C0B}"/>
              </a:ext>
            </a:extLst>
          </p:cNvPr>
          <p:cNvSpPr>
            <a:spLocks xmlns:a="http://schemas.openxmlformats.org/drawingml/2006/main" noGrp="1"/>
          </p:cNvSpPr>
          <p:nvPr/>
        </p:nvSpPr>
        <p:spPr>
          <a:xfrm xmlns:a="http://schemas.openxmlformats.org/drawingml/2006/main">
            <a:off x="7886700" y="3364611"/>
            <a:ext cx="3695700" cy="9601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Python executes statements from top to bottom. Parentheses enclose the value sent to print. Quoted characters form text; 3 + 4 is evaluated before printing.</a:t>
            </a:r>
          </a:p>
        </p:txBody>
      </p:sp>
    </p:spTree>
    <p:extLst>
      <p:ext uri="{BB962C8B-B14F-4D97-AF65-F5344CB8AC3E}">
        <p14:creationId xmlns:p14="http://schemas.microsoft.com/office/powerpoint/2010/main" val="102742414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kicker">
            <a:extLst xmlns:a="http://schemas.openxmlformats.org/drawingml/2006/main">
              <a:ext uri="{FF2B5EF4-FFF2-40B4-BE49-F238E27FC236}">
                <a16:creationId xmlns:a16="http://schemas.microsoft.com/office/drawing/2014/main" id="{4B0DB0AB-D4C6-4F61-8DD4-736894293CF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2D24EDC9-9DA8-4C88-91B5-1D556F47556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function call, and a note Python never runs</a:t>
            </a:r>
          </a:p>
        </p:txBody>
      </p:sp>
      <p:sp>
        <p:nvSpPr>
          <p:cNvPr id="3" name="">
            <a:extLst xmlns:a="http://schemas.openxmlformats.org/drawingml/2006/main">
              <a:ext uri="{FF2B5EF4-FFF2-40B4-BE49-F238E27FC236}">
                <a16:creationId xmlns:a16="http://schemas.microsoft.com/office/drawing/2014/main" id="{E902A6E5-A31C-497E-8608-B6CF42BA61D5}"/>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8F82470-6C47-4A06-B8CA-52615C21CB9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6E090213-E93A-48CA-8513-91CBD41F49C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18</a:t>
            </a:r>
          </a:p>
        </p:txBody>
      </p:sp>
      <p:sp>
        <p:nvSpPr>
          <p:cNvPr id="6" name="anatomy-code-panel">
            <a:extLst xmlns:a="http://schemas.openxmlformats.org/drawingml/2006/main">
              <a:ext uri="{FF2B5EF4-FFF2-40B4-BE49-F238E27FC236}">
                <a16:creationId xmlns:a16="http://schemas.microsoft.com/office/drawing/2014/main" id="{A55A826E-5279-4F17-86C0-37DCD6B05EA6}"/>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4BB187B7-EFFD-4FDF-900B-63BCC0B90542}"/>
              </a:ext>
            </a:extLst>
          </p:cNvPr>
          <p:cNvSpPr>
            <a:spLocks xmlns:a="http://schemas.openxmlformats.org/drawingml/2006/main" noGrp="1"/>
          </p:cNvSpPr>
          <p:nvPr/>
        </p:nvSpPr>
        <p:spPr>
          <a:xfrm xmlns:a="http://schemas.openxmlformats.org/drawingml/2006/main">
            <a:off x="2114550" y="2057400"/>
            <a:ext cx="834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print('Hello, ARC 500')  # Python runs</a:t>
            </a:r>
          </a:p>
        </p:txBody>
      </p:sp>
      <p:sp>
        <p:nvSpPr>
          <p:cNvPr id="8" name="">
            <a:extLst xmlns:a="http://schemas.openxmlformats.org/drawingml/2006/main">
              <a:ext uri="{FF2B5EF4-FFF2-40B4-BE49-F238E27FC236}">
                <a16:creationId xmlns:a16="http://schemas.microsoft.com/office/drawing/2014/main" id="{BE648104-BE84-48ED-8535-340BD0B3124C}"/>
              </a:ext>
            </a:extLst>
          </p:cNvPr>
          <p:cNvSpPr>
            <a:spLocks xmlns:a="http://schemas.openxmlformats.org/drawingml/2006/main" noGrp="1"/>
          </p:cNvSpPr>
          <p:nvPr/>
        </p:nvSpPr>
        <p:spPr>
          <a:xfrm xmlns:a="http://schemas.openxmlformats.org/drawingml/2006/main">
            <a:off x="2114550" y="2647950"/>
            <a:ext cx="1047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6844DD0D-1A63-44C2-89F3-DBFEDCF3AEC8}"/>
              </a:ext>
            </a:extLst>
          </p:cNvPr>
          <p:cNvSpPr>
            <a:spLocks xmlns:a="http://schemas.openxmlformats.org/drawingml/2006/main" noGrp="1"/>
          </p:cNvSpPr>
          <p:nvPr/>
        </p:nvSpPr>
        <p:spPr>
          <a:xfrm xmlns:a="http://schemas.openxmlformats.org/drawingml/2006/main">
            <a:off x="25146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3433BF17-CB89-41D7-995C-E945F4B84CDB}"/>
              </a:ext>
            </a:extLst>
          </p:cNvPr>
          <p:cNvSpPr>
            <a:spLocks xmlns:a="http://schemas.openxmlformats.org/drawingml/2006/main" noGrp="1"/>
          </p:cNvSpPr>
          <p:nvPr/>
        </p:nvSpPr>
        <p:spPr>
          <a:xfrm xmlns:a="http://schemas.openxmlformats.org/drawingml/2006/main">
            <a:off x="25146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EC8B7C20-DA5F-475C-A24A-565973C9A6B8}"/>
              </a:ext>
            </a:extLst>
          </p:cNvPr>
          <p:cNvSpPr>
            <a:spLocks xmlns:a="http://schemas.openxmlformats.org/drawingml/2006/main" noGrp="1"/>
          </p:cNvSpPr>
          <p:nvPr/>
        </p:nvSpPr>
        <p:spPr>
          <a:xfrm xmlns:a="http://schemas.openxmlformats.org/drawingml/2006/main">
            <a:off x="16383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1FE2D930-7E2F-4741-B02F-4F55193CD204}"/>
              </a:ext>
            </a:extLst>
          </p:cNvPr>
          <p:cNvSpPr>
            <a:spLocks xmlns:a="http://schemas.openxmlformats.org/drawingml/2006/main" noGrp="1"/>
          </p:cNvSpPr>
          <p:nvPr/>
        </p:nvSpPr>
        <p:spPr>
          <a:xfrm xmlns:a="http://schemas.openxmlformats.org/drawingml/2006/main">
            <a:off x="16383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CFF302EB-8F7B-4E7E-86B7-038D34301059}"/>
              </a:ext>
            </a:extLst>
          </p:cNvPr>
          <p:cNvSpPr>
            <a:spLocks xmlns:a="http://schemas.openxmlformats.org/drawingml/2006/main" noGrp="1"/>
          </p:cNvSpPr>
          <p:nvPr/>
        </p:nvSpPr>
        <p:spPr>
          <a:xfrm xmlns:a="http://schemas.openxmlformats.org/drawingml/2006/main">
            <a:off x="1943100"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Function name</a:t>
            </a:r>
          </a:p>
        </p:txBody>
      </p:sp>
      <p:sp>
        <p:nvSpPr>
          <p:cNvPr id="14" name="part-body-0">
            <a:extLst xmlns:a="http://schemas.openxmlformats.org/drawingml/2006/main">
              <a:ext uri="{FF2B5EF4-FFF2-40B4-BE49-F238E27FC236}">
                <a16:creationId xmlns:a16="http://schemas.microsoft.com/office/drawing/2014/main" id="{FB2D7A1A-0845-456F-B073-200E4BC9E206}"/>
              </a:ext>
            </a:extLst>
          </p:cNvPr>
          <p:cNvSpPr>
            <a:spLocks xmlns:a="http://schemas.openxmlformats.org/drawingml/2006/main" noGrp="1"/>
          </p:cNvSpPr>
          <p:nvPr/>
        </p:nvSpPr>
        <p:spPr>
          <a:xfrm xmlns:a="http://schemas.openxmlformats.org/drawingml/2006/main">
            <a:off x="1638300" y="3390138"/>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A procedure Python already knows how to carry out.</a:t>
            </a:r>
          </a:p>
        </p:txBody>
      </p:sp>
      <p:sp>
        <p:nvSpPr>
          <p:cNvPr id="15" name="">
            <a:extLst xmlns:a="http://schemas.openxmlformats.org/drawingml/2006/main">
              <a:ext uri="{FF2B5EF4-FFF2-40B4-BE49-F238E27FC236}">
                <a16:creationId xmlns:a16="http://schemas.microsoft.com/office/drawing/2014/main" id="{124EC638-C4B4-406C-A24B-15DE7751FEE2}"/>
              </a:ext>
            </a:extLst>
          </p:cNvPr>
          <p:cNvSpPr>
            <a:spLocks xmlns:a="http://schemas.openxmlformats.org/drawingml/2006/main" noGrp="1"/>
          </p:cNvSpPr>
          <p:nvPr/>
        </p:nvSpPr>
        <p:spPr>
          <a:xfrm xmlns:a="http://schemas.openxmlformats.org/drawingml/2006/main">
            <a:off x="3371850" y="2647950"/>
            <a:ext cx="33528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C2E8E6C9-B486-48A6-AF15-AEFCCCE56142}"/>
              </a:ext>
            </a:extLst>
          </p:cNvPr>
          <p:cNvSpPr>
            <a:spLocks xmlns:a="http://schemas.openxmlformats.org/drawingml/2006/main" noGrp="1"/>
          </p:cNvSpPr>
          <p:nvPr/>
        </p:nvSpPr>
        <p:spPr>
          <a:xfrm xmlns:a="http://schemas.openxmlformats.org/drawingml/2006/main">
            <a:off x="492442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7A63AF67-CC77-49DB-A47B-B53F43AD8F85}"/>
              </a:ext>
            </a:extLst>
          </p:cNvPr>
          <p:cNvSpPr>
            <a:spLocks xmlns:a="http://schemas.openxmlformats.org/drawingml/2006/main" noGrp="1"/>
          </p:cNvSpPr>
          <p:nvPr/>
        </p:nvSpPr>
        <p:spPr>
          <a:xfrm xmlns:a="http://schemas.openxmlformats.org/drawingml/2006/main">
            <a:off x="492442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447155EA-01E2-4ADD-978D-405282EB94F7}"/>
              </a:ext>
            </a:extLst>
          </p:cNvPr>
          <p:cNvSpPr>
            <a:spLocks xmlns:a="http://schemas.openxmlformats.org/drawingml/2006/main" noGrp="1"/>
          </p:cNvSpPr>
          <p:nvPr/>
        </p:nvSpPr>
        <p:spPr>
          <a:xfrm xmlns:a="http://schemas.openxmlformats.org/drawingml/2006/main">
            <a:off x="404812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87976478-E978-471D-B7C3-8C7089F19614}"/>
              </a:ext>
            </a:extLst>
          </p:cNvPr>
          <p:cNvSpPr>
            <a:spLocks xmlns:a="http://schemas.openxmlformats.org/drawingml/2006/main" noGrp="1"/>
          </p:cNvSpPr>
          <p:nvPr/>
        </p:nvSpPr>
        <p:spPr>
          <a:xfrm xmlns:a="http://schemas.openxmlformats.org/drawingml/2006/main">
            <a:off x="404812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2EB1D327-A01B-45D3-9898-F99C3D77CA69}"/>
              </a:ext>
            </a:extLst>
          </p:cNvPr>
          <p:cNvSpPr>
            <a:spLocks xmlns:a="http://schemas.openxmlformats.org/drawingml/2006/main" noGrp="1"/>
          </p:cNvSpPr>
          <p:nvPr/>
        </p:nvSpPr>
        <p:spPr>
          <a:xfrm xmlns:a="http://schemas.openxmlformats.org/drawingml/2006/main">
            <a:off x="4352925"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argument</a:t>
            </a:r>
          </a:p>
        </p:txBody>
      </p:sp>
      <p:sp>
        <p:nvSpPr>
          <p:cNvPr id="21" name="part-body-1">
            <a:extLst xmlns:a="http://schemas.openxmlformats.org/drawingml/2006/main">
              <a:ext uri="{FF2B5EF4-FFF2-40B4-BE49-F238E27FC236}">
                <a16:creationId xmlns:a16="http://schemas.microsoft.com/office/drawing/2014/main" id="{3700C3FE-EC31-48D3-9B04-0B4C0CA0D081}"/>
              </a:ext>
            </a:extLst>
          </p:cNvPr>
          <p:cNvSpPr>
            <a:spLocks xmlns:a="http://schemas.openxmlformats.org/drawingml/2006/main" noGrp="1"/>
          </p:cNvSpPr>
          <p:nvPr/>
        </p:nvSpPr>
        <p:spPr>
          <a:xfrm xmlns:a="http://schemas.openxmlformats.org/drawingml/2006/main">
            <a:off x="4048125" y="3390138"/>
            <a:ext cx="2000250" cy="58750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The one value handed in: a text literal, quotes included.</a:t>
            </a:r>
          </a:p>
        </p:txBody>
      </p:sp>
      <p:sp>
        <p:nvSpPr>
          <p:cNvPr id="22" name="">
            <a:extLst xmlns:a="http://schemas.openxmlformats.org/drawingml/2006/main">
              <a:ext uri="{FF2B5EF4-FFF2-40B4-BE49-F238E27FC236}">
                <a16:creationId xmlns:a16="http://schemas.microsoft.com/office/drawing/2014/main" id="{EE876C87-4BDB-48E8-9B88-C23063E7EB71}"/>
              </a:ext>
            </a:extLst>
          </p:cNvPr>
          <p:cNvSpPr>
            <a:spLocks xmlns:a="http://schemas.openxmlformats.org/drawingml/2006/main" noGrp="1"/>
          </p:cNvSpPr>
          <p:nvPr/>
        </p:nvSpPr>
        <p:spPr>
          <a:xfrm xmlns:a="http://schemas.openxmlformats.org/drawingml/2006/main">
            <a:off x="7353300" y="2647950"/>
            <a:ext cx="2095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BB514BE8-192F-4DE3-B02F-DFFE97F5D589}"/>
              </a:ext>
            </a:extLst>
          </p:cNvPr>
          <p:cNvSpPr>
            <a:spLocks xmlns:a="http://schemas.openxmlformats.org/drawingml/2006/main" noGrp="1"/>
          </p:cNvSpPr>
          <p:nvPr/>
        </p:nvSpPr>
        <p:spPr>
          <a:xfrm xmlns:a="http://schemas.openxmlformats.org/drawingml/2006/main">
            <a:off x="73342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09A043AF-BF00-42D0-8383-24AFE86E14D0}"/>
              </a:ext>
            </a:extLst>
          </p:cNvPr>
          <p:cNvSpPr>
            <a:spLocks xmlns:a="http://schemas.openxmlformats.org/drawingml/2006/main" noGrp="1"/>
          </p:cNvSpPr>
          <p:nvPr/>
        </p:nvSpPr>
        <p:spPr>
          <a:xfrm xmlns:a="http://schemas.openxmlformats.org/drawingml/2006/main">
            <a:off x="73342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53CC069C-741B-4870-9D8A-7AF09A369DAC}"/>
              </a:ext>
            </a:extLst>
          </p:cNvPr>
          <p:cNvSpPr>
            <a:spLocks xmlns:a="http://schemas.openxmlformats.org/drawingml/2006/main" noGrp="1"/>
          </p:cNvSpPr>
          <p:nvPr/>
        </p:nvSpPr>
        <p:spPr>
          <a:xfrm xmlns:a="http://schemas.openxmlformats.org/drawingml/2006/main">
            <a:off x="64579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F5412219-FCD7-447D-97B5-943891876BA5}"/>
              </a:ext>
            </a:extLst>
          </p:cNvPr>
          <p:cNvSpPr>
            <a:spLocks xmlns:a="http://schemas.openxmlformats.org/drawingml/2006/main" noGrp="1"/>
          </p:cNvSpPr>
          <p:nvPr/>
        </p:nvSpPr>
        <p:spPr>
          <a:xfrm xmlns:a="http://schemas.openxmlformats.org/drawingml/2006/main">
            <a:off x="64579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9739EED5-43D3-4AB0-813C-3EA0F3BBE0F2}"/>
              </a:ext>
            </a:extLst>
          </p:cNvPr>
          <p:cNvSpPr>
            <a:spLocks xmlns:a="http://schemas.openxmlformats.org/drawingml/2006/main" noGrp="1"/>
          </p:cNvSpPr>
          <p:nvPr/>
        </p:nvSpPr>
        <p:spPr>
          <a:xfrm xmlns:a="http://schemas.openxmlformats.org/drawingml/2006/main">
            <a:off x="676275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Comment marker</a:t>
            </a:r>
          </a:p>
        </p:txBody>
      </p:sp>
      <p:sp>
        <p:nvSpPr>
          <p:cNvPr id="28" name="part-body-2">
            <a:extLst xmlns:a="http://schemas.openxmlformats.org/drawingml/2006/main">
              <a:ext uri="{FF2B5EF4-FFF2-40B4-BE49-F238E27FC236}">
                <a16:creationId xmlns:a16="http://schemas.microsoft.com/office/drawing/2014/main" id="{B218AB4B-5CEC-41B0-B546-D6911E706D73}"/>
              </a:ext>
            </a:extLst>
          </p:cNvPr>
          <p:cNvSpPr>
            <a:spLocks xmlns:a="http://schemas.openxmlformats.org/drawingml/2006/main" noGrp="1"/>
          </p:cNvSpPr>
          <p:nvPr/>
        </p:nvSpPr>
        <p:spPr>
          <a:xfrm xmlns:a="http://schemas.openxmlformats.org/drawingml/2006/main">
            <a:off x="6457950"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Everything after it on this line is ignored by Python.</a:t>
            </a:r>
          </a:p>
        </p:txBody>
      </p:sp>
      <p:sp>
        <p:nvSpPr>
          <p:cNvPr id="29" name="">
            <a:extLst xmlns:a="http://schemas.openxmlformats.org/drawingml/2006/main">
              <a:ext uri="{FF2B5EF4-FFF2-40B4-BE49-F238E27FC236}">
                <a16:creationId xmlns:a16="http://schemas.microsoft.com/office/drawing/2014/main" id="{D76AC268-7D39-4CED-AFFB-F8FBD1709141}"/>
              </a:ext>
            </a:extLst>
          </p:cNvPr>
          <p:cNvSpPr>
            <a:spLocks xmlns:a="http://schemas.openxmlformats.org/drawingml/2006/main" noGrp="1"/>
          </p:cNvSpPr>
          <p:nvPr/>
        </p:nvSpPr>
        <p:spPr>
          <a:xfrm xmlns:a="http://schemas.openxmlformats.org/drawingml/2006/main">
            <a:off x="7772400" y="2647950"/>
            <a:ext cx="23050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7BE4C85D-7578-4E1A-A7A8-BC8CF8C8AA10}"/>
              </a:ext>
            </a:extLst>
          </p:cNvPr>
          <p:cNvSpPr>
            <a:spLocks xmlns:a="http://schemas.openxmlformats.org/drawingml/2006/main" noGrp="1"/>
          </p:cNvSpPr>
          <p:nvPr/>
        </p:nvSpPr>
        <p:spPr>
          <a:xfrm xmlns:a="http://schemas.openxmlformats.org/drawingml/2006/main">
            <a:off x="88011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23F4C7AF-DC86-486B-BCA3-9451A7C2F9B1}"/>
              </a:ext>
            </a:extLst>
          </p:cNvPr>
          <p:cNvSpPr>
            <a:spLocks xmlns:a="http://schemas.openxmlformats.org/drawingml/2006/main" noGrp="1"/>
          </p:cNvSpPr>
          <p:nvPr/>
        </p:nvSpPr>
        <p:spPr>
          <a:xfrm xmlns:a="http://schemas.openxmlformats.org/drawingml/2006/main">
            <a:off x="88011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F1A6A64D-B8AE-44FD-B013-19E0AF56E56A}"/>
              </a:ext>
            </a:extLst>
          </p:cNvPr>
          <p:cNvSpPr>
            <a:spLocks xmlns:a="http://schemas.openxmlformats.org/drawingml/2006/main" noGrp="1"/>
          </p:cNvSpPr>
          <p:nvPr/>
        </p:nvSpPr>
        <p:spPr>
          <a:xfrm xmlns:a="http://schemas.openxmlformats.org/drawingml/2006/main">
            <a:off x="792480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53FA4B30-C57C-4F18-A481-E65D07DB09BA}"/>
              </a:ext>
            </a:extLst>
          </p:cNvPr>
          <p:cNvSpPr>
            <a:spLocks xmlns:a="http://schemas.openxmlformats.org/drawingml/2006/main" noGrp="1"/>
          </p:cNvSpPr>
          <p:nvPr/>
        </p:nvSpPr>
        <p:spPr>
          <a:xfrm xmlns:a="http://schemas.openxmlformats.org/drawingml/2006/main">
            <a:off x="792480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6E550D23-478D-4B21-ACD8-A425E9E623E9}"/>
              </a:ext>
            </a:extLst>
          </p:cNvPr>
          <p:cNvSpPr>
            <a:spLocks xmlns:a="http://schemas.openxmlformats.org/drawingml/2006/main" noGrp="1"/>
          </p:cNvSpPr>
          <p:nvPr/>
        </p:nvSpPr>
        <p:spPr>
          <a:xfrm xmlns:a="http://schemas.openxmlformats.org/drawingml/2006/main">
            <a:off x="8229600" y="4123944"/>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For the reader</a:t>
            </a:r>
          </a:p>
        </p:txBody>
      </p:sp>
      <p:sp>
        <p:nvSpPr>
          <p:cNvPr id="35" name="part-body-3">
            <a:extLst xmlns:a="http://schemas.openxmlformats.org/drawingml/2006/main">
              <a:ext uri="{FF2B5EF4-FFF2-40B4-BE49-F238E27FC236}">
                <a16:creationId xmlns:a16="http://schemas.microsoft.com/office/drawing/2014/main" id="{EE9F87CA-7AEC-4A9D-B309-B3227B2A09CF}"/>
              </a:ext>
            </a:extLst>
          </p:cNvPr>
          <p:cNvSpPr>
            <a:spLocks xmlns:a="http://schemas.openxmlformats.org/drawingml/2006/main" noGrp="1"/>
          </p:cNvSpPr>
          <p:nvPr/>
        </p:nvSpPr>
        <p:spPr>
          <a:xfrm xmlns:a="http://schemas.openxmlformats.org/drawingml/2006/main">
            <a:off x="7924800" y="4751070"/>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Says why the line exists. It is never executed.</a:t>
            </a:r>
          </a:p>
        </p:txBody>
      </p:sp>
    </p:spTree>
    <p:extLst>
      <p:ext uri="{BB962C8B-B14F-4D97-AF65-F5344CB8AC3E}">
        <p14:creationId xmlns:p14="http://schemas.microsoft.com/office/powerpoint/2010/main" val="205362353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04C4DA39-1458-4282-80D7-4FBCE81AE39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FA1DB9AC-E795-45B8-9653-202228B1CD3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Comments preserve intent and assumptions</a:t>
            </a:r>
          </a:p>
        </p:txBody>
      </p:sp>
      <p:sp>
        <p:nvSpPr>
          <p:cNvPr id="3" name="">
            <a:extLst xmlns:a="http://schemas.openxmlformats.org/drawingml/2006/main">
              <a:ext uri="{FF2B5EF4-FFF2-40B4-BE49-F238E27FC236}">
                <a16:creationId xmlns:a16="http://schemas.microsoft.com/office/drawing/2014/main" id="{E41C1601-E0F0-4F3C-AF38-79098850096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73829A3E-BB84-4B3C-8095-A893AEF504F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95C0AA91-5A98-48F8-8C15-656D8A49406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19</a:t>
            </a:r>
          </a:p>
        </p:txBody>
      </p:sp>
      <p:sp>
        <p:nvSpPr>
          <p:cNvPr id="6" name="code-panel">
            <a:extLst xmlns:a="http://schemas.openxmlformats.org/drawingml/2006/main">
              <a:ext uri="{FF2B5EF4-FFF2-40B4-BE49-F238E27FC236}">
                <a16:creationId xmlns:a16="http://schemas.microsoft.com/office/drawing/2014/main" id="{69ADB57E-EB82-455C-91F6-FBB975CAF359}"/>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89D399A-7198-4DAB-9AE5-05DFFC7E5A72}"/>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Room dimensions are in meters</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length_m = 6</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width_m = 4</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 Rectangular net floor area</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print(length_m * width_m)</a:t>
            </a:r>
          </a:p>
        </p:txBody>
      </p:sp>
      <p:sp>
        <p:nvSpPr>
          <p:cNvPr id="8" name="">
            <a:extLst xmlns:a="http://schemas.openxmlformats.org/drawingml/2006/main">
              <a:ext uri="{FF2B5EF4-FFF2-40B4-BE49-F238E27FC236}">
                <a16:creationId xmlns:a16="http://schemas.microsoft.com/office/drawing/2014/main" id="{0C5447DA-9C3B-41B8-B549-57C8FB10F1BC}"/>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5F9C2A4C-2EC0-4FF2-92B7-262BC5C7617E}"/>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2415E357-BF16-4645-89C8-521B7B97CBAC}"/>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24</a:t>
            </a:r>
          </a:p>
        </p:txBody>
      </p:sp>
      <p:sp>
        <p:nvSpPr>
          <p:cNvPr id="11" name="explain-head">
            <a:extLst xmlns:a="http://schemas.openxmlformats.org/drawingml/2006/main">
              <a:ext uri="{FF2B5EF4-FFF2-40B4-BE49-F238E27FC236}">
                <a16:creationId xmlns:a16="http://schemas.microsoft.com/office/drawing/2014/main" id="{634C6AAA-1FED-44F9-B83F-53E6A6A54D91}"/>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Comments carry meaning</a:t>
            </a:r>
          </a:p>
        </p:txBody>
      </p:sp>
      <p:sp>
        <p:nvSpPr>
          <p:cNvPr id="12" name="explain-body">
            <a:extLst xmlns:a="http://schemas.openxmlformats.org/drawingml/2006/main">
              <a:ext uri="{FF2B5EF4-FFF2-40B4-BE49-F238E27FC236}">
                <a16:creationId xmlns:a16="http://schemas.microsoft.com/office/drawing/2014/main" id="{A022A31C-FBB0-425B-BE67-B6519518675B}"/>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 comment begins with # and is ignored during execution. Useful comments record units, assumptions, reasoning, or a non-obvious choice—not punctuation already visible in the code.</a:t>
            </a:r>
          </a:p>
        </p:txBody>
      </p:sp>
    </p:spTree>
    <p:extLst>
      <p:ext uri="{BB962C8B-B14F-4D97-AF65-F5344CB8AC3E}">
        <p14:creationId xmlns:p14="http://schemas.microsoft.com/office/powerpoint/2010/main" val="108666395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8EA54F2C-347A-4B47-AC87-6BDA1D0DBBF6}"/>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D6F6141A-A433-4A3C-8ADD-FF1DA20B43E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Whole numbers in does not mean a whole number out</a:t>
            </a:r>
          </a:p>
        </p:txBody>
      </p:sp>
      <p:sp>
        <p:nvSpPr>
          <p:cNvPr id="3" name="">
            <a:extLst xmlns:a="http://schemas.openxmlformats.org/drawingml/2006/main">
              <a:ext uri="{FF2B5EF4-FFF2-40B4-BE49-F238E27FC236}">
                <a16:creationId xmlns:a16="http://schemas.microsoft.com/office/drawing/2014/main" id="{50459924-CDBD-4936-9F03-F37FB60E1BD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8F8A229-F542-457E-BA18-9F07E9BEE7F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DB1E4829-1E31-4CF2-9FAB-07D35211F548}"/>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20</a:t>
            </a:r>
          </a:p>
        </p:txBody>
      </p:sp>
      <p:sp>
        <p:nvSpPr>
          <p:cNvPr id="6" name="code-panel">
            <a:extLst xmlns:a="http://schemas.openxmlformats.org/drawingml/2006/main">
              <a:ext uri="{FF2B5EF4-FFF2-40B4-BE49-F238E27FC236}">
                <a16:creationId xmlns:a16="http://schemas.microsoft.com/office/drawing/2014/main" id="{63C0F2A9-C8B1-43D5-848A-435EE407D41C}"/>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7908B629-7642-4CD5-BB30-CBB9417BE4D7}"/>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bay_count = 12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levels = 3</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print(bay_count / levels)</a:t>
            </a:r>
          </a:p>
        </p:txBody>
      </p:sp>
      <p:sp>
        <p:nvSpPr>
          <p:cNvPr id="8" name="question">
            <a:extLst xmlns:a="http://schemas.openxmlformats.org/drawingml/2006/main">
              <a:ext uri="{FF2B5EF4-FFF2-40B4-BE49-F238E27FC236}">
                <a16:creationId xmlns:a16="http://schemas.microsoft.com/office/drawing/2014/main" id="{AEFE7E7B-4A84-421C-9418-F0C88C542D1F}"/>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appears in the console?</a:t>
            </a:r>
          </a:p>
        </p:txBody>
      </p:sp>
      <p:sp>
        <p:nvSpPr>
          <p:cNvPr id="9" name="opt-0">
            <a:extLst xmlns:a="http://schemas.openxmlformats.org/drawingml/2006/main">
              <a:ext uri="{FF2B5EF4-FFF2-40B4-BE49-F238E27FC236}">
                <a16:creationId xmlns:a16="http://schemas.microsoft.com/office/drawing/2014/main" id="{AD9A4C58-3F0D-472D-9F2F-98E61EBEE207}"/>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08055298-E72C-4614-BB28-8203CC1348EE}"/>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AB270289-40AB-424E-A622-6C1E4368A805}"/>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4</a:t>
            </a:r>
          </a:p>
        </p:txBody>
      </p:sp>
      <p:sp>
        <p:nvSpPr>
          <p:cNvPr id="12" name="opt-1">
            <a:extLst xmlns:a="http://schemas.openxmlformats.org/drawingml/2006/main">
              <a:ext uri="{FF2B5EF4-FFF2-40B4-BE49-F238E27FC236}">
                <a16:creationId xmlns:a16="http://schemas.microsoft.com/office/drawing/2014/main" id="{6B538614-6C1E-4D0C-A710-91BB66824A20}"/>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FC7EAB70-6B79-4809-9D65-18F9E871B8F2}"/>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8C71203D-ABA8-4039-9E06-AA0FB46F644A}"/>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4.0</a:t>
            </a:r>
          </a:p>
        </p:txBody>
      </p:sp>
      <p:sp>
        <p:nvSpPr>
          <p:cNvPr id="15" name="opt-2">
            <a:extLst xmlns:a="http://schemas.openxmlformats.org/drawingml/2006/main">
              <a:ext uri="{FF2B5EF4-FFF2-40B4-BE49-F238E27FC236}">
                <a16:creationId xmlns:a16="http://schemas.microsoft.com/office/drawing/2014/main" id="{577891ED-D55F-43BC-AE6E-25E5D88DBAD4}"/>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64485B67-59C0-4430-AB1F-FDB376A04A12}"/>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8789325B-3C9D-4456-AB66-C4D935B87651}"/>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4.00</a:t>
            </a:r>
          </a:p>
        </p:txBody>
      </p:sp>
      <p:sp>
        <p:nvSpPr>
          <p:cNvPr id="18" name="opt-3">
            <a:extLst xmlns:a="http://schemas.openxmlformats.org/drawingml/2006/main">
              <a:ext uri="{FF2B5EF4-FFF2-40B4-BE49-F238E27FC236}">
                <a16:creationId xmlns:a16="http://schemas.microsoft.com/office/drawing/2014/main" id="{4908F42D-FC08-4C0E-A6D6-C9244131CE4A}"/>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50F81778-C9AA-4EDE-BC21-6082A688F1A3}"/>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5719EF01-77F1-4DDB-A9E7-B6E853DB815E}"/>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0.25</a:t>
            </a:r>
          </a:p>
        </p:txBody>
      </p:sp>
      <p:sp>
        <p:nvSpPr>
          <p:cNvPr id="21" name="answer-panel">
            <a:extLst xmlns:a="http://schemas.openxmlformats.org/drawingml/2006/main">
              <a:ext uri="{FF2B5EF4-FFF2-40B4-BE49-F238E27FC236}">
                <a16:creationId xmlns:a16="http://schemas.microsoft.com/office/drawing/2014/main" id="{6E92BF51-0449-4CFC-88E3-CD4E9135717E}"/>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AE3E16D1-966D-420C-B642-CAC468E10CA5}"/>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8E836FBE-6DDA-4999-AE3D-03CA1D77BF16}"/>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Division always returns a decimal in Python, even when it divides evenly. 4 would be right in many languages.</a:t>
            </a:r>
          </a:p>
        </p:txBody>
      </p:sp>
    </p:spTree>
    <p:extLst>
      <p:ext uri="{BB962C8B-B14F-4D97-AF65-F5344CB8AC3E}">
        <p14:creationId xmlns:p14="http://schemas.microsoft.com/office/powerpoint/2010/main" val="1534578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6122D86A-950F-477D-BBB2-3616B96A4E3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9721DA2E-E77E-4B25-9DFC-FBC10A1CC20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Expressions combine values with operators</a:t>
            </a:r>
          </a:p>
        </p:txBody>
      </p:sp>
      <p:sp>
        <p:nvSpPr>
          <p:cNvPr id="3" name="">
            <a:extLst xmlns:a="http://schemas.openxmlformats.org/drawingml/2006/main">
              <a:ext uri="{FF2B5EF4-FFF2-40B4-BE49-F238E27FC236}">
                <a16:creationId xmlns:a16="http://schemas.microsoft.com/office/drawing/2014/main" id="{F4BF49F4-4579-488E-AE09-174D26FE344B}"/>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5BD351E-06AD-46EC-A31B-978BED1D9B3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09A2A252-73DC-4390-86D8-2886CD4CF30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21</a:t>
            </a:r>
          </a:p>
        </p:txBody>
      </p:sp>
      <p:sp>
        <p:nvSpPr>
          <p:cNvPr id="6" name="code-panel">
            <a:extLst xmlns:a="http://schemas.openxmlformats.org/drawingml/2006/main">
              <a:ext uri="{FF2B5EF4-FFF2-40B4-BE49-F238E27FC236}">
                <a16:creationId xmlns:a16="http://schemas.microsoft.com/office/drawing/2014/main" id="{DF740CB0-AC9C-4DF7-8960-A2915D52A1C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60B7A28-DC13-4350-BCC6-04433A17D024}"/>
              </a:ext>
            </a:extLst>
          </p:cNvPr>
          <p:cNvSpPr>
            <a:spLocks xmlns:a="http://schemas.openxmlformats.org/drawingml/2006/main" noGrp="1"/>
          </p:cNvSpPr>
          <p:nvPr/>
        </p:nvSpPr>
        <p:spPr>
          <a:xfrm xmlns:a="http://schemas.openxmlformats.org/drawingml/2006/main">
            <a:off x="857250" y="2057400"/>
            <a:ext cx="6400800" cy="3771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2 + 3      # addition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7 - 2      # subtraction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4 * 5      # multiplication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12 / 3     # division</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2 ** 3     # exponentiation</a:t>
            </a:r>
          </a:p>
        </p:txBody>
      </p:sp>
      <p:sp>
        <p:nvSpPr>
          <p:cNvPr id="8" name="explain-head">
            <a:extLst xmlns:a="http://schemas.openxmlformats.org/drawingml/2006/main">
              <a:ext uri="{FF2B5EF4-FFF2-40B4-BE49-F238E27FC236}">
                <a16:creationId xmlns:a16="http://schemas.microsoft.com/office/drawing/2014/main" id="{963E5479-4220-434B-AF04-4FD7431A11CD}"/>
              </a:ext>
            </a:extLst>
          </p:cNvPr>
          <p:cNvSpPr>
            <a:spLocks xmlns:a="http://schemas.openxmlformats.org/drawingml/2006/main" noGrp="1"/>
          </p:cNvSpPr>
          <p:nvPr/>
        </p:nvSpPr>
        <p:spPr>
          <a:xfrm xmlns:a="http://schemas.openxmlformats.org/drawingml/2006/main">
            <a:off x="7886700" y="2686050"/>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An expression becomes a value</a:t>
            </a:r>
          </a:p>
        </p:txBody>
      </p:sp>
      <p:sp>
        <p:nvSpPr>
          <p:cNvPr id="9" name="explain-body">
            <a:extLst xmlns:a="http://schemas.openxmlformats.org/drawingml/2006/main">
              <a:ext uri="{FF2B5EF4-FFF2-40B4-BE49-F238E27FC236}">
                <a16:creationId xmlns:a16="http://schemas.microsoft.com/office/drawing/2014/main" id="{5A085D1E-4CB4-4035-A217-528509F2D0F2}"/>
              </a:ext>
            </a:extLst>
          </p:cNvPr>
          <p:cNvSpPr>
            <a:spLocks xmlns:a="http://schemas.openxmlformats.org/drawingml/2006/main" noGrp="1"/>
          </p:cNvSpPr>
          <p:nvPr/>
        </p:nvSpPr>
        <p:spPr>
          <a:xfrm xmlns:a="http://schemas.openxmlformats.org/drawingml/2006/main">
            <a:off x="7886700" y="3471672"/>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Operators state the operation. The result can be printed, assigned to a name, compared, or used inside a larger expression. Parentheses make intended grouping visible.</a:t>
            </a:r>
          </a:p>
        </p:txBody>
      </p:sp>
    </p:spTree>
    <p:extLst>
      <p:ext uri="{BB962C8B-B14F-4D97-AF65-F5344CB8AC3E}">
        <p14:creationId xmlns:p14="http://schemas.microsoft.com/office/powerpoint/2010/main" val="206817342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08D16B4-6160-4856-903D-22BF77751C37}"/>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6B87AA53-ED97-4564-B29C-B53CDDA66F2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Values have types before they have names</a:t>
            </a:r>
          </a:p>
        </p:txBody>
      </p:sp>
      <p:sp>
        <p:nvSpPr>
          <p:cNvPr id="3" name="">
            <a:extLst xmlns:a="http://schemas.openxmlformats.org/drawingml/2006/main">
              <a:ext uri="{FF2B5EF4-FFF2-40B4-BE49-F238E27FC236}">
                <a16:creationId xmlns:a16="http://schemas.microsoft.com/office/drawing/2014/main" id="{EB568E6F-6A68-48FC-B41F-05F1E2408B5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4A189F7C-B4AC-4939-A13F-292F35247858}"/>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82CB2978-6569-4D43-9A08-5BE1E9B1EF7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22</a:t>
            </a:r>
          </a:p>
        </p:txBody>
      </p:sp>
      <p:sp>
        <p:nvSpPr>
          <p:cNvPr id="6" name="term-label">
            <a:extLst xmlns:a="http://schemas.openxmlformats.org/drawingml/2006/main">
              <a:ext uri="{FF2B5EF4-FFF2-40B4-BE49-F238E27FC236}">
                <a16:creationId xmlns:a16="http://schemas.microsoft.com/office/drawing/2014/main" id="{66C7B618-6174-49DB-8834-B512A2CCA2F9}"/>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0973F341-909D-4E2F-990D-34962D2AEADC}"/>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type</a:t>
            </a:r>
          </a:p>
        </p:txBody>
      </p:sp>
      <p:sp>
        <p:nvSpPr>
          <p:cNvPr id="8" name="">
            <a:extLst xmlns:a="http://schemas.openxmlformats.org/drawingml/2006/main">
              <a:ext uri="{FF2B5EF4-FFF2-40B4-BE49-F238E27FC236}">
                <a16:creationId xmlns:a16="http://schemas.microsoft.com/office/drawing/2014/main" id="{686B4344-63A2-4542-9491-631BBAB439FB}"/>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CAAA60DC-29E1-48D8-A792-A8BFCFC566F8}"/>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The category a value belongs to, which decides what you are allowed to do with it. Numbers calculate, text labels, and Booleans record a yes-or-no condition. Python assigns a type the moment a value is written, before any name is attached to it.</a:t>
            </a:r>
          </a:p>
        </p:txBody>
      </p:sp>
      <p:sp>
        <p:nvSpPr>
          <p:cNvPr id="10" name="example-panel">
            <a:extLst xmlns:a="http://schemas.openxmlformats.org/drawingml/2006/main">
              <a:ext uri="{FF2B5EF4-FFF2-40B4-BE49-F238E27FC236}">
                <a16:creationId xmlns:a16="http://schemas.microsoft.com/office/drawing/2014/main" id="{0323D7DD-B2EC-4EA8-B4D5-6A6EC44E924B}"/>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BC339361-7DA7-47CD-ABAA-15D89A4D390D}"/>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FOUR BEGINNER TYPES</a:t>
            </a:r>
          </a:p>
        </p:txBody>
      </p:sp>
      <p:sp>
        <p:nvSpPr>
          <p:cNvPr id="12" name="example-head">
            <a:extLst xmlns:a="http://schemas.openxmlformats.org/drawingml/2006/main">
              <a:ext uri="{FF2B5EF4-FFF2-40B4-BE49-F238E27FC236}">
                <a16:creationId xmlns:a16="http://schemas.microsoft.com/office/drawing/2014/main" id="{3D71BFD8-ED06-4955-9CB0-A3A2DBC53CA0}"/>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42   3.5   'studio'   True</a:t>
            </a:r>
          </a:p>
        </p:txBody>
      </p:sp>
      <p:sp>
        <p:nvSpPr>
          <p:cNvPr id="13" name="example-body">
            <a:extLst xmlns:a="http://schemas.openxmlformats.org/drawingml/2006/main">
              <a:ext uri="{FF2B5EF4-FFF2-40B4-BE49-F238E27FC236}">
                <a16:creationId xmlns:a16="http://schemas.microsoft.com/office/drawing/2014/main" id="{7A97E229-B9D4-47B8-A14D-92F0F8FF86EC}"/>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42 is a whole number, 3.5 a decimal number, 'studio' text, and True a Boolean.</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All four are literals: values written directly into the script rather than calculated from something else.</a:t>
            </a:r>
          </a:p>
        </p:txBody>
      </p:sp>
      <p:sp>
        <p:nvSpPr>
          <p:cNvPr id="14" name="note-bar">
            <a:extLst xmlns:a="http://schemas.openxmlformats.org/drawingml/2006/main">
              <a:ext uri="{FF2B5EF4-FFF2-40B4-BE49-F238E27FC236}">
                <a16:creationId xmlns:a16="http://schemas.microsoft.com/office/drawing/2014/main" id="{38A6C960-EC60-43CB-BF4A-5B7B6BA8F091}"/>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0D868FAD-C76B-41E6-8A1E-527327AD13CB}"/>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203EE23A-E883-43EC-A9F0-117F45CABCC5}"/>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4 and '4' differ by two quotation marks and behave completely differently — one is a number, the other is text. Week 2 introduces a way to ask Python which one it holds.</a:t>
            </a:r>
          </a:p>
        </p:txBody>
      </p:sp>
    </p:spTree>
    <p:extLst>
      <p:ext uri="{BB962C8B-B14F-4D97-AF65-F5344CB8AC3E}">
        <p14:creationId xmlns:p14="http://schemas.microsoft.com/office/powerpoint/2010/main" val="81976898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E1D90767-127B-45DE-9ADD-10393772F1B3}"/>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VOCABULARY</a:t>
            </a:r>
          </a:p>
        </p:txBody>
      </p:sp>
      <p:sp>
        <p:nvSpPr>
          <p:cNvPr id="2" name="title">
            <a:extLst xmlns:a="http://schemas.openxmlformats.org/drawingml/2006/main">
              <a:ext uri="{FF2B5EF4-FFF2-40B4-BE49-F238E27FC236}">
                <a16:creationId xmlns:a16="http://schemas.microsoft.com/office/drawing/2014/main" id="{496C21D7-AD38-40F3-A84B-BCF1D72EB8C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 variable gives a value a meaningful name</a:t>
            </a:r>
          </a:p>
        </p:txBody>
      </p:sp>
      <p:sp>
        <p:nvSpPr>
          <p:cNvPr id="3" name="">
            <a:extLst xmlns:a="http://schemas.openxmlformats.org/drawingml/2006/main">
              <a:ext uri="{FF2B5EF4-FFF2-40B4-BE49-F238E27FC236}">
                <a16:creationId xmlns:a16="http://schemas.microsoft.com/office/drawing/2014/main" id="{3466D872-9AC0-4FBD-BBF5-BB02C8A3E00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2B22303-66E2-4A8C-8B33-6063654A6186}"/>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25C5C739-5618-424F-B283-0CAE22700D3E}"/>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23</a:t>
            </a:r>
          </a:p>
        </p:txBody>
      </p:sp>
      <p:sp>
        <p:nvSpPr>
          <p:cNvPr id="6" name="term-label">
            <a:extLst xmlns:a="http://schemas.openxmlformats.org/drawingml/2006/main">
              <a:ext uri="{FF2B5EF4-FFF2-40B4-BE49-F238E27FC236}">
                <a16:creationId xmlns:a16="http://schemas.microsoft.com/office/drawing/2014/main" id="{A7F071D1-8F71-4353-B39C-BB333836DCA0}"/>
              </a:ext>
            </a:extLst>
          </p:cNvPr>
          <p:cNvSpPr>
            <a:spLocks xmlns:a="http://schemas.openxmlformats.org/drawingml/2006/main" noGrp="1"/>
          </p:cNvSpPr>
          <p:nvPr/>
        </p:nvSpPr>
        <p:spPr>
          <a:xfrm xmlns:a="http://schemas.openxmlformats.org/drawingml/2006/main">
            <a:off x="609600" y="1809750"/>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TERM</a:t>
            </a:r>
          </a:p>
        </p:txBody>
      </p:sp>
      <p:sp>
        <p:nvSpPr>
          <p:cNvPr id="7" name="term">
            <a:extLst xmlns:a="http://schemas.openxmlformats.org/drawingml/2006/main">
              <a:ext uri="{FF2B5EF4-FFF2-40B4-BE49-F238E27FC236}">
                <a16:creationId xmlns:a16="http://schemas.microsoft.com/office/drawing/2014/main" id="{AB649220-C7A1-4037-AC74-5E13196CB598}"/>
              </a:ext>
            </a:extLst>
          </p:cNvPr>
          <p:cNvSpPr>
            <a:spLocks xmlns:a="http://schemas.openxmlformats.org/drawingml/2006/main" noGrp="1"/>
          </p:cNvSpPr>
          <p:nvPr/>
        </p:nvSpPr>
        <p:spPr>
          <a:xfrm xmlns:a="http://schemas.openxmlformats.org/drawingml/2006/main">
            <a:off x="609600" y="2057400"/>
            <a:ext cx="590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1">
                <a:solidFill>
                  <a:srgbClr val="111316"/>
                </a:solidFill>
                <a:latin typeface="Arial"/>
                <a:ea typeface="Arial"/>
                <a:cs typeface="Arial"/>
              </a:defRPr>
            </a:pPr>
            <a:r>
              <a:rPr sz="3000" b="1">
                <a:solidFill>
                  <a:srgbClr val="111316"/>
                </a:solidFill>
                <a:latin typeface="Arial"/>
                <a:ea typeface="Arial"/>
                <a:cs typeface="Arial"/>
              </a:rPr>
              <a:t>variable</a:t>
            </a:r>
          </a:p>
        </p:txBody>
      </p:sp>
      <p:sp>
        <p:nvSpPr>
          <p:cNvPr id="8" name="">
            <a:extLst xmlns:a="http://schemas.openxmlformats.org/drawingml/2006/main">
              <a:ext uri="{FF2B5EF4-FFF2-40B4-BE49-F238E27FC236}">
                <a16:creationId xmlns:a16="http://schemas.microsoft.com/office/drawing/2014/main" id="{5F7A5860-B6AD-4A6E-A29F-EC0A4F49AFE9}"/>
              </a:ext>
            </a:extLst>
          </p:cNvPr>
          <p:cNvSpPr>
            <a:spLocks xmlns:a="http://schemas.openxmlformats.org/drawingml/2006/main" noGrp="1"/>
          </p:cNvSpPr>
          <p:nvPr/>
        </p:nvSpPr>
        <p:spPr>
          <a:xfrm xmlns:a="http://schemas.openxmlformats.org/drawingml/2006/main">
            <a:off x="609600" y="2724150"/>
            <a:ext cx="1143000" cy="0"/>
          </a:xfrm>
          <a:prstGeom xmlns:a="http://schemas.openxmlformats.org/drawingml/2006/main" prst="line">
            <a:avLst/>
          </a:prstGeom>
          <a:noFill xmlns:a="http://schemas.openxmlformats.org/drawingml/2006/main"/>
          <a:ln xmlns:a="http://schemas.openxmlformats.org/drawingml/2006/main" w="38100">
            <a:solidFill>
              <a:srgbClr val="2E74B5"/>
            </a:solidFill>
            <a:prstDash val="solid"/>
          </a:ln>
        </p:spPr>
      </p:sp>
      <p:sp>
        <p:nvSpPr>
          <p:cNvPr id="9" name="definition">
            <a:extLst xmlns:a="http://schemas.openxmlformats.org/drawingml/2006/main">
              <a:ext uri="{FF2B5EF4-FFF2-40B4-BE49-F238E27FC236}">
                <a16:creationId xmlns:a16="http://schemas.microsoft.com/office/drawing/2014/main" id="{7F7B5DDC-0DE4-4A19-8FB3-DE3FA176D432}"/>
              </a:ext>
            </a:extLst>
          </p:cNvPr>
          <p:cNvSpPr>
            <a:spLocks xmlns:a="http://schemas.openxmlformats.org/drawingml/2006/main" noGrp="1"/>
          </p:cNvSpPr>
          <p:nvPr/>
        </p:nvSpPr>
        <p:spPr>
          <a:xfrm xmlns:a="http://schemas.openxmlformats.org/drawingml/2006/main">
            <a:off x="609600" y="2971800"/>
            <a:ext cx="590550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A name that refers to a value. The expression on the right of the equals sign is evaluated first; the equals sign then binds the name on the left to that result. A good name carries the architectural concept and the unit, so the line reads as a measurement rather than as algebra.</a:t>
            </a:r>
          </a:p>
        </p:txBody>
      </p:sp>
      <p:sp>
        <p:nvSpPr>
          <p:cNvPr id="10" name="example-panel">
            <a:extLst xmlns:a="http://schemas.openxmlformats.org/drawingml/2006/main">
              <a:ext uri="{FF2B5EF4-FFF2-40B4-BE49-F238E27FC236}">
                <a16:creationId xmlns:a16="http://schemas.microsoft.com/office/drawing/2014/main" id="{54D38AEE-1219-4679-9BEA-F6D94EBBE03C}"/>
              </a:ext>
            </a:extLst>
          </p:cNvPr>
          <p:cNvSpPr>
            <a:spLocks xmlns:a="http://schemas.openxmlformats.org/drawingml/2006/main" noGrp="1"/>
          </p:cNvSpPr>
          <p:nvPr/>
        </p:nvSpPr>
        <p:spPr>
          <a:xfrm xmlns:a="http://schemas.openxmlformats.org/drawingml/2006/main">
            <a:off x="6762750" y="1809750"/>
            <a:ext cx="4819650" cy="3257550"/>
          </a:xfrm>
          <a:prstGeom xmlns:a="http://schemas.openxmlformats.org/drawingml/2006/main" prst="roundRect">
            <a:avLst>
              <a:gd name="adj" fmla="val 2339"/>
            </a:avLst>
          </a:prstGeom>
          <a:solidFill xmlns:a="http://schemas.openxmlformats.org/drawingml/2006/main">
            <a:srgbClr val="F3F7FB"/>
          </a:solidFill>
          <a:ln xmlns:a="http://schemas.openxmlformats.org/drawingml/2006/main" w="9525">
            <a:solidFill>
              <a:srgbClr val="DDE0E5"/>
            </a:solidFill>
            <a:prstDash val="solid"/>
          </a:ln>
        </p:spPr>
      </p:sp>
      <p:sp>
        <p:nvSpPr>
          <p:cNvPr id="11" name="example-label">
            <a:extLst xmlns:a="http://schemas.openxmlformats.org/drawingml/2006/main">
              <a:ext uri="{FF2B5EF4-FFF2-40B4-BE49-F238E27FC236}">
                <a16:creationId xmlns:a16="http://schemas.microsoft.com/office/drawing/2014/main" id="{4526F9C4-7DD0-4600-A1CC-C53F7CA31FBF}"/>
              </a:ext>
            </a:extLst>
          </p:cNvPr>
          <p:cNvSpPr>
            <a:spLocks xmlns:a="http://schemas.openxmlformats.org/drawingml/2006/main" noGrp="1"/>
          </p:cNvSpPr>
          <p:nvPr/>
        </p:nvSpPr>
        <p:spPr>
          <a:xfrm xmlns:a="http://schemas.openxmlformats.org/drawingml/2006/main">
            <a:off x="6972300" y="2019300"/>
            <a:ext cx="438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NAME THE CONCEPT AND THE UNIT</a:t>
            </a:r>
          </a:p>
        </p:txBody>
      </p:sp>
      <p:sp>
        <p:nvSpPr>
          <p:cNvPr id="12" name="example-head">
            <a:extLst xmlns:a="http://schemas.openxmlformats.org/drawingml/2006/main">
              <a:ext uri="{FF2B5EF4-FFF2-40B4-BE49-F238E27FC236}">
                <a16:creationId xmlns:a16="http://schemas.microsoft.com/office/drawing/2014/main" id="{CE886E88-612E-4D1B-9613-0DDC115DDE2C}"/>
              </a:ext>
            </a:extLst>
          </p:cNvPr>
          <p:cNvSpPr>
            <a:spLocks xmlns:a="http://schemas.openxmlformats.org/drawingml/2006/main" noGrp="1"/>
          </p:cNvSpPr>
          <p:nvPr/>
        </p:nvSpPr>
        <p:spPr>
          <a:xfrm xmlns:a="http://schemas.openxmlformats.org/drawingml/2006/main">
            <a:off x="6972300" y="2286000"/>
            <a:ext cx="4381500" cy="30403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Consolas"/>
                <a:ea typeface="Consolas"/>
                <a:cs typeface="Consolas"/>
              </a:defRPr>
            </a:pPr>
            <a:r>
              <a:rPr sz="1800" b="1">
                <a:solidFill>
                  <a:srgbClr val="111316"/>
                </a:solidFill>
                <a:latin typeface="Consolas"/>
                <a:ea typeface="Consolas"/>
                <a:cs typeface="Consolas"/>
              </a:rPr>
              <a:t>room_length_m = 6.0</a:t>
            </a:r>
          </a:p>
        </p:txBody>
      </p:sp>
      <p:sp>
        <p:nvSpPr>
          <p:cNvPr id="13" name="example-body">
            <a:extLst xmlns:a="http://schemas.openxmlformats.org/drawingml/2006/main">
              <a:ext uri="{FF2B5EF4-FFF2-40B4-BE49-F238E27FC236}">
                <a16:creationId xmlns:a16="http://schemas.microsoft.com/office/drawing/2014/main" id="{9D1E7063-CE5F-4038-B081-FA75BCA63159}"/>
              </a:ext>
            </a:extLst>
          </p:cNvPr>
          <p:cNvSpPr>
            <a:spLocks xmlns:a="http://schemas.openxmlformats.org/drawingml/2006/main" noGrp="1"/>
          </p:cNvSpPr>
          <p:nvPr/>
        </p:nvSpPr>
        <p:spPr>
          <a:xfrm xmlns:a="http://schemas.openxmlformats.org/drawingml/2006/main">
            <a:off x="6972300" y="2704338"/>
            <a:ext cx="4381500" cy="22296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The name says what the number is and which unit it is in.</a:t>
            </a:r>
          </a:p>
          <a:p xmlns:a="http://schemas.openxmlformats.org/drawingml/2006/main">
            <a:r>
              <a:t/>
            </a:r>
          </a:p>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h = 6.0 stores exactly the same number and explains nothing at all to the next reader — including you, four weeks from now.</a:t>
            </a:r>
          </a:p>
        </p:txBody>
      </p:sp>
      <p:sp>
        <p:nvSpPr>
          <p:cNvPr id="14" name="note-bar">
            <a:extLst xmlns:a="http://schemas.openxmlformats.org/drawingml/2006/main">
              <a:ext uri="{FF2B5EF4-FFF2-40B4-BE49-F238E27FC236}">
                <a16:creationId xmlns:a16="http://schemas.microsoft.com/office/drawing/2014/main" id="{BE893136-0F73-46D7-BDD4-CA20697584BB}"/>
              </a:ext>
            </a:extLst>
          </p:cNvPr>
          <p:cNvSpPr>
            <a:spLocks xmlns:a="http://schemas.openxmlformats.org/drawingml/2006/main" noGrp="1"/>
          </p:cNvSpPr>
          <p:nvPr/>
        </p:nvSpPr>
        <p:spPr>
          <a:xfrm xmlns:a="http://schemas.openxmlformats.org/drawingml/2006/main">
            <a:off x="609600" y="5334000"/>
            <a:ext cx="57150" cy="723900"/>
          </a:xfrm>
          <a:prstGeom xmlns:a="http://schemas.openxmlformats.org/drawingml/2006/main" prst="rect">
            <a:avLst/>
          </a:prstGeom>
          <a:solidFill xmlns:a="http://schemas.openxmlformats.org/drawingml/2006/main">
            <a:srgbClr val="B5731A"/>
          </a:solidFill>
          <a:ln xmlns:a="http://schemas.openxmlformats.org/drawingml/2006/main" w="0">
            <a:noFill/>
            <a:prstDash val="solid"/>
          </a:ln>
        </p:spPr>
      </p:sp>
      <p:sp>
        <p:nvSpPr>
          <p:cNvPr id="15" name="note-label">
            <a:extLst xmlns:a="http://schemas.openxmlformats.org/drawingml/2006/main">
              <a:ext uri="{FF2B5EF4-FFF2-40B4-BE49-F238E27FC236}">
                <a16:creationId xmlns:a16="http://schemas.microsoft.com/office/drawing/2014/main" id="{CF3F80CC-610C-40C2-BBB1-AE9D915CD4F3}"/>
              </a:ext>
            </a:extLst>
          </p:cNvPr>
          <p:cNvSpPr>
            <a:spLocks xmlns:a="http://schemas.openxmlformats.org/drawingml/2006/main" noGrp="1"/>
          </p:cNvSpPr>
          <p:nvPr/>
        </p:nvSpPr>
        <p:spPr>
          <a:xfrm xmlns:a="http://schemas.openxmlformats.org/drawingml/2006/main">
            <a:off x="819150" y="5353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B5731A"/>
                </a:solidFill>
                <a:latin typeface="Arial"/>
                <a:ea typeface="Arial"/>
                <a:cs typeface="Arial"/>
              </a:defRPr>
            </a:pPr>
            <a:r>
              <a:rPr sz="900" b="1">
                <a:solidFill>
                  <a:srgbClr val="B5731A"/>
                </a:solidFill>
                <a:latin typeface="Arial"/>
                <a:ea typeface="Arial"/>
                <a:cs typeface="Arial"/>
              </a:rPr>
              <a:t>COMMON CONFUSION</a:t>
            </a:r>
          </a:p>
        </p:txBody>
      </p:sp>
      <p:sp>
        <p:nvSpPr>
          <p:cNvPr id="16" name="note">
            <a:extLst xmlns:a="http://schemas.openxmlformats.org/drawingml/2006/main">
              <a:ext uri="{FF2B5EF4-FFF2-40B4-BE49-F238E27FC236}">
                <a16:creationId xmlns:a16="http://schemas.microsoft.com/office/drawing/2014/main" id="{1CD8AF06-EFEA-4565-B342-C86EB4056E38}"/>
              </a:ext>
            </a:extLst>
          </p:cNvPr>
          <p:cNvSpPr>
            <a:spLocks xmlns:a="http://schemas.openxmlformats.org/drawingml/2006/main" noGrp="1"/>
          </p:cNvSpPr>
          <p:nvPr/>
        </p:nvSpPr>
        <p:spPr>
          <a:xfrm xmlns:a="http://schemas.openxmlformats.org/drawingml/2006/main">
            <a:off x="819150" y="5562600"/>
            <a:ext cx="1076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The equals sign is assignment, not mathematical equality. It stores a result once; it does not declare a relationship Python will keep updating.</a:t>
            </a:r>
          </a:p>
        </p:txBody>
      </p:sp>
    </p:spTree>
    <p:extLst>
      <p:ext uri="{BB962C8B-B14F-4D97-AF65-F5344CB8AC3E}">
        <p14:creationId xmlns:p14="http://schemas.microsoft.com/office/powerpoint/2010/main" val="6831171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kicker">
            <a:extLst xmlns:a="http://schemas.openxmlformats.org/drawingml/2006/main">
              <a:ext uri="{FF2B5EF4-FFF2-40B4-BE49-F238E27FC236}">
                <a16:creationId xmlns:a16="http://schemas.microsoft.com/office/drawing/2014/main" id="{0953D3EC-17C4-4D2B-AF95-DE7F1D19AEA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ANATOMY</a:t>
            </a:r>
          </a:p>
        </p:txBody>
      </p:sp>
      <p:sp>
        <p:nvSpPr>
          <p:cNvPr id="2" name="title">
            <a:extLst xmlns:a="http://schemas.openxmlformats.org/drawingml/2006/main">
              <a:ext uri="{FF2B5EF4-FFF2-40B4-BE49-F238E27FC236}">
                <a16:creationId xmlns:a16="http://schemas.microsoft.com/office/drawing/2014/main" id="{0E7E11AA-A940-413A-8E68-F65A095833F1}"/>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 assignment stores whatever the expression produces</a:t>
            </a:r>
          </a:p>
        </p:txBody>
      </p:sp>
      <p:sp>
        <p:nvSpPr>
          <p:cNvPr id="3" name="">
            <a:extLst xmlns:a="http://schemas.openxmlformats.org/drawingml/2006/main">
              <a:ext uri="{FF2B5EF4-FFF2-40B4-BE49-F238E27FC236}">
                <a16:creationId xmlns:a16="http://schemas.microsoft.com/office/drawing/2014/main" id="{249E2BAC-66E0-4476-BA10-B94AE1E4B20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80A0794A-7D9D-4195-83FD-AB56FD955AC5}"/>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213DB5EB-A392-4274-8229-2F97480C2C2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24</a:t>
            </a:r>
          </a:p>
        </p:txBody>
      </p:sp>
      <p:sp>
        <p:nvSpPr>
          <p:cNvPr id="6" name="anatomy-code-panel">
            <a:extLst xmlns:a="http://schemas.openxmlformats.org/drawingml/2006/main">
              <a:ext uri="{FF2B5EF4-FFF2-40B4-BE49-F238E27FC236}">
                <a16:creationId xmlns:a16="http://schemas.microsoft.com/office/drawing/2014/main" id="{65307F53-BAEA-4822-A2D6-F752F2612F5D}"/>
              </a:ext>
            </a:extLst>
          </p:cNvPr>
          <p:cNvSpPr>
            <a:spLocks xmlns:a="http://schemas.openxmlformats.org/drawingml/2006/main" noGrp="1"/>
          </p:cNvSpPr>
          <p:nvPr/>
        </p:nvSpPr>
        <p:spPr>
          <a:xfrm xmlns:a="http://schemas.openxmlformats.org/drawingml/2006/main">
            <a:off x="609600" y="1733550"/>
            <a:ext cx="10972800" cy="876300"/>
          </a:xfrm>
          <a:prstGeom xmlns:a="http://schemas.openxmlformats.org/drawingml/2006/main" prst="roundRect">
            <a:avLst>
              <a:gd name="adj" fmla="val 8696"/>
            </a:avLst>
          </a:prstGeom>
          <a:solidFill xmlns:a="http://schemas.openxmlformats.org/drawingml/2006/main">
            <a:srgbClr val="17191C"/>
          </a:solidFill>
          <a:ln xmlns:a="http://schemas.openxmlformats.org/drawingml/2006/main" w="9525">
            <a:solidFill>
              <a:srgbClr val="17191C"/>
            </a:solidFill>
            <a:prstDash val="solid"/>
          </a:ln>
        </p:spPr>
      </p:sp>
      <p:sp>
        <p:nvSpPr>
          <p:cNvPr id="7" name="anatomy-code">
            <a:extLst xmlns:a="http://schemas.openxmlformats.org/drawingml/2006/main">
              <a:ext uri="{FF2B5EF4-FFF2-40B4-BE49-F238E27FC236}">
                <a16:creationId xmlns:a16="http://schemas.microsoft.com/office/drawing/2014/main" id="{75B3617D-C2DA-4089-A528-CB7150B67ACD}"/>
              </a:ext>
            </a:extLst>
          </p:cNvPr>
          <p:cNvSpPr>
            <a:spLocks xmlns:a="http://schemas.openxmlformats.org/drawingml/2006/main" noGrp="1"/>
          </p:cNvSpPr>
          <p:nvPr/>
        </p:nvSpPr>
        <p:spPr>
          <a:xfrm xmlns:a="http://schemas.openxmlformats.org/drawingml/2006/main">
            <a:off x="3162300" y="2057400"/>
            <a:ext cx="624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3000" b="0">
                <a:solidFill>
                  <a:srgbClr val="FFFFFF"/>
                </a:solidFill>
                <a:latin typeface="Consolas"/>
                <a:ea typeface="Consolas"/>
                <a:cs typeface="Consolas"/>
              </a:defRPr>
            </a:pPr>
            <a:r>
              <a:rPr sz="3000" b="0">
                <a:solidFill>
                  <a:srgbClr val="FFFFFF"/>
                </a:solidFill>
                <a:latin typeface="Consolas"/>
                <a:ea typeface="Consolas"/>
                <a:cs typeface="Consolas"/>
              </a:rPr>
              <a:t>area_m2 = length_m * width_m</a:t>
            </a:r>
          </a:p>
        </p:txBody>
      </p:sp>
      <p:sp>
        <p:nvSpPr>
          <p:cNvPr id="8" name="">
            <a:extLst xmlns:a="http://schemas.openxmlformats.org/drawingml/2006/main">
              <a:ext uri="{FF2B5EF4-FFF2-40B4-BE49-F238E27FC236}">
                <a16:creationId xmlns:a16="http://schemas.microsoft.com/office/drawing/2014/main" id="{311594BD-C473-42ED-AEBD-D1C4F048365D}"/>
              </a:ext>
            </a:extLst>
          </p:cNvPr>
          <p:cNvSpPr>
            <a:spLocks xmlns:a="http://schemas.openxmlformats.org/drawingml/2006/main" noGrp="1"/>
          </p:cNvSpPr>
          <p:nvPr/>
        </p:nvSpPr>
        <p:spPr>
          <a:xfrm xmlns:a="http://schemas.openxmlformats.org/drawingml/2006/main">
            <a:off x="3162300"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9" name="part-chip-0">
            <a:extLst xmlns:a="http://schemas.openxmlformats.org/drawingml/2006/main">
              <a:ext uri="{FF2B5EF4-FFF2-40B4-BE49-F238E27FC236}">
                <a16:creationId xmlns:a16="http://schemas.microsoft.com/office/drawing/2014/main" id="{27284610-F2AD-476E-A42E-5ED2CD6C150B}"/>
              </a:ext>
            </a:extLst>
          </p:cNvPr>
          <p:cNvSpPr>
            <a:spLocks xmlns:a="http://schemas.openxmlformats.org/drawingml/2006/main" noGrp="1"/>
          </p:cNvSpPr>
          <p:nvPr/>
        </p:nvSpPr>
        <p:spPr>
          <a:xfrm xmlns:a="http://schemas.openxmlformats.org/drawingml/2006/main">
            <a:off x="37719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0" name="part-chipno-0">
            <a:extLst xmlns:a="http://schemas.openxmlformats.org/drawingml/2006/main">
              <a:ext uri="{FF2B5EF4-FFF2-40B4-BE49-F238E27FC236}">
                <a16:creationId xmlns:a16="http://schemas.microsoft.com/office/drawing/2014/main" id="{2D4CE3CD-89DE-4482-97F1-EE9DDBFF652A}"/>
              </a:ext>
            </a:extLst>
          </p:cNvPr>
          <p:cNvSpPr>
            <a:spLocks xmlns:a="http://schemas.openxmlformats.org/drawingml/2006/main" noGrp="1"/>
          </p:cNvSpPr>
          <p:nvPr/>
        </p:nvSpPr>
        <p:spPr>
          <a:xfrm xmlns:a="http://schemas.openxmlformats.org/drawingml/2006/main">
            <a:off x="37719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1" name="part-lchip-0">
            <a:extLst xmlns:a="http://schemas.openxmlformats.org/drawingml/2006/main">
              <a:ext uri="{FF2B5EF4-FFF2-40B4-BE49-F238E27FC236}">
                <a16:creationId xmlns:a16="http://schemas.microsoft.com/office/drawing/2014/main" id="{EBE80BBD-5C9E-44A1-9428-FE01D2FC9A79}"/>
              </a:ext>
            </a:extLst>
          </p:cNvPr>
          <p:cNvSpPr>
            <a:spLocks xmlns:a="http://schemas.openxmlformats.org/drawingml/2006/main" noGrp="1"/>
          </p:cNvSpPr>
          <p:nvPr/>
        </p:nvSpPr>
        <p:spPr>
          <a:xfrm xmlns:a="http://schemas.openxmlformats.org/drawingml/2006/main">
            <a:off x="289560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2" name="part-lchipno-0">
            <a:extLst xmlns:a="http://schemas.openxmlformats.org/drawingml/2006/main">
              <a:ext uri="{FF2B5EF4-FFF2-40B4-BE49-F238E27FC236}">
                <a16:creationId xmlns:a16="http://schemas.microsoft.com/office/drawing/2014/main" id="{53F16432-D88F-4AD7-81EF-79823FDF9BF2}"/>
              </a:ext>
            </a:extLst>
          </p:cNvPr>
          <p:cNvSpPr>
            <a:spLocks xmlns:a="http://schemas.openxmlformats.org/drawingml/2006/main" noGrp="1"/>
          </p:cNvSpPr>
          <p:nvPr/>
        </p:nvSpPr>
        <p:spPr>
          <a:xfrm xmlns:a="http://schemas.openxmlformats.org/drawingml/2006/main">
            <a:off x="289560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1</a:t>
            </a:r>
          </a:p>
        </p:txBody>
      </p:sp>
      <p:sp>
        <p:nvSpPr>
          <p:cNvPr id="13" name="part-head-0">
            <a:extLst xmlns:a="http://schemas.openxmlformats.org/drawingml/2006/main">
              <a:ext uri="{FF2B5EF4-FFF2-40B4-BE49-F238E27FC236}">
                <a16:creationId xmlns:a16="http://schemas.microsoft.com/office/drawing/2014/main" id="{D03BED38-5D6D-471D-AF16-BC1A16F5DE0B}"/>
              </a:ext>
            </a:extLst>
          </p:cNvPr>
          <p:cNvSpPr>
            <a:spLocks xmlns:a="http://schemas.openxmlformats.org/drawingml/2006/main" noGrp="1"/>
          </p:cNvSpPr>
          <p:nvPr/>
        </p:nvSpPr>
        <p:spPr>
          <a:xfrm xmlns:a="http://schemas.openxmlformats.org/drawingml/2006/main">
            <a:off x="3200400" y="3009900"/>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new name</a:t>
            </a:r>
          </a:p>
        </p:txBody>
      </p:sp>
      <p:sp>
        <p:nvSpPr>
          <p:cNvPr id="14" name="part-body-0">
            <a:extLst xmlns:a="http://schemas.openxmlformats.org/drawingml/2006/main">
              <a:ext uri="{FF2B5EF4-FFF2-40B4-BE49-F238E27FC236}">
                <a16:creationId xmlns:a16="http://schemas.microsoft.com/office/drawing/2014/main" id="{C6571C84-4F77-4E3A-8903-FA33F99E5925}"/>
              </a:ext>
            </a:extLst>
          </p:cNvPr>
          <p:cNvSpPr>
            <a:spLocks xmlns:a="http://schemas.openxmlformats.org/drawingml/2006/main" noGrp="1"/>
          </p:cNvSpPr>
          <p:nvPr/>
        </p:nvSpPr>
        <p:spPr>
          <a:xfrm xmlns:a="http://schemas.openxmlformats.org/drawingml/2006/main">
            <a:off x="2895600" y="3390138"/>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This name does not exist until the line runs.</a:t>
            </a:r>
          </a:p>
        </p:txBody>
      </p:sp>
      <p:sp>
        <p:nvSpPr>
          <p:cNvPr id="15" name="">
            <a:extLst xmlns:a="http://schemas.openxmlformats.org/drawingml/2006/main">
              <a:ext uri="{FF2B5EF4-FFF2-40B4-BE49-F238E27FC236}">
                <a16:creationId xmlns:a16="http://schemas.microsoft.com/office/drawing/2014/main" id="{C8385D23-22B0-499D-9B00-26C35711EFFB}"/>
              </a:ext>
            </a:extLst>
          </p:cNvPr>
          <p:cNvSpPr>
            <a:spLocks xmlns:a="http://schemas.openxmlformats.org/drawingml/2006/main" noGrp="1"/>
          </p:cNvSpPr>
          <p:nvPr/>
        </p:nvSpPr>
        <p:spPr>
          <a:xfrm xmlns:a="http://schemas.openxmlformats.org/drawingml/2006/main">
            <a:off x="4838700" y="2647950"/>
            <a:ext cx="2095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6" name="part-chip-1">
            <a:extLst xmlns:a="http://schemas.openxmlformats.org/drawingml/2006/main">
              <a:ext uri="{FF2B5EF4-FFF2-40B4-BE49-F238E27FC236}">
                <a16:creationId xmlns:a16="http://schemas.microsoft.com/office/drawing/2014/main" id="{C1DACA7E-728C-46C2-8A93-4293F16CDFCB}"/>
              </a:ext>
            </a:extLst>
          </p:cNvPr>
          <p:cNvSpPr>
            <a:spLocks xmlns:a="http://schemas.openxmlformats.org/drawingml/2006/main" noGrp="1"/>
          </p:cNvSpPr>
          <p:nvPr/>
        </p:nvSpPr>
        <p:spPr>
          <a:xfrm xmlns:a="http://schemas.openxmlformats.org/drawingml/2006/main">
            <a:off x="48196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7" name="part-chipno-1">
            <a:extLst xmlns:a="http://schemas.openxmlformats.org/drawingml/2006/main">
              <a:ext uri="{FF2B5EF4-FFF2-40B4-BE49-F238E27FC236}">
                <a16:creationId xmlns:a16="http://schemas.microsoft.com/office/drawing/2014/main" id="{6F4FCD9C-FF57-4250-A8D7-299CB45C0795}"/>
              </a:ext>
            </a:extLst>
          </p:cNvPr>
          <p:cNvSpPr>
            <a:spLocks xmlns:a="http://schemas.openxmlformats.org/drawingml/2006/main" noGrp="1"/>
          </p:cNvSpPr>
          <p:nvPr/>
        </p:nvSpPr>
        <p:spPr>
          <a:xfrm xmlns:a="http://schemas.openxmlformats.org/drawingml/2006/main">
            <a:off x="48196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18" name="part-lchip-1">
            <a:extLst xmlns:a="http://schemas.openxmlformats.org/drawingml/2006/main">
              <a:ext uri="{FF2B5EF4-FFF2-40B4-BE49-F238E27FC236}">
                <a16:creationId xmlns:a16="http://schemas.microsoft.com/office/drawing/2014/main" id="{A513E394-4E04-4D63-BBB8-F709D7760F2A}"/>
              </a:ext>
            </a:extLst>
          </p:cNvPr>
          <p:cNvSpPr>
            <a:spLocks xmlns:a="http://schemas.openxmlformats.org/drawingml/2006/main" noGrp="1"/>
          </p:cNvSpPr>
          <p:nvPr/>
        </p:nvSpPr>
        <p:spPr>
          <a:xfrm xmlns:a="http://schemas.openxmlformats.org/drawingml/2006/main">
            <a:off x="394335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19" name="part-lchipno-1">
            <a:extLst xmlns:a="http://schemas.openxmlformats.org/drawingml/2006/main">
              <a:ext uri="{FF2B5EF4-FFF2-40B4-BE49-F238E27FC236}">
                <a16:creationId xmlns:a16="http://schemas.microsoft.com/office/drawing/2014/main" id="{B14225F4-BC36-4D33-A8ED-4D0C0BF74688}"/>
              </a:ext>
            </a:extLst>
          </p:cNvPr>
          <p:cNvSpPr>
            <a:spLocks xmlns:a="http://schemas.openxmlformats.org/drawingml/2006/main" noGrp="1"/>
          </p:cNvSpPr>
          <p:nvPr/>
        </p:nvSpPr>
        <p:spPr>
          <a:xfrm xmlns:a="http://schemas.openxmlformats.org/drawingml/2006/main">
            <a:off x="394335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2</a:t>
            </a:r>
          </a:p>
        </p:txBody>
      </p:sp>
      <p:sp>
        <p:nvSpPr>
          <p:cNvPr id="20" name="part-head-1">
            <a:extLst xmlns:a="http://schemas.openxmlformats.org/drawingml/2006/main">
              <a:ext uri="{FF2B5EF4-FFF2-40B4-BE49-F238E27FC236}">
                <a16:creationId xmlns:a16="http://schemas.microsoft.com/office/drawing/2014/main" id="{508D4933-75CB-4809-9017-0F187678610C}"/>
              </a:ext>
            </a:extLst>
          </p:cNvPr>
          <p:cNvSpPr>
            <a:spLocks xmlns:a="http://schemas.openxmlformats.org/drawingml/2006/main" noGrp="1"/>
          </p:cNvSpPr>
          <p:nvPr/>
        </p:nvSpPr>
        <p:spPr>
          <a:xfrm xmlns:a="http://schemas.openxmlformats.org/drawingml/2006/main">
            <a:off x="4248150" y="4123944"/>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Assignment</a:t>
            </a:r>
          </a:p>
        </p:txBody>
      </p:sp>
      <p:sp>
        <p:nvSpPr>
          <p:cNvPr id="21" name="part-body-1">
            <a:extLst xmlns:a="http://schemas.openxmlformats.org/drawingml/2006/main">
              <a:ext uri="{FF2B5EF4-FFF2-40B4-BE49-F238E27FC236}">
                <a16:creationId xmlns:a16="http://schemas.microsoft.com/office/drawing/2014/main" id="{BF33FD66-D2EB-4A40-86F4-31FD982AE1F1}"/>
              </a:ext>
            </a:extLst>
          </p:cNvPr>
          <p:cNvSpPr>
            <a:spLocks xmlns:a="http://schemas.openxmlformats.org/drawingml/2006/main" noGrp="1"/>
          </p:cNvSpPr>
          <p:nvPr/>
        </p:nvSpPr>
        <p:spPr>
          <a:xfrm xmlns:a="http://schemas.openxmlformats.org/drawingml/2006/main">
            <a:off x="3943350" y="4504182"/>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Bind the name on the left to the result on the right.</a:t>
            </a:r>
          </a:p>
        </p:txBody>
      </p:sp>
      <p:sp>
        <p:nvSpPr>
          <p:cNvPr id="22" name="">
            <a:extLst xmlns:a="http://schemas.openxmlformats.org/drawingml/2006/main">
              <a:ext uri="{FF2B5EF4-FFF2-40B4-BE49-F238E27FC236}">
                <a16:creationId xmlns:a16="http://schemas.microsoft.com/office/drawing/2014/main" id="{23EE622F-F78B-4EA9-A298-AA1A8F5A113C}"/>
              </a:ext>
            </a:extLst>
          </p:cNvPr>
          <p:cNvSpPr>
            <a:spLocks xmlns:a="http://schemas.openxmlformats.org/drawingml/2006/main" noGrp="1"/>
          </p:cNvSpPr>
          <p:nvPr/>
        </p:nvSpPr>
        <p:spPr>
          <a:xfrm xmlns:a="http://schemas.openxmlformats.org/drawingml/2006/main">
            <a:off x="5257800" y="2647950"/>
            <a:ext cx="167640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23" name="part-chip-2">
            <a:extLst xmlns:a="http://schemas.openxmlformats.org/drawingml/2006/main">
              <a:ext uri="{FF2B5EF4-FFF2-40B4-BE49-F238E27FC236}">
                <a16:creationId xmlns:a16="http://schemas.microsoft.com/office/drawing/2014/main" id="{39861D7A-8C35-430F-947C-879F562459A9}"/>
              </a:ext>
            </a:extLst>
          </p:cNvPr>
          <p:cNvSpPr>
            <a:spLocks xmlns:a="http://schemas.openxmlformats.org/drawingml/2006/main" noGrp="1"/>
          </p:cNvSpPr>
          <p:nvPr/>
        </p:nvSpPr>
        <p:spPr>
          <a:xfrm xmlns:a="http://schemas.openxmlformats.org/drawingml/2006/main">
            <a:off x="5972175"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4" name="part-chipno-2">
            <a:extLst xmlns:a="http://schemas.openxmlformats.org/drawingml/2006/main">
              <a:ext uri="{FF2B5EF4-FFF2-40B4-BE49-F238E27FC236}">
                <a16:creationId xmlns:a16="http://schemas.microsoft.com/office/drawing/2014/main" id="{004FE3FD-4B21-4032-8D4F-E01565209A04}"/>
              </a:ext>
            </a:extLst>
          </p:cNvPr>
          <p:cNvSpPr>
            <a:spLocks xmlns:a="http://schemas.openxmlformats.org/drawingml/2006/main" noGrp="1"/>
          </p:cNvSpPr>
          <p:nvPr/>
        </p:nvSpPr>
        <p:spPr>
          <a:xfrm xmlns:a="http://schemas.openxmlformats.org/drawingml/2006/main">
            <a:off x="5972175"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5" name="part-lchip-2">
            <a:extLst xmlns:a="http://schemas.openxmlformats.org/drawingml/2006/main">
              <a:ext uri="{FF2B5EF4-FFF2-40B4-BE49-F238E27FC236}">
                <a16:creationId xmlns:a16="http://schemas.microsoft.com/office/drawing/2014/main" id="{6C6F7BCA-8824-4004-BA58-531936FF8EE8}"/>
              </a:ext>
            </a:extLst>
          </p:cNvPr>
          <p:cNvSpPr>
            <a:spLocks xmlns:a="http://schemas.openxmlformats.org/drawingml/2006/main" noGrp="1"/>
          </p:cNvSpPr>
          <p:nvPr/>
        </p:nvSpPr>
        <p:spPr>
          <a:xfrm xmlns:a="http://schemas.openxmlformats.org/drawingml/2006/main">
            <a:off x="5095875"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26" name="part-lchipno-2">
            <a:extLst xmlns:a="http://schemas.openxmlformats.org/drawingml/2006/main">
              <a:ext uri="{FF2B5EF4-FFF2-40B4-BE49-F238E27FC236}">
                <a16:creationId xmlns:a16="http://schemas.microsoft.com/office/drawing/2014/main" id="{F773D4CE-D42A-4EA8-AE59-41BD5955874F}"/>
              </a:ext>
            </a:extLst>
          </p:cNvPr>
          <p:cNvSpPr>
            <a:spLocks xmlns:a="http://schemas.openxmlformats.org/drawingml/2006/main" noGrp="1"/>
          </p:cNvSpPr>
          <p:nvPr/>
        </p:nvSpPr>
        <p:spPr>
          <a:xfrm xmlns:a="http://schemas.openxmlformats.org/drawingml/2006/main">
            <a:off x="5095875"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3</a:t>
            </a:r>
          </a:p>
        </p:txBody>
      </p:sp>
      <p:sp>
        <p:nvSpPr>
          <p:cNvPr id="27" name="part-head-2">
            <a:extLst xmlns:a="http://schemas.openxmlformats.org/drawingml/2006/main">
              <a:ext uri="{FF2B5EF4-FFF2-40B4-BE49-F238E27FC236}">
                <a16:creationId xmlns:a16="http://schemas.microsoft.com/office/drawing/2014/main" id="{1786760F-DBEF-45DC-B2C5-2F5EB7D67E6A}"/>
              </a:ext>
            </a:extLst>
          </p:cNvPr>
          <p:cNvSpPr>
            <a:spLocks xmlns:a="http://schemas.openxmlformats.org/drawingml/2006/main" noGrp="1"/>
          </p:cNvSpPr>
          <p:nvPr/>
        </p:nvSpPr>
        <p:spPr>
          <a:xfrm xmlns:a="http://schemas.openxmlformats.org/drawingml/2006/main">
            <a:off x="5400675"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First variable</a:t>
            </a:r>
          </a:p>
        </p:txBody>
      </p:sp>
      <p:sp>
        <p:nvSpPr>
          <p:cNvPr id="28" name="part-body-2">
            <a:extLst xmlns:a="http://schemas.openxmlformats.org/drawingml/2006/main">
              <a:ext uri="{FF2B5EF4-FFF2-40B4-BE49-F238E27FC236}">
                <a16:creationId xmlns:a16="http://schemas.microsoft.com/office/drawing/2014/main" id="{8428B7FF-2D34-4FD7-B846-ECAED594C340}"/>
              </a:ext>
            </a:extLst>
          </p:cNvPr>
          <p:cNvSpPr>
            <a:spLocks xmlns:a="http://schemas.openxmlformats.org/drawingml/2006/main" noGrp="1"/>
          </p:cNvSpPr>
          <p:nvPr/>
        </p:nvSpPr>
        <p:spPr>
          <a:xfrm xmlns:a="http://schemas.openxmlformats.org/drawingml/2006/main">
            <a:off x="5095875"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Python looks up the value it already holds, 6.0.</a:t>
            </a:r>
          </a:p>
        </p:txBody>
      </p:sp>
      <p:sp>
        <p:nvSpPr>
          <p:cNvPr id="29" name="">
            <a:extLst xmlns:a="http://schemas.openxmlformats.org/drawingml/2006/main">
              <a:ext uri="{FF2B5EF4-FFF2-40B4-BE49-F238E27FC236}">
                <a16:creationId xmlns:a16="http://schemas.microsoft.com/office/drawing/2014/main" id="{6509A974-0769-4A5B-9BBC-7F416BE9A6B2}"/>
              </a:ext>
            </a:extLst>
          </p:cNvPr>
          <p:cNvSpPr>
            <a:spLocks xmlns:a="http://schemas.openxmlformats.org/drawingml/2006/main" noGrp="1"/>
          </p:cNvSpPr>
          <p:nvPr/>
        </p:nvSpPr>
        <p:spPr>
          <a:xfrm xmlns:a="http://schemas.openxmlformats.org/drawingml/2006/main">
            <a:off x="7143750" y="2647950"/>
            <a:ext cx="2095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0" name="part-chip-3">
            <a:extLst xmlns:a="http://schemas.openxmlformats.org/drawingml/2006/main">
              <a:ext uri="{FF2B5EF4-FFF2-40B4-BE49-F238E27FC236}">
                <a16:creationId xmlns:a16="http://schemas.microsoft.com/office/drawing/2014/main" id="{D1DFB56C-6DA7-4313-B159-D515C98FE7E1}"/>
              </a:ext>
            </a:extLst>
          </p:cNvPr>
          <p:cNvSpPr>
            <a:spLocks xmlns:a="http://schemas.openxmlformats.org/drawingml/2006/main" noGrp="1"/>
          </p:cNvSpPr>
          <p:nvPr/>
        </p:nvSpPr>
        <p:spPr>
          <a:xfrm xmlns:a="http://schemas.openxmlformats.org/drawingml/2006/main">
            <a:off x="712470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1" name="part-chipno-3">
            <a:extLst xmlns:a="http://schemas.openxmlformats.org/drawingml/2006/main">
              <a:ext uri="{FF2B5EF4-FFF2-40B4-BE49-F238E27FC236}">
                <a16:creationId xmlns:a16="http://schemas.microsoft.com/office/drawing/2014/main" id="{A8C00BFC-2CFA-460F-A361-4F90902B5FCC}"/>
              </a:ext>
            </a:extLst>
          </p:cNvPr>
          <p:cNvSpPr>
            <a:spLocks xmlns:a="http://schemas.openxmlformats.org/drawingml/2006/main" noGrp="1"/>
          </p:cNvSpPr>
          <p:nvPr/>
        </p:nvSpPr>
        <p:spPr>
          <a:xfrm xmlns:a="http://schemas.openxmlformats.org/drawingml/2006/main">
            <a:off x="712470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2" name="part-lchip-3">
            <a:extLst xmlns:a="http://schemas.openxmlformats.org/drawingml/2006/main">
              <a:ext uri="{FF2B5EF4-FFF2-40B4-BE49-F238E27FC236}">
                <a16:creationId xmlns:a16="http://schemas.microsoft.com/office/drawing/2014/main" id="{4AC3B0DD-0DC1-4310-9B8C-8F523247D856}"/>
              </a:ext>
            </a:extLst>
          </p:cNvPr>
          <p:cNvSpPr>
            <a:spLocks xmlns:a="http://schemas.openxmlformats.org/drawingml/2006/main" noGrp="1"/>
          </p:cNvSpPr>
          <p:nvPr/>
        </p:nvSpPr>
        <p:spPr>
          <a:xfrm xmlns:a="http://schemas.openxmlformats.org/drawingml/2006/main">
            <a:off x="6248400" y="4142994"/>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3" name="part-lchipno-3">
            <a:extLst xmlns:a="http://schemas.openxmlformats.org/drawingml/2006/main">
              <a:ext uri="{FF2B5EF4-FFF2-40B4-BE49-F238E27FC236}">
                <a16:creationId xmlns:a16="http://schemas.microsoft.com/office/drawing/2014/main" id="{81ADED6C-D512-43CB-88DF-DFDAB84D8E8D}"/>
              </a:ext>
            </a:extLst>
          </p:cNvPr>
          <p:cNvSpPr>
            <a:spLocks xmlns:a="http://schemas.openxmlformats.org/drawingml/2006/main" noGrp="1"/>
          </p:cNvSpPr>
          <p:nvPr/>
        </p:nvSpPr>
        <p:spPr>
          <a:xfrm xmlns:a="http://schemas.openxmlformats.org/drawingml/2006/main">
            <a:off x="6248400" y="4181094"/>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4</a:t>
            </a:r>
          </a:p>
        </p:txBody>
      </p:sp>
      <p:sp>
        <p:nvSpPr>
          <p:cNvPr id="34" name="part-head-3">
            <a:extLst xmlns:a="http://schemas.openxmlformats.org/drawingml/2006/main">
              <a:ext uri="{FF2B5EF4-FFF2-40B4-BE49-F238E27FC236}">
                <a16:creationId xmlns:a16="http://schemas.microsoft.com/office/drawing/2014/main" id="{2E4050A9-6EBC-4934-A2AE-B8A71D808168}"/>
              </a:ext>
            </a:extLst>
          </p:cNvPr>
          <p:cNvSpPr>
            <a:spLocks xmlns:a="http://schemas.openxmlformats.org/drawingml/2006/main" noGrp="1"/>
          </p:cNvSpPr>
          <p:nvPr/>
        </p:nvSpPr>
        <p:spPr>
          <a:xfrm xmlns:a="http://schemas.openxmlformats.org/drawingml/2006/main">
            <a:off x="6553200" y="4123944"/>
            <a:ext cx="1695450" cy="2849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The operator</a:t>
            </a:r>
          </a:p>
        </p:txBody>
      </p:sp>
      <p:sp>
        <p:nvSpPr>
          <p:cNvPr id="35" name="part-body-3">
            <a:extLst xmlns:a="http://schemas.openxmlformats.org/drawingml/2006/main">
              <a:ext uri="{FF2B5EF4-FFF2-40B4-BE49-F238E27FC236}">
                <a16:creationId xmlns:a16="http://schemas.microsoft.com/office/drawing/2014/main" id="{9E96757D-1B69-4529-B718-8FF0A49D2F2B}"/>
              </a:ext>
            </a:extLst>
          </p:cNvPr>
          <p:cNvSpPr>
            <a:spLocks xmlns:a="http://schemas.openxmlformats.org/drawingml/2006/main" noGrp="1"/>
          </p:cNvSpPr>
          <p:nvPr/>
        </p:nvSpPr>
        <p:spPr>
          <a:xfrm xmlns:a="http://schemas.openxmlformats.org/drawingml/2006/main">
            <a:off x="6248400" y="4504182"/>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Two names and one operator make an expression.</a:t>
            </a:r>
          </a:p>
        </p:txBody>
      </p:sp>
      <p:sp>
        <p:nvSpPr>
          <p:cNvPr id="36" name="">
            <a:extLst xmlns:a="http://schemas.openxmlformats.org/drawingml/2006/main">
              <a:ext uri="{FF2B5EF4-FFF2-40B4-BE49-F238E27FC236}">
                <a16:creationId xmlns:a16="http://schemas.microsoft.com/office/drawing/2014/main" id="{E96A4E45-4B16-4685-9F90-B9B4ECA62178}"/>
              </a:ext>
            </a:extLst>
          </p:cNvPr>
          <p:cNvSpPr>
            <a:spLocks xmlns:a="http://schemas.openxmlformats.org/drawingml/2006/main" noGrp="1"/>
          </p:cNvSpPr>
          <p:nvPr/>
        </p:nvSpPr>
        <p:spPr>
          <a:xfrm xmlns:a="http://schemas.openxmlformats.org/drawingml/2006/main">
            <a:off x="7562850" y="2647950"/>
            <a:ext cx="14668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37" name="part-chip-4">
            <a:extLst xmlns:a="http://schemas.openxmlformats.org/drawingml/2006/main">
              <a:ext uri="{FF2B5EF4-FFF2-40B4-BE49-F238E27FC236}">
                <a16:creationId xmlns:a16="http://schemas.microsoft.com/office/drawing/2014/main" id="{467F0C33-133A-48E5-ACA0-6F43169C5F49}"/>
              </a:ext>
            </a:extLst>
          </p:cNvPr>
          <p:cNvSpPr>
            <a:spLocks xmlns:a="http://schemas.openxmlformats.org/drawingml/2006/main" noGrp="1"/>
          </p:cNvSpPr>
          <p:nvPr/>
        </p:nvSpPr>
        <p:spPr>
          <a:xfrm xmlns:a="http://schemas.openxmlformats.org/drawingml/2006/main">
            <a:off x="8172450" y="2724150"/>
            <a:ext cx="247650" cy="2476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38" name="part-chipno-4">
            <a:extLst xmlns:a="http://schemas.openxmlformats.org/drawingml/2006/main">
              <a:ext uri="{FF2B5EF4-FFF2-40B4-BE49-F238E27FC236}">
                <a16:creationId xmlns:a16="http://schemas.microsoft.com/office/drawing/2014/main" id="{AF9402D0-850C-4042-B085-81E5A568F98F}"/>
              </a:ext>
            </a:extLst>
          </p:cNvPr>
          <p:cNvSpPr>
            <a:spLocks xmlns:a="http://schemas.openxmlformats.org/drawingml/2006/main" noGrp="1"/>
          </p:cNvSpPr>
          <p:nvPr/>
        </p:nvSpPr>
        <p:spPr>
          <a:xfrm xmlns:a="http://schemas.openxmlformats.org/drawingml/2006/main">
            <a:off x="8172450" y="2771775"/>
            <a:ext cx="247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5</a:t>
            </a:r>
          </a:p>
        </p:txBody>
      </p:sp>
      <p:sp>
        <p:nvSpPr>
          <p:cNvPr id="39" name="part-lchip-4">
            <a:extLst xmlns:a="http://schemas.openxmlformats.org/drawingml/2006/main">
              <a:ext uri="{FF2B5EF4-FFF2-40B4-BE49-F238E27FC236}">
                <a16:creationId xmlns:a16="http://schemas.microsoft.com/office/drawing/2014/main" id="{78D9FD4F-B511-4EAD-92B1-548CC1814FE4}"/>
              </a:ext>
            </a:extLst>
          </p:cNvPr>
          <p:cNvSpPr>
            <a:spLocks xmlns:a="http://schemas.openxmlformats.org/drawingml/2006/main" noGrp="1"/>
          </p:cNvSpPr>
          <p:nvPr/>
        </p:nvSpPr>
        <p:spPr>
          <a:xfrm xmlns:a="http://schemas.openxmlformats.org/drawingml/2006/main">
            <a:off x="7296150" y="3028950"/>
            <a:ext cx="209550" cy="209550"/>
          </a:xfrm>
          <a:prstGeom xmlns:a="http://schemas.openxmlformats.org/drawingml/2006/main" prst="roundRect">
            <a:avLst>
              <a:gd name="adj" fmla="val 50000"/>
            </a:avLst>
          </a:prstGeom>
          <a:solidFill xmlns:a="http://schemas.openxmlformats.org/drawingml/2006/main">
            <a:srgbClr val="2E74B5"/>
          </a:solidFill>
          <a:ln xmlns:a="http://schemas.openxmlformats.org/drawingml/2006/main" w="0">
            <a:noFill/>
            <a:prstDash val="solid"/>
          </a:ln>
        </p:spPr>
      </p:sp>
      <p:sp>
        <p:nvSpPr>
          <p:cNvPr id="40" name="part-lchipno-4">
            <a:extLst xmlns:a="http://schemas.openxmlformats.org/drawingml/2006/main">
              <a:ext uri="{FF2B5EF4-FFF2-40B4-BE49-F238E27FC236}">
                <a16:creationId xmlns:a16="http://schemas.microsoft.com/office/drawing/2014/main" id="{CCBDE834-F8EE-438B-9335-EC8967CFD614}"/>
              </a:ext>
            </a:extLst>
          </p:cNvPr>
          <p:cNvSpPr>
            <a:spLocks xmlns:a="http://schemas.openxmlformats.org/drawingml/2006/main" noGrp="1"/>
          </p:cNvSpPr>
          <p:nvPr/>
        </p:nvSpPr>
        <p:spPr>
          <a:xfrm xmlns:a="http://schemas.openxmlformats.org/drawingml/2006/main">
            <a:off x="7296150" y="3067050"/>
            <a:ext cx="209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2000"/>
              </a:lnSpc>
              <a:buNone/>
              <a:defRPr sz="900" b="1">
                <a:solidFill>
                  <a:srgbClr val="FFFFFF"/>
                </a:solidFill>
                <a:latin typeface="Arial"/>
                <a:ea typeface="Arial"/>
                <a:cs typeface="Arial"/>
              </a:defRPr>
            </a:pPr>
            <a:r>
              <a:rPr sz="900" b="1">
                <a:solidFill>
                  <a:srgbClr val="FFFFFF"/>
                </a:solidFill>
                <a:latin typeface="Arial"/>
                <a:ea typeface="Arial"/>
                <a:cs typeface="Arial"/>
              </a:rPr>
              <a:t>5</a:t>
            </a:r>
          </a:p>
        </p:txBody>
      </p:sp>
      <p:sp>
        <p:nvSpPr>
          <p:cNvPr id="41" name="part-head-4">
            <a:extLst xmlns:a="http://schemas.openxmlformats.org/drawingml/2006/main">
              <a:ext uri="{FF2B5EF4-FFF2-40B4-BE49-F238E27FC236}">
                <a16:creationId xmlns:a16="http://schemas.microsoft.com/office/drawing/2014/main" id="{46AFD49D-CC40-4177-A6A4-9F3EAF070975}"/>
              </a:ext>
            </a:extLst>
          </p:cNvPr>
          <p:cNvSpPr>
            <a:spLocks xmlns:a="http://schemas.openxmlformats.org/drawingml/2006/main" noGrp="1"/>
          </p:cNvSpPr>
          <p:nvPr/>
        </p:nvSpPr>
        <p:spPr>
          <a:xfrm xmlns:a="http://schemas.openxmlformats.org/drawingml/2006/main">
            <a:off x="7600950" y="3009900"/>
            <a:ext cx="1695450" cy="5318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Second variable</a:t>
            </a:r>
          </a:p>
        </p:txBody>
      </p:sp>
      <p:sp>
        <p:nvSpPr>
          <p:cNvPr id="42" name="part-body-4">
            <a:extLst xmlns:a="http://schemas.openxmlformats.org/drawingml/2006/main">
              <a:ext uri="{FF2B5EF4-FFF2-40B4-BE49-F238E27FC236}">
                <a16:creationId xmlns:a16="http://schemas.microsoft.com/office/drawing/2014/main" id="{AECA3B04-EC34-451D-93C3-A2B85DD2C702}"/>
              </a:ext>
            </a:extLst>
          </p:cNvPr>
          <p:cNvSpPr>
            <a:spLocks xmlns:a="http://schemas.openxmlformats.org/drawingml/2006/main" noGrp="1"/>
          </p:cNvSpPr>
          <p:nvPr/>
        </p:nvSpPr>
        <p:spPr>
          <a:xfrm xmlns:a="http://schemas.openxmlformats.org/drawingml/2006/main">
            <a:off x="7296150" y="3637026"/>
            <a:ext cx="2000250" cy="41071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200" b="0">
                <a:solidFill>
                  <a:srgbClr val="5A5F66"/>
                </a:solidFill>
                <a:latin typeface="Arial"/>
                <a:ea typeface="Arial"/>
                <a:cs typeface="Arial"/>
              </a:defRPr>
            </a:pPr>
            <a:r>
              <a:rPr sz="1200" b="0">
                <a:solidFill>
                  <a:srgbClr val="5A5F66"/>
                </a:solidFill>
                <a:latin typeface="Arial"/>
                <a:ea typeface="Arial"/>
                <a:cs typeface="Arial"/>
              </a:rPr>
              <a:t>Looked up in exactly the same way; it holds 4.0.</a:t>
            </a:r>
          </a:p>
        </p:txBody>
      </p:sp>
    </p:spTree>
    <p:extLst>
      <p:ext uri="{BB962C8B-B14F-4D97-AF65-F5344CB8AC3E}">
        <p14:creationId xmlns:p14="http://schemas.microsoft.com/office/powerpoint/2010/main" val="73033017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kicker">
            <a:extLst xmlns:a="http://schemas.openxmlformats.org/drawingml/2006/main">
              <a:ext uri="{FF2B5EF4-FFF2-40B4-BE49-F238E27FC236}">
                <a16:creationId xmlns:a16="http://schemas.microsoft.com/office/drawing/2014/main" id="{9FFEE87B-98ED-475E-9CAC-65CE69BBFDC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READING ROUTINE</a:t>
            </a:r>
          </a:p>
        </p:txBody>
      </p:sp>
      <p:sp>
        <p:nvSpPr>
          <p:cNvPr id="2" name="title">
            <a:extLst xmlns:a="http://schemas.openxmlformats.org/drawingml/2006/main">
              <a:ext uri="{FF2B5EF4-FFF2-40B4-BE49-F238E27FC236}">
                <a16:creationId xmlns:a16="http://schemas.microsoft.com/office/drawing/2014/main" id="{B9DDD79A-0698-4748-93EB-37BB1E4DCF7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Read Python as a small written language</a:t>
            </a:r>
          </a:p>
        </p:txBody>
      </p:sp>
      <p:sp>
        <p:nvSpPr>
          <p:cNvPr id="3" name="">
            <a:extLst xmlns:a="http://schemas.openxmlformats.org/drawingml/2006/main">
              <a:ext uri="{FF2B5EF4-FFF2-40B4-BE49-F238E27FC236}">
                <a16:creationId xmlns:a16="http://schemas.microsoft.com/office/drawing/2014/main" id="{0D6E708E-90A8-4C41-9899-044C3E9D22C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211E765A-6A42-478D-A268-BEF1F21236A4}"/>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6E0D3AAB-5428-4E96-944F-9A285BCE777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25</a:t>
            </a:r>
          </a:p>
        </p:txBody>
      </p:sp>
      <p:sp>
        <p:nvSpPr>
          <p:cNvPr id="6" name="step-arrow-0">
            <a:extLst xmlns:a="http://schemas.openxmlformats.org/drawingml/2006/main">
              <a:ext uri="{FF2B5EF4-FFF2-40B4-BE49-F238E27FC236}">
                <a16:creationId xmlns:a16="http://schemas.microsoft.com/office/drawing/2014/main" id="{9C79DE69-D113-478D-8E1E-CF2296936816}"/>
              </a:ext>
            </a:extLst>
          </p:cNvPr>
          <p:cNvSpPr>
            <a:spLocks xmlns:a="http://schemas.openxmlformats.org/drawingml/2006/main" noGrp="1"/>
          </p:cNvSpPr>
          <p:nvPr/>
        </p:nvSpPr>
        <p:spPr>
          <a:xfrm xmlns:a="http://schemas.openxmlformats.org/drawingml/2006/main">
            <a:off x="32194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7" name="step-arrow-1">
            <a:extLst xmlns:a="http://schemas.openxmlformats.org/drawingml/2006/main">
              <a:ext uri="{FF2B5EF4-FFF2-40B4-BE49-F238E27FC236}">
                <a16:creationId xmlns:a16="http://schemas.microsoft.com/office/drawing/2014/main" id="{F9474A4A-A01B-4679-B0A6-948885652849}"/>
              </a:ext>
            </a:extLst>
          </p:cNvPr>
          <p:cNvSpPr>
            <a:spLocks xmlns:a="http://schemas.openxmlformats.org/drawingml/2006/main" noGrp="1"/>
          </p:cNvSpPr>
          <p:nvPr/>
        </p:nvSpPr>
        <p:spPr>
          <a:xfrm xmlns:a="http://schemas.openxmlformats.org/drawingml/2006/main">
            <a:off x="601980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8" name="step-arrow-2">
            <a:extLst xmlns:a="http://schemas.openxmlformats.org/drawingml/2006/main">
              <a:ext uri="{FF2B5EF4-FFF2-40B4-BE49-F238E27FC236}">
                <a16:creationId xmlns:a16="http://schemas.microsoft.com/office/drawing/2014/main" id="{2190C6DF-6BA2-4B32-9536-830E459841E9}"/>
              </a:ext>
            </a:extLst>
          </p:cNvPr>
          <p:cNvSpPr>
            <a:spLocks xmlns:a="http://schemas.openxmlformats.org/drawingml/2006/main" noGrp="1"/>
          </p:cNvSpPr>
          <p:nvPr/>
        </p:nvSpPr>
        <p:spPr>
          <a:xfrm xmlns:a="http://schemas.openxmlformats.org/drawingml/2006/main">
            <a:off x="8820150" y="3686175"/>
            <a:ext cx="152400" cy="495300"/>
          </a:xfrm>
          <a:prstGeom xmlns:a="http://schemas.openxmlformats.org/drawingml/2006/main" prst="chevron">
            <a:avLst/>
          </a:prstGeom>
          <a:solidFill xmlns:a="http://schemas.openxmlformats.org/drawingml/2006/main">
            <a:srgbClr val="E8EEF5"/>
          </a:solidFill>
          <a:ln xmlns:a="http://schemas.openxmlformats.org/drawingml/2006/main" w="0">
            <a:solidFill>
              <a:srgbClr val="E8EEF5"/>
            </a:solidFill>
            <a:prstDash val="solid"/>
          </a:ln>
        </p:spPr>
      </p:sp>
      <p:sp>
        <p:nvSpPr>
          <p:cNvPr id="9" name="step-node-0">
            <a:extLst xmlns:a="http://schemas.openxmlformats.org/drawingml/2006/main">
              <a:ext uri="{FF2B5EF4-FFF2-40B4-BE49-F238E27FC236}">
                <a16:creationId xmlns:a16="http://schemas.microsoft.com/office/drawing/2014/main" id="{83232791-E59B-4074-8597-5F82EA16A362}"/>
              </a:ext>
            </a:extLst>
          </p:cNvPr>
          <p:cNvSpPr>
            <a:spLocks xmlns:a="http://schemas.openxmlformats.org/drawingml/2006/main" noGrp="1"/>
          </p:cNvSpPr>
          <p:nvPr/>
        </p:nvSpPr>
        <p:spPr>
          <a:xfrm xmlns:a="http://schemas.openxmlformats.org/drawingml/2006/main">
            <a:off x="609600" y="1847850"/>
            <a:ext cx="2571750" cy="4171950"/>
          </a:xfrm>
          <a:prstGeom xmlns:a="http://schemas.openxmlformats.org/drawingml/2006/main" prst="roundRect">
            <a:avLst>
              <a:gd name="adj" fmla="val 3704"/>
            </a:avLst>
          </a:prstGeom>
          <a:solidFill xmlns:a="http://schemas.openxmlformats.org/drawingml/2006/main">
            <a:srgbClr val="F3F7FB"/>
          </a:solidFill>
          <a:ln xmlns:a="http://schemas.openxmlformats.org/drawingml/2006/main" w="9525">
            <a:solidFill>
              <a:srgbClr val="2E74B5"/>
            </a:solidFill>
            <a:prstDash val="solid"/>
          </a:ln>
        </p:spPr>
      </p:sp>
      <p:sp>
        <p:nvSpPr>
          <p:cNvPr id="10" name="step-number-0">
            <a:extLst xmlns:a="http://schemas.openxmlformats.org/drawingml/2006/main">
              <a:ext uri="{FF2B5EF4-FFF2-40B4-BE49-F238E27FC236}">
                <a16:creationId xmlns:a16="http://schemas.microsoft.com/office/drawing/2014/main" id="{25BE5770-F20B-47E4-A34C-BA04758ECD06}"/>
              </a:ext>
            </a:extLst>
          </p:cNvPr>
          <p:cNvSpPr>
            <a:spLocks xmlns:a="http://schemas.openxmlformats.org/drawingml/2006/main" noGrp="1"/>
          </p:cNvSpPr>
          <p:nvPr/>
        </p:nvSpPr>
        <p:spPr>
          <a:xfrm xmlns:a="http://schemas.openxmlformats.org/drawingml/2006/main">
            <a:off x="8001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01</a:t>
            </a:r>
          </a:p>
        </p:txBody>
      </p:sp>
      <p:sp>
        <p:nvSpPr>
          <p:cNvPr id="11" name="step-label-0">
            <a:extLst xmlns:a="http://schemas.openxmlformats.org/drawingml/2006/main">
              <a:ext uri="{FF2B5EF4-FFF2-40B4-BE49-F238E27FC236}">
                <a16:creationId xmlns:a16="http://schemas.microsoft.com/office/drawing/2014/main" id="{98CEE6AC-134C-47FB-8172-3C32C7F88DB3}"/>
              </a:ext>
            </a:extLst>
          </p:cNvPr>
          <p:cNvSpPr>
            <a:spLocks xmlns:a="http://schemas.openxmlformats.org/drawingml/2006/main" noGrp="1"/>
          </p:cNvSpPr>
          <p:nvPr/>
        </p:nvSpPr>
        <p:spPr>
          <a:xfrm xmlns:a="http://schemas.openxmlformats.org/drawingml/2006/main">
            <a:off x="12954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SCAN</a:t>
            </a:r>
          </a:p>
        </p:txBody>
      </p:sp>
      <p:sp>
        <p:nvSpPr>
          <p:cNvPr id="12" name="">
            <a:extLst xmlns:a="http://schemas.openxmlformats.org/drawingml/2006/main">
              <a:ext uri="{FF2B5EF4-FFF2-40B4-BE49-F238E27FC236}">
                <a16:creationId xmlns:a16="http://schemas.microsoft.com/office/drawing/2014/main" id="{7ED86FDA-0ABB-4B2C-907F-EADE58D331D5}"/>
              </a:ext>
            </a:extLst>
          </p:cNvPr>
          <p:cNvSpPr>
            <a:spLocks xmlns:a="http://schemas.openxmlformats.org/drawingml/2006/main" noGrp="1"/>
          </p:cNvSpPr>
          <p:nvPr/>
        </p:nvSpPr>
        <p:spPr>
          <a:xfrm xmlns:a="http://schemas.openxmlformats.org/drawingml/2006/main">
            <a:off x="800100" y="2476500"/>
            <a:ext cx="2190750" cy="0"/>
          </a:xfrm>
          <a:prstGeom xmlns:a="http://schemas.openxmlformats.org/drawingml/2006/main" prst="line">
            <a:avLst/>
          </a:prstGeom>
          <a:noFill xmlns:a="http://schemas.openxmlformats.org/drawingml/2006/main"/>
          <a:ln xmlns:a="http://schemas.openxmlformats.org/drawingml/2006/main" w="28575">
            <a:solidFill>
              <a:srgbClr val="2E74B5"/>
            </a:solidFill>
            <a:prstDash val="solid"/>
          </a:ln>
        </p:spPr>
      </p:sp>
      <p:sp>
        <p:nvSpPr>
          <p:cNvPr id="13" name="step-head-0">
            <a:extLst xmlns:a="http://schemas.openxmlformats.org/drawingml/2006/main">
              <a:ext uri="{FF2B5EF4-FFF2-40B4-BE49-F238E27FC236}">
                <a16:creationId xmlns:a16="http://schemas.microsoft.com/office/drawing/2014/main" id="{474F9BAB-E4FC-418C-96FF-6986B8681F00}"/>
              </a:ext>
            </a:extLst>
          </p:cNvPr>
          <p:cNvSpPr>
            <a:spLocks xmlns:a="http://schemas.openxmlformats.org/drawingml/2006/main" noGrp="1"/>
          </p:cNvSpPr>
          <p:nvPr/>
        </p:nvSpPr>
        <p:spPr>
          <a:xfrm xmlns:a="http://schemas.openxmlformats.org/drawingml/2006/main">
            <a:off x="8001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Start at the top</a:t>
            </a:r>
          </a:p>
        </p:txBody>
      </p:sp>
      <p:sp>
        <p:nvSpPr>
          <p:cNvPr id="14" name="step-body-0">
            <a:extLst xmlns:a="http://schemas.openxmlformats.org/drawingml/2006/main">
              <a:ext uri="{FF2B5EF4-FFF2-40B4-BE49-F238E27FC236}">
                <a16:creationId xmlns:a16="http://schemas.microsoft.com/office/drawing/2014/main" id="{96629691-9F34-4483-BFE8-361636869106}"/>
              </a:ext>
            </a:extLst>
          </p:cNvPr>
          <p:cNvSpPr>
            <a:spLocks xmlns:a="http://schemas.openxmlformats.org/drawingml/2006/main" noGrp="1"/>
          </p:cNvSpPr>
          <p:nvPr/>
        </p:nvSpPr>
        <p:spPr>
          <a:xfrm xmlns:a="http://schemas.openxmlformats.org/drawingml/2006/main">
            <a:off x="8001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Python reads the first line to the last, in written order. Nothing further down the page can change a line above it.</a:t>
            </a:r>
          </a:p>
        </p:txBody>
      </p:sp>
      <p:sp>
        <p:nvSpPr>
          <p:cNvPr id="15" name="step-node-1">
            <a:extLst xmlns:a="http://schemas.openxmlformats.org/drawingml/2006/main">
              <a:ext uri="{FF2B5EF4-FFF2-40B4-BE49-F238E27FC236}">
                <a16:creationId xmlns:a16="http://schemas.microsoft.com/office/drawing/2014/main" id="{BD9AC73F-5D52-44E4-87FB-288A83DAA1B7}"/>
              </a:ext>
            </a:extLst>
          </p:cNvPr>
          <p:cNvSpPr>
            <a:spLocks xmlns:a="http://schemas.openxmlformats.org/drawingml/2006/main" noGrp="1"/>
          </p:cNvSpPr>
          <p:nvPr/>
        </p:nvSpPr>
        <p:spPr>
          <a:xfrm xmlns:a="http://schemas.openxmlformats.org/drawingml/2006/main">
            <a:off x="34099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16" name="step-number-1">
            <a:extLst xmlns:a="http://schemas.openxmlformats.org/drawingml/2006/main">
              <a:ext uri="{FF2B5EF4-FFF2-40B4-BE49-F238E27FC236}">
                <a16:creationId xmlns:a16="http://schemas.microsoft.com/office/drawing/2014/main" id="{5BB7B705-C084-4CDC-9996-76F845781312}"/>
              </a:ext>
            </a:extLst>
          </p:cNvPr>
          <p:cNvSpPr>
            <a:spLocks xmlns:a="http://schemas.openxmlformats.org/drawingml/2006/main" noGrp="1"/>
          </p:cNvSpPr>
          <p:nvPr/>
        </p:nvSpPr>
        <p:spPr>
          <a:xfrm xmlns:a="http://schemas.openxmlformats.org/drawingml/2006/main">
            <a:off x="36004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02</a:t>
            </a:r>
          </a:p>
        </p:txBody>
      </p:sp>
      <p:sp>
        <p:nvSpPr>
          <p:cNvPr id="17" name="step-label-1">
            <a:extLst xmlns:a="http://schemas.openxmlformats.org/drawingml/2006/main">
              <a:ext uri="{FF2B5EF4-FFF2-40B4-BE49-F238E27FC236}">
                <a16:creationId xmlns:a16="http://schemas.microsoft.com/office/drawing/2014/main" id="{534B31C0-0A20-4903-8208-6BFEAC9D4977}"/>
              </a:ext>
            </a:extLst>
          </p:cNvPr>
          <p:cNvSpPr>
            <a:spLocks xmlns:a="http://schemas.openxmlformats.org/drawingml/2006/main" noGrp="1"/>
          </p:cNvSpPr>
          <p:nvPr/>
        </p:nvSpPr>
        <p:spPr>
          <a:xfrm xmlns:a="http://schemas.openxmlformats.org/drawingml/2006/main">
            <a:off x="40957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NAME</a:t>
            </a:r>
          </a:p>
        </p:txBody>
      </p:sp>
      <p:sp>
        <p:nvSpPr>
          <p:cNvPr id="18" name="">
            <a:extLst xmlns:a="http://schemas.openxmlformats.org/drawingml/2006/main">
              <a:ext uri="{FF2B5EF4-FFF2-40B4-BE49-F238E27FC236}">
                <a16:creationId xmlns:a16="http://schemas.microsoft.com/office/drawing/2014/main" id="{04B063B1-892B-4BD3-BFFD-91262D50F382}"/>
              </a:ext>
            </a:extLst>
          </p:cNvPr>
          <p:cNvSpPr>
            <a:spLocks xmlns:a="http://schemas.openxmlformats.org/drawingml/2006/main" noGrp="1"/>
          </p:cNvSpPr>
          <p:nvPr/>
        </p:nvSpPr>
        <p:spPr>
          <a:xfrm xmlns:a="http://schemas.openxmlformats.org/drawingml/2006/main">
            <a:off x="36004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19" name="step-head-1">
            <a:extLst xmlns:a="http://schemas.openxmlformats.org/drawingml/2006/main">
              <a:ext uri="{FF2B5EF4-FFF2-40B4-BE49-F238E27FC236}">
                <a16:creationId xmlns:a16="http://schemas.microsoft.com/office/drawing/2014/main" id="{748B73E7-DB4B-4C5A-9C5A-AB1737509C0D}"/>
              </a:ext>
            </a:extLst>
          </p:cNvPr>
          <p:cNvSpPr>
            <a:spLocks xmlns:a="http://schemas.openxmlformats.org/drawingml/2006/main" noGrp="1"/>
          </p:cNvSpPr>
          <p:nvPr/>
        </p:nvSpPr>
        <p:spPr>
          <a:xfrm xmlns:a="http://schemas.openxmlformats.org/drawingml/2006/main">
            <a:off x="360045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Label every part</a:t>
            </a:r>
          </a:p>
        </p:txBody>
      </p:sp>
      <p:sp>
        <p:nvSpPr>
          <p:cNvPr id="20" name="step-body-1">
            <a:extLst xmlns:a="http://schemas.openxmlformats.org/drawingml/2006/main">
              <a:ext uri="{FF2B5EF4-FFF2-40B4-BE49-F238E27FC236}">
                <a16:creationId xmlns:a16="http://schemas.microsoft.com/office/drawing/2014/main" id="{E9A5CA8E-1292-4EB3-8351-32612699C60E}"/>
              </a:ext>
            </a:extLst>
          </p:cNvPr>
          <p:cNvSpPr>
            <a:spLocks xmlns:a="http://schemas.openxmlformats.org/drawingml/2006/main" noGrp="1"/>
          </p:cNvSpPr>
          <p:nvPr/>
        </p:nvSpPr>
        <p:spPr>
          <a:xfrm xmlns:a="http://schemas.openxmlformats.org/drawingml/2006/main">
            <a:off x="360045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Which parts are literals, which are names, which is the operator, and which is a call to a function.</a:t>
            </a:r>
          </a:p>
        </p:txBody>
      </p:sp>
      <p:sp>
        <p:nvSpPr>
          <p:cNvPr id="21" name="step-node-2">
            <a:extLst xmlns:a="http://schemas.openxmlformats.org/drawingml/2006/main">
              <a:ext uri="{FF2B5EF4-FFF2-40B4-BE49-F238E27FC236}">
                <a16:creationId xmlns:a16="http://schemas.microsoft.com/office/drawing/2014/main" id="{17DC128D-DACF-47CC-AEDE-BC9BA9085E99}"/>
              </a:ext>
            </a:extLst>
          </p:cNvPr>
          <p:cNvSpPr>
            <a:spLocks xmlns:a="http://schemas.openxmlformats.org/drawingml/2006/main" noGrp="1"/>
          </p:cNvSpPr>
          <p:nvPr/>
        </p:nvSpPr>
        <p:spPr>
          <a:xfrm xmlns:a="http://schemas.openxmlformats.org/drawingml/2006/main">
            <a:off x="621030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2" name="step-number-2">
            <a:extLst xmlns:a="http://schemas.openxmlformats.org/drawingml/2006/main">
              <a:ext uri="{FF2B5EF4-FFF2-40B4-BE49-F238E27FC236}">
                <a16:creationId xmlns:a16="http://schemas.microsoft.com/office/drawing/2014/main" id="{0F55DB08-A0DC-4B22-9D02-152167E994CD}"/>
              </a:ext>
            </a:extLst>
          </p:cNvPr>
          <p:cNvSpPr>
            <a:spLocks xmlns:a="http://schemas.openxmlformats.org/drawingml/2006/main" noGrp="1"/>
          </p:cNvSpPr>
          <p:nvPr/>
        </p:nvSpPr>
        <p:spPr>
          <a:xfrm xmlns:a="http://schemas.openxmlformats.org/drawingml/2006/main">
            <a:off x="640080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03</a:t>
            </a:r>
          </a:p>
        </p:txBody>
      </p:sp>
      <p:sp>
        <p:nvSpPr>
          <p:cNvPr id="23" name="step-label-2">
            <a:extLst xmlns:a="http://schemas.openxmlformats.org/drawingml/2006/main">
              <a:ext uri="{FF2B5EF4-FFF2-40B4-BE49-F238E27FC236}">
                <a16:creationId xmlns:a16="http://schemas.microsoft.com/office/drawing/2014/main" id="{7F9E80EA-FC65-4AF2-AC56-87799C9D64E4}"/>
              </a:ext>
            </a:extLst>
          </p:cNvPr>
          <p:cNvSpPr>
            <a:spLocks xmlns:a="http://schemas.openxmlformats.org/drawingml/2006/main" noGrp="1"/>
          </p:cNvSpPr>
          <p:nvPr/>
        </p:nvSpPr>
        <p:spPr>
          <a:xfrm xmlns:a="http://schemas.openxmlformats.org/drawingml/2006/main">
            <a:off x="689610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EVALUATE</a:t>
            </a:r>
          </a:p>
        </p:txBody>
      </p:sp>
      <p:sp>
        <p:nvSpPr>
          <p:cNvPr id="24" name="">
            <a:extLst xmlns:a="http://schemas.openxmlformats.org/drawingml/2006/main">
              <a:ext uri="{FF2B5EF4-FFF2-40B4-BE49-F238E27FC236}">
                <a16:creationId xmlns:a16="http://schemas.microsoft.com/office/drawing/2014/main" id="{38A7E5F3-8D27-4862-8661-645AB93AC3B3}"/>
              </a:ext>
            </a:extLst>
          </p:cNvPr>
          <p:cNvSpPr>
            <a:spLocks xmlns:a="http://schemas.openxmlformats.org/drawingml/2006/main" noGrp="1"/>
          </p:cNvSpPr>
          <p:nvPr/>
        </p:nvSpPr>
        <p:spPr>
          <a:xfrm xmlns:a="http://schemas.openxmlformats.org/drawingml/2006/main">
            <a:off x="640080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25" name="step-head-2">
            <a:extLst xmlns:a="http://schemas.openxmlformats.org/drawingml/2006/main">
              <a:ext uri="{FF2B5EF4-FFF2-40B4-BE49-F238E27FC236}">
                <a16:creationId xmlns:a16="http://schemas.microsoft.com/office/drawing/2014/main" id="{2949392A-4532-40CB-AF7C-BDE18A77A5FD}"/>
              </a:ext>
            </a:extLst>
          </p:cNvPr>
          <p:cNvSpPr>
            <a:spLocks xmlns:a="http://schemas.openxmlformats.org/drawingml/2006/main" noGrp="1"/>
          </p:cNvSpPr>
          <p:nvPr/>
        </p:nvSpPr>
        <p:spPr>
          <a:xfrm xmlns:a="http://schemas.openxmlformats.org/drawingml/2006/main">
            <a:off x="6400800" y="2667000"/>
            <a:ext cx="219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Right side first</a:t>
            </a:r>
          </a:p>
        </p:txBody>
      </p:sp>
      <p:sp>
        <p:nvSpPr>
          <p:cNvPr id="26" name="step-body-2">
            <a:extLst xmlns:a="http://schemas.openxmlformats.org/drawingml/2006/main">
              <a:ext uri="{FF2B5EF4-FFF2-40B4-BE49-F238E27FC236}">
                <a16:creationId xmlns:a16="http://schemas.microsoft.com/office/drawing/2014/main" id="{8ED4BCCC-FB33-40B7-8811-0CD06BA774AA}"/>
              </a:ext>
            </a:extLst>
          </p:cNvPr>
          <p:cNvSpPr>
            <a:spLocks xmlns:a="http://schemas.openxmlformats.org/drawingml/2006/main" noGrp="1"/>
          </p:cNvSpPr>
          <p:nvPr/>
        </p:nvSpPr>
        <p:spPr>
          <a:xfrm xmlns:a="http://schemas.openxmlformats.org/drawingml/2006/main">
            <a:off x="6400800" y="3352800"/>
            <a:ext cx="219075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Work out the whole expression on the right before the name on the left takes its new value.</a:t>
            </a:r>
          </a:p>
        </p:txBody>
      </p:sp>
      <p:sp>
        <p:nvSpPr>
          <p:cNvPr id="27" name="step-node-3">
            <a:extLst xmlns:a="http://schemas.openxmlformats.org/drawingml/2006/main">
              <a:ext uri="{FF2B5EF4-FFF2-40B4-BE49-F238E27FC236}">
                <a16:creationId xmlns:a16="http://schemas.microsoft.com/office/drawing/2014/main" id="{125AC3C9-2F50-4D90-A736-E627C7C92A36}"/>
              </a:ext>
            </a:extLst>
          </p:cNvPr>
          <p:cNvSpPr>
            <a:spLocks xmlns:a="http://schemas.openxmlformats.org/drawingml/2006/main" noGrp="1"/>
          </p:cNvSpPr>
          <p:nvPr/>
        </p:nvSpPr>
        <p:spPr>
          <a:xfrm xmlns:a="http://schemas.openxmlformats.org/drawingml/2006/main">
            <a:off x="9010650" y="1847850"/>
            <a:ext cx="2571750" cy="4171950"/>
          </a:xfrm>
          <a:prstGeom xmlns:a="http://schemas.openxmlformats.org/drawingml/2006/main" prst="roundRect">
            <a:avLst>
              <a:gd name="adj" fmla="val 3704"/>
            </a:avLst>
          </a:prstGeom>
          <a:solidFill xmlns:a="http://schemas.openxmlformats.org/drawingml/2006/main">
            <a:srgbClr val="F6F7F9"/>
          </a:solidFill>
          <a:ln xmlns:a="http://schemas.openxmlformats.org/drawingml/2006/main" w="9525">
            <a:solidFill>
              <a:srgbClr val="DDE0E5"/>
            </a:solidFill>
            <a:prstDash val="solid"/>
          </a:ln>
        </p:spPr>
      </p:sp>
      <p:sp>
        <p:nvSpPr>
          <p:cNvPr id="28" name="step-number-3">
            <a:extLst xmlns:a="http://schemas.openxmlformats.org/drawingml/2006/main">
              <a:ext uri="{FF2B5EF4-FFF2-40B4-BE49-F238E27FC236}">
                <a16:creationId xmlns:a16="http://schemas.microsoft.com/office/drawing/2014/main" id="{7BDDAC6F-B4DA-4400-B8BE-9F0C2D5AA885}"/>
              </a:ext>
            </a:extLst>
          </p:cNvPr>
          <p:cNvSpPr>
            <a:spLocks xmlns:a="http://schemas.openxmlformats.org/drawingml/2006/main" noGrp="1"/>
          </p:cNvSpPr>
          <p:nvPr/>
        </p:nvSpPr>
        <p:spPr>
          <a:xfrm xmlns:a="http://schemas.openxmlformats.org/drawingml/2006/main">
            <a:off x="9201150" y="20383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2E74B5"/>
                </a:solidFill>
                <a:latin typeface="Arial"/>
                <a:ea typeface="Arial"/>
                <a:cs typeface="Arial"/>
              </a:defRPr>
            </a:pPr>
            <a:r>
              <a:rPr sz="1200" b="1">
                <a:solidFill>
                  <a:srgbClr val="2E74B5"/>
                </a:solidFill>
                <a:latin typeface="Arial"/>
                <a:ea typeface="Arial"/>
                <a:cs typeface="Arial"/>
              </a:rPr>
              <a:t>04</a:t>
            </a:r>
          </a:p>
        </p:txBody>
      </p:sp>
      <p:sp>
        <p:nvSpPr>
          <p:cNvPr id="29" name="step-label-3">
            <a:extLst xmlns:a="http://schemas.openxmlformats.org/drawingml/2006/main">
              <a:ext uri="{FF2B5EF4-FFF2-40B4-BE49-F238E27FC236}">
                <a16:creationId xmlns:a16="http://schemas.microsoft.com/office/drawing/2014/main" id="{5B7233A1-37E3-4EBE-91CE-84A3687B6414}"/>
              </a:ext>
            </a:extLst>
          </p:cNvPr>
          <p:cNvSpPr>
            <a:spLocks xmlns:a="http://schemas.openxmlformats.org/drawingml/2006/main" noGrp="1"/>
          </p:cNvSpPr>
          <p:nvPr/>
        </p:nvSpPr>
        <p:spPr>
          <a:xfrm xmlns:a="http://schemas.openxmlformats.org/drawingml/2006/main">
            <a:off x="9696450" y="2057400"/>
            <a:ext cx="1695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a:t>
            </a:r>
          </a:p>
        </p:txBody>
      </p:sp>
      <p:sp>
        <p:nvSpPr>
          <p:cNvPr id="30" name="">
            <a:extLst xmlns:a="http://schemas.openxmlformats.org/drawingml/2006/main">
              <a:ext uri="{FF2B5EF4-FFF2-40B4-BE49-F238E27FC236}">
                <a16:creationId xmlns:a16="http://schemas.microsoft.com/office/drawing/2014/main" id="{DE41E0B2-106E-410B-B30D-976DA8795ACD}"/>
              </a:ext>
            </a:extLst>
          </p:cNvPr>
          <p:cNvSpPr>
            <a:spLocks xmlns:a="http://schemas.openxmlformats.org/drawingml/2006/main" noGrp="1"/>
          </p:cNvSpPr>
          <p:nvPr/>
        </p:nvSpPr>
        <p:spPr>
          <a:xfrm xmlns:a="http://schemas.openxmlformats.org/drawingml/2006/main">
            <a:off x="9201150" y="2476500"/>
            <a:ext cx="2190750" cy="0"/>
          </a:xfrm>
          <a:prstGeom xmlns:a="http://schemas.openxmlformats.org/drawingml/2006/main" prst="line">
            <a:avLst/>
          </a:prstGeom>
          <a:noFill xmlns:a="http://schemas.openxmlformats.org/drawingml/2006/main"/>
          <a:ln xmlns:a="http://schemas.openxmlformats.org/drawingml/2006/main" w="19050">
            <a:solidFill>
              <a:srgbClr val="111316"/>
            </a:solidFill>
            <a:prstDash val="solid"/>
          </a:ln>
        </p:spPr>
      </p:sp>
      <p:sp>
        <p:nvSpPr>
          <p:cNvPr id="31" name="step-head-3">
            <a:extLst xmlns:a="http://schemas.openxmlformats.org/drawingml/2006/main">
              <a:ext uri="{FF2B5EF4-FFF2-40B4-BE49-F238E27FC236}">
                <a16:creationId xmlns:a16="http://schemas.microsoft.com/office/drawing/2014/main" id="{107DC860-D1EA-48F8-BF2E-922499D6FC3E}"/>
              </a:ext>
            </a:extLst>
          </p:cNvPr>
          <p:cNvSpPr>
            <a:spLocks xmlns:a="http://schemas.openxmlformats.org/drawingml/2006/main" noGrp="1"/>
          </p:cNvSpPr>
          <p:nvPr/>
        </p:nvSpPr>
        <p:spPr>
          <a:xfrm xmlns:a="http://schemas.openxmlformats.org/drawingml/2006/main">
            <a:off x="9201150" y="2667000"/>
            <a:ext cx="2190750" cy="55092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111316"/>
                </a:solidFill>
                <a:latin typeface="Arial"/>
                <a:ea typeface="Arial"/>
                <a:cs typeface="Arial"/>
              </a:defRPr>
            </a:pPr>
            <a:r>
              <a:rPr sz="1800" b="1">
                <a:solidFill>
                  <a:srgbClr val="111316"/>
                </a:solidFill>
                <a:latin typeface="Arial"/>
                <a:ea typeface="Arial"/>
                <a:cs typeface="Arial"/>
              </a:rPr>
              <a:t>Say the result aloud</a:t>
            </a:r>
          </a:p>
        </p:txBody>
      </p:sp>
      <p:sp>
        <p:nvSpPr>
          <p:cNvPr id="32" name="step-body-3">
            <a:extLst xmlns:a="http://schemas.openxmlformats.org/drawingml/2006/main">
              <a:ext uri="{FF2B5EF4-FFF2-40B4-BE49-F238E27FC236}">
                <a16:creationId xmlns:a16="http://schemas.microsoft.com/office/drawing/2014/main" id="{37A6DD09-80DC-4741-A1AA-D4CE3E41308D}"/>
              </a:ext>
            </a:extLst>
          </p:cNvPr>
          <p:cNvSpPr>
            <a:spLocks xmlns:a="http://schemas.openxmlformats.org/drawingml/2006/main" noGrp="1"/>
          </p:cNvSpPr>
          <p:nvPr/>
        </p:nvSpPr>
        <p:spPr>
          <a:xfrm xmlns:a="http://schemas.openxmlformats.org/drawingml/2006/main">
            <a:off x="9201150" y="3370326"/>
            <a:ext cx="2190750" cy="247802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State the new value, the names that changed, and what print would show. Then run it and compare.</a:t>
            </a:r>
          </a:p>
        </p:txBody>
      </p:sp>
    </p:spTree>
    <p:extLst>
      <p:ext uri="{BB962C8B-B14F-4D97-AF65-F5344CB8AC3E}">
        <p14:creationId xmlns:p14="http://schemas.microsoft.com/office/powerpoint/2010/main" val="4839194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8575E8CE-4666-4613-B116-8BB9B0456761}"/>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5AB6AB58-07AB-44AA-BEDF-29DCBE4546B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Predict the printed value, not the arithmetic</a:t>
            </a:r>
          </a:p>
        </p:txBody>
      </p:sp>
      <p:sp>
        <p:nvSpPr>
          <p:cNvPr id="3" name="">
            <a:extLst xmlns:a="http://schemas.openxmlformats.org/drawingml/2006/main">
              <a:ext uri="{FF2B5EF4-FFF2-40B4-BE49-F238E27FC236}">
                <a16:creationId xmlns:a16="http://schemas.microsoft.com/office/drawing/2014/main" id="{C7C9EC90-D3A4-4392-BD8F-B2766893A886}"/>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504B846-3282-4D59-A995-7011FA8EA8FF}"/>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E4084806-23CF-46EB-9887-056CE13BB91A}"/>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26</a:t>
            </a:r>
          </a:p>
        </p:txBody>
      </p:sp>
      <p:sp>
        <p:nvSpPr>
          <p:cNvPr id="6" name="code-panel">
            <a:extLst xmlns:a="http://schemas.openxmlformats.org/drawingml/2006/main">
              <a:ext uri="{FF2B5EF4-FFF2-40B4-BE49-F238E27FC236}">
                <a16:creationId xmlns:a16="http://schemas.microsoft.com/office/drawing/2014/main" id="{05DCC9D8-BC1B-498F-AB63-64FB284BA00F}"/>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DF575F5C-90AC-41A8-AD55-E318D6492BF1}"/>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room_length_m = 6.0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room_width_m = 4.0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room_length_m * room_width_m</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print(area_m2)</a:t>
            </a:r>
          </a:p>
        </p:txBody>
      </p:sp>
      <p:sp>
        <p:nvSpPr>
          <p:cNvPr id="8" name="question">
            <a:extLst xmlns:a="http://schemas.openxmlformats.org/drawingml/2006/main">
              <a:ext uri="{FF2B5EF4-FFF2-40B4-BE49-F238E27FC236}">
                <a16:creationId xmlns:a16="http://schemas.microsoft.com/office/drawing/2014/main" id="{139F0947-87AB-44AA-AE8D-9062D1C14323}"/>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exactly is printed?</a:t>
            </a:r>
          </a:p>
        </p:txBody>
      </p:sp>
      <p:sp>
        <p:nvSpPr>
          <p:cNvPr id="9" name="opt-0">
            <a:extLst xmlns:a="http://schemas.openxmlformats.org/drawingml/2006/main">
              <a:ext uri="{FF2B5EF4-FFF2-40B4-BE49-F238E27FC236}">
                <a16:creationId xmlns:a16="http://schemas.microsoft.com/office/drawing/2014/main" id="{CF32552A-B6DD-4579-AC90-E261BBC3DE58}"/>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04B13C76-89A1-4AC4-803B-1098946D80F8}"/>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CF7F7BB6-4B26-4C7B-B167-99A95A128A4E}"/>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24</a:t>
            </a:r>
          </a:p>
        </p:txBody>
      </p:sp>
      <p:sp>
        <p:nvSpPr>
          <p:cNvPr id="12" name="opt-1">
            <a:extLst xmlns:a="http://schemas.openxmlformats.org/drawingml/2006/main">
              <a:ext uri="{FF2B5EF4-FFF2-40B4-BE49-F238E27FC236}">
                <a16:creationId xmlns:a16="http://schemas.microsoft.com/office/drawing/2014/main" id="{0DA984A3-D5B2-4833-BF97-EA30FE3B28CD}"/>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B9ABA900-351A-4930-93EF-3BD016A9085B}"/>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2092320A-64EC-4580-8D88-00F0244D58DC}"/>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24.0</a:t>
            </a:r>
          </a:p>
        </p:txBody>
      </p:sp>
      <p:sp>
        <p:nvSpPr>
          <p:cNvPr id="15" name="opt-2">
            <a:extLst xmlns:a="http://schemas.openxmlformats.org/drawingml/2006/main">
              <a:ext uri="{FF2B5EF4-FFF2-40B4-BE49-F238E27FC236}">
                <a16:creationId xmlns:a16="http://schemas.microsoft.com/office/drawing/2014/main" id="{F5D2F2AA-3828-43FC-866D-EE0EF6CDB216}"/>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92461709-8960-47E1-AAFE-271926929401}"/>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1AE953B2-DA09-4B43-A936-F47A201F6E7F}"/>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area_m2</a:t>
            </a:r>
          </a:p>
        </p:txBody>
      </p:sp>
      <p:sp>
        <p:nvSpPr>
          <p:cNvPr id="18" name="opt-3">
            <a:extLst xmlns:a="http://schemas.openxmlformats.org/drawingml/2006/main">
              <a:ext uri="{FF2B5EF4-FFF2-40B4-BE49-F238E27FC236}">
                <a16:creationId xmlns:a16="http://schemas.microsoft.com/office/drawing/2014/main" id="{B36402FD-B644-4B9A-A76D-AEC16E99BB2E}"/>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C23AE519-356B-489B-A5FA-3524A9384642}"/>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A915C62E-2C6E-4449-9DE0-5B16DDD01A86}"/>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24.0 m2</a:t>
            </a:r>
          </a:p>
        </p:txBody>
      </p:sp>
      <p:sp>
        <p:nvSpPr>
          <p:cNvPr id="21" name="answer-panel">
            <a:extLst xmlns:a="http://schemas.openxmlformats.org/drawingml/2006/main">
              <a:ext uri="{FF2B5EF4-FFF2-40B4-BE49-F238E27FC236}">
                <a16:creationId xmlns:a16="http://schemas.microsoft.com/office/drawing/2014/main" id="{35370973-3606-4448-A4F0-2405CEFE9ABF}"/>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DAB39789-0ECB-4D12-A31A-11D062AE987A}"/>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B</a:t>
            </a:r>
          </a:p>
        </p:txBody>
      </p:sp>
      <p:sp>
        <p:nvSpPr>
          <p:cNvPr id="23" name="why">
            <a:extLst xmlns:a="http://schemas.openxmlformats.org/drawingml/2006/main">
              <a:ext uri="{FF2B5EF4-FFF2-40B4-BE49-F238E27FC236}">
                <a16:creationId xmlns:a16="http://schemas.microsoft.com/office/drawing/2014/main" id="{7802F2BA-9304-4A07-AD1F-4775B438F989}"/>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6.0 and 4.0 are decimals, so the result is one too. print reports the value stored, not the name or its unit.</a:t>
            </a:r>
          </a:p>
        </p:txBody>
      </p:sp>
    </p:spTree>
    <p:extLst>
      <p:ext uri="{BB962C8B-B14F-4D97-AF65-F5344CB8AC3E}">
        <p14:creationId xmlns:p14="http://schemas.microsoft.com/office/powerpoint/2010/main" val="45693756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F09B45CD-A984-4618-8201-5136B2190739}"/>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8D92200D-3123-4524-ADF5-E9627D98900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Running the assignments creates program state</a:t>
            </a:r>
          </a:p>
        </p:txBody>
      </p:sp>
      <p:sp>
        <p:nvSpPr>
          <p:cNvPr id="3" name="">
            <a:extLst xmlns:a="http://schemas.openxmlformats.org/drawingml/2006/main">
              <a:ext uri="{FF2B5EF4-FFF2-40B4-BE49-F238E27FC236}">
                <a16:creationId xmlns:a16="http://schemas.microsoft.com/office/drawing/2014/main" id="{6F8B97F9-0103-4067-B7FD-FAA40F89A87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07018683-A965-4DB1-8993-AF0C546CA8FE}"/>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81D3DB39-61DB-4920-A7AC-37EAD40E54B4}"/>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27</a:t>
            </a:r>
          </a:p>
        </p:txBody>
      </p:sp>
      <p:sp>
        <p:nvSpPr>
          <p:cNvPr id="6" name="code-panel">
            <a:extLst xmlns:a="http://schemas.openxmlformats.org/drawingml/2006/main">
              <a:ext uri="{FF2B5EF4-FFF2-40B4-BE49-F238E27FC236}">
                <a16:creationId xmlns:a16="http://schemas.microsoft.com/office/drawing/2014/main" id="{03F917D3-0003-448E-A498-CF0F5249DB93}"/>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269ABEA0-38D6-4184-AAB7-4E6A5D17E550}"/>
              </a:ext>
            </a:extLst>
          </p:cNvPr>
          <p:cNvSpPr>
            <a:spLocks xmlns:a="http://schemas.openxmlformats.org/drawingml/2006/main" noGrp="1"/>
          </p:cNvSpPr>
          <p:nvPr/>
        </p:nvSpPr>
        <p:spPr>
          <a:xfrm xmlns:a="http://schemas.openxmlformats.org/drawingml/2006/main">
            <a:off x="857250" y="2057400"/>
            <a:ext cx="6400800" cy="314096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room_length_m = 6.0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room_width_m = 4.0</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room_length_m * room_width_m</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print(area_m2)</a:t>
            </a:r>
          </a:p>
        </p:txBody>
      </p:sp>
      <p:sp>
        <p:nvSpPr>
          <p:cNvPr id="8" name="">
            <a:extLst xmlns:a="http://schemas.openxmlformats.org/drawingml/2006/main">
              <a:ext uri="{FF2B5EF4-FFF2-40B4-BE49-F238E27FC236}">
                <a16:creationId xmlns:a16="http://schemas.microsoft.com/office/drawing/2014/main" id="{1165A20E-D452-465A-94B2-4EACE3AE7B7B}"/>
              </a:ext>
            </a:extLst>
          </p:cNvPr>
          <p:cNvSpPr>
            <a:spLocks xmlns:a="http://schemas.openxmlformats.org/drawingml/2006/main" noGrp="1"/>
          </p:cNvSpPr>
          <p:nvPr/>
        </p:nvSpPr>
        <p:spPr>
          <a:xfrm xmlns:a="http://schemas.openxmlformats.org/drawingml/2006/main">
            <a:off x="857250" y="5255514"/>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9DA1F627-B3A1-4D33-93B8-BE13C9147929}"/>
              </a:ext>
            </a:extLst>
          </p:cNvPr>
          <p:cNvSpPr>
            <a:spLocks xmlns:a="http://schemas.openxmlformats.org/drawingml/2006/main" noGrp="1"/>
          </p:cNvSpPr>
          <p:nvPr/>
        </p:nvSpPr>
        <p:spPr>
          <a:xfrm xmlns:a="http://schemas.openxmlformats.org/drawingml/2006/main">
            <a:off x="857250" y="5369814"/>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4F2663D1-A392-4207-A8E7-2D857B3AB707}"/>
              </a:ext>
            </a:extLst>
          </p:cNvPr>
          <p:cNvSpPr>
            <a:spLocks xmlns:a="http://schemas.openxmlformats.org/drawingml/2006/main" noGrp="1"/>
          </p:cNvSpPr>
          <p:nvPr/>
        </p:nvSpPr>
        <p:spPr>
          <a:xfrm xmlns:a="http://schemas.openxmlformats.org/drawingml/2006/main">
            <a:off x="857250" y="5598414"/>
            <a:ext cx="6400800" cy="2308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24.0</a:t>
            </a:r>
          </a:p>
        </p:txBody>
      </p:sp>
      <p:sp>
        <p:nvSpPr>
          <p:cNvPr id="11" name="explain-head">
            <a:extLst xmlns:a="http://schemas.openxmlformats.org/drawingml/2006/main">
              <a:ext uri="{FF2B5EF4-FFF2-40B4-BE49-F238E27FC236}">
                <a16:creationId xmlns:a16="http://schemas.microsoft.com/office/drawing/2014/main" id="{BA33BE57-AC70-44CC-BBD2-BD22DDB61204}"/>
              </a:ext>
            </a:extLst>
          </p:cNvPr>
          <p:cNvSpPr>
            <a:spLocks xmlns:a="http://schemas.openxmlformats.org/drawingml/2006/main" noGrp="1"/>
          </p:cNvSpPr>
          <p:nvPr/>
        </p:nvSpPr>
        <p:spPr>
          <a:xfrm xmlns:a="http://schemas.openxmlformats.org/drawingml/2006/main">
            <a:off x="7886700" y="2790825"/>
            <a:ext cx="3695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Three names now exist</a:t>
            </a:r>
          </a:p>
        </p:txBody>
      </p:sp>
      <p:sp>
        <p:nvSpPr>
          <p:cNvPr id="12" name="explain-body">
            <a:extLst xmlns:a="http://schemas.openxmlformats.org/drawingml/2006/main">
              <a:ext uri="{FF2B5EF4-FFF2-40B4-BE49-F238E27FC236}">
                <a16:creationId xmlns:a16="http://schemas.microsoft.com/office/drawing/2014/main" id="{269CAC45-2D14-44CD-B6BA-A31834DD2C9E}"/>
              </a:ext>
            </a:extLst>
          </p:cNvPr>
          <p:cNvSpPr>
            <a:spLocks xmlns:a="http://schemas.openxmlformats.org/drawingml/2006/main" noGrp="1"/>
          </p:cNvSpPr>
          <p:nvPr/>
        </p:nvSpPr>
        <p:spPr>
          <a:xfrm xmlns:a="http://schemas.openxmlformats.org/drawingml/2006/main">
            <a:off x="7886700" y="3288411"/>
            <a:ext cx="36957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Each name is bound to one value: 6.0, 4.0, and 24.0. Change a name later and the earlier results do not recalculate themselves—program state is a record of what has already run.</a:t>
            </a:r>
          </a:p>
        </p:txBody>
      </p:sp>
    </p:spTree>
    <p:extLst>
      <p:ext uri="{BB962C8B-B14F-4D97-AF65-F5344CB8AC3E}">
        <p14:creationId xmlns:p14="http://schemas.microsoft.com/office/powerpoint/2010/main" val="173828806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kicker">
            <a:extLst xmlns:a="http://schemas.openxmlformats.org/drawingml/2006/main">
              <a:ext uri="{FF2B5EF4-FFF2-40B4-BE49-F238E27FC236}">
                <a16:creationId xmlns:a16="http://schemas.microsoft.com/office/drawing/2014/main" id="{FC485088-75BB-4408-9AAE-3B797CA7F9E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READ THE DATA</a:t>
            </a:r>
          </a:p>
        </p:txBody>
      </p:sp>
      <p:sp>
        <p:nvSpPr>
          <p:cNvPr id="2" name="title">
            <a:extLst xmlns:a="http://schemas.openxmlformats.org/drawingml/2006/main">
              <a:ext uri="{FF2B5EF4-FFF2-40B4-BE49-F238E27FC236}">
                <a16:creationId xmlns:a16="http://schemas.microsoft.com/office/drawing/2014/main" id="{32153768-AD1E-45A3-BACA-596C4BEFCA12}"/>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Trace state before running the program</a:t>
            </a:r>
          </a:p>
        </p:txBody>
      </p:sp>
      <p:sp>
        <p:nvSpPr>
          <p:cNvPr id="3" name="">
            <a:extLst xmlns:a="http://schemas.openxmlformats.org/drawingml/2006/main">
              <a:ext uri="{FF2B5EF4-FFF2-40B4-BE49-F238E27FC236}">
                <a16:creationId xmlns:a16="http://schemas.microsoft.com/office/drawing/2014/main" id="{DBB381AF-944A-4F8D-86D0-CE1D9D3216DD}"/>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E021A89F-7964-4E9F-8BB7-6528A053BD6B}"/>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278368D8-1BF2-48B1-ABBF-67F22DF4FCEF}"/>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28</a:t>
            </a:r>
          </a:p>
        </p:txBody>
      </p:sp>
      <p:sp>
        <p:nvSpPr>
          <p:cNvPr id="6" name="">
            <a:extLst xmlns:a="http://schemas.openxmlformats.org/drawingml/2006/main">
              <a:ext uri="{FF2B5EF4-FFF2-40B4-BE49-F238E27FC236}">
                <a16:creationId xmlns:a16="http://schemas.microsoft.com/office/drawing/2014/main" id="{AD9A3B6F-1942-4832-BE63-ED37242A2241}"/>
              </a:ext>
            </a:extLst>
          </p:cNvPr>
          <p:cNvSpPr>
            <a:spLocks xmlns:a="http://schemas.openxmlformats.org/drawingml/2006/main" noGrp="1"/>
          </p:cNvSpPr>
          <p:nvPr/>
        </p:nvSpPr>
        <p:spPr>
          <a:xfrm xmlns:a="http://schemas.openxmlformats.org/drawingml/2006/main">
            <a:off x="609600" y="2638425"/>
            <a:ext cx="31432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7" name="header-0">
            <a:extLst xmlns:a="http://schemas.openxmlformats.org/drawingml/2006/main">
              <a:ext uri="{FF2B5EF4-FFF2-40B4-BE49-F238E27FC236}">
                <a16:creationId xmlns:a16="http://schemas.microsoft.com/office/drawing/2014/main" id="{B2AFB73F-D870-4C2A-AF0A-4CA6EDA0C58A}"/>
              </a:ext>
            </a:extLst>
          </p:cNvPr>
          <p:cNvSpPr>
            <a:spLocks xmlns:a="http://schemas.openxmlformats.org/drawingml/2006/main" noGrp="1"/>
          </p:cNvSpPr>
          <p:nvPr/>
        </p:nvSpPr>
        <p:spPr>
          <a:xfrm xmlns:a="http://schemas.openxmlformats.org/drawingml/2006/main">
            <a:off x="723900" y="271462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statement</a:t>
            </a:r>
          </a:p>
        </p:txBody>
      </p:sp>
      <p:sp>
        <p:nvSpPr>
          <p:cNvPr id="8" name="">
            <a:extLst xmlns:a="http://schemas.openxmlformats.org/drawingml/2006/main">
              <a:ext uri="{FF2B5EF4-FFF2-40B4-BE49-F238E27FC236}">
                <a16:creationId xmlns:a16="http://schemas.microsoft.com/office/drawing/2014/main" id="{0B896FD5-9A1C-4C07-AE08-D429A61EC5D7}"/>
              </a:ext>
            </a:extLst>
          </p:cNvPr>
          <p:cNvSpPr>
            <a:spLocks xmlns:a="http://schemas.openxmlformats.org/drawingml/2006/main" noGrp="1"/>
          </p:cNvSpPr>
          <p:nvPr/>
        </p:nvSpPr>
        <p:spPr>
          <a:xfrm xmlns:a="http://schemas.openxmlformats.org/drawingml/2006/main">
            <a:off x="3752850" y="2638425"/>
            <a:ext cx="14287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9" name="header-1">
            <a:extLst xmlns:a="http://schemas.openxmlformats.org/drawingml/2006/main">
              <a:ext uri="{FF2B5EF4-FFF2-40B4-BE49-F238E27FC236}">
                <a16:creationId xmlns:a16="http://schemas.microsoft.com/office/drawing/2014/main" id="{42AB2E62-3A07-45C4-8A00-CEA374AC75D2}"/>
              </a:ext>
            </a:extLst>
          </p:cNvPr>
          <p:cNvSpPr>
            <a:spLocks xmlns:a="http://schemas.openxmlformats.org/drawingml/2006/main" noGrp="1"/>
          </p:cNvSpPr>
          <p:nvPr/>
        </p:nvSpPr>
        <p:spPr>
          <a:xfrm xmlns:a="http://schemas.openxmlformats.org/drawingml/2006/main">
            <a:off x="3867150" y="27146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length_m</a:t>
            </a:r>
          </a:p>
        </p:txBody>
      </p:sp>
      <p:sp>
        <p:nvSpPr>
          <p:cNvPr id="10" name="">
            <a:extLst xmlns:a="http://schemas.openxmlformats.org/drawingml/2006/main">
              <a:ext uri="{FF2B5EF4-FFF2-40B4-BE49-F238E27FC236}">
                <a16:creationId xmlns:a16="http://schemas.microsoft.com/office/drawing/2014/main" id="{BE18C704-577C-4878-B7F7-CBBD687E2D4E}"/>
              </a:ext>
            </a:extLst>
          </p:cNvPr>
          <p:cNvSpPr>
            <a:spLocks xmlns:a="http://schemas.openxmlformats.org/drawingml/2006/main" noGrp="1"/>
          </p:cNvSpPr>
          <p:nvPr/>
        </p:nvSpPr>
        <p:spPr>
          <a:xfrm xmlns:a="http://schemas.openxmlformats.org/drawingml/2006/main">
            <a:off x="5181600" y="2638425"/>
            <a:ext cx="14287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1" name="header-2">
            <a:extLst xmlns:a="http://schemas.openxmlformats.org/drawingml/2006/main">
              <a:ext uri="{FF2B5EF4-FFF2-40B4-BE49-F238E27FC236}">
                <a16:creationId xmlns:a16="http://schemas.microsoft.com/office/drawing/2014/main" id="{E051714D-A708-4276-9C1C-066238342171}"/>
              </a:ext>
            </a:extLst>
          </p:cNvPr>
          <p:cNvSpPr>
            <a:spLocks xmlns:a="http://schemas.openxmlformats.org/drawingml/2006/main" noGrp="1"/>
          </p:cNvSpPr>
          <p:nvPr/>
        </p:nvSpPr>
        <p:spPr>
          <a:xfrm xmlns:a="http://schemas.openxmlformats.org/drawingml/2006/main">
            <a:off x="5295900" y="27146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width_m</a:t>
            </a:r>
          </a:p>
        </p:txBody>
      </p:sp>
      <p:sp>
        <p:nvSpPr>
          <p:cNvPr id="12" name="">
            <a:extLst xmlns:a="http://schemas.openxmlformats.org/drawingml/2006/main">
              <a:ext uri="{FF2B5EF4-FFF2-40B4-BE49-F238E27FC236}">
                <a16:creationId xmlns:a16="http://schemas.microsoft.com/office/drawing/2014/main" id="{7A919FD2-755F-4106-B479-B1E6ABC63145}"/>
              </a:ext>
            </a:extLst>
          </p:cNvPr>
          <p:cNvSpPr>
            <a:spLocks xmlns:a="http://schemas.openxmlformats.org/drawingml/2006/main" noGrp="1"/>
          </p:cNvSpPr>
          <p:nvPr/>
        </p:nvSpPr>
        <p:spPr>
          <a:xfrm xmlns:a="http://schemas.openxmlformats.org/drawingml/2006/main">
            <a:off x="6610350" y="2638425"/>
            <a:ext cx="1428750" cy="533400"/>
          </a:xfrm>
          <a:prstGeom xmlns:a="http://schemas.openxmlformats.org/drawingml/2006/main" prst="rect">
            <a:avLst/>
          </a:prstGeom>
          <a:solidFill xmlns:a="http://schemas.openxmlformats.org/drawingml/2006/main">
            <a:srgbClr val="17191C"/>
          </a:solidFill>
          <a:ln xmlns:a="http://schemas.openxmlformats.org/drawingml/2006/main" w="9525">
            <a:solidFill>
              <a:srgbClr val="FFFFFF"/>
            </a:solidFill>
            <a:prstDash val="solid"/>
          </a:ln>
        </p:spPr>
      </p:sp>
      <p:sp>
        <p:nvSpPr>
          <p:cNvPr id="13" name="header-3">
            <a:extLst xmlns:a="http://schemas.openxmlformats.org/drawingml/2006/main">
              <a:ext uri="{FF2B5EF4-FFF2-40B4-BE49-F238E27FC236}">
                <a16:creationId xmlns:a16="http://schemas.microsoft.com/office/drawing/2014/main" id="{B375D858-1A08-48FE-AE2C-A50E5CEF3F78}"/>
              </a:ext>
            </a:extLst>
          </p:cNvPr>
          <p:cNvSpPr>
            <a:spLocks xmlns:a="http://schemas.openxmlformats.org/drawingml/2006/main" noGrp="1"/>
          </p:cNvSpPr>
          <p:nvPr/>
        </p:nvSpPr>
        <p:spPr>
          <a:xfrm xmlns:a="http://schemas.openxmlformats.org/drawingml/2006/main">
            <a:off x="6724650" y="27146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1">
                <a:solidFill>
                  <a:srgbClr val="FFFFFF"/>
                </a:solidFill>
                <a:latin typeface="Arial"/>
                <a:ea typeface="Arial"/>
                <a:cs typeface="Arial"/>
              </a:defRPr>
            </a:pPr>
            <a:r>
              <a:rPr sz="1500" b="1">
                <a:solidFill>
                  <a:srgbClr val="FFFFFF"/>
                </a:solidFill>
                <a:latin typeface="Arial"/>
                <a:ea typeface="Arial"/>
                <a:cs typeface="Arial"/>
              </a:rPr>
              <a:t>area_m2</a:t>
            </a:r>
          </a:p>
        </p:txBody>
      </p:sp>
      <p:sp>
        <p:nvSpPr>
          <p:cNvPr id="14" name="">
            <a:extLst xmlns:a="http://schemas.openxmlformats.org/drawingml/2006/main">
              <a:ext uri="{FF2B5EF4-FFF2-40B4-BE49-F238E27FC236}">
                <a16:creationId xmlns:a16="http://schemas.microsoft.com/office/drawing/2014/main" id="{238609B2-2229-4820-ABD5-1A013425FEF8}"/>
              </a:ext>
            </a:extLst>
          </p:cNvPr>
          <p:cNvSpPr>
            <a:spLocks xmlns:a="http://schemas.openxmlformats.org/drawingml/2006/main" noGrp="1"/>
          </p:cNvSpPr>
          <p:nvPr/>
        </p:nvSpPr>
        <p:spPr>
          <a:xfrm xmlns:a="http://schemas.openxmlformats.org/drawingml/2006/main">
            <a:off x="609600" y="3171825"/>
            <a:ext cx="3143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5" name="cell-0-0">
            <a:extLst xmlns:a="http://schemas.openxmlformats.org/drawingml/2006/main">
              <a:ext uri="{FF2B5EF4-FFF2-40B4-BE49-F238E27FC236}">
                <a16:creationId xmlns:a16="http://schemas.microsoft.com/office/drawing/2014/main" id="{C10F942D-8948-4B17-BA19-350EBC602D25}"/>
              </a:ext>
            </a:extLst>
          </p:cNvPr>
          <p:cNvSpPr>
            <a:spLocks xmlns:a="http://schemas.openxmlformats.org/drawingml/2006/main" noGrp="1"/>
          </p:cNvSpPr>
          <p:nvPr/>
        </p:nvSpPr>
        <p:spPr>
          <a:xfrm xmlns:a="http://schemas.openxmlformats.org/drawingml/2006/main">
            <a:off x="723900" y="324802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length_m = 6</a:t>
            </a:r>
          </a:p>
        </p:txBody>
      </p:sp>
      <p:sp>
        <p:nvSpPr>
          <p:cNvPr id="16" name="">
            <a:extLst xmlns:a="http://schemas.openxmlformats.org/drawingml/2006/main">
              <a:ext uri="{FF2B5EF4-FFF2-40B4-BE49-F238E27FC236}">
                <a16:creationId xmlns:a16="http://schemas.microsoft.com/office/drawing/2014/main" id="{4B0383A6-D10D-4861-9724-4D4571AB11D8}"/>
              </a:ext>
            </a:extLst>
          </p:cNvPr>
          <p:cNvSpPr>
            <a:spLocks xmlns:a="http://schemas.openxmlformats.org/drawingml/2006/main" noGrp="1"/>
          </p:cNvSpPr>
          <p:nvPr/>
        </p:nvSpPr>
        <p:spPr>
          <a:xfrm xmlns:a="http://schemas.openxmlformats.org/drawingml/2006/main">
            <a:off x="3752850" y="3171825"/>
            <a:ext cx="142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7" name="cell-0-1">
            <a:extLst xmlns:a="http://schemas.openxmlformats.org/drawingml/2006/main">
              <a:ext uri="{FF2B5EF4-FFF2-40B4-BE49-F238E27FC236}">
                <a16:creationId xmlns:a16="http://schemas.microsoft.com/office/drawing/2014/main" id="{3E6A922D-7A2D-466C-AE11-091F5CC5D6EA}"/>
              </a:ext>
            </a:extLst>
          </p:cNvPr>
          <p:cNvSpPr>
            <a:spLocks xmlns:a="http://schemas.openxmlformats.org/drawingml/2006/main" noGrp="1"/>
          </p:cNvSpPr>
          <p:nvPr/>
        </p:nvSpPr>
        <p:spPr>
          <a:xfrm xmlns:a="http://schemas.openxmlformats.org/drawingml/2006/main">
            <a:off x="3867150" y="32480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a:t>
            </a:r>
          </a:p>
        </p:txBody>
      </p:sp>
      <p:sp>
        <p:nvSpPr>
          <p:cNvPr id="18" name="">
            <a:extLst xmlns:a="http://schemas.openxmlformats.org/drawingml/2006/main">
              <a:ext uri="{FF2B5EF4-FFF2-40B4-BE49-F238E27FC236}">
                <a16:creationId xmlns:a16="http://schemas.microsoft.com/office/drawing/2014/main" id="{D9E2F31B-8413-4CBF-BE8D-5C1D3DBA85AD}"/>
              </a:ext>
            </a:extLst>
          </p:cNvPr>
          <p:cNvSpPr>
            <a:spLocks xmlns:a="http://schemas.openxmlformats.org/drawingml/2006/main" noGrp="1"/>
          </p:cNvSpPr>
          <p:nvPr/>
        </p:nvSpPr>
        <p:spPr>
          <a:xfrm xmlns:a="http://schemas.openxmlformats.org/drawingml/2006/main">
            <a:off x="5181600" y="3171825"/>
            <a:ext cx="142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19" name="cell-0-2">
            <a:extLst xmlns:a="http://schemas.openxmlformats.org/drawingml/2006/main">
              <a:ext uri="{FF2B5EF4-FFF2-40B4-BE49-F238E27FC236}">
                <a16:creationId xmlns:a16="http://schemas.microsoft.com/office/drawing/2014/main" id="{9E6F91FD-EFFA-4F16-A9FB-562C79853904}"/>
              </a:ext>
            </a:extLst>
          </p:cNvPr>
          <p:cNvSpPr>
            <a:spLocks xmlns:a="http://schemas.openxmlformats.org/drawingml/2006/main" noGrp="1"/>
          </p:cNvSpPr>
          <p:nvPr/>
        </p:nvSpPr>
        <p:spPr>
          <a:xfrm xmlns:a="http://schemas.openxmlformats.org/drawingml/2006/main">
            <a:off x="5295900" y="32480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0CD8E41C-FE2B-4B2E-835A-F90D6198103E}"/>
              </a:ext>
            </a:extLst>
          </p:cNvPr>
          <p:cNvSpPr>
            <a:spLocks xmlns:a="http://schemas.openxmlformats.org/drawingml/2006/main" noGrp="1"/>
          </p:cNvSpPr>
          <p:nvPr/>
        </p:nvSpPr>
        <p:spPr>
          <a:xfrm xmlns:a="http://schemas.openxmlformats.org/drawingml/2006/main">
            <a:off x="6610350" y="3171825"/>
            <a:ext cx="142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21" name="cell-0-3">
            <a:extLst xmlns:a="http://schemas.openxmlformats.org/drawingml/2006/main">
              <a:ext uri="{FF2B5EF4-FFF2-40B4-BE49-F238E27FC236}">
                <a16:creationId xmlns:a16="http://schemas.microsoft.com/office/drawing/2014/main" id="{05517755-F9F2-446D-A44B-DF4AAC7575D0}"/>
              </a:ext>
            </a:extLst>
          </p:cNvPr>
          <p:cNvSpPr>
            <a:spLocks xmlns:a="http://schemas.openxmlformats.org/drawingml/2006/main" noGrp="1"/>
          </p:cNvSpPr>
          <p:nvPr/>
        </p:nvSpPr>
        <p:spPr>
          <a:xfrm xmlns:a="http://schemas.openxmlformats.org/drawingml/2006/main">
            <a:off x="6724650" y="32480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541043EA-FDEC-46C6-A753-584F1CE6D6ED}"/>
              </a:ext>
            </a:extLst>
          </p:cNvPr>
          <p:cNvSpPr>
            <a:spLocks xmlns:a="http://schemas.openxmlformats.org/drawingml/2006/main" noGrp="1"/>
          </p:cNvSpPr>
          <p:nvPr/>
        </p:nvSpPr>
        <p:spPr>
          <a:xfrm xmlns:a="http://schemas.openxmlformats.org/drawingml/2006/main">
            <a:off x="609600" y="3705225"/>
            <a:ext cx="3143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3" name="cell-1-0">
            <a:extLst xmlns:a="http://schemas.openxmlformats.org/drawingml/2006/main">
              <a:ext uri="{FF2B5EF4-FFF2-40B4-BE49-F238E27FC236}">
                <a16:creationId xmlns:a16="http://schemas.microsoft.com/office/drawing/2014/main" id="{702ED5D9-DDC0-410D-AD25-538EE97EAA11}"/>
              </a:ext>
            </a:extLst>
          </p:cNvPr>
          <p:cNvSpPr>
            <a:spLocks xmlns:a="http://schemas.openxmlformats.org/drawingml/2006/main" noGrp="1"/>
          </p:cNvSpPr>
          <p:nvPr/>
        </p:nvSpPr>
        <p:spPr>
          <a:xfrm xmlns:a="http://schemas.openxmlformats.org/drawingml/2006/main">
            <a:off x="723900" y="378142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width_m = 4</a:t>
            </a:r>
          </a:p>
        </p:txBody>
      </p:sp>
      <p:sp>
        <p:nvSpPr>
          <p:cNvPr id="24" name="">
            <a:extLst xmlns:a="http://schemas.openxmlformats.org/drawingml/2006/main">
              <a:ext uri="{FF2B5EF4-FFF2-40B4-BE49-F238E27FC236}">
                <a16:creationId xmlns:a16="http://schemas.microsoft.com/office/drawing/2014/main" id="{4D9BE4F3-26E9-435A-89E5-0B11C2C9FDFE}"/>
              </a:ext>
            </a:extLst>
          </p:cNvPr>
          <p:cNvSpPr>
            <a:spLocks xmlns:a="http://schemas.openxmlformats.org/drawingml/2006/main" noGrp="1"/>
          </p:cNvSpPr>
          <p:nvPr/>
        </p:nvSpPr>
        <p:spPr>
          <a:xfrm xmlns:a="http://schemas.openxmlformats.org/drawingml/2006/main">
            <a:off x="3752850" y="3705225"/>
            <a:ext cx="14287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5" name="cell-1-1">
            <a:extLst xmlns:a="http://schemas.openxmlformats.org/drawingml/2006/main">
              <a:ext uri="{FF2B5EF4-FFF2-40B4-BE49-F238E27FC236}">
                <a16:creationId xmlns:a16="http://schemas.microsoft.com/office/drawing/2014/main" id="{CCC13C07-DD7A-4CF0-84D5-FB2197444975}"/>
              </a:ext>
            </a:extLst>
          </p:cNvPr>
          <p:cNvSpPr>
            <a:spLocks xmlns:a="http://schemas.openxmlformats.org/drawingml/2006/main" noGrp="1"/>
          </p:cNvSpPr>
          <p:nvPr/>
        </p:nvSpPr>
        <p:spPr>
          <a:xfrm xmlns:a="http://schemas.openxmlformats.org/drawingml/2006/main">
            <a:off x="3867150" y="37814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a:t>
            </a:r>
          </a:p>
        </p:txBody>
      </p:sp>
      <p:sp>
        <p:nvSpPr>
          <p:cNvPr id="26" name="">
            <a:extLst xmlns:a="http://schemas.openxmlformats.org/drawingml/2006/main">
              <a:ext uri="{FF2B5EF4-FFF2-40B4-BE49-F238E27FC236}">
                <a16:creationId xmlns:a16="http://schemas.microsoft.com/office/drawing/2014/main" id="{69869F64-2E73-4840-8AEC-96B95E76F1A8}"/>
              </a:ext>
            </a:extLst>
          </p:cNvPr>
          <p:cNvSpPr>
            <a:spLocks xmlns:a="http://schemas.openxmlformats.org/drawingml/2006/main" noGrp="1"/>
          </p:cNvSpPr>
          <p:nvPr/>
        </p:nvSpPr>
        <p:spPr>
          <a:xfrm xmlns:a="http://schemas.openxmlformats.org/drawingml/2006/main">
            <a:off x="5181600" y="3705225"/>
            <a:ext cx="14287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7" name="cell-1-2">
            <a:extLst xmlns:a="http://schemas.openxmlformats.org/drawingml/2006/main">
              <a:ext uri="{FF2B5EF4-FFF2-40B4-BE49-F238E27FC236}">
                <a16:creationId xmlns:a16="http://schemas.microsoft.com/office/drawing/2014/main" id="{236175FE-8686-4C8A-9B3D-5C39C1183DF9}"/>
              </a:ext>
            </a:extLst>
          </p:cNvPr>
          <p:cNvSpPr>
            <a:spLocks xmlns:a="http://schemas.openxmlformats.org/drawingml/2006/main" noGrp="1"/>
          </p:cNvSpPr>
          <p:nvPr/>
        </p:nvSpPr>
        <p:spPr>
          <a:xfrm xmlns:a="http://schemas.openxmlformats.org/drawingml/2006/main">
            <a:off x="5295900" y="37814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1341DC0B-185D-411E-89FC-25D2F93E5642}"/>
              </a:ext>
            </a:extLst>
          </p:cNvPr>
          <p:cNvSpPr>
            <a:spLocks xmlns:a="http://schemas.openxmlformats.org/drawingml/2006/main" noGrp="1"/>
          </p:cNvSpPr>
          <p:nvPr/>
        </p:nvSpPr>
        <p:spPr>
          <a:xfrm xmlns:a="http://schemas.openxmlformats.org/drawingml/2006/main">
            <a:off x="6610350" y="3705225"/>
            <a:ext cx="14287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29" name="cell-1-3">
            <a:extLst xmlns:a="http://schemas.openxmlformats.org/drawingml/2006/main">
              <a:ext uri="{FF2B5EF4-FFF2-40B4-BE49-F238E27FC236}">
                <a16:creationId xmlns:a16="http://schemas.microsoft.com/office/drawing/2014/main" id="{9719A2CB-6B54-4E08-AB83-15B86F09C1D1}"/>
              </a:ext>
            </a:extLst>
          </p:cNvPr>
          <p:cNvSpPr>
            <a:spLocks xmlns:a="http://schemas.openxmlformats.org/drawingml/2006/main" noGrp="1"/>
          </p:cNvSpPr>
          <p:nvPr/>
        </p:nvSpPr>
        <p:spPr>
          <a:xfrm xmlns:a="http://schemas.openxmlformats.org/drawingml/2006/main">
            <a:off x="6724650" y="37814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36A6440A-CEDF-405F-89C7-5B20805B5F3A}"/>
              </a:ext>
            </a:extLst>
          </p:cNvPr>
          <p:cNvSpPr>
            <a:spLocks xmlns:a="http://schemas.openxmlformats.org/drawingml/2006/main" noGrp="1"/>
          </p:cNvSpPr>
          <p:nvPr/>
        </p:nvSpPr>
        <p:spPr>
          <a:xfrm xmlns:a="http://schemas.openxmlformats.org/drawingml/2006/main">
            <a:off x="609600" y="4238625"/>
            <a:ext cx="31432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1" name="cell-2-0">
            <a:extLst xmlns:a="http://schemas.openxmlformats.org/drawingml/2006/main">
              <a:ext uri="{FF2B5EF4-FFF2-40B4-BE49-F238E27FC236}">
                <a16:creationId xmlns:a16="http://schemas.microsoft.com/office/drawing/2014/main" id="{DE5514EC-EAAE-400F-A45B-62516DB820EA}"/>
              </a:ext>
            </a:extLst>
          </p:cNvPr>
          <p:cNvSpPr>
            <a:spLocks xmlns:a="http://schemas.openxmlformats.org/drawingml/2006/main" noGrp="1"/>
          </p:cNvSpPr>
          <p:nvPr/>
        </p:nvSpPr>
        <p:spPr>
          <a:xfrm xmlns:a="http://schemas.openxmlformats.org/drawingml/2006/main">
            <a:off x="723900" y="431482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area_m2 = length_m * width_m</a:t>
            </a:r>
          </a:p>
        </p:txBody>
      </p:sp>
      <p:sp>
        <p:nvSpPr>
          <p:cNvPr id="32" name="">
            <a:extLst xmlns:a="http://schemas.openxmlformats.org/drawingml/2006/main">
              <a:ext uri="{FF2B5EF4-FFF2-40B4-BE49-F238E27FC236}">
                <a16:creationId xmlns:a16="http://schemas.microsoft.com/office/drawing/2014/main" id="{B61DD1AA-E1F0-4215-A239-C2C9771504D9}"/>
              </a:ext>
            </a:extLst>
          </p:cNvPr>
          <p:cNvSpPr>
            <a:spLocks xmlns:a="http://schemas.openxmlformats.org/drawingml/2006/main" noGrp="1"/>
          </p:cNvSpPr>
          <p:nvPr/>
        </p:nvSpPr>
        <p:spPr>
          <a:xfrm xmlns:a="http://schemas.openxmlformats.org/drawingml/2006/main">
            <a:off x="3752850" y="4238625"/>
            <a:ext cx="142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3" name="cell-2-1">
            <a:extLst xmlns:a="http://schemas.openxmlformats.org/drawingml/2006/main">
              <a:ext uri="{FF2B5EF4-FFF2-40B4-BE49-F238E27FC236}">
                <a16:creationId xmlns:a16="http://schemas.microsoft.com/office/drawing/2014/main" id="{CC96B2EE-41D3-44E8-8FB0-44D7770C602D}"/>
              </a:ext>
            </a:extLst>
          </p:cNvPr>
          <p:cNvSpPr>
            <a:spLocks xmlns:a="http://schemas.openxmlformats.org/drawingml/2006/main" noGrp="1"/>
          </p:cNvSpPr>
          <p:nvPr/>
        </p:nvSpPr>
        <p:spPr>
          <a:xfrm xmlns:a="http://schemas.openxmlformats.org/drawingml/2006/main">
            <a:off x="3867150" y="43148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a:t>
            </a:r>
          </a:p>
        </p:txBody>
      </p:sp>
      <p:sp>
        <p:nvSpPr>
          <p:cNvPr id="34" name="">
            <a:extLst xmlns:a="http://schemas.openxmlformats.org/drawingml/2006/main">
              <a:ext uri="{FF2B5EF4-FFF2-40B4-BE49-F238E27FC236}">
                <a16:creationId xmlns:a16="http://schemas.microsoft.com/office/drawing/2014/main" id="{F1F740C2-8DE7-4A7F-AC7A-E4622C2E845F}"/>
              </a:ext>
            </a:extLst>
          </p:cNvPr>
          <p:cNvSpPr>
            <a:spLocks xmlns:a="http://schemas.openxmlformats.org/drawingml/2006/main" noGrp="1"/>
          </p:cNvSpPr>
          <p:nvPr/>
        </p:nvSpPr>
        <p:spPr>
          <a:xfrm xmlns:a="http://schemas.openxmlformats.org/drawingml/2006/main">
            <a:off x="5181600" y="4238625"/>
            <a:ext cx="142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5" name="cell-2-2">
            <a:extLst xmlns:a="http://schemas.openxmlformats.org/drawingml/2006/main">
              <a:ext uri="{FF2B5EF4-FFF2-40B4-BE49-F238E27FC236}">
                <a16:creationId xmlns:a16="http://schemas.microsoft.com/office/drawing/2014/main" id="{9C15F3A1-B3CA-4DAA-BC5F-50E826017EEC}"/>
              </a:ext>
            </a:extLst>
          </p:cNvPr>
          <p:cNvSpPr>
            <a:spLocks xmlns:a="http://schemas.openxmlformats.org/drawingml/2006/main" noGrp="1"/>
          </p:cNvSpPr>
          <p:nvPr/>
        </p:nvSpPr>
        <p:spPr>
          <a:xfrm xmlns:a="http://schemas.openxmlformats.org/drawingml/2006/main">
            <a:off x="5295900" y="43148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a:t>
            </a:r>
          </a:p>
        </p:txBody>
      </p:sp>
      <p:sp>
        <p:nvSpPr>
          <p:cNvPr id="36" name="">
            <a:extLst xmlns:a="http://schemas.openxmlformats.org/drawingml/2006/main">
              <a:ext uri="{FF2B5EF4-FFF2-40B4-BE49-F238E27FC236}">
                <a16:creationId xmlns:a16="http://schemas.microsoft.com/office/drawing/2014/main" id="{7F857293-AAA5-48F2-A0B6-676EA15E5CCA}"/>
              </a:ext>
            </a:extLst>
          </p:cNvPr>
          <p:cNvSpPr>
            <a:spLocks xmlns:a="http://schemas.openxmlformats.org/drawingml/2006/main" noGrp="1"/>
          </p:cNvSpPr>
          <p:nvPr/>
        </p:nvSpPr>
        <p:spPr>
          <a:xfrm xmlns:a="http://schemas.openxmlformats.org/drawingml/2006/main">
            <a:off x="6610350" y="4238625"/>
            <a:ext cx="142875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E0E5"/>
            </a:solidFill>
            <a:prstDash val="solid"/>
          </a:ln>
        </p:spPr>
      </p:sp>
      <p:sp>
        <p:nvSpPr>
          <p:cNvPr id="37" name="cell-2-3">
            <a:extLst xmlns:a="http://schemas.openxmlformats.org/drawingml/2006/main">
              <a:ext uri="{FF2B5EF4-FFF2-40B4-BE49-F238E27FC236}">
                <a16:creationId xmlns:a16="http://schemas.microsoft.com/office/drawing/2014/main" id="{88B7B000-72CC-4713-9113-AE2B1C14D484}"/>
              </a:ext>
            </a:extLst>
          </p:cNvPr>
          <p:cNvSpPr>
            <a:spLocks xmlns:a="http://schemas.openxmlformats.org/drawingml/2006/main" noGrp="1"/>
          </p:cNvSpPr>
          <p:nvPr/>
        </p:nvSpPr>
        <p:spPr>
          <a:xfrm xmlns:a="http://schemas.openxmlformats.org/drawingml/2006/main">
            <a:off x="6724650" y="43148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24</a:t>
            </a:r>
          </a:p>
        </p:txBody>
      </p:sp>
      <p:sp>
        <p:nvSpPr>
          <p:cNvPr id="38" name="">
            <a:extLst xmlns:a="http://schemas.openxmlformats.org/drawingml/2006/main">
              <a:ext uri="{FF2B5EF4-FFF2-40B4-BE49-F238E27FC236}">
                <a16:creationId xmlns:a16="http://schemas.microsoft.com/office/drawing/2014/main" id="{E85F225C-4F0B-4550-BF67-E83340E0D501}"/>
              </a:ext>
            </a:extLst>
          </p:cNvPr>
          <p:cNvSpPr>
            <a:spLocks xmlns:a="http://schemas.openxmlformats.org/drawingml/2006/main" noGrp="1"/>
          </p:cNvSpPr>
          <p:nvPr/>
        </p:nvSpPr>
        <p:spPr>
          <a:xfrm xmlns:a="http://schemas.openxmlformats.org/drawingml/2006/main">
            <a:off x="609600" y="4772025"/>
            <a:ext cx="31432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39" name="cell-3-0">
            <a:extLst xmlns:a="http://schemas.openxmlformats.org/drawingml/2006/main">
              <a:ext uri="{FF2B5EF4-FFF2-40B4-BE49-F238E27FC236}">
                <a16:creationId xmlns:a16="http://schemas.microsoft.com/office/drawing/2014/main" id="{DA6D0934-DB8C-4EAA-85A9-160F7AECBEB3}"/>
              </a:ext>
            </a:extLst>
          </p:cNvPr>
          <p:cNvSpPr>
            <a:spLocks xmlns:a="http://schemas.openxmlformats.org/drawingml/2006/main" noGrp="1"/>
          </p:cNvSpPr>
          <p:nvPr/>
        </p:nvSpPr>
        <p:spPr>
          <a:xfrm xmlns:a="http://schemas.openxmlformats.org/drawingml/2006/main">
            <a:off x="723900" y="4848225"/>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print(area_m2)</a:t>
            </a:r>
          </a:p>
        </p:txBody>
      </p:sp>
      <p:sp>
        <p:nvSpPr>
          <p:cNvPr id="40" name="">
            <a:extLst xmlns:a="http://schemas.openxmlformats.org/drawingml/2006/main">
              <a:ext uri="{FF2B5EF4-FFF2-40B4-BE49-F238E27FC236}">
                <a16:creationId xmlns:a16="http://schemas.microsoft.com/office/drawing/2014/main" id="{028E7AE6-5CE8-4A2F-92F3-6452CDDE2E3C}"/>
              </a:ext>
            </a:extLst>
          </p:cNvPr>
          <p:cNvSpPr>
            <a:spLocks xmlns:a="http://schemas.openxmlformats.org/drawingml/2006/main" noGrp="1"/>
          </p:cNvSpPr>
          <p:nvPr/>
        </p:nvSpPr>
        <p:spPr>
          <a:xfrm xmlns:a="http://schemas.openxmlformats.org/drawingml/2006/main">
            <a:off x="3752850" y="4772025"/>
            <a:ext cx="14287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1" name="cell-3-1">
            <a:extLst xmlns:a="http://schemas.openxmlformats.org/drawingml/2006/main">
              <a:ext uri="{FF2B5EF4-FFF2-40B4-BE49-F238E27FC236}">
                <a16:creationId xmlns:a16="http://schemas.microsoft.com/office/drawing/2014/main" id="{ECA0E16C-D83E-4A25-9755-962C0D021971}"/>
              </a:ext>
            </a:extLst>
          </p:cNvPr>
          <p:cNvSpPr>
            <a:spLocks xmlns:a="http://schemas.openxmlformats.org/drawingml/2006/main" noGrp="1"/>
          </p:cNvSpPr>
          <p:nvPr/>
        </p:nvSpPr>
        <p:spPr>
          <a:xfrm xmlns:a="http://schemas.openxmlformats.org/drawingml/2006/main">
            <a:off x="3867150" y="48482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6</a:t>
            </a:r>
          </a:p>
        </p:txBody>
      </p:sp>
      <p:sp>
        <p:nvSpPr>
          <p:cNvPr id="42" name="">
            <a:extLst xmlns:a="http://schemas.openxmlformats.org/drawingml/2006/main">
              <a:ext uri="{FF2B5EF4-FFF2-40B4-BE49-F238E27FC236}">
                <a16:creationId xmlns:a16="http://schemas.microsoft.com/office/drawing/2014/main" id="{93B38FDD-0500-43FB-893F-3A84DEEE96AD}"/>
              </a:ext>
            </a:extLst>
          </p:cNvPr>
          <p:cNvSpPr>
            <a:spLocks xmlns:a="http://schemas.openxmlformats.org/drawingml/2006/main" noGrp="1"/>
          </p:cNvSpPr>
          <p:nvPr/>
        </p:nvSpPr>
        <p:spPr>
          <a:xfrm xmlns:a="http://schemas.openxmlformats.org/drawingml/2006/main">
            <a:off x="5181600" y="4772025"/>
            <a:ext cx="14287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3" name="cell-3-2">
            <a:extLst xmlns:a="http://schemas.openxmlformats.org/drawingml/2006/main">
              <a:ext uri="{FF2B5EF4-FFF2-40B4-BE49-F238E27FC236}">
                <a16:creationId xmlns:a16="http://schemas.microsoft.com/office/drawing/2014/main" id="{A351F614-350C-43FB-AE4D-21BDCF393E7A}"/>
              </a:ext>
            </a:extLst>
          </p:cNvPr>
          <p:cNvSpPr>
            <a:spLocks xmlns:a="http://schemas.openxmlformats.org/drawingml/2006/main" noGrp="1"/>
          </p:cNvSpPr>
          <p:nvPr/>
        </p:nvSpPr>
        <p:spPr>
          <a:xfrm xmlns:a="http://schemas.openxmlformats.org/drawingml/2006/main">
            <a:off x="5295900" y="48482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4</a:t>
            </a:r>
          </a:p>
        </p:txBody>
      </p:sp>
      <p:sp>
        <p:nvSpPr>
          <p:cNvPr id="44" name="">
            <a:extLst xmlns:a="http://schemas.openxmlformats.org/drawingml/2006/main">
              <a:ext uri="{FF2B5EF4-FFF2-40B4-BE49-F238E27FC236}">
                <a16:creationId xmlns:a16="http://schemas.microsoft.com/office/drawing/2014/main" id="{1B440DBC-1B06-4B97-8692-9335E3BC222E}"/>
              </a:ext>
            </a:extLst>
          </p:cNvPr>
          <p:cNvSpPr>
            <a:spLocks xmlns:a="http://schemas.openxmlformats.org/drawingml/2006/main" noGrp="1"/>
          </p:cNvSpPr>
          <p:nvPr/>
        </p:nvSpPr>
        <p:spPr>
          <a:xfrm xmlns:a="http://schemas.openxmlformats.org/drawingml/2006/main">
            <a:off x="6610350" y="4772025"/>
            <a:ext cx="1428750" cy="533400"/>
          </a:xfrm>
          <a:prstGeom xmlns:a="http://schemas.openxmlformats.org/drawingml/2006/main" prst="rect">
            <a:avLst/>
          </a:prstGeom>
          <a:solidFill xmlns:a="http://schemas.openxmlformats.org/drawingml/2006/main">
            <a:srgbClr val="F6F7F9"/>
          </a:solidFill>
          <a:ln xmlns:a="http://schemas.openxmlformats.org/drawingml/2006/main" w="9525">
            <a:solidFill>
              <a:srgbClr val="DDE0E5"/>
            </a:solidFill>
            <a:prstDash val="solid"/>
          </a:ln>
        </p:spPr>
      </p:sp>
      <p:sp>
        <p:nvSpPr>
          <p:cNvPr id="45" name="cell-3-3">
            <a:extLst xmlns:a="http://schemas.openxmlformats.org/drawingml/2006/main">
              <a:ext uri="{FF2B5EF4-FFF2-40B4-BE49-F238E27FC236}">
                <a16:creationId xmlns:a16="http://schemas.microsoft.com/office/drawing/2014/main" id="{7C5C7602-5449-4C4B-BCB9-44264D265EFF}"/>
              </a:ext>
            </a:extLst>
          </p:cNvPr>
          <p:cNvSpPr>
            <a:spLocks xmlns:a="http://schemas.openxmlformats.org/drawingml/2006/main" noGrp="1"/>
          </p:cNvSpPr>
          <p:nvPr/>
        </p:nvSpPr>
        <p:spPr>
          <a:xfrm xmlns:a="http://schemas.openxmlformats.org/drawingml/2006/main">
            <a:off x="6724650" y="4848225"/>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500" b="0">
                <a:solidFill>
                  <a:srgbClr val="111316"/>
                </a:solidFill>
                <a:latin typeface="Arial"/>
                <a:ea typeface="Arial"/>
                <a:cs typeface="Arial"/>
              </a:defRPr>
            </a:pPr>
            <a:r>
              <a:rPr sz="1500" b="0">
                <a:solidFill>
                  <a:srgbClr val="111316"/>
                </a:solidFill>
                <a:latin typeface="Arial"/>
                <a:ea typeface="Arial"/>
                <a:cs typeface="Arial"/>
              </a:rPr>
              <a:t>24</a:t>
            </a:r>
          </a:p>
        </p:txBody>
      </p:sp>
      <p:sp>
        <p:nvSpPr>
          <p:cNvPr id="46" name="callout-label">
            <a:extLst xmlns:a="http://schemas.openxmlformats.org/drawingml/2006/main">
              <a:ext uri="{FF2B5EF4-FFF2-40B4-BE49-F238E27FC236}">
                <a16:creationId xmlns:a16="http://schemas.microsoft.com/office/drawing/2014/main" id="{4A175409-0EFA-467D-AEA1-ED3320FD95B1}"/>
              </a:ext>
            </a:extLst>
          </p:cNvPr>
          <p:cNvSpPr>
            <a:spLocks xmlns:a="http://schemas.openxmlformats.org/drawingml/2006/main" noGrp="1"/>
          </p:cNvSpPr>
          <p:nvPr/>
        </p:nvSpPr>
        <p:spPr>
          <a:xfrm xmlns:a="http://schemas.openxmlformats.org/drawingml/2006/main">
            <a:off x="8420100" y="1866900"/>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ARCHITECTURAL LENS</a:t>
            </a:r>
          </a:p>
        </p:txBody>
      </p:sp>
      <p:sp>
        <p:nvSpPr>
          <p:cNvPr id="47" name="callout">
            <a:extLst xmlns:a="http://schemas.openxmlformats.org/drawingml/2006/main">
              <a:ext uri="{FF2B5EF4-FFF2-40B4-BE49-F238E27FC236}">
                <a16:creationId xmlns:a16="http://schemas.microsoft.com/office/drawing/2014/main" id="{20D9045D-33C7-4FEC-9A26-72FF49CE1604}"/>
              </a:ext>
            </a:extLst>
          </p:cNvPr>
          <p:cNvSpPr>
            <a:spLocks xmlns:a="http://schemas.openxmlformats.org/drawingml/2006/main" noGrp="1"/>
          </p:cNvSpPr>
          <p:nvPr/>
        </p:nvSpPr>
        <p:spPr>
          <a:xfrm xmlns:a="http://schemas.openxmlformats.org/drawingml/2006/main">
            <a:off x="8420100" y="2190750"/>
            <a:ext cx="3162300" cy="3790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1">
                <a:solidFill>
                  <a:srgbClr val="111316"/>
                </a:solidFill>
                <a:latin typeface="Arial"/>
                <a:ea typeface="Arial"/>
                <a:cs typeface="Arial"/>
              </a:defRPr>
            </a:pPr>
            <a:r>
              <a:rPr sz="1800" b="1">
                <a:solidFill>
                  <a:srgbClr val="111316"/>
                </a:solidFill>
                <a:latin typeface="Arial"/>
                <a:ea typeface="Arial"/>
                <a:cs typeface="Arial"/>
              </a:rPr>
              <a:t>A trace table records the state after each statement. It supports debugging and AI-code verification.</a:t>
            </a:r>
          </a:p>
        </p:txBody>
      </p:sp>
    </p:spTree>
    <p:extLst>
      <p:ext uri="{BB962C8B-B14F-4D97-AF65-F5344CB8AC3E}">
        <p14:creationId xmlns:p14="http://schemas.microsoft.com/office/powerpoint/2010/main" val="119493106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icker">
            <a:extLst xmlns:a="http://schemas.openxmlformats.org/drawingml/2006/main">
              <a:ext uri="{FF2B5EF4-FFF2-40B4-BE49-F238E27FC236}">
                <a16:creationId xmlns:a16="http://schemas.microsoft.com/office/drawing/2014/main" id="{CAAEE8AA-1FF5-49C4-B3CF-19F1BE53C62B}"/>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CONCEPT</a:t>
            </a:r>
          </a:p>
        </p:txBody>
      </p:sp>
      <p:sp>
        <p:nvSpPr>
          <p:cNvPr id="2" name="title">
            <a:extLst xmlns:a="http://schemas.openxmlformats.org/drawingml/2006/main">
              <a:ext uri="{FF2B5EF4-FFF2-40B4-BE49-F238E27FC236}">
                <a16:creationId xmlns:a16="http://schemas.microsoft.com/office/drawing/2014/main" id="{DB55BB3C-8F96-4044-B6F3-638D7618197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Three failures require different responses</a:t>
            </a:r>
          </a:p>
        </p:txBody>
      </p:sp>
      <p:sp>
        <p:nvSpPr>
          <p:cNvPr id="3" name="">
            <a:extLst xmlns:a="http://schemas.openxmlformats.org/drawingml/2006/main">
              <a:ext uri="{FF2B5EF4-FFF2-40B4-BE49-F238E27FC236}">
                <a16:creationId xmlns:a16="http://schemas.microsoft.com/office/drawing/2014/main" id="{32D88108-DB1C-47AA-A60D-B1B147F5AF77}"/>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17AAAF22-56C2-4F1C-85EB-62E23471BCEC}"/>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651A4D32-8609-4397-B21D-D49B4382750B}"/>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29</a:t>
            </a:r>
          </a:p>
        </p:txBody>
      </p:sp>
      <p:sp>
        <p:nvSpPr>
          <p:cNvPr id="6" name="left-head">
            <a:extLst xmlns:a="http://schemas.openxmlformats.org/drawingml/2006/main">
              <a:ext uri="{FF2B5EF4-FFF2-40B4-BE49-F238E27FC236}">
                <a16:creationId xmlns:a16="http://schemas.microsoft.com/office/drawing/2014/main" id="{03D3E0E7-B4F7-47E5-B76D-55EF7A314B90}"/>
              </a:ext>
            </a:extLst>
          </p:cNvPr>
          <p:cNvSpPr>
            <a:spLocks xmlns:a="http://schemas.openxmlformats.org/drawingml/2006/main" noGrp="1"/>
          </p:cNvSpPr>
          <p:nvPr/>
        </p:nvSpPr>
        <p:spPr>
          <a:xfrm xmlns:a="http://schemas.openxmlformats.org/drawingml/2006/main">
            <a:off x="6096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Code-level failure</a:t>
            </a:r>
          </a:p>
        </p:txBody>
      </p:sp>
      <p:sp>
        <p:nvSpPr>
          <p:cNvPr id="7" name="left-body">
            <a:extLst xmlns:a="http://schemas.openxmlformats.org/drawingml/2006/main">
              <a:ext uri="{FF2B5EF4-FFF2-40B4-BE49-F238E27FC236}">
                <a16:creationId xmlns:a16="http://schemas.microsoft.com/office/drawing/2014/main" id="{453BA46A-C756-4BCC-B3B2-AE465CABC6D0}"/>
              </a:ext>
            </a:extLst>
          </p:cNvPr>
          <p:cNvSpPr>
            <a:spLocks xmlns:a="http://schemas.openxmlformats.org/drawingml/2006/main" noGrp="1"/>
          </p:cNvSpPr>
          <p:nvPr/>
        </p:nvSpPr>
        <p:spPr>
          <a:xfrm xmlns:a="http://schemas.openxmlformats.org/drawingml/2006/main">
            <a:off x="6096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Syntax error: Python cannot parse the statement.</a:t>
            </a:r>
          </a:p>
          <a:p xmlns:a="http://schemas.openxmlformats.org/drawingml/2006/main">
            <a:r>
              <a:t/>
            </a:r>
          </a:p>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Runtime error: execution reaches an impossible operation or missing name.</a:t>
            </a:r>
          </a:p>
        </p:txBody>
      </p:sp>
      <p:sp>
        <p:nvSpPr>
          <p:cNvPr id="8" name="right-head">
            <a:extLst xmlns:a="http://schemas.openxmlformats.org/drawingml/2006/main">
              <a:ext uri="{FF2B5EF4-FFF2-40B4-BE49-F238E27FC236}">
                <a16:creationId xmlns:a16="http://schemas.microsoft.com/office/drawing/2014/main" id="{AEDDC1C2-00DD-4DA8-85A0-BAE576C5C7C5}"/>
              </a:ext>
            </a:extLst>
          </p:cNvPr>
          <p:cNvSpPr>
            <a:spLocks xmlns:a="http://schemas.openxmlformats.org/drawingml/2006/main" noGrp="1"/>
          </p:cNvSpPr>
          <p:nvPr/>
        </p:nvSpPr>
        <p:spPr>
          <a:xfrm xmlns:a="http://schemas.openxmlformats.org/drawingml/2006/main">
            <a:off x="6362700" y="2809875"/>
            <a:ext cx="5219700" cy="34518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Model-level failure</a:t>
            </a:r>
          </a:p>
        </p:txBody>
      </p:sp>
      <p:sp>
        <p:nvSpPr>
          <p:cNvPr id="9" name="right-body">
            <a:extLst xmlns:a="http://schemas.openxmlformats.org/drawingml/2006/main">
              <a:ext uri="{FF2B5EF4-FFF2-40B4-BE49-F238E27FC236}">
                <a16:creationId xmlns:a16="http://schemas.microsoft.com/office/drawing/2014/main" id="{F13417E8-7A11-432C-86D2-EACDCB61D672}"/>
              </a:ext>
            </a:extLst>
          </p:cNvPr>
          <p:cNvSpPr>
            <a:spLocks xmlns:a="http://schemas.openxmlformats.org/drawingml/2006/main" noGrp="1"/>
          </p:cNvSpPr>
          <p:nvPr/>
        </p:nvSpPr>
        <p:spPr>
          <a:xfrm xmlns:a="http://schemas.openxmlformats.org/drawingml/2006/main">
            <a:off x="6362700" y="3307461"/>
            <a:ext cx="5219700" cy="113690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5A5F66"/>
                </a:solidFill>
                <a:latin typeface="Arial"/>
                <a:ea typeface="Arial"/>
                <a:cs typeface="Arial"/>
              </a:defRPr>
            </a:pPr>
            <a:r>
              <a:rPr sz="1800" b="0">
                <a:solidFill>
                  <a:srgbClr val="5A5F66"/>
                </a:solidFill>
                <a:latin typeface="Arial"/>
                <a:ea typeface="Arial"/>
                <a:cs typeface="Arial"/>
              </a:rPr>
              <a:t>The code runs, but units, assumptions, data, operations, or interpretation are wrong. This is often the more dangerous failure because the output may look plausible.</a:t>
            </a:r>
          </a:p>
        </p:txBody>
      </p:sp>
    </p:spTree>
    <p:extLst>
      <p:ext uri="{BB962C8B-B14F-4D97-AF65-F5344CB8AC3E}">
        <p14:creationId xmlns:p14="http://schemas.microsoft.com/office/powerpoint/2010/main" val="71841256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BFCBA825-E7C0-4FE9-AB4A-814319CC03EC}"/>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MEDIUM WORKED EXAMPLE</a:t>
            </a:r>
          </a:p>
        </p:txBody>
      </p:sp>
      <p:sp>
        <p:nvSpPr>
          <p:cNvPr id="2" name="title">
            <a:extLst xmlns:a="http://schemas.openxmlformats.org/drawingml/2006/main">
              <a:ext uri="{FF2B5EF4-FFF2-40B4-BE49-F238E27FC236}">
                <a16:creationId xmlns:a16="http://schemas.microsoft.com/office/drawing/2014/main" id="{8B486625-FB32-4968-8BAB-ED3435012D6A}"/>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Worked example: compare two rooms' area</a:t>
            </a:r>
          </a:p>
        </p:txBody>
      </p:sp>
      <p:sp>
        <p:nvSpPr>
          <p:cNvPr id="3" name="">
            <a:extLst xmlns:a="http://schemas.openxmlformats.org/drawingml/2006/main">
              <a:ext uri="{FF2B5EF4-FFF2-40B4-BE49-F238E27FC236}">
                <a16:creationId xmlns:a16="http://schemas.microsoft.com/office/drawing/2014/main" id="{7D7DF81E-9C4E-4925-998F-87D559478EEA}"/>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5D21DBE0-2C3A-474D-8144-DE57558A672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529362F7-680B-41BF-9E91-B5C9CB43F98C}"/>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30</a:t>
            </a:r>
          </a:p>
        </p:txBody>
      </p:sp>
      <p:sp>
        <p:nvSpPr>
          <p:cNvPr id="6" name="code-panel">
            <a:extLst xmlns:a="http://schemas.openxmlformats.org/drawingml/2006/main">
              <a:ext uri="{FF2B5EF4-FFF2-40B4-BE49-F238E27FC236}">
                <a16:creationId xmlns:a16="http://schemas.microsoft.com/office/drawing/2014/main" id="{61C4A32C-2027-4F23-9A0D-C1946EB1C274}"/>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BF83E452-DCC8-461D-9C31-B6A1AAB38E8F}"/>
              </a:ext>
            </a:extLst>
          </p:cNvPr>
          <p:cNvSpPr>
            <a:spLocks xmlns:a="http://schemas.openxmlformats.org/drawingml/2006/main" noGrp="1"/>
          </p:cNvSpPr>
          <p:nvPr/>
        </p:nvSpPr>
        <p:spPr>
          <a:xfrm xmlns:a="http://schemas.openxmlformats.org/drawingml/2006/main">
            <a:off x="857250" y="2057400"/>
            <a:ext cx="6400800" cy="296722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gallery_name = 'Gallery'</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gallery_length_m = 8.5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gallery_width_m = 5.2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gallery_area_m2 = gallery_length_m * gallery_width_m</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studio_name = 'Studio'</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studio_length_m = 6.0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studio_width_m = 5.0</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studio_area_m2 = studio_length_m * studio_width_m</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print(gallery_name, gallery_area_m2)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print(studio_name, studio_area_m2)</a:t>
            </a:r>
          </a:p>
        </p:txBody>
      </p:sp>
      <p:sp>
        <p:nvSpPr>
          <p:cNvPr id="8" name="">
            <a:extLst xmlns:a="http://schemas.openxmlformats.org/drawingml/2006/main">
              <a:ext uri="{FF2B5EF4-FFF2-40B4-BE49-F238E27FC236}">
                <a16:creationId xmlns:a16="http://schemas.microsoft.com/office/drawing/2014/main" id="{DF3694CC-B886-4E2E-B975-C058458367EA}"/>
              </a:ext>
            </a:extLst>
          </p:cNvPr>
          <p:cNvSpPr>
            <a:spLocks xmlns:a="http://schemas.openxmlformats.org/drawingml/2006/main" noGrp="1"/>
          </p:cNvSpPr>
          <p:nvPr/>
        </p:nvSpPr>
        <p:spPr>
          <a:xfrm xmlns:a="http://schemas.openxmlformats.org/drawingml/2006/main">
            <a:off x="857250" y="5081778"/>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8B380AFE-236C-4DB5-A299-86C8C2A85468}"/>
              </a:ext>
            </a:extLst>
          </p:cNvPr>
          <p:cNvSpPr>
            <a:spLocks xmlns:a="http://schemas.openxmlformats.org/drawingml/2006/main" noGrp="1"/>
          </p:cNvSpPr>
          <p:nvPr/>
        </p:nvSpPr>
        <p:spPr>
          <a:xfrm xmlns:a="http://schemas.openxmlformats.org/drawingml/2006/main">
            <a:off x="857250" y="5196078"/>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6A38930B-6AD4-4685-A12E-F5E3E6ECECFC}"/>
              </a:ext>
            </a:extLst>
          </p:cNvPr>
          <p:cNvSpPr>
            <a:spLocks xmlns:a="http://schemas.openxmlformats.org/drawingml/2006/main" noGrp="1"/>
          </p:cNvSpPr>
          <p:nvPr/>
        </p:nvSpPr>
        <p:spPr>
          <a:xfrm xmlns:a="http://schemas.openxmlformats.org/drawingml/2006/main">
            <a:off x="857250" y="5424678"/>
            <a:ext cx="6400800" cy="404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Gallery 44.2</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Studio 30.0</a:t>
            </a:r>
          </a:p>
        </p:txBody>
      </p:sp>
      <p:sp>
        <p:nvSpPr>
          <p:cNvPr id="11" name="explain-head">
            <a:extLst xmlns:a="http://schemas.openxmlformats.org/drawingml/2006/main">
              <a:ext uri="{FF2B5EF4-FFF2-40B4-BE49-F238E27FC236}">
                <a16:creationId xmlns:a16="http://schemas.microsoft.com/office/drawing/2014/main" id="{CA0C3BB8-E6BD-48E5-81E7-C00E46303A23}"/>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Model boundary, same rule twice</a:t>
            </a:r>
          </a:p>
        </p:txBody>
      </p:sp>
      <p:sp>
        <p:nvSpPr>
          <p:cNvPr id="12" name="explain-body">
            <a:extLst xmlns:a="http://schemas.openxmlformats.org/drawingml/2006/main">
              <a:ext uri="{FF2B5EF4-FFF2-40B4-BE49-F238E27FC236}">
                <a16:creationId xmlns:a16="http://schemas.microsoft.com/office/drawing/2014/main" id="{93606CFA-E9D7-4E67-8491-64E21DE6C1AC}"/>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Two rooms, the same input-process-output rule applied to each, by hand — this is exactly the repetition a loop will remove in Week 3. Both models assume a rectangular room and omit wall thickness, columns, irregular boundaries, and measurement tolerance.</a:t>
            </a:r>
          </a:p>
        </p:txBody>
      </p:sp>
    </p:spTree>
    <p:extLst>
      <p:ext uri="{BB962C8B-B14F-4D97-AF65-F5344CB8AC3E}">
        <p14:creationId xmlns:p14="http://schemas.microsoft.com/office/powerpoint/2010/main" val="761626496"/>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kicker">
            <a:extLst xmlns:a="http://schemas.openxmlformats.org/drawingml/2006/main">
              <a:ext uri="{FF2B5EF4-FFF2-40B4-BE49-F238E27FC236}">
                <a16:creationId xmlns:a16="http://schemas.microsoft.com/office/drawing/2014/main" id="{6C768B1E-AFC6-4477-8D9A-9E5944BBFF9E}"/>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PREDICT BEFORE YOU RUN</a:t>
            </a:r>
          </a:p>
        </p:txBody>
      </p:sp>
      <p:sp>
        <p:nvSpPr>
          <p:cNvPr id="2" name="title">
            <a:extLst xmlns:a="http://schemas.openxmlformats.org/drawingml/2006/main">
              <a:ext uri="{FF2B5EF4-FFF2-40B4-BE49-F238E27FC236}">
                <a16:creationId xmlns:a16="http://schemas.microsoft.com/office/drawing/2014/main" id="{C7559F9F-D02F-4994-8F45-4B8105963418}"/>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An allowance is a multiplier, not an addition</a:t>
            </a:r>
          </a:p>
        </p:txBody>
      </p:sp>
      <p:sp>
        <p:nvSpPr>
          <p:cNvPr id="3" name="">
            <a:extLst xmlns:a="http://schemas.openxmlformats.org/drawingml/2006/main">
              <a:ext uri="{FF2B5EF4-FFF2-40B4-BE49-F238E27FC236}">
                <a16:creationId xmlns:a16="http://schemas.microsoft.com/office/drawing/2014/main" id="{388CC30A-ACC4-4A39-B2AA-0B5EA112CD83}"/>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9F24F4C-2EBC-4D7D-A23D-082115C1756A}"/>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F4A8F972-174A-404E-8F69-5E0145127A80}"/>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31</a:t>
            </a:r>
          </a:p>
        </p:txBody>
      </p:sp>
      <p:sp>
        <p:nvSpPr>
          <p:cNvPr id="6" name="code-panel">
            <a:extLst xmlns:a="http://schemas.openxmlformats.org/drawingml/2006/main">
              <a:ext uri="{FF2B5EF4-FFF2-40B4-BE49-F238E27FC236}">
                <a16:creationId xmlns:a16="http://schemas.microsoft.com/office/drawing/2014/main" id="{EDBD9BFB-6B88-4FB3-A95E-FCC6C41BC144}"/>
              </a:ext>
            </a:extLst>
          </p:cNvPr>
          <p:cNvSpPr>
            <a:spLocks xmlns:a="http://schemas.openxmlformats.org/drawingml/2006/main" noGrp="1"/>
          </p:cNvSpPr>
          <p:nvPr/>
        </p:nvSpPr>
        <p:spPr>
          <a:xfrm xmlns:a="http://schemas.openxmlformats.org/drawingml/2006/main">
            <a:off x="609600" y="1809750"/>
            <a:ext cx="6324600" cy="3238500"/>
          </a:xfrm>
          <a:prstGeom xmlns:a="http://schemas.openxmlformats.org/drawingml/2006/main" prst="roundRect">
            <a:avLst>
              <a:gd name="adj" fmla="val 2353"/>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60A57952-30E3-4B5D-907C-C4F9D1957B14}"/>
              </a:ext>
            </a:extLst>
          </p:cNvPr>
          <p:cNvSpPr>
            <a:spLocks xmlns:a="http://schemas.openxmlformats.org/drawingml/2006/main" noGrp="1"/>
          </p:cNvSpPr>
          <p:nvPr/>
        </p:nvSpPr>
        <p:spPr>
          <a:xfrm xmlns:a="http://schemas.openxmlformats.org/drawingml/2006/main">
            <a:off x="857250" y="2038350"/>
            <a:ext cx="5829300" cy="2781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area_m2 = 44.2</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waste_rate = 0.15</a:t>
            </a:r>
          </a:p>
          <a:p xmlns:a="http://schemas.openxmlformats.org/drawingml/2006/main">
            <a:r>
              <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required_m2 = area_m2 * (1 + waste_rate)</a:t>
            </a:r>
          </a:p>
          <a:p xmlns:a="http://schemas.openxmlformats.org/drawingml/2006/main">
            <a:pPr algn="l">
              <a:lnSpc>
                <a:spcPct val="114000"/>
              </a:lnSpc>
              <a:buNone/>
              <a:defRPr sz="1800" b="0">
                <a:solidFill>
                  <a:srgbClr val="FFFFFF"/>
                </a:solidFill>
                <a:latin typeface="Consolas"/>
                <a:ea typeface="Consolas"/>
                <a:cs typeface="Consolas"/>
              </a:defRPr>
            </a:pPr>
            <a:r>
              <a:rPr sz="1800" b="0">
                <a:solidFill>
                  <a:srgbClr val="FFFFFF"/>
                </a:solidFill>
                <a:latin typeface="Consolas"/>
                <a:ea typeface="Consolas"/>
                <a:cs typeface="Consolas"/>
              </a:rPr>
              <a:t>print(required_m2)</a:t>
            </a:r>
          </a:p>
        </p:txBody>
      </p:sp>
      <p:sp>
        <p:nvSpPr>
          <p:cNvPr id="8" name="question">
            <a:extLst xmlns:a="http://schemas.openxmlformats.org/drawingml/2006/main">
              <a:ext uri="{FF2B5EF4-FFF2-40B4-BE49-F238E27FC236}">
                <a16:creationId xmlns:a16="http://schemas.microsoft.com/office/drawing/2014/main" id="{7B8818CE-461E-4EF9-8E30-5FDD478879D5}"/>
              </a:ext>
            </a:extLst>
          </p:cNvPr>
          <p:cNvSpPr>
            <a:spLocks xmlns:a="http://schemas.openxmlformats.org/drawingml/2006/main" noGrp="1"/>
          </p:cNvSpPr>
          <p:nvPr/>
        </p:nvSpPr>
        <p:spPr>
          <a:xfrm xmlns:a="http://schemas.openxmlformats.org/drawingml/2006/main">
            <a:off x="7315200" y="1809750"/>
            <a:ext cx="4267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What number is printed?</a:t>
            </a:r>
          </a:p>
        </p:txBody>
      </p:sp>
      <p:sp>
        <p:nvSpPr>
          <p:cNvPr id="9" name="opt-0">
            <a:extLst xmlns:a="http://schemas.openxmlformats.org/drawingml/2006/main">
              <a:ext uri="{FF2B5EF4-FFF2-40B4-BE49-F238E27FC236}">
                <a16:creationId xmlns:a16="http://schemas.microsoft.com/office/drawing/2014/main" id="{D23263F4-C2DF-446A-91AA-DF28D322B2E3}"/>
              </a:ext>
            </a:extLst>
          </p:cNvPr>
          <p:cNvSpPr>
            <a:spLocks xmlns:a="http://schemas.openxmlformats.org/drawingml/2006/main" noGrp="1"/>
          </p:cNvSpPr>
          <p:nvPr/>
        </p:nvSpPr>
        <p:spPr>
          <a:xfrm xmlns:a="http://schemas.openxmlformats.org/drawingml/2006/main">
            <a:off x="7315200" y="25717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0" name="opt-letter-0">
            <a:extLst xmlns:a="http://schemas.openxmlformats.org/drawingml/2006/main">
              <a:ext uri="{FF2B5EF4-FFF2-40B4-BE49-F238E27FC236}">
                <a16:creationId xmlns:a16="http://schemas.microsoft.com/office/drawing/2014/main" id="{092E0BC4-D926-4E4B-B32F-F6EDCF934372}"/>
              </a:ext>
            </a:extLst>
          </p:cNvPr>
          <p:cNvSpPr>
            <a:spLocks xmlns:a="http://schemas.openxmlformats.org/drawingml/2006/main" noGrp="1"/>
          </p:cNvSpPr>
          <p:nvPr/>
        </p:nvSpPr>
        <p:spPr>
          <a:xfrm xmlns:a="http://schemas.openxmlformats.org/drawingml/2006/main">
            <a:off x="7448550" y="27336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A</a:t>
            </a:r>
          </a:p>
        </p:txBody>
      </p:sp>
      <p:sp>
        <p:nvSpPr>
          <p:cNvPr id="11" name="opt-text-0">
            <a:extLst xmlns:a="http://schemas.openxmlformats.org/drawingml/2006/main">
              <a:ext uri="{FF2B5EF4-FFF2-40B4-BE49-F238E27FC236}">
                <a16:creationId xmlns:a16="http://schemas.microsoft.com/office/drawing/2014/main" id="{D2BECFA7-D381-463E-BE30-1F473F121AD5}"/>
              </a:ext>
            </a:extLst>
          </p:cNvPr>
          <p:cNvSpPr>
            <a:spLocks xmlns:a="http://schemas.openxmlformats.org/drawingml/2006/main" noGrp="1"/>
          </p:cNvSpPr>
          <p:nvPr/>
        </p:nvSpPr>
        <p:spPr>
          <a:xfrm xmlns:a="http://schemas.openxmlformats.org/drawingml/2006/main">
            <a:off x="7772400" y="26098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6.63</a:t>
            </a:r>
          </a:p>
        </p:txBody>
      </p:sp>
      <p:sp>
        <p:nvSpPr>
          <p:cNvPr id="12" name="opt-1">
            <a:extLst xmlns:a="http://schemas.openxmlformats.org/drawingml/2006/main">
              <a:ext uri="{FF2B5EF4-FFF2-40B4-BE49-F238E27FC236}">
                <a16:creationId xmlns:a16="http://schemas.microsoft.com/office/drawing/2014/main" id="{7D8CF772-8385-4EB6-8201-B13B573068C1}"/>
              </a:ext>
            </a:extLst>
          </p:cNvPr>
          <p:cNvSpPr>
            <a:spLocks xmlns:a="http://schemas.openxmlformats.org/drawingml/2006/main" noGrp="1"/>
          </p:cNvSpPr>
          <p:nvPr/>
        </p:nvSpPr>
        <p:spPr>
          <a:xfrm xmlns:a="http://schemas.openxmlformats.org/drawingml/2006/main">
            <a:off x="7315200" y="31813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3" name="opt-letter-1">
            <a:extLst xmlns:a="http://schemas.openxmlformats.org/drawingml/2006/main">
              <a:ext uri="{FF2B5EF4-FFF2-40B4-BE49-F238E27FC236}">
                <a16:creationId xmlns:a16="http://schemas.microsoft.com/office/drawing/2014/main" id="{7277C1EE-6F6E-4CC7-B522-8FF0D5A56BC2}"/>
              </a:ext>
            </a:extLst>
          </p:cNvPr>
          <p:cNvSpPr>
            <a:spLocks xmlns:a="http://schemas.openxmlformats.org/drawingml/2006/main" noGrp="1"/>
          </p:cNvSpPr>
          <p:nvPr/>
        </p:nvSpPr>
        <p:spPr>
          <a:xfrm xmlns:a="http://schemas.openxmlformats.org/drawingml/2006/main">
            <a:off x="7448550" y="33432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B</a:t>
            </a:r>
          </a:p>
        </p:txBody>
      </p:sp>
      <p:sp>
        <p:nvSpPr>
          <p:cNvPr id="14" name="opt-text-1">
            <a:extLst xmlns:a="http://schemas.openxmlformats.org/drawingml/2006/main">
              <a:ext uri="{FF2B5EF4-FFF2-40B4-BE49-F238E27FC236}">
                <a16:creationId xmlns:a16="http://schemas.microsoft.com/office/drawing/2014/main" id="{01A8476F-D994-499C-B7C5-78F1A0E28BD7}"/>
              </a:ext>
            </a:extLst>
          </p:cNvPr>
          <p:cNvSpPr>
            <a:spLocks xmlns:a="http://schemas.openxmlformats.org/drawingml/2006/main" noGrp="1"/>
          </p:cNvSpPr>
          <p:nvPr/>
        </p:nvSpPr>
        <p:spPr>
          <a:xfrm xmlns:a="http://schemas.openxmlformats.org/drawingml/2006/main">
            <a:off x="7772400" y="32194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44.35</a:t>
            </a:r>
          </a:p>
        </p:txBody>
      </p:sp>
      <p:sp>
        <p:nvSpPr>
          <p:cNvPr id="15" name="opt-2">
            <a:extLst xmlns:a="http://schemas.openxmlformats.org/drawingml/2006/main">
              <a:ext uri="{FF2B5EF4-FFF2-40B4-BE49-F238E27FC236}">
                <a16:creationId xmlns:a16="http://schemas.microsoft.com/office/drawing/2014/main" id="{25EB2C33-7B94-4CD1-87CD-640615A422A0}"/>
              </a:ext>
            </a:extLst>
          </p:cNvPr>
          <p:cNvSpPr>
            <a:spLocks xmlns:a="http://schemas.openxmlformats.org/drawingml/2006/main" noGrp="1"/>
          </p:cNvSpPr>
          <p:nvPr/>
        </p:nvSpPr>
        <p:spPr>
          <a:xfrm xmlns:a="http://schemas.openxmlformats.org/drawingml/2006/main">
            <a:off x="7315200" y="37909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6" name="opt-letter-2">
            <a:extLst xmlns:a="http://schemas.openxmlformats.org/drawingml/2006/main">
              <a:ext uri="{FF2B5EF4-FFF2-40B4-BE49-F238E27FC236}">
                <a16:creationId xmlns:a16="http://schemas.microsoft.com/office/drawing/2014/main" id="{EA6CB878-5E27-4717-919D-DD7BCE64C8E0}"/>
              </a:ext>
            </a:extLst>
          </p:cNvPr>
          <p:cNvSpPr>
            <a:spLocks xmlns:a="http://schemas.openxmlformats.org/drawingml/2006/main" noGrp="1"/>
          </p:cNvSpPr>
          <p:nvPr/>
        </p:nvSpPr>
        <p:spPr>
          <a:xfrm xmlns:a="http://schemas.openxmlformats.org/drawingml/2006/main">
            <a:off x="7448550" y="39528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C</a:t>
            </a:r>
          </a:p>
        </p:txBody>
      </p:sp>
      <p:sp>
        <p:nvSpPr>
          <p:cNvPr id="17" name="opt-text-2">
            <a:extLst xmlns:a="http://schemas.openxmlformats.org/drawingml/2006/main">
              <a:ext uri="{FF2B5EF4-FFF2-40B4-BE49-F238E27FC236}">
                <a16:creationId xmlns:a16="http://schemas.microsoft.com/office/drawing/2014/main" id="{E7B57527-A1F5-42EF-89CA-39F774EC88AA}"/>
              </a:ext>
            </a:extLst>
          </p:cNvPr>
          <p:cNvSpPr>
            <a:spLocks xmlns:a="http://schemas.openxmlformats.org/drawingml/2006/main" noGrp="1"/>
          </p:cNvSpPr>
          <p:nvPr/>
        </p:nvSpPr>
        <p:spPr>
          <a:xfrm xmlns:a="http://schemas.openxmlformats.org/drawingml/2006/main">
            <a:off x="7772400" y="38290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50.83</a:t>
            </a:r>
          </a:p>
        </p:txBody>
      </p:sp>
      <p:sp>
        <p:nvSpPr>
          <p:cNvPr id="18" name="opt-3">
            <a:extLst xmlns:a="http://schemas.openxmlformats.org/drawingml/2006/main">
              <a:ext uri="{FF2B5EF4-FFF2-40B4-BE49-F238E27FC236}">
                <a16:creationId xmlns:a16="http://schemas.microsoft.com/office/drawing/2014/main" id="{5C839759-392C-4E30-8336-45DDF06A770C}"/>
              </a:ext>
            </a:extLst>
          </p:cNvPr>
          <p:cNvSpPr>
            <a:spLocks xmlns:a="http://schemas.openxmlformats.org/drawingml/2006/main" noGrp="1"/>
          </p:cNvSpPr>
          <p:nvPr/>
        </p:nvSpPr>
        <p:spPr>
          <a:xfrm xmlns:a="http://schemas.openxmlformats.org/drawingml/2006/main">
            <a:off x="7315200" y="4400550"/>
            <a:ext cx="4267200" cy="552450"/>
          </a:xfrm>
          <a:prstGeom xmlns:a="http://schemas.openxmlformats.org/drawingml/2006/main" prst="roundRect">
            <a:avLst>
              <a:gd name="adj" fmla="val 10345"/>
            </a:avLst>
          </a:prstGeom>
          <a:solidFill xmlns:a="http://schemas.openxmlformats.org/drawingml/2006/main">
            <a:srgbClr val="F6F7F9"/>
          </a:solidFill>
          <a:ln xmlns:a="http://schemas.openxmlformats.org/drawingml/2006/main" w="9525">
            <a:solidFill>
              <a:srgbClr val="DDE0E5"/>
            </a:solidFill>
            <a:prstDash val="solid"/>
          </a:ln>
        </p:spPr>
      </p:sp>
      <p:sp>
        <p:nvSpPr>
          <p:cNvPr id="19" name="opt-letter-3">
            <a:extLst xmlns:a="http://schemas.openxmlformats.org/drawingml/2006/main">
              <a:ext uri="{FF2B5EF4-FFF2-40B4-BE49-F238E27FC236}">
                <a16:creationId xmlns:a16="http://schemas.microsoft.com/office/drawing/2014/main" id="{490FA987-354E-4AE1-9EE7-9ABE0E6274EB}"/>
              </a:ext>
            </a:extLst>
          </p:cNvPr>
          <p:cNvSpPr>
            <a:spLocks xmlns:a="http://schemas.openxmlformats.org/drawingml/2006/main" noGrp="1"/>
          </p:cNvSpPr>
          <p:nvPr/>
        </p:nvSpPr>
        <p:spPr>
          <a:xfrm xmlns:a="http://schemas.openxmlformats.org/drawingml/2006/main">
            <a:off x="7448550" y="45624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800" b="1">
                <a:solidFill>
                  <a:srgbClr val="2E74B5"/>
                </a:solidFill>
                <a:latin typeface="Arial"/>
                <a:ea typeface="Arial"/>
                <a:cs typeface="Arial"/>
              </a:defRPr>
            </a:pPr>
            <a:r>
              <a:rPr sz="1800" b="1">
                <a:solidFill>
                  <a:srgbClr val="2E74B5"/>
                </a:solidFill>
                <a:latin typeface="Arial"/>
                <a:ea typeface="Arial"/>
                <a:cs typeface="Arial"/>
              </a:rPr>
              <a:t>D</a:t>
            </a:r>
          </a:p>
        </p:txBody>
      </p:sp>
      <p:sp>
        <p:nvSpPr>
          <p:cNvPr id="20" name="opt-text-3">
            <a:extLst xmlns:a="http://schemas.openxmlformats.org/drawingml/2006/main">
              <a:ext uri="{FF2B5EF4-FFF2-40B4-BE49-F238E27FC236}">
                <a16:creationId xmlns:a16="http://schemas.microsoft.com/office/drawing/2014/main" id="{66BF6A45-F900-4370-AB0F-93F574C80ECE}"/>
              </a:ext>
            </a:extLst>
          </p:cNvPr>
          <p:cNvSpPr>
            <a:spLocks xmlns:a="http://schemas.openxmlformats.org/drawingml/2006/main" noGrp="1"/>
          </p:cNvSpPr>
          <p:nvPr/>
        </p:nvSpPr>
        <p:spPr>
          <a:xfrm xmlns:a="http://schemas.openxmlformats.org/drawingml/2006/main">
            <a:off x="7772400" y="4438650"/>
            <a:ext cx="3676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2000"/>
              </a:lnSpc>
              <a:buNone/>
              <a:defRPr sz="1200" b="0">
                <a:solidFill>
                  <a:srgbClr val="111316"/>
                </a:solidFill>
                <a:latin typeface="Consolas"/>
                <a:ea typeface="Consolas"/>
                <a:cs typeface="Consolas"/>
              </a:defRPr>
            </a:pPr>
            <a:r>
              <a:rPr sz="1200" b="0">
                <a:solidFill>
                  <a:srgbClr val="111316"/>
                </a:solidFill>
                <a:latin typeface="Consolas"/>
                <a:ea typeface="Consolas"/>
                <a:cs typeface="Consolas"/>
              </a:rPr>
              <a:t>50.8</a:t>
            </a:r>
          </a:p>
        </p:txBody>
      </p:sp>
      <p:sp>
        <p:nvSpPr>
          <p:cNvPr id="21" name="answer-panel">
            <a:extLst xmlns:a="http://schemas.openxmlformats.org/drawingml/2006/main">
              <a:ext uri="{FF2B5EF4-FFF2-40B4-BE49-F238E27FC236}">
                <a16:creationId xmlns:a16="http://schemas.microsoft.com/office/drawing/2014/main" id="{EB6C0207-C4F6-4F1A-9703-0CFD686BBA47}"/>
              </a:ext>
            </a:extLst>
          </p:cNvPr>
          <p:cNvSpPr>
            <a:spLocks xmlns:a="http://schemas.openxmlformats.org/drawingml/2006/main" noGrp="1"/>
          </p:cNvSpPr>
          <p:nvPr/>
        </p:nvSpPr>
        <p:spPr>
          <a:xfrm xmlns:a="http://schemas.openxmlformats.org/drawingml/2006/main">
            <a:off x="609600" y="5219700"/>
            <a:ext cx="10972800" cy="914400"/>
          </a:xfrm>
          <a:prstGeom xmlns:a="http://schemas.openxmlformats.org/drawingml/2006/main" prst="roundRect">
            <a:avLst>
              <a:gd name="adj" fmla="val 8333"/>
            </a:avLst>
          </a:prstGeom>
          <a:solidFill xmlns:a="http://schemas.openxmlformats.org/drawingml/2006/main">
            <a:srgbClr val="F3F7FB"/>
          </a:solidFill>
          <a:ln xmlns:a="http://schemas.openxmlformats.org/drawingml/2006/main" w="9525">
            <a:solidFill>
              <a:srgbClr val="2E74B5"/>
            </a:solidFill>
            <a:prstDash val="solid"/>
          </a:ln>
        </p:spPr>
      </p:sp>
      <p:sp>
        <p:nvSpPr>
          <p:cNvPr id="22" name="answer-label">
            <a:extLst xmlns:a="http://schemas.openxmlformats.org/drawingml/2006/main">
              <a:ext uri="{FF2B5EF4-FFF2-40B4-BE49-F238E27FC236}">
                <a16:creationId xmlns:a16="http://schemas.microsoft.com/office/drawing/2014/main" id="{140AC166-9CCA-45BA-8B8E-B08FE960658F}"/>
              </a:ext>
            </a:extLst>
          </p:cNvPr>
          <p:cNvSpPr>
            <a:spLocks xmlns:a="http://schemas.openxmlformats.org/drawingml/2006/main" noGrp="1"/>
          </p:cNvSpPr>
          <p:nvPr/>
        </p:nvSpPr>
        <p:spPr>
          <a:xfrm xmlns:a="http://schemas.openxmlformats.org/drawingml/2006/main">
            <a:off x="819150" y="5372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1F4D78"/>
                </a:solidFill>
                <a:latin typeface="Arial"/>
                <a:ea typeface="Arial"/>
                <a:cs typeface="Arial"/>
              </a:defRPr>
            </a:pPr>
            <a:r>
              <a:rPr sz="900" b="1">
                <a:solidFill>
                  <a:srgbClr val="1F4D78"/>
                </a:solidFill>
                <a:latin typeface="Arial"/>
                <a:ea typeface="Arial"/>
                <a:cs typeface="Arial"/>
              </a:rPr>
              <a:t>ANSWER  ·  C</a:t>
            </a:r>
          </a:p>
        </p:txBody>
      </p:sp>
      <p:sp>
        <p:nvSpPr>
          <p:cNvPr id="23" name="why">
            <a:extLst xmlns:a="http://schemas.openxmlformats.org/drawingml/2006/main">
              <a:ext uri="{FF2B5EF4-FFF2-40B4-BE49-F238E27FC236}">
                <a16:creationId xmlns:a16="http://schemas.microsoft.com/office/drawing/2014/main" id="{792A83CC-562F-491E-B5BF-491B3985030C}"/>
              </a:ext>
            </a:extLst>
          </p:cNvPr>
          <p:cNvSpPr>
            <a:spLocks xmlns:a="http://schemas.openxmlformats.org/drawingml/2006/main" noGrp="1"/>
          </p:cNvSpPr>
          <p:nvPr/>
        </p:nvSpPr>
        <p:spPr>
          <a:xfrm xmlns:a="http://schemas.openxmlformats.org/drawingml/2006/main">
            <a:off x="819150" y="5638800"/>
            <a:ext cx="10553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111316"/>
                </a:solidFill>
                <a:latin typeface="Arial"/>
                <a:ea typeface="Arial"/>
                <a:cs typeface="Arial"/>
              </a:defRPr>
            </a:pPr>
            <a:r>
              <a:rPr sz="1500" b="0">
                <a:solidFill>
                  <a:srgbClr val="111316"/>
                </a:solidFill>
                <a:latin typeface="Arial"/>
                <a:ea typeface="Arial"/>
                <a:cs typeface="Arial"/>
              </a:rPr>
              <a:t>The parentheses add the 15% to 1 first, so 44.2 is scaled by 1.15. 6.63 is the allowance on its own.</a:t>
            </a:r>
          </a:p>
        </p:txBody>
      </p:sp>
    </p:spTree>
    <p:extLst>
      <p:ext uri="{BB962C8B-B14F-4D97-AF65-F5344CB8AC3E}">
        <p14:creationId xmlns:p14="http://schemas.microsoft.com/office/powerpoint/2010/main" val="1515803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icker">
            <a:extLst xmlns:a="http://schemas.openxmlformats.org/drawingml/2006/main">
              <a:ext uri="{FF2B5EF4-FFF2-40B4-BE49-F238E27FC236}">
                <a16:creationId xmlns:a16="http://schemas.microsoft.com/office/drawing/2014/main" id="{E11D7AEC-288F-4F7D-9925-2EBE7B3024E8}"/>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PYTHON SYNTAX</a:t>
            </a:r>
          </a:p>
        </p:txBody>
      </p:sp>
      <p:sp>
        <p:nvSpPr>
          <p:cNvPr id="2" name="title">
            <a:extLst xmlns:a="http://schemas.openxmlformats.org/drawingml/2006/main">
              <a:ext uri="{FF2B5EF4-FFF2-40B4-BE49-F238E27FC236}">
                <a16:creationId xmlns:a16="http://schemas.microsoft.com/office/drawing/2014/main" id="{3FCC6296-E821-4D4B-81A5-6951073BA00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...continued: add the material allowance to both</a:t>
            </a:r>
          </a:p>
        </p:txBody>
      </p:sp>
      <p:sp>
        <p:nvSpPr>
          <p:cNvPr id="3" name="">
            <a:extLst xmlns:a="http://schemas.openxmlformats.org/drawingml/2006/main">
              <a:ext uri="{FF2B5EF4-FFF2-40B4-BE49-F238E27FC236}">
                <a16:creationId xmlns:a16="http://schemas.microsoft.com/office/drawing/2014/main" id="{78220883-D3DC-4753-9ECB-8E1DEF4F3AAE}"/>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DA026F7E-86E7-41D7-9EB5-6AE59C004699}"/>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E1B3F3E8-DF10-49DE-94B3-3D752563A63D}"/>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32</a:t>
            </a:r>
          </a:p>
        </p:txBody>
      </p:sp>
      <p:sp>
        <p:nvSpPr>
          <p:cNvPr id="6" name="code-panel">
            <a:extLst xmlns:a="http://schemas.openxmlformats.org/drawingml/2006/main">
              <a:ext uri="{FF2B5EF4-FFF2-40B4-BE49-F238E27FC236}">
                <a16:creationId xmlns:a16="http://schemas.microsoft.com/office/drawing/2014/main" id="{D3422518-60B0-4A26-8363-9A75C960A8AB}"/>
              </a:ext>
            </a:extLst>
          </p:cNvPr>
          <p:cNvSpPr>
            <a:spLocks xmlns:a="http://schemas.openxmlformats.org/drawingml/2006/main" noGrp="1"/>
          </p:cNvSpPr>
          <p:nvPr/>
        </p:nvSpPr>
        <p:spPr>
          <a:xfrm xmlns:a="http://schemas.openxmlformats.org/drawingml/2006/main">
            <a:off x="609600" y="1809750"/>
            <a:ext cx="6896100" cy="4267200"/>
          </a:xfrm>
          <a:prstGeom xmlns:a="http://schemas.openxmlformats.org/drawingml/2006/main" prst="roundRect">
            <a:avLst>
              <a:gd name="adj" fmla="val 1786"/>
            </a:avLst>
          </a:prstGeom>
          <a:solidFill xmlns:a="http://schemas.openxmlformats.org/drawingml/2006/main">
            <a:srgbClr val="17191C"/>
          </a:solidFill>
          <a:ln xmlns:a="http://schemas.openxmlformats.org/drawingml/2006/main" w="9525">
            <a:solidFill>
              <a:srgbClr val="17191C"/>
            </a:solidFill>
            <a:prstDash val="solid"/>
          </a:ln>
        </p:spPr>
      </p:sp>
      <p:sp>
        <p:nvSpPr>
          <p:cNvPr id="7" name="code">
            <a:extLst xmlns:a="http://schemas.openxmlformats.org/drawingml/2006/main">
              <a:ext uri="{FF2B5EF4-FFF2-40B4-BE49-F238E27FC236}">
                <a16:creationId xmlns:a16="http://schemas.microsoft.com/office/drawing/2014/main" id="{58BCB4AA-09C4-4D4E-B33E-13D50FBE0838}"/>
              </a:ext>
            </a:extLst>
          </p:cNvPr>
          <p:cNvSpPr>
            <a:spLocks xmlns:a="http://schemas.openxmlformats.org/drawingml/2006/main" noGrp="1"/>
          </p:cNvSpPr>
          <p:nvPr/>
        </p:nvSpPr>
        <p:spPr>
          <a:xfrm xmlns:a="http://schemas.openxmlformats.org/drawingml/2006/main">
            <a:off x="857250" y="2057400"/>
            <a:ext cx="6400800" cy="279349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waste_rate = 0.15</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gallery_required_m2 = gallery_area_m2 * (1 + waste_rate)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studio_required_m2 = studio_area_m2 * (1 + waste_rate)</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total_required_m2 = gallery_required_m2 + studio_required_m2</a:t>
            </a:r>
          </a:p>
          <a:p xmlns:a="http://schemas.openxmlformats.org/drawingml/2006/main">
            <a:r>
              <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print(gallery_required_m2)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print(studio_required_m2)</a:t>
            </a:r>
          </a:p>
          <a:p xmlns:a="http://schemas.openxmlformats.org/drawingml/2006/main">
            <a:pPr algn="l">
              <a:lnSpc>
                <a:spcPct val="114000"/>
              </a:lnSpc>
              <a:buNone/>
              <a:defRPr sz="1500" b="0">
                <a:solidFill>
                  <a:srgbClr val="FFFFFF"/>
                </a:solidFill>
                <a:latin typeface="Consolas"/>
                <a:ea typeface="Consolas"/>
                <a:cs typeface="Consolas"/>
              </a:defRPr>
            </a:pPr>
            <a:r>
              <a:rPr sz="1500" b="0">
                <a:solidFill>
                  <a:srgbClr val="FFFFFF"/>
                </a:solidFill>
                <a:latin typeface="Consolas"/>
                <a:ea typeface="Consolas"/>
                <a:cs typeface="Consolas"/>
              </a:rPr>
              <a:t>print('Total required', total_required_m2)</a:t>
            </a:r>
          </a:p>
        </p:txBody>
      </p:sp>
      <p:sp>
        <p:nvSpPr>
          <p:cNvPr id="8" name="">
            <a:extLst xmlns:a="http://schemas.openxmlformats.org/drawingml/2006/main">
              <a:ext uri="{FF2B5EF4-FFF2-40B4-BE49-F238E27FC236}">
                <a16:creationId xmlns:a16="http://schemas.microsoft.com/office/drawing/2014/main" id="{900ACD7F-CFB3-445F-9964-659DAC3FA576}"/>
              </a:ext>
            </a:extLst>
          </p:cNvPr>
          <p:cNvSpPr>
            <a:spLocks xmlns:a="http://schemas.openxmlformats.org/drawingml/2006/main" noGrp="1"/>
          </p:cNvSpPr>
          <p:nvPr/>
        </p:nvSpPr>
        <p:spPr>
          <a:xfrm xmlns:a="http://schemas.openxmlformats.org/drawingml/2006/main">
            <a:off x="857250" y="4908042"/>
            <a:ext cx="6400800" cy="0"/>
          </a:xfrm>
          <a:prstGeom xmlns:a="http://schemas.openxmlformats.org/drawingml/2006/main" prst="line">
            <a:avLst/>
          </a:prstGeom>
          <a:noFill xmlns:a="http://schemas.openxmlformats.org/drawingml/2006/main"/>
          <a:ln xmlns:a="http://schemas.openxmlformats.org/drawingml/2006/main" w="9525">
            <a:solidFill>
              <a:srgbClr val="4E5258"/>
            </a:solidFill>
            <a:prstDash val="solid"/>
          </a:ln>
        </p:spPr>
      </p:sp>
      <p:sp>
        <p:nvSpPr>
          <p:cNvPr id="9" name="output-label">
            <a:extLst xmlns:a="http://schemas.openxmlformats.org/drawingml/2006/main">
              <a:ext uri="{FF2B5EF4-FFF2-40B4-BE49-F238E27FC236}">
                <a16:creationId xmlns:a16="http://schemas.microsoft.com/office/drawing/2014/main" id="{253E59A5-3274-47C7-BAEA-6E00D76644D5}"/>
              </a:ext>
            </a:extLst>
          </p:cNvPr>
          <p:cNvSpPr>
            <a:spLocks xmlns:a="http://schemas.openxmlformats.org/drawingml/2006/main" noGrp="1"/>
          </p:cNvSpPr>
          <p:nvPr/>
        </p:nvSpPr>
        <p:spPr>
          <a:xfrm xmlns:a="http://schemas.openxmlformats.org/drawingml/2006/main">
            <a:off x="857250" y="5022342"/>
            <a:ext cx="190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OUTPUT</a:t>
            </a:r>
          </a:p>
        </p:txBody>
      </p:sp>
      <p:sp>
        <p:nvSpPr>
          <p:cNvPr id="10" name="output">
            <a:extLst xmlns:a="http://schemas.openxmlformats.org/drawingml/2006/main">
              <a:ext uri="{FF2B5EF4-FFF2-40B4-BE49-F238E27FC236}">
                <a16:creationId xmlns:a16="http://schemas.microsoft.com/office/drawing/2014/main" id="{1C29888B-AF0B-4726-8F1E-8BBE55AC2387}"/>
              </a:ext>
            </a:extLst>
          </p:cNvPr>
          <p:cNvSpPr>
            <a:spLocks xmlns:a="http://schemas.openxmlformats.org/drawingml/2006/main" noGrp="1"/>
          </p:cNvSpPr>
          <p:nvPr/>
        </p:nvSpPr>
        <p:spPr>
          <a:xfrm xmlns:a="http://schemas.openxmlformats.org/drawingml/2006/main">
            <a:off x="857250" y="5250942"/>
            <a:ext cx="6400800" cy="57835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50.83</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34.5</a:t>
            </a:r>
          </a:p>
          <a:p xmlns:a="http://schemas.openxmlformats.org/drawingml/2006/main">
            <a:pPr algn="l">
              <a:lnSpc>
                <a:spcPct val="114000"/>
              </a:lnSpc>
              <a:buNone/>
              <a:defRPr sz="1200" b="0">
                <a:solidFill>
                  <a:srgbClr val="E8EEF5"/>
                </a:solidFill>
                <a:latin typeface="Consolas"/>
                <a:ea typeface="Consolas"/>
                <a:cs typeface="Consolas"/>
              </a:defRPr>
            </a:pPr>
            <a:r>
              <a:rPr sz="1200" b="0">
                <a:solidFill>
                  <a:srgbClr val="E8EEF5"/>
                </a:solidFill>
                <a:latin typeface="Consolas"/>
                <a:ea typeface="Consolas"/>
                <a:cs typeface="Consolas"/>
              </a:rPr>
              <a:t>Total required 85.33</a:t>
            </a:r>
          </a:p>
        </p:txBody>
      </p:sp>
      <p:sp>
        <p:nvSpPr>
          <p:cNvPr id="11" name="explain-head">
            <a:extLst xmlns:a="http://schemas.openxmlformats.org/drawingml/2006/main">
              <a:ext uri="{FF2B5EF4-FFF2-40B4-BE49-F238E27FC236}">
                <a16:creationId xmlns:a16="http://schemas.microsoft.com/office/drawing/2014/main" id="{132E8AEE-F2AD-4277-8EB3-27D74C38274E}"/>
              </a:ext>
            </a:extLst>
          </p:cNvPr>
          <p:cNvSpPr>
            <a:spLocks xmlns:a="http://schemas.openxmlformats.org/drawingml/2006/main" noGrp="1"/>
          </p:cNvSpPr>
          <p:nvPr/>
        </p:nvSpPr>
        <p:spPr>
          <a:xfrm xmlns:a="http://schemas.openxmlformats.org/drawingml/2006/main">
            <a:off x="7886700" y="2524125"/>
            <a:ext cx="3695700" cy="6332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111316"/>
                </a:solidFill>
                <a:latin typeface="Arial"/>
                <a:ea typeface="Arial"/>
                <a:cs typeface="Arial"/>
              </a:defRPr>
            </a:pPr>
            <a:r>
              <a:rPr sz="2100" b="1">
                <a:solidFill>
                  <a:srgbClr val="111316"/>
                </a:solidFill>
                <a:latin typeface="Arial"/>
                <a:ea typeface="Arial"/>
                <a:cs typeface="Arial"/>
              </a:rPr>
              <a:t>Expose the assumption, twice</a:t>
            </a:r>
          </a:p>
        </p:txBody>
      </p:sp>
      <p:sp>
        <p:nvSpPr>
          <p:cNvPr id="12" name="explain-body">
            <a:extLst xmlns:a="http://schemas.openxmlformats.org/drawingml/2006/main">
              <a:ext uri="{FF2B5EF4-FFF2-40B4-BE49-F238E27FC236}">
                <a16:creationId xmlns:a16="http://schemas.microsoft.com/office/drawing/2014/main" id="{A4007178-0F1A-44C4-8ED5-A41DB5B74EF3}"/>
              </a:ext>
            </a:extLst>
          </p:cNvPr>
          <p:cNvSpPr>
            <a:spLocks xmlns:a="http://schemas.openxmlformats.org/drawingml/2006/main" noGrp="1"/>
          </p:cNvSpPr>
          <p:nvPr/>
        </p:nvSpPr>
        <p:spPr>
          <a:xfrm xmlns:a="http://schemas.openxmlformats.org/drawingml/2006/main">
            <a:off x="7886700" y="3309747"/>
            <a:ext cx="3695700" cy="162306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5A5F66"/>
                </a:solidFill>
                <a:latin typeface="Arial"/>
                <a:ea typeface="Arial"/>
                <a:cs typeface="Arial"/>
              </a:defRPr>
            </a:pPr>
            <a:r>
              <a:rPr sz="1500" b="0">
                <a:solidFill>
                  <a:srgbClr val="5A5F66"/>
                </a:solidFill>
                <a:latin typeface="Arial"/>
                <a:ea typeface="Arial"/>
                <a:cs typeface="Arial"/>
              </a:rPr>
              <a:t>0.15 represents a 15% allowance, named once and reused for both rooms — that reuse is deliberate, not an accident. The numerical result still requires rounding, procurement knowledge, and evidence that the allowance suits the material and installation pattern.</a:t>
            </a:r>
          </a:p>
        </p:txBody>
      </p:sp>
    </p:spTree>
    <p:extLst>
      <p:ext uri="{BB962C8B-B14F-4D97-AF65-F5344CB8AC3E}">
        <p14:creationId xmlns:p14="http://schemas.microsoft.com/office/powerpoint/2010/main" val="113339337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kicker">
            <a:extLst xmlns:a="http://schemas.openxmlformats.org/drawingml/2006/main">
              <a:ext uri="{FF2B5EF4-FFF2-40B4-BE49-F238E27FC236}">
                <a16:creationId xmlns:a16="http://schemas.microsoft.com/office/drawing/2014/main" id="{C59E15EA-ADDF-4611-B1ED-72E9862941F4}"/>
              </a:ext>
            </a:extLst>
          </p:cNvPr>
          <p:cNvSpPr>
            <a:spLocks xmlns:a="http://schemas.openxmlformats.org/drawingml/2006/main" noGrp="1"/>
          </p:cNvSpPr>
          <p:nvPr/>
        </p:nvSpPr>
        <p:spPr>
          <a:xfrm xmlns:a="http://schemas.openxmlformats.org/drawingml/2006/main">
            <a:off x="609600" y="3429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HARD TRANSFER</a:t>
            </a:r>
          </a:p>
        </p:txBody>
      </p:sp>
      <p:sp>
        <p:nvSpPr>
          <p:cNvPr id="2" name="title">
            <a:extLst xmlns:a="http://schemas.openxmlformats.org/drawingml/2006/main">
              <a:ext uri="{FF2B5EF4-FFF2-40B4-BE49-F238E27FC236}">
                <a16:creationId xmlns:a16="http://schemas.microsoft.com/office/drawing/2014/main" id="{ACD0D088-4080-48EB-955A-553990292677}"/>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000" b="0">
                <a:solidFill>
                  <a:srgbClr val="111316"/>
                </a:solidFill>
                <a:latin typeface="Arial"/>
                <a:ea typeface="Arial"/>
                <a:cs typeface="Arial"/>
              </a:defRPr>
            </a:pPr>
            <a:r>
              <a:rPr sz="3000" b="0">
                <a:solidFill>
                  <a:srgbClr val="111316"/>
                </a:solidFill>
                <a:latin typeface="Arial"/>
                <a:ea typeface="Arial"/>
                <a:cs typeface="Arial"/>
              </a:rPr>
              <a:t>Translate a design task into executable logic</a:t>
            </a:r>
          </a:p>
        </p:txBody>
      </p:sp>
      <p:sp>
        <p:nvSpPr>
          <p:cNvPr id="3" name="">
            <a:extLst xmlns:a="http://schemas.openxmlformats.org/drawingml/2006/main">
              <a:ext uri="{FF2B5EF4-FFF2-40B4-BE49-F238E27FC236}">
                <a16:creationId xmlns:a16="http://schemas.microsoft.com/office/drawing/2014/main" id="{FC246C71-B62B-4241-8F94-5DEF5F235E7C}"/>
              </a:ext>
            </a:extLst>
          </p:cNvPr>
          <p:cNvSpPr>
            <a:spLocks xmlns:a="http://schemas.openxmlformats.org/drawingml/2006/main" noGrp="1"/>
          </p:cNvSpPr>
          <p:nvPr/>
        </p:nvSpPr>
        <p:spPr>
          <a:xfrm xmlns:a="http://schemas.openxmlformats.org/drawingml/2006/main">
            <a:off x="609600" y="6343650"/>
            <a:ext cx="10972800" cy="0"/>
          </a:xfrm>
          <a:prstGeom xmlns:a="http://schemas.openxmlformats.org/drawingml/2006/main" prst="line">
            <a:avLst/>
          </a:prstGeom>
          <a:noFill xmlns:a="http://schemas.openxmlformats.org/drawingml/2006/main"/>
          <a:ln xmlns:a="http://schemas.openxmlformats.org/drawingml/2006/main" w="9525">
            <a:solidFill>
              <a:srgbClr val="DDE0E5"/>
            </a:solidFill>
            <a:prstDash val="solid"/>
          </a:ln>
        </p:spPr>
      </p:sp>
      <p:sp>
        <p:nvSpPr>
          <p:cNvPr id="4" name="footer">
            <a:extLst xmlns:a="http://schemas.openxmlformats.org/drawingml/2006/main">
              <a:ext uri="{FF2B5EF4-FFF2-40B4-BE49-F238E27FC236}">
                <a16:creationId xmlns:a16="http://schemas.microsoft.com/office/drawing/2014/main" id="{30D59F78-2E09-4D39-AD14-9134E95589ED}"/>
              </a:ext>
            </a:extLst>
          </p:cNvPr>
          <p:cNvSpPr>
            <a:spLocks xmlns:a="http://schemas.openxmlformats.org/drawingml/2006/main" noGrp="1"/>
          </p:cNvSpPr>
          <p:nvPr/>
        </p:nvSpPr>
        <p:spPr>
          <a:xfrm xmlns:a="http://schemas.openxmlformats.org/drawingml/2006/main">
            <a:off x="609600" y="6429375"/>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ARC 500  ·  Week 1 · Meeting A · Computational Thinking</a:t>
            </a:r>
          </a:p>
        </p:txBody>
      </p:sp>
      <p:sp>
        <p:nvSpPr>
          <p:cNvPr id="5" name="page">
            <a:extLst xmlns:a="http://schemas.openxmlformats.org/drawingml/2006/main">
              <a:ext uri="{FF2B5EF4-FFF2-40B4-BE49-F238E27FC236}">
                <a16:creationId xmlns:a16="http://schemas.microsoft.com/office/drawing/2014/main" id="{B2AEED0B-D3D7-41CE-BBAF-EE70C34F8F33}"/>
              </a:ext>
            </a:extLst>
          </p:cNvPr>
          <p:cNvSpPr>
            <a:spLocks xmlns:a="http://schemas.openxmlformats.org/drawingml/2006/main" noGrp="1"/>
          </p:cNvSpPr>
          <p:nvPr/>
        </p:nvSpPr>
        <p:spPr>
          <a:xfrm xmlns:a="http://schemas.openxmlformats.org/drawingml/2006/main">
            <a:off x="10896600" y="6429375"/>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2000"/>
              </a:lnSpc>
              <a:buNone/>
              <a:defRPr sz="900" b="0">
                <a:solidFill>
                  <a:srgbClr val="5A5F66"/>
                </a:solidFill>
                <a:latin typeface="Arial"/>
                <a:ea typeface="Arial"/>
                <a:cs typeface="Arial"/>
              </a:defRPr>
            </a:pPr>
            <a:r>
              <a:rPr sz="900" b="0">
                <a:solidFill>
                  <a:srgbClr val="5A5F66"/>
                </a:solidFill>
                <a:latin typeface="Arial"/>
                <a:ea typeface="Arial"/>
                <a:cs typeface="Arial"/>
              </a:rPr>
              <a:t>33</a:t>
            </a:r>
          </a:p>
        </p:txBody>
      </p:sp>
      <p:sp>
        <p:nvSpPr>
          <p:cNvPr id="6" name="exercise-accent">
            <a:extLst xmlns:a="http://schemas.openxmlformats.org/drawingml/2006/main">
              <a:ext uri="{FF2B5EF4-FFF2-40B4-BE49-F238E27FC236}">
                <a16:creationId xmlns:a16="http://schemas.microsoft.com/office/drawing/2014/main" id="{290B5238-9A53-4FC2-85AF-0B0FF1C86F82}"/>
              </a:ext>
            </a:extLst>
          </p:cNvPr>
          <p:cNvSpPr>
            <a:spLocks xmlns:a="http://schemas.openxmlformats.org/drawingml/2006/main" noGrp="1"/>
          </p:cNvSpPr>
          <p:nvPr/>
        </p:nvSpPr>
        <p:spPr>
          <a:xfrm xmlns:a="http://schemas.openxmlformats.org/drawingml/2006/main">
            <a:off x="609600" y="1809750"/>
            <a:ext cx="4000500" cy="4248150"/>
          </a:xfrm>
          <a:prstGeom xmlns:a="http://schemas.openxmlformats.org/drawingml/2006/main" prst="roundRect">
            <a:avLst>
              <a:gd name="adj" fmla="val 1429"/>
            </a:avLst>
          </a:prstGeom>
          <a:solidFill xmlns:a="http://schemas.openxmlformats.org/drawingml/2006/main">
            <a:srgbClr val="2E74B5"/>
          </a:solidFill>
          <a:ln xmlns:a="http://schemas.openxmlformats.org/drawingml/2006/main" w="9525">
            <a:solidFill>
              <a:srgbClr val="2E74B5"/>
            </a:solidFill>
            <a:prstDash val="solid"/>
          </a:ln>
        </p:spPr>
      </p:sp>
      <p:sp>
        <p:nvSpPr>
          <p:cNvPr id="7" name="exercise-prompt">
            <a:extLst xmlns:a="http://schemas.openxmlformats.org/drawingml/2006/main">
              <a:ext uri="{FF2B5EF4-FFF2-40B4-BE49-F238E27FC236}">
                <a16:creationId xmlns:a16="http://schemas.microsoft.com/office/drawing/2014/main" id="{C396A8C9-A38E-4594-B288-D20E227E7D5D}"/>
              </a:ext>
            </a:extLst>
          </p:cNvPr>
          <p:cNvSpPr>
            <a:spLocks xmlns:a="http://schemas.openxmlformats.org/drawingml/2006/main" noGrp="1"/>
          </p:cNvSpPr>
          <p:nvPr/>
        </p:nvSpPr>
        <p:spPr>
          <a:xfrm xmlns:a="http://schemas.openxmlformats.org/drawingml/2006/main">
            <a:off x="876300" y="2095500"/>
            <a:ext cx="3467100" cy="3676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8000"/>
              </a:lnSpc>
              <a:buNone/>
              <a:defRPr sz="2100" b="1">
                <a:solidFill>
                  <a:srgbClr val="FFFFFF"/>
                </a:solidFill>
                <a:latin typeface="Arial"/>
                <a:ea typeface="Arial"/>
                <a:cs typeface="Arial"/>
              </a:defRPr>
            </a:pPr>
            <a:r>
              <a:rPr sz="2100" b="1">
                <a:solidFill>
                  <a:srgbClr val="FFFFFF"/>
                </a:solidFill>
                <a:latin typeface="Arial"/>
                <a:ea typeface="Arial"/>
                <a:cs typeface="Arial"/>
              </a:rPr>
              <a:t>A rectangular gallery is 7 m by 5 m. Add an 8% material allowance.</a:t>
            </a:r>
          </a:p>
        </p:txBody>
      </p:sp>
      <p:sp>
        <p:nvSpPr>
          <p:cNvPr id="8" name="work-label">
            <a:extLst xmlns:a="http://schemas.openxmlformats.org/drawingml/2006/main">
              <a:ext uri="{FF2B5EF4-FFF2-40B4-BE49-F238E27FC236}">
                <a16:creationId xmlns:a16="http://schemas.microsoft.com/office/drawing/2014/main" id="{948AF930-A835-4FE7-84D9-CA981E5878D4}"/>
              </a:ext>
            </a:extLst>
          </p:cNvPr>
          <p:cNvSpPr>
            <a:spLocks xmlns:a="http://schemas.openxmlformats.org/drawingml/2006/main" noGrp="1"/>
          </p:cNvSpPr>
          <p:nvPr/>
        </p:nvSpPr>
        <p:spPr>
          <a:xfrm xmlns:a="http://schemas.openxmlformats.org/drawingml/2006/main">
            <a:off x="5029200" y="1847850"/>
            <a:ext cx="6553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2E74B5"/>
                </a:solidFill>
                <a:latin typeface="Arial"/>
                <a:ea typeface="Arial"/>
                <a:cs typeface="Arial"/>
              </a:defRPr>
            </a:pPr>
            <a:r>
              <a:rPr sz="900" b="1">
                <a:solidFill>
                  <a:srgbClr val="2E74B5"/>
                </a:solidFill>
                <a:latin typeface="Arial"/>
                <a:ea typeface="Arial"/>
                <a:cs typeface="Arial"/>
              </a:rPr>
              <a:t>WORK THROUGH IT</a:t>
            </a:r>
          </a:p>
        </p:txBody>
      </p:sp>
      <p:sp>
        <p:nvSpPr>
          <p:cNvPr id="9" name="exercise-no-0">
            <a:extLst xmlns:a="http://schemas.openxmlformats.org/drawingml/2006/main">
              <a:ext uri="{FF2B5EF4-FFF2-40B4-BE49-F238E27FC236}">
                <a16:creationId xmlns:a16="http://schemas.microsoft.com/office/drawing/2014/main" id="{337E9804-03D5-48FE-AC57-0FBE4A49861B}"/>
              </a:ext>
            </a:extLst>
          </p:cNvPr>
          <p:cNvSpPr>
            <a:spLocks xmlns:a="http://schemas.openxmlformats.org/drawingml/2006/main" noGrp="1"/>
          </p:cNvSpPr>
          <p:nvPr/>
        </p:nvSpPr>
        <p:spPr>
          <a:xfrm xmlns:a="http://schemas.openxmlformats.org/drawingml/2006/main">
            <a:off x="5029200" y="22479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1.</a:t>
            </a:r>
          </a:p>
        </p:txBody>
      </p:sp>
      <p:sp>
        <p:nvSpPr>
          <p:cNvPr id="10" name="exercise-step-0">
            <a:extLst xmlns:a="http://schemas.openxmlformats.org/drawingml/2006/main">
              <a:ext uri="{FF2B5EF4-FFF2-40B4-BE49-F238E27FC236}">
                <a16:creationId xmlns:a16="http://schemas.microsoft.com/office/drawing/2014/main" id="{997E3049-8C2F-45A9-9FD3-D4EAC586D66F}"/>
              </a:ext>
            </a:extLst>
          </p:cNvPr>
          <p:cNvSpPr>
            <a:spLocks xmlns:a="http://schemas.openxmlformats.org/drawingml/2006/main" noGrp="1"/>
          </p:cNvSpPr>
          <p:nvPr/>
        </p:nvSpPr>
        <p:spPr>
          <a:xfrm xmlns:a="http://schemas.openxmlformats.org/drawingml/2006/main">
            <a:off x="5467350" y="22479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the input, process, output, and check in plain language.</a:t>
            </a:r>
          </a:p>
        </p:txBody>
      </p:sp>
      <p:sp>
        <p:nvSpPr>
          <p:cNvPr id="11" name="exercise-no-1">
            <a:extLst xmlns:a="http://schemas.openxmlformats.org/drawingml/2006/main">
              <a:ext uri="{FF2B5EF4-FFF2-40B4-BE49-F238E27FC236}">
                <a16:creationId xmlns:a16="http://schemas.microsoft.com/office/drawing/2014/main" id="{56B289A1-CF3E-4BA5-A8F7-F73E280F809F}"/>
              </a:ext>
            </a:extLst>
          </p:cNvPr>
          <p:cNvSpPr>
            <a:spLocks xmlns:a="http://schemas.openxmlformats.org/drawingml/2006/main" noGrp="1"/>
          </p:cNvSpPr>
          <p:nvPr/>
        </p:nvSpPr>
        <p:spPr>
          <a:xfrm xmlns:a="http://schemas.openxmlformats.org/drawingml/2006/main">
            <a:off x="5029200" y="31242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2.</a:t>
            </a:r>
          </a:p>
        </p:txBody>
      </p:sp>
      <p:sp>
        <p:nvSpPr>
          <p:cNvPr id="12" name="exercise-step-1">
            <a:extLst xmlns:a="http://schemas.openxmlformats.org/drawingml/2006/main">
              <a:ext uri="{FF2B5EF4-FFF2-40B4-BE49-F238E27FC236}">
                <a16:creationId xmlns:a16="http://schemas.microsoft.com/office/drawing/2014/main" id="{E8D20B30-C3E8-47D0-BB17-4CE26199C8C6}"/>
              </a:ext>
            </a:extLst>
          </p:cNvPr>
          <p:cNvSpPr>
            <a:spLocks xmlns:a="http://schemas.openxmlformats.org/drawingml/2006/main" noGrp="1"/>
          </p:cNvSpPr>
          <p:nvPr/>
        </p:nvSpPr>
        <p:spPr>
          <a:xfrm xmlns:a="http://schemas.openxmlformats.org/drawingml/2006/main">
            <a:off x="5467350" y="31242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Predict the area and approximate final quantity without Python.</a:t>
            </a:r>
          </a:p>
        </p:txBody>
      </p:sp>
      <p:sp>
        <p:nvSpPr>
          <p:cNvPr id="13" name="exercise-no-2">
            <a:extLst xmlns:a="http://schemas.openxmlformats.org/drawingml/2006/main">
              <a:ext uri="{FF2B5EF4-FFF2-40B4-BE49-F238E27FC236}">
                <a16:creationId xmlns:a16="http://schemas.microsoft.com/office/drawing/2014/main" id="{A8B9CCB2-D805-4DA2-9D52-7D88012E92FB}"/>
              </a:ext>
            </a:extLst>
          </p:cNvPr>
          <p:cNvSpPr>
            <a:spLocks xmlns:a="http://schemas.openxmlformats.org/drawingml/2006/main" noGrp="1"/>
          </p:cNvSpPr>
          <p:nvPr/>
        </p:nvSpPr>
        <p:spPr>
          <a:xfrm xmlns:a="http://schemas.openxmlformats.org/drawingml/2006/main">
            <a:off x="5029200" y="40005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3.</a:t>
            </a:r>
          </a:p>
        </p:txBody>
      </p:sp>
      <p:sp>
        <p:nvSpPr>
          <p:cNvPr id="14" name="exercise-step-2">
            <a:extLst xmlns:a="http://schemas.openxmlformats.org/drawingml/2006/main">
              <a:ext uri="{FF2B5EF4-FFF2-40B4-BE49-F238E27FC236}">
                <a16:creationId xmlns:a16="http://schemas.microsoft.com/office/drawing/2014/main" id="{B97FED4B-1B8B-4DBD-B6FD-0D2B1C009751}"/>
              </a:ext>
            </a:extLst>
          </p:cNvPr>
          <p:cNvSpPr>
            <a:spLocks xmlns:a="http://schemas.openxmlformats.org/drawingml/2006/main" noGrp="1"/>
          </p:cNvSpPr>
          <p:nvPr/>
        </p:nvSpPr>
        <p:spPr>
          <a:xfrm xmlns:a="http://schemas.openxmlformats.org/drawingml/2006/main">
            <a:off x="5467350" y="40005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Write four named Python assignments and one print statement.</a:t>
            </a:r>
          </a:p>
        </p:txBody>
      </p:sp>
      <p:sp>
        <p:nvSpPr>
          <p:cNvPr id="15" name="exercise-no-3">
            <a:extLst xmlns:a="http://schemas.openxmlformats.org/drawingml/2006/main">
              <a:ext uri="{FF2B5EF4-FFF2-40B4-BE49-F238E27FC236}">
                <a16:creationId xmlns:a16="http://schemas.microsoft.com/office/drawing/2014/main" id="{1E7DD71A-3243-44AE-B4C3-FFAA2B63814D}"/>
              </a:ext>
            </a:extLst>
          </p:cNvPr>
          <p:cNvSpPr>
            <a:spLocks xmlns:a="http://schemas.openxmlformats.org/drawingml/2006/main" noGrp="1"/>
          </p:cNvSpPr>
          <p:nvPr/>
        </p:nvSpPr>
        <p:spPr>
          <a:xfrm xmlns:a="http://schemas.openxmlformats.org/drawingml/2006/main">
            <a:off x="5029200" y="4876800"/>
            <a:ext cx="38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00" b="1">
                <a:solidFill>
                  <a:srgbClr val="2E74B5"/>
                </a:solidFill>
                <a:latin typeface="Arial"/>
                <a:ea typeface="Arial"/>
                <a:cs typeface="Arial"/>
              </a:defRPr>
            </a:pPr>
            <a:r>
              <a:rPr sz="1800" b="1">
                <a:solidFill>
                  <a:srgbClr val="2E74B5"/>
                </a:solidFill>
                <a:latin typeface="Arial"/>
                <a:ea typeface="Arial"/>
                <a:cs typeface="Arial"/>
              </a:rPr>
              <a:t>4.</a:t>
            </a:r>
          </a:p>
        </p:txBody>
      </p:sp>
      <p:sp>
        <p:nvSpPr>
          <p:cNvPr id="16" name="exercise-step-3">
            <a:extLst xmlns:a="http://schemas.openxmlformats.org/drawingml/2006/main">
              <a:ext uri="{FF2B5EF4-FFF2-40B4-BE49-F238E27FC236}">
                <a16:creationId xmlns:a16="http://schemas.microsoft.com/office/drawing/2014/main" id="{FA7BEC05-95C4-4069-A918-1F9F97B5682B}"/>
              </a:ext>
            </a:extLst>
          </p:cNvPr>
          <p:cNvSpPr>
            <a:spLocks xmlns:a="http://schemas.openxmlformats.org/drawingml/2006/main" noGrp="1"/>
          </p:cNvSpPr>
          <p:nvPr/>
        </p:nvSpPr>
        <p:spPr>
          <a:xfrm xmlns:a="http://schemas.openxmlformats.org/drawingml/2006/main">
            <a:off x="5467350" y="4876800"/>
            <a:ext cx="61150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00" b="0">
                <a:solidFill>
                  <a:srgbClr val="111316"/>
                </a:solidFill>
                <a:latin typeface="Arial"/>
                <a:ea typeface="Arial"/>
                <a:cs typeface="Arial"/>
              </a:defRPr>
            </a:pPr>
            <a:r>
              <a:rPr sz="1800" b="0">
                <a:solidFill>
                  <a:srgbClr val="111316"/>
                </a:solidFill>
                <a:latin typeface="Arial"/>
                <a:ea typeface="Arial"/>
                <a:cs typeface="Arial"/>
              </a:rPr>
              <a:t>Name one modeling limitation and one test case.</a:t>
            </a:r>
          </a:p>
        </p:txBody>
      </p:sp>
    </p:spTree>
    <p:extLst>
      <p:ext uri="{BB962C8B-B14F-4D97-AF65-F5344CB8AC3E}">
        <p14:creationId xmlns:p14="http://schemas.microsoft.com/office/powerpoint/2010/main" val="398516137"/>
      </p:ext>
    </p:extLst>
  </p:cSld>
</p:sld>
</file>

<file path=ppt/slides/slide34.xml><?xml version="1.0" encoding="utf-8"?>
<p:sld xmlns:p="http://schemas.openxmlformats.org/presentationml/2006/main">
  <p:cSld>
    <p:bg>
      <p:bgPr>
        <a:solidFill xmlns:a="http://schemas.openxmlformats.org/drawingml/2006/main">
          <a:srgbClr val="17191C"/>
        </a:solidFill>
      </p:bgPr>
    </p:bg>
    <p:spTree>
      <p:nvGrpSpPr>
        <p:cNvPr id="1" name=""/>
        <p:cNvGrpSpPr/>
        <p:nvPr/>
      </p:nvGrpSpPr>
      <p:grpSpPr>
        <a:xfrm xmlns:a="http://schemas.openxmlformats.org/drawingml/2006/main"/>
      </p:grpSpPr>
      <p:sp>
        <p:nvSpPr>
          <p:cNvPr id="12" name="close-week">
            <a:extLst xmlns:a="http://schemas.openxmlformats.org/drawingml/2006/main">
              <a:ext uri="{FF2B5EF4-FFF2-40B4-BE49-F238E27FC236}">
                <a16:creationId xmlns:a16="http://schemas.microsoft.com/office/drawing/2014/main" id="{CECCA775-5F61-484C-8823-3242770330C6}"/>
              </a:ext>
            </a:extLst>
          </p:cNvPr>
          <p:cNvSpPr>
            <a:spLocks xmlns:a="http://schemas.openxmlformats.org/drawingml/2006/main" noGrp="1"/>
          </p:cNvSpPr>
          <p:nvPr/>
        </p:nvSpPr>
        <p:spPr>
          <a:xfrm xmlns:a="http://schemas.openxmlformats.org/drawingml/2006/main">
            <a:off x="609600" y="45720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1200" b="1">
                <a:solidFill>
                  <a:srgbClr val="E8EEF5"/>
                </a:solidFill>
                <a:latin typeface="Arial"/>
                <a:ea typeface="Arial"/>
                <a:cs typeface="Arial"/>
              </a:defRPr>
            </a:pPr>
            <a:r>
              <a:rPr sz="1200" b="1">
                <a:solidFill>
                  <a:srgbClr val="E8EEF5"/>
                </a:solidFill>
                <a:latin typeface="Arial"/>
                <a:ea typeface="Arial"/>
                <a:cs typeface="Arial"/>
              </a:rPr>
              <a:t>WEEK 1 · MEETING A · COMPUTATIONAL THINKING</a:t>
            </a:r>
          </a:p>
        </p:txBody>
      </p:sp>
      <p:sp>
        <p:nvSpPr>
          <p:cNvPr id="2" name="close-title">
            <a:extLst xmlns:a="http://schemas.openxmlformats.org/drawingml/2006/main">
              <a:ext uri="{FF2B5EF4-FFF2-40B4-BE49-F238E27FC236}">
                <a16:creationId xmlns:a16="http://schemas.microsoft.com/office/drawing/2014/main" id="{0EE36EA5-0A56-4D71-97AC-06B73D11EF87}"/>
              </a:ext>
            </a:extLst>
          </p:cNvPr>
          <p:cNvSpPr>
            <a:spLocks xmlns:a="http://schemas.openxmlformats.org/drawingml/2006/main" noGrp="1"/>
          </p:cNvSpPr>
          <p:nvPr/>
        </p:nvSpPr>
        <p:spPr>
          <a:xfrm xmlns:a="http://schemas.openxmlformats.org/drawingml/2006/main">
            <a:off x="609600" y="1066800"/>
            <a:ext cx="109728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A program is an executable argument</a:t>
            </a:r>
          </a:p>
        </p:txBody>
      </p:sp>
      <p:sp>
        <p:nvSpPr>
          <p:cNvPr id="3" name="">
            <a:extLst xmlns:a="http://schemas.openxmlformats.org/drawingml/2006/main">
              <a:ext uri="{FF2B5EF4-FFF2-40B4-BE49-F238E27FC236}">
                <a16:creationId xmlns:a16="http://schemas.microsoft.com/office/drawing/2014/main" id="{5D9739EC-DE38-4EF7-9E62-E1E2E352700C}"/>
              </a:ext>
            </a:extLst>
          </p:cNvPr>
          <p:cNvSpPr>
            <a:spLocks xmlns:a="http://schemas.openxmlformats.org/drawingml/2006/main" noGrp="1"/>
          </p:cNvSpPr>
          <p:nvPr/>
        </p:nvSpPr>
        <p:spPr>
          <a:xfrm xmlns:a="http://schemas.openxmlformats.org/drawingml/2006/main">
            <a:off x="609600" y="2324100"/>
            <a:ext cx="1600200" cy="0"/>
          </a:xfrm>
          <a:prstGeom xmlns:a="http://schemas.openxmlformats.org/drawingml/2006/main" prst="line">
            <a:avLst/>
          </a:prstGeom>
          <a:noFill xmlns:a="http://schemas.openxmlformats.org/drawingml/2006/main"/>
          <a:ln xmlns:a="http://schemas.openxmlformats.org/drawingml/2006/main" w="47625">
            <a:solidFill>
              <a:srgbClr val="2E74B5"/>
            </a:solidFill>
            <a:prstDash val="solid"/>
          </a:ln>
        </p:spPr>
      </p:sp>
      <p:sp>
        <p:nvSpPr>
          <p:cNvPr id="4" name="take-no-0">
            <a:extLst xmlns:a="http://schemas.openxmlformats.org/drawingml/2006/main">
              <a:ext uri="{FF2B5EF4-FFF2-40B4-BE49-F238E27FC236}">
                <a16:creationId xmlns:a16="http://schemas.microsoft.com/office/drawing/2014/main" id="{682931BE-D27D-4CB2-BE61-48792B251887}"/>
              </a:ext>
            </a:extLst>
          </p:cNvPr>
          <p:cNvSpPr>
            <a:spLocks xmlns:a="http://schemas.openxmlformats.org/drawingml/2006/main" noGrp="1"/>
          </p:cNvSpPr>
          <p:nvPr/>
        </p:nvSpPr>
        <p:spPr>
          <a:xfrm xmlns:a="http://schemas.openxmlformats.org/drawingml/2006/main">
            <a:off x="609600" y="2743200"/>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01</a:t>
            </a:r>
          </a:p>
        </p:txBody>
      </p:sp>
      <p:sp>
        <p:nvSpPr>
          <p:cNvPr id="5" name="take-0">
            <a:extLst xmlns:a="http://schemas.openxmlformats.org/drawingml/2006/main">
              <a:ext uri="{FF2B5EF4-FFF2-40B4-BE49-F238E27FC236}">
                <a16:creationId xmlns:a16="http://schemas.microsoft.com/office/drawing/2014/main" id="{D6BB5AFA-1524-4CFB-A495-C8A9D8F1A51F}"/>
              </a:ext>
            </a:extLst>
          </p:cNvPr>
          <p:cNvSpPr>
            <a:spLocks xmlns:a="http://schemas.openxmlformats.org/drawingml/2006/main" noGrp="1"/>
          </p:cNvSpPr>
          <p:nvPr/>
        </p:nvSpPr>
        <p:spPr>
          <a:xfrm xmlns:a="http://schemas.openxmlformats.org/drawingml/2006/main">
            <a:off x="1409700" y="2705100"/>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State inputs, process, outputs, and checks.</a:t>
            </a:r>
          </a:p>
        </p:txBody>
      </p:sp>
      <p:sp>
        <p:nvSpPr>
          <p:cNvPr id="6" name="take-no-1">
            <a:extLst xmlns:a="http://schemas.openxmlformats.org/drawingml/2006/main">
              <a:ext uri="{FF2B5EF4-FFF2-40B4-BE49-F238E27FC236}">
                <a16:creationId xmlns:a16="http://schemas.microsoft.com/office/drawing/2014/main" id="{B7E9079C-FFB6-473A-9127-CB65401B86B1}"/>
              </a:ext>
            </a:extLst>
          </p:cNvPr>
          <p:cNvSpPr>
            <a:spLocks xmlns:a="http://schemas.openxmlformats.org/drawingml/2006/main" noGrp="1"/>
          </p:cNvSpPr>
          <p:nvPr/>
        </p:nvSpPr>
        <p:spPr>
          <a:xfrm xmlns:a="http://schemas.openxmlformats.org/drawingml/2006/main">
            <a:off x="609600" y="3240786"/>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02</a:t>
            </a:r>
          </a:p>
        </p:txBody>
      </p:sp>
      <p:sp>
        <p:nvSpPr>
          <p:cNvPr id="7" name="take-1">
            <a:extLst xmlns:a="http://schemas.openxmlformats.org/drawingml/2006/main">
              <a:ext uri="{FF2B5EF4-FFF2-40B4-BE49-F238E27FC236}">
                <a16:creationId xmlns:a16="http://schemas.microsoft.com/office/drawing/2014/main" id="{3723B234-4E28-4A21-A533-86BF6A0E972A}"/>
              </a:ext>
            </a:extLst>
          </p:cNvPr>
          <p:cNvSpPr>
            <a:spLocks xmlns:a="http://schemas.openxmlformats.org/drawingml/2006/main" noGrp="1"/>
          </p:cNvSpPr>
          <p:nvPr/>
        </p:nvSpPr>
        <p:spPr>
          <a:xfrm xmlns:a="http://schemas.openxmlformats.org/drawingml/2006/main">
            <a:off x="1409700" y="3202686"/>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Represent only what the decision requires—and name the omissions.</a:t>
            </a:r>
          </a:p>
        </p:txBody>
      </p:sp>
      <p:sp>
        <p:nvSpPr>
          <p:cNvPr id="8" name="take-no-2">
            <a:extLst xmlns:a="http://schemas.openxmlformats.org/drawingml/2006/main">
              <a:ext uri="{FF2B5EF4-FFF2-40B4-BE49-F238E27FC236}">
                <a16:creationId xmlns:a16="http://schemas.microsoft.com/office/drawing/2014/main" id="{F1DBED04-5E37-4217-9381-E1013411170B}"/>
              </a:ext>
            </a:extLst>
          </p:cNvPr>
          <p:cNvSpPr>
            <a:spLocks xmlns:a="http://schemas.openxmlformats.org/drawingml/2006/main" noGrp="1"/>
          </p:cNvSpPr>
          <p:nvPr/>
        </p:nvSpPr>
        <p:spPr>
          <a:xfrm xmlns:a="http://schemas.openxmlformats.org/drawingml/2006/main">
            <a:off x="609600" y="3738372"/>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03</a:t>
            </a:r>
          </a:p>
        </p:txBody>
      </p:sp>
      <p:sp>
        <p:nvSpPr>
          <p:cNvPr id="9" name="take-2">
            <a:extLst xmlns:a="http://schemas.openxmlformats.org/drawingml/2006/main">
              <a:ext uri="{FF2B5EF4-FFF2-40B4-BE49-F238E27FC236}">
                <a16:creationId xmlns:a16="http://schemas.microsoft.com/office/drawing/2014/main" id="{D86B45D2-C128-4456-9B21-97F1185A3756}"/>
              </a:ext>
            </a:extLst>
          </p:cNvPr>
          <p:cNvSpPr>
            <a:spLocks xmlns:a="http://schemas.openxmlformats.org/drawingml/2006/main" noGrp="1"/>
          </p:cNvSpPr>
          <p:nvPr/>
        </p:nvSpPr>
        <p:spPr>
          <a:xfrm xmlns:a="http://schemas.openxmlformats.org/drawingml/2006/main">
            <a:off x="1409700" y="3700272"/>
            <a:ext cx="10172700" cy="40233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Read Python sequentially and trace changing state.</a:t>
            </a:r>
          </a:p>
        </p:txBody>
      </p:sp>
      <p:sp>
        <p:nvSpPr>
          <p:cNvPr id="10" name="take-no-3">
            <a:extLst xmlns:a="http://schemas.openxmlformats.org/drawingml/2006/main">
              <a:ext uri="{FF2B5EF4-FFF2-40B4-BE49-F238E27FC236}">
                <a16:creationId xmlns:a16="http://schemas.microsoft.com/office/drawing/2014/main" id="{61A3E44F-5ADA-4429-B4ED-A2E5953693AF}"/>
              </a:ext>
            </a:extLst>
          </p:cNvPr>
          <p:cNvSpPr>
            <a:spLocks xmlns:a="http://schemas.openxmlformats.org/drawingml/2006/main" noGrp="1"/>
          </p:cNvSpPr>
          <p:nvPr/>
        </p:nvSpPr>
        <p:spPr>
          <a:xfrm xmlns:a="http://schemas.openxmlformats.org/drawingml/2006/main">
            <a:off x="609600" y="4235958"/>
            <a:ext cx="552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2000"/>
              </a:lnSpc>
              <a:buNone/>
              <a:defRPr sz="900" b="1">
                <a:solidFill>
                  <a:srgbClr val="E8EEF5"/>
                </a:solidFill>
                <a:latin typeface="Arial"/>
                <a:ea typeface="Arial"/>
                <a:cs typeface="Arial"/>
              </a:defRPr>
            </a:pPr>
            <a:r>
              <a:rPr sz="900" b="1">
                <a:solidFill>
                  <a:srgbClr val="E8EEF5"/>
                </a:solidFill>
                <a:latin typeface="Arial"/>
                <a:ea typeface="Arial"/>
                <a:cs typeface="Arial"/>
              </a:rPr>
              <a:t>04</a:t>
            </a:r>
          </a:p>
        </p:txBody>
      </p:sp>
      <p:sp>
        <p:nvSpPr>
          <p:cNvPr id="11" name="take-3">
            <a:extLst xmlns:a="http://schemas.openxmlformats.org/drawingml/2006/main">
              <a:ext uri="{FF2B5EF4-FFF2-40B4-BE49-F238E27FC236}">
                <a16:creationId xmlns:a16="http://schemas.microsoft.com/office/drawing/2014/main" id="{3E925AE8-BDD9-41C2-B82D-EC585FE5B256}"/>
              </a:ext>
            </a:extLst>
          </p:cNvPr>
          <p:cNvSpPr>
            <a:spLocks xmlns:a="http://schemas.openxmlformats.org/drawingml/2006/main" noGrp="1"/>
          </p:cNvSpPr>
          <p:nvPr/>
        </p:nvSpPr>
        <p:spPr>
          <a:xfrm xmlns:a="http://schemas.openxmlformats.org/drawingml/2006/main">
            <a:off x="1409700" y="4197858"/>
            <a:ext cx="10172700" cy="69037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FFFFFF"/>
                </a:solidFill>
                <a:latin typeface="Arial"/>
                <a:ea typeface="Arial"/>
                <a:cs typeface="Arial"/>
              </a:defRPr>
            </a:pPr>
            <a:r>
              <a:rPr sz="2100" b="0">
                <a:solidFill>
                  <a:srgbClr val="FFFFFF"/>
                </a:solidFill>
                <a:latin typeface="Arial"/>
                <a:ea typeface="Arial"/>
                <a:cs typeface="Arial"/>
              </a:rPr>
              <a:t>Use generative AI only with explanation, testing, and an audit record.</a:t>
            </a:r>
          </a:p>
        </p:txBody>
      </p:sp>
    </p:spTree>
    <p:extLst>
      <p:ext uri="{BB962C8B-B14F-4D97-AF65-F5344CB8AC3E}">
        <p14:creationId xmlns:p14="http://schemas.microsoft.com/office/powerpoint/2010/main" val="14893529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2026-08-20T16:08:05.3260000Z</dcterms:created>
  <dcterms:modified xsi:type="dcterms:W3CDTF">2026-08-20T16:08:05.3260000Z</dcterms:modified>
</coreProperties>
</file>