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550dfcbf244c3" /><Relationship Type="http://schemas.openxmlformats.org/officeDocument/2006/relationships/extended-properties" Target="/docProps/app.xml" Id="R4082176dd6ff4880" /><Relationship Type="http://schemas.openxmlformats.org/officeDocument/2006/relationships/officeDocument" Target="/ppt/presentation.xml" Id="R738401b884a14a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26498160eb4b5a"/>
  </p:sldMasterIdLst>
  <p:notesMasterIdLst>
    <p:notesMasterId xmlns:r="http://schemas.openxmlformats.org/officeDocument/2006/relationships" r:id="R5cc164b0b7754955"/>
  </p:notesMasterIdLst>
  <p:sldIdLst>
    <p:sldId xmlns:r="http://schemas.openxmlformats.org/officeDocument/2006/relationships" id="256" r:id="R8edffdaa150e47f8"/>
    <p:sldId xmlns:r="http://schemas.openxmlformats.org/officeDocument/2006/relationships" id="257" r:id="R5f7f0a5df54d4a16"/>
    <p:sldId xmlns:r="http://schemas.openxmlformats.org/officeDocument/2006/relationships" id="258" r:id="Rabe54df10c234670"/>
    <p:sldId xmlns:r="http://schemas.openxmlformats.org/officeDocument/2006/relationships" id="259" r:id="R3ab0ffd949a44f1d"/>
    <p:sldId xmlns:r="http://schemas.openxmlformats.org/officeDocument/2006/relationships" id="260" r:id="Re9f9ba14bd22452a"/>
    <p:sldId xmlns:r="http://schemas.openxmlformats.org/officeDocument/2006/relationships" id="261" r:id="Re9b487a818084779"/>
    <p:sldId xmlns:r="http://schemas.openxmlformats.org/officeDocument/2006/relationships" id="262" r:id="Re52d627a1eaf4168"/>
    <p:sldId xmlns:r="http://schemas.openxmlformats.org/officeDocument/2006/relationships" id="263" r:id="Rdf66227511d744c0"/>
    <p:sldId xmlns:r="http://schemas.openxmlformats.org/officeDocument/2006/relationships" id="264" r:id="Rd2498920c31a43f0"/>
    <p:sldId xmlns:r="http://schemas.openxmlformats.org/officeDocument/2006/relationships" id="265" r:id="R28cc649105e649c7"/>
    <p:sldId xmlns:r="http://schemas.openxmlformats.org/officeDocument/2006/relationships" id="266" r:id="Rb3b563060c584fb9"/>
    <p:sldId xmlns:r="http://schemas.openxmlformats.org/officeDocument/2006/relationships" id="267" r:id="R38de85b9d9e54f72"/>
    <p:sldId xmlns:r="http://schemas.openxmlformats.org/officeDocument/2006/relationships" id="268" r:id="R8f515a922d154041"/>
    <p:sldId xmlns:r="http://schemas.openxmlformats.org/officeDocument/2006/relationships" id="269" r:id="R6deadf75d72a42bc"/>
    <p:sldId xmlns:r="http://schemas.openxmlformats.org/officeDocument/2006/relationships" id="270" r:id="Ra0a4f7b55fe44d8f"/>
    <p:sldId xmlns:r="http://schemas.openxmlformats.org/officeDocument/2006/relationships" id="271" r:id="Ra4bdd76ab14d418f"/>
    <p:sldId xmlns:r="http://schemas.openxmlformats.org/officeDocument/2006/relationships" id="272" r:id="Rec4a90963bb44e95"/>
    <p:sldId xmlns:r="http://schemas.openxmlformats.org/officeDocument/2006/relationships" id="273" r:id="R9dcb0fd4e34e47cc"/>
    <p:sldId xmlns:r="http://schemas.openxmlformats.org/officeDocument/2006/relationships" id="274" r:id="Rd173f2d8986b4723"/>
    <p:sldId xmlns:r="http://schemas.openxmlformats.org/officeDocument/2006/relationships" id="275" r:id="R9720a9ede62a4dff"/>
    <p:sldId xmlns:r="http://schemas.openxmlformats.org/officeDocument/2006/relationships" id="276" r:id="R07da9de8f0f04951"/>
    <p:sldId xmlns:r="http://schemas.openxmlformats.org/officeDocument/2006/relationships" id="277" r:id="R7b395210d12f48d6"/>
    <p:sldId xmlns:r="http://schemas.openxmlformats.org/officeDocument/2006/relationships" id="278" r:id="Rbb55c969c289482e"/>
    <p:sldId xmlns:r="http://schemas.openxmlformats.org/officeDocument/2006/relationships" id="279" r:id="Rce65941eb1f949f0"/>
    <p:sldId xmlns:r="http://schemas.openxmlformats.org/officeDocument/2006/relationships" id="280" r:id="R347011398d9f422c"/>
    <p:sldId xmlns:r="http://schemas.openxmlformats.org/officeDocument/2006/relationships" id="281" r:id="Rad3c40d0eb824d7c"/>
    <p:sldId xmlns:r="http://schemas.openxmlformats.org/officeDocument/2006/relationships" id="282" r:id="R682dd0c7bbf14973"/>
    <p:sldId xmlns:r="http://schemas.openxmlformats.org/officeDocument/2006/relationships" id="283" r:id="Rac22ca6c5e0443bd"/>
    <p:sldId xmlns:r="http://schemas.openxmlformats.org/officeDocument/2006/relationships" id="284" r:id="Rc5e911eecfb34711"/>
    <p:sldId xmlns:r="http://schemas.openxmlformats.org/officeDocument/2006/relationships" id="285" r:id="Rbd7eb1e68e6d46d5"/>
    <p:sldId xmlns:r="http://schemas.openxmlformats.org/officeDocument/2006/relationships" id="286" r:id="R612b17b4270d45f5"/>
    <p:sldId xmlns:r="http://schemas.openxmlformats.org/officeDocument/2006/relationships" id="287" r:id="R61a87d7733b4445f"/>
    <p:sldId xmlns:r="http://schemas.openxmlformats.org/officeDocument/2006/relationships" id="288" r:id="R5ab28c31e64d4a3e"/>
    <p:sldId xmlns:r="http://schemas.openxmlformats.org/officeDocument/2006/relationships" id="289" r:id="Red1b5e4eb49345af"/>
    <p:sldId xmlns:r="http://schemas.openxmlformats.org/officeDocument/2006/relationships" id="290" r:id="R660d74c8d25a462b"/>
    <p:sldId xmlns:r="http://schemas.openxmlformats.org/officeDocument/2006/relationships" id="291" r:id="Rdd0b0dcffbb74c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534790d9ca4f9e" /><Relationship Type="http://schemas.openxmlformats.org/officeDocument/2006/relationships/slideMaster" Target="/ppt/slideMasters/slideMaster1.xml" Id="R8f26498160eb4b5a" /><Relationship Type="http://schemas.openxmlformats.org/officeDocument/2006/relationships/notesMaster" Target="/ppt/notesMasters/notesMaster1.xml" Id="R5cc164b0b7754955" /><Relationship Type="http://schemas.openxmlformats.org/officeDocument/2006/relationships/presProps" Target="/ppt/presProps.xml" Id="R789ce105252c4500" /><Relationship Type="http://schemas.openxmlformats.org/officeDocument/2006/relationships/tableStyles" Target="/ppt/tableStyles.xml" Id="R12749ef2e7b1446b" /><Relationship Type="http://schemas.openxmlformats.org/officeDocument/2006/relationships/slide" Target="/ppt/slides/slide1.xml" Id="R8edffdaa150e47f8" /><Relationship Type="http://schemas.openxmlformats.org/officeDocument/2006/relationships/slide" Target="/ppt/slides/slide2.xml" Id="R5f7f0a5df54d4a16" /><Relationship Type="http://schemas.openxmlformats.org/officeDocument/2006/relationships/slide" Target="/ppt/slides/slide3.xml" Id="Rabe54df10c234670" /><Relationship Type="http://schemas.openxmlformats.org/officeDocument/2006/relationships/slide" Target="/ppt/slides/slide4.xml" Id="R3ab0ffd949a44f1d" /><Relationship Type="http://schemas.openxmlformats.org/officeDocument/2006/relationships/slide" Target="/ppt/slides/slide5.xml" Id="Re9f9ba14bd22452a" /><Relationship Type="http://schemas.openxmlformats.org/officeDocument/2006/relationships/slide" Target="/ppt/slides/slide6.xml" Id="Re9b487a818084779" /><Relationship Type="http://schemas.openxmlformats.org/officeDocument/2006/relationships/slide" Target="/ppt/slides/slide7.xml" Id="Re52d627a1eaf4168" /><Relationship Type="http://schemas.openxmlformats.org/officeDocument/2006/relationships/slide" Target="/ppt/slides/slide8.xml" Id="Rdf66227511d744c0" /><Relationship Type="http://schemas.openxmlformats.org/officeDocument/2006/relationships/slide" Target="/ppt/slides/slide9.xml" Id="Rd2498920c31a43f0" /><Relationship Type="http://schemas.openxmlformats.org/officeDocument/2006/relationships/slide" Target="/ppt/slides/slide10.xml" Id="R28cc649105e649c7" /><Relationship Type="http://schemas.openxmlformats.org/officeDocument/2006/relationships/slide" Target="/ppt/slides/slide11.xml" Id="Rb3b563060c584fb9" /><Relationship Type="http://schemas.openxmlformats.org/officeDocument/2006/relationships/slide" Target="/ppt/slides/slide12.xml" Id="R38de85b9d9e54f72" /><Relationship Type="http://schemas.openxmlformats.org/officeDocument/2006/relationships/slide" Target="/ppt/slides/slide13.xml" Id="R8f515a922d154041" /><Relationship Type="http://schemas.openxmlformats.org/officeDocument/2006/relationships/slide" Target="/ppt/slides/slide14.xml" Id="R6deadf75d72a42bc" /><Relationship Type="http://schemas.openxmlformats.org/officeDocument/2006/relationships/slide" Target="/ppt/slides/slide15.xml" Id="Ra0a4f7b55fe44d8f" /><Relationship Type="http://schemas.openxmlformats.org/officeDocument/2006/relationships/slide" Target="/ppt/slides/slide16.xml" Id="Ra4bdd76ab14d418f" /><Relationship Type="http://schemas.openxmlformats.org/officeDocument/2006/relationships/slide" Target="/ppt/slides/slide17.xml" Id="Rec4a90963bb44e95" /><Relationship Type="http://schemas.openxmlformats.org/officeDocument/2006/relationships/slide" Target="/ppt/slides/slide18.xml" Id="R9dcb0fd4e34e47cc" /><Relationship Type="http://schemas.openxmlformats.org/officeDocument/2006/relationships/slide" Target="/ppt/slides/slide19.xml" Id="Rd173f2d8986b4723" /><Relationship Type="http://schemas.openxmlformats.org/officeDocument/2006/relationships/slide" Target="/ppt/slides/slide20.xml" Id="R9720a9ede62a4dff" /><Relationship Type="http://schemas.openxmlformats.org/officeDocument/2006/relationships/slide" Target="/ppt/slides/slide21.xml" Id="R07da9de8f0f04951" /><Relationship Type="http://schemas.openxmlformats.org/officeDocument/2006/relationships/slide" Target="/ppt/slides/slide22.xml" Id="R7b395210d12f48d6" /><Relationship Type="http://schemas.openxmlformats.org/officeDocument/2006/relationships/slide" Target="/ppt/slides/slide23.xml" Id="Rbb55c969c289482e" /><Relationship Type="http://schemas.openxmlformats.org/officeDocument/2006/relationships/slide" Target="/ppt/slides/slide24.xml" Id="Rce65941eb1f949f0" /><Relationship Type="http://schemas.openxmlformats.org/officeDocument/2006/relationships/slide" Target="/ppt/slides/slide25.xml" Id="R347011398d9f422c" /><Relationship Type="http://schemas.openxmlformats.org/officeDocument/2006/relationships/slide" Target="/ppt/slides/slide26.xml" Id="Rad3c40d0eb824d7c" /><Relationship Type="http://schemas.openxmlformats.org/officeDocument/2006/relationships/slide" Target="/ppt/slides/slide27.xml" Id="R682dd0c7bbf14973" /><Relationship Type="http://schemas.openxmlformats.org/officeDocument/2006/relationships/slide" Target="/ppt/slides/slide28.xml" Id="Rac22ca6c5e0443bd" /><Relationship Type="http://schemas.openxmlformats.org/officeDocument/2006/relationships/slide" Target="/ppt/slides/slide29.xml" Id="Rc5e911eecfb34711" /><Relationship Type="http://schemas.openxmlformats.org/officeDocument/2006/relationships/slide" Target="/ppt/slides/slide30.xml" Id="Rbd7eb1e68e6d46d5" /><Relationship Type="http://schemas.openxmlformats.org/officeDocument/2006/relationships/slide" Target="/ppt/slides/slide31.xml" Id="R612b17b4270d45f5" /><Relationship Type="http://schemas.openxmlformats.org/officeDocument/2006/relationships/slide" Target="/ppt/slides/slide32.xml" Id="R61a87d7733b4445f" /><Relationship Type="http://schemas.openxmlformats.org/officeDocument/2006/relationships/slide" Target="/ppt/slides/slide33.xml" Id="R5ab28c31e64d4a3e" /><Relationship Type="http://schemas.openxmlformats.org/officeDocument/2006/relationships/slide" Target="/ppt/slides/slide34.xml" Id="Red1b5e4eb49345af" /><Relationship Type="http://schemas.openxmlformats.org/officeDocument/2006/relationships/slide" Target="/ppt/slides/slide35.xml" Id="R660d74c8d25a462b" /><Relationship Type="http://schemas.openxmlformats.org/officeDocument/2006/relationships/slide" Target="/ppt/slides/slide36.xml" Id="Rdd0b0dcffbb74c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7b7fde73ce49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97e69ff9a14f46" /><Relationship Type="http://schemas.openxmlformats.org/officeDocument/2006/relationships/notesMaster" Target="/ppt/notesMasters/notesMaster1.xml" Id="R168127c9711d47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7b3ebd112b4e43" /><Relationship Type="http://schemas.openxmlformats.org/officeDocument/2006/relationships/notesMaster" Target="/ppt/notesMasters/notesMaster1.xml" Id="R09ecf082cc434d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a0bcc5201b41eb" /><Relationship Type="http://schemas.openxmlformats.org/officeDocument/2006/relationships/notesMaster" Target="/ppt/notesMasters/notesMaster1.xml" Id="R86a4f8b0a3204f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9522b67b6843c0" /><Relationship Type="http://schemas.openxmlformats.org/officeDocument/2006/relationships/notesMaster" Target="/ppt/notesMasters/notesMaster1.xml" Id="R5f100c9cec1745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f3d6541b5c4bc6" /><Relationship Type="http://schemas.openxmlformats.org/officeDocument/2006/relationships/notesMaster" Target="/ppt/notesMasters/notesMaster1.xml" Id="R9ba9ecc2dacb41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a437b87fc24540" /><Relationship Type="http://schemas.openxmlformats.org/officeDocument/2006/relationships/notesMaster" Target="/ppt/notesMasters/notesMaster1.xml" Id="R5657029c0f7947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037f75aa1848a8" /><Relationship Type="http://schemas.openxmlformats.org/officeDocument/2006/relationships/notesMaster" Target="/ppt/notesMasters/notesMaster1.xml" Id="R9484d33452744a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3a1259827f467d" /><Relationship Type="http://schemas.openxmlformats.org/officeDocument/2006/relationships/notesMaster" Target="/ppt/notesMasters/notesMaster1.xml" Id="Rec8f24cbe8404b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e20b37c88040ec" /><Relationship Type="http://schemas.openxmlformats.org/officeDocument/2006/relationships/notesMaster" Target="/ppt/notesMasters/notesMaster1.xml" Id="R4ec8ff70f0ba42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9962f7384941f7" /><Relationship Type="http://schemas.openxmlformats.org/officeDocument/2006/relationships/notesMaster" Target="/ppt/notesMasters/notesMaster1.xml" Id="Rc89fcdcfd34b49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7094613c934fe6" /><Relationship Type="http://schemas.openxmlformats.org/officeDocument/2006/relationships/notesMaster" Target="/ppt/notesMasters/notesMaster1.xml" Id="R7fceffb8dc4140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7493e234a346b3" /><Relationship Type="http://schemas.openxmlformats.org/officeDocument/2006/relationships/notesMaster" Target="/ppt/notesMasters/notesMaster1.xml" Id="R8527c2edfcf949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d1f44b618a49a1" /><Relationship Type="http://schemas.openxmlformats.org/officeDocument/2006/relationships/notesMaster" Target="/ppt/notesMasters/notesMaster1.xml" Id="R2b9da93e1d8e45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3b0bfa6dd549a1" /><Relationship Type="http://schemas.openxmlformats.org/officeDocument/2006/relationships/notesMaster" Target="/ppt/notesMasters/notesMaster1.xml" Id="R175c9b1e337744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c0ab91a6f94d77" /><Relationship Type="http://schemas.openxmlformats.org/officeDocument/2006/relationships/notesMaster" Target="/ppt/notesMasters/notesMaster1.xml" Id="R6fd685506989428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bd4c180eb3453b" /><Relationship Type="http://schemas.openxmlformats.org/officeDocument/2006/relationships/notesMaster" Target="/ppt/notesMasters/notesMaster1.xml" Id="R0466077d69984d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85b0103589f4b7c" /><Relationship Type="http://schemas.openxmlformats.org/officeDocument/2006/relationships/notesMaster" Target="/ppt/notesMasters/notesMaster1.xml" Id="R26f5ba7b3d2446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e792784f03740f9" /><Relationship Type="http://schemas.openxmlformats.org/officeDocument/2006/relationships/notesMaster" Target="/ppt/notesMasters/notesMaster1.xml" Id="R9230bbf2959b4ee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0c660c016b47a8" /><Relationship Type="http://schemas.openxmlformats.org/officeDocument/2006/relationships/notesMaster" Target="/ppt/notesMasters/notesMaster1.xml" Id="R087eaad2aa8c42f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986c1f041ea4c39" /><Relationship Type="http://schemas.openxmlformats.org/officeDocument/2006/relationships/notesMaster" Target="/ppt/notesMasters/notesMaster1.xml" Id="Re1582308bfe3431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5887c91419348d4" /><Relationship Type="http://schemas.openxmlformats.org/officeDocument/2006/relationships/notesMaster" Target="/ppt/notesMasters/notesMaster1.xml" Id="R8eef3a88eebb47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7e5ee53e5da4ee1" /><Relationship Type="http://schemas.openxmlformats.org/officeDocument/2006/relationships/notesMaster" Target="/ppt/notesMasters/notesMaster1.xml" Id="Ra481bba69028488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7facc45eec248c8" /><Relationship Type="http://schemas.openxmlformats.org/officeDocument/2006/relationships/notesMaster" Target="/ppt/notesMasters/notesMaster1.xml" Id="R0307db75bb124bf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659445125f44ac5" /><Relationship Type="http://schemas.openxmlformats.org/officeDocument/2006/relationships/notesMaster" Target="/ppt/notesMasters/notesMaster1.xml" Id="R215b97006b8f427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50a9bd563024502" /><Relationship Type="http://schemas.openxmlformats.org/officeDocument/2006/relationships/notesMaster" Target="/ppt/notesMasters/notesMaster1.xml" Id="Ra6a9aa851eac424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7ac21e28dc84b81" /><Relationship Type="http://schemas.openxmlformats.org/officeDocument/2006/relationships/notesMaster" Target="/ppt/notesMasters/notesMaster1.xml" Id="R1ca325be20704c6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363809141b647c3" /><Relationship Type="http://schemas.openxmlformats.org/officeDocument/2006/relationships/notesMaster" Target="/ppt/notesMasters/notesMaster1.xml" Id="R2b8795e2610145c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6bcbb2991d24f6d" /><Relationship Type="http://schemas.openxmlformats.org/officeDocument/2006/relationships/notesMaster" Target="/ppt/notesMasters/notesMaster1.xml" Id="R9c7c0f5f63094ac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72b6d3a9edf4690" /><Relationship Type="http://schemas.openxmlformats.org/officeDocument/2006/relationships/notesMaster" Target="/ppt/notesMasters/notesMaster1.xml" Id="Rd310f6a8cc1e4d8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3a4f9179a144eb7" /><Relationship Type="http://schemas.openxmlformats.org/officeDocument/2006/relationships/notesMaster" Target="/ppt/notesMasters/notesMaster1.xml" Id="Rf2b1e7ecdf12456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d6a4ff36b0d4799" /><Relationship Type="http://schemas.openxmlformats.org/officeDocument/2006/relationships/notesMaster" Target="/ppt/notesMasters/notesMaster1.xml" Id="Re8b2abfa5313433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e7a49a0ab8a4ce6" /><Relationship Type="http://schemas.openxmlformats.org/officeDocument/2006/relationships/notesMaster" Target="/ppt/notesMasters/notesMaster1.xml" Id="R6af02bd0ffae406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2a66a1a97e2415d" /><Relationship Type="http://schemas.openxmlformats.org/officeDocument/2006/relationships/notesMaster" Target="/ppt/notesMasters/notesMaster1.xml" Id="R3ae81971ba8b407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a09a59e77ed4c8f" /><Relationship Type="http://schemas.openxmlformats.org/officeDocument/2006/relationships/notesMaster" Target="/ppt/notesMasters/notesMaster1.xml" Id="R75c5ce8bed63496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c086c1223674f9e" /><Relationship Type="http://schemas.openxmlformats.org/officeDocument/2006/relationships/notesMaster" Target="/ppt/notesMasters/notesMaster1.xml" Id="R7bbeefba38d04df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2f8e03e346f491b" /><Relationship Type="http://schemas.openxmlformats.org/officeDocument/2006/relationships/notesMaster" Target="/ppt/notesMasters/notesMaster1.xml" Id="R4c1c8689ea7949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open the Week 03 handout and predict the first three boundary results before running any screening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Ask students which outcome most directly prepares them for later data and machine-learning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Explain that the studio moves from one value to a reusable evidence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Use this as the challenge map for the handout: no student should attempt the hard function-and-record task before demonstrating the easy boundary and medium accumulator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Adapted from FS25 L7, L8, and L10. Ask students to point to every term in the Week 03 handout before running code. Move fast: elif, list, and dictionary each receive their own vocabulary slide later in the meeting.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This sequence prevents students from debugging comparisons, loops, and functions simultaneously.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annotate the three cases in their handout before Ctrl+Enter.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Do not accept 'because Python says so.' The explanation must connect 'at least' to &gt;=.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Compare bounded messages with 'approved' and 'bad room.' Ask what evidence each phrase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Students must demonstrate both branches. One successful run is incomplete branch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met if and else in the asynchronous primer; elif is new today, so give it its own slide before the code. Verified live: with the two thresholds reversed, daylight_pct = 30 prints moderate rather than high. Show that defect here so Studio 3 confirms it rather than discovers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test 10, 15, 24.9, 25, and 30 before altering the branch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The deliberate defect makes branch order visible. Students should identify the first-true-branch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Poll all four options with a show of hands before revealing. A is the common one: students read and as or, or let the True daylight flag outweigh the failing area. C assumes a rule that fails stores nothing. D assumes and needs two comparisons, so a bare Boolean name looks illegal. Verified on the interpreter: this prints False, and the same expression with or prints 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predict all four combinations of two Boolean inputs.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Require four cases. Compound conditions cannot be trusted after testing only the all-true 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Square-bracket syntax appears here for the first time in the live meeting, so define it on its own slide rather than inside the loop explanation. Verified: print(room_areas_m2) shows [35.0, 62.5, 44.2].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at each numbered bracket, then read its numbered label. The two names students confuse are area_m2 and room_areas_m2: one is created by the loop, the other must already exist. Verified: this loop over [35.0, 62.5, 44.2] prints 35.0 False, 62.5 True, 44.2 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- https://docs.python.org/3/tutorial/datastructures.html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trace the first two iterations manually before running.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- https://docs.python.org/3/tutorial/datastructures.html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Look for duplicated threshold values. The rule should appear once inside the loop or function.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Hands up for each option before revealing. D (3) is the big one: the loop does run three times, but the counting line is indented under the if, so it runs twice. A (0) assumes print outside the loop reports the starting value. B (1) assumes the line sets the count to 1 rather than adding to it. Verified: this prints 2. The next slide rewrites the same line as passing_count +=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Introduce += here as shorthand for the line students just predicted. Then show two indentation defects: resetting inside the loop and printing before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Model this table on the board before Studio 6. Students should be able to build the same kind of table for their own five-room list before trusting any accumulator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Expected value depends on the supplied list. Students should never accept an accumulator without an independent count. Point back to the worked trace table as the model to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Default arguments are new today, and part 4 is where they land: 40.0 is a policy the caller may override, not a fact about rooms. Verified: area_status(44.2) returns 'meets area criterion' and area_status(44.2, 50.0) returns 'review area'.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Students identify function name, parameters, default, branches, return values, calls, and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Refactoring should preserve behavior. Any changed boundary or message requires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Students already know assert's syntax from Week 2; do not re-teach it from scratch. Change &gt;= to &gt; and show which assertion identifies the policy regression introduced by the refactor: the 40.0 line fails first, because equality is exactly what the operator change removed.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https://docs.python.org/3/tutorial/errors.html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Students must observe one failing assertion before restoring the correct function.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Keep the coverage minimal, as the schedule directs: one record, one lookup, no catalog of dictionary methods. Verified: room = {'name': 'Lobby', 'area_m2': 35.0} then room['area_m2'] returns 35.0 and room['name'] returns 'Lobby'.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Explain list-of-dictionaries only to the extent needed to read one record and apply the tested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https://docs.python.org/3/tutorial/datastructures.html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Confirm Office (exactly 40.0) landed in 'meets area criterion' — the &gt;= from cell [1] made that call, not a coin flip.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Ask what would need to change in area_status for a room to satisfy NEITHER count — this is exactly why the assertion is worth keeping, not decorative.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Require evidence from tests, not merely a claim that the repaired code looks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https://skillsbuild.org/adult-learners/explore-learning/artificial-intelligence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Use peer verification before submission. One student runs while the other checks all four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Students save, restart, run from the top, and submit the script and brief rule limitation.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a36624dfa4b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a535cb86384338" /><Relationship Type="http://schemas.openxmlformats.org/officeDocument/2006/relationships/slideLayout" Target="/ppt/slideLayouts/slideLayout1.xml" Id="Rb846e3bd273245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46e3bd273245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951a4f973448e" /><Relationship Type="http://schemas.openxmlformats.org/officeDocument/2006/relationships/notesSlide" Target="/ppt/notesSlides/notesSlide1.xml" Id="R985dc186cd0f48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be54696e54abf" /><Relationship Type="http://schemas.openxmlformats.org/officeDocument/2006/relationships/notesSlide" Target="/ppt/notesSlides/notesSlide2.xml" Id="R7f5a57fcf0fc4d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bed89ee7c4007" /><Relationship Type="http://schemas.openxmlformats.org/officeDocument/2006/relationships/notesSlide" Target="/ppt/notesSlides/notesSlide3.xml" Id="R0966e1a2e0bd48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613c2b92c4a83" /><Relationship Type="http://schemas.openxmlformats.org/officeDocument/2006/relationships/notesSlide" Target="/ppt/notesSlides/notesSlide4.xml" Id="R7aa1e1458c8f40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21a3b5708442c" /><Relationship Type="http://schemas.openxmlformats.org/officeDocument/2006/relationships/notesSlide" Target="/ppt/notesSlides/notesSlide5.xml" Id="R8b6a7276dfc240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54730f841449f" /><Relationship Type="http://schemas.openxmlformats.org/officeDocument/2006/relationships/notesSlide" Target="/ppt/notesSlides/notesSlide6.xml" Id="R1dc910e731954d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1fd040b22443a" /><Relationship Type="http://schemas.openxmlformats.org/officeDocument/2006/relationships/notesSlide" Target="/ppt/notesSlides/notesSlide7.xml" Id="R4f1756eacfeb40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0076d2710437b" /><Relationship Type="http://schemas.openxmlformats.org/officeDocument/2006/relationships/notesSlide" Target="/ppt/notesSlides/notesSlide8.xml" Id="Rc8973bc2166748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63d7a985c4494" /><Relationship Type="http://schemas.openxmlformats.org/officeDocument/2006/relationships/notesSlide" Target="/ppt/notesSlides/notesSlide9.xml" Id="R5c790be6a70049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191e02dc6442f" /><Relationship Type="http://schemas.openxmlformats.org/officeDocument/2006/relationships/notesSlide" Target="/ppt/notesSlides/notesSlide10.xml" Id="R7c5cba0e1a1f42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bc8d4d69045e5" /><Relationship Type="http://schemas.openxmlformats.org/officeDocument/2006/relationships/notesSlide" Target="/ppt/notesSlides/notesSlide11.xml" Id="R51f7bff307c745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1544e8a5a4a50" /><Relationship Type="http://schemas.openxmlformats.org/officeDocument/2006/relationships/notesSlide" Target="/ppt/notesSlides/notesSlide12.xml" Id="R2ee66d85dd9e44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c42a8bd7b4269" /><Relationship Type="http://schemas.openxmlformats.org/officeDocument/2006/relationships/notesSlide" Target="/ppt/notesSlides/notesSlide13.xml" Id="Rdddc16d5a92a44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f0d4876af4dce" /><Relationship Type="http://schemas.openxmlformats.org/officeDocument/2006/relationships/notesSlide" Target="/ppt/notesSlides/notesSlide14.xml" Id="R4bf75fe4328a4d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1d0e740e34e95" /><Relationship Type="http://schemas.openxmlformats.org/officeDocument/2006/relationships/notesSlide" Target="/ppt/notesSlides/notesSlide15.xml" Id="Rf10890dc99c44c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c295fc7614512" /><Relationship Type="http://schemas.openxmlformats.org/officeDocument/2006/relationships/notesSlide" Target="/ppt/notesSlides/notesSlide16.xml" Id="Rb5c4983511fe46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4017d16c44021" /><Relationship Type="http://schemas.openxmlformats.org/officeDocument/2006/relationships/notesSlide" Target="/ppt/notesSlides/notesSlide17.xml" Id="Rb332e8b255994a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b3685fcde4ddf" /><Relationship Type="http://schemas.openxmlformats.org/officeDocument/2006/relationships/notesSlide" Target="/ppt/notesSlides/notesSlide18.xml" Id="R8288f6dfc9de43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af759d5f844a3" /><Relationship Type="http://schemas.openxmlformats.org/officeDocument/2006/relationships/notesSlide" Target="/ppt/notesSlides/notesSlide19.xml" Id="R88578aab93c446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da4a77fa746f3" /><Relationship Type="http://schemas.openxmlformats.org/officeDocument/2006/relationships/notesSlide" Target="/ppt/notesSlides/notesSlide20.xml" Id="R9d3b646591184a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1aa31977246b1" /><Relationship Type="http://schemas.openxmlformats.org/officeDocument/2006/relationships/notesSlide" Target="/ppt/notesSlides/notesSlide21.xml" Id="Rb2cb6fc9e274445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91274343a4c81" /><Relationship Type="http://schemas.openxmlformats.org/officeDocument/2006/relationships/notesSlide" Target="/ppt/notesSlides/notesSlide22.xml" Id="R256a7f035149454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0f9ab1086431a" /><Relationship Type="http://schemas.openxmlformats.org/officeDocument/2006/relationships/notesSlide" Target="/ppt/notesSlides/notesSlide23.xml" Id="Ref2c9568742a421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149cdac074d9c" /><Relationship Type="http://schemas.openxmlformats.org/officeDocument/2006/relationships/notesSlide" Target="/ppt/notesSlides/notesSlide24.xml" Id="Ra90f0a032b914cd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3013e0d2e4fb1" /><Relationship Type="http://schemas.openxmlformats.org/officeDocument/2006/relationships/notesSlide" Target="/ppt/notesSlides/notesSlide25.xml" Id="R46dec5b74a7543a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6e251cc1f4099" /><Relationship Type="http://schemas.openxmlformats.org/officeDocument/2006/relationships/notesSlide" Target="/ppt/notesSlides/notesSlide26.xml" Id="Ra5c00e2cfd824d5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4a36766424b3e" /><Relationship Type="http://schemas.openxmlformats.org/officeDocument/2006/relationships/notesSlide" Target="/ppt/notesSlides/notesSlide27.xml" Id="R1f774f8c85684b8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ccaa851a24853" /><Relationship Type="http://schemas.openxmlformats.org/officeDocument/2006/relationships/notesSlide" Target="/ppt/notesSlides/notesSlide28.xml" Id="Rc43b2b83d7614e8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593e9206c4eb0" /><Relationship Type="http://schemas.openxmlformats.org/officeDocument/2006/relationships/notesSlide" Target="/ppt/notesSlides/notesSlide29.xml" Id="R9960c2e9e79745a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6e00c40a14544" /><Relationship Type="http://schemas.openxmlformats.org/officeDocument/2006/relationships/notesSlide" Target="/ppt/notesSlides/notesSlide30.xml" Id="R1b28a83a35ea414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94335ffa34d41" /><Relationship Type="http://schemas.openxmlformats.org/officeDocument/2006/relationships/notesSlide" Target="/ppt/notesSlides/notesSlide31.xml" Id="R2cb822ef2ae24cc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04c61ff084668" /><Relationship Type="http://schemas.openxmlformats.org/officeDocument/2006/relationships/notesSlide" Target="/ppt/notesSlides/notesSlide32.xml" Id="Re6076944702341c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29685b22a4504" /><Relationship Type="http://schemas.openxmlformats.org/officeDocument/2006/relationships/notesSlide" Target="/ppt/notesSlides/notesSlide33.xml" Id="R7bfeae94b0e14ba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ad61792fa4f6d" /><Relationship Type="http://schemas.openxmlformats.org/officeDocument/2006/relationships/notesSlide" Target="/ppt/notesSlides/notesSlide34.xml" Id="Rd2fd2545433c468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1bd8cb75b4eaf" /><Relationship Type="http://schemas.openxmlformats.org/officeDocument/2006/relationships/notesSlide" Target="/ppt/notesSlides/notesSlide35.xml" Id="R7c78b36c9c9f4a2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5901220474302" /><Relationship Type="http://schemas.openxmlformats.org/officeDocument/2006/relationships/notesSlide" Target="/ppt/notesSlides/notesSlide36.xml" Id="Rd44c3c42d5784d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B0A7139E-31F5-46BB-81F4-5D265A73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BD5EADEE-FC9B-40B3-8857-3FF7DDC7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35AF1B3A-5897-4FAC-B55A-59C0A497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625B8627-8705-4D1D-9DA0-90CDBD10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3 · MEETING B · DESIGN-RULE STUDIO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E7764A17-BDC8-40F6-AA4E-0317D391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a tested room-schedule screening workflow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AED775C1-4F2F-470C-A5BA-1F08F678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Meeting B · comparisons, conditionals, loops, functions, boundary tests, and responsible AI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522C0-104C-46E3-8854-C794EF03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67535B59-BFAF-4F3B-A772-34F8523B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1590907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1210E1A6-989D-4F08-8755-31B6D572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DA1F98-5937-4E67-B690-060EC990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By the end, you should be able to…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0D6DB-7E5E-4252-95E3-01409C81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990AD2C-0608-4E67-8816-BE44E23D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7E47F72-4D1D-4050-BE50-B3AB80BA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outcome-number-0">
            <a:extLst xmlns:a="http://schemas.openxmlformats.org/drawingml/2006/main">
              <a:ext uri="{FF2B5EF4-FFF2-40B4-BE49-F238E27FC236}">
                <a16:creationId xmlns:a16="http://schemas.microsoft.com/office/drawing/2014/main" id="{9B90C20D-E1AE-481A-ABDA-27828CCF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C432E558-4292-499A-8FE6-EB929981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Translate</a:t>
            </a:r>
          </a:p>
        </p:txBody>
      </p:sp>
      <p:sp>
        <p:nvSpPr>
          <p:cNvPr id="8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98034A16-F58B-4A69-8E3F-890D0056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Turn a verbal room criterion into explicit Boolean logic.</a:t>
            </a:r>
          </a:p>
        </p:txBody>
      </p:sp>
      <p:sp>
        <p:nvSpPr>
          <p:cNvPr id="9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230CA05A-8571-4653-A3CA-1D0D9F67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ABFE7346-A965-45E3-863A-E8B8E7AE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Branch</a:t>
            </a:r>
          </a:p>
        </p:txBody>
      </p:sp>
      <p:sp>
        <p:nvSpPr>
          <p:cNvPr id="11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91A2C772-7407-4D43-824B-D5E9C7D9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Use if, elif, and else with bounded evidence messages.</a:t>
            </a:r>
          </a:p>
        </p:txBody>
      </p:sp>
      <p:sp>
        <p:nvSpPr>
          <p:cNvPr id="12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12EBD644-C412-4C97-9396-AB78512F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03922DE3-3147-473C-97A2-D5F31464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4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A844948A-0439-4B7B-9184-3F1B58B2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Apply one tested rule to a small list of room records.</a:t>
            </a:r>
          </a:p>
        </p:txBody>
      </p:sp>
      <p:sp>
        <p:nvSpPr>
          <p:cNvPr id="15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EE761764-BD27-4FF1-90BE-15FD56A4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CE81B7F3-E950-4A60-AF3A-A8CB4915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Refactor</a:t>
            </a:r>
          </a:p>
        </p:txBody>
      </p:sp>
      <p:sp>
        <p:nvSpPr>
          <p:cNvPr id="17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65CDD37E-AAE2-4F92-8743-0093773A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Package the rule as a reusable function with assertions.</a:t>
            </a:r>
          </a:p>
        </p:txBody>
      </p:sp>
    </p:spTree>
    <p:extLst>
      <p:ext uri="{BB962C8B-B14F-4D97-AF65-F5344CB8AC3E}">
        <p14:creationId xmlns:p14="http://schemas.microsoft.com/office/powerpoint/2010/main" val="1368055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313CE131-1A84-48DE-A827-A1971AA5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ROAD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8F7BF9-1621-4BE4-B1FF-DD7F79C5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Today’s learning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D21B3-B047-4F63-B3B1-4B6AB4C8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73A5158-45AC-4C29-8578-90C63387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719B459-D669-437C-8E60-1A32B861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agenda-no-0">
            <a:extLst xmlns:a="http://schemas.openxmlformats.org/drawingml/2006/main">
              <a:ext uri="{FF2B5EF4-FFF2-40B4-BE49-F238E27FC236}">
                <a16:creationId xmlns:a16="http://schemas.microsoft.com/office/drawing/2014/main" id="{71EFFF86-46F3-4179-A395-D0A27996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6BDC7-243C-47F1-B243-33EC5967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8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09535C51-4D8E-47D9-B484-344FF2F8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Verify one criterion at its boundary</a:t>
            </a:r>
          </a:p>
        </p:txBody>
      </p:sp>
      <p:sp>
        <p:nvSpPr>
          <p:cNvPr id="9" name="agenda-no-1">
            <a:extLst xmlns:a="http://schemas.openxmlformats.org/drawingml/2006/main">
              <a:ext uri="{FF2B5EF4-FFF2-40B4-BE49-F238E27FC236}">
                <a16:creationId xmlns:a16="http://schemas.microsoft.com/office/drawing/2014/main" id="{37B26C09-B9D2-4B8D-B057-3D879B51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19A4A-26C0-4BDD-A407-AA619FAC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67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B0DEEEAA-2157-48F8-8C33-11208282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conditional messages and compound rules</a:t>
            </a:r>
          </a:p>
        </p:txBody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C3A2CC40-6D20-4212-A76C-AB30D6F6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C6A46-F198-40C0-B7F9-0D764694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94ED0BAD-5A11-43E2-914B-06411CFD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Repeat the rule across a room schedule</a:t>
            </a:r>
          </a:p>
        </p:txBody>
      </p:sp>
      <p:sp>
        <p:nvSpPr>
          <p:cNvPr id="15" name="agenda-no-3">
            <a:extLst xmlns:a="http://schemas.openxmlformats.org/drawingml/2006/main">
              <a:ext uri="{FF2B5EF4-FFF2-40B4-BE49-F238E27FC236}">
                <a16:creationId xmlns:a16="http://schemas.microsoft.com/office/drawing/2014/main" id="{A3C37AA0-C6C0-480C-96BD-03509F52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4449A-19F0-41D2-8FAA-A3CA452D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20B91B03-4AE0-4A3A-97FA-28E2F90E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Refactor, test, and audit the final function</a:t>
            </a:r>
          </a:p>
        </p:txBody>
      </p:sp>
    </p:spTree>
    <p:extLst>
      <p:ext uri="{BB962C8B-B14F-4D97-AF65-F5344CB8AC3E}">
        <p14:creationId xmlns:p14="http://schemas.microsoft.com/office/powerpoint/2010/main" val="169849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E13CA395-0B91-47C1-82C3-BE55D193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EASY → MEDIUM → HARD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4AF64A-25B8-4C79-9D4E-5AA4C978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studio scales one tested rule without changing its meaning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43117-C1EE-470A-976B-66D44B52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C870629-E305-4DB4-BFE0-035ED8D9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D6BFD2F-0F15-4F8E-A418-E8F720D0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ladder-row-0">
            <a:extLst xmlns:a="http://schemas.openxmlformats.org/drawingml/2006/main">
              <a:ext uri="{FF2B5EF4-FFF2-40B4-BE49-F238E27FC236}">
                <a16:creationId xmlns:a16="http://schemas.microsoft.com/office/drawing/2014/main" id="{F04786DE-4580-40E7-9B99-5961E095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7" name="ladder-accent-0">
            <a:extLst xmlns:a="http://schemas.openxmlformats.org/drawingml/2006/main">
              <a:ext uri="{FF2B5EF4-FFF2-40B4-BE49-F238E27FC236}">
                <a16:creationId xmlns:a16="http://schemas.microsoft.com/office/drawing/2014/main" id="{07088778-C659-4651-BD1F-99F83371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dder-level-0">
            <a:extLst xmlns:a="http://schemas.openxmlformats.org/drawingml/2006/main">
              <a:ext uri="{FF2B5EF4-FFF2-40B4-BE49-F238E27FC236}">
                <a16:creationId xmlns:a16="http://schemas.microsoft.com/office/drawing/2014/main" id="{85E712CB-5EB9-463D-BD29-A16436F2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EASY</a:t>
            </a:r>
          </a:p>
        </p:txBody>
      </p:sp>
      <p:sp>
        <p:nvSpPr>
          <p:cNvPr id="9" name="ladder-focus-0">
            <a:extLst xmlns:a="http://schemas.openxmlformats.org/drawingml/2006/main">
              <a:ext uri="{FF2B5EF4-FFF2-40B4-BE49-F238E27FC236}">
                <a16:creationId xmlns:a16="http://schemas.microsoft.com/office/drawing/2014/main" id="{CCED5A28-6514-4595-83A0-630FBDC8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37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10" name="ladder-task-0">
            <a:extLst xmlns:a="http://schemas.openxmlformats.org/drawingml/2006/main">
              <a:ext uri="{FF2B5EF4-FFF2-40B4-BE49-F238E27FC236}">
                <a16:creationId xmlns:a16="http://schemas.microsoft.com/office/drawing/2014/main" id="{B50BC657-58D4-4448-AA74-808933B0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19300"/>
            <a:ext cx="5943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Evaluate 39.9, 40.0, and 40.1 against an 'at least 40.0 m²' criterion.</a:t>
            </a:r>
          </a:p>
        </p:txBody>
      </p:sp>
      <p:sp>
        <p:nvSpPr>
          <p:cNvPr id="11" name="ladder-divider-0">
            <a:extLst xmlns:a="http://schemas.openxmlformats.org/drawingml/2006/main">
              <a:ext uri="{FF2B5EF4-FFF2-40B4-BE49-F238E27FC236}">
                <a16:creationId xmlns:a16="http://schemas.microsoft.com/office/drawing/2014/main" id="{48945275-7FF6-41E0-8B35-EA4C8C98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19300"/>
            <a:ext cx="95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dder-check-label-0">
            <a:extLst xmlns:a="http://schemas.openxmlformats.org/drawingml/2006/main">
              <a:ext uri="{FF2B5EF4-FFF2-40B4-BE49-F238E27FC236}">
                <a16:creationId xmlns:a16="http://schemas.microsoft.com/office/drawing/2014/main" id="{673B197A-7D4D-4D02-B729-A5AAC84F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193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EXPECTED CHECK</a:t>
            </a:r>
          </a:p>
        </p:txBody>
      </p:sp>
      <p:sp>
        <p:nvSpPr>
          <p:cNvPr id="13" name="ladder-answer-0">
            <a:extLst xmlns:a="http://schemas.openxmlformats.org/drawingml/2006/main">
              <a:ext uri="{FF2B5EF4-FFF2-40B4-BE49-F238E27FC236}">
                <a16:creationId xmlns:a16="http://schemas.microsoft.com/office/drawing/2014/main" id="{6ECC86DE-14BB-4B1F-A274-CEC3C800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050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False, True, True</a:t>
            </a:r>
          </a:p>
        </p:txBody>
      </p:sp>
      <p:sp>
        <p:nvSpPr>
          <p:cNvPr id="14" name="ladder-row-1">
            <a:extLst xmlns:a="http://schemas.openxmlformats.org/drawingml/2006/main">
              <a:ext uri="{FF2B5EF4-FFF2-40B4-BE49-F238E27FC236}">
                <a16:creationId xmlns:a16="http://schemas.microsoft.com/office/drawing/2014/main" id="{B96C456A-B5A4-4D51-A24A-E9D4E194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ladder-accent-1">
            <a:extLst xmlns:a="http://schemas.openxmlformats.org/drawingml/2006/main">
              <a:ext uri="{FF2B5EF4-FFF2-40B4-BE49-F238E27FC236}">
                <a16:creationId xmlns:a16="http://schemas.microsoft.com/office/drawing/2014/main" id="{1032C539-5EDA-4993-B1C1-2C94D742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adder-level-1">
            <a:extLst xmlns:a="http://schemas.openxmlformats.org/drawingml/2006/main">
              <a:ext uri="{FF2B5EF4-FFF2-40B4-BE49-F238E27FC236}">
                <a16:creationId xmlns:a16="http://schemas.microsoft.com/office/drawing/2014/main" id="{B2DE2C05-570A-4331-B837-355AE841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7" name="ladder-focus-1">
            <a:extLst xmlns:a="http://schemas.openxmlformats.org/drawingml/2006/main">
              <a:ext uri="{FF2B5EF4-FFF2-40B4-BE49-F238E27FC236}">
                <a16:creationId xmlns:a16="http://schemas.microsoft.com/office/drawing/2014/main" id="{8F9E4354-A130-46BC-ACE8-3E53099B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137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Loop + count</a:t>
            </a:r>
          </a:p>
        </p:txBody>
      </p:sp>
      <p:sp>
        <p:nvSpPr>
          <p:cNvPr id="18" name="ladder-task-1">
            <a:extLst xmlns:a="http://schemas.openxmlformats.org/drawingml/2006/main">
              <a:ext uri="{FF2B5EF4-FFF2-40B4-BE49-F238E27FC236}">
                <a16:creationId xmlns:a16="http://schemas.microsoft.com/office/drawing/2014/main" id="{D87427A5-4CC6-466C-8D37-33D7F5AC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67100"/>
            <a:ext cx="5943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Screen [35.0, 40.0, 62.5, 44.2, 28.0] and count rooms meeting the criterion.</a:t>
            </a:r>
          </a:p>
        </p:txBody>
      </p:sp>
      <p:sp>
        <p:nvSpPr>
          <p:cNvPr id="19" name="ladder-divider-1">
            <a:extLst xmlns:a="http://schemas.openxmlformats.org/drawingml/2006/main">
              <a:ext uri="{FF2B5EF4-FFF2-40B4-BE49-F238E27FC236}">
                <a16:creationId xmlns:a16="http://schemas.microsoft.com/office/drawing/2014/main" id="{B3201EE8-2ABD-4871-B59B-FF1C97B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67100"/>
            <a:ext cx="95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adder-check-label-1">
            <a:extLst xmlns:a="http://schemas.openxmlformats.org/drawingml/2006/main">
              <a:ext uri="{FF2B5EF4-FFF2-40B4-BE49-F238E27FC236}">
                <a16:creationId xmlns:a16="http://schemas.microsoft.com/office/drawing/2014/main" id="{66E5265C-53FC-4455-9B3F-CD21AB4E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671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EXPECTED CHECK</a:t>
            </a:r>
          </a:p>
        </p:txBody>
      </p:sp>
      <p:sp>
        <p:nvSpPr>
          <p:cNvPr id="21" name="ladder-answer-1">
            <a:extLst xmlns:a="http://schemas.openxmlformats.org/drawingml/2006/main">
              <a:ext uri="{FF2B5EF4-FFF2-40B4-BE49-F238E27FC236}">
                <a16:creationId xmlns:a16="http://schemas.microsoft.com/office/drawing/2014/main" id="{D0AA4423-7886-4E75-8F57-CA1362D2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528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passing_count = 3</a:t>
            </a:r>
          </a:p>
        </p:txBody>
      </p:sp>
      <p:sp>
        <p:nvSpPr>
          <p:cNvPr id="22" name="ladder-row-2">
            <a:extLst xmlns:a="http://schemas.openxmlformats.org/drawingml/2006/main">
              <a:ext uri="{FF2B5EF4-FFF2-40B4-BE49-F238E27FC236}">
                <a16:creationId xmlns:a16="http://schemas.microsoft.com/office/drawing/2014/main" id="{6CF30C9C-3B8A-4B14-A61F-4D4FBCEB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972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ladder-accent-2">
            <a:extLst xmlns:a="http://schemas.openxmlformats.org/drawingml/2006/main">
              <a:ext uri="{FF2B5EF4-FFF2-40B4-BE49-F238E27FC236}">
                <a16:creationId xmlns:a16="http://schemas.microsoft.com/office/drawing/2014/main" id="{3A82D2EF-57D3-4BEE-9E09-8FA60E0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adder-level-2">
            <a:extLst xmlns:a="http://schemas.openxmlformats.org/drawingml/2006/main">
              <a:ext uri="{FF2B5EF4-FFF2-40B4-BE49-F238E27FC236}">
                <a16:creationId xmlns:a16="http://schemas.microsoft.com/office/drawing/2014/main" id="{2317C5F9-38D2-4CB6-9114-9AC6A5C3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HARD</a:t>
            </a:r>
          </a:p>
        </p:txBody>
      </p:sp>
      <p:sp>
        <p:nvSpPr>
          <p:cNvPr id="25" name="ladder-focus-2">
            <a:extLst xmlns:a="http://schemas.openxmlformats.org/drawingml/2006/main">
              <a:ext uri="{FF2B5EF4-FFF2-40B4-BE49-F238E27FC236}">
                <a16:creationId xmlns:a16="http://schemas.microsoft.com/office/drawing/2014/main" id="{6FE05437-8691-4973-A8ED-82C4F707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37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Reusable screen</a:t>
            </a:r>
          </a:p>
        </p:txBody>
      </p:sp>
      <p:sp>
        <p:nvSpPr>
          <p:cNvPr id="26" name="ladder-task-2">
            <a:extLst xmlns:a="http://schemas.openxmlformats.org/drawingml/2006/main">
              <a:ext uri="{FF2B5EF4-FFF2-40B4-BE49-F238E27FC236}">
                <a16:creationId xmlns:a16="http://schemas.microsoft.com/office/drawing/2014/main" id="{9D93BD0E-F333-46C2-908E-9F972F8B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14900"/>
            <a:ext cx="5943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Apply area-and-daylight logic to (39.9, True), (40.0, True), and (45.0, False).</a:t>
            </a:r>
          </a:p>
        </p:txBody>
      </p:sp>
      <p:sp>
        <p:nvSpPr>
          <p:cNvPr id="27" name="ladder-divider-2">
            <a:extLst xmlns:a="http://schemas.openxmlformats.org/drawingml/2006/main">
              <a:ext uri="{FF2B5EF4-FFF2-40B4-BE49-F238E27FC236}">
                <a16:creationId xmlns:a16="http://schemas.microsoft.com/office/drawing/2014/main" id="{625D02D8-2D10-47AB-AB84-90302F6D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14900"/>
            <a:ext cx="95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dder-check-label-2">
            <a:extLst xmlns:a="http://schemas.openxmlformats.org/drawingml/2006/main">
              <a:ext uri="{FF2B5EF4-FFF2-40B4-BE49-F238E27FC236}">
                <a16:creationId xmlns:a16="http://schemas.microsoft.com/office/drawing/2014/main" id="{5202BCCF-672A-4A16-B0E0-E00E220E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149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EXPECTED CHECK</a:t>
            </a:r>
          </a:p>
        </p:txBody>
      </p:sp>
      <p:sp>
        <p:nvSpPr>
          <p:cNvPr id="29" name="ladder-answer-2">
            <a:extLst xmlns:a="http://schemas.openxmlformats.org/drawingml/2006/main">
              <a:ext uri="{FF2B5EF4-FFF2-40B4-BE49-F238E27FC236}">
                <a16:creationId xmlns:a16="http://schemas.microsoft.com/office/drawing/2014/main" id="{2CCEC621-77F0-47F6-BACF-8C79A2C4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006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False, True, False</a:t>
            </a:r>
          </a:p>
        </p:txBody>
      </p:sp>
    </p:spTree>
    <p:extLst>
      <p:ext uri="{BB962C8B-B14F-4D97-AF65-F5344CB8AC3E}">
        <p14:creationId xmlns:p14="http://schemas.microsoft.com/office/powerpoint/2010/main" val="9410001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kicker">
            <a:extLst xmlns:a="http://schemas.openxmlformats.org/drawingml/2006/main">
              <a:ext uri="{FF2B5EF4-FFF2-40B4-BE49-F238E27FC236}">
                <a16:creationId xmlns:a16="http://schemas.microsoft.com/office/drawing/2014/main" id="{D68DD12F-94C6-47E5-98BD-345FDB85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9C53709-E81E-4C6D-9676-86F28EFA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the five logic terms used in the studio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128E8-5AC5-4F6D-AAA7-8155BA47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A332E16-A65D-45E6-9DD0-01CE7ED9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0942EF5-86C6-4F7D-B5F9-B7AB20B0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C7C19-D579-4DA9-A1E9-0F5A106A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3ADA5497-0567-4CB7-95CE-CE0F1C6A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4A11F-EEDA-46A3-A825-C30B856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622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44EF3C06-FC0C-4286-8EC3-AE4CBBD9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384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3A643-A542-4610-9CF3-01FA8650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622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485947AD-7335-4756-9606-458BFC69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384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6DE97-DA2F-4F56-8341-F5673586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1C5E1A31-DE65-4EEB-9958-877E2190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Boolean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23C77-F2CA-4A59-A783-9EB3DF9E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956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94445739-8BE9-4ED8-8DF4-3F9CD309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718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True or False truth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F70BC-3453-4CE6-A2D7-EF6F7DB1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956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0ACDBF81-E683-4EFF-8D7D-3E33AE13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718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meets_minimum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91B73-F963-484D-87A2-F3DB5D83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830B5076-EA53-4FF8-BB2F-345A8021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841A9-84B4-4361-9E1D-40E0B6C0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2900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95136355-E480-4E15-BEE1-C55F43C8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520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question that returns a Boolean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617FE2-72F7-46C7-B7DB-3410231B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2900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B714AD0C-F260-4F24-A392-7A87120B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0520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area_m2 &gt;= 40.0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4C89F-65BB-4FB4-80B1-3EDD6E65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00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E177B16C-CBB1-4006-871F-24AA7118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62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787CF2-1B7D-401E-8FCA-B8486B52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700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B2E7E125-53EC-4226-B4AF-2593544D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462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chooses a block using a Boolean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60F940-D739-4638-8802-8FDEF819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700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350B5B53-B928-41F2-8BCA-84435FAC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462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if / elif / else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CE15D0-7F41-481B-A9EA-A3401980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104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D248F333-0A10-41FC-9EBA-B6B83DBB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724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32A082-13E9-4877-9028-C8BFAA93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1104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EEB6DACF-F0B2-4118-958E-3637D4D5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8724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repeats a block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0E3739-46C0-41C3-8FF6-98EB9631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1104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7BC62236-A327-40B3-A9E2-5071630C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8724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for room in rooms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3D1E78-4D14-4E15-9C84-2EB80663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444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4-0">
            <a:extLst xmlns:a="http://schemas.openxmlformats.org/drawingml/2006/main">
              <a:ext uri="{FF2B5EF4-FFF2-40B4-BE49-F238E27FC236}">
                <a16:creationId xmlns:a16="http://schemas.microsoft.com/office/drawing/2014/main" id="{E4545E7B-C000-4438-9EF4-C1E01778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064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function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6E7418-C1D2-49EE-B960-08815E6B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4444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4-1">
            <a:extLst xmlns:a="http://schemas.openxmlformats.org/drawingml/2006/main">
              <a:ext uri="{FF2B5EF4-FFF2-40B4-BE49-F238E27FC236}">
                <a16:creationId xmlns:a16="http://schemas.microsoft.com/office/drawing/2014/main" id="{8BE657DF-84F9-4A1A-907E-59921268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2064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named reusable procedure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EBD9A5-F6E8-430F-ADB6-10598653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4444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4-2">
            <a:extLst xmlns:a="http://schemas.openxmlformats.org/drawingml/2006/main">
              <a:ext uri="{FF2B5EF4-FFF2-40B4-BE49-F238E27FC236}">
                <a16:creationId xmlns:a16="http://schemas.microsoft.com/office/drawing/2014/main" id="{DE0D4418-2692-43D9-8BFF-0489170E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2064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area_status(area_m2)</a:t>
            </a:r>
          </a:p>
        </p:txBody>
      </p:sp>
      <p:sp>
        <p:nvSpPr>
          <p:cNvPr id="42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0EA4C66E-1AC4-4DA7-B01E-EFBB9BDA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43" name="callout">
            <a:extLst xmlns:a="http://schemas.openxmlformats.org/drawingml/2006/main">
              <a:ext uri="{FF2B5EF4-FFF2-40B4-BE49-F238E27FC236}">
                <a16:creationId xmlns:a16="http://schemas.microsoft.com/office/drawing/2014/main" id="{428354C2-9A72-4A2E-86FB-9C0F5463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Comparison creates evidence; control flow decides what the program does with it.</a:t>
            </a:r>
          </a:p>
        </p:txBody>
      </p:sp>
    </p:spTree>
    <p:extLst>
      <p:ext uri="{BB962C8B-B14F-4D97-AF65-F5344CB8AC3E}">
        <p14:creationId xmlns:p14="http://schemas.microsoft.com/office/powerpoint/2010/main" val="730148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7968D7B6-52EE-4927-8E9F-B15EAA10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DB6C33-58D6-4A27-AEFB-1D074C79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Build complexity only after the smaller part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20B7F-77A0-4ABF-984D-415BF326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25B479D-ABB8-4C11-A95B-A3E935B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11405AD-1C93-496B-A7DF-59BF3377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15C5C9C6-1793-4A0B-9EB4-B774F349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810C319B-E83A-4C7B-9C13-85E67A96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3B1A51FD-7D89-4E60-8A38-84E0D6DE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26461CA0-B138-40EE-921A-53C62005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7A82C0D3-AE21-4D70-BBA5-507E65D8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544C7515-7BD3-4FC5-8854-4D8ADB45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ONE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B3FF1-18B8-41BA-8113-82714878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3DEB72B3-9BC1-409B-9267-2FDE1A41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Verify the comparison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42B796B8-F6F7-41E9-9573-B8AF7F1A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Test below, equal, and above the threshold.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4426007A-0785-41DD-8DFC-363F3D8A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1DBF7AF2-FB51-455F-B9A4-04EBE73F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5BDFC7E-5A37-4807-B014-67B9602F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ONE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C2E08-B1F9-4CD7-B0B0-74138EDA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3475564E-EE35-4960-AE8A-583055D6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Verify the branches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14270D63-48B3-4D4A-B372-6E0DAD00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Check every possible status message.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B1846F73-0287-4D09-AE13-4FF90CA7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5B3DB30-7174-43ED-BBA5-D55689D8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9910B625-424A-4E05-92CD-E1CE7B3B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MANY RECORDS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6A8CC-8ACB-4ECA-831B-9F1B45B6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1F1B364A-8183-407B-8714-AB428D94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repetition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8DCEDC60-770E-4A05-942D-82290555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Trace the loop item and any accumulator.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508FF387-7E27-44D5-9763-D6BE6386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CB62E120-510E-4312-A198-AA2CA3FB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E901DBFA-8424-499C-A16E-4D087D99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ONE FUNCTION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6BFA32-F9CD-41DB-BB45-D5EEDB4B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9C764105-3D15-4790-9B17-0F6A9E10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Refactor and retest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910D487B-179B-461D-9BA8-EC6A5779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Preserve behavior while making the rule reusable.</a:t>
            </a:r>
          </a:p>
        </p:txBody>
      </p:sp>
    </p:spTree>
    <p:extLst>
      <p:ext uri="{BB962C8B-B14F-4D97-AF65-F5344CB8AC3E}">
        <p14:creationId xmlns:p14="http://schemas.microsoft.com/office/powerpoint/2010/main" val="3871244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581E112-A9C5-4944-B8B0-1AFD6C60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65CB906-5CB7-443B-8626-6AEC6797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Start with the Boolean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F0A07-9ACC-4C11-92CA-3522CDA6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1F80861-E747-42D2-AAD6-41D3CE91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274CADB-AFB1-4C2B-961D-AAEF055A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B8BC8441-56D8-4976-A7DE-13DE458E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B7F1B621-161E-477C-9642-F461AEC5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minimum_m2 = 40.0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print(39.9 &gt;= minimum_m2)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print(40.0 &gt;= minimum_m2)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print(40.1 &gt;= minimum_m2)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8B101-A069-48B7-B119-D76D955D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31D3E83B-CA04-406E-8A0A-0F3D48B9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6F78DA09-12A9-46C4-8A7C-6E0C086C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False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True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4FDF2A82-AE03-4BA4-9012-2C5FD27A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operator encodes policy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52AACB06-3682-4855-8E42-0D1B910F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7872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&gt;= includes equality. &gt; would exclude the exact boundary. Write expected results before running and explain which operator matches the stated criterion.</a:t>
            </a:r>
          </a:p>
        </p:txBody>
      </p:sp>
    </p:spTree>
    <p:extLst>
      <p:ext uri="{BB962C8B-B14F-4D97-AF65-F5344CB8AC3E}">
        <p14:creationId xmlns:p14="http://schemas.microsoft.com/office/powerpoint/2010/main" val="720679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D4BB853B-45EB-4DAA-9A35-C8072125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E18C47-AEAC-4211-9629-6EE7D013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1: prove the comparison matches the 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193D5-B0A9-4CEF-81FC-062AE0E9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E67FE55-6D25-4E46-936B-08B9DBFB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07F1723-37BF-4E0A-B0FC-ED20676B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8CDE4117-6F17-4E9B-94E9-B37F738D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D26E756F-FB27-4865-AEED-2BCDB542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requirement says “at least 40 m².”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CF586579-385B-4B05-8F29-5CA28FD4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2A0070F9-150A-4A64-8492-14DD68F9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ECEB6245-BB8B-4229-BE82-DA453B95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Underline the phrase that determines equality.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B7491CE9-25C0-4825-B40B-4D533E84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6CBB0EA3-1870-4D0B-9339-DE143A20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Choose the operator and predict three boundary results.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E1C64EC6-647E-4FC5-BB32-344F5E59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EB25E9CB-E3EC-4D6C-B22B-8F9F0DC7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the cell and compare with the predictions.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9486AA60-0939-4E50-8F50-ACD4E370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CE1D0081-5952-4DFA-AEE7-8F62515E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one sentence explaining the policy.</a:t>
            </a:r>
          </a:p>
        </p:txBody>
      </p:sp>
    </p:spTree>
    <p:extLst>
      <p:ext uri="{BB962C8B-B14F-4D97-AF65-F5344CB8AC3E}">
        <p14:creationId xmlns:p14="http://schemas.microsoft.com/office/powerpoint/2010/main" val="11961059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13997DC0-85DB-48B5-9249-7EAABC3A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696209E-57B1-425F-A8D2-5AE608BA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Branch messages should report evidence, not verdicts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05024-87B3-4816-AFB7-EDA972DB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C928D69-BEA3-4FAA-BFD2-C2D15281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9F6BB7-D43D-49EB-AEA9-FD4F72F4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56C42324-4907-4A96-B635-B46B0AE8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ABDC115D-4E3D-4950-8DE8-3E75C37E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area_m2 = 35.0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area_m2 &gt;= 40.0: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status = 'meets area criterion'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else: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status = 'review area'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print(status)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C6483-6D4B-4F1E-B37D-B41340EC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FF8582C5-0CF7-4A54-AF4E-D7CC295D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FE31D29C-A034-4BAE-B699-2547768E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review area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7A22549C-429B-40C7-BD85-38C90F52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670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Bound the claim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EDAF9DAA-4E41-49A1-8FA3-DDB5032E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64611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output concerns one area criterion. It does not approve or reject the room as architecture. Status text is part of responsible model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5759929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DFF68360-C14A-4C47-BED5-3F71DC77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2BA977-F199-4829-B535-F8E68427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2: write and test both branches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C2496-7160-4B75-9BC5-D3E1F500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FC5A492-5B92-40A4-ACFC-1ECE630F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09E8A0-20B7-4BFE-9884-C71FAF09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2C9F96C4-3D91-4DF2-8CA2-E8302834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ACEC3C54-73F0-4E14-90ED-D6070D0E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a two-branch area screening message.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76497C4E-A804-4AA3-8D5C-75EC4FCA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92166FA5-E448-4A57-B898-83B20637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DABF9CB9-517E-4FE7-8951-3606D663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the if and else structure with correct indentation.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52A64FAB-E5CF-440E-AB93-B63F8B5B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8D59EBBC-4B48-453F-B904-903F73F4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Test one value that reaches each branch.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7C6711A3-9AC3-493B-982A-DA75B35C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020F37F3-BB54-45F5-A49F-D539106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Inspect status in Variable Explorer.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C784D4A0-6A33-4189-8567-C20945B8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E9280575-9EB5-453F-803A-485B5619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Revise any message that overstates the result.</a:t>
            </a:r>
          </a:p>
        </p:txBody>
      </p:sp>
    </p:spTree>
    <p:extLst>
      <p:ext uri="{BB962C8B-B14F-4D97-AF65-F5344CB8AC3E}">
        <p14:creationId xmlns:p14="http://schemas.microsoft.com/office/powerpoint/2010/main" val="9388735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DF1C055B-ECC1-472B-BAAA-92876494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8AC2F6-7351-4ABE-96BA-6ADAAB6B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elif adds a middle case between if and else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80971-E1F5-4120-A5DD-25F51876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65F2ECE-2D87-4575-A3B1-B5DDD844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D7A70A5-E1A4-4E7B-8074-F258F56A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BEB971C4-DDD2-4632-A397-D99F7D48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E22F78CF-79CD-4B3D-86A0-10C6DCC3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elif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13FF5-160E-4906-A2FD-C42A8173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A68710AB-83D7-437E-9A6B-A3ED995B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elif means "else, if": a second condition that Python tests only when every condition above it turned out False. A conditional can carry as many elif branches as the rule needs, and exactly one branch ever runs.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703A9E67-2935-4383-90F6-8F6369CF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2974664A-6CAD-42BA-BA8C-F35DC31C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01C73DBD-EA78-4381-8A67-5D57AEE3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elif daylight_pct &gt;= 15: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11967476-8CAF-42DD-B87D-45057A32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Python reaches this line only after daylight_pct &gt;= 25 was already False. The branch therefore means "between 15 and 25" without your writing that range twice. With daylight_pct = 18, this is the branch that runs.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03B7BF50-A65C-4865-B5DD-5A41729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78B3CCAB-F794-487B-856B-9482FE47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A820B667-E532-41C1-934E-1D032222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Branches are read top to bottom and the FIRST true one wins. Put the most restrictive threshold first, or 30 gets labeled moderate by a looser branch sitting above it.</a:t>
            </a:r>
          </a:p>
        </p:txBody>
      </p:sp>
    </p:spTree>
    <p:extLst>
      <p:ext uri="{BB962C8B-B14F-4D97-AF65-F5344CB8AC3E}">
        <p14:creationId xmlns:p14="http://schemas.microsoft.com/office/powerpoint/2010/main" val="21028830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8BBD83B8-3DB5-4ECB-B881-5AB6228B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2178EE8-BF4C-45DC-B7E2-BF6AB167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elif separates several evidence ranges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807C9-9887-44B8-9A69-DF63C1B4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6982CE0-2A15-4FB7-B322-5F3C5971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6AF9010-57A3-415D-BF99-1B2463DE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422C04E-359B-4944-96BD-40DB8D53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576EB3D6-3ECB-4E4C-B4BE-9BD451F7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daylight_pct = 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daylight_pct &gt;= 25: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status = 'high'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elif daylight_pct &gt;= 15: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status = 'moderate'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else: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status = 'low'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print(status)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07A18-EDE6-4AE9-ACAD-58D708F3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9B595B62-90D3-483A-9499-A0725B59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9B61E6F9-F129-49F6-B15C-33D18B3E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moderate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4E7E5E1F-65A1-49B2-BA44-54FFCB95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4797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Most restrictive threshold first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2EB40B20-4AA2-407B-BABF-6BB00A00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3597"/>
            <a:ext cx="3695700" cy="739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first true branch wins. Reversing the two thresholds would allow a high value to be captured as moderate.</a:t>
            </a:r>
          </a:p>
        </p:txBody>
      </p:sp>
    </p:spTree>
    <p:extLst>
      <p:ext uri="{BB962C8B-B14F-4D97-AF65-F5344CB8AC3E}">
        <p14:creationId xmlns:p14="http://schemas.microsoft.com/office/powerpoint/2010/main" val="10069811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0578246C-9EB6-4038-945C-BD3964DE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65ACD43-6D14-47CA-94CC-3C2D4321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3: test every range and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521DA-DAD9-43EB-A481-FEA79337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DFB5659-6260-4485-979F-9A8A1174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DBFDF61-1312-4DC7-BBE0-E02A881B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823B7BBD-FB5A-4D38-B054-BB6787C3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D563DF33-D4D9-435B-8A8F-BADA879B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 a three-level daylight classification.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C1F9D65B-E0A8-4572-A1EE-FBD7EDE9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0F153F53-C2DF-4325-8D23-F81F99FF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A7CD68FC-3C63-4B51-BDA6-C33FC2C4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one expected value inside every range.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CAB1097B-81F7-4809-BEF7-CA26BE01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1EC60077-EB08-408C-BF19-B5E5845F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tests immediately below and at both thresholds.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3EA65AED-F74F-4465-8B3F-1FAE231A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34CE0AA0-F6F3-45C9-82FD-EB3B607E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Reverse two branches and observe the defect.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D515215E-2F3E-46E9-9764-A299D6D2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06353587-F8BC-430F-991B-A6AA7C56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Restore the correct order and explain why it works.</a:t>
            </a:r>
          </a:p>
        </p:txBody>
      </p:sp>
    </p:spTree>
    <p:extLst>
      <p:ext uri="{BB962C8B-B14F-4D97-AF65-F5344CB8AC3E}">
        <p14:creationId xmlns:p14="http://schemas.microsoft.com/office/powerpoint/2010/main" val="14716206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47523CDE-5CA5-4D4D-8452-A21326AE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993A609-8833-402C-9C0D-0FB7A856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Commit to an answer before the compound rule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5B9B0-5F57-40D3-B3F2-85555B40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FFC7CC0-FFA3-4A2A-806D-6A573BA1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73799A8-D071-463A-8896-3143D67F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2C3A2F8D-99A9-4654-B899-7D1617CB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AB13609A-5865-4248-9D56-7E41C223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area_m2 = 38.0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has_daylight = 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ready = 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area_m2 &gt;= 40.0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and has_daylight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print(ready)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81496E77-1D52-41CD-A718-25FB1F18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does this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B4B18AC3-9F2A-42F1-A1CE-AA27AC93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32DCE550-BD56-4AF6-A2E5-324DB743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3A9259EF-852C-40B8-830C-8D958E4C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54EFEDDE-2E00-4CE8-BDE7-81B88AB0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5E4C1798-D756-452C-B727-20EFBAE2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2D680F40-D22A-49D7-8F34-5880EE23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False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C120735A-0420-4CAE-9DC2-A66DF14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4D3BFDBE-B69D-447E-BD73-AD215B0F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8D866348-C0D7-4DD3-BEC6-4408C097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None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2D4489C7-FE14-4F45-8B39-09EC11EF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E6EE004A-CA2E-429D-855F-469B7894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80CE8BF7-0D8D-4C82-A489-80B523B0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TypeError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EA0E487B-0D77-43EC-90E0-76E99FD0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B1B9E857-9C16-458C-8867-A27888E6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01D7E79A-0B13-48EE-8FA7-406F5CC9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38.0 &gt;= 40.0 is False. Both sides of an and must be True; reading and as or is the usual trap.</a:t>
            </a:r>
          </a:p>
        </p:txBody>
      </p:sp>
    </p:spTree>
    <p:extLst>
      <p:ext uri="{BB962C8B-B14F-4D97-AF65-F5344CB8AC3E}">
        <p14:creationId xmlns:p14="http://schemas.microsoft.com/office/powerpoint/2010/main" val="9318673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29E59AF3-6B82-495F-92C7-F5CFDD5E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9F8A696-A761-472D-852C-5C987B87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Compound logic combines criteria explicitly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57076-D99A-43E9-9490-3300B7BB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B084F96-2737-4466-8069-DD71FF17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9A8CAD-1F42-434D-A85D-75011633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D3785DCF-0684-413C-8EAC-0C357CF3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D59BD0A-FDB4-4DFD-8D45-EE622554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area_m2 = 44.2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has_daylight = 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ready_for_review = 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area_m2 &gt;= 40.0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and has_daylight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print(ready_for_review)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D91B2-D763-4BDE-83E5-51AA9DE5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7F2DA36B-6C18-4243-B0CE-8582F6FA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A6F4C888-361E-49EE-9D21-AA06BF04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1A30D465-CE5C-4C71-B620-0BD17E35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4797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Both criteria must be true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F9E3A11D-0E2B-4F59-AACA-2AB5B61A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3597"/>
            <a:ext cx="3695700" cy="739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and expresses an all-required policy. Parentheses and a descriptive Boolean name make the rule readable and testable.</a:t>
            </a:r>
          </a:p>
        </p:txBody>
      </p:sp>
    </p:spTree>
    <p:extLst>
      <p:ext uri="{BB962C8B-B14F-4D97-AF65-F5344CB8AC3E}">
        <p14:creationId xmlns:p14="http://schemas.microsoft.com/office/powerpoint/2010/main" val="11021653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8F9DE6B9-D852-4A8E-95BB-E94F5E5B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B7E81A-72A6-4C21-B215-18941688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4: construct the truth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863C8-5C11-44E8-9CB0-F6ED3CF5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65E5F56-D532-4C50-A572-EACE393B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F3F5764-6641-492D-ACB7-43D95C67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6C7A297F-7581-4465-817A-60BACA2A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9B4B8560-69C4-4A90-B6BB-2858D9BB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every combination of area criterion and daylight flag.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0CD990AE-EDE6-49E8-A16E-FB03BDC5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62F072F9-1ABF-4154-AC33-BD3B507F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10083C1F-2F4C-4A31-A86E-FEBE976B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List False/False, False/True, True/False, True/True.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3D66DAB2-2A42-4639-80C1-D6E42C3B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4817C035-35D8-43D0-A54B-E59CA955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the result of and for each row.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1ACA22D1-1FFC-4CE4-AB06-FA5C7C30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EDDD54A3-97DD-47E7-B793-5E48A403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four cases and verify.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336F8FC8-EFE2-4B7F-BFB2-3CDEEB84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CE2181B7-0364-4DFA-87F4-925AF38D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Explain when or would encode a different policy.</a:t>
            </a:r>
          </a:p>
        </p:txBody>
      </p:sp>
    </p:spTree>
    <p:extLst>
      <p:ext uri="{BB962C8B-B14F-4D97-AF65-F5344CB8AC3E}">
        <p14:creationId xmlns:p14="http://schemas.microsoft.com/office/powerpoint/2010/main" val="7284860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987914F0-FFB0-49F2-8244-60BBD5FE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153819-C6C1-4253-8D52-53412E5F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list holds several values in one ordered name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1D629-EF96-4251-9B2D-07D14EA1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D66E48A-3127-4241-A720-101DD66F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EAFA2B-4E6D-4EC4-AFA3-15E5CF62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FC815ACE-E285-4A5B-AE55-773CA14C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D2038FA1-ED17-4FD2-8B0F-82EC1079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0E234-0264-4BEF-9FD1-34DB5C0D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2837F4BD-A9FB-4006-B161-4DC13D19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list is one name holding several values in order, written inside square brackets and separated by commas. The order stays exactly as written, so a loop can visit every value once, first to last, with nothing skipped or repeated.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863901A3-084D-4C3E-B3E6-2636099F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1D65916E-9DEF-48EE-BBF0-5097852B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FE6133CD-6882-46DE-903D-85D1D7FE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room_areas_m2 = [35.0, 62.5, 44.2]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7963F9C5-9731-4B8F-AFEA-80CC6BC7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name, three room areas, in schedule order. A loop over this list reads 35.0, then 62.5, then 44.2, and stops. Add a fourth area later and nothing else in the loop has to change.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15C6A2E7-2224-44FD-873D-70772F04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72D9C4BF-B01F-4DF9-A2B7-D0B390EE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A5FE0001-7868-4593-8053-A0CEE2AD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Square brackets [ ] build a list; parentheses ( ) group an expression; quotation marks make text. '35.0, 62.5' in quotes is one string, not two numbers.</a:t>
            </a:r>
          </a:p>
        </p:txBody>
      </p:sp>
    </p:spTree>
    <p:extLst>
      <p:ext uri="{BB962C8B-B14F-4D97-AF65-F5344CB8AC3E}">
        <p14:creationId xmlns:p14="http://schemas.microsoft.com/office/powerpoint/2010/main" val="6024603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">
            <a:extLst xmlns:a="http://schemas.openxmlformats.org/drawingml/2006/main">
              <a:ext uri="{FF2B5EF4-FFF2-40B4-BE49-F238E27FC236}">
                <a16:creationId xmlns:a16="http://schemas.microsoft.com/office/drawing/2014/main" id="{2E6D6EAA-1B56-4C96-B10F-9F6D6093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C481E3-81A4-471C-99B3-5F29F16F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the loop header one part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A8317-7B3D-40E1-B871-5C6BF971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D2B5EFC-5DEA-41F9-9A98-44651447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481FEEB-798E-4755-9CD9-B2028B3E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90899D82-AB85-4F2F-8A24-3E26EF66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505BC91D-94A1-4701-9D58-46E16B2B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057400"/>
            <a:ext cx="645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area_m2 in room_areas_m2: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6163D-9C51-4789-B86E-C70F40F0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47950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D2517683-B02E-401C-84A1-1EA5DDEF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71B3B6CC-A706-404D-85B7-4AD4A483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251A7BBC-025F-4666-8354-2DF1940E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24AE0CB8-0BD9-4AA3-84E4-62580E8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0A6AE891-44DF-4FB9-BA92-1D9B0812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Loop keyword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DF761639-6664-497F-8F31-A5B632F9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90138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Repeats the indented block below, once per list item.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A2E11-6278-48FC-8740-EE157C53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64795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030DA903-3D9E-4098-80B6-EFA559D7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B3FC6976-C4FD-49B8-9F99-665EE986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95AA4829-670F-4C10-B5BE-906C124C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96106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E390E35C-D78E-48A1-B113-09254897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34206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CEE5DB52-96FB-4690-A5EA-BF7DB627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877056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Loop variable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211B1827-FF03-4F05-B903-F31887A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257294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new name Python creates. Each pass it holds the next item.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F35024-1A60-4DA7-B757-F14D738E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47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9D1B70AD-A7F4-44EC-83C5-9EB9B541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C2BAC5E7-DA1A-419C-A821-4861B379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D9DE1B12-B360-4B34-8818-6B7D54AE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8F340EE8-577B-406C-943D-B9645EF4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A2CD6429-2D9F-492A-AAE9-57DF949D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Draws from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EC23E9FA-D585-438B-A661-A80E2FA7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90138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Says where the items come from.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E85C80-BE5A-494D-A808-85C1D482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6479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0" name="part-chip-3">
            <a:extLst xmlns:a="http://schemas.openxmlformats.org/drawingml/2006/main">
              <a:ext uri="{FF2B5EF4-FFF2-40B4-BE49-F238E27FC236}">
                <a16:creationId xmlns:a16="http://schemas.microsoft.com/office/drawing/2014/main" id="{DB4E812F-6308-43B1-AC79-459D498D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t-chipno-3">
            <a:extLst xmlns:a="http://schemas.openxmlformats.org/drawingml/2006/main">
              <a:ext uri="{FF2B5EF4-FFF2-40B4-BE49-F238E27FC236}">
                <a16:creationId xmlns:a16="http://schemas.microsoft.com/office/drawing/2014/main" id="{726143E0-47CA-4BA5-9EB9-A33C54EF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part-lchip-3">
            <a:extLst xmlns:a="http://schemas.openxmlformats.org/drawingml/2006/main">
              <a:ext uri="{FF2B5EF4-FFF2-40B4-BE49-F238E27FC236}">
                <a16:creationId xmlns:a16="http://schemas.microsoft.com/office/drawing/2014/main" id="{37AE8914-9A34-4F8F-AC6D-5F98DE73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896106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t-lchipno-3">
            <a:extLst xmlns:a="http://schemas.openxmlformats.org/drawingml/2006/main">
              <a:ext uri="{FF2B5EF4-FFF2-40B4-BE49-F238E27FC236}">
                <a16:creationId xmlns:a16="http://schemas.microsoft.com/office/drawing/2014/main" id="{5DE50BBF-5217-472D-A192-836494E2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34206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art-head-3">
            <a:extLst xmlns:a="http://schemas.openxmlformats.org/drawingml/2006/main">
              <a:ext uri="{FF2B5EF4-FFF2-40B4-BE49-F238E27FC236}">
                <a16:creationId xmlns:a16="http://schemas.microsoft.com/office/drawing/2014/main" id="{4207FC38-5166-4275-BE67-EA03D44A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877056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list</a:t>
            </a:r>
          </a:p>
        </p:txBody>
      </p:sp>
      <p:sp>
        <p:nvSpPr>
          <p:cNvPr id="35" name="part-body-3">
            <a:extLst xmlns:a="http://schemas.openxmlformats.org/drawingml/2006/main">
              <a:ext uri="{FF2B5EF4-FFF2-40B4-BE49-F238E27FC236}">
                <a16:creationId xmlns:a16="http://schemas.microsoft.com/office/drawing/2014/main" id="{90784016-8DBF-4E57-96FE-1C1ED57B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257294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list must already exist. The loop leaves it unchanged.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2524CF-4B64-4444-A213-905BB912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47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7" name="part-chip-4">
            <a:extLst xmlns:a="http://schemas.openxmlformats.org/drawingml/2006/main">
              <a:ext uri="{FF2B5EF4-FFF2-40B4-BE49-F238E27FC236}">
                <a16:creationId xmlns:a16="http://schemas.microsoft.com/office/drawing/2014/main" id="{B66ECA8C-9C3A-4008-84C0-5F99E3E7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rt-chipno-4">
            <a:extLst xmlns:a="http://schemas.openxmlformats.org/drawingml/2006/main">
              <a:ext uri="{FF2B5EF4-FFF2-40B4-BE49-F238E27FC236}">
                <a16:creationId xmlns:a16="http://schemas.microsoft.com/office/drawing/2014/main" id="{C452BA1E-B587-4402-A705-37A7A0D4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9" name="part-lchip-4">
            <a:extLst xmlns:a="http://schemas.openxmlformats.org/drawingml/2006/main">
              <a:ext uri="{FF2B5EF4-FFF2-40B4-BE49-F238E27FC236}">
                <a16:creationId xmlns:a16="http://schemas.microsoft.com/office/drawing/2014/main" id="{C6074109-9F10-4190-9540-4CD8CBF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rt-lchipno-4">
            <a:extLst xmlns:a="http://schemas.openxmlformats.org/drawingml/2006/main">
              <a:ext uri="{FF2B5EF4-FFF2-40B4-BE49-F238E27FC236}">
                <a16:creationId xmlns:a16="http://schemas.microsoft.com/office/drawing/2014/main" id="{30422E82-566A-481E-BE18-37529914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part-head-4">
            <a:extLst xmlns:a="http://schemas.openxmlformats.org/drawingml/2006/main">
              <a:ext uri="{FF2B5EF4-FFF2-40B4-BE49-F238E27FC236}">
                <a16:creationId xmlns:a16="http://schemas.microsoft.com/office/drawing/2014/main" id="{8EB124B3-1705-462F-B641-4EE3D62E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Colon</a:t>
            </a:r>
          </a:p>
        </p:txBody>
      </p:sp>
      <p:sp>
        <p:nvSpPr>
          <p:cNvPr id="42" name="part-body-4">
            <a:extLst xmlns:a="http://schemas.openxmlformats.org/drawingml/2006/main">
              <a:ext uri="{FF2B5EF4-FFF2-40B4-BE49-F238E27FC236}">
                <a16:creationId xmlns:a16="http://schemas.microsoft.com/office/drawing/2014/main" id="{81114680-304B-4E92-86B5-B9BEA063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390138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Indented lines below run once per item.</a:t>
            </a:r>
          </a:p>
        </p:txBody>
      </p:sp>
    </p:spTree>
    <p:extLst>
      <p:ext uri="{BB962C8B-B14F-4D97-AF65-F5344CB8AC3E}">
        <p14:creationId xmlns:p14="http://schemas.microsoft.com/office/powerpoint/2010/main" val="6529071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296BEF68-4328-443E-969C-732EAD13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6870A6-6340-4919-894A-45DEC084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loop applies one rule to several areas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35444-E91E-4499-AF6F-8921C684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8E21C63-7A26-4D68-9B97-CF5A02FE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1874205-4449-45D5-9769-D10B2659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2F1CB6CD-FA4E-4D19-A984-ED5D0F26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704146CC-1395-4474-8C76-C2180D65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room_areas_m2 = [35.0, 62.5, 44.2]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area_m2 in room_areas_m2: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meets = area_m2 &gt;= 40.0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print(area_m2, meets)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9C3D6-E020-47AB-916A-3DD19CF6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698BB63A-7FF0-45E9-846B-B84D24D8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8EDCBC05-58B0-4BDF-9DD0-1720DD1D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35.0 False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62.5 True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44.2 True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9D182E53-891F-4CF2-B7A3-30A4E7C4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Trace one iteration at a time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7674591E-EFA5-4E53-8CD2-4F57ED3F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7872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loop variable receives the next list item. The indented block executes once per room. Output order follows list order.</a:t>
            </a:r>
          </a:p>
        </p:txBody>
      </p:sp>
    </p:spTree>
    <p:extLst>
      <p:ext uri="{BB962C8B-B14F-4D97-AF65-F5344CB8AC3E}">
        <p14:creationId xmlns:p14="http://schemas.microsoft.com/office/powerpoint/2010/main" val="15925958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4A93EDD4-AA1F-470F-BB62-611D8C05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6B28A32-D4AF-46E4-8D07-93259D03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5: screen a five-room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80BA9-31E5-4877-B60A-C12BDEA5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D20A617-3778-479F-B865-7328942F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A4A85E3-3F0A-4CF1-A0A6-DA63C394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15EF60BD-F9A9-42EE-9E0B-CF7A31DC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85BBA36F-1AA8-4952-8776-3A3C7665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Apply the area comparison without copying it five times.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16C2FF14-5987-4A78-8A65-FEDB1E06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64404389-755F-46A4-A5FE-2CBDC640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E3D5FF6B-2B65-493E-9B34-CC2A3877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the loop variable sequence.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2456198F-19F1-4B30-85D9-73FAEE71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143148FA-6F22-4018-BA02-9B7A33A8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Print area beside bounded status text.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0EB728B3-DAF1-45C3-89D4-53106478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80D02D14-0C12-49A1-A3CB-4B06ECB6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one area exactly at the threshold.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4817AA04-1216-434D-9011-214A9BA5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940C05F1-026D-4ECA-8F6A-3C97FB14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Explain why one loop is safer than five copied rules.</a:t>
            </a:r>
          </a:p>
        </p:txBody>
      </p:sp>
    </p:spTree>
    <p:extLst>
      <p:ext uri="{BB962C8B-B14F-4D97-AF65-F5344CB8AC3E}">
        <p14:creationId xmlns:p14="http://schemas.microsoft.com/office/powerpoint/2010/main" val="14747579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A7F1D0D6-429F-4825-8245-CDF23842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8295C1-7E02-4A36-85CA-85C1851B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Commit to a count before the loop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0CC62-93CF-42BB-91FD-39D7B08A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45850F0-AAE0-4556-A64A-BEC49363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F2141E0-FBD0-4A0B-90A6-DF1ACF2C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FDB5679B-2C21-492D-A71D-64DC3C32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202B5638-EBDB-48EC-ADEA-109E55C4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room_areas_m2 = [35.0, 62.5, 44.2]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passing_count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area_m2 in room_areas_m2: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area_m2 &gt;= 40.0: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passing_count = passing_count + 1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print(passing_count)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66CC8868-4F79-4A54-8B83-859F6187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does this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4E251D44-AF60-4F07-8437-16879DF1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FB042B42-1A7E-46FA-B547-EBB2990C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7F4C9D7C-4632-4E34-8585-F95580EF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52A43C76-2BBD-430D-9E83-AD629329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CC931501-E035-4B40-9E5F-47FD509C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DCA18F80-459B-49D2-BD8E-3BD0163F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5B70E332-31E5-487D-A4C8-3CAEB159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06F38A5B-DCAD-48FF-876B-47B29BDF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FD56DE16-45E7-4D0D-8D44-BF9BA17D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6D8E5408-2103-4CDD-BD69-9259D91C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49A2566C-C19C-4904-B5E9-2BDBC190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80DA23AF-2E7F-4D8D-8157-3FCAA7EA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C776926C-A172-4152-B095-A2E289EA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E5489AAA-184F-4599-B4C8-5AA6EA10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C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4097E2BC-0B49-47FC-B4BD-56042CAF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of the three areas pass. Tempting: 3, but the count line runs only when the if is True.</a:t>
            </a:r>
          </a:p>
        </p:txBody>
      </p:sp>
    </p:spTree>
    <p:extLst>
      <p:ext uri="{BB962C8B-B14F-4D97-AF65-F5344CB8AC3E}">
        <p14:creationId xmlns:p14="http://schemas.microsoft.com/office/powerpoint/2010/main" val="14371557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F219A961-CE1A-4444-B807-40410ABD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1C9FF0-DAD7-4772-B249-8C97B474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 accumulator counts passing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9C13B-A232-4BAD-BBFB-728F3B44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7B98FC3-5488-4ED1-83AA-26D0C5DB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37CE60A-875B-44EE-B11C-6D009323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93C8FDE6-3904-45D5-A2F6-B75D344A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8DF1203D-3796-46A3-9A5E-9E6DD916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room_areas_m2 = [35.0, 62.5, 44.2]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passing_count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area_m2 in room_areas_m2: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area_m2 &gt;= 40.0: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passing_count +=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print(passing_count)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EE4C9-6657-449A-B209-B3582C1E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1E2B11F9-7938-4C5C-B62B-8C50894C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D106BCB8-78FB-475B-97DD-9071F793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F4BBEDF7-848E-4232-9E22-8E4B104D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Initialize, update, report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0862436C-2AC6-4988-AFCB-F8743F7D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count begins once before the loop, changes inside the true branch, and is reported after every record. += adds to the existing value: passing_count += 1 means passing_count = passing_count + 1, written shorter.</a:t>
            </a:r>
          </a:p>
        </p:txBody>
      </p:sp>
    </p:spTree>
    <p:extLst>
      <p:ext uri="{BB962C8B-B14F-4D97-AF65-F5344CB8AC3E}">
        <p14:creationId xmlns:p14="http://schemas.microsoft.com/office/powerpoint/2010/main" val="15236105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kicker">
            <a:extLst xmlns:a="http://schemas.openxmlformats.org/drawingml/2006/main">
              <a:ext uri="{FF2B5EF4-FFF2-40B4-BE49-F238E27FC236}">
                <a16:creationId xmlns:a16="http://schemas.microsoft.com/office/drawing/2014/main" id="{B5AE4FC7-26D5-4E64-A5AF-5B3C81F5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2F578E-871C-457D-9C09-F125C10D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Trace the accumulator: a fully worked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09B65-278A-4FD0-868F-8437BDFB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F1FEBEB-BEAB-40B3-961D-8C687DF0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9963665-A9F2-4DD2-9198-EF11DACB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AF0F2-8F43-4B34-BD72-50FAA632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2A0D4934-DD55-403B-A3A4-02321625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A56C9-692C-459A-8C26-EDC79054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9051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689B999F-CBCE-4EFE-8220-9E546FB8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813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area_m2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E18F5-B366-43EE-BAF2-BE1FF025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051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FD005DDC-DDCA-4681-851B-95A112BE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813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area_m2 &gt;= 40.0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FF898-A818-4D0C-BD66-24D3E4E4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9051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86510495-6AD7-4996-B197-3364A6C7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813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passing_count after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72E9C-1593-49F7-A55E-56D2F027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61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0">
            <a:extLst xmlns:a="http://schemas.openxmlformats.org/drawingml/2006/main">
              <a:ext uri="{FF2B5EF4-FFF2-40B4-BE49-F238E27FC236}">
                <a16:creationId xmlns:a16="http://schemas.microsoft.com/office/drawing/2014/main" id="{A9E2E11A-6F8A-40B3-A6EC-4D1A66B4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23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1CCB5-6244-4B61-9372-F0C8CDEB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4461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1">
            <a:extLst xmlns:a="http://schemas.openxmlformats.org/drawingml/2006/main">
              <a:ext uri="{FF2B5EF4-FFF2-40B4-BE49-F238E27FC236}">
                <a16:creationId xmlns:a16="http://schemas.microsoft.com/office/drawing/2014/main" id="{CBD1AF68-0122-420A-BFAD-6D469506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5223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35.0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2EFDF-AFA4-400B-A806-E72C639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461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2">
            <a:extLst xmlns:a="http://schemas.openxmlformats.org/drawingml/2006/main">
              <a:ext uri="{FF2B5EF4-FFF2-40B4-BE49-F238E27FC236}">
                <a16:creationId xmlns:a16="http://schemas.microsoft.com/office/drawing/2014/main" id="{F44F2789-2A90-4BBA-9B65-8E7F38CF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23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FEC0C-AD66-4F81-A693-D0E0B3A5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461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3">
            <a:extLst xmlns:a="http://schemas.openxmlformats.org/drawingml/2006/main">
              <a:ext uri="{FF2B5EF4-FFF2-40B4-BE49-F238E27FC236}">
                <a16:creationId xmlns:a16="http://schemas.microsoft.com/office/drawing/2014/main" id="{B8AF8328-D97B-4E2C-879C-E2022FC9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5223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A051E1-AB96-4CB0-9981-5FA87A1C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95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78BDE9A4-399A-4880-994D-4E7EC2CD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57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4C34C6-1E90-4BA3-AB44-C1DCF5B1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9795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DD7FD7C1-3341-4D3E-804D-C16AC90C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557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62.5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F3B08-133E-4FF9-9B01-E9902B7C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795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68AD8A89-E59A-4C6F-B8B9-2B114DFE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557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A1FBC-DFF2-4CB3-90D0-15345A7F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9795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13F2446C-6E86-4494-BBA1-BA39A960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557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8C7353-9399-40C6-972F-42EA874A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29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2-0">
            <a:extLst xmlns:a="http://schemas.openxmlformats.org/drawingml/2006/main">
              <a:ext uri="{FF2B5EF4-FFF2-40B4-BE49-F238E27FC236}">
                <a16:creationId xmlns:a16="http://schemas.microsoft.com/office/drawing/2014/main" id="{4D5AF574-5C97-4714-A964-916FFF78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91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82D671-780C-4035-9EF3-5F04B0EF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5129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2-1">
            <a:extLst xmlns:a="http://schemas.openxmlformats.org/drawingml/2006/main">
              <a:ext uri="{FF2B5EF4-FFF2-40B4-BE49-F238E27FC236}">
                <a16:creationId xmlns:a16="http://schemas.microsoft.com/office/drawing/2014/main" id="{A722DFBB-96BF-4613-9FE4-416E3555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5891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44.2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EEBA0E-61B2-4C52-86D9-1D34124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29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2-2">
            <a:extLst xmlns:a="http://schemas.openxmlformats.org/drawingml/2006/main">
              <a:ext uri="{FF2B5EF4-FFF2-40B4-BE49-F238E27FC236}">
                <a16:creationId xmlns:a16="http://schemas.microsoft.com/office/drawing/2014/main" id="{82E46A04-1ACC-4DB9-A77D-4D31B32C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891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48A4F4-EE7F-44D8-BD67-B1391763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51294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2-3">
            <a:extLst xmlns:a="http://schemas.openxmlformats.org/drawingml/2006/main">
              <a:ext uri="{FF2B5EF4-FFF2-40B4-BE49-F238E27FC236}">
                <a16:creationId xmlns:a16="http://schemas.microsoft.com/office/drawing/2014/main" id="{ADCC3F26-74CC-41AA-9B2A-9ABA549F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58914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8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DA7BB39B-A7D2-4E87-B6B4-923CBDF5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9" name="callout">
            <a:extLst xmlns:a="http://schemas.openxmlformats.org/drawingml/2006/main">
              <a:ext uri="{FF2B5EF4-FFF2-40B4-BE49-F238E27FC236}">
                <a16:creationId xmlns:a16="http://schemas.microsoft.com/office/drawing/2014/main" id="{13664A9E-E74B-4153-AB4C-BBEE3539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passing_count changes only inside the True branch. The value after the loop ends is what print(passing_count) reports.</a:t>
            </a:r>
          </a:p>
        </p:txBody>
      </p:sp>
    </p:spTree>
    <p:extLst>
      <p:ext uri="{BB962C8B-B14F-4D97-AF65-F5344CB8AC3E}">
        <p14:creationId xmlns:p14="http://schemas.microsoft.com/office/powerpoint/2010/main" val="21127129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597BCE8D-3C26-4B2A-8288-108282D8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MEDIUM STUDIO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BD00594-3E40-4E4F-BB85-DFAD0AE2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6: count and verify the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C6EC8-0C4C-4D9D-9323-24C588AB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5D23722-E34E-48A1-BFFB-357C26C2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34ACBD3-92AF-4E40-B30F-1BA9BA3F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2DFDB76C-39BF-4C11-ABD1-0B64F7A6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739DAC3E-35E7-4FC0-8BB8-F4432FFE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 rooms meeting the criterion and prove the result manually.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A10D3F36-B862-49E1-A98B-C4ACCC11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4F22BD2E-0C1C-462E-BF55-7CC76582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F96B5F41-5C50-4A1B-BE13-3F009D68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Create a trace table for item, condition, and count.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CAA62394-F24C-4299-85DA-AE662798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C1F32FFA-A7EB-4FBB-9169-6463D51E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Implement the accumulator with correct indentation.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C52C8F3F-1E53-43CC-89C3-9A8E995F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68D419C9-FBDA-4F3E-B454-EEF5E3E6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Compare final count with a hand count.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24540D5C-035D-4462-A0FE-0D244CD9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7B2B9503-5032-45F3-A5A0-72CEC752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an assertion for the expected count.</a:t>
            </a:r>
          </a:p>
        </p:txBody>
      </p:sp>
    </p:spTree>
    <p:extLst>
      <p:ext uri="{BB962C8B-B14F-4D97-AF65-F5344CB8AC3E}">
        <p14:creationId xmlns:p14="http://schemas.microsoft.com/office/powerpoint/2010/main" val="18477036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">
            <a:extLst xmlns:a="http://schemas.openxmlformats.org/drawingml/2006/main">
              <a:ext uri="{FF2B5EF4-FFF2-40B4-BE49-F238E27FC236}">
                <a16:creationId xmlns:a16="http://schemas.microsoft.com/office/drawing/2014/main" id="{9BDF6DAA-9313-48D1-AACC-7E6F912B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34E3D1-D5A4-4183-A01B-37890338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the function header one part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F464E-94A8-42F9-909F-A61CD9FA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2B1658A-FA5B-4748-A266-30B21D70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2007796-6BA3-47AA-B538-CB74751F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886682D4-C507-4D4C-B489-E068E2C1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17DAA6AC-6492-4DB4-A891-08278CCC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57400"/>
            <a:ext cx="918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area_status(area_m2, minimum_m2=40.0):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F339E-5FB2-4588-90CF-FB683657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47950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329A8F75-2EF5-4153-991C-FA5AF23E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5A5A67CC-58C9-4430-B6E7-6862CF4E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BDF596CE-89F6-4462-AD1F-F26EA9F5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2B0141EA-4977-48D0-9AE0-C1E08A66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AA4AFAEF-277B-4AE0-AB51-90B740EF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Defines it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B3C4C5F3-E020-463B-8916-75D5D41E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138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Creates the function. It does not run it yet.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4EA68-8BAD-4C8F-9F3A-42338A7C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47950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36CDC7EE-771A-4826-8D4B-D9C44BED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507CF62D-0553-4144-9DEA-E496F6AD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56D9CF8E-1698-4CD8-8ADE-97B0DAB5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19778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BBCFC773-18C9-4676-8D88-DDB4B0FE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57878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AA109513-B015-406D-B7C7-9782DF38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00728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Its name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B66C74BB-8059-46DA-B915-C598F46B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80966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rule, one name. Call it as area_status(44.2).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A3884-DE66-4261-89A5-F861FB9D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6AB96CCB-EA8C-485E-AE66-23AF2DAC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D843F5DB-27E4-498F-8AE1-B91159CF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5B5B0D05-5F06-402A-9DBA-5383D4EE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60F9EA25-FD7B-4AC3-B2AD-0ADADBE0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D5707795-B0C7-4015-A571-C82DBF44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9900"/>
            <a:ext cx="15049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Input needed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02602BA5-ED96-4BBB-89E0-FCC46ECC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37026"/>
            <a:ext cx="1809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caller must supply this value on every call.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F0DA1C-AF40-4530-A025-2C6225E8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47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0" name="part-chip-3">
            <a:extLst xmlns:a="http://schemas.openxmlformats.org/drawingml/2006/main">
              <a:ext uri="{FF2B5EF4-FFF2-40B4-BE49-F238E27FC236}">
                <a16:creationId xmlns:a16="http://schemas.microsoft.com/office/drawing/2014/main" id="{1E131D0F-A190-44A8-B076-104F63C9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t-chipno-3">
            <a:extLst xmlns:a="http://schemas.openxmlformats.org/drawingml/2006/main">
              <a:ext uri="{FF2B5EF4-FFF2-40B4-BE49-F238E27FC236}">
                <a16:creationId xmlns:a16="http://schemas.microsoft.com/office/drawing/2014/main" id="{A3800BA2-9ED1-4AFC-BDCD-D723F977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part-lchip-3">
            <a:extLst xmlns:a="http://schemas.openxmlformats.org/drawingml/2006/main">
              <a:ext uri="{FF2B5EF4-FFF2-40B4-BE49-F238E27FC236}">
                <a16:creationId xmlns:a16="http://schemas.microsoft.com/office/drawing/2014/main" id="{CEAD3F20-20F8-4113-BC75-A224C84C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t-lchipno-3">
            <a:extLst xmlns:a="http://schemas.openxmlformats.org/drawingml/2006/main">
              <a:ext uri="{FF2B5EF4-FFF2-40B4-BE49-F238E27FC236}">
                <a16:creationId xmlns:a16="http://schemas.microsoft.com/office/drawing/2014/main" id="{8C5C78AA-843C-4412-A6F4-20781BDF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art-head-3">
            <a:extLst xmlns:a="http://schemas.openxmlformats.org/drawingml/2006/main">
              <a:ext uri="{FF2B5EF4-FFF2-40B4-BE49-F238E27FC236}">
                <a16:creationId xmlns:a16="http://schemas.microsoft.com/office/drawing/2014/main" id="{74D3B77E-3500-44E6-AC03-AEA89CBC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9900"/>
            <a:ext cx="15049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Default value</a:t>
            </a:r>
          </a:p>
        </p:txBody>
      </p:sp>
      <p:sp>
        <p:nvSpPr>
          <p:cNvPr id="35" name="part-body-3">
            <a:extLst xmlns:a="http://schemas.openxmlformats.org/drawingml/2006/main">
              <a:ext uri="{FF2B5EF4-FFF2-40B4-BE49-F238E27FC236}">
                <a16:creationId xmlns:a16="http://schemas.microsoft.com/office/drawing/2014/main" id="{350F1B60-1A74-4104-BB59-15A22343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37026"/>
            <a:ext cx="18097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Used when the caller omits it. 40.0 is a policy choice.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0C73D8-B855-4A0A-A119-B1E14723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47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7" name="part-chip-4">
            <a:extLst xmlns:a="http://schemas.openxmlformats.org/drawingml/2006/main">
              <a:ext uri="{FF2B5EF4-FFF2-40B4-BE49-F238E27FC236}">
                <a16:creationId xmlns:a16="http://schemas.microsoft.com/office/drawing/2014/main" id="{C0BE3BAF-3C27-4C39-B72A-8CBEE4D5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rt-chipno-4">
            <a:extLst xmlns:a="http://schemas.openxmlformats.org/drawingml/2006/main">
              <a:ext uri="{FF2B5EF4-FFF2-40B4-BE49-F238E27FC236}">
                <a16:creationId xmlns:a16="http://schemas.microsoft.com/office/drawing/2014/main" id="{82B6A687-894F-4178-85E4-95BD4372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9" name="part-lchip-4">
            <a:extLst xmlns:a="http://schemas.openxmlformats.org/drawingml/2006/main">
              <a:ext uri="{FF2B5EF4-FFF2-40B4-BE49-F238E27FC236}">
                <a16:creationId xmlns:a16="http://schemas.microsoft.com/office/drawing/2014/main" id="{BD74F695-BC6B-480A-828B-86ACBCC2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19778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rt-lchipno-4">
            <a:extLst xmlns:a="http://schemas.openxmlformats.org/drawingml/2006/main">
              <a:ext uri="{FF2B5EF4-FFF2-40B4-BE49-F238E27FC236}">
                <a16:creationId xmlns:a16="http://schemas.microsoft.com/office/drawing/2014/main" id="{F4E53512-39FD-4792-B79F-E4A1B49F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57878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part-head-4">
            <a:extLst xmlns:a="http://schemas.openxmlformats.org/drawingml/2006/main">
              <a:ext uri="{FF2B5EF4-FFF2-40B4-BE49-F238E27FC236}">
                <a16:creationId xmlns:a16="http://schemas.microsoft.com/office/drawing/2014/main" id="{AF8CC701-3529-4CE0-932A-DDC3FC0B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00728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Colon</a:t>
            </a:r>
          </a:p>
        </p:txBody>
      </p:sp>
      <p:sp>
        <p:nvSpPr>
          <p:cNvPr id="42" name="part-body-4">
            <a:extLst xmlns:a="http://schemas.openxmlformats.org/drawingml/2006/main">
              <a:ext uri="{FF2B5EF4-FFF2-40B4-BE49-F238E27FC236}">
                <a16:creationId xmlns:a16="http://schemas.microsoft.com/office/drawing/2014/main" id="{FC30BBFE-3D45-4C6A-A251-802A2FCB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80966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indented lines below are the function body.</a:t>
            </a:r>
          </a:p>
        </p:txBody>
      </p:sp>
    </p:spTree>
    <p:extLst>
      <p:ext uri="{BB962C8B-B14F-4D97-AF65-F5344CB8AC3E}">
        <p14:creationId xmlns:p14="http://schemas.microsoft.com/office/powerpoint/2010/main" val="155220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228EC0C-DA72-4857-80CE-32F37646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6BEC270-A022-43DF-B005-1D803A23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function centralizes the screening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AEBA2-873B-4981-8605-340975B7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A1497D5-212B-4700-8112-7735699C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43AE076-F5DD-427D-B189-A6726542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30AD1F2-26E0-4190-8218-D9D97B93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AC0F3B6A-3536-4114-B774-E16ADAAB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area_status(area_m2, minimum_m2=40.0):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area_m2 &gt;= minimum_m2: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'meets area criterion'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'review area'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print(area_status(35.0))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print(area_status(44.2))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786FF-0303-4FAA-85F3-DCA50CAA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8D767729-38AD-4BF2-B307-3AC557E8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A5C78F91-8904-4207-95CA-0FC1B424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review area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meets area criterion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E46842FC-E5A0-4151-8E93-A0B6425D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670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tested contract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47769101-4419-4546-94F6-E6641A33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64611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Parameters expose inputs and default policy. return provides status data to the caller. Every room uses the same rule and vocabulary.</a:t>
            </a:r>
          </a:p>
        </p:txBody>
      </p:sp>
    </p:spTree>
    <p:extLst>
      <p:ext uri="{BB962C8B-B14F-4D97-AF65-F5344CB8AC3E}">
        <p14:creationId xmlns:p14="http://schemas.microsoft.com/office/powerpoint/2010/main" val="10282541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2E2CA830-D80F-46C2-A7D3-EBAF8CC3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D9E1FC-18D3-416F-9564-429D46CE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7: refactor without changing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E685D-8C2D-442E-B0E9-AC622949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382CCC1-69A7-4726-9BB7-276F990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FAC86EE-2471-486B-8ADE-9115C1AC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A8BFA0BD-C456-46EB-92A8-FADC7AA7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23827B94-A948-484E-BF63-11F2E5D2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working conditional into a function.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17EA1A76-EB05-40FF-AFF5-996C5FE1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25F6D2F1-A729-4B12-B4E5-B0A53015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68184E98-C6C2-40C7-A565-5781D93A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Define a precise function name and parameters.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D9144D37-4419-4507-9C52-F56B6078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D020568A-289A-4D68-ADB8-4A76FBD7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Return status text instead of printing inside the function.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9B9B624F-0FDE-424B-8920-7881205B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5A967EFF-D57B-417F-9BE8-104D7BD4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Call it for below, equal, and above-boundary cases.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5C9F7196-460D-4942-8A22-D674828F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0361B5D0-955B-438A-8B56-8BAB0187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Compare new outputs with the earlier branch outputs.</a:t>
            </a:r>
          </a:p>
        </p:txBody>
      </p:sp>
    </p:spTree>
    <p:extLst>
      <p:ext uri="{BB962C8B-B14F-4D97-AF65-F5344CB8AC3E}">
        <p14:creationId xmlns:p14="http://schemas.microsoft.com/office/powerpoint/2010/main" val="19584951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8EEB05C-9527-4828-A5D3-EA2B319F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42C0359-2E1E-4403-B90E-BF60BB05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assert - now use it to protect a refactor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E4BCD-BAB5-427F-9A86-EB76674B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F423F08-B61E-496F-9814-33C8DA6A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7FA4D18-CE07-46EB-A189-C03B6805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84ADE746-A1B1-4EEE-BA02-B312A2BE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A80BB7BB-F61A-4242-A5C4-A8F71622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area_status(39.9) == 'review area'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area_status(40.0) == 'meets area criterion'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area_status(40.1) == 'meets area criterion'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print('boundary tests passed')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60AE9-E353-41A4-918E-C8125841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3ECF74D5-C083-47DA-98BF-80D9F2F1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A5B9BD6C-DD33-4FFF-A4B1-AD0E165D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boundary tests passed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6534427A-C123-4B6F-A628-83ED514D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syntax, higher stakes now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86A4F290-B92F-499D-A6CF-5E9196F0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Recall from Week 2: assert raises an error when its condition is False, so silence means the claim held. Studio 7 just moved the working conditional into area_status. These three lines prove that refactor preserved the boundary behavior.</a:t>
            </a:r>
          </a:p>
        </p:txBody>
      </p:sp>
    </p:spTree>
    <p:extLst>
      <p:ext uri="{BB962C8B-B14F-4D97-AF65-F5344CB8AC3E}">
        <p14:creationId xmlns:p14="http://schemas.microsoft.com/office/powerpoint/2010/main" val="5103617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265E51AD-58D9-4504-B7FB-91D2B65C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HARD STUDIO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8677C0-163F-48D4-B1BF-9307EE67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8: write a minimal test suite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65020-3B9C-43FE-89A5-A83F7EF1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9990993-7C98-47CF-A83E-3BCBBC0F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69CA964-F1E0-4271-95AB-CCEA4C63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D63A0D73-0F8A-4839-9820-93B096AF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EE85682B-5131-421E-A07A-A503D53A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Protect the function's boundary and language.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059912F3-1E8F-4C5A-87B5-36911E5C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C6D0A57C-21E4-45F6-B1B6-B738A80F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F8FE98F9-4F46-4421-9194-01507A27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Assert results below, at, and above the minimum.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4572C418-7714-43D9-84DF-4CFB8E71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FE3327A7-A3F9-4AE8-8CF7-8FEEA1D4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a non-default minimum and expected result.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E1C454B0-C561-4F9B-94DE-038C8D4E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4EF3B89F-0810-4A6D-B8AC-35474C37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Deliberately break the operator and read the failure.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B17CF6FC-8FB6-4C69-BBD1-0DA5DF20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EF1C90E5-B96D-4A93-9D24-673F18DE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Restore the rule and rerun from a clean kernel.</a:t>
            </a:r>
          </a:p>
        </p:txBody>
      </p:sp>
    </p:spTree>
    <p:extLst>
      <p:ext uri="{BB962C8B-B14F-4D97-AF65-F5344CB8AC3E}">
        <p14:creationId xmlns:p14="http://schemas.microsoft.com/office/powerpoint/2010/main" val="102097348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4BE109E1-E247-4F3E-8D7D-0AEB9D3A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487466-D1B9-4B66-A00A-5700B77E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dictionary stores each value under a name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29E4D-83F3-497D-B429-78515C30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F394289-6390-4055-803D-B5368DA5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A64A88-BB95-44CD-B80B-42805E63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B6936DBC-9FE5-492E-B514-5B98EF4A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99B79A00-8450-44F3-B271-F6055779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dictionary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FB079-DECD-4A79-9EC1-46BF86B8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48640D70-F128-4871-BCC5-3AEECD57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dictionary stores values under names instead of positions. You write key: value pairs inside curly braces, then read one value back by putting its key in square brackets. Use it when a record has fields worth naming.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27F4EDB6-62AE-4428-A3B2-675C0816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F6943D22-A416-4BC0-B46E-951E22E7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ECA6D7B8-74CA-4293-8284-0B66D038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{'name': 'Lobby', 'area_m2': 35.0}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169CD311-E33C-4891-94D1-44FCF9F4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Store this record as room. Then room['area_m2'] returns 35.0 and room['name'] returns 'Lobby', read by key rather than by position, so adding another field cannot break the lookup.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CE963ABE-F73C-4D1B-94AE-F7D9343A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777F63CE-96EC-4C46-868E-B564F9D2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A6B24A82-B567-452E-88BA-24D3E05C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list is read by position, a dictionary by key. Both are read with [ ], so say which one you built before you index into it.</a:t>
            </a:r>
          </a:p>
        </p:txBody>
      </p:sp>
    </p:spTree>
    <p:extLst>
      <p:ext uri="{BB962C8B-B14F-4D97-AF65-F5344CB8AC3E}">
        <p14:creationId xmlns:p14="http://schemas.microsoft.com/office/powerpoint/2010/main" val="114900346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3912482B-79A2-437E-8BA9-28A237C8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FB5F59A-2BEB-4F28-9D1C-F75CCF35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real room schedule, not a toy of three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3A239-23D4-493C-8276-EF239BDC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3246CEB-82F0-4DFD-9204-7DB5F083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EAA968B-89BC-48D1-8E87-9992E70E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B3D3040B-FDD3-46FF-9578-56B73C4D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C44D6078-8C01-46CB-9323-EBC23AA9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rooms = [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{'name': 'Lobby', 'area_m2': 35.0},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{'name': 'Studio A', 'area_m2': 62.5},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{'name': 'Gallery', 'area_m2': 44.2},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{'name': 'Workshop', 'area_m2': 78.0},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{'name': 'Seminar', 'area_m2': 28.5},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{'name': 'Studio B', 'area_m2': 55.0},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{'name': 'Office', 'area_m2': 40.0},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{'name': 'Storage', 'area_m2': 18.0},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print(len(rooms), 'rooms loaded')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8E239-6ACB-4D5E-AC4A-DAE84CAB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E533FB02-42BF-4D29-987E-274E528A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FC043C67-D30E-4040-B655-8DAC2B90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8 rooms loaded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70E9B7D5-0584-4828-825F-56D28EB9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Only necessary collections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2731C88D-2E50-45DA-910C-52AB5DC2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3547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Each item in this list is one room's dictionary. room['area_m2'] will hand the tested function one value per room — the studio emphasis stays on control flow and functions, not a catalog of collection methods. Office sits exactly on the 40.0 boundary — predict its status before the next slide reveals it.</a:t>
            </a:r>
          </a:p>
        </p:txBody>
      </p:sp>
    </p:spTree>
    <p:extLst>
      <p:ext uri="{BB962C8B-B14F-4D97-AF65-F5344CB8AC3E}">
        <p14:creationId xmlns:p14="http://schemas.microsoft.com/office/powerpoint/2010/main" val="12905877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F6441512-D941-4C01-B6D4-53D9528E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D3B2821-5697-4F6C-82C2-B433E4F0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...continued: apply the rule to every room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1A848-0155-4777-ABF4-0B3DF3C6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8BD05DF-B824-4EF4-ADEE-5A9151CA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A624759-FAC9-47F1-B402-89465049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0EF30BC-78CB-4EFD-820E-07C70F6E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95E73E0C-0687-4EBA-BDAE-820710A2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192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room in rooms: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status = area_status(room['area_m2'])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print(room['name'], status)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2F7E3-B0C4-42A0-90C4-D1DB69B2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936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8EF112D8-64AC-4132-8D13-AF7B952C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366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FEA2FEEC-BFF6-42B6-B6B0-1B0FC3BE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2262"/>
            <a:ext cx="6400800" cy="1447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Lobby review area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Studio A meets area criterion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Gallery meets area criterion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Workshop meets area criterion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Seminar review area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Studio B meets area criterion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Office meets area criterion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Storage review area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589F0736-8B3B-4F87-ACE2-B6D6B6A0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three-line function, eight records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3A941127-C9BD-45DB-B711-7151EAA9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7872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room['area_m2'] hands the tested function one value; the function itself has not changed since cell [7]. Eight rooms, one rule, zero duplicated thresholds.</a:t>
            </a:r>
          </a:p>
        </p:txBody>
      </p:sp>
    </p:spTree>
    <p:extLst>
      <p:ext uri="{BB962C8B-B14F-4D97-AF65-F5344CB8AC3E}">
        <p14:creationId xmlns:p14="http://schemas.microsoft.com/office/powerpoint/2010/main" val="87943000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5A832298-C0A6-48AA-B114-B1EFBE31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290260-3EF6-4F49-A362-4BADA0C9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...continued: count the report, don't just print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C6768-92A7-4642-B798-C9EAE713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1133B4A-A5BC-4727-B8B8-1D16367E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581E411-4EA6-45BE-8A95-65D28712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508A3058-92EF-4883-9190-F969DA52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6EB903F3-A039-46DD-94A1-BCFA04BD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review_count = 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meets_count = 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room in rooms: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status = area_status(room['area_m2'])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status == 'review area':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review_count += 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else: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meets_count += 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print('Review:', review_count, 'Meets:', meets_count)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review_count + meets_count == len(rooms)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print('Every room accounted for')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13964-D484-41FC-8FBC-A140B518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F36C907B-AA53-4240-9155-5800D8F6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27D034B5-A139-4402-A2DF-56FE9B43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Review: 3 Meets: 5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Every room accounted for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33074A2A-B45C-4A9E-A027-25494A4E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accumulator from Week 1, twice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57F485E2-0C44-4B28-90E3-73E8785F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3547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Two counters, updated once per room inside the same loop that already printed the report — nothing new here except reusing what Week 1's accumulator and Week 3's assert already taught. The assertion is the check: if any room's status fell through both branches, the counts would not add up to len(rooms).</a:t>
            </a:r>
          </a:p>
        </p:txBody>
      </p:sp>
    </p:spTree>
    <p:extLst>
      <p:ext uri="{BB962C8B-B14F-4D97-AF65-F5344CB8AC3E}">
        <p14:creationId xmlns:p14="http://schemas.microsoft.com/office/powerpoint/2010/main" val="144508041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BD8EF6A5-0D7F-4DE8-9F90-B5C15DB0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HARD AUDIT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DCAC294-1535-43AD-AFA7-DC228F91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9: audit an AI-generated screening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DAA82-6DDB-4086-A507-E16A2173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827082E-C9F7-4DD9-A4B5-D50F2AA4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AC8B502-1872-4C3E-B26E-99AAAEC9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509DBC74-7CA5-44F1-AAE6-4F51C967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0379FFFC-D433-47BE-883C-CD15917B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excludes equality and labels passing rooms “approved.”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E1A9A168-95C3-42D6-9EA1-A0C57731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576F7E7C-159D-4E37-B0C1-33E6B0F1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BF152827-3D07-4DC6-A7EC-72A3EDD9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Identify the operator and communication defects.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CBCEF6D0-D224-400C-B402-359C7F39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98C11B15-BA3C-4544-AD3A-50548CA4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Repair the function and its status messages.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C9C6B9D3-BA0E-4756-A847-7DA7FB97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D55EB1C3-8915-4715-8A26-0E1DAAB4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boundary assertions that fail on the original.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3FD98AD3-EE36-4768-A4F4-40B4E8BE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631AF6D9-C5BE-4F11-A7FB-0184A9F7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Record accepted, modified, and rejected suggestions.</a:t>
            </a:r>
          </a:p>
        </p:txBody>
      </p:sp>
    </p:spTree>
    <p:extLst>
      <p:ext uri="{BB962C8B-B14F-4D97-AF65-F5344CB8AC3E}">
        <p14:creationId xmlns:p14="http://schemas.microsoft.com/office/powerpoint/2010/main" val="121136085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27AB3847-D280-4661-A373-3DA38754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A34A7B2-9FF5-44F2-A9FF-9B329168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Submit a small reproducible evidence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2B5E9-8C2C-41E3-9C6E-ABCC77DB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3FFC6D5-1DA1-4FF9-88CB-9FA00E07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3 · Meeting B · Design-Rule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F147543-C7BF-49FC-8965-7ED1C0B9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F0C5D499-F2DF-45C2-9A90-8E559C6B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57D067BA-0D98-4157-BEFB-DB392CC4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E8C33BE0-1163-4152-A9B3-C83FDE7C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8E0DB4B1-4453-4C67-804B-99AC5E48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D151AB8F-7240-4C2F-92D6-1B5850AD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88185C5A-A174-4C68-91AC-44E88276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46E5D-63F3-44CF-AE9C-428F6051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20334FAA-2301-4CB8-B5A2-8A30A605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Clean .py workflow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AF6EDE2F-42AC-42B7-93F7-F98C641A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Runs from the top in a restarted kernel.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D1089B41-B99C-4932-8DF0-6BCC042B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06A3676C-B213-4D91-A5FA-FEB209AA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BAFCCB24-FB41-4B57-A4F3-E9E6E8D6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526195-2521-4C33-8566-F09C3346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E037D2D0-3F01-408F-9DDC-4FFBF543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Boundary assertions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DDD35A18-A9C5-4BCD-9A78-88B68404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Demonstrate intended policy and language.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1A170BAB-25FA-46F3-B9AF-217ABE93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4F863518-99BA-4DE5-B363-DCE79656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FF35366A-BBB1-4D73-8B8A-A7C1CD13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228AEF-0A7D-4706-A757-585BDD17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E19CE177-7C2C-446D-8190-A0585953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Room status report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6E599C90-B6DC-4C9A-9312-C606B386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Names each record and bounded result.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4C90A894-AF73-4A12-9D02-E77440D1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95C649C8-6B2C-49E5-9AC7-07FE43BE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4E5CB9C0-93AB-4E19-B56D-771C58B8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AE1C0A-0C0D-4B9F-A16D-39028D3F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29ADB710-9994-40EC-A120-3D785A5D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AI-use record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67C50234-898A-4248-811D-12D8DC84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Explains how assistance was evaluated.</a:t>
            </a:r>
          </a:p>
        </p:txBody>
      </p:sp>
    </p:spTree>
    <p:extLst>
      <p:ext uri="{BB962C8B-B14F-4D97-AF65-F5344CB8AC3E}">
        <p14:creationId xmlns:p14="http://schemas.microsoft.com/office/powerpoint/2010/main" val="95863431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F7BFDB1F-C4FA-4B25-A6D5-79AECC8E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3 · MEETING B · DESIGN-RULE STUDIO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2F2B909-C6FD-4E00-BF92-E4BCFA55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tested rule can scale without losing accountability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30311-6408-4E8C-93FC-6ADF3F2B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752A74FF-90F2-4196-8CC4-0E272CB4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FCBE9B35-F4C1-4613-AA1E-EE6645F1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the Boolean boundary first.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4CE8F4C1-C275-4FE7-9CFB-FD8D9CEA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0786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07A5BAC3-19F6-4F0C-9E19-7EFE00DA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02686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Exercise every branch and compound condition.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1CE31A4E-FEEA-4C0F-8CAA-6B837381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837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8F4D078E-04C8-4D26-B2DA-E55595F1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00272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 loop state and verify summaries independently.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79307767-B81A-4B08-AD33-939B8454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5958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0E09C9EF-FA53-4D06-8218-812D3C04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7858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Centralize policy in a function protected by assertions.</a:t>
            </a:r>
          </a:p>
        </p:txBody>
      </p:sp>
    </p:spTree>
    <p:extLst>
      <p:ext uri="{BB962C8B-B14F-4D97-AF65-F5344CB8AC3E}">
        <p14:creationId xmlns:p14="http://schemas.microsoft.com/office/powerpoint/2010/main" val="989478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2026-08-20T16:08:27.2330000Z</dcterms:created>
  <dcterms:modified xsi:type="dcterms:W3CDTF">2026-08-20T16:08:27.2330000Z</dcterms:modified>
</coreProperties>
</file>