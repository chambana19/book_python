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e61a73a5644ce" /><Relationship Type="http://schemas.openxmlformats.org/officeDocument/2006/relationships/extended-properties" Target="/docProps/app.xml" Id="R7638ea9b4a324478" /><Relationship Type="http://schemas.openxmlformats.org/officeDocument/2006/relationships/officeDocument" Target="/ppt/presentation.xml" Id="R1784461ce39340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2f30ca7c004405"/>
  </p:sldMasterIdLst>
  <p:notesMasterIdLst>
    <p:notesMasterId xmlns:r="http://schemas.openxmlformats.org/officeDocument/2006/relationships" r:id="Re47589f5e1544976"/>
  </p:notesMasterIdLst>
  <p:sldIdLst>
    <p:sldId xmlns:r="http://schemas.openxmlformats.org/officeDocument/2006/relationships" id="256" r:id="R14c32b5120b14a39"/>
    <p:sldId xmlns:r="http://schemas.openxmlformats.org/officeDocument/2006/relationships" id="257" r:id="R4440300a2b88404c"/>
    <p:sldId xmlns:r="http://schemas.openxmlformats.org/officeDocument/2006/relationships" id="258" r:id="R98405dea790f4601"/>
    <p:sldId xmlns:r="http://schemas.openxmlformats.org/officeDocument/2006/relationships" id="259" r:id="Rfaa2b81ac65743a4"/>
    <p:sldId xmlns:r="http://schemas.openxmlformats.org/officeDocument/2006/relationships" id="260" r:id="R41e4686eb82a4bf6"/>
    <p:sldId xmlns:r="http://schemas.openxmlformats.org/officeDocument/2006/relationships" id="261" r:id="Re91ed103c6d049a0"/>
    <p:sldId xmlns:r="http://schemas.openxmlformats.org/officeDocument/2006/relationships" id="262" r:id="Rfbe08709943b4d86"/>
    <p:sldId xmlns:r="http://schemas.openxmlformats.org/officeDocument/2006/relationships" id="263" r:id="Rf209b7a91cee4f0e"/>
    <p:sldId xmlns:r="http://schemas.openxmlformats.org/officeDocument/2006/relationships" id="264" r:id="R1bd1fa3153ae4cea"/>
    <p:sldId xmlns:r="http://schemas.openxmlformats.org/officeDocument/2006/relationships" id="265" r:id="R595f65595df74520"/>
    <p:sldId xmlns:r="http://schemas.openxmlformats.org/officeDocument/2006/relationships" id="266" r:id="R2114b92341614e29"/>
    <p:sldId xmlns:r="http://schemas.openxmlformats.org/officeDocument/2006/relationships" id="267" r:id="Ra55ffb578e1443f6"/>
    <p:sldId xmlns:r="http://schemas.openxmlformats.org/officeDocument/2006/relationships" id="268" r:id="R5b7fbe5be4fc410a"/>
    <p:sldId xmlns:r="http://schemas.openxmlformats.org/officeDocument/2006/relationships" id="269" r:id="Reb9199cce4194e1b"/>
    <p:sldId xmlns:r="http://schemas.openxmlformats.org/officeDocument/2006/relationships" id="270" r:id="Rf2e580eaa90e4838"/>
    <p:sldId xmlns:r="http://schemas.openxmlformats.org/officeDocument/2006/relationships" id="271" r:id="R41c90886b6de4c32"/>
    <p:sldId xmlns:r="http://schemas.openxmlformats.org/officeDocument/2006/relationships" id="272" r:id="R4d66cd0db51045b9"/>
    <p:sldId xmlns:r="http://schemas.openxmlformats.org/officeDocument/2006/relationships" id="273" r:id="R10a32e520b5b4b0b"/>
    <p:sldId xmlns:r="http://schemas.openxmlformats.org/officeDocument/2006/relationships" id="274" r:id="Rb0fb43d406864a25"/>
    <p:sldId xmlns:r="http://schemas.openxmlformats.org/officeDocument/2006/relationships" id="275" r:id="Rd7abb9b1fe8343bc"/>
    <p:sldId xmlns:r="http://schemas.openxmlformats.org/officeDocument/2006/relationships" id="276" r:id="R2164a36f3c394327"/>
    <p:sldId xmlns:r="http://schemas.openxmlformats.org/officeDocument/2006/relationships" id="277" r:id="Rcbd374ce70cc4930"/>
    <p:sldId xmlns:r="http://schemas.openxmlformats.org/officeDocument/2006/relationships" id="278" r:id="Rb812843870be4edf"/>
    <p:sldId xmlns:r="http://schemas.openxmlformats.org/officeDocument/2006/relationships" id="279" r:id="Raa1b1ddafe314b74"/>
    <p:sldId xmlns:r="http://schemas.openxmlformats.org/officeDocument/2006/relationships" id="280" r:id="R8a2e681028224af7"/>
    <p:sldId xmlns:r="http://schemas.openxmlformats.org/officeDocument/2006/relationships" id="281" r:id="Ra7a6fbcdada44467"/>
    <p:sldId xmlns:r="http://schemas.openxmlformats.org/officeDocument/2006/relationships" id="282" r:id="Rf6d02d77970a4115"/>
    <p:sldId xmlns:r="http://schemas.openxmlformats.org/officeDocument/2006/relationships" id="283" r:id="Reff904b9c37f4e31"/>
    <p:sldId xmlns:r="http://schemas.openxmlformats.org/officeDocument/2006/relationships" id="284" r:id="Re5c9bf85ed564549"/>
    <p:sldId xmlns:r="http://schemas.openxmlformats.org/officeDocument/2006/relationships" id="285" r:id="R87983c31c4e44f1f"/>
    <p:sldId xmlns:r="http://schemas.openxmlformats.org/officeDocument/2006/relationships" id="286" r:id="R79da33d03b9d4a2e"/>
    <p:sldId xmlns:r="http://schemas.openxmlformats.org/officeDocument/2006/relationships" id="287" r:id="R0ad19545d0684e14"/>
    <p:sldId xmlns:r="http://schemas.openxmlformats.org/officeDocument/2006/relationships" id="288" r:id="Rdbc0b272944f4869"/>
    <p:sldId xmlns:r="http://schemas.openxmlformats.org/officeDocument/2006/relationships" id="289" r:id="R05de4d629f404be6"/>
    <p:sldId xmlns:r="http://schemas.openxmlformats.org/officeDocument/2006/relationships" id="290" r:id="R7894d1f45b2042bb"/>
    <p:sldId xmlns:r="http://schemas.openxmlformats.org/officeDocument/2006/relationships" id="291" r:id="Rffb47cc3b33b4d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e533a958e24052" /><Relationship Type="http://schemas.openxmlformats.org/officeDocument/2006/relationships/slideMaster" Target="/ppt/slideMasters/slideMaster1.xml" Id="R9d2f30ca7c004405" /><Relationship Type="http://schemas.openxmlformats.org/officeDocument/2006/relationships/notesMaster" Target="/ppt/notesMasters/notesMaster1.xml" Id="Re47589f5e1544976" /><Relationship Type="http://schemas.openxmlformats.org/officeDocument/2006/relationships/presProps" Target="/ppt/presProps.xml" Id="R0439da3158314fd1" /><Relationship Type="http://schemas.openxmlformats.org/officeDocument/2006/relationships/tableStyles" Target="/ppt/tableStyles.xml" Id="R18e4e9f78dfc4b5f" /><Relationship Type="http://schemas.openxmlformats.org/officeDocument/2006/relationships/slide" Target="/ppt/slides/slide1.xml" Id="R14c32b5120b14a39" /><Relationship Type="http://schemas.openxmlformats.org/officeDocument/2006/relationships/slide" Target="/ppt/slides/slide2.xml" Id="R4440300a2b88404c" /><Relationship Type="http://schemas.openxmlformats.org/officeDocument/2006/relationships/slide" Target="/ppt/slides/slide3.xml" Id="R98405dea790f4601" /><Relationship Type="http://schemas.openxmlformats.org/officeDocument/2006/relationships/slide" Target="/ppt/slides/slide4.xml" Id="Rfaa2b81ac65743a4" /><Relationship Type="http://schemas.openxmlformats.org/officeDocument/2006/relationships/slide" Target="/ppt/slides/slide5.xml" Id="R41e4686eb82a4bf6" /><Relationship Type="http://schemas.openxmlformats.org/officeDocument/2006/relationships/slide" Target="/ppt/slides/slide6.xml" Id="Re91ed103c6d049a0" /><Relationship Type="http://schemas.openxmlformats.org/officeDocument/2006/relationships/slide" Target="/ppt/slides/slide7.xml" Id="Rfbe08709943b4d86" /><Relationship Type="http://schemas.openxmlformats.org/officeDocument/2006/relationships/slide" Target="/ppt/slides/slide8.xml" Id="Rf209b7a91cee4f0e" /><Relationship Type="http://schemas.openxmlformats.org/officeDocument/2006/relationships/slide" Target="/ppt/slides/slide9.xml" Id="R1bd1fa3153ae4cea" /><Relationship Type="http://schemas.openxmlformats.org/officeDocument/2006/relationships/slide" Target="/ppt/slides/slide10.xml" Id="R595f65595df74520" /><Relationship Type="http://schemas.openxmlformats.org/officeDocument/2006/relationships/slide" Target="/ppt/slides/slide11.xml" Id="R2114b92341614e29" /><Relationship Type="http://schemas.openxmlformats.org/officeDocument/2006/relationships/slide" Target="/ppt/slides/slide12.xml" Id="Ra55ffb578e1443f6" /><Relationship Type="http://schemas.openxmlformats.org/officeDocument/2006/relationships/slide" Target="/ppt/slides/slide13.xml" Id="R5b7fbe5be4fc410a" /><Relationship Type="http://schemas.openxmlformats.org/officeDocument/2006/relationships/slide" Target="/ppt/slides/slide14.xml" Id="Reb9199cce4194e1b" /><Relationship Type="http://schemas.openxmlformats.org/officeDocument/2006/relationships/slide" Target="/ppt/slides/slide15.xml" Id="Rf2e580eaa90e4838" /><Relationship Type="http://schemas.openxmlformats.org/officeDocument/2006/relationships/slide" Target="/ppt/slides/slide16.xml" Id="R41c90886b6de4c32" /><Relationship Type="http://schemas.openxmlformats.org/officeDocument/2006/relationships/slide" Target="/ppt/slides/slide17.xml" Id="R4d66cd0db51045b9" /><Relationship Type="http://schemas.openxmlformats.org/officeDocument/2006/relationships/slide" Target="/ppt/slides/slide18.xml" Id="R10a32e520b5b4b0b" /><Relationship Type="http://schemas.openxmlformats.org/officeDocument/2006/relationships/slide" Target="/ppt/slides/slide19.xml" Id="Rb0fb43d406864a25" /><Relationship Type="http://schemas.openxmlformats.org/officeDocument/2006/relationships/slide" Target="/ppt/slides/slide20.xml" Id="Rd7abb9b1fe8343bc" /><Relationship Type="http://schemas.openxmlformats.org/officeDocument/2006/relationships/slide" Target="/ppt/slides/slide21.xml" Id="R2164a36f3c394327" /><Relationship Type="http://schemas.openxmlformats.org/officeDocument/2006/relationships/slide" Target="/ppt/slides/slide22.xml" Id="Rcbd374ce70cc4930" /><Relationship Type="http://schemas.openxmlformats.org/officeDocument/2006/relationships/slide" Target="/ppt/slides/slide23.xml" Id="Rb812843870be4edf" /><Relationship Type="http://schemas.openxmlformats.org/officeDocument/2006/relationships/slide" Target="/ppt/slides/slide24.xml" Id="Raa1b1ddafe314b74" /><Relationship Type="http://schemas.openxmlformats.org/officeDocument/2006/relationships/slide" Target="/ppt/slides/slide25.xml" Id="R8a2e681028224af7" /><Relationship Type="http://schemas.openxmlformats.org/officeDocument/2006/relationships/slide" Target="/ppt/slides/slide26.xml" Id="Ra7a6fbcdada44467" /><Relationship Type="http://schemas.openxmlformats.org/officeDocument/2006/relationships/slide" Target="/ppt/slides/slide27.xml" Id="Rf6d02d77970a4115" /><Relationship Type="http://schemas.openxmlformats.org/officeDocument/2006/relationships/slide" Target="/ppt/slides/slide28.xml" Id="Reff904b9c37f4e31" /><Relationship Type="http://schemas.openxmlformats.org/officeDocument/2006/relationships/slide" Target="/ppt/slides/slide29.xml" Id="Re5c9bf85ed564549" /><Relationship Type="http://schemas.openxmlformats.org/officeDocument/2006/relationships/slide" Target="/ppt/slides/slide30.xml" Id="R87983c31c4e44f1f" /><Relationship Type="http://schemas.openxmlformats.org/officeDocument/2006/relationships/slide" Target="/ppt/slides/slide31.xml" Id="R79da33d03b9d4a2e" /><Relationship Type="http://schemas.openxmlformats.org/officeDocument/2006/relationships/slide" Target="/ppt/slides/slide32.xml" Id="R0ad19545d0684e14" /><Relationship Type="http://schemas.openxmlformats.org/officeDocument/2006/relationships/slide" Target="/ppt/slides/slide33.xml" Id="Rdbc0b272944f4869" /><Relationship Type="http://schemas.openxmlformats.org/officeDocument/2006/relationships/slide" Target="/ppt/slides/slide34.xml" Id="R05de4d629f404be6" /><Relationship Type="http://schemas.openxmlformats.org/officeDocument/2006/relationships/slide" Target="/ppt/slides/slide35.xml" Id="R7894d1f45b2042bb" /><Relationship Type="http://schemas.openxmlformats.org/officeDocument/2006/relationships/slide" Target="/ppt/slides/slide36.xml" Id="Rffb47cc3b33b4d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6bd73334964c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1971ad12b74729" /><Relationship Type="http://schemas.openxmlformats.org/officeDocument/2006/relationships/notesMaster" Target="/ppt/notesMasters/notesMaster1.xml" Id="Rb09dcd6584ee4c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f6009814bd4b48" /><Relationship Type="http://schemas.openxmlformats.org/officeDocument/2006/relationships/notesMaster" Target="/ppt/notesMasters/notesMaster1.xml" Id="R119b1acad5d241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c7bea169744df4" /><Relationship Type="http://schemas.openxmlformats.org/officeDocument/2006/relationships/notesMaster" Target="/ppt/notesMasters/notesMaster1.xml" Id="R1d64c6d3aec244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60282daab64522" /><Relationship Type="http://schemas.openxmlformats.org/officeDocument/2006/relationships/notesMaster" Target="/ppt/notesMasters/notesMaster1.xml" Id="Rff4f2e79119846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689ab81a8b404b" /><Relationship Type="http://schemas.openxmlformats.org/officeDocument/2006/relationships/notesMaster" Target="/ppt/notesMasters/notesMaster1.xml" Id="R41a8feafde934f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f907d206174dee" /><Relationship Type="http://schemas.openxmlformats.org/officeDocument/2006/relationships/notesMaster" Target="/ppt/notesMasters/notesMaster1.xml" Id="R229c5f4373a240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445c640124476b" /><Relationship Type="http://schemas.openxmlformats.org/officeDocument/2006/relationships/notesMaster" Target="/ppt/notesMasters/notesMaster1.xml" Id="R255f84785ae349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c46a1960cb4c05" /><Relationship Type="http://schemas.openxmlformats.org/officeDocument/2006/relationships/notesMaster" Target="/ppt/notesMasters/notesMaster1.xml" Id="Rd9849f7b58ec4d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d120a543584865" /><Relationship Type="http://schemas.openxmlformats.org/officeDocument/2006/relationships/notesMaster" Target="/ppt/notesMasters/notesMaster1.xml" Id="R4c0b93f98bfd4a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60ee5d20ea44c4" /><Relationship Type="http://schemas.openxmlformats.org/officeDocument/2006/relationships/notesMaster" Target="/ppt/notesMasters/notesMaster1.xml" Id="R77f4ce32f93a45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f93141a105435d" /><Relationship Type="http://schemas.openxmlformats.org/officeDocument/2006/relationships/notesMaster" Target="/ppt/notesMasters/notesMaster1.xml" Id="R6ef9606a9d6b42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336dc1d82b4ab3" /><Relationship Type="http://schemas.openxmlformats.org/officeDocument/2006/relationships/notesMaster" Target="/ppt/notesMasters/notesMaster1.xml" Id="Rea60fdcb16ed40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6cb7f0ccb9406e" /><Relationship Type="http://schemas.openxmlformats.org/officeDocument/2006/relationships/notesMaster" Target="/ppt/notesMasters/notesMaster1.xml" Id="Rfe847e21de4f4d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c4ed0070d04d90" /><Relationship Type="http://schemas.openxmlformats.org/officeDocument/2006/relationships/notesMaster" Target="/ppt/notesMasters/notesMaster1.xml" Id="R7141c67c8b2441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f6ef7d61fa4dc8" /><Relationship Type="http://schemas.openxmlformats.org/officeDocument/2006/relationships/notesMaster" Target="/ppt/notesMasters/notesMaster1.xml" Id="R8c79d0490f4240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8d55e559c04ac7" /><Relationship Type="http://schemas.openxmlformats.org/officeDocument/2006/relationships/notesMaster" Target="/ppt/notesMasters/notesMaster1.xml" Id="Rd55d18a0e4b44f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7caae38b38487b" /><Relationship Type="http://schemas.openxmlformats.org/officeDocument/2006/relationships/notesMaster" Target="/ppt/notesMasters/notesMaster1.xml" Id="Rc5cd56374e6342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a01a7e25a74539" /><Relationship Type="http://schemas.openxmlformats.org/officeDocument/2006/relationships/notesMaster" Target="/ppt/notesMasters/notesMaster1.xml" Id="Rac27531da0964e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0b004510c54518" /><Relationship Type="http://schemas.openxmlformats.org/officeDocument/2006/relationships/notesMaster" Target="/ppt/notesMasters/notesMaster1.xml" Id="Rf766f2c7a6f346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134a5151ecc4c4e" /><Relationship Type="http://schemas.openxmlformats.org/officeDocument/2006/relationships/notesMaster" Target="/ppt/notesMasters/notesMaster1.xml" Id="R3b8b75640ecd4fe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c87a1d2f004803" /><Relationship Type="http://schemas.openxmlformats.org/officeDocument/2006/relationships/notesMaster" Target="/ppt/notesMasters/notesMaster1.xml" Id="R7b8716fa8e0c404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f6066827ad8483f" /><Relationship Type="http://schemas.openxmlformats.org/officeDocument/2006/relationships/notesMaster" Target="/ppt/notesMasters/notesMaster1.xml" Id="Rfdb51b7121194a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d127d96535d4971" /><Relationship Type="http://schemas.openxmlformats.org/officeDocument/2006/relationships/notesMaster" Target="/ppt/notesMasters/notesMaster1.xml" Id="R889d3b3da64c4cb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bce2f1a4a0a478b" /><Relationship Type="http://schemas.openxmlformats.org/officeDocument/2006/relationships/notesMaster" Target="/ppt/notesMasters/notesMaster1.xml" Id="R1c17527bf0db48f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ae89c311c614769" /><Relationship Type="http://schemas.openxmlformats.org/officeDocument/2006/relationships/notesMaster" Target="/ppt/notesMasters/notesMaster1.xml" Id="R9796aa7c2d214e8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758f93c9276451a" /><Relationship Type="http://schemas.openxmlformats.org/officeDocument/2006/relationships/notesMaster" Target="/ppt/notesMasters/notesMaster1.xml" Id="R71094642ae384e8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d7beffd9a3340eb" /><Relationship Type="http://schemas.openxmlformats.org/officeDocument/2006/relationships/notesMaster" Target="/ppt/notesMasters/notesMaster1.xml" Id="R4b3fe7c941734f7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65594c669024f2e" /><Relationship Type="http://schemas.openxmlformats.org/officeDocument/2006/relationships/notesMaster" Target="/ppt/notesMasters/notesMaster1.xml" Id="R1f34abcef487431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1570c2932a147b4" /><Relationship Type="http://schemas.openxmlformats.org/officeDocument/2006/relationships/notesMaster" Target="/ppt/notesMasters/notesMaster1.xml" Id="R2d289ae5e59244a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d5af983750c4738" /><Relationship Type="http://schemas.openxmlformats.org/officeDocument/2006/relationships/notesMaster" Target="/ppt/notesMasters/notesMaster1.xml" Id="R3687867cff98487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f4764fac46d41fd" /><Relationship Type="http://schemas.openxmlformats.org/officeDocument/2006/relationships/notesMaster" Target="/ppt/notesMasters/notesMaster1.xml" Id="R7f71fe16ca8c4ec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85ae6766d124397" /><Relationship Type="http://schemas.openxmlformats.org/officeDocument/2006/relationships/notesMaster" Target="/ppt/notesMasters/notesMaster1.xml" Id="Ra365937c9a9f424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534908966434d5b" /><Relationship Type="http://schemas.openxmlformats.org/officeDocument/2006/relationships/notesMaster" Target="/ppt/notesMasters/notesMaster1.xml" Id="R61a6474568fe404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fbc76c861ec4c41" /><Relationship Type="http://schemas.openxmlformats.org/officeDocument/2006/relationships/notesMaster" Target="/ppt/notesMasters/notesMaster1.xml" Id="Rec292e5f3f5f419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b27d64f3b3b4de7" /><Relationship Type="http://schemas.openxmlformats.org/officeDocument/2006/relationships/notesMaster" Target="/ppt/notesMasters/notesMaster1.xml" Id="R9d93b3b5fad0485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62db893d77e4868" /><Relationship Type="http://schemas.openxmlformats.org/officeDocument/2006/relationships/notesMaster" Target="/ppt/notesMasters/notesMaster1.xml" Id="R71c8ca1a390a42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Display 12, 12.0, and '12'. Ask whether they mean the same thing to Python and whether an unlabeled 12 means anything in a drawing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Connect variable names to architectural annotation. A dimension is not useful if its unit or referent is ambiguous.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Tie each outcome to the facade opening-ratio model developed near the 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Explain that syntax will be introduced only when it supports the cumulative architectural calculation.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students to name what is added at each level: type, conversion provenance, then a validity rule. A numerical result can be correctly computed and still represent impossible geometry.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Adapted from FS25 L4 slides 2–12. Type is behavior, not formatting. Ask which values can be multiplied, labeled, or tested as a condition. The next two slides take int and float one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Adapted from FS25 L4 slides 7–8. Ask for three architectural quantities that must be int and three that must not. Hold binary approximation for the later precision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Adapted from FS25 L4 slides 7–8. Demonstrate 8 / 2 in the Console and ask why Python answers 4.0. Note that / is the one operator that always widens int to float.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Run each print separately first, one type() at a time, then show the grouped version. Connect every reported type to the operations that type allows.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Adapted from FS25 L3 slides 9–13 and 21. Ask students to identify every literal in the opening-ratio example built later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met variable/assignment in Week 1A (see week01a.json slide 22); do not re-derive the base definition here — name it and move straight to the reassignment/stale-value angle, which is new. The next slide takes one assignment apart part by 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Walk the numbered parts in order 3, 4, 5, 2, 1 — right side first, then the assignment, then the name. Ask for the unit of the result before anyone gives a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whether the output is 44.2 or 51.0 and require an explanation rather than a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Explain snake_case, no leading digit, and reserved words. Distinguish illegal syntax (2nd_floor, class) from merely poor style (h, value1). Communication is the goal; legal syntax alone is insufficient.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Adapted from FS25 operator slides 3–4. Students narrate the meaning and unit of every result before the code is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Take a show of hands on every option before revealing. 60 is the left-to-right reading, 30 forgets the count of openings, 24.0 assumes every calculation returns a float. Then run it in the Console.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translate each expression into a short verbal procedure, then connect it back to the wall-and-openings prediction.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Establish the class convention: measured quantities carry units in variable names.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Estimate first: 25 feet is a little over 7 meters. Ask where the conversion factor came from.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Adapted from FS25 L4. Ask students to predict 5 * 2 versus '5' * 2. The answers are 10 and '55': the second repeats the text twice.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Adapted from FS25 L3 slide 13 and L4 slide 6. Connect strings to room names, IDs, material categories, filenames, and annotations.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Have students point to the underlying value, display precision, and unit suffix. The next slide takes this exact line apart.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Point at part 3 and stress that area_m2 still holds 44.234; :.1f changed the display only. Ask what :.2f, :.0f, and :.1% would each show.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Use a live input example and distinguish conversion from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- https://docs.python.org/3/tutorial/errors.html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Adapted from FS25 L3 slide 21, L4 slides 11–12, and L7 slides 2–3. Ask for architectural yes/no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Adapted from FS25 L7 slide 5 and Lxx Operator slide 7. Translate each operator into spoken language before showing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Contrast = and ==. Ask what assumptions are hidden in a single minimum-area threshold.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Emphasize that int(4.8) truncates rather than rounding. Conversion is a modeling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Almost everyone predicts True. Do not explain first — run it, then show the stored value on the next slide. Option C confuses == with =; option D assumes floats cannot be compared at 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Distinguish computational representation, display precision, and real measurement accuracy. round() returns a new value; it does not repair module_m.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Trace units: m × m produces m²; m² / m² produces a dimensionless ratio. Ask what happens if the window area were larger before revealing the next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why West fails and North doesn't — same rule, different geometry, nothing arbitrary about which one is called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Students compute expected answers without Python and decide whether the excessive area should raise a warning or stop execution. Introduce assert here: it states a claim you expect to be true, does nothing when it passes, and stops the script when it fails. Round before comparing floats, per the previous two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Have students identify where calculation becomes possible and where the result becomes presentation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6 minutes.</a:t>
            </a:r>
          </a:p>
          <a:p xmlns:a="http://schemas.openxmlformats.org/drawingml/2006/main">
            <a:r>
              <a:t>Teaching notes: Expected repair: wall_m = float(wall) = 12.0; area_m2 = wall_m * height = 36.0; print(f'{area_m2} m²') → '36.0 m²'. The bug: wall is a string, so wall * height triggers string repetition ('12' * 3 = '121212'), and print(area + ' m²') still succeeds — no crash, just a silently wrong number concatenated with the unit text. That is why step 2 calls it a type error rather than a runtime error: the script runs to completion and looks fine at a glance. Verified in the Python console: '12' * 3 == '121212'; float('12') * 3 == 36.0. Require an assert for the known input (wall='12', height=3 → 36.0) and a test that a non-numeric wall value is rejected or raises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Exit ticket: rewrite one ambiguous quantity from today's work as a type-aware, unit-aware variable.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ff4cfbe8944f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f38e19832b42a6" /><Relationship Type="http://schemas.openxmlformats.org/officeDocument/2006/relationships/slideLayout" Target="/ppt/slideLayouts/slideLayout1.xml" Id="Ra86949aa620a47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6949aa620a47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b466c63ae44b6" /><Relationship Type="http://schemas.openxmlformats.org/officeDocument/2006/relationships/notesSlide" Target="/ppt/notesSlides/notesSlide1.xml" Id="R710ae1de85fb44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86125c1cc4d59" /><Relationship Type="http://schemas.openxmlformats.org/officeDocument/2006/relationships/notesSlide" Target="/ppt/notesSlides/notesSlide2.xml" Id="Red03cc39b23544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30d1403af49b4" /><Relationship Type="http://schemas.openxmlformats.org/officeDocument/2006/relationships/notesSlide" Target="/ppt/notesSlides/notesSlide3.xml" Id="R470b40da522e46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ab1b2391f4d26" /><Relationship Type="http://schemas.openxmlformats.org/officeDocument/2006/relationships/notesSlide" Target="/ppt/notesSlides/notesSlide4.xml" Id="R04bdcc05a60e46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86270c8ed4102" /><Relationship Type="http://schemas.openxmlformats.org/officeDocument/2006/relationships/notesSlide" Target="/ppt/notesSlides/notesSlide5.xml" Id="R25340ca51fac4e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029e01bd148cf" /><Relationship Type="http://schemas.openxmlformats.org/officeDocument/2006/relationships/notesSlide" Target="/ppt/notesSlides/notesSlide6.xml" Id="R1adc6c42970a42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5cb80ce5c4c28" /><Relationship Type="http://schemas.openxmlformats.org/officeDocument/2006/relationships/notesSlide" Target="/ppt/notesSlides/notesSlide7.xml" Id="R4cca8796001f49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3f4d33f4e46f4" /><Relationship Type="http://schemas.openxmlformats.org/officeDocument/2006/relationships/notesSlide" Target="/ppt/notesSlides/notesSlide8.xml" Id="Rf0515b665e0446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05e4941894b5a" /><Relationship Type="http://schemas.openxmlformats.org/officeDocument/2006/relationships/notesSlide" Target="/ppt/notesSlides/notesSlide9.xml" Id="R49a20d238c7f40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f86585e5b4401" /><Relationship Type="http://schemas.openxmlformats.org/officeDocument/2006/relationships/notesSlide" Target="/ppt/notesSlides/notesSlide10.xml" Id="Rb71d23dffd7741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195c6d5374ac5" /><Relationship Type="http://schemas.openxmlformats.org/officeDocument/2006/relationships/notesSlide" Target="/ppt/notesSlides/notesSlide11.xml" Id="R9b644af5efb54c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247524c86464f" /><Relationship Type="http://schemas.openxmlformats.org/officeDocument/2006/relationships/notesSlide" Target="/ppt/notesSlides/notesSlide12.xml" Id="R0b03337cc3a44a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860091e944505" /><Relationship Type="http://schemas.openxmlformats.org/officeDocument/2006/relationships/notesSlide" Target="/ppt/notesSlides/notesSlide13.xml" Id="R2c31277def0f44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11da1e5bb452a" /><Relationship Type="http://schemas.openxmlformats.org/officeDocument/2006/relationships/notesSlide" Target="/ppt/notesSlides/notesSlide14.xml" Id="R5b1dbe1979d842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ab37f47e046aa" /><Relationship Type="http://schemas.openxmlformats.org/officeDocument/2006/relationships/notesSlide" Target="/ppt/notesSlides/notesSlide15.xml" Id="Re440338e030345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bf6f392544b10" /><Relationship Type="http://schemas.openxmlformats.org/officeDocument/2006/relationships/notesSlide" Target="/ppt/notesSlides/notesSlide16.xml" Id="R4cf40a8522774d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0b80d6872469c" /><Relationship Type="http://schemas.openxmlformats.org/officeDocument/2006/relationships/notesSlide" Target="/ppt/notesSlides/notesSlide17.xml" Id="Rf9906235bdb54e2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5dac6d9e4471d" /><Relationship Type="http://schemas.openxmlformats.org/officeDocument/2006/relationships/notesSlide" Target="/ppt/notesSlides/notesSlide18.xml" Id="Ra68e22f14ed94c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3fe3a1c1647ae" /><Relationship Type="http://schemas.openxmlformats.org/officeDocument/2006/relationships/notesSlide" Target="/ppt/notesSlides/notesSlide19.xml" Id="Rae08db589d70426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cd72a8a6a45e0" /><Relationship Type="http://schemas.openxmlformats.org/officeDocument/2006/relationships/notesSlide" Target="/ppt/notesSlides/notesSlide20.xml" Id="R7cec0eed61794b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61d0a7be0444e" /><Relationship Type="http://schemas.openxmlformats.org/officeDocument/2006/relationships/notesSlide" Target="/ppt/notesSlides/notesSlide21.xml" Id="Re2ab4f8afe214b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c16f3bcf84ab1" /><Relationship Type="http://schemas.openxmlformats.org/officeDocument/2006/relationships/notesSlide" Target="/ppt/notesSlides/notesSlide22.xml" Id="Re7d52563dabb4de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de1965bca4c35" /><Relationship Type="http://schemas.openxmlformats.org/officeDocument/2006/relationships/notesSlide" Target="/ppt/notesSlides/notesSlide23.xml" Id="Rb303a07393ec421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53dda38c14615" /><Relationship Type="http://schemas.openxmlformats.org/officeDocument/2006/relationships/notesSlide" Target="/ppt/notesSlides/notesSlide24.xml" Id="R81427be0de434a5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53de1fd7c4a3e" /><Relationship Type="http://schemas.openxmlformats.org/officeDocument/2006/relationships/notesSlide" Target="/ppt/notesSlides/notesSlide25.xml" Id="Reed859010fbe472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0012ec8914b6b" /><Relationship Type="http://schemas.openxmlformats.org/officeDocument/2006/relationships/notesSlide" Target="/ppt/notesSlides/notesSlide26.xml" Id="R611de7d4fed043b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f536ec5d5462c" /><Relationship Type="http://schemas.openxmlformats.org/officeDocument/2006/relationships/notesSlide" Target="/ppt/notesSlides/notesSlide27.xml" Id="Rd2748b027cf84a4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3c9fd13234108" /><Relationship Type="http://schemas.openxmlformats.org/officeDocument/2006/relationships/notesSlide" Target="/ppt/notesSlides/notesSlide28.xml" Id="R0f72b0177df5460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2ef4e2e394553" /><Relationship Type="http://schemas.openxmlformats.org/officeDocument/2006/relationships/notesSlide" Target="/ppt/notesSlides/notesSlide29.xml" Id="Red7952e4c27a40c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65e6b21b642c8" /><Relationship Type="http://schemas.openxmlformats.org/officeDocument/2006/relationships/notesSlide" Target="/ppt/notesSlides/notesSlide30.xml" Id="R56ab601dc19140a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a738147314aeb" /><Relationship Type="http://schemas.openxmlformats.org/officeDocument/2006/relationships/notesSlide" Target="/ppt/notesSlides/notesSlide31.xml" Id="Rb815d74c722e44b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65ac4b5bc40de" /><Relationship Type="http://schemas.openxmlformats.org/officeDocument/2006/relationships/notesSlide" Target="/ppt/notesSlides/notesSlide32.xml" Id="Rb98efbfca91b4a2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2c83e8d254862" /><Relationship Type="http://schemas.openxmlformats.org/officeDocument/2006/relationships/notesSlide" Target="/ppt/notesSlides/notesSlide33.xml" Id="R71becee9374d41a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72f2b10f74e2b" /><Relationship Type="http://schemas.openxmlformats.org/officeDocument/2006/relationships/notesSlide" Target="/ppt/notesSlides/notesSlide34.xml" Id="Rf5e38450bbf8479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21b56f0e84797" /><Relationship Type="http://schemas.openxmlformats.org/officeDocument/2006/relationships/notesSlide" Target="/ppt/notesSlides/notesSlide35.xml" Id="R55932396524e430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49675f76c42b3" /><Relationship Type="http://schemas.openxmlformats.org/officeDocument/2006/relationships/notesSlide" Target="/ppt/notesSlides/notesSlide36.xml" Id="R0f66d51cc41044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2D74BF71-BFCD-4F84-84AF-6BDE1917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F1CA261A-D2EB-4448-A83C-C3583F2B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BDB05B2F-EA89-4EAB-8604-64A17B88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A019A1FB-A646-4E97-9F14-7E3FE8E7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2 · MEETING A · VALUES AND EXPRESSIONS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5447F92B-4049-4BD8-9557-CD9C1974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Give architectural quantities meaning in Python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7205B2B6-CD65-4155-9509-670E8529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Types, names, operators, units, strings, comparisons, and transparent calculations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D609E-7141-4CD8-9C71-E2F5D2B0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19C06941-E6EB-40AF-B6F3-5C011BB0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1856172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2EADCFE5-35AE-40FF-ADA4-38E5610C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6DE2B9-6371-47FA-9128-620F4382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number without meaning is weak design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13F60-25BF-42BB-AD8C-B3A4B4B8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09EF58C-056A-43C9-BD2D-B7EAC75A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BFAC1F0-6403-43CD-B66A-522E23BE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61C4E29E-F1E5-4F56-9785-84ACF691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9829800" cy="1557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useful variable connects a value to a concept, a unit, and an intended operation.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946A7-03DA-4BB2-A8AF-58A36A52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2128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23DEC6D2-2947-41E6-A400-C1549BCF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5978"/>
            <a:ext cx="93345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Naming and type choices are modeling decisions: they determine what the program can safely do next.</a:t>
            </a:r>
          </a:p>
        </p:txBody>
      </p:sp>
    </p:spTree>
    <p:extLst>
      <p:ext uri="{BB962C8B-B14F-4D97-AF65-F5344CB8AC3E}">
        <p14:creationId xmlns:p14="http://schemas.microsoft.com/office/powerpoint/2010/main" val="8322216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8E2398AF-787E-4858-BC28-E9B62308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223C564-B74B-43E8-AC1F-77823B9B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02D72-4B3C-4C05-B125-3D9F1B3F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7E7A281-43BF-472F-899F-BB13EE89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C862A91-C2CE-4FAC-B929-B2BBDE9F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7F3E4276-6395-4DB7-93C1-85083444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FEA845E8-B07A-4AC7-BC25-E6E4D7B8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B0FA8BD7-84B8-44CB-9919-A7A001AB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Recognize integer, float, string, Boolean, and None values.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BFE55E59-9A56-49BB-814A-BAC3ADCB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8578BC3C-968E-4250-B8C7-30986996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C6A6FC35-4AE9-4A8D-A36D-AF87168B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Create readable variables carrying architectural meaning and units.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09690528-3596-4481-8442-1D14207B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AE3AEB97-1912-4665-9147-3F87850B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1B8062D5-997D-4183-81AA-8D9BDA00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Use operators, precedence, conversion, comparison, and formatting.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E2B566D4-2874-4986-8FD0-159031DA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C1E0DF5D-B38F-4005-A120-52B86824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E141F9B0-6E2D-4EBE-A029-85202295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Test a calculation with known, boundary, and invalid cases.</a:t>
            </a:r>
          </a:p>
        </p:txBody>
      </p:sp>
    </p:spTree>
    <p:extLst>
      <p:ext uri="{BB962C8B-B14F-4D97-AF65-F5344CB8AC3E}">
        <p14:creationId xmlns:p14="http://schemas.microsoft.com/office/powerpoint/2010/main" val="18376423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71B5115A-B4E1-4D01-A759-A504B3D9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C17F2B-3C57-4793-97C5-93E88014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FF29B-C90A-4232-9202-FE6C46CD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79009C2-225F-4984-8488-22216D6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DE50E11-0BEA-4389-8420-D173D5C6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612AC406-9EA0-47E0-AA0F-1A76519F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5550D-45A6-4DCD-8379-4849363B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157A41BA-7FCA-49E3-A65E-661FB190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Values have types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233956BF-64DA-4366-BFDD-710BA999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C7A9F-E493-4853-90E7-D4F24C9D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86AE963B-93E7-4DD4-8A2C-93096159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Names communicate the model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67AD974F-7304-43C2-8569-CCFFDF41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506DE-D06A-4207-A017-10B3724B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E1D702B2-0521-462E-8E9B-2677B9FB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Operators and conversion build calculations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E312209A-2A87-4B15-85D6-C83D5648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171E8-4710-432E-80E3-89CEE016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FC8EE519-D2CD-4872-80A5-1E15E607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Tests expose unit and logic mistakes</a:t>
            </a:r>
          </a:p>
        </p:txBody>
      </p:sp>
    </p:spTree>
    <p:extLst>
      <p:ext uri="{BB962C8B-B14F-4D97-AF65-F5344CB8AC3E}">
        <p14:creationId xmlns:p14="http://schemas.microsoft.com/office/powerpoint/2010/main" val="17885075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C62FF40A-AC87-449C-BF80-72B7EBAB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EASY → MEDIUM → HARD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DDAB548-61B9-444E-B2E9-A8A9A1A5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Quantities become credible as meaning and checks accumulate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6F853-1A08-4032-80EB-03878B1C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DDFB667-D626-4E2D-B0EB-AAD40581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95C9E79-A867-4D37-94A1-07DF327D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ladder-row-0">
            <a:extLst xmlns:a="http://schemas.openxmlformats.org/drawingml/2006/main">
              <a:ext uri="{FF2B5EF4-FFF2-40B4-BE49-F238E27FC236}">
                <a16:creationId xmlns:a16="http://schemas.microsoft.com/office/drawing/2014/main" id="{490EC68C-387F-4EAB-8BAF-6EA6E237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7" name="ladder-accent-0">
            <a:extLst xmlns:a="http://schemas.openxmlformats.org/drawingml/2006/main">
              <a:ext uri="{FF2B5EF4-FFF2-40B4-BE49-F238E27FC236}">
                <a16:creationId xmlns:a16="http://schemas.microsoft.com/office/drawing/2014/main" id="{9C067447-3634-4EA1-8AC0-E3930E3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dder-level-0">
            <a:extLst xmlns:a="http://schemas.openxmlformats.org/drawingml/2006/main">
              <a:ext uri="{FF2B5EF4-FFF2-40B4-BE49-F238E27FC236}">
                <a16:creationId xmlns:a16="http://schemas.microsoft.com/office/drawing/2014/main" id="{D11E40F9-B92F-4B97-93E5-C9449547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EASY</a:t>
            </a:r>
          </a:p>
        </p:txBody>
      </p:sp>
      <p:sp>
        <p:nvSpPr>
          <p:cNvPr id="9" name="ladder-focus-0">
            <a:extLst xmlns:a="http://schemas.openxmlformats.org/drawingml/2006/main">
              <a:ext uri="{FF2B5EF4-FFF2-40B4-BE49-F238E27FC236}">
                <a16:creationId xmlns:a16="http://schemas.microsoft.com/office/drawing/2014/main" id="{CF646F86-DC35-4D40-B8F3-7FD7C92E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37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Type + operation</a:t>
            </a:r>
          </a:p>
        </p:txBody>
      </p:sp>
      <p:sp>
        <p:nvSpPr>
          <p:cNvPr id="10" name="ladder-task-0">
            <a:extLst xmlns:a="http://schemas.openxmlformats.org/drawingml/2006/main">
              <a:ext uri="{FF2B5EF4-FFF2-40B4-BE49-F238E27FC236}">
                <a16:creationId xmlns:a16="http://schemas.microsoft.com/office/drawing/2014/main" id="{0F79C912-6E40-41E4-9516-4075F57E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19300"/>
            <a:ext cx="5943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Calculate a 12.0 m × 3.0 m wall area and identify the result's type.</a:t>
            </a:r>
          </a:p>
        </p:txBody>
      </p:sp>
      <p:sp>
        <p:nvSpPr>
          <p:cNvPr id="11" name="ladder-divider-0">
            <a:extLst xmlns:a="http://schemas.openxmlformats.org/drawingml/2006/main">
              <a:ext uri="{FF2B5EF4-FFF2-40B4-BE49-F238E27FC236}">
                <a16:creationId xmlns:a16="http://schemas.microsoft.com/office/drawing/2014/main" id="{C142DF9A-3D52-4821-A7F5-892CC996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19300"/>
            <a:ext cx="95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dder-check-label-0">
            <a:extLst xmlns:a="http://schemas.openxmlformats.org/drawingml/2006/main">
              <a:ext uri="{FF2B5EF4-FFF2-40B4-BE49-F238E27FC236}">
                <a16:creationId xmlns:a16="http://schemas.microsoft.com/office/drawing/2014/main" id="{E133BE8E-D163-42FE-9CB3-9D500D39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193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EXPECTED CHECK</a:t>
            </a:r>
          </a:p>
        </p:txBody>
      </p:sp>
      <p:sp>
        <p:nvSpPr>
          <p:cNvPr id="13" name="ladder-answer-0">
            <a:extLst xmlns:a="http://schemas.openxmlformats.org/drawingml/2006/main">
              <a:ext uri="{FF2B5EF4-FFF2-40B4-BE49-F238E27FC236}">
                <a16:creationId xmlns:a16="http://schemas.microsoft.com/office/drawing/2014/main" id="{C9D55C13-629B-4FD8-ADF7-0E9AC55E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050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36.0 m²; float</a:t>
            </a:r>
          </a:p>
        </p:txBody>
      </p:sp>
      <p:sp>
        <p:nvSpPr>
          <p:cNvPr id="14" name="ladder-row-1">
            <a:extLst xmlns:a="http://schemas.openxmlformats.org/drawingml/2006/main">
              <a:ext uri="{FF2B5EF4-FFF2-40B4-BE49-F238E27FC236}">
                <a16:creationId xmlns:a16="http://schemas.microsoft.com/office/drawing/2014/main" id="{1497E015-143B-4CA7-8DBE-945AD385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ladder-accent-1">
            <a:extLst xmlns:a="http://schemas.openxmlformats.org/drawingml/2006/main">
              <a:ext uri="{FF2B5EF4-FFF2-40B4-BE49-F238E27FC236}">
                <a16:creationId xmlns:a16="http://schemas.microsoft.com/office/drawing/2014/main" id="{5C2C123E-E224-4DE1-A73C-7E267CAE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adder-level-1">
            <a:extLst xmlns:a="http://schemas.openxmlformats.org/drawingml/2006/main">
              <a:ext uri="{FF2B5EF4-FFF2-40B4-BE49-F238E27FC236}">
                <a16:creationId xmlns:a16="http://schemas.microsoft.com/office/drawing/2014/main" id="{4EEF0A33-36CC-4A9C-A927-5BCF93A4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7" name="ladder-focus-1">
            <a:extLst xmlns:a="http://schemas.openxmlformats.org/drawingml/2006/main">
              <a:ext uri="{FF2B5EF4-FFF2-40B4-BE49-F238E27FC236}">
                <a16:creationId xmlns:a16="http://schemas.microsoft.com/office/drawing/2014/main" id="{209DDFFB-0FEC-40B6-86E8-84E856F3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37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Explicit conversion</a:t>
            </a:r>
          </a:p>
        </p:txBody>
      </p:sp>
      <p:sp>
        <p:nvSpPr>
          <p:cNvPr id="18" name="ladder-task-1">
            <a:extLst xmlns:a="http://schemas.openxmlformats.org/drawingml/2006/main">
              <a:ext uri="{FF2B5EF4-FFF2-40B4-BE49-F238E27FC236}">
                <a16:creationId xmlns:a16="http://schemas.microsoft.com/office/drawing/2014/main" id="{F48055CC-9A3B-4AEB-A22F-AE4C3D02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67100"/>
            <a:ext cx="5943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Convert 25.0 ft to meters with the named factor ft_to_m = 0.3048.</a:t>
            </a:r>
          </a:p>
        </p:txBody>
      </p:sp>
      <p:sp>
        <p:nvSpPr>
          <p:cNvPr id="19" name="ladder-divider-1">
            <a:extLst xmlns:a="http://schemas.openxmlformats.org/drawingml/2006/main">
              <a:ext uri="{FF2B5EF4-FFF2-40B4-BE49-F238E27FC236}">
                <a16:creationId xmlns:a16="http://schemas.microsoft.com/office/drawing/2014/main" id="{47C9DCD9-7E57-48F0-9FA7-DDC474C9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67100"/>
            <a:ext cx="95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adder-check-label-1">
            <a:extLst xmlns:a="http://schemas.openxmlformats.org/drawingml/2006/main">
              <a:ext uri="{FF2B5EF4-FFF2-40B4-BE49-F238E27FC236}">
                <a16:creationId xmlns:a16="http://schemas.microsoft.com/office/drawing/2014/main" id="{678C956A-965D-4A7C-A60D-8990E6F6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671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EXPECTED CHECK</a:t>
            </a:r>
          </a:p>
        </p:txBody>
      </p:sp>
      <p:sp>
        <p:nvSpPr>
          <p:cNvPr id="21" name="ladder-answer-1">
            <a:extLst xmlns:a="http://schemas.openxmlformats.org/drawingml/2006/main">
              <a:ext uri="{FF2B5EF4-FFF2-40B4-BE49-F238E27FC236}">
                <a16:creationId xmlns:a16="http://schemas.microsoft.com/office/drawing/2014/main" id="{F6CE0634-FE27-4C35-BF81-157FCC34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528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25.0 × 0.3048 = 7.62 m</a:t>
            </a:r>
          </a:p>
        </p:txBody>
      </p:sp>
      <p:sp>
        <p:nvSpPr>
          <p:cNvPr id="22" name="ladder-row-2">
            <a:extLst xmlns:a="http://schemas.openxmlformats.org/drawingml/2006/main">
              <a:ext uri="{FF2B5EF4-FFF2-40B4-BE49-F238E27FC236}">
                <a16:creationId xmlns:a16="http://schemas.microsoft.com/office/drawing/2014/main" id="{DF064137-C5B1-4814-A155-1D28A51B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972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ladder-accent-2">
            <a:extLst xmlns:a="http://schemas.openxmlformats.org/drawingml/2006/main">
              <a:ext uri="{FF2B5EF4-FFF2-40B4-BE49-F238E27FC236}">
                <a16:creationId xmlns:a16="http://schemas.microsoft.com/office/drawing/2014/main" id="{5FB11C05-1399-448F-844E-C8B7F146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adder-level-2">
            <a:extLst xmlns:a="http://schemas.openxmlformats.org/drawingml/2006/main">
              <a:ext uri="{FF2B5EF4-FFF2-40B4-BE49-F238E27FC236}">
                <a16:creationId xmlns:a16="http://schemas.microsoft.com/office/drawing/2014/main" id="{9FE529A1-5776-4EE8-9438-4892C2D2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HARD</a:t>
            </a:r>
          </a:p>
        </p:txBody>
      </p:sp>
      <p:sp>
        <p:nvSpPr>
          <p:cNvPr id="25" name="ladder-focus-2">
            <a:extLst xmlns:a="http://schemas.openxmlformats.org/drawingml/2006/main">
              <a:ext uri="{FF2B5EF4-FFF2-40B4-BE49-F238E27FC236}">
                <a16:creationId xmlns:a16="http://schemas.microsoft.com/office/drawing/2014/main" id="{CAFD0249-2F6D-48D9-9394-25E42CBF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37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Ratio + validity</a:t>
            </a:r>
          </a:p>
        </p:txBody>
      </p:sp>
      <p:sp>
        <p:nvSpPr>
          <p:cNvPr id="26" name="ladder-task-2">
            <a:extLst xmlns:a="http://schemas.openxmlformats.org/drawingml/2006/main">
              <a:ext uri="{FF2B5EF4-FFF2-40B4-BE49-F238E27FC236}">
                <a16:creationId xmlns:a16="http://schemas.microsoft.com/office/drawing/2014/main" id="{55B390A9-B1F7-4875-9754-18D598DD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14900"/>
            <a:ext cx="5943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Find 42/(18×9), then test 200/(18×9). Explain why the second result needs a geometry rule.</a:t>
            </a:r>
          </a:p>
        </p:txBody>
      </p:sp>
      <p:sp>
        <p:nvSpPr>
          <p:cNvPr id="27" name="ladder-divider-2">
            <a:extLst xmlns:a="http://schemas.openxmlformats.org/drawingml/2006/main">
              <a:ext uri="{FF2B5EF4-FFF2-40B4-BE49-F238E27FC236}">
                <a16:creationId xmlns:a16="http://schemas.microsoft.com/office/drawing/2014/main" id="{20628F04-F016-491F-AE12-4C6D9E76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14900"/>
            <a:ext cx="95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dder-check-label-2">
            <a:extLst xmlns:a="http://schemas.openxmlformats.org/drawingml/2006/main">
              <a:ext uri="{FF2B5EF4-FFF2-40B4-BE49-F238E27FC236}">
                <a16:creationId xmlns:a16="http://schemas.microsoft.com/office/drawing/2014/main" id="{D99FD4A5-AD9E-4BE1-863C-FE9A9359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149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EXPECTED CHECK</a:t>
            </a:r>
          </a:p>
        </p:txBody>
      </p:sp>
      <p:sp>
        <p:nvSpPr>
          <p:cNvPr id="29" name="ladder-answer-2">
            <a:extLst xmlns:a="http://schemas.openxmlformats.org/drawingml/2006/main">
              <a:ext uri="{FF2B5EF4-FFF2-40B4-BE49-F238E27FC236}">
                <a16:creationId xmlns:a16="http://schemas.microsoft.com/office/drawing/2014/main" id="{B898B7D9-6436-48D7-B0C7-78084543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006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25.9% valid; 123.5% invalid</a:t>
            </a:r>
          </a:p>
        </p:txBody>
      </p:sp>
    </p:spTree>
    <p:extLst>
      <p:ext uri="{BB962C8B-B14F-4D97-AF65-F5344CB8AC3E}">
        <p14:creationId xmlns:p14="http://schemas.microsoft.com/office/powerpoint/2010/main" val="15919622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0BD16AFC-6F0B-4C2A-A5A3-3E785E06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0C9712C-56C8-4FC1-8367-EBACCFC9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data type is a category of value and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9DA92-9254-4C25-8CFD-5FF2DB46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15DB824-0F07-4A87-9358-731EC83B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E5348BF-A51A-4357-99FD-0AB143F6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0C45B532-4156-437A-AAC2-D1C5896A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Common beginning types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36364B7B-09E5-441C-8ED5-FA3A948B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int — whole numbers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float — decimal numbers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str — text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bool — True or False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None — no value yet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674DA9E8-86CF-406C-A035-677ED028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Architectural examples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2D019347-86CA-4FEF-BE51-C7E3257A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floor_count = 4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height_m = 3.6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material = 'brick'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is_exterior = True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result = None</a:t>
            </a:r>
          </a:p>
        </p:txBody>
      </p:sp>
    </p:spTree>
    <p:extLst>
      <p:ext uri="{BB962C8B-B14F-4D97-AF65-F5344CB8AC3E}">
        <p14:creationId xmlns:p14="http://schemas.microsoft.com/office/powerpoint/2010/main" val="3239207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CCDCAB71-ECBF-4192-B76E-BD132EC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8F908C-4E09-4E33-A39B-25F8539B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Integers count things that cannot be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A22F3-351C-4F47-A145-1FB48ED2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6F6069A-FA51-4878-8AB0-3B976BCA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95C243-D8A0-43B8-8283-5311CB66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32103A75-69E5-48DE-857C-2DE1278E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CC7D3A80-19EC-4145-AE60-10A1F888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DB916-4AEF-46EE-9298-E0B44999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223BF227-6C9D-4A45-A5E7-851481CF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whole number with no decimal point: 0, 3, -2, 48. Use int for anything you count rather than measure — storeys, rooms, panels, occupants, parking spaces. Choosing int is a modeling claim: it says half of one of these would be meaningless. Arithmetic between two ints stays int, so 12 * 3 is 36, never 36.0.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32DF24C5-A4C3-4C5F-BA5D-7C71AAC6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BF80EC61-33E2-445B-8830-017C05D3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09942AA6-4707-403E-B0C7-FBED046B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floor_count = 4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8F33B1DA-8139-4A24-89D1-7E87A8E2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Four storeys — not 4.0 storeys. A building cannot have four and a half of them, so the whole number is the honest representation. Compare that with a measured storey height, where the decimals carry real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Test a quantity by asking whether half of one would mean anything. Half an occupant does not; half a metre does.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DB7BE5B3-5270-4A71-BCF6-486E38CA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D545E10F-C346-464F-A944-47AC09B3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01BB900A-5C7B-4CF5-899D-9C37A0F8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4 and 4.0 are not the same object. They compare as equal, but their types differ, and type is what decides which operations are available.</a:t>
            </a:r>
          </a:p>
        </p:txBody>
      </p:sp>
    </p:spTree>
    <p:extLst>
      <p:ext uri="{BB962C8B-B14F-4D97-AF65-F5344CB8AC3E}">
        <p14:creationId xmlns:p14="http://schemas.microsoft.com/office/powerpoint/2010/main" val="1382209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7B8658D4-6437-4466-BA35-624A9FD1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5DD201F-4057-4C4B-BB4E-8ABAB6B8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Floating-point values measure quantities that vary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D1FE7-2322-42AC-8D31-C9BC0FED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3104643-C901-4469-BE7F-E5133DC1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1CFB8EF-386E-4ED5-A71F-E99D3CA4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805ADE5A-715B-4335-A546-B3847EE1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F1FF436B-2961-4ABC-A755-65B9B503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float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BE36F-1768-409A-A6E5-9341B946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4C52E1C4-29CB-44F5-B32A-9AE6066C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number stored with a decimal point: 3.6, 0.125, -0.5. Use float for measured or calculated quantities — lengths, areas, ratios, costs. Division with / always produces a float, even when the answer looks whole: 8 / 2 is 4.0, not 4. Mixing the types also produces a float, so 12 + 3.6 is 15.6.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40C2250B-F70C-4168-BAF6-8645D8A4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42184261-7DDD-40D2-83F6-AFA59A81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E90576D6-6BDD-4900-A83D-A0433FF0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height_m = 3.6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60DE3AD4-481E-40A8-89D6-F73AF390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storey height is measured, so its decimals carry information. Every quantity calculated from it — wall area, opening ratio, cost per square metre — is also a float, because one measured value turns the whole chain into float arithmetic.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Writing 3.6 rather than 4 is a claim about the survey, not about tidiness.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5B1B0EB5-6479-47D8-9E92-18C3267A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FE2425E4-AAA7-4FAA-8282-C8AF389E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B465936B-6637-415C-8A7D-E144AE09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Floating point describes how the value is stored in binary, not how many decimals you see. Python fixes the type; the digits printed are a separate choice made later.</a:t>
            </a:r>
          </a:p>
        </p:txBody>
      </p:sp>
    </p:spTree>
    <p:extLst>
      <p:ext uri="{BB962C8B-B14F-4D97-AF65-F5344CB8AC3E}">
        <p14:creationId xmlns:p14="http://schemas.microsoft.com/office/powerpoint/2010/main" val="104000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74AEB33A-593F-4C43-BB60-D23976D2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B17B3F-41F5-4C17-A6FE-A1FB128B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Use type() to inspect what Python sees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7705F-A8CE-4412-B25B-D336C14F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2C2EE49-6F97-4491-B956-2CC729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B640B59-5309-4F9A-8A74-A8F5059D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2B68538B-6FC3-4918-A617-C1A70EA3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1B02C0A1-6C9B-495A-8C7E-F4DC9A91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floor_count = 4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height_m = 3.6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material = 'brick'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is_exterior = True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 =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print(type(floor_count), type(height_m))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print(type(material), type(is_exterior), type(result))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8B619-DC42-4D43-814A-3993DB16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DDE8B974-B948-4325-880F-94F15E8D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256F8482-6763-4FAA-BFA7-190E5E17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&lt;class 'int'&gt; &lt;class 'float'&gt;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&lt;class 'str'&gt; &lt;class 'bool'&gt; &lt;class 'NoneType'&gt;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9F6EA305-842B-4D78-9A21-7BF4AFFE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146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Inspection is evidence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6FB01C24-1139-423F-9FB3-43A174C6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12211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Do not guess during debugging. type(value) reports the object type and is especially useful after input, file loading, or AI-generated code. None's type prints as NoneType — the two spellings name the value and its type.</a:t>
            </a:r>
          </a:p>
        </p:txBody>
      </p:sp>
    </p:spTree>
    <p:extLst>
      <p:ext uri="{BB962C8B-B14F-4D97-AF65-F5344CB8AC3E}">
        <p14:creationId xmlns:p14="http://schemas.microsoft.com/office/powerpoint/2010/main" val="19132839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F9BACF72-0D57-4759-9FFA-593129BA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8E4174-B502-444D-90A2-9FF40681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literal is a value written directly in the 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E3758-6160-4450-9984-99B2E093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CF810D8-6AE5-4806-BA87-A220DA8B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BD34BC1-09F8-47E1-82C3-732D8190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D2D66F97-CB56-4A8A-BEB7-B2574212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F121C4A2-09EC-4B18-B3CA-136D03F4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literal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592E9-C9E2-4B50-B053-A93FA8C8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11191936-519E-4D6E-8D16-185F0AA0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value typed straight into your code instead of being calculated, converted, or read from a file. 4 is an integer literal, 3.6 a float literal, 'brick' a string literal, True a Boolean literal, and None is the literal that stands for no value yet.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06A978CF-4900-4690-AB2A-432D669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8D0294D3-4389-46E1-A030-BA4A9EF3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01345048-46D2-490D-B3A4-B5406C95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height_m = 3.6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8878D4B7-FB6B-4024-B45C-547F154A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3.6 is the literal; height_m is the name. A literal supplies raw data and a name supplies context. The literal 3.6 becomes architectural evidence only when a name, a unit, an assumption, and a source explain what it represents.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Every number in today's facade calculation begins as a literal that somebody typed.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9BF203D6-3A62-4425-A08C-E1FD16DD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C706D9B8-58DA-491E-AC71-2CEBF935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7306F426-A223-478B-BE80-E607489B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Quotes decide the type: 3.6 is a float literal, '3.6' is a string literal. They look almost identical in the Editor and behave completely differently.</a:t>
            </a:r>
          </a:p>
        </p:txBody>
      </p:sp>
    </p:spTree>
    <p:extLst>
      <p:ext uri="{BB962C8B-B14F-4D97-AF65-F5344CB8AC3E}">
        <p14:creationId xmlns:p14="http://schemas.microsoft.com/office/powerpoint/2010/main" val="16001357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DC2C3004-0852-491E-A4D1-6E8FDDAC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RECALL · WEEK 1A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167CA8-0D08-4B87-BFE6-D11639AF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Recall: reassigning a name does not rewrite the past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4D47B-24F3-48DC-BE74-466C1908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99702D9-6D28-4EF7-A1AF-B3161A95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9A5E226-CD95-4CCA-A779-A90E7A25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398DAE36-FB84-4DFE-8B4F-2FBA0520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A9D53C68-AE09-4B36-AF7F-EC368B5E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variable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235A8-DD46-4082-8362-AF7636FF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19129A39-7994-477E-BA32-FA611EB8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19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from Week 1A: a variable is a name bound to a value by assignment, not mathematical equality — Python evaluates the right side first, then binds the name on the left to that result. Writing the same name again does not edit the old value in place: it makes the name refer to a new value, and anything already computed from the earlier value keeps its old result until you recompute it.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51243914-2955-473E-80B7-CDA85597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44DF52A9-9F9F-4F5B-960B-1823DDEB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4BE24A55-131F-4CC3-A9D0-3F151296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length_m = 9.0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A8814E77-A473-41A4-862F-4FB1DB03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Reassignment. Writing this later makes the same name refer to a different value; the earlier 8.5 is simply no longer reachable through that name. Nothing you already calculated from length_m changes on its 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Watch the Variable Explorer as this line runs: one row, one new value.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0ECD3909-31CF-404E-BFB2-E5A97B0E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6A654AA0-C8AB-4894-8FD3-1B6395CD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C3FDB9F0-AA48-417D-81FA-5E70A772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variable is not a live formula. If area_m2 was calculated from length_m, changing length_m afterwards leaves area_m2 at its old value until you rerun that line.</a:t>
            </a:r>
          </a:p>
        </p:txBody>
      </p:sp>
    </p:spTree>
    <p:extLst>
      <p:ext uri="{BB962C8B-B14F-4D97-AF65-F5344CB8AC3E}">
        <p14:creationId xmlns:p14="http://schemas.microsoft.com/office/powerpoint/2010/main" val="17930776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5CABCD88-E73F-4BD0-B77C-6A4ED960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BF72041-B94E-45B6-8166-6B84048D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an assignment from the right side back to the name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F6778-1324-4E58-88EF-36CB1D1E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E5D8F14-46BB-4437-9C78-B22DB0C4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BF00A2C-01DB-4078-A522-0CA44496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1040D475-DE35-407B-9619-FDB3E1D2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C5BD7315-529D-4D9A-A9A3-5172ED1C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57400"/>
            <a:ext cx="624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area_m2 = length_m * width_m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5E6CF-CF06-47B9-AF5E-5D6827FE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479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A258825F-475E-44B3-AB5E-6863475C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9A513F78-C462-4112-BABF-940C0D97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CA6670CB-E737-408C-A7B9-7870E660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283C5577-D9EF-4A74-94A3-3934D4DF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1340788C-D026-4AE0-9AB5-3472B53D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new name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1E2778D6-A5C0-4C78-8960-97FBB90C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90138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Created by this line. Nothing was stored here before.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D9637-FA48-44FD-9B96-7658879D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47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8293F31F-CE3D-434D-BE5D-E8D759CC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9AA89D12-1DDF-4DC7-B2D6-2242C0AC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9F797E81-6062-4D13-921F-1E4F1080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7289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E8D5E7F1-A313-4AE9-B8C6-676024E4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1099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61107455-CDA6-4184-8F56-9976B3BC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5384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D49C0A5E-CF32-409C-9F9E-9C8C9FF1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34078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Read it as 'becomes'. It never asks whether two things match.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BA5B9-9728-4325-8FF9-9EC53A9F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79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44225F3C-EE4C-4BB8-9567-5568677A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2F42BD69-D4B9-478D-A08F-69D7437B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F316441A-DFE6-44C5-8754-E4E2796E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1D9584A4-BEAD-42C9-9AB5-4B9005F7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21762BC8-A124-48A6-B114-D0117D3C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Looked up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7D3D31A1-E3C2-4309-838C-D9E2C03C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90138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Python replaces the name with the value it holds now.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5412A0-17D1-4ADB-87AE-96B3CED4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47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A7495277-5A2A-4B19-B9EA-56D1A518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15A838BA-F650-4BB2-A299-6883F8D5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A689D79D-DB11-4960-8811-11997F18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289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ADBE4ECF-DEE1-4B6A-B9D0-B66AB80D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099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9A5BC47C-3E3B-4FE2-83F4-7FF7841A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384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operator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8F708ED1-D64B-44D5-85BF-4E6070CD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34078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 times m gives m², so the unit changes here too.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700CA8-8E47-4486-8E73-3F7496B1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479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7" name="part-chip-4">
            <a:extLst xmlns:a="http://schemas.openxmlformats.org/drawingml/2006/main">
              <a:ext uri="{FF2B5EF4-FFF2-40B4-BE49-F238E27FC236}">
                <a16:creationId xmlns:a16="http://schemas.microsoft.com/office/drawing/2014/main" id="{DAA6AE80-54C9-4C0B-8FE0-2B550977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rt-chipno-4">
            <a:extLst xmlns:a="http://schemas.openxmlformats.org/drawingml/2006/main">
              <a:ext uri="{FF2B5EF4-FFF2-40B4-BE49-F238E27FC236}">
                <a16:creationId xmlns:a16="http://schemas.microsoft.com/office/drawing/2014/main" id="{AD9CC169-2B9E-4E65-AFD6-CE0739EB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9" name="part-lchip-4">
            <a:extLst xmlns:a="http://schemas.openxmlformats.org/drawingml/2006/main">
              <a:ext uri="{FF2B5EF4-FFF2-40B4-BE49-F238E27FC236}">
                <a16:creationId xmlns:a16="http://schemas.microsoft.com/office/drawing/2014/main" id="{A65A01E9-E64A-44A3-BBD6-AB6C92EE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rt-lchipno-4">
            <a:extLst xmlns:a="http://schemas.openxmlformats.org/drawingml/2006/main">
              <a:ext uri="{FF2B5EF4-FFF2-40B4-BE49-F238E27FC236}">
                <a16:creationId xmlns:a16="http://schemas.microsoft.com/office/drawing/2014/main" id="{A00D21C0-E86B-42B1-A209-BF50B6F6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part-head-4">
            <a:extLst xmlns:a="http://schemas.openxmlformats.org/drawingml/2006/main">
              <a:ext uri="{FF2B5EF4-FFF2-40B4-BE49-F238E27FC236}">
                <a16:creationId xmlns:a16="http://schemas.microsoft.com/office/drawing/2014/main" id="{53FBC2C7-6233-4D3F-8904-8952750B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Unchanged</a:t>
            </a:r>
          </a:p>
        </p:txBody>
      </p:sp>
      <p:sp>
        <p:nvSpPr>
          <p:cNvPr id="42" name="part-body-4">
            <a:extLst xmlns:a="http://schemas.openxmlformats.org/drawingml/2006/main">
              <a:ext uri="{FF2B5EF4-FFF2-40B4-BE49-F238E27FC236}">
                <a16:creationId xmlns:a16="http://schemas.microsoft.com/office/drawing/2014/main" id="{D3A67E2D-DFF7-444B-AD83-7CB0E4EC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90138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Reading a name never alters it. Only the left side is set.</a:t>
            </a:r>
          </a:p>
        </p:txBody>
      </p:sp>
    </p:spTree>
    <p:extLst>
      <p:ext uri="{BB962C8B-B14F-4D97-AF65-F5344CB8AC3E}">
        <p14:creationId xmlns:p14="http://schemas.microsoft.com/office/powerpoint/2010/main" val="5440011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66BD91AD-26EF-472E-A666-593B558C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8C749C0-E27F-4361-A925-2EBEC8FA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Assignment evaluates the right side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C0DC6-202C-46E7-BA6B-B8B9BC0F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1047E6A-84E7-4B4D-B63A-53ECEF75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B2F1385-1021-4C92-9394-50EE291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CFAEC2CA-9ABF-49C8-AE11-8D147CD7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F479A6E2-DE95-43DA-AFAB-1554D76F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length_m = 8.5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width_m = 5.2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area_m2 = length_m * width_m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width_m = 6.0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print(area_m2)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BB650-4A83-4E31-B126-8C35D8B7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E3CE24C0-1AEE-4C78-87F8-8F995EB4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4B6FD6B6-BACE-4ADE-AB62-9F06B1CD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44.2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108E434A-8AFD-4EDD-87D1-7C42C5C0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does not update itself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86D0BE88-F4B6-4827-A662-3FA5AB39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7872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area_m2 keeps the earlier result. Changing width_m later does not recalculate prior statements. Execution order creates program state.</a:t>
            </a:r>
          </a:p>
        </p:txBody>
      </p:sp>
    </p:spTree>
    <p:extLst>
      <p:ext uri="{BB962C8B-B14F-4D97-AF65-F5344CB8AC3E}">
        <p14:creationId xmlns:p14="http://schemas.microsoft.com/office/powerpoint/2010/main" val="16592945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C846F240-0722-4CDD-BD98-3AE3C2A6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9235FC-83DF-4864-A02A-6529A172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Names should reveal concept and unit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2D796-D3C1-4D61-89C2-31FC70B4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9D7D791-45CF-4D92-B8F6-4EA14307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D092680-0844-4340-950B-77DAFBA6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AD85473D-36D6-4476-BC63-F5EB25C7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Readable (snake_case)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899EE643-037F-4FB4-8F5D-4FCE0D85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6936"/>
            <a:ext cx="5219700" cy="1932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snake_case: lowercase words joined by underscores, e.g. wall_height_m.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wall_height_m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window_area_m2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floor_count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is_accessible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003A1B21-5BDE-418C-B96D-936F7C9A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Risky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61A1A417-E9EF-4D32-8888-7AB6E706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6936"/>
            <a:ext cx="5219700" cy="219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Legal but poor style: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h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value1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windowAreaInSquareMetersMaybe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Illegal — SyntaxError: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2nd_floor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7208642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A946F08-3BB3-4CE7-B4D0-4CFF8285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B8E634-CC0D-4EB4-A525-8BADE172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Arithmetic operators encode the calculation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F4651-6BC9-4267-A5EF-F3BCBFAD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DF98B35-8B5E-450F-B285-977A9382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F9A126B-DBA0-4837-B698-4E00835F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EC2F4731-6B71-4A13-8BB0-836842B0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2CA3CD81-0E4C-4981-9AE4-57C2D935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wall_area_m2 = 12 * 3.0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opening_area_m2 = 1.8 * 2.0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net_area_m2 = wall_area_m2 - opening_area_m2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ratio = opening_area_m2 / wall_area_m2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panels = 4 **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print(net_area_m2, ratio, panels)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40B89-2235-4F59-80A2-3918DDAF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9C840C72-5A27-407C-B190-6EFEB71E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36D61DF8-EA9D-48AC-A7A5-CCCCB60F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32.4 0.1 16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0E06E600-C1FE-4BD7-8219-8F6050E4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Every operator has meaning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E1E5D6A9-A948-497F-8A77-387F2CEF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7872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+ adds, - subtracts, * multiplies, / divides, ** exponentiates. An expression combines values, variables, and operators to produce a new value.</a:t>
            </a:r>
          </a:p>
        </p:txBody>
      </p:sp>
    </p:spTree>
    <p:extLst>
      <p:ext uri="{BB962C8B-B14F-4D97-AF65-F5344CB8AC3E}">
        <p14:creationId xmlns:p14="http://schemas.microsoft.com/office/powerpoint/2010/main" val="2115047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CA1D53A3-A6D4-4B64-A4A8-9CFF45E6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79A1C4-27E3-46C0-9EDD-8B675A28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Multiplication happens before subtraction, always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CD64F-D6EB-4883-84E9-7718694C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97A238B-5AA6-4355-B049-2A070A6A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38CBFBE-6D24-483C-8F2D-AC04AEC1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F805F1B9-6551-469C-B77D-ED971C5E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114E45D9-DBF9-4881-A79F-25CBF789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gross_m2 = 12 * 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opening_m2 = 6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openings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net_m2 = gross_m2 - opening_m2 * openings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print(net_m2)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706B8FE6-BFEA-417F-B865-B7BCC278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does this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EB33B558-9A93-45C9-BCD8-B9F3DCB6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4EE5B0B1-C4AD-4153-B05D-0816234D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A3CE6B72-829C-4929-A87B-D33AD6E7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60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DD1D67C8-B35F-46AE-8AF6-38F6324C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CBAF7137-1AAC-4613-B25D-AF1ED779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557A5BCE-6E3F-4977-9CF5-9375189E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3F4FBB0F-4F5F-421B-9881-91CCBC42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908BA693-09A9-4676-8D10-0C1093E1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7C27D1FA-7E09-4542-B7C8-FF37A135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21A01A5B-326C-460A-90E3-C78A0C4B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8E147CF4-DB58-4137-9333-CAE86DDE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D132C6FC-BBEF-405A-A6A9-86CF1574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24.0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6903CA48-86D7-4E02-9D42-FFC67BAF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5DE58AA6-A0B3-4CFD-9F8E-3FE4A9B0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C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54CE41D1-6ED5-457F-AF0E-80C6E76B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* runs before -, so two 6 m² openings come off the wall. Reading left to right gives 60. int stays int.</a:t>
            </a:r>
          </a:p>
        </p:txBody>
      </p:sp>
    </p:spTree>
    <p:extLst>
      <p:ext uri="{BB962C8B-B14F-4D97-AF65-F5344CB8AC3E}">
        <p14:creationId xmlns:p14="http://schemas.microsoft.com/office/powerpoint/2010/main" val="8341614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75629DDA-000E-4D04-89A6-5CDD7512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1E4A4E9-147E-4F26-ACF8-B21ADF28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Precedence determines which operation happens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F2D0B-D2E4-4664-A194-18DD1497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8C8DE97-0E84-493D-9001-20438027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75995A5-1351-4897-ACC7-5493B943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5383D95E-A377-4AB6-91CD-D571EE06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5345C60A-EB5A-4A69-9B50-5650FE51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result_a = 8 + 2 * 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result_b = (8 + 2) *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print(result_a)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print(result_b)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89564-A782-4BAC-8693-A77962A1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00B4E13D-C0FC-40D5-A1EC-30FC7EB7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90131D72-E2E9-4781-9394-51A1A14D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14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883D53D5-96CF-4611-90DC-C8EA90FD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908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Parentheses expose intent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EB183811-FAA6-49C9-A090-836F4CD0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88411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Exponentiation precedes multiplication and division; those precede addition and subtraction. Parentheses override the default order and communicate the intended grouping.</a:t>
            </a:r>
          </a:p>
        </p:txBody>
      </p:sp>
    </p:spTree>
    <p:extLst>
      <p:ext uri="{BB962C8B-B14F-4D97-AF65-F5344CB8AC3E}">
        <p14:creationId xmlns:p14="http://schemas.microsoft.com/office/powerpoint/2010/main" val="8878948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4F3631EA-F37B-4278-9ED3-573A0C63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742380-E099-46DD-B572-056733E7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Units are part of the data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95387-0524-46BA-9426-69C1C3E1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157B594-9B73-440A-8EDB-F1C8B48D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58EBE97-FCBE-4B3F-BAD4-E55ECD3C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D916D8A4-EE4F-4D83-9B7F-F506FDFD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9829800" cy="1063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Python can multiply 10 feet by 3 meters without objecting.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DAE51-EDE2-48C7-A2B5-F8EBA3B0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1227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79E5FCDD-8744-4F1A-85EE-4110BFF9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5077"/>
            <a:ext cx="93345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successful execution does not guarantee a meaningful architectural result. Encode units in names, normalize inputs, and label outputs.</a:t>
            </a:r>
          </a:p>
        </p:txBody>
      </p:sp>
    </p:spTree>
    <p:extLst>
      <p:ext uri="{BB962C8B-B14F-4D97-AF65-F5344CB8AC3E}">
        <p14:creationId xmlns:p14="http://schemas.microsoft.com/office/powerpoint/2010/main" val="7081675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B23AA97E-53CA-49B4-AAD0-2BB87C3F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436B90-881D-4B81-92B0-77F79A49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Convert units explicitly and preserve provenance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66D4A-01B5-4236-9732-14E9EFC0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101BBB9-9909-4644-A6FF-A2F6037E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4BA7A04-1E27-49CB-9101-3C41A376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D462075-107A-4A1A-99EC-E353041D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F6424BEA-F96F-42B3-B8AA-EFA38EA1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length_ft = 25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feet_to_m = 0.3048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length_m = length_ft * feet_to_m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print(length_m)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57C59-9224-4A11-A5D1-17CA3923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5987AE9D-08D9-463E-BF5E-03708E2A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FF0E28DA-BB98-4016-A6D6-A644AB73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7.62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98F36BE0-69A9-41B6-8F1B-CDF93268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670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Transparent conversion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4DA84C88-E352-4846-BC93-F5EA562E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64611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Keep the original value, name the factor, store the converted result with its new unit, and compare with a rough estimate. Do not overwrite away the source value.</a:t>
            </a:r>
          </a:p>
        </p:txBody>
      </p:sp>
    </p:spTree>
    <p:extLst>
      <p:ext uri="{BB962C8B-B14F-4D97-AF65-F5344CB8AC3E}">
        <p14:creationId xmlns:p14="http://schemas.microsoft.com/office/powerpoint/2010/main" val="18373501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FA0E8DD0-57AF-47AF-B435-07F852B2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7E1B17-0872-41A6-8C18-7854236B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Similar-looking values can have different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2D360-9228-4E24-AADD-D96033B8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AB793ED-3E93-4CB7-81D5-AD880002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42D9567-329D-4C6E-8426-CB19B3B5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003E3-B6E5-4466-BF4E-40F4182E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2027694E-4A95-4F42-9F47-35184D99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3A237-E705-4F84-B4A5-5163ACC6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38425"/>
            <a:ext cx="1114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8042458A-D4BE-450E-BA25-4765A812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14625"/>
            <a:ext cx="885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0AAD4-B36D-4FB2-BA5C-CEA9B3C1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38425"/>
            <a:ext cx="48291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853F902E-B02D-4E13-A0AE-14469AAC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14625"/>
            <a:ext cx="460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meaning and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7C65D-A270-4B19-9512-D9920260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C8B61F83-6B2A-4567-A152-214E2F1C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9D22D-F926-419C-B979-6E92162A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71825"/>
            <a:ext cx="1114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E59A1155-6C82-46CB-BA9D-855E0643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48025"/>
            <a:ext cx="885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90E29-917B-4BAC-A13A-656FB41C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171825"/>
            <a:ext cx="48291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67EAFE4A-4536-49BC-A70F-50319F28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48025"/>
            <a:ext cx="460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whole number; arithmetic is available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C454E-E635-4BE2-B2CD-6D91F56E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8A1F0DC0-431F-439E-A32D-55DD9B5A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5.0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A1A21-B76E-4389-BC96-162A0E1A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05225"/>
            <a:ext cx="1114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A8A4F3A8-2472-40A2-B369-ED3D166B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81425"/>
            <a:ext cx="885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float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187BA-B5A2-4D75-AB7B-2FD86F93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705225"/>
            <a:ext cx="48291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F3FB8C73-85A7-4CF0-AB33-767D6B79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781425"/>
            <a:ext cx="460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decimal number; measurement calculations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6702BB-85EC-4D2C-826B-42925FE4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CD0BB924-510F-4B38-82CA-9E517FB1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'5'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FD68D2-1D34-44D9-8C04-8249803E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38625"/>
            <a:ext cx="1114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A69069EF-8AD3-41D6-9A43-EA668C4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14825"/>
            <a:ext cx="885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103834-B733-4E99-8EC1-B5A50C09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38625"/>
            <a:ext cx="48291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5321B4B3-9155-4082-A918-3B1710C9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314825"/>
            <a:ext cx="460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text character; quotes make it 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B87EF3-254B-47DC-A580-157DD490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184A533D-3E89-48BD-8694-38BAC49C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D6A853-AC62-4D47-894E-C4BBBABE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72025"/>
            <a:ext cx="1114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13A36F51-1F78-4833-81F1-D6A513E1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48225"/>
            <a:ext cx="885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bool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BADCCE-8A92-4ADD-8CCB-5DA804FF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772025"/>
            <a:ext cx="48291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210F1E62-9C73-4276-932E-6608706F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848225"/>
            <a:ext cx="460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truth value used by decisions</a:t>
            </a:r>
          </a:p>
        </p:txBody>
      </p:sp>
      <p:sp>
        <p:nvSpPr>
          <p:cNvPr id="3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5E277A34-B0BF-489B-AB3B-97A7641A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7" name="callout">
            <a:extLst xmlns:a="http://schemas.openxmlformats.org/drawingml/2006/main">
              <a:ext uri="{FF2B5EF4-FFF2-40B4-BE49-F238E27FC236}">
                <a16:creationId xmlns:a16="http://schemas.microsoft.com/office/drawing/2014/main" id="{E15DF942-912C-4891-8E50-4301215B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Type belongs to the value, not to the visual appearance of the characters.</a:t>
            </a:r>
          </a:p>
        </p:txBody>
      </p:sp>
    </p:spTree>
    <p:extLst>
      <p:ext uri="{BB962C8B-B14F-4D97-AF65-F5344CB8AC3E}">
        <p14:creationId xmlns:p14="http://schemas.microsoft.com/office/powerpoint/2010/main" val="9155327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30A6FF36-A24D-4487-A5D5-5DF380F1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3314BF-2BB5-422A-BF44-A654706D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string is text enclosed in quotes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1D219-1C45-4BAA-BEA1-F6E59CA9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6977319-0446-47C6-996B-73F46D9B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69DD744-3ED4-439F-BACF-D3839087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3B614698-22BF-42A9-B76F-54EB293B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275B6B73-BEEC-465D-BDCA-49A2D8CB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 = 'Studio'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level = "Second Floor"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label = room + ' — ' + level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print(label)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6BE30-6B2F-4A99-890D-0E1EFB57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DE1A9C3E-A3EA-47FB-9FDF-3F6D0542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7C52C8E6-469B-43F3-B50E-598F5D84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Studio — Second Floor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DD5F4C8F-C854-49D2-BE0A-D6665CA9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908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Text has operations too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3E5B57B9-80E4-48F4-8FBE-4719FFBB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88411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string stores letters, digits, symbols, and spaces as text. Single or double quotes delimit it. + concatenates strings; arithmetic requires a numerical type.</a:t>
            </a:r>
          </a:p>
        </p:txBody>
      </p:sp>
    </p:spTree>
    <p:extLst>
      <p:ext uri="{BB962C8B-B14F-4D97-AF65-F5344CB8AC3E}">
        <p14:creationId xmlns:p14="http://schemas.microsoft.com/office/powerpoint/2010/main" val="447743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E12F2788-66BF-46E3-930E-FD22438D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048141-0616-44E0-A9EB-FA03CE41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f-strings make calculated output readable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EC41C-EC6A-4256-8998-C9F01974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9EADB84-BA87-4DDC-995A-0DAA9311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67B3C7E-818A-4F9C-ABBE-55CE38F8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A2F08FF-BB46-462F-B332-E86F0DCF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8344A649-B109-4F7A-B848-33BC6373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 = 'Studio'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area_m2 = 44.234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message = f'{room}: {area_m2:.1f} m²'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print(message)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43DCF-C23E-4DAE-99A7-5F25552F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48423C12-55A3-4617-93B1-A3ABCD9D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D250549C-48B1-49CD-8C2A-8F71C91B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Studio: 44.2 m²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350413E2-23F7-4F23-B84E-F4F42F5B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908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Format the evidence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94401D6F-6A60-4A69-A659-3F2B7C60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88411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Prefix the string with f. Place expressions inside braces. :.1f requests one decimal place. Formatting changes display—not the stored number or its accuracy.</a:t>
            </a:r>
          </a:p>
        </p:txBody>
      </p:sp>
    </p:spTree>
    <p:extLst>
      <p:ext uri="{BB962C8B-B14F-4D97-AF65-F5344CB8AC3E}">
        <p14:creationId xmlns:p14="http://schemas.microsoft.com/office/powerpoint/2010/main" val="16614066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2CD51B12-3155-4ABE-BF52-EB836776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B4C1F4-5E6F-40C1-84CC-AD816E60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 f-string is a template with slots for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4D760-9E9F-453E-AB42-9D75214A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321243D-7D4E-47A3-98D1-36AA703D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685F00C-F7C8-4501-A2A5-566C4229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A60F4680-6C21-42AC-8D4F-6D117C62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92126D81-9E19-43EB-B8BD-E3A83209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0574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message = f'{room}: {area_m2:.1f} m²'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79EB2-EA5D-4C19-8FB6-29245B53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EAC1BD80-F274-425D-9CC1-5FCBC273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3675CC4A-21A5-4778-9109-5053619B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CA01E78F-8D63-4938-BD98-3A15C67B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4657AE7F-CF75-43D8-BD7E-80E97F2A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BC2CB1DD-D4B6-4A8D-AC05-136DD91E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f prefix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DD4376E5-6264-4D4F-9133-C714F424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90138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Without the f, the braces would print as literal braces.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C1430-67AA-4CF1-8F69-F1938BD4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479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D19325D8-F97D-4552-9FC5-949FB2BE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DF3562B5-762F-4B89-B0CD-9634FC02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80BD7145-CD05-407D-990E-A86CB804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42994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6ED6965D-975C-4AFA-9F83-7AF1F59C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81094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E7439AAC-2CEA-4138-A0BF-9E441953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3944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slot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DE3A670E-BAAB-4C2C-AB3B-F821178F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04182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value of room is looked up and dropped in as text.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6444E-E3B6-4F45-8A9A-857F8CED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47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4F74FD24-120E-4EAE-95CF-32F95DFD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32265A7F-855F-4B39-A757-4C82F702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C41CD83F-6C9D-4735-8266-AA316B83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BE826A65-8AAA-4046-BB16-EE0388B7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49AD9899-1402-4C1A-99C9-6D0A360C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9900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Value + format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A636CFD7-9449-4B01-B071-8C50EF38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637026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same slot, with :.1f added to show one decimal.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3760A-BB83-4668-9706-CD71E486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47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F8DF4713-462A-4999-8192-43DD04FF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6E559E2A-8D02-4FD4-ABF0-084300CB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04DA6050-508A-467C-BD6A-DF5D8BD0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42994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B1580A7A-CBDE-40BB-BD17-9225A040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81094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87FA7674-8048-41DE-88DC-5A953855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23944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Literal text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B2D70793-D481-435C-B896-E39AFF04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04182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Anything outside the braces prints exactly as written.</a:t>
            </a:r>
          </a:p>
        </p:txBody>
      </p:sp>
    </p:spTree>
    <p:extLst>
      <p:ext uri="{BB962C8B-B14F-4D97-AF65-F5344CB8AC3E}">
        <p14:creationId xmlns:p14="http://schemas.microsoft.com/office/powerpoint/2010/main" val="11339359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D32696A4-BCE8-429B-9E3A-9639BB94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7F721A-3D0B-44FE-AE9A-B2DCD5B0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Text input must become a number before calculation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6711C-8D4E-4C7C-9396-34550241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97C8779-809E-4D7E-A00E-148C8319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9D93C14-D554-4765-B007-EF486293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1B069D8-3EDD-4485-ADD6-9503EBEE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F555850E-5F73-46CC-8A71-31829AAC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width_text = '5.2'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width_m = float(width_text)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print(width_m * 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52EDF-4687-415B-B63B-DF1097E6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6CE151A8-AA8F-4EBF-9E7C-F9420B8C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BFD5B3D5-34A1-481A-8F4D-AA58529D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10.4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135786BB-68C8-4D21-856E-B112B91B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908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Conversion is explicit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254F602C-C3B7-4469-9144-E7582574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88411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input() returns text. float(text) converts compatible decimal text; int(text) converts compatible whole-number text. Invalid text raises an error and must be handled deliberately.</a:t>
            </a:r>
          </a:p>
        </p:txBody>
      </p:sp>
    </p:spTree>
    <p:extLst>
      <p:ext uri="{BB962C8B-B14F-4D97-AF65-F5344CB8AC3E}">
        <p14:creationId xmlns:p14="http://schemas.microsoft.com/office/powerpoint/2010/main" val="15471656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2B9AC60C-B012-4538-AF94-AC552F59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2943C6-BEAC-45E5-A825-61B43A66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Boolean stores one of two truth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C6959-23BE-4C81-A90B-35345B05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D4D87CF-1700-4A9D-904B-88834D78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989CBDB-2877-49E5-8E2B-DBCE7862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78C9FC7-951C-429D-8460-CC396A02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CE093B49-9EFC-4F13-B4D2-D7BAB60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has_daylight = True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needs_review =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print(has_daylight)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print(type(needs_review))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AD5C2-A155-466D-B1B7-3EA92C82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6FDB791C-1293-42B7-A027-F0DF1078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16717670-B563-448A-98FB-FED21090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True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&lt;class 'bool'&gt;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93615063-B813-466A-B2A6-9167C2D9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908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Boolean is not text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E64F1364-E6D2-4DA2-A5DB-E1BF6B85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88411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bool is Python's yes-or-no data type. True and False use capital first letters and no quotation marks. They often result from comparisons and control later decisions.</a:t>
            </a:r>
          </a:p>
        </p:txBody>
      </p:sp>
    </p:spTree>
    <p:extLst>
      <p:ext uri="{BB962C8B-B14F-4D97-AF65-F5344CB8AC3E}">
        <p14:creationId xmlns:p14="http://schemas.microsoft.com/office/powerpoint/2010/main" val="186699900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9D9A3D67-2D76-4121-ADAC-AA3B2E90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AA06CD-6C09-453E-9B67-C42D6843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Comparison operators ask precise yes-or-no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278E3-D21D-4E20-88DD-147E269C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C715195-9C91-4C2D-8DBC-345B016A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341B91-38F6-43BA-87A5-2D239101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5E5C8-9680-412E-B267-77CC0B58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E934682D-BD05-4FD1-A134-352B7CA3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A6532-5166-4541-B8D9-90997FB5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384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45731307-914A-4A18-9220-5F48D1E9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146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44984-C9B6-4676-835C-A03A8CBF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384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01225E01-B5F0-4D17-9242-FFF2AA25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146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5B278-B760-4C4A-9C8B-C394806D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D0D5C048-B9A2-48E6-8611-40B91A2A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==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05DD4-563D-49E2-A21E-CF4806DE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718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5ABA640A-731A-42E9-B8AA-AE2FA161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480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 the values equal?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8BE4C-1ECB-45FE-9CB9-780E95A5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718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6EA4A60E-0846-437C-AD2A-B663FD94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480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material == 'brick'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439C3-56C8-421F-8212-D274CE58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4765DBE4-64B3-4BF9-BDEF-87BC12B8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!=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4BBF19-76F4-4931-B8B5-E4157C5B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052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25202910-309E-4B09-9802-C574BF27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81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 the values different?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B7DA4-E62E-4938-8C2F-34E2C48B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052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334B759E-389D-42D4-9127-E660B902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81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level != 'roof'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F8942-E9C0-4174-80FA-FC7E6784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2F0B86C0-93AA-46CC-9752-5398CCFB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&lt;  &lt;=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FF7C3F-325C-45A1-A22E-74D478B4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3862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17F10CBE-3AE7-4D1F-964D-D4991619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1482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is the left value smaller?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89E5B5-6016-45D9-A11E-7501E489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3862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B4903F39-8518-4C24-B3EE-94EA8A91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1482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height_m &lt;= limit_m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E946DE-4716-4056-83E5-E8F99503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964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E418125E-E17A-4A7C-98F9-F01ECCF6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584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&gt;  &gt;=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9AABB3-2293-41E8-9F06-08E714E0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7964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022540D4-3FC2-47D0-96E2-AAB63C91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5584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is the left value larger?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EF0A4D-F032-4691-8C19-F0958C09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7964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DD6F4876-B6BC-4668-BAF5-E4CA05C5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5584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area_m2 &gt;= minimum_m2</a:t>
            </a:r>
          </a:p>
        </p:txBody>
      </p:sp>
      <p:sp>
        <p:nvSpPr>
          <p:cNvPr id="3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3AE2442A-EA21-4167-9ECB-DA7D1D49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7" name="callout">
            <a:extLst xmlns:a="http://schemas.openxmlformats.org/drawingml/2006/main">
              <a:ext uri="{FF2B5EF4-FFF2-40B4-BE49-F238E27FC236}">
                <a16:creationId xmlns:a16="http://schemas.microsoft.com/office/drawing/2014/main" id="{F6F122A7-0FC4-4504-80AB-5D00FD21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Every comparison evaluates to the Boolean value True or False. = assigns; == compares.</a:t>
            </a:r>
          </a:p>
        </p:txBody>
      </p:sp>
    </p:spTree>
    <p:extLst>
      <p:ext uri="{BB962C8B-B14F-4D97-AF65-F5344CB8AC3E}">
        <p14:creationId xmlns:p14="http://schemas.microsoft.com/office/powerpoint/2010/main" val="155242492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EB945C53-DFF0-4ED3-85F9-BE721403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DE7FF1-44DE-4403-8D02-66762827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Comparisons produce Boolean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F2365-D52D-4E0C-BE00-422BED55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076144F-9C2B-406F-8CEF-1F3AB2AF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894DA47-9948-49F3-8348-BE87893A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6C70552-0B40-4EBB-BCB7-E070D54B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E17CAC71-CB71-4FB0-8853-2417C1DF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area_m2 = 44.2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minimum_m2 = 40.0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meets_minimum = area_m2 &gt;= minimum_m2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print(meets_minimum)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24B65-451C-4438-864D-6EF827CB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B516A299-CF8E-402C-9B9A-73CEC07C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43A0ACEF-25F7-4647-8CCA-AED83969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1940744E-CD17-4A9C-8B17-62C2F4DA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Comparison is not a decision yet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BA07DB66-5102-4E4C-9509-BF1758CE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expression area_m2 &gt;= minimum_m2 asks one question and returns True or False. It records evidence; a conditional statement introduced next week decides what action follows.</a:t>
            </a:r>
          </a:p>
        </p:txBody>
      </p:sp>
    </p:spTree>
    <p:extLst>
      <p:ext uri="{BB962C8B-B14F-4D97-AF65-F5344CB8AC3E}">
        <p14:creationId xmlns:p14="http://schemas.microsoft.com/office/powerpoint/2010/main" val="20044696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D57C6C70-4E00-4EA2-AE67-7652CA7D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AD81F44-9BF9-465A-B31B-70266522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Conversion can change meaning or lose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B7B59-D430-48FD-90AD-04C6EFD8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B92ED97-649E-4D77-9A69-8DC10C8B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F472869-1591-46F7-A347-3DDBB8E5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AA5C0CC7-91C1-489A-9E0C-F24B5BAF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F475F2A2-3031-48B7-9A28-83C0DE9D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float('3.6') → 3.6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int(4.8) → 4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str(12) → '12'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bool(0) → False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1B12AD9A-EFB8-4A03-9535-8EEE673E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Questions before conversion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BAB48F2C-9104-4CAF-B769-4A333ADB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Is the source value valid?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Does truncation make sense?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Are units preserved?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Does the result need rounding only for display?</a:t>
            </a:r>
          </a:p>
        </p:txBody>
      </p:sp>
    </p:spTree>
    <p:extLst>
      <p:ext uri="{BB962C8B-B14F-4D97-AF65-F5344CB8AC3E}">
        <p14:creationId xmlns:p14="http://schemas.microsoft.com/office/powerpoint/2010/main" val="187386304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4B4ABFEE-E711-44C4-B3A4-CEDCF329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F230E4B-23BF-46C3-8881-A11EE30C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values that look equal can fail an equality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E91BC-3EA0-43A8-B4EC-422DBFCD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12D91F9-101A-45EB-BFA7-05E91D33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78C38CF-5313-4F18-9617-B8329F9E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F7CCCC12-7F92-4286-8AD1-6E094628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ECA5EC9C-99D7-4187-B76A-C9CBD70E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two 100 mm increments of a 300 mm grid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module_m = 0.1 + 0.2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target_m = 0.3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print(module_m == target_m)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3799AA66-E3D1-48C8-B525-A924F78B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does this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FD6731B9-B7C9-4BC3-8D0E-87C77254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0CBECA95-3620-4905-8A75-576BA362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F92757A8-3C01-410E-90C9-415CB03A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23422E37-1B60-4C8F-B440-3D3B6B22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EFE2389B-E91B-433A-A2E4-84DA72B7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E02CE330-0513-40F9-8120-B094C4E9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False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613DC262-C428-4897-94F5-16D9E95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E13460CF-9483-4420-A8CD-A25B1CF3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B1E6F211-F2BC-4D67-948D-189F1935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0.3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EDBB1634-949B-4388-B84A-1C41380B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47651942-4785-4CEB-BFF2-35D3B70D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46E510E3-1E88-458E-8F42-8A62C9AE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an error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83C65D61-36CE-4653-A347-9F0E07EB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549D379D-42D2-4C11-8F6A-48E45FF2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A5A05C73-988A-4DDC-92EE-1409DF0B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0.1 + 0.2 is stored as 0.30000000000000004, so the exact test fails. Compare rounded values, not raw floats.</a:t>
            </a:r>
          </a:p>
        </p:txBody>
      </p:sp>
    </p:spTree>
    <p:extLst>
      <p:ext uri="{BB962C8B-B14F-4D97-AF65-F5344CB8AC3E}">
        <p14:creationId xmlns:p14="http://schemas.microsoft.com/office/powerpoint/2010/main" val="14047397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0C4D8D52-992C-412D-A2FE-A189365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51D1E3-C6FA-4360-907D-BD73E86A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Floating-point display is not measurement 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4F728-DC8D-4D16-8FAB-03EA1697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3464A34-C2BF-48E4-A541-296C0866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1353D13-123A-4FA3-A184-98D58514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BB8D96D5-3D73-4C99-909E-80495A5B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021CDB41-80EE-4B0F-BAC8-82D46BD4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module_m = 0.1 + 0.2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print(module_m)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print(round(module_m, 2))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print(f'{module_m:.2f} m')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5B9B5-7CF7-4C01-A8B8-3481BE33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CA4680D8-463A-40F5-BF90-4A11D03B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A7FA6F2A-1E1F-4EB9-A899-D44FDFE0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0.30000000000000004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0.3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0.30 m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F92338BD-FAF0-49D4-95BD-82432E08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908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Precision is not accuracy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8E8DCCBD-9082-404C-B51E-B3D843A3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88411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Computers approximate many decimal fractions in binary. round() or formatting controls displayed precision. Neither repairs inaccurate inputs or weak assumptions.</a:t>
            </a:r>
          </a:p>
        </p:txBody>
      </p:sp>
    </p:spTree>
    <p:extLst>
      <p:ext uri="{BB962C8B-B14F-4D97-AF65-F5344CB8AC3E}">
        <p14:creationId xmlns:p14="http://schemas.microsoft.com/office/powerpoint/2010/main" val="79894480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E0997427-9C10-417A-B348-1D966E1A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MEDIUM WORKED EXAMPLE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4F5ED1-9883-4BB2-B9B8-0C510D42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Worked example: one facade against a code limit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E4ED3-74E1-4251-8322-45E8BE25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89FAA76-84B2-4413-BF74-CF21F701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600276B-5079-452B-A29D-819F95D5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85A0290-36D0-4780-844F-E224F2F1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B049D460-9212-4006-9658-4F5DC973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max_ratio = 0.40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north_width_m = 18.0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north_height_m = 9.0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north_window_m2 = 42.0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north_area_m2 = north_width_m * north_height_m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north_ratio = north_window_m2 / north_area_m2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north_ok = north_ratio &lt;= max_ratio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print(f'North: {north_ratio:.1%}  meets code: {north_ok}')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3A2BF-FB43-440C-BBDC-8A98B6A9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09F5AA7C-4059-4D3C-A7CE-9B7937AF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E653456A-7F22-4806-B349-8F5EA197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North: 25.9%  meets code: 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F41EF1CC-B420-40B5-9B07-FEC7BA96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Naming the limit turns a number into a rule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D4CBA349-4FAE-433E-94EB-28F775D5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:.1% is new: like :.1f, but it also multiplies by 100 and appends a percent sign for display only. max_ratio is named once so every facade can be checked against the identical rule — no facade gets a private, undocumented threshold.</a:t>
            </a:r>
          </a:p>
        </p:txBody>
      </p:sp>
    </p:spTree>
    <p:extLst>
      <p:ext uri="{BB962C8B-B14F-4D97-AF65-F5344CB8AC3E}">
        <p14:creationId xmlns:p14="http://schemas.microsoft.com/office/powerpoint/2010/main" val="6729555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2CC2BE53-458E-425B-BBA0-E4154A88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HARD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D963FC8-7972-47F8-97AA-A7C20ADB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...continued: check a second, real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47867-B309-4550-82B2-C434A143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6191120-A24E-49FC-9CF2-E7F2154D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8144EF-B6C2-40FF-84C8-8699ABA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C6F580B5-B192-4C8B-8B64-06EB4AFE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0C62EB78-716B-42DA-8A06-5B262927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west_width_m = 12.0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west_height_m = 9.0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west_window_m2 = 54.0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west_area_m2 = west_width_m * west_height_m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west_ratio = west_window_m2 / west_area_m2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west_ok = west_ratio &lt;= max_ratio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print(f'North: {north_ratio:.1%}  meets code: {north_ok}')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print(f'West:  {west_ratio:.1%}  meets code: {west_ok}')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83322-8282-4A64-BB28-354B82D2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75D1F5A9-4A0C-4570-A266-DF9F7C55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4C02D41B-7BBF-4221-A746-47E15025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North: 25.9%  meets code: True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West:  50.0%  meets code: False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C4E5F539-FCE4-4120-83F4-86AE2619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rule, two real conditions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1D0C8A9C-4D35-45C0-9BB1-32EB7D03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Comparing each facade's ratio against the SAME named max_ratio — not a copy-pasted, re-typed threshold — is exactly the 'compare real design conditions' move Project 1 will ask for. The model still assumes one rectangular gross facade per elevation and ignores glazing type, shading, and thermal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04055013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kicker">
            <a:extLst xmlns:a="http://schemas.openxmlformats.org/drawingml/2006/main">
              <a:ext uri="{FF2B5EF4-FFF2-40B4-BE49-F238E27FC236}">
                <a16:creationId xmlns:a16="http://schemas.microsoft.com/office/drawing/2014/main" id="{3E8CE16B-B422-4622-9EC6-B9FFFF89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33D4CBB-33C6-4263-993E-08508F3E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Test cases should include answers you already know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5F567-745E-4F38-9B76-A5535F28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3D421E9-E159-44AB-81F6-1C682062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709410D-E00B-414D-B70A-DF27D3DA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95605-3C0E-413F-AFDA-0AFBF616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503AA922-01DB-43D1-BF08-31170C88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9E361-073D-43EF-82BF-075E2650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384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68DFE328-CF24-400A-A2A9-B44876C9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7146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window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C4587-E1AE-47F7-839A-FAED2173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384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EC0168EE-BD3A-4BF3-BFBD-D69885D8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146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ratio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0ED4D-7CB1-4DC0-8B4B-9FF29FEF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384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1082B313-C3EF-4D96-A06B-78919A81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146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F873F-6A39-4554-B0D4-629CFBAB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AF8CA0EA-7A9E-4965-A481-5C3FDB10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 openings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6AAD6-600A-4F53-9CC5-AADBDB58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718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0C3D33AD-2818-4B31-9128-EE653DF6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480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 m²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4B0C2-6B2C-4216-B4B9-406D4AF5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718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231D2619-0AB9-403E-9CE9-BE3D76B3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480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DD15C-82DB-413A-9AB5-160ECB0F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718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43A7C6C6-AC4E-4567-A557-899CE5F3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lower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DF7F5-0E3F-4F02-8CED-52C4B68D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191F7BB7-D273-4D2E-AA78-537D50D8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half facade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4EC63-548F-46B6-860E-FB962510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7052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284EEF75-4484-4D62-BF3A-5C3588AC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7814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81 m²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B5776-F98E-4114-AB60-6EEDB3DE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052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9C34EEBB-2D45-4947-B692-491FB387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814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CA0324-4B53-4F0A-A587-200E1706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052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9754231C-220F-4E86-B43E-353E9DAF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7814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known fraction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FB4A75-C2D4-4BC9-841F-89482401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2-0">
            <a:extLst xmlns:a="http://schemas.openxmlformats.org/drawingml/2006/main">
              <a:ext uri="{FF2B5EF4-FFF2-40B4-BE49-F238E27FC236}">
                <a16:creationId xmlns:a16="http://schemas.microsoft.com/office/drawing/2014/main" id="{CEA8A249-C618-4ADC-B51C-019F3E3C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full facade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4F4CA9-0E9A-49B6-925E-9C4E75E8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386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2-1">
            <a:extLst xmlns:a="http://schemas.openxmlformats.org/drawingml/2006/main">
              <a:ext uri="{FF2B5EF4-FFF2-40B4-BE49-F238E27FC236}">
                <a16:creationId xmlns:a16="http://schemas.microsoft.com/office/drawing/2014/main" id="{42A1DBD3-FD24-4975-BBCE-291C17B0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3148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162 m²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3876A5-1F2F-479C-98A0-B98231C4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386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2-2">
            <a:extLst xmlns:a="http://schemas.openxmlformats.org/drawingml/2006/main">
              <a:ext uri="{FF2B5EF4-FFF2-40B4-BE49-F238E27FC236}">
                <a16:creationId xmlns:a16="http://schemas.microsoft.com/office/drawing/2014/main" id="{41B074D4-D35D-418B-9667-62D60237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148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81E2D9-D116-4753-BE55-EBA3757F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2386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2-3">
            <a:extLst xmlns:a="http://schemas.openxmlformats.org/drawingml/2006/main">
              <a:ext uri="{FF2B5EF4-FFF2-40B4-BE49-F238E27FC236}">
                <a16:creationId xmlns:a16="http://schemas.microsoft.com/office/drawing/2014/main" id="{3E9BB0B8-BE37-47E0-813E-8739C7F9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148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upper boundary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AD3D53-BF43-4E31-8FA8-75EE4A09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3-0">
            <a:extLst xmlns:a="http://schemas.openxmlformats.org/drawingml/2006/main">
              <a:ext uri="{FF2B5EF4-FFF2-40B4-BE49-F238E27FC236}">
                <a16:creationId xmlns:a16="http://schemas.microsoft.com/office/drawing/2014/main" id="{5E072DE8-9538-4C7F-9065-50DACA27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too large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FB75CB-2BE8-4C71-A89A-01240A6F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7720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3-1">
            <a:extLst xmlns:a="http://schemas.openxmlformats.org/drawingml/2006/main">
              <a:ext uri="{FF2B5EF4-FFF2-40B4-BE49-F238E27FC236}">
                <a16:creationId xmlns:a16="http://schemas.microsoft.com/office/drawing/2014/main" id="{E1BDF817-651D-46AE-BA0A-26ADBEA5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8482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200 m²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7F3A55-F442-4F2A-9494-35999C4B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720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3" name="cell-3-2">
            <a:extLst xmlns:a="http://schemas.openxmlformats.org/drawingml/2006/main">
              <a:ext uri="{FF2B5EF4-FFF2-40B4-BE49-F238E27FC236}">
                <a16:creationId xmlns:a16="http://schemas.microsoft.com/office/drawing/2014/main" id="{A8DC9B42-02CC-4610-9424-3B5EB4D2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482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&gt;100%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B6C427-48B7-4F9B-804D-BE10E3C2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7720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5" name="cell-3-3">
            <a:extLst xmlns:a="http://schemas.openxmlformats.org/drawingml/2006/main">
              <a:ext uri="{FF2B5EF4-FFF2-40B4-BE49-F238E27FC236}">
                <a16:creationId xmlns:a16="http://schemas.microsoft.com/office/drawing/2014/main" id="{290AD220-A96C-4C49-B051-CBBA12BA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8482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reveal invalid input</a:t>
            </a:r>
          </a:p>
        </p:txBody>
      </p:sp>
      <p:sp>
        <p:nvSpPr>
          <p:cNvPr id="4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C22AE9BF-F9D9-4AF6-A263-9F3E0F85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47" name="callout">
            <a:extLst xmlns:a="http://schemas.openxmlformats.org/drawingml/2006/main">
              <a:ext uri="{FF2B5EF4-FFF2-40B4-BE49-F238E27FC236}">
                <a16:creationId xmlns:a16="http://schemas.microsoft.com/office/drawing/2014/main" id="{1C2917FF-6706-40E4-B913-EBC892FD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Known-answer and boundary tests make hidden mistakes visible before a model grows. Write one as code: assert round(opening_ratio, 2) == 0.5 halts the script the moment the model disagrees.</a:t>
            </a:r>
          </a:p>
        </p:txBody>
      </p:sp>
    </p:spTree>
    <p:extLst>
      <p:ext uri="{BB962C8B-B14F-4D97-AF65-F5344CB8AC3E}">
        <p14:creationId xmlns:p14="http://schemas.microsoft.com/office/powerpoint/2010/main" val="167080099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33C449B4-AEF6-4431-882D-4F0CE55B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2E33770-B46E-45DF-A8E9-6F6B8869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Trace types as well as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E2D70-D72D-422B-9962-166F152F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A3F5582-0145-4CB1-AA25-1AB502EC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11C8A2D-46DD-42C5-8E41-4979A6B0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DA466-5852-47F4-925B-5714D0F8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0907CEB5-D715-4AF4-971B-CA71E017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4AE8C-1FA6-4989-8BE0-D306787C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384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989E9C55-1500-46FF-87C0-E9986DAD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146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BED83-1A0B-4DC9-971C-1934A01A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384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AC1BEEBC-0AB9-46AC-AF24-311C0C65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146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4D062-B72E-4965-A045-7AF75AE6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5F793220-3256-4A83-BD95-DFF402B6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width = '5'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C0F58-7FC9-4CF3-8607-AA98B98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718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1B52980D-6C46-4DDE-9A79-71DCD534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480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'5'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E238A-EEAA-4102-9C2A-4D64DEF2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718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EA025F57-9B80-48D6-B80E-863B8A4E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480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76186-7B2C-4AD2-99D4-4796D2D3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0EC50AC3-A633-48C9-840E-02ACD975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width = float(width)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CF5E62-12D2-40E7-A801-91F5FD86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052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DBE27A05-2470-442F-82E8-1E5D8131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81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5.0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CCFC97-4D03-48E0-8B36-E7CAB649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052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FF6ADAE8-283A-4039-9973-55F1D76D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81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float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B4548-C0D0-4114-A743-606AEE87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AE89AFFD-BC06-4289-8203-265B23F8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area = width *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7C732B-652C-4909-A3F6-FD7DFA69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38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2AE8A0AC-8B0E-42E7-B9D8-078C32EC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148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15.0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BD11B3-29C5-460B-A875-535284D6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38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B5DAC3A1-7085-4621-A436-B7DAD756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148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float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0800F3-344C-4B3E-8A1D-86FB8952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1B037677-A7AD-4F12-8784-937E7775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label = f'{area} m²'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CBCA97-9878-48C6-AC51-665D74C2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720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14525B28-7891-4E31-B528-76E1C49D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482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'15.0 m²'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085DAA-AC25-4476-850E-61145B28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720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54ED6E54-6035-4FC3-9917-DBE95E3A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482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str</a:t>
            </a:r>
          </a:p>
        </p:txBody>
      </p:sp>
      <p:sp>
        <p:nvSpPr>
          <p:cNvPr id="3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72DB56EF-D801-43EB-8125-7CAA7DAC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7" name="callout">
            <a:extLst xmlns:a="http://schemas.openxmlformats.org/drawingml/2006/main">
              <a:ext uri="{FF2B5EF4-FFF2-40B4-BE49-F238E27FC236}">
                <a16:creationId xmlns:a16="http://schemas.microsoft.com/office/drawing/2014/main" id="{FF936D75-88F9-4A55-B119-2F7E278B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same conceptual quantity can move through representations. Trace what each conversion enables and what it may hide.</a:t>
            </a:r>
          </a:p>
        </p:txBody>
      </p:sp>
    </p:spTree>
    <p:extLst>
      <p:ext uri="{BB962C8B-B14F-4D97-AF65-F5344CB8AC3E}">
        <p14:creationId xmlns:p14="http://schemas.microsoft.com/office/powerpoint/2010/main" val="17559431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87E4A80C-264D-4D65-878B-24AFA284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HARD AUDIT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69AC76-3BB4-49B8-AFFF-B9912CD0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Audit an AI-generated quantity calculator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2315C-39CE-437E-9282-E45C475A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BA22BC8-9168-43AB-AEDC-233D541C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A · Values and Expressions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399C36B-1377-45B1-B6A0-BF873E28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65C7CE91-73F5-476E-A7E8-750FFCE8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17D16C79-1C8C-4167-8C8F-8EE31EA5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returns: wall = '12'; height = 3; area = wall * height; print(area + ' m²')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0B017173-C00D-40A6-A050-5C1D876E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063496C8-B5FD-4662-BDA6-8117EF59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EEF2BA1C-D509-49D3-A1D0-1ACEB385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what each operation attempts and what actually happens.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45104577-543B-4FEB-8FB2-91D1BA62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E941461C-F081-4FAF-9D98-38C57A53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Identify the type error and the misleading intermediate value.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E15FEEC2-2368-44AF-8C20-22DFD0FE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1FA9DF74-B7FC-4F3F-A816-F43C2493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Rewrite with unit-aware names, explicit conversion, and an f-string.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DB0C73DA-5BA3-456F-8BC6-D27CCDF0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A673FC35-5FEA-4247-AA4A-ED8B9F04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one known-answer assertion and one invalid-input test.</a:t>
            </a:r>
          </a:p>
        </p:txBody>
      </p:sp>
    </p:spTree>
    <p:extLst>
      <p:ext uri="{BB962C8B-B14F-4D97-AF65-F5344CB8AC3E}">
        <p14:creationId xmlns:p14="http://schemas.microsoft.com/office/powerpoint/2010/main" val="146487135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8FCCD5EF-94B5-4DBC-8901-71BA6D58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2 · MEETING A · VALUES AND EXPRESSIONS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DF5DEB8-B249-48A9-B862-40956F26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Meaning travels with type, name, and unit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19F9E-4975-4398-9CD0-835FA1DF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BA306290-86BA-4603-BF33-0F7B5082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2616773A-6882-4225-BD60-B72AEAB8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Type determines valid operations.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3E20E407-0B04-4741-A7E8-372AC326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0786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5DD7790C-A2CC-4A5B-ABE1-D2C0B261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02686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Names communicate the architectural model.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419D2781-987E-48A5-913F-51A7C5E1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837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62DDA4B2-22C3-44A9-AE0A-AD788124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00272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Parentheses and conversion make intent explicit.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15C0D945-22B3-4EFB-BF44-65697D6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5958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CE2E4605-4872-4A6D-8BBE-E3595C20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7858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Known-answer and boundary tests expose plausible mistakes.</a:t>
            </a:r>
          </a:p>
        </p:txBody>
      </p:sp>
    </p:spTree>
    <p:extLst>
      <p:ext uri="{BB962C8B-B14F-4D97-AF65-F5344CB8AC3E}">
        <p14:creationId xmlns:p14="http://schemas.microsoft.com/office/powerpoint/2010/main" val="61422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2026-08-20T16:08:14.9210000Z</dcterms:created>
  <dcterms:modified xsi:type="dcterms:W3CDTF">2026-08-20T16:08:14.9210000Z</dcterms:modified>
</coreProperties>
</file>