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e2ed1645874565" /><Relationship Type="http://schemas.openxmlformats.org/officeDocument/2006/relationships/extended-properties" Target="/docProps/app.xml" Id="R7a8644394fd4425e" /><Relationship Type="http://schemas.openxmlformats.org/officeDocument/2006/relationships/officeDocument" Target="/ppt/presentation.xml" Id="Ref9e67a11c374682" /></Relationships>
</file>

<file path=ppt/presentation.xml><?xml version="1.0" encoding="utf-8"?>
<p:presentation xmlns:p="http://schemas.openxmlformats.org/presentationml/2006/main">
  <p:sldMasterIdLst>
    <p:sldMasterId xmlns:r="http://schemas.openxmlformats.org/officeDocument/2006/relationships" id="2147483648" r:id="Re70491f181f44699"/>
  </p:sldMasterIdLst>
  <p:notesMasterIdLst>
    <p:notesMasterId xmlns:r="http://schemas.openxmlformats.org/officeDocument/2006/relationships" r:id="R45bde43ae4714c30"/>
  </p:notesMasterIdLst>
  <p:sldIdLst>
    <p:sldId xmlns:r="http://schemas.openxmlformats.org/officeDocument/2006/relationships" id="256" r:id="R68df9adada444520"/>
    <p:sldId xmlns:r="http://schemas.openxmlformats.org/officeDocument/2006/relationships" id="257" r:id="R5bc9aac1239b4b2d"/>
    <p:sldId xmlns:r="http://schemas.openxmlformats.org/officeDocument/2006/relationships" id="258" r:id="Rdbb73cf622174c40"/>
    <p:sldId xmlns:r="http://schemas.openxmlformats.org/officeDocument/2006/relationships" id="259" r:id="R618430ed17744768"/>
    <p:sldId xmlns:r="http://schemas.openxmlformats.org/officeDocument/2006/relationships" id="260" r:id="R7c22e3a157cd45af"/>
    <p:sldId xmlns:r="http://schemas.openxmlformats.org/officeDocument/2006/relationships" id="261" r:id="R70804da00e594eb3"/>
    <p:sldId xmlns:r="http://schemas.openxmlformats.org/officeDocument/2006/relationships" id="262" r:id="R2ec3786962e34560"/>
    <p:sldId xmlns:r="http://schemas.openxmlformats.org/officeDocument/2006/relationships" id="263" r:id="Rffb982ffc4f3432c"/>
    <p:sldId xmlns:r="http://schemas.openxmlformats.org/officeDocument/2006/relationships" id="264" r:id="Re3372dd2506943cb"/>
    <p:sldId xmlns:r="http://schemas.openxmlformats.org/officeDocument/2006/relationships" id="265" r:id="R2ef133867821430f"/>
    <p:sldId xmlns:r="http://schemas.openxmlformats.org/officeDocument/2006/relationships" id="266" r:id="Rf2284161f1cc4a79"/>
    <p:sldId xmlns:r="http://schemas.openxmlformats.org/officeDocument/2006/relationships" id="267" r:id="Rbceda542e6dd46e4"/>
    <p:sldId xmlns:r="http://schemas.openxmlformats.org/officeDocument/2006/relationships" id="268" r:id="Reb1987b8180e4336"/>
    <p:sldId xmlns:r="http://schemas.openxmlformats.org/officeDocument/2006/relationships" id="269" r:id="Rfc6cb324ac01455a"/>
    <p:sldId xmlns:r="http://schemas.openxmlformats.org/officeDocument/2006/relationships" id="270" r:id="Rdc0f8dbe392f4cdb"/>
    <p:sldId xmlns:r="http://schemas.openxmlformats.org/officeDocument/2006/relationships" id="271" r:id="R8d91d82e4ef64fdb"/>
    <p:sldId xmlns:r="http://schemas.openxmlformats.org/officeDocument/2006/relationships" id="272" r:id="R60b3d22a0d2547c7"/>
    <p:sldId xmlns:r="http://schemas.openxmlformats.org/officeDocument/2006/relationships" id="273" r:id="R63d247e25a494954"/>
    <p:sldId xmlns:r="http://schemas.openxmlformats.org/officeDocument/2006/relationships" id="274" r:id="R8eeed8d92d9a47d3"/>
    <p:sldId xmlns:r="http://schemas.openxmlformats.org/officeDocument/2006/relationships" id="275" r:id="R5dede6a48c8f43a1"/>
    <p:sldId xmlns:r="http://schemas.openxmlformats.org/officeDocument/2006/relationships" id="276" r:id="R485df0a48e834621"/>
    <p:sldId xmlns:r="http://schemas.openxmlformats.org/officeDocument/2006/relationships" id="277" r:id="R285106b1efe04944"/>
    <p:sldId xmlns:r="http://schemas.openxmlformats.org/officeDocument/2006/relationships" id="278" r:id="Rcc37bde829534a17"/>
    <p:sldId xmlns:r="http://schemas.openxmlformats.org/officeDocument/2006/relationships" id="279" r:id="R7e26c74df2c048f1"/>
    <p:sldId xmlns:r="http://schemas.openxmlformats.org/officeDocument/2006/relationships" id="280" r:id="R9e3d1064e32547b0"/>
    <p:sldId xmlns:r="http://schemas.openxmlformats.org/officeDocument/2006/relationships" id="281" r:id="R7946e9a6a104434e"/>
    <p:sldId xmlns:r="http://schemas.openxmlformats.org/officeDocument/2006/relationships" id="282" r:id="R0db05016cf694228"/>
    <p:sldId xmlns:r="http://schemas.openxmlformats.org/officeDocument/2006/relationships" id="283" r:id="R1a33c9957ff649a7"/>
    <p:sldId xmlns:r="http://schemas.openxmlformats.org/officeDocument/2006/relationships" id="284" r:id="Raeddb0014b1640c2"/>
    <p:sldId xmlns:r="http://schemas.openxmlformats.org/officeDocument/2006/relationships" id="285" r:id="Rdc613ce39add4e88"/>
    <p:sldId xmlns:r="http://schemas.openxmlformats.org/officeDocument/2006/relationships" id="286" r:id="R2b968ef6772b45e3"/>
    <p:sldId xmlns:r="http://schemas.openxmlformats.org/officeDocument/2006/relationships" id="287" r:id="R1cf3b0ad4b63447e"/>
    <p:sldId xmlns:r="http://schemas.openxmlformats.org/officeDocument/2006/relationships" id="288" r:id="R8959d8be97724622"/>
    <p:sldId xmlns:r="http://schemas.openxmlformats.org/officeDocument/2006/relationships" id="289" r:id="Rcd1840df63744d0f"/>
    <p:sldId xmlns:r="http://schemas.openxmlformats.org/officeDocument/2006/relationships" id="290" r:id="Rb46e781dff174c19"/>
    <p:sldId xmlns:r="http://schemas.openxmlformats.org/officeDocument/2006/relationships" id="291" r:id="R639625f1311a4ca6"/>
    <p:sldId xmlns:r="http://schemas.openxmlformats.org/officeDocument/2006/relationships" id="292" r:id="R776a8dd236a340e7"/>
    <p:sldId xmlns:r="http://schemas.openxmlformats.org/officeDocument/2006/relationships" id="293" r:id="R54d578fa5d604d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25f818cf2e41ce" /><Relationship Type="http://schemas.openxmlformats.org/officeDocument/2006/relationships/slideMaster" Target="/ppt/slideMasters/slideMaster1.xml" Id="Re70491f181f44699" /><Relationship Type="http://schemas.openxmlformats.org/officeDocument/2006/relationships/notesMaster" Target="/ppt/notesMasters/notesMaster1.xml" Id="R45bde43ae4714c30" /><Relationship Type="http://schemas.openxmlformats.org/officeDocument/2006/relationships/presProps" Target="/ppt/presProps.xml" Id="R0df0520a751e4c06" /><Relationship Type="http://schemas.openxmlformats.org/officeDocument/2006/relationships/tableStyles" Target="/ppt/tableStyles.xml" Id="R77acb94124f74247" /><Relationship Type="http://schemas.openxmlformats.org/officeDocument/2006/relationships/slide" Target="/ppt/slides/slide1.xml" Id="R68df9adada444520" /><Relationship Type="http://schemas.openxmlformats.org/officeDocument/2006/relationships/slide" Target="/ppt/slides/slide2.xml" Id="R5bc9aac1239b4b2d" /><Relationship Type="http://schemas.openxmlformats.org/officeDocument/2006/relationships/slide" Target="/ppt/slides/slide3.xml" Id="Rdbb73cf622174c40" /><Relationship Type="http://schemas.openxmlformats.org/officeDocument/2006/relationships/slide" Target="/ppt/slides/slide4.xml" Id="R618430ed17744768" /><Relationship Type="http://schemas.openxmlformats.org/officeDocument/2006/relationships/slide" Target="/ppt/slides/slide5.xml" Id="R7c22e3a157cd45af" /><Relationship Type="http://schemas.openxmlformats.org/officeDocument/2006/relationships/slide" Target="/ppt/slides/slide6.xml" Id="R70804da00e594eb3" /><Relationship Type="http://schemas.openxmlformats.org/officeDocument/2006/relationships/slide" Target="/ppt/slides/slide7.xml" Id="R2ec3786962e34560" /><Relationship Type="http://schemas.openxmlformats.org/officeDocument/2006/relationships/slide" Target="/ppt/slides/slide8.xml" Id="Rffb982ffc4f3432c" /><Relationship Type="http://schemas.openxmlformats.org/officeDocument/2006/relationships/slide" Target="/ppt/slides/slide9.xml" Id="Re3372dd2506943cb" /><Relationship Type="http://schemas.openxmlformats.org/officeDocument/2006/relationships/slide" Target="/ppt/slides/slide10.xml" Id="R2ef133867821430f" /><Relationship Type="http://schemas.openxmlformats.org/officeDocument/2006/relationships/slide" Target="/ppt/slides/slide11.xml" Id="Rf2284161f1cc4a79" /><Relationship Type="http://schemas.openxmlformats.org/officeDocument/2006/relationships/slide" Target="/ppt/slides/slide12.xml" Id="Rbceda542e6dd46e4" /><Relationship Type="http://schemas.openxmlformats.org/officeDocument/2006/relationships/slide" Target="/ppt/slides/slide13.xml" Id="Reb1987b8180e4336" /><Relationship Type="http://schemas.openxmlformats.org/officeDocument/2006/relationships/slide" Target="/ppt/slides/slide14.xml" Id="Rfc6cb324ac01455a" /><Relationship Type="http://schemas.openxmlformats.org/officeDocument/2006/relationships/slide" Target="/ppt/slides/slide15.xml" Id="Rdc0f8dbe392f4cdb" /><Relationship Type="http://schemas.openxmlformats.org/officeDocument/2006/relationships/slide" Target="/ppt/slides/slide16.xml" Id="R8d91d82e4ef64fdb" /><Relationship Type="http://schemas.openxmlformats.org/officeDocument/2006/relationships/slide" Target="/ppt/slides/slide17.xml" Id="R60b3d22a0d2547c7" /><Relationship Type="http://schemas.openxmlformats.org/officeDocument/2006/relationships/slide" Target="/ppt/slides/slide18.xml" Id="R63d247e25a494954" /><Relationship Type="http://schemas.openxmlformats.org/officeDocument/2006/relationships/slide" Target="/ppt/slides/slide19.xml" Id="R8eeed8d92d9a47d3" /><Relationship Type="http://schemas.openxmlformats.org/officeDocument/2006/relationships/slide" Target="/ppt/slides/slide20.xml" Id="R5dede6a48c8f43a1" /><Relationship Type="http://schemas.openxmlformats.org/officeDocument/2006/relationships/slide" Target="/ppt/slides/slide21.xml" Id="R485df0a48e834621" /><Relationship Type="http://schemas.openxmlformats.org/officeDocument/2006/relationships/slide" Target="/ppt/slides/slide22.xml" Id="R285106b1efe04944" /><Relationship Type="http://schemas.openxmlformats.org/officeDocument/2006/relationships/slide" Target="/ppt/slides/slide23.xml" Id="Rcc37bde829534a17" /><Relationship Type="http://schemas.openxmlformats.org/officeDocument/2006/relationships/slide" Target="/ppt/slides/slide24.xml" Id="R7e26c74df2c048f1" /><Relationship Type="http://schemas.openxmlformats.org/officeDocument/2006/relationships/slide" Target="/ppt/slides/slide25.xml" Id="R9e3d1064e32547b0" /><Relationship Type="http://schemas.openxmlformats.org/officeDocument/2006/relationships/slide" Target="/ppt/slides/slide26.xml" Id="R7946e9a6a104434e" /><Relationship Type="http://schemas.openxmlformats.org/officeDocument/2006/relationships/slide" Target="/ppt/slides/slide27.xml" Id="R0db05016cf694228" /><Relationship Type="http://schemas.openxmlformats.org/officeDocument/2006/relationships/slide" Target="/ppt/slides/slide28.xml" Id="R1a33c9957ff649a7" /><Relationship Type="http://schemas.openxmlformats.org/officeDocument/2006/relationships/slide" Target="/ppt/slides/slide29.xml" Id="Raeddb0014b1640c2" /><Relationship Type="http://schemas.openxmlformats.org/officeDocument/2006/relationships/slide" Target="/ppt/slides/slide30.xml" Id="Rdc613ce39add4e88" /><Relationship Type="http://schemas.openxmlformats.org/officeDocument/2006/relationships/slide" Target="/ppt/slides/slide31.xml" Id="R2b968ef6772b45e3" /><Relationship Type="http://schemas.openxmlformats.org/officeDocument/2006/relationships/slide" Target="/ppt/slides/slide32.xml" Id="R1cf3b0ad4b63447e" /><Relationship Type="http://schemas.openxmlformats.org/officeDocument/2006/relationships/slide" Target="/ppt/slides/slide33.xml" Id="R8959d8be97724622" /><Relationship Type="http://schemas.openxmlformats.org/officeDocument/2006/relationships/slide" Target="/ppt/slides/slide34.xml" Id="Rcd1840df63744d0f" /><Relationship Type="http://schemas.openxmlformats.org/officeDocument/2006/relationships/slide" Target="/ppt/slides/slide35.xml" Id="Rb46e781dff174c19" /><Relationship Type="http://schemas.openxmlformats.org/officeDocument/2006/relationships/slide" Target="/ppt/slides/slide36.xml" Id="R639625f1311a4ca6" /><Relationship Type="http://schemas.openxmlformats.org/officeDocument/2006/relationships/slide" Target="/ppt/slides/slide37.xml" Id="R776a8dd236a340e7" /><Relationship Type="http://schemas.openxmlformats.org/officeDocument/2006/relationships/slide" Target="/ppt/slides/slide38.xml" Id="R54d578fa5d604d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b8be637be44b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3c4e8a3a6a4488" /><Relationship Type="http://schemas.openxmlformats.org/officeDocument/2006/relationships/notesMaster" Target="/ppt/notesMasters/notesMaster1.xml" Id="Rb2575bdf30fb43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57ab3adc8c4f2c" /><Relationship Type="http://schemas.openxmlformats.org/officeDocument/2006/relationships/notesMaster" Target="/ppt/notesMasters/notesMaster1.xml" Id="R0e75d8b5ba7c4d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22f023668a435e" /><Relationship Type="http://schemas.openxmlformats.org/officeDocument/2006/relationships/notesMaster" Target="/ppt/notesMasters/notesMaster1.xml" Id="R229f058e591d47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60159111ad420b" /><Relationship Type="http://schemas.openxmlformats.org/officeDocument/2006/relationships/notesMaster" Target="/ppt/notesMasters/notesMaster1.xml" Id="Rbe3d1a289f1948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bebe958eda439c" /><Relationship Type="http://schemas.openxmlformats.org/officeDocument/2006/relationships/notesMaster" Target="/ppt/notesMasters/notesMaster1.xml" Id="Rf3937df9680a41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68eb63896841ef" /><Relationship Type="http://schemas.openxmlformats.org/officeDocument/2006/relationships/notesMaster" Target="/ppt/notesMasters/notesMaster1.xml" Id="R1d97792f4aed4b1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772cd2d0954ec3" /><Relationship Type="http://schemas.openxmlformats.org/officeDocument/2006/relationships/notesMaster" Target="/ppt/notesMasters/notesMaster1.xml" Id="R49fbbd975e854a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b6938acb934b9f" /><Relationship Type="http://schemas.openxmlformats.org/officeDocument/2006/relationships/notesMaster" Target="/ppt/notesMasters/notesMaster1.xml" Id="Rfca56265360549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5bcb8c47354cc1" /><Relationship Type="http://schemas.openxmlformats.org/officeDocument/2006/relationships/notesMaster" Target="/ppt/notesMasters/notesMaster1.xml" Id="Rb561f0808b104b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d15a40a6f843da" /><Relationship Type="http://schemas.openxmlformats.org/officeDocument/2006/relationships/notesMaster" Target="/ppt/notesMasters/notesMaster1.xml" Id="R618428bf95e141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b0336f1c584c5d" /><Relationship Type="http://schemas.openxmlformats.org/officeDocument/2006/relationships/notesMaster" Target="/ppt/notesMasters/notesMaster1.xml" Id="R9643ddbea39240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010c7b6c804be9" /><Relationship Type="http://schemas.openxmlformats.org/officeDocument/2006/relationships/notesMaster" Target="/ppt/notesMasters/notesMaster1.xml" Id="R8c9f438410f94b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8cac34d0a647c9" /><Relationship Type="http://schemas.openxmlformats.org/officeDocument/2006/relationships/notesMaster" Target="/ppt/notesMasters/notesMaster1.xml" Id="R72c38d3c67ce48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9d7d1f780f4f03" /><Relationship Type="http://schemas.openxmlformats.org/officeDocument/2006/relationships/notesMaster" Target="/ppt/notesMasters/notesMaster1.xml" Id="R0be91350706e416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6e334e0d4846b7" /><Relationship Type="http://schemas.openxmlformats.org/officeDocument/2006/relationships/notesMaster" Target="/ppt/notesMasters/notesMaster1.xml" Id="R2c2eb51e3d4a434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281faeb5314f69" /><Relationship Type="http://schemas.openxmlformats.org/officeDocument/2006/relationships/notesMaster" Target="/ppt/notesMasters/notesMaster1.xml" Id="Rcc6b8a1ab5504d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d61e3fdda24aa3" /><Relationship Type="http://schemas.openxmlformats.org/officeDocument/2006/relationships/notesMaster" Target="/ppt/notesMasters/notesMaster1.xml" Id="R9d177bcb8c8949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d0c88f6e0d44f2" /><Relationship Type="http://schemas.openxmlformats.org/officeDocument/2006/relationships/notesMaster" Target="/ppt/notesMasters/notesMaster1.xml" Id="R11c35ee221de4c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7abc146ccdd40a2" /><Relationship Type="http://schemas.openxmlformats.org/officeDocument/2006/relationships/notesMaster" Target="/ppt/notesMasters/notesMaster1.xml" Id="R927afa932d214f4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0c2dc7daa4d4b88" /><Relationship Type="http://schemas.openxmlformats.org/officeDocument/2006/relationships/notesMaster" Target="/ppt/notesMasters/notesMaster1.xml" Id="R84a0a4f024024d0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5f1ce34906a4790" /><Relationship Type="http://schemas.openxmlformats.org/officeDocument/2006/relationships/notesMaster" Target="/ppt/notesMasters/notesMaster1.xml" Id="R1228ea1f7bbd47d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43e27d5fb74564" /><Relationship Type="http://schemas.openxmlformats.org/officeDocument/2006/relationships/notesMaster" Target="/ppt/notesMasters/notesMaster1.xml" Id="Rcb2b255f412d4a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19fd35628247a3" /><Relationship Type="http://schemas.openxmlformats.org/officeDocument/2006/relationships/notesMaster" Target="/ppt/notesMasters/notesMaster1.xml" Id="R156edbfd89d04e9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902075831994204" /><Relationship Type="http://schemas.openxmlformats.org/officeDocument/2006/relationships/notesMaster" Target="/ppt/notesMasters/notesMaster1.xml" Id="Rc4b22910833b4f2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b79319ce12a4bd3" /><Relationship Type="http://schemas.openxmlformats.org/officeDocument/2006/relationships/notesMaster" Target="/ppt/notesMasters/notesMaster1.xml" Id="R7d5ece0293204dd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02a2877accd488f" /><Relationship Type="http://schemas.openxmlformats.org/officeDocument/2006/relationships/notesMaster" Target="/ppt/notesMasters/notesMaster1.xml" Id="Rb75cd9ef34e641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2cf75eaa3b24fce" /><Relationship Type="http://schemas.openxmlformats.org/officeDocument/2006/relationships/notesMaster" Target="/ppt/notesMasters/notesMaster1.xml" Id="R6c5a6d8aa6c2400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825d23a34514056" /><Relationship Type="http://schemas.openxmlformats.org/officeDocument/2006/relationships/notesMaster" Target="/ppt/notesMasters/notesMaster1.xml" Id="R4b97878759ad4fb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17398c584074c8f" /><Relationship Type="http://schemas.openxmlformats.org/officeDocument/2006/relationships/notesMaster" Target="/ppt/notesMasters/notesMaster1.xml" Id="R405c80b2bad140f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91a6a85594d4c9c" /><Relationship Type="http://schemas.openxmlformats.org/officeDocument/2006/relationships/notesMaster" Target="/ppt/notesMasters/notesMaster1.xml" Id="Re343f36bb55e4b3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52b1b21105f4777" /><Relationship Type="http://schemas.openxmlformats.org/officeDocument/2006/relationships/notesMaster" Target="/ppt/notesMasters/notesMaster1.xml" Id="R44e39db8b35d477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5c6b207dff14b68" /><Relationship Type="http://schemas.openxmlformats.org/officeDocument/2006/relationships/notesMaster" Target="/ppt/notesMasters/notesMaster1.xml" Id="R5421f4a32bd94b3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bb8cf47de0e4785" /><Relationship Type="http://schemas.openxmlformats.org/officeDocument/2006/relationships/notesMaster" Target="/ppt/notesMasters/notesMaster1.xml" Id="R75ca4a987d0d462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3b419d379e424a" /><Relationship Type="http://schemas.openxmlformats.org/officeDocument/2006/relationships/notesMaster" Target="/ppt/notesMasters/notesMaster1.xml" Id="R82a3b6423534456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fbfad9894ad4e4f" /><Relationship Type="http://schemas.openxmlformats.org/officeDocument/2006/relationships/notesMaster" Target="/ppt/notesMasters/notesMaster1.xml" Id="Rc4b07dcea87b405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cb051b522c54238" /><Relationship Type="http://schemas.openxmlformats.org/officeDocument/2006/relationships/notesMaster" Target="/ppt/notesMasters/notesMaster1.xml" Id="R80a9ebf3b0b94c6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ad84cf64cc049ef" /><Relationship Type="http://schemas.openxmlformats.org/officeDocument/2006/relationships/notesMaster" Target="/ppt/notesMasters/notesMaster1.xml" Id="R07116a5d2d4b426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551e731a64f4248" /><Relationship Type="http://schemas.openxmlformats.org/officeDocument/2006/relationships/notesMaster" Target="/ppt/notesMasters/notesMaster1.xml" Id="R449d1487677d44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by naming the shift explicitly: Weeks 9 and 11 gave you a clean analytic formula, energy_proxy(wwr, shade_m), that you swept or minimized directly. Radley Hall's 140 explored envelope variants have no such formula — only simulated outcomes. Today you fit a model FROM those outcomes. Preview the leakage bug (est_annual_cost_index) as the core artifact of this whole session, not a bonus.</a:t>
            </a:r>
          </a:p>
          <a:p xmlns:a="http://schemas.openxmlformats.org/drawingml/2006/main">
            <a:r>
              <a:t/>
            </a:r>
          </a:p>
          <a:p xmlns:a="http://schemas.openxmlformats.org/drawingml/2006/main">
            <a:r>
              <a:t>[Sources]</a:t>
            </a:r>
          </a:p>
          <a:p xmlns:a="http://schemas.openxmlformats.org/drawingml/2006/main">
            <a:r>
              <a:t>- https://scikit-learn.org/stable/getting_started.html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Set the tone for the session: speed of authorship is not the point this week; honesty of evaluation is.</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All four map directly onto this week's graded studio assignment (Meeting B) and Project 2 Part IV's required baseline-model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Tell students the leakage bug at the end is not a side note — it is the studio assignment's core task, previewed live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Point out explicitly: wwr and shade_m are the exact same variables and bounds as Weeks 9/11 — this is deliberate continuity, not a coincidence.</a:t>
            </a:r>
          </a:p>
          <a:p xmlns:a="http://schemas.openxmlformats.org/drawingml/2006/main">
            <a:r>
              <a:t/>
            </a:r>
          </a:p>
          <a:p xmlns:a="http://schemas.openxmlformats.org/drawingml/2006/main">
            <a:r>
              <a:t>[Sources]</a:t>
            </a:r>
          </a:p>
          <a:p xmlns:a="http://schemas.openxmlformats.org/drawingml/2006/main">
            <a:r>
              <a:t>- https://numpy.org/doc/stable/user/quickstart.html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State plainly this dataset is fictional, same convention as Radley Hall in Weeks 4-8 — say so on slide.</a:t>
            </a:r>
          </a:p>
          <a:p xmlns:a="http://schemas.openxmlformats.org/drawingml/2006/main">
            <a:r>
              <a:t/>
            </a:r>
          </a:p>
          <a:p xmlns:a="http://schemas.openxmlformats.org/drawingml/2006/main">
            <a:r>
              <a:t>[Sources]</a:t>
            </a:r>
          </a:p>
          <a:p xmlns:a="http://schemas.openxmlformats.org/drawingml/2006/main">
            <a:r>
              <a:t>- https://pandas.pydata.org/docs/getting_started/intro_tutorials/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First of a paired pair — target is next slide. Keep this crisp; the pairing is what matters, not the length.</a:t>
            </a:r>
          </a:p>
          <a:p xmlns:a="http://schemas.openxmlformats.org/drawingml/2006/main">
            <a:r>
              <a:t/>
            </a:r>
          </a:p>
          <a:p xmlns:a="http://schemas.openxmlformats.org/drawingml/2006/main">
            <a:r>
              <a:t>[Sources]</a:t>
            </a:r>
          </a:p>
          <a:p xmlns:a="http://schemas.openxmlformats.org/drawingml/2006/main">
            <a:r>
              <a:t>- https://scikit-learn.org/stable/getting_started.html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Foreshadow the leakage bug explicitly here — est_annual_cost_index resembles a legitimate feature but is actually derived from the target itself.</a:t>
            </a:r>
          </a:p>
          <a:p xmlns:a="http://schemas.openxmlformats.org/drawingml/2006/main">
            <a:r>
              <a:t/>
            </a:r>
          </a:p>
          <a:p xmlns:a="http://schemas.openxmlformats.org/drawingml/2006/main">
            <a:r>
              <a:t>[Sources]</a:t>
            </a:r>
          </a:p>
          <a:p xmlns:a="http://schemas.openxmlformats.org/drawingml/2006/main">
            <a:r>
              <a:t>- https://scikit-learn.org/stable/getting_started.html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Pair with regression next — supervised describes the DATA, regression describes the TARGET's type.</a:t>
            </a:r>
          </a:p>
          <a:p xmlns:a="http://schemas.openxmlformats.org/drawingml/2006/main">
            <a:r>
              <a:t/>
            </a:r>
          </a:p>
          <a:p xmlns:a="http://schemas.openxmlformats.org/drawingml/2006/main">
            <a:r>
              <a:t>[Sources]</a:t>
            </a:r>
          </a:p>
          <a:p xmlns:a="http://schemas.openxmlformats.org/drawingml/2006/main">
            <a:r>
              <a:t>- https://scikit-learn.org/stable/getting_started.html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Keep this distinction crisp; Week 14 will contrast it directly against classification on the exact same underlying physical process.</a:t>
            </a:r>
          </a:p>
          <a:p xmlns:a="http://schemas.openxmlformats.org/drawingml/2006/main">
            <a:r>
              <a:t/>
            </a:r>
          </a:p>
          <a:p xmlns:a="http://schemas.openxmlformats.org/drawingml/2006/main">
            <a:r>
              <a:t>[Sources]</a:t>
            </a:r>
          </a:p>
          <a:p xmlns:a="http://schemas.openxmlformats.org/drawingml/2006/main">
            <a:r>
              <a:t>- https://scikit-learn.org/stable/getting_started.html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Name random_state=42 explicitly as the reproducibility convention for this whole block before moving to the anatomy slide.</a:t>
            </a:r>
          </a:p>
          <a:p xmlns:a="http://schemas.openxmlformats.org/drawingml/2006/main">
            <a:r>
              <a:t/>
            </a:r>
          </a:p>
          <a:p xmlns:a="http://schemas.openxmlformats.org/drawingml/2006/main">
            <a:r>
              <a:t>[Sources]</a:t>
            </a:r>
          </a:p>
          <a:p xmlns:a="http://schemas.openxmlformats.org/drawingml/2006/main">
            <a:r>
              <a:t>- https://scikit-learn.org/stable/modules/generated/sklearn.model_selection.train_test_split.html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Walk the parts in call order: the function, then X and y (what goes in), then the two keyword arguments (how it splits). This is the exact call the next slide runs.</a:t>
            </a:r>
          </a:p>
          <a:p xmlns:a="http://schemas.openxmlformats.org/drawingml/2006/main">
            <a:r>
              <a:t/>
            </a:r>
          </a:p>
          <a:p xmlns:a="http://schemas.openxmlformats.org/drawingml/2006/main">
            <a:r>
              <a:t>[Sources]</a:t>
            </a:r>
          </a:p>
          <a:p xmlns:a="http://schemas.openxmlformats.org/drawingml/2006/main">
            <a:r>
              <a:t>- https://scikit-learn.org/stable/modules/generated/sklearn.model_selection.train_test_split.html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Verified by running against the pinned course environment: shapes print exactly (105, 3) (35, 3).</a:t>
            </a:r>
          </a:p>
          <a:p xmlns:a="http://schemas.openxmlformats.org/drawingml/2006/main">
            <a:r>
              <a:t/>
            </a:r>
          </a:p>
          <a:p xmlns:a="http://schemas.openxmlformats.org/drawingml/2006/main">
            <a:r>
              <a:t>[Sources]</a:t>
            </a:r>
          </a:p>
          <a:p xmlns:a="http://schemas.openxmlformats.org/drawingml/2006/main">
            <a:r>
              <a:t>- https://scikit-learn.org/stable/modules/generated/sklearn.model_selection.train_test_split.html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ordering — baseline before model — is the plan's explicit opening move for Week 13; do not skip it to get to LinearRegression faster.</a:t>
            </a:r>
          </a:p>
          <a:p xmlns:a="http://schemas.openxmlformats.org/drawingml/2006/main">
            <a:r>
              <a:t/>
            </a:r>
          </a:p>
          <a:p xmlns:a="http://schemas.openxmlformats.org/drawingml/2006/main">
            <a:r>
              <a:t>[Sources]</a:t>
            </a:r>
          </a:p>
          <a:p xmlns:a="http://schemas.openxmlformats.org/drawingml/2006/main">
            <a:r>
              <a:t>- https://scikit-learn.org/stable/modules/generated/sklearn.dummy.DummyRegressor.html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Verified against the pinned course environment. Point at each of the three convention pieces by name (docstring, parameter type hint, return type hint) before running anything — this is the first function students write in the machine-learning block and it sets the pattern for Project 2.</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Verified against the pinned course environment: predicts 28.0836, MAE 2.8906, RMSE 3.8154, R2 -0.00003 — matches data/README.md exactly.</a:t>
            </a:r>
          </a:p>
          <a:p xmlns:a="http://schemas.openxmlformats.org/drawingml/2006/main">
            <a:r>
              <a:t/>
            </a:r>
          </a:p>
          <a:p xmlns:a="http://schemas.openxmlformats.org/drawingml/2006/main">
            <a:r>
              <a:t>[Sources]</a:t>
            </a:r>
          </a:p>
          <a:p xmlns:a="http://schemas.openxmlformats.org/drawingml/2006/main">
            <a:r>
              <a:t>- https://scikit-learn.org/stable/modules/generated/sklearn.dummy.DummyRegressor.html</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explicitly where the plan wants AI-assisted scaffolding, not a hand-typed-from-scratch pipeline — say so, then move fast to the next two slides.</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Emphasize predict() reuses coefficients learned only from training rows — this is what makes the test-set metrics honest.</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students to say 'associated with,' not 'causes.' Read each coefficient with its unit and remind the class that an omitted variable can change signs and magnitudes.</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State the improvement is genuine and modest, not manufactured — set up over/underfitting and the leakage contrast still to come.</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MAE is the metric students will hand-compute in Meeting B — keep the definition concrete and arithmetic.</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RMSE &gt; MAE here as the first hint that a residual plot is worth looking at — sets up the next few slides.</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Reconnect explicitly to the baseline's R²≈-0.00003 — same metric, same scale, night-and-day difference.</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Tell students the next slide plots all 35 test-set residuals — not a summary statistic, the raw list.</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All 35 (predicted, residual) pairs are the actual verified test-set values from the pinned course environment, sorted by predicted value — not hand-copied or shortened.</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These are the exact verified worst-3 residuals from data/README.md; orientation isn't even a numeric feature yet in this model — only compactness gets added in Week 14.</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Keep this brief; overfitting next slide is the more surprising half of the pair.</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the predict slide next as a third case students haven't named yet: a model that looks TOO good on the test set — which is its own kind of red flag, not a success.</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Freshly verified against the pinned course environment (a new illustrative input, not the unspecified wwr=0.85 example in data/README.md): model.predict([[0.85, 0.60, 0.45]]) using the exact verified coef_/intercept_ above returns 36.1307. Training X_train's wwr range is 0.201–0.592.</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Verified against the pinned course environment and data/README.md: leak model R2=0.9923 vs honest model's 0.4937 — a jump of +0.4986. Take a show of hands on every option before revealing; option B (modest rise) is what a genuinely helpful new feature looks like — contrast explicitly with the next slide's actual output.</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Verified against the pinned course environment: coef_ [0.3310, 0.0374, 0.3054, 7.1264] — matches data/README.md exactly. Do not reveal the metrics yet; ask the room what the collapsed coefficients alone might already imply.</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Verified against the pinned course environment: MAE 0.2852, RMSE 0.3342, R2 0.9923 — matches data/README.md exactly. This is the SAME leakage bug students find and fix in Meeting B's studio — it is the graded task, not a bonus. Note the draft recomputes all three metrics inline instead of calling report_metrics; nothing is wrong with that, but it means nobody compared it against the baseline.</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Correlation 0.995574 verified against the pinned course environment by direct df[...].corr(df[...]) — matches data/README.md exactly.</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Silent extrapolation now has its own predict slide earlier in this deck — do not re-derive it here, just reinforce the provenance-check habit this slide is making.</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Read the function aloud line by line before running it. Ask which earlier slide each line replaces (13, 15, 18, 30). Nothing prints — defining a function stores it; the next slide calls it three times.</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 https://scikit-learn.org/stable/modules/generated/sklearn.model_selection.train_test_split.html</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Verified against the pinned course environment: honest/fixed MAE=2.2680 RMSE=2.7146 R2=0.49374 (0.4937 to 4 decimals, matching data/README.md); leaky MAE=0.2852 RMSE=0.3342 R2=0.99233 (0.9923); R2 jump 0.4986. The assert passes silently — ask what its silence is actually claiming.</a:t>
            </a:r>
          </a:p>
          <a:p xmlns:a="http://schemas.openxmlformats.org/drawingml/2006/main">
            <a:r>
              <a:t/>
            </a:r>
          </a:p>
          <a:p xmlns:a="http://schemas.openxmlformats.org/drawingml/2006/main">
            <a:r>
              <a:t>[Sources]</a:t>
            </a:r>
          </a:p>
          <a:p xmlns:a="http://schemas.openxmlformats.org/drawingml/2006/main">
            <a:r>
              <a:t>- https://scikit-learn.org/stable/modules/generated/sklearn.linear_model.LinearRegression.html</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Verified answer: red flag, not an improvement; correlation 0.995574; fix = drop est_annual_cost_index; expected metrics return to MAE=2.2680, RMSE=2.7146, R2=0.4937 — the exact honest 3-feature numbers from earlier in this deck.</a:t>
            </a:r>
          </a:p>
          <a:p xmlns:a="http://schemas.openxmlformats.org/drawingml/2006/main">
            <a:r>
              <a:t/>
            </a:r>
          </a:p>
          <a:p xmlns:a="http://schemas.openxmlformats.org/drawingml/2006/main">
            <a:r>
              <a:t>[Sources]</a:t>
            </a:r>
          </a:p>
          <a:p xmlns:a="http://schemas.openxmlformats.org/drawingml/2006/main">
            <a:r>
              <a:t>- https://scikit-learn.org/stable/modules/model_evaluation.html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Teaching notes: Exit ticket: students name, in one sentence, how they would check a NEW feature for leakage before adding it to next week's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f26a52e6744d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b153cfd8284581" /><Relationship Type="http://schemas.openxmlformats.org/officeDocument/2006/relationships/slideLayout" Target="/ppt/slideLayouts/slideLayout1.xml" Id="R361231e7053440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1231e7053440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f07747eb38427d" /><Relationship Type="http://schemas.openxmlformats.org/officeDocument/2006/relationships/notesSlide" Target="/ppt/notesSlides/notesSlide1.xml" Id="R40b4f1480d0941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45055952144854" /><Relationship Type="http://schemas.openxmlformats.org/officeDocument/2006/relationships/notesSlide" Target="/ppt/notesSlides/notesSlide2.xml" Id="R7c659e5a7d1a48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f1a168532e4f5b" /><Relationship Type="http://schemas.openxmlformats.org/officeDocument/2006/relationships/notesSlide" Target="/ppt/notesSlides/notesSlide3.xml" Id="R52e712a2821548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ce57f13ce54a4c" /><Relationship Type="http://schemas.openxmlformats.org/officeDocument/2006/relationships/notesSlide" Target="/ppt/notesSlides/notesSlide4.xml" Id="Rb211e3c9551a44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09396ba0094107" /><Relationship Type="http://schemas.openxmlformats.org/officeDocument/2006/relationships/notesSlide" Target="/ppt/notesSlides/notesSlide5.xml" Id="Rf2f747e2a8c44b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ef99e3de344df8" /><Relationship Type="http://schemas.openxmlformats.org/officeDocument/2006/relationships/notesSlide" Target="/ppt/notesSlides/notesSlide6.xml" Id="Rfd5e129020644e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f76f61fe97497c" /><Relationship Type="http://schemas.openxmlformats.org/officeDocument/2006/relationships/notesSlide" Target="/ppt/notesSlides/notesSlide7.xml" Id="R97e8638f601d48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1ebd3c80aa46a3" /><Relationship Type="http://schemas.openxmlformats.org/officeDocument/2006/relationships/notesSlide" Target="/ppt/notesSlides/notesSlide8.xml" Id="Ra3f1ad9c40084b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22f48eb744477d" /><Relationship Type="http://schemas.openxmlformats.org/officeDocument/2006/relationships/notesSlide" Target="/ppt/notesSlides/notesSlide9.xml" Id="Ra5895630963a43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74d607dfdd49b7" /><Relationship Type="http://schemas.openxmlformats.org/officeDocument/2006/relationships/notesSlide" Target="/ppt/notesSlides/notesSlide10.xml" Id="R93a523dcf73041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0429dfb30540d1" /><Relationship Type="http://schemas.openxmlformats.org/officeDocument/2006/relationships/notesSlide" Target="/ppt/notesSlides/notesSlide11.xml" Id="R0c992521afb341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aecff6dcc434b60" /><Relationship Type="http://schemas.openxmlformats.org/officeDocument/2006/relationships/notesSlide" Target="/ppt/notesSlides/notesSlide12.xml" Id="R88be92385e334e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9ef189c316a4a2f" /><Relationship Type="http://schemas.openxmlformats.org/officeDocument/2006/relationships/notesSlide" Target="/ppt/notesSlides/notesSlide13.xml" Id="Re0c4c2e501c842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39c4880f37e4bec" /><Relationship Type="http://schemas.openxmlformats.org/officeDocument/2006/relationships/notesSlide" Target="/ppt/notesSlides/notesSlide14.xml" Id="Rce7ace5a3a4143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57157b736a04bca" /><Relationship Type="http://schemas.openxmlformats.org/officeDocument/2006/relationships/notesSlide" Target="/ppt/notesSlides/notesSlide15.xml" Id="Rd3884580dc7049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24a850576043a5" /><Relationship Type="http://schemas.openxmlformats.org/officeDocument/2006/relationships/notesSlide" Target="/ppt/notesSlides/notesSlide16.xml" Id="Rd1aa6149f24d4d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375dbbcea94bbe" /><Relationship Type="http://schemas.openxmlformats.org/officeDocument/2006/relationships/notesSlide" Target="/ppt/notesSlides/notesSlide17.xml" Id="R9d96ed051a6e41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b17d93c2bea4eab" /><Relationship Type="http://schemas.openxmlformats.org/officeDocument/2006/relationships/notesSlide" Target="/ppt/notesSlides/notesSlide18.xml" Id="R723f20c7da7f404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8a4a91628de4b92" /><Relationship Type="http://schemas.openxmlformats.org/officeDocument/2006/relationships/notesSlide" Target="/ppt/notesSlides/notesSlide19.xml" Id="R672d2c5173cd45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f0d54bba41e45de" /><Relationship Type="http://schemas.openxmlformats.org/officeDocument/2006/relationships/notesSlide" Target="/ppt/notesSlides/notesSlide20.xml" Id="Re8769d79ddad4ea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8b18c081eb74ef9" /><Relationship Type="http://schemas.openxmlformats.org/officeDocument/2006/relationships/notesSlide" Target="/ppt/notesSlides/notesSlide21.xml" Id="Rb3bbe12816c2463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2756b097f0b48ac" /><Relationship Type="http://schemas.openxmlformats.org/officeDocument/2006/relationships/notesSlide" Target="/ppt/notesSlides/notesSlide22.xml" Id="R8f1df5917ac942e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068aeb4c43c4ea7" /><Relationship Type="http://schemas.openxmlformats.org/officeDocument/2006/relationships/notesSlide" Target="/ppt/notesSlides/notesSlide23.xml" Id="Rf7fc7cf7204f48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aa5b97e1ff34c2a" /><Relationship Type="http://schemas.openxmlformats.org/officeDocument/2006/relationships/notesSlide" Target="/ppt/notesSlides/notesSlide24.xml" Id="R18b282a0eeb44ae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77ee168bf80435b" /><Relationship Type="http://schemas.openxmlformats.org/officeDocument/2006/relationships/chart" Target="/ppt/slides/charts/chart1.xml" Id="Rd988d92251754c54" /><Relationship Type="http://schemas.openxmlformats.org/officeDocument/2006/relationships/notesSlide" Target="/ppt/notesSlides/notesSlide25.xml" Id="R9131ecf61d1146e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e22d7226c1c46e8" /><Relationship Type="http://schemas.openxmlformats.org/officeDocument/2006/relationships/notesSlide" Target="/ppt/notesSlides/notesSlide26.xml" Id="R65e185c47bb04bc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4607231ffcc4ec1" /><Relationship Type="http://schemas.openxmlformats.org/officeDocument/2006/relationships/notesSlide" Target="/ppt/notesSlides/notesSlide27.xml" Id="Re4547e994ffe450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0e592ff14724d81" /><Relationship Type="http://schemas.openxmlformats.org/officeDocument/2006/relationships/notesSlide" Target="/ppt/notesSlides/notesSlide28.xml" Id="R4bfd82af86d74d7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b4438a6dbbf4f37" /><Relationship Type="http://schemas.openxmlformats.org/officeDocument/2006/relationships/notesSlide" Target="/ppt/notesSlides/notesSlide29.xml" Id="Rb31449a86776441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fe9aa7cd1154010" /><Relationship Type="http://schemas.openxmlformats.org/officeDocument/2006/relationships/notesSlide" Target="/ppt/notesSlides/notesSlide30.xml" Id="R35741efc7bf94e5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b3df5b70bc24cbd" /><Relationship Type="http://schemas.openxmlformats.org/officeDocument/2006/relationships/notesSlide" Target="/ppt/notesSlides/notesSlide31.xml" Id="R51b9f4b4bddb461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2e9659aae244a58" /><Relationship Type="http://schemas.openxmlformats.org/officeDocument/2006/relationships/notesSlide" Target="/ppt/notesSlides/notesSlide32.xml" Id="R20c80400aca647e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1187bda1db54410" /><Relationship Type="http://schemas.openxmlformats.org/officeDocument/2006/relationships/notesSlide" Target="/ppt/notesSlides/notesSlide33.xml" Id="Rae76ad90167c4ce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579beac58ef411c" /><Relationship Type="http://schemas.openxmlformats.org/officeDocument/2006/relationships/notesSlide" Target="/ppt/notesSlides/notesSlide34.xml" Id="R79e9678d997f4fb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6ef494a546f49a9" /><Relationship Type="http://schemas.openxmlformats.org/officeDocument/2006/relationships/notesSlide" Target="/ppt/notesSlides/notesSlide35.xml" Id="R68a4cf557d8944d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5b226dc70594202" /><Relationship Type="http://schemas.openxmlformats.org/officeDocument/2006/relationships/notesSlide" Target="/ppt/notesSlides/notesSlide36.xml" Id="Rd2de23a99b944be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b2950511f874958" /><Relationship Type="http://schemas.openxmlformats.org/officeDocument/2006/relationships/notesSlide" Target="/ppt/notesSlides/notesSlide37.xml" Id="Ra1d646beedbc45d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6593cca252c4340" /><Relationship Type="http://schemas.openxmlformats.org/officeDocument/2006/relationships/notesSlide" Target="/ppt/notesSlides/notesSlide38.xml" Id="R4da79820ce0245f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b="1">
                <a:solidFill>
                  <a:srgbClr val="111316"/>
                </a:solidFill>
              </a:rPr>
              <a:t>Test-set residual (actual − predicted) vs. predicted EUI</a:t>
            </a:r>
          </a:p>
        </c:rich>
      </c:tx>
      <c:overlay val="0"/>
      <c:txPr>
        <a:bodyPr xmlns:a="http://schemas.openxmlformats.org/drawingml/2006/main" anchorCtr="1"/>
        <a:lstStyle xmlns:a="http://schemas.openxmlformats.org/drawingml/2006/main"/>
        <a:p xmlns:a="http://schemas.openxmlformats.org/drawingml/2006/main">
          <a:pPr>
            <a:defRPr sz="1200" b="1">
              <a:solidFill>
                <a:srgbClr val="111316"/>
              </a:solidFill>
            </a:defRPr>
          </a:pPr>
        </a:p>
      </c:txPr>
    </c:title>
    <c:plotArea>
      <c:scatterChart>
        <c:scatterStyle val="marker"/>
        <c:ser>
          <c:idx val="0"/>
          <c:order val="0"/>
          <c:tx>
            <c:v>residual (kWh/m2/yr)</c:v>
          </c:tx>
          <c:xVal>
            <c:numLit>
              <c:formatCode>General</c:formatCode>
              <c:ptCount val="0"/>
            </c:numLit>
          </c:xVal>
          <c:yVal>
            <c:numLit>
              <c:formatCode>General</c:formatCode>
              <c:ptCount val="35"/>
              <c:pt idx="0">
                <c:v>-3.57</c:v>
              </c:pt>
              <c:pt idx="1">
                <c:v>-0.69</c:v>
              </c:pt>
              <c:pt idx="2">
                <c:v>-3.28</c:v>
              </c:pt>
              <c:pt idx="3">
                <c:v>1.81</c:v>
              </c:pt>
              <c:pt idx="4">
                <c:v>2.35</c:v>
              </c:pt>
              <c:pt idx="5">
                <c:v>-2.56</c:v>
              </c:pt>
              <c:pt idx="6">
                <c:v>-6.34</c:v>
              </c:pt>
              <c:pt idx="7">
                <c:v>-0.6</c:v>
              </c:pt>
              <c:pt idx="8">
                <c:v>-4.56</c:v>
              </c:pt>
              <c:pt idx="9">
                <c:v>3.07</c:v>
              </c:pt>
              <c:pt idx="10">
                <c:v>0.41</c:v>
              </c:pt>
              <c:pt idx="11">
                <c:v>0.95</c:v>
              </c:pt>
              <c:pt idx="12">
                <c:v>1.18</c:v>
              </c:pt>
              <c:pt idx="13">
                <c:v>-1.87</c:v>
              </c:pt>
              <c:pt idx="14">
                <c:v>-0.04</c:v>
              </c:pt>
              <c:pt idx="15">
                <c:v>2.99</c:v>
              </c:pt>
              <c:pt idx="16">
                <c:v>-4.89</c:v>
              </c:pt>
              <c:pt idx="17">
                <c:v>2.51</c:v>
              </c:pt>
              <c:pt idx="18">
                <c:v>0.13</c:v>
              </c:pt>
              <c:pt idx="19">
                <c:v>0.59</c:v>
              </c:pt>
              <c:pt idx="20">
                <c:v>-1.61</c:v>
              </c:pt>
              <c:pt idx="21">
                <c:v>-0.75</c:v>
              </c:pt>
              <c:pt idx="22">
                <c:v>-3.35</c:v>
              </c:pt>
              <c:pt idx="23">
                <c:v>-3.27</c:v>
              </c:pt>
              <c:pt idx="24">
                <c:v>1.83</c:v>
              </c:pt>
              <c:pt idx="25">
                <c:v>2.59</c:v>
              </c:pt>
              <c:pt idx="26">
                <c:v>-2.49</c:v>
              </c:pt>
              <c:pt idx="27">
                <c:v>0.66</c:v>
              </c:pt>
              <c:pt idx="28">
                <c:v>-1.06</c:v>
              </c:pt>
              <c:pt idx="29">
                <c:v>0.71</c:v>
              </c:pt>
              <c:pt idx="30">
                <c:v>1.91</c:v>
              </c:pt>
              <c:pt idx="31">
                <c:v>-3.12</c:v>
              </c:pt>
              <c:pt idx="32">
                <c:v>-4.03</c:v>
              </c:pt>
              <c:pt idx="33">
                <c:v>4.22</c:v>
              </c:pt>
              <c:pt idx="34">
                <c:v>-3.4</c:v>
              </c:pt>
            </c:numLit>
          </c:yVal>
        </c:ser>
        <c:axId val="48650112"/>
        <c:axId val="48672768"/>
      </c:scatterChart>
      <c:valAx>
        <c:axId val="48672768"/>
        <c:scaling>
          <c:orientation val="minMax"/>
          <c:max val="6"/>
          <c:min val="-8"/>
        </c:scaling>
        <c:delete val="0"/>
        <c:axPos val="l"/>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Residual (actual − predicted)</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50112"/>
      </c:valAx>
      <c:valAx>
        <c:axId val="48650112"/>
        <c:scaling>
          <c:orientation val="minMax"/>
        </c:scaling>
        <c:delete val="0"/>
        <c:axPos val="b"/>
        <c:majorGridlines>
          <c:spPr>
            <a:ln xmlns:a="http://schemas.openxmlformats.org/drawingml/2006/main" w="9525">
              <a:solidFill>
                <a:srgbClr val="E1E3E7"/>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A5F66"/>
                    </a:solidFill>
                  </a:rPr>
                  <a:t>Predicted EUI (kWh/m2/yr)</a:t>
                </a:r>
              </a:p>
            </c:rich>
          </c:tx>
          <c:overlay val="0"/>
          <c:txPr>
            <a:bodyPr xmlns:a="http://schemas.openxmlformats.org/drawingml/2006/main" anchorCtr="1"/>
            <a:lstStyle xmlns:a="http://schemas.openxmlformats.org/drawingml/2006/main"/>
            <a:p xmlns:a="http://schemas.openxmlformats.org/drawingml/2006/main">
              <a:pPr>
                <a:defRPr sz="900">
                  <a:solidFill>
                    <a:srgbClr val="5A5F66"/>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A5F66"/>
                </a:solidFill>
              </a:defRPr>
            </a:pPr>
          </a:p>
        </c:txPr>
        <c:crossAx val="48672768"/>
      </c:valAx>
      <c:spPr>
        <a:solidFill xmlns:a="http://schemas.openxmlformats.org/drawingml/2006/main">
          <a:srgbClr val="FFFFFF"/>
        </a:solidFill>
        <a:ln xmlns:a="http://schemas.openxmlformats.org/drawingml/2006/main" w="9525">
          <a:solidFill>
            <a:srgbClr val="B8BCC4"/>
          </a:solidFill>
          <a:prstDash val="solid"/>
        </a:ln>
      </c:spPr>
    </c:plotArea>
    <c:plotVisOnly val="1"/>
  </c:chart>
  <c:spPr>
    <a:solidFill xmlns:a="http://schemas.openxmlformats.org/drawingml/2006/main">
      <a:srgbClr val="FFFFFF"/>
    </a:solidFill>
    <a:ln xmlns:a="http://schemas.openxmlformats.org/drawingml/2006/main" w="9525">
      <a:solidFill>
        <a:srgbClr val="B8BCC4"/>
      </a:solidFill>
      <a:prstDash val="solid"/>
    </a:ln>
  </c:spPr>
</c:chartSpace>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45A01035-B9FA-4D4C-ACC2-15791657D3E6}"/>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A8BD5215-CBDD-4070-AD8B-304B14837BEA}"/>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492B314C-60B6-4B9A-BC77-0580EE8127EE}"/>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8ACBCDCD-F11C-4AEE-BD4F-F8EC70B57085}"/>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13 · MEETING A · MACHINE LEARNING I: EVALUATED PREDICTION (REGRESSION)</a:t>
            </a:r>
          </a:p>
        </p:txBody>
      </p:sp>
      <p:sp>
        <p:nvSpPr>
          <p:cNvPr id="5" name="deck-title">
            <a:extLst xmlns:a="http://schemas.openxmlformats.org/drawingml/2006/main">
              <a:ext uri="{FF2B5EF4-FFF2-40B4-BE49-F238E27FC236}">
                <a16:creationId xmlns:a16="http://schemas.microsoft.com/office/drawing/2014/main" id="{A9C8CF37-CC36-4DB8-A241-11191265061D}"/>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Real buildings don't hand you a formula. You fit one from what got built.</a:t>
            </a:r>
          </a:p>
        </p:txBody>
      </p:sp>
      <p:sp>
        <p:nvSpPr>
          <p:cNvPr id="6" name="deck-subtitle">
            <a:extLst xmlns:a="http://schemas.openxmlformats.org/drawingml/2006/main">
              <a:ext uri="{FF2B5EF4-FFF2-40B4-BE49-F238E27FC236}">
                <a16:creationId xmlns:a16="http://schemas.microsoft.com/office/drawing/2014/main" id="{4E84AC55-A122-4FE7-84C5-0F3C636E90A6}"/>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Supervised regression, a naive baseline, and the honest metrics that say how wrong a model still is — scaffolded fast with AI, then audited by hand.</a:t>
            </a:r>
          </a:p>
        </p:txBody>
      </p:sp>
      <p:sp>
        <p:nvSpPr>
          <p:cNvPr id="7" name="">
            <a:extLst xmlns:a="http://schemas.openxmlformats.org/drawingml/2006/main">
              <a:ext uri="{FF2B5EF4-FFF2-40B4-BE49-F238E27FC236}">
                <a16:creationId xmlns:a16="http://schemas.microsoft.com/office/drawing/2014/main" id="{BC5964CA-1814-4F86-BA45-C31C1961D6E1}"/>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B6AA2131-3385-4BB0-B9CA-618445AED5B6}"/>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21043673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4103591A-8A78-418D-81D9-67ACFC6BA64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C39E3D4E-40A5-4E41-B9E4-58C72F6CA5C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metric matters more than the fit</a:t>
            </a:r>
          </a:p>
        </p:txBody>
      </p:sp>
      <p:sp>
        <p:nvSpPr>
          <p:cNvPr id="3" name="">
            <a:extLst xmlns:a="http://schemas.openxmlformats.org/drawingml/2006/main">
              <a:ext uri="{FF2B5EF4-FFF2-40B4-BE49-F238E27FC236}">
                <a16:creationId xmlns:a16="http://schemas.microsoft.com/office/drawing/2014/main" id="{D97E9F32-6FC0-4585-B1AC-C19E38212F0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400660A-E177-4186-87FF-B9876B81F2A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6C30991D-DB54-48B4-AC3C-EDED84B31AB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A0B40642-5A9D-40B1-8A58-B6DA81E7092C}"/>
              </a:ext>
            </a:extLst>
          </p:cNvPr>
          <p:cNvSpPr>
            <a:spLocks xmlns:a="http://schemas.openxmlformats.org/drawingml/2006/main" noGrp="1"/>
          </p:cNvSpPr>
          <p:nvPr/>
        </p:nvSpPr>
        <p:spPr>
          <a:xfrm xmlns:a="http://schemas.openxmlformats.org/drawingml/2006/main">
            <a:off x="609600" y="2000250"/>
            <a:ext cx="9829800" cy="20513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Fitting a line through data is the easy part. Knowing — and reporting — exactly how wrong that line still is, is the actual skill.</a:t>
            </a:r>
          </a:p>
        </p:txBody>
      </p:sp>
      <p:sp>
        <p:nvSpPr>
          <p:cNvPr id="7" name="">
            <a:extLst xmlns:a="http://schemas.openxmlformats.org/drawingml/2006/main">
              <a:ext uri="{FF2B5EF4-FFF2-40B4-BE49-F238E27FC236}">
                <a16:creationId xmlns:a16="http://schemas.microsoft.com/office/drawing/2014/main" id="{369F2617-BB64-4834-B979-0F35E880E8D9}"/>
              </a:ext>
            </a:extLst>
          </p:cNvPr>
          <p:cNvSpPr>
            <a:spLocks xmlns:a="http://schemas.openxmlformats.org/drawingml/2006/main" noGrp="1"/>
          </p:cNvSpPr>
          <p:nvPr/>
        </p:nvSpPr>
        <p:spPr>
          <a:xfrm xmlns:a="http://schemas.openxmlformats.org/drawingml/2006/main">
            <a:off x="609600" y="4261104"/>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EB54A975-3007-48F1-ABB0-F476BD25119C}"/>
              </a:ext>
            </a:extLst>
          </p:cNvPr>
          <p:cNvSpPr>
            <a:spLocks xmlns:a="http://schemas.openxmlformats.org/drawingml/2006/main" noGrp="1"/>
          </p:cNvSpPr>
          <p:nvPr/>
        </p:nvSpPr>
        <p:spPr>
          <a:xfrm xmlns:a="http://schemas.openxmlformats.org/drawingml/2006/main">
            <a:off x="609600" y="4584954"/>
            <a:ext cx="93345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An AI assistant will scaffold today's LinearRegression fit/predict pipeline in minutes. The remaining time is about a naive baseline, MAE/RMSE/R², a residual plot, and a real leakage bug hiding in the AI-drafted code — because a fast fit means nothing without an honest evaluation.</a:t>
            </a:r>
          </a:p>
        </p:txBody>
      </p:sp>
    </p:spTree>
    <p:extLst>
      <p:ext uri="{BB962C8B-B14F-4D97-AF65-F5344CB8AC3E}">
        <p14:creationId xmlns:p14="http://schemas.microsoft.com/office/powerpoint/2010/main" val="4864168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7EC6A4C4-8F4C-4A94-819B-69E297619E4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5ED4B9EF-A6B0-4046-ABDE-A798C2CD73D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2978507E-9C94-4015-8F3E-0E726832FB7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3D50E29-D9F6-4E0B-9195-6E44FD9E656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F7D7C897-53F5-4B00-B46E-7989E875292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outcome-number-0">
            <a:extLst xmlns:a="http://schemas.openxmlformats.org/drawingml/2006/main">
              <a:ext uri="{FF2B5EF4-FFF2-40B4-BE49-F238E27FC236}">
                <a16:creationId xmlns:a16="http://schemas.microsoft.com/office/drawing/2014/main" id="{5055AFB0-0152-4798-9B4C-7BCE011A5202}"/>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317DFFEF-F1B8-4673-8D6A-DE235BB410A8}"/>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Distinguish</a:t>
            </a:r>
          </a:p>
        </p:txBody>
      </p:sp>
      <p:sp>
        <p:nvSpPr>
          <p:cNvPr id="8" name="outcome-body-0">
            <a:extLst xmlns:a="http://schemas.openxmlformats.org/drawingml/2006/main">
              <a:ext uri="{FF2B5EF4-FFF2-40B4-BE49-F238E27FC236}">
                <a16:creationId xmlns:a16="http://schemas.microsoft.com/office/drawing/2014/main" id="{C08940CE-11A7-4DCD-B304-1731D1A5BE77}"/>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Tell a feature apart from a target, and a naive baseline apart from a fitted model.</a:t>
            </a:r>
          </a:p>
        </p:txBody>
      </p:sp>
      <p:sp>
        <p:nvSpPr>
          <p:cNvPr id="9" name="outcome-number-1">
            <a:extLst xmlns:a="http://schemas.openxmlformats.org/drawingml/2006/main">
              <a:ext uri="{FF2B5EF4-FFF2-40B4-BE49-F238E27FC236}">
                <a16:creationId xmlns:a16="http://schemas.microsoft.com/office/drawing/2014/main" id="{04394068-BF85-4030-873C-3AA32A09EEDD}"/>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DEE26793-77B6-47E4-85EA-115019A40F5B}"/>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Split</a:t>
            </a:r>
          </a:p>
        </p:txBody>
      </p:sp>
      <p:sp>
        <p:nvSpPr>
          <p:cNvPr id="11" name="outcome-body-1">
            <a:extLst xmlns:a="http://schemas.openxmlformats.org/drawingml/2006/main">
              <a:ext uri="{FF2B5EF4-FFF2-40B4-BE49-F238E27FC236}">
                <a16:creationId xmlns:a16="http://schemas.microsoft.com/office/drawing/2014/main" id="{7C5DE570-D75C-483F-90AA-3F13D14B1BA9}"/>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train_test_split to hold out data a fitted model never trains on, and explain why that matters.</a:t>
            </a:r>
          </a:p>
        </p:txBody>
      </p:sp>
      <p:sp>
        <p:nvSpPr>
          <p:cNvPr id="12" name="outcome-number-2">
            <a:extLst xmlns:a="http://schemas.openxmlformats.org/drawingml/2006/main">
              <a:ext uri="{FF2B5EF4-FFF2-40B4-BE49-F238E27FC236}">
                <a16:creationId xmlns:a16="http://schemas.microsoft.com/office/drawing/2014/main" id="{9629AA5E-B4DE-42E7-A010-C2283CDBB56F}"/>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FF0069C8-0712-4BC2-B0AF-7F9246D4D2B1}"/>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Evaluate</a:t>
            </a:r>
          </a:p>
        </p:txBody>
      </p:sp>
      <p:sp>
        <p:nvSpPr>
          <p:cNvPr id="14" name="outcome-body-2">
            <a:extLst xmlns:a="http://schemas.openxmlformats.org/drawingml/2006/main">
              <a:ext uri="{FF2B5EF4-FFF2-40B4-BE49-F238E27FC236}">
                <a16:creationId xmlns:a16="http://schemas.microsoft.com/office/drawing/2014/main" id="{2F287FE5-4A38-4E61-9368-E93B2AA0DD46}"/>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Compute and interpret MAE, RMSE, and R² for a naive baseline and a scikit-learn LinearRegression model, and read a residual plot.</a:t>
            </a:r>
          </a:p>
        </p:txBody>
      </p:sp>
      <p:sp>
        <p:nvSpPr>
          <p:cNvPr id="15" name="outcome-number-3">
            <a:extLst xmlns:a="http://schemas.openxmlformats.org/drawingml/2006/main">
              <a:ext uri="{FF2B5EF4-FFF2-40B4-BE49-F238E27FC236}">
                <a16:creationId xmlns:a16="http://schemas.microsoft.com/office/drawing/2014/main" id="{0694AEF4-165F-40B6-8B85-3C8B53FB0082}"/>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22CB387A-B451-4567-9FCD-6FF99E3585AB}"/>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Audit</a:t>
            </a:r>
          </a:p>
        </p:txBody>
      </p:sp>
      <p:sp>
        <p:nvSpPr>
          <p:cNvPr id="17" name="outcome-body-3">
            <a:extLst xmlns:a="http://schemas.openxmlformats.org/drawingml/2006/main">
              <a:ext uri="{FF2B5EF4-FFF2-40B4-BE49-F238E27FC236}">
                <a16:creationId xmlns:a16="http://schemas.microsoft.com/office/drawing/2014/main" id="{0F5F75E7-E5EA-417C-BC8A-B194AF9EFBB9}"/>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Find and fix a real data-leakage bug in AI-drafted regression code, and explain in words why it was wrong.</a:t>
            </a:r>
          </a:p>
        </p:txBody>
      </p:sp>
    </p:spTree>
    <p:extLst>
      <p:ext uri="{BB962C8B-B14F-4D97-AF65-F5344CB8AC3E}">
        <p14:creationId xmlns:p14="http://schemas.microsoft.com/office/powerpoint/2010/main" val="10209307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D0BE2319-6F8D-4C99-866C-8EA617E6F36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B7138E1C-E8B5-4A83-BAD5-44F973F5691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2CC641AA-2974-435F-94FF-62B295BACB2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A324E6C-CD80-4430-A5B3-91EFBB3E108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6B43956D-A114-4070-8984-528086AD624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agenda-no-0">
            <a:extLst xmlns:a="http://schemas.openxmlformats.org/drawingml/2006/main">
              <a:ext uri="{FF2B5EF4-FFF2-40B4-BE49-F238E27FC236}">
                <a16:creationId xmlns:a16="http://schemas.microsoft.com/office/drawing/2014/main" id="{4EA66152-992D-4B11-911A-F32838D79AD2}"/>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2E72051-B816-460E-AA90-C3D453FA71B9}"/>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89F002CE-99ED-4A00-8F25-8D3B8BA33D87}"/>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Features vs. target, and why a naive baseline comes first</a:t>
            </a:r>
          </a:p>
        </p:txBody>
      </p:sp>
      <p:sp>
        <p:nvSpPr>
          <p:cNvPr id="9" name="agenda-no-1">
            <a:extLst xmlns:a="http://schemas.openxmlformats.org/drawingml/2006/main">
              <a:ext uri="{FF2B5EF4-FFF2-40B4-BE49-F238E27FC236}">
                <a16:creationId xmlns:a16="http://schemas.microsoft.com/office/drawing/2014/main" id="{77DE39E1-86B4-4D15-9FFF-AA16296898B7}"/>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00259496-7223-4903-AC6E-8E8C4699FC1B}"/>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21C08B58-EA8D-4E84-BA6C-997A0A8556A3}"/>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train_test_split, then an AI-scaffolded LinearRegression fit/predict pipeline</a:t>
            </a:r>
          </a:p>
        </p:txBody>
      </p:sp>
      <p:sp>
        <p:nvSpPr>
          <p:cNvPr id="12" name="agenda-no-2">
            <a:extLst xmlns:a="http://schemas.openxmlformats.org/drawingml/2006/main">
              <a:ext uri="{FF2B5EF4-FFF2-40B4-BE49-F238E27FC236}">
                <a16:creationId xmlns:a16="http://schemas.microsoft.com/office/drawing/2014/main" id="{4BF07586-8B19-4231-9682-E571DBD0E7AE}"/>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6DA3E2B-7245-48C2-A6FC-B2A03C7A00E3}"/>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9BB1FF84-4062-41BA-BFE9-EF169328BDE6}"/>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MAE, RMSE, R², and a residual plot: reading how wrong the model still is</a:t>
            </a:r>
          </a:p>
        </p:txBody>
      </p:sp>
      <p:sp>
        <p:nvSpPr>
          <p:cNvPr id="15" name="agenda-no-3">
            <a:extLst xmlns:a="http://schemas.openxmlformats.org/drawingml/2006/main">
              <a:ext uri="{FF2B5EF4-FFF2-40B4-BE49-F238E27FC236}">
                <a16:creationId xmlns:a16="http://schemas.microsoft.com/office/drawing/2014/main" id="{E54E5644-43CA-4802-B5BF-F265E89EABA0}"/>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D0534B86-0EB2-44D3-8CB3-69F93E1C56E1}"/>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4E37F3D5-78DF-47B4-8E92-FFE30F4B9074}"/>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Over/underfitting, and a real leakage bug hiding in the AI-drafted code</a:t>
            </a:r>
          </a:p>
        </p:txBody>
      </p:sp>
    </p:spTree>
    <p:extLst>
      <p:ext uri="{BB962C8B-B14F-4D97-AF65-F5344CB8AC3E}">
        <p14:creationId xmlns:p14="http://schemas.microsoft.com/office/powerpoint/2010/main" val="19922751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688AC7EB-F39F-4619-94A3-C2FC24EDF5F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CONTINUITY FROM WEEKS 9 &amp; 11</a:t>
            </a:r>
          </a:p>
        </p:txBody>
      </p:sp>
      <p:sp>
        <p:nvSpPr>
          <p:cNvPr id="2" name="title">
            <a:extLst xmlns:a="http://schemas.openxmlformats.org/drawingml/2006/main">
              <a:ext uri="{FF2B5EF4-FFF2-40B4-BE49-F238E27FC236}">
                <a16:creationId xmlns:a16="http://schemas.microsoft.com/office/drawing/2014/main" id="{998861B6-F616-40E8-B76A-AAB67F53DB5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From a formula you swept to a model you fit</a:t>
            </a:r>
          </a:p>
        </p:txBody>
      </p:sp>
      <p:sp>
        <p:nvSpPr>
          <p:cNvPr id="3" name="">
            <a:extLst xmlns:a="http://schemas.openxmlformats.org/drawingml/2006/main">
              <a:ext uri="{FF2B5EF4-FFF2-40B4-BE49-F238E27FC236}">
                <a16:creationId xmlns:a16="http://schemas.microsoft.com/office/drawing/2014/main" id="{2F5A79EA-CCCA-4752-87D1-6DFE0AB61D1F}"/>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8DA7C19-4155-430E-A0F2-ABA188667C9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D3D21E82-DF5E-4C20-BD10-1C64DAB1EE4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left-head">
            <a:extLst xmlns:a="http://schemas.openxmlformats.org/drawingml/2006/main">
              <a:ext uri="{FF2B5EF4-FFF2-40B4-BE49-F238E27FC236}">
                <a16:creationId xmlns:a16="http://schemas.microsoft.com/office/drawing/2014/main" id="{0D3854A9-5756-43A7-9159-52A06151F4BD}"/>
              </a:ext>
            </a:extLst>
          </p:cNvPr>
          <p:cNvSpPr>
            <a:spLocks xmlns:a="http://schemas.openxmlformats.org/drawingml/2006/main" noGrp="1"/>
          </p:cNvSpPr>
          <p:nvPr/>
        </p:nvSpPr>
        <p:spPr>
          <a:xfrm xmlns:a="http://schemas.openxmlformats.org/drawingml/2006/main">
            <a:off x="6096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Weeks 9 &amp; 11: a clean formula</a:t>
            </a:r>
          </a:p>
        </p:txBody>
      </p:sp>
      <p:sp>
        <p:nvSpPr>
          <p:cNvPr id="7" name="left-body">
            <a:extLst xmlns:a="http://schemas.openxmlformats.org/drawingml/2006/main">
              <a:ext uri="{FF2B5EF4-FFF2-40B4-BE49-F238E27FC236}">
                <a16:creationId xmlns:a16="http://schemas.microsoft.com/office/drawing/2014/main" id="{A39C77B0-756A-4918-94A2-00273372FF7D}"/>
              </a:ext>
            </a:extLst>
          </p:cNvPr>
          <p:cNvSpPr>
            <a:spLocks xmlns:a="http://schemas.openxmlformats.org/drawingml/2006/main" noGrp="1"/>
          </p:cNvSpPr>
          <p:nvPr/>
        </p:nvSpPr>
        <p:spPr>
          <a:xfrm xmlns:a="http://schemas.openxmlformats.org/drawingml/2006/main">
            <a:off x="6096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energy_proxy(wwr, shade_m) was a formula YOU wrote — swept on a grid (Week 9), then minimized directly (Week 11). Every input produced an exact, known output.</a:t>
            </a:r>
          </a:p>
        </p:txBody>
      </p:sp>
      <p:sp>
        <p:nvSpPr>
          <p:cNvPr id="8" name="right-head">
            <a:extLst xmlns:a="http://schemas.openxmlformats.org/drawingml/2006/main">
              <a:ext uri="{FF2B5EF4-FFF2-40B4-BE49-F238E27FC236}">
                <a16:creationId xmlns:a16="http://schemas.microsoft.com/office/drawing/2014/main" id="{BCA33583-B232-44DC-BF85-CEF18680E0F9}"/>
              </a:ext>
            </a:extLst>
          </p:cNvPr>
          <p:cNvSpPr>
            <a:spLocks xmlns:a="http://schemas.openxmlformats.org/drawingml/2006/main" noGrp="1"/>
          </p:cNvSpPr>
          <p:nvPr/>
        </p:nvSpPr>
        <p:spPr>
          <a:xfrm xmlns:a="http://schemas.openxmlformats.org/drawingml/2006/main">
            <a:off x="63627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Week 13: outcomes, no formula</a:t>
            </a:r>
          </a:p>
        </p:txBody>
      </p:sp>
      <p:sp>
        <p:nvSpPr>
          <p:cNvPr id="9" name="right-body">
            <a:extLst xmlns:a="http://schemas.openxmlformats.org/drawingml/2006/main">
              <a:ext uri="{FF2B5EF4-FFF2-40B4-BE49-F238E27FC236}">
                <a16:creationId xmlns:a16="http://schemas.microsoft.com/office/drawing/2014/main" id="{F446A87E-0218-4EDF-931D-5D911DCAF42D}"/>
              </a:ext>
            </a:extLst>
          </p:cNvPr>
          <p:cNvSpPr>
            <a:spLocks xmlns:a="http://schemas.openxmlformats.org/drawingml/2006/main" noGrp="1"/>
          </p:cNvSpPr>
          <p:nvPr/>
        </p:nvSpPr>
        <p:spPr>
          <a:xfrm xmlns:a="http://schemas.openxmlformats.org/drawingml/2006/main">
            <a:off x="63627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Radley Hall's design team simulated 140 real envelope variants — nobody wrote down the formula connecting wwr, shade_m, glazing_shgc to energy use. Today you FIT one, from the outcomes alone.</a:t>
            </a:r>
          </a:p>
        </p:txBody>
      </p:sp>
    </p:spTree>
    <p:extLst>
      <p:ext uri="{BB962C8B-B14F-4D97-AF65-F5344CB8AC3E}">
        <p14:creationId xmlns:p14="http://schemas.microsoft.com/office/powerpoint/2010/main" val="14668798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kicker">
            <a:extLst xmlns:a="http://schemas.openxmlformats.org/drawingml/2006/main">
              <a:ext uri="{FF2B5EF4-FFF2-40B4-BE49-F238E27FC236}">
                <a16:creationId xmlns:a16="http://schemas.microsoft.com/office/drawing/2014/main" id="{1DEF1344-D79C-4EAA-83C4-1B43193FAC4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DE304B6F-5B9D-44C2-B97B-C14CFA35121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radley_portfolio_envelope.csv — 140 explored design variants</a:t>
            </a:r>
          </a:p>
        </p:txBody>
      </p:sp>
      <p:sp>
        <p:nvSpPr>
          <p:cNvPr id="3" name="">
            <a:extLst xmlns:a="http://schemas.openxmlformats.org/drawingml/2006/main">
              <a:ext uri="{FF2B5EF4-FFF2-40B4-BE49-F238E27FC236}">
                <a16:creationId xmlns:a16="http://schemas.microsoft.com/office/drawing/2014/main" id="{7265F585-AD15-4D48-9962-3CBFD3C62F0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C9CC98F-0CD6-41D5-8C7A-AF0B32399C9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203F09D2-CB6F-42EA-999F-85A918C0A48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F150991E-93F1-498F-B1D4-EADBC53A1CC4}"/>
              </a:ext>
            </a:extLst>
          </p:cNvPr>
          <p:cNvSpPr>
            <a:spLocks xmlns:a="http://schemas.openxmlformats.org/drawingml/2006/main" noGrp="1"/>
          </p:cNvSpPr>
          <p:nvPr/>
        </p:nvSpPr>
        <p:spPr>
          <a:xfrm xmlns:a="http://schemas.openxmlformats.org/drawingml/2006/main">
            <a:off x="609600" y="1828800"/>
            <a:ext cx="2396613" cy="47625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FCD11516-F4FA-474A-B710-853E56C36EA0}"/>
              </a:ext>
            </a:extLst>
          </p:cNvPr>
          <p:cNvSpPr>
            <a:spLocks xmlns:a="http://schemas.openxmlformats.org/drawingml/2006/main" noGrp="1"/>
          </p:cNvSpPr>
          <p:nvPr/>
        </p:nvSpPr>
        <p:spPr>
          <a:xfrm xmlns:a="http://schemas.openxmlformats.org/drawingml/2006/main">
            <a:off x="723900" y="190500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column</a:t>
            </a:r>
          </a:p>
        </p:txBody>
      </p:sp>
      <p:sp>
        <p:nvSpPr>
          <p:cNvPr id="8" name="">
            <a:extLst xmlns:a="http://schemas.openxmlformats.org/drawingml/2006/main">
              <a:ext uri="{FF2B5EF4-FFF2-40B4-BE49-F238E27FC236}">
                <a16:creationId xmlns:a16="http://schemas.microsoft.com/office/drawing/2014/main" id="{E35DF011-E820-47E1-B09C-F4752E594E71}"/>
              </a:ext>
            </a:extLst>
          </p:cNvPr>
          <p:cNvSpPr>
            <a:spLocks xmlns:a="http://schemas.openxmlformats.org/drawingml/2006/main" noGrp="1"/>
          </p:cNvSpPr>
          <p:nvPr/>
        </p:nvSpPr>
        <p:spPr>
          <a:xfrm xmlns:a="http://schemas.openxmlformats.org/drawingml/2006/main">
            <a:off x="3006213" y="1828800"/>
            <a:ext cx="5032887" cy="47625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F1628217-D03D-4108-899A-1A80A065811F}"/>
              </a:ext>
            </a:extLst>
          </p:cNvPr>
          <p:cNvSpPr>
            <a:spLocks xmlns:a="http://schemas.openxmlformats.org/drawingml/2006/main" noGrp="1"/>
          </p:cNvSpPr>
          <p:nvPr/>
        </p:nvSpPr>
        <p:spPr>
          <a:xfrm xmlns:a="http://schemas.openxmlformats.org/drawingml/2006/main">
            <a:off x="3120513" y="190500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meaning</a:t>
            </a:r>
          </a:p>
        </p:txBody>
      </p:sp>
      <p:sp>
        <p:nvSpPr>
          <p:cNvPr id="10" name="">
            <a:extLst xmlns:a="http://schemas.openxmlformats.org/drawingml/2006/main">
              <a:ext uri="{FF2B5EF4-FFF2-40B4-BE49-F238E27FC236}">
                <a16:creationId xmlns:a16="http://schemas.microsoft.com/office/drawing/2014/main" id="{ACC732D1-74F6-4914-B21A-B53091767758}"/>
              </a:ext>
            </a:extLst>
          </p:cNvPr>
          <p:cNvSpPr>
            <a:spLocks xmlns:a="http://schemas.openxmlformats.org/drawingml/2006/main" noGrp="1"/>
          </p:cNvSpPr>
          <p:nvPr/>
        </p:nvSpPr>
        <p:spPr>
          <a:xfrm xmlns:a="http://schemas.openxmlformats.org/drawingml/2006/main">
            <a:off x="609600" y="2305050"/>
            <a:ext cx="2396613"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1" name="cell-0-0">
            <a:extLst xmlns:a="http://schemas.openxmlformats.org/drawingml/2006/main">
              <a:ext uri="{FF2B5EF4-FFF2-40B4-BE49-F238E27FC236}">
                <a16:creationId xmlns:a16="http://schemas.microsoft.com/office/drawing/2014/main" id="{58C666E1-506E-4D1E-A627-73B4800F8909}"/>
              </a:ext>
            </a:extLst>
          </p:cNvPr>
          <p:cNvSpPr>
            <a:spLocks xmlns:a="http://schemas.openxmlformats.org/drawingml/2006/main" noGrp="1"/>
          </p:cNvSpPr>
          <p:nvPr/>
        </p:nvSpPr>
        <p:spPr>
          <a:xfrm xmlns:a="http://schemas.openxmlformats.org/drawingml/2006/main">
            <a:off x="723900" y="238125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variant_id</a:t>
            </a:r>
          </a:p>
        </p:txBody>
      </p:sp>
      <p:sp>
        <p:nvSpPr>
          <p:cNvPr id="12" name="">
            <a:extLst xmlns:a="http://schemas.openxmlformats.org/drawingml/2006/main">
              <a:ext uri="{FF2B5EF4-FFF2-40B4-BE49-F238E27FC236}">
                <a16:creationId xmlns:a16="http://schemas.microsoft.com/office/drawing/2014/main" id="{10836566-BD62-43CF-8656-C5D6803DD22D}"/>
              </a:ext>
            </a:extLst>
          </p:cNvPr>
          <p:cNvSpPr>
            <a:spLocks xmlns:a="http://schemas.openxmlformats.org/drawingml/2006/main" noGrp="1"/>
          </p:cNvSpPr>
          <p:nvPr/>
        </p:nvSpPr>
        <p:spPr>
          <a:xfrm xmlns:a="http://schemas.openxmlformats.org/drawingml/2006/main">
            <a:off x="3006213" y="2305050"/>
            <a:ext cx="5032887"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3" name="cell-0-1">
            <a:extLst xmlns:a="http://schemas.openxmlformats.org/drawingml/2006/main">
              <a:ext uri="{FF2B5EF4-FFF2-40B4-BE49-F238E27FC236}">
                <a16:creationId xmlns:a16="http://schemas.microsoft.com/office/drawing/2014/main" id="{73444C9E-4EEE-4FD0-B911-2173657FDEAA}"/>
              </a:ext>
            </a:extLst>
          </p:cNvPr>
          <p:cNvSpPr>
            <a:spLocks xmlns:a="http://schemas.openxmlformats.org/drawingml/2006/main" noGrp="1"/>
          </p:cNvSpPr>
          <p:nvPr/>
        </p:nvSpPr>
        <p:spPr>
          <a:xfrm xmlns:a="http://schemas.openxmlformats.org/drawingml/2006/main">
            <a:off x="3120513" y="238125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V001–V140, one row per explored variant (fictional)</a:t>
            </a:r>
          </a:p>
        </p:txBody>
      </p:sp>
      <p:sp>
        <p:nvSpPr>
          <p:cNvPr id="14" name="">
            <a:extLst xmlns:a="http://schemas.openxmlformats.org/drawingml/2006/main">
              <a:ext uri="{FF2B5EF4-FFF2-40B4-BE49-F238E27FC236}">
                <a16:creationId xmlns:a16="http://schemas.microsoft.com/office/drawing/2014/main" id="{757D8751-8526-4304-9B49-00C6211AD1CA}"/>
              </a:ext>
            </a:extLst>
          </p:cNvPr>
          <p:cNvSpPr>
            <a:spLocks xmlns:a="http://schemas.openxmlformats.org/drawingml/2006/main" noGrp="1"/>
          </p:cNvSpPr>
          <p:nvPr/>
        </p:nvSpPr>
        <p:spPr>
          <a:xfrm xmlns:a="http://schemas.openxmlformats.org/drawingml/2006/main">
            <a:off x="609600" y="2781300"/>
            <a:ext cx="2396613" cy="47625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5" name="cell-1-0">
            <a:extLst xmlns:a="http://schemas.openxmlformats.org/drawingml/2006/main">
              <a:ext uri="{FF2B5EF4-FFF2-40B4-BE49-F238E27FC236}">
                <a16:creationId xmlns:a16="http://schemas.microsoft.com/office/drawing/2014/main" id="{37A7166B-8866-4546-812E-3B84E238B528}"/>
              </a:ext>
            </a:extLst>
          </p:cNvPr>
          <p:cNvSpPr>
            <a:spLocks xmlns:a="http://schemas.openxmlformats.org/drawingml/2006/main" noGrp="1"/>
          </p:cNvSpPr>
          <p:nvPr/>
        </p:nvSpPr>
        <p:spPr>
          <a:xfrm xmlns:a="http://schemas.openxmlformats.org/drawingml/2006/main">
            <a:off x="723900" y="285750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wwr</a:t>
            </a:r>
          </a:p>
        </p:txBody>
      </p:sp>
      <p:sp>
        <p:nvSpPr>
          <p:cNvPr id="16" name="">
            <a:extLst xmlns:a="http://schemas.openxmlformats.org/drawingml/2006/main">
              <a:ext uri="{FF2B5EF4-FFF2-40B4-BE49-F238E27FC236}">
                <a16:creationId xmlns:a16="http://schemas.microsoft.com/office/drawing/2014/main" id="{9109FB3D-7E25-4F6B-81BF-C99951679B14}"/>
              </a:ext>
            </a:extLst>
          </p:cNvPr>
          <p:cNvSpPr>
            <a:spLocks xmlns:a="http://schemas.openxmlformats.org/drawingml/2006/main" noGrp="1"/>
          </p:cNvSpPr>
          <p:nvPr/>
        </p:nvSpPr>
        <p:spPr>
          <a:xfrm xmlns:a="http://schemas.openxmlformats.org/drawingml/2006/main">
            <a:off x="3006213" y="2781300"/>
            <a:ext cx="5032887" cy="47625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17" name="cell-1-1">
            <a:extLst xmlns:a="http://schemas.openxmlformats.org/drawingml/2006/main">
              <a:ext uri="{FF2B5EF4-FFF2-40B4-BE49-F238E27FC236}">
                <a16:creationId xmlns:a16="http://schemas.microsoft.com/office/drawing/2014/main" id="{178844CB-854F-4E52-A824-C55921EEFDD9}"/>
              </a:ext>
            </a:extLst>
          </p:cNvPr>
          <p:cNvSpPr>
            <a:spLocks xmlns:a="http://schemas.openxmlformats.org/drawingml/2006/main" noGrp="1"/>
          </p:cNvSpPr>
          <p:nvPr/>
        </p:nvSpPr>
        <p:spPr>
          <a:xfrm xmlns:a="http://schemas.openxmlformats.org/drawingml/2006/main">
            <a:off x="3120513" y="285750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window-to-wall ratio, 0.20–0.60 — Weeks 9 &amp; 11 bounds</a:t>
            </a:r>
          </a:p>
        </p:txBody>
      </p:sp>
      <p:sp>
        <p:nvSpPr>
          <p:cNvPr id="18" name="">
            <a:extLst xmlns:a="http://schemas.openxmlformats.org/drawingml/2006/main">
              <a:ext uri="{FF2B5EF4-FFF2-40B4-BE49-F238E27FC236}">
                <a16:creationId xmlns:a16="http://schemas.microsoft.com/office/drawing/2014/main" id="{697D525C-481C-4928-88CD-D464FD578A16}"/>
              </a:ext>
            </a:extLst>
          </p:cNvPr>
          <p:cNvSpPr>
            <a:spLocks xmlns:a="http://schemas.openxmlformats.org/drawingml/2006/main" noGrp="1"/>
          </p:cNvSpPr>
          <p:nvPr/>
        </p:nvSpPr>
        <p:spPr>
          <a:xfrm xmlns:a="http://schemas.openxmlformats.org/drawingml/2006/main">
            <a:off x="609600" y="3257550"/>
            <a:ext cx="2396613"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2-0">
            <a:extLst xmlns:a="http://schemas.openxmlformats.org/drawingml/2006/main">
              <a:ext uri="{FF2B5EF4-FFF2-40B4-BE49-F238E27FC236}">
                <a16:creationId xmlns:a16="http://schemas.microsoft.com/office/drawing/2014/main" id="{C548750B-0F6F-4136-964D-53EB949995D6}"/>
              </a:ext>
            </a:extLst>
          </p:cNvPr>
          <p:cNvSpPr>
            <a:spLocks xmlns:a="http://schemas.openxmlformats.org/drawingml/2006/main" noGrp="1"/>
          </p:cNvSpPr>
          <p:nvPr/>
        </p:nvSpPr>
        <p:spPr>
          <a:xfrm xmlns:a="http://schemas.openxmlformats.org/drawingml/2006/main">
            <a:off x="723900" y="333375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shade_m</a:t>
            </a:r>
          </a:p>
        </p:txBody>
      </p:sp>
      <p:sp>
        <p:nvSpPr>
          <p:cNvPr id="20" name="">
            <a:extLst xmlns:a="http://schemas.openxmlformats.org/drawingml/2006/main">
              <a:ext uri="{FF2B5EF4-FFF2-40B4-BE49-F238E27FC236}">
                <a16:creationId xmlns:a16="http://schemas.microsoft.com/office/drawing/2014/main" id="{EBD7C3E8-2884-428A-A1B6-50C01ED39F18}"/>
              </a:ext>
            </a:extLst>
          </p:cNvPr>
          <p:cNvSpPr>
            <a:spLocks xmlns:a="http://schemas.openxmlformats.org/drawingml/2006/main" noGrp="1"/>
          </p:cNvSpPr>
          <p:nvPr/>
        </p:nvSpPr>
        <p:spPr>
          <a:xfrm xmlns:a="http://schemas.openxmlformats.org/drawingml/2006/main">
            <a:off x="3006213" y="3257550"/>
            <a:ext cx="5032887"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2-1">
            <a:extLst xmlns:a="http://schemas.openxmlformats.org/drawingml/2006/main">
              <a:ext uri="{FF2B5EF4-FFF2-40B4-BE49-F238E27FC236}">
                <a16:creationId xmlns:a16="http://schemas.microsoft.com/office/drawing/2014/main" id="{38C40C6A-D024-4F78-A7C8-2B032B7226B4}"/>
              </a:ext>
            </a:extLst>
          </p:cNvPr>
          <p:cNvSpPr>
            <a:spLocks xmlns:a="http://schemas.openxmlformats.org/drawingml/2006/main" noGrp="1"/>
          </p:cNvSpPr>
          <p:nvPr/>
        </p:nvSpPr>
        <p:spPr>
          <a:xfrm xmlns:a="http://schemas.openxmlformats.org/drawingml/2006/main">
            <a:off x="3120513" y="333375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overhang depth (m), 0.0–1.2 — Weeks 9 &amp; 11 bounds</a:t>
            </a:r>
          </a:p>
        </p:txBody>
      </p:sp>
      <p:sp>
        <p:nvSpPr>
          <p:cNvPr id="22" name="">
            <a:extLst xmlns:a="http://schemas.openxmlformats.org/drawingml/2006/main">
              <a:ext uri="{FF2B5EF4-FFF2-40B4-BE49-F238E27FC236}">
                <a16:creationId xmlns:a16="http://schemas.microsoft.com/office/drawing/2014/main" id="{076EF37C-D3F7-4452-A1A6-B544AA828DCB}"/>
              </a:ext>
            </a:extLst>
          </p:cNvPr>
          <p:cNvSpPr>
            <a:spLocks xmlns:a="http://schemas.openxmlformats.org/drawingml/2006/main" noGrp="1"/>
          </p:cNvSpPr>
          <p:nvPr/>
        </p:nvSpPr>
        <p:spPr>
          <a:xfrm xmlns:a="http://schemas.openxmlformats.org/drawingml/2006/main">
            <a:off x="609600" y="3733800"/>
            <a:ext cx="2396613" cy="47625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3-0">
            <a:extLst xmlns:a="http://schemas.openxmlformats.org/drawingml/2006/main">
              <a:ext uri="{FF2B5EF4-FFF2-40B4-BE49-F238E27FC236}">
                <a16:creationId xmlns:a16="http://schemas.microsoft.com/office/drawing/2014/main" id="{217D331B-A73F-4C20-A809-055B785BAF6A}"/>
              </a:ext>
            </a:extLst>
          </p:cNvPr>
          <p:cNvSpPr>
            <a:spLocks xmlns:a="http://schemas.openxmlformats.org/drawingml/2006/main" noGrp="1"/>
          </p:cNvSpPr>
          <p:nvPr/>
        </p:nvSpPr>
        <p:spPr>
          <a:xfrm xmlns:a="http://schemas.openxmlformats.org/drawingml/2006/main">
            <a:off x="723900" y="381000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glazing_shgc</a:t>
            </a:r>
          </a:p>
        </p:txBody>
      </p:sp>
      <p:sp>
        <p:nvSpPr>
          <p:cNvPr id="24" name="">
            <a:extLst xmlns:a="http://schemas.openxmlformats.org/drawingml/2006/main">
              <a:ext uri="{FF2B5EF4-FFF2-40B4-BE49-F238E27FC236}">
                <a16:creationId xmlns:a16="http://schemas.microsoft.com/office/drawing/2014/main" id="{91095E37-00E6-4680-8FF8-F7078B46615B}"/>
              </a:ext>
            </a:extLst>
          </p:cNvPr>
          <p:cNvSpPr>
            <a:spLocks xmlns:a="http://schemas.openxmlformats.org/drawingml/2006/main" noGrp="1"/>
          </p:cNvSpPr>
          <p:nvPr/>
        </p:nvSpPr>
        <p:spPr>
          <a:xfrm xmlns:a="http://schemas.openxmlformats.org/drawingml/2006/main">
            <a:off x="3006213" y="3733800"/>
            <a:ext cx="5032887" cy="47625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3-1">
            <a:extLst xmlns:a="http://schemas.openxmlformats.org/drawingml/2006/main">
              <a:ext uri="{FF2B5EF4-FFF2-40B4-BE49-F238E27FC236}">
                <a16:creationId xmlns:a16="http://schemas.microsoft.com/office/drawing/2014/main" id="{99EDB20C-76A9-4167-B1E6-50B466334D06}"/>
              </a:ext>
            </a:extLst>
          </p:cNvPr>
          <p:cNvSpPr>
            <a:spLocks xmlns:a="http://schemas.openxmlformats.org/drawingml/2006/main" noGrp="1"/>
          </p:cNvSpPr>
          <p:nvPr/>
        </p:nvSpPr>
        <p:spPr>
          <a:xfrm xmlns:a="http://schemas.openxmlformats.org/drawingml/2006/main">
            <a:off x="3120513" y="381000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glazing solar heat gain coefficient, 0.25–0.65</a:t>
            </a:r>
          </a:p>
        </p:txBody>
      </p:sp>
      <p:sp>
        <p:nvSpPr>
          <p:cNvPr id="26" name="">
            <a:extLst xmlns:a="http://schemas.openxmlformats.org/drawingml/2006/main">
              <a:ext uri="{FF2B5EF4-FFF2-40B4-BE49-F238E27FC236}">
                <a16:creationId xmlns:a16="http://schemas.microsoft.com/office/drawing/2014/main" id="{69CBF6AF-50EC-46FA-B3D9-C7621722F1BE}"/>
              </a:ext>
            </a:extLst>
          </p:cNvPr>
          <p:cNvSpPr>
            <a:spLocks xmlns:a="http://schemas.openxmlformats.org/drawingml/2006/main" noGrp="1"/>
          </p:cNvSpPr>
          <p:nvPr/>
        </p:nvSpPr>
        <p:spPr>
          <a:xfrm xmlns:a="http://schemas.openxmlformats.org/drawingml/2006/main">
            <a:off x="609600" y="4210050"/>
            <a:ext cx="2396613"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4-0">
            <a:extLst xmlns:a="http://schemas.openxmlformats.org/drawingml/2006/main">
              <a:ext uri="{FF2B5EF4-FFF2-40B4-BE49-F238E27FC236}">
                <a16:creationId xmlns:a16="http://schemas.microsoft.com/office/drawing/2014/main" id="{9544CACC-4FEE-495A-A2FE-E9DA4B162C2F}"/>
              </a:ext>
            </a:extLst>
          </p:cNvPr>
          <p:cNvSpPr>
            <a:spLocks xmlns:a="http://schemas.openxmlformats.org/drawingml/2006/main" noGrp="1"/>
          </p:cNvSpPr>
          <p:nvPr/>
        </p:nvSpPr>
        <p:spPr>
          <a:xfrm xmlns:a="http://schemas.openxmlformats.org/drawingml/2006/main">
            <a:off x="723900" y="428625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compactness</a:t>
            </a:r>
          </a:p>
        </p:txBody>
      </p:sp>
      <p:sp>
        <p:nvSpPr>
          <p:cNvPr id="28" name="">
            <a:extLst xmlns:a="http://schemas.openxmlformats.org/drawingml/2006/main">
              <a:ext uri="{FF2B5EF4-FFF2-40B4-BE49-F238E27FC236}">
                <a16:creationId xmlns:a16="http://schemas.microsoft.com/office/drawing/2014/main" id="{0257E2D1-144B-4354-B47C-9D7288AE0AC6}"/>
              </a:ext>
            </a:extLst>
          </p:cNvPr>
          <p:cNvSpPr>
            <a:spLocks xmlns:a="http://schemas.openxmlformats.org/drawingml/2006/main" noGrp="1"/>
          </p:cNvSpPr>
          <p:nvPr/>
        </p:nvSpPr>
        <p:spPr>
          <a:xfrm xmlns:a="http://schemas.openxmlformats.org/drawingml/2006/main">
            <a:off x="3006213" y="4210050"/>
            <a:ext cx="5032887"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4-1">
            <a:extLst xmlns:a="http://schemas.openxmlformats.org/drawingml/2006/main">
              <a:ext uri="{FF2B5EF4-FFF2-40B4-BE49-F238E27FC236}">
                <a16:creationId xmlns:a16="http://schemas.microsoft.com/office/drawing/2014/main" id="{E00AF431-FCE5-4300-87C5-1C92E383CD1C}"/>
              </a:ext>
            </a:extLst>
          </p:cNvPr>
          <p:cNvSpPr>
            <a:spLocks xmlns:a="http://schemas.openxmlformats.org/drawingml/2006/main" noGrp="1"/>
          </p:cNvSpPr>
          <p:nvPr/>
        </p:nvSpPr>
        <p:spPr>
          <a:xfrm xmlns:a="http://schemas.openxmlformats.org/drawingml/2006/main">
            <a:off x="3120513" y="428625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surface-to-volume proxy — added back in Week 14</a:t>
            </a:r>
          </a:p>
        </p:txBody>
      </p:sp>
      <p:sp>
        <p:nvSpPr>
          <p:cNvPr id="30" name="">
            <a:extLst xmlns:a="http://schemas.openxmlformats.org/drawingml/2006/main">
              <a:ext uri="{FF2B5EF4-FFF2-40B4-BE49-F238E27FC236}">
                <a16:creationId xmlns:a16="http://schemas.microsoft.com/office/drawing/2014/main" id="{63BEFADE-C886-438B-AF09-AD8846760C57}"/>
              </a:ext>
            </a:extLst>
          </p:cNvPr>
          <p:cNvSpPr>
            <a:spLocks xmlns:a="http://schemas.openxmlformats.org/drawingml/2006/main" noGrp="1"/>
          </p:cNvSpPr>
          <p:nvPr/>
        </p:nvSpPr>
        <p:spPr>
          <a:xfrm xmlns:a="http://schemas.openxmlformats.org/drawingml/2006/main">
            <a:off x="609600" y="4686300"/>
            <a:ext cx="2396613" cy="47625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1" name="cell-5-0">
            <a:extLst xmlns:a="http://schemas.openxmlformats.org/drawingml/2006/main">
              <a:ext uri="{FF2B5EF4-FFF2-40B4-BE49-F238E27FC236}">
                <a16:creationId xmlns:a16="http://schemas.microsoft.com/office/drawing/2014/main" id="{82A15A18-89C1-41CF-8531-FF34D232D064}"/>
              </a:ext>
            </a:extLst>
          </p:cNvPr>
          <p:cNvSpPr>
            <a:spLocks xmlns:a="http://schemas.openxmlformats.org/drawingml/2006/main" noGrp="1"/>
          </p:cNvSpPr>
          <p:nvPr/>
        </p:nvSpPr>
        <p:spPr>
          <a:xfrm xmlns:a="http://schemas.openxmlformats.org/drawingml/2006/main">
            <a:off x="723900" y="476250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orientation</a:t>
            </a:r>
          </a:p>
        </p:txBody>
      </p:sp>
      <p:sp>
        <p:nvSpPr>
          <p:cNvPr id="32" name="">
            <a:extLst xmlns:a="http://schemas.openxmlformats.org/drawingml/2006/main">
              <a:ext uri="{FF2B5EF4-FFF2-40B4-BE49-F238E27FC236}">
                <a16:creationId xmlns:a16="http://schemas.microsoft.com/office/drawing/2014/main" id="{71D0D0F5-B9D8-4E65-BCC5-B8DCB6229583}"/>
              </a:ext>
            </a:extLst>
          </p:cNvPr>
          <p:cNvSpPr>
            <a:spLocks xmlns:a="http://schemas.openxmlformats.org/drawingml/2006/main" noGrp="1"/>
          </p:cNvSpPr>
          <p:nvPr/>
        </p:nvSpPr>
        <p:spPr>
          <a:xfrm xmlns:a="http://schemas.openxmlformats.org/drawingml/2006/main">
            <a:off x="3006213" y="4686300"/>
            <a:ext cx="5032887" cy="47625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3" name="cell-5-1">
            <a:extLst xmlns:a="http://schemas.openxmlformats.org/drawingml/2006/main">
              <a:ext uri="{FF2B5EF4-FFF2-40B4-BE49-F238E27FC236}">
                <a16:creationId xmlns:a16="http://schemas.microsoft.com/office/drawing/2014/main" id="{DBE9B886-CEB8-4A2C-BD51-75FF019D60F0}"/>
              </a:ext>
            </a:extLst>
          </p:cNvPr>
          <p:cNvSpPr>
            <a:spLocks xmlns:a="http://schemas.openxmlformats.org/drawingml/2006/main" noGrp="1"/>
          </p:cNvSpPr>
          <p:nvPr/>
        </p:nvSpPr>
        <p:spPr>
          <a:xfrm xmlns:a="http://schemas.openxmlformats.org/drawingml/2006/main">
            <a:off x="3120513" y="476250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N/E/S/W facade — diagnosis only, never a feature</a:t>
            </a:r>
          </a:p>
        </p:txBody>
      </p:sp>
      <p:sp>
        <p:nvSpPr>
          <p:cNvPr id="34" name="">
            <a:extLst xmlns:a="http://schemas.openxmlformats.org/drawingml/2006/main">
              <a:ext uri="{FF2B5EF4-FFF2-40B4-BE49-F238E27FC236}">
                <a16:creationId xmlns:a16="http://schemas.microsoft.com/office/drawing/2014/main" id="{C3F595EC-461B-4B73-968E-5FBBF37FC811}"/>
              </a:ext>
            </a:extLst>
          </p:cNvPr>
          <p:cNvSpPr>
            <a:spLocks xmlns:a="http://schemas.openxmlformats.org/drawingml/2006/main" noGrp="1"/>
          </p:cNvSpPr>
          <p:nvPr/>
        </p:nvSpPr>
        <p:spPr>
          <a:xfrm xmlns:a="http://schemas.openxmlformats.org/drawingml/2006/main">
            <a:off x="609600" y="5162550"/>
            <a:ext cx="2396613"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6-0">
            <a:extLst xmlns:a="http://schemas.openxmlformats.org/drawingml/2006/main">
              <a:ext uri="{FF2B5EF4-FFF2-40B4-BE49-F238E27FC236}">
                <a16:creationId xmlns:a16="http://schemas.microsoft.com/office/drawing/2014/main" id="{F1BBDC6F-36F7-45D1-B872-0CBDBEC733A9}"/>
              </a:ext>
            </a:extLst>
          </p:cNvPr>
          <p:cNvSpPr>
            <a:spLocks xmlns:a="http://schemas.openxmlformats.org/drawingml/2006/main" noGrp="1"/>
          </p:cNvSpPr>
          <p:nvPr/>
        </p:nvSpPr>
        <p:spPr>
          <a:xfrm xmlns:a="http://schemas.openxmlformats.org/drawingml/2006/main">
            <a:off x="723900" y="523875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eui_kwh_m2yr</a:t>
            </a:r>
          </a:p>
        </p:txBody>
      </p:sp>
      <p:sp>
        <p:nvSpPr>
          <p:cNvPr id="36" name="">
            <a:extLst xmlns:a="http://schemas.openxmlformats.org/drawingml/2006/main">
              <a:ext uri="{FF2B5EF4-FFF2-40B4-BE49-F238E27FC236}">
                <a16:creationId xmlns:a16="http://schemas.microsoft.com/office/drawing/2014/main" id="{C7C3D6D0-4713-41AD-90EB-5EB854103371}"/>
              </a:ext>
            </a:extLst>
          </p:cNvPr>
          <p:cNvSpPr>
            <a:spLocks xmlns:a="http://schemas.openxmlformats.org/drawingml/2006/main" noGrp="1"/>
          </p:cNvSpPr>
          <p:nvPr/>
        </p:nvSpPr>
        <p:spPr>
          <a:xfrm xmlns:a="http://schemas.openxmlformats.org/drawingml/2006/main">
            <a:off x="3006213" y="5162550"/>
            <a:ext cx="5032887"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6-1">
            <a:extLst xmlns:a="http://schemas.openxmlformats.org/drawingml/2006/main">
              <a:ext uri="{FF2B5EF4-FFF2-40B4-BE49-F238E27FC236}">
                <a16:creationId xmlns:a16="http://schemas.microsoft.com/office/drawing/2014/main" id="{9ED5A779-8BD1-45ED-B118-2B9616A02407}"/>
              </a:ext>
            </a:extLst>
          </p:cNvPr>
          <p:cNvSpPr>
            <a:spLocks xmlns:a="http://schemas.openxmlformats.org/drawingml/2006/main" noGrp="1"/>
          </p:cNvSpPr>
          <p:nvPr/>
        </p:nvSpPr>
        <p:spPr>
          <a:xfrm xmlns:a="http://schemas.openxmlformats.org/drawingml/2006/main">
            <a:off x="3120513" y="523875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TARGET — simulated annual energy intensity</a:t>
            </a:r>
          </a:p>
        </p:txBody>
      </p:sp>
      <p:sp>
        <p:nvSpPr>
          <p:cNvPr id="38" name="">
            <a:extLst xmlns:a="http://schemas.openxmlformats.org/drawingml/2006/main">
              <a:ext uri="{FF2B5EF4-FFF2-40B4-BE49-F238E27FC236}">
                <a16:creationId xmlns:a16="http://schemas.microsoft.com/office/drawing/2014/main" id="{3A508E27-BDA0-4970-A1AE-C112322231B1}"/>
              </a:ext>
            </a:extLst>
          </p:cNvPr>
          <p:cNvSpPr>
            <a:spLocks xmlns:a="http://schemas.openxmlformats.org/drawingml/2006/main" noGrp="1"/>
          </p:cNvSpPr>
          <p:nvPr/>
        </p:nvSpPr>
        <p:spPr>
          <a:xfrm xmlns:a="http://schemas.openxmlformats.org/drawingml/2006/main">
            <a:off x="609600" y="5638800"/>
            <a:ext cx="2396613" cy="47625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7-0">
            <a:extLst xmlns:a="http://schemas.openxmlformats.org/drawingml/2006/main">
              <a:ext uri="{FF2B5EF4-FFF2-40B4-BE49-F238E27FC236}">
                <a16:creationId xmlns:a16="http://schemas.microsoft.com/office/drawing/2014/main" id="{3D3ADDB4-04AF-4932-B07E-FED8FB0553DF}"/>
              </a:ext>
            </a:extLst>
          </p:cNvPr>
          <p:cNvSpPr>
            <a:spLocks xmlns:a="http://schemas.openxmlformats.org/drawingml/2006/main" noGrp="1"/>
          </p:cNvSpPr>
          <p:nvPr/>
        </p:nvSpPr>
        <p:spPr>
          <a:xfrm xmlns:a="http://schemas.openxmlformats.org/drawingml/2006/main">
            <a:off x="723900" y="5715000"/>
            <a:ext cx="2168013"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est_annual_cost_index</a:t>
            </a:r>
          </a:p>
        </p:txBody>
      </p:sp>
      <p:sp>
        <p:nvSpPr>
          <p:cNvPr id="40" name="">
            <a:extLst xmlns:a="http://schemas.openxmlformats.org/drawingml/2006/main">
              <a:ext uri="{FF2B5EF4-FFF2-40B4-BE49-F238E27FC236}">
                <a16:creationId xmlns:a16="http://schemas.microsoft.com/office/drawing/2014/main" id="{FA91EEA0-0103-4E79-92DD-21A11809AEEE}"/>
              </a:ext>
            </a:extLst>
          </p:cNvPr>
          <p:cNvSpPr>
            <a:spLocks xmlns:a="http://schemas.openxmlformats.org/drawingml/2006/main" noGrp="1"/>
          </p:cNvSpPr>
          <p:nvPr/>
        </p:nvSpPr>
        <p:spPr>
          <a:xfrm xmlns:a="http://schemas.openxmlformats.org/drawingml/2006/main">
            <a:off x="3006213" y="5638800"/>
            <a:ext cx="5032887" cy="47625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7-1">
            <a:extLst xmlns:a="http://schemas.openxmlformats.org/drawingml/2006/main">
              <a:ext uri="{FF2B5EF4-FFF2-40B4-BE49-F238E27FC236}">
                <a16:creationId xmlns:a16="http://schemas.microsoft.com/office/drawing/2014/main" id="{59BAC62B-1E8B-42E7-81FC-391DF169656A}"/>
              </a:ext>
            </a:extLst>
          </p:cNvPr>
          <p:cNvSpPr>
            <a:spLocks xmlns:a="http://schemas.openxmlformats.org/drawingml/2006/main" noGrp="1"/>
          </p:cNvSpPr>
          <p:nvPr/>
        </p:nvSpPr>
        <p:spPr>
          <a:xfrm xmlns:a="http://schemas.openxmlformats.org/drawingml/2006/main">
            <a:off x="3120513" y="5715000"/>
            <a:ext cx="4804287"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reporting-only cost proxy — never a feature</a:t>
            </a:r>
          </a:p>
        </p:txBody>
      </p:sp>
      <p:sp>
        <p:nvSpPr>
          <p:cNvPr id="42" name="callout-label">
            <a:extLst xmlns:a="http://schemas.openxmlformats.org/drawingml/2006/main">
              <a:ext uri="{FF2B5EF4-FFF2-40B4-BE49-F238E27FC236}">
                <a16:creationId xmlns:a16="http://schemas.microsoft.com/office/drawing/2014/main" id="{594431D1-E18A-4B4F-A522-62C611208EDF}"/>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3" name="callout">
            <a:extLst xmlns:a="http://schemas.openxmlformats.org/drawingml/2006/main">
              <a:ext uri="{FF2B5EF4-FFF2-40B4-BE49-F238E27FC236}">
                <a16:creationId xmlns:a16="http://schemas.microsoft.com/office/drawing/2014/main" id="{1114A93E-D00C-4E2F-82EE-F5626B223946}"/>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n=140 rows. Today's model uses only 3 columns as FEATURES: wwr, shade_m, glazing_shgc.</a:t>
            </a:r>
          </a:p>
        </p:txBody>
      </p:sp>
    </p:spTree>
    <p:extLst>
      <p:ext uri="{BB962C8B-B14F-4D97-AF65-F5344CB8AC3E}">
        <p14:creationId xmlns:p14="http://schemas.microsoft.com/office/powerpoint/2010/main" val="12038686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3895D0F5-C973-4AFD-8B5A-162B6FBA52F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AA853DB8-CB25-454A-8E6B-4EE3EC1830F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Feature, defined</a:t>
            </a:r>
          </a:p>
        </p:txBody>
      </p:sp>
      <p:sp>
        <p:nvSpPr>
          <p:cNvPr id="3" name="">
            <a:extLst xmlns:a="http://schemas.openxmlformats.org/drawingml/2006/main">
              <a:ext uri="{FF2B5EF4-FFF2-40B4-BE49-F238E27FC236}">
                <a16:creationId xmlns:a16="http://schemas.microsoft.com/office/drawing/2014/main" id="{DE4883EC-A32B-4450-BD33-DD5CD9695CE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63D5E6F-37F0-405D-918B-704DE1474EF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78A6D9D4-ED94-4BBF-B03F-75C9C0F29D5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term-label">
            <a:extLst xmlns:a="http://schemas.openxmlformats.org/drawingml/2006/main">
              <a:ext uri="{FF2B5EF4-FFF2-40B4-BE49-F238E27FC236}">
                <a16:creationId xmlns:a16="http://schemas.microsoft.com/office/drawing/2014/main" id="{2AB0F9A1-236F-4C14-9C8E-A91F3F4E2561}"/>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CEDFFA60-DF65-4658-9FE5-528B7E8DC480}"/>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feature</a:t>
            </a:r>
          </a:p>
        </p:txBody>
      </p:sp>
      <p:sp>
        <p:nvSpPr>
          <p:cNvPr id="8" name="">
            <a:extLst xmlns:a="http://schemas.openxmlformats.org/drawingml/2006/main">
              <a:ext uri="{FF2B5EF4-FFF2-40B4-BE49-F238E27FC236}">
                <a16:creationId xmlns:a16="http://schemas.microsoft.com/office/drawing/2014/main" id="{CBA5C207-8197-473C-B128-109A0432151A}"/>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98F3543C-E61C-41E0-9314-877599F2EA18}"/>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An input column a model is allowed to use to make its prediction. Also called a predictor or independent variable.</a:t>
            </a:r>
          </a:p>
        </p:txBody>
      </p:sp>
      <p:sp>
        <p:nvSpPr>
          <p:cNvPr id="10" name="example-panel">
            <a:extLst xmlns:a="http://schemas.openxmlformats.org/drawingml/2006/main">
              <a:ext uri="{FF2B5EF4-FFF2-40B4-BE49-F238E27FC236}">
                <a16:creationId xmlns:a16="http://schemas.microsoft.com/office/drawing/2014/main" id="{6A64620B-1A99-4E80-B6B8-0C1ABDEB6E99}"/>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7F676ACA-8B66-4D14-B7DF-C2FB782C3885}"/>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TODAY'S FEATURES</a:t>
            </a:r>
          </a:p>
        </p:txBody>
      </p:sp>
      <p:sp>
        <p:nvSpPr>
          <p:cNvPr id="12" name="example-head">
            <a:extLst xmlns:a="http://schemas.openxmlformats.org/drawingml/2006/main">
              <a:ext uri="{FF2B5EF4-FFF2-40B4-BE49-F238E27FC236}">
                <a16:creationId xmlns:a16="http://schemas.microsoft.com/office/drawing/2014/main" id="{545A4F0A-5160-4F42-85D7-9C93E11B8982}"/>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wwr, shade_m, glazing_shgc</a:t>
            </a:r>
          </a:p>
        </p:txBody>
      </p:sp>
      <p:sp>
        <p:nvSpPr>
          <p:cNvPr id="13" name="example-body">
            <a:extLst xmlns:a="http://schemas.openxmlformats.org/drawingml/2006/main">
              <a:ext uri="{FF2B5EF4-FFF2-40B4-BE49-F238E27FC236}">
                <a16:creationId xmlns:a16="http://schemas.microsoft.com/office/drawing/2014/main" id="{2B449375-907E-4A56-BEAA-7AA9FC153B80}"/>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Today's three features. The model reads these three columns for every row — nothing else — to produce a predicted eui_kwh_m2yr.</a:t>
            </a:r>
          </a:p>
        </p:txBody>
      </p:sp>
      <p:sp>
        <p:nvSpPr>
          <p:cNvPr id="14" name="note-bar">
            <a:extLst xmlns:a="http://schemas.openxmlformats.org/drawingml/2006/main">
              <a:ext uri="{FF2B5EF4-FFF2-40B4-BE49-F238E27FC236}">
                <a16:creationId xmlns:a16="http://schemas.microsoft.com/office/drawing/2014/main" id="{9D79EA3D-14D4-4033-B132-BB89CB28A998}"/>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4F09A48C-880E-400B-9139-9D339053A38F}"/>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EE0E188E-97AF-4B55-A3ED-3935728A347F}"/>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compactness and orientation are real columns in this dataset too — but they are NOT features in today's model; only wwr, shade_m, glazing_shgc are. Week 14 adds compactness back in.</a:t>
            </a:r>
          </a:p>
        </p:txBody>
      </p:sp>
    </p:spTree>
    <p:extLst>
      <p:ext uri="{BB962C8B-B14F-4D97-AF65-F5344CB8AC3E}">
        <p14:creationId xmlns:p14="http://schemas.microsoft.com/office/powerpoint/2010/main" val="7326613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3438C3C-E137-4A07-8FC9-AE6BC8BBCDA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393FFEF7-72DC-46A0-9EBA-ACFFEEE01FB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Target, defined</a:t>
            </a:r>
          </a:p>
        </p:txBody>
      </p:sp>
      <p:sp>
        <p:nvSpPr>
          <p:cNvPr id="3" name="">
            <a:extLst xmlns:a="http://schemas.openxmlformats.org/drawingml/2006/main">
              <a:ext uri="{FF2B5EF4-FFF2-40B4-BE49-F238E27FC236}">
                <a16:creationId xmlns:a16="http://schemas.microsoft.com/office/drawing/2014/main" id="{E534DC42-BD89-4E67-862F-48B41D12C9E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E94C17A-9EED-4BC2-AD27-6A88DA03109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94DA7E4D-9CD0-4C14-88DC-4115A8B8DFB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term-label">
            <a:extLst xmlns:a="http://schemas.openxmlformats.org/drawingml/2006/main">
              <a:ext uri="{FF2B5EF4-FFF2-40B4-BE49-F238E27FC236}">
                <a16:creationId xmlns:a16="http://schemas.microsoft.com/office/drawing/2014/main" id="{7B7811CF-092C-4516-A2D3-B0ED2BDEC20D}"/>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4FC5F822-8109-471B-8B68-F57767630957}"/>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target</a:t>
            </a:r>
          </a:p>
        </p:txBody>
      </p:sp>
      <p:sp>
        <p:nvSpPr>
          <p:cNvPr id="8" name="">
            <a:extLst xmlns:a="http://schemas.openxmlformats.org/drawingml/2006/main">
              <a:ext uri="{FF2B5EF4-FFF2-40B4-BE49-F238E27FC236}">
                <a16:creationId xmlns:a16="http://schemas.microsoft.com/office/drawing/2014/main" id="{83257497-7B47-429B-9473-87FB1D1EC6C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E9F7A686-E809-4148-8970-8EAA069E86E4}"/>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column you are trying to predict. Also called the label or dependent variable.</a:t>
            </a:r>
          </a:p>
        </p:txBody>
      </p:sp>
      <p:sp>
        <p:nvSpPr>
          <p:cNvPr id="10" name="example-panel">
            <a:extLst xmlns:a="http://schemas.openxmlformats.org/drawingml/2006/main">
              <a:ext uri="{FF2B5EF4-FFF2-40B4-BE49-F238E27FC236}">
                <a16:creationId xmlns:a16="http://schemas.microsoft.com/office/drawing/2014/main" id="{2E1B70CE-1C8A-4291-AEFB-6305AF58AFDD}"/>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D728C4FE-4261-4C7E-9DD1-D41D21BB5554}"/>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TODAY'S TARGET</a:t>
            </a:r>
          </a:p>
        </p:txBody>
      </p:sp>
      <p:sp>
        <p:nvSpPr>
          <p:cNvPr id="12" name="example-head">
            <a:extLst xmlns:a="http://schemas.openxmlformats.org/drawingml/2006/main">
              <a:ext uri="{FF2B5EF4-FFF2-40B4-BE49-F238E27FC236}">
                <a16:creationId xmlns:a16="http://schemas.microsoft.com/office/drawing/2014/main" id="{CC396905-F732-4F41-91FC-C58AB1852AF9}"/>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eui_kwh_m2yr</a:t>
            </a:r>
          </a:p>
        </p:txBody>
      </p:sp>
      <p:sp>
        <p:nvSpPr>
          <p:cNvPr id="13" name="example-body">
            <a:extLst xmlns:a="http://schemas.openxmlformats.org/drawingml/2006/main">
              <a:ext uri="{FF2B5EF4-FFF2-40B4-BE49-F238E27FC236}">
                <a16:creationId xmlns:a16="http://schemas.microsoft.com/office/drawing/2014/main" id="{4298E4E3-3F4B-42EB-AB7D-FD25481501EA}"/>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Today's target — the simulated annual energy-use-intensity proxy every one of the 140 design variants actually achieved.</a:t>
            </a:r>
          </a:p>
        </p:txBody>
      </p:sp>
      <p:sp>
        <p:nvSpPr>
          <p:cNvPr id="14" name="note-bar">
            <a:extLst xmlns:a="http://schemas.openxmlformats.org/drawingml/2006/main">
              <a:ext uri="{FF2B5EF4-FFF2-40B4-BE49-F238E27FC236}">
                <a16:creationId xmlns:a16="http://schemas.microsoft.com/office/drawing/2014/main" id="{D4B866CD-7BBA-4AE9-BADA-B98E5A00CE88}"/>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40995539-F405-4B55-A523-29E1193841F3}"/>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WATCH FOR THIS</a:t>
            </a:r>
          </a:p>
        </p:txBody>
      </p:sp>
      <p:sp>
        <p:nvSpPr>
          <p:cNvPr id="16" name="note">
            <a:extLst xmlns:a="http://schemas.openxmlformats.org/drawingml/2006/main">
              <a:ext uri="{FF2B5EF4-FFF2-40B4-BE49-F238E27FC236}">
                <a16:creationId xmlns:a16="http://schemas.microsoft.com/office/drawing/2014/main" id="{CCAC3693-0AD2-4711-A4E0-1BDD696E087A}"/>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est_annual_cost_index is neither a feature nor the target today — it LOOKS like it could be a feature. That is exactly the trap this deck ends on.</a:t>
            </a:r>
          </a:p>
        </p:txBody>
      </p:sp>
    </p:spTree>
    <p:extLst>
      <p:ext uri="{BB962C8B-B14F-4D97-AF65-F5344CB8AC3E}">
        <p14:creationId xmlns:p14="http://schemas.microsoft.com/office/powerpoint/2010/main" val="11330253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5ADC72C1-017C-4A32-8ACD-A8B92007E8C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6070CD64-E4C3-44EA-A0C2-FE23E00664A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Supervised, defined</a:t>
            </a:r>
          </a:p>
        </p:txBody>
      </p:sp>
      <p:sp>
        <p:nvSpPr>
          <p:cNvPr id="3" name="">
            <a:extLst xmlns:a="http://schemas.openxmlformats.org/drawingml/2006/main">
              <a:ext uri="{FF2B5EF4-FFF2-40B4-BE49-F238E27FC236}">
                <a16:creationId xmlns:a16="http://schemas.microsoft.com/office/drawing/2014/main" id="{53E39780-8A79-49E4-A90C-9868242B807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FCA338C-C99A-4A41-B316-30F7669D917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1205D2EC-EF9C-4E1D-BA2F-774826B9A21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term-label">
            <a:extLst xmlns:a="http://schemas.openxmlformats.org/drawingml/2006/main">
              <a:ext uri="{FF2B5EF4-FFF2-40B4-BE49-F238E27FC236}">
                <a16:creationId xmlns:a16="http://schemas.microsoft.com/office/drawing/2014/main" id="{565B5561-44AC-4F07-88C0-C3D5DF413023}"/>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4DEE2EDE-3C05-44A2-895E-14C4C5364FA7}"/>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supervised</a:t>
            </a:r>
          </a:p>
        </p:txBody>
      </p:sp>
      <p:sp>
        <p:nvSpPr>
          <p:cNvPr id="8" name="">
            <a:extLst xmlns:a="http://schemas.openxmlformats.org/drawingml/2006/main">
              <a:ext uri="{FF2B5EF4-FFF2-40B4-BE49-F238E27FC236}">
                <a16:creationId xmlns:a16="http://schemas.microsoft.com/office/drawing/2014/main" id="{C9D45C0D-11C8-437B-BFEC-07576BFA3EE7}"/>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3E440946-8E17-467F-BEDA-F349D368BD73}"/>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training data already includes the correct target value for every row. The model learns from known answers, not from trial and error.</a:t>
            </a:r>
          </a:p>
        </p:txBody>
      </p:sp>
      <p:sp>
        <p:nvSpPr>
          <p:cNvPr id="10" name="example-panel">
            <a:extLst xmlns:a="http://schemas.openxmlformats.org/drawingml/2006/main">
              <a:ext uri="{FF2B5EF4-FFF2-40B4-BE49-F238E27FC236}">
                <a16:creationId xmlns:a16="http://schemas.microsoft.com/office/drawing/2014/main" id="{C440FEF5-118D-41F7-BDA3-39FA8577D187}"/>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EC5DB7E1-1B1D-4997-AAA1-852CB18562F7}"/>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HERE, CONCRETELY</a:t>
            </a:r>
          </a:p>
        </p:txBody>
      </p:sp>
      <p:sp>
        <p:nvSpPr>
          <p:cNvPr id="12" name="example-head">
            <a:extLst xmlns:a="http://schemas.openxmlformats.org/drawingml/2006/main">
              <a:ext uri="{FF2B5EF4-FFF2-40B4-BE49-F238E27FC236}">
                <a16:creationId xmlns:a16="http://schemas.microsoft.com/office/drawing/2014/main" id="{A969570F-B736-49B7-9E16-ABF0C259DC28}"/>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All 140 variants have a real eui_kwh_m2yr</a:t>
            </a:r>
          </a:p>
        </p:txBody>
      </p:sp>
      <p:sp>
        <p:nvSpPr>
          <p:cNvPr id="13" name="example-body">
            <a:extLst xmlns:a="http://schemas.openxmlformats.org/drawingml/2006/main">
              <a:ext uri="{FF2B5EF4-FFF2-40B4-BE49-F238E27FC236}">
                <a16:creationId xmlns:a16="http://schemas.microsoft.com/office/drawing/2014/main" id="{AEB259AF-DA42-4890-ABF7-5D3CEECEA8DF}"/>
              </a:ext>
            </a:extLst>
          </p:cNvPr>
          <p:cNvSpPr>
            <a:spLocks xmlns:a="http://schemas.openxmlformats.org/drawingml/2006/main" noGrp="1"/>
          </p:cNvSpPr>
          <p:nvPr/>
        </p:nvSpPr>
        <p:spPr>
          <a:xfrm xmlns:a="http://schemas.openxmlformats.org/drawingml/2006/main">
            <a:off x="6972300" y="2951226"/>
            <a:ext cx="4381500" cy="29733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Every row in radley_portfolio_envelope.csv already carries its simulated energy result — that known answer is what makes this supervised learning.</a:t>
            </a:r>
          </a:p>
        </p:txBody>
      </p:sp>
    </p:spTree>
    <p:extLst>
      <p:ext uri="{BB962C8B-B14F-4D97-AF65-F5344CB8AC3E}">
        <p14:creationId xmlns:p14="http://schemas.microsoft.com/office/powerpoint/2010/main" val="16237102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6DBB19C2-A9FD-44EC-96BE-A4F39C44AAE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9857F105-7167-4CF8-B623-437937730EE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Regression, defined</a:t>
            </a:r>
          </a:p>
        </p:txBody>
      </p:sp>
      <p:sp>
        <p:nvSpPr>
          <p:cNvPr id="3" name="">
            <a:extLst xmlns:a="http://schemas.openxmlformats.org/drawingml/2006/main">
              <a:ext uri="{FF2B5EF4-FFF2-40B4-BE49-F238E27FC236}">
                <a16:creationId xmlns:a16="http://schemas.microsoft.com/office/drawing/2014/main" id="{FEE7F0A7-F1B4-4262-8E22-813B87D642B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6BBC9D3-12A4-443E-A8B9-F3C623335AC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5BE4E3D3-84E9-4B11-BFF9-F3A2E8428A1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term-label">
            <a:extLst xmlns:a="http://schemas.openxmlformats.org/drawingml/2006/main">
              <a:ext uri="{FF2B5EF4-FFF2-40B4-BE49-F238E27FC236}">
                <a16:creationId xmlns:a16="http://schemas.microsoft.com/office/drawing/2014/main" id="{C0634F96-1D96-43C2-A42E-68A503C0EB94}"/>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3D49632F-D8D4-4F47-843F-E736292F9ACA}"/>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regression</a:t>
            </a:r>
          </a:p>
        </p:txBody>
      </p:sp>
      <p:sp>
        <p:nvSpPr>
          <p:cNvPr id="8" name="">
            <a:extLst xmlns:a="http://schemas.openxmlformats.org/drawingml/2006/main">
              <a:ext uri="{FF2B5EF4-FFF2-40B4-BE49-F238E27FC236}">
                <a16:creationId xmlns:a16="http://schemas.microsoft.com/office/drawing/2014/main" id="{FFB4D19C-63E9-4888-9B5F-D800C476E1C4}"/>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4304657C-A09A-475F-A303-2244D9BEBC03}"/>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Predicting a CONTINUOUS numeric target — the value can be 22.4, 31.8, or anything in between, not just one of a fixed set of categories.</a:t>
            </a:r>
          </a:p>
        </p:txBody>
      </p:sp>
      <p:sp>
        <p:nvSpPr>
          <p:cNvPr id="10" name="example-panel">
            <a:extLst xmlns:a="http://schemas.openxmlformats.org/drawingml/2006/main">
              <a:ext uri="{FF2B5EF4-FFF2-40B4-BE49-F238E27FC236}">
                <a16:creationId xmlns:a16="http://schemas.microsoft.com/office/drawing/2014/main" id="{8F60915E-4A3D-4E91-86EC-7B8C513330F0}"/>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19B224FA-BC5C-4421-8950-C4E8A8720B57}"/>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HERE, CONCRETELY</a:t>
            </a:r>
          </a:p>
        </p:txBody>
      </p:sp>
      <p:sp>
        <p:nvSpPr>
          <p:cNvPr id="12" name="example-head">
            <a:extLst xmlns:a="http://schemas.openxmlformats.org/drawingml/2006/main">
              <a:ext uri="{FF2B5EF4-FFF2-40B4-BE49-F238E27FC236}">
                <a16:creationId xmlns:a16="http://schemas.microsoft.com/office/drawing/2014/main" id="{F9B218AE-81D5-4477-9508-C86C4D224FDD}"/>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eui_kwh_m2yr is continuous</a:t>
            </a:r>
          </a:p>
        </p:txBody>
      </p:sp>
      <p:sp>
        <p:nvSpPr>
          <p:cNvPr id="13" name="example-body">
            <a:extLst xmlns:a="http://schemas.openxmlformats.org/drawingml/2006/main">
              <a:ext uri="{FF2B5EF4-FFF2-40B4-BE49-F238E27FC236}">
                <a16:creationId xmlns:a16="http://schemas.microsoft.com/office/drawing/2014/main" id="{36A842C3-055B-442D-9D57-EB2B346755E3}"/>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kWh/m2/yr can land anywhere on a number line — as opposed to classification, which predicts a category (meets_code: yes/no, Week 14).</a:t>
            </a:r>
          </a:p>
        </p:txBody>
      </p:sp>
    </p:spTree>
    <p:extLst>
      <p:ext uri="{BB962C8B-B14F-4D97-AF65-F5344CB8AC3E}">
        <p14:creationId xmlns:p14="http://schemas.microsoft.com/office/powerpoint/2010/main" val="9684088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DED5B382-8729-4F60-BDC2-C9AFEF42FF9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A5681E7B-5981-4FEE-98F4-4C9756D5F98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train_test_split, defined</a:t>
            </a:r>
          </a:p>
        </p:txBody>
      </p:sp>
      <p:sp>
        <p:nvSpPr>
          <p:cNvPr id="3" name="">
            <a:extLst xmlns:a="http://schemas.openxmlformats.org/drawingml/2006/main">
              <a:ext uri="{FF2B5EF4-FFF2-40B4-BE49-F238E27FC236}">
                <a16:creationId xmlns:a16="http://schemas.microsoft.com/office/drawing/2014/main" id="{51CC1A35-DDB1-4321-B07D-9BFC8D51463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57BD39A-C101-4452-B7D7-FC69CAFAE1A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64A4C69D-98D7-4CD0-A9E9-2B2ADF7644D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term-label">
            <a:extLst xmlns:a="http://schemas.openxmlformats.org/drawingml/2006/main">
              <a:ext uri="{FF2B5EF4-FFF2-40B4-BE49-F238E27FC236}">
                <a16:creationId xmlns:a16="http://schemas.microsoft.com/office/drawing/2014/main" id="{AC620D2D-3EEB-48E9-8362-FE3A7EB817D8}"/>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BBC3D5C6-4CAB-47EE-AA91-0C162389E5BC}"/>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train_test_split</a:t>
            </a:r>
          </a:p>
        </p:txBody>
      </p:sp>
      <p:sp>
        <p:nvSpPr>
          <p:cNvPr id="8" name="">
            <a:extLst xmlns:a="http://schemas.openxmlformats.org/drawingml/2006/main">
              <a:ext uri="{FF2B5EF4-FFF2-40B4-BE49-F238E27FC236}">
                <a16:creationId xmlns:a16="http://schemas.microsoft.com/office/drawing/2014/main" id="{A6A412A8-B0CE-4F1A-8A0C-560332F25A8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DB18F707-932E-479C-81BF-FCB34CD682DD}"/>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Randomly holds out a fraction of rows (test_size=0.25 → 25%) as a TEST set the model never trains on; the rest becomes the TRAINING set used to fit it. random_state=42 fixes exactly which rows land in each set, so the split is reproducible.</a:t>
            </a:r>
          </a:p>
        </p:txBody>
      </p:sp>
      <p:sp>
        <p:nvSpPr>
          <p:cNvPr id="10" name="example-panel">
            <a:extLst xmlns:a="http://schemas.openxmlformats.org/drawingml/2006/main">
              <a:ext uri="{FF2B5EF4-FFF2-40B4-BE49-F238E27FC236}">
                <a16:creationId xmlns:a16="http://schemas.microsoft.com/office/drawing/2014/main" id="{33CCBDFF-1181-49C0-8D09-337373ECC84F}"/>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2414BB0E-9F33-4B79-B238-7E35F6700750}"/>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THE PROBLEM IT SOLVES</a:t>
            </a:r>
          </a:p>
        </p:txBody>
      </p:sp>
      <p:sp>
        <p:nvSpPr>
          <p:cNvPr id="12" name="example-head">
            <a:extLst xmlns:a="http://schemas.openxmlformats.org/drawingml/2006/main">
              <a:ext uri="{FF2B5EF4-FFF2-40B4-BE49-F238E27FC236}">
                <a16:creationId xmlns:a16="http://schemas.microsoft.com/office/drawing/2014/main" id="{0BA16ADF-B8A9-4426-8360-2983D262E6B2}"/>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Why hold out data at all</a:t>
            </a:r>
          </a:p>
        </p:txBody>
      </p:sp>
      <p:sp>
        <p:nvSpPr>
          <p:cNvPr id="13" name="example-body">
            <a:extLst xmlns:a="http://schemas.openxmlformats.org/drawingml/2006/main">
              <a:ext uri="{FF2B5EF4-FFF2-40B4-BE49-F238E27FC236}">
                <a16:creationId xmlns:a16="http://schemas.microsoft.com/office/drawing/2014/main" id="{0BD5BE4D-8A2F-45DF-A9F1-5899B8125610}"/>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model evaluated on the SAME rows it was fit on can look better than it really is — it may have partly memorized those rows instead of learning the pattern. You need rows it has never seen to get an honest score.</a:t>
            </a:r>
          </a:p>
        </p:txBody>
      </p:sp>
      <p:sp>
        <p:nvSpPr>
          <p:cNvPr id="14" name="note-bar">
            <a:extLst xmlns:a="http://schemas.openxmlformats.org/drawingml/2006/main">
              <a:ext uri="{FF2B5EF4-FFF2-40B4-BE49-F238E27FC236}">
                <a16:creationId xmlns:a16="http://schemas.microsoft.com/office/drawing/2014/main" id="{9E50AAB3-CD88-48B5-9F76-298889526A03}"/>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4A0AF34A-1631-4E4F-BDF7-985295AD8F7C}"/>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CONVENTION</a:t>
            </a:r>
          </a:p>
        </p:txBody>
      </p:sp>
      <p:sp>
        <p:nvSpPr>
          <p:cNvPr id="16" name="note">
            <a:extLst xmlns:a="http://schemas.openxmlformats.org/drawingml/2006/main">
              <a:ext uri="{FF2B5EF4-FFF2-40B4-BE49-F238E27FC236}">
                <a16:creationId xmlns:a16="http://schemas.microsoft.com/office/drawing/2014/main" id="{69B7A136-8A73-4964-A06B-524AD8699D05}"/>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random_state=42 is the fixed seed used for EVERY split in this three-week block — same convention as fixed seeds in Weeks 9-12.</a:t>
            </a:r>
          </a:p>
        </p:txBody>
      </p:sp>
    </p:spTree>
    <p:extLst>
      <p:ext uri="{BB962C8B-B14F-4D97-AF65-F5344CB8AC3E}">
        <p14:creationId xmlns:p14="http://schemas.microsoft.com/office/powerpoint/2010/main" val="6003691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B4E99FD9-5483-4178-A477-736EE4BA564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433F5931-E5CE-4456-A1AC-CC021D8BC3C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train_test_split, one call at a time</a:t>
            </a:r>
          </a:p>
        </p:txBody>
      </p:sp>
      <p:sp>
        <p:nvSpPr>
          <p:cNvPr id="3" name="">
            <a:extLst xmlns:a="http://schemas.openxmlformats.org/drawingml/2006/main">
              <a:ext uri="{FF2B5EF4-FFF2-40B4-BE49-F238E27FC236}">
                <a16:creationId xmlns:a16="http://schemas.microsoft.com/office/drawing/2014/main" id="{05F70EEB-C8A8-4C8A-9024-EB1958BD084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DFFB087-5D1D-4F0A-B745-2A5FA342518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8C462513-23F7-443B-8BF5-BB668CF769B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anatomy-code-panel">
            <a:extLst xmlns:a="http://schemas.openxmlformats.org/drawingml/2006/main">
              <a:ext uri="{FF2B5EF4-FFF2-40B4-BE49-F238E27FC236}">
                <a16:creationId xmlns:a16="http://schemas.microsoft.com/office/drawing/2014/main" id="{9722A73B-E772-41A7-A5AF-80758569E618}"/>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DD3E416A-BB3E-4AD1-8E15-EFD0CBF6DB5B}"/>
              </a:ext>
            </a:extLst>
          </p:cNvPr>
          <p:cNvSpPr>
            <a:spLocks xmlns:a="http://schemas.openxmlformats.org/drawingml/2006/main" noGrp="1"/>
          </p:cNvSpPr>
          <p:nvPr/>
        </p:nvSpPr>
        <p:spPr>
          <a:xfrm xmlns:a="http://schemas.openxmlformats.org/drawingml/2006/main">
            <a:off x="2057400" y="2057400"/>
            <a:ext cx="8448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2100" b="0">
                <a:solidFill>
                  <a:srgbClr val="FFFFFF"/>
                </a:solidFill>
                <a:latin typeface="Consolas"/>
                <a:ea typeface="Consolas"/>
                <a:cs typeface="Consolas"/>
              </a:defRPr>
            </a:pPr>
            <a:r>
              <a:rPr sz="2100" b="0">
                <a:solidFill>
                  <a:srgbClr val="FFFFFF"/>
                </a:solidFill>
                <a:latin typeface="Consolas"/>
                <a:ea typeface="Consolas"/>
                <a:cs typeface="Consolas"/>
              </a:rPr>
              <a:t>train_test_split(X, y, test_size=0.25, random_state=42)</a:t>
            </a:r>
          </a:p>
        </p:txBody>
      </p:sp>
      <p:sp>
        <p:nvSpPr>
          <p:cNvPr id="8" name="">
            <a:extLst xmlns:a="http://schemas.openxmlformats.org/drawingml/2006/main">
              <a:ext uri="{FF2B5EF4-FFF2-40B4-BE49-F238E27FC236}">
                <a16:creationId xmlns:a16="http://schemas.microsoft.com/office/drawing/2014/main" id="{93DE2D6C-2524-4911-8D09-2D1E2BF8C407}"/>
              </a:ext>
            </a:extLst>
          </p:cNvPr>
          <p:cNvSpPr>
            <a:spLocks xmlns:a="http://schemas.openxmlformats.org/drawingml/2006/main" noGrp="1"/>
          </p:cNvSpPr>
          <p:nvPr/>
        </p:nvSpPr>
        <p:spPr>
          <a:xfrm xmlns:a="http://schemas.openxmlformats.org/drawingml/2006/main">
            <a:off x="2057400" y="2647950"/>
            <a:ext cx="234696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A6EAD86D-5E7D-4536-B323-E7350657A217}"/>
              </a:ext>
            </a:extLst>
          </p:cNvPr>
          <p:cNvSpPr>
            <a:spLocks xmlns:a="http://schemas.openxmlformats.org/drawingml/2006/main" noGrp="1"/>
          </p:cNvSpPr>
          <p:nvPr/>
        </p:nvSpPr>
        <p:spPr>
          <a:xfrm xmlns:a="http://schemas.openxmlformats.org/drawingml/2006/main">
            <a:off x="310705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0D18A661-B1F0-498C-B54B-C6C72375EABB}"/>
              </a:ext>
            </a:extLst>
          </p:cNvPr>
          <p:cNvSpPr>
            <a:spLocks xmlns:a="http://schemas.openxmlformats.org/drawingml/2006/main" noGrp="1"/>
          </p:cNvSpPr>
          <p:nvPr/>
        </p:nvSpPr>
        <p:spPr>
          <a:xfrm xmlns:a="http://schemas.openxmlformats.org/drawingml/2006/main">
            <a:off x="310705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3CE550A5-B236-4B63-803D-B509B1952A0C}"/>
              </a:ext>
            </a:extLst>
          </p:cNvPr>
          <p:cNvSpPr>
            <a:spLocks xmlns:a="http://schemas.openxmlformats.org/drawingml/2006/main" noGrp="1"/>
          </p:cNvSpPr>
          <p:nvPr/>
        </p:nvSpPr>
        <p:spPr>
          <a:xfrm xmlns:a="http://schemas.openxmlformats.org/drawingml/2006/main">
            <a:off x="223075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051FD73C-03AC-404E-BE68-B1480FD66A9F}"/>
              </a:ext>
            </a:extLst>
          </p:cNvPr>
          <p:cNvSpPr>
            <a:spLocks xmlns:a="http://schemas.openxmlformats.org/drawingml/2006/main" noGrp="1"/>
          </p:cNvSpPr>
          <p:nvPr/>
        </p:nvSpPr>
        <p:spPr>
          <a:xfrm xmlns:a="http://schemas.openxmlformats.org/drawingml/2006/main">
            <a:off x="223075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074B721F-DB43-41ED-8916-B0AEAF887A50}"/>
              </a:ext>
            </a:extLst>
          </p:cNvPr>
          <p:cNvSpPr>
            <a:spLocks xmlns:a="http://schemas.openxmlformats.org/drawingml/2006/main" noGrp="1"/>
          </p:cNvSpPr>
          <p:nvPr/>
        </p:nvSpPr>
        <p:spPr>
          <a:xfrm xmlns:a="http://schemas.openxmlformats.org/drawingml/2006/main">
            <a:off x="253555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function</a:t>
            </a:r>
          </a:p>
        </p:txBody>
      </p:sp>
      <p:sp>
        <p:nvSpPr>
          <p:cNvPr id="14" name="part-body-0">
            <a:extLst xmlns:a="http://schemas.openxmlformats.org/drawingml/2006/main">
              <a:ext uri="{FF2B5EF4-FFF2-40B4-BE49-F238E27FC236}">
                <a16:creationId xmlns:a16="http://schemas.microsoft.com/office/drawing/2014/main" id="{C7F78972-921E-4A03-A250-98DA2499C00C}"/>
              </a:ext>
            </a:extLst>
          </p:cNvPr>
          <p:cNvSpPr>
            <a:spLocks xmlns:a="http://schemas.openxmlformats.org/drawingml/2006/main" noGrp="1"/>
          </p:cNvSpPr>
          <p:nvPr/>
        </p:nvSpPr>
        <p:spPr>
          <a:xfrm xmlns:a="http://schemas.openxmlformats.org/drawingml/2006/main">
            <a:off x="2230755" y="3390138"/>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Splits X and y together, row-aligned, into train/test pairs.</a:t>
            </a:r>
          </a:p>
        </p:txBody>
      </p:sp>
      <p:sp>
        <p:nvSpPr>
          <p:cNvPr id="15" name="">
            <a:extLst xmlns:a="http://schemas.openxmlformats.org/drawingml/2006/main">
              <a:ext uri="{FF2B5EF4-FFF2-40B4-BE49-F238E27FC236}">
                <a16:creationId xmlns:a16="http://schemas.microsoft.com/office/drawing/2014/main" id="{033ADB9C-1F47-478E-A470-61E3D86D9DC5}"/>
              </a:ext>
            </a:extLst>
          </p:cNvPr>
          <p:cNvSpPr>
            <a:spLocks xmlns:a="http://schemas.openxmlformats.org/drawingml/2006/main" noGrp="1"/>
          </p:cNvSpPr>
          <p:nvPr/>
        </p:nvSpPr>
        <p:spPr>
          <a:xfrm xmlns:a="http://schemas.openxmlformats.org/drawingml/2006/main">
            <a:off x="4551045" y="2647950"/>
            <a:ext cx="58674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E737E83C-68E2-41EE-9F5F-62D621F57917}"/>
              </a:ext>
            </a:extLst>
          </p:cNvPr>
          <p:cNvSpPr>
            <a:spLocks xmlns:a="http://schemas.openxmlformats.org/drawingml/2006/main" noGrp="1"/>
          </p:cNvSpPr>
          <p:nvPr/>
        </p:nvSpPr>
        <p:spPr>
          <a:xfrm xmlns:a="http://schemas.openxmlformats.org/drawingml/2006/main">
            <a:off x="472059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2438F9A9-1C00-44C1-A667-358BCEFA91D0}"/>
              </a:ext>
            </a:extLst>
          </p:cNvPr>
          <p:cNvSpPr>
            <a:spLocks xmlns:a="http://schemas.openxmlformats.org/drawingml/2006/main" noGrp="1"/>
          </p:cNvSpPr>
          <p:nvPr/>
        </p:nvSpPr>
        <p:spPr>
          <a:xfrm xmlns:a="http://schemas.openxmlformats.org/drawingml/2006/main">
            <a:off x="472059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8696957A-6EAA-481A-8B23-974A2F3B0810}"/>
              </a:ext>
            </a:extLst>
          </p:cNvPr>
          <p:cNvSpPr>
            <a:spLocks xmlns:a="http://schemas.openxmlformats.org/drawingml/2006/main" noGrp="1"/>
          </p:cNvSpPr>
          <p:nvPr/>
        </p:nvSpPr>
        <p:spPr>
          <a:xfrm xmlns:a="http://schemas.openxmlformats.org/drawingml/2006/main">
            <a:off x="3844290"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80F33CE0-4F13-4AB0-AAA4-97109430A867}"/>
              </a:ext>
            </a:extLst>
          </p:cNvPr>
          <p:cNvSpPr>
            <a:spLocks xmlns:a="http://schemas.openxmlformats.org/drawingml/2006/main" noGrp="1"/>
          </p:cNvSpPr>
          <p:nvPr/>
        </p:nvSpPr>
        <p:spPr>
          <a:xfrm xmlns:a="http://schemas.openxmlformats.org/drawingml/2006/main">
            <a:off x="3844290"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A93AD1F1-BBD5-4EAD-B44E-A57279A8CBD3}"/>
              </a:ext>
            </a:extLst>
          </p:cNvPr>
          <p:cNvSpPr>
            <a:spLocks xmlns:a="http://schemas.openxmlformats.org/drawingml/2006/main" noGrp="1"/>
          </p:cNvSpPr>
          <p:nvPr/>
        </p:nvSpPr>
        <p:spPr>
          <a:xfrm xmlns:a="http://schemas.openxmlformats.org/drawingml/2006/main">
            <a:off x="4149090" y="4123944"/>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Features + target</a:t>
            </a:r>
          </a:p>
        </p:txBody>
      </p:sp>
      <p:sp>
        <p:nvSpPr>
          <p:cNvPr id="21" name="part-body-1">
            <a:extLst xmlns:a="http://schemas.openxmlformats.org/drawingml/2006/main">
              <a:ext uri="{FF2B5EF4-FFF2-40B4-BE49-F238E27FC236}">
                <a16:creationId xmlns:a16="http://schemas.microsoft.com/office/drawing/2014/main" id="{60FAB686-2FBC-492C-A7D2-DB435E526098}"/>
              </a:ext>
            </a:extLst>
          </p:cNvPr>
          <p:cNvSpPr>
            <a:spLocks xmlns:a="http://schemas.openxmlformats.org/drawingml/2006/main" noGrp="1"/>
          </p:cNvSpPr>
          <p:nvPr/>
        </p:nvSpPr>
        <p:spPr>
          <a:xfrm xmlns:a="http://schemas.openxmlformats.org/drawingml/2006/main">
            <a:off x="3844290" y="4751070"/>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wwr, shade_m, glazing_shgc (features, X) and eui_kwh_m2yr (target, y).</a:t>
            </a:r>
          </a:p>
        </p:txBody>
      </p:sp>
      <p:sp>
        <p:nvSpPr>
          <p:cNvPr id="22" name="">
            <a:extLst xmlns:a="http://schemas.openxmlformats.org/drawingml/2006/main">
              <a:ext uri="{FF2B5EF4-FFF2-40B4-BE49-F238E27FC236}">
                <a16:creationId xmlns:a16="http://schemas.microsoft.com/office/drawing/2014/main" id="{9F9232F8-8BBD-42EC-86A9-39A9FA84BAFC}"/>
              </a:ext>
            </a:extLst>
          </p:cNvPr>
          <p:cNvSpPr>
            <a:spLocks xmlns:a="http://schemas.openxmlformats.org/drawingml/2006/main" noGrp="1"/>
          </p:cNvSpPr>
          <p:nvPr/>
        </p:nvSpPr>
        <p:spPr>
          <a:xfrm xmlns:a="http://schemas.openxmlformats.org/drawingml/2006/main">
            <a:off x="5431155" y="2647950"/>
            <a:ext cx="205359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B4891EEF-9C9E-46D9-B88B-F73E923F2DCD}"/>
              </a:ext>
            </a:extLst>
          </p:cNvPr>
          <p:cNvSpPr>
            <a:spLocks xmlns:a="http://schemas.openxmlformats.org/drawingml/2006/main" noGrp="1"/>
          </p:cNvSpPr>
          <p:nvPr/>
        </p:nvSpPr>
        <p:spPr>
          <a:xfrm xmlns:a="http://schemas.openxmlformats.org/drawingml/2006/main">
            <a:off x="63341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F459625F-D778-4823-8A35-62CDCB94D303}"/>
              </a:ext>
            </a:extLst>
          </p:cNvPr>
          <p:cNvSpPr>
            <a:spLocks xmlns:a="http://schemas.openxmlformats.org/drawingml/2006/main" noGrp="1"/>
          </p:cNvSpPr>
          <p:nvPr/>
        </p:nvSpPr>
        <p:spPr>
          <a:xfrm xmlns:a="http://schemas.openxmlformats.org/drawingml/2006/main">
            <a:off x="63341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1555E542-23AA-450B-85DA-2D1DA4DAAD27}"/>
              </a:ext>
            </a:extLst>
          </p:cNvPr>
          <p:cNvSpPr>
            <a:spLocks xmlns:a="http://schemas.openxmlformats.org/drawingml/2006/main" noGrp="1"/>
          </p:cNvSpPr>
          <p:nvPr/>
        </p:nvSpPr>
        <p:spPr>
          <a:xfrm xmlns:a="http://schemas.openxmlformats.org/drawingml/2006/main">
            <a:off x="545782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EA2A1FC2-613C-4256-9446-5C5399FA25A6}"/>
              </a:ext>
            </a:extLst>
          </p:cNvPr>
          <p:cNvSpPr>
            <a:spLocks xmlns:a="http://schemas.openxmlformats.org/drawingml/2006/main" noGrp="1"/>
          </p:cNvSpPr>
          <p:nvPr/>
        </p:nvSpPr>
        <p:spPr>
          <a:xfrm xmlns:a="http://schemas.openxmlformats.org/drawingml/2006/main">
            <a:off x="545782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A2EF3BE5-5C12-4DD2-B004-45C361ACFE72}"/>
              </a:ext>
            </a:extLst>
          </p:cNvPr>
          <p:cNvSpPr>
            <a:spLocks xmlns:a="http://schemas.openxmlformats.org/drawingml/2006/main" noGrp="1"/>
          </p:cNvSpPr>
          <p:nvPr/>
        </p:nvSpPr>
        <p:spPr>
          <a:xfrm xmlns:a="http://schemas.openxmlformats.org/drawingml/2006/main">
            <a:off x="5762625"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Held-out fraction</a:t>
            </a:r>
          </a:p>
        </p:txBody>
      </p:sp>
      <p:sp>
        <p:nvSpPr>
          <p:cNvPr id="28" name="part-body-2">
            <a:extLst xmlns:a="http://schemas.openxmlformats.org/drawingml/2006/main">
              <a:ext uri="{FF2B5EF4-FFF2-40B4-BE49-F238E27FC236}">
                <a16:creationId xmlns:a16="http://schemas.microsoft.com/office/drawing/2014/main" id="{353E484B-285F-4252-B252-25E367DFDC0D}"/>
              </a:ext>
            </a:extLst>
          </p:cNvPr>
          <p:cNvSpPr>
            <a:spLocks xmlns:a="http://schemas.openxmlformats.org/drawingml/2006/main" noGrp="1"/>
          </p:cNvSpPr>
          <p:nvPr/>
        </p:nvSpPr>
        <p:spPr>
          <a:xfrm xmlns:a="http://schemas.openxmlformats.org/drawingml/2006/main">
            <a:off x="5457825"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25% of rows — 35 of 140 — become the test set.</a:t>
            </a:r>
          </a:p>
        </p:txBody>
      </p:sp>
      <p:sp>
        <p:nvSpPr>
          <p:cNvPr id="29" name="">
            <a:extLst xmlns:a="http://schemas.openxmlformats.org/drawingml/2006/main">
              <a:ext uri="{FF2B5EF4-FFF2-40B4-BE49-F238E27FC236}">
                <a16:creationId xmlns:a16="http://schemas.microsoft.com/office/drawing/2014/main" id="{1171A4B9-58E8-4780-9543-1D0CA37B9286}"/>
              </a:ext>
            </a:extLst>
          </p:cNvPr>
          <p:cNvSpPr>
            <a:spLocks xmlns:a="http://schemas.openxmlformats.org/drawingml/2006/main" noGrp="1"/>
          </p:cNvSpPr>
          <p:nvPr/>
        </p:nvSpPr>
        <p:spPr>
          <a:xfrm xmlns:a="http://schemas.openxmlformats.org/drawingml/2006/main">
            <a:off x="7778115" y="2647950"/>
            <a:ext cx="2200275"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F516D1A7-89C4-4537-A10F-EBC919838A8E}"/>
              </a:ext>
            </a:extLst>
          </p:cNvPr>
          <p:cNvSpPr>
            <a:spLocks xmlns:a="http://schemas.openxmlformats.org/drawingml/2006/main" noGrp="1"/>
          </p:cNvSpPr>
          <p:nvPr/>
        </p:nvSpPr>
        <p:spPr>
          <a:xfrm xmlns:a="http://schemas.openxmlformats.org/drawingml/2006/main">
            <a:off x="8754428"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FD9B254B-5A08-46B2-9AEF-8C00EE14905A}"/>
              </a:ext>
            </a:extLst>
          </p:cNvPr>
          <p:cNvSpPr>
            <a:spLocks xmlns:a="http://schemas.openxmlformats.org/drawingml/2006/main" noGrp="1"/>
          </p:cNvSpPr>
          <p:nvPr/>
        </p:nvSpPr>
        <p:spPr>
          <a:xfrm xmlns:a="http://schemas.openxmlformats.org/drawingml/2006/main">
            <a:off x="8754428"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94913B49-9A1B-40D9-94C6-3316B3384145}"/>
              </a:ext>
            </a:extLst>
          </p:cNvPr>
          <p:cNvSpPr>
            <a:spLocks xmlns:a="http://schemas.openxmlformats.org/drawingml/2006/main" noGrp="1"/>
          </p:cNvSpPr>
          <p:nvPr/>
        </p:nvSpPr>
        <p:spPr>
          <a:xfrm xmlns:a="http://schemas.openxmlformats.org/drawingml/2006/main">
            <a:off x="7640003"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DF295EFF-898C-466D-AA56-8170ED4F7A54}"/>
              </a:ext>
            </a:extLst>
          </p:cNvPr>
          <p:cNvSpPr>
            <a:spLocks xmlns:a="http://schemas.openxmlformats.org/drawingml/2006/main" noGrp="1"/>
          </p:cNvSpPr>
          <p:nvPr/>
        </p:nvSpPr>
        <p:spPr>
          <a:xfrm xmlns:a="http://schemas.openxmlformats.org/drawingml/2006/main">
            <a:off x="7640003"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FDD46647-D28C-4EF1-9255-30E5236924D9}"/>
              </a:ext>
            </a:extLst>
          </p:cNvPr>
          <p:cNvSpPr>
            <a:spLocks xmlns:a="http://schemas.openxmlformats.org/drawingml/2006/main" noGrp="1"/>
          </p:cNvSpPr>
          <p:nvPr/>
        </p:nvSpPr>
        <p:spPr>
          <a:xfrm xmlns:a="http://schemas.openxmlformats.org/drawingml/2006/main">
            <a:off x="7944803" y="3009900"/>
            <a:ext cx="217170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Reproducibility seed</a:t>
            </a:r>
          </a:p>
        </p:txBody>
      </p:sp>
      <p:sp>
        <p:nvSpPr>
          <p:cNvPr id="35" name="part-body-3">
            <a:extLst xmlns:a="http://schemas.openxmlformats.org/drawingml/2006/main">
              <a:ext uri="{FF2B5EF4-FFF2-40B4-BE49-F238E27FC236}">
                <a16:creationId xmlns:a16="http://schemas.microsoft.com/office/drawing/2014/main" id="{C267F5BF-3058-4410-92F8-79B5210ED791}"/>
              </a:ext>
            </a:extLst>
          </p:cNvPr>
          <p:cNvSpPr>
            <a:spLocks xmlns:a="http://schemas.openxmlformats.org/drawingml/2006/main" noGrp="1"/>
          </p:cNvSpPr>
          <p:nvPr/>
        </p:nvSpPr>
        <p:spPr>
          <a:xfrm xmlns:a="http://schemas.openxmlformats.org/drawingml/2006/main">
            <a:off x="7640003" y="3637026"/>
            <a:ext cx="247650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Same 105/35 split every time this line runs.</a:t>
            </a:r>
          </a:p>
        </p:txBody>
      </p:sp>
    </p:spTree>
    <p:extLst>
      <p:ext uri="{BB962C8B-B14F-4D97-AF65-F5344CB8AC3E}">
        <p14:creationId xmlns:p14="http://schemas.microsoft.com/office/powerpoint/2010/main" val="11491388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54018901-487D-4212-87AC-CEF7309342C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6EE9F62E-4D95-4A20-8C21-9B24E616751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Splitting Radley Hall's 140 variants, 105/35</a:t>
            </a:r>
          </a:p>
        </p:txBody>
      </p:sp>
      <p:sp>
        <p:nvSpPr>
          <p:cNvPr id="3" name="">
            <a:extLst xmlns:a="http://schemas.openxmlformats.org/drawingml/2006/main">
              <a:ext uri="{FF2B5EF4-FFF2-40B4-BE49-F238E27FC236}">
                <a16:creationId xmlns:a16="http://schemas.microsoft.com/office/drawing/2014/main" id="{D19AC39A-B556-4AEA-9C2C-FB1B7158B41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302F1B7-9583-4CCD-BBFA-7B1A41932DF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03CE5390-A10A-4A7D-AC87-65246E9EEC6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code-panel">
            <a:extLst xmlns:a="http://schemas.openxmlformats.org/drawingml/2006/main">
              <a:ext uri="{FF2B5EF4-FFF2-40B4-BE49-F238E27FC236}">
                <a16:creationId xmlns:a16="http://schemas.microsoft.com/office/drawing/2014/main" id="{AA62D0F5-B42A-400F-BF7B-0336F19F102E}"/>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DAA720B-4580-4D71-ABE1-C26F04AAAF01}"/>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sklearn.model_selection import train_test_split</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FEATURES3 = ["wwr", "shade_m", "glazing_shgc"]</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X = df[FEATURES3]</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y = df["eui_kwh_m2yr"]</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X_train, X_test, y_train, y_test = train_test_split(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 y, test_size=0.25, random_state=42)</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print(X_train.shape, X_test.shape)</a:t>
            </a:r>
          </a:p>
        </p:txBody>
      </p:sp>
      <p:sp>
        <p:nvSpPr>
          <p:cNvPr id="8" name="">
            <a:extLst xmlns:a="http://schemas.openxmlformats.org/drawingml/2006/main">
              <a:ext uri="{FF2B5EF4-FFF2-40B4-BE49-F238E27FC236}">
                <a16:creationId xmlns:a16="http://schemas.microsoft.com/office/drawing/2014/main" id="{5B2946FB-EF02-4650-B566-4AFD9CCC855E}"/>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CB685392-6894-4432-9825-E96D3608BE04}"/>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068CE39A-D10E-4E75-A635-CE87078B64F6}"/>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(105, 3) (35, 3)</a:t>
            </a:r>
          </a:p>
        </p:txBody>
      </p:sp>
      <p:sp>
        <p:nvSpPr>
          <p:cNvPr id="11" name="explain-head">
            <a:extLst xmlns:a="http://schemas.openxmlformats.org/drawingml/2006/main">
              <a:ext uri="{FF2B5EF4-FFF2-40B4-BE49-F238E27FC236}">
                <a16:creationId xmlns:a16="http://schemas.microsoft.com/office/drawing/2014/main" id="{E57ACA5E-6CD8-4ED6-BF01-41BF7B018FF7}"/>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105 rows to learn from, 35 to judge with</a:t>
            </a:r>
          </a:p>
        </p:txBody>
      </p:sp>
      <p:sp>
        <p:nvSpPr>
          <p:cNvPr id="12" name="explain-body">
            <a:extLst xmlns:a="http://schemas.openxmlformats.org/drawingml/2006/main">
              <a:ext uri="{FF2B5EF4-FFF2-40B4-BE49-F238E27FC236}">
                <a16:creationId xmlns:a16="http://schemas.microsoft.com/office/drawing/2014/main" id="{2014D532-CA72-4562-930E-9D421B377B38}"/>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test_size=0.25 reserves 35 of 140 rows purely for evaluation. Every metric for the rest of today's lecture is computed on THESE 35 rows only — rows the model never touched while fitting. Naming the list FEATURES3 once, instead of retyping three column names, is what lets every later slide refit the SAME three features without a copy-paste error.</a:t>
            </a:r>
          </a:p>
        </p:txBody>
      </p:sp>
    </p:spTree>
    <p:extLst>
      <p:ext uri="{BB962C8B-B14F-4D97-AF65-F5344CB8AC3E}">
        <p14:creationId xmlns:p14="http://schemas.microsoft.com/office/powerpoint/2010/main" val="7404589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DFEADD0E-9A38-47F0-8EAA-C3911FFD69C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7999B095-C9CD-4411-AD1C-1181B462D5B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Naive baseline, defined</a:t>
            </a:r>
          </a:p>
        </p:txBody>
      </p:sp>
      <p:sp>
        <p:nvSpPr>
          <p:cNvPr id="3" name="">
            <a:extLst xmlns:a="http://schemas.openxmlformats.org/drawingml/2006/main">
              <a:ext uri="{FF2B5EF4-FFF2-40B4-BE49-F238E27FC236}">
                <a16:creationId xmlns:a16="http://schemas.microsoft.com/office/drawing/2014/main" id="{C776F114-3B10-4289-BD7A-2D7B645A68F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2148B4F-E9B7-4ACF-A178-CF7A5524ADC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52398F89-CF20-4078-ABB2-1A17CBB30DC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term-label">
            <a:extLst xmlns:a="http://schemas.openxmlformats.org/drawingml/2006/main">
              <a:ext uri="{FF2B5EF4-FFF2-40B4-BE49-F238E27FC236}">
                <a16:creationId xmlns:a16="http://schemas.microsoft.com/office/drawing/2014/main" id="{CC581DBE-E78E-4EED-878C-FAFB1F2903F1}"/>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BF7B201B-1805-428D-89E0-B3ED4F11760A}"/>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naive baseline</a:t>
            </a:r>
          </a:p>
        </p:txBody>
      </p:sp>
      <p:sp>
        <p:nvSpPr>
          <p:cNvPr id="8" name="">
            <a:extLst xmlns:a="http://schemas.openxmlformats.org/drawingml/2006/main">
              <a:ext uri="{FF2B5EF4-FFF2-40B4-BE49-F238E27FC236}">
                <a16:creationId xmlns:a16="http://schemas.microsoft.com/office/drawing/2014/main" id="{EC0D5BFE-0E26-449D-B299-7E479471067B}"/>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328EE7E3-250A-4A3A-BBDB-3E731526931E}"/>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simplest possible prediction rule that still uses the target — here, DummyRegressor(strategy="mean"): predict the SAME training-set mean EUI for every test row, ignoring wwr/shade_m/shgc entirely.</a:t>
            </a:r>
          </a:p>
        </p:txBody>
      </p:sp>
      <p:sp>
        <p:nvSpPr>
          <p:cNvPr id="10" name="example-panel">
            <a:extLst xmlns:a="http://schemas.openxmlformats.org/drawingml/2006/main">
              <a:ext uri="{FF2B5EF4-FFF2-40B4-BE49-F238E27FC236}">
                <a16:creationId xmlns:a16="http://schemas.microsoft.com/office/drawing/2014/main" id="{4F1E0F18-AC96-48FA-8A4C-9EF6F11311C2}"/>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30BBF577-1B7F-48B9-903E-BE70C40DDAB1}"/>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THE REASONING</a:t>
            </a:r>
          </a:p>
        </p:txBody>
      </p:sp>
      <p:sp>
        <p:nvSpPr>
          <p:cNvPr id="12" name="example-head">
            <a:extLst xmlns:a="http://schemas.openxmlformats.org/drawingml/2006/main">
              <a:ext uri="{FF2B5EF4-FFF2-40B4-BE49-F238E27FC236}">
                <a16:creationId xmlns:a16="http://schemas.microsoft.com/office/drawing/2014/main" id="{41966FFC-00BA-4D26-9716-C3B2027A5B34}"/>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Why it comes first</a:t>
            </a:r>
          </a:p>
        </p:txBody>
      </p:sp>
      <p:sp>
        <p:nvSpPr>
          <p:cNvPr id="13" name="example-body">
            <a:extLst xmlns:a="http://schemas.openxmlformats.org/drawingml/2006/main">
              <a:ext uri="{FF2B5EF4-FFF2-40B4-BE49-F238E27FC236}">
                <a16:creationId xmlns:a16="http://schemas.microsoft.com/office/drawing/2014/main" id="{9A89DE33-A854-4BB8-B174-773791F3CD41}"/>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If a real model cannot beat "just guess the average," it has told you something real — either it is not learning the pattern, or the pattern is not learnable from these features. Build the baseline BEFORE the real model, every time.</a:t>
            </a:r>
          </a:p>
        </p:txBody>
      </p:sp>
    </p:spTree>
    <p:extLst>
      <p:ext uri="{BB962C8B-B14F-4D97-AF65-F5344CB8AC3E}">
        <p14:creationId xmlns:p14="http://schemas.microsoft.com/office/powerpoint/2010/main" val="2954982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4B58DACE-BF6B-4AA3-B6EE-AFA3869C6A6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AC0621E-05BE-4243-A605-94DF2C727AE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One helper function, reused for every model today</a:t>
            </a:r>
          </a:p>
        </p:txBody>
      </p:sp>
      <p:sp>
        <p:nvSpPr>
          <p:cNvPr id="3" name="">
            <a:extLst xmlns:a="http://schemas.openxmlformats.org/drawingml/2006/main">
              <a:ext uri="{FF2B5EF4-FFF2-40B4-BE49-F238E27FC236}">
                <a16:creationId xmlns:a16="http://schemas.microsoft.com/office/drawing/2014/main" id="{12794CE8-721F-405D-A023-724C57AE011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D651F80-028D-423B-9E9D-F7F6E847562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533C7CA6-D5F6-4814-8B76-1F0C2402955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code-panel">
            <a:extLst xmlns:a="http://schemas.openxmlformats.org/drawingml/2006/main">
              <a:ext uri="{FF2B5EF4-FFF2-40B4-BE49-F238E27FC236}">
                <a16:creationId xmlns:a16="http://schemas.microsoft.com/office/drawing/2014/main" id="{D45C8CFD-C1DE-4910-8C96-B1234032050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62D42AE-4386-4430-A45C-5361E785BF82}"/>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import numpy as np</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sklearn.metrics import mean_absolute_error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sklearn.metrics import mean_squared_error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sklearn.metrics import r2_score</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report_metrics(y_true, y_pred, label: str) -&gt; dict: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 and return MAE, RMSE and R2."""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mae = mean_absolute_error(y_true, y_pred)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rmse = np.sqrt(mean_squared_error(y_true, y_pred))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r2 = r2_score(y_true, y_pred)</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line = f"MAE={mae:.4f} RMSE={rmse:.4f} R2={r2:.5f}"</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print(label + ":", line)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{"MAE": mae, "RMSE": rmse, "R2": r2}</a:t>
            </a:r>
          </a:p>
        </p:txBody>
      </p:sp>
      <p:sp>
        <p:nvSpPr>
          <p:cNvPr id="8" name="explain-head">
            <a:extLst xmlns:a="http://schemas.openxmlformats.org/drawingml/2006/main">
              <a:ext uri="{FF2B5EF4-FFF2-40B4-BE49-F238E27FC236}">
                <a16:creationId xmlns:a16="http://schemas.microsoft.com/office/drawing/2014/main" id="{E6EF71F3-83A3-4BF5-AD37-4B555DC7F6E1}"/>
              </a:ext>
            </a:extLst>
          </p:cNvPr>
          <p:cNvSpPr>
            <a:spLocks xmlns:a="http://schemas.openxmlformats.org/drawingml/2006/main" noGrp="1"/>
          </p:cNvSpPr>
          <p:nvPr/>
        </p:nvSpPr>
        <p:spPr>
          <a:xfrm xmlns:a="http://schemas.openxmlformats.org/drawingml/2006/main">
            <a:off x="7886700" y="22098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Write the scoring once, reuse it four times</a:t>
            </a:r>
          </a:p>
        </p:txBody>
      </p:sp>
      <p:sp>
        <p:nvSpPr>
          <p:cNvPr id="9" name="explain-body">
            <a:extLst xmlns:a="http://schemas.openxmlformats.org/drawingml/2006/main">
              <a:ext uri="{FF2B5EF4-FFF2-40B4-BE49-F238E27FC236}">
                <a16:creationId xmlns:a16="http://schemas.microsoft.com/office/drawing/2014/main" id="{37CF65E2-0922-4B7B-82EA-BE3A3DD4F06B}"/>
              </a:ext>
            </a:extLst>
          </p:cNvPr>
          <p:cNvSpPr>
            <a:spLocks xmlns:a="http://schemas.openxmlformats.org/drawingml/2006/main" noGrp="1"/>
          </p:cNvSpPr>
          <p:nvPr/>
        </p:nvSpPr>
        <p:spPr>
          <a:xfrm xmlns:a="http://schemas.openxmlformats.org/drawingml/2006/main">
            <a:off x="7886700" y="2995422"/>
            <a:ext cx="3695700" cy="2506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Defining a function prints nothing — this cell just stores it. Four models today (baseline, 3-feature, AI-drafted, fixed) get scored by this one function, so none can be quietly scored a different way. Note the convention required on every function since Week 4: a one-line docstring in triple quotes, plus type hints — label: str means label must be text, -&gt; dict means a dictionary comes back.</a:t>
            </a:r>
          </a:p>
        </p:txBody>
      </p:sp>
    </p:spTree>
    <p:extLst>
      <p:ext uri="{BB962C8B-B14F-4D97-AF65-F5344CB8AC3E}">
        <p14:creationId xmlns:p14="http://schemas.microsoft.com/office/powerpoint/2010/main" val="198955381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5AD4BB70-8ACA-4A6E-8DEA-EBDB57BC1B8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B3F93BD6-9FA0-40E2-B913-2F9DB6B2E98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naive baseline: predict the mean, every time</a:t>
            </a:r>
          </a:p>
        </p:txBody>
      </p:sp>
      <p:sp>
        <p:nvSpPr>
          <p:cNvPr id="3" name="">
            <a:extLst xmlns:a="http://schemas.openxmlformats.org/drawingml/2006/main">
              <a:ext uri="{FF2B5EF4-FFF2-40B4-BE49-F238E27FC236}">
                <a16:creationId xmlns:a16="http://schemas.microsoft.com/office/drawing/2014/main" id="{5F83473F-5E3F-4F2D-B2B1-0FCA139DA2E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1352234-41C1-4F37-AE69-E90D3BCE466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23F33C04-A3D7-470A-B0D8-48E7D20E4BD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code-panel">
            <a:extLst xmlns:a="http://schemas.openxmlformats.org/drawingml/2006/main">
              <a:ext uri="{FF2B5EF4-FFF2-40B4-BE49-F238E27FC236}">
                <a16:creationId xmlns:a16="http://schemas.microsoft.com/office/drawing/2014/main" id="{438B03FB-7E6C-48B0-8CD2-85885AEDDF1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9A184FD3-DF86-41DC-9586-A58B5E1C1ACB}"/>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sklearn.dummy import DummyRegressor</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baseline = DummyRegressor(strategy="mean")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baseline.fit(X_train, y_train)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pred_base = baseline.predict(X_test)</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print("predicts:", round(pred_base[0],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base = report_metrics(y_test, pred_base, "baseline")</a:t>
            </a:r>
          </a:p>
        </p:txBody>
      </p:sp>
      <p:sp>
        <p:nvSpPr>
          <p:cNvPr id="8" name="">
            <a:extLst xmlns:a="http://schemas.openxmlformats.org/drawingml/2006/main">
              <a:ext uri="{FF2B5EF4-FFF2-40B4-BE49-F238E27FC236}">
                <a16:creationId xmlns:a16="http://schemas.microsoft.com/office/drawing/2014/main" id="{946126E7-DDBE-495F-8493-ADE7715EA298}"/>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CB6CBF4A-DC30-4ADB-BCC2-3682872561F5}"/>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8F6D6BFE-BE75-4155-9197-790E6C758029}"/>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predicts: 28.0836</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baseline: MAE=2.8906 RMSE=3.8154 R2=-0.00003</a:t>
            </a:r>
          </a:p>
        </p:txBody>
      </p:sp>
      <p:sp>
        <p:nvSpPr>
          <p:cNvPr id="11" name="explain-head">
            <a:extLst xmlns:a="http://schemas.openxmlformats.org/drawingml/2006/main">
              <a:ext uri="{FF2B5EF4-FFF2-40B4-BE49-F238E27FC236}">
                <a16:creationId xmlns:a16="http://schemas.microsoft.com/office/drawing/2014/main" id="{3A6E1C46-C617-4F45-AA40-1CC78EB9F8F7}"/>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R²≈0 is not "bad" — it's the definition</a:t>
            </a:r>
          </a:p>
        </p:txBody>
      </p:sp>
      <p:sp>
        <p:nvSpPr>
          <p:cNvPr id="12" name="explain-body">
            <a:extLst xmlns:a="http://schemas.openxmlformats.org/drawingml/2006/main">
              <a:ext uri="{FF2B5EF4-FFF2-40B4-BE49-F238E27FC236}">
                <a16:creationId xmlns:a16="http://schemas.microsoft.com/office/drawing/2014/main" id="{DC69FD64-28C9-4604-B0D3-27BF22B0DD90}"/>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R²=-0.00003 for a mean-only predictor is R² essentially exactly 0 by construction — this IS what "no better than guessing the average" looks like, numerically. Every model from here on is judged against this exact number. The helper also hands the three values back as a dictionary, so base["MAE"] is available later without retyping 2.8906.</a:t>
            </a:r>
          </a:p>
        </p:txBody>
      </p:sp>
    </p:spTree>
    <p:extLst>
      <p:ext uri="{BB962C8B-B14F-4D97-AF65-F5344CB8AC3E}">
        <p14:creationId xmlns:p14="http://schemas.microsoft.com/office/powerpoint/2010/main" val="9396930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8EA6ADBF-A135-4945-A5C8-04592E0C357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AI-ASSISTED AUTHORING</a:t>
            </a:r>
          </a:p>
        </p:txBody>
      </p:sp>
      <p:sp>
        <p:nvSpPr>
          <p:cNvPr id="2" name="title">
            <a:extLst xmlns:a="http://schemas.openxmlformats.org/drawingml/2006/main">
              <a:ext uri="{FF2B5EF4-FFF2-40B4-BE49-F238E27FC236}">
                <a16:creationId xmlns:a16="http://schemas.microsoft.com/office/drawing/2014/main" id="{AD2E1316-50BC-4D1C-8AE0-499897EEC9B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Scaffold with AI, then audit</a:t>
            </a:r>
          </a:p>
        </p:txBody>
      </p:sp>
      <p:sp>
        <p:nvSpPr>
          <p:cNvPr id="3" name="">
            <a:extLst xmlns:a="http://schemas.openxmlformats.org/drawingml/2006/main">
              <a:ext uri="{FF2B5EF4-FFF2-40B4-BE49-F238E27FC236}">
                <a16:creationId xmlns:a16="http://schemas.microsoft.com/office/drawing/2014/main" id="{69A42ED0-A74C-45B5-AF6C-CDD7E880C03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9552736-B28A-44E8-9C13-7455898AF13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B43C2545-13D4-43CF-9986-CAE91B302BF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left-head">
            <a:extLst xmlns:a="http://schemas.openxmlformats.org/drawingml/2006/main">
              <a:ext uri="{FF2B5EF4-FFF2-40B4-BE49-F238E27FC236}">
                <a16:creationId xmlns:a16="http://schemas.microsoft.com/office/drawing/2014/main" id="{0FA3E5E6-9624-44B3-BB09-6B2E886F9F6F}"/>
              </a:ext>
            </a:extLst>
          </p:cNvPr>
          <p:cNvSpPr>
            <a:spLocks xmlns:a="http://schemas.openxmlformats.org/drawingml/2006/main" noGrp="1"/>
          </p:cNvSpPr>
          <p:nvPr/>
        </p:nvSpPr>
        <p:spPr>
          <a:xfrm xmlns:a="http://schemas.openxmlformats.org/drawingml/2006/main">
            <a:off x="6096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Why use AI here</a:t>
            </a:r>
          </a:p>
        </p:txBody>
      </p:sp>
      <p:sp>
        <p:nvSpPr>
          <p:cNvPr id="7" name="left-body">
            <a:extLst xmlns:a="http://schemas.openxmlformats.org/drawingml/2006/main">
              <a:ext uri="{FF2B5EF4-FFF2-40B4-BE49-F238E27FC236}">
                <a16:creationId xmlns:a16="http://schemas.microsoft.com/office/drawing/2014/main" id="{B3BEB04D-AE9C-4115-9FFE-39819DAF6587}"/>
              </a:ext>
            </a:extLst>
          </p:cNvPr>
          <p:cNvSpPr>
            <a:spLocks xmlns:a="http://schemas.openxmlformats.org/drawingml/2006/main" noGrp="1"/>
          </p:cNvSpPr>
          <p:nvPr/>
        </p:nvSpPr>
        <p:spPr>
          <a:xfrm xmlns:a="http://schemas.openxmlformats.org/drawingml/2006/main">
            <a:off x="609600" y="3107436"/>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plan's own instruction: use an AI coding assistant to scaffold the LinearRegression fit/predict pipeline QUICKLY — this course is not testing whether you can hand-type sklearn syntax from memory.</a:t>
            </a:r>
          </a:p>
        </p:txBody>
      </p:sp>
      <p:sp>
        <p:nvSpPr>
          <p:cNvPr id="8" name="right-head">
            <a:extLst xmlns:a="http://schemas.openxmlformats.org/drawingml/2006/main">
              <a:ext uri="{FF2B5EF4-FFF2-40B4-BE49-F238E27FC236}">
                <a16:creationId xmlns:a16="http://schemas.microsoft.com/office/drawing/2014/main" id="{5AE31299-F40F-4044-AE00-3D97A83E2726}"/>
              </a:ext>
            </a:extLst>
          </p:cNvPr>
          <p:cNvSpPr>
            <a:spLocks xmlns:a="http://schemas.openxmlformats.org/drawingml/2006/main" noGrp="1"/>
          </p:cNvSpPr>
          <p:nvPr/>
        </p:nvSpPr>
        <p:spPr>
          <a:xfrm xmlns:a="http://schemas.openxmlformats.org/drawingml/2006/main">
            <a:off x="63627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Scaffold, then audit</a:t>
            </a:r>
          </a:p>
        </p:txBody>
      </p:sp>
      <p:sp>
        <p:nvSpPr>
          <p:cNvPr id="9" name="right-body">
            <a:extLst xmlns:a="http://schemas.openxmlformats.org/drawingml/2006/main">
              <a:ext uri="{FF2B5EF4-FFF2-40B4-BE49-F238E27FC236}">
                <a16:creationId xmlns:a16="http://schemas.microsoft.com/office/drawing/2014/main" id="{602154CF-4D5A-419D-8109-31845792FB2B}"/>
              </a:ext>
            </a:extLst>
          </p:cNvPr>
          <p:cNvSpPr>
            <a:spLocks xmlns:a="http://schemas.openxmlformats.org/drawingml/2006/main" noGrp="1"/>
          </p:cNvSpPr>
          <p:nvPr/>
        </p:nvSpPr>
        <p:spPr>
          <a:xfrm xmlns:a="http://schemas.openxmlformats.org/drawingml/2006/main">
            <a:off x="6362700" y="310743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"AI-scaffolded" defined: a first-draft pipeline written by prompting an AI assistant (e.g., "fit a LinearRegression on these three features and print MAE/RMSE/R2"), which YOU then run, read, and interrogate — the same posture used since Week 4.</a:t>
            </a:r>
          </a:p>
        </p:txBody>
      </p:sp>
    </p:spTree>
    <p:extLst>
      <p:ext uri="{BB962C8B-B14F-4D97-AF65-F5344CB8AC3E}">
        <p14:creationId xmlns:p14="http://schemas.microsoft.com/office/powerpoint/2010/main" val="12936611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5CAB32A1-C34D-429F-ADB9-27295E8AC98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2622A34C-212B-4C6F-A0F5-E3AFD390C64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LinearRegression, defined</a:t>
            </a:r>
          </a:p>
        </p:txBody>
      </p:sp>
      <p:sp>
        <p:nvSpPr>
          <p:cNvPr id="3" name="">
            <a:extLst xmlns:a="http://schemas.openxmlformats.org/drawingml/2006/main">
              <a:ext uri="{FF2B5EF4-FFF2-40B4-BE49-F238E27FC236}">
                <a16:creationId xmlns:a16="http://schemas.microsoft.com/office/drawing/2014/main" id="{3E79A313-ACE1-4BF4-9AB5-73D3D35975D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92F5D12-A84A-4BD1-9ED6-422AE4A24EC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0EA672E7-601F-425C-B3B0-D9504259A6B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term-label">
            <a:extLst xmlns:a="http://schemas.openxmlformats.org/drawingml/2006/main">
              <a:ext uri="{FF2B5EF4-FFF2-40B4-BE49-F238E27FC236}">
                <a16:creationId xmlns:a16="http://schemas.microsoft.com/office/drawing/2014/main" id="{595820FE-3A53-4D23-884E-441C80CEF898}"/>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3EFB7F1D-0355-4595-8C22-BE1877B51343}"/>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Consolas"/>
                <a:ea typeface="Consolas"/>
                <a:cs typeface="Consolas"/>
              </a:defRPr>
            </a:pPr>
            <a:r>
              <a:rPr sz="3000" b="1">
                <a:solidFill>
                  <a:srgbClr val="111316"/>
                </a:solidFill>
                <a:latin typeface="Consolas"/>
                <a:ea typeface="Consolas"/>
                <a:cs typeface="Consolas"/>
              </a:rPr>
              <a:t>LinearRegression()</a:t>
            </a:r>
          </a:p>
        </p:txBody>
      </p:sp>
      <p:sp>
        <p:nvSpPr>
          <p:cNvPr id="8" name="">
            <a:extLst xmlns:a="http://schemas.openxmlformats.org/drawingml/2006/main">
              <a:ext uri="{FF2B5EF4-FFF2-40B4-BE49-F238E27FC236}">
                <a16:creationId xmlns:a16="http://schemas.microsoft.com/office/drawing/2014/main" id="{4ABA5A54-E61E-4891-B2C8-0B756056275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A05F3F10-7419-4834-9F04-F2F182F9B3D9}"/>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Finds one coefficient per feature plus an intercept so predicted_eui = intercept + c1·wwr + c2·shade_m + c3·glazing_shgc fits the 105 training rows as closely as possible (least-squares).</a:t>
            </a:r>
          </a:p>
        </p:txBody>
      </p:sp>
      <p:sp>
        <p:nvSpPr>
          <p:cNvPr id="10" name="example-panel">
            <a:extLst xmlns:a="http://schemas.openxmlformats.org/drawingml/2006/main">
              <a:ext uri="{FF2B5EF4-FFF2-40B4-BE49-F238E27FC236}">
                <a16:creationId xmlns:a16="http://schemas.microsoft.com/office/drawing/2014/main" id="{9124AEEB-C914-42A2-B386-7F96D4178E66}"/>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2805BF95-E571-48C5-847B-AF4300F9089E}"/>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3B02EB51-B41E-4538-B102-F01471382B5D}"/>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.fit() and .predict()</a:t>
            </a:r>
          </a:p>
        </p:txBody>
      </p:sp>
      <p:sp>
        <p:nvSpPr>
          <p:cNvPr id="13" name="example-body">
            <a:extLst xmlns:a="http://schemas.openxmlformats.org/drawingml/2006/main">
              <a:ext uri="{FF2B5EF4-FFF2-40B4-BE49-F238E27FC236}">
                <a16:creationId xmlns:a16="http://schemas.microsoft.com/office/drawing/2014/main" id="{9EA42774-A00E-4E04-B3DB-2A319EFBBC7C}"/>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model.fit(X_train, y_train) learns coef_ and intercept_ from training rows only. model.predict(X_test) then applies that SAME formula to the 35 held-out rows — no re-fitting, no peeking.</a:t>
            </a:r>
          </a:p>
        </p:txBody>
      </p:sp>
    </p:spTree>
    <p:extLst>
      <p:ext uri="{BB962C8B-B14F-4D97-AF65-F5344CB8AC3E}">
        <p14:creationId xmlns:p14="http://schemas.microsoft.com/office/powerpoint/2010/main" val="8130301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9EA9B13B-4C57-4014-83DA-947E80549BE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A31D077E-788F-47F4-AA0D-5E93E68EC2A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AI-scaffolded fit — three honest features</a:t>
            </a:r>
          </a:p>
        </p:txBody>
      </p:sp>
      <p:sp>
        <p:nvSpPr>
          <p:cNvPr id="3" name="">
            <a:extLst xmlns:a="http://schemas.openxmlformats.org/drawingml/2006/main">
              <a:ext uri="{FF2B5EF4-FFF2-40B4-BE49-F238E27FC236}">
                <a16:creationId xmlns:a16="http://schemas.microsoft.com/office/drawing/2014/main" id="{905AF368-7FFD-4945-A450-4BD6AE858E6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4F71024-E3BC-4C84-8ED7-98BAD55BEAE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24012040-593C-481E-8756-CBF0167846E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code-panel">
            <a:extLst xmlns:a="http://schemas.openxmlformats.org/drawingml/2006/main">
              <a:ext uri="{FF2B5EF4-FFF2-40B4-BE49-F238E27FC236}">
                <a16:creationId xmlns:a16="http://schemas.microsoft.com/office/drawing/2014/main" id="{3C788781-80EF-4442-9152-3B82A60DB7CD}"/>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FE21C7B-FF5C-48CB-8793-A1A7D48BA928}"/>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from sklearn.linear_model import LinearRegression</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model = LinearRegression()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model.fit(X_train, y_train)</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pred = model.predict(X_test)</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print("coef_:", np.round(model.coef_, 4))</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print(f"intercept_: {model.intercept_:.4f}")</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scores = report_metrics(y_test, pred, "3-feature")</a:t>
            </a:r>
          </a:p>
        </p:txBody>
      </p:sp>
      <p:sp>
        <p:nvSpPr>
          <p:cNvPr id="8" name="">
            <a:extLst xmlns:a="http://schemas.openxmlformats.org/drawingml/2006/main">
              <a:ext uri="{FF2B5EF4-FFF2-40B4-BE49-F238E27FC236}">
                <a16:creationId xmlns:a16="http://schemas.microsoft.com/office/drawing/2014/main" id="{58A22CA5-92E8-4B78-8430-DEAD8865D68A}"/>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7CE5E8FC-20A6-4880-B409-89E68F17AB32}"/>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B5A33397-84F4-40C6-A8C6-8C82C8D857CF}"/>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coef_: [17.6545 -3.3915  3.4181]</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intercept_: 21.6211</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3-feature: MAE=2.2680 RMSE=2.7146 R2=0.49374</a:t>
            </a:r>
          </a:p>
        </p:txBody>
      </p:sp>
      <p:sp>
        <p:nvSpPr>
          <p:cNvPr id="11" name="explain-head">
            <a:extLst xmlns:a="http://schemas.openxmlformats.org/drawingml/2006/main">
              <a:ext uri="{FF2B5EF4-FFF2-40B4-BE49-F238E27FC236}">
                <a16:creationId xmlns:a16="http://schemas.microsoft.com/office/drawing/2014/main" id="{FB6F6308-581D-42F7-92DB-9AFB97938EB4}"/>
              </a:ext>
            </a:extLst>
          </p:cNvPr>
          <p:cNvSpPr>
            <a:spLocks xmlns:a="http://schemas.openxmlformats.org/drawingml/2006/main" noGrp="1"/>
          </p:cNvSpPr>
          <p:nvPr/>
        </p:nvSpPr>
        <p:spPr>
          <a:xfrm xmlns:a="http://schemas.openxmlformats.org/drawingml/2006/main">
            <a:off x="7886700" y="22860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Real, imperfect, and honestly explainable</a:t>
            </a:r>
          </a:p>
        </p:txBody>
      </p:sp>
      <p:sp>
        <p:nvSpPr>
          <p:cNvPr id="12" name="explain-body">
            <a:extLst xmlns:a="http://schemas.openxmlformats.org/drawingml/2006/main">
              <a:ext uri="{FF2B5EF4-FFF2-40B4-BE49-F238E27FC236}">
                <a16:creationId xmlns:a16="http://schemas.microsoft.com/office/drawing/2014/main" id="{CBB836F9-F4A2-4142-88CD-6BC53B5A2A21}"/>
              </a:ext>
            </a:extLst>
          </p:cNvPr>
          <p:cNvSpPr>
            <a:spLocks xmlns:a="http://schemas.openxmlformats.org/drawingml/2006/main" noGrp="1"/>
          </p:cNvSpPr>
          <p:nvPr/>
        </p:nvSpPr>
        <p:spPr>
          <a:xfrm xmlns:a="http://schemas.openxmlformats.org/drawingml/2006/main">
            <a:off x="7886700" y="3071622"/>
            <a:ext cx="36957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fitted directions are plausible for this dataset: higher wwr and SHGC associate with higher predicted EUI, while deeper shading associates with lower predicted EUI. These are conditional associations, not causal effects; magnitudes depend on units, scaling, omitted variables, and the sampled portfolio. R²≈0.49 shows useful but incomplete predictive signal.</a:t>
            </a:r>
          </a:p>
        </p:txBody>
      </p:sp>
    </p:spTree>
    <p:extLst>
      <p:ext uri="{BB962C8B-B14F-4D97-AF65-F5344CB8AC3E}">
        <p14:creationId xmlns:p14="http://schemas.microsoft.com/office/powerpoint/2010/main" val="1473309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kicker">
            <a:extLst xmlns:a="http://schemas.openxmlformats.org/drawingml/2006/main">
              <a:ext uri="{FF2B5EF4-FFF2-40B4-BE49-F238E27FC236}">
                <a16:creationId xmlns:a16="http://schemas.microsoft.com/office/drawing/2014/main" id="{99431F6F-E85A-42BF-AA61-D07CCECC142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B8EC1D24-4B2C-4F7B-A298-372A331D15E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Beating the baseline — for real, not by magic</a:t>
            </a:r>
          </a:p>
        </p:txBody>
      </p:sp>
      <p:sp>
        <p:nvSpPr>
          <p:cNvPr id="3" name="">
            <a:extLst xmlns:a="http://schemas.openxmlformats.org/drawingml/2006/main">
              <a:ext uri="{FF2B5EF4-FFF2-40B4-BE49-F238E27FC236}">
                <a16:creationId xmlns:a16="http://schemas.microsoft.com/office/drawing/2014/main" id="{A0880896-DADC-4A3A-A409-CA75AEB12E8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2B94492-C970-4C0F-B655-DB8695E52AA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B75C6C3A-6C6A-4292-AF46-5E989A41AD6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64DF4612-776D-4419-A92A-A52444F3408B}"/>
              </a:ext>
            </a:extLst>
          </p:cNvPr>
          <p:cNvSpPr>
            <a:spLocks xmlns:a="http://schemas.openxmlformats.org/drawingml/2006/main" noGrp="1"/>
          </p:cNvSpPr>
          <p:nvPr/>
        </p:nvSpPr>
        <p:spPr>
          <a:xfrm xmlns:a="http://schemas.openxmlformats.org/drawingml/2006/main">
            <a:off x="609600" y="3171825"/>
            <a:ext cx="2764465"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572A3902-5FD9-46FF-899F-A6C36F4DED7C}"/>
              </a:ext>
            </a:extLst>
          </p:cNvPr>
          <p:cNvSpPr>
            <a:spLocks xmlns:a="http://schemas.openxmlformats.org/drawingml/2006/main" noGrp="1"/>
          </p:cNvSpPr>
          <p:nvPr/>
        </p:nvSpPr>
        <p:spPr>
          <a:xfrm xmlns:a="http://schemas.openxmlformats.org/drawingml/2006/main">
            <a:off x="723900" y="3248025"/>
            <a:ext cx="253586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model</a:t>
            </a:r>
          </a:p>
        </p:txBody>
      </p:sp>
      <p:sp>
        <p:nvSpPr>
          <p:cNvPr id="8" name="">
            <a:extLst xmlns:a="http://schemas.openxmlformats.org/drawingml/2006/main">
              <a:ext uri="{FF2B5EF4-FFF2-40B4-BE49-F238E27FC236}">
                <a16:creationId xmlns:a16="http://schemas.microsoft.com/office/drawing/2014/main" id="{4270B9BB-1EA3-471A-A7BE-6A69D5369E9F}"/>
              </a:ext>
            </a:extLst>
          </p:cNvPr>
          <p:cNvSpPr>
            <a:spLocks xmlns:a="http://schemas.openxmlformats.org/drawingml/2006/main" noGrp="1"/>
          </p:cNvSpPr>
          <p:nvPr/>
        </p:nvSpPr>
        <p:spPr>
          <a:xfrm xmlns:a="http://schemas.openxmlformats.org/drawingml/2006/main">
            <a:off x="3374065" y="3171825"/>
            <a:ext cx="1555012"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276E5EAA-DB72-41D7-8CF2-2985345F0483}"/>
              </a:ext>
            </a:extLst>
          </p:cNvPr>
          <p:cNvSpPr>
            <a:spLocks xmlns:a="http://schemas.openxmlformats.org/drawingml/2006/main" noGrp="1"/>
          </p:cNvSpPr>
          <p:nvPr/>
        </p:nvSpPr>
        <p:spPr>
          <a:xfrm xmlns:a="http://schemas.openxmlformats.org/drawingml/2006/main">
            <a:off x="3488365" y="3248025"/>
            <a:ext cx="132641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MAE</a:t>
            </a:r>
          </a:p>
        </p:txBody>
      </p:sp>
      <p:sp>
        <p:nvSpPr>
          <p:cNvPr id="10" name="">
            <a:extLst xmlns:a="http://schemas.openxmlformats.org/drawingml/2006/main">
              <a:ext uri="{FF2B5EF4-FFF2-40B4-BE49-F238E27FC236}">
                <a16:creationId xmlns:a16="http://schemas.microsoft.com/office/drawing/2014/main" id="{2EF84003-D64E-49E4-AA34-1D9CDB4D0F0E}"/>
              </a:ext>
            </a:extLst>
          </p:cNvPr>
          <p:cNvSpPr>
            <a:spLocks xmlns:a="http://schemas.openxmlformats.org/drawingml/2006/main" noGrp="1"/>
          </p:cNvSpPr>
          <p:nvPr/>
        </p:nvSpPr>
        <p:spPr>
          <a:xfrm xmlns:a="http://schemas.openxmlformats.org/drawingml/2006/main">
            <a:off x="4929077" y="3171825"/>
            <a:ext cx="1555012"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D4D953F6-DC6C-4E43-AAF1-34D49795E9FD}"/>
              </a:ext>
            </a:extLst>
          </p:cNvPr>
          <p:cNvSpPr>
            <a:spLocks xmlns:a="http://schemas.openxmlformats.org/drawingml/2006/main" noGrp="1"/>
          </p:cNvSpPr>
          <p:nvPr/>
        </p:nvSpPr>
        <p:spPr>
          <a:xfrm xmlns:a="http://schemas.openxmlformats.org/drawingml/2006/main">
            <a:off x="5043377" y="3248025"/>
            <a:ext cx="132641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RMSE</a:t>
            </a:r>
          </a:p>
        </p:txBody>
      </p:sp>
      <p:sp>
        <p:nvSpPr>
          <p:cNvPr id="12" name="">
            <a:extLst xmlns:a="http://schemas.openxmlformats.org/drawingml/2006/main">
              <a:ext uri="{FF2B5EF4-FFF2-40B4-BE49-F238E27FC236}">
                <a16:creationId xmlns:a16="http://schemas.microsoft.com/office/drawing/2014/main" id="{CC1CF116-0223-4989-9C4B-01750B324069}"/>
              </a:ext>
            </a:extLst>
          </p:cNvPr>
          <p:cNvSpPr>
            <a:spLocks xmlns:a="http://schemas.openxmlformats.org/drawingml/2006/main" noGrp="1"/>
          </p:cNvSpPr>
          <p:nvPr/>
        </p:nvSpPr>
        <p:spPr>
          <a:xfrm xmlns:a="http://schemas.openxmlformats.org/drawingml/2006/main">
            <a:off x="6484088" y="3171825"/>
            <a:ext cx="1555012"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AD654FC1-A83D-465C-A26A-71453E2A1ABC}"/>
              </a:ext>
            </a:extLst>
          </p:cNvPr>
          <p:cNvSpPr>
            <a:spLocks xmlns:a="http://schemas.openxmlformats.org/drawingml/2006/main" noGrp="1"/>
          </p:cNvSpPr>
          <p:nvPr/>
        </p:nvSpPr>
        <p:spPr>
          <a:xfrm xmlns:a="http://schemas.openxmlformats.org/drawingml/2006/main">
            <a:off x="6598388" y="3248025"/>
            <a:ext cx="132641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R²</a:t>
            </a:r>
          </a:p>
        </p:txBody>
      </p:sp>
      <p:sp>
        <p:nvSpPr>
          <p:cNvPr id="14" name="">
            <a:extLst xmlns:a="http://schemas.openxmlformats.org/drawingml/2006/main">
              <a:ext uri="{FF2B5EF4-FFF2-40B4-BE49-F238E27FC236}">
                <a16:creationId xmlns:a16="http://schemas.microsoft.com/office/drawing/2014/main" id="{D2C74A46-9F86-4E41-9C17-455B7935D626}"/>
              </a:ext>
            </a:extLst>
          </p:cNvPr>
          <p:cNvSpPr>
            <a:spLocks xmlns:a="http://schemas.openxmlformats.org/drawingml/2006/main" noGrp="1"/>
          </p:cNvSpPr>
          <p:nvPr/>
        </p:nvSpPr>
        <p:spPr>
          <a:xfrm xmlns:a="http://schemas.openxmlformats.org/drawingml/2006/main">
            <a:off x="609600" y="3705225"/>
            <a:ext cx="2764465"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5EB8003A-C31D-48E5-9761-CF162062E9E2}"/>
              </a:ext>
            </a:extLst>
          </p:cNvPr>
          <p:cNvSpPr>
            <a:spLocks xmlns:a="http://schemas.openxmlformats.org/drawingml/2006/main" noGrp="1"/>
          </p:cNvSpPr>
          <p:nvPr/>
        </p:nvSpPr>
        <p:spPr>
          <a:xfrm xmlns:a="http://schemas.openxmlformats.org/drawingml/2006/main">
            <a:off x="723900" y="3781425"/>
            <a:ext cx="2535865"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naive baseline (predict mean)</a:t>
            </a:r>
          </a:p>
        </p:txBody>
      </p:sp>
      <p:sp>
        <p:nvSpPr>
          <p:cNvPr id="16" name="">
            <a:extLst xmlns:a="http://schemas.openxmlformats.org/drawingml/2006/main">
              <a:ext uri="{FF2B5EF4-FFF2-40B4-BE49-F238E27FC236}">
                <a16:creationId xmlns:a16="http://schemas.microsoft.com/office/drawing/2014/main" id="{5C34FCFE-F704-467D-82BB-50E920EBC960}"/>
              </a:ext>
            </a:extLst>
          </p:cNvPr>
          <p:cNvSpPr>
            <a:spLocks xmlns:a="http://schemas.openxmlformats.org/drawingml/2006/main" noGrp="1"/>
          </p:cNvSpPr>
          <p:nvPr/>
        </p:nvSpPr>
        <p:spPr>
          <a:xfrm xmlns:a="http://schemas.openxmlformats.org/drawingml/2006/main">
            <a:off x="3374065" y="3705225"/>
            <a:ext cx="1555012"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D9DBFC02-9493-48ED-8C51-3529AF4C718F}"/>
              </a:ext>
            </a:extLst>
          </p:cNvPr>
          <p:cNvSpPr>
            <a:spLocks xmlns:a="http://schemas.openxmlformats.org/drawingml/2006/main" noGrp="1"/>
          </p:cNvSpPr>
          <p:nvPr/>
        </p:nvSpPr>
        <p:spPr>
          <a:xfrm xmlns:a="http://schemas.openxmlformats.org/drawingml/2006/main">
            <a:off x="3488365" y="3781425"/>
            <a:ext cx="132641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2.8906</a:t>
            </a:r>
          </a:p>
        </p:txBody>
      </p:sp>
      <p:sp>
        <p:nvSpPr>
          <p:cNvPr id="18" name="">
            <a:extLst xmlns:a="http://schemas.openxmlformats.org/drawingml/2006/main">
              <a:ext uri="{FF2B5EF4-FFF2-40B4-BE49-F238E27FC236}">
                <a16:creationId xmlns:a16="http://schemas.microsoft.com/office/drawing/2014/main" id="{49B367A1-FC55-4D6D-A778-F937343029AB}"/>
              </a:ext>
            </a:extLst>
          </p:cNvPr>
          <p:cNvSpPr>
            <a:spLocks xmlns:a="http://schemas.openxmlformats.org/drawingml/2006/main" noGrp="1"/>
          </p:cNvSpPr>
          <p:nvPr/>
        </p:nvSpPr>
        <p:spPr>
          <a:xfrm xmlns:a="http://schemas.openxmlformats.org/drawingml/2006/main">
            <a:off x="4929077" y="3705225"/>
            <a:ext cx="1555012"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5B04B272-71B3-4DBF-AB9B-7EA3E545AB98}"/>
              </a:ext>
            </a:extLst>
          </p:cNvPr>
          <p:cNvSpPr>
            <a:spLocks xmlns:a="http://schemas.openxmlformats.org/drawingml/2006/main" noGrp="1"/>
          </p:cNvSpPr>
          <p:nvPr/>
        </p:nvSpPr>
        <p:spPr>
          <a:xfrm xmlns:a="http://schemas.openxmlformats.org/drawingml/2006/main">
            <a:off x="5043377" y="3781425"/>
            <a:ext cx="132641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3.8154</a:t>
            </a:r>
          </a:p>
        </p:txBody>
      </p:sp>
      <p:sp>
        <p:nvSpPr>
          <p:cNvPr id="20" name="">
            <a:extLst xmlns:a="http://schemas.openxmlformats.org/drawingml/2006/main">
              <a:ext uri="{FF2B5EF4-FFF2-40B4-BE49-F238E27FC236}">
                <a16:creationId xmlns:a16="http://schemas.microsoft.com/office/drawing/2014/main" id="{72A056BF-28BE-4C93-A785-3C57BC6438FF}"/>
              </a:ext>
            </a:extLst>
          </p:cNvPr>
          <p:cNvSpPr>
            <a:spLocks xmlns:a="http://schemas.openxmlformats.org/drawingml/2006/main" noGrp="1"/>
          </p:cNvSpPr>
          <p:nvPr/>
        </p:nvSpPr>
        <p:spPr>
          <a:xfrm xmlns:a="http://schemas.openxmlformats.org/drawingml/2006/main">
            <a:off x="6484088" y="3705225"/>
            <a:ext cx="1555012" cy="54102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1F085C05-7F1F-4D97-A279-91521BAC0723}"/>
              </a:ext>
            </a:extLst>
          </p:cNvPr>
          <p:cNvSpPr>
            <a:spLocks xmlns:a="http://schemas.openxmlformats.org/drawingml/2006/main" noGrp="1"/>
          </p:cNvSpPr>
          <p:nvPr/>
        </p:nvSpPr>
        <p:spPr>
          <a:xfrm xmlns:a="http://schemas.openxmlformats.org/drawingml/2006/main">
            <a:off x="6598388" y="3781425"/>
            <a:ext cx="1326412"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-0.00003</a:t>
            </a:r>
          </a:p>
        </p:txBody>
      </p:sp>
      <p:sp>
        <p:nvSpPr>
          <p:cNvPr id="22" name="">
            <a:extLst xmlns:a="http://schemas.openxmlformats.org/drawingml/2006/main">
              <a:ext uri="{FF2B5EF4-FFF2-40B4-BE49-F238E27FC236}">
                <a16:creationId xmlns:a16="http://schemas.microsoft.com/office/drawing/2014/main" id="{35C67805-3D46-44DE-AC94-A27AF1464D26}"/>
              </a:ext>
            </a:extLst>
          </p:cNvPr>
          <p:cNvSpPr>
            <a:spLocks xmlns:a="http://schemas.openxmlformats.org/drawingml/2006/main" noGrp="1"/>
          </p:cNvSpPr>
          <p:nvPr/>
        </p:nvSpPr>
        <p:spPr>
          <a:xfrm xmlns:a="http://schemas.openxmlformats.org/drawingml/2006/main">
            <a:off x="609600" y="4246245"/>
            <a:ext cx="2764465"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B7BC162D-F936-4761-AA6B-4FD9249CFC00}"/>
              </a:ext>
            </a:extLst>
          </p:cNvPr>
          <p:cNvSpPr>
            <a:spLocks xmlns:a="http://schemas.openxmlformats.org/drawingml/2006/main" noGrp="1"/>
          </p:cNvSpPr>
          <p:nvPr/>
        </p:nvSpPr>
        <p:spPr>
          <a:xfrm xmlns:a="http://schemas.openxmlformats.org/drawingml/2006/main">
            <a:off x="723900" y="4322445"/>
            <a:ext cx="253586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3-feature LinearRegression</a:t>
            </a:r>
          </a:p>
        </p:txBody>
      </p:sp>
      <p:sp>
        <p:nvSpPr>
          <p:cNvPr id="24" name="">
            <a:extLst xmlns:a="http://schemas.openxmlformats.org/drawingml/2006/main">
              <a:ext uri="{FF2B5EF4-FFF2-40B4-BE49-F238E27FC236}">
                <a16:creationId xmlns:a16="http://schemas.microsoft.com/office/drawing/2014/main" id="{849397B6-EE7B-47A4-9092-B0AE18EA45DD}"/>
              </a:ext>
            </a:extLst>
          </p:cNvPr>
          <p:cNvSpPr>
            <a:spLocks xmlns:a="http://schemas.openxmlformats.org/drawingml/2006/main" noGrp="1"/>
          </p:cNvSpPr>
          <p:nvPr/>
        </p:nvSpPr>
        <p:spPr>
          <a:xfrm xmlns:a="http://schemas.openxmlformats.org/drawingml/2006/main">
            <a:off x="3374065" y="4246245"/>
            <a:ext cx="1555012"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87DCEAAD-5ACD-4F30-8922-FC7571D79D89}"/>
              </a:ext>
            </a:extLst>
          </p:cNvPr>
          <p:cNvSpPr>
            <a:spLocks xmlns:a="http://schemas.openxmlformats.org/drawingml/2006/main" noGrp="1"/>
          </p:cNvSpPr>
          <p:nvPr/>
        </p:nvSpPr>
        <p:spPr>
          <a:xfrm xmlns:a="http://schemas.openxmlformats.org/drawingml/2006/main">
            <a:off x="3488365" y="4322445"/>
            <a:ext cx="132641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2.2680</a:t>
            </a:r>
          </a:p>
        </p:txBody>
      </p:sp>
      <p:sp>
        <p:nvSpPr>
          <p:cNvPr id="26" name="">
            <a:extLst xmlns:a="http://schemas.openxmlformats.org/drawingml/2006/main">
              <a:ext uri="{FF2B5EF4-FFF2-40B4-BE49-F238E27FC236}">
                <a16:creationId xmlns:a16="http://schemas.microsoft.com/office/drawing/2014/main" id="{594F27E4-8691-4382-B0F3-168442654D01}"/>
              </a:ext>
            </a:extLst>
          </p:cNvPr>
          <p:cNvSpPr>
            <a:spLocks xmlns:a="http://schemas.openxmlformats.org/drawingml/2006/main" noGrp="1"/>
          </p:cNvSpPr>
          <p:nvPr/>
        </p:nvSpPr>
        <p:spPr>
          <a:xfrm xmlns:a="http://schemas.openxmlformats.org/drawingml/2006/main">
            <a:off x="4929077" y="4246245"/>
            <a:ext cx="1555012"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5E609238-61C7-4297-B113-93E7A7000AD1}"/>
              </a:ext>
            </a:extLst>
          </p:cNvPr>
          <p:cNvSpPr>
            <a:spLocks xmlns:a="http://schemas.openxmlformats.org/drawingml/2006/main" noGrp="1"/>
          </p:cNvSpPr>
          <p:nvPr/>
        </p:nvSpPr>
        <p:spPr>
          <a:xfrm xmlns:a="http://schemas.openxmlformats.org/drawingml/2006/main">
            <a:off x="5043377" y="4322445"/>
            <a:ext cx="132641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2.7146</a:t>
            </a:r>
          </a:p>
        </p:txBody>
      </p:sp>
      <p:sp>
        <p:nvSpPr>
          <p:cNvPr id="28" name="">
            <a:extLst xmlns:a="http://schemas.openxmlformats.org/drawingml/2006/main">
              <a:ext uri="{FF2B5EF4-FFF2-40B4-BE49-F238E27FC236}">
                <a16:creationId xmlns:a16="http://schemas.microsoft.com/office/drawing/2014/main" id="{3D5423A8-011D-4D23-9197-547C580711D4}"/>
              </a:ext>
            </a:extLst>
          </p:cNvPr>
          <p:cNvSpPr>
            <a:spLocks xmlns:a="http://schemas.openxmlformats.org/drawingml/2006/main" noGrp="1"/>
          </p:cNvSpPr>
          <p:nvPr/>
        </p:nvSpPr>
        <p:spPr>
          <a:xfrm xmlns:a="http://schemas.openxmlformats.org/drawingml/2006/main">
            <a:off x="6484088" y="4246245"/>
            <a:ext cx="1555012"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B70843B8-197B-4427-AF5A-C8C759672C33}"/>
              </a:ext>
            </a:extLst>
          </p:cNvPr>
          <p:cNvSpPr>
            <a:spLocks xmlns:a="http://schemas.openxmlformats.org/drawingml/2006/main" noGrp="1"/>
          </p:cNvSpPr>
          <p:nvPr/>
        </p:nvSpPr>
        <p:spPr>
          <a:xfrm xmlns:a="http://schemas.openxmlformats.org/drawingml/2006/main">
            <a:off x="6598388" y="4322445"/>
            <a:ext cx="1326412"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0.4937</a:t>
            </a:r>
          </a:p>
        </p:txBody>
      </p:sp>
      <p:sp>
        <p:nvSpPr>
          <p:cNvPr id="30" name="callout-label">
            <a:extLst xmlns:a="http://schemas.openxmlformats.org/drawingml/2006/main">
              <a:ext uri="{FF2B5EF4-FFF2-40B4-BE49-F238E27FC236}">
                <a16:creationId xmlns:a16="http://schemas.microsoft.com/office/drawing/2014/main" id="{F2E79AA3-D675-4B09-9CCD-B366590D3E53}"/>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31" name="callout">
            <a:extLst xmlns:a="http://schemas.openxmlformats.org/drawingml/2006/main">
              <a:ext uri="{FF2B5EF4-FFF2-40B4-BE49-F238E27FC236}">
                <a16:creationId xmlns:a16="http://schemas.microsoft.com/office/drawing/2014/main" id="{D0C2F93A-8B60-4DE5-A1F3-CC558B6B446A}"/>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MAE drops ~21.5% (2.8906 → 2.2680). R² rises from ~0 to 0.4937. Real, but imperfect — the honest reason why is next.</a:t>
            </a:r>
          </a:p>
        </p:txBody>
      </p:sp>
    </p:spTree>
    <p:extLst>
      <p:ext uri="{BB962C8B-B14F-4D97-AF65-F5344CB8AC3E}">
        <p14:creationId xmlns:p14="http://schemas.microsoft.com/office/powerpoint/2010/main" val="123156929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A77829DD-B7F1-4724-8F28-EAAA7AB489B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C6A9C0BB-2F1E-427A-8FF9-43A6B56A01C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MAE, defined</a:t>
            </a:r>
          </a:p>
        </p:txBody>
      </p:sp>
      <p:sp>
        <p:nvSpPr>
          <p:cNvPr id="3" name="">
            <a:extLst xmlns:a="http://schemas.openxmlformats.org/drawingml/2006/main">
              <a:ext uri="{FF2B5EF4-FFF2-40B4-BE49-F238E27FC236}">
                <a16:creationId xmlns:a16="http://schemas.microsoft.com/office/drawing/2014/main" id="{194C3D1C-9A9B-4577-91EB-90F0A92D58A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D06206D-C399-4CA7-823A-199A4F3731F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248C257E-0901-4B63-BAF7-D15C1A42203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term-label">
            <a:extLst xmlns:a="http://schemas.openxmlformats.org/drawingml/2006/main">
              <a:ext uri="{FF2B5EF4-FFF2-40B4-BE49-F238E27FC236}">
                <a16:creationId xmlns:a16="http://schemas.microsoft.com/office/drawing/2014/main" id="{01370797-8946-4A1C-8011-5FD2E49D9F9C}"/>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4A7A807D-0F88-4D65-9264-B59AC3C62518}"/>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MAE</a:t>
            </a:r>
          </a:p>
        </p:txBody>
      </p:sp>
      <p:sp>
        <p:nvSpPr>
          <p:cNvPr id="8" name="">
            <a:extLst xmlns:a="http://schemas.openxmlformats.org/drawingml/2006/main">
              <a:ext uri="{FF2B5EF4-FFF2-40B4-BE49-F238E27FC236}">
                <a16:creationId xmlns:a16="http://schemas.microsoft.com/office/drawing/2014/main" id="{88280CAB-2F6C-4A9D-A1F5-CD0B640CE288}"/>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E796B702-1483-4BF4-837C-D60066BDFB84}"/>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Mean Absolute Error: the average of |actual − predicted| across all 35 test rows, in the SAME units as the target (kWh/m2/yr). MAE=2.2680 means the model is off by about 2.27 kWh/m2/yr on average.</a:t>
            </a:r>
          </a:p>
        </p:txBody>
      </p:sp>
      <p:sp>
        <p:nvSpPr>
          <p:cNvPr id="10" name="example-panel">
            <a:extLst xmlns:a="http://schemas.openxmlformats.org/drawingml/2006/main">
              <a:ext uri="{FF2B5EF4-FFF2-40B4-BE49-F238E27FC236}">
                <a16:creationId xmlns:a16="http://schemas.microsoft.com/office/drawing/2014/main" id="{23B223B1-DB10-48C6-BDF4-64B02B4175B4}"/>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CC0F44C6-B9E9-486A-B093-7390C7C267A4}"/>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7379B484-5D17-4E6B-AF4D-EABAB8DED9AE}"/>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Reading it</a:t>
            </a:r>
          </a:p>
        </p:txBody>
      </p:sp>
      <p:sp>
        <p:nvSpPr>
          <p:cNvPr id="13" name="example-body">
            <a:extLst xmlns:a="http://schemas.openxmlformats.org/drawingml/2006/main">
              <a:ext uri="{FF2B5EF4-FFF2-40B4-BE49-F238E27FC236}">
                <a16:creationId xmlns:a16="http://schemas.microsoft.com/office/drawing/2014/main" id="{739DF4D9-5D7A-40C1-9941-1A6DD3B11652}"/>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Every residual counts equally, regardless of sign or size — a 1-unit miss and a 5-unit miss each contribute in proportion to their size, with no extra penalty for large errors.</a:t>
            </a:r>
          </a:p>
        </p:txBody>
      </p:sp>
      <p:sp>
        <p:nvSpPr>
          <p:cNvPr id="14" name="note-bar">
            <a:extLst xmlns:a="http://schemas.openxmlformats.org/drawingml/2006/main">
              <a:ext uri="{FF2B5EF4-FFF2-40B4-BE49-F238E27FC236}">
                <a16:creationId xmlns:a16="http://schemas.microsoft.com/office/drawing/2014/main" id="{153270FF-5C43-43F9-A644-CC2A636CA8DF}"/>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7AE0EDEB-C8DA-4646-8EAE-23D7196DCC4E}"/>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COMPARE TO RMSE</a:t>
            </a:r>
          </a:p>
        </p:txBody>
      </p:sp>
      <p:sp>
        <p:nvSpPr>
          <p:cNvPr id="16" name="note">
            <a:extLst xmlns:a="http://schemas.openxmlformats.org/drawingml/2006/main">
              <a:ext uri="{FF2B5EF4-FFF2-40B4-BE49-F238E27FC236}">
                <a16:creationId xmlns:a16="http://schemas.microsoft.com/office/drawing/2014/main" id="{B722A6B1-B967-4ED1-9A43-4764182BAACA}"/>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RMSE (next slide) squares each residual before averaging, so a few large misses pull it up more than MAE does — same units, different sensitivity to outliers.</a:t>
            </a:r>
          </a:p>
        </p:txBody>
      </p:sp>
    </p:spTree>
    <p:extLst>
      <p:ext uri="{BB962C8B-B14F-4D97-AF65-F5344CB8AC3E}">
        <p14:creationId xmlns:p14="http://schemas.microsoft.com/office/powerpoint/2010/main" val="8500338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77B8D816-A994-4954-ADDA-564D2760935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F3DB4AA2-5944-4F47-897E-73DFE41DEDA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RMSE, defined</a:t>
            </a:r>
          </a:p>
        </p:txBody>
      </p:sp>
      <p:sp>
        <p:nvSpPr>
          <p:cNvPr id="3" name="">
            <a:extLst xmlns:a="http://schemas.openxmlformats.org/drawingml/2006/main">
              <a:ext uri="{FF2B5EF4-FFF2-40B4-BE49-F238E27FC236}">
                <a16:creationId xmlns:a16="http://schemas.microsoft.com/office/drawing/2014/main" id="{85B7AADD-4A6B-491F-BF65-7F19942C1A9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1F03F9D-1995-4976-B519-8EAF68E534B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DCFCB438-3A95-4B5C-B41B-DC74F413AE3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term-label">
            <a:extLst xmlns:a="http://schemas.openxmlformats.org/drawingml/2006/main">
              <a:ext uri="{FF2B5EF4-FFF2-40B4-BE49-F238E27FC236}">
                <a16:creationId xmlns:a16="http://schemas.microsoft.com/office/drawing/2014/main" id="{BF0C788D-80EA-4987-9476-1AA0AC3E3766}"/>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62F69A3B-011A-4A72-94A0-FCBECFCA590F}"/>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RMSE</a:t>
            </a:r>
          </a:p>
        </p:txBody>
      </p:sp>
      <p:sp>
        <p:nvSpPr>
          <p:cNvPr id="8" name="">
            <a:extLst xmlns:a="http://schemas.openxmlformats.org/drawingml/2006/main">
              <a:ext uri="{FF2B5EF4-FFF2-40B4-BE49-F238E27FC236}">
                <a16:creationId xmlns:a16="http://schemas.microsoft.com/office/drawing/2014/main" id="{AFB907FC-A1BE-4D70-8E01-2B0A200D7798}"/>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7F2F23A5-6EE2-4DFF-96B6-9B32AB2F567F}"/>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Root Mean Squared Error: square each residual, average the squares, take the square root. Same units as the target (kWh/m2/yr) — RMSE=2.7146.</a:t>
            </a:r>
          </a:p>
        </p:txBody>
      </p:sp>
      <p:sp>
        <p:nvSpPr>
          <p:cNvPr id="10" name="example-panel">
            <a:extLst xmlns:a="http://schemas.openxmlformats.org/drawingml/2006/main">
              <a:ext uri="{FF2B5EF4-FFF2-40B4-BE49-F238E27FC236}">
                <a16:creationId xmlns:a16="http://schemas.microsoft.com/office/drawing/2014/main" id="{B7C9A826-45E6-4ACE-89EF-14024ACC28FB}"/>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8E06238A-EF92-4A46-98DB-BBFFA72B2B5D}"/>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A3C55FFD-F728-48D9-982D-5DE1D33FB76A}"/>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Why it differs from MAE</a:t>
            </a:r>
          </a:p>
        </p:txBody>
      </p:sp>
      <p:sp>
        <p:nvSpPr>
          <p:cNvPr id="13" name="example-body">
            <a:extLst xmlns:a="http://schemas.openxmlformats.org/drawingml/2006/main">
              <a:ext uri="{FF2B5EF4-FFF2-40B4-BE49-F238E27FC236}">
                <a16:creationId xmlns:a16="http://schemas.microsoft.com/office/drawing/2014/main" id="{332E18F8-2F4D-4554-973E-BF62DB2FBF1F}"/>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Squaring means large residuals count MUCH more than small ones. RMSE (2.7146) &gt; MAE (2.2680) here — a small signal that at least a few residuals (like V037's -6.34) are noticeably larger than the typical miss.</a:t>
            </a:r>
          </a:p>
        </p:txBody>
      </p:sp>
      <p:sp>
        <p:nvSpPr>
          <p:cNvPr id="14" name="note-bar">
            <a:extLst xmlns:a="http://schemas.openxmlformats.org/drawingml/2006/main">
              <a:ext uri="{FF2B5EF4-FFF2-40B4-BE49-F238E27FC236}">
                <a16:creationId xmlns:a16="http://schemas.microsoft.com/office/drawing/2014/main" id="{E06AADD1-50AF-40DD-83CA-D1685DA85905}"/>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2DF0C0E4-0FBB-41C7-BEFD-55E964C053D6}"/>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COMPARE TO MAE</a:t>
            </a:r>
          </a:p>
        </p:txBody>
      </p:sp>
      <p:sp>
        <p:nvSpPr>
          <p:cNvPr id="16" name="note">
            <a:extLst xmlns:a="http://schemas.openxmlformats.org/drawingml/2006/main">
              <a:ext uri="{FF2B5EF4-FFF2-40B4-BE49-F238E27FC236}">
                <a16:creationId xmlns:a16="http://schemas.microsoft.com/office/drawing/2014/main" id="{820FE834-0FF3-4F15-AD17-405BB145E82F}"/>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MAE (previous slide) treats every residual proportionally; squaring is why RMSE (2.7146) sits above MAE (2.2680) here.</a:t>
            </a:r>
          </a:p>
        </p:txBody>
      </p:sp>
    </p:spTree>
    <p:extLst>
      <p:ext uri="{BB962C8B-B14F-4D97-AF65-F5344CB8AC3E}">
        <p14:creationId xmlns:p14="http://schemas.microsoft.com/office/powerpoint/2010/main" val="9762080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27DE71E1-5DCD-4C1E-B083-1A0072F0D58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20683BF8-3389-42B8-A7C6-852CDFD9BBD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R², defined</a:t>
            </a:r>
          </a:p>
        </p:txBody>
      </p:sp>
      <p:sp>
        <p:nvSpPr>
          <p:cNvPr id="3" name="">
            <a:extLst xmlns:a="http://schemas.openxmlformats.org/drawingml/2006/main">
              <a:ext uri="{FF2B5EF4-FFF2-40B4-BE49-F238E27FC236}">
                <a16:creationId xmlns:a16="http://schemas.microsoft.com/office/drawing/2014/main" id="{2319CE40-A79B-4249-83DD-F9ACFA8B837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5C68367-68F1-43D8-860E-6ED6700AE6D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B8B2684F-3C78-4864-ACE7-D0DD779EBE5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term-label">
            <a:extLst xmlns:a="http://schemas.openxmlformats.org/drawingml/2006/main">
              <a:ext uri="{FF2B5EF4-FFF2-40B4-BE49-F238E27FC236}">
                <a16:creationId xmlns:a16="http://schemas.microsoft.com/office/drawing/2014/main" id="{3196361F-84B5-459C-93A5-49E3E3B6FACD}"/>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8A4FD8FC-AF18-44B5-835F-EE898EE08D5A}"/>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R²</a:t>
            </a:r>
          </a:p>
        </p:txBody>
      </p:sp>
      <p:sp>
        <p:nvSpPr>
          <p:cNvPr id="8" name="">
            <a:extLst xmlns:a="http://schemas.openxmlformats.org/drawingml/2006/main">
              <a:ext uri="{FF2B5EF4-FFF2-40B4-BE49-F238E27FC236}">
                <a16:creationId xmlns:a16="http://schemas.microsoft.com/office/drawing/2014/main" id="{00F1B087-3135-4ECB-ADAD-A8D75FBA3C79}"/>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BE91FF2C-C56F-4204-B1B6-C9B6AE3173D2}"/>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Coefficient of determination: the fraction of the target's variance the model explains, on a scale where 1.0 is a perfect fit and 0 is "no better than predicting the mean." R²=0.4937 here.</a:t>
            </a:r>
          </a:p>
        </p:txBody>
      </p:sp>
      <p:sp>
        <p:nvSpPr>
          <p:cNvPr id="10" name="example-panel">
            <a:extLst xmlns:a="http://schemas.openxmlformats.org/drawingml/2006/main">
              <a:ext uri="{FF2B5EF4-FFF2-40B4-BE49-F238E27FC236}">
                <a16:creationId xmlns:a16="http://schemas.microsoft.com/office/drawing/2014/main" id="{6DCC5CDF-569F-480A-A28F-6C2B4141A367}"/>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D7F0BE42-0341-4615-BEC4-C4B3F574A0B2}"/>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8C153B3E-C20F-4011-BD85-1B8F9C785720}"/>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Reading it here</a:t>
            </a:r>
          </a:p>
        </p:txBody>
      </p:sp>
      <p:sp>
        <p:nvSpPr>
          <p:cNvPr id="13" name="example-body">
            <a:extLst xmlns:a="http://schemas.openxmlformats.org/drawingml/2006/main">
              <a:ext uri="{FF2B5EF4-FFF2-40B4-BE49-F238E27FC236}">
                <a16:creationId xmlns:a16="http://schemas.microsoft.com/office/drawing/2014/main" id="{BC4A9178-E15F-4D38-B4CF-1DB00FB34B1A}"/>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0.4937 means this model accounts for about half of why EUI varies across the 140 variants. The other half is real, physical variation this 3-feature model cannot see yet (compactness, orientation).</a:t>
            </a:r>
          </a:p>
        </p:txBody>
      </p:sp>
      <p:sp>
        <p:nvSpPr>
          <p:cNvPr id="14" name="note-bar">
            <a:extLst xmlns:a="http://schemas.openxmlformats.org/drawingml/2006/main">
              <a:ext uri="{FF2B5EF4-FFF2-40B4-BE49-F238E27FC236}">
                <a16:creationId xmlns:a16="http://schemas.microsoft.com/office/drawing/2014/main" id="{610083F9-FF2C-4109-8FDD-A9CA1EA875D2}"/>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B6228B9F-E34B-454D-A38C-506D70DF69F1}"/>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COMPARE TO THE BASELINE</a:t>
            </a:r>
          </a:p>
        </p:txBody>
      </p:sp>
      <p:sp>
        <p:nvSpPr>
          <p:cNvPr id="16" name="note">
            <a:extLst xmlns:a="http://schemas.openxmlformats.org/drawingml/2006/main">
              <a:ext uri="{FF2B5EF4-FFF2-40B4-BE49-F238E27FC236}">
                <a16:creationId xmlns:a16="http://schemas.microsoft.com/office/drawing/2014/main" id="{2A66418E-15FB-4367-AF3E-EE98FE834F55}"/>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Reconnect to the baseline: R²≈-0.00003 there. Same metric, same scale, night-and-day difference.</a:t>
            </a:r>
          </a:p>
        </p:txBody>
      </p:sp>
    </p:spTree>
    <p:extLst>
      <p:ext uri="{BB962C8B-B14F-4D97-AF65-F5344CB8AC3E}">
        <p14:creationId xmlns:p14="http://schemas.microsoft.com/office/powerpoint/2010/main" val="81324452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2931CCFD-610C-4735-9570-51D1F26AFB0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01CE990F-74F2-4E85-847F-C42E1B39163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Residual, defined</a:t>
            </a:r>
          </a:p>
        </p:txBody>
      </p:sp>
      <p:sp>
        <p:nvSpPr>
          <p:cNvPr id="3" name="">
            <a:extLst xmlns:a="http://schemas.openxmlformats.org/drawingml/2006/main">
              <a:ext uri="{FF2B5EF4-FFF2-40B4-BE49-F238E27FC236}">
                <a16:creationId xmlns:a16="http://schemas.microsoft.com/office/drawing/2014/main" id="{7BF83A59-3E2E-4B43-8873-FADB8413C7A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7A662AE-666E-495D-AC05-DF727AAB105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0A9BAA5C-C740-465A-B29F-63169843494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term-label">
            <a:extLst xmlns:a="http://schemas.openxmlformats.org/drawingml/2006/main">
              <a:ext uri="{FF2B5EF4-FFF2-40B4-BE49-F238E27FC236}">
                <a16:creationId xmlns:a16="http://schemas.microsoft.com/office/drawing/2014/main" id="{95EACF47-8A85-4F51-8253-60797D40F419}"/>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829CB79B-D728-4774-B9D5-ED8E50215890}"/>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residual</a:t>
            </a:r>
          </a:p>
        </p:txBody>
      </p:sp>
      <p:sp>
        <p:nvSpPr>
          <p:cNvPr id="8" name="">
            <a:extLst xmlns:a="http://schemas.openxmlformats.org/drawingml/2006/main">
              <a:ext uri="{FF2B5EF4-FFF2-40B4-BE49-F238E27FC236}">
                <a16:creationId xmlns:a16="http://schemas.microsoft.com/office/drawing/2014/main" id="{4404D14F-E045-476B-8407-C8E09E2A4758}"/>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DA040B52-6682-495D-A333-ED9FEEC52357}"/>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residual = actual − predicted, computed for each test row. A positive residual means the model UNDER-predicted (actual was higher); negative means it OVER-predicted.</a:t>
            </a:r>
          </a:p>
        </p:txBody>
      </p:sp>
      <p:sp>
        <p:nvSpPr>
          <p:cNvPr id="10" name="example-panel">
            <a:extLst xmlns:a="http://schemas.openxmlformats.org/drawingml/2006/main">
              <a:ext uri="{FF2B5EF4-FFF2-40B4-BE49-F238E27FC236}">
                <a16:creationId xmlns:a16="http://schemas.microsoft.com/office/drawing/2014/main" id="{97A986C6-65E1-4D17-A5CB-D42B1E383CBD}"/>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263B0CF4-1E34-4591-AFC8-0305E3DECB65}"/>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587F622D-85FF-469D-AC1C-9233902A045B}"/>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Why plot every one</a:t>
            </a:r>
          </a:p>
        </p:txBody>
      </p:sp>
      <p:sp>
        <p:nvSpPr>
          <p:cNvPr id="13" name="example-body">
            <a:extLst xmlns:a="http://schemas.openxmlformats.org/drawingml/2006/main">
              <a:ext uri="{FF2B5EF4-FFF2-40B4-BE49-F238E27FC236}">
                <a16:creationId xmlns:a16="http://schemas.microsoft.com/office/drawing/2014/main" id="{8D11B74B-B0A6-4D90-BB64-D4551340D238}"/>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single MAE/RMSE number can hide a pattern — e.g., the model consistently over-predicting one kind of design. Plotting every residual against its predicted value is how you check for that pattern directly.</a:t>
            </a:r>
          </a:p>
        </p:txBody>
      </p:sp>
      <p:sp>
        <p:nvSpPr>
          <p:cNvPr id="14" name="note-bar">
            <a:extLst xmlns:a="http://schemas.openxmlformats.org/drawingml/2006/main">
              <a:ext uri="{FF2B5EF4-FFF2-40B4-BE49-F238E27FC236}">
                <a16:creationId xmlns:a16="http://schemas.microsoft.com/office/drawing/2014/main" id="{A5A41F59-A3EA-4C1C-8567-A749AC4DE305}"/>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AD2E974F-E3AF-4E53-9C4A-3D3F69986499}"/>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COMING UP</a:t>
            </a:r>
          </a:p>
        </p:txBody>
      </p:sp>
      <p:sp>
        <p:nvSpPr>
          <p:cNvPr id="16" name="note">
            <a:extLst xmlns:a="http://schemas.openxmlformats.org/drawingml/2006/main">
              <a:ext uri="{FF2B5EF4-FFF2-40B4-BE49-F238E27FC236}">
                <a16:creationId xmlns:a16="http://schemas.microsoft.com/office/drawing/2014/main" id="{FB584775-BA3E-4495-9E40-F33B2C60D469}"/>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The next two slides use this deck's real test-set residuals — first the full scatter, then the three largest misses (V037, V133, V043) diagnosed by hand.</a:t>
            </a:r>
          </a:p>
        </p:txBody>
      </p:sp>
    </p:spTree>
    <p:extLst>
      <p:ext uri="{BB962C8B-B14F-4D97-AF65-F5344CB8AC3E}">
        <p14:creationId xmlns:p14="http://schemas.microsoft.com/office/powerpoint/2010/main" val="166664110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1B180A02-CD4C-45D8-93E9-DF23BFC7256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VISUAL EVIDENCE</a:t>
            </a:r>
          </a:p>
        </p:txBody>
      </p:sp>
      <p:sp>
        <p:nvSpPr>
          <p:cNvPr id="2" name="title">
            <a:extLst xmlns:a="http://schemas.openxmlformats.org/drawingml/2006/main">
              <a:ext uri="{FF2B5EF4-FFF2-40B4-BE49-F238E27FC236}">
                <a16:creationId xmlns:a16="http://schemas.microsoft.com/office/drawing/2014/main" id="{39E0F603-7F80-4B27-A9B6-B14D70BDDCD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Residuals, plotted against predicted EUI</a:t>
            </a:r>
          </a:p>
        </p:txBody>
      </p:sp>
      <p:sp>
        <p:nvSpPr>
          <p:cNvPr id="3" name="">
            <a:extLst xmlns:a="http://schemas.openxmlformats.org/drawingml/2006/main">
              <a:ext uri="{FF2B5EF4-FFF2-40B4-BE49-F238E27FC236}">
                <a16:creationId xmlns:a16="http://schemas.microsoft.com/office/drawing/2014/main" id="{EEB7E30D-2D53-462F-B48F-65B03E5DD0E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A3B0A752-4740-400F-AD06-DDAADD05D0F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A898C7C4-ECF7-49D8-99E0-FFCCE849646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graphicFrame>
        <p:nvGraphicFramePr>
          <p:cNvPr id="14" name="Chart"/>
          <p:cNvGraphicFramePr/>
          <p:nvPr/>
        </p:nvGraphicFramePr>
        <p:xfrm>
          <a:off xmlns:a="http://schemas.openxmlformats.org/drawingml/2006/main" x="609600" y="1809750"/>
          <a:ext xmlns:a="http://schemas.openxmlformats.org/drawingml/2006/main" cx="7010400" cy="4248150"/>
        </p:xfrm>
        <a:graphic xmlns:a="http://schemas.openxmlformats.org/drawingml/2006/main">
          <a:graphicData uri="http://schemas.openxmlformats.org/drawingml/2006/chart">
            <c:chart xmlns:r="http://schemas.openxmlformats.org/officeDocument/2006/relationships" xmlns:c="http://schemas.openxmlformats.org/drawingml/2006/chart" r:id="Rd988d92251754c54"/>
          </a:graphicData>
        </a:graphic>
      </p:graphicFrame>
      <p:sp>
        <p:nvSpPr>
          <p:cNvPr id="7" name="chart-explain-head">
            <a:extLst xmlns:a="http://schemas.openxmlformats.org/drawingml/2006/main">
              <a:ext uri="{FF2B5EF4-FFF2-40B4-BE49-F238E27FC236}">
                <a16:creationId xmlns:a16="http://schemas.microsoft.com/office/drawing/2014/main" id="{083CDFC4-3545-4AE2-B1E7-6FF669FFD9B6}"/>
              </a:ext>
            </a:extLst>
          </p:cNvPr>
          <p:cNvSpPr>
            <a:spLocks xmlns:a="http://schemas.openxmlformats.org/drawingml/2006/main" noGrp="1"/>
          </p:cNvSpPr>
          <p:nvPr/>
        </p:nvSpPr>
        <p:spPr>
          <a:xfrm xmlns:a="http://schemas.openxmlformats.org/drawingml/2006/main">
            <a:off x="8001000" y="2524125"/>
            <a:ext cx="35814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No obvious pattern — a good sign</a:t>
            </a:r>
          </a:p>
        </p:txBody>
      </p:sp>
      <p:sp>
        <p:nvSpPr>
          <p:cNvPr id="8" name="chart-explain-body">
            <a:extLst xmlns:a="http://schemas.openxmlformats.org/drawingml/2006/main">
              <a:ext uri="{FF2B5EF4-FFF2-40B4-BE49-F238E27FC236}">
                <a16:creationId xmlns:a16="http://schemas.microsoft.com/office/drawing/2014/main" id="{DA272623-674B-4186-A6FB-64417695A365}"/>
              </a:ext>
            </a:extLst>
          </p:cNvPr>
          <p:cNvSpPr>
            <a:spLocks xmlns:a="http://schemas.openxmlformats.org/drawingml/2006/main" noGrp="1"/>
          </p:cNvSpPr>
          <p:nvPr/>
        </p:nvSpPr>
        <p:spPr>
          <a:xfrm xmlns:a="http://schemas.openxmlformats.org/drawingml/2006/main">
            <a:off x="8001000" y="3309747"/>
            <a:ext cx="35814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Residuals scatter both above and below zero across the whole predicted range, with no funnel or slope pattern. Three points sit clearly below the rest (V037, V133, V043, next slide) — real, diagnosable misses, not a systematic flaw.</a:t>
            </a:r>
          </a:p>
        </p:txBody>
      </p:sp>
    </p:spTree>
    <p:extLst>
      <p:ext uri="{BB962C8B-B14F-4D97-AF65-F5344CB8AC3E}">
        <p14:creationId xmlns:p14="http://schemas.microsoft.com/office/powerpoint/2010/main" val="101021359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kicker">
            <a:extLst xmlns:a="http://schemas.openxmlformats.org/drawingml/2006/main">
              <a:ext uri="{FF2B5EF4-FFF2-40B4-BE49-F238E27FC236}">
                <a16:creationId xmlns:a16="http://schemas.microsoft.com/office/drawing/2014/main" id="{B81735C1-4CA8-4624-97CE-B6B902B877D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BEED5763-8C4A-4B89-968D-B97D4B1622B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three largest misses — diagnosable, not random</a:t>
            </a:r>
          </a:p>
        </p:txBody>
      </p:sp>
      <p:sp>
        <p:nvSpPr>
          <p:cNvPr id="3" name="">
            <a:extLst xmlns:a="http://schemas.openxmlformats.org/drawingml/2006/main">
              <a:ext uri="{FF2B5EF4-FFF2-40B4-BE49-F238E27FC236}">
                <a16:creationId xmlns:a16="http://schemas.microsoft.com/office/drawing/2014/main" id="{0F357D1F-27B1-4033-982E-EF2332371A3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9BEB7F8F-B640-4CB5-B77E-82F1BF71B07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183E2B71-813E-48D9-A854-044D1032B6D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
            <a:extLst xmlns:a="http://schemas.openxmlformats.org/drawingml/2006/main">
              <a:ext uri="{FF2B5EF4-FFF2-40B4-BE49-F238E27FC236}">
                <a16:creationId xmlns:a16="http://schemas.microsoft.com/office/drawing/2014/main" id="{39598545-F689-4636-B36E-5B6DF883151D}"/>
              </a:ext>
            </a:extLst>
          </p:cNvPr>
          <p:cNvSpPr>
            <a:spLocks xmlns:a="http://schemas.openxmlformats.org/drawingml/2006/main" noGrp="1"/>
          </p:cNvSpPr>
          <p:nvPr/>
        </p:nvSpPr>
        <p:spPr>
          <a:xfrm xmlns:a="http://schemas.openxmlformats.org/drawingml/2006/main">
            <a:off x="609600" y="2905125"/>
            <a:ext cx="974361"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15EF5A14-A089-41AA-9B37-8F3683A25945}"/>
              </a:ext>
            </a:extLst>
          </p:cNvPr>
          <p:cNvSpPr>
            <a:spLocks xmlns:a="http://schemas.openxmlformats.org/drawingml/2006/main" noGrp="1"/>
          </p:cNvSpPr>
          <p:nvPr/>
        </p:nvSpPr>
        <p:spPr>
          <a:xfrm xmlns:a="http://schemas.openxmlformats.org/drawingml/2006/main">
            <a:off x="723900" y="2981325"/>
            <a:ext cx="745761"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variant</a:t>
            </a:r>
          </a:p>
        </p:txBody>
      </p:sp>
      <p:sp>
        <p:nvSpPr>
          <p:cNvPr id="8" name="">
            <a:extLst xmlns:a="http://schemas.openxmlformats.org/drawingml/2006/main">
              <a:ext uri="{FF2B5EF4-FFF2-40B4-BE49-F238E27FC236}">
                <a16:creationId xmlns:a16="http://schemas.microsoft.com/office/drawing/2014/main" id="{CD8044C9-68DF-4B4D-96C9-96FBF41F5A62}"/>
              </a:ext>
            </a:extLst>
          </p:cNvPr>
          <p:cNvSpPr>
            <a:spLocks xmlns:a="http://schemas.openxmlformats.org/drawingml/2006/main" noGrp="1"/>
          </p:cNvSpPr>
          <p:nvPr/>
        </p:nvSpPr>
        <p:spPr>
          <a:xfrm xmlns:a="http://schemas.openxmlformats.org/drawingml/2006/main">
            <a:off x="1583961" y="2905125"/>
            <a:ext cx="974361"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0C9E82CD-4D60-45BF-9420-E4279C318ABD}"/>
              </a:ext>
            </a:extLst>
          </p:cNvPr>
          <p:cNvSpPr>
            <a:spLocks xmlns:a="http://schemas.openxmlformats.org/drawingml/2006/main" noGrp="1"/>
          </p:cNvSpPr>
          <p:nvPr/>
        </p:nvSpPr>
        <p:spPr>
          <a:xfrm xmlns:a="http://schemas.openxmlformats.org/drawingml/2006/main">
            <a:off x="1698261" y="2981325"/>
            <a:ext cx="745761"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actual</a:t>
            </a:r>
          </a:p>
        </p:txBody>
      </p:sp>
      <p:sp>
        <p:nvSpPr>
          <p:cNvPr id="10" name="">
            <a:extLst xmlns:a="http://schemas.openxmlformats.org/drawingml/2006/main">
              <a:ext uri="{FF2B5EF4-FFF2-40B4-BE49-F238E27FC236}">
                <a16:creationId xmlns:a16="http://schemas.microsoft.com/office/drawing/2014/main" id="{CA70F4FF-7735-4AE3-9985-6EF7654A2236}"/>
              </a:ext>
            </a:extLst>
          </p:cNvPr>
          <p:cNvSpPr>
            <a:spLocks xmlns:a="http://schemas.openxmlformats.org/drawingml/2006/main" noGrp="1"/>
          </p:cNvSpPr>
          <p:nvPr/>
        </p:nvSpPr>
        <p:spPr>
          <a:xfrm xmlns:a="http://schemas.openxmlformats.org/drawingml/2006/main">
            <a:off x="2558321" y="2905125"/>
            <a:ext cx="1096156"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472960CF-818B-43BE-B3ED-604C1F31AF87}"/>
              </a:ext>
            </a:extLst>
          </p:cNvPr>
          <p:cNvSpPr>
            <a:spLocks xmlns:a="http://schemas.openxmlformats.org/drawingml/2006/main" noGrp="1"/>
          </p:cNvSpPr>
          <p:nvPr/>
        </p:nvSpPr>
        <p:spPr>
          <a:xfrm xmlns:a="http://schemas.openxmlformats.org/drawingml/2006/main">
            <a:off x="2672621" y="2981325"/>
            <a:ext cx="86755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predicted</a:t>
            </a:r>
          </a:p>
        </p:txBody>
      </p:sp>
      <p:sp>
        <p:nvSpPr>
          <p:cNvPr id="12" name="">
            <a:extLst xmlns:a="http://schemas.openxmlformats.org/drawingml/2006/main">
              <a:ext uri="{FF2B5EF4-FFF2-40B4-BE49-F238E27FC236}">
                <a16:creationId xmlns:a16="http://schemas.microsoft.com/office/drawing/2014/main" id="{77DF6885-C9EB-4068-AAF7-E34157F0DBF1}"/>
              </a:ext>
            </a:extLst>
          </p:cNvPr>
          <p:cNvSpPr>
            <a:spLocks xmlns:a="http://schemas.openxmlformats.org/drawingml/2006/main" noGrp="1"/>
          </p:cNvSpPr>
          <p:nvPr/>
        </p:nvSpPr>
        <p:spPr>
          <a:xfrm xmlns:a="http://schemas.openxmlformats.org/drawingml/2006/main">
            <a:off x="3654477" y="2905125"/>
            <a:ext cx="1096156"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59C78666-3941-42E6-852C-26ECA8A48986}"/>
              </a:ext>
            </a:extLst>
          </p:cNvPr>
          <p:cNvSpPr>
            <a:spLocks xmlns:a="http://schemas.openxmlformats.org/drawingml/2006/main" noGrp="1"/>
          </p:cNvSpPr>
          <p:nvPr/>
        </p:nvSpPr>
        <p:spPr>
          <a:xfrm xmlns:a="http://schemas.openxmlformats.org/drawingml/2006/main">
            <a:off x="3768777" y="2981325"/>
            <a:ext cx="86755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residual</a:t>
            </a:r>
          </a:p>
        </p:txBody>
      </p:sp>
      <p:sp>
        <p:nvSpPr>
          <p:cNvPr id="14" name="">
            <a:extLst xmlns:a="http://schemas.openxmlformats.org/drawingml/2006/main">
              <a:ext uri="{FF2B5EF4-FFF2-40B4-BE49-F238E27FC236}">
                <a16:creationId xmlns:a16="http://schemas.microsoft.com/office/drawing/2014/main" id="{DDC45628-3520-47F1-A5E0-3216BE2321F9}"/>
              </a:ext>
            </a:extLst>
          </p:cNvPr>
          <p:cNvSpPr>
            <a:spLocks xmlns:a="http://schemas.openxmlformats.org/drawingml/2006/main" noGrp="1"/>
          </p:cNvSpPr>
          <p:nvPr/>
        </p:nvSpPr>
        <p:spPr>
          <a:xfrm xmlns:a="http://schemas.openxmlformats.org/drawingml/2006/main">
            <a:off x="4750633" y="2905125"/>
            <a:ext cx="974361"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5" name="header-4">
            <a:extLst xmlns:a="http://schemas.openxmlformats.org/drawingml/2006/main">
              <a:ext uri="{FF2B5EF4-FFF2-40B4-BE49-F238E27FC236}">
                <a16:creationId xmlns:a16="http://schemas.microsoft.com/office/drawing/2014/main" id="{B008B150-8A7E-49C4-B71F-1F9F7FD56957}"/>
              </a:ext>
            </a:extLst>
          </p:cNvPr>
          <p:cNvSpPr>
            <a:spLocks xmlns:a="http://schemas.openxmlformats.org/drawingml/2006/main" noGrp="1"/>
          </p:cNvSpPr>
          <p:nvPr/>
        </p:nvSpPr>
        <p:spPr>
          <a:xfrm xmlns:a="http://schemas.openxmlformats.org/drawingml/2006/main">
            <a:off x="4864933" y="2981325"/>
            <a:ext cx="745761"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wwr</a:t>
            </a:r>
          </a:p>
        </p:txBody>
      </p:sp>
      <p:sp>
        <p:nvSpPr>
          <p:cNvPr id="16" name="">
            <a:extLst xmlns:a="http://schemas.openxmlformats.org/drawingml/2006/main">
              <a:ext uri="{FF2B5EF4-FFF2-40B4-BE49-F238E27FC236}">
                <a16:creationId xmlns:a16="http://schemas.microsoft.com/office/drawing/2014/main" id="{0F39DCA9-4281-44CC-80F6-636B23B55F40}"/>
              </a:ext>
            </a:extLst>
          </p:cNvPr>
          <p:cNvSpPr>
            <a:spLocks xmlns:a="http://schemas.openxmlformats.org/drawingml/2006/main" noGrp="1"/>
          </p:cNvSpPr>
          <p:nvPr/>
        </p:nvSpPr>
        <p:spPr>
          <a:xfrm xmlns:a="http://schemas.openxmlformats.org/drawingml/2006/main">
            <a:off x="5724993" y="2905125"/>
            <a:ext cx="1096156"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7" name="header-5">
            <a:extLst xmlns:a="http://schemas.openxmlformats.org/drawingml/2006/main">
              <a:ext uri="{FF2B5EF4-FFF2-40B4-BE49-F238E27FC236}">
                <a16:creationId xmlns:a16="http://schemas.microsoft.com/office/drawing/2014/main" id="{8124E505-BECF-40B8-8BAC-2465072C03FF}"/>
              </a:ext>
            </a:extLst>
          </p:cNvPr>
          <p:cNvSpPr>
            <a:spLocks xmlns:a="http://schemas.openxmlformats.org/drawingml/2006/main" noGrp="1"/>
          </p:cNvSpPr>
          <p:nvPr/>
        </p:nvSpPr>
        <p:spPr>
          <a:xfrm xmlns:a="http://schemas.openxmlformats.org/drawingml/2006/main">
            <a:off x="5839293" y="2981325"/>
            <a:ext cx="867556"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shade_m</a:t>
            </a:r>
          </a:p>
        </p:txBody>
      </p:sp>
      <p:sp>
        <p:nvSpPr>
          <p:cNvPr id="18" name="">
            <a:extLst xmlns:a="http://schemas.openxmlformats.org/drawingml/2006/main">
              <a:ext uri="{FF2B5EF4-FFF2-40B4-BE49-F238E27FC236}">
                <a16:creationId xmlns:a16="http://schemas.microsoft.com/office/drawing/2014/main" id="{0510A334-F8D4-48FB-BCC0-A9A1ED392A69}"/>
              </a:ext>
            </a:extLst>
          </p:cNvPr>
          <p:cNvSpPr>
            <a:spLocks xmlns:a="http://schemas.openxmlformats.org/drawingml/2006/main" noGrp="1"/>
          </p:cNvSpPr>
          <p:nvPr/>
        </p:nvSpPr>
        <p:spPr>
          <a:xfrm xmlns:a="http://schemas.openxmlformats.org/drawingml/2006/main">
            <a:off x="6821149" y="2905125"/>
            <a:ext cx="1217951" cy="54102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9" name="header-6">
            <a:extLst xmlns:a="http://schemas.openxmlformats.org/drawingml/2006/main">
              <a:ext uri="{FF2B5EF4-FFF2-40B4-BE49-F238E27FC236}">
                <a16:creationId xmlns:a16="http://schemas.microsoft.com/office/drawing/2014/main" id="{C63E3CCE-4C8E-4A8F-860D-12D676B0B54B}"/>
              </a:ext>
            </a:extLst>
          </p:cNvPr>
          <p:cNvSpPr>
            <a:spLocks xmlns:a="http://schemas.openxmlformats.org/drawingml/2006/main" noGrp="1"/>
          </p:cNvSpPr>
          <p:nvPr/>
        </p:nvSpPr>
        <p:spPr>
          <a:xfrm xmlns:a="http://schemas.openxmlformats.org/drawingml/2006/main">
            <a:off x="6935449" y="2981325"/>
            <a:ext cx="989351" cy="388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orientation</a:t>
            </a:r>
          </a:p>
        </p:txBody>
      </p:sp>
      <p:sp>
        <p:nvSpPr>
          <p:cNvPr id="20" name="">
            <a:extLst xmlns:a="http://schemas.openxmlformats.org/drawingml/2006/main">
              <a:ext uri="{FF2B5EF4-FFF2-40B4-BE49-F238E27FC236}">
                <a16:creationId xmlns:a16="http://schemas.microsoft.com/office/drawing/2014/main" id="{35C99532-1679-4641-B3BE-6987D79B421E}"/>
              </a:ext>
            </a:extLst>
          </p:cNvPr>
          <p:cNvSpPr>
            <a:spLocks xmlns:a="http://schemas.openxmlformats.org/drawingml/2006/main" noGrp="1"/>
          </p:cNvSpPr>
          <p:nvPr/>
        </p:nvSpPr>
        <p:spPr>
          <a:xfrm xmlns:a="http://schemas.openxmlformats.org/drawingml/2006/main">
            <a:off x="609600" y="3446145"/>
            <a:ext cx="974361"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0">
            <a:extLst xmlns:a="http://schemas.openxmlformats.org/drawingml/2006/main">
              <a:ext uri="{FF2B5EF4-FFF2-40B4-BE49-F238E27FC236}">
                <a16:creationId xmlns:a16="http://schemas.microsoft.com/office/drawing/2014/main" id="{A270D738-B2C4-48A8-91C4-C55BF8CFFE70}"/>
              </a:ext>
            </a:extLst>
          </p:cNvPr>
          <p:cNvSpPr>
            <a:spLocks xmlns:a="http://schemas.openxmlformats.org/drawingml/2006/main" noGrp="1"/>
          </p:cNvSpPr>
          <p:nvPr/>
        </p:nvSpPr>
        <p:spPr>
          <a:xfrm xmlns:a="http://schemas.openxmlformats.org/drawingml/2006/main">
            <a:off x="723900" y="35223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V037</a:t>
            </a:r>
          </a:p>
        </p:txBody>
      </p:sp>
      <p:sp>
        <p:nvSpPr>
          <p:cNvPr id="22" name="">
            <a:extLst xmlns:a="http://schemas.openxmlformats.org/drawingml/2006/main">
              <a:ext uri="{FF2B5EF4-FFF2-40B4-BE49-F238E27FC236}">
                <a16:creationId xmlns:a16="http://schemas.microsoft.com/office/drawing/2014/main" id="{E60981CA-E4FB-4B57-8F77-E9EE9CBD4017}"/>
              </a:ext>
            </a:extLst>
          </p:cNvPr>
          <p:cNvSpPr>
            <a:spLocks xmlns:a="http://schemas.openxmlformats.org/drawingml/2006/main" noGrp="1"/>
          </p:cNvSpPr>
          <p:nvPr/>
        </p:nvSpPr>
        <p:spPr>
          <a:xfrm xmlns:a="http://schemas.openxmlformats.org/drawingml/2006/main">
            <a:off x="1583961" y="3446145"/>
            <a:ext cx="974361"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3" name="cell-0-1">
            <a:extLst xmlns:a="http://schemas.openxmlformats.org/drawingml/2006/main">
              <a:ext uri="{FF2B5EF4-FFF2-40B4-BE49-F238E27FC236}">
                <a16:creationId xmlns:a16="http://schemas.microsoft.com/office/drawing/2014/main" id="{2A81A1DE-23C1-4AA2-9731-DEB742A8310C}"/>
              </a:ext>
            </a:extLst>
          </p:cNvPr>
          <p:cNvSpPr>
            <a:spLocks xmlns:a="http://schemas.openxmlformats.org/drawingml/2006/main" noGrp="1"/>
          </p:cNvSpPr>
          <p:nvPr/>
        </p:nvSpPr>
        <p:spPr>
          <a:xfrm xmlns:a="http://schemas.openxmlformats.org/drawingml/2006/main">
            <a:off x="1698261" y="35223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20.43</a:t>
            </a:r>
          </a:p>
        </p:txBody>
      </p:sp>
      <p:sp>
        <p:nvSpPr>
          <p:cNvPr id="24" name="">
            <a:extLst xmlns:a="http://schemas.openxmlformats.org/drawingml/2006/main">
              <a:ext uri="{FF2B5EF4-FFF2-40B4-BE49-F238E27FC236}">
                <a16:creationId xmlns:a16="http://schemas.microsoft.com/office/drawing/2014/main" id="{9E7871D1-44FB-4C14-8535-B30BBC5DF950}"/>
              </a:ext>
            </a:extLst>
          </p:cNvPr>
          <p:cNvSpPr>
            <a:spLocks xmlns:a="http://schemas.openxmlformats.org/drawingml/2006/main" noGrp="1"/>
          </p:cNvSpPr>
          <p:nvPr/>
        </p:nvSpPr>
        <p:spPr>
          <a:xfrm xmlns:a="http://schemas.openxmlformats.org/drawingml/2006/main">
            <a:off x="2558321" y="3446145"/>
            <a:ext cx="1096156"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5" name="cell-0-2">
            <a:extLst xmlns:a="http://schemas.openxmlformats.org/drawingml/2006/main">
              <a:ext uri="{FF2B5EF4-FFF2-40B4-BE49-F238E27FC236}">
                <a16:creationId xmlns:a16="http://schemas.microsoft.com/office/drawing/2014/main" id="{182BE63F-97F6-4BC5-ADF7-9B6A9E148DCD}"/>
              </a:ext>
            </a:extLst>
          </p:cNvPr>
          <p:cNvSpPr>
            <a:spLocks xmlns:a="http://schemas.openxmlformats.org/drawingml/2006/main" noGrp="1"/>
          </p:cNvSpPr>
          <p:nvPr/>
        </p:nvSpPr>
        <p:spPr>
          <a:xfrm xmlns:a="http://schemas.openxmlformats.org/drawingml/2006/main">
            <a:off x="2672621" y="35223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26.77</a:t>
            </a:r>
          </a:p>
        </p:txBody>
      </p:sp>
      <p:sp>
        <p:nvSpPr>
          <p:cNvPr id="26" name="">
            <a:extLst xmlns:a="http://schemas.openxmlformats.org/drawingml/2006/main">
              <a:ext uri="{FF2B5EF4-FFF2-40B4-BE49-F238E27FC236}">
                <a16:creationId xmlns:a16="http://schemas.microsoft.com/office/drawing/2014/main" id="{01118B2A-0749-4DAB-BCD7-5C862143BAC2}"/>
              </a:ext>
            </a:extLst>
          </p:cNvPr>
          <p:cNvSpPr>
            <a:spLocks xmlns:a="http://schemas.openxmlformats.org/drawingml/2006/main" noGrp="1"/>
          </p:cNvSpPr>
          <p:nvPr/>
        </p:nvSpPr>
        <p:spPr>
          <a:xfrm xmlns:a="http://schemas.openxmlformats.org/drawingml/2006/main">
            <a:off x="3654477" y="3446145"/>
            <a:ext cx="1096156"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7" name="cell-0-3">
            <a:extLst xmlns:a="http://schemas.openxmlformats.org/drawingml/2006/main">
              <a:ext uri="{FF2B5EF4-FFF2-40B4-BE49-F238E27FC236}">
                <a16:creationId xmlns:a16="http://schemas.microsoft.com/office/drawing/2014/main" id="{9FD25A68-E16C-4907-9F46-2179ABCE4790}"/>
              </a:ext>
            </a:extLst>
          </p:cNvPr>
          <p:cNvSpPr>
            <a:spLocks xmlns:a="http://schemas.openxmlformats.org/drawingml/2006/main" noGrp="1"/>
          </p:cNvSpPr>
          <p:nvPr/>
        </p:nvSpPr>
        <p:spPr>
          <a:xfrm xmlns:a="http://schemas.openxmlformats.org/drawingml/2006/main">
            <a:off x="3768777" y="35223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-6.34</a:t>
            </a:r>
          </a:p>
        </p:txBody>
      </p:sp>
      <p:sp>
        <p:nvSpPr>
          <p:cNvPr id="28" name="">
            <a:extLst xmlns:a="http://schemas.openxmlformats.org/drawingml/2006/main">
              <a:ext uri="{FF2B5EF4-FFF2-40B4-BE49-F238E27FC236}">
                <a16:creationId xmlns:a16="http://schemas.microsoft.com/office/drawing/2014/main" id="{26BF5DD8-4FE8-4924-8ED0-EFA490F5C548}"/>
              </a:ext>
            </a:extLst>
          </p:cNvPr>
          <p:cNvSpPr>
            <a:spLocks xmlns:a="http://schemas.openxmlformats.org/drawingml/2006/main" noGrp="1"/>
          </p:cNvSpPr>
          <p:nvPr/>
        </p:nvSpPr>
        <p:spPr>
          <a:xfrm xmlns:a="http://schemas.openxmlformats.org/drawingml/2006/main">
            <a:off x="4750633" y="3446145"/>
            <a:ext cx="974361"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9" name="cell-0-4">
            <a:extLst xmlns:a="http://schemas.openxmlformats.org/drawingml/2006/main">
              <a:ext uri="{FF2B5EF4-FFF2-40B4-BE49-F238E27FC236}">
                <a16:creationId xmlns:a16="http://schemas.microsoft.com/office/drawing/2014/main" id="{667A5070-C49B-43EC-88BE-F2547FEDD3C0}"/>
              </a:ext>
            </a:extLst>
          </p:cNvPr>
          <p:cNvSpPr>
            <a:spLocks xmlns:a="http://schemas.openxmlformats.org/drawingml/2006/main" noGrp="1"/>
          </p:cNvSpPr>
          <p:nvPr/>
        </p:nvSpPr>
        <p:spPr>
          <a:xfrm xmlns:a="http://schemas.openxmlformats.org/drawingml/2006/main">
            <a:off x="4864933" y="35223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0.348</a:t>
            </a:r>
          </a:p>
        </p:txBody>
      </p:sp>
      <p:sp>
        <p:nvSpPr>
          <p:cNvPr id="30" name="">
            <a:extLst xmlns:a="http://schemas.openxmlformats.org/drawingml/2006/main">
              <a:ext uri="{FF2B5EF4-FFF2-40B4-BE49-F238E27FC236}">
                <a16:creationId xmlns:a16="http://schemas.microsoft.com/office/drawing/2014/main" id="{700491D0-366F-4EB1-B951-4F3ED94BBA1B}"/>
              </a:ext>
            </a:extLst>
          </p:cNvPr>
          <p:cNvSpPr>
            <a:spLocks xmlns:a="http://schemas.openxmlformats.org/drawingml/2006/main" noGrp="1"/>
          </p:cNvSpPr>
          <p:nvPr/>
        </p:nvSpPr>
        <p:spPr>
          <a:xfrm xmlns:a="http://schemas.openxmlformats.org/drawingml/2006/main">
            <a:off x="5724993" y="3446145"/>
            <a:ext cx="1096156"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0-5">
            <a:extLst xmlns:a="http://schemas.openxmlformats.org/drawingml/2006/main">
              <a:ext uri="{FF2B5EF4-FFF2-40B4-BE49-F238E27FC236}">
                <a16:creationId xmlns:a16="http://schemas.microsoft.com/office/drawing/2014/main" id="{87E610EA-7D7E-4759-94B5-9B0527FED869}"/>
              </a:ext>
            </a:extLst>
          </p:cNvPr>
          <p:cNvSpPr>
            <a:spLocks xmlns:a="http://schemas.openxmlformats.org/drawingml/2006/main" noGrp="1"/>
          </p:cNvSpPr>
          <p:nvPr/>
        </p:nvSpPr>
        <p:spPr>
          <a:xfrm xmlns:a="http://schemas.openxmlformats.org/drawingml/2006/main">
            <a:off x="5839293" y="35223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0.917</a:t>
            </a:r>
          </a:p>
        </p:txBody>
      </p:sp>
      <p:sp>
        <p:nvSpPr>
          <p:cNvPr id="32" name="">
            <a:extLst xmlns:a="http://schemas.openxmlformats.org/drawingml/2006/main">
              <a:ext uri="{FF2B5EF4-FFF2-40B4-BE49-F238E27FC236}">
                <a16:creationId xmlns:a16="http://schemas.microsoft.com/office/drawing/2014/main" id="{4CB66B03-19F8-403A-820B-A199EB7C91C6}"/>
              </a:ext>
            </a:extLst>
          </p:cNvPr>
          <p:cNvSpPr>
            <a:spLocks xmlns:a="http://schemas.openxmlformats.org/drawingml/2006/main" noGrp="1"/>
          </p:cNvSpPr>
          <p:nvPr/>
        </p:nvSpPr>
        <p:spPr>
          <a:xfrm xmlns:a="http://schemas.openxmlformats.org/drawingml/2006/main">
            <a:off x="6821149" y="3446145"/>
            <a:ext cx="1217951"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0-6">
            <a:extLst xmlns:a="http://schemas.openxmlformats.org/drawingml/2006/main">
              <a:ext uri="{FF2B5EF4-FFF2-40B4-BE49-F238E27FC236}">
                <a16:creationId xmlns:a16="http://schemas.microsoft.com/office/drawing/2014/main" id="{4C569EBB-D64C-42F6-882C-3587E8077B1F}"/>
              </a:ext>
            </a:extLst>
          </p:cNvPr>
          <p:cNvSpPr>
            <a:spLocks xmlns:a="http://schemas.openxmlformats.org/drawingml/2006/main" noGrp="1"/>
          </p:cNvSpPr>
          <p:nvPr/>
        </p:nvSpPr>
        <p:spPr>
          <a:xfrm xmlns:a="http://schemas.openxmlformats.org/drawingml/2006/main">
            <a:off x="6935449" y="3522345"/>
            <a:ext cx="98935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N</a:t>
            </a:r>
          </a:p>
        </p:txBody>
      </p:sp>
      <p:sp>
        <p:nvSpPr>
          <p:cNvPr id="34" name="">
            <a:extLst xmlns:a="http://schemas.openxmlformats.org/drawingml/2006/main">
              <a:ext uri="{FF2B5EF4-FFF2-40B4-BE49-F238E27FC236}">
                <a16:creationId xmlns:a16="http://schemas.microsoft.com/office/drawing/2014/main" id="{2F33C54E-8858-4665-A77C-44199534C8F8}"/>
              </a:ext>
            </a:extLst>
          </p:cNvPr>
          <p:cNvSpPr>
            <a:spLocks xmlns:a="http://schemas.openxmlformats.org/drawingml/2006/main" noGrp="1"/>
          </p:cNvSpPr>
          <p:nvPr/>
        </p:nvSpPr>
        <p:spPr>
          <a:xfrm xmlns:a="http://schemas.openxmlformats.org/drawingml/2006/main">
            <a:off x="609600" y="3979545"/>
            <a:ext cx="974361"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5" name="cell-1-0">
            <a:extLst xmlns:a="http://schemas.openxmlformats.org/drawingml/2006/main">
              <a:ext uri="{FF2B5EF4-FFF2-40B4-BE49-F238E27FC236}">
                <a16:creationId xmlns:a16="http://schemas.microsoft.com/office/drawing/2014/main" id="{5646A266-AD08-4750-9BEB-9B433D6A2973}"/>
              </a:ext>
            </a:extLst>
          </p:cNvPr>
          <p:cNvSpPr>
            <a:spLocks xmlns:a="http://schemas.openxmlformats.org/drawingml/2006/main" noGrp="1"/>
          </p:cNvSpPr>
          <p:nvPr/>
        </p:nvSpPr>
        <p:spPr>
          <a:xfrm xmlns:a="http://schemas.openxmlformats.org/drawingml/2006/main">
            <a:off x="723900" y="40557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V133</a:t>
            </a:r>
          </a:p>
        </p:txBody>
      </p:sp>
      <p:sp>
        <p:nvSpPr>
          <p:cNvPr id="36" name="">
            <a:extLst xmlns:a="http://schemas.openxmlformats.org/drawingml/2006/main">
              <a:ext uri="{FF2B5EF4-FFF2-40B4-BE49-F238E27FC236}">
                <a16:creationId xmlns:a16="http://schemas.microsoft.com/office/drawing/2014/main" id="{FE4FD08B-5436-45A7-A18C-6F0438A81C2F}"/>
              </a:ext>
            </a:extLst>
          </p:cNvPr>
          <p:cNvSpPr>
            <a:spLocks xmlns:a="http://schemas.openxmlformats.org/drawingml/2006/main" noGrp="1"/>
          </p:cNvSpPr>
          <p:nvPr/>
        </p:nvSpPr>
        <p:spPr>
          <a:xfrm xmlns:a="http://schemas.openxmlformats.org/drawingml/2006/main">
            <a:off x="1583961" y="3979545"/>
            <a:ext cx="974361"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7" name="cell-1-1">
            <a:extLst xmlns:a="http://schemas.openxmlformats.org/drawingml/2006/main">
              <a:ext uri="{FF2B5EF4-FFF2-40B4-BE49-F238E27FC236}">
                <a16:creationId xmlns:a16="http://schemas.microsoft.com/office/drawing/2014/main" id="{71815C7B-27E1-43F4-A551-44EC81590C64}"/>
              </a:ext>
            </a:extLst>
          </p:cNvPr>
          <p:cNvSpPr>
            <a:spLocks xmlns:a="http://schemas.openxmlformats.org/drawingml/2006/main" noGrp="1"/>
          </p:cNvSpPr>
          <p:nvPr/>
        </p:nvSpPr>
        <p:spPr>
          <a:xfrm xmlns:a="http://schemas.openxmlformats.org/drawingml/2006/main">
            <a:off x="1698261" y="40557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23.05</a:t>
            </a:r>
          </a:p>
        </p:txBody>
      </p:sp>
      <p:sp>
        <p:nvSpPr>
          <p:cNvPr id="38" name="">
            <a:extLst xmlns:a="http://schemas.openxmlformats.org/drawingml/2006/main">
              <a:ext uri="{FF2B5EF4-FFF2-40B4-BE49-F238E27FC236}">
                <a16:creationId xmlns:a16="http://schemas.microsoft.com/office/drawing/2014/main" id="{F16677A6-BBCF-4189-866A-435AC5B996CA}"/>
              </a:ext>
            </a:extLst>
          </p:cNvPr>
          <p:cNvSpPr>
            <a:spLocks xmlns:a="http://schemas.openxmlformats.org/drawingml/2006/main" noGrp="1"/>
          </p:cNvSpPr>
          <p:nvPr/>
        </p:nvSpPr>
        <p:spPr>
          <a:xfrm xmlns:a="http://schemas.openxmlformats.org/drawingml/2006/main">
            <a:off x="2558321" y="3979545"/>
            <a:ext cx="1096156"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1-2">
            <a:extLst xmlns:a="http://schemas.openxmlformats.org/drawingml/2006/main">
              <a:ext uri="{FF2B5EF4-FFF2-40B4-BE49-F238E27FC236}">
                <a16:creationId xmlns:a16="http://schemas.microsoft.com/office/drawing/2014/main" id="{B7A39671-8EB6-458C-B265-318CFEC6EDE1}"/>
              </a:ext>
            </a:extLst>
          </p:cNvPr>
          <p:cNvSpPr>
            <a:spLocks xmlns:a="http://schemas.openxmlformats.org/drawingml/2006/main" noGrp="1"/>
          </p:cNvSpPr>
          <p:nvPr/>
        </p:nvSpPr>
        <p:spPr>
          <a:xfrm xmlns:a="http://schemas.openxmlformats.org/drawingml/2006/main">
            <a:off x="2672621" y="40557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27.94</a:t>
            </a:r>
          </a:p>
        </p:txBody>
      </p:sp>
      <p:sp>
        <p:nvSpPr>
          <p:cNvPr id="40" name="">
            <a:extLst xmlns:a="http://schemas.openxmlformats.org/drawingml/2006/main">
              <a:ext uri="{FF2B5EF4-FFF2-40B4-BE49-F238E27FC236}">
                <a16:creationId xmlns:a16="http://schemas.microsoft.com/office/drawing/2014/main" id="{3DD82348-7779-42FF-92D0-F492B35DE074}"/>
              </a:ext>
            </a:extLst>
          </p:cNvPr>
          <p:cNvSpPr>
            <a:spLocks xmlns:a="http://schemas.openxmlformats.org/drawingml/2006/main" noGrp="1"/>
          </p:cNvSpPr>
          <p:nvPr/>
        </p:nvSpPr>
        <p:spPr>
          <a:xfrm xmlns:a="http://schemas.openxmlformats.org/drawingml/2006/main">
            <a:off x="3654477" y="3979545"/>
            <a:ext cx="1096156"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1-3">
            <a:extLst xmlns:a="http://schemas.openxmlformats.org/drawingml/2006/main">
              <a:ext uri="{FF2B5EF4-FFF2-40B4-BE49-F238E27FC236}">
                <a16:creationId xmlns:a16="http://schemas.microsoft.com/office/drawing/2014/main" id="{C02417A7-E71E-443F-9570-77AC18848715}"/>
              </a:ext>
            </a:extLst>
          </p:cNvPr>
          <p:cNvSpPr>
            <a:spLocks xmlns:a="http://schemas.openxmlformats.org/drawingml/2006/main" noGrp="1"/>
          </p:cNvSpPr>
          <p:nvPr/>
        </p:nvSpPr>
        <p:spPr>
          <a:xfrm xmlns:a="http://schemas.openxmlformats.org/drawingml/2006/main">
            <a:off x="3768777" y="40557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-4.89</a:t>
            </a:r>
          </a:p>
        </p:txBody>
      </p:sp>
      <p:sp>
        <p:nvSpPr>
          <p:cNvPr id="42" name="">
            <a:extLst xmlns:a="http://schemas.openxmlformats.org/drawingml/2006/main">
              <a:ext uri="{FF2B5EF4-FFF2-40B4-BE49-F238E27FC236}">
                <a16:creationId xmlns:a16="http://schemas.microsoft.com/office/drawing/2014/main" id="{2867A5DC-BD00-4B97-AC71-C051C6E901C9}"/>
              </a:ext>
            </a:extLst>
          </p:cNvPr>
          <p:cNvSpPr>
            <a:spLocks xmlns:a="http://schemas.openxmlformats.org/drawingml/2006/main" noGrp="1"/>
          </p:cNvSpPr>
          <p:nvPr/>
        </p:nvSpPr>
        <p:spPr>
          <a:xfrm xmlns:a="http://schemas.openxmlformats.org/drawingml/2006/main">
            <a:off x="4750633" y="3979545"/>
            <a:ext cx="974361"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1-4">
            <a:extLst xmlns:a="http://schemas.openxmlformats.org/drawingml/2006/main">
              <a:ext uri="{FF2B5EF4-FFF2-40B4-BE49-F238E27FC236}">
                <a16:creationId xmlns:a16="http://schemas.microsoft.com/office/drawing/2014/main" id="{470551A3-96DB-4DC2-AF72-5FB1F6146737}"/>
              </a:ext>
            </a:extLst>
          </p:cNvPr>
          <p:cNvSpPr>
            <a:spLocks xmlns:a="http://schemas.openxmlformats.org/drawingml/2006/main" noGrp="1"/>
          </p:cNvSpPr>
          <p:nvPr/>
        </p:nvSpPr>
        <p:spPr>
          <a:xfrm xmlns:a="http://schemas.openxmlformats.org/drawingml/2006/main">
            <a:off x="4864933" y="40557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0.336</a:t>
            </a:r>
          </a:p>
        </p:txBody>
      </p:sp>
      <p:sp>
        <p:nvSpPr>
          <p:cNvPr id="44" name="">
            <a:extLst xmlns:a="http://schemas.openxmlformats.org/drawingml/2006/main">
              <a:ext uri="{FF2B5EF4-FFF2-40B4-BE49-F238E27FC236}">
                <a16:creationId xmlns:a16="http://schemas.microsoft.com/office/drawing/2014/main" id="{6C185A65-F493-4C2A-B5EF-31451CA4C646}"/>
              </a:ext>
            </a:extLst>
          </p:cNvPr>
          <p:cNvSpPr>
            <a:spLocks xmlns:a="http://schemas.openxmlformats.org/drawingml/2006/main" noGrp="1"/>
          </p:cNvSpPr>
          <p:nvPr/>
        </p:nvSpPr>
        <p:spPr>
          <a:xfrm xmlns:a="http://schemas.openxmlformats.org/drawingml/2006/main">
            <a:off x="5724993" y="3979545"/>
            <a:ext cx="1096156"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1-5">
            <a:extLst xmlns:a="http://schemas.openxmlformats.org/drawingml/2006/main">
              <a:ext uri="{FF2B5EF4-FFF2-40B4-BE49-F238E27FC236}">
                <a16:creationId xmlns:a16="http://schemas.microsoft.com/office/drawing/2014/main" id="{240C5ECF-5093-4663-8825-38879220CFA6}"/>
              </a:ext>
            </a:extLst>
          </p:cNvPr>
          <p:cNvSpPr>
            <a:spLocks xmlns:a="http://schemas.openxmlformats.org/drawingml/2006/main" noGrp="1"/>
          </p:cNvSpPr>
          <p:nvPr/>
        </p:nvSpPr>
        <p:spPr>
          <a:xfrm xmlns:a="http://schemas.openxmlformats.org/drawingml/2006/main">
            <a:off x="5839293" y="40557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0.522</a:t>
            </a:r>
          </a:p>
        </p:txBody>
      </p:sp>
      <p:sp>
        <p:nvSpPr>
          <p:cNvPr id="46" name="">
            <a:extLst xmlns:a="http://schemas.openxmlformats.org/drawingml/2006/main">
              <a:ext uri="{FF2B5EF4-FFF2-40B4-BE49-F238E27FC236}">
                <a16:creationId xmlns:a16="http://schemas.microsoft.com/office/drawing/2014/main" id="{38F25392-9B12-4078-8181-B03A32F3B53A}"/>
              </a:ext>
            </a:extLst>
          </p:cNvPr>
          <p:cNvSpPr>
            <a:spLocks xmlns:a="http://schemas.openxmlformats.org/drawingml/2006/main" noGrp="1"/>
          </p:cNvSpPr>
          <p:nvPr/>
        </p:nvSpPr>
        <p:spPr>
          <a:xfrm xmlns:a="http://schemas.openxmlformats.org/drawingml/2006/main">
            <a:off x="6821149" y="3979545"/>
            <a:ext cx="1217951"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7" name="cell-1-6">
            <a:extLst xmlns:a="http://schemas.openxmlformats.org/drawingml/2006/main">
              <a:ext uri="{FF2B5EF4-FFF2-40B4-BE49-F238E27FC236}">
                <a16:creationId xmlns:a16="http://schemas.microsoft.com/office/drawing/2014/main" id="{D472ED79-03FA-463A-A0D2-F3990A025868}"/>
              </a:ext>
            </a:extLst>
          </p:cNvPr>
          <p:cNvSpPr>
            <a:spLocks xmlns:a="http://schemas.openxmlformats.org/drawingml/2006/main" noGrp="1"/>
          </p:cNvSpPr>
          <p:nvPr/>
        </p:nvSpPr>
        <p:spPr>
          <a:xfrm xmlns:a="http://schemas.openxmlformats.org/drawingml/2006/main">
            <a:off x="6935449" y="4055745"/>
            <a:ext cx="98935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a:t>
            </a:r>
          </a:p>
        </p:txBody>
      </p:sp>
      <p:sp>
        <p:nvSpPr>
          <p:cNvPr id="48" name="">
            <a:extLst xmlns:a="http://schemas.openxmlformats.org/drawingml/2006/main">
              <a:ext uri="{FF2B5EF4-FFF2-40B4-BE49-F238E27FC236}">
                <a16:creationId xmlns:a16="http://schemas.microsoft.com/office/drawing/2014/main" id="{0A986E9D-B977-477B-91D0-B2F3388EEAAC}"/>
              </a:ext>
            </a:extLst>
          </p:cNvPr>
          <p:cNvSpPr>
            <a:spLocks xmlns:a="http://schemas.openxmlformats.org/drawingml/2006/main" noGrp="1"/>
          </p:cNvSpPr>
          <p:nvPr/>
        </p:nvSpPr>
        <p:spPr>
          <a:xfrm xmlns:a="http://schemas.openxmlformats.org/drawingml/2006/main">
            <a:off x="609600" y="4512945"/>
            <a:ext cx="974361"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49" name="cell-2-0">
            <a:extLst xmlns:a="http://schemas.openxmlformats.org/drawingml/2006/main">
              <a:ext uri="{FF2B5EF4-FFF2-40B4-BE49-F238E27FC236}">
                <a16:creationId xmlns:a16="http://schemas.microsoft.com/office/drawing/2014/main" id="{A316CC63-C9FF-43C5-84D6-96E82CD84990}"/>
              </a:ext>
            </a:extLst>
          </p:cNvPr>
          <p:cNvSpPr>
            <a:spLocks xmlns:a="http://schemas.openxmlformats.org/drawingml/2006/main" noGrp="1"/>
          </p:cNvSpPr>
          <p:nvPr/>
        </p:nvSpPr>
        <p:spPr>
          <a:xfrm xmlns:a="http://schemas.openxmlformats.org/drawingml/2006/main">
            <a:off x="723900" y="45891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V043</a:t>
            </a:r>
          </a:p>
        </p:txBody>
      </p:sp>
      <p:sp>
        <p:nvSpPr>
          <p:cNvPr id="50" name="">
            <a:extLst xmlns:a="http://schemas.openxmlformats.org/drawingml/2006/main">
              <a:ext uri="{FF2B5EF4-FFF2-40B4-BE49-F238E27FC236}">
                <a16:creationId xmlns:a16="http://schemas.microsoft.com/office/drawing/2014/main" id="{19B225F6-FC0D-4136-94D4-DBBC5C1FB249}"/>
              </a:ext>
            </a:extLst>
          </p:cNvPr>
          <p:cNvSpPr>
            <a:spLocks xmlns:a="http://schemas.openxmlformats.org/drawingml/2006/main" noGrp="1"/>
          </p:cNvSpPr>
          <p:nvPr/>
        </p:nvSpPr>
        <p:spPr>
          <a:xfrm xmlns:a="http://schemas.openxmlformats.org/drawingml/2006/main">
            <a:off x="1583961" y="4512945"/>
            <a:ext cx="974361"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1" name="cell-2-1">
            <a:extLst xmlns:a="http://schemas.openxmlformats.org/drawingml/2006/main">
              <a:ext uri="{FF2B5EF4-FFF2-40B4-BE49-F238E27FC236}">
                <a16:creationId xmlns:a16="http://schemas.microsoft.com/office/drawing/2014/main" id="{E346F9AC-7116-4145-ABD5-8C9D0B69A87A}"/>
              </a:ext>
            </a:extLst>
          </p:cNvPr>
          <p:cNvSpPr>
            <a:spLocks xmlns:a="http://schemas.openxmlformats.org/drawingml/2006/main" noGrp="1"/>
          </p:cNvSpPr>
          <p:nvPr/>
        </p:nvSpPr>
        <p:spPr>
          <a:xfrm xmlns:a="http://schemas.openxmlformats.org/drawingml/2006/main">
            <a:off x="1698261" y="45891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22.45</a:t>
            </a:r>
          </a:p>
        </p:txBody>
      </p:sp>
      <p:sp>
        <p:nvSpPr>
          <p:cNvPr id="52" name="">
            <a:extLst xmlns:a="http://schemas.openxmlformats.org/drawingml/2006/main">
              <a:ext uri="{FF2B5EF4-FFF2-40B4-BE49-F238E27FC236}">
                <a16:creationId xmlns:a16="http://schemas.microsoft.com/office/drawing/2014/main" id="{E46185B2-E647-408A-8547-931C7741A1DE}"/>
              </a:ext>
            </a:extLst>
          </p:cNvPr>
          <p:cNvSpPr>
            <a:spLocks xmlns:a="http://schemas.openxmlformats.org/drawingml/2006/main" noGrp="1"/>
          </p:cNvSpPr>
          <p:nvPr/>
        </p:nvSpPr>
        <p:spPr>
          <a:xfrm xmlns:a="http://schemas.openxmlformats.org/drawingml/2006/main">
            <a:off x="2558321" y="4512945"/>
            <a:ext cx="1096156"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3" name="cell-2-2">
            <a:extLst xmlns:a="http://schemas.openxmlformats.org/drawingml/2006/main">
              <a:ext uri="{FF2B5EF4-FFF2-40B4-BE49-F238E27FC236}">
                <a16:creationId xmlns:a16="http://schemas.microsoft.com/office/drawing/2014/main" id="{589B5581-D911-413A-BD4A-048556F866A4}"/>
              </a:ext>
            </a:extLst>
          </p:cNvPr>
          <p:cNvSpPr>
            <a:spLocks xmlns:a="http://schemas.openxmlformats.org/drawingml/2006/main" noGrp="1"/>
          </p:cNvSpPr>
          <p:nvPr/>
        </p:nvSpPr>
        <p:spPr>
          <a:xfrm xmlns:a="http://schemas.openxmlformats.org/drawingml/2006/main">
            <a:off x="2672621" y="45891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27.01</a:t>
            </a:r>
          </a:p>
        </p:txBody>
      </p:sp>
      <p:sp>
        <p:nvSpPr>
          <p:cNvPr id="54" name="">
            <a:extLst xmlns:a="http://schemas.openxmlformats.org/drawingml/2006/main">
              <a:ext uri="{FF2B5EF4-FFF2-40B4-BE49-F238E27FC236}">
                <a16:creationId xmlns:a16="http://schemas.microsoft.com/office/drawing/2014/main" id="{06D9A089-2933-4635-A359-3237A8AA06C0}"/>
              </a:ext>
            </a:extLst>
          </p:cNvPr>
          <p:cNvSpPr>
            <a:spLocks xmlns:a="http://schemas.openxmlformats.org/drawingml/2006/main" noGrp="1"/>
          </p:cNvSpPr>
          <p:nvPr/>
        </p:nvSpPr>
        <p:spPr>
          <a:xfrm xmlns:a="http://schemas.openxmlformats.org/drawingml/2006/main">
            <a:off x="3654477" y="4512945"/>
            <a:ext cx="1096156"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5" name="cell-2-3">
            <a:extLst xmlns:a="http://schemas.openxmlformats.org/drawingml/2006/main">
              <a:ext uri="{FF2B5EF4-FFF2-40B4-BE49-F238E27FC236}">
                <a16:creationId xmlns:a16="http://schemas.microsoft.com/office/drawing/2014/main" id="{83DBE80C-958E-45A8-9963-959D5410960C}"/>
              </a:ext>
            </a:extLst>
          </p:cNvPr>
          <p:cNvSpPr>
            <a:spLocks xmlns:a="http://schemas.openxmlformats.org/drawingml/2006/main" noGrp="1"/>
          </p:cNvSpPr>
          <p:nvPr/>
        </p:nvSpPr>
        <p:spPr>
          <a:xfrm xmlns:a="http://schemas.openxmlformats.org/drawingml/2006/main">
            <a:off x="3768777" y="45891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-4.56</a:t>
            </a:r>
          </a:p>
        </p:txBody>
      </p:sp>
      <p:sp>
        <p:nvSpPr>
          <p:cNvPr id="56" name="">
            <a:extLst xmlns:a="http://schemas.openxmlformats.org/drawingml/2006/main">
              <a:ext uri="{FF2B5EF4-FFF2-40B4-BE49-F238E27FC236}">
                <a16:creationId xmlns:a16="http://schemas.microsoft.com/office/drawing/2014/main" id="{3B3E052C-2833-463F-A8E8-74F4E99852C0}"/>
              </a:ext>
            </a:extLst>
          </p:cNvPr>
          <p:cNvSpPr>
            <a:spLocks xmlns:a="http://schemas.openxmlformats.org/drawingml/2006/main" noGrp="1"/>
          </p:cNvSpPr>
          <p:nvPr/>
        </p:nvSpPr>
        <p:spPr>
          <a:xfrm xmlns:a="http://schemas.openxmlformats.org/drawingml/2006/main">
            <a:off x="4750633" y="4512945"/>
            <a:ext cx="974361"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7" name="cell-2-4">
            <a:extLst xmlns:a="http://schemas.openxmlformats.org/drawingml/2006/main">
              <a:ext uri="{FF2B5EF4-FFF2-40B4-BE49-F238E27FC236}">
                <a16:creationId xmlns:a16="http://schemas.microsoft.com/office/drawing/2014/main" id="{2E23E9D7-0196-4999-85B7-6FFD577D2078}"/>
              </a:ext>
            </a:extLst>
          </p:cNvPr>
          <p:cNvSpPr>
            <a:spLocks xmlns:a="http://schemas.openxmlformats.org/drawingml/2006/main" noGrp="1"/>
          </p:cNvSpPr>
          <p:nvPr/>
        </p:nvSpPr>
        <p:spPr>
          <a:xfrm xmlns:a="http://schemas.openxmlformats.org/drawingml/2006/main">
            <a:off x="4864933" y="4589145"/>
            <a:ext cx="74576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0.404</a:t>
            </a:r>
          </a:p>
        </p:txBody>
      </p:sp>
      <p:sp>
        <p:nvSpPr>
          <p:cNvPr id="58" name="">
            <a:extLst xmlns:a="http://schemas.openxmlformats.org/drawingml/2006/main">
              <a:ext uri="{FF2B5EF4-FFF2-40B4-BE49-F238E27FC236}">
                <a16:creationId xmlns:a16="http://schemas.microsoft.com/office/drawing/2014/main" id="{0E8B3DFF-8DC7-4DC7-8AEC-264EED2BFD56}"/>
              </a:ext>
            </a:extLst>
          </p:cNvPr>
          <p:cNvSpPr>
            <a:spLocks xmlns:a="http://schemas.openxmlformats.org/drawingml/2006/main" noGrp="1"/>
          </p:cNvSpPr>
          <p:nvPr/>
        </p:nvSpPr>
        <p:spPr>
          <a:xfrm xmlns:a="http://schemas.openxmlformats.org/drawingml/2006/main">
            <a:off x="5724993" y="4512945"/>
            <a:ext cx="1096156"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59" name="cell-2-5">
            <a:extLst xmlns:a="http://schemas.openxmlformats.org/drawingml/2006/main">
              <a:ext uri="{FF2B5EF4-FFF2-40B4-BE49-F238E27FC236}">
                <a16:creationId xmlns:a16="http://schemas.microsoft.com/office/drawing/2014/main" id="{2DC1BB9F-09B9-4021-A7E4-97317D8B0796}"/>
              </a:ext>
            </a:extLst>
          </p:cNvPr>
          <p:cNvSpPr>
            <a:spLocks xmlns:a="http://schemas.openxmlformats.org/drawingml/2006/main" noGrp="1"/>
          </p:cNvSpPr>
          <p:nvPr/>
        </p:nvSpPr>
        <p:spPr>
          <a:xfrm xmlns:a="http://schemas.openxmlformats.org/drawingml/2006/main">
            <a:off x="5839293" y="4589145"/>
            <a:ext cx="867556"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1.053</a:t>
            </a:r>
          </a:p>
        </p:txBody>
      </p:sp>
      <p:sp>
        <p:nvSpPr>
          <p:cNvPr id="60" name="">
            <a:extLst xmlns:a="http://schemas.openxmlformats.org/drawingml/2006/main">
              <a:ext uri="{FF2B5EF4-FFF2-40B4-BE49-F238E27FC236}">
                <a16:creationId xmlns:a16="http://schemas.microsoft.com/office/drawing/2014/main" id="{70A2F610-BD00-4465-A8C0-C612CD9BDD0A}"/>
              </a:ext>
            </a:extLst>
          </p:cNvPr>
          <p:cNvSpPr>
            <a:spLocks xmlns:a="http://schemas.openxmlformats.org/drawingml/2006/main" noGrp="1"/>
          </p:cNvSpPr>
          <p:nvPr/>
        </p:nvSpPr>
        <p:spPr>
          <a:xfrm xmlns:a="http://schemas.openxmlformats.org/drawingml/2006/main">
            <a:off x="6821149" y="4512945"/>
            <a:ext cx="1217951"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61" name="cell-2-6">
            <a:extLst xmlns:a="http://schemas.openxmlformats.org/drawingml/2006/main">
              <a:ext uri="{FF2B5EF4-FFF2-40B4-BE49-F238E27FC236}">
                <a16:creationId xmlns:a16="http://schemas.microsoft.com/office/drawing/2014/main" id="{6EEF63F3-F8AC-410B-8EBF-A4ED1CEE7390}"/>
              </a:ext>
            </a:extLst>
          </p:cNvPr>
          <p:cNvSpPr>
            <a:spLocks xmlns:a="http://schemas.openxmlformats.org/drawingml/2006/main" noGrp="1"/>
          </p:cNvSpPr>
          <p:nvPr/>
        </p:nvSpPr>
        <p:spPr>
          <a:xfrm xmlns:a="http://schemas.openxmlformats.org/drawingml/2006/main">
            <a:off x="6935449" y="4589145"/>
            <a:ext cx="989351"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E</a:t>
            </a:r>
          </a:p>
        </p:txBody>
      </p:sp>
      <p:sp>
        <p:nvSpPr>
          <p:cNvPr id="62" name="callout-label">
            <a:extLst xmlns:a="http://schemas.openxmlformats.org/drawingml/2006/main">
              <a:ext uri="{FF2B5EF4-FFF2-40B4-BE49-F238E27FC236}">
                <a16:creationId xmlns:a16="http://schemas.microsoft.com/office/drawing/2014/main" id="{6889AF8C-FD4D-4196-8AA5-91BA61592611}"/>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63" name="callout">
            <a:extLst xmlns:a="http://schemas.openxmlformats.org/drawingml/2006/main">
              <a:ext uri="{FF2B5EF4-FFF2-40B4-BE49-F238E27FC236}">
                <a16:creationId xmlns:a16="http://schemas.microsoft.com/office/drawing/2014/main" id="{FD1DD498-0D6B-44C4-BBB2-7B1B8D40EE09}"/>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V037: the model over-predicts by 6.34 — it thinks this design performs worse than it actually does. V037 has deep shading (0.917, among the deepest) AND north orientation (coolest offset) — both real effects a 3-feature model without orientation cannot see.</a:t>
            </a:r>
          </a:p>
        </p:txBody>
      </p:sp>
    </p:spTree>
    <p:extLst>
      <p:ext uri="{BB962C8B-B14F-4D97-AF65-F5344CB8AC3E}">
        <p14:creationId xmlns:p14="http://schemas.microsoft.com/office/powerpoint/2010/main" val="80795849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F5D04806-EF66-41E2-95CF-58F8B60484A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C17A6DB2-6334-446A-A819-BC347BA80FB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Underfitting, defined</a:t>
            </a:r>
          </a:p>
        </p:txBody>
      </p:sp>
      <p:sp>
        <p:nvSpPr>
          <p:cNvPr id="3" name="">
            <a:extLst xmlns:a="http://schemas.openxmlformats.org/drawingml/2006/main">
              <a:ext uri="{FF2B5EF4-FFF2-40B4-BE49-F238E27FC236}">
                <a16:creationId xmlns:a16="http://schemas.microsoft.com/office/drawing/2014/main" id="{D198F839-045D-44BD-A678-3023B38D76E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D993554-6EB0-4CD6-9B61-963C0134A78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523DFFFF-40D5-4436-B966-73402D16971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term-label">
            <a:extLst xmlns:a="http://schemas.openxmlformats.org/drawingml/2006/main">
              <a:ext uri="{FF2B5EF4-FFF2-40B4-BE49-F238E27FC236}">
                <a16:creationId xmlns:a16="http://schemas.microsoft.com/office/drawing/2014/main" id="{180D67B1-8DAF-449C-B4EA-A033BC38837E}"/>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42C28529-030A-4DBD-82B8-33D883A3DCB2}"/>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underfitting</a:t>
            </a:r>
          </a:p>
        </p:txBody>
      </p:sp>
      <p:sp>
        <p:nvSpPr>
          <p:cNvPr id="8" name="">
            <a:extLst xmlns:a="http://schemas.openxmlformats.org/drawingml/2006/main">
              <a:ext uri="{FF2B5EF4-FFF2-40B4-BE49-F238E27FC236}">
                <a16:creationId xmlns:a16="http://schemas.microsoft.com/office/drawing/2014/main" id="{A55BC4C3-AB77-408B-82EA-2666E21DA212}"/>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0157E495-014F-4E6A-990F-4332019C3EDF}"/>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model is too simple to capture the real pattern — high error on BOTH the training set and the test set.</a:t>
            </a:r>
          </a:p>
        </p:txBody>
      </p:sp>
      <p:sp>
        <p:nvSpPr>
          <p:cNvPr id="10" name="example-panel">
            <a:extLst xmlns:a="http://schemas.openxmlformats.org/drawingml/2006/main">
              <a:ext uri="{FF2B5EF4-FFF2-40B4-BE49-F238E27FC236}">
                <a16:creationId xmlns:a16="http://schemas.microsoft.com/office/drawing/2014/main" id="{F8593236-2DAC-4B82-B85F-DF539AE0DE1D}"/>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6B5E5748-1518-48B9-B803-E4921BB2CA77}"/>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HERE, CONCRETELY</a:t>
            </a:r>
          </a:p>
        </p:txBody>
      </p:sp>
      <p:sp>
        <p:nvSpPr>
          <p:cNvPr id="12" name="example-head">
            <a:extLst xmlns:a="http://schemas.openxmlformats.org/drawingml/2006/main">
              <a:ext uri="{FF2B5EF4-FFF2-40B4-BE49-F238E27FC236}">
                <a16:creationId xmlns:a16="http://schemas.microsoft.com/office/drawing/2014/main" id="{DD0B0B5A-88E3-403F-A053-79DAA9855B59}"/>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 mild, honest example</a:t>
            </a:r>
          </a:p>
        </p:txBody>
      </p:sp>
      <p:sp>
        <p:nvSpPr>
          <p:cNvPr id="13" name="example-body">
            <a:extLst xmlns:a="http://schemas.openxmlformats.org/drawingml/2006/main">
              <a:ext uri="{FF2B5EF4-FFF2-40B4-BE49-F238E27FC236}">
                <a16:creationId xmlns:a16="http://schemas.microsoft.com/office/drawing/2014/main" id="{41A26D1E-0815-47C8-AB6F-1C0985F29B4D}"/>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model missing an obviously important feature — like this one, before compactness/orientation are added in Week 14 — is a mild, honest example of underfitting.</a:t>
            </a:r>
          </a:p>
        </p:txBody>
      </p:sp>
      <p:sp>
        <p:nvSpPr>
          <p:cNvPr id="14" name="note-bar">
            <a:extLst xmlns:a="http://schemas.openxmlformats.org/drawingml/2006/main">
              <a:ext uri="{FF2B5EF4-FFF2-40B4-BE49-F238E27FC236}">
                <a16:creationId xmlns:a16="http://schemas.microsoft.com/office/drawing/2014/main" id="{F0F8DDF4-F3FE-41E6-BB6A-349FD7B3B153}"/>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36D9650B-DEF4-4D20-99EB-2EA5EA7D7E12}"/>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COMPARE TO OVERFITTING</a:t>
            </a:r>
          </a:p>
        </p:txBody>
      </p:sp>
      <p:sp>
        <p:nvSpPr>
          <p:cNvPr id="16" name="note">
            <a:extLst xmlns:a="http://schemas.openxmlformats.org/drawingml/2006/main">
              <a:ext uri="{FF2B5EF4-FFF2-40B4-BE49-F238E27FC236}">
                <a16:creationId xmlns:a16="http://schemas.microsoft.com/office/drawing/2014/main" id="{DFF90AA2-2ACC-4B79-BE31-ED4582FF6BD7}"/>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Overfitting (next slide) is the opposite signature: low training error but much higher test error — same train/test comparison, opposite result.</a:t>
            </a:r>
          </a:p>
        </p:txBody>
      </p:sp>
    </p:spTree>
    <p:extLst>
      <p:ext uri="{BB962C8B-B14F-4D97-AF65-F5344CB8AC3E}">
        <p14:creationId xmlns:p14="http://schemas.microsoft.com/office/powerpoint/2010/main" val="120016399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9DC6451A-DA95-4B1F-93C9-2E56FBDB0A0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3D025C3D-55A7-42DE-A48B-9CCC2BBA79F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Overfitting, defined</a:t>
            </a:r>
          </a:p>
        </p:txBody>
      </p:sp>
      <p:sp>
        <p:nvSpPr>
          <p:cNvPr id="3" name="">
            <a:extLst xmlns:a="http://schemas.openxmlformats.org/drawingml/2006/main">
              <a:ext uri="{FF2B5EF4-FFF2-40B4-BE49-F238E27FC236}">
                <a16:creationId xmlns:a16="http://schemas.microsoft.com/office/drawing/2014/main" id="{ABD4799C-F1E3-46CC-B862-1FBE4757E7C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C4D9CFE-BBE3-46FC-869A-3BD9C835810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EF4B1049-0B16-4FA7-8F3E-0F5C950D7FB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term-label">
            <a:extLst xmlns:a="http://schemas.openxmlformats.org/drawingml/2006/main">
              <a:ext uri="{FF2B5EF4-FFF2-40B4-BE49-F238E27FC236}">
                <a16:creationId xmlns:a16="http://schemas.microsoft.com/office/drawing/2014/main" id="{1A13F9C8-17E3-43D0-80D4-F85EFAE85993}"/>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411A9D79-9BD0-45B5-BB4F-A52B4CCB1FF3}"/>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overfitting</a:t>
            </a:r>
          </a:p>
        </p:txBody>
      </p:sp>
      <p:sp>
        <p:nvSpPr>
          <p:cNvPr id="8" name="">
            <a:extLst xmlns:a="http://schemas.openxmlformats.org/drawingml/2006/main">
              <a:ext uri="{FF2B5EF4-FFF2-40B4-BE49-F238E27FC236}">
                <a16:creationId xmlns:a16="http://schemas.microsoft.com/office/drawing/2014/main" id="{AD899BA6-5691-400E-8707-0FB8E66D7F2E}"/>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94952BBA-9A4A-4CC8-9492-5E5232B85628}"/>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model fits the training rows' noise, not just their pattern — LOW error on training data but noticeably HIGHER error on the held-out test set. It has "memorized" rather than learned.</a:t>
            </a:r>
          </a:p>
        </p:txBody>
      </p:sp>
      <p:sp>
        <p:nvSpPr>
          <p:cNvPr id="10" name="example-panel">
            <a:extLst xmlns:a="http://schemas.openxmlformats.org/drawingml/2006/main">
              <a:ext uri="{FF2B5EF4-FFF2-40B4-BE49-F238E27FC236}">
                <a16:creationId xmlns:a16="http://schemas.microsoft.com/office/drawing/2014/main" id="{1C232062-F465-40C4-BF54-5E53FB7924CC}"/>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5A623530-B897-4D03-B948-DAD47201569E}"/>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HERE, CONCRETELY</a:t>
            </a:r>
          </a:p>
        </p:txBody>
      </p:sp>
      <p:sp>
        <p:nvSpPr>
          <p:cNvPr id="12" name="example-head">
            <a:extLst xmlns:a="http://schemas.openxmlformats.org/drawingml/2006/main">
              <a:ext uri="{FF2B5EF4-FFF2-40B4-BE49-F238E27FC236}">
                <a16:creationId xmlns:a16="http://schemas.microsoft.com/office/drawing/2014/main" id="{553FCE49-2993-4BE9-94E0-C3303083D2FB}"/>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How you catch it</a:t>
            </a:r>
          </a:p>
        </p:txBody>
      </p:sp>
      <p:sp>
        <p:nvSpPr>
          <p:cNvPr id="13" name="example-body">
            <a:extLst xmlns:a="http://schemas.openxmlformats.org/drawingml/2006/main">
              <a:ext uri="{FF2B5EF4-FFF2-40B4-BE49-F238E27FC236}">
                <a16:creationId xmlns:a16="http://schemas.microsoft.com/office/drawing/2014/main" id="{68C78806-4302-452A-B73A-AAB4710581CF}"/>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train_test_split is exactly how you catch this — compare training-set error against test-set error. A big gap between them is the signature of overfitting.</a:t>
            </a:r>
          </a:p>
        </p:txBody>
      </p:sp>
      <p:sp>
        <p:nvSpPr>
          <p:cNvPr id="14" name="note-bar">
            <a:extLst xmlns:a="http://schemas.openxmlformats.org/drawingml/2006/main">
              <a:ext uri="{FF2B5EF4-FFF2-40B4-BE49-F238E27FC236}">
                <a16:creationId xmlns:a16="http://schemas.microsoft.com/office/drawing/2014/main" id="{BDF01873-1D19-41FB-89F6-43A05728FA53}"/>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17F7E385-3FA9-4791-97C6-949CC385AD5C}"/>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COMING UP</a:t>
            </a:r>
          </a:p>
        </p:txBody>
      </p:sp>
      <p:sp>
        <p:nvSpPr>
          <p:cNvPr id="16" name="note">
            <a:extLst xmlns:a="http://schemas.openxmlformats.org/drawingml/2006/main">
              <a:ext uri="{FF2B5EF4-FFF2-40B4-BE49-F238E27FC236}">
                <a16:creationId xmlns:a16="http://schemas.microsoft.com/office/drawing/2014/main" id="{977EFE5F-54FD-4A92-8B01-6C8C1D84D82E}"/>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Watch the next two slides for a THIRD case you haven't named yet — a model that looks TOO good on the test set, which is its own kind of red flag.</a:t>
            </a:r>
          </a:p>
        </p:txBody>
      </p:sp>
    </p:spTree>
    <p:extLst>
      <p:ext uri="{BB962C8B-B14F-4D97-AF65-F5344CB8AC3E}">
        <p14:creationId xmlns:p14="http://schemas.microsoft.com/office/powerpoint/2010/main" val="43039407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B2D8A350-7AC2-484B-B2BC-1AD79C85B6B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89DE30C6-03BA-4936-8D05-6A3BAAF038D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What happens if you ask outside the training range?</a:t>
            </a:r>
          </a:p>
        </p:txBody>
      </p:sp>
      <p:sp>
        <p:nvSpPr>
          <p:cNvPr id="3" name="">
            <a:extLst xmlns:a="http://schemas.openxmlformats.org/drawingml/2006/main">
              <a:ext uri="{FF2B5EF4-FFF2-40B4-BE49-F238E27FC236}">
                <a16:creationId xmlns:a16="http://schemas.microsoft.com/office/drawing/2014/main" id="{7B860667-CD39-44D5-90AD-224E09D9CE7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8623E30-5397-4614-8C48-CDD6C1FF962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CD70C06E-F488-48A7-A9FC-84BA5705A0B2}"/>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code-panel">
            <a:extLst xmlns:a="http://schemas.openxmlformats.org/drawingml/2006/main">
              <a:ext uri="{FF2B5EF4-FFF2-40B4-BE49-F238E27FC236}">
                <a16:creationId xmlns:a16="http://schemas.microsoft.com/office/drawing/2014/main" id="{0126E570-E70A-43C7-89ED-5F5B6881FF4A}"/>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AD29A743-AA9D-4204-A4CC-C467688FF438}"/>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training data: wwr ranges 0.201–0.592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pred = model.predict([[0.85, 0.60, 0.45]])</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print(pred)</a:t>
            </a:r>
          </a:p>
        </p:txBody>
      </p:sp>
      <p:sp>
        <p:nvSpPr>
          <p:cNvPr id="8" name="question">
            <a:extLst xmlns:a="http://schemas.openxmlformats.org/drawingml/2006/main">
              <a:ext uri="{FF2B5EF4-FFF2-40B4-BE49-F238E27FC236}">
                <a16:creationId xmlns:a16="http://schemas.microsoft.com/office/drawing/2014/main" id="{249DC47E-1E38-40FC-AC64-84218D74BDAF}"/>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wwr=0.85 is far outside the training range. What prints?</a:t>
            </a:r>
          </a:p>
        </p:txBody>
      </p:sp>
      <p:sp>
        <p:nvSpPr>
          <p:cNvPr id="9" name="opt-0">
            <a:extLst xmlns:a="http://schemas.openxmlformats.org/drawingml/2006/main">
              <a:ext uri="{FF2B5EF4-FFF2-40B4-BE49-F238E27FC236}">
                <a16:creationId xmlns:a16="http://schemas.microsoft.com/office/drawing/2014/main" id="{FDBC181A-4F07-4CBE-9465-896E34DF87A2}"/>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F7722E81-97AB-4A25-81E4-B049369C336D}"/>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85E0998A-7487-412E-91F6-AF7C1CA37AAC}"/>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An error — wwr is out of range</a:t>
            </a:r>
          </a:p>
        </p:txBody>
      </p:sp>
      <p:sp>
        <p:nvSpPr>
          <p:cNvPr id="12" name="opt-1">
            <a:extLst xmlns:a="http://schemas.openxmlformats.org/drawingml/2006/main">
              <a:ext uri="{FF2B5EF4-FFF2-40B4-BE49-F238E27FC236}">
                <a16:creationId xmlns:a16="http://schemas.microsoft.com/office/drawing/2014/main" id="{97F28ABD-7CF7-4BFC-8CF0-04A17548209F}"/>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5406CC88-3EDB-4FCE-9AA2-981FBE9830A1}"/>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682F203A-8805-4F1D-AC32-78115EB7A992}"/>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NaN — sklearn can't compute past its training data</a:t>
            </a:r>
          </a:p>
        </p:txBody>
      </p:sp>
      <p:sp>
        <p:nvSpPr>
          <p:cNvPr id="15" name="opt-2">
            <a:extLst xmlns:a="http://schemas.openxmlformats.org/drawingml/2006/main">
              <a:ext uri="{FF2B5EF4-FFF2-40B4-BE49-F238E27FC236}">
                <a16:creationId xmlns:a16="http://schemas.microsoft.com/office/drawing/2014/main" id="{3C0C4CD0-10AE-47AE-B997-AB6EECCABF1B}"/>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D2613E3B-FF20-41E1-8C9A-65C34D64BBA8}"/>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98FCA6F4-9920-41D2-976B-39555C3A76CD}"/>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36.13 — a normal-looking number, no warning at all</a:t>
            </a:r>
          </a:p>
        </p:txBody>
      </p:sp>
      <p:sp>
        <p:nvSpPr>
          <p:cNvPr id="18" name="opt-3">
            <a:extLst xmlns:a="http://schemas.openxmlformats.org/drawingml/2006/main">
              <a:ext uri="{FF2B5EF4-FFF2-40B4-BE49-F238E27FC236}">
                <a16:creationId xmlns:a16="http://schemas.microsoft.com/office/drawing/2014/main" id="{C0700D4F-E895-42CB-92DB-C37FCD9AB065}"/>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61529461-C17C-4471-A600-CFBB80C47D24}"/>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2DC3B552-50A4-4488-9484-B89C44D1D549}"/>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 warning message, then the number</a:t>
            </a:r>
          </a:p>
        </p:txBody>
      </p:sp>
      <p:sp>
        <p:nvSpPr>
          <p:cNvPr id="21" name="answer-panel">
            <a:extLst xmlns:a="http://schemas.openxmlformats.org/drawingml/2006/main">
              <a:ext uri="{FF2B5EF4-FFF2-40B4-BE49-F238E27FC236}">
                <a16:creationId xmlns:a16="http://schemas.microsoft.com/office/drawing/2014/main" id="{E349D312-0D78-4BB7-B06C-4C2B1531BB4D}"/>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26FDDF68-8C45-4E43-AFBA-9BE1F8C679C2}"/>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3" name="why">
            <a:extLst xmlns:a="http://schemas.openxmlformats.org/drawingml/2006/main">
              <a:ext uri="{FF2B5EF4-FFF2-40B4-BE49-F238E27FC236}">
                <a16:creationId xmlns:a16="http://schemas.microsoft.com/office/drawing/2014/main" id="{49193278-F672-4DE9-A267-16730BCF4A46}"/>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sklearn never checks the input's range. 36.13 looks ordinary, nothing visibly different — that silence itself is the danger.</a:t>
            </a:r>
          </a:p>
        </p:txBody>
      </p:sp>
    </p:spTree>
    <p:extLst>
      <p:ext uri="{BB962C8B-B14F-4D97-AF65-F5344CB8AC3E}">
        <p14:creationId xmlns:p14="http://schemas.microsoft.com/office/powerpoint/2010/main" val="189613756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5C34984F-12FC-4B2C-9EDC-B21D67C3DA5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C909EEC3-D8C8-4B74-9977-E996F3C2F39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Does one more feature really make R² this much better?</a:t>
            </a:r>
          </a:p>
        </p:txBody>
      </p:sp>
      <p:sp>
        <p:nvSpPr>
          <p:cNvPr id="3" name="">
            <a:extLst xmlns:a="http://schemas.openxmlformats.org/drawingml/2006/main">
              <a:ext uri="{FF2B5EF4-FFF2-40B4-BE49-F238E27FC236}">
                <a16:creationId xmlns:a16="http://schemas.microsoft.com/office/drawing/2014/main" id="{B8650878-E818-40D1-8FDE-CE5D7184281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5D70CA1-562B-498E-8FF7-C4A9E977862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18CA60BE-E75C-44F3-9E90-40BEA483B80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18DDA5CE-B78D-4B71-B196-B13D2922EB8E}"/>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9C8CF53-84E5-4BBF-B2E6-277C423F662B}"/>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features_leak = ["wwr", "shade_m", "glazing_shgc",</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"est_annual_cost_index"]</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leak_model = LinearRegression().fit(Xtr_l, ytr_l)</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pred_l = leak_model.predict(Xte_l)</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print(f"R2: {r2_score(yte_l, pred_l):.4f}")</a:t>
            </a:r>
          </a:p>
        </p:txBody>
      </p:sp>
      <p:sp>
        <p:nvSpPr>
          <p:cNvPr id="8" name="question">
            <a:extLst xmlns:a="http://schemas.openxmlformats.org/drawingml/2006/main">
              <a:ext uri="{FF2B5EF4-FFF2-40B4-BE49-F238E27FC236}">
                <a16:creationId xmlns:a16="http://schemas.microsoft.com/office/drawing/2014/main" id="{CA8F87CB-C690-4B57-BB45-783D201E2D4B}"/>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Add est_annual_cost_index as a 4th feature. R²?</a:t>
            </a:r>
          </a:p>
        </p:txBody>
      </p:sp>
      <p:sp>
        <p:nvSpPr>
          <p:cNvPr id="9" name="opt-0">
            <a:extLst xmlns:a="http://schemas.openxmlformats.org/drawingml/2006/main">
              <a:ext uri="{FF2B5EF4-FFF2-40B4-BE49-F238E27FC236}">
                <a16:creationId xmlns:a16="http://schemas.microsoft.com/office/drawing/2014/main" id="{C9B8F4A9-2303-46DF-9307-F76387A7E2A5}"/>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EFB0A2E2-43DB-4743-BD94-0959AFAFD34C}"/>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DAED2FA3-F40B-4736-B8B0-F44F574BC82A}"/>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About the same — R² ≈ 0.49</a:t>
            </a:r>
          </a:p>
        </p:txBody>
      </p:sp>
      <p:sp>
        <p:nvSpPr>
          <p:cNvPr id="12" name="opt-1">
            <a:extLst xmlns:a="http://schemas.openxmlformats.org/drawingml/2006/main">
              <a:ext uri="{FF2B5EF4-FFF2-40B4-BE49-F238E27FC236}">
                <a16:creationId xmlns:a16="http://schemas.microsoft.com/office/drawing/2014/main" id="{B6E8B9B0-F968-4D5A-B080-F69612CDC199}"/>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7CF2B014-6131-4AD8-885E-5579FC00283D}"/>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5C41D762-A947-4004-A815-4A56DCD508DB}"/>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 modest rise — R² ≈ 0.55</a:t>
            </a:r>
          </a:p>
        </p:txBody>
      </p:sp>
      <p:sp>
        <p:nvSpPr>
          <p:cNvPr id="15" name="opt-2">
            <a:extLst xmlns:a="http://schemas.openxmlformats.org/drawingml/2006/main">
              <a:ext uri="{FF2B5EF4-FFF2-40B4-BE49-F238E27FC236}">
                <a16:creationId xmlns:a16="http://schemas.microsoft.com/office/drawing/2014/main" id="{3D3D03DD-9179-460F-BCF9-8E939000C148}"/>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EEF1874C-6ADF-4EE3-B350-44C0403952DD}"/>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ED3ED57D-3EB0-41FE-9FEB-DBF7BC121942}"/>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A dramatic rise — R² ≈ 0.99</a:t>
            </a:r>
          </a:p>
        </p:txBody>
      </p:sp>
      <p:sp>
        <p:nvSpPr>
          <p:cNvPr id="18" name="opt-3">
            <a:extLst xmlns:a="http://schemas.openxmlformats.org/drawingml/2006/main">
              <a:ext uri="{FF2B5EF4-FFF2-40B4-BE49-F238E27FC236}">
                <a16:creationId xmlns:a16="http://schemas.microsoft.com/office/drawing/2014/main" id="{7F73DD36-B781-43AF-B5AB-DEA34FA61A98}"/>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31E5B569-81CB-4D85-9678-6AFEDBB2BAEB}"/>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1796C0E6-7183-40BC-8151-A11319A9515E}"/>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Arial"/>
                <a:ea typeface="Arial"/>
                <a:cs typeface="Arial"/>
              </a:defRPr>
            </a:pPr>
            <a:r>
              <a:rPr sz="1200" b="0">
                <a:solidFill>
                  <a:srgbClr val="111316"/>
                </a:solidFill>
                <a:latin typeface="Arial"/>
                <a:ea typeface="Arial"/>
                <a:cs typeface="Arial"/>
              </a:rPr>
              <a:t>R² gets worse — drops below 0</a:t>
            </a:r>
          </a:p>
        </p:txBody>
      </p:sp>
      <p:sp>
        <p:nvSpPr>
          <p:cNvPr id="21" name="answer-panel">
            <a:extLst xmlns:a="http://schemas.openxmlformats.org/drawingml/2006/main">
              <a:ext uri="{FF2B5EF4-FFF2-40B4-BE49-F238E27FC236}">
                <a16:creationId xmlns:a16="http://schemas.microsoft.com/office/drawing/2014/main" id="{D15BC45B-DE6D-4294-A5C9-6A8AD4E89AC8}"/>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BDC0C121-4209-4D02-B0E7-BE5C6BCF168B}"/>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3" name="why">
            <a:extLst xmlns:a="http://schemas.openxmlformats.org/drawingml/2006/main">
              <a:ext uri="{FF2B5EF4-FFF2-40B4-BE49-F238E27FC236}">
                <a16:creationId xmlns:a16="http://schemas.microsoft.com/office/drawing/2014/main" id="{0D934031-B2CD-4D80-A96F-A0BA0688B902}"/>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R²=0.9923 is not a smarter model — est_annual_cost_index IS eui_kwh_m2yr in disguise. A jump this size is the leakage red flag itself.</a:t>
            </a:r>
          </a:p>
        </p:txBody>
      </p:sp>
    </p:spTree>
    <p:extLst>
      <p:ext uri="{BB962C8B-B14F-4D97-AF65-F5344CB8AC3E}">
        <p14:creationId xmlns:p14="http://schemas.microsoft.com/office/powerpoint/2010/main" val="178011085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14EC0098-8CC3-480A-9C90-888F7BB8104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2637894A-8052-479D-9DD4-56888F84BDB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AI-drafted "improvement": one more feature</a:t>
            </a:r>
          </a:p>
        </p:txBody>
      </p:sp>
      <p:sp>
        <p:nvSpPr>
          <p:cNvPr id="3" name="">
            <a:extLst xmlns:a="http://schemas.openxmlformats.org/drawingml/2006/main">
              <a:ext uri="{FF2B5EF4-FFF2-40B4-BE49-F238E27FC236}">
                <a16:creationId xmlns:a16="http://schemas.microsoft.com/office/drawing/2014/main" id="{F68343CE-FA21-4455-AEF1-3A92EF90EE9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4105502-6710-4C61-A1C0-73FD0F166D8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2A5ED0CD-4DC3-4A8C-A95D-F8AEE35FC2B9}"/>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code-panel">
            <a:extLst xmlns:a="http://schemas.openxmlformats.org/drawingml/2006/main">
              <a:ext uri="{FF2B5EF4-FFF2-40B4-BE49-F238E27FC236}">
                <a16:creationId xmlns:a16="http://schemas.microsoft.com/office/drawing/2014/main" id="{AD5F1927-32A5-43F1-982C-DEC07118B7D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0C1606BE-B0D1-4BB5-8EE7-6C2874E978C2}"/>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AI-drafted, reasoning: "cost is a design-relevant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variable too</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features_leak = ["wwr", "shade_m", "glazing_shgc",</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"est_annual_cost_index"]</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X_leak = df[features_leak]</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Xtr_l, Xte_l, ytr_l, yte_l = train_test_split(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X_leak, y, test_size=0.25, random_state=42)</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leak_model = LinearRegression().fit(Xtr_l, ytr_l)</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pred_l = leak_model.predict(Xte_l)</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print("coef_:", np.round(leak_model.coef_, 4))</a:t>
            </a:r>
          </a:p>
        </p:txBody>
      </p:sp>
      <p:sp>
        <p:nvSpPr>
          <p:cNvPr id="8" name="">
            <a:extLst xmlns:a="http://schemas.openxmlformats.org/drawingml/2006/main">
              <a:ext uri="{FF2B5EF4-FFF2-40B4-BE49-F238E27FC236}">
                <a16:creationId xmlns:a16="http://schemas.microsoft.com/office/drawing/2014/main" id="{71D7893A-6BCC-4420-93FA-DABCEAB7802D}"/>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9F4E66C2-3A97-4F5E-831D-3C7495432DC8}"/>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8A44B5B7-6CC2-45BE-B6FD-88F1DE5F6EEB}"/>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coef_: [0.331  0.0374 0.3054 7.1264]</a:t>
            </a:r>
          </a:p>
        </p:txBody>
      </p:sp>
      <p:sp>
        <p:nvSpPr>
          <p:cNvPr id="11" name="explain-head">
            <a:extLst xmlns:a="http://schemas.openxmlformats.org/drawingml/2006/main">
              <a:ext uri="{FF2B5EF4-FFF2-40B4-BE49-F238E27FC236}">
                <a16:creationId xmlns:a16="http://schemas.microsoft.com/office/drawing/2014/main" id="{78196BE0-72F5-4BD4-8A45-561E428FCA02}"/>
              </a:ext>
            </a:extLst>
          </p:cNvPr>
          <p:cNvSpPr>
            <a:spLocks xmlns:a="http://schemas.openxmlformats.org/drawingml/2006/main" noGrp="1"/>
          </p:cNvSpPr>
          <p:nvPr/>
        </p:nvSpPr>
        <p:spPr>
          <a:xfrm xmlns:a="http://schemas.openxmlformats.org/drawingml/2006/main">
            <a:off x="7886700" y="2266950"/>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three honest coefficients just collapsed</a:t>
            </a:r>
          </a:p>
        </p:txBody>
      </p:sp>
      <p:sp>
        <p:nvSpPr>
          <p:cNvPr id="12" name="explain-body">
            <a:extLst xmlns:a="http://schemas.openxmlformats.org/drawingml/2006/main">
              <a:ext uri="{FF2B5EF4-FFF2-40B4-BE49-F238E27FC236}">
                <a16:creationId xmlns:a16="http://schemas.microsoft.com/office/drawing/2014/main" id="{79016BC0-6BDF-4C2C-9CE8-E5093B68BE3F}"/>
              </a:ext>
            </a:extLst>
          </p:cNvPr>
          <p:cNvSpPr>
            <a:spLocks xmlns:a="http://schemas.openxmlformats.org/drawingml/2006/main" noGrp="1"/>
          </p:cNvSpPr>
          <p:nvPr/>
        </p:nvSpPr>
        <p:spPr>
          <a:xfrm xmlns:a="http://schemas.openxmlformats.org/drawingml/2006/main">
            <a:off x="7886700" y="3340608"/>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wwr/shade_m/shgc's coefficients shrank to almost nothing (0.331, 0.0374, 0.3054, down from 17.6545, -3.3915, 3.4181); est_annual_cost_index's coefficient (7.1264) now does nearly all the work. Nothing about the CODE looks wrong — same split, same random_state=42, same LinearRegression call. The next slide scores it.</a:t>
            </a:r>
          </a:p>
        </p:txBody>
      </p:sp>
    </p:spTree>
    <p:extLst>
      <p:ext uri="{BB962C8B-B14F-4D97-AF65-F5344CB8AC3E}">
        <p14:creationId xmlns:p14="http://schemas.microsoft.com/office/powerpoint/2010/main" val="65422962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1754C08F-DFBA-47B2-AA7B-5593978B6E0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8AF87CB-9F4C-4053-B7F7-70EDED46717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the metrics that AI-drafted code reported</a:t>
            </a:r>
          </a:p>
        </p:txBody>
      </p:sp>
      <p:sp>
        <p:nvSpPr>
          <p:cNvPr id="3" name="">
            <a:extLst xmlns:a="http://schemas.openxmlformats.org/drawingml/2006/main">
              <a:ext uri="{FF2B5EF4-FFF2-40B4-BE49-F238E27FC236}">
                <a16:creationId xmlns:a16="http://schemas.microsoft.com/office/drawing/2014/main" id="{84AE74AD-A4EF-4B83-AE22-4876C51C828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C055D0B-CCC5-4723-94E1-6D86EA2D767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FC77D0C3-3D9D-4E8A-BB9D-600D780FF1C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code-panel">
            <a:extLst xmlns:a="http://schemas.openxmlformats.org/drawingml/2006/main">
              <a:ext uri="{FF2B5EF4-FFF2-40B4-BE49-F238E27FC236}">
                <a16:creationId xmlns:a16="http://schemas.microsoft.com/office/drawing/2014/main" id="{A31FFA5F-78C0-4954-BF37-85874821073F}"/>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10F52CD-98A2-4F8E-9F02-0BA4198F31F9}"/>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mae_l = mean_absolute_error(yte_l, pred_l)</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rmse_l = np.sqrt(mean_squared_error(yte_l, pred_l))</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r2_l = r2_score(yte_l, pred_l)</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print(f"MAE:  {mae_l:.4f}")</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print(f"RMSE: {rmse_l:.4f}")</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print(f"R2:   {r2_l:.4f}")</a:t>
            </a:r>
          </a:p>
        </p:txBody>
      </p:sp>
      <p:sp>
        <p:nvSpPr>
          <p:cNvPr id="8" name="">
            <a:extLst xmlns:a="http://schemas.openxmlformats.org/drawingml/2006/main">
              <a:ext uri="{FF2B5EF4-FFF2-40B4-BE49-F238E27FC236}">
                <a16:creationId xmlns:a16="http://schemas.microsoft.com/office/drawing/2014/main" id="{6DA38A95-7C21-4B3F-ABD6-21FBC4C9816D}"/>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8090E4C8-41F4-4444-ADD5-B3398E94EB5B}"/>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5086D176-374D-4DC4-9C3F-FFB314AEDFF5}"/>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MAE:  0.2852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RMSE: 0.3342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R2:   0.9923</a:t>
            </a:r>
          </a:p>
        </p:txBody>
      </p:sp>
      <p:sp>
        <p:nvSpPr>
          <p:cNvPr id="11" name="explain-head">
            <a:extLst xmlns:a="http://schemas.openxmlformats.org/drawingml/2006/main">
              <a:ext uri="{FF2B5EF4-FFF2-40B4-BE49-F238E27FC236}">
                <a16:creationId xmlns:a16="http://schemas.microsoft.com/office/drawing/2014/main" id="{472563BB-67F5-4387-A907-7E98E3E9D882}"/>
              </a:ext>
            </a:extLst>
          </p:cNvPr>
          <p:cNvSpPr>
            <a:spLocks xmlns:a="http://schemas.openxmlformats.org/drawingml/2006/main" noGrp="1"/>
          </p:cNvSpPr>
          <p:nvPr/>
        </p:nvSpPr>
        <p:spPr>
          <a:xfrm xmlns:a="http://schemas.openxmlformats.org/drawingml/2006/main">
            <a:off x="7886700" y="23717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R²=0.9923 is not good news — it's a red flag</a:t>
            </a:r>
          </a:p>
        </p:txBody>
      </p:sp>
      <p:sp>
        <p:nvSpPr>
          <p:cNvPr id="12" name="explain-body">
            <a:extLst xmlns:a="http://schemas.openxmlformats.org/drawingml/2006/main">
              <a:ext uri="{FF2B5EF4-FFF2-40B4-BE49-F238E27FC236}">
                <a16:creationId xmlns:a16="http://schemas.microsoft.com/office/drawing/2014/main" id="{E6B46446-135D-433E-819C-95A8845CBBBE}"/>
              </a:ext>
            </a:extLst>
          </p:cNvPr>
          <p:cNvSpPr>
            <a:spLocks xmlns:a="http://schemas.openxmlformats.org/drawingml/2006/main" noGrp="1"/>
          </p:cNvSpPr>
          <p:nvPr/>
        </p:nvSpPr>
        <p:spPr>
          <a:xfrm xmlns:a="http://schemas.openxmlformats.org/drawingml/2006/main">
            <a:off x="7886700" y="3157347"/>
            <a:ext cx="3695700" cy="20650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wwr/shade_m/shgc's coefficients shrank to almost nothing; est_annual_cost_index's coefficient (7.1264) now does nearly all the work. An R² this close to 1.0 on a noisy, real-world-style target is the "too good to be true" signal ITSELF — be suspicious of a suspiciously perfect metric, not just hunting for a code pattern.</a:t>
            </a:r>
          </a:p>
        </p:txBody>
      </p:sp>
    </p:spTree>
    <p:extLst>
      <p:ext uri="{BB962C8B-B14F-4D97-AF65-F5344CB8AC3E}">
        <p14:creationId xmlns:p14="http://schemas.microsoft.com/office/powerpoint/2010/main" val="155429123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kicker">
            <a:extLst xmlns:a="http://schemas.openxmlformats.org/drawingml/2006/main">
              <a:ext uri="{FF2B5EF4-FFF2-40B4-BE49-F238E27FC236}">
                <a16:creationId xmlns:a16="http://schemas.microsoft.com/office/drawing/2014/main" id="{12E2FB8F-977B-4F5B-B526-0939F1576BF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NEW VOCABULARY</a:t>
            </a:r>
          </a:p>
        </p:txBody>
      </p:sp>
      <p:sp>
        <p:nvSpPr>
          <p:cNvPr id="2" name="title">
            <a:extLst xmlns:a="http://schemas.openxmlformats.org/drawingml/2006/main">
              <a:ext uri="{FF2B5EF4-FFF2-40B4-BE49-F238E27FC236}">
                <a16:creationId xmlns:a16="http://schemas.microsoft.com/office/drawing/2014/main" id="{902D55E6-001A-4B14-A624-84924CC7D39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Data leakage, defined</a:t>
            </a:r>
          </a:p>
        </p:txBody>
      </p:sp>
      <p:sp>
        <p:nvSpPr>
          <p:cNvPr id="3" name="">
            <a:extLst xmlns:a="http://schemas.openxmlformats.org/drawingml/2006/main">
              <a:ext uri="{FF2B5EF4-FFF2-40B4-BE49-F238E27FC236}">
                <a16:creationId xmlns:a16="http://schemas.microsoft.com/office/drawing/2014/main" id="{4F1E43B3-BF04-4FB5-9D0F-962AFAA2D12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C150171-11AE-43AE-8AFD-242BA3871B02}"/>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4937E9AE-C4E8-4452-BC0C-6059E703D92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term-label">
            <a:extLst xmlns:a="http://schemas.openxmlformats.org/drawingml/2006/main">
              <a:ext uri="{FF2B5EF4-FFF2-40B4-BE49-F238E27FC236}">
                <a16:creationId xmlns:a16="http://schemas.microsoft.com/office/drawing/2014/main" id="{E047C2C8-0F1A-4807-893D-B531801A4D22}"/>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0A2240B7-30E4-484B-9B00-C11C9132E5D3}"/>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data leakage</a:t>
            </a:r>
          </a:p>
        </p:txBody>
      </p:sp>
      <p:sp>
        <p:nvSpPr>
          <p:cNvPr id="8" name="">
            <a:extLst xmlns:a="http://schemas.openxmlformats.org/drawingml/2006/main">
              <a:ext uri="{FF2B5EF4-FFF2-40B4-BE49-F238E27FC236}">
                <a16:creationId xmlns:a16="http://schemas.microsoft.com/office/drawing/2014/main" id="{2B0835DF-6A90-49D3-90BD-44FE0FC1596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FF0D89AA-1E4E-4AA7-BDF2-36E12FB5D90E}"/>
              </a:ext>
            </a:extLst>
          </p:cNvPr>
          <p:cNvSpPr>
            <a:spLocks xmlns:a="http://schemas.openxmlformats.org/drawingml/2006/main" noGrp="1"/>
          </p:cNvSpPr>
          <p:nvPr/>
        </p:nvSpPr>
        <p:spPr>
          <a:xfrm xmlns:a="http://schemas.openxmlformats.org/drawingml/2006/main">
            <a:off x="609600" y="2971800"/>
            <a:ext cx="5905500" cy="3067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feature that is (directly or nearly) DERIVED FROM the target, so the model isn't predicting — it's decoding the answer from a disguised copy of itself.</a:t>
            </a:r>
          </a:p>
        </p:txBody>
      </p:sp>
      <p:sp>
        <p:nvSpPr>
          <p:cNvPr id="10" name="example-panel">
            <a:extLst xmlns:a="http://schemas.openxmlformats.org/drawingml/2006/main">
              <a:ext uri="{FF2B5EF4-FFF2-40B4-BE49-F238E27FC236}">
                <a16:creationId xmlns:a16="http://schemas.microsoft.com/office/drawing/2014/main" id="{66852D48-0A26-4AF2-A176-1CF1FCCD04BA}"/>
              </a:ext>
            </a:extLst>
          </p:cNvPr>
          <p:cNvSpPr>
            <a:spLocks xmlns:a="http://schemas.openxmlformats.org/drawingml/2006/main" noGrp="1"/>
          </p:cNvSpPr>
          <p:nvPr/>
        </p:nvSpPr>
        <p:spPr>
          <a:xfrm xmlns:a="http://schemas.openxmlformats.org/drawingml/2006/main">
            <a:off x="6762750" y="1809750"/>
            <a:ext cx="4819650" cy="4248150"/>
          </a:xfrm>
          <a:prstGeom xmlns:a="http://schemas.openxmlformats.org/drawingml/2006/main" prst="roundRect">
            <a:avLst>
              <a:gd name="adj" fmla="val 1794"/>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3AC0CF13-4025-4519-80B5-2875A266F375}"/>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20635091-8C32-45CB-AA71-FBA3F016D81F}"/>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proof, here</a:t>
            </a:r>
          </a:p>
        </p:txBody>
      </p:sp>
      <p:sp>
        <p:nvSpPr>
          <p:cNvPr id="13" name="example-body">
            <a:extLst xmlns:a="http://schemas.openxmlformats.org/drawingml/2006/main">
              <a:ext uri="{FF2B5EF4-FFF2-40B4-BE49-F238E27FC236}">
                <a16:creationId xmlns:a16="http://schemas.microsoft.com/office/drawing/2014/main" id="{99B4BDF3-DEEC-4539-8B76-6BD7D8755138}"/>
              </a:ext>
            </a:extLst>
          </p:cNvPr>
          <p:cNvSpPr>
            <a:spLocks xmlns:a="http://schemas.openxmlformats.org/drawingml/2006/main" noGrp="1"/>
          </p:cNvSpPr>
          <p:nvPr/>
        </p:nvSpPr>
        <p:spPr>
          <a:xfrm xmlns:a="http://schemas.openxmlformats.org/drawingml/2006/main">
            <a:off x="6972300" y="2704338"/>
            <a:ext cx="4381500" cy="32202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est_annual_cost_index = eui_kwh_m2yr × 0.14 + small noise — verified correlation with eui_kwh_m2yr = 0.995574. It is the target, wearing a different unit.</a:t>
            </a:r>
          </a:p>
        </p:txBody>
      </p:sp>
    </p:spTree>
    <p:extLst>
      <p:ext uri="{BB962C8B-B14F-4D97-AF65-F5344CB8AC3E}">
        <p14:creationId xmlns:p14="http://schemas.microsoft.com/office/powerpoint/2010/main" val="19799216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A3DA00DA-B958-45ED-8ABB-2C1689FB31C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AUDIT RESULT</a:t>
            </a:r>
          </a:p>
        </p:txBody>
      </p:sp>
      <p:sp>
        <p:nvSpPr>
          <p:cNvPr id="2" name="title">
            <a:extLst xmlns:a="http://schemas.openxmlformats.org/drawingml/2006/main">
              <a:ext uri="{FF2B5EF4-FFF2-40B4-BE49-F238E27FC236}">
                <a16:creationId xmlns:a16="http://schemas.microsoft.com/office/drawing/2014/main" id="{9C9E2CD1-BB61-44EF-8107-699D477ACAF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FIX, and why the AI drafted the bug</a:t>
            </a:r>
          </a:p>
        </p:txBody>
      </p:sp>
      <p:sp>
        <p:nvSpPr>
          <p:cNvPr id="3" name="">
            <a:extLst xmlns:a="http://schemas.openxmlformats.org/drawingml/2006/main">
              <a:ext uri="{FF2B5EF4-FFF2-40B4-BE49-F238E27FC236}">
                <a16:creationId xmlns:a16="http://schemas.microsoft.com/office/drawing/2014/main" id="{90464C47-EEB8-4548-893C-B140306BA7A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3B881AA-5F1F-4C68-8868-C9BEECAAB05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933C9FB3-39C7-4E76-A5EE-A08A2D1B187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34</a:t>
            </a:r>
          </a:p>
        </p:txBody>
      </p:sp>
      <p:sp>
        <p:nvSpPr>
          <p:cNvPr id="6" name="left-head">
            <a:extLst xmlns:a="http://schemas.openxmlformats.org/drawingml/2006/main">
              <a:ext uri="{FF2B5EF4-FFF2-40B4-BE49-F238E27FC236}">
                <a16:creationId xmlns:a16="http://schemas.microsoft.com/office/drawing/2014/main" id="{3F759EDD-DE22-47B4-9079-1C97CB1A894D}"/>
              </a:ext>
            </a:extLst>
          </p:cNvPr>
          <p:cNvSpPr>
            <a:spLocks xmlns:a="http://schemas.openxmlformats.org/drawingml/2006/main" noGrp="1"/>
          </p:cNvSpPr>
          <p:nvPr/>
        </p:nvSpPr>
        <p:spPr>
          <a:xfrm xmlns:a="http://schemas.openxmlformats.org/drawingml/2006/main">
            <a:off x="6096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FIX</a:t>
            </a:r>
          </a:p>
        </p:txBody>
      </p:sp>
      <p:sp>
        <p:nvSpPr>
          <p:cNvPr id="7" name="left-body">
            <a:extLst xmlns:a="http://schemas.openxmlformats.org/drawingml/2006/main">
              <a:ext uri="{FF2B5EF4-FFF2-40B4-BE49-F238E27FC236}">
                <a16:creationId xmlns:a16="http://schemas.microsoft.com/office/drawing/2014/main" id="{028A57ED-B96B-4DE2-A187-A44D5B1B6B92}"/>
              </a:ext>
            </a:extLst>
          </p:cNvPr>
          <p:cNvSpPr>
            <a:spLocks xmlns:a="http://schemas.openxmlformats.org/drawingml/2006/main" noGrp="1"/>
          </p:cNvSpPr>
          <p:nvPr/>
        </p:nvSpPr>
        <p:spPr>
          <a:xfrm xmlns:a="http://schemas.openxmlformats.org/drawingml/2006/main">
            <a:off x="609600" y="3107436"/>
            <a:ext cx="5219700" cy="1402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Drop est_annual_cost_index from the feature list entirely — it is a legitimate reporting/output column, never a predictor. Refit on the honest 3 features; MAE/RMSE/R² return to 2.2680 / 2.7146 / 0.4937.</a:t>
            </a:r>
          </a:p>
        </p:txBody>
      </p:sp>
      <p:sp>
        <p:nvSpPr>
          <p:cNvPr id="8" name="right-head">
            <a:extLst xmlns:a="http://schemas.openxmlformats.org/drawingml/2006/main">
              <a:ext uri="{FF2B5EF4-FFF2-40B4-BE49-F238E27FC236}">
                <a16:creationId xmlns:a16="http://schemas.microsoft.com/office/drawing/2014/main" id="{4791B64E-F2D5-4B0F-BEC0-E20403B5A832}"/>
              </a:ext>
            </a:extLst>
          </p:cNvPr>
          <p:cNvSpPr>
            <a:spLocks xmlns:a="http://schemas.openxmlformats.org/drawingml/2006/main" noGrp="1"/>
          </p:cNvSpPr>
          <p:nvPr/>
        </p:nvSpPr>
        <p:spPr>
          <a:xfrm xmlns:a="http://schemas.openxmlformats.org/drawingml/2006/main">
            <a:off x="6362700" y="2609850"/>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Why the reasoning sounded plausible</a:t>
            </a:r>
          </a:p>
        </p:txBody>
      </p:sp>
      <p:sp>
        <p:nvSpPr>
          <p:cNvPr id="9" name="right-body">
            <a:extLst xmlns:a="http://schemas.openxmlformats.org/drawingml/2006/main">
              <a:ext uri="{FF2B5EF4-FFF2-40B4-BE49-F238E27FC236}">
                <a16:creationId xmlns:a16="http://schemas.microsoft.com/office/drawing/2014/main" id="{B1F77D71-D708-4E00-9A9E-1C933D491888}"/>
              </a:ext>
            </a:extLst>
          </p:cNvPr>
          <p:cNvSpPr>
            <a:spLocks xmlns:a="http://schemas.openxmlformats.org/drawingml/2006/main" noGrp="1"/>
          </p:cNvSpPr>
          <p:nvPr/>
        </p:nvSpPr>
        <p:spPr>
          <a:xfrm xmlns:a="http://schemas.openxmlformats.org/drawingml/2006/main">
            <a:off x="6362700" y="3107436"/>
            <a:ext cx="5219700" cy="16672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"Cost is a design-relevant variable too" sounds reasonable — that is exactly why leakage is dangerous: it slips past a plausibility check. Checking a column's PROVENANCE (how was it computed?) catches what a plausibility read cannot.</a:t>
            </a:r>
          </a:p>
        </p:txBody>
      </p:sp>
    </p:spTree>
    <p:extLst>
      <p:ext uri="{BB962C8B-B14F-4D97-AF65-F5344CB8AC3E}">
        <p14:creationId xmlns:p14="http://schemas.microsoft.com/office/powerpoint/2010/main" val="162772644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DC161CC6-BF84-4D02-889A-FE535A5E806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78A1F415-1347-4974-BB0C-EA16F2206DE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whole week, as one documented function</a:t>
            </a:r>
          </a:p>
        </p:txBody>
      </p:sp>
      <p:sp>
        <p:nvSpPr>
          <p:cNvPr id="3" name="">
            <a:extLst xmlns:a="http://schemas.openxmlformats.org/drawingml/2006/main">
              <a:ext uri="{FF2B5EF4-FFF2-40B4-BE49-F238E27FC236}">
                <a16:creationId xmlns:a16="http://schemas.microsoft.com/office/drawing/2014/main" id="{1791314F-71EB-4ECE-9980-B98FBFA9046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A20C606-9CF7-40B9-98AC-323DFB63979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2F358006-3BD1-48B8-8F65-A31790E93FF5}"/>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35</a:t>
            </a:r>
          </a:p>
        </p:txBody>
      </p:sp>
      <p:sp>
        <p:nvSpPr>
          <p:cNvPr id="6" name="code-panel">
            <a:extLst xmlns:a="http://schemas.openxmlformats.org/drawingml/2006/main">
              <a:ext uri="{FF2B5EF4-FFF2-40B4-BE49-F238E27FC236}">
                <a16:creationId xmlns:a16="http://schemas.microsoft.com/office/drawing/2014/main" id="{433C05B0-EA17-4054-8D9A-79F51C499B2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E0517506-0E9B-4AE8-A6B4-EB1C7526CF02}"/>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def fit_and_score(features: list, label: str) -&gt; dict: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"""Split, fit and score one list of features."""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Xf = df[features]</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Xtr, Xte, ytr, yte = train_test_split(</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Xf, y, test_size=0.25, random_state=42)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fitted = LinearRegression().fit(Xtr, ytr)</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pred = fitted.predict(Xte)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    return report_metrics(yte, pred, label)</a:t>
            </a:r>
          </a:p>
        </p:txBody>
      </p:sp>
      <p:sp>
        <p:nvSpPr>
          <p:cNvPr id="8" name="explain-head">
            <a:extLst xmlns:a="http://schemas.openxmlformats.org/drawingml/2006/main">
              <a:ext uri="{FF2B5EF4-FFF2-40B4-BE49-F238E27FC236}">
                <a16:creationId xmlns:a16="http://schemas.microsoft.com/office/drawing/2014/main" id="{79F51C5A-F38D-4E81-8AF4-65734B252F45}"/>
              </a:ext>
            </a:extLst>
          </p:cNvPr>
          <p:cNvSpPr>
            <a:spLocks xmlns:a="http://schemas.openxmlformats.org/drawingml/2006/main" noGrp="1"/>
          </p:cNvSpPr>
          <p:nvPr/>
        </p:nvSpPr>
        <p:spPr>
          <a:xfrm xmlns:a="http://schemas.openxmlformats.org/drawingml/2006/main">
            <a:off x="7886700" y="2028825"/>
            <a:ext cx="3695700" cy="9212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Split, fit, predict, score — for any feature list</a:t>
            </a:r>
          </a:p>
        </p:txBody>
      </p:sp>
      <p:sp>
        <p:nvSpPr>
          <p:cNvPr id="9" name="explain-body">
            <a:extLst xmlns:a="http://schemas.openxmlformats.org/drawingml/2006/main">
              <a:ext uri="{FF2B5EF4-FFF2-40B4-BE49-F238E27FC236}">
                <a16:creationId xmlns:a16="http://schemas.microsoft.com/office/drawing/2014/main" id="{34304A13-5C36-4814-A9AA-BAAA53C61EB3}"/>
              </a:ext>
            </a:extLst>
          </p:cNvPr>
          <p:cNvSpPr>
            <a:spLocks xmlns:a="http://schemas.openxmlformats.org/drawingml/2006/main" noGrp="1"/>
          </p:cNvSpPr>
          <p:nvPr/>
        </p:nvSpPr>
        <p:spPr>
          <a:xfrm xmlns:a="http://schemas.openxmlformats.org/drawingml/2006/main">
            <a:off x="7886700" y="3102483"/>
            <a:ext cx="3695700" cy="27279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Everything today's lecture did by hand, four separate times, is now eight lines: give it a feature list and a label, get back the same dictionary of three metrics. features: list and label: str are the type hints, -&gt; dict is the return type, and the docstring states the job in one line. Because the split settings live INSIDE the function, no caller can slip in a different test_size or random_state — the next slide's comparison is guaranteed fair.</a:t>
            </a:r>
          </a:p>
        </p:txBody>
      </p:sp>
    </p:spTree>
    <p:extLst>
      <p:ext uri="{BB962C8B-B14F-4D97-AF65-F5344CB8AC3E}">
        <p14:creationId xmlns:p14="http://schemas.microsoft.com/office/powerpoint/2010/main" val="23516103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3115F643-C0F7-48DE-9D6F-74E85BF4361A}"/>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EA2A9C22-37DE-44FF-945D-8A182F6D055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three feature lists, one honest comparison</a:t>
            </a:r>
          </a:p>
        </p:txBody>
      </p:sp>
      <p:sp>
        <p:nvSpPr>
          <p:cNvPr id="3" name="">
            <a:extLst xmlns:a="http://schemas.openxmlformats.org/drawingml/2006/main">
              <a:ext uri="{FF2B5EF4-FFF2-40B4-BE49-F238E27FC236}">
                <a16:creationId xmlns:a16="http://schemas.microsoft.com/office/drawing/2014/main" id="{A98CA474-D895-46B5-9B36-79F17DD1333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D8E8D11-D550-4FB4-A802-071E41236DA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2956AC68-34C1-4042-8E64-FF5738C8BB2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36</a:t>
            </a:r>
          </a:p>
        </p:txBody>
      </p:sp>
      <p:sp>
        <p:nvSpPr>
          <p:cNvPr id="6" name="code-panel">
            <a:extLst xmlns:a="http://schemas.openxmlformats.org/drawingml/2006/main">
              <a:ext uri="{FF2B5EF4-FFF2-40B4-BE49-F238E27FC236}">
                <a16:creationId xmlns:a16="http://schemas.microsoft.com/office/drawing/2014/main" id="{BA9A90F1-6854-43C5-A539-C5F558357EDA}"/>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CA2F6288-8D4D-41A8-998B-EEB4A5498972}"/>
              </a:ext>
            </a:extLst>
          </p:cNvPr>
          <p:cNvSpPr>
            <a:spLocks xmlns:a="http://schemas.openxmlformats.org/drawingml/2006/main" noGrp="1"/>
          </p:cNvSpPr>
          <p:nvPr/>
        </p:nvSpPr>
        <p:spPr>
          <a:xfrm xmlns:a="http://schemas.openxmlformats.org/drawingml/2006/main">
            <a:off x="857250" y="2057400"/>
            <a:ext cx="6400800" cy="26197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honest = fit_and_score(FEATURES3, "honest")</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leaky = fit_and_score(features_leak, "leaky")</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fixed = fit_and_score(FEATURES3, "fixed")</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jump = leaky["R2"] - honest["R2"]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print("R2 jump:", round(jump, 4))</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assert fixed["MAE"] == honest["MAE"]</a:t>
            </a:r>
          </a:p>
        </p:txBody>
      </p:sp>
      <p:sp>
        <p:nvSpPr>
          <p:cNvPr id="8" name="">
            <a:extLst xmlns:a="http://schemas.openxmlformats.org/drawingml/2006/main">
              <a:ext uri="{FF2B5EF4-FFF2-40B4-BE49-F238E27FC236}">
                <a16:creationId xmlns:a16="http://schemas.microsoft.com/office/drawing/2014/main" id="{EC9924C0-C718-429B-A49C-059665BC1414}"/>
              </a:ext>
            </a:extLst>
          </p:cNvPr>
          <p:cNvSpPr>
            <a:spLocks xmlns:a="http://schemas.openxmlformats.org/drawingml/2006/main" noGrp="1"/>
          </p:cNvSpPr>
          <p:nvPr/>
        </p:nvSpPr>
        <p:spPr>
          <a:xfrm xmlns:a="http://schemas.openxmlformats.org/drawingml/2006/main">
            <a:off x="857250" y="4734306"/>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2E810D8F-7503-43A2-B834-8275BD5C68A0}"/>
              </a:ext>
            </a:extLst>
          </p:cNvPr>
          <p:cNvSpPr>
            <a:spLocks xmlns:a="http://schemas.openxmlformats.org/drawingml/2006/main" noGrp="1"/>
          </p:cNvSpPr>
          <p:nvPr/>
        </p:nvSpPr>
        <p:spPr>
          <a:xfrm xmlns:a="http://schemas.openxmlformats.org/drawingml/2006/main">
            <a:off x="857250" y="4848606"/>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B586DA91-6288-474A-92B3-C2A480EE2C8E}"/>
              </a:ext>
            </a:extLst>
          </p:cNvPr>
          <p:cNvSpPr>
            <a:spLocks xmlns:a="http://schemas.openxmlformats.org/drawingml/2006/main" noGrp="1"/>
          </p:cNvSpPr>
          <p:nvPr/>
        </p:nvSpPr>
        <p:spPr>
          <a:xfrm xmlns:a="http://schemas.openxmlformats.org/drawingml/2006/main">
            <a:off x="857250" y="5077206"/>
            <a:ext cx="6400800" cy="75209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honest: MAE=2.2680 RMSE=2.7146 R2=0.49374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leaky: MAE=0.2852 RMSE=0.3342 R2=0.99233</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fixed: MAE=2.2680 RMSE=2.7146 R2=0.49374</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R2 jump: 0.4986</a:t>
            </a:r>
          </a:p>
        </p:txBody>
      </p:sp>
      <p:sp>
        <p:nvSpPr>
          <p:cNvPr id="11" name="explain-head">
            <a:extLst xmlns:a="http://schemas.openxmlformats.org/drawingml/2006/main">
              <a:ext uri="{FF2B5EF4-FFF2-40B4-BE49-F238E27FC236}">
                <a16:creationId xmlns:a16="http://schemas.microsoft.com/office/drawing/2014/main" id="{36C9F5BA-195E-4A50-80DC-BEDA0D09CAE4}"/>
              </a:ext>
            </a:extLst>
          </p:cNvPr>
          <p:cNvSpPr>
            <a:spLocks xmlns:a="http://schemas.openxmlformats.org/drawingml/2006/main" noGrp="1"/>
          </p:cNvSpPr>
          <p:nvPr/>
        </p:nvSpPr>
        <p:spPr>
          <a:xfrm xmlns:a="http://schemas.openxmlformats.org/drawingml/2006/main">
            <a:off x="7886700" y="228600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The entire lecture, in four printed lines</a:t>
            </a:r>
          </a:p>
        </p:txBody>
      </p:sp>
      <p:sp>
        <p:nvSpPr>
          <p:cNvPr id="12" name="explain-body">
            <a:extLst xmlns:a="http://schemas.openxmlformats.org/drawingml/2006/main">
              <a:ext uri="{FF2B5EF4-FFF2-40B4-BE49-F238E27FC236}">
                <a16:creationId xmlns:a16="http://schemas.microsoft.com/office/drawing/2014/main" id="{BDD21EBE-383B-4D88-8908-1598B3F44CBF}"/>
              </a:ext>
            </a:extLst>
          </p:cNvPr>
          <p:cNvSpPr>
            <a:spLocks xmlns:a="http://schemas.openxmlformats.org/drawingml/2006/main" noGrp="1"/>
          </p:cNvSpPr>
          <p:nvPr/>
        </p:nvSpPr>
        <p:spPr>
          <a:xfrm xmlns:a="http://schemas.openxmlformats.org/drawingml/2006/main">
            <a:off x="7886700" y="3071622"/>
            <a:ext cx="36957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Line 1 is the honest model. Line 2 is the AI's "improvement" — +0.4986 of R² bought entirely by a column derived from the target. Line 3 is the fix: drop the leaking feature, refit, and the honest numbers come back EXACTLY, which the final assert proves rather than asserts in prose. If that assert ever raised an AssertionError, the fix would not have been a fix.</a:t>
            </a:r>
          </a:p>
        </p:txBody>
      </p:sp>
    </p:spTree>
    <p:extLst>
      <p:ext uri="{BB962C8B-B14F-4D97-AF65-F5344CB8AC3E}">
        <p14:creationId xmlns:p14="http://schemas.microsoft.com/office/powerpoint/2010/main" val="208039530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06740D84-0996-4DAE-8CC4-1E7E15497DB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IN-CLASS CHECK</a:t>
            </a:r>
          </a:p>
        </p:txBody>
      </p:sp>
      <p:sp>
        <p:nvSpPr>
          <p:cNvPr id="2" name="title">
            <a:extLst xmlns:a="http://schemas.openxmlformats.org/drawingml/2006/main">
              <a:ext uri="{FF2B5EF4-FFF2-40B4-BE49-F238E27FC236}">
                <a16:creationId xmlns:a16="http://schemas.microsoft.com/office/drawing/2014/main" id="{4EA7A8ED-5870-4386-9646-9EB9CAB7389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Diagnose before you trust the metric</a:t>
            </a:r>
          </a:p>
        </p:txBody>
      </p:sp>
      <p:sp>
        <p:nvSpPr>
          <p:cNvPr id="3" name="">
            <a:extLst xmlns:a="http://schemas.openxmlformats.org/drawingml/2006/main">
              <a:ext uri="{FF2B5EF4-FFF2-40B4-BE49-F238E27FC236}">
                <a16:creationId xmlns:a16="http://schemas.microsoft.com/office/drawing/2014/main" id="{DE8AA064-2D66-4C6B-9107-ACEBA7F63E3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AB6600C-83D2-4EF8-B512-0F792D6F2AE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13 · Meeting A · Machine Learning I: Evaluated Prediction (Regression)</a:t>
            </a:r>
          </a:p>
        </p:txBody>
      </p:sp>
      <p:sp>
        <p:nvSpPr>
          <p:cNvPr id="5" name="page">
            <a:extLst xmlns:a="http://schemas.openxmlformats.org/drawingml/2006/main">
              <a:ext uri="{FF2B5EF4-FFF2-40B4-BE49-F238E27FC236}">
                <a16:creationId xmlns:a16="http://schemas.microsoft.com/office/drawing/2014/main" id="{B6983825-484E-4362-A3E5-9619613BB12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37</a:t>
            </a:r>
          </a:p>
        </p:txBody>
      </p:sp>
      <p:sp>
        <p:nvSpPr>
          <p:cNvPr id="6" name="exercise-accent">
            <a:extLst xmlns:a="http://schemas.openxmlformats.org/drawingml/2006/main">
              <a:ext uri="{FF2B5EF4-FFF2-40B4-BE49-F238E27FC236}">
                <a16:creationId xmlns:a16="http://schemas.microsoft.com/office/drawing/2014/main" id="{0C97CC0C-DDD3-4646-BC60-A35670C15C10}"/>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AB94F344-3DB6-4ED7-9C65-D9BB211705C1}"/>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A classmate's AI-scaffolded model reports R²=0.97 on this same eui_kwh_m2yr target, using 5 features that include est_annual_cost_index. Is this a good model?</a:t>
            </a:r>
          </a:p>
        </p:txBody>
      </p:sp>
      <p:sp>
        <p:nvSpPr>
          <p:cNvPr id="8" name="work-label">
            <a:extLst xmlns:a="http://schemas.openxmlformats.org/drawingml/2006/main">
              <a:ext uri="{FF2B5EF4-FFF2-40B4-BE49-F238E27FC236}">
                <a16:creationId xmlns:a16="http://schemas.microsoft.com/office/drawing/2014/main" id="{67CE79DF-3F18-4FF5-80F8-4AD6E6E30A39}"/>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22A4A461-76CE-499B-A579-279E04BD60FE}"/>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686C5E9C-AA97-48E0-BCF2-C92542014C6B}"/>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your prediction: legitimate improvement, or a red flag — and why?</a:t>
            </a:r>
          </a:p>
        </p:txBody>
      </p:sp>
      <p:sp>
        <p:nvSpPr>
          <p:cNvPr id="11" name="exercise-no-1">
            <a:extLst xmlns:a="http://schemas.openxmlformats.org/drawingml/2006/main">
              <a:ext uri="{FF2B5EF4-FFF2-40B4-BE49-F238E27FC236}">
                <a16:creationId xmlns:a16="http://schemas.microsoft.com/office/drawing/2014/main" id="{11953191-9F87-4F6F-A233-DA4D7E13687B}"/>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92A33D03-13EF-440E-B9F4-B1D3B0611AF0}"/>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Check: is any feature DERIVED from the target itself, not just correlated with it?</a:t>
            </a:r>
          </a:p>
        </p:txBody>
      </p:sp>
      <p:sp>
        <p:nvSpPr>
          <p:cNvPr id="13" name="exercise-no-2">
            <a:extLst xmlns:a="http://schemas.openxmlformats.org/drawingml/2006/main">
              <a:ext uri="{FF2B5EF4-FFF2-40B4-BE49-F238E27FC236}">
                <a16:creationId xmlns:a16="http://schemas.microsoft.com/office/drawing/2014/main" id="{E5908712-45BF-49B7-9119-AF9028EA8EEF}"/>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62CBE0B8-FB35-41C9-B76B-8BF688B636B9}"/>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Recall the correlation between est_annual_cost_index and eui_kwh_m2yr from this deck.</a:t>
            </a:r>
          </a:p>
        </p:txBody>
      </p:sp>
      <p:sp>
        <p:nvSpPr>
          <p:cNvPr id="15" name="exercise-no-3">
            <a:extLst xmlns:a="http://schemas.openxmlformats.org/drawingml/2006/main">
              <a:ext uri="{FF2B5EF4-FFF2-40B4-BE49-F238E27FC236}">
                <a16:creationId xmlns:a16="http://schemas.microsoft.com/office/drawing/2014/main" id="{C9FB19FD-8681-41A3-A202-29144CD79330}"/>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DDE34C6E-AF9E-4479-B350-106967ECA271}"/>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State the fix in one sentence, and what MAE/RMSE/R² you would expect after it.</a:t>
            </a:r>
          </a:p>
        </p:txBody>
      </p:sp>
    </p:spTree>
    <p:extLst>
      <p:ext uri="{BB962C8B-B14F-4D97-AF65-F5344CB8AC3E}">
        <p14:creationId xmlns:p14="http://schemas.microsoft.com/office/powerpoint/2010/main" val="1167914606"/>
      </p:ext>
    </p:extLst>
  </p:cSld>
</p:sld>
</file>

<file path=ppt/slides/slide38.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EC4F90AD-9214-4A92-971F-FEF9E124A21B}"/>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13 · MEETING A · MACHINE LEARNING I: EVALUATED PREDICTION (REGRESSION)</a:t>
            </a:r>
          </a:p>
        </p:txBody>
      </p:sp>
      <p:sp>
        <p:nvSpPr>
          <p:cNvPr id="2" name="close-title">
            <a:extLst xmlns:a="http://schemas.openxmlformats.org/drawingml/2006/main">
              <a:ext uri="{FF2B5EF4-FFF2-40B4-BE49-F238E27FC236}">
                <a16:creationId xmlns:a16="http://schemas.microsoft.com/office/drawing/2014/main" id="{57E02E27-8A1C-4385-BAB0-166A77C0C3E6}"/>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Fit fast. Trust only after you audit.</a:t>
            </a:r>
          </a:p>
        </p:txBody>
      </p:sp>
      <p:sp>
        <p:nvSpPr>
          <p:cNvPr id="3" name="">
            <a:extLst xmlns:a="http://schemas.openxmlformats.org/drawingml/2006/main">
              <a:ext uri="{FF2B5EF4-FFF2-40B4-BE49-F238E27FC236}">
                <a16:creationId xmlns:a16="http://schemas.microsoft.com/office/drawing/2014/main" id="{B5E6E990-BB9C-468C-98C5-2DE158E13225}"/>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44AD5416-7E71-475E-862D-F703C86BA965}"/>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1ABC4DB6-CFBF-48FD-A4E9-48F92600AF73}"/>
              </a:ext>
            </a:extLst>
          </p:cNvPr>
          <p:cNvSpPr>
            <a:spLocks xmlns:a="http://schemas.openxmlformats.org/drawingml/2006/main" noGrp="1"/>
          </p:cNvSpPr>
          <p:nvPr/>
        </p:nvSpPr>
        <p:spPr>
          <a:xfrm xmlns:a="http://schemas.openxmlformats.org/drawingml/2006/main">
            <a:off x="1409700" y="2705100"/>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A naive baseline (predict the mean) comes first — MAE=2.8906, R²≈-0.00003 defines "no better than guessing."</a:t>
            </a:r>
          </a:p>
        </p:txBody>
      </p:sp>
      <p:sp>
        <p:nvSpPr>
          <p:cNvPr id="6" name="take-no-1">
            <a:extLst xmlns:a="http://schemas.openxmlformats.org/drawingml/2006/main">
              <a:ext uri="{FF2B5EF4-FFF2-40B4-BE49-F238E27FC236}">
                <a16:creationId xmlns:a16="http://schemas.microsoft.com/office/drawing/2014/main" id="{BFBDB9D0-1C2E-4D61-9919-F4C12C1D29BB}"/>
              </a:ext>
            </a:extLst>
          </p:cNvPr>
          <p:cNvSpPr>
            <a:spLocks xmlns:a="http://schemas.openxmlformats.org/drawingml/2006/main" noGrp="1"/>
          </p:cNvSpPr>
          <p:nvPr/>
        </p:nvSpPr>
        <p:spPr>
          <a:xfrm xmlns:a="http://schemas.openxmlformats.org/drawingml/2006/main">
            <a:off x="609600" y="352882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28A76265-C0A9-4200-A515-64AD214F8B3A}"/>
              </a:ext>
            </a:extLst>
          </p:cNvPr>
          <p:cNvSpPr>
            <a:spLocks xmlns:a="http://schemas.openxmlformats.org/drawingml/2006/main" noGrp="1"/>
          </p:cNvSpPr>
          <p:nvPr/>
        </p:nvSpPr>
        <p:spPr>
          <a:xfrm xmlns:a="http://schemas.openxmlformats.org/drawingml/2006/main">
            <a:off x="1409700" y="3490722"/>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The AI-scaffolded 3-feature LinearRegression genuinely beats it: MAE=2.2680, R²=0.4937 — real, honest, imperfect.</a:t>
            </a:r>
          </a:p>
        </p:txBody>
      </p:sp>
      <p:sp>
        <p:nvSpPr>
          <p:cNvPr id="8" name="take-no-2">
            <a:extLst xmlns:a="http://schemas.openxmlformats.org/drawingml/2006/main">
              <a:ext uri="{FF2B5EF4-FFF2-40B4-BE49-F238E27FC236}">
                <a16:creationId xmlns:a16="http://schemas.microsoft.com/office/drawing/2014/main" id="{C93CD6C6-5E13-41FB-826F-84F194120757}"/>
              </a:ext>
            </a:extLst>
          </p:cNvPr>
          <p:cNvSpPr>
            <a:spLocks xmlns:a="http://schemas.openxmlformats.org/drawingml/2006/main" noGrp="1"/>
          </p:cNvSpPr>
          <p:nvPr/>
        </p:nvSpPr>
        <p:spPr>
          <a:xfrm xmlns:a="http://schemas.openxmlformats.org/drawingml/2006/main">
            <a:off x="609600" y="4314444"/>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895FA985-03E0-44D5-8B92-288186E5F5E5}"/>
              </a:ext>
            </a:extLst>
          </p:cNvPr>
          <p:cNvSpPr>
            <a:spLocks xmlns:a="http://schemas.openxmlformats.org/drawingml/2006/main" noGrp="1"/>
          </p:cNvSpPr>
          <p:nvPr/>
        </p:nvSpPr>
        <p:spPr>
          <a:xfrm xmlns:a="http://schemas.openxmlformats.org/drawingml/2006/main">
            <a:off x="1409700" y="4276344"/>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MAE, RMSE, R², and a residual plot are how you read HOW wrong a model still is — not just whether it "works."</a:t>
            </a:r>
          </a:p>
        </p:txBody>
      </p:sp>
      <p:sp>
        <p:nvSpPr>
          <p:cNvPr id="10" name="take-no-3">
            <a:extLst xmlns:a="http://schemas.openxmlformats.org/drawingml/2006/main">
              <a:ext uri="{FF2B5EF4-FFF2-40B4-BE49-F238E27FC236}">
                <a16:creationId xmlns:a16="http://schemas.microsoft.com/office/drawing/2014/main" id="{CF4A245C-CA49-4A6B-ACEB-9A5374383733}"/>
              </a:ext>
            </a:extLst>
          </p:cNvPr>
          <p:cNvSpPr>
            <a:spLocks xmlns:a="http://schemas.openxmlformats.org/drawingml/2006/main" noGrp="1"/>
          </p:cNvSpPr>
          <p:nvPr/>
        </p:nvSpPr>
        <p:spPr>
          <a:xfrm xmlns:a="http://schemas.openxmlformats.org/drawingml/2006/main">
            <a:off x="609600" y="510006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1A76B947-AC0B-407D-A8CE-CEA31F7BB16C}"/>
              </a:ext>
            </a:extLst>
          </p:cNvPr>
          <p:cNvSpPr>
            <a:spLocks xmlns:a="http://schemas.openxmlformats.org/drawingml/2006/main" noGrp="1"/>
          </p:cNvSpPr>
          <p:nvPr/>
        </p:nvSpPr>
        <p:spPr>
          <a:xfrm xmlns:a="http://schemas.openxmlformats.org/drawingml/2006/main">
            <a:off x="1409700" y="5061966"/>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A suspiciously high R² (0.9923 here) is not good news — it is the signal to check every feature's provenance for leakage.</a:t>
            </a:r>
          </a:p>
        </p:txBody>
      </p:sp>
    </p:spTree>
    <p:extLst>
      <p:ext uri="{BB962C8B-B14F-4D97-AF65-F5344CB8AC3E}">
        <p14:creationId xmlns:p14="http://schemas.microsoft.com/office/powerpoint/2010/main" val="4650995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2026-08-20T17:36:44.2830000Z</dcterms:created>
  <dcterms:modified xsi:type="dcterms:W3CDTF">2026-08-20T17:36:44.2830000Z</dcterms:modified>
</coreProperties>
</file>