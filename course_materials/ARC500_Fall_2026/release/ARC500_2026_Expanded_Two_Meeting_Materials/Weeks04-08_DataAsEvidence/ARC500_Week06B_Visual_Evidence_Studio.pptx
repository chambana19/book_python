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c1eceb0a2f40ea" /><Relationship Type="http://schemas.openxmlformats.org/officeDocument/2006/relationships/extended-properties" Target="/docProps/app.xml" Id="R0b3836d51a8344fe" /><Relationship Type="http://schemas.openxmlformats.org/officeDocument/2006/relationships/officeDocument" Target="/ppt/presentation.xml" Id="Rcc55245b4c4f4d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2f9cd104104b03"/>
  </p:sldMasterIdLst>
  <p:notesMasterIdLst>
    <p:notesMasterId xmlns:r="http://schemas.openxmlformats.org/officeDocument/2006/relationships" r:id="Rc7eb3aa5541f45ac"/>
  </p:notesMasterIdLst>
  <p:sldIdLst>
    <p:sldId xmlns:r="http://schemas.openxmlformats.org/officeDocument/2006/relationships" id="256" r:id="R52e27523a3c64fd1"/>
    <p:sldId xmlns:r="http://schemas.openxmlformats.org/officeDocument/2006/relationships" id="257" r:id="R7d256cb0e3704948"/>
    <p:sldId xmlns:r="http://schemas.openxmlformats.org/officeDocument/2006/relationships" id="258" r:id="R910484f9349649df"/>
    <p:sldId xmlns:r="http://schemas.openxmlformats.org/officeDocument/2006/relationships" id="259" r:id="Rcd535928aea441fb"/>
    <p:sldId xmlns:r="http://schemas.openxmlformats.org/officeDocument/2006/relationships" id="260" r:id="R2cac111f9aae4a91"/>
    <p:sldId xmlns:r="http://schemas.openxmlformats.org/officeDocument/2006/relationships" id="261" r:id="Rbafe7b7c5fb24ac5"/>
    <p:sldId xmlns:r="http://schemas.openxmlformats.org/officeDocument/2006/relationships" id="262" r:id="Rf144187c4298464f"/>
    <p:sldId xmlns:r="http://schemas.openxmlformats.org/officeDocument/2006/relationships" id="263" r:id="R897c8a860f5843bd"/>
    <p:sldId xmlns:r="http://schemas.openxmlformats.org/officeDocument/2006/relationships" id="264" r:id="R46c82d9cd8b34a85"/>
    <p:sldId xmlns:r="http://schemas.openxmlformats.org/officeDocument/2006/relationships" id="265" r:id="R4ab1c6ba6d014d5f"/>
    <p:sldId xmlns:r="http://schemas.openxmlformats.org/officeDocument/2006/relationships" id="266" r:id="R74c4934e8d5d4c94"/>
    <p:sldId xmlns:r="http://schemas.openxmlformats.org/officeDocument/2006/relationships" id="267" r:id="Rff2560014b7042e3"/>
    <p:sldId xmlns:r="http://schemas.openxmlformats.org/officeDocument/2006/relationships" id="268" r:id="R352fd2476a1042ae"/>
    <p:sldId xmlns:r="http://schemas.openxmlformats.org/officeDocument/2006/relationships" id="269" r:id="R19cccec50a6f414b"/>
    <p:sldId xmlns:r="http://schemas.openxmlformats.org/officeDocument/2006/relationships" id="270" r:id="R886a6cfcc2074c4c"/>
    <p:sldId xmlns:r="http://schemas.openxmlformats.org/officeDocument/2006/relationships" id="271" r:id="R6de03c34c4a04e52"/>
    <p:sldId xmlns:r="http://schemas.openxmlformats.org/officeDocument/2006/relationships" id="272" r:id="R6a566aaea75748e3"/>
    <p:sldId xmlns:r="http://schemas.openxmlformats.org/officeDocument/2006/relationships" id="273" r:id="R60fa354cf93044b3"/>
    <p:sldId xmlns:r="http://schemas.openxmlformats.org/officeDocument/2006/relationships" id="274" r:id="Ra3e48df8cd124337"/>
    <p:sldId xmlns:r="http://schemas.openxmlformats.org/officeDocument/2006/relationships" id="275" r:id="R1fe267766a4849cf"/>
    <p:sldId xmlns:r="http://schemas.openxmlformats.org/officeDocument/2006/relationships" id="276" r:id="Rc8b6493cc9ea4420"/>
    <p:sldId xmlns:r="http://schemas.openxmlformats.org/officeDocument/2006/relationships" id="277" r:id="Rfe1c14e6119d4c4d"/>
    <p:sldId xmlns:r="http://schemas.openxmlformats.org/officeDocument/2006/relationships" id="278" r:id="Rbf79854cd1254e55"/>
    <p:sldId xmlns:r="http://schemas.openxmlformats.org/officeDocument/2006/relationships" id="279" r:id="Re33be716c4954e1c"/>
    <p:sldId xmlns:r="http://schemas.openxmlformats.org/officeDocument/2006/relationships" id="280" r:id="Re723f6756d894ed6"/>
    <p:sldId xmlns:r="http://schemas.openxmlformats.org/officeDocument/2006/relationships" id="281" r:id="R5230565c0d9a4c6a"/>
    <p:sldId xmlns:r="http://schemas.openxmlformats.org/officeDocument/2006/relationships" id="282" r:id="R31a8b988fa954f1d"/>
    <p:sldId xmlns:r="http://schemas.openxmlformats.org/officeDocument/2006/relationships" id="283" r:id="R3dbb667387994ff4"/>
    <p:sldId xmlns:r="http://schemas.openxmlformats.org/officeDocument/2006/relationships" id="284" r:id="R1b39c6aa59bb4964"/>
    <p:sldId xmlns:r="http://schemas.openxmlformats.org/officeDocument/2006/relationships" id="285" r:id="Reaae1cd0a3784b2d"/>
    <p:sldId xmlns:r="http://schemas.openxmlformats.org/officeDocument/2006/relationships" id="286" r:id="R4c9880bf9cce4ca1"/>
    <p:sldId xmlns:r="http://schemas.openxmlformats.org/officeDocument/2006/relationships" id="287" r:id="R5587312b36864f1f"/>
    <p:sldId xmlns:r="http://schemas.openxmlformats.org/officeDocument/2006/relationships" id="288" r:id="R63c03224a57f4b8b"/>
    <p:sldId xmlns:r="http://schemas.openxmlformats.org/officeDocument/2006/relationships" id="289" r:id="R122a8e6943b24e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2739a1a66045df" /><Relationship Type="http://schemas.openxmlformats.org/officeDocument/2006/relationships/slideMaster" Target="/ppt/slideMasters/slideMaster1.xml" Id="R042f9cd104104b03" /><Relationship Type="http://schemas.openxmlformats.org/officeDocument/2006/relationships/notesMaster" Target="/ppt/notesMasters/notesMaster1.xml" Id="Rc7eb3aa5541f45ac" /><Relationship Type="http://schemas.openxmlformats.org/officeDocument/2006/relationships/presProps" Target="/ppt/presProps.xml" Id="Rf8c312ddb083451c" /><Relationship Type="http://schemas.openxmlformats.org/officeDocument/2006/relationships/tableStyles" Target="/ppt/tableStyles.xml" Id="R6dee14b2b3134d83" /><Relationship Type="http://schemas.openxmlformats.org/officeDocument/2006/relationships/slide" Target="/ppt/slides/slide1.xml" Id="R52e27523a3c64fd1" /><Relationship Type="http://schemas.openxmlformats.org/officeDocument/2006/relationships/slide" Target="/ppt/slides/slide2.xml" Id="R7d256cb0e3704948" /><Relationship Type="http://schemas.openxmlformats.org/officeDocument/2006/relationships/slide" Target="/ppt/slides/slide3.xml" Id="R910484f9349649df" /><Relationship Type="http://schemas.openxmlformats.org/officeDocument/2006/relationships/slide" Target="/ppt/slides/slide4.xml" Id="Rcd535928aea441fb" /><Relationship Type="http://schemas.openxmlformats.org/officeDocument/2006/relationships/slide" Target="/ppt/slides/slide5.xml" Id="R2cac111f9aae4a91" /><Relationship Type="http://schemas.openxmlformats.org/officeDocument/2006/relationships/slide" Target="/ppt/slides/slide6.xml" Id="Rbafe7b7c5fb24ac5" /><Relationship Type="http://schemas.openxmlformats.org/officeDocument/2006/relationships/slide" Target="/ppt/slides/slide7.xml" Id="Rf144187c4298464f" /><Relationship Type="http://schemas.openxmlformats.org/officeDocument/2006/relationships/slide" Target="/ppt/slides/slide8.xml" Id="R897c8a860f5843bd" /><Relationship Type="http://schemas.openxmlformats.org/officeDocument/2006/relationships/slide" Target="/ppt/slides/slide9.xml" Id="R46c82d9cd8b34a85" /><Relationship Type="http://schemas.openxmlformats.org/officeDocument/2006/relationships/slide" Target="/ppt/slides/slide10.xml" Id="R4ab1c6ba6d014d5f" /><Relationship Type="http://schemas.openxmlformats.org/officeDocument/2006/relationships/slide" Target="/ppt/slides/slide11.xml" Id="R74c4934e8d5d4c94" /><Relationship Type="http://schemas.openxmlformats.org/officeDocument/2006/relationships/slide" Target="/ppt/slides/slide12.xml" Id="Rff2560014b7042e3" /><Relationship Type="http://schemas.openxmlformats.org/officeDocument/2006/relationships/slide" Target="/ppt/slides/slide13.xml" Id="R352fd2476a1042ae" /><Relationship Type="http://schemas.openxmlformats.org/officeDocument/2006/relationships/slide" Target="/ppt/slides/slide14.xml" Id="R19cccec50a6f414b" /><Relationship Type="http://schemas.openxmlformats.org/officeDocument/2006/relationships/slide" Target="/ppt/slides/slide15.xml" Id="R886a6cfcc2074c4c" /><Relationship Type="http://schemas.openxmlformats.org/officeDocument/2006/relationships/slide" Target="/ppt/slides/slide16.xml" Id="R6de03c34c4a04e52" /><Relationship Type="http://schemas.openxmlformats.org/officeDocument/2006/relationships/slide" Target="/ppt/slides/slide17.xml" Id="R6a566aaea75748e3" /><Relationship Type="http://schemas.openxmlformats.org/officeDocument/2006/relationships/slide" Target="/ppt/slides/slide18.xml" Id="R60fa354cf93044b3" /><Relationship Type="http://schemas.openxmlformats.org/officeDocument/2006/relationships/slide" Target="/ppt/slides/slide19.xml" Id="Ra3e48df8cd124337" /><Relationship Type="http://schemas.openxmlformats.org/officeDocument/2006/relationships/slide" Target="/ppt/slides/slide20.xml" Id="R1fe267766a4849cf" /><Relationship Type="http://schemas.openxmlformats.org/officeDocument/2006/relationships/slide" Target="/ppt/slides/slide21.xml" Id="Rc8b6493cc9ea4420" /><Relationship Type="http://schemas.openxmlformats.org/officeDocument/2006/relationships/slide" Target="/ppt/slides/slide22.xml" Id="Rfe1c14e6119d4c4d" /><Relationship Type="http://schemas.openxmlformats.org/officeDocument/2006/relationships/slide" Target="/ppt/slides/slide23.xml" Id="Rbf79854cd1254e55" /><Relationship Type="http://schemas.openxmlformats.org/officeDocument/2006/relationships/slide" Target="/ppt/slides/slide24.xml" Id="Re33be716c4954e1c" /><Relationship Type="http://schemas.openxmlformats.org/officeDocument/2006/relationships/slide" Target="/ppt/slides/slide25.xml" Id="Re723f6756d894ed6" /><Relationship Type="http://schemas.openxmlformats.org/officeDocument/2006/relationships/slide" Target="/ppt/slides/slide26.xml" Id="R5230565c0d9a4c6a" /><Relationship Type="http://schemas.openxmlformats.org/officeDocument/2006/relationships/slide" Target="/ppt/slides/slide27.xml" Id="R31a8b988fa954f1d" /><Relationship Type="http://schemas.openxmlformats.org/officeDocument/2006/relationships/slide" Target="/ppt/slides/slide28.xml" Id="R3dbb667387994ff4" /><Relationship Type="http://schemas.openxmlformats.org/officeDocument/2006/relationships/slide" Target="/ppt/slides/slide29.xml" Id="R1b39c6aa59bb4964" /><Relationship Type="http://schemas.openxmlformats.org/officeDocument/2006/relationships/slide" Target="/ppt/slides/slide30.xml" Id="Reaae1cd0a3784b2d" /><Relationship Type="http://schemas.openxmlformats.org/officeDocument/2006/relationships/slide" Target="/ppt/slides/slide31.xml" Id="R4c9880bf9cce4ca1" /><Relationship Type="http://schemas.openxmlformats.org/officeDocument/2006/relationships/slide" Target="/ppt/slides/slide32.xml" Id="R5587312b36864f1f" /><Relationship Type="http://schemas.openxmlformats.org/officeDocument/2006/relationships/slide" Target="/ppt/slides/slide33.xml" Id="R63c03224a57f4b8b" /><Relationship Type="http://schemas.openxmlformats.org/officeDocument/2006/relationships/slide" Target="/ppt/slides/slide34.xml" Id="R122a8e6943b24e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68edde10e846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0340fdc8444f49" /><Relationship Type="http://schemas.openxmlformats.org/officeDocument/2006/relationships/notesMaster" Target="/ppt/notesMasters/notesMaster1.xml" Id="R25fa3b5a912d45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3cedd011b24934" /><Relationship Type="http://schemas.openxmlformats.org/officeDocument/2006/relationships/notesMaster" Target="/ppt/notesMasters/notesMaster1.xml" Id="Rd58167d8d0f841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1ccb30e72d4546" /><Relationship Type="http://schemas.openxmlformats.org/officeDocument/2006/relationships/notesMaster" Target="/ppt/notesMasters/notesMaster1.xml" Id="R782b6d0663b34d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560a84eebb4d0a" /><Relationship Type="http://schemas.openxmlformats.org/officeDocument/2006/relationships/notesMaster" Target="/ppt/notesMasters/notesMaster1.xml" Id="Rfbbe82a9d0f347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eef22869a94f44" /><Relationship Type="http://schemas.openxmlformats.org/officeDocument/2006/relationships/notesMaster" Target="/ppt/notesMasters/notesMaster1.xml" Id="R4c92fe1b549440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8ef765d41b4c04" /><Relationship Type="http://schemas.openxmlformats.org/officeDocument/2006/relationships/notesMaster" Target="/ppt/notesMasters/notesMaster1.xml" Id="Ra7be39295cb146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4e261f8fcf47a0" /><Relationship Type="http://schemas.openxmlformats.org/officeDocument/2006/relationships/notesMaster" Target="/ppt/notesMasters/notesMaster1.xml" Id="R4a6b3a95a4bc4a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8424dec6d84194" /><Relationship Type="http://schemas.openxmlformats.org/officeDocument/2006/relationships/notesMaster" Target="/ppt/notesMasters/notesMaster1.xml" Id="R50ccbaa773c04a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4cda4a1028445f" /><Relationship Type="http://schemas.openxmlformats.org/officeDocument/2006/relationships/notesMaster" Target="/ppt/notesMasters/notesMaster1.xml" Id="Raec0f603bbe34f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4a80fa8ee9424f" /><Relationship Type="http://schemas.openxmlformats.org/officeDocument/2006/relationships/notesMaster" Target="/ppt/notesMasters/notesMaster1.xml" Id="R7b8040cc26964d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74c7d4b145458b" /><Relationship Type="http://schemas.openxmlformats.org/officeDocument/2006/relationships/notesMaster" Target="/ppt/notesMasters/notesMaster1.xml" Id="Rf532e277fc6448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c086aded744dfe" /><Relationship Type="http://schemas.openxmlformats.org/officeDocument/2006/relationships/notesMaster" Target="/ppt/notesMasters/notesMaster1.xml" Id="R59244cc4080948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908804b70c4e67" /><Relationship Type="http://schemas.openxmlformats.org/officeDocument/2006/relationships/notesMaster" Target="/ppt/notesMasters/notesMaster1.xml" Id="Rc63b838d80314a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6fdd09d2884621" /><Relationship Type="http://schemas.openxmlformats.org/officeDocument/2006/relationships/notesMaster" Target="/ppt/notesMasters/notesMaster1.xml" Id="Rea5b7da355fb42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6ebea3d6484f37" /><Relationship Type="http://schemas.openxmlformats.org/officeDocument/2006/relationships/notesMaster" Target="/ppt/notesMasters/notesMaster1.xml" Id="R7b85bf9baf664e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f798fd27dd4e45" /><Relationship Type="http://schemas.openxmlformats.org/officeDocument/2006/relationships/notesMaster" Target="/ppt/notesMasters/notesMaster1.xml" Id="R379eaa0f6ca240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0af97a97814fc3" /><Relationship Type="http://schemas.openxmlformats.org/officeDocument/2006/relationships/notesMaster" Target="/ppt/notesMasters/notesMaster1.xml" Id="Rb0dc79c5a19943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7fce8e48ed4690" /><Relationship Type="http://schemas.openxmlformats.org/officeDocument/2006/relationships/notesMaster" Target="/ppt/notesMasters/notesMaster1.xml" Id="Rea02d5d4a6ab4cc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47e4616aad43e8" /><Relationship Type="http://schemas.openxmlformats.org/officeDocument/2006/relationships/notesMaster" Target="/ppt/notesMasters/notesMaster1.xml" Id="R72d43f3601d542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bfe0785f6a4b70" /><Relationship Type="http://schemas.openxmlformats.org/officeDocument/2006/relationships/notesMaster" Target="/ppt/notesMasters/notesMaster1.xml" Id="R9f365ed4519843c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b76678765af4a02" /><Relationship Type="http://schemas.openxmlformats.org/officeDocument/2006/relationships/notesMaster" Target="/ppt/notesMasters/notesMaster1.xml" Id="R0fe2a78480ad47b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9116452e624266" /><Relationship Type="http://schemas.openxmlformats.org/officeDocument/2006/relationships/notesMaster" Target="/ppt/notesMasters/notesMaster1.xml" Id="R76a81acc6847475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46cacf9acb543a2" /><Relationship Type="http://schemas.openxmlformats.org/officeDocument/2006/relationships/notesMaster" Target="/ppt/notesMasters/notesMaster1.xml" Id="R4433681cb27c4e7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f6006ff8dff4bba" /><Relationship Type="http://schemas.openxmlformats.org/officeDocument/2006/relationships/notesMaster" Target="/ppt/notesMasters/notesMaster1.xml" Id="R79e30992240b441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3ca2b51d5714445" /><Relationship Type="http://schemas.openxmlformats.org/officeDocument/2006/relationships/notesMaster" Target="/ppt/notesMasters/notesMaster1.xml" Id="R0bc63f4d5170412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11e613503014e31" /><Relationship Type="http://schemas.openxmlformats.org/officeDocument/2006/relationships/notesMaster" Target="/ppt/notesMasters/notesMaster1.xml" Id="R3c6f454f14b84fa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8ec7697a8cb4e8e" /><Relationship Type="http://schemas.openxmlformats.org/officeDocument/2006/relationships/notesMaster" Target="/ppt/notesMasters/notesMaster1.xml" Id="R5f00d85a250744e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9a3387587c84b6d" /><Relationship Type="http://schemas.openxmlformats.org/officeDocument/2006/relationships/notesMaster" Target="/ppt/notesMasters/notesMaster1.xml" Id="R09b18bb60345462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6c76637c8ff4f85" /><Relationship Type="http://schemas.openxmlformats.org/officeDocument/2006/relationships/notesMaster" Target="/ppt/notesMasters/notesMaster1.xml" Id="R65b9c95cc7fb490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f77190fa5ea481c" /><Relationship Type="http://schemas.openxmlformats.org/officeDocument/2006/relationships/notesMaster" Target="/ppt/notesMasters/notesMaster1.xml" Id="R9546196fa0194d5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1c0fcfd8344431e" /><Relationship Type="http://schemas.openxmlformats.org/officeDocument/2006/relationships/notesMaster" Target="/ppt/notesMasters/notesMaster1.xml" Id="Rb3a468cc64e54f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0e64128ecb94928" /><Relationship Type="http://schemas.openxmlformats.org/officeDocument/2006/relationships/notesMaster" Target="/ppt/notesMasters/notesMaster1.xml" Id="Ra91442bbb46d497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2f2a5153c0243f8" /><Relationship Type="http://schemas.openxmlformats.org/officeDocument/2006/relationships/notesMaster" Target="/ppt/notesMasters/notesMaster1.xml" Id="R9dfe5ba083df4eb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6dc45b6609e488b" /><Relationship Type="http://schemas.openxmlformats.org/officeDocument/2006/relationships/notesMaster" Target="/ppt/notesMasters/notesMaster1.xml" Id="R1829c48f777e4a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Open by naming today's exact output: four saved files (three .png, one .gif), first on Radley Hall, then repeated on each student's own dataset before the session ends.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Name outcome 4 as today's actual grading target -- the Radley Hall work is the supported practice, not the submission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Write the four-part shape on the board -- students should be able to name all four before opening their handout.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Keep this to a 90-second recall, not a re-teach -- confirm every student can open their Week 6 handout and locate building_rooms.csv.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State the transfer expectation early and explicitly -- this reframes today's Radley Hall work as supported practice for the real deliverable, not the deliverable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This is the literal cell order of the Week 6 handout -- point students to cells [0] through [8] as this process maps onto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Have every student run this cell and read their console output aloud to a neighbor before moving on -- a mismatch here (e.g., a stray extra row) should be caught now, not after four figures are built.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Expected: energy_counts.sum() == 23, energy_counts[-1] == 1 (room R306 alone in the top bin). Circulate for students who called ax.hist on the column WITHOUT .dropna() -- flag it now, it becomes the AI-audit topic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Point at the docstring and both type-hint-free-but-documented parameters -- remind students the Week 4 convention (docstring + basic type hint on every function) still applies.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Walk the four chips left to right: the result table, the source table, the grouping parameter, and the named aggregations -- this is the exact call inside make_comparison_chart.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Most students assume round() either touches every column or errors on a mixed-dtype table -- neither happens; it silently skips columns that are not floats.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Confirm every student's console matches these two rows before moving on -- a mismatch here means an unfiltered or mis-typed column name, not a plotting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Point out this line was easy to skim past inside the function on the previous slides -- it earns its own slide because it only matters once a plotting function runs more than once, which is exactly what today's studio does three times.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https://matplotlib.org/stable/tutorials/lifecycle.html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These are the exact Week 5 numbers -- if a student's bar chart shows different values, the bug is almost always an unfiltered or mis-typed column name, not a plotting error.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why south is n=11, not 12, here -- room R206's missing energy value is dropped by the dropna(subset=[y_col]) line, the same missing value from Week 4's trustworthiness interview.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https://matplotlib.org/stable/users/explain/colors/colormaps.html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Remind students R309 is North zone (120.0 m2, 68.0 kWh/m2/yr) -- a student who mislabels its zone will place it in the wrong-colored group when they check their own scatter.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https://matplotlib.org/stable/users/explain/colors/colormaps.html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Walk chip by chip: ax is the same object as the scatter above; annotate() bundles the label and arrow; xy is the aiming point, xytext is where the box of text sits -- swapping the two doesn't error, it just points at the wrong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https://matplotlib.org/stable/users/explain/colors/colormaps.html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Watch for xy/xytext confusion -- an arrow pointing at empty space instead of a dot is the single most common error in this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what the .gif would look like if ax.set_xlim/ax.set_ylim were left out of update() -- the axes would rescale to fit each frame's own smaller data, making bar heights look inconsistent even though the values are not changing.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https://matplotlib.org/stable/tutorials/lifecycle.html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fig, ax, n_rooms, and plot_df sit outside update() -- created once, then reused every frame; only update()'s own lines repeat.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https://matplotlib.org/stable/tutorials/lifecycle.html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Require the printed CAPTION line as evidence the animation was actually run and inspected, not merely saved and forgotten.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this is exactly why cell [5] both sets ax.set_title() inside update() AND prints a separate CAPTION string -- two different audiences, two different places.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If a student's .gif shows bars piling up across frames rather than being redrawn cleanly, they are missing ax.clear() at the top of update() -- point them back to the previous slide's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Say plainly: today's four required exports are this WEEK's assignment, not Project 1's own requirement. Project 1 Part III needs only two figures, and Part IV's .gif is one of two optional evidence-extension choices, alongside Week 7's map -- not an unconditional requirement. This recurs at Week 7 and Week 8's clinic.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Have students check their own four cells against this table before moving to the required self-check -- catching a slip here is cheaper than after the self-check's asserts fail.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notes: Expected: floor_summary.loc[1,"n"]==7, [2,"n"]==8, [3,"n"]==9; floor 3's mean_value is the highest of the three; area_counts.sum()==24. This is cell [6] of the handout -- a graded requirement, not an optional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Most students assume np.histogram behaves like ax.hist() and quietly skips the NaN -- it does not. Let them commit to an answer before revealing the real crash on the next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Let a student run this live and read the traceback out loud before explaining it -- reading the actual error, not guessing, is the habit this cell is building.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The answer to step 2: Axes.hist() filters non-finite values internally before it ever calls np.histogram; a bare np.histogram() call does not. The two are not interchangeable on data with missing values, even though they look equivalent.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is cell [8] of the handout. Remind students make_relationship_chart still hardcodes "North"/"South" -- copying it unchanged onto a dataset without those exact zone values is itself a plausible AI-suggested shortcut worth rejecting.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14 minutes.</a:t>
            </a:r>
          </a:p>
          <a:p xmlns:a="http://schemas.openxmlformats.org/drawingml/2006/main">
            <a:r>
              <a:t>Teaching notes: Circulate room to room. Common blocker: a student's own dataset has no natural two-category column for make_comparison_chart -- help them bin a numeric column into 2-3 categories rather than skipping the comparison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Say the 70% cap out loud -- this is a compliance gate from the course grading framework, not a suggestion.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Show one figure in grayscale or ask students to squint: if the categories disappear, color is carrying too much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https://matplotlib.org/stable/users/explain/colors/colormaps.html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Exit check: ask each student to name, out loud, which room or row their OWN relationship figure annotates, and why.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1d25bf9af42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ade20c695f4d89" /><Relationship Type="http://schemas.openxmlformats.org/officeDocument/2006/relationships/slideLayout" Target="/ppt/slideLayouts/slideLayout1.xml" Id="R317bcaab606946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7bcaab606946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c848e7e0243d1" /><Relationship Type="http://schemas.openxmlformats.org/officeDocument/2006/relationships/notesSlide" Target="/ppt/notesSlides/notesSlide1.xml" Id="Racfeb5f06f2747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deeebe29c49f9" /><Relationship Type="http://schemas.openxmlformats.org/officeDocument/2006/relationships/notesSlide" Target="/ppt/notesSlides/notesSlide2.xml" Id="Rdfd6a6e2cc104d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59cafb8ea4fdf" /><Relationship Type="http://schemas.openxmlformats.org/officeDocument/2006/relationships/notesSlide" Target="/ppt/notesSlides/notesSlide3.xml" Id="R89594f5fac5346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3364525d44cc0" /><Relationship Type="http://schemas.openxmlformats.org/officeDocument/2006/relationships/notesSlide" Target="/ppt/notesSlides/notesSlide4.xml" Id="Rff29a28abfae4d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18654e9a84c87" /><Relationship Type="http://schemas.openxmlformats.org/officeDocument/2006/relationships/notesSlide" Target="/ppt/notesSlides/notesSlide5.xml" Id="Rffa79b1b677447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711f5bc224bb3" /><Relationship Type="http://schemas.openxmlformats.org/officeDocument/2006/relationships/notesSlide" Target="/ppt/notesSlides/notesSlide6.xml" Id="R1fc873961cc54a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3fb52ad344a6b" /><Relationship Type="http://schemas.openxmlformats.org/officeDocument/2006/relationships/notesSlide" Target="/ppt/notesSlides/notesSlide7.xml" Id="R2c481e545a6244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941beee504776" /><Relationship Type="http://schemas.openxmlformats.org/officeDocument/2006/relationships/notesSlide" Target="/ppt/notesSlides/notesSlide8.xml" Id="R6ca7a6e1538d46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33889d2404891" /><Relationship Type="http://schemas.openxmlformats.org/officeDocument/2006/relationships/notesSlide" Target="/ppt/notesSlides/notesSlide9.xml" Id="R99243ed226464d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612af63f34e84" /><Relationship Type="http://schemas.openxmlformats.org/officeDocument/2006/relationships/notesSlide" Target="/ppt/notesSlides/notesSlide10.xml" Id="R7a8b84740ed144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64067cf9f48a1" /><Relationship Type="http://schemas.openxmlformats.org/officeDocument/2006/relationships/notesSlide" Target="/ppt/notesSlides/notesSlide11.xml" Id="R36b985c90a2e40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ca4c2a73349e7" /><Relationship Type="http://schemas.openxmlformats.org/officeDocument/2006/relationships/notesSlide" Target="/ppt/notesSlides/notesSlide12.xml" Id="R433073c820e14f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58fc771d4466c" /><Relationship Type="http://schemas.openxmlformats.org/officeDocument/2006/relationships/notesSlide" Target="/ppt/notesSlides/notesSlide13.xml" Id="R0a8cf4cdb8ac4e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b57f45c0f471a" /><Relationship Type="http://schemas.openxmlformats.org/officeDocument/2006/relationships/notesSlide" Target="/ppt/notesSlides/notesSlide14.xml" Id="R71dd061b6deb42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a8fd4c9f14aba" /><Relationship Type="http://schemas.openxmlformats.org/officeDocument/2006/relationships/notesSlide" Target="/ppt/notesSlides/notesSlide15.xml" Id="R5331406ae85947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924a8111447b1" /><Relationship Type="http://schemas.openxmlformats.org/officeDocument/2006/relationships/notesSlide" Target="/ppt/notesSlides/notesSlide16.xml" Id="Rc19c68d457e746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7abdd0bdb40b6" /><Relationship Type="http://schemas.openxmlformats.org/officeDocument/2006/relationships/notesSlide" Target="/ppt/notesSlides/notesSlide17.xml" Id="R447dc529a61642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e09d3fc59453b" /><Relationship Type="http://schemas.openxmlformats.org/officeDocument/2006/relationships/notesSlide" Target="/ppt/notesSlides/notesSlide18.xml" Id="R7f8c5fec62be40c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46f621dc04f5b" /><Relationship Type="http://schemas.openxmlformats.org/officeDocument/2006/relationships/notesSlide" Target="/ppt/notesSlides/notesSlide19.xml" Id="R048e57a456e045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6a4b9d6034737" /><Relationship Type="http://schemas.openxmlformats.org/officeDocument/2006/relationships/notesSlide" Target="/ppt/notesSlides/notesSlide20.xml" Id="R8393824c7d6648c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77b19bf1c4ed3" /><Relationship Type="http://schemas.openxmlformats.org/officeDocument/2006/relationships/notesSlide" Target="/ppt/notesSlides/notesSlide21.xml" Id="R662be9eb6eb541d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65e17fbb44939" /><Relationship Type="http://schemas.openxmlformats.org/officeDocument/2006/relationships/notesSlide" Target="/ppt/notesSlides/notesSlide22.xml" Id="R5b5d33720279425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9e958b8054554" /><Relationship Type="http://schemas.openxmlformats.org/officeDocument/2006/relationships/notesSlide" Target="/ppt/notesSlides/notesSlide23.xml" Id="R2c7f2d08007c4d4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55fcb61724cc5" /><Relationship Type="http://schemas.openxmlformats.org/officeDocument/2006/relationships/notesSlide" Target="/ppt/notesSlides/notesSlide24.xml" Id="R35ebeee7552748f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0e5fe4ce14fbb" /><Relationship Type="http://schemas.openxmlformats.org/officeDocument/2006/relationships/notesSlide" Target="/ppt/notesSlides/notesSlide25.xml" Id="R8f997b7d003d420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7f8580dba4991" /><Relationship Type="http://schemas.openxmlformats.org/officeDocument/2006/relationships/notesSlide" Target="/ppt/notesSlides/notesSlide26.xml" Id="Rcd484969936c4a5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0c884e92241ae" /><Relationship Type="http://schemas.openxmlformats.org/officeDocument/2006/relationships/notesSlide" Target="/ppt/notesSlides/notesSlide27.xml" Id="R0a2c4f11035c470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c0faa5d8947fd" /><Relationship Type="http://schemas.openxmlformats.org/officeDocument/2006/relationships/notesSlide" Target="/ppt/notesSlides/notesSlide28.xml" Id="Rc087436a8e6e48b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a64e48dfc4f40" /><Relationship Type="http://schemas.openxmlformats.org/officeDocument/2006/relationships/notesSlide" Target="/ppt/notesSlides/notesSlide29.xml" Id="Rc3bc2344b5a446a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9cd9fdb614ad3" /><Relationship Type="http://schemas.openxmlformats.org/officeDocument/2006/relationships/notesSlide" Target="/ppt/notesSlides/notesSlide30.xml" Id="Rc86050a1b5b1446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efd101a894494" /><Relationship Type="http://schemas.openxmlformats.org/officeDocument/2006/relationships/notesSlide" Target="/ppt/notesSlides/notesSlide31.xml" Id="Rcf8317e6fe0547c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264f0ad4f4e1a" /><Relationship Type="http://schemas.openxmlformats.org/officeDocument/2006/relationships/notesSlide" Target="/ppt/notesSlides/notesSlide32.xml" Id="Ra5c3fb3d17fc4f4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ce4878b3c4ea5" /><Relationship Type="http://schemas.openxmlformats.org/officeDocument/2006/relationships/notesSlide" Target="/ppt/notesSlides/notesSlide33.xml" Id="Rbf9de3caadd2472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a1b9357b342bf" /><Relationship Type="http://schemas.openxmlformats.org/officeDocument/2006/relationships/notesSlide" Target="/ppt/notesSlides/notesSlide34.xml" Id="R385d41f7ffd24a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C857D9AE-4F6C-4F13-86BC-EC26B47E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C6B4571A-859C-4494-AAC5-80F6140A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BE30B494-2AE6-4E56-B83C-060DAE03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2D633523-5B00-477C-9F2D-B3546F59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6 · MEETING B · VISUAL EVIDENCE STUDIO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69DC73D6-D0FA-4C7F-B9DD-99A77451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three static figures and one captioned .gif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F6E3175-0993-4622-9987-AE6D2C98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Meeting B · distribution, comparison, and relationship charts, plus a FuncAnimation, saved and captioned -- then applied to your own Project 1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9B69D-197C-4538-BC86-B0DF5AFB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B6165D4D-91D1-48E5-8C9B-D2E95622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1889578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BDF8109A-8364-4601-97E2-F1250C15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089D56D-2BE6-4A4D-B6F1-0B21989B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4F935-639E-4F62-AD85-2B65B686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7A30616-30B5-479B-9155-955393C9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54BE838-1ADD-4542-A5BF-3AB2C9E7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BD7ADCAE-9CD5-4E7D-8E14-F35D090C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68EC365A-B37E-449B-AED2-69D332BF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96B5BD6C-9F15-4944-9E29-4D0F33CC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Build a labeled distribution, comparison, and relationship figure using the fig, ax pattern from Monday.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6FE577F7-A9C5-4FA8-A815-2C6DD27B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42B3B0D9-FAAB-4765-BB15-4F06C4A0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Annotate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73174913-D2CE-487C-918D-CD4CA33C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Annotate at least one outlier directly on a figure, reusing a Week 5 outlier-audit finding.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DD378461-9C64-4B39-A6CB-3FFCCE03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2A80F73F-DD16-4B6F-975E-A078016A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Animate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8D150621-63AA-4239-973C-C0C709B4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Build one FuncAnimation and save it as a captioned .gif.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BA4FF628-03E6-4439-96D0-CBEFF85A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E208AB07-7867-494B-A97B-13F6DBFE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90EFB71E-2C06-4A89-9E09-64D3AB17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Apply the identical pipeline, unchanged in structure, to your OWN Project 1 dataset.</a:t>
            </a:r>
          </a:p>
        </p:txBody>
      </p:sp>
    </p:spTree>
    <p:extLst>
      <p:ext uri="{BB962C8B-B14F-4D97-AF65-F5344CB8AC3E}">
        <p14:creationId xmlns:p14="http://schemas.microsoft.com/office/powerpoint/2010/main" val="2042393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BA5988A4-F3E0-440D-B4FD-E2A82592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BC5B56-BCC5-48E9-9E20-BB917166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4982E-0CA0-48C9-ADEE-4655540C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D905929-7384-4EB5-9D8E-83C55D62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F2BD131-B1A9-459B-8788-FA37D926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0D3F7F99-EF36-4FD1-A920-886E05E3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8BE0A-9322-4FFF-A059-912A39F7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07788F1A-8CA1-4411-BE26-CAF08AD0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Radley Hall and today's four terms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D6CBBF3F-4568-45D9-9A91-5BF9A982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889F5-7F5B-4EC6-BC10-62FAB63D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06F41858-42C0-4EC1-B715-39323C57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Distribution, comparison, and relationship: build and save three figures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647FEC34-014F-4580-AA95-F6B12A5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3E78A-3AD2-4EF6-BBB9-114DC034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C204EACE-158F-4BE4-9008-29E12F7E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Dynamic evidence: animate and save a captioned .gif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E903207F-D6B8-43D6-A045-3E216229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7C25A-A398-42E3-A57F-EC4E49E8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AC473AA3-4406-4D8B-B393-0C4C0CBB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Self-check, AI audit, and apply the pipeline to your own dataset</a:t>
            </a:r>
          </a:p>
        </p:txBody>
      </p:sp>
    </p:spTree>
    <p:extLst>
      <p:ext uri="{BB962C8B-B14F-4D97-AF65-F5344CB8AC3E}">
        <p14:creationId xmlns:p14="http://schemas.microsoft.com/office/powerpoint/2010/main" val="190649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7507E6AA-5679-4B94-A286-BD73ED83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8F9671-5E38-40FD-AFD3-5D52DD6D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Monday's four terms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94858-FC40-44A9-9B84-A940845F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577044F-E4B7-4503-8E4C-70815D7E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4423FDA-B32F-485E-AD71-1BD187FB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FC327-64ED-4747-A4BD-9BE10E46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EC77F70A-7574-4362-8D96-A26780D8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20D5C-F5FB-43B4-8CAD-85817134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288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EF1E96D4-F675-4C82-8DCB-BDF06353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050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D3671-9C0D-4577-9EEB-133F8A32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288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487A6292-C7B7-43CB-B38B-99070210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05075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E1BD6-EB39-4C3A-8A9D-AF735B97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CCB0AC12-72E5-40E6-9AA3-D5DA8ACF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fig, 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F3BC0-6BE3-4B70-82AF-6AFAFFA3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622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E9503776-FDBD-42C3-944E-D923B244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384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whole figure, and one plot area within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5FA94-2E54-4CF2-9125-7AE5F6F5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6227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DC2B0D4A-6B63-48AF-9B69-AF8244B7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3847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fig, ax = plt.subplots()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27096-1746-42D2-9715-9D98EA9A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3295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2067623D-E19A-4657-8FF9-01909DCC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9495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Visual encoding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69AAF3-903C-4940-B462-5C42F0F8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03295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E53B116A-B5E2-4C5D-8D22-3A55CD52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79495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mapping from a data value to a visual property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D4386-5EF8-4828-B55E-67BE3E17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03295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0FE127A6-BB7B-4D37-8DE6-D996E6ED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79495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Bar height, marker position, color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F430B-BF82-4833-A812-C54B79F1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7777BF65-ED38-4F75-BB5B-D177562D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Annotation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F5F740-3A54-4FD8-93FB-31514FE5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3862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7DA69468-CA26-4243-9D36-B7472D99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1482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text label pointing at one specific data point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F523A7-0912-446A-8A57-11BA890C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38625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4976D3AE-B6B5-44FC-B5B1-88B3B1B9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14825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ax.annotate(text, xy=..., xytext=...)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96FB42-BEA0-49E5-A0E3-D66C314F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9645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6703FBFB-8133-4101-B314-3EF60343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5845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FuncAnimation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DEEC4B-7AFF-45FE-9E83-501315AC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79645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B7A48315-510A-44B1-B7D4-880805AE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55845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Calls update(frame) once per frame; can be saved as a .gif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0A3D3B-9A9B-45AB-AAAE-0E2D066D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79645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C2AEDB2B-890D-42B6-AFB3-8A63FD46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55845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animation.FuncAnimation(fig, update, frames=n)</a:t>
            </a:r>
          </a:p>
        </p:txBody>
      </p:sp>
      <p:sp>
        <p:nvSpPr>
          <p:cNvPr id="3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2FA9DF08-E1B2-4B35-B613-4ACC808A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7" name="callout">
            <a:extLst xmlns:a="http://schemas.openxmlformats.org/drawingml/2006/main">
              <a:ext uri="{FF2B5EF4-FFF2-40B4-BE49-F238E27FC236}">
                <a16:creationId xmlns:a16="http://schemas.microsoft.com/office/drawing/2014/main" id="{B1AD60CE-A173-4F12-9E88-29F075A2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All four terms came from Monday's Meeting A -- today applies them on Radley Hall, then on your own dataset.</a:t>
            </a:r>
          </a:p>
        </p:txBody>
      </p:sp>
    </p:spTree>
    <p:extLst>
      <p:ext uri="{BB962C8B-B14F-4D97-AF65-F5344CB8AC3E}">
        <p14:creationId xmlns:p14="http://schemas.microsoft.com/office/powerpoint/2010/main" val="900290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4F9C625A-EF75-4986-ABA3-1572BC1F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F5A0C9-AF91-4877-A42B-3E9FB11C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three chart TYPES, not one chart three times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D80F8-6729-47B6-86D6-4C514188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493F432-C1FD-4597-ABA6-4BCE2FB6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983ADE6-F4DD-421D-B32C-BC511C3C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C0EBD3F9-AD50-4468-9D43-B56593F9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dataset, three honest questions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584D32F7-A71C-4BFA-A849-938A3BB0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2186"/>
            <a:ext cx="5219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Distribution, comparison, and relationship are three DIFFERENT questions about the same 24 rooms -- not three decorations of the same finding. Each needs its own encoding, chosen Monday before any code was written.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4DEA89D1-B9D8-471E-9F65-3D4C7B93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Today's transfer expectation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BFD41E8C-E355-451D-A89E-3C30A813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12186"/>
            <a:ext cx="5219700" cy="1932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Most functions you write on Radley Hall today carry over to YOUR OWN Project 1 dataset by changing only column-name arguments. make_relationship_chart is the one exception -- it also needs its hardcoded group values and annotated room updated, not just new column names.</a:t>
            </a:r>
          </a:p>
        </p:txBody>
      </p:sp>
    </p:spTree>
    <p:extLst>
      <p:ext uri="{BB962C8B-B14F-4D97-AF65-F5344CB8AC3E}">
        <p14:creationId xmlns:p14="http://schemas.microsoft.com/office/powerpoint/2010/main" val="7986990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DC20423B-1838-4244-AB7A-15A7EA56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5BDF37B-ED62-474A-8E69-16AB563D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Today's build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7FB76-5DBE-4266-BF9E-181F8EDD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77AD1A6-201B-4722-A8BA-92B65DF0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3AC7C89-3AFE-40A1-9277-4791C995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7A552360-10DE-4640-AA9B-7CF24943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315A7554-1E1C-4762-9D10-4A2802E1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A832C4F0-F44F-4C20-BC4D-D16B1FD0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493C9184-024F-4342-81EB-74C60E7B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A3BA3998-35F9-4C8C-88FF-8D45E5B3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57C35A69-FC25-49FB-938D-9EFEE516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F0DDA-AE29-4AE0-B03E-39F18469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89FE8B0F-65D6-4D7A-ADBA-F3E465D1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the data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0858786-46E6-4061-B531-EBEB1EEA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building_rooms.csv still loads at (24, 12), one missing energy value -- same as Weeks 4 and 5.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22CC797C-1A38-4D6D-B183-C049B0AD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8EDAB766-D156-4D32-B664-B9735474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57661ECA-0FDD-4CE5-99AA-2736AD97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8837B-1451-4F3A-8477-D8F253FC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E63FE05F-4FE8-4323-B34D-D92FF6CD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chart at a time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868095BF-C203-46E7-AD59-14588CF9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Distribution, then comparison, then relationship -- each function written, called, and saved before moving to the next.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80154660-B0AF-4533-B194-049A48FE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15D33D46-4676-4CF2-874B-74AA1A70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CA4608CA-208C-4E15-BF49-A6026418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ANIMATE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5849A0-6104-4A94-B81D-A70C830C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4CECD497-65AD-43BA-B9EE-8A170885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captioned .gif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DC1C281B-51A8-42CD-A368-4438E88F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Progressive-reveal animation, saved with a one-sentence caption describing what it shows.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2AAD4A51-3C1E-42A3-8AAA-0D7FBFFA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6A2EC9AD-187C-49DE-B457-051DE81F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BFFE90CD-0859-455C-AF56-5AD3E94E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1B70FC-D2C3-42F4-891A-757126E3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AF183503-0E9B-4C94-9331-2701350D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Repeat on your own data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58972018-B444-4633-89C6-E07CBE7F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Same four functions, adapted column names, applied to your own Project 1 dataset.</a:t>
            </a:r>
          </a:p>
        </p:txBody>
      </p:sp>
    </p:spTree>
    <p:extLst>
      <p:ext uri="{BB962C8B-B14F-4D97-AF65-F5344CB8AC3E}">
        <p14:creationId xmlns:p14="http://schemas.microsoft.com/office/powerpoint/2010/main" val="1885256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DE3094C7-33DF-4103-A7DE-CB7A0C1F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BAD7D2-97E0-40E9-A15B-45F03E67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the data before building anything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E184D-9AB3-40C3-BC00-83F457E1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3428FE0-708D-40F0-BFDA-AEB21EC2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8ADCD77-1A4D-4643-A020-513381F9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BB900E19-6AAA-4512-8008-80CF1785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F63F8BD3-48AD-4A3A-A9F4-A32D4AD8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pathlib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pandas as pd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matplotlib.pyplot as plt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matplotlib.animation as animation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df = pd.read_csv("building_rooms.csv")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print(df.shape)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print(df["energy_kwh_m2_yr"].isna().sum())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9FEE0-EF24-4866-AFDA-2810E61A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02DD420C-D7C8-46FC-849F-DAD255DD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67ABDCE3-6FF6-425C-BED1-50CA12F9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(24, 12)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8C2AA5AB-BC3A-4495-8E39-0CD6E906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05075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dataset, same missing value, from Week 4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3BE80E19-E8DD-4E5A-801F-D661E2CB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78733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This is cell [0] of your handout. If shape or the missing-value count is ever wrong here, every figure built afterward is evidence about the wrong data -- confirm this cell before touching cell [1].</a:t>
            </a:r>
          </a:p>
        </p:txBody>
      </p:sp>
    </p:spTree>
    <p:extLst>
      <p:ext uri="{BB962C8B-B14F-4D97-AF65-F5344CB8AC3E}">
        <p14:creationId xmlns:p14="http://schemas.microsoft.com/office/powerpoint/2010/main" val="146681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F875A1CE-2963-4007-8BDB-4588920F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F86794-57E7-4655-ACEE-657B1520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1: build and save the distribution chart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DFF9A-623D-4D6C-959E-8E1824D2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A3D936A-DFD2-4247-90BD-4DB8BF44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0A2A3BB-3258-4EF7-9630-CD26C945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701C97B0-DC85-4BDD-ADE5-E9A96A37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64EFF916-DA87-46C9-B8E4-FFB573D4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make_distribution_chart in cell [1] of your handout.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C08B51AB-40B7-4F61-91AE-FAA2CFA6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E3713DDF-62CA-4213-892C-A738884C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F5470788-5E50-4584-8725-890723BB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Call np.histogram on the dropna'd column first, and print the counts before writing any chart code.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38E0D90F-76A4-4A68-8792-DFCF69E7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B49208CE-2B92-427C-9052-8B730CA2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Inside the function, call ax.hist with the same bins, a fill color, and edgecolor="white".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66B10D71-DF41-4320-82A4-9B07C4C7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F57AC5E9-82F3-483F-95E3-DA36268C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Label both axes with units and add a title, before calling fig.savefig().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BD4E73B5-0CB2-4207-A976-483D1006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8AD6E5E6-7E44-4005-A98E-69884CB9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energy_distribution.png appears in the Files pane, and your printed counts match [13 9 0 0 0 1].</a:t>
            </a:r>
          </a:p>
        </p:txBody>
      </p:sp>
    </p:spTree>
    <p:extLst>
      <p:ext uri="{BB962C8B-B14F-4D97-AF65-F5344CB8AC3E}">
        <p14:creationId xmlns:p14="http://schemas.microsoft.com/office/powerpoint/2010/main" val="8858669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C4A9457C-838D-41B1-BEAB-7D5757B5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B2321A-E84A-4148-AB59-1BF1B483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Comparison chart, as one reusable function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8625E-2240-44E7-A493-AFA9B94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9D643D8-6287-49B1-ACB2-7E27C08C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1098CE7-DAD2-4382-BA6C-35E1A123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36B06E8-9703-4ED3-96AC-362FC3F4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AFEACBF6-726E-4063-AD72-EA0587EA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make_comparison_chart(df, group_col, value_col, out_path):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"""Bar chart of group means; returns the summary table."""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summary = df.groupby(group_col).agg(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mean_value=(value_col, "mean"),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n=("room_id", "count"),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).round(2)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fig, ax = plt.subplots(figsize=(6,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ax.bar(summary.index.astype(str), summary["mean_value"], color="#3D8DFF")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# ... axis labels, a title, and fig.savefig(out_path) as usual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plt.close(fig)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summary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71A3DCAD-1177-4CB1-BA42-399270EA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81275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group_col and value_col are parameters, not fixed names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8E479C22-9E96-4710-AF88-9DA68470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4933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This exact function is called again in the self-check with "floor" instead of "zone", and again in Studio time with your own dataset's column names -- only the arguments change, never the body.</a:t>
            </a:r>
          </a:p>
        </p:txBody>
      </p:sp>
    </p:spTree>
    <p:extLst>
      <p:ext uri="{BB962C8B-B14F-4D97-AF65-F5344CB8AC3E}">
        <p14:creationId xmlns:p14="http://schemas.microsoft.com/office/powerpoint/2010/main" val="10400094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158B0605-6A08-401C-9DD2-0A7A6EDD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5D7B127-FA98-49FB-A5C6-1B762889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Anatomy of a groupby(...).agg(...)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C0961-18A0-42D3-83F1-F5FEAABD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0C700BA-4D8D-4334-9557-C86D88CE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25F3998-ABCD-40F9-8909-B1EBDDBF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BDD14E93-0F32-49FD-9F4F-2FEE278D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D965AE0F-D1D9-408D-B4F5-8F697F56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0574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summary = df.groupby(group_col).agg(...)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FC027-CB14-4525-9867-A3B719FE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47950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D9A3118E-ACE1-4171-AC01-89B482EC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9706380D-B969-4E5D-BE1F-BC2C26BA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8534E99F-C31E-4CFF-B396-32AB8F6C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B594DD68-2A48-48A2-A6F6-74AF14BA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A6D840E4-1264-4AEA-9EFE-434EDA75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Result row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5683C033-91A7-4563-9291-75E79BA4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90138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row per group -- returned so the caller can reuse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F1E67-66F2-42E1-A5C2-27AA23E6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E12144B4-F3FE-406B-9D59-104936C5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B021AE7A-7FBB-4297-9FE8-29F96844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C3B8761D-E5FE-4550-83E9-4D2284A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319778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D14D4D99-1F29-45A4-86E1-634023F9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357878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5C6F044D-8A38-4760-BDAB-21D6FA68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00728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Source table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F90C2551-C111-4929-8815-DECEC571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680966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full room-level DataFrame, passed in as a parameter.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6938D-35B5-47C4-A448-1DC234BC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398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6EBE52FC-70C4-4499-B1AF-D5FB805B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22F5610E-7636-495F-8493-0334A491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DBF4AB75-25C7-4537-B2D7-490EE100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8F64AD27-FBED-4A64-AB72-930B929D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F7611D3D-D9BB-4653-A80C-47A35A6B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Groups rows by column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EE1B30FE-E843-439D-A8F2-CC0D95E6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637026"/>
            <a:ext cx="2476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group_col is a parameter -- "zone" today, "floor" in the self-check.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1E6146-2C5B-4E4C-AC33-D9B5D3F7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47950"/>
            <a:ext cx="188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E094CBD5-5042-41B3-9B4B-8973456A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A54088C0-2E00-4F4B-8DA9-001BB07A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F96A91E9-7096-4DEF-89A4-7FB2770E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29672D9C-BFE7-4514-B877-FA975583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71ED9F7E-3352-4FF6-AA59-28CC962B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09900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Named aggregation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100AC559-6319-4924-A4FB-FB05F7BE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7026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Expands to the two named aggregations from the previous slide.</a:t>
            </a:r>
          </a:p>
        </p:txBody>
      </p:sp>
    </p:spTree>
    <p:extLst>
      <p:ext uri="{BB962C8B-B14F-4D97-AF65-F5344CB8AC3E}">
        <p14:creationId xmlns:p14="http://schemas.microsoft.com/office/powerpoint/2010/main" val="5299243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FBD55ADC-3E81-469B-9D2B-A43FE45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615EDC-568F-4D31-B85F-542AF1B5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Predict: what does the n column look like after .round(2)?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B2A71-0802-48E5-9C53-7D483AED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BB83DC1-2003-4F6A-9A79-0964C1AA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37E3374-8D7A-412A-837B-0BE7C2D8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3571AC1-AC40-4A15-9929-403F9EDA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41AACDDC-2807-4D5F-B56E-C0A9152B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zone_summary = make_comparison_chart(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df, "zone", "energy_kwh_m2_yr",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"zone_energy_comparison.png",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print(zone_summary.dtypes)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A1FBE959-2E93-4F85-9C9F-E075DCAE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86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After .round(2) runs on the table, what dtype is column n?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91867424-608A-4224-B64F-6ECA6EF9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881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F6A783C0-F614-433A-ABCD-AC327498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310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6A937269-8E29-4929-AADD-BD1E677C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262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float64 -- .round(2) rounds every column in the table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3CB86F39-8D74-4B7E-AAF1-EDBD989F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96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856B75A2-56F1-4BE3-A0A2-0A43C996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25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60FCE102-1E5E-4E29-81B4-A54711D4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77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int64 -- .round(2) only rounds floating-point columns, n stays whole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F29DFAAF-D21D-4C69-88ED-7375E64B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311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F29A2ED2-475F-446D-A52D-FCF30ED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740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BF4731DF-84EE-4C2C-ACF1-B5AADA90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92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Raises a TypeError -- round() cannot run on a table with mixed dtypes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5A67E16C-F7F7-442F-B9B8-9DE485A2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02658"/>
            <a:ext cx="4267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2F7C395A-EEEF-4E3E-968B-F8A96861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45533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B01D963C-296F-43CC-95CF-06033E1B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40758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 is dropped -- round() keeps only the column it can round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E28BCA05-1EC1-4B78-94BE-303E1C92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1B31BA22-572B-48AA-AA9A-A792A39F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C9191046-54B9-4293-9D3A-3E1F5150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Verified: n is already int64 from .count(); .round(2) only touches float64 columns, so n still prints as 12, not 12.00.</a:t>
            </a:r>
          </a:p>
        </p:txBody>
      </p:sp>
    </p:spTree>
    <p:extLst>
      <p:ext uri="{BB962C8B-B14F-4D97-AF65-F5344CB8AC3E}">
        <p14:creationId xmlns:p14="http://schemas.microsoft.com/office/powerpoint/2010/main" val="14555949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D979D1ED-FB0B-4C7F-BAB8-E2B718D9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D023DA-127B-4684-B221-E184C2FE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Call it once: zone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BC01D-C5F8-4D90-9644-A7A573B3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AC5B854-0C04-4B55-8562-72F3606E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8C31CD-BF5D-427A-BC98-D78B4519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9470D360-38BF-40DB-8CAD-99410EA0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56A33B9D-35A8-4238-9B8D-F2EB6D2B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zone_summary = make_comparison_chart(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df, "zone", "energy_kwh_m2_yr",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"zone_energy_comparison.png",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print(zone_summary)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F3B46-8D87-43F2-9335-7A9CB916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B8905DD9-3865-4D1A-91F5-43D14A57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AF89BEC6-2C94-4A64-A2DA-D15D5FB6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   mean_value   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zone                 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North       64.25  12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South      115.68  12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40889833-5EB4-4ED2-9880-A6BDDF18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05075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 prints as whole numbers, exactly as predicted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F572D421-5676-4CAF-992D-451ACF03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78733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zone_energy_comparison.png now exists in the Files pane. This exact function runs again in the self-check with "floor", and again in Studio time with your own dataset's column names -- change only the arguments.</a:t>
            </a:r>
          </a:p>
        </p:txBody>
      </p:sp>
    </p:spTree>
    <p:extLst>
      <p:ext uri="{BB962C8B-B14F-4D97-AF65-F5344CB8AC3E}">
        <p14:creationId xmlns:p14="http://schemas.microsoft.com/office/powerpoint/2010/main" val="4522548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41814A99-6704-43D0-B3B5-39557413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TERM, DEFINED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51F5F1-DE91-4A38-B2CF-90DE8A6D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plt.close(fig), defined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8A983-6A06-47A8-B76E-D6FF78EB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A0062D0-F4B6-4813-A3D6-A1792C11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25AEA44-95A2-4C7D-BC10-2E2936CC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928D584A-A960-49C7-BF6E-98C48063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8D2B7EDC-D9C9-4F99-992F-C7267ABA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plt.close(fig)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BD361-C469-4FEA-AC3C-D6A9760E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F4FEA8D2-3199-4620-9EC0-75DD8441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Releases one saved figure from memory. It does not delete the saved file -- fig.savefig() already wrote that to disk -- it only frees the fig object itself.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69F41DC1-C12C-419A-A3AF-A3103314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044B6FCB-66B2-4456-A95B-4DB2DCD5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6B33B0BD-1DE8-4D0B-B92F-370FA5AD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it matters here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67BDCE47-FAEB-427C-8BCF-CB8A269D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make_comparison_chart runs three times today: once for zone, once for floor in the self-check, once for your own dataset. Without plt.close(fig) inside the function, all three figures would stay open in memory instead of being released after each save.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9F5445B3-7454-4035-B10A-F088A26D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85971B44-E98E-4D4A-801F-1B1F2337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4AAC50BF-E0DF-4E75-A634-42114B68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script that plots once and exits would never notice a missing plt.close(fig) -- it only matters once a plotting function is called repeatedly, exactly as it is here.</a:t>
            </a:r>
          </a:p>
        </p:txBody>
      </p:sp>
    </p:spTree>
    <p:extLst>
      <p:ext uri="{BB962C8B-B14F-4D97-AF65-F5344CB8AC3E}">
        <p14:creationId xmlns:p14="http://schemas.microsoft.com/office/powerpoint/2010/main" val="3874513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91047047-89C7-48D2-AD46-DB105823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7154EED-C4E8-4715-8C43-B0D02871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2: build and save the comparison chart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AE15C-00AA-42C7-8D49-01127CAC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B1A7D07-0DD0-46D3-9751-EAF166A3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5B111BA-96B3-4E01-A1E2-7613E911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D32FAC09-CE9A-4F97-AE05-1CE8A268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79485199-46D4-47FC-903E-6D560867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 make_comparison_chart in cell [3] of your handout, then confirm the numbers.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F8396036-D494-437B-8EA7-6DD37826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53CC4DCE-7A64-4FEF-91F4-825531D0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7B899269-9165-4E6F-9D24-764F3A25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Complete the ax.bar(...) line inside make_comparison_chart, using summary.index.astype(str) and summary["mean_value"].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23A97F35-18EF-4837-993B-21790865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493ED3F8-1C7E-4DD0-80CC-139FD676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Call it with group_col="zone" and value_col="energy_kwh_m2_yr".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3E65C5C2-D131-4BAE-A801-66838989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C4FE8F29-7A6E-4B5F-99FA-DDE82969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two assert statements checking zone_summary.loc["North", "mean_value"] and ["South", "mean_value"] against 64.25 and 115.68.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EEB223CB-E819-4410-A92B-DBF976D6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4FBB2E86-BD78-41C2-B59A-0E9B9B3A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zone_energy_comparison.png shows two bars with the correct height difference.</a:t>
            </a:r>
          </a:p>
        </p:txBody>
      </p:sp>
    </p:spTree>
    <p:extLst>
      <p:ext uri="{BB962C8B-B14F-4D97-AF65-F5344CB8AC3E}">
        <p14:creationId xmlns:p14="http://schemas.microsoft.com/office/powerpoint/2010/main" val="7563756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5A5D6A56-09C2-4E7D-9526-A153C44B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09A0AF-C3DA-42A2-8597-B162AF0C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Relationship: color the scatter by zone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AC361-9BE8-4AD4-A0B7-DE29855F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47D48E8-55BF-49FF-84B0-62C96653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FCE0AE9-B151-4FEE-8B9E-4567EC19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6848403F-F3D6-4F98-B8B5-3133AA01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B35488A2-CE4F-4E02-A5C8-0DA6EED2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make_relationship_chart(df, x_col, y_col, group_col, out_path):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"""Scatter x_col vs y_col, colored by group_col."""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plot_df = df.dropna(subset=[y_col])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fig, ax = plt.subplots(figsize=(7, 4.5))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group_value, color in zip(["North", "South"], ["#3D8DFF", "#C9473A"]):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subset = plot_df[plot_df[group_col] == group_value]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ax.scatter(subset[x_col], subset[y_col], color=color,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   label=f"{group_value} (n={len(subset)})")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# ... annotate two outliers, label axes, and save (next slide)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66086E8A-7E54-4DB7-95C5-08665E03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loop replaces two separate ax.scatter calls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AE495E52-E92D-4943-AF67-C016AE5E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5472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zip(...) pairs each group name with its color, so the loop runs once per zone instead of writing ax.scatter twice by hand. subset filters to just that zone's rows first -- the same boolean-filter pattern from Week 4.</a:t>
            </a:r>
          </a:p>
        </p:txBody>
      </p:sp>
    </p:spTree>
    <p:extLst>
      <p:ext uri="{BB962C8B-B14F-4D97-AF65-F5344CB8AC3E}">
        <p14:creationId xmlns:p14="http://schemas.microsoft.com/office/powerpoint/2010/main" val="7115394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0C6E5823-37E2-42C4-8879-C5790C57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546480-0F46-48C3-A5A6-E6E6DCCE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Relationship: annotate R306, then save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08941-3875-4295-8F55-EAC9D5AD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4C667E1-D2C8-48CE-B0AC-CC28153D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AA2E50C-30A2-492F-8330-70164E37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262E672-F3BD-4A02-9554-A0A431C3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CB46ADC8-7625-4A7C-9D64-5DB745D2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r306 = df.loc[df["room_id"] == "R306"].iloc[0]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ax.annotate(f"R306: {r306[x_col]} m2, {r306[y_col]} kWh/m2/yr",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xy=(r306[x_col], r306[y_col]), xytext=(52, 400),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arrowprops=dict(arrowstyle="-&gt;"))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# ... a second ax.annotate call labels R309 (Studio 3)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ax.set_xlabel("Room area (m2)")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ax.set_ylabel("Energy use intensity (kWh/m2/yr)")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ax.legend(loc="lower right")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fig.savefig(out_path)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plt.close(fig)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6D762AC9-D641-4E7E-9EE3-C25155FF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xy is the point pointed AT; xytext is the label's own spot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745BBB76-EA3A-41E4-B8BE-D18A0D6F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93008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df.loc[...].iloc[0] pulls R306's single row, then r306[x_col] and r306[y_col] read its actual area and energy values into the arrow's target. The next slide explodes this exact call; Studio 3 asks you to write a second one for R309 yourselves.</a:t>
            </a:r>
          </a:p>
        </p:txBody>
      </p:sp>
    </p:spTree>
    <p:extLst>
      <p:ext uri="{BB962C8B-B14F-4D97-AF65-F5344CB8AC3E}">
        <p14:creationId xmlns:p14="http://schemas.microsoft.com/office/powerpoint/2010/main" val="13905404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">
            <a:extLst xmlns:a="http://schemas.openxmlformats.org/drawingml/2006/main">
              <a:ext uri="{FF2B5EF4-FFF2-40B4-BE49-F238E27FC236}">
                <a16:creationId xmlns:a16="http://schemas.microsoft.com/office/drawing/2014/main" id="{0766D5C9-B8D0-41F9-B210-26B7367B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AED11E-9C4B-4B6B-8E88-3F9D5B7D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Anatomy of an ax.annotate(...)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1A2A4-8AF5-4F83-BAE0-F0547F7B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BFCE838-09CE-4294-BABF-778660C8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7C86B97-9859-41D6-B89D-350D90A4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DF3B9151-D858-4E17-BE5F-077D4BF1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5803662D-9921-4C9F-B3D5-0E0E406E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057400"/>
            <a:ext cx="813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ax.annotate(label, xy=pt, xytext=pos)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900B6-6527-457B-A5AB-76559365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6479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20CBA1C7-6BA7-4DA6-A8F4-4B7F4E46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E439980D-3508-43F5-ADE6-DBF55B9A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5E987EDA-6D85-42E2-B8A0-5E4D82F4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3836C1C9-39BA-4822-8F5B-CAE0FF2E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A2F9C9DD-C631-4424-BE9B-41B4C89A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axes being annotated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5107E415-D0B7-4D53-935F-BE01398A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37026"/>
            <a:ext cx="2476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Same ax as scatter() or bar() -- one more method call on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D6723-5CF4-4E49-9ADE-052317D3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6479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BE57E4D3-5F51-4272-8414-DCA36D28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605E5984-B488-4DB3-9ADF-63AF2E59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F45EA7E8-2174-456D-B83C-393A49C3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319778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0C5AF606-0F2C-4FF0-8A91-A9ED070A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357878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272A5179-C9AB-4114-B311-E09ED290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300728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Draws a label plus an arrow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140CA5AB-5A70-4C90-B69A-9B2C0D35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927854"/>
            <a:ext cx="247650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call adds both the text and the connecting arrow.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29C5D-F5DB-46C9-805A-2081FAA0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479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200659B2-A5DA-45D8-AC70-729848AB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FD711B00-59BC-4CE9-B842-044A13EC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9FECADAD-A403-4854-8DFD-8BFC5093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9FD68BEE-8A37-4673-9CF1-5BE9C5F7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FF8D7170-2FDE-480D-B182-DC486142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09900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text string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F70DEBBF-1A53-4F87-9E4F-6A047FC9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37026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Often an f-string built from one room's own values, like R306's.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65593C-D5A1-411F-9730-097281B8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6479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98B84DB7-5685-41E5-871C-C9062F41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72A4F7DE-D6DA-4D08-9A9F-DE507917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87728D9A-DD60-4B45-B6F8-40AE4E75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319778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461646FA-A98B-42F2-BCB1-F8947512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357878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20B034E3-63B2-46C0-98B4-499D8851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300728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Point pointed AT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F2CE855E-AEB0-46F0-84AC-8706F09C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927854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Where the arrow's tip touches -- e.g. (r306[x_col], r306[y_col]).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887684-3837-4E06-8B8B-3DA0C260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479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7" name="part-chip-4">
            <a:extLst xmlns:a="http://schemas.openxmlformats.org/drawingml/2006/main">
              <a:ext uri="{FF2B5EF4-FFF2-40B4-BE49-F238E27FC236}">
                <a16:creationId xmlns:a16="http://schemas.microsoft.com/office/drawing/2014/main" id="{7895C486-D103-4D7C-A52A-BAD4A33F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rt-chipno-4">
            <a:extLst xmlns:a="http://schemas.openxmlformats.org/drawingml/2006/main">
              <a:ext uri="{FF2B5EF4-FFF2-40B4-BE49-F238E27FC236}">
                <a16:creationId xmlns:a16="http://schemas.microsoft.com/office/drawing/2014/main" id="{9D53BB52-53B9-4ED9-9C8B-770ABD6C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9" name="part-lchip-4">
            <a:extLst xmlns:a="http://schemas.openxmlformats.org/drawingml/2006/main">
              <a:ext uri="{FF2B5EF4-FFF2-40B4-BE49-F238E27FC236}">
                <a16:creationId xmlns:a16="http://schemas.microsoft.com/office/drawing/2014/main" id="{32ECAFC0-ACCD-4CD7-9DA6-4091692E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rt-lchipno-4">
            <a:extLst xmlns:a="http://schemas.openxmlformats.org/drawingml/2006/main">
              <a:ext uri="{FF2B5EF4-FFF2-40B4-BE49-F238E27FC236}">
                <a16:creationId xmlns:a16="http://schemas.microsoft.com/office/drawing/2014/main" id="{FEEE2B7B-3577-4A08-A7C1-727AD83E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part-head-4">
            <a:extLst xmlns:a="http://schemas.openxmlformats.org/drawingml/2006/main">
              <a:ext uri="{FF2B5EF4-FFF2-40B4-BE49-F238E27FC236}">
                <a16:creationId xmlns:a16="http://schemas.microsoft.com/office/drawing/2014/main" id="{59A15688-5271-4F67-9ED8-F1987B6C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09900"/>
            <a:ext cx="217170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Where the text itself sits</a:t>
            </a:r>
          </a:p>
        </p:txBody>
      </p:sp>
      <p:sp>
        <p:nvSpPr>
          <p:cNvPr id="42" name="part-body-4">
            <a:extLst xmlns:a="http://schemas.openxmlformats.org/drawingml/2006/main">
              <a:ext uri="{FF2B5EF4-FFF2-40B4-BE49-F238E27FC236}">
                <a16:creationId xmlns:a16="http://schemas.microsoft.com/office/drawing/2014/main" id="{FEE2ABB1-4C69-4E4F-8107-D47E049A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37026"/>
            <a:ext cx="247650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Where the label box sits -- swapping this with xy is the top mistake.</a:t>
            </a:r>
          </a:p>
        </p:txBody>
      </p:sp>
    </p:spTree>
    <p:extLst>
      <p:ext uri="{BB962C8B-B14F-4D97-AF65-F5344CB8AC3E}">
        <p14:creationId xmlns:p14="http://schemas.microsoft.com/office/powerpoint/2010/main" val="12729611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515E4323-47D9-4E89-8CD0-3E8B1B01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450EBB-7B83-43B2-9111-98E957C5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3: build the relationship chart, then add a second annotation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04A56-7533-480A-A2D8-70A2B342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7469FE1-0AB0-4F77-9774-B5CBD579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300A700-F87C-40CF-8271-E4260A54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B0736FB2-D308-46C7-9435-800BE67A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D87C0FB4-D338-4039-A87A-D32E945A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make_relationship_chart in cell [4] of your handout.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A20A885D-3FE4-41D7-AB9E-C3C753EE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016943D3-76BF-4787-8FDA-33BD51A9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CA161E99-9D0E-4705-BB00-C672ADBC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Reproduce Monday's scatter-by-zone code and the R306 annotation.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4A6F9AC7-2641-4E70-9886-6EDB535D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735BC864-026F-4F3D-AD39-0E160E5F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a second ax.annotate call for room R309 (120.0 m2, 68.0 kWh/m2/yr).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40C286E4-5879-4C1B-AF0D-11A4A1A8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052DEBCA-18F5-4D14-A10F-1B56DC26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each arrow's xy points AT its room's dot, not away from it.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5F5EFE95-A6CE-49FE-B809-6B931022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CBE6408D-CCB6-4577-B342-12675366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area_vs_energy_relationship.png shows 12 blue North points, 11 red South points, and two labeled arrows.</a:t>
            </a:r>
          </a:p>
        </p:txBody>
      </p:sp>
    </p:spTree>
    <p:extLst>
      <p:ext uri="{BB962C8B-B14F-4D97-AF65-F5344CB8AC3E}">
        <p14:creationId xmlns:p14="http://schemas.microsoft.com/office/powerpoint/2010/main" val="13508153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F315C2C6-B282-4C24-B7F6-DBF620F9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DA6407E-C056-42D9-824E-52A392B7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update(frame): everything ax.clear() erases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84E33-B1CF-4D86-ACBC-B926E49B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EFF4E64-6EBD-4BB8-89FD-FB4E5061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2871876-17E6-41C1-95AA-FE85843D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F7FB4AB1-BAD2-496A-B929-36554B95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C58F83CD-7B3C-41F3-A824-2E9A7710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update(frame):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ax.clear()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shown = plot_df.iloc[: frame + 1]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ax.bar(shown["room_id"], shown[value_col], color="#3D8DFF")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ax.set_xlim(-0.5, n_rooms - 0.5)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ax.set_ylim(0, plot_df[value_col].max() * 1.05)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ax.set_xlabel("Room (sorted low to high)")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ax.set_ylabel(f"{value_col} (kWh/m2/yr)")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ax.set_title(f"Rooms reporting in: {frame + 1} of {n_rooms}")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FC5EBA6D-1038-4C8F-A3D1-1CCF09AC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05075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ax.clear() erases the title and limits too, not just the bars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F156B123-B512-4B84-BD31-3C142107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78733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Every line here after ax.clear() has to be rewritten every single frame -- labels, limits, and title included. Skip one and it silently vanishes for all but the first frame; this is Studio 4's single most common slip.</a:t>
            </a:r>
          </a:p>
        </p:txBody>
      </p:sp>
    </p:spTree>
    <p:extLst>
      <p:ext uri="{BB962C8B-B14F-4D97-AF65-F5344CB8AC3E}">
        <p14:creationId xmlns:p14="http://schemas.microsoft.com/office/powerpoint/2010/main" val="49955329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2FB58506-E49D-4C0C-853E-EAA91625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65CA65F-93AD-456D-A792-7C543184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function wraps setup, update, and save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5DF65-2A2E-438F-9D4B-71008820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7B75F46-8951-4DF6-BD30-A26A8564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2A85572-19D4-40EF-8B69-6D94585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8B3C16A9-9BB2-4878-BA3D-223056BD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53829067-0790-47ED-AA76-3010B5BF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build_progressive_animation(df, value_col, out_path):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"""Animate rooms sorted by value; save as .gif."""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plot_df = df.dropna(subset=[value_col])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plot_df = plot_df.sort_values(value_col)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plot_df = plot_df.reset_index(drop=True)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n_rooms = len(plot_df)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fig, ax = plt.subplots(figsize=(7, 4))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def update(frame):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...  # clears and redraws ax -- previous slide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ani = animation.FuncAnimation(fig, update, frames=n_rooms, interval=200)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ani.save(out_path, writer="pillow", fps=5)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plt.close(fig)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n_rooms</a:t>
            </a:r>
          </a:p>
        </p:txBody>
      </p:sp>
      <p:sp>
        <p:nvSpPr>
          <p:cNvPr id="8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BA0A5096-6AD3-48BA-9DFB-BA7D5E58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81275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fig, ax, n_rooms, and plot_df are all built ONCE</a:t>
            </a:r>
          </a:p>
        </p:txBody>
      </p:sp>
      <p:sp>
        <p:nvSpPr>
          <p:cNvPr id="9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93907F64-F370-4E50-AB7D-F27FB73C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4933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Only the lines inside update() rerun every frame. FuncAnimation calls update once per frame, then ani.save(..., writer="pillow") writes every frame into one .gif -- no live window required.</a:t>
            </a:r>
          </a:p>
        </p:txBody>
      </p:sp>
    </p:spTree>
    <p:extLst>
      <p:ext uri="{BB962C8B-B14F-4D97-AF65-F5344CB8AC3E}">
        <p14:creationId xmlns:p14="http://schemas.microsoft.com/office/powerpoint/2010/main" val="6812804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5064A498-A8D0-403D-8D1E-9E62DD49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4CEBE18-4881-40F3-BC36-5B772833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Call it once, and write your caption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DF7EE-3378-4D54-87A4-00AA428F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CF79E9D-CB4D-4172-9671-7B184F22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F687C34-2621-40D7-BB55-2B383B51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D873EB6-2071-477D-9E4F-E5C432AF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FDF77DD6-F2EE-4DD9-B1BD-89B05A39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CAPTION = ("Radley Hall's 23 measured rooms, revealed one at a time from lowest 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"to highest energy use intensity; the final bar is room R306, 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"the server-closet outlier.")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n_frames = build_progressive_animation(df, "energy_kwh_m2_yr", "energy_reporting_animation.gif")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print(n_frames)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print(CAPTION)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D282C-A2FC-46ED-97D7-8CA4831E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B7C31048-39B3-438C-9CD8-6FB505E2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11D62C55-CC99-42B9-9603-8D958148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23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Radley Hall's 23 measured rooms, revealed one at a time from lowest to highest energy use intensity; the final bar is room R306, the server-closet outlier.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B50E2F4B-C4B0-446C-B883-5E8A5B68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43150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caption is text, because a report cannot embed motion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370A5EB8-EB06-4AB0-9A15-C7B5F31C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16808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n_frames confirms the animation ran through all 23 measured rooms and that the .gif was written to disk. CAPTION is what actually goes into your written report -- a report is text, so the .gif needs a one-sentence description standing in for what a reader would see if they opened the file.</a:t>
            </a:r>
          </a:p>
        </p:txBody>
      </p:sp>
    </p:spTree>
    <p:extLst>
      <p:ext uri="{BB962C8B-B14F-4D97-AF65-F5344CB8AC3E}">
        <p14:creationId xmlns:p14="http://schemas.microsoft.com/office/powerpoint/2010/main" val="6142169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31EC1840-3B9C-4122-8086-9232733B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TERM, DEFINED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DF48D1-07A4-49A1-9C6F-A599B662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"Captioned," defined for this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2CC02-887D-4F8F-8555-726CB0D6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798F7DB-807E-47AB-880E-51408CA5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77E835D-E3EB-483B-98BC-E136B8DB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4590F889-D462-41F9-8FD8-D01CED97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required parts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0A4BE860-5264-45D4-9297-8CA2FB19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7436"/>
            <a:ext cx="5219700" cy="1667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(1) an in-figure title on the animation itself (e.g., "Rooms reporting in: N of 23"), visible while the .gif plays; and (2) one printed CAPTION string, 1-2 sentences, describing what changes frame to frame and naming any outlier that appears.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9E9D4A98-4AEF-4BC4-9CFB-9A9881CD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both are required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97E0BDF7-4B0E-4D04-A182-A8999738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7436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in-figure title orients someone watching the .gif directly. The printed caption is what goes into your written report, since a report is text and cannot embed a playing animation.</a:t>
            </a:r>
          </a:p>
        </p:txBody>
      </p:sp>
    </p:spTree>
    <p:extLst>
      <p:ext uri="{BB962C8B-B14F-4D97-AF65-F5344CB8AC3E}">
        <p14:creationId xmlns:p14="http://schemas.microsoft.com/office/powerpoint/2010/main" val="7976164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5EF23669-87FF-43C3-8407-33B3668F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45C607-51A0-4041-9E00-6E4CE8AA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4: build, save, and caption your animation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3A484-F7C2-4CC6-99F2-992A698D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EE6378F-6239-4A63-82CC-FC32B67F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2263FEF-C006-4A6C-9F2E-9B81F40C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7FA07C26-7917-4C90-B00A-CE54BC18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A6F5D57C-B171-480A-920D-71C5F9B2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build_progressive_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animation and its caption in cell [5] of your handout.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8CCAAF03-0FC2-47B4-BF08-899A9909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38233BFC-08A6-4E0E-BDFF-FB97FBBE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25A869E0-B8CC-469B-A2B0-A98CC061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Complete update(frame): clear ax, redraw shown = plot_df.iloc[:frame + 1], and reset every label, limit, and title.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3925343A-B903-4F4B-858E-3C3CC0E4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38C93DCF-59EA-4350-9341-41BDBC59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Call FuncAnimation with frames=n_rooms, then ani.save(..., writer="pillow", fps=5).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DD1BBC25-63ED-42AA-BFC3-D803872E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8EE9907F-FE6B-4F37-8A5A-0091F04E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your own one-sentence CAPTION and print it beside n_frames.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7868CEBA-B75A-4E20-AB8F-E393C520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D07453AD-6056-474F-9C73-B57F44B3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n_frames prints 23, and the .gif's last frame matches your static comparison chart's tallest bar.</a:t>
            </a:r>
          </a:p>
        </p:txBody>
      </p:sp>
    </p:spTree>
    <p:extLst>
      <p:ext uri="{BB962C8B-B14F-4D97-AF65-F5344CB8AC3E}">
        <p14:creationId xmlns:p14="http://schemas.microsoft.com/office/powerpoint/2010/main" val="4282993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C79086CA-C067-452F-BB98-C57AB90C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1BC242-CBB8-4D1F-93A4-F928AF8F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Today's four required exports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0B11D-40F8-478C-86F8-114E15B8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E7576C6-B08A-4795-91DE-03F86C6A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7336F25-91B9-4863-B3D1-0813F7FA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B7283-3E74-4A59-BF41-67068A7F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804307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DF352C82-D9EC-4254-8EF7-7523A7D6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5757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7C5F8-4F38-4168-801D-D233201C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907" y="2619375"/>
            <a:ext cx="2228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19424459-57C9-4DAD-A402-664B6458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07" y="26955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1428C-1AC3-4578-AF1A-D56E4122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757" y="2619375"/>
            <a:ext cx="339634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6058B0E8-29C1-4F83-9789-58562F4C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057" y="2695575"/>
            <a:ext cx="316774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Today's 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EF997-F520-43CB-A154-A59FF5D4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804307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E8AD19B4-1022-4FF5-94CD-9AE4749B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575707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Distribution figure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9C985-C13F-49D7-BBFB-7C818D88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907" y="3152775"/>
            <a:ext cx="22288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5A792543-3F70-4659-93FF-402D34D0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07" y="3228975"/>
            <a:ext cx="2000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Histogram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C6AC3-1F45-4ACC-8ACE-6179B012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757" y="3152775"/>
            <a:ext cx="3396343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75E3DF92-FD49-4965-A512-B7AAC010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057" y="3228975"/>
            <a:ext cx="3167743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energy_distribution.png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3879E-3A94-453B-B8E5-80219E7B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3795"/>
            <a:ext cx="1804307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3224047C-A376-44A4-A882-5E96E5FA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9995"/>
            <a:ext cx="1575707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Comparison figure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B0151F-BE06-460B-9692-977A67D1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907" y="3693795"/>
            <a:ext cx="22288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C4F3CA7B-F2C3-4CA8-96DF-3B43D36F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07" y="3769995"/>
            <a:ext cx="2000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Bar chart of group means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94BB57-C884-47CB-906E-07796505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757" y="3693795"/>
            <a:ext cx="3396343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B5AAFD05-1E9F-463B-9762-CF27D6E3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057" y="3769995"/>
            <a:ext cx="3167743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zone_energy_comparison.png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7FFF24-081F-45F7-9EB5-5232C917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804307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457AE6F4-948A-45C7-8EB6-E456AD2A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1015"/>
            <a:ext cx="1575707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Relationship figure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B50B95-1AA3-4D00-A80A-DEFDCD4B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907" y="4234815"/>
            <a:ext cx="22288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18ED6E30-8A4B-454E-812E-4EF574D0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07" y="4311015"/>
            <a:ext cx="2000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Annotated scatter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729A28-847D-46BE-87E0-D4D990AF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757" y="4234815"/>
            <a:ext cx="3396343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EE53E2C3-A282-4059-9128-4F9CB959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057" y="4311015"/>
            <a:ext cx="3167743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area_vs_energy_relationship.png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A5082A-E601-4257-BA6C-D4AD3A89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5835"/>
            <a:ext cx="1804307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7B2D6009-D21B-44D9-957F-7A0ED52D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2035"/>
            <a:ext cx="1575707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Dynamic figure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691A54-F647-4054-8971-C12C8D93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907" y="4775835"/>
            <a:ext cx="22288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47EEAE9A-EB47-4F8F-AF97-B32A84AA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07" y="4852035"/>
            <a:ext cx="2000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FuncAnimation, captioned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A8BB7A-AAE3-4F58-B8F2-8C34085D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757" y="4775835"/>
            <a:ext cx="3396343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41715A15-D8CE-473F-A213-8D944E2D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057" y="4852035"/>
            <a:ext cx="3167743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energy_reporting_animation.gif</a:t>
            </a:r>
          </a:p>
        </p:txBody>
      </p:sp>
      <p:sp>
        <p:nvSpPr>
          <p:cNvPr id="3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B7BE3B9F-5935-4A1C-A768-D6FBC231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7" name="callout">
            <a:extLst xmlns:a="http://schemas.openxmlformats.org/drawingml/2006/main">
              <a:ext uri="{FF2B5EF4-FFF2-40B4-BE49-F238E27FC236}">
                <a16:creationId xmlns:a16="http://schemas.microsoft.com/office/drawing/2014/main" id="{9A62FD60-9341-4E4E-94B2-FABC8FA0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All four are graded with equal weight for today's Week 6 assignment. Project 1 itself asks for less: Part III needs exactly two figures (one distribution/comparison figure, one relationship figure); Part IV's .gif is one of two optional evidence extensions, not an unconditional fourth deliverable.</a:t>
            </a:r>
          </a:p>
        </p:txBody>
      </p:sp>
    </p:spTree>
    <p:extLst>
      <p:ext uri="{BB962C8B-B14F-4D97-AF65-F5344CB8AC3E}">
        <p14:creationId xmlns:p14="http://schemas.microsoft.com/office/powerpoint/2010/main" val="5707039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F91D6B44-F854-4D47-A6BE-4EC9C284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46E9EB-5D6E-412B-9103-46340055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Common slips in today's four 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04FD3-595D-461C-A505-92AEC6E0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DDCD06D-E352-4AD9-AA8D-28E3ACAE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987ACB6-C09A-4BCE-AACB-00D62B0F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801CF-C06B-43DF-9F12-814D15B2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801287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E0EC2735-47D9-4FCD-A65B-9FC428EB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14575"/>
            <a:ext cx="257268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A1E72-45A9-4702-9616-8A8A4AB9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887" y="2238375"/>
            <a:ext cx="2314107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98E6B560-C7DD-443B-8410-3809A87A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187" y="2314575"/>
            <a:ext cx="20855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Common slip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9DCD0-2588-46CE-9230-E29F9400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993" y="2238375"/>
            <a:ext cx="2314107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E9A46314-71E0-40BE-91DF-929AD2EA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293" y="2314575"/>
            <a:ext cx="208550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307BE-CAA0-4F9A-BC31-424A067B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280128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5F5028CA-8396-4ADF-98F0-79CA3E91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257268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make_distribution_chart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4F2B4-78FA-4A31-A572-B14D38A7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887" y="2771775"/>
            <a:ext cx="231410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74BCA254-1ECC-4CC6-96C7-4C2D6E2A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187" y="2847975"/>
            <a:ext cx="208550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np.histogram crashes on a column with a missing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B90AE-8718-4422-AC80-F03C2F97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993" y="2771775"/>
            <a:ext cx="231410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58CA5F4D-3FFC-4927-B9C2-E73158E2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293" y="2847975"/>
            <a:ext cx="208550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Call .dropna() before np.histogram or ax.hist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FB82C-126B-426B-B1C5-EFF7642E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7105"/>
            <a:ext cx="280128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878B1BB2-2EA3-48C9-942E-FB91960F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3305"/>
            <a:ext cx="257268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make_comparison_chart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535CA-3A29-4B22-9E6B-CE6DD1DE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887" y="3507105"/>
            <a:ext cx="231410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91F7BF95-4D21-4EBE-9892-E8E91947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187" y="3583305"/>
            <a:ext cx="208550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y-axis left unlabeled, or labeled with no unit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CC43E-68FD-4E58-A7FE-D9E906E1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993" y="3507105"/>
            <a:ext cx="231410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AC42F64A-9C54-433B-8469-078865EE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293" y="3583305"/>
            <a:ext cx="208550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Always call ax.set_ylabel with the unit, before saving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669BC4-C472-4CE6-814F-A1799CF1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2435"/>
            <a:ext cx="280128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32A69681-9BF9-4D5F-BB3E-98D17C78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8635"/>
            <a:ext cx="257268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make_relationship_chart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0CC478-BA95-4538-84D2-539F8CE8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887" y="4242435"/>
            <a:ext cx="231410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09F5204E-6DB5-4A7E-ACCA-D09EF3CA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187" y="4318635"/>
            <a:ext cx="208550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xy and xytext swapped in ax.annotate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09081A-B74B-40A5-ADC3-A08F676C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993" y="4242435"/>
            <a:ext cx="231410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AB66F7B4-7395-4A64-8411-3B0F5499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293" y="4318635"/>
            <a:ext cx="208550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xy is the point pointed AT; xytext is the label's spot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3C4B38-9EFB-4ED3-A20C-3A7DE80E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7765"/>
            <a:ext cx="280128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99018D8C-DF8F-4403-9624-5CC86E17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3965"/>
            <a:ext cx="257268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build_progressive_animation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530BFE-C97A-4356-BD23-CBEAE611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887" y="4977765"/>
            <a:ext cx="231410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BC80EB95-6BBA-43B2-8FCC-572A3745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187" y="5053965"/>
            <a:ext cx="208550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Labels, limits, and title vanish after ax.clear()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AB9364-CDFB-4FF8-BBE8-D3B288B9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993" y="4977765"/>
            <a:ext cx="231410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A8165F5E-4E04-4A64-98B8-3F3D5F47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293" y="5053965"/>
            <a:ext cx="208550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Reset xlabel, ylabel, xlim, ylim, and title each frame</a:t>
            </a:r>
          </a:p>
        </p:txBody>
      </p:sp>
      <p:sp>
        <p:nvSpPr>
          <p:cNvPr id="3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AA048E86-8FB7-42AC-80E8-31976E51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7" name="callout">
            <a:extLst xmlns:a="http://schemas.openxmlformats.org/drawingml/2006/main">
              <a:ext uri="{FF2B5EF4-FFF2-40B4-BE49-F238E27FC236}">
                <a16:creationId xmlns:a16="http://schemas.microsoft.com/office/drawing/2014/main" id="{D59760F7-9DC9-4331-9C95-1DBAFEA6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Every row here is a real, verified defect -- not a hypothetical one; the next two slides diagnose the first row in detail.</a:t>
            </a:r>
          </a:p>
        </p:txBody>
      </p:sp>
    </p:spTree>
    <p:extLst>
      <p:ext uri="{BB962C8B-B14F-4D97-AF65-F5344CB8AC3E}">
        <p14:creationId xmlns:p14="http://schemas.microsoft.com/office/powerpoint/2010/main" val="4096561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162410E5-8C35-4F2B-89B6-5054E0B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CC66F8-4738-4E67-B152-298D63EB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Required self-check: a different column, a different grouping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A8DFE-3C10-4DFC-AD85-FAA008CA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EA3B4A0-0336-4FC9-87B6-54F8206B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9A31B6B-A645-4055-B7CB-E44081F5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5EE0380F-BC45-4084-B130-532AA69D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C513D7CD-9131-439A-96AD-AE3A71F6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is this week's required transfer safeguard -- every handout must include it, on an input other than the one worked through live.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D83EA94E-89E1-44E2-82A2-A9B8A134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7820F139-5C2C-4314-A432-637AC5C6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813756A4-ADAF-4B90-9DF2-4159DAC4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Call make_comparison_chart(df, "floor", "energy_kwh_m2_yr", ...) instead of "zone".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DA5DB44B-2FA6-49D9-874F-6E190038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460BE1E3-7893-48C0-8F42-49A29127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Call np.histogram(df["area_m2"], bins=4) instead of the energy column.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2712C874-E38D-4C83-AA2A-546209A0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5F995C26-F2C5-4381-AF55-88B545DB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2-4 assert statements checking floor room counts (7, 8, 9) and that the area_m2 histogram counts sum to 24.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4A292DED-2CE2-4F64-BC5E-09F16665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E7133E0D-8866-4A5E-9FFA-C49F3D39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every assertion passes silently before moving to the AI audit.</a:t>
            </a:r>
          </a:p>
        </p:txBody>
      </p:sp>
    </p:spTree>
    <p:extLst>
      <p:ext uri="{BB962C8B-B14F-4D97-AF65-F5344CB8AC3E}">
        <p14:creationId xmlns:p14="http://schemas.microsoft.com/office/powerpoint/2010/main" val="38367189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B458E7C7-B57D-4E03-8ABA-4489D909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8D5576-F375-4E79-B720-2F42A695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Predict: what happens when np.histogram meets a NaN?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D5BCA-3BAA-4ED7-A5C0-F51F65B9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5D06533-373C-4FFE-9A08-81C72D81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22B93C6-CED8-4D7B-AE01-9C6BACC0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4D1DDD00-E460-4097-B156-314B0E71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2C3D4C6E-7DC4-4971-9092-C87995B7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counts, edges = np.histogram(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df["energy_kwh_m2_yr"], bins=6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print(counts)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3A4793BA-ECBB-45F3-B443-C457C43E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This column still has one missing value. What happens?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F6A1D192-B38F-4D3A-882C-FFC26D7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61EC0550-FA0C-47F3-ACFA-75247629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A82DF3E6-8217-42A7-91B6-936787CF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Prints [13 9 0 0 0 1], same as Studio 1 -- np.histogram skips NaN automatically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794AEF88-EE3E-4F89-9B73-00354ECF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D9AB6D02-C8D9-41E3-B7D8-E1FABA88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DCB9A841-82C0-4444-AA38-387B88D6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Raises a ValueError -- np.histogram can't auto-detect a range that includes NaN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A2418C9B-A689-4989-8049-A1263AA1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9139EF25-AB86-4777-94AC-BCB2CCB6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ED14A709-FDC7-485E-852A-D7D6349D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Prints six zeros -- one NaN forces every bin count to 0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5AB6C16E-4D75-4D91-A69C-583D54C9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6D7977A4-C81E-4B01-9A5F-55A97556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4FDB1D11-B8F1-4A37-BE94-FCE1AEB9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Silently drops the NaN row and renumbers the bins -- 23 rooms instead of 24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9BA67AC4-EA63-473B-92E1-C6AD2796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1AA6F815-CF27-4428-84CC-63DA6387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BA508378-4896-44A8-8FC4-8DD15D68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Verified: np.histogram (unlike ax.hist()) does not filter non-finite values -- it raises: autodetected range of [nan, nan] is not finite.</a:t>
            </a:r>
          </a:p>
        </p:txBody>
      </p:sp>
    </p:spTree>
    <p:extLst>
      <p:ext uri="{BB962C8B-B14F-4D97-AF65-F5344CB8AC3E}">
        <p14:creationId xmlns:p14="http://schemas.microsoft.com/office/powerpoint/2010/main" val="55546351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7E94E26A-CF04-4A6C-A791-CFAD90DE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AF2A79-0231-42A3-9328-6B6B4AD3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 AI 'shortcut' that crashes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DD655-D84A-449F-9FCD-26EEE193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95CFE7A-B32D-4F35-B874-CF49FFCB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99E99DD-15D2-43E8-A9C2-F0FB4A90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309D862B-C5B6-4F9A-8696-40F6DCB2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338B9A9-59DB-43CE-8EB8-BD1558B6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counts, edges = np.histogram(df["energy_kwh_m2_yr"], bins=6)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print(counts)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1AA88-CA7B-45C4-912D-7EF7F25D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A822A391-6C28-463B-A1FE-DC4F3597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8DC715FC-8C10-473F-99F7-42B035BD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ValueError: autodetected range of [nan, nan] is not finite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DDF45DF4-A62B-4E74-A70E-CE0DB669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05075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No .dropna() -- and np.histogram refuses to guess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1C4D018C-B853-4264-8BC4-1D9A97E2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78733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This is the exact column from Studio 1, without .dropna(). np.histogram tries to auto-detect the data's min and max first; with one NaN present, that auto-detected range is itself NaN, so it raises immediately rather than guessing a range.</a:t>
            </a:r>
          </a:p>
        </p:txBody>
      </p:sp>
    </p:spTree>
    <p:extLst>
      <p:ext uri="{BB962C8B-B14F-4D97-AF65-F5344CB8AC3E}">
        <p14:creationId xmlns:p14="http://schemas.microsoft.com/office/powerpoint/2010/main" val="17580161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879E9169-BE93-4736-8744-B759A11A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CD65A3-C674-4A7D-ABF3-9C4466F3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AI-code audit: diagnose and repair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03754-120D-48E1-ACA3-D3096662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D717545-2708-4E12-815C-C8DBA0BD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F58656-49DF-4F93-ADB6-BFE719A0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8F4AA73C-BC85-422A-8932-655F7C17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FD635DE3-8A40-45F0-9FE5-5DE3422A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 cell [7] of your handout: repair the crash above and explain the gap it reveals.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DB08AF4E-8827-43AD-9A0B-622776CF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D65FD555-C41E-4D70-9864-B16F85D4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7C65A581-643C-4038-BD1C-104B34D6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the ValueError message word by word -- what does "autodetected range" refer to?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C22B2B0E-0891-4D5D-AAA8-8E2075E8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F5040189-1F15-4C0C-B6D8-4DBA2A78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Explain why ax.hist() in Studio 1 did not raise this same error on the identical column.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AB46D459-EC39-4D9F-9A91-EA46A271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FB1C098E-BE8E-4C5C-8A15-C879FC6B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Apply the one-line fix (add .dropna()) and confirm the counts match [13 9 0 0 0 1].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DFF63888-3D99-4D6D-A384-8E6716C3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5034053D-9F13-4BD1-85AC-D9061593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Record this defect in your AI-use record as one you would reject from an AI suggestion, and why.</a:t>
            </a:r>
          </a:p>
        </p:txBody>
      </p:sp>
    </p:spTree>
    <p:extLst>
      <p:ext uri="{BB962C8B-B14F-4D97-AF65-F5344CB8AC3E}">
        <p14:creationId xmlns:p14="http://schemas.microsoft.com/office/powerpoint/2010/main" val="15976512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17ECD347-0F65-43ED-9A12-C5857CD5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5B233D-5C36-4F33-9A97-F5042829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Apply the pipeline to your own Project 1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4F32A-D2BC-4A4F-A20E-2CF894B9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5B3FD10-E73D-47D0-B4DE-15F9D31F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63FAD08-D2F0-4478-81F5-72A9B78C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7E01385A-84A5-4FC5-8CF4-1897EFCB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C3549B1E-3932-4141-AF5E-D3D58FE3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62F6271F-0A7E-4818-845B-0F6DE346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10C6D0BC-09A0-4157-833D-F136B72D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C738DAC-0910-4273-9CAF-022B36C0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D09DC27F-5795-40DA-A63C-C5B36D80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015E7-EBB9-471A-9167-B08C08B1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A1EDA729-1F2F-4956-B667-C480E6FC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Load your own data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4B409F2D-F973-4A8A-9EF5-EC6DF3FE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my_df = pd.read_csv("your_project1_file.csv") -- your own cleaned Week 4/5 CSV.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F40C72E4-5598-4FE7-87F8-67CF4243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1111EC45-8EEB-4834-B3DA-C0DC0971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C1689491-2391-4842-9AA3-A518E8A3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38E7B-F56D-455A-8080-7CF8616B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5F0B0737-6432-4857-9D6D-6C3943F3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Call all three functions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F33D3123-18A5-4097-B88C-2A4C7950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make_distribution_chart, make_comparison_chart, make_relationship_chart, with YOUR column names.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1D648564-19B6-4FC9-84B2-33EC3BDC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2C33421B-FC63-448C-AFC5-B430D3BC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42FD2D87-EB94-4122-9CBE-542B4408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ANNOTATE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696F1-F2D4-40E1-8E3D-0268369A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C79F380D-4299-419D-A57D-7D6474C2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Reuse your own outlier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F65157CA-C48D-425C-9AD0-F8C71AE1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Annotate the room or row your OWN Week 5 IQR or z-score audit flagged -- not R306.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199A0FA2-78F2-4D34-9203-F76FF5FA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0CAB3B46-7190-4DB0-B3A5-50C73E7A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138F3AB6-87B4-4177-AECD-E2442D5C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CAPTION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D08E71-FA0A-4A2A-940F-D9A7869A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C9978FF4-7ABE-4E40-8EC0-B19B6CC1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Caption your own .gif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579C9BF0-BCA6-45A7-A791-257A6B98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Run build_progressive_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animation on your own numeric column, with your own one-sentence caption.</a:t>
            </a:r>
          </a:p>
        </p:txBody>
      </p:sp>
    </p:spTree>
    <p:extLst>
      <p:ext uri="{BB962C8B-B14F-4D97-AF65-F5344CB8AC3E}">
        <p14:creationId xmlns:p14="http://schemas.microsoft.com/office/powerpoint/2010/main" val="87004765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766DCAA0-7B17-4F84-890D-2BF81601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2F1E8A-FE74-442B-B39E-E0BE51DA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time: build all four exports on your own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EE4EA-8311-449C-899C-5B1853ED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FE7792D-B9DE-4A47-B4BE-52AF1146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C2A6A2E-1577-4E73-9415-7077DDE9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A08EA908-4875-4D6C-933F-089C04D2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BD748C05-0B37-4E1E-918C-9BA878EE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rest of today is independent work time -- this is this week's actual graded submission.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FD30556B-E020-486A-B549-CB9C8215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39D2B844-5C08-4CA6-89BF-6BD70A5B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69E91D95-3F4E-49FD-99B6-67E231EB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Load your own Project 1 dataset and confirm its shape and missing values, same as cell [0].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C14B9FF9-BDF5-4AFC-AADF-89EFC2AB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9BD73A8E-B364-41CC-B222-D27A84F6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Build and save your own distribution, comparison, and relationship figures.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CA1B600C-9557-4720-A3A8-052897C4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C0F478D9-942A-45BC-914F-ED8881F0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Build and save your own captioned .gif animation.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D5D50337-D602-4B15-A94D-C2D63C00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A1BF420F-F5CE-4DA6-AA20-B5056A7E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Complete the self-check asserts on a different column or grouping of YOUR OWN data before you leave.</a:t>
            </a:r>
          </a:p>
        </p:txBody>
      </p:sp>
    </p:spTree>
    <p:extLst>
      <p:ext uri="{BB962C8B-B14F-4D97-AF65-F5344CB8AC3E}">
        <p14:creationId xmlns:p14="http://schemas.microsoft.com/office/powerpoint/2010/main" val="15183100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2D1CBF01-8C0C-4EA6-8B6B-A3A6CDA1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DF482C0-97BD-48B9-BB7A-CD25A4D0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Before you leave: submission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8F486-A1EE-4E8C-A3FB-CDEA37E1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5954F79-6F7E-452E-A025-55BE3290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45F1398-5C2D-4259-B634-E574480A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583E2-D79B-42BC-978E-044545EE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228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EB7DD36C-61D1-49A5-A686-E853FCA6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5A366-4B44-4DA5-8A6B-5B14E1E0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95600"/>
            <a:ext cx="5200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920F97A1-10F7-48DE-9A03-F0D1901C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71800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Passing looks like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39180-DD0E-413B-9D80-4D61410C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2288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808FEFD7-D5F9-4898-BF4C-4CB718D5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000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Three static figures saved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FD2F0-6CC4-471A-A584-387ED855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29000"/>
            <a:ext cx="52006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AE601E58-BD86-4731-8A7C-5CD3186F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05200"/>
            <a:ext cx="49720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Your own distribution, comparison, and relationship .png files, each with labeled, unit-bearing axes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C8B2C-8176-465F-9AEB-349A71C7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0020"/>
            <a:ext cx="22288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0900CA38-85D6-4D5A-8605-5B4F9FC9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6220"/>
            <a:ext cx="2000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captioned .gif saved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1E81C-7A78-45D0-9CE6-2E4ACA99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0020"/>
            <a:ext cx="52006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4672257A-6F7D-4223-B964-BC160B70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46220"/>
            <a:ext cx="49720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Your own progressive-reveal (or similar) animation, with a printed one-sentence caption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DFDC6-110D-4AFE-9EC3-0FA71B4A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1040"/>
            <a:ext cx="22288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D941C662-4B11-44B8-AED1-60707B26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7240"/>
            <a:ext cx="2000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Self-check asserts 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B65DF-3636-4418-A22A-FDECF446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11040"/>
            <a:ext cx="52006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329B2C93-AA22-4165-9078-B39A3E76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87240"/>
            <a:ext cx="49720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2-4 asserts on a different column or grouping of your own data run clean, top to bottom</a:t>
            </a:r>
          </a:p>
        </p:txBody>
      </p:sp>
      <p:sp>
        <p:nvSpPr>
          <p:cNvPr id="22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617CD663-9D67-4B11-9112-3E3F3B92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23" name="callout">
            <a:extLst xmlns:a="http://schemas.openxmlformats.org/drawingml/2006/main">
              <a:ext uri="{FF2B5EF4-FFF2-40B4-BE49-F238E27FC236}">
                <a16:creationId xmlns:a16="http://schemas.microsoft.com/office/drawing/2014/main" id="{059BDAE6-60B7-467E-8F8C-3F19340B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missing or fabricated AI-use disclosure caps this submission at 70%, regardless of technical quality -- per the course grading policy.</a:t>
            </a:r>
          </a:p>
        </p:txBody>
      </p:sp>
    </p:spTree>
    <p:extLst>
      <p:ext uri="{BB962C8B-B14F-4D97-AF65-F5344CB8AC3E}">
        <p14:creationId xmlns:p14="http://schemas.microsoft.com/office/powerpoint/2010/main" val="134768600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B93D2051-380B-4DB1-9739-A95F2247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OPTIONAL DELIVERY CHECKPOINT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DC54EB9-3037-44BA-B2D2-5CFA2588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Accessibility check: meaning survives without color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DB01C-3D74-42B5-ADAB-D68A511B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F8F99C2-1015-4901-8DBD-835115AB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6 · Meeting B · Visual Evidence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D59B78-EEB7-49F7-92C0-0AED0A3E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B37B80CF-694B-49DF-BD88-470CBEE6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REDUNDANT ENCODING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AA6AE753-ACDE-4F21-B2A4-F61A95EB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2711"/>
            <a:ext cx="52197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Use position, shape, line style, direct labels, or annotation in addition to color. A grayscale printout should preserve the comparison.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48F740D3-2910-4BA8-B365-24F1B595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ACCESSIBLE EXPORT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C252EBF2-CA13-4D82-9B40-47E0F6E6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2711"/>
            <a:ext cx="52197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Use descriptive titles, axes + units, sufficient contrast, and alt text that states the chart's purpose and main pattern—not every pixel.</a:t>
            </a:r>
          </a:p>
        </p:txBody>
      </p:sp>
    </p:spTree>
    <p:extLst>
      <p:ext uri="{BB962C8B-B14F-4D97-AF65-F5344CB8AC3E}">
        <p14:creationId xmlns:p14="http://schemas.microsoft.com/office/powerpoint/2010/main" val="190260069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061919E3-F425-4110-9642-281353A4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6 · MEETING B · VISUAL EVIDENCE STUDIO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CDCF06E-9BF2-4621-9E85-30C66DAC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Four figures, one honest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187D4-E0DE-41E3-92BE-71D41BA4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EBE35092-AA3B-4BA9-A718-5C978504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218CA0F7-D040-48F9-863C-70F71368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questions, three encodings, three saved figures -- distribution, comparison, relationship.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D237861C-8555-435E-B0D1-457D3E3D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882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6A6E8F36-D261-48FB-95B5-F53C4249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0722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.gif built with FuncAnimation is today's required, co-equal evidence, with its own one-sentence caption.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29733814-6289-46ED-A7D2-59ECE67A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444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971DE6CA-262A-43DC-9833-C3E61335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76344"/>
            <a:ext cx="10172700" cy="978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Most functions carry over via column-name arguments alone -- make_relationship_chart still needs its hardcoded group values and annotated room updated for your data.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0CADAF07-6B43-4728-94A4-20764825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810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17D59615-B301-475C-A0C4-0453ED58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50002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Today's four exports exceed what Project 1 needs -- Part III wants only two figures; the .gif is one of two optional Part IV choices.</a:t>
            </a:r>
          </a:p>
        </p:txBody>
      </p:sp>
    </p:spTree>
    <p:extLst>
      <p:ext uri="{BB962C8B-B14F-4D97-AF65-F5344CB8AC3E}">
        <p14:creationId xmlns:p14="http://schemas.microsoft.com/office/powerpoint/2010/main" val="1721449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2026-08-20T16:20:40.5620000Z</dcterms:created>
  <dcterms:modified xsi:type="dcterms:W3CDTF">2026-08-20T16:20:40.5620000Z</dcterms:modified>
</coreProperties>
</file>