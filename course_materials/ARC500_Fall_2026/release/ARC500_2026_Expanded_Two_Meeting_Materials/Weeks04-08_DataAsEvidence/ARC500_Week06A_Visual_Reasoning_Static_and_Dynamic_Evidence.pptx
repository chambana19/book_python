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3.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4.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9c3c7915f14c2c" /><Relationship Type="http://schemas.openxmlformats.org/officeDocument/2006/relationships/extended-properties" Target="/docProps/app.xml" Id="Reb079ce6975d437e" /><Relationship Type="http://schemas.openxmlformats.org/officeDocument/2006/relationships/officeDocument" Target="/ppt/presentation.xml" Id="R78a20f4851994816" /></Relationships>
</file>

<file path=ppt/presentation.xml><?xml version="1.0" encoding="utf-8"?>
<p:presentation xmlns:p="http://schemas.openxmlformats.org/presentationml/2006/main">
  <p:sldMasterIdLst>
    <p:sldMasterId xmlns:r="http://schemas.openxmlformats.org/officeDocument/2006/relationships" id="2147483648" r:id="R68e18913560a461c"/>
  </p:sldMasterIdLst>
  <p:notesMasterIdLst>
    <p:notesMasterId xmlns:r="http://schemas.openxmlformats.org/officeDocument/2006/relationships" r:id="R64f436b292804e0a"/>
  </p:notesMasterIdLst>
  <p:sldIdLst>
    <p:sldId xmlns:r="http://schemas.openxmlformats.org/officeDocument/2006/relationships" id="256" r:id="R038b955e15464921"/>
    <p:sldId xmlns:r="http://schemas.openxmlformats.org/officeDocument/2006/relationships" id="257" r:id="R1682a7d5cccd458a"/>
    <p:sldId xmlns:r="http://schemas.openxmlformats.org/officeDocument/2006/relationships" id="258" r:id="R680571a172c548a6"/>
    <p:sldId xmlns:r="http://schemas.openxmlformats.org/officeDocument/2006/relationships" id="259" r:id="R3f55e390a02341f4"/>
    <p:sldId xmlns:r="http://schemas.openxmlformats.org/officeDocument/2006/relationships" id="260" r:id="Rf00b2f23b9264e56"/>
    <p:sldId xmlns:r="http://schemas.openxmlformats.org/officeDocument/2006/relationships" id="261" r:id="R785e08fbcfbf459f"/>
    <p:sldId xmlns:r="http://schemas.openxmlformats.org/officeDocument/2006/relationships" id="262" r:id="R137800cc37a545b5"/>
    <p:sldId xmlns:r="http://schemas.openxmlformats.org/officeDocument/2006/relationships" id="263" r:id="R004a312f8786416b"/>
    <p:sldId xmlns:r="http://schemas.openxmlformats.org/officeDocument/2006/relationships" id="264" r:id="R8167a044eda54777"/>
    <p:sldId xmlns:r="http://schemas.openxmlformats.org/officeDocument/2006/relationships" id="265" r:id="Ra450641badcf45ec"/>
    <p:sldId xmlns:r="http://schemas.openxmlformats.org/officeDocument/2006/relationships" id="266" r:id="Rbd078e80b9154acf"/>
    <p:sldId xmlns:r="http://schemas.openxmlformats.org/officeDocument/2006/relationships" id="267" r:id="R6de080282a8b480b"/>
    <p:sldId xmlns:r="http://schemas.openxmlformats.org/officeDocument/2006/relationships" id="268" r:id="R0d16a0fe17af4390"/>
    <p:sldId xmlns:r="http://schemas.openxmlformats.org/officeDocument/2006/relationships" id="269" r:id="R404d7d519b7942e1"/>
    <p:sldId xmlns:r="http://schemas.openxmlformats.org/officeDocument/2006/relationships" id="270" r:id="Ref2f0b93a34c478b"/>
    <p:sldId xmlns:r="http://schemas.openxmlformats.org/officeDocument/2006/relationships" id="271" r:id="Raa1724c427c64a1b"/>
    <p:sldId xmlns:r="http://schemas.openxmlformats.org/officeDocument/2006/relationships" id="272" r:id="R1d155ffdf78d4bc7"/>
    <p:sldId xmlns:r="http://schemas.openxmlformats.org/officeDocument/2006/relationships" id="273" r:id="R690e6701b4594ad3"/>
    <p:sldId xmlns:r="http://schemas.openxmlformats.org/officeDocument/2006/relationships" id="274" r:id="Rb4347e02aa314010"/>
    <p:sldId xmlns:r="http://schemas.openxmlformats.org/officeDocument/2006/relationships" id="275" r:id="Rc467bd833a034f92"/>
    <p:sldId xmlns:r="http://schemas.openxmlformats.org/officeDocument/2006/relationships" id="276" r:id="Ree5b2057e5a74934"/>
    <p:sldId xmlns:r="http://schemas.openxmlformats.org/officeDocument/2006/relationships" id="277" r:id="R62e405732ea14be2"/>
    <p:sldId xmlns:r="http://schemas.openxmlformats.org/officeDocument/2006/relationships" id="278" r:id="Rcc22483be8494b61"/>
    <p:sldId xmlns:r="http://schemas.openxmlformats.org/officeDocument/2006/relationships" id="279" r:id="R211d808263644e73"/>
    <p:sldId xmlns:r="http://schemas.openxmlformats.org/officeDocument/2006/relationships" id="280" r:id="R3292a7a0fcae4f3d"/>
    <p:sldId xmlns:r="http://schemas.openxmlformats.org/officeDocument/2006/relationships" id="281" r:id="R08cc2486d3164fd2"/>
    <p:sldId xmlns:r="http://schemas.openxmlformats.org/officeDocument/2006/relationships" id="282" r:id="R2092d22eab124f13"/>
    <p:sldId xmlns:r="http://schemas.openxmlformats.org/officeDocument/2006/relationships" id="283" r:id="R95beb1496d3a4ca1"/>
    <p:sldId xmlns:r="http://schemas.openxmlformats.org/officeDocument/2006/relationships" id="284" r:id="R42008c554db6414d"/>
    <p:sldId xmlns:r="http://schemas.openxmlformats.org/officeDocument/2006/relationships" id="285" r:id="R41ef965c65bb442f"/>
    <p:sldId xmlns:r="http://schemas.openxmlformats.org/officeDocument/2006/relationships" id="286" r:id="Rc40b253d8c7d4de9"/>
    <p:sldId xmlns:r="http://schemas.openxmlformats.org/officeDocument/2006/relationships" id="287" r:id="Rbfb3ee38e2e04137"/>
    <p:sldId xmlns:r="http://schemas.openxmlformats.org/officeDocument/2006/relationships" id="288" r:id="Rf9acc01f3cb14e6b"/>
    <p:sldId xmlns:r="http://schemas.openxmlformats.org/officeDocument/2006/relationships" id="289" r:id="R789547de70cc4121"/>
    <p:sldId xmlns:r="http://schemas.openxmlformats.org/officeDocument/2006/relationships" id="290" r:id="Rbb53a5e074344e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e8d93c9d5a4175" /><Relationship Type="http://schemas.openxmlformats.org/officeDocument/2006/relationships/slideMaster" Target="/ppt/slideMasters/slideMaster1.xml" Id="R68e18913560a461c" /><Relationship Type="http://schemas.openxmlformats.org/officeDocument/2006/relationships/notesMaster" Target="/ppt/notesMasters/notesMaster1.xml" Id="R64f436b292804e0a" /><Relationship Type="http://schemas.openxmlformats.org/officeDocument/2006/relationships/presProps" Target="/ppt/presProps.xml" Id="R84cb95fc8865442b" /><Relationship Type="http://schemas.openxmlformats.org/officeDocument/2006/relationships/tableStyles" Target="/ppt/tableStyles.xml" Id="R48e5175198424c32" /><Relationship Type="http://schemas.openxmlformats.org/officeDocument/2006/relationships/slide" Target="/ppt/slides/slide1.xml" Id="R038b955e15464921" /><Relationship Type="http://schemas.openxmlformats.org/officeDocument/2006/relationships/slide" Target="/ppt/slides/slide2.xml" Id="R1682a7d5cccd458a" /><Relationship Type="http://schemas.openxmlformats.org/officeDocument/2006/relationships/slide" Target="/ppt/slides/slide3.xml" Id="R680571a172c548a6" /><Relationship Type="http://schemas.openxmlformats.org/officeDocument/2006/relationships/slide" Target="/ppt/slides/slide4.xml" Id="R3f55e390a02341f4" /><Relationship Type="http://schemas.openxmlformats.org/officeDocument/2006/relationships/slide" Target="/ppt/slides/slide5.xml" Id="Rf00b2f23b9264e56" /><Relationship Type="http://schemas.openxmlformats.org/officeDocument/2006/relationships/slide" Target="/ppt/slides/slide6.xml" Id="R785e08fbcfbf459f" /><Relationship Type="http://schemas.openxmlformats.org/officeDocument/2006/relationships/slide" Target="/ppt/slides/slide7.xml" Id="R137800cc37a545b5" /><Relationship Type="http://schemas.openxmlformats.org/officeDocument/2006/relationships/slide" Target="/ppt/slides/slide8.xml" Id="R004a312f8786416b" /><Relationship Type="http://schemas.openxmlformats.org/officeDocument/2006/relationships/slide" Target="/ppt/slides/slide9.xml" Id="R8167a044eda54777" /><Relationship Type="http://schemas.openxmlformats.org/officeDocument/2006/relationships/slide" Target="/ppt/slides/slide10.xml" Id="Ra450641badcf45ec" /><Relationship Type="http://schemas.openxmlformats.org/officeDocument/2006/relationships/slide" Target="/ppt/slides/slide11.xml" Id="Rbd078e80b9154acf" /><Relationship Type="http://schemas.openxmlformats.org/officeDocument/2006/relationships/slide" Target="/ppt/slides/slide12.xml" Id="R6de080282a8b480b" /><Relationship Type="http://schemas.openxmlformats.org/officeDocument/2006/relationships/slide" Target="/ppt/slides/slide13.xml" Id="R0d16a0fe17af4390" /><Relationship Type="http://schemas.openxmlformats.org/officeDocument/2006/relationships/slide" Target="/ppt/slides/slide14.xml" Id="R404d7d519b7942e1" /><Relationship Type="http://schemas.openxmlformats.org/officeDocument/2006/relationships/slide" Target="/ppt/slides/slide15.xml" Id="Ref2f0b93a34c478b" /><Relationship Type="http://schemas.openxmlformats.org/officeDocument/2006/relationships/slide" Target="/ppt/slides/slide16.xml" Id="Raa1724c427c64a1b" /><Relationship Type="http://schemas.openxmlformats.org/officeDocument/2006/relationships/slide" Target="/ppt/slides/slide17.xml" Id="R1d155ffdf78d4bc7" /><Relationship Type="http://schemas.openxmlformats.org/officeDocument/2006/relationships/slide" Target="/ppt/slides/slide18.xml" Id="R690e6701b4594ad3" /><Relationship Type="http://schemas.openxmlformats.org/officeDocument/2006/relationships/slide" Target="/ppt/slides/slide19.xml" Id="Rb4347e02aa314010" /><Relationship Type="http://schemas.openxmlformats.org/officeDocument/2006/relationships/slide" Target="/ppt/slides/slide20.xml" Id="Rc467bd833a034f92" /><Relationship Type="http://schemas.openxmlformats.org/officeDocument/2006/relationships/slide" Target="/ppt/slides/slide21.xml" Id="Ree5b2057e5a74934" /><Relationship Type="http://schemas.openxmlformats.org/officeDocument/2006/relationships/slide" Target="/ppt/slides/slide22.xml" Id="R62e405732ea14be2" /><Relationship Type="http://schemas.openxmlformats.org/officeDocument/2006/relationships/slide" Target="/ppt/slides/slide23.xml" Id="Rcc22483be8494b61" /><Relationship Type="http://schemas.openxmlformats.org/officeDocument/2006/relationships/slide" Target="/ppt/slides/slide24.xml" Id="R211d808263644e73" /><Relationship Type="http://schemas.openxmlformats.org/officeDocument/2006/relationships/slide" Target="/ppt/slides/slide25.xml" Id="R3292a7a0fcae4f3d" /><Relationship Type="http://schemas.openxmlformats.org/officeDocument/2006/relationships/slide" Target="/ppt/slides/slide26.xml" Id="R08cc2486d3164fd2" /><Relationship Type="http://schemas.openxmlformats.org/officeDocument/2006/relationships/slide" Target="/ppt/slides/slide27.xml" Id="R2092d22eab124f13" /><Relationship Type="http://schemas.openxmlformats.org/officeDocument/2006/relationships/slide" Target="/ppt/slides/slide28.xml" Id="R95beb1496d3a4ca1" /><Relationship Type="http://schemas.openxmlformats.org/officeDocument/2006/relationships/slide" Target="/ppt/slides/slide29.xml" Id="R42008c554db6414d" /><Relationship Type="http://schemas.openxmlformats.org/officeDocument/2006/relationships/slide" Target="/ppt/slides/slide30.xml" Id="R41ef965c65bb442f" /><Relationship Type="http://schemas.openxmlformats.org/officeDocument/2006/relationships/slide" Target="/ppt/slides/slide31.xml" Id="Rc40b253d8c7d4de9" /><Relationship Type="http://schemas.openxmlformats.org/officeDocument/2006/relationships/slide" Target="/ppt/slides/slide32.xml" Id="Rbfb3ee38e2e04137" /><Relationship Type="http://schemas.openxmlformats.org/officeDocument/2006/relationships/slide" Target="/ppt/slides/slide33.xml" Id="Rf9acc01f3cb14e6b" /><Relationship Type="http://schemas.openxmlformats.org/officeDocument/2006/relationships/slide" Target="/ppt/slides/slide34.xml" Id="R789547de70cc4121" /><Relationship Type="http://schemas.openxmlformats.org/officeDocument/2006/relationships/slide" Target="/ppt/slides/slide35.xml" Id="Rbb53a5e074344e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33af9e02634c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adf7ba88e94ce1" /><Relationship Type="http://schemas.openxmlformats.org/officeDocument/2006/relationships/notesMaster" Target="/ppt/notesMasters/notesMaster1.xml" Id="R132276de76ff47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81fefb060a4458" /><Relationship Type="http://schemas.openxmlformats.org/officeDocument/2006/relationships/notesMaster" Target="/ppt/notesMasters/notesMaster1.xml" Id="R3bd52a790fe14e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f2a42935334589" /><Relationship Type="http://schemas.openxmlformats.org/officeDocument/2006/relationships/notesMaster" Target="/ppt/notesMasters/notesMaster1.xml" Id="R320a33b54a794d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c3c108531344b1" /><Relationship Type="http://schemas.openxmlformats.org/officeDocument/2006/relationships/notesMaster" Target="/ppt/notesMasters/notesMaster1.xml" Id="R29067dc8121a4e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bdafd6e4f14518" /><Relationship Type="http://schemas.openxmlformats.org/officeDocument/2006/relationships/notesMaster" Target="/ppt/notesMasters/notesMaster1.xml" Id="Rb3a10b149c3e4d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d38a295bab4bc9" /><Relationship Type="http://schemas.openxmlformats.org/officeDocument/2006/relationships/notesMaster" Target="/ppt/notesMasters/notesMaster1.xml" Id="Rae0d7f8279ac4ab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a8943f554e4e0c" /><Relationship Type="http://schemas.openxmlformats.org/officeDocument/2006/relationships/notesMaster" Target="/ppt/notesMasters/notesMaster1.xml" Id="R6efca5bcf09548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d7e3b1ad6142e4" /><Relationship Type="http://schemas.openxmlformats.org/officeDocument/2006/relationships/notesMaster" Target="/ppt/notesMasters/notesMaster1.xml" Id="Rca85f90edd3744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bb14accbaa4a51" /><Relationship Type="http://schemas.openxmlformats.org/officeDocument/2006/relationships/notesMaster" Target="/ppt/notesMasters/notesMaster1.xml" Id="Rf2594fa76a2247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bbad74ef87e40fd" /><Relationship Type="http://schemas.openxmlformats.org/officeDocument/2006/relationships/notesMaster" Target="/ppt/notesMasters/notesMaster1.xml" Id="Rc12c2c7773ec40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736822e6fc4825" /><Relationship Type="http://schemas.openxmlformats.org/officeDocument/2006/relationships/notesMaster" Target="/ppt/notesMasters/notesMaster1.xml" Id="Rb94a2ce9471a46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cae26d17ddc41b8" /><Relationship Type="http://schemas.openxmlformats.org/officeDocument/2006/relationships/notesMaster" Target="/ppt/notesMasters/notesMaster1.xml" Id="R68ae9257542b4b9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b5743eaa0f345bc" /><Relationship Type="http://schemas.openxmlformats.org/officeDocument/2006/relationships/notesMaster" Target="/ppt/notesMasters/notesMaster1.xml" Id="R23931bf49c8648c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f94628ab66b4999" /><Relationship Type="http://schemas.openxmlformats.org/officeDocument/2006/relationships/notesMaster" Target="/ppt/notesMasters/notesMaster1.xml" Id="R6e8350eba1f8460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c950e6f1c04c17" /><Relationship Type="http://schemas.openxmlformats.org/officeDocument/2006/relationships/notesMaster" Target="/ppt/notesMasters/notesMaster1.xml" Id="Rfbec3475a8754f2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c38526ef1704b65" /><Relationship Type="http://schemas.openxmlformats.org/officeDocument/2006/relationships/notesMaster" Target="/ppt/notesMasters/notesMaster1.xml" Id="R5e3df66e332c448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d5de44682cd4d52" /><Relationship Type="http://schemas.openxmlformats.org/officeDocument/2006/relationships/notesMaster" Target="/ppt/notesMasters/notesMaster1.xml" Id="R723f8e618cce4e1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5875d5d9d3d44b3" /><Relationship Type="http://schemas.openxmlformats.org/officeDocument/2006/relationships/notesMaster" Target="/ppt/notesMasters/notesMaster1.xml" Id="R39a9c0fefd32441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7819ad4bc9d40e3" /><Relationship Type="http://schemas.openxmlformats.org/officeDocument/2006/relationships/notesMaster" Target="/ppt/notesMasters/notesMaster1.xml" Id="Raa7c942980a54ef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a9ead0466db475e" /><Relationship Type="http://schemas.openxmlformats.org/officeDocument/2006/relationships/notesMaster" Target="/ppt/notesMasters/notesMaster1.xml" Id="Ra4165fbde2c540f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5cc1830b81e4246" /><Relationship Type="http://schemas.openxmlformats.org/officeDocument/2006/relationships/notesMaster" Target="/ppt/notesMasters/notesMaster1.xml" Id="R15317174c81b4c6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c3e6a71d504431d" /><Relationship Type="http://schemas.openxmlformats.org/officeDocument/2006/relationships/notesMaster" Target="/ppt/notesMasters/notesMaster1.xml" Id="Rd28b253529e94d8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df678d8bb38411a" /><Relationship Type="http://schemas.openxmlformats.org/officeDocument/2006/relationships/notesMaster" Target="/ppt/notesMasters/notesMaster1.xml" Id="Rb6e7aaf580d842a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592e393b8174614" /><Relationship Type="http://schemas.openxmlformats.org/officeDocument/2006/relationships/notesMaster" Target="/ppt/notesMasters/notesMaster1.xml" Id="R753513d7678b41a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3d1639d1d004fca" /><Relationship Type="http://schemas.openxmlformats.org/officeDocument/2006/relationships/notesMaster" Target="/ppt/notesMasters/notesMaster1.xml" Id="Ra50fbed64dd44e3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393ecc7fe4342be" /><Relationship Type="http://schemas.openxmlformats.org/officeDocument/2006/relationships/notesMaster" Target="/ppt/notesMasters/notesMaster1.xml" Id="Rb87f8bc8416349d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b6e1218d37d4c4f" /><Relationship Type="http://schemas.openxmlformats.org/officeDocument/2006/relationships/notesMaster" Target="/ppt/notesMasters/notesMaster1.xml" Id="R0b8442abfb334a6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503d6ce9bd14430" /><Relationship Type="http://schemas.openxmlformats.org/officeDocument/2006/relationships/notesMaster" Target="/ppt/notesMasters/notesMaster1.xml" Id="R5f0debffc9aa419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d3c7bbdf09e4b80" /><Relationship Type="http://schemas.openxmlformats.org/officeDocument/2006/relationships/notesMaster" Target="/ppt/notesMasters/notesMaster1.xml" Id="Rdc068b71f55c4b3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8d58e9156c2420f" /><Relationship Type="http://schemas.openxmlformats.org/officeDocument/2006/relationships/notesMaster" Target="/ppt/notesMasters/notesMaster1.xml" Id="Rc467edea089d438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3a64d72346f4484" /><Relationship Type="http://schemas.openxmlformats.org/officeDocument/2006/relationships/notesMaster" Target="/ppt/notesMasters/notesMaster1.xml" Id="R5b10c1dc07cf481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dced72cdd694e90" /><Relationship Type="http://schemas.openxmlformats.org/officeDocument/2006/relationships/notesMaster" Target="/ppt/notesMasters/notesMaster1.xml" Id="R118bed0bf5cf435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cb26539fcc94f18" /><Relationship Type="http://schemas.openxmlformats.org/officeDocument/2006/relationships/notesMaster" Target="/ppt/notesMasters/notesMaster1.xml" Id="Rd2a33fbf6afe4d5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f7a6523daae4b3a" /><Relationship Type="http://schemas.openxmlformats.org/officeDocument/2006/relationships/notesMaster" Target="/ppt/notesMasters/notesMaster1.xml" Id="R0882be63a3b64f3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6f6e167e05b482b" /><Relationship Type="http://schemas.openxmlformats.org/officeDocument/2006/relationships/notesMaster" Target="/ppt/notesMasters/notesMaster1.xml" Id="R495d6990484342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Open by asking: if South-zone rooms really do use about 80% more energy than North (Week 5's finding), how would you convince someone who will never read a groupby table? Preview that today builds the chart -- and the animation -- that make that claim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Emphasize 'co-equal' explicitly here -- this framing recurs at the FuncAnimation section later and should not be treated as a late addendum tacked onto static charts.</a:t>
            </a:r>
          </a:p>
          <a:p xmlns:a="http://schemas.openxmlformats.org/drawingml/2006/main">
            <a:r>
              <a:t/>
            </a:r>
          </a:p>
          <a:p xmlns:a="http://schemas.openxmlformats.org/drawingml/2006/main">
            <a:r>
              <a:t>[Sources]</a:t>
            </a:r>
          </a:p>
          <a:p xmlns:a="http://schemas.openxmlformats.org/drawingml/2006/main">
            <a:r>
              <a:t>- https://matplotlib.org/stable/users/explain/quick_start.html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Flag outcome 4 explicitly as equal in weight to outcomes 1-3, not a bonus -- this is the framing the whole session protects.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Tell students today's four Radley Hall figures (one per agenda item) are the full menu of encodings; Project 1 Part III asks for exactly two of these -- a group/distribution figure and a relationship/change figure -- on their own dataset, with today's .gif available as one path through Part IV's evidence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Write the four question families on the board before any chart type is named -- the point is that the question comes first, the chart type is chosen in service of it.</a:t>
            </a:r>
          </a:p>
          <a:p xmlns:a="http://schemas.openxmlformats.org/drawingml/2006/main">
            <a:r>
              <a:t/>
            </a:r>
          </a:p>
          <a:p xmlns:a="http://schemas.openxmlformats.org/drawingml/2006/main">
            <a:r>
              <a:t>[Sources]</a:t>
            </a:r>
          </a:p>
          <a:p xmlns:a="http://schemas.openxmlformats.org/drawingml/2006/main">
            <a:r>
              <a:t>- https://matplotlib.org/stable/users/explain/quick_start.html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Walk the four rows left to right. Ask students to name which row's chart type could NOT answer one of the other rows' questions -- the point is the encodings are not interchangeable.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Contrast with plt.plot() used alone (no named ax) -- explain that this course always names fig and ax because later slides need to call methods on a specific ax.</a:t>
            </a:r>
          </a:p>
          <a:p xmlns:a="http://schemas.openxmlformats.org/drawingml/2006/main">
            <a:r>
              <a:t/>
            </a:r>
          </a:p>
          <a:p xmlns:a="http://schemas.openxmlformats.org/drawingml/2006/main">
            <a:r>
              <a:t>[Sources]</a:t>
            </a:r>
          </a:p>
          <a:p xmlns:a="http://schemas.openxmlformats.org/drawingml/2006/main">
            <a:r>
              <a:t>- https://matplotlib.org/stable/tutorials/lifecycle.html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Run this live and open first_plot.png from the Files pane -- some students expect a pop-up window; explain that scripted Matplotlib in Spyder does not require one to produce a saved file.</a:t>
            </a:r>
          </a:p>
          <a:p xmlns:a="http://schemas.openxmlformats.org/drawingml/2006/main">
            <a:r>
              <a:t/>
            </a:r>
          </a:p>
          <a:p xmlns:a="http://schemas.openxmlformats.org/drawingml/2006/main">
            <a:r>
              <a:t>[Sources]</a:t>
            </a:r>
          </a:p>
          <a:p xmlns:a="http://schemas.openxmlformats.org/drawingml/2006/main">
            <a:r>
              <a:t>- https://matplotlib.org/stable/users/explain/quick_start.html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students to sketch 3 bins on the board first and count the boundary marks between and around them (4) before revealing this is the same off-by-one logic scaled up to 6 bins.</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Ask students to guess, before revealing edges, how wide each bin must be if the axis has to stretch from 12 all the way to 410 in only 6 equal steps. Confirm len(edges) is 7, exactly as the previous slide predicted.</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out this is a real, rendered chart -- not a description of one. Ask what a reader would wrongly assume about 'typical' energy use if the R306 bar were quietly dropped.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Have students identify, out loud, the three separate calls that make this a defensible figure: hist(), set_xlabel()/set_ylabel(), and set_title() -- three habits, not one.</a:t>
            </a:r>
          </a:p>
          <a:p xmlns:a="http://schemas.openxmlformats.org/drawingml/2006/main">
            <a:r>
              <a:t/>
            </a:r>
          </a:p>
          <a:p xmlns:a="http://schemas.openxmlformats.org/drawingml/2006/main">
            <a:r>
              <a:t>[Sources]</a:t>
            </a:r>
          </a:p>
          <a:p xmlns:a="http://schemas.openxmlformats.org/drawingml/2006/main">
            <a:r>
              <a:t>- https://matplotlib.org/stable/users/explain/quick_start.html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what an axis labeled only 'Energy' (no unit) actually claims -- kWh total? per m2? per year? An unlabeled unit is a real ambiguity, not a cosmetic 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 legend is required, not optional, the moment a figure plots two labeled series on the same axes -- point to the upcoming North/South scatter as the exact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is the single most common mix-up when a student later tries zone_summary['zone'] and hits a KeyError -- flag it now, before it happens live in Meeting B.</a:t>
            </a:r>
          </a:p>
          <a:p xmlns:a="http://schemas.openxmlformats.org/drawingml/2006/main">
            <a:r>
              <a:t/>
            </a:r>
          </a:p>
          <a:p xmlns:a="http://schemas.openxmlformats.org/drawingml/2006/main">
            <a:r>
              <a:t>[Sources]</a:t>
            </a:r>
          </a:p>
          <a:p xmlns:a="http://schemas.openxmlformats.org/drawingml/2006/main">
            <a:r>
              <a:t>- https://pandas.pydata.org/docs/user_guide/index.html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This is a direct reuse of Week 5's exact numbers -- do not recompute or re-derive them here; the point of today is visualizing an already-established finding.</a:t>
            </a:r>
          </a:p>
          <a:p xmlns:a="http://schemas.openxmlformats.org/drawingml/2006/main">
            <a:r>
              <a:t/>
            </a:r>
          </a:p>
          <a:p xmlns:a="http://schemas.openxmlformats.org/drawingml/2006/main">
            <a:r>
              <a:t>[Sources]</a:t>
            </a:r>
          </a:p>
          <a:p xmlns:a="http://schemas.openxmlformats.org/drawingml/2006/main">
            <a:r>
              <a:t>- https://pandas.pydata.org/docs/user_guide/index.html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Ask why this chart alone, without the earlier table, would still be defensible evidence -- the n=12/12 sample-size context from Week 5 is the piece a chart like this can silently lose if it's shown without its source table nearby.</a:t>
            </a:r>
          </a:p>
          <a:p xmlns:a="http://schemas.openxmlformats.org/drawingml/2006/main">
            <a:r>
              <a:t/>
            </a:r>
          </a:p>
          <a:p xmlns:a="http://schemas.openxmlformats.org/drawingml/2006/main">
            <a:r>
              <a:t>[Sources]</a:t>
            </a:r>
          </a:p>
          <a:p xmlns:a="http://schemas.openxmlformats.org/drawingml/2006/main">
            <a:r>
              <a:t>- https://matplotlib.org/stable/users/explain/quick_start.html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what's missing from this chart that the earlier table had -- the answer is n (sample size per group); a bar chart of means alone can hide a small, unreliable 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Write xy and xytext on the board as two separate coordinate pairs before showing code -- the single most common student mix-up is swapping which one is which.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Point out south is n=11, not 12 -- room R206's missing energy value is dropped here, the same missing value from Week 4's trustworthiness interview. Note also this is the SAME area_m2/energy relationship Week 5 discussed only as numbers -- today it becomes a picture.</a:t>
            </a:r>
          </a:p>
          <a:p xmlns:a="http://schemas.openxmlformats.org/drawingml/2006/main">
            <a:r>
              <a:t/>
            </a:r>
          </a:p>
          <a:p xmlns:a="http://schemas.openxmlformats.org/drawingml/2006/main">
            <a:r>
              <a:t>[Sources]</a:t>
            </a:r>
          </a:p>
          <a:p xmlns:a="http://schemas.openxmlformats.org/drawingml/2006/main">
            <a:r>
              <a:t>- https://matplotlib.org/stable/users/explain/colors/colormaps.html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Use this contrast deliberately -- name out loud that a fast native chart is a legitimate first look, but the annotated, submittable evidence Project 1 requires needs the code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Be explicit that a line chart implies an ORDER, not just a category -- reordering North/South alphabetically would be fine for a bar chart, but reordering floors 3,1,2 on a line chart would misrepresent the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Teaching notes: This is a genuine open question, not a solved one -- ask whether the class believes 'higher floors use more energy' or 'floor 3 happens to contain one server closet' is the better-supported claim from this data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Contrast this chart with the earlier bar chart -- ask why a line, not bars, is the right choice here (floor has a genuine order; zone North/South does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Say plainly: everything in the last several slides was a snapshot. This is the first tool this course has taught that shows a claim CHANGING, not just stated once.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Confirm students can say, in one sentence, the difference between a frame (one still image) and the saved .gif (every frame stitched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to each numbered chip in order -- ani is the object saved later; FuncAnimation is the constructor; fig is the figure reused every frame; update is the function called once per frame; frames=n sets how many times update runs.</a:t>
            </a:r>
          </a:p>
          <a:p xmlns:a="http://schemas.openxmlformats.org/drawingml/2006/main">
            <a:r>
              <a:t/>
            </a:r>
          </a:p>
          <a:p xmlns:a="http://schemas.openxmlformats.org/drawingml/2006/main">
            <a:r>
              <a:t>[Sources]</a:t>
            </a:r>
          </a:p>
          <a:p xmlns:a="http://schemas.openxmlformats.org/drawingml/2006/main">
            <a:r>
              <a:t>- https://matplotlib.org/stable/tutorials/lifecycle.html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Walk this exactly in order on the board before showing any code -- students should be able to name all four moves from memory before Meeting B's studio.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Let students commit to an answer before revealing -- most beginners assume matplotlib 'remembers' a scale once set; ax.clear() erasing stored limits, not just drawn artists, is the point of this check.</a:t>
            </a:r>
          </a:p>
          <a:p xmlns:a="http://schemas.openxmlformats.org/drawingml/2006/main">
            <a:r>
              <a:t/>
            </a:r>
          </a:p>
          <a:p xmlns:a="http://schemas.openxmlformats.org/drawingml/2006/main">
            <a:r>
              <a:t>[Sources]</a:t>
            </a:r>
          </a:p>
          <a:p xmlns:a="http://schemas.openxmlformats.org/drawingml/2006/main">
            <a:r>
              <a:t>- https://matplotlib.org/stable/tutorials/lifecycle.html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Teaching notes: Point at ax.clear() and ask what would happen without it (bars from every previous frame would pile up rather than being redrawn cleanly) -- this is the single most common animation bug.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Confirm out loud that this .gif is graded with the exact same weight as the three static figures on the earlier slides -- restate the co-equal framing from the very start of this deck.</a:t>
            </a:r>
          </a:p>
          <a:p xmlns:a="http://schemas.openxmlformats.org/drawingml/2006/main">
            <a:r>
              <a:t/>
            </a:r>
          </a:p>
          <a:p xmlns:a="http://schemas.openxmlformats.org/drawingml/2006/main">
            <a:r>
              <a:t>[Sources]</a:t>
            </a:r>
          </a:p>
          <a:p xmlns:a="http://schemas.openxmlformats.org/drawingml/2006/main">
            <a:r>
              <a:t>- https://matplotlib.org/stable/tutorials/lifecycle.html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Correct two beliefs at once before Meeting B's studio begins: it is not four figures (Part III needs exactly two), and the gif is not automatically required either -- it is one of two legitimate Part IV choices, alongside next week's GeoPandas map. Build the animation skill for real regardless; many students will choose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Teaching notes: Expected: histogram for room-area distribution; bar chart for carbon by assembly; scatterplot for WWR–EUI relationship; line plot for monthly overheating. Animation is justified only if the sequence itself reveals an accumulation or transition that a static line cannot. Require one reason, unit, and honest annotation for every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Optional current-practice bridge. Name Vega-Lite as one declarative example without changing today's Matplotlib core. The professional habit is the sequence: question → reproducible specification → accessible encoding → justified delivery medium. Ask students which step an AI-generated chart most often skips; expected answer: the question or the accessibility check.</a:t>
            </a:r>
          </a:p>
          <a:p xmlns:a="http://schemas.openxmlformats.org/drawingml/2006/main">
            <a:r>
              <a:t/>
            </a:r>
          </a:p>
          <a:p xmlns:a="http://schemas.openxmlformats.org/drawingml/2006/main">
            <a:r>
              <a:t>[Sources]</a:t>
            </a:r>
          </a:p>
          <a:p xmlns:a="http://schemas.openxmlformats.org/drawingml/2006/main">
            <a:r>
              <a:t>- https://matplotlib.org/stable/users/explain/quick_start.html</a:t>
            </a:r>
          </a:p>
          <a:p xmlns:a="http://schemas.openxmlformats.org/drawingml/2006/main">
            <a:r>
              <a:t>- https://vega.github.io/vega-lite/</a:t>
            </a:r>
          </a:p>
          <a:p xmlns:a="http://schemas.openxmlformats.org/drawingml/2006/main">
            <a:r>
              <a:t>- https://www.w3.org/WAI/WCAG22/Understanding/use-of-color.html</a:t>
            </a:r>
          </a:p>
          <a:p xmlns:a="http://schemas.openxmlformats.org/drawingml/2006/main">
            <a:r>
              <a:t>- https://www.w3.org/WAI/tutorials/images/complex/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Exit prompt: ask students which of today's four Radley Hall figures they would open a design conversation with, and why that one over the other three.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38d18194f540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4bd6c456774817" /><Relationship Type="http://schemas.openxmlformats.org/officeDocument/2006/relationships/slideLayout" Target="/ppt/slideLayouts/slideLayout1.xml" Id="R604526ad13584b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4526ad13584b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a1ea6c62e754b4a" /><Relationship Type="http://schemas.openxmlformats.org/officeDocument/2006/relationships/notesSlide" Target="/ppt/notesSlides/notesSlide1.xml" Id="R5f6839d67e2540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ae22141acce43fe" /><Relationship Type="http://schemas.openxmlformats.org/officeDocument/2006/relationships/notesSlide" Target="/ppt/notesSlides/notesSlide2.xml" Id="R701fcef2aaa349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267f859cd87474a" /><Relationship Type="http://schemas.openxmlformats.org/officeDocument/2006/relationships/notesSlide" Target="/ppt/notesSlides/notesSlide3.xml" Id="Rd4762b8ecaef48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cb63d8a51b7473f" /><Relationship Type="http://schemas.openxmlformats.org/officeDocument/2006/relationships/notesSlide" Target="/ppt/notesSlides/notesSlide4.xml" Id="R84734fcdc77f4b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1cc8752c2f4b1f" /><Relationship Type="http://schemas.openxmlformats.org/officeDocument/2006/relationships/notesSlide" Target="/ppt/notesSlides/notesSlide5.xml" Id="R82abc664b7c248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6ef8fb16b349d0" /><Relationship Type="http://schemas.openxmlformats.org/officeDocument/2006/relationships/notesSlide" Target="/ppt/notesSlides/notesSlide6.xml" Id="Ra458e5908a54492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b1886bd53794a15" /><Relationship Type="http://schemas.openxmlformats.org/officeDocument/2006/relationships/notesSlide" Target="/ppt/notesSlides/notesSlide7.xml" Id="Reeb8b2bfb43f4e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a12248834349a2" /><Relationship Type="http://schemas.openxmlformats.org/officeDocument/2006/relationships/notesSlide" Target="/ppt/notesSlides/notesSlide8.xml" Id="Rb34e60a239fe4f6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8da56e6ceb04e21" /><Relationship Type="http://schemas.openxmlformats.org/officeDocument/2006/relationships/notesSlide" Target="/ppt/notesSlides/notesSlide9.xml" Id="R82f69f641ff143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26fe7ba863c403b" /><Relationship Type="http://schemas.openxmlformats.org/officeDocument/2006/relationships/notesSlide" Target="/ppt/notesSlides/notesSlide10.xml" Id="Rc3e8ac74b1ab46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e371bb51b884b7f" /><Relationship Type="http://schemas.openxmlformats.org/officeDocument/2006/relationships/chart" Target="/ppt/slides/charts/chart1.xml" Id="Rceb540a1cb8f47bd" /><Relationship Type="http://schemas.openxmlformats.org/officeDocument/2006/relationships/notesSlide" Target="/ppt/notesSlides/notesSlide11.xml" Id="R40ce37e11bc04d5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30b1c1c1c15466a" /><Relationship Type="http://schemas.openxmlformats.org/officeDocument/2006/relationships/notesSlide" Target="/ppt/notesSlides/notesSlide12.xml" Id="R28f171251a2643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cfdbb96c4714d14" /><Relationship Type="http://schemas.openxmlformats.org/officeDocument/2006/relationships/notesSlide" Target="/ppt/notesSlides/notesSlide13.xml" Id="R6583b1e3c89e457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f0169bd8e954d78" /><Relationship Type="http://schemas.openxmlformats.org/officeDocument/2006/relationships/notesSlide" Target="/ppt/notesSlides/notesSlide14.xml" Id="R0cf7160b50f0407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195c2b93c6a4c51" /><Relationship Type="http://schemas.openxmlformats.org/officeDocument/2006/relationships/notesSlide" Target="/ppt/notesSlides/notesSlide15.xml" Id="R4e39cda642604e9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0e357f2ee164b4a" /><Relationship Type="http://schemas.openxmlformats.org/officeDocument/2006/relationships/notesSlide" Target="/ppt/notesSlides/notesSlide16.xml" Id="Rc0f1d2cbbe1b4b5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64d4a5225d34cc6" /><Relationship Type="http://schemas.openxmlformats.org/officeDocument/2006/relationships/notesSlide" Target="/ppt/notesSlides/notesSlide17.xml" Id="Rfe00f01c8409455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341d23795eb407f" /><Relationship Type="http://schemas.openxmlformats.org/officeDocument/2006/relationships/chart" Target="/ppt/slides/charts/chart2.xml" Id="Ra6d664b4f92b4ff0" /><Relationship Type="http://schemas.openxmlformats.org/officeDocument/2006/relationships/notesSlide" Target="/ppt/notesSlides/notesSlide18.xml" Id="R4d217d615233424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f991549d9e34692" /><Relationship Type="http://schemas.openxmlformats.org/officeDocument/2006/relationships/notesSlide" Target="/ppt/notesSlides/notesSlide19.xml" Id="R7150d4df3c9748d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b34ddcdd912425a" /><Relationship Type="http://schemas.openxmlformats.org/officeDocument/2006/relationships/notesSlide" Target="/ppt/notesSlides/notesSlide20.xml" Id="R12beb9eeaaf94d0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0a047e024e34c18" /><Relationship Type="http://schemas.openxmlformats.org/officeDocument/2006/relationships/chart" Target="/ppt/slides/charts/chart3.xml" Id="R4403ea06df964bac" /><Relationship Type="http://schemas.openxmlformats.org/officeDocument/2006/relationships/notesSlide" Target="/ppt/notesSlides/notesSlide21.xml" Id="R99cc92b90e874a4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1cff610c6064888" /><Relationship Type="http://schemas.openxmlformats.org/officeDocument/2006/relationships/notesSlide" Target="/ppt/notesSlides/notesSlide22.xml" Id="R32d5d7ec20a34b2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7cf0a6b01da4729" /><Relationship Type="http://schemas.openxmlformats.org/officeDocument/2006/relationships/notesSlide" Target="/ppt/notesSlides/notesSlide23.xml" Id="R0bd32519bc044dd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ccf098f8d12416e" /><Relationship Type="http://schemas.openxmlformats.org/officeDocument/2006/relationships/chart" Target="/ppt/slides/charts/chart4.xml" Id="R5cb7a1ab6e6f4956" /><Relationship Type="http://schemas.openxmlformats.org/officeDocument/2006/relationships/notesSlide" Target="/ppt/notesSlides/notesSlide24.xml" Id="R2775ef9a3fa54e6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0daddcf414043da" /><Relationship Type="http://schemas.openxmlformats.org/officeDocument/2006/relationships/notesSlide" Target="/ppt/notesSlides/notesSlide25.xml" Id="R796a6f91a88c460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0ea303f560947b7" /><Relationship Type="http://schemas.openxmlformats.org/officeDocument/2006/relationships/notesSlide" Target="/ppt/notesSlides/notesSlide26.xml" Id="Redcc8dcc66af489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6afc5f3f49f45d0" /><Relationship Type="http://schemas.openxmlformats.org/officeDocument/2006/relationships/notesSlide" Target="/ppt/notesSlides/notesSlide27.xml" Id="R26fae36cb11142f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f19911f83284a5c" /><Relationship Type="http://schemas.openxmlformats.org/officeDocument/2006/relationships/notesSlide" Target="/ppt/notesSlides/notesSlide28.xml" Id="Rbe9b8f13dd7342b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cb67211a58a40f1" /><Relationship Type="http://schemas.openxmlformats.org/officeDocument/2006/relationships/notesSlide" Target="/ppt/notesSlides/notesSlide29.xml" Id="R49d39d3946154a2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a9824d25ca44a96" /><Relationship Type="http://schemas.openxmlformats.org/officeDocument/2006/relationships/notesSlide" Target="/ppt/notesSlides/notesSlide30.xml" Id="R5d270d1e897549d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3f0caae698a43ab" /><Relationship Type="http://schemas.openxmlformats.org/officeDocument/2006/relationships/notesSlide" Target="/ppt/notesSlides/notesSlide31.xml" Id="R4a458e90466347e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c3c39ddffb2474b" /><Relationship Type="http://schemas.openxmlformats.org/officeDocument/2006/relationships/notesSlide" Target="/ppt/notesSlides/notesSlide32.xml" Id="R2d3fdf01edde49a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73d4413fe7f4980" /><Relationship Type="http://schemas.openxmlformats.org/officeDocument/2006/relationships/notesSlide" Target="/ppt/notesSlides/notesSlide33.xml" Id="Ra12e8c5e0258481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bc64c03c87c4770" /><Relationship Type="http://schemas.openxmlformats.org/officeDocument/2006/relationships/notesSlide" Target="/ppt/notesSlides/notesSlide34.xml" Id="R9b6ac83a6abe488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06b0e9ef55741f2" /><Relationship Type="http://schemas.openxmlformats.org/officeDocument/2006/relationships/notesSlide" Target="/ppt/notesSlides/notesSlide35.xml" Id="Rc4ca59d3b2044d19"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200" b="1">
                <a:solidFill>
                  <a:srgbClr val="111316"/>
                </a:solidFill>
              </a:rPr>
              <a:t>Distribution of room energy use, Radley Hall</a:t>
            </a:r>
          </a:p>
        </c:rich>
      </c:tx>
      <c:overlay val="0"/>
      <c:txPr>
        <a:bodyPr xmlns:a="http://schemas.openxmlformats.org/drawingml/2006/main" anchorCtr="1"/>
        <a:lstStyle xmlns:a="http://schemas.openxmlformats.org/drawingml/2006/main"/>
        <a:p xmlns:a="http://schemas.openxmlformats.org/drawingml/2006/main">
          <a:pPr>
            <a:defRPr sz="1200" b="1">
              <a:solidFill>
                <a:srgbClr val="111316"/>
              </a:solidFill>
            </a:defRPr>
          </a:pPr>
        </a:p>
      </c:txPr>
    </c:title>
    <c:plotArea>
      <c:barChart>
        <c:barDir val="col"/>
        <c:varyColors val="0"/>
        <c:ser>
          <c:idx val="0"/>
          <c:order val="0"/>
          <c:tx>
            <c:v>Rooms</c:v>
          </c:tx>
          <c:cat>
            <c:strLit>
              <c:ptCount val="6"/>
              <c:pt idx="0">
                <c:v>12-78</c:v>
              </c:pt>
              <c:pt idx="1">
                <c:v>78-145</c:v>
              </c:pt>
              <c:pt idx="2">
                <c:v>145-211</c:v>
              </c:pt>
              <c:pt idx="3">
                <c:v>211-277</c:v>
              </c:pt>
              <c:pt idx="4">
                <c:v>277-344</c:v>
              </c:pt>
              <c:pt idx="5">
                <c:v>344-410</c:v>
              </c:pt>
            </c:strLit>
          </c:cat>
          <c:val>
            <c:numLit>
              <c:formatCode>General</c:formatCode>
              <c:ptCount val="6"/>
              <c:pt idx="0">
                <c:v>13</c:v>
              </c:pt>
              <c:pt idx="1">
                <c:v>9</c:v>
              </c:pt>
              <c:pt idx="2">
                <c:v>0</c:v>
              </c:pt>
              <c:pt idx="3">
                <c:v>0</c:v>
              </c:pt>
              <c:pt idx="4">
                <c:v>0</c:v>
              </c:pt>
              <c:pt idx="5">
                <c:v>1</c:v>
              </c:pt>
            </c:numLit>
          </c:val>
        </c:ser>
        <c:axId val="48650112"/>
        <c:axId val="48672768"/>
      </c:barChart>
      <c:catAx>
        <c:axId val="48650112"/>
        <c:scaling>
          <c:orientation val="minMax"/>
        </c:scaling>
        <c:delete val="0"/>
        <c:axPos val="b"/>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Energy use intensity bin (kWh/m2/yr)</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72768"/>
      </c:catAx>
      <c:valAx>
        <c:axId val="48672768"/>
        <c:scaling>
          <c:orientation val="minMax"/>
        </c:scaling>
        <c:delete val="0"/>
        <c:axPos val="l"/>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Number of rooms</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50112"/>
        <c:crossBetween val="between"/>
      </c:valAx>
      <c:spPr>
        <a:solidFill xmlns:a="http://schemas.openxmlformats.org/drawingml/2006/main">
          <a:srgbClr val="FFFFFF"/>
        </a:solidFill>
        <a:ln xmlns:a="http://schemas.openxmlformats.org/drawingml/2006/main" w="9525">
          <a:solidFill>
            <a:srgbClr val="B8BCC4"/>
          </a:solidFill>
          <a:prstDash val="solid"/>
        </a:ln>
      </c:spPr>
    </c:plotArea>
    <c:plotVisOnly val="1"/>
  </c:chart>
  <c:spPr>
    <a:solidFill xmlns:a="http://schemas.openxmlformats.org/drawingml/2006/main">
      <a:srgbClr val="FFFFFF"/>
    </a:solidFill>
    <a:ln xmlns:a="http://schemas.openxmlformats.org/drawingml/2006/main" w="9525">
      <a:solidFill>
        <a:srgbClr val="B8BCC4"/>
      </a:solidFill>
      <a:prstDash val="solid"/>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200" b="1">
                <a:solidFill>
                  <a:srgbClr val="111316"/>
                </a:solidFill>
              </a:rPr>
              <a:t>North vs. South zone energy use, Radley Hall</a:t>
            </a:r>
          </a:p>
        </c:rich>
      </c:tx>
      <c:overlay val="0"/>
      <c:txPr>
        <a:bodyPr xmlns:a="http://schemas.openxmlformats.org/drawingml/2006/main" anchorCtr="1"/>
        <a:lstStyle xmlns:a="http://schemas.openxmlformats.org/drawingml/2006/main"/>
        <a:p xmlns:a="http://schemas.openxmlformats.org/drawingml/2006/main">
          <a:pPr>
            <a:defRPr sz="1200" b="1">
              <a:solidFill>
                <a:srgbClr val="111316"/>
              </a:solidFill>
            </a:defRPr>
          </a:pPr>
        </a:p>
      </c:txPr>
    </c:title>
    <c:plotArea>
      <c:barChart>
        <c:barDir val="col"/>
        <c:varyColors val="0"/>
        <c:ser>
          <c:idx val="0"/>
          <c:order val="0"/>
          <c:tx>
            <c:v>Mean energy (kWh/m2/yr)</c:v>
          </c:tx>
          <c:cat>
            <c:strLit>
              <c:ptCount val="2"/>
              <c:pt idx="0">
                <c:v>North</c:v>
              </c:pt>
              <c:pt idx="1">
                <c:v>South</c:v>
              </c:pt>
            </c:strLit>
          </c:cat>
          <c:val>
            <c:numLit>
              <c:formatCode>General</c:formatCode>
              <c:ptCount val="2"/>
              <c:pt idx="0">
                <c:v>64.25</c:v>
              </c:pt>
              <c:pt idx="1">
                <c:v>115.68</c:v>
              </c:pt>
            </c:numLit>
          </c:val>
        </c:ser>
        <c:axId val="48650112"/>
        <c:axId val="48672768"/>
      </c:barChart>
      <c:catAx>
        <c:axId val="48650112"/>
        <c:scaling>
          <c:orientation val="minMax"/>
        </c:scaling>
        <c:delete val="0"/>
        <c:axPos val="b"/>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Zone</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72768"/>
      </c:catAx>
      <c:valAx>
        <c:axId val="48672768"/>
        <c:scaling>
          <c:orientation val="minMax"/>
        </c:scaling>
        <c:delete val="0"/>
        <c:axPos val="l"/>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Mean energy use intensity (kWh/m2/yr)</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50112"/>
        <c:crossBetween val="between"/>
      </c:valAx>
      <c:spPr>
        <a:solidFill xmlns:a="http://schemas.openxmlformats.org/drawingml/2006/main">
          <a:srgbClr val="FFFFFF"/>
        </a:solidFill>
        <a:ln xmlns:a="http://schemas.openxmlformats.org/drawingml/2006/main" w="9525">
          <a:solidFill>
            <a:srgbClr val="B8BCC4"/>
          </a:solidFill>
          <a:prstDash val="solid"/>
        </a:ln>
      </c:spPr>
    </c:plotArea>
    <c:plotVisOnly val="1"/>
  </c:chart>
  <c:spPr>
    <a:solidFill xmlns:a="http://schemas.openxmlformats.org/drawingml/2006/main">
      <a:srgbClr val="FFFFFF"/>
    </a:solidFill>
    <a:ln xmlns:a="http://schemas.openxmlformats.org/drawingml/2006/main" w="9525">
      <a:solidFill>
        <a:srgbClr val="B8BCC4"/>
      </a:solidFill>
      <a:prstDash val="solid"/>
    </a:ln>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200" b="1">
                <a:solidFill>
                  <a:srgbClr val="111316"/>
                </a:solidFill>
              </a:rPr>
              <a:t>Area vs. energy use, all 23 measured rooms</a:t>
            </a:r>
          </a:p>
        </c:rich>
      </c:tx>
      <c:overlay val="0"/>
      <c:txPr>
        <a:bodyPr xmlns:a="http://schemas.openxmlformats.org/drawingml/2006/main" anchorCtr="1"/>
        <a:lstStyle xmlns:a="http://schemas.openxmlformats.org/drawingml/2006/main"/>
        <a:p xmlns:a="http://schemas.openxmlformats.org/drawingml/2006/main">
          <a:pPr>
            <a:defRPr sz="1200" b="1">
              <a:solidFill>
                <a:srgbClr val="111316"/>
              </a:solidFill>
            </a:defRPr>
          </a:pPr>
        </a:p>
      </c:txPr>
    </c:title>
    <c:plotArea>
      <c:scatterChart>
        <c:scatterStyle val="marker"/>
        <c:ser>
          <c:idx val="0"/>
          <c:order val="0"/>
          <c:tx>
            <c:v>Rooms</c:v>
          </c:tx>
          <c:xVal>
            <c:numLit>
              <c:formatCode>General</c:formatCode>
              <c:ptCount val="0"/>
            </c:numLit>
          </c:xVal>
          <c:yVal>
            <c:numLit>
              <c:formatCode>General</c:formatCode>
              <c:ptCount val="23"/>
              <c:pt idx="0">
                <c:v>62</c:v>
              </c:pt>
              <c:pt idx="1">
                <c:v>71.5</c:v>
              </c:pt>
              <c:pt idx="2">
                <c:v>58</c:v>
              </c:pt>
              <c:pt idx="3">
                <c:v>95</c:v>
              </c:pt>
              <c:pt idx="4">
                <c:v>91.5</c:v>
              </c:pt>
              <c:pt idx="5">
                <c:v>74</c:v>
              </c:pt>
              <c:pt idx="6">
                <c:v>88</c:v>
              </c:pt>
              <c:pt idx="7">
                <c:v>84.5</c:v>
              </c:pt>
              <c:pt idx="8">
                <c:v>60.5</c:v>
              </c:pt>
              <c:pt idx="9">
                <c:v>98</c:v>
              </c:pt>
              <c:pt idx="10">
                <c:v>93</c:v>
              </c:pt>
              <c:pt idx="11">
                <c:v>86</c:v>
              </c:pt>
              <c:pt idx="12">
                <c:v>59</c:v>
              </c:pt>
              <c:pt idx="13">
                <c:v>61.5</c:v>
              </c:pt>
              <c:pt idx="14">
                <c:v>96.5</c:v>
              </c:pt>
              <c:pt idx="15">
                <c:v>90</c:v>
              </c:pt>
              <c:pt idx="16">
                <c:v>410</c:v>
              </c:pt>
              <c:pt idx="17">
                <c:v>76.5</c:v>
              </c:pt>
              <c:pt idx="18">
                <c:v>12</c:v>
              </c:pt>
              <c:pt idx="19">
                <c:v>60</c:v>
              </c:pt>
              <c:pt idx="20">
                <c:v>73</c:v>
              </c:pt>
              <c:pt idx="21">
                <c:v>75</c:v>
              </c:pt>
              <c:pt idx="22">
                <c:v>68</c:v>
              </c:pt>
            </c:numLit>
          </c:yVal>
        </c:ser>
        <c:axId val="48650112"/>
        <c:axId val="48672768"/>
      </c:scatterChart>
      <c:valAx>
        <c:axId val="48672768"/>
        <c:scaling>
          <c:orientation val="minMax"/>
        </c:scaling>
        <c:delete val="0"/>
        <c:axPos val="l"/>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Energy use intensity (kWh/m2/yr)</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50112"/>
      </c:valAx>
      <c:valAx>
        <c:axId val="48650112"/>
        <c:scaling>
          <c:orientation val="minMax"/>
        </c:scaling>
        <c:delete val="0"/>
        <c:axPos val="b"/>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Room area (m2)</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72768"/>
      </c:valAx>
      <c:spPr>
        <a:solidFill xmlns:a="http://schemas.openxmlformats.org/drawingml/2006/main">
          <a:srgbClr val="FFFFFF"/>
        </a:solidFill>
        <a:ln xmlns:a="http://schemas.openxmlformats.org/drawingml/2006/main" w="9525">
          <a:solidFill>
            <a:srgbClr val="B8BCC4"/>
          </a:solidFill>
          <a:prstDash val="solid"/>
        </a:ln>
      </c:spPr>
    </c:plotArea>
    <c:plotVisOnly val="1"/>
  </c:chart>
  <c:spPr>
    <a:solidFill xmlns:a="http://schemas.openxmlformats.org/drawingml/2006/main">
      <a:srgbClr val="FFFFFF"/>
    </a:solidFill>
    <a:ln xmlns:a="http://schemas.openxmlformats.org/drawingml/2006/main" w="9525">
      <a:solidFill>
        <a:srgbClr val="B8BCC4"/>
      </a:solidFill>
      <a:prstDash val="solid"/>
    </a:ln>
  </c:spPr>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200" b="1">
                <a:solidFill>
                  <a:srgbClr val="111316"/>
                </a:solidFill>
              </a:rPr>
              <a:t>Mean energy use by floor, Radley Hall</a:t>
            </a:r>
          </a:p>
        </c:rich>
      </c:tx>
      <c:overlay val="0"/>
      <c:txPr>
        <a:bodyPr xmlns:a="http://schemas.openxmlformats.org/drawingml/2006/main" anchorCtr="1"/>
        <a:lstStyle xmlns:a="http://schemas.openxmlformats.org/drawingml/2006/main"/>
        <a:p xmlns:a="http://schemas.openxmlformats.org/drawingml/2006/main">
          <a:pPr>
            <a:defRPr sz="1200" b="1">
              <a:solidFill>
                <a:srgbClr val="111316"/>
              </a:solidFill>
            </a:defRPr>
          </a:pPr>
        </a:p>
      </c:txPr>
    </c:title>
    <c:plotArea>
      <c:lineChart>
        <c:grouping val="standard"/>
        <c:ser>
          <c:idx val="0"/>
          <c:order val="0"/>
          <c:tx>
            <c:v>Mean energy (kWh/m2/yr)</c:v>
          </c:tx>
          <c:marker>
            <c:symbol val="none"/>
          </c:marker>
          <c:cat>
            <c:numLit>
              <c:formatCode>General</c:formatCode>
              <c:ptCount val="3"/>
              <c:pt idx="0">
                <c:v>1</c:v>
              </c:pt>
              <c:pt idx="1">
                <c:v>2</c:v>
              </c:pt>
              <c:pt idx="2">
                <c:v>3</c:v>
              </c:pt>
            </c:numLit>
          </c:cat>
          <c:val>
            <c:numLit>
              <c:formatCode>General</c:formatCode>
              <c:ptCount val="3"/>
              <c:pt idx="0">
                <c:v>66.29</c:v>
              </c:pt>
              <c:pt idx="1">
                <c:v>79.57</c:v>
              </c:pt>
              <c:pt idx="2">
                <c:v>113.61</c:v>
              </c:pt>
            </c:numLit>
          </c:val>
        </c:ser>
        <c:axId val="48650112"/>
        <c:axId val="48672768"/>
      </c:lineChart>
      <c:catAx>
        <c:axId val="48650112"/>
        <c:scaling>
          <c:orientation val="minMax"/>
        </c:scaling>
        <c:delete val="0"/>
        <c:axPos val="b"/>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Floor</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72768"/>
      </c:catAx>
      <c:valAx>
        <c:axId val="48672768"/>
        <c:scaling>
          <c:orientation val="minMax"/>
        </c:scaling>
        <c:delete val="0"/>
        <c:axPos val="l"/>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Mean energy use intensity (kWh/m2/yr)</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50112"/>
        <c:crossBetween val="between"/>
      </c:valAx>
      <c:spPr>
        <a:solidFill xmlns:a="http://schemas.openxmlformats.org/drawingml/2006/main">
          <a:srgbClr val="FFFFFF"/>
        </a:solidFill>
        <a:ln xmlns:a="http://schemas.openxmlformats.org/drawingml/2006/main" w="9525">
          <a:solidFill>
            <a:srgbClr val="B8BCC4"/>
          </a:solidFill>
          <a:prstDash val="solid"/>
        </a:ln>
      </c:spPr>
    </c:plotArea>
    <c:plotVisOnly val="1"/>
  </c:chart>
  <c:spPr>
    <a:solidFill xmlns:a="http://schemas.openxmlformats.org/drawingml/2006/main">
      <a:srgbClr val="FFFFFF"/>
    </a:solidFill>
    <a:ln xmlns:a="http://schemas.openxmlformats.org/drawingml/2006/main" w="9525">
      <a:solidFill>
        <a:srgbClr val="B8BCC4"/>
      </a:solidFill>
      <a:prstDash val="solid"/>
    </a:ln>
  </c:spPr>
</c:chartSpace>
</file>

<file path=ppt/slides/slide1.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9" name="course-mark">
            <a:extLst xmlns:a="http://schemas.openxmlformats.org/drawingml/2006/main">
              <a:ext uri="{FF2B5EF4-FFF2-40B4-BE49-F238E27FC236}">
                <a16:creationId xmlns:a16="http://schemas.microsoft.com/office/drawing/2014/main" id="{266FB023-6BF1-478A-BCCF-19FB71A9E4D6}"/>
              </a:ext>
            </a:extLst>
          </p:cNvPr>
          <p:cNvSpPr>
            <a:spLocks xmlns:a="http://schemas.openxmlformats.org/drawingml/2006/main" noGrp="1"/>
          </p:cNvSpPr>
          <p:nvPr/>
        </p:nvSpPr>
        <p:spPr>
          <a:xfrm xmlns:a="http://schemas.openxmlformats.org/drawingml/2006/main">
            <a:off x="609600" y="457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FFFFFF"/>
                </a:solidFill>
                <a:latin typeface="Arial"/>
                <a:ea typeface="Arial"/>
                <a:cs typeface="Arial"/>
              </a:defRPr>
            </a:pPr>
            <a:r>
              <a:rPr sz="1800" b="1">
                <a:solidFill>
                  <a:srgbClr val="FFFFFF"/>
                </a:solidFill>
                <a:latin typeface="Arial"/>
                <a:ea typeface="Arial"/>
                <a:cs typeface="Arial"/>
              </a:rPr>
              <a:t>&lt;&gt;  ARC 500</a:t>
            </a:r>
          </a:p>
        </p:txBody>
      </p:sp>
      <p:sp>
        <p:nvSpPr>
          <p:cNvPr id="2" name="course-full-title">
            <a:extLst xmlns:a="http://schemas.openxmlformats.org/drawingml/2006/main">
              <a:ext uri="{FF2B5EF4-FFF2-40B4-BE49-F238E27FC236}">
                <a16:creationId xmlns:a16="http://schemas.microsoft.com/office/drawing/2014/main" id="{8C35F123-DEDD-44D9-9E77-BE80219237B1}"/>
              </a:ext>
            </a:extLst>
          </p:cNvPr>
          <p:cNvSpPr>
            <a:spLocks xmlns:a="http://schemas.openxmlformats.org/drawingml/2006/main" noGrp="1"/>
          </p:cNvSpPr>
          <p:nvPr/>
        </p:nvSpPr>
        <p:spPr>
          <a:xfrm xmlns:a="http://schemas.openxmlformats.org/drawingml/2006/main">
            <a:off x="609600" y="81915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9AA1AC"/>
                </a:solidFill>
                <a:latin typeface="Arial"/>
                <a:ea typeface="Arial"/>
                <a:cs typeface="Arial"/>
              </a:defRPr>
            </a:pPr>
            <a:r>
              <a:rPr sz="900" b="0">
                <a:solidFill>
                  <a:srgbClr val="9AA1AC"/>
                </a:solidFill>
                <a:latin typeface="Arial"/>
                <a:ea typeface="Arial"/>
                <a:cs typeface="Arial"/>
              </a:rPr>
              <a:t>Programming with Python and Generative AI  ·  Scripting, Data Analysis, Visualization, Problem-Solving, and Optimization</a:t>
            </a:r>
          </a:p>
        </p:txBody>
      </p:sp>
      <p:sp>
        <p:nvSpPr>
          <p:cNvPr id="3" name="accent-bar">
            <a:extLst xmlns:a="http://schemas.openxmlformats.org/drawingml/2006/main">
              <a:ext uri="{FF2B5EF4-FFF2-40B4-BE49-F238E27FC236}">
                <a16:creationId xmlns:a16="http://schemas.microsoft.com/office/drawing/2014/main" id="{142EB035-1470-44DE-945B-02BA70917D3B}"/>
              </a:ext>
            </a:extLst>
          </p:cNvPr>
          <p:cNvSpPr>
            <a:spLocks xmlns:a="http://schemas.openxmlformats.org/drawingml/2006/main" noGrp="1"/>
          </p:cNvSpPr>
          <p:nvPr/>
        </p:nvSpPr>
        <p:spPr>
          <a:xfrm xmlns:a="http://schemas.openxmlformats.org/drawingml/2006/main">
            <a:off x="609600" y="1333500"/>
            <a:ext cx="133350" cy="2857500"/>
          </a:xfrm>
          <a:prstGeom xmlns:a="http://schemas.openxmlformats.org/drawingml/2006/main" prst="rect">
            <a:avLst/>
          </a:prstGeom>
          <a:solidFill xmlns:a="http://schemas.openxmlformats.org/drawingml/2006/main">
            <a:srgbClr val="2E74B5"/>
          </a:solidFill>
          <a:ln xmlns:a="http://schemas.openxmlformats.org/drawingml/2006/main" w="0">
            <a:noFill/>
            <a:prstDash val="solid"/>
          </a:ln>
        </p:spPr>
      </p:sp>
      <p:sp>
        <p:nvSpPr>
          <p:cNvPr id="4" name="week-label">
            <a:extLst xmlns:a="http://schemas.openxmlformats.org/drawingml/2006/main">
              <a:ext uri="{FF2B5EF4-FFF2-40B4-BE49-F238E27FC236}">
                <a16:creationId xmlns:a16="http://schemas.microsoft.com/office/drawing/2014/main" id="{39014368-0104-4D4C-88EE-B2C6877C62E2}"/>
              </a:ext>
            </a:extLst>
          </p:cNvPr>
          <p:cNvSpPr>
            <a:spLocks xmlns:a="http://schemas.openxmlformats.org/drawingml/2006/main" noGrp="1"/>
          </p:cNvSpPr>
          <p:nvPr/>
        </p:nvSpPr>
        <p:spPr>
          <a:xfrm xmlns:a="http://schemas.openxmlformats.org/drawingml/2006/main">
            <a:off x="1028700" y="13525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6 · MEETING A · VISUAL REASONING: STATIC AND DYNAMIC EVIDENCE</a:t>
            </a:r>
          </a:p>
        </p:txBody>
      </p:sp>
      <p:sp>
        <p:nvSpPr>
          <p:cNvPr id="5" name="deck-title">
            <a:extLst xmlns:a="http://schemas.openxmlformats.org/drawingml/2006/main">
              <a:ext uri="{FF2B5EF4-FFF2-40B4-BE49-F238E27FC236}">
                <a16:creationId xmlns:a16="http://schemas.microsoft.com/office/drawing/2014/main" id="{3C5DC732-A4E4-4250-BAC6-B87A1AB5A8D8}"/>
              </a:ext>
            </a:extLst>
          </p:cNvPr>
          <p:cNvSpPr>
            <a:spLocks xmlns:a="http://schemas.openxmlformats.org/drawingml/2006/main" noGrp="1"/>
          </p:cNvSpPr>
          <p:nvPr/>
        </p:nvSpPr>
        <p:spPr>
          <a:xfrm xmlns:a="http://schemas.openxmlformats.org/drawingml/2006/main">
            <a:off x="1028700" y="17716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500" b="1">
                <a:solidFill>
                  <a:srgbClr val="FFFFFF"/>
                </a:solidFill>
                <a:latin typeface="Arial"/>
                <a:ea typeface="Arial"/>
                <a:cs typeface="Arial"/>
              </a:defRPr>
            </a:pPr>
            <a:r>
              <a:rPr sz="4500" b="1">
                <a:solidFill>
                  <a:srgbClr val="FFFFFF"/>
                </a:solidFill>
                <a:latin typeface="Arial"/>
                <a:ea typeface="Arial"/>
                <a:cs typeface="Arial"/>
              </a:rPr>
              <a:t>See the evidence, don't just compute it</a:t>
            </a:r>
          </a:p>
        </p:txBody>
      </p:sp>
      <p:sp>
        <p:nvSpPr>
          <p:cNvPr id="6" name="deck-subtitle">
            <a:extLst xmlns:a="http://schemas.openxmlformats.org/drawingml/2006/main">
              <a:ext uri="{FF2B5EF4-FFF2-40B4-BE49-F238E27FC236}">
                <a16:creationId xmlns:a16="http://schemas.microsoft.com/office/drawing/2014/main" id="{141049DC-F527-4CB5-9208-614481A9C7D0}"/>
              </a:ext>
            </a:extLst>
          </p:cNvPr>
          <p:cNvSpPr>
            <a:spLocks xmlns:a="http://schemas.openxmlformats.org/drawingml/2006/main" noGrp="1"/>
          </p:cNvSpPr>
          <p:nvPr/>
        </p:nvSpPr>
        <p:spPr>
          <a:xfrm xmlns:a="http://schemas.openxmlformats.org/drawingml/2006/main">
            <a:off x="1028700" y="3848100"/>
            <a:ext cx="9144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D7D9DC"/>
                </a:solidFill>
                <a:latin typeface="Arial"/>
                <a:ea typeface="Arial"/>
                <a:cs typeface="Arial"/>
              </a:defRPr>
            </a:pPr>
            <a:r>
              <a:rPr sz="2100" b="0">
                <a:solidFill>
                  <a:srgbClr val="D7D9DC"/>
                </a:solidFill>
                <a:latin typeface="Arial"/>
                <a:ea typeface="Arial"/>
                <a:cs typeface="Arial"/>
              </a:rPr>
              <a:t>Matching a question to an encoding, the fig/ax pattern, labeled and annotated static figures, and animated .gif evidence</a:t>
            </a:r>
          </a:p>
        </p:txBody>
      </p:sp>
      <p:sp>
        <p:nvSpPr>
          <p:cNvPr id="7" name="">
            <a:extLst xmlns:a="http://schemas.openxmlformats.org/drawingml/2006/main">
              <a:ext uri="{FF2B5EF4-FFF2-40B4-BE49-F238E27FC236}">
                <a16:creationId xmlns:a16="http://schemas.microsoft.com/office/drawing/2014/main" id="{36C0C3BD-94DE-44EF-BDBA-BD4C6692057C}"/>
              </a:ext>
            </a:extLst>
          </p:cNvPr>
          <p:cNvSpPr>
            <a:spLocks xmlns:a="http://schemas.openxmlformats.org/drawingml/2006/main" noGrp="1"/>
          </p:cNvSpPr>
          <p:nvPr/>
        </p:nvSpPr>
        <p:spPr>
          <a:xfrm xmlns:a="http://schemas.openxmlformats.org/drawingml/2006/main">
            <a:off x="1028700" y="5295900"/>
            <a:ext cx="2476500" cy="0"/>
          </a:xfrm>
          <a:prstGeom xmlns:a="http://schemas.openxmlformats.org/drawingml/2006/main" prst="line">
            <a:avLst/>
          </a:prstGeom>
          <a:noFill xmlns:a="http://schemas.openxmlformats.org/drawingml/2006/main"/>
          <a:ln xmlns:a="http://schemas.openxmlformats.org/drawingml/2006/main" w="9525">
            <a:solidFill>
              <a:srgbClr val="FFFFFF"/>
            </a:solidFill>
            <a:prstDash val="solid"/>
          </a:ln>
        </p:spPr>
      </p:sp>
      <p:sp>
        <p:nvSpPr>
          <p:cNvPr id="8" name="instructor">
            <a:extLst xmlns:a="http://schemas.openxmlformats.org/drawingml/2006/main">
              <a:ext uri="{FF2B5EF4-FFF2-40B4-BE49-F238E27FC236}">
                <a16:creationId xmlns:a16="http://schemas.microsoft.com/office/drawing/2014/main" id="{18CE2515-FB2E-4A11-B6F5-75D82515864F}"/>
              </a:ext>
            </a:extLst>
          </p:cNvPr>
          <p:cNvSpPr>
            <a:spLocks xmlns:a="http://schemas.openxmlformats.org/drawingml/2006/main" noGrp="1"/>
          </p:cNvSpPr>
          <p:nvPr/>
        </p:nvSpPr>
        <p:spPr>
          <a:xfrm xmlns:a="http://schemas.openxmlformats.org/drawingml/2006/main">
            <a:off x="1028700" y="55245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0">
                <a:solidFill>
                  <a:srgbClr val="D7D9DC"/>
                </a:solidFill>
                <a:latin typeface="Arial"/>
                <a:ea typeface="Arial"/>
                <a:cs typeface="Arial"/>
              </a:defRPr>
            </a:pPr>
            <a:r>
              <a:rPr sz="1200" b="0">
                <a:solidFill>
                  <a:srgbClr val="D7D9DC"/>
                </a:solidFill>
                <a:latin typeface="Arial"/>
                <a:ea typeface="Arial"/>
                <a:cs typeface="Arial"/>
              </a:rPr>
              <a:t>JunHo Chun, PhD  ·  School of Architecture  ·  Syracuse University  ·  Fall 2026</a:t>
            </a:r>
          </a:p>
        </p:txBody>
      </p:sp>
    </p:spTree>
    <p:extLst>
      <p:ext uri="{BB962C8B-B14F-4D97-AF65-F5344CB8AC3E}">
        <p14:creationId xmlns:p14="http://schemas.microsoft.com/office/powerpoint/2010/main" val="11807334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1AA319DE-F82C-402B-9A8E-C78147B09C1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PRINCIPLE</a:t>
            </a:r>
          </a:p>
        </p:txBody>
      </p:sp>
      <p:sp>
        <p:nvSpPr>
          <p:cNvPr id="2" name="title">
            <a:extLst xmlns:a="http://schemas.openxmlformats.org/drawingml/2006/main">
              <a:ext uri="{FF2B5EF4-FFF2-40B4-BE49-F238E27FC236}">
                <a16:creationId xmlns:a16="http://schemas.microsoft.com/office/drawing/2014/main" id="{C84CCCBC-D397-4E3A-A7F2-52BB8A0B018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chart is an answer to a question, not decoration</a:t>
            </a:r>
          </a:p>
        </p:txBody>
      </p:sp>
      <p:sp>
        <p:nvSpPr>
          <p:cNvPr id="3" name="">
            <a:extLst xmlns:a="http://schemas.openxmlformats.org/drawingml/2006/main">
              <a:ext uri="{FF2B5EF4-FFF2-40B4-BE49-F238E27FC236}">
                <a16:creationId xmlns:a16="http://schemas.microsoft.com/office/drawing/2014/main" id="{AA411000-FA2F-4171-987D-5A2CF519F50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60A575B-D02C-4240-A3DB-45B7B428EC6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CE4F3033-17D3-4926-96B4-E60B63DCD25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02</a:t>
            </a:r>
          </a:p>
        </p:txBody>
      </p:sp>
      <p:sp>
        <p:nvSpPr>
          <p:cNvPr id="6" name="statement">
            <a:extLst xmlns:a="http://schemas.openxmlformats.org/drawingml/2006/main">
              <a:ext uri="{FF2B5EF4-FFF2-40B4-BE49-F238E27FC236}">
                <a16:creationId xmlns:a16="http://schemas.microsoft.com/office/drawing/2014/main" id="{411E2BDC-91AC-4DD1-ABDD-0483536A482B}"/>
              </a:ext>
            </a:extLst>
          </p:cNvPr>
          <p:cNvSpPr>
            <a:spLocks xmlns:a="http://schemas.openxmlformats.org/drawingml/2006/main" noGrp="1"/>
          </p:cNvSpPr>
          <p:nvPr/>
        </p:nvSpPr>
        <p:spPr>
          <a:xfrm xmlns:a="http://schemas.openxmlformats.org/drawingml/2006/main">
            <a:off x="609600" y="2009775"/>
            <a:ext cx="9829800" cy="2545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11316"/>
                </a:solidFill>
                <a:latin typeface="Arial"/>
                <a:ea typeface="Arial"/>
                <a:cs typeface="Arial"/>
              </a:defRPr>
            </a:pPr>
            <a:r>
              <a:rPr sz="3600" b="1">
                <a:solidFill>
                  <a:srgbClr val="111316"/>
                </a:solidFill>
                <a:latin typeface="Arial"/>
                <a:ea typeface="Arial"/>
                <a:cs typeface="Arial"/>
              </a:rPr>
              <a:t>Every figure should be built to answer one specific question -- distribution, comparison, relationship, or change over a sequence -- not just "let's plot this and see."</a:t>
            </a:r>
          </a:p>
        </p:txBody>
      </p:sp>
      <p:sp>
        <p:nvSpPr>
          <p:cNvPr id="7" name="">
            <a:extLst xmlns:a="http://schemas.openxmlformats.org/drawingml/2006/main">
              <a:ext uri="{FF2B5EF4-FFF2-40B4-BE49-F238E27FC236}">
                <a16:creationId xmlns:a16="http://schemas.microsoft.com/office/drawing/2014/main" id="{26A58329-0013-4B00-923C-95F084C9E557}"/>
              </a:ext>
            </a:extLst>
          </p:cNvPr>
          <p:cNvSpPr>
            <a:spLocks xmlns:a="http://schemas.openxmlformats.org/drawingml/2006/main" noGrp="1"/>
          </p:cNvSpPr>
          <p:nvPr/>
        </p:nvSpPr>
        <p:spPr>
          <a:xfrm xmlns:a="http://schemas.openxmlformats.org/drawingml/2006/main">
            <a:off x="609600" y="4764405"/>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8" name="supporting">
            <a:extLst xmlns:a="http://schemas.openxmlformats.org/drawingml/2006/main">
              <a:ext uri="{FF2B5EF4-FFF2-40B4-BE49-F238E27FC236}">
                <a16:creationId xmlns:a16="http://schemas.microsoft.com/office/drawing/2014/main" id="{08641B5A-E65A-47A0-98C5-449BF76C91CB}"/>
              </a:ext>
            </a:extLst>
          </p:cNvPr>
          <p:cNvSpPr>
            <a:spLocks xmlns:a="http://schemas.openxmlformats.org/drawingml/2006/main" noGrp="1"/>
          </p:cNvSpPr>
          <p:nvPr/>
        </p:nvSpPr>
        <p:spPr>
          <a:xfrm xmlns:a="http://schemas.openxmlformats.org/drawingml/2006/main">
            <a:off x="609600" y="5088255"/>
            <a:ext cx="9334500" cy="6065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Static figures and one dynamic .gif are two co-equal forms of evidence this week -- not a required chart plus an optional animated extra.</a:t>
            </a:r>
          </a:p>
        </p:txBody>
      </p:sp>
    </p:spTree>
    <p:extLst>
      <p:ext uri="{BB962C8B-B14F-4D97-AF65-F5344CB8AC3E}">
        <p14:creationId xmlns:p14="http://schemas.microsoft.com/office/powerpoint/2010/main" val="14617639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DB0EFECD-E276-42BF-A3F0-3D430394B09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LEARNING OUTCOMES</a:t>
            </a:r>
          </a:p>
        </p:txBody>
      </p:sp>
      <p:sp>
        <p:nvSpPr>
          <p:cNvPr id="2" name="title">
            <a:extLst xmlns:a="http://schemas.openxmlformats.org/drawingml/2006/main">
              <a:ext uri="{FF2B5EF4-FFF2-40B4-BE49-F238E27FC236}">
                <a16:creationId xmlns:a16="http://schemas.microsoft.com/office/drawing/2014/main" id="{E038CB0F-016D-43E1-BDE2-29F5DEDA789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By the end, you should be able to…</a:t>
            </a:r>
          </a:p>
        </p:txBody>
      </p:sp>
      <p:sp>
        <p:nvSpPr>
          <p:cNvPr id="3" name="">
            <a:extLst xmlns:a="http://schemas.openxmlformats.org/drawingml/2006/main">
              <a:ext uri="{FF2B5EF4-FFF2-40B4-BE49-F238E27FC236}">
                <a16:creationId xmlns:a16="http://schemas.microsoft.com/office/drawing/2014/main" id="{A3F9E66B-0BAB-4B86-8BBF-D898F1D2B97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F87B449-1285-4AFB-B921-E2C41B3B056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6E8774FF-C378-4E56-A438-E69B46D7EC5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03</a:t>
            </a:r>
          </a:p>
        </p:txBody>
      </p:sp>
      <p:sp>
        <p:nvSpPr>
          <p:cNvPr id="6" name="outcome-number-0">
            <a:extLst xmlns:a="http://schemas.openxmlformats.org/drawingml/2006/main">
              <a:ext uri="{FF2B5EF4-FFF2-40B4-BE49-F238E27FC236}">
                <a16:creationId xmlns:a16="http://schemas.microsoft.com/office/drawing/2014/main" id="{369DFA9F-8ED8-4929-BA23-79D3DE867FEF}"/>
              </a:ext>
            </a:extLst>
          </p:cNvPr>
          <p:cNvSpPr>
            <a:spLocks xmlns:a="http://schemas.openxmlformats.org/drawingml/2006/main" noGrp="1"/>
          </p:cNvSpPr>
          <p:nvPr/>
        </p:nvSpPr>
        <p:spPr>
          <a:xfrm xmlns:a="http://schemas.openxmlformats.org/drawingml/2006/main">
            <a:off x="6096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1</a:t>
            </a:r>
          </a:p>
        </p:txBody>
      </p:sp>
      <p:sp>
        <p:nvSpPr>
          <p:cNvPr id="7" name="outcome-head-0">
            <a:extLst xmlns:a="http://schemas.openxmlformats.org/drawingml/2006/main">
              <a:ext uri="{FF2B5EF4-FFF2-40B4-BE49-F238E27FC236}">
                <a16:creationId xmlns:a16="http://schemas.microsoft.com/office/drawing/2014/main" id="{D5DED7D4-9F3F-4E19-9E6B-2383D65F44CF}"/>
              </a:ext>
            </a:extLst>
          </p:cNvPr>
          <p:cNvSpPr>
            <a:spLocks xmlns:a="http://schemas.openxmlformats.org/drawingml/2006/main" noGrp="1"/>
          </p:cNvSpPr>
          <p:nvPr/>
        </p:nvSpPr>
        <p:spPr>
          <a:xfrm xmlns:a="http://schemas.openxmlformats.org/drawingml/2006/main">
            <a:off x="12001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Match</a:t>
            </a:r>
          </a:p>
        </p:txBody>
      </p:sp>
      <p:sp>
        <p:nvSpPr>
          <p:cNvPr id="8" name="outcome-body-0">
            <a:extLst xmlns:a="http://schemas.openxmlformats.org/drawingml/2006/main">
              <a:ext uri="{FF2B5EF4-FFF2-40B4-BE49-F238E27FC236}">
                <a16:creationId xmlns:a16="http://schemas.microsoft.com/office/drawing/2014/main" id="{B7EA21F2-582B-461B-9B52-1B63BD34E442}"/>
              </a:ext>
            </a:extLst>
          </p:cNvPr>
          <p:cNvSpPr>
            <a:spLocks xmlns:a="http://schemas.openxmlformats.org/drawingml/2006/main" noGrp="1"/>
          </p:cNvSpPr>
          <p:nvPr/>
        </p:nvSpPr>
        <p:spPr>
          <a:xfrm xmlns:a="http://schemas.openxmlformats.org/drawingml/2006/main">
            <a:off x="12001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Choose the right chart encoding (distribution / comparison / relationship / change-over-time) for a stated question.</a:t>
            </a:r>
          </a:p>
        </p:txBody>
      </p:sp>
      <p:sp>
        <p:nvSpPr>
          <p:cNvPr id="9" name="outcome-number-1">
            <a:extLst xmlns:a="http://schemas.openxmlformats.org/drawingml/2006/main">
              <a:ext uri="{FF2B5EF4-FFF2-40B4-BE49-F238E27FC236}">
                <a16:creationId xmlns:a16="http://schemas.microsoft.com/office/drawing/2014/main" id="{55A81FFE-55E7-47DE-8DE6-EF2124A07954}"/>
              </a:ext>
            </a:extLst>
          </p:cNvPr>
          <p:cNvSpPr>
            <a:spLocks xmlns:a="http://schemas.openxmlformats.org/drawingml/2006/main" noGrp="1"/>
          </p:cNvSpPr>
          <p:nvPr/>
        </p:nvSpPr>
        <p:spPr>
          <a:xfrm xmlns:a="http://schemas.openxmlformats.org/drawingml/2006/main">
            <a:off x="63627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2</a:t>
            </a:r>
          </a:p>
        </p:txBody>
      </p:sp>
      <p:sp>
        <p:nvSpPr>
          <p:cNvPr id="10" name="outcome-head-1">
            <a:extLst xmlns:a="http://schemas.openxmlformats.org/drawingml/2006/main">
              <a:ext uri="{FF2B5EF4-FFF2-40B4-BE49-F238E27FC236}">
                <a16:creationId xmlns:a16="http://schemas.microsoft.com/office/drawing/2014/main" id="{9E8C6E94-182D-4E07-BA72-2A1B1F3D44AE}"/>
              </a:ext>
            </a:extLst>
          </p:cNvPr>
          <p:cNvSpPr>
            <a:spLocks xmlns:a="http://schemas.openxmlformats.org/drawingml/2006/main" noGrp="1"/>
          </p:cNvSpPr>
          <p:nvPr/>
        </p:nvSpPr>
        <p:spPr>
          <a:xfrm xmlns:a="http://schemas.openxmlformats.org/drawingml/2006/main">
            <a:off x="69532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Build</a:t>
            </a:r>
          </a:p>
        </p:txBody>
      </p:sp>
      <p:sp>
        <p:nvSpPr>
          <p:cNvPr id="11" name="outcome-body-1">
            <a:extLst xmlns:a="http://schemas.openxmlformats.org/drawingml/2006/main">
              <a:ext uri="{FF2B5EF4-FFF2-40B4-BE49-F238E27FC236}">
                <a16:creationId xmlns:a16="http://schemas.microsoft.com/office/drawing/2014/main" id="{25363705-8771-45AE-A2B1-F9A66FC19ECD}"/>
              </a:ext>
            </a:extLst>
          </p:cNvPr>
          <p:cNvSpPr>
            <a:spLocks xmlns:a="http://schemas.openxmlformats.org/drawingml/2006/main" noGrp="1"/>
          </p:cNvSpPr>
          <p:nvPr/>
        </p:nvSpPr>
        <p:spPr>
          <a:xfrm xmlns:a="http://schemas.openxmlformats.org/drawingml/2006/main">
            <a:off x="69532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Use the fig, ax pattern to build a figure with every axis labeled, its unit stated, and a legend when more than one series is plotted.</a:t>
            </a:r>
          </a:p>
        </p:txBody>
      </p:sp>
      <p:sp>
        <p:nvSpPr>
          <p:cNvPr id="12" name="outcome-number-2">
            <a:extLst xmlns:a="http://schemas.openxmlformats.org/drawingml/2006/main">
              <a:ext uri="{FF2B5EF4-FFF2-40B4-BE49-F238E27FC236}">
                <a16:creationId xmlns:a16="http://schemas.microsoft.com/office/drawing/2014/main" id="{199A2457-8FFA-4018-AD9C-E633145C8F24}"/>
              </a:ext>
            </a:extLst>
          </p:cNvPr>
          <p:cNvSpPr>
            <a:spLocks xmlns:a="http://schemas.openxmlformats.org/drawingml/2006/main" noGrp="1"/>
          </p:cNvSpPr>
          <p:nvPr/>
        </p:nvSpPr>
        <p:spPr>
          <a:xfrm xmlns:a="http://schemas.openxmlformats.org/drawingml/2006/main">
            <a:off x="6096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3</a:t>
            </a:r>
          </a:p>
        </p:txBody>
      </p:sp>
      <p:sp>
        <p:nvSpPr>
          <p:cNvPr id="13" name="outcome-head-2">
            <a:extLst xmlns:a="http://schemas.openxmlformats.org/drawingml/2006/main">
              <a:ext uri="{FF2B5EF4-FFF2-40B4-BE49-F238E27FC236}">
                <a16:creationId xmlns:a16="http://schemas.microsoft.com/office/drawing/2014/main" id="{3A334D30-B5DF-495B-BE8E-E98031067210}"/>
              </a:ext>
            </a:extLst>
          </p:cNvPr>
          <p:cNvSpPr>
            <a:spLocks xmlns:a="http://schemas.openxmlformats.org/drawingml/2006/main" noGrp="1"/>
          </p:cNvSpPr>
          <p:nvPr/>
        </p:nvSpPr>
        <p:spPr>
          <a:xfrm xmlns:a="http://schemas.openxmlformats.org/drawingml/2006/main">
            <a:off x="12001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Annotate</a:t>
            </a:r>
          </a:p>
        </p:txBody>
      </p:sp>
      <p:sp>
        <p:nvSpPr>
          <p:cNvPr id="14" name="outcome-body-2">
            <a:extLst xmlns:a="http://schemas.openxmlformats.org/drawingml/2006/main">
              <a:ext uri="{FF2B5EF4-FFF2-40B4-BE49-F238E27FC236}">
                <a16:creationId xmlns:a16="http://schemas.microsoft.com/office/drawing/2014/main" id="{2E689643-AAFE-47D1-A7E3-59BE55E8ACB7}"/>
              </a:ext>
            </a:extLst>
          </p:cNvPr>
          <p:cNvSpPr>
            <a:spLocks xmlns:a="http://schemas.openxmlformats.org/drawingml/2006/main" noGrp="1"/>
          </p:cNvSpPr>
          <p:nvPr/>
        </p:nvSpPr>
        <p:spPr>
          <a:xfrm xmlns:a="http://schemas.openxmlformats.org/drawingml/2006/main">
            <a:off x="12001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Annotate one outlier or turning point directly on a figure using ax.annotate, instead of only describing it in a caption.</a:t>
            </a:r>
          </a:p>
        </p:txBody>
      </p:sp>
      <p:sp>
        <p:nvSpPr>
          <p:cNvPr id="15" name="outcome-number-3">
            <a:extLst xmlns:a="http://schemas.openxmlformats.org/drawingml/2006/main">
              <a:ext uri="{FF2B5EF4-FFF2-40B4-BE49-F238E27FC236}">
                <a16:creationId xmlns:a16="http://schemas.microsoft.com/office/drawing/2014/main" id="{1CD91413-FC15-4870-BB49-7B776924B39C}"/>
              </a:ext>
            </a:extLst>
          </p:cNvPr>
          <p:cNvSpPr>
            <a:spLocks xmlns:a="http://schemas.openxmlformats.org/drawingml/2006/main" noGrp="1"/>
          </p:cNvSpPr>
          <p:nvPr/>
        </p:nvSpPr>
        <p:spPr>
          <a:xfrm xmlns:a="http://schemas.openxmlformats.org/drawingml/2006/main">
            <a:off x="63627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4</a:t>
            </a:r>
          </a:p>
        </p:txBody>
      </p:sp>
      <p:sp>
        <p:nvSpPr>
          <p:cNvPr id="16" name="outcome-head-3">
            <a:extLst xmlns:a="http://schemas.openxmlformats.org/drawingml/2006/main">
              <a:ext uri="{FF2B5EF4-FFF2-40B4-BE49-F238E27FC236}">
                <a16:creationId xmlns:a16="http://schemas.microsoft.com/office/drawing/2014/main" id="{61E5DF2E-3F39-48D7-B86E-2C17831F8CE5}"/>
              </a:ext>
            </a:extLst>
          </p:cNvPr>
          <p:cNvSpPr>
            <a:spLocks xmlns:a="http://schemas.openxmlformats.org/drawingml/2006/main" noGrp="1"/>
          </p:cNvSpPr>
          <p:nvPr/>
        </p:nvSpPr>
        <p:spPr>
          <a:xfrm xmlns:a="http://schemas.openxmlformats.org/drawingml/2006/main">
            <a:off x="69532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Animate</a:t>
            </a:r>
          </a:p>
        </p:txBody>
      </p:sp>
      <p:sp>
        <p:nvSpPr>
          <p:cNvPr id="17" name="outcome-body-3">
            <a:extLst xmlns:a="http://schemas.openxmlformats.org/drawingml/2006/main">
              <a:ext uri="{FF2B5EF4-FFF2-40B4-BE49-F238E27FC236}">
                <a16:creationId xmlns:a16="http://schemas.microsoft.com/office/drawing/2014/main" id="{88002F2D-93EC-4278-A41F-17F82688810E}"/>
              </a:ext>
            </a:extLst>
          </p:cNvPr>
          <p:cNvSpPr>
            <a:spLocks xmlns:a="http://schemas.openxmlformats.org/drawingml/2006/main" noGrp="1"/>
          </p:cNvSpPr>
          <p:nvPr/>
        </p:nvSpPr>
        <p:spPr>
          <a:xfrm xmlns:a="http://schemas.openxmlformats.org/drawingml/2006/main">
            <a:off x="69532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Build a matplotlib.animation.FuncAnimation and save it as a shareable .gif.</a:t>
            </a:r>
          </a:p>
        </p:txBody>
      </p:sp>
    </p:spTree>
    <p:extLst>
      <p:ext uri="{BB962C8B-B14F-4D97-AF65-F5344CB8AC3E}">
        <p14:creationId xmlns:p14="http://schemas.microsoft.com/office/powerpoint/2010/main" val="20060786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BC66461A-DDB6-4F88-824D-8CFFF5C8B7B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ROAD MAP</a:t>
            </a:r>
          </a:p>
        </p:txBody>
      </p:sp>
      <p:sp>
        <p:nvSpPr>
          <p:cNvPr id="2" name="title">
            <a:extLst xmlns:a="http://schemas.openxmlformats.org/drawingml/2006/main">
              <a:ext uri="{FF2B5EF4-FFF2-40B4-BE49-F238E27FC236}">
                <a16:creationId xmlns:a16="http://schemas.microsoft.com/office/drawing/2014/main" id="{BCF70BB2-9B92-452E-9AFB-975CC93D304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Today’s learning sequence</a:t>
            </a:r>
          </a:p>
        </p:txBody>
      </p:sp>
      <p:sp>
        <p:nvSpPr>
          <p:cNvPr id="3" name="">
            <a:extLst xmlns:a="http://schemas.openxmlformats.org/drawingml/2006/main">
              <a:ext uri="{FF2B5EF4-FFF2-40B4-BE49-F238E27FC236}">
                <a16:creationId xmlns:a16="http://schemas.microsoft.com/office/drawing/2014/main" id="{E81C3FFC-3EDF-4355-89D7-2A25AF5B9AD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8DD45C1-91C5-4305-B520-18E7B960ADB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1C917CA6-B6F0-4757-94B5-45247CD62D8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04</a:t>
            </a:r>
          </a:p>
        </p:txBody>
      </p:sp>
      <p:sp>
        <p:nvSpPr>
          <p:cNvPr id="6" name="agenda-no-0">
            <a:extLst xmlns:a="http://schemas.openxmlformats.org/drawingml/2006/main">
              <a:ext uri="{FF2B5EF4-FFF2-40B4-BE49-F238E27FC236}">
                <a16:creationId xmlns:a16="http://schemas.microsoft.com/office/drawing/2014/main" id="{464DC06A-71CF-4412-9BB8-C85DF6931528}"/>
              </a:ext>
            </a:extLst>
          </p:cNvPr>
          <p:cNvSpPr>
            <a:spLocks xmlns:a="http://schemas.openxmlformats.org/drawingml/2006/main" noGrp="1"/>
          </p:cNvSpPr>
          <p:nvPr/>
        </p:nvSpPr>
        <p:spPr>
          <a:xfrm xmlns:a="http://schemas.openxmlformats.org/drawingml/2006/main">
            <a:off x="609600" y="22002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4D168F8E-A516-45D8-8BDC-9DD2C44EA7FD}"/>
              </a:ext>
            </a:extLst>
          </p:cNvPr>
          <p:cNvSpPr>
            <a:spLocks xmlns:a="http://schemas.openxmlformats.org/drawingml/2006/main" noGrp="1"/>
          </p:cNvSpPr>
          <p:nvPr/>
        </p:nvSpPr>
        <p:spPr>
          <a:xfrm xmlns:a="http://schemas.openxmlformats.org/drawingml/2006/main">
            <a:off x="1314450" y="2352675"/>
            <a:ext cx="7429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8" name="agenda-item-0">
            <a:extLst xmlns:a="http://schemas.openxmlformats.org/drawingml/2006/main">
              <a:ext uri="{FF2B5EF4-FFF2-40B4-BE49-F238E27FC236}">
                <a16:creationId xmlns:a16="http://schemas.microsoft.com/office/drawing/2014/main" id="{87912C81-D7AC-41E5-8FB3-C2343EF77F33}"/>
              </a:ext>
            </a:extLst>
          </p:cNvPr>
          <p:cNvSpPr>
            <a:spLocks xmlns:a="http://schemas.openxmlformats.org/drawingml/2006/main" noGrp="1"/>
          </p:cNvSpPr>
          <p:nvPr/>
        </p:nvSpPr>
        <p:spPr>
          <a:xfrm xmlns:a="http://schemas.openxmlformats.org/drawingml/2006/main">
            <a:off x="2381250" y="21431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Four questions, four encodings</a:t>
            </a:r>
          </a:p>
        </p:txBody>
      </p:sp>
      <p:sp>
        <p:nvSpPr>
          <p:cNvPr id="9" name="agenda-no-1">
            <a:extLst xmlns:a="http://schemas.openxmlformats.org/drawingml/2006/main">
              <a:ext uri="{FF2B5EF4-FFF2-40B4-BE49-F238E27FC236}">
                <a16:creationId xmlns:a16="http://schemas.microsoft.com/office/drawing/2014/main" id="{21360C6F-E8BA-418C-B714-C8430EBA4A72}"/>
              </a:ext>
            </a:extLst>
          </p:cNvPr>
          <p:cNvSpPr>
            <a:spLocks xmlns:a="http://schemas.openxmlformats.org/drawingml/2006/main" noGrp="1"/>
          </p:cNvSpPr>
          <p:nvPr/>
        </p:nvSpPr>
        <p:spPr>
          <a:xfrm xmlns:a="http://schemas.openxmlformats.org/drawingml/2006/main">
            <a:off x="609600" y="31146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FBC11B24-6228-41F2-A00F-F2FFDBF5EFAB}"/>
              </a:ext>
            </a:extLst>
          </p:cNvPr>
          <p:cNvSpPr>
            <a:spLocks xmlns:a="http://schemas.openxmlformats.org/drawingml/2006/main" noGrp="1"/>
          </p:cNvSpPr>
          <p:nvPr/>
        </p:nvSpPr>
        <p:spPr>
          <a:xfrm xmlns:a="http://schemas.openxmlformats.org/drawingml/2006/main">
            <a:off x="1314450" y="32670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1" name="agenda-item-1">
            <a:extLst xmlns:a="http://schemas.openxmlformats.org/drawingml/2006/main">
              <a:ext uri="{FF2B5EF4-FFF2-40B4-BE49-F238E27FC236}">
                <a16:creationId xmlns:a16="http://schemas.microsoft.com/office/drawing/2014/main" id="{036FD032-030F-4675-91FB-604A93F29B0D}"/>
              </a:ext>
            </a:extLst>
          </p:cNvPr>
          <p:cNvSpPr>
            <a:spLocks xmlns:a="http://schemas.openxmlformats.org/drawingml/2006/main" noGrp="1"/>
          </p:cNvSpPr>
          <p:nvPr/>
        </p:nvSpPr>
        <p:spPr>
          <a:xfrm xmlns:a="http://schemas.openxmlformats.org/drawingml/2006/main">
            <a:off x="2381250" y="30575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The fig, ax pattern, labeled and legended</a:t>
            </a:r>
          </a:p>
        </p:txBody>
      </p:sp>
      <p:sp>
        <p:nvSpPr>
          <p:cNvPr id="12" name="agenda-no-2">
            <a:extLst xmlns:a="http://schemas.openxmlformats.org/drawingml/2006/main">
              <a:ext uri="{FF2B5EF4-FFF2-40B4-BE49-F238E27FC236}">
                <a16:creationId xmlns:a16="http://schemas.microsoft.com/office/drawing/2014/main" id="{677E7DBE-6249-4230-84C3-658BE0F87605}"/>
              </a:ext>
            </a:extLst>
          </p:cNvPr>
          <p:cNvSpPr>
            <a:spLocks xmlns:a="http://schemas.openxmlformats.org/drawingml/2006/main" noGrp="1"/>
          </p:cNvSpPr>
          <p:nvPr/>
        </p:nvSpPr>
        <p:spPr>
          <a:xfrm xmlns:a="http://schemas.openxmlformats.org/drawingml/2006/main">
            <a:off x="609600" y="40290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B489BFCA-6E61-4B97-80FD-4971F9F10971}"/>
              </a:ext>
            </a:extLst>
          </p:cNvPr>
          <p:cNvSpPr>
            <a:spLocks xmlns:a="http://schemas.openxmlformats.org/drawingml/2006/main" noGrp="1"/>
          </p:cNvSpPr>
          <p:nvPr/>
        </p:nvSpPr>
        <p:spPr>
          <a:xfrm xmlns:a="http://schemas.openxmlformats.org/drawingml/2006/main">
            <a:off x="1314450" y="41814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4" name="agenda-item-2">
            <a:extLst xmlns:a="http://schemas.openxmlformats.org/drawingml/2006/main">
              <a:ext uri="{FF2B5EF4-FFF2-40B4-BE49-F238E27FC236}">
                <a16:creationId xmlns:a16="http://schemas.microsoft.com/office/drawing/2014/main" id="{53DBDA4B-B874-4524-ACA1-B7BF003DB0C6}"/>
              </a:ext>
            </a:extLst>
          </p:cNvPr>
          <p:cNvSpPr>
            <a:spLocks xmlns:a="http://schemas.openxmlformats.org/drawingml/2006/main" noGrp="1"/>
          </p:cNvSpPr>
          <p:nvPr/>
        </p:nvSpPr>
        <p:spPr>
          <a:xfrm xmlns:a="http://schemas.openxmlformats.org/drawingml/2006/main">
            <a:off x="2381250" y="39719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Annotate an outlier -- don't just caption it</a:t>
            </a:r>
          </a:p>
        </p:txBody>
      </p:sp>
      <p:sp>
        <p:nvSpPr>
          <p:cNvPr id="15" name="agenda-no-3">
            <a:extLst xmlns:a="http://schemas.openxmlformats.org/drawingml/2006/main">
              <a:ext uri="{FF2B5EF4-FFF2-40B4-BE49-F238E27FC236}">
                <a16:creationId xmlns:a16="http://schemas.microsoft.com/office/drawing/2014/main" id="{2E33D7CE-F829-46C6-A9D5-4FF58071B782}"/>
              </a:ext>
            </a:extLst>
          </p:cNvPr>
          <p:cNvSpPr>
            <a:spLocks xmlns:a="http://schemas.openxmlformats.org/drawingml/2006/main" noGrp="1"/>
          </p:cNvSpPr>
          <p:nvPr/>
        </p:nvSpPr>
        <p:spPr>
          <a:xfrm xmlns:a="http://schemas.openxmlformats.org/drawingml/2006/main">
            <a:off x="609600" y="49434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7B0DC9AA-3134-43E8-9798-5812DBD90268}"/>
              </a:ext>
            </a:extLst>
          </p:cNvPr>
          <p:cNvSpPr>
            <a:spLocks xmlns:a="http://schemas.openxmlformats.org/drawingml/2006/main" noGrp="1"/>
          </p:cNvSpPr>
          <p:nvPr/>
        </p:nvSpPr>
        <p:spPr>
          <a:xfrm xmlns:a="http://schemas.openxmlformats.org/drawingml/2006/main">
            <a:off x="1314450" y="50958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7" name="agenda-item-3">
            <a:extLst xmlns:a="http://schemas.openxmlformats.org/drawingml/2006/main">
              <a:ext uri="{FF2B5EF4-FFF2-40B4-BE49-F238E27FC236}">
                <a16:creationId xmlns:a16="http://schemas.microsoft.com/office/drawing/2014/main" id="{C87D9BAF-60B1-4DAD-9428-7E6580697A96}"/>
              </a:ext>
            </a:extLst>
          </p:cNvPr>
          <p:cNvSpPr>
            <a:spLocks xmlns:a="http://schemas.openxmlformats.org/drawingml/2006/main" noGrp="1"/>
          </p:cNvSpPr>
          <p:nvPr/>
        </p:nvSpPr>
        <p:spPr>
          <a:xfrm xmlns:a="http://schemas.openxmlformats.org/drawingml/2006/main">
            <a:off x="2381250" y="48863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Dynamic evidence: FuncAnimation, saved as a .gif</a:t>
            </a:r>
          </a:p>
        </p:txBody>
      </p:sp>
    </p:spTree>
    <p:extLst>
      <p:ext uri="{BB962C8B-B14F-4D97-AF65-F5344CB8AC3E}">
        <p14:creationId xmlns:p14="http://schemas.microsoft.com/office/powerpoint/2010/main" val="9012749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249B3F71-76DB-4FD5-83D4-F5DEB194901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 DEFINED</a:t>
            </a:r>
          </a:p>
        </p:txBody>
      </p:sp>
      <p:sp>
        <p:nvSpPr>
          <p:cNvPr id="2" name="title">
            <a:extLst xmlns:a="http://schemas.openxmlformats.org/drawingml/2006/main">
              <a:ext uri="{FF2B5EF4-FFF2-40B4-BE49-F238E27FC236}">
                <a16:creationId xmlns:a16="http://schemas.microsoft.com/office/drawing/2014/main" id="{783FF4A3-249C-41EB-9687-9D41D200642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Visual encoding, defined</a:t>
            </a:r>
          </a:p>
        </p:txBody>
      </p:sp>
      <p:sp>
        <p:nvSpPr>
          <p:cNvPr id="3" name="">
            <a:extLst xmlns:a="http://schemas.openxmlformats.org/drawingml/2006/main">
              <a:ext uri="{FF2B5EF4-FFF2-40B4-BE49-F238E27FC236}">
                <a16:creationId xmlns:a16="http://schemas.microsoft.com/office/drawing/2014/main" id="{63B1AA51-8785-4F38-9D42-433A7F78E52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5094D59-82FF-411B-853E-935462ED085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495290DB-94E9-468B-A334-F60FD10857E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05</a:t>
            </a:r>
          </a:p>
        </p:txBody>
      </p:sp>
      <p:sp>
        <p:nvSpPr>
          <p:cNvPr id="6" name="term-label">
            <a:extLst xmlns:a="http://schemas.openxmlformats.org/drawingml/2006/main">
              <a:ext uri="{FF2B5EF4-FFF2-40B4-BE49-F238E27FC236}">
                <a16:creationId xmlns:a16="http://schemas.microsoft.com/office/drawing/2014/main" id="{995DE1D7-FD06-4D58-BEAE-086F67DC0877}"/>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4A978988-AF38-4709-BC8B-10AFDB32B73E}"/>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Visual encoding</a:t>
            </a:r>
          </a:p>
        </p:txBody>
      </p:sp>
      <p:sp>
        <p:nvSpPr>
          <p:cNvPr id="8" name="">
            <a:extLst xmlns:a="http://schemas.openxmlformats.org/drawingml/2006/main">
              <a:ext uri="{FF2B5EF4-FFF2-40B4-BE49-F238E27FC236}">
                <a16:creationId xmlns:a16="http://schemas.microsoft.com/office/drawing/2014/main" id="{5F8F01DD-36D1-49F2-9B01-9624EA888938}"/>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412D9CFD-DC8D-4CC5-AFD7-A2260BF14E4F}"/>
              </a:ext>
            </a:extLst>
          </p:cNvPr>
          <p:cNvSpPr>
            <a:spLocks xmlns:a="http://schemas.openxmlformats.org/drawingml/2006/main" noGrp="1"/>
          </p:cNvSpPr>
          <p:nvPr/>
        </p:nvSpPr>
        <p:spPr>
          <a:xfrm xmlns:a="http://schemas.openxmlformats.org/drawingml/2006/main">
            <a:off x="609600" y="2971800"/>
            <a:ext cx="5905500" cy="3067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The mapping from a data value to a visual property -- position on an axis, bar height, marker position, color. Different questions call for different encodings; the encoding should follow the question, not the other way around.</a:t>
            </a:r>
          </a:p>
        </p:txBody>
      </p:sp>
      <p:sp>
        <p:nvSpPr>
          <p:cNvPr id="10" name="example-panel">
            <a:extLst xmlns:a="http://schemas.openxmlformats.org/drawingml/2006/main">
              <a:ext uri="{FF2B5EF4-FFF2-40B4-BE49-F238E27FC236}">
                <a16:creationId xmlns:a16="http://schemas.microsoft.com/office/drawing/2014/main" id="{2E3772BD-09C7-4930-A359-2CBE16402B38}"/>
              </a:ext>
            </a:extLst>
          </p:cNvPr>
          <p:cNvSpPr>
            <a:spLocks xmlns:a="http://schemas.openxmlformats.org/drawingml/2006/main" noGrp="1"/>
          </p:cNvSpPr>
          <p:nvPr/>
        </p:nvSpPr>
        <p:spPr>
          <a:xfrm xmlns:a="http://schemas.openxmlformats.org/drawingml/2006/main">
            <a:off x="6762750" y="1809750"/>
            <a:ext cx="4819650" cy="4248150"/>
          </a:xfrm>
          <a:prstGeom xmlns:a="http://schemas.openxmlformats.org/drawingml/2006/main" prst="roundRect">
            <a:avLst>
              <a:gd name="adj" fmla="val 1794"/>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90816BCD-564B-469F-9C1C-264651859F07}"/>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3111B59B-720F-43B3-8AA0-E13A1F925F14}"/>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Four question families</a:t>
            </a:r>
          </a:p>
        </p:txBody>
      </p:sp>
      <p:sp>
        <p:nvSpPr>
          <p:cNvPr id="13" name="example-body">
            <a:extLst xmlns:a="http://schemas.openxmlformats.org/drawingml/2006/main">
              <a:ext uri="{FF2B5EF4-FFF2-40B4-BE49-F238E27FC236}">
                <a16:creationId xmlns:a16="http://schemas.microsoft.com/office/drawing/2014/main" id="{0A08100E-CF49-4306-BB3C-27F356E5DA5D}"/>
              </a:ext>
            </a:extLst>
          </p:cNvPr>
          <p:cNvSpPr>
            <a:spLocks xmlns:a="http://schemas.openxmlformats.org/drawingml/2006/main" noGrp="1"/>
          </p:cNvSpPr>
          <p:nvPr/>
        </p:nvSpPr>
        <p:spPr>
          <a:xfrm xmlns:a="http://schemas.openxmlformats.org/drawingml/2006/main">
            <a:off x="6972300" y="2704338"/>
            <a:ext cx="4381500" cy="3220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Distribution: how is one variable spread out?</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Comparison: how do groups differ?</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Relationship: do two variables move together?</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Change over a sequence: how does a value move across an order (time, floor, iteration).</a:t>
            </a:r>
          </a:p>
        </p:txBody>
      </p:sp>
    </p:spTree>
    <p:extLst>
      <p:ext uri="{BB962C8B-B14F-4D97-AF65-F5344CB8AC3E}">
        <p14:creationId xmlns:p14="http://schemas.microsoft.com/office/powerpoint/2010/main" val="21328223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kicker">
            <a:extLst xmlns:a="http://schemas.openxmlformats.org/drawingml/2006/main">
              <a:ext uri="{FF2B5EF4-FFF2-40B4-BE49-F238E27FC236}">
                <a16:creationId xmlns:a16="http://schemas.microsoft.com/office/drawing/2014/main" id="{E66F5CE3-6F87-4390-9CB9-F18F7E3DBC5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DF454F15-0991-419A-806F-A07721ED930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Match each question family to a chart encoding</a:t>
            </a:r>
          </a:p>
        </p:txBody>
      </p:sp>
      <p:sp>
        <p:nvSpPr>
          <p:cNvPr id="3" name="">
            <a:extLst xmlns:a="http://schemas.openxmlformats.org/drawingml/2006/main">
              <a:ext uri="{FF2B5EF4-FFF2-40B4-BE49-F238E27FC236}">
                <a16:creationId xmlns:a16="http://schemas.microsoft.com/office/drawing/2014/main" id="{749F5C90-864A-4965-AA58-22C500CF33AF}"/>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F479A99-CE9C-4676-B09D-AF6D0A9565E9}"/>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7D2C1A39-469B-44A3-B4C3-0AD6C70F73E4}"/>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FF635DD6-F346-4B9A-AF84-724CE2A39ADA}"/>
              </a:ext>
            </a:extLst>
          </p:cNvPr>
          <p:cNvSpPr>
            <a:spLocks xmlns:a="http://schemas.openxmlformats.org/drawingml/2006/main" noGrp="1"/>
          </p:cNvSpPr>
          <p:nvPr/>
        </p:nvSpPr>
        <p:spPr>
          <a:xfrm xmlns:a="http://schemas.openxmlformats.org/drawingml/2006/main">
            <a:off x="609600" y="2428875"/>
            <a:ext cx="1541972"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F55EB132-454E-433A-9FAF-B60F5888A3C3}"/>
              </a:ext>
            </a:extLst>
          </p:cNvPr>
          <p:cNvSpPr>
            <a:spLocks xmlns:a="http://schemas.openxmlformats.org/drawingml/2006/main" noGrp="1"/>
          </p:cNvSpPr>
          <p:nvPr/>
        </p:nvSpPr>
        <p:spPr>
          <a:xfrm xmlns:a="http://schemas.openxmlformats.org/drawingml/2006/main">
            <a:off x="723900" y="2505075"/>
            <a:ext cx="1313372"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Question family</a:t>
            </a:r>
          </a:p>
        </p:txBody>
      </p:sp>
      <p:sp>
        <p:nvSpPr>
          <p:cNvPr id="8" name="">
            <a:extLst xmlns:a="http://schemas.openxmlformats.org/drawingml/2006/main">
              <a:ext uri="{FF2B5EF4-FFF2-40B4-BE49-F238E27FC236}">
                <a16:creationId xmlns:a16="http://schemas.microsoft.com/office/drawing/2014/main" id="{E85F973D-D7F2-4151-A8EE-32C3317C0577}"/>
              </a:ext>
            </a:extLst>
          </p:cNvPr>
          <p:cNvSpPr>
            <a:spLocks xmlns:a="http://schemas.openxmlformats.org/drawingml/2006/main" noGrp="1"/>
          </p:cNvSpPr>
          <p:nvPr/>
        </p:nvSpPr>
        <p:spPr>
          <a:xfrm xmlns:a="http://schemas.openxmlformats.org/drawingml/2006/main">
            <a:off x="2151572" y="2428875"/>
            <a:ext cx="2242868"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BC72B9EE-F397-44DF-94DE-30E040BDA6B8}"/>
              </a:ext>
            </a:extLst>
          </p:cNvPr>
          <p:cNvSpPr>
            <a:spLocks xmlns:a="http://schemas.openxmlformats.org/drawingml/2006/main" noGrp="1"/>
          </p:cNvSpPr>
          <p:nvPr/>
        </p:nvSpPr>
        <p:spPr>
          <a:xfrm xmlns:a="http://schemas.openxmlformats.org/drawingml/2006/main">
            <a:off x="2265872" y="2505075"/>
            <a:ext cx="2014268"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Example question</a:t>
            </a:r>
          </a:p>
        </p:txBody>
      </p:sp>
      <p:sp>
        <p:nvSpPr>
          <p:cNvPr id="10" name="">
            <a:extLst xmlns:a="http://schemas.openxmlformats.org/drawingml/2006/main">
              <a:ext uri="{FF2B5EF4-FFF2-40B4-BE49-F238E27FC236}">
                <a16:creationId xmlns:a16="http://schemas.microsoft.com/office/drawing/2014/main" id="{7D69ABB7-28A8-456B-AD32-373B3286EE2F}"/>
              </a:ext>
            </a:extLst>
          </p:cNvPr>
          <p:cNvSpPr>
            <a:spLocks xmlns:a="http://schemas.openxmlformats.org/drawingml/2006/main" noGrp="1"/>
          </p:cNvSpPr>
          <p:nvPr/>
        </p:nvSpPr>
        <p:spPr>
          <a:xfrm xmlns:a="http://schemas.openxmlformats.org/drawingml/2006/main">
            <a:off x="4394440" y="2428875"/>
            <a:ext cx="1541972"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71D275A6-1A66-42A9-9853-32D9BD904794}"/>
              </a:ext>
            </a:extLst>
          </p:cNvPr>
          <p:cNvSpPr>
            <a:spLocks xmlns:a="http://schemas.openxmlformats.org/drawingml/2006/main" noGrp="1"/>
          </p:cNvSpPr>
          <p:nvPr/>
        </p:nvSpPr>
        <p:spPr>
          <a:xfrm xmlns:a="http://schemas.openxmlformats.org/drawingml/2006/main">
            <a:off x="4508740" y="2505075"/>
            <a:ext cx="1313372"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Chart encoding</a:t>
            </a:r>
          </a:p>
        </p:txBody>
      </p:sp>
      <p:sp>
        <p:nvSpPr>
          <p:cNvPr id="12" name="">
            <a:extLst xmlns:a="http://schemas.openxmlformats.org/drawingml/2006/main">
              <a:ext uri="{FF2B5EF4-FFF2-40B4-BE49-F238E27FC236}">
                <a16:creationId xmlns:a16="http://schemas.microsoft.com/office/drawing/2014/main" id="{68C81438-9D94-43C0-ABE1-8A3E9D4B826A}"/>
              </a:ext>
            </a:extLst>
          </p:cNvPr>
          <p:cNvSpPr>
            <a:spLocks xmlns:a="http://schemas.openxmlformats.org/drawingml/2006/main" noGrp="1"/>
          </p:cNvSpPr>
          <p:nvPr/>
        </p:nvSpPr>
        <p:spPr>
          <a:xfrm xmlns:a="http://schemas.openxmlformats.org/drawingml/2006/main">
            <a:off x="5936411" y="2428875"/>
            <a:ext cx="2102689"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3" name="header-3">
            <a:extLst xmlns:a="http://schemas.openxmlformats.org/drawingml/2006/main">
              <a:ext uri="{FF2B5EF4-FFF2-40B4-BE49-F238E27FC236}">
                <a16:creationId xmlns:a16="http://schemas.microsoft.com/office/drawing/2014/main" id="{7EBE219B-C8BA-4521-8EBC-9A5909D58C5E}"/>
              </a:ext>
            </a:extLst>
          </p:cNvPr>
          <p:cNvSpPr>
            <a:spLocks xmlns:a="http://schemas.openxmlformats.org/drawingml/2006/main" noGrp="1"/>
          </p:cNvSpPr>
          <p:nvPr/>
        </p:nvSpPr>
        <p:spPr>
          <a:xfrm xmlns:a="http://schemas.openxmlformats.org/drawingml/2006/main">
            <a:off x="6050711" y="2505075"/>
            <a:ext cx="1874089"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Radley Hall example</a:t>
            </a:r>
          </a:p>
        </p:txBody>
      </p:sp>
      <p:sp>
        <p:nvSpPr>
          <p:cNvPr id="14" name="">
            <a:extLst xmlns:a="http://schemas.openxmlformats.org/drawingml/2006/main">
              <a:ext uri="{FF2B5EF4-FFF2-40B4-BE49-F238E27FC236}">
                <a16:creationId xmlns:a16="http://schemas.microsoft.com/office/drawing/2014/main" id="{D6093455-4295-4C87-B63F-90A855FBBCD6}"/>
              </a:ext>
            </a:extLst>
          </p:cNvPr>
          <p:cNvSpPr>
            <a:spLocks xmlns:a="http://schemas.openxmlformats.org/drawingml/2006/main" noGrp="1"/>
          </p:cNvSpPr>
          <p:nvPr/>
        </p:nvSpPr>
        <p:spPr>
          <a:xfrm xmlns:a="http://schemas.openxmlformats.org/drawingml/2006/main">
            <a:off x="609600" y="2969895"/>
            <a:ext cx="1541972"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0">
            <a:extLst xmlns:a="http://schemas.openxmlformats.org/drawingml/2006/main">
              <a:ext uri="{FF2B5EF4-FFF2-40B4-BE49-F238E27FC236}">
                <a16:creationId xmlns:a16="http://schemas.microsoft.com/office/drawing/2014/main" id="{101013FB-0D46-4F74-BB26-9F7ED586A09E}"/>
              </a:ext>
            </a:extLst>
          </p:cNvPr>
          <p:cNvSpPr>
            <a:spLocks xmlns:a="http://schemas.openxmlformats.org/drawingml/2006/main" noGrp="1"/>
          </p:cNvSpPr>
          <p:nvPr/>
        </p:nvSpPr>
        <p:spPr>
          <a:xfrm xmlns:a="http://schemas.openxmlformats.org/drawingml/2006/main">
            <a:off x="723900" y="3046095"/>
            <a:ext cx="1313372"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Distribution</a:t>
            </a:r>
          </a:p>
        </p:txBody>
      </p:sp>
      <p:sp>
        <p:nvSpPr>
          <p:cNvPr id="16" name="">
            <a:extLst xmlns:a="http://schemas.openxmlformats.org/drawingml/2006/main">
              <a:ext uri="{FF2B5EF4-FFF2-40B4-BE49-F238E27FC236}">
                <a16:creationId xmlns:a16="http://schemas.microsoft.com/office/drawing/2014/main" id="{8CACAE09-A0F6-40F2-A469-07B5630FBCF2}"/>
              </a:ext>
            </a:extLst>
          </p:cNvPr>
          <p:cNvSpPr>
            <a:spLocks xmlns:a="http://schemas.openxmlformats.org/drawingml/2006/main" noGrp="1"/>
          </p:cNvSpPr>
          <p:nvPr/>
        </p:nvSpPr>
        <p:spPr>
          <a:xfrm xmlns:a="http://schemas.openxmlformats.org/drawingml/2006/main">
            <a:off x="2151572" y="2969895"/>
            <a:ext cx="2242868"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1">
            <a:extLst xmlns:a="http://schemas.openxmlformats.org/drawingml/2006/main">
              <a:ext uri="{FF2B5EF4-FFF2-40B4-BE49-F238E27FC236}">
                <a16:creationId xmlns:a16="http://schemas.microsoft.com/office/drawing/2014/main" id="{13880EE5-8C68-464A-830C-CFB9A98E1BCD}"/>
              </a:ext>
            </a:extLst>
          </p:cNvPr>
          <p:cNvSpPr>
            <a:spLocks xmlns:a="http://schemas.openxmlformats.org/drawingml/2006/main" noGrp="1"/>
          </p:cNvSpPr>
          <p:nvPr/>
        </p:nvSpPr>
        <p:spPr>
          <a:xfrm xmlns:a="http://schemas.openxmlformats.org/drawingml/2006/main">
            <a:off x="2265872" y="3046095"/>
            <a:ext cx="2014268"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How is energy use spread across all rooms?</a:t>
            </a:r>
          </a:p>
        </p:txBody>
      </p:sp>
      <p:sp>
        <p:nvSpPr>
          <p:cNvPr id="18" name="">
            <a:extLst xmlns:a="http://schemas.openxmlformats.org/drawingml/2006/main">
              <a:ext uri="{FF2B5EF4-FFF2-40B4-BE49-F238E27FC236}">
                <a16:creationId xmlns:a16="http://schemas.microsoft.com/office/drawing/2014/main" id="{823D12BD-C65D-40B9-9C6C-D70626225872}"/>
              </a:ext>
            </a:extLst>
          </p:cNvPr>
          <p:cNvSpPr>
            <a:spLocks xmlns:a="http://schemas.openxmlformats.org/drawingml/2006/main" noGrp="1"/>
          </p:cNvSpPr>
          <p:nvPr/>
        </p:nvSpPr>
        <p:spPr>
          <a:xfrm xmlns:a="http://schemas.openxmlformats.org/drawingml/2006/main">
            <a:off x="4394440" y="2969895"/>
            <a:ext cx="1541972"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9" name="cell-0-2">
            <a:extLst xmlns:a="http://schemas.openxmlformats.org/drawingml/2006/main">
              <a:ext uri="{FF2B5EF4-FFF2-40B4-BE49-F238E27FC236}">
                <a16:creationId xmlns:a16="http://schemas.microsoft.com/office/drawing/2014/main" id="{BB641FC8-CC3F-4EC1-961F-AB26053B44F3}"/>
              </a:ext>
            </a:extLst>
          </p:cNvPr>
          <p:cNvSpPr>
            <a:spLocks xmlns:a="http://schemas.openxmlformats.org/drawingml/2006/main" noGrp="1"/>
          </p:cNvSpPr>
          <p:nvPr/>
        </p:nvSpPr>
        <p:spPr>
          <a:xfrm xmlns:a="http://schemas.openxmlformats.org/drawingml/2006/main">
            <a:off x="4508740" y="3046095"/>
            <a:ext cx="1313372"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Histogram (bars over value ranges)</a:t>
            </a:r>
          </a:p>
        </p:txBody>
      </p:sp>
      <p:sp>
        <p:nvSpPr>
          <p:cNvPr id="20" name="">
            <a:extLst xmlns:a="http://schemas.openxmlformats.org/drawingml/2006/main">
              <a:ext uri="{FF2B5EF4-FFF2-40B4-BE49-F238E27FC236}">
                <a16:creationId xmlns:a16="http://schemas.microsoft.com/office/drawing/2014/main" id="{B00049DB-940F-426B-A498-6B52C9348F4C}"/>
              </a:ext>
            </a:extLst>
          </p:cNvPr>
          <p:cNvSpPr>
            <a:spLocks xmlns:a="http://schemas.openxmlformats.org/drawingml/2006/main" noGrp="1"/>
          </p:cNvSpPr>
          <p:nvPr/>
        </p:nvSpPr>
        <p:spPr>
          <a:xfrm xmlns:a="http://schemas.openxmlformats.org/drawingml/2006/main">
            <a:off x="5936411" y="2969895"/>
            <a:ext cx="2102689"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0-3">
            <a:extLst xmlns:a="http://schemas.openxmlformats.org/drawingml/2006/main">
              <a:ext uri="{FF2B5EF4-FFF2-40B4-BE49-F238E27FC236}">
                <a16:creationId xmlns:a16="http://schemas.microsoft.com/office/drawing/2014/main" id="{AF754D91-56E9-46C2-A1EA-D9BA4AFDAE09}"/>
              </a:ext>
            </a:extLst>
          </p:cNvPr>
          <p:cNvSpPr>
            <a:spLocks xmlns:a="http://schemas.openxmlformats.org/drawingml/2006/main" noGrp="1"/>
          </p:cNvSpPr>
          <p:nvPr/>
        </p:nvSpPr>
        <p:spPr>
          <a:xfrm xmlns:a="http://schemas.openxmlformats.org/drawingml/2006/main">
            <a:off x="6050711" y="3046095"/>
            <a:ext cx="1874089"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23 rooms' energy_kwh_m2_yr</a:t>
            </a:r>
          </a:p>
        </p:txBody>
      </p:sp>
      <p:sp>
        <p:nvSpPr>
          <p:cNvPr id="22" name="">
            <a:extLst xmlns:a="http://schemas.openxmlformats.org/drawingml/2006/main">
              <a:ext uri="{FF2B5EF4-FFF2-40B4-BE49-F238E27FC236}">
                <a16:creationId xmlns:a16="http://schemas.microsoft.com/office/drawing/2014/main" id="{1636B654-34B5-40F6-B563-1714FA8A2653}"/>
              </a:ext>
            </a:extLst>
          </p:cNvPr>
          <p:cNvSpPr>
            <a:spLocks xmlns:a="http://schemas.openxmlformats.org/drawingml/2006/main" noGrp="1"/>
          </p:cNvSpPr>
          <p:nvPr/>
        </p:nvSpPr>
        <p:spPr>
          <a:xfrm xmlns:a="http://schemas.openxmlformats.org/drawingml/2006/main">
            <a:off x="609600" y="3705225"/>
            <a:ext cx="1541972"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0">
            <a:extLst xmlns:a="http://schemas.openxmlformats.org/drawingml/2006/main">
              <a:ext uri="{FF2B5EF4-FFF2-40B4-BE49-F238E27FC236}">
                <a16:creationId xmlns:a16="http://schemas.microsoft.com/office/drawing/2014/main" id="{22AB3B41-D98F-4E59-B024-81E4BF660188}"/>
              </a:ext>
            </a:extLst>
          </p:cNvPr>
          <p:cNvSpPr>
            <a:spLocks xmlns:a="http://schemas.openxmlformats.org/drawingml/2006/main" noGrp="1"/>
          </p:cNvSpPr>
          <p:nvPr/>
        </p:nvSpPr>
        <p:spPr>
          <a:xfrm xmlns:a="http://schemas.openxmlformats.org/drawingml/2006/main">
            <a:off x="723900" y="3781425"/>
            <a:ext cx="1313372"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Comparison</a:t>
            </a:r>
          </a:p>
        </p:txBody>
      </p:sp>
      <p:sp>
        <p:nvSpPr>
          <p:cNvPr id="24" name="">
            <a:extLst xmlns:a="http://schemas.openxmlformats.org/drawingml/2006/main">
              <a:ext uri="{FF2B5EF4-FFF2-40B4-BE49-F238E27FC236}">
                <a16:creationId xmlns:a16="http://schemas.microsoft.com/office/drawing/2014/main" id="{FF1411E5-DB68-4A7F-BCD2-4DE3F1E1BFFF}"/>
              </a:ext>
            </a:extLst>
          </p:cNvPr>
          <p:cNvSpPr>
            <a:spLocks xmlns:a="http://schemas.openxmlformats.org/drawingml/2006/main" noGrp="1"/>
          </p:cNvSpPr>
          <p:nvPr/>
        </p:nvSpPr>
        <p:spPr>
          <a:xfrm xmlns:a="http://schemas.openxmlformats.org/drawingml/2006/main">
            <a:off x="2151572" y="3705225"/>
            <a:ext cx="2242868"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5" name="cell-1-1">
            <a:extLst xmlns:a="http://schemas.openxmlformats.org/drawingml/2006/main">
              <a:ext uri="{FF2B5EF4-FFF2-40B4-BE49-F238E27FC236}">
                <a16:creationId xmlns:a16="http://schemas.microsoft.com/office/drawing/2014/main" id="{3234C199-6A6A-4BCE-9129-726CA06421B1}"/>
              </a:ext>
            </a:extLst>
          </p:cNvPr>
          <p:cNvSpPr>
            <a:spLocks xmlns:a="http://schemas.openxmlformats.org/drawingml/2006/main" noGrp="1"/>
          </p:cNvSpPr>
          <p:nvPr/>
        </p:nvSpPr>
        <p:spPr>
          <a:xfrm xmlns:a="http://schemas.openxmlformats.org/drawingml/2006/main">
            <a:off x="2265872" y="3781425"/>
            <a:ext cx="2014268"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How do North and South zones differ?</a:t>
            </a:r>
          </a:p>
        </p:txBody>
      </p:sp>
      <p:sp>
        <p:nvSpPr>
          <p:cNvPr id="26" name="">
            <a:extLst xmlns:a="http://schemas.openxmlformats.org/drawingml/2006/main">
              <a:ext uri="{FF2B5EF4-FFF2-40B4-BE49-F238E27FC236}">
                <a16:creationId xmlns:a16="http://schemas.microsoft.com/office/drawing/2014/main" id="{F3600441-E40E-4823-A90F-897EDF389E71}"/>
              </a:ext>
            </a:extLst>
          </p:cNvPr>
          <p:cNvSpPr>
            <a:spLocks xmlns:a="http://schemas.openxmlformats.org/drawingml/2006/main" noGrp="1"/>
          </p:cNvSpPr>
          <p:nvPr/>
        </p:nvSpPr>
        <p:spPr>
          <a:xfrm xmlns:a="http://schemas.openxmlformats.org/drawingml/2006/main">
            <a:off x="4394440" y="3705225"/>
            <a:ext cx="1541972"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7" name="cell-1-2">
            <a:extLst xmlns:a="http://schemas.openxmlformats.org/drawingml/2006/main">
              <a:ext uri="{FF2B5EF4-FFF2-40B4-BE49-F238E27FC236}">
                <a16:creationId xmlns:a16="http://schemas.microsoft.com/office/drawing/2014/main" id="{DAC50D65-A413-4975-99ED-6F152124335C}"/>
              </a:ext>
            </a:extLst>
          </p:cNvPr>
          <p:cNvSpPr>
            <a:spLocks xmlns:a="http://schemas.openxmlformats.org/drawingml/2006/main" noGrp="1"/>
          </p:cNvSpPr>
          <p:nvPr/>
        </p:nvSpPr>
        <p:spPr>
          <a:xfrm xmlns:a="http://schemas.openxmlformats.org/drawingml/2006/main">
            <a:off x="4508740" y="3781425"/>
            <a:ext cx="1313372"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Bar chart of group means</a:t>
            </a:r>
          </a:p>
        </p:txBody>
      </p:sp>
      <p:sp>
        <p:nvSpPr>
          <p:cNvPr id="28" name="">
            <a:extLst xmlns:a="http://schemas.openxmlformats.org/drawingml/2006/main">
              <a:ext uri="{FF2B5EF4-FFF2-40B4-BE49-F238E27FC236}">
                <a16:creationId xmlns:a16="http://schemas.microsoft.com/office/drawing/2014/main" id="{B055649F-5A68-4398-AEED-F1B50261E3F9}"/>
              </a:ext>
            </a:extLst>
          </p:cNvPr>
          <p:cNvSpPr>
            <a:spLocks xmlns:a="http://schemas.openxmlformats.org/drawingml/2006/main" noGrp="1"/>
          </p:cNvSpPr>
          <p:nvPr/>
        </p:nvSpPr>
        <p:spPr>
          <a:xfrm xmlns:a="http://schemas.openxmlformats.org/drawingml/2006/main">
            <a:off x="5936411" y="3705225"/>
            <a:ext cx="2102689"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9" name="cell-1-3">
            <a:extLst xmlns:a="http://schemas.openxmlformats.org/drawingml/2006/main">
              <a:ext uri="{FF2B5EF4-FFF2-40B4-BE49-F238E27FC236}">
                <a16:creationId xmlns:a16="http://schemas.microsoft.com/office/drawing/2014/main" id="{B8BD9FBB-D2CE-4165-96F3-57FECC065C22}"/>
              </a:ext>
            </a:extLst>
          </p:cNvPr>
          <p:cNvSpPr>
            <a:spLocks xmlns:a="http://schemas.openxmlformats.org/drawingml/2006/main" noGrp="1"/>
          </p:cNvSpPr>
          <p:nvPr/>
        </p:nvSpPr>
        <p:spPr>
          <a:xfrm xmlns:a="http://schemas.openxmlformats.org/drawingml/2006/main">
            <a:off x="6050711" y="3781425"/>
            <a:ext cx="1874089"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North 64.25 vs. South 115.68 kWh/m2/yr</a:t>
            </a:r>
          </a:p>
        </p:txBody>
      </p:sp>
      <p:sp>
        <p:nvSpPr>
          <p:cNvPr id="30" name="">
            <a:extLst xmlns:a="http://schemas.openxmlformats.org/drawingml/2006/main">
              <a:ext uri="{FF2B5EF4-FFF2-40B4-BE49-F238E27FC236}">
                <a16:creationId xmlns:a16="http://schemas.microsoft.com/office/drawing/2014/main" id="{D2489881-BB19-411D-9769-2F85E19DB5A8}"/>
              </a:ext>
            </a:extLst>
          </p:cNvPr>
          <p:cNvSpPr>
            <a:spLocks xmlns:a="http://schemas.openxmlformats.org/drawingml/2006/main" noGrp="1"/>
          </p:cNvSpPr>
          <p:nvPr/>
        </p:nvSpPr>
        <p:spPr>
          <a:xfrm xmlns:a="http://schemas.openxmlformats.org/drawingml/2006/main">
            <a:off x="609600" y="4246245"/>
            <a:ext cx="1541972"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1" name="cell-2-0">
            <a:extLst xmlns:a="http://schemas.openxmlformats.org/drawingml/2006/main">
              <a:ext uri="{FF2B5EF4-FFF2-40B4-BE49-F238E27FC236}">
                <a16:creationId xmlns:a16="http://schemas.microsoft.com/office/drawing/2014/main" id="{7AF81924-5DBD-41FA-A504-8486B0E10D6B}"/>
              </a:ext>
            </a:extLst>
          </p:cNvPr>
          <p:cNvSpPr>
            <a:spLocks xmlns:a="http://schemas.openxmlformats.org/drawingml/2006/main" noGrp="1"/>
          </p:cNvSpPr>
          <p:nvPr/>
        </p:nvSpPr>
        <p:spPr>
          <a:xfrm xmlns:a="http://schemas.openxmlformats.org/drawingml/2006/main">
            <a:off x="723900" y="4322445"/>
            <a:ext cx="1313372"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Relationship</a:t>
            </a:r>
          </a:p>
        </p:txBody>
      </p:sp>
      <p:sp>
        <p:nvSpPr>
          <p:cNvPr id="32" name="">
            <a:extLst xmlns:a="http://schemas.openxmlformats.org/drawingml/2006/main">
              <a:ext uri="{FF2B5EF4-FFF2-40B4-BE49-F238E27FC236}">
                <a16:creationId xmlns:a16="http://schemas.microsoft.com/office/drawing/2014/main" id="{C63A558E-ACAB-4F2D-AE5D-1308DB6D734E}"/>
              </a:ext>
            </a:extLst>
          </p:cNvPr>
          <p:cNvSpPr>
            <a:spLocks xmlns:a="http://schemas.openxmlformats.org/drawingml/2006/main" noGrp="1"/>
          </p:cNvSpPr>
          <p:nvPr/>
        </p:nvSpPr>
        <p:spPr>
          <a:xfrm xmlns:a="http://schemas.openxmlformats.org/drawingml/2006/main">
            <a:off x="2151572" y="4246245"/>
            <a:ext cx="2242868"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3" name="cell-2-1">
            <a:extLst xmlns:a="http://schemas.openxmlformats.org/drawingml/2006/main">
              <a:ext uri="{FF2B5EF4-FFF2-40B4-BE49-F238E27FC236}">
                <a16:creationId xmlns:a16="http://schemas.microsoft.com/office/drawing/2014/main" id="{841F1888-653A-4007-A327-BF2BA739F3F2}"/>
              </a:ext>
            </a:extLst>
          </p:cNvPr>
          <p:cNvSpPr>
            <a:spLocks xmlns:a="http://schemas.openxmlformats.org/drawingml/2006/main" noGrp="1"/>
          </p:cNvSpPr>
          <p:nvPr/>
        </p:nvSpPr>
        <p:spPr>
          <a:xfrm xmlns:a="http://schemas.openxmlformats.org/drawingml/2006/main">
            <a:off x="2265872" y="4322445"/>
            <a:ext cx="2014268"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Does room area move together with energy use?</a:t>
            </a:r>
          </a:p>
        </p:txBody>
      </p:sp>
      <p:sp>
        <p:nvSpPr>
          <p:cNvPr id="34" name="">
            <a:extLst xmlns:a="http://schemas.openxmlformats.org/drawingml/2006/main">
              <a:ext uri="{FF2B5EF4-FFF2-40B4-BE49-F238E27FC236}">
                <a16:creationId xmlns:a16="http://schemas.microsoft.com/office/drawing/2014/main" id="{15870CDB-8393-454A-AE70-C0215E18C1F4}"/>
              </a:ext>
            </a:extLst>
          </p:cNvPr>
          <p:cNvSpPr>
            <a:spLocks xmlns:a="http://schemas.openxmlformats.org/drawingml/2006/main" noGrp="1"/>
          </p:cNvSpPr>
          <p:nvPr/>
        </p:nvSpPr>
        <p:spPr>
          <a:xfrm xmlns:a="http://schemas.openxmlformats.org/drawingml/2006/main">
            <a:off x="4394440" y="4246245"/>
            <a:ext cx="1541972"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5" name="cell-2-2">
            <a:extLst xmlns:a="http://schemas.openxmlformats.org/drawingml/2006/main">
              <a:ext uri="{FF2B5EF4-FFF2-40B4-BE49-F238E27FC236}">
                <a16:creationId xmlns:a16="http://schemas.microsoft.com/office/drawing/2014/main" id="{B9DD913D-645D-42F0-A7C9-37EA32B52234}"/>
              </a:ext>
            </a:extLst>
          </p:cNvPr>
          <p:cNvSpPr>
            <a:spLocks xmlns:a="http://schemas.openxmlformats.org/drawingml/2006/main" noGrp="1"/>
          </p:cNvSpPr>
          <p:nvPr/>
        </p:nvSpPr>
        <p:spPr>
          <a:xfrm xmlns:a="http://schemas.openxmlformats.org/drawingml/2006/main">
            <a:off x="4508740" y="4322445"/>
            <a:ext cx="1313372"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Scatter plot</a:t>
            </a:r>
          </a:p>
        </p:txBody>
      </p:sp>
      <p:sp>
        <p:nvSpPr>
          <p:cNvPr id="36" name="">
            <a:extLst xmlns:a="http://schemas.openxmlformats.org/drawingml/2006/main">
              <a:ext uri="{FF2B5EF4-FFF2-40B4-BE49-F238E27FC236}">
                <a16:creationId xmlns:a16="http://schemas.microsoft.com/office/drawing/2014/main" id="{7533AA0D-B495-4405-964D-60DCF82CBF23}"/>
              </a:ext>
            </a:extLst>
          </p:cNvPr>
          <p:cNvSpPr>
            <a:spLocks xmlns:a="http://schemas.openxmlformats.org/drawingml/2006/main" noGrp="1"/>
          </p:cNvSpPr>
          <p:nvPr/>
        </p:nvSpPr>
        <p:spPr>
          <a:xfrm xmlns:a="http://schemas.openxmlformats.org/drawingml/2006/main">
            <a:off x="5936411" y="4246245"/>
            <a:ext cx="2102689"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7" name="cell-2-3">
            <a:extLst xmlns:a="http://schemas.openxmlformats.org/drawingml/2006/main">
              <a:ext uri="{FF2B5EF4-FFF2-40B4-BE49-F238E27FC236}">
                <a16:creationId xmlns:a16="http://schemas.microsoft.com/office/drawing/2014/main" id="{8F44E9C8-2F31-4DE3-99AA-475B6AD0C810}"/>
              </a:ext>
            </a:extLst>
          </p:cNvPr>
          <p:cNvSpPr>
            <a:spLocks xmlns:a="http://schemas.openxmlformats.org/drawingml/2006/main" noGrp="1"/>
          </p:cNvSpPr>
          <p:nvPr/>
        </p:nvSpPr>
        <p:spPr>
          <a:xfrm xmlns:a="http://schemas.openxmlformats.org/drawingml/2006/main">
            <a:off x="6050711" y="4322445"/>
            <a:ext cx="1874089"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area_m2 vs. energy_kwh_m2_yr</a:t>
            </a:r>
          </a:p>
        </p:txBody>
      </p:sp>
      <p:sp>
        <p:nvSpPr>
          <p:cNvPr id="38" name="">
            <a:extLst xmlns:a="http://schemas.openxmlformats.org/drawingml/2006/main">
              <a:ext uri="{FF2B5EF4-FFF2-40B4-BE49-F238E27FC236}">
                <a16:creationId xmlns:a16="http://schemas.microsoft.com/office/drawing/2014/main" id="{7F5363EF-BF2B-4441-8CFE-4D61DFF9E04F}"/>
              </a:ext>
            </a:extLst>
          </p:cNvPr>
          <p:cNvSpPr>
            <a:spLocks xmlns:a="http://schemas.openxmlformats.org/drawingml/2006/main" noGrp="1"/>
          </p:cNvSpPr>
          <p:nvPr/>
        </p:nvSpPr>
        <p:spPr>
          <a:xfrm xmlns:a="http://schemas.openxmlformats.org/drawingml/2006/main">
            <a:off x="609600" y="4981575"/>
            <a:ext cx="1541972"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9" name="cell-3-0">
            <a:extLst xmlns:a="http://schemas.openxmlformats.org/drawingml/2006/main">
              <a:ext uri="{FF2B5EF4-FFF2-40B4-BE49-F238E27FC236}">
                <a16:creationId xmlns:a16="http://schemas.microsoft.com/office/drawing/2014/main" id="{19D08F5C-881D-4FE9-B1B1-55B6F993F114}"/>
              </a:ext>
            </a:extLst>
          </p:cNvPr>
          <p:cNvSpPr>
            <a:spLocks xmlns:a="http://schemas.openxmlformats.org/drawingml/2006/main" noGrp="1"/>
          </p:cNvSpPr>
          <p:nvPr/>
        </p:nvSpPr>
        <p:spPr>
          <a:xfrm xmlns:a="http://schemas.openxmlformats.org/drawingml/2006/main">
            <a:off x="723900" y="5057775"/>
            <a:ext cx="1313372"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Change over a sequence</a:t>
            </a:r>
          </a:p>
        </p:txBody>
      </p:sp>
      <p:sp>
        <p:nvSpPr>
          <p:cNvPr id="40" name="">
            <a:extLst xmlns:a="http://schemas.openxmlformats.org/drawingml/2006/main">
              <a:ext uri="{FF2B5EF4-FFF2-40B4-BE49-F238E27FC236}">
                <a16:creationId xmlns:a16="http://schemas.microsoft.com/office/drawing/2014/main" id="{40155ABB-73F2-46FB-B74A-B3766E52832C}"/>
              </a:ext>
            </a:extLst>
          </p:cNvPr>
          <p:cNvSpPr>
            <a:spLocks xmlns:a="http://schemas.openxmlformats.org/drawingml/2006/main" noGrp="1"/>
          </p:cNvSpPr>
          <p:nvPr/>
        </p:nvSpPr>
        <p:spPr>
          <a:xfrm xmlns:a="http://schemas.openxmlformats.org/drawingml/2006/main">
            <a:off x="2151572" y="4981575"/>
            <a:ext cx="2242868"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1" name="cell-3-1">
            <a:extLst xmlns:a="http://schemas.openxmlformats.org/drawingml/2006/main">
              <a:ext uri="{FF2B5EF4-FFF2-40B4-BE49-F238E27FC236}">
                <a16:creationId xmlns:a16="http://schemas.microsoft.com/office/drawing/2014/main" id="{AC8643D9-48DD-4BF7-BE5A-1D5890FF324D}"/>
              </a:ext>
            </a:extLst>
          </p:cNvPr>
          <p:cNvSpPr>
            <a:spLocks xmlns:a="http://schemas.openxmlformats.org/drawingml/2006/main" noGrp="1"/>
          </p:cNvSpPr>
          <p:nvPr/>
        </p:nvSpPr>
        <p:spPr>
          <a:xfrm xmlns:a="http://schemas.openxmlformats.org/drawingml/2006/main">
            <a:off x="2265872" y="5057775"/>
            <a:ext cx="2014268"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How does a value move across an order?</a:t>
            </a:r>
          </a:p>
        </p:txBody>
      </p:sp>
      <p:sp>
        <p:nvSpPr>
          <p:cNvPr id="42" name="">
            <a:extLst xmlns:a="http://schemas.openxmlformats.org/drawingml/2006/main">
              <a:ext uri="{FF2B5EF4-FFF2-40B4-BE49-F238E27FC236}">
                <a16:creationId xmlns:a16="http://schemas.microsoft.com/office/drawing/2014/main" id="{3723C41C-70D5-4304-97AF-8C32D06EACB2}"/>
              </a:ext>
            </a:extLst>
          </p:cNvPr>
          <p:cNvSpPr>
            <a:spLocks xmlns:a="http://schemas.openxmlformats.org/drawingml/2006/main" noGrp="1"/>
          </p:cNvSpPr>
          <p:nvPr/>
        </p:nvSpPr>
        <p:spPr>
          <a:xfrm xmlns:a="http://schemas.openxmlformats.org/drawingml/2006/main">
            <a:off x="4394440" y="4981575"/>
            <a:ext cx="1541972"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3" name="cell-3-2">
            <a:extLst xmlns:a="http://schemas.openxmlformats.org/drawingml/2006/main">
              <a:ext uri="{FF2B5EF4-FFF2-40B4-BE49-F238E27FC236}">
                <a16:creationId xmlns:a16="http://schemas.microsoft.com/office/drawing/2014/main" id="{28E9D247-C109-4BF3-AF1A-69D925D53888}"/>
              </a:ext>
            </a:extLst>
          </p:cNvPr>
          <p:cNvSpPr>
            <a:spLocks xmlns:a="http://schemas.openxmlformats.org/drawingml/2006/main" noGrp="1"/>
          </p:cNvSpPr>
          <p:nvPr/>
        </p:nvSpPr>
        <p:spPr>
          <a:xfrm xmlns:a="http://schemas.openxmlformats.org/drawingml/2006/main">
            <a:off x="4508740" y="5057775"/>
            <a:ext cx="1313372"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Line chart</a:t>
            </a:r>
          </a:p>
        </p:txBody>
      </p:sp>
      <p:sp>
        <p:nvSpPr>
          <p:cNvPr id="44" name="">
            <a:extLst xmlns:a="http://schemas.openxmlformats.org/drawingml/2006/main">
              <a:ext uri="{FF2B5EF4-FFF2-40B4-BE49-F238E27FC236}">
                <a16:creationId xmlns:a16="http://schemas.microsoft.com/office/drawing/2014/main" id="{2619D61E-799E-41E9-A5C9-87CAF51050F8}"/>
              </a:ext>
            </a:extLst>
          </p:cNvPr>
          <p:cNvSpPr>
            <a:spLocks xmlns:a="http://schemas.openxmlformats.org/drawingml/2006/main" noGrp="1"/>
          </p:cNvSpPr>
          <p:nvPr/>
        </p:nvSpPr>
        <p:spPr>
          <a:xfrm xmlns:a="http://schemas.openxmlformats.org/drawingml/2006/main">
            <a:off x="5936411" y="4981575"/>
            <a:ext cx="2102689"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5" name="cell-3-3">
            <a:extLst xmlns:a="http://schemas.openxmlformats.org/drawingml/2006/main">
              <a:ext uri="{FF2B5EF4-FFF2-40B4-BE49-F238E27FC236}">
                <a16:creationId xmlns:a16="http://schemas.microsoft.com/office/drawing/2014/main" id="{BD128251-6ADF-4529-9E1B-EAF9DD622EA1}"/>
              </a:ext>
            </a:extLst>
          </p:cNvPr>
          <p:cNvSpPr>
            <a:spLocks xmlns:a="http://schemas.openxmlformats.org/drawingml/2006/main" noGrp="1"/>
          </p:cNvSpPr>
          <p:nvPr/>
        </p:nvSpPr>
        <p:spPr>
          <a:xfrm xmlns:a="http://schemas.openxmlformats.org/drawingml/2006/main">
            <a:off x="6050711" y="5057775"/>
            <a:ext cx="1874089"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Mean energy by floor, 1 to 3</a:t>
            </a:r>
          </a:p>
        </p:txBody>
      </p:sp>
      <p:sp>
        <p:nvSpPr>
          <p:cNvPr id="46" name="callout-label">
            <a:extLst xmlns:a="http://schemas.openxmlformats.org/drawingml/2006/main">
              <a:ext uri="{FF2B5EF4-FFF2-40B4-BE49-F238E27FC236}">
                <a16:creationId xmlns:a16="http://schemas.microsoft.com/office/drawing/2014/main" id="{C813D933-1C65-471C-A945-4462AAA2E35D}"/>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47" name="callout">
            <a:extLst xmlns:a="http://schemas.openxmlformats.org/drawingml/2006/main">
              <a:ext uri="{FF2B5EF4-FFF2-40B4-BE49-F238E27FC236}">
                <a16:creationId xmlns:a16="http://schemas.microsoft.com/office/drawing/2014/main" id="{9D8563B0-3E69-409F-97D5-497A79B7FF7C}"/>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Pick the encoding after the question, not before -- a bar chart cannot show a relationship, and a scatter plot cannot show one group's total.</a:t>
            </a:r>
          </a:p>
        </p:txBody>
      </p:sp>
    </p:spTree>
    <p:extLst>
      <p:ext uri="{BB962C8B-B14F-4D97-AF65-F5344CB8AC3E}">
        <p14:creationId xmlns:p14="http://schemas.microsoft.com/office/powerpoint/2010/main" val="3712449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DF465178-17D2-471C-B920-1EFD001B2E5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 DEFINED</a:t>
            </a:r>
          </a:p>
        </p:txBody>
      </p:sp>
      <p:sp>
        <p:nvSpPr>
          <p:cNvPr id="2" name="title">
            <a:extLst xmlns:a="http://schemas.openxmlformats.org/drawingml/2006/main">
              <a:ext uri="{FF2B5EF4-FFF2-40B4-BE49-F238E27FC236}">
                <a16:creationId xmlns:a16="http://schemas.microsoft.com/office/drawing/2014/main" id="{72E5F4A0-7002-4CE4-B53A-5DFDEFB196F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fig, ax -- defined</a:t>
            </a:r>
          </a:p>
        </p:txBody>
      </p:sp>
      <p:sp>
        <p:nvSpPr>
          <p:cNvPr id="3" name="">
            <a:extLst xmlns:a="http://schemas.openxmlformats.org/drawingml/2006/main">
              <a:ext uri="{FF2B5EF4-FFF2-40B4-BE49-F238E27FC236}">
                <a16:creationId xmlns:a16="http://schemas.microsoft.com/office/drawing/2014/main" id="{E10AAA3E-1EF4-4AF5-BB8B-2253D32BD66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224AF0C-8170-48F7-AED2-89FA00695CF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100DCC19-AC1D-42EC-9A99-11C40F49913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07</a:t>
            </a:r>
          </a:p>
        </p:txBody>
      </p:sp>
      <p:sp>
        <p:nvSpPr>
          <p:cNvPr id="6" name="term-label">
            <a:extLst xmlns:a="http://schemas.openxmlformats.org/drawingml/2006/main">
              <a:ext uri="{FF2B5EF4-FFF2-40B4-BE49-F238E27FC236}">
                <a16:creationId xmlns:a16="http://schemas.microsoft.com/office/drawing/2014/main" id="{4C5E0B12-9544-493B-A409-AABFDA1A61A3}"/>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EEDAE522-A9FD-40C5-9777-6096E8418558}"/>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fig, ax</a:t>
            </a:r>
          </a:p>
        </p:txBody>
      </p:sp>
      <p:sp>
        <p:nvSpPr>
          <p:cNvPr id="8" name="">
            <a:extLst xmlns:a="http://schemas.openxmlformats.org/drawingml/2006/main">
              <a:ext uri="{FF2B5EF4-FFF2-40B4-BE49-F238E27FC236}">
                <a16:creationId xmlns:a16="http://schemas.microsoft.com/office/drawing/2014/main" id="{3B6D3512-0A9D-406D-BBCD-69B1583E348C}"/>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A967D011-9E04-4543-8736-AD21C012C490}"/>
              </a:ext>
            </a:extLst>
          </p:cNvPr>
          <p:cNvSpPr>
            <a:spLocks xmlns:a="http://schemas.openxmlformats.org/drawingml/2006/main" noGrp="1"/>
          </p:cNvSpPr>
          <p:nvPr/>
        </p:nvSpPr>
        <p:spPr>
          <a:xfrm xmlns:a="http://schemas.openxmlformats.org/drawingml/2006/main">
            <a:off x="609600" y="2971800"/>
            <a:ext cx="5905500" cy="3067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fig, ax = plt.subplots() creates two objects in one line. fig is the whole figure -- the canvas and everything on it. ax is one set of axes -- the actual plot area, with its own data, ticks, and labels. Nearly every call after this line is a method on ax, not on fig.</a:t>
            </a:r>
          </a:p>
        </p:txBody>
      </p:sp>
      <p:sp>
        <p:nvSpPr>
          <p:cNvPr id="10" name="example-panel">
            <a:extLst xmlns:a="http://schemas.openxmlformats.org/drawingml/2006/main">
              <a:ext uri="{FF2B5EF4-FFF2-40B4-BE49-F238E27FC236}">
                <a16:creationId xmlns:a16="http://schemas.microsoft.com/office/drawing/2014/main" id="{D7A745C9-9F54-4E9B-80BA-E1F78EF109B1}"/>
              </a:ext>
            </a:extLst>
          </p:cNvPr>
          <p:cNvSpPr>
            <a:spLocks xmlns:a="http://schemas.openxmlformats.org/drawingml/2006/main" noGrp="1"/>
          </p:cNvSpPr>
          <p:nvPr/>
        </p:nvSpPr>
        <p:spPr>
          <a:xfrm xmlns:a="http://schemas.openxmlformats.org/drawingml/2006/main">
            <a:off x="6762750" y="1809750"/>
            <a:ext cx="4819650" cy="4248150"/>
          </a:xfrm>
          <a:prstGeom xmlns:a="http://schemas.openxmlformats.org/drawingml/2006/main" prst="roundRect">
            <a:avLst>
              <a:gd name="adj" fmla="val 1794"/>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43B961F2-F7FF-4402-9622-3F8C1D6CFAC0}"/>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171AB668-A161-4876-ACEC-361F2919F9DC}"/>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Why keep both names</a:t>
            </a:r>
          </a:p>
        </p:txBody>
      </p:sp>
      <p:sp>
        <p:nvSpPr>
          <p:cNvPr id="13" name="example-body">
            <a:extLst xmlns:a="http://schemas.openxmlformats.org/drawingml/2006/main">
              <a:ext uri="{FF2B5EF4-FFF2-40B4-BE49-F238E27FC236}">
                <a16:creationId xmlns:a16="http://schemas.microsoft.com/office/drawing/2014/main" id="{D1B1B6D2-57F6-48BB-B91B-FA0AA532884D}"/>
              </a:ext>
            </a:extLst>
          </p:cNvPr>
          <p:cNvSpPr>
            <a:spLocks xmlns:a="http://schemas.openxmlformats.org/drawingml/2006/main" noGrp="1"/>
          </p:cNvSpPr>
          <p:nvPr/>
        </p:nvSpPr>
        <p:spPr>
          <a:xfrm xmlns:a="http://schemas.openxmlformats.org/drawingml/2006/main">
            <a:off x="6972300" y="2704338"/>
            <a:ext cx="4381500" cy="3220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One fig can later hold several ax panels (a grid of subplots). Naming both objects explicitly -- instead of trusting a hidden 'current plot' -- is exactly what lets you label, legend, annotate, and save the specific figure you built.</a:t>
            </a:r>
          </a:p>
        </p:txBody>
      </p:sp>
    </p:spTree>
    <p:extLst>
      <p:ext uri="{BB962C8B-B14F-4D97-AF65-F5344CB8AC3E}">
        <p14:creationId xmlns:p14="http://schemas.microsoft.com/office/powerpoint/2010/main" val="214672465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AEAFEB37-02C5-4E05-A5B2-A85079F317D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2EFE8658-143E-4DD5-A074-EF40DCBD271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Two objects, one line: fig, ax = plt.subplots()</a:t>
            </a:r>
          </a:p>
        </p:txBody>
      </p:sp>
      <p:sp>
        <p:nvSpPr>
          <p:cNvPr id="3" name="">
            <a:extLst xmlns:a="http://schemas.openxmlformats.org/drawingml/2006/main">
              <a:ext uri="{FF2B5EF4-FFF2-40B4-BE49-F238E27FC236}">
                <a16:creationId xmlns:a16="http://schemas.microsoft.com/office/drawing/2014/main" id="{9DAC7B85-0FD7-4629-8D76-38D5E6557C3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6BC9814-9936-43BA-B214-D76A0319DB9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5EAE66AC-E47C-4EEC-94C7-31058E210A2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08</a:t>
            </a:r>
          </a:p>
        </p:txBody>
      </p:sp>
      <p:sp>
        <p:nvSpPr>
          <p:cNvPr id="6" name="code-panel">
            <a:extLst xmlns:a="http://schemas.openxmlformats.org/drawingml/2006/main">
              <a:ext uri="{FF2B5EF4-FFF2-40B4-BE49-F238E27FC236}">
                <a16:creationId xmlns:a16="http://schemas.microsoft.com/office/drawing/2014/main" id="{236F378C-6AA1-4F3A-951A-24F72A848CD0}"/>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9DA882C2-83E3-4145-9EBF-C24EAE03375C}"/>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import matplotlib.pyplot as plt</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fig, ax = plt.subplots()</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ax.plot([1, 2, 3], [4, 5, 6])</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fig.savefig("first_plot.png")</a:t>
            </a:r>
          </a:p>
        </p:txBody>
      </p:sp>
      <p:sp>
        <p:nvSpPr>
          <p:cNvPr id="8" name="explain-head">
            <a:extLst xmlns:a="http://schemas.openxmlformats.org/drawingml/2006/main">
              <a:ext uri="{FF2B5EF4-FFF2-40B4-BE49-F238E27FC236}">
                <a16:creationId xmlns:a16="http://schemas.microsoft.com/office/drawing/2014/main" id="{D5825A26-0A7B-4BAB-B71F-4883B1E8639B}"/>
              </a:ext>
            </a:extLst>
          </p:cNvPr>
          <p:cNvSpPr>
            <a:spLocks xmlns:a="http://schemas.openxmlformats.org/drawingml/2006/main" noGrp="1"/>
          </p:cNvSpPr>
          <p:nvPr/>
        </p:nvSpPr>
        <p:spPr>
          <a:xfrm xmlns:a="http://schemas.openxmlformats.org/drawingml/2006/main">
            <a:off x="7886700" y="25241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No separate 'show' step required</a:t>
            </a:r>
          </a:p>
        </p:txBody>
      </p:sp>
      <p:sp>
        <p:nvSpPr>
          <p:cNvPr id="9" name="explain-body">
            <a:extLst xmlns:a="http://schemas.openxmlformats.org/drawingml/2006/main">
              <a:ext uri="{FF2B5EF4-FFF2-40B4-BE49-F238E27FC236}">
                <a16:creationId xmlns:a16="http://schemas.microsoft.com/office/drawing/2014/main" id="{D0B3177A-A488-4D7F-836E-AC5DA6D9D6F5}"/>
              </a:ext>
            </a:extLst>
          </p:cNvPr>
          <p:cNvSpPr>
            <a:spLocks xmlns:a="http://schemas.openxmlformats.org/drawingml/2006/main" noGrp="1"/>
          </p:cNvSpPr>
          <p:nvPr/>
        </p:nvSpPr>
        <p:spPr>
          <a:xfrm xmlns:a="http://schemas.openxmlformats.org/drawingml/2006/main">
            <a:off x="7886700" y="3309747"/>
            <a:ext cx="3695700" cy="16230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plt.subplots() returns fig and ax together. ax.plot() draws a line through three points -- a method call on ax, not a free-floating plt.plot(). fig.savefig() writes the picture straight to a file; the figure does not need to be displayed on screen to be saved.</a:t>
            </a:r>
          </a:p>
        </p:txBody>
      </p:sp>
    </p:spTree>
    <p:extLst>
      <p:ext uri="{BB962C8B-B14F-4D97-AF65-F5344CB8AC3E}">
        <p14:creationId xmlns:p14="http://schemas.microsoft.com/office/powerpoint/2010/main" val="56719425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8E990F04-DBE6-4B5D-9682-EDE3E6896F1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12D03D67-AAC2-4182-ACE7-B18AE156539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how many numbers come back in edges?</a:t>
            </a:r>
          </a:p>
        </p:txBody>
      </p:sp>
      <p:sp>
        <p:nvSpPr>
          <p:cNvPr id="3" name="">
            <a:extLst xmlns:a="http://schemas.openxmlformats.org/drawingml/2006/main">
              <a:ext uri="{FF2B5EF4-FFF2-40B4-BE49-F238E27FC236}">
                <a16:creationId xmlns:a16="http://schemas.microsoft.com/office/drawing/2014/main" id="{765CCA17-D7E5-45C8-9B67-0CF0F7ADAF88}"/>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A193C15-8454-4323-8DA3-699444F2714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DA849092-748F-4D0D-BE4A-2BEFCB031936}"/>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09</a:t>
            </a:r>
          </a:p>
        </p:txBody>
      </p:sp>
      <p:sp>
        <p:nvSpPr>
          <p:cNvPr id="6" name="code-panel">
            <a:extLst xmlns:a="http://schemas.openxmlformats.org/drawingml/2006/main">
              <a:ext uri="{FF2B5EF4-FFF2-40B4-BE49-F238E27FC236}">
                <a16:creationId xmlns:a16="http://schemas.microsoft.com/office/drawing/2014/main" id="{F7064F09-6F2B-4FC1-AE2C-967335845B15}"/>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1A01C607-3A5F-4E94-B01D-13E98D443E99}"/>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energy = df["energy_kwh_m2_yr"].dropna()</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counts, edges = np.histogram(energy, bins=6)</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print(len(counts))</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print(len(edges))</a:t>
            </a:r>
          </a:p>
        </p:txBody>
      </p:sp>
      <p:sp>
        <p:nvSpPr>
          <p:cNvPr id="8" name="question">
            <a:extLst xmlns:a="http://schemas.openxmlformats.org/drawingml/2006/main">
              <a:ext uri="{FF2B5EF4-FFF2-40B4-BE49-F238E27FC236}">
                <a16:creationId xmlns:a16="http://schemas.microsoft.com/office/drawing/2014/main" id="{71E0638E-62BC-479B-86E7-8A33DF202C76}"/>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How many numbers does edges contain?</a:t>
            </a:r>
          </a:p>
        </p:txBody>
      </p:sp>
      <p:sp>
        <p:nvSpPr>
          <p:cNvPr id="9" name="opt-0">
            <a:extLst xmlns:a="http://schemas.openxmlformats.org/drawingml/2006/main">
              <a:ext uri="{FF2B5EF4-FFF2-40B4-BE49-F238E27FC236}">
                <a16:creationId xmlns:a16="http://schemas.microsoft.com/office/drawing/2014/main" id="{3A793CA2-17FE-4C66-B1C3-B5419D15501E}"/>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AE6D9AE9-ECEC-42BE-8320-496FFCA35CB2}"/>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AD0A20BF-1809-4CFA-8C5D-048C1AB1CB96}"/>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6 -- one edge per bin</a:t>
            </a:r>
          </a:p>
        </p:txBody>
      </p:sp>
      <p:sp>
        <p:nvSpPr>
          <p:cNvPr id="12" name="opt-1">
            <a:extLst xmlns:a="http://schemas.openxmlformats.org/drawingml/2006/main">
              <a:ext uri="{FF2B5EF4-FFF2-40B4-BE49-F238E27FC236}">
                <a16:creationId xmlns:a16="http://schemas.microsoft.com/office/drawing/2014/main" id="{37A32F49-14D5-4A72-8136-B0211AC490F9}"/>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3EA4184C-0A92-490D-9928-6156749252D2}"/>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AD33F1B3-DEFD-47B3-9B85-62F12664A315}"/>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7 -- one more edge than bins (edges mark boundaries, including both ends)</a:t>
            </a:r>
          </a:p>
        </p:txBody>
      </p:sp>
      <p:sp>
        <p:nvSpPr>
          <p:cNvPr id="15" name="opt-2">
            <a:extLst xmlns:a="http://schemas.openxmlformats.org/drawingml/2006/main">
              <a:ext uri="{FF2B5EF4-FFF2-40B4-BE49-F238E27FC236}">
                <a16:creationId xmlns:a16="http://schemas.microsoft.com/office/drawing/2014/main" id="{9E8868A9-1C8C-44EB-8B82-4AC5879E0D74}"/>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92256183-4593-4F67-915E-6CE8FD867EDF}"/>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EA0E85E8-4104-48E8-A55F-E31109B0E0B4}"/>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23 -- one edge per room in the dataset</a:t>
            </a:r>
          </a:p>
        </p:txBody>
      </p:sp>
      <p:sp>
        <p:nvSpPr>
          <p:cNvPr id="18" name="opt-3">
            <a:extLst xmlns:a="http://schemas.openxmlformats.org/drawingml/2006/main">
              <a:ext uri="{FF2B5EF4-FFF2-40B4-BE49-F238E27FC236}">
                <a16:creationId xmlns:a16="http://schemas.microsoft.com/office/drawing/2014/main" id="{51F324E1-8B08-4851-B4E6-D589A8D66545}"/>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A6B1EC3B-6E4A-4FA7-82F9-0A76502A5CF1}"/>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1082D818-D37A-4D62-BA6A-2BAC610B8A8C}"/>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5 -- one fewer than the bin count</a:t>
            </a:r>
          </a:p>
        </p:txBody>
      </p:sp>
      <p:sp>
        <p:nvSpPr>
          <p:cNvPr id="21" name="answer-panel">
            <a:extLst xmlns:a="http://schemas.openxmlformats.org/drawingml/2006/main">
              <a:ext uri="{FF2B5EF4-FFF2-40B4-BE49-F238E27FC236}">
                <a16:creationId xmlns:a16="http://schemas.microsoft.com/office/drawing/2014/main" id="{EFFF8199-1453-4683-ABCE-07BA5BACBF8B}"/>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4D33C945-502B-426B-B20B-574DF26155D2}"/>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B</a:t>
            </a:r>
          </a:p>
        </p:txBody>
      </p:sp>
      <p:sp>
        <p:nvSpPr>
          <p:cNvPr id="23" name="why">
            <a:extLst xmlns:a="http://schemas.openxmlformats.org/drawingml/2006/main">
              <a:ext uri="{FF2B5EF4-FFF2-40B4-BE49-F238E27FC236}">
                <a16:creationId xmlns:a16="http://schemas.microsoft.com/office/drawing/2014/main" id="{B5450A0B-952D-4837-96CB-AFD0D5672A81}"/>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Verified: 6 bins need 7 boundary edges -- edges always has one more entry than counts.</a:t>
            </a:r>
          </a:p>
        </p:txBody>
      </p:sp>
    </p:spTree>
    <p:extLst>
      <p:ext uri="{BB962C8B-B14F-4D97-AF65-F5344CB8AC3E}">
        <p14:creationId xmlns:p14="http://schemas.microsoft.com/office/powerpoint/2010/main" val="195985032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FB2E8613-8894-4571-B72F-57982F487F4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FF3E7769-5FDF-4B1C-8056-2D2B5BF7C218}"/>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histogram counts, before it ever draws</a:t>
            </a:r>
          </a:p>
        </p:txBody>
      </p:sp>
      <p:sp>
        <p:nvSpPr>
          <p:cNvPr id="3" name="">
            <a:extLst xmlns:a="http://schemas.openxmlformats.org/drawingml/2006/main">
              <a:ext uri="{FF2B5EF4-FFF2-40B4-BE49-F238E27FC236}">
                <a16:creationId xmlns:a16="http://schemas.microsoft.com/office/drawing/2014/main" id="{D72019FB-5157-4306-BAE5-7FB112EC377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78C8258-9DC7-4230-ACAC-4A10AEB4B86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9656A5ED-787E-437C-A054-31FFDB63305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10</a:t>
            </a:r>
          </a:p>
        </p:txBody>
      </p:sp>
      <p:sp>
        <p:nvSpPr>
          <p:cNvPr id="6" name="code-panel">
            <a:extLst xmlns:a="http://schemas.openxmlformats.org/drawingml/2006/main">
              <a:ext uri="{FF2B5EF4-FFF2-40B4-BE49-F238E27FC236}">
                <a16:creationId xmlns:a16="http://schemas.microsoft.com/office/drawing/2014/main" id="{161E4D0B-8FF5-4B42-AF58-793ACCCF1A47}"/>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E8EA7E73-DBD7-4019-9C51-BD3C2D77B446}"/>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import numpy as np</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import pandas as pd</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df = pd.read_csv("building_rooms.csv")</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energy = df["energy_kwh_m2_yr"].dropna()</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counts, edges = np.histogram(energy, bins=6)</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print(counts)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print(np.round(edges, 1))</a:t>
            </a:r>
          </a:p>
        </p:txBody>
      </p:sp>
      <p:sp>
        <p:nvSpPr>
          <p:cNvPr id="8" name="">
            <a:extLst xmlns:a="http://schemas.openxmlformats.org/drawingml/2006/main">
              <a:ext uri="{FF2B5EF4-FFF2-40B4-BE49-F238E27FC236}">
                <a16:creationId xmlns:a16="http://schemas.microsoft.com/office/drawing/2014/main" id="{38BBAFA0-FAEF-4064-83F6-FB87A026F441}"/>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DA9E4552-D906-4552-AFD0-578B686E26B0}"/>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BDCA6AD1-6A1E-4FBF-9B21-9238A21FAF7C}"/>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[13  9  0  0  0  1]</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[ 12.   78.3 144.7 211.  277.3 343.7 410. ]</a:t>
            </a:r>
          </a:p>
        </p:txBody>
      </p:sp>
      <p:sp>
        <p:nvSpPr>
          <p:cNvPr id="11" name="explain-head">
            <a:extLst xmlns:a="http://schemas.openxmlformats.org/drawingml/2006/main">
              <a:ext uri="{FF2B5EF4-FFF2-40B4-BE49-F238E27FC236}">
                <a16:creationId xmlns:a16="http://schemas.microsoft.com/office/drawing/2014/main" id="{3E2368F8-3931-436B-9184-06A6BF62A192}"/>
              </a:ext>
            </a:extLst>
          </p:cNvPr>
          <p:cNvSpPr>
            <a:spLocks xmlns:a="http://schemas.openxmlformats.org/drawingml/2006/main" noGrp="1"/>
          </p:cNvSpPr>
          <p:nvPr/>
        </p:nvSpPr>
        <p:spPr>
          <a:xfrm xmlns:a="http://schemas.openxmlformats.org/drawingml/2006/main">
            <a:off x="7886700" y="213360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Four empty bins is real evidence, not a bug</a:t>
            </a:r>
          </a:p>
        </p:txBody>
      </p:sp>
      <p:sp>
        <p:nvSpPr>
          <p:cNvPr id="12" name="explain-body">
            <a:extLst xmlns:a="http://schemas.openxmlformats.org/drawingml/2006/main">
              <a:ext uri="{FF2B5EF4-FFF2-40B4-BE49-F238E27FC236}">
                <a16:creationId xmlns:a16="http://schemas.microsoft.com/office/drawing/2014/main" id="{5B99B83B-705A-4BC9-BB43-D1776702B519}"/>
              </a:ext>
            </a:extLst>
          </p:cNvPr>
          <p:cNvSpPr>
            <a:spLocks xmlns:a="http://schemas.openxmlformats.org/drawingml/2006/main" noGrp="1"/>
          </p:cNvSpPr>
          <p:nvPr/>
        </p:nvSpPr>
        <p:spPr>
          <a:xfrm xmlns:a="http://schemas.openxmlformats.org/drawingml/2006/main">
            <a:off x="7886700" y="2919222"/>
            <a:ext cx="3695700" cy="2727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.dropna() drops the one room (R206) with no recorded energy value -- the same gap Week 4's trustworthiness interview flagged -- before np.histogram ever sees the data. np.histogram then splits the remaining 23 rooms' range into 6 equal-width bins and counts how many fall in each -- before any bar is ever drawn. One extreme value (room R306, 410.0 kWh/m2/yr) stretches the whole axis, compressing the other 22 rooms into just the first two bins.</a:t>
            </a:r>
          </a:p>
        </p:txBody>
      </p:sp>
    </p:spTree>
    <p:extLst>
      <p:ext uri="{BB962C8B-B14F-4D97-AF65-F5344CB8AC3E}">
        <p14:creationId xmlns:p14="http://schemas.microsoft.com/office/powerpoint/2010/main" val="2960239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FAABA998-620B-41A4-A39E-84F4DE60C85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VISUAL EVIDENCE</a:t>
            </a:r>
          </a:p>
        </p:txBody>
      </p:sp>
      <p:sp>
        <p:nvSpPr>
          <p:cNvPr id="2" name="title">
            <a:extLst xmlns:a="http://schemas.openxmlformats.org/drawingml/2006/main">
              <a:ext uri="{FF2B5EF4-FFF2-40B4-BE49-F238E27FC236}">
                <a16:creationId xmlns:a16="http://schemas.microsoft.com/office/drawing/2014/main" id="{304787BA-4E68-4BFF-809A-E113B199FAE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Distribution: room energy use, six bins</a:t>
            </a:r>
          </a:p>
        </p:txBody>
      </p:sp>
      <p:sp>
        <p:nvSpPr>
          <p:cNvPr id="3" name="">
            <a:extLst xmlns:a="http://schemas.openxmlformats.org/drawingml/2006/main">
              <a:ext uri="{FF2B5EF4-FFF2-40B4-BE49-F238E27FC236}">
                <a16:creationId xmlns:a16="http://schemas.microsoft.com/office/drawing/2014/main" id="{6D19A69B-D5C6-477F-B3FE-D28D618BC4F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DBDB6F2-391C-4A57-996B-AFF152BAA24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4FA90D55-A798-4CDF-AD8A-EDC7AA39CED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11</a:t>
            </a:r>
          </a:p>
        </p:txBody>
      </p:sp>
      <p:graphicFrame>
        <p:nvGraphicFramePr>
          <p:cNvPr id="14" name="Chart"/>
          <p:cNvGraphicFramePr/>
          <p:nvPr/>
        </p:nvGraphicFramePr>
        <p:xfrm>
          <a:off xmlns:a="http://schemas.openxmlformats.org/drawingml/2006/main" x="609600" y="1809750"/>
          <a:ext xmlns:a="http://schemas.openxmlformats.org/drawingml/2006/main" cx="7010400" cy="4248150"/>
        </p:xfrm>
        <a:graphic xmlns:a="http://schemas.openxmlformats.org/drawingml/2006/main">
          <a:graphicData uri="http://schemas.openxmlformats.org/drawingml/2006/chart">
            <c:chart xmlns:r="http://schemas.openxmlformats.org/officeDocument/2006/relationships" xmlns:c="http://schemas.openxmlformats.org/drawingml/2006/chart" r:id="Rceb540a1cb8f47bd"/>
          </a:graphicData>
        </a:graphic>
      </p:graphicFrame>
      <p:sp>
        <p:nvSpPr>
          <p:cNvPr id="7" name="chart-explain-head">
            <a:extLst xmlns:a="http://schemas.openxmlformats.org/drawingml/2006/main">
              <a:ext uri="{FF2B5EF4-FFF2-40B4-BE49-F238E27FC236}">
                <a16:creationId xmlns:a16="http://schemas.microsoft.com/office/drawing/2014/main" id="{E4AA307B-B27F-4873-886A-7D198AA5140A}"/>
              </a:ext>
            </a:extLst>
          </p:cNvPr>
          <p:cNvSpPr>
            <a:spLocks xmlns:a="http://schemas.openxmlformats.org/drawingml/2006/main" noGrp="1"/>
          </p:cNvSpPr>
          <p:nvPr/>
        </p:nvSpPr>
        <p:spPr>
          <a:xfrm xmlns:a="http://schemas.openxmlformats.org/drawingml/2006/main">
            <a:off x="8001000" y="2714625"/>
            <a:ext cx="35814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Same counts, now visible</a:t>
            </a:r>
          </a:p>
        </p:txBody>
      </p:sp>
      <p:sp>
        <p:nvSpPr>
          <p:cNvPr id="8" name="chart-explain-body">
            <a:extLst xmlns:a="http://schemas.openxmlformats.org/drawingml/2006/main">
              <a:ext uri="{FF2B5EF4-FFF2-40B4-BE49-F238E27FC236}">
                <a16:creationId xmlns:a16="http://schemas.microsoft.com/office/drawing/2014/main" id="{71F1558F-2F48-4B08-976D-E436272D16A7}"/>
              </a:ext>
            </a:extLst>
          </p:cNvPr>
          <p:cNvSpPr>
            <a:spLocks xmlns:a="http://schemas.openxmlformats.org/drawingml/2006/main" noGrp="1"/>
          </p:cNvSpPr>
          <p:nvPr/>
        </p:nvSpPr>
        <p:spPr>
          <a:xfrm xmlns:a="http://schemas.openxmlformats.org/drawingml/2006/main">
            <a:off x="8001000" y="3212211"/>
            <a:ext cx="35814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Six bars, one per bin computed on the previous slide. Most rooms cluster in the first two bins (12-145 kWh/m2/yr); the lone bar at far right is room R306 alone -- exactly the outlier Week 5's IQR and z-score rules both flagged.</a:t>
            </a:r>
          </a:p>
        </p:txBody>
      </p:sp>
    </p:spTree>
    <p:extLst>
      <p:ext uri="{BB962C8B-B14F-4D97-AF65-F5344CB8AC3E}">
        <p14:creationId xmlns:p14="http://schemas.microsoft.com/office/powerpoint/2010/main" val="17285557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76A8E6C2-A449-413D-8DEA-B1DD8F722F2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7B169478-28CE-47E7-93EB-D42E4E323EE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ax.hist() does the same calculation, then draws it</a:t>
            </a:r>
          </a:p>
        </p:txBody>
      </p:sp>
      <p:sp>
        <p:nvSpPr>
          <p:cNvPr id="3" name="">
            <a:extLst xmlns:a="http://schemas.openxmlformats.org/drawingml/2006/main">
              <a:ext uri="{FF2B5EF4-FFF2-40B4-BE49-F238E27FC236}">
                <a16:creationId xmlns:a16="http://schemas.microsoft.com/office/drawing/2014/main" id="{E8ED434A-22CF-481E-9900-5A20A12F7C88}"/>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DF23FD3-9D12-4E98-8F71-45976250A63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7661CD39-F94A-4941-BB32-B54B27F968A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12</a:t>
            </a:r>
          </a:p>
        </p:txBody>
      </p:sp>
      <p:sp>
        <p:nvSpPr>
          <p:cNvPr id="6" name="code-panel">
            <a:extLst xmlns:a="http://schemas.openxmlformats.org/drawingml/2006/main">
              <a:ext uri="{FF2B5EF4-FFF2-40B4-BE49-F238E27FC236}">
                <a16:creationId xmlns:a16="http://schemas.microsoft.com/office/drawing/2014/main" id="{577DD136-4399-49D3-8166-D8AB0C82A5AB}"/>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18F4A2B2-37C6-4355-807A-4254884CC511}"/>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fig, ax = plt.subplots(figsize=(6, 4))</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ax.hist(df["energy_kwh_m2_yr"].dropna(), bins=6,</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color="#3D8DFF", edgecolor="white")</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ax.set_xlabel("Energy use intensity (kWh/m2/yr)")</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ax.set_ylabel("Number of rooms")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ax.set_title("Distribution of room energy use, Radley Hall")</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fig.savefig("energy_distribution.png")</a:t>
            </a:r>
          </a:p>
        </p:txBody>
      </p:sp>
      <p:sp>
        <p:nvSpPr>
          <p:cNvPr id="8" name="explain-head">
            <a:extLst xmlns:a="http://schemas.openxmlformats.org/drawingml/2006/main">
              <a:ext uri="{FF2B5EF4-FFF2-40B4-BE49-F238E27FC236}">
                <a16:creationId xmlns:a16="http://schemas.microsoft.com/office/drawing/2014/main" id="{C5480358-794E-4638-A3D6-2524B17E5888}"/>
              </a:ext>
            </a:extLst>
          </p:cNvPr>
          <p:cNvSpPr>
            <a:spLocks xmlns:a="http://schemas.openxmlformats.org/drawingml/2006/main" noGrp="1"/>
          </p:cNvSpPr>
          <p:nvPr/>
        </p:nvSpPr>
        <p:spPr>
          <a:xfrm xmlns:a="http://schemas.openxmlformats.org/drawingml/2006/main">
            <a:off x="7886700" y="24479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Label every axis, always with a unit</a:t>
            </a:r>
          </a:p>
        </p:txBody>
      </p:sp>
      <p:sp>
        <p:nvSpPr>
          <p:cNvPr id="9" name="explain-body">
            <a:extLst xmlns:a="http://schemas.openxmlformats.org/drawingml/2006/main">
              <a:ext uri="{FF2B5EF4-FFF2-40B4-BE49-F238E27FC236}">
                <a16:creationId xmlns:a16="http://schemas.microsoft.com/office/drawing/2014/main" id="{96A4FB15-7F18-47B3-B110-ED39E3F1A229}"/>
              </a:ext>
            </a:extLst>
          </p:cNvPr>
          <p:cNvSpPr>
            <a:spLocks xmlns:a="http://schemas.openxmlformats.org/drawingml/2006/main" noGrp="1"/>
          </p:cNvSpPr>
          <p:nvPr/>
        </p:nvSpPr>
        <p:spPr>
          <a:xfrm xmlns:a="http://schemas.openxmlformats.org/drawingml/2006/main">
            <a:off x="7886700" y="3233547"/>
            <a:ext cx="3695700" cy="1844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This produces the exact bar chart from the previous slide, built from real Matplotlib rather than a pre-computed count. ax.hist() runs the same np.histogram calculation internally. An axis of bare numbers with no unit is not evidence -- always name what each axis measures before saving.</a:t>
            </a:r>
          </a:p>
        </p:txBody>
      </p:sp>
    </p:spTree>
    <p:extLst>
      <p:ext uri="{BB962C8B-B14F-4D97-AF65-F5344CB8AC3E}">
        <p14:creationId xmlns:p14="http://schemas.microsoft.com/office/powerpoint/2010/main" val="114585661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CE019952-82E7-49AC-A436-5421DDE1301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 DEFINED</a:t>
            </a:r>
          </a:p>
        </p:txBody>
      </p:sp>
      <p:sp>
        <p:nvSpPr>
          <p:cNvPr id="2" name="title">
            <a:extLst xmlns:a="http://schemas.openxmlformats.org/drawingml/2006/main">
              <a:ext uri="{FF2B5EF4-FFF2-40B4-BE49-F238E27FC236}">
                <a16:creationId xmlns:a16="http://schemas.microsoft.com/office/drawing/2014/main" id="{84D70C11-8618-4FD3-AF8E-EC03307581C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Labeled axes, defined</a:t>
            </a:r>
          </a:p>
        </p:txBody>
      </p:sp>
      <p:sp>
        <p:nvSpPr>
          <p:cNvPr id="3" name="">
            <a:extLst xmlns:a="http://schemas.openxmlformats.org/drawingml/2006/main">
              <a:ext uri="{FF2B5EF4-FFF2-40B4-BE49-F238E27FC236}">
                <a16:creationId xmlns:a16="http://schemas.microsoft.com/office/drawing/2014/main" id="{9A723510-510D-42AE-9606-BBFC696EF7F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83F8C7F-1D89-42CE-B8B8-EEF7A240532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084F85C4-A8E3-4BE9-99D9-655C8C815AB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13</a:t>
            </a:r>
          </a:p>
        </p:txBody>
      </p:sp>
      <p:sp>
        <p:nvSpPr>
          <p:cNvPr id="6" name="term-label">
            <a:extLst xmlns:a="http://schemas.openxmlformats.org/drawingml/2006/main">
              <a:ext uri="{FF2B5EF4-FFF2-40B4-BE49-F238E27FC236}">
                <a16:creationId xmlns:a16="http://schemas.microsoft.com/office/drawing/2014/main" id="{007CE8A9-7043-49CA-8ED0-2AEE94712F05}"/>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F2144D02-7C43-49AC-9CC5-6BD69194DA5A}"/>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ax.set_xlabel()</a:t>
            </a:r>
          </a:p>
        </p:txBody>
      </p:sp>
      <p:sp>
        <p:nvSpPr>
          <p:cNvPr id="8" name="">
            <a:extLst xmlns:a="http://schemas.openxmlformats.org/drawingml/2006/main">
              <a:ext uri="{FF2B5EF4-FFF2-40B4-BE49-F238E27FC236}">
                <a16:creationId xmlns:a16="http://schemas.microsoft.com/office/drawing/2014/main" id="{AF2FD57D-9E4B-40B4-A0FC-1489810D8185}"/>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FC6625E3-0894-41BF-AA16-CB481F209FDC}"/>
              </a:ext>
            </a:extLst>
          </p:cNvPr>
          <p:cNvSpPr>
            <a:spLocks xmlns:a="http://schemas.openxmlformats.org/drawingml/2006/main" noGrp="1"/>
          </p:cNvSpPr>
          <p:nvPr/>
        </p:nvSpPr>
        <p:spPr>
          <a:xfrm xmlns:a="http://schemas.openxmlformats.org/drawingml/2006/main">
            <a:off x="609600" y="2971800"/>
            <a:ext cx="5905500" cy="3067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Names what the x-axis measures; ax.set_ylabel() does the same for the y-axis. Always include the unit (m2, kWh/m2/yr), and do this before fig.savefig(), not after: a saved image file cannot be relabeled without rerunning the code.</a:t>
            </a:r>
          </a:p>
        </p:txBody>
      </p:sp>
      <p:sp>
        <p:nvSpPr>
          <p:cNvPr id="10" name="example-panel">
            <a:extLst xmlns:a="http://schemas.openxmlformats.org/drawingml/2006/main">
              <a:ext uri="{FF2B5EF4-FFF2-40B4-BE49-F238E27FC236}">
                <a16:creationId xmlns:a16="http://schemas.microsoft.com/office/drawing/2014/main" id="{1CCFC2DA-264E-464A-B99A-3B5E5566D439}"/>
              </a:ext>
            </a:extLst>
          </p:cNvPr>
          <p:cNvSpPr>
            <a:spLocks xmlns:a="http://schemas.openxmlformats.org/drawingml/2006/main" noGrp="1"/>
          </p:cNvSpPr>
          <p:nvPr/>
        </p:nvSpPr>
        <p:spPr>
          <a:xfrm xmlns:a="http://schemas.openxmlformats.org/drawingml/2006/main">
            <a:off x="6762750" y="1809750"/>
            <a:ext cx="4819650" cy="4248150"/>
          </a:xfrm>
          <a:prstGeom xmlns:a="http://schemas.openxmlformats.org/drawingml/2006/main" prst="roundRect">
            <a:avLst>
              <a:gd name="adj" fmla="val 1794"/>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56E6535B-1BD3-4F1C-BFA5-6248247AD8C6}"/>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4F2AEBEE-FC5F-4BB7-9F1F-2A7B7C1822EA}"/>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Why the unit matters</a:t>
            </a:r>
          </a:p>
        </p:txBody>
      </p:sp>
      <p:sp>
        <p:nvSpPr>
          <p:cNvPr id="13" name="example-body">
            <a:extLst xmlns:a="http://schemas.openxmlformats.org/drawingml/2006/main">
              <a:ext uri="{FF2B5EF4-FFF2-40B4-BE49-F238E27FC236}">
                <a16:creationId xmlns:a16="http://schemas.microsoft.com/office/drawing/2014/main" id="{0CEECE10-29CD-4473-97D4-DB56FC7690F3}"/>
              </a:ext>
            </a:extLst>
          </p:cNvPr>
          <p:cNvSpPr>
            <a:spLocks xmlns:a="http://schemas.openxmlformats.org/drawingml/2006/main" noGrp="1"/>
          </p:cNvSpPr>
          <p:nvPr/>
        </p:nvSpPr>
        <p:spPr>
          <a:xfrm xmlns:a="http://schemas.openxmlformats.org/drawingml/2006/main">
            <a:off x="6972300" y="2704338"/>
            <a:ext cx="4381500" cy="3220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An axis labeled only 'Energy' (no unit) actually claims what -- kWh total? per m2? per year? An unlabeled unit is a real ambiguity, not a cosmetic gap.</a:t>
            </a:r>
          </a:p>
        </p:txBody>
      </p:sp>
    </p:spTree>
    <p:extLst>
      <p:ext uri="{BB962C8B-B14F-4D97-AF65-F5344CB8AC3E}">
        <p14:creationId xmlns:p14="http://schemas.microsoft.com/office/powerpoint/2010/main" val="87611678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18DA4535-5DE7-4587-BAE2-F0891EEB9E1A}"/>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 DEFINED</a:t>
            </a:r>
          </a:p>
        </p:txBody>
      </p:sp>
      <p:sp>
        <p:nvSpPr>
          <p:cNvPr id="2" name="title">
            <a:extLst xmlns:a="http://schemas.openxmlformats.org/drawingml/2006/main">
              <a:ext uri="{FF2B5EF4-FFF2-40B4-BE49-F238E27FC236}">
                <a16:creationId xmlns:a16="http://schemas.microsoft.com/office/drawing/2014/main" id="{F2814404-0BD3-4A22-9E77-30F8CF83D18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Legend, defined</a:t>
            </a:r>
          </a:p>
        </p:txBody>
      </p:sp>
      <p:sp>
        <p:nvSpPr>
          <p:cNvPr id="3" name="">
            <a:extLst xmlns:a="http://schemas.openxmlformats.org/drawingml/2006/main">
              <a:ext uri="{FF2B5EF4-FFF2-40B4-BE49-F238E27FC236}">
                <a16:creationId xmlns:a16="http://schemas.microsoft.com/office/drawing/2014/main" id="{ED2D8783-9367-4BE0-BF9F-1AAA0878762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286F8D4-0BA6-4A47-AE06-C0DF96BBE46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BDDCB6E7-D2F5-4832-A8E1-45BF62C9C72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14</a:t>
            </a:r>
          </a:p>
        </p:txBody>
      </p:sp>
      <p:sp>
        <p:nvSpPr>
          <p:cNvPr id="6" name="term-label">
            <a:extLst xmlns:a="http://schemas.openxmlformats.org/drawingml/2006/main">
              <a:ext uri="{FF2B5EF4-FFF2-40B4-BE49-F238E27FC236}">
                <a16:creationId xmlns:a16="http://schemas.microsoft.com/office/drawing/2014/main" id="{C60540FD-2B88-4288-AA5A-D3D00F83ADE3}"/>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C864A845-3C64-4BED-95C8-97945397271E}"/>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ax.legend()</a:t>
            </a:r>
          </a:p>
        </p:txBody>
      </p:sp>
      <p:sp>
        <p:nvSpPr>
          <p:cNvPr id="8" name="">
            <a:extLst xmlns:a="http://schemas.openxmlformats.org/drawingml/2006/main">
              <a:ext uri="{FF2B5EF4-FFF2-40B4-BE49-F238E27FC236}">
                <a16:creationId xmlns:a16="http://schemas.microsoft.com/office/drawing/2014/main" id="{061FE1BE-C765-4EAD-9D35-5EDC33FC7446}"/>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29AD5DA4-8105-4CB4-8D73-CF7E2BE2886E}"/>
              </a:ext>
            </a:extLst>
          </p:cNvPr>
          <p:cNvSpPr>
            <a:spLocks xmlns:a="http://schemas.openxmlformats.org/drawingml/2006/main" noGrp="1"/>
          </p:cNvSpPr>
          <p:nvPr/>
        </p:nvSpPr>
        <p:spPr>
          <a:xfrm xmlns:a="http://schemas.openxmlformats.org/drawingml/2006/main">
            <a:off x="609600" y="2971800"/>
            <a:ext cx="5905500" cy="3067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Draws a key matching each color or marker to its label. Required whenever a figure plots more than one labeled series -- for example, North rooms in one color and South rooms in another on the same axes.</a:t>
            </a:r>
          </a:p>
        </p:txBody>
      </p:sp>
      <p:sp>
        <p:nvSpPr>
          <p:cNvPr id="10" name="example-panel">
            <a:extLst xmlns:a="http://schemas.openxmlformats.org/drawingml/2006/main">
              <a:ext uri="{FF2B5EF4-FFF2-40B4-BE49-F238E27FC236}">
                <a16:creationId xmlns:a16="http://schemas.microsoft.com/office/drawing/2014/main" id="{6CDD880A-B012-48A1-A111-78DCCBF42080}"/>
              </a:ext>
            </a:extLst>
          </p:cNvPr>
          <p:cNvSpPr>
            <a:spLocks xmlns:a="http://schemas.openxmlformats.org/drawingml/2006/main" noGrp="1"/>
          </p:cNvSpPr>
          <p:nvPr/>
        </p:nvSpPr>
        <p:spPr>
          <a:xfrm xmlns:a="http://schemas.openxmlformats.org/drawingml/2006/main">
            <a:off x="6762750" y="1809750"/>
            <a:ext cx="4819650" cy="4248150"/>
          </a:xfrm>
          <a:prstGeom xmlns:a="http://schemas.openxmlformats.org/drawingml/2006/main" prst="roundRect">
            <a:avLst>
              <a:gd name="adj" fmla="val 1794"/>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B9A17F6B-CC28-4E39-A62C-78FA8D53369A}"/>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676829DF-8559-417B-A67D-5D1F830B9C61}"/>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When it's required</a:t>
            </a:r>
          </a:p>
        </p:txBody>
      </p:sp>
      <p:sp>
        <p:nvSpPr>
          <p:cNvPr id="13" name="example-body">
            <a:extLst xmlns:a="http://schemas.openxmlformats.org/drawingml/2006/main">
              <a:ext uri="{FF2B5EF4-FFF2-40B4-BE49-F238E27FC236}">
                <a16:creationId xmlns:a16="http://schemas.microsoft.com/office/drawing/2014/main" id="{32926BA0-F151-4D92-B504-6E7905660625}"/>
              </a:ext>
            </a:extLst>
          </p:cNvPr>
          <p:cNvSpPr>
            <a:spLocks xmlns:a="http://schemas.openxmlformats.org/drawingml/2006/main" noGrp="1"/>
          </p:cNvSpPr>
          <p:nvPr/>
        </p:nvSpPr>
        <p:spPr>
          <a:xfrm xmlns:a="http://schemas.openxmlformats.org/drawingml/2006/main">
            <a:off x="6972300" y="2704338"/>
            <a:ext cx="4381500" cy="3220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Any time more than one labeled series shares one set of axes -- for example, North rooms in one color and South rooms in another on the same scatter plot, coming up shortly.</a:t>
            </a:r>
          </a:p>
        </p:txBody>
      </p:sp>
    </p:spTree>
    <p:extLst>
      <p:ext uri="{BB962C8B-B14F-4D97-AF65-F5344CB8AC3E}">
        <p14:creationId xmlns:p14="http://schemas.microsoft.com/office/powerpoint/2010/main" val="144255981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A80D821D-B943-47E8-A9CF-00241664688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4091792D-65D8-4466-AC3D-BC266DAA1948}"/>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what does zone_summary actually print?</a:t>
            </a:r>
          </a:p>
        </p:txBody>
      </p:sp>
      <p:sp>
        <p:nvSpPr>
          <p:cNvPr id="3" name="">
            <a:extLst xmlns:a="http://schemas.openxmlformats.org/drawingml/2006/main">
              <a:ext uri="{FF2B5EF4-FFF2-40B4-BE49-F238E27FC236}">
                <a16:creationId xmlns:a16="http://schemas.microsoft.com/office/drawing/2014/main" id="{A33B01D4-5318-4FB7-A523-0BCB6352245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B86AEB6-8B66-44FF-94E8-102D9D169089}"/>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58CA3B26-74E3-45C8-AFD8-5E1FEEF39E9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15</a:t>
            </a:r>
          </a:p>
        </p:txBody>
      </p:sp>
      <p:sp>
        <p:nvSpPr>
          <p:cNvPr id="6" name="code-panel">
            <a:extLst xmlns:a="http://schemas.openxmlformats.org/drawingml/2006/main">
              <a:ext uri="{FF2B5EF4-FFF2-40B4-BE49-F238E27FC236}">
                <a16:creationId xmlns:a16="http://schemas.microsoft.com/office/drawing/2014/main" id="{73185F3B-2F2C-4388-A2AC-315A34110E13}"/>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E28C08CD-F756-43DD-9A7F-397C0899D05E}"/>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zone_summary = df.groupby("zone").agg(</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mean_energy=("energy_kwh_m2_yr", "mean"),</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mean_area=("area_m2", "mean"),</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n=("room_id", "count"),</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).round(2)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print(zone_summary)</a:t>
            </a:r>
          </a:p>
        </p:txBody>
      </p:sp>
      <p:sp>
        <p:nvSpPr>
          <p:cNvPr id="8" name="question">
            <a:extLst xmlns:a="http://schemas.openxmlformats.org/drawingml/2006/main">
              <a:ext uri="{FF2B5EF4-FFF2-40B4-BE49-F238E27FC236}">
                <a16:creationId xmlns:a16="http://schemas.microsoft.com/office/drawing/2014/main" id="{6A234642-1BCD-4311-BD66-9CDCE30ABD7D}"/>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What does print(zone_summary) actually show?</a:t>
            </a:r>
          </a:p>
        </p:txBody>
      </p:sp>
      <p:sp>
        <p:nvSpPr>
          <p:cNvPr id="9" name="opt-0">
            <a:extLst xmlns:a="http://schemas.openxmlformats.org/drawingml/2006/main">
              <a:ext uri="{FF2B5EF4-FFF2-40B4-BE49-F238E27FC236}">
                <a16:creationId xmlns:a16="http://schemas.microsoft.com/office/drawing/2014/main" id="{F0CA08A2-539C-47D9-9844-D037FAE527F7}"/>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DB820EE3-9B53-4AF9-8D13-A240A9DB9D70}"/>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51BEF08C-067D-419F-9E2D-681602F11DCB}"/>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zone as a normal column, plus mean_energy/mean_area/n, on a default integer index</a:t>
            </a:r>
          </a:p>
        </p:txBody>
      </p:sp>
      <p:sp>
        <p:nvSpPr>
          <p:cNvPr id="12" name="opt-1">
            <a:extLst xmlns:a="http://schemas.openxmlformats.org/drawingml/2006/main">
              <a:ext uri="{FF2B5EF4-FFF2-40B4-BE49-F238E27FC236}">
                <a16:creationId xmlns:a16="http://schemas.microsoft.com/office/drawing/2014/main" id="{CA003922-0732-4F38-9FFD-EA17A86D87C8}"/>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54D5F941-2060-4BD8-9578-04611955830F}"/>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84A79370-6EFA-4768-AEE8-C17D7E987B0A}"/>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zone as the index label (not a column); mean_energy, mean_area, n as the columns</a:t>
            </a:r>
          </a:p>
        </p:txBody>
      </p:sp>
      <p:sp>
        <p:nvSpPr>
          <p:cNvPr id="15" name="opt-2">
            <a:extLst xmlns:a="http://schemas.openxmlformats.org/drawingml/2006/main">
              <a:ext uri="{FF2B5EF4-FFF2-40B4-BE49-F238E27FC236}">
                <a16:creationId xmlns:a16="http://schemas.microsoft.com/office/drawing/2014/main" id="{E523E91E-8D36-4184-A1EF-8E292AC3E97B}"/>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38BD9BC9-F996-476E-B3F5-318960F253A0}"/>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2C07874E-4280-48BD-B926-3CF3F3073593}"/>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A single Series named zone, one number per zone</a:t>
            </a:r>
          </a:p>
        </p:txBody>
      </p:sp>
      <p:sp>
        <p:nvSpPr>
          <p:cNvPr id="18" name="opt-3">
            <a:extLst xmlns:a="http://schemas.openxmlformats.org/drawingml/2006/main">
              <a:ext uri="{FF2B5EF4-FFF2-40B4-BE49-F238E27FC236}">
                <a16:creationId xmlns:a16="http://schemas.microsoft.com/office/drawing/2014/main" id="{A446FFAB-B21A-416C-AA01-215F1D12CFBB}"/>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0DE7E596-5AF5-405A-B395-AB473545E1A4}"/>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69363081-B209-4EF4-A8C9-84FB2D63F371}"/>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A GroupBy object -- .agg() hasn't actually run yet</a:t>
            </a:r>
          </a:p>
        </p:txBody>
      </p:sp>
      <p:sp>
        <p:nvSpPr>
          <p:cNvPr id="21" name="answer-panel">
            <a:extLst xmlns:a="http://schemas.openxmlformats.org/drawingml/2006/main">
              <a:ext uri="{FF2B5EF4-FFF2-40B4-BE49-F238E27FC236}">
                <a16:creationId xmlns:a16="http://schemas.microsoft.com/office/drawing/2014/main" id="{70883D93-FAC6-4ABC-BE4A-7A0F2193DB59}"/>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CB5452B3-8CDF-4E57-B330-28E519DD9C74}"/>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B</a:t>
            </a:r>
          </a:p>
        </p:txBody>
      </p:sp>
      <p:sp>
        <p:nvSpPr>
          <p:cNvPr id="23" name="why">
            <a:extLst xmlns:a="http://schemas.openxmlformats.org/drawingml/2006/main">
              <a:ext uri="{FF2B5EF4-FFF2-40B4-BE49-F238E27FC236}">
                <a16:creationId xmlns:a16="http://schemas.microsoft.com/office/drawing/2014/main" id="{7101C2F5-E3B5-46B7-B26E-3D27352046E0}"/>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Verified: zone became the index (zone_summary.index.name == 'zone'), not a column -- zone_summary['zone'] raises KeyError.</a:t>
            </a:r>
          </a:p>
        </p:txBody>
      </p:sp>
    </p:spTree>
    <p:extLst>
      <p:ext uri="{BB962C8B-B14F-4D97-AF65-F5344CB8AC3E}">
        <p14:creationId xmlns:p14="http://schemas.microsoft.com/office/powerpoint/2010/main" val="34992023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F987DD85-2782-48AA-92CA-A65C3AE2F6FA}"/>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9465C3F9-8664-4BFA-B3BE-67FDAB60128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Recall Week 5's headline finding</a:t>
            </a:r>
          </a:p>
        </p:txBody>
      </p:sp>
      <p:sp>
        <p:nvSpPr>
          <p:cNvPr id="3" name="">
            <a:extLst xmlns:a="http://schemas.openxmlformats.org/drawingml/2006/main">
              <a:ext uri="{FF2B5EF4-FFF2-40B4-BE49-F238E27FC236}">
                <a16:creationId xmlns:a16="http://schemas.microsoft.com/office/drawing/2014/main" id="{C7AEFCA3-C8DB-4A2D-A233-85691475C0B8}"/>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C96BFCE-C546-4468-9A3B-789CF268016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015C2B82-ECA5-4079-8ADA-1D874EEB4F9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16</a:t>
            </a:r>
          </a:p>
        </p:txBody>
      </p:sp>
      <p:sp>
        <p:nvSpPr>
          <p:cNvPr id="6" name="code-panel">
            <a:extLst xmlns:a="http://schemas.openxmlformats.org/drawingml/2006/main">
              <a:ext uri="{FF2B5EF4-FFF2-40B4-BE49-F238E27FC236}">
                <a16:creationId xmlns:a16="http://schemas.microsoft.com/office/drawing/2014/main" id="{DFF6166C-5163-4239-A3B5-AA61A65AE472}"/>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F175FA07-19FF-4DCB-97F7-A3E6FE2A991A}"/>
              </a:ext>
            </a:extLst>
          </p:cNvPr>
          <p:cNvSpPr>
            <a:spLocks xmlns:a="http://schemas.openxmlformats.org/drawingml/2006/main" noGrp="1"/>
          </p:cNvSpPr>
          <p:nvPr/>
        </p:nvSpPr>
        <p:spPr>
          <a:xfrm xmlns:a="http://schemas.openxmlformats.org/drawingml/2006/main">
            <a:off x="857250" y="2057400"/>
            <a:ext cx="6400800" cy="26197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zone_summary = df.groupby("zone").agg(</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mean_energy=("energy_kwh_m2_yr", "mean"),</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mean_area=("area_m2", "mean"),</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n=("room_id", "count"),</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).round(2)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print(zone_summary)</a:t>
            </a:r>
          </a:p>
        </p:txBody>
      </p:sp>
      <p:sp>
        <p:nvSpPr>
          <p:cNvPr id="8" name="">
            <a:extLst xmlns:a="http://schemas.openxmlformats.org/drawingml/2006/main">
              <a:ext uri="{FF2B5EF4-FFF2-40B4-BE49-F238E27FC236}">
                <a16:creationId xmlns:a16="http://schemas.microsoft.com/office/drawing/2014/main" id="{CDB5843C-AF56-471E-AA51-012C8243A832}"/>
              </a:ext>
            </a:extLst>
          </p:cNvPr>
          <p:cNvSpPr>
            <a:spLocks xmlns:a="http://schemas.openxmlformats.org/drawingml/2006/main" noGrp="1"/>
          </p:cNvSpPr>
          <p:nvPr/>
        </p:nvSpPr>
        <p:spPr>
          <a:xfrm xmlns:a="http://schemas.openxmlformats.org/drawingml/2006/main">
            <a:off x="857250" y="4734306"/>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E17396C0-488C-4B92-A407-F4B94354C631}"/>
              </a:ext>
            </a:extLst>
          </p:cNvPr>
          <p:cNvSpPr>
            <a:spLocks xmlns:a="http://schemas.openxmlformats.org/drawingml/2006/main" noGrp="1"/>
          </p:cNvSpPr>
          <p:nvPr/>
        </p:nvSpPr>
        <p:spPr>
          <a:xfrm xmlns:a="http://schemas.openxmlformats.org/drawingml/2006/main">
            <a:off x="857250" y="4848606"/>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FF11EBBA-EC4D-4FE3-8116-B4C947518EE6}"/>
              </a:ext>
            </a:extLst>
          </p:cNvPr>
          <p:cNvSpPr>
            <a:spLocks xmlns:a="http://schemas.openxmlformats.org/drawingml/2006/main" noGrp="1"/>
          </p:cNvSpPr>
          <p:nvPr/>
        </p:nvSpPr>
        <p:spPr>
          <a:xfrm xmlns:a="http://schemas.openxmlformats.org/drawingml/2006/main">
            <a:off x="857250" y="5077206"/>
            <a:ext cx="6400800" cy="7520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       mean_energy  mean_area   n</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zone                             </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North        64.25      40.98  12</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South       115.68      38.25  12</a:t>
            </a:r>
          </a:p>
        </p:txBody>
      </p:sp>
      <p:sp>
        <p:nvSpPr>
          <p:cNvPr id="11" name="explain-head">
            <a:extLst xmlns:a="http://schemas.openxmlformats.org/drawingml/2006/main">
              <a:ext uri="{FF2B5EF4-FFF2-40B4-BE49-F238E27FC236}">
                <a16:creationId xmlns:a16="http://schemas.microsoft.com/office/drawing/2014/main" id="{10061F88-6E9E-4B6C-BF8C-09D0EFCA616C}"/>
              </a:ext>
            </a:extLst>
          </p:cNvPr>
          <p:cNvSpPr>
            <a:spLocks xmlns:a="http://schemas.openxmlformats.org/drawingml/2006/main" noGrp="1"/>
          </p:cNvSpPr>
          <p:nvPr/>
        </p:nvSpPr>
        <p:spPr>
          <a:xfrm xmlns:a="http://schemas.openxmlformats.org/drawingml/2006/main">
            <a:off x="7886700" y="25241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Same finding as Week 5 -- now make it visible</a:t>
            </a:r>
          </a:p>
        </p:txBody>
      </p:sp>
      <p:sp>
        <p:nvSpPr>
          <p:cNvPr id="12" name="explain-body">
            <a:extLst xmlns:a="http://schemas.openxmlformats.org/drawingml/2006/main">
              <a:ext uri="{FF2B5EF4-FFF2-40B4-BE49-F238E27FC236}">
                <a16:creationId xmlns:a16="http://schemas.microsoft.com/office/drawing/2014/main" id="{F2BF1106-18E5-4597-9A51-B960678731FE}"/>
              </a:ext>
            </a:extLst>
          </p:cNvPr>
          <p:cNvSpPr>
            <a:spLocks xmlns:a="http://schemas.openxmlformats.org/drawingml/2006/main" noGrp="1"/>
          </p:cNvSpPr>
          <p:nvPr/>
        </p:nvSpPr>
        <p:spPr>
          <a:xfrm xmlns:a="http://schemas.openxmlformats.org/drawingml/2006/main">
            <a:off x="7886700" y="3309747"/>
            <a:ext cx="3695700" cy="16230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South-zone rooms average 115.68 kWh/m2/yr against North's 64.25 -- about 80% higher -- despite nearly identical average area and identical room counts. zone sits in the index, exactly as the previous slide predicted. The next two slides turn this one row into an unmissable visual claim.</a:t>
            </a:r>
          </a:p>
        </p:txBody>
      </p:sp>
    </p:spTree>
    <p:extLst>
      <p:ext uri="{BB962C8B-B14F-4D97-AF65-F5344CB8AC3E}">
        <p14:creationId xmlns:p14="http://schemas.microsoft.com/office/powerpoint/2010/main" val="148656917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A870B0EE-CFEE-4C2B-B3A6-54494352A58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B4134FC8-C69A-42AD-AF33-D612FF6AFE4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Comparison: one bar per group, drawn from that table</a:t>
            </a:r>
          </a:p>
        </p:txBody>
      </p:sp>
      <p:sp>
        <p:nvSpPr>
          <p:cNvPr id="3" name="">
            <a:extLst xmlns:a="http://schemas.openxmlformats.org/drawingml/2006/main">
              <a:ext uri="{FF2B5EF4-FFF2-40B4-BE49-F238E27FC236}">
                <a16:creationId xmlns:a16="http://schemas.microsoft.com/office/drawing/2014/main" id="{3E2A2369-CC51-46BE-B6C9-F7E82C01925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B86AC61-0952-4092-9FF2-902A91CB130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86346C0B-41F8-4BF9-B34F-649A44D7EEA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17</a:t>
            </a:r>
          </a:p>
        </p:txBody>
      </p:sp>
      <p:sp>
        <p:nvSpPr>
          <p:cNvPr id="6" name="code-panel">
            <a:extLst xmlns:a="http://schemas.openxmlformats.org/drawingml/2006/main">
              <a:ext uri="{FF2B5EF4-FFF2-40B4-BE49-F238E27FC236}">
                <a16:creationId xmlns:a16="http://schemas.microsoft.com/office/drawing/2014/main" id="{74D0A63E-8D59-4F09-813C-A0FD97AF85D9}"/>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4C35EDC4-5556-49BA-8906-73C1B656111F}"/>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zone_energy = df.groupby("zone")["energy_kwh_m2_yr"].mean().round(2)</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fig, ax = plt.subplots(figsize=(6, 4))</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ax.bar(zone_energy.index, zone_energy.values, color="#3D8DFF")</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ax.set_xlabel("Zone")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ax.set_ylabel("Mean energy use intensity (kWh/m2/yr)")</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ax.set_title("North vs. South zone energy use, Radley Hall")</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fig.savefig("zone_comparison.png")</a:t>
            </a:r>
          </a:p>
        </p:txBody>
      </p:sp>
      <p:sp>
        <p:nvSpPr>
          <p:cNvPr id="8" name="explain-head">
            <a:extLst xmlns:a="http://schemas.openxmlformats.org/drawingml/2006/main">
              <a:ext uri="{FF2B5EF4-FFF2-40B4-BE49-F238E27FC236}">
                <a16:creationId xmlns:a16="http://schemas.microsoft.com/office/drawing/2014/main" id="{638F7B76-DEFE-4ACC-A0A7-BFD78A5D50E3}"/>
              </a:ext>
            </a:extLst>
          </p:cNvPr>
          <p:cNvSpPr>
            <a:spLocks xmlns:a="http://schemas.openxmlformats.org/drawingml/2006/main" noGrp="1"/>
          </p:cNvSpPr>
          <p:nvPr/>
        </p:nvSpPr>
        <p:spPr>
          <a:xfrm xmlns:a="http://schemas.openxmlformats.org/drawingml/2006/main">
            <a:off x="7886700" y="26098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 height difference a reader sees in one second</a:t>
            </a:r>
          </a:p>
        </p:txBody>
      </p:sp>
      <p:sp>
        <p:nvSpPr>
          <p:cNvPr id="9" name="explain-body">
            <a:extLst xmlns:a="http://schemas.openxmlformats.org/drawingml/2006/main">
              <a:ext uri="{FF2B5EF4-FFF2-40B4-BE49-F238E27FC236}">
                <a16:creationId xmlns:a16="http://schemas.microsoft.com/office/drawing/2014/main" id="{721F56A1-C974-4734-9544-108EC41A9D91}"/>
              </a:ext>
            </a:extLst>
          </p:cNvPr>
          <p:cNvSpPr>
            <a:spLocks xmlns:a="http://schemas.openxmlformats.org/drawingml/2006/main" noGrp="1"/>
          </p:cNvSpPr>
          <p:nvPr/>
        </p:nvSpPr>
        <p:spPr>
          <a:xfrm xmlns:a="http://schemas.openxmlformats.org/drawingml/2006/main">
            <a:off x="7886700" y="3395472"/>
            <a:ext cx="3695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zone_energy is a two-row Series -- one mean per zone. ax.bar() draws one bar per index label. The gap between North and South is now something a reader sees immediately, instead of comparing two numbers in a table.</a:t>
            </a:r>
          </a:p>
        </p:txBody>
      </p:sp>
    </p:spTree>
    <p:extLst>
      <p:ext uri="{BB962C8B-B14F-4D97-AF65-F5344CB8AC3E}">
        <p14:creationId xmlns:p14="http://schemas.microsoft.com/office/powerpoint/2010/main" val="70416106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6A17948A-96A7-48AF-BB95-DB3972CAAAD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VISUAL EVIDENCE</a:t>
            </a:r>
          </a:p>
        </p:txBody>
      </p:sp>
      <p:sp>
        <p:nvSpPr>
          <p:cNvPr id="2" name="title">
            <a:extLst xmlns:a="http://schemas.openxmlformats.org/drawingml/2006/main">
              <a:ext uri="{FF2B5EF4-FFF2-40B4-BE49-F238E27FC236}">
                <a16:creationId xmlns:a16="http://schemas.microsoft.com/office/drawing/2014/main" id="{B697F9D6-3A99-4D2E-8BEA-78130B7161E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Comparison: North vs. South, visualized</a:t>
            </a:r>
          </a:p>
        </p:txBody>
      </p:sp>
      <p:sp>
        <p:nvSpPr>
          <p:cNvPr id="3" name="">
            <a:extLst xmlns:a="http://schemas.openxmlformats.org/drawingml/2006/main">
              <a:ext uri="{FF2B5EF4-FFF2-40B4-BE49-F238E27FC236}">
                <a16:creationId xmlns:a16="http://schemas.microsoft.com/office/drawing/2014/main" id="{A70D3588-2CB7-46A1-914E-71EFB8C8433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A5556AB-92D2-408E-88BB-C23CFD467DC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098B4C85-F602-4E40-B50E-85532F60780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18</a:t>
            </a:r>
          </a:p>
        </p:txBody>
      </p:sp>
      <p:graphicFrame>
        <p:nvGraphicFramePr>
          <p:cNvPr id="14" name="Chart"/>
          <p:cNvGraphicFramePr/>
          <p:nvPr/>
        </p:nvGraphicFramePr>
        <p:xfrm>
          <a:off xmlns:a="http://schemas.openxmlformats.org/drawingml/2006/main" x="609600" y="1809750"/>
          <a:ext xmlns:a="http://schemas.openxmlformats.org/drawingml/2006/main" cx="7010400" cy="4248150"/>
        </p:xfrm>
        <a:graphic xmlns:a="http://schemas.openxmlformats.org/drawingml/2006/main">
          <a:graphicData uri="http://schemas.openxmlformats.org/drawingml/2006/chart">
            <c:chart xmlns:r="http://schemas.openxmlformats.org/officeDocument/2006/relationships" xmlns:c="http://schemas.openxmlformats.org/drawingml/2006/chart" r:id="Ra6d664b4f92b4ff0"/>
          </a:graphicData>
        </a:graphic>
      </p:graphicFrame>
      <p:sp>
        <p:nvSpPr>
          <p:cNvPr id="7" name="chart-explain-head">
            <a:extLst xmlns:a="http://schemas.openxmlformats.org/drawingml/2006/main">
              <a:ext uri="{FF2B5EF4-FFF2-40B4-BE49-F238E27FC236}">
                <a16:creationId xmlns:a16="http://schemas.microsoft.com/office/drawing/2014/main" id="{E3537234-EC3C-40CD-B5A9-AB09F643D726}"/>
              </a:ext>
            </a:extLst>
          </p:cNvPr>
          <p:cNvSpPr>
            <a:spLocks xmlns:a="http://schemas.openxmlformats.org/drawingml/2006/main" noGrp="1"/>
          </p:cNvSpPr>
          <p:nvPr/>
        </p:nvSpPr>
        <p:spPr>
          <a:xfrm xmlns:a="http://schemas.openxmlformats.org/drawingml/2006/main">
            <a:off x="8001000" y="2609850"/>
            <a:ext cx="35814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About 80% higher, made visible</a:t>
            </a:r>
          </a:p>
        </p:txBody>
      </p:sp>
      <p:sp>
        <p:nvSpPr>
          <p:cNvPr id="8" name="chart-explain-body">
            <a:extLst xmlns:a="http://schemas.openxmlformats.org/drawingml/2006/main">
              <a:ext uri="{FF2B5EF4-FFF2-40B4-BE49-F238E27FC236}">
                <a16:creationId xmlns:a16="http://schemas.microsoft.com/office/drawing/2014/main" id="{ACABB2A9-D67C-486D-88F6-2B023ACFB656}"/>
              </a:ext>
            </a:extLst>
          </p:cNvPr>
          <p:cNvSpPr>
            <a:spLocks xmlns:a="http://schemas.openxmlformats.org/drawingml/2006/main" noGrp="1"/>
          </p:cNvSpPr>
          <p:nvPr/>
        </p:nvSpPr>
        <p:spPr>
          <a:xfrm xmlns:a="http://schemas.openxmlformats.org/drawingml/2006/main">
            <a:off x="8001000" y="3395472"/>
            <a:ext cx="35814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Same two numbers as the recall slide, now a chart instead of a table row. This is the shape of figure Project 1 Part III's required comparison figure should produce for your own dataset's own grouping variable.</a:t>
            </a:r>
          </a:p>
        </p:txBody>
      </p:sp>
    </p:spTree>
    <p:extLst>
      <p:ext uri="{BB962C8B-B14F-4D97-AF65-F5344CB8AC3E}">
        <p14:creationId xmlns:p14="http://schemas.microsoft.com/office/powerpoint/2010/main" val="176336440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7A79C1BB-C9B0-486B-BD30-9E10AF9A115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 DEFINED</a:t>
            </a:r>
          </a:p>
        </p:txBody>
      </p:sp>
      <p:sp>
        <p:nvSpPr>
          <p:cNvPr id="2" name="title">
            <a:extLst xmlns:a="http://schemas.openxmlformats.org/drawingml/2006/main">
              <a:ext uri="{FF2B5EF4-FFF2-40B4-BE49-F238E27FC236}">
                <a16:creationId xmlns:a16="http://schemas.microsoft.com/office/drawing/2014/main" id="{7467E26E-3484-4C3C-A2B7-40E5CDB3D73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Annotation, defined</a:t>
            </a:r>
          </a:p>
        </p:txBody>
      </p:sp>
      <p:sp>
        <p:nvSpPr>
          <p:cNvPr id="3" name="">
            <a:extLst xmlns:a="http://schemas.openxmlformats.org/drawingml/2006/main">
              <a:ext uri="{FF2B5EF4-FFF2-40B4-BE49-F238E27FC236}">
                <a16:creationId xmlns:a16="http://schemas.microsoft.com/office/drawing/2014/main" id="{2EF074F3-1CE4-4950-A6D8-24BB26A54496}"/>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5ABF531-27BD-41FA-8E3D-EFADF28A17F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B757CDA4-AD5F-4859-8644-BC2D8213EBD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19</a:t>
            </a:r>
          </a:p>
        </p:txBody>
      </p:sp>
      <p:sp>
        <p:nvSpPr>
          <p:cNvPr id="6" name="term-label">
            <a:extLst xmlns:a="http://schemas.openxmlformats.org/drawingml/2006/main">
              <a:ext uri="{FF2B5EF4-FFF2-40B4-BE49-F238E27FC236}">
                <a16:creationId xmlns:a16="http://schemas.microsoft.com/office/drawing/2014/main" id="{7FB73DC5-887A-4424-A549-8544CE2A4301}"/>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EE59EC44-15A3-4293-A4E7-980FB732E06A}"/>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ax.annotate()</a:t>
            </a:r>
          </a:p>
        </p:txBody>
      </p:sp>
      <p:sp>
        <p:nvSpPr>
          <p:cNvPr id="8" name="">
            <a:extLst xmlns:a="http://schemas.openxmlformats.org/drawingml/2006/main">
              <a:ext uri="{FF2B5EF4-FFF2-40B4-BE49-F238E27FC236}">
                <a16:creationId xmlns:a16="http://schemas.microsoft.com/office/drawing/2014/main" id="{DD2C1D52-C9F1-4A8F-9EC6-E1D70C63E1A3}"/>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54BF0BDF-F942-4138-8CA0-6DADC0630F9B}"/>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ax.annotate(text, xy=(x, y), xytext=(x2, y2)) draws a text label pointing at one specific data point. xy is the point being pointed AT; xytext is where the text box itself sits; arrowprops draws the connecting arrow.</a:t>
            </a:r>
          </a:p>
        </p:txBody>
      </p:sp>
      <p:sp>
        <p:nvSpPr>
          <p:cNvPr id="10" name="example-panel">
            <a:extLst xmlns:a="http://schemas.openxmlformats.org/drawingml/2006/main">
              <a:ext uri="{FF2B5EF4-FFF2-40B4-BE49-F238E27FC236}">
                <a16:creationId xmlns:a16="http://schemas.microsoft.com/office/drawing/2014/main" id="{01283507-C667-499B-B43C-59CF253A9B68}"/>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75397549-E107-4522-897E-545A6CD17767}"/>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9D93698B-2D57-4B69-9731-3831B60F67EF}"/>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Why annotate one point</a:t>
            </a:r>
          </a:p>
        </p:txBody>
      </p:sp>
      <p:sp>
        <p:nvSpPr>
          <p:cNvPr id="13" name="example-body">
            <a:extLst xmlns:a="http://schemas.openxmlformats.org/drawingml/2006/main">
              <a:ext uri="{FF2B5EF4-FFF2-40B4-BE49-F238E27FC236}">
                <a16:creationId xmlns:a16="http://schemas.microsoft.com/office/drawing/2014/main" id="{5DC85D1E-C5FC-4C9D-8B8A-0B0C0B40B07D}"/>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 figure caption cannot say 'the dot in the far corner is unusual' as clearly as an arrow pointing directly at it. Annotate the outlier or turning point on the figure itself, so the claim survives even if the caption is never read.</a:t>
            </a:r>
          </a:p>
        </p:txBody>
      </p:sp>
      <p:sp>
        <p:nvSpPr>
          <p:cNvPr id="14" name="note-bar">
            <a:extLst xmlns:a="http://schemas.openxmlformats.org/drawingml/2006/main">
              <a:ext uri="{FF2B5EF4-FFF2-40B4-BE49-F238E27FC236}">
                <a16:creationId xmlns:a16="http://schemas.microsoft.com/office/drawing/2014/main" id="{8CA979F8-9AA0-4AE5-9308-5133139E0E36}"/>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34FCA156-46A2-4319-8B99-58D0271362CA}"/>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F950969F-45FA-4C05-9012-C3686E6AE058}"/>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xy is the point pointed AT. xytext is where the label itself sits. Swapping the two is the single most common mistake with ax.annotate() -- it does not error, it just points the arrow at the wrong place.</a:t>
            </a:r>
          </a:p>
        </p:txBody>
      </p:sp>
    </p:spTree>
    <p:extLst>
      <p:ext uri="{BB962C8B-B14F-4D97-AF65-F5344CB8AC3E}">
        <p14:creationId xmlns:p14="http://schemas.microsoft.com/office/powerpoint/2010/main" val="70061716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314B75E4-62FB-494E-8212-7E2DFC0BE65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CAAD989C-BE27-44DF-8574-9EB4F3678A5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Relationship: one chart, three questions answered</a:t>
            </a:r>
          </a:p>
        </p:txBody>
      </p:sp>
      <p:sp>
        <p:nvSpPr>
          <p:cNvPr id="3" name="">
            <a:extLst xmlns:a="http://schemas.openxmlformats.org/drawingml/2006/main">
              <a:ext uri="{FF2B5EF4-FFF2-40B4-BE49-F238E27FC236}">
                <a16:creationId xmlns:a16="http://schemas.microsoft.com/office/drawing/2014/main" id="{3EC019FF-86F7-42B0-9C52-DE57A5D7B72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E5CAC0E-5AC9-4BCC-A9BB-2BD85439926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20B5C4BD-6258-4394-9951-26AD920EC48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20</a:t>
            </a:r>
          </a:p>
        </p:txBody>
      </p:sp>
      <p:sp>
        <p:nvSpPr>
          <p:cNvPr id="6" name="code-panel">
            <a:extLst xmlns:a="http://schemas.openxmlformats.org/drawingml/2006/main">
              <a:ext uri="{FF2B5EF4-FFF2-40B4-BE49-F238E27FC236}">
                <a16:creationId xmlns:a16="http://schemas.microsoft.com/office/drawing/2014/main" id="{5304D6B0-F55D-4F6E-AC4F-8F4358CD4C61}"/>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3925A943-D351-4DAE-859B-8200A1980C6F}"/>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has_energy = df["energy_kwh_m2_yr"].notna()</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north = df[has_energy &amp; (df["zone"] == "North")]</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south = df[has_energy &amp; (df["zone"] == "South")]</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fig, ax = plt.subplots(figsize=(7, 4.5))</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ax.scatter(north["area_m2"], north["energy_kwh_m2_yr"], color="#3D8DFF", label="North")</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ax.scatter(south["area_m2"], south["energy_kwh_m2_yr"], color="#C9473A", label="South")</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ax.annotate("R306: 410.0 kWh/m2/yr", xy=(8.0, 410.0), xytext=(52, 400), arrowprops=dict(arrowstyle="-&gt;"))</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ax.annotate("R309: 68.0 kWh/m2/yr", xy=(120.0, 68.0), xytext=(70, 180), arrowprops=dict(arrowstyle="-&gt;"))</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ax.set_xlabel("Room area (m2)")</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ax.set_ylabel("Energy (kWh/m2/yr)")</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ax.legend(loc="lower right")</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fig.savefig("area_vs_energy.png")</a:t>
            </a:r>
          </a:p>
        </p:txBody>
      </p:sp>
      <p:sp>
        <p:nvSpPr>
          <p:cNvPr id="8" name="explain-head">
            <a:extLst xmlns:a="http://schemas.openxmlformats.org/drawingml/2006/main">
              <a:ext uri="{FF2B5EF4-FFF2-40B4-BE49-F238E27FC236}">
                <a16:creationId xmlns:a16="http://schemas.microsoft.com/office/drawing/2014/main" id="{45D79857-4641-4D56-B1D8-0A882D5FA213}"/>
              </a:ext>
            </a:extLst>
          </p:cNvPr>
          <p:cNvSpPr>
            <a:spLocks xmlns:a="http://schemas.openxmlformats.org/drawingml/2006/main" noGrp="1"/>
          </p:cNvSpPr>
          <p:nvPr/>
        </p:nvSpPr>
        <p:spPr>
          <a:xfrm xmlns:a="http://schemas.openxmlformats.org/drawingml/2006/main">
            <a:off x="7886700" y="204787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Color, position, and two arrows -- one figure</a:t>
            </a:r>
          </a:p>
        </p:txBody>
      </p:sp>
      <p:sp>
        <p:nvSpPr>
          <p:cNvPr id="9" name="explain-body">
            <a:extLst xmlns:a="http://schemas.openxmlformats.org/drawingml/2006/main">
              <a:ext uri="{FF2B5EF4-FFF2-40B4-BE49-F238E27FC236}">
                <a16:creationId xmlns:a16="http://schemas.microsoft.com/office/drawing/2014/main" id="{4D1D2A56-2D48-48F7-B338-C1F8E3C94A14}"/>
              </a:ext>
            </a:extLst>
          </p:cNvPr>
          <p:cNvSpPr>
            <a:spLocks xmlns:a="http://schemas.openxmlformats.org/drawingml/2006/main" noGrp="1"/>
          </p:cNvSpPr>
          <p:nvPr/>
        </p:nvSpPr>
        <p:spPr>
          <a:xfrm xmlns:a="http://schemas.openxmlformats.org/drawingml/2006/main">
            <a:off x="7886700" y="2833497"/>
            <a:ext cx="3695700" cy="29489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has_energy &amp; (df["zone"] == "North") reuses Week 5's &amp;/| rule for combining two Boolean Series -- &amp; instead of and, with parentheses around each comparison because &amp; binds tighter than ==. The color answers "which zone?" -- a comparison folded into a relationship chart. Two ax.annotate() calls label the two rooms Week 5 flagged by different rules: R306 (both rules agreed) and R309 (only z-score flagged it, on area_m2). No single table cell does all three jobs at once.</a:t>
            </a:r>
          </a:p>
        </p:txBody>
      </p:sp>
    </p:spTree>
    <p:extLst>
      <p:ext uri="{BB962C8B-B14F-4D97-AF65-F5344CB8AC3E}">
        <p14:creationId xmlns:p14="http://schemas.microsoft.com/office/powerpoint/2010/main" val="179689762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FB408EE7-CF21-42E8-930E-22C5ABDC71C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VISUAL EVIDENCE</a:t>
            </a:r>
          </a:p>
        </p:txBody>
      </p:sp>
      <p:sp>
        <p:nvSpPr>
          <p:cNvPr id="2" name="title">
            <a:extLst xmlns:a="http://schemas.openxmlformats.org/drawingml/2006/main">
              <a:ext uri="{FF2B5EF4-FFF2-40B4-BE49-F238E27FC236}">
                <a16:creationId xmlns:a16="http://schemas.microsoft.com/office/drawing/2014/main" id="{94A0880D-D715-48B1-A8CC-9392F03A2EA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Relationship: area vs. energy, all 23 rooms</a:t>
            </a:r>
          </a:p>
        </p:txBody>
      </p:sp>
      <p:sp>
        <p:nvSpPr>
          <p:cNvPr id="3" name="">
            <a:extLst xmlns:a="http://schemas.openxmlformats.org/drawingml/2006/main">
              <a:ext uri="{FF2B5EF4-FFF2-40B4-BE49-F238E27FC236}">
                <a16:creationId xmlns:a16="http://schemas.microsoft.com/office/drawing/2014/main" id="{2D44D01A-9895-41F2-BF89-9750A8361E9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854578F-D35C-4F61-B1A1-79D31A6F0C1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AC8CB5E7-98A3-42FC-8C92-33EACABD321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21</a:t>
            </a:r>
          </a:p>
        </p:txBody>
      </p:sp>
      <p:graphicFrame>
        <p:nvGraphicFramePr>
          <p:cNvPr id="14" name="Chart"/>
          <p:cNvGraphicFramePr/>
          <p:nvPr/>
        </p:nvGraphicFramePr>
        <p:xfrm>
          <a:off xmlns:a="http://schemas.openxmlformats.org/drawingml/2006/main" x="609600" y="1809750"/>
          <a:ext xmlns:a="http://schemas.openxmlformats.org/drawingml/2006/main" cx="7010400" cy="4248150"/>
        </p:xfrm>
        <a:graphic xmlns:a="http://schemas.openxmlformats.org/drawingml/2006/main">
          <a:graphicData uri="http://schemas.openxmlformats.org/drawingml/2006/chart">
            <c:chart xmlns:r="http://schemas.openxmlformats.org/officeDocument/2006/relationships" xmlns:c="http://schemas.openxmlformats.org/drawingml/2006/chart" r:id="R4403ea06df964bac"/>
          </a:graphicData>
        </a:graphic>
      </p:graphicFrame>
      <p:sp>
        <p:nvSpPr>
          <p:cNvPr id="7" name="chart-explain-head">
            <a:extLst xmlns:a="http://schemas.openxmlformats.org/drawingml/2006/main">
              <a:ext uri="{FF2B5EF4-FFF2-40B4-BE49-F238E27FC236}">
                <a16:creationId xmlns:a16="http://schemas.microsoft.com/office/drawing/2014/main" id="{BD741D80-96B1-4F61-BF77-3FBA970A0EAA}"/>
              </a:ext>
            </a:extLst>
          </p:cNvPr>
          <p:cNvSpPr>
            <a:spLocks xmlns:a="http://schemas.openxmlformats.org/drawingml/2006/main" noGrp="1"/>
          </p:cNvSpPr>
          <p:nvPr/>
        </p:nvSpPr>
        <p:spPr>
          <a:xfrm xmlns:a="http://schemas.openxmlformats.org/drawingml/2006/main">
            <a:off x="8001000" y="2266950"/>
            <a:ext cx="3581400" cy="9212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The raw relationship, before color and annotation</a:t>
            </a:r>
          </a:p>
        </p:txBody>
      </p:sp>
      <p:sp>
        <p:nvSpPr>
          <p:cNvPr id="8" name="chart-explain-body">
            <a:extLst xmlns:a="http://schemas.openxmlformats.org/drawingml/2006/main">
              <a:ext uri="{FF2B5EF4-FFF2-40B4-BE49-F238E27FC236}">
                <a16:creationId xmlns:a16="http://schemas.microsoft.com/office/drawing/2014/main" id="{71805F38-A7AA-45BF-80A5-9B2BD1933D87}"/>
              </a:ext>
            </a:extLst>
          </p:cNvPr>
          <p:cNvSpPr>
            <a:spLocks xmlns:a="http://schemas.openxmlformats.org/drawingml/2006/main" noGrp="1"/>
          </p:cNvSpPr>
          <p:nvPr/>
        </p:nvSpPr>
        <p:spPr>
          <a:xfrm xmlns:a="http://schemas.openxmlformats.org/drawingml/2006/main">
            <a:off x="8001000" y="3340608"/>
            <a:ext cx="3581400" cy="20650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 native chart shows this shape fast -- one clear high point at low area, room R306. But it cannot color points by zone or annotate one point with an arrow and caption the way the Matplotlib code on the previous slide can. That gap is exactly why this course teaches Matplotlib code, not only a spreadsheet chart tool.</a:t>
            </a:r>
          </a:p>
        </p:txBody>
      </p:sp>
    </p:spTree>
    <p:extLst>
      <p:ext uri="{BB962C8B-B14F-4D97-AF65-F5344CB8AC3E}">
        <p14:creationId xmlns:p14="http://schemas.microsoft.com/office/powerpoint/2010/main" val="150892702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F3F52C04-50EB-4B49-999F-29FE2C0E2AA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CONCEPT</a:t>
            </a:r>
          </a:p>
        </p:txBody>
      </p:sp>
      <p:sp>
        <p:nvSpPr>
          <p:cNvPr id="2" name="title">
            <a:extLst xmlns:a="http://schemas.openxmlformats.org/drawingml/2006/main">
              <a:ext uri="{FF2B5EF4-FFF2-40B4-BE49-F238E27FC236}">
                <a16:creationId xmlns:a16="http://schemas.microsoft.com/office/drawing/2014/main" id="{A99BD95C-0660-4C25-8CD7-583F5143A0E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fourth question family: change over a sequence</a:t>
            </a:r>
          </a:p>
        </p:txBody>
      </p:sp>
      <p:sp>
        <p:nvSpPr>
          <p:cNvPr id="3" name="">
            <a:extLst xmlns:a="http://schemas.openxmlformats.org/drawingml/2006/main">
              <a:ext uri="{FF2B5EF4-FFF2-40B4-BE49-F238E27FC236}">
                <a16:creationId xmlns:a16="http://schemas.microsoft.com/office/drawing/2014/main" id="{7E4B72A0-3174-4877-8175-3CC5269915B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67B373D-CA29-4C38-ABF4-2C554730E68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70FAB4F5-99F8-494A-BADE-DCB49ABD135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22</a:t>
            </a:r>
          </a:p>
        </p:txBody>
      </p:sp>
      <p:sp>
        <p:nvSpPr>
          <p:cNvPr id="6" name="left-head">
            <a:extLst xmlns:a="http://schemas.openxmlformats.org/drawingml/2006/main">
              <a:ext uri="{FF2B5EF4-FFF2-40B4-BE49-F238E27FC236}">
                <a16:creationId xmlns:a16="http://schemas.microsoft.com/office/drawing/2014/main" id="{E2E5B647-A8E0-4BB6-B300-4354DE2BDB42}"/>
              </a:ext>
            </a:extLst>
          </p:cNvPr>
          <p:cNvSpPr>
            <a:spLocks xmlns:a="http://schemas.openxmlformats.org/drawingml/2006/main" noGrp="1"/>
          </p:cNvSpPr>
          <p:nvPr/>
        </p:nvSpPr>
        <p:spPr>
          <a:xfrm xmlns:a="http://schemas.openxmlformats.org/drawingml/2006/main">
            <a:off x="609600" y="271462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What it asks</a:t>
            </a:r>
          </a:p>
        </p:txBody>
      </p:sp>
      <p:sp>
        <p:nvSpPr>
          <p:cNvPr id="7" name="left-body">
            <a:extLst xmlns:a="http://schemas.openxmlformats.org/drawingml/2006/main">
              <a:ext uri="{FF2B5EF4-FFF2-40B4-BE49-F238E27FC236}">
                <a16:creationId xmlns:a16="http://schemas.microsoft.com/office/drawing/2014/main" id="{6B969ED7-3E9A-4CA9-A602-CE4AC54331C6}"/>
              </a:ext>
            </a:extLst>
          </p:cNvPr>
          <p:cNvSpPr>
            <a:spLocks xmlns:a="http://schemas.openxmlformats.org/drawingml/2006/main" noGrp="1"/>
          </p:cNvSpPr>
          <p:nvPr/>
        </p:nvSpPr>
        <p:spPr>
          <a:xfrm xmlns:a="http://schemas.openxmlformats.org/drawingml/2006/main">
            <a:off x="609600" y="3212211"/>
            <a:ext cx="5219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Distribution, comparison, and relationship all describe ONE snapshot of the data. The fourth family asks how a value moves across an order -- time, an iteration count, or (with no date column in Radley Hall) an ordered category like floor.</a:t>
            </a:r>
          </a:p>
        </p:txBody>
      </p:sp>
      <p:sp>
        <p:nvSpPr>
          <p:cNvPr id="8" name="right-head">
            <a:extLst xmlns:a="http://schemas.openxmlformats.org/drawingml/2006/main">
              <a:ext uri="{FF2B5EF4-FFF2-40B4-BE49-F238E27FC236}">
                <a16:creationId xmlns:a16="http://schemas.microsoft.com/office/drawing/2014/main" id="{77A9AE71-3C65-4335-9D28-F7846FE49555}"/>
              </a:ext>
            </a:extLst>
          </p:cNvPr>
          <p:cNvSpPr>
            <a:spLocks xmlns:a="http://schemas.openxmlformats.org/drawingml/2006/main" noGrp="1"/>
          </p:cNvSpPr>
          <p:nvPr/>
        </p:nvSpPr>
        <p:spPr>
          <a:xfrm xmlns:a="http://schemas.openxmlformats.org/drawingml/2006/main">
            <a:off x="6362700" y="271462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Line chart, the usual encoding</a:t>
            </a:r>
          </a:p>
        </p:txBody>
      </p:sp>
      <p:sp>
        <p:nvSpPr>
          <p:cNvPr id="9" name="right-body">
            <a:extLst xmlns:a="http://schemas.openxmlformats.org/drawingml/2006/main">
              <a:ext uri="{FF2B5EF4-FFF2-40B4-BE49-F238E27FC236}">
                <a16:creationId xmlns:a16="http://schemas.microsoft.com/office/drawing/2014/main" id="{11DB76B4-12C1-4E80-866C-A8B639EC6771}"/>
              </a:ext>
            </a:extLst>
          </p:cNvPr>
          <p:cNvSpPr>
            <a:spLocks xmlns:a="http://schemas.openxmlformats.org/drawingml/2006/main" noGrp="1"/>
          </p:cNvSpPr>
          <p:nvPr/>
        </p:nvSpPr>
        <p:spPr>
          <a:xfrm xmlns:a="http://schemas.openxmlformats.org/drawingml/2006/main">
            <a:off x="6362700" y="3212211"/>
            <a:ext cx="5219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A line chart connects points in sequence order, so a reader's eye follows the trend instead of comparing isolated bars. Radley Hall has no date column, so today's example orders by floor (1, 2, 3) instead of by time.</a:t>
            </a:r>
          </a:p>
        </p:txBody>
      </p:sp>
    </p:spTree>
    <p:extLst>
      <p:ext uri="{BB962C8B-B14F-4D97-AF65-F5344CB8AC3E}">
        <p14:creationId xmlns:p14="http://schemas.microsoft.com/office/powerpoint/2010/main" val="24458892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9B4FC153-F0AB-48B9-8B59-13EAA98FFD3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7BB26757-0A8B-42DE-BB96-004847DB320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Change over a sequence: mean energy by floor</a:t>
            </a:r>
          </a:p>
        </p:txBody>
      </p:sp>
      <p:sp>
        <p:nvSpPr>
          <p:cNvPr id="3" name="">
            <a:extLst xmlns:a="http://schemas.openxmlformats.org/drawingml/2006/main">
              <a:ext uri="{FF2B5EF4-FFF2-40B4-BE49-F238E27FC236}">
                <a16:creationId xmlns:a16="http://schemas.microsoft.com/office/drawing/2014/main" id="{CFE1DDB3-2184-45A3-9C08-F263205D5FE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520391C-A6C6-41F2-BD32-9338A6DFBC7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70E80A2F-2415-4F89-9E1B-204E4A084EB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23</a:t>
            </a:r>
          </a:p>
        </p:txBody>
      </p:sp>
      <p:sp>
        <p:nvSpPr>
          <p:cNvPr id="6" name="code-panel">
            <a:extLst xmlns:a="http://schemas.openxmlformats.org/drawingml/2006/main">
              <a:ext uri="{FF2B5EF4-FFF2-40B4-BE49-F238E27FC236}">
                <a16:creationId xmlns:a16="http://schemas.microsoft.com/office/drawing/2014/main" id="{C9E123DB-9EF9-45A2-A316-4613EC7B5BA4}"/>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C5D48851-97A4-49AD-B482-B2AD171A7DE3}"/>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by_floor = df.groupby("floor")["energy_kwh_m2_yr"].mean().round(2)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fig, ax = plt.subplots(figsize=(6, 4))</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ax.plot(by_floor.index, by_floor.values, marker="o", color="#3D8DFF")</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ax.set_xlabel("Floor")</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ax.set_ylabel("Mean energy use intensity (kWh/m2/yr)")</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ax.set_title("Mean energy use by floor, Radley Hall")</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ax.set_xticks([1, 2, 3])</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ax.annotate("Floor 3 includes R306\n(410.0 kWh/m2/yr)",</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xy=(3, 113.61), xytext=(1.3, 100),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arrowprops=dict(arrowstyle="-&gt;"))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fig.savefig("floor_trend.png")</a:t>
            </a:r>
          </a:p>
        </p:txBody>
      </p:sp>
      <p:sp>
        <p:nvSpPr>
          <p:cNvPr id="8" name="explain-head">
            <a:extLst xmlns:a="http://schemas.openxmlformats.org/drawingml/2006/main">
              <a:ext uri="{FF2B5EF4-FFF2-40B4-BE49-F238E27FC236}">
                <a16:creationId xmlns:a16="http://schemas.microsoft.com/office/drawing/2014/main" id="{951B3184-D7B7-436D-A86A-C178817F992D}"/>
              </a:ext>
            </a:extLst>
          </p:cNvPr>
          <p:cNvSpPr>
            <a:spLocks xmlns:a="http://schemas.openxmlformats.org/drawingml/2006/main" noGrp="1"/>
          </p:cNvSpPr>
          <p:nvPr/>
        </p:nvSpPr>
        <p:spPr>
          <a:xfrm xmlns:a="http://schemas.openxmlformats.org/drawingml/2006/main">
            <a:off x="7886700" y="25241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 rising line -- but check what's inside it</a:t>
            </a:r>
          </a:p>
        </p:txBody>
      </p:sp>
      <p:sp>
        <p:nvSpPr>
          <p:cNvPr id="9" name="explain-body">
            <a:extLst xmlns:a="http://schemas.openxmlformats.org/drawingml/2006/main">
              <a:ext uri="{FF2B5EF4-FFF2-40B4-BE49-F238E27FC236}">
                <a16:creationId xmlns:a16="http://schemas.microsoft.com/office/drawing/2014/main" id="{C81C2D64-3C9C-4050-9816-5F835E8DB7D5}"/>
              </a:ext>
            </a:extLst>
          </p:cNvPr>
          <p:cNvSpPr>
            <a:spLocks xmlns:a="http://schemas.openxmlformats.org/drawingml/2006/main" noGrp="1"/>
          </p:cNvSpPr>
          <p:nvPr/>
        </p:nvSpPr>
        <p:spPr>
          <a:xfrm xmlns:a="http://schemas.openxmlformats.org/drawingml/2006/main">
            <a:off x="7886700" y="3309747"/>
            <a:ext cx="3695700" cy="16230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Energy use rises from floor 1 (66.29) to floor 3 (113.61). But floor 3 also contains room R306, the 410.0 kWh/m2/yr outlier, among only 9 rooms. Annotate that fact directly rather than letting the line imply every floor-3 room simply runs hotter.</a:t>
            </a:r>
          </a:p>
        </p:txBody>
      </p:sp>
    </p:spTree>
    <p:extLst>
      <p:ext uri="{BB962C8B-B14F-4D97-AF65-F5344CB8AC3E}">
        <p14:creationId xmlns:p14="http://schemas.microsoft.com/office/powerpoint/2010/main" val="11797289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492DCB25-23A6-41F7-9CC8-9C253361604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VISUAL EVIDENCE</a:t>
            </a:r>
          </a:p>
        </p:txBody>
      </p:sp>
      <p:sp>
        <p:nvSpPr>
          <p:cNvPr id="2" name="title">
            <a:extLst xmlns:a="http://schemas.openxmlformats.org/drawingml/2006/main">
              <a:ext uri="{FF2B5EF4-FFF2-40B4-BE49-F238E27FC236}">
                <a16:creationId xmlns:a16="http://schemas.microsoft.com/office/drawing/2014/main" id="{68CE8417-6A7C-4C51-A7A5-1CF43EBBA37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Change over a sequence: energy by floor</a:t>
            </a:r>
          </a:p>
        </p:txBody>
      </p:sp>
      <p:sp>
        <p:nvSpPr>
          <p:cNvPr id="3" name="">
            <a:extLst xmlns:a="http://schemas.openxmlformats.org/drawingml/2006/main">
              <a:ext uri="{FF2B5EF4-FFF2-40B4-BE49-F238E27FC236}">
                <a16:creationId xmlns:a16="http://schemas.microsoft.com/office/drawing/2014/main" id="{82CCF905-CBCB-4ADB-9AEC-DB18757126B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334D19B-0354-4390-AB24-1C88ED29936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A8FECB4F-C16B-477A-8AF8-A98A394B9D4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24</a:t>
            </a:r>
          </a:p>
        </p:txBody>
      </p:sp>
      <p:graphicFrame>
        <p:nvGraphicFramePr>
          <p:cNvPr id="14" name="Chart"/>
          <p:cNvGraphicFramePr/>
          <p:nvPr/>
        </p:nvGraphicFramePr>
        <p:xfrm>
          <a:off xmlns:a="http://schemas.openxmlformats.org/drawingml/2006/main" x="609600" y="1809750"/>
          <a:ext xmlns:a="http://schemas.openxmlformats.org/drawingml/2006/main" cx="7010400" cy="4248150"/>
        </p:xfrm>
        <a:graphic xmlns:a="http://schemas.openxmlformats.org/drawingml/2006/main">
          <a:graphicData uri="http://schemas.openxmlformats.org/drawingml/2006/chart">
            <c:chart xmlns:r="http://schemas.openxmlformats.org/officeDocument/2006/relationships" xmlns:c="http://schemas.openxmlformats.org/drawingml/2006/chart" r:id="R5cb7a1ab6e6f4956"/>
          </a:graphicData>
        </a:graphic>
      </p:graphicFrame>
      <p:sp>
        <p:nvSpPr>
          <p:cNvPr id="7" name="chart-explain-head">
            <a:extLst xmlns:a="http://schemas.openxmlformats.org/drawingml/2006/main">
              <a:ext uri="{FF2B5EF4-FFF2-40B4-BE49-F238E27FC236}">
                <a16:creationId xmlns:a16="http://schemas.microsoft.com/office/drawing/2014/main" id="{5D0E36C8-0C4B-462A-9A4E-E184936AA3F8}"/>
              </a:ext>
            </a:extLst>
          </p:cNvPr>
          <p:cNvSpPr>
            <a:spLocks xmlns:a="http://schemas.openxmlformats.org/drawingml/2006/main" noGrp="1"/>
          </p:cNvSpPr>
          <p:nvPr/>
        </p:nvSpPr>
        <p:spPr>
          <a:xfrm xmlns:a="http://schemas.openxmlformats.org/drawingml/2006/main">
            <a:off x="8001000" y="2524125"/>
            <a:ext cx="35814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 trend, with one honest caveat</a:t>
            </a:r>
          </a:p>
        </p:txBody>
      </p:sp>
      <p:sp>
        <p:nvSpPr>
          <p:cNvPr id="8" name="chart-explain-body">
            <a:extLst xmlns:a="http://schemas.openxmlformats.org/drawingml/2006/main">
              <a:ext uri="{FF2B5EF4-FFF2-40B4-BE49-F238E27FC236}">
                <a16:creationId xmlns:a16="http://schemas.microsoft.com/office/drawing/2014/main" id="{308F2F2C-B0F8-43C7-AFC8-039B69A16D13}"/>
              </a:ext>
            </a:extLst>
          </p:cNvPr>
          <p:cNvSpPr>
            <a:spLocks xmlns:a="http://schemas.openxmlformats.org/drawingml/2006/main" noGrp="1"/>
          </p:cNvSpPr>
          <p:nvPr/>
        </p:nvSpPr>
        <p:spPr>
          <a:xfrm xmlns:a="http://schemas.openxmlformats.org/drawingml/2006/main">
            <a:off x="8001000" y="3309747"/>
            <a:ext cx="3581400" cy="16230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66.29 to 79.57 to 113.61 -- energy use does climb by floor. But floor 3 has only 9 rooms and includes R306; do not present this line as 'every higher floor runs hotter' without naming that one room's outsized share of the floor-3 average.</a:t>
            </a:r>
          </a:p>
        </p:txBody>
      </p:sp>
    </p:spTree>
    <p:extLst>
      <p:ext uri="{BB962C8B-B14F-4D97-AF65-F5344CB8AC3E}">
        <p14:creationId xmlns:p14="http://schemas.microsoft.com/office/powerpoint/2010/main" val="36494802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BB1EE771-98C3-4354-BBD3-731667BA3C9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 DEFINED</a:t>
            </a:r>
          </a:p>
        </p:txBody>
      </p:sp>
      <p:sp>
        <p:nvSpPr>
          <p:cNvPr id="2" name="title">
            <a:extLst xmlns:a="http://schemas.openxmlformats.org/drawingml/2006/main">
              <a:ext uri="{FF2B5EF4-FFF2-40B4-BE49-F238E27FC236}">
                <a16:creationId xmlns:a16="http://schemas.microsoft.com/office/drawing/2014/main" id="{EE18D7E6-A143-402A-8B80-5D7B91BA20E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FuncAnimation, defined</a:t>
            </a:r>
          </a:p>
        </p:txBody>
      </p:sp>
      <p:sp>
        <p:nvSpPr>
          <p:cNvPr id="3" name="">
            <a:extLst xmlns:a="http://schemas.openxmlformats.org/drawingml/2006/main">
              <a:ext uri="{FF2B5EF4-FFF2-40B4-BE49-F238E27FC236}">
                <a16:creationId xmlns:a16="http://schemas.microsoft.com/office/drawing/2014/main" id="{C2E4D4FE-CF36-491E-BD45-5C0E55B2FBA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40F3ACF-1107-4ECB-9DA6-275AE43D40F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92AA7F4E-4CE0-4EE7-B7C8-06E7C410670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25</a:t>
            </a:r>
          </a:p>
        </p:txBody>
      </p:sp>
      <p:sp>
        <p:nvSpPr>
          <p:cNvPr id="6" name="term-label">
            <a:extLst xmlns:a="http://schemas.openxmlformats.org/drawingml/2006/main">
              <a:ext uri="{FF2B5EF4-FFF2-40B4-BE49-F238E27FC236}">
                <a16:creationId xmlns:a16="http://schemas.microsoft.com/office/drawing/2014/main" id="{DC87332F-6BCD-4FA1-B524-6DB8C9807A0C}"/>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670899A1-B06A-4C75-AF23-880C18E43231}"/>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FuncAnimation</a:t>
            </a:r>
          </a:p>
        </p:txBody>
      </p:sp>
      <p:sp>
        <p:nvSpPr>
          <p:cNvPr id="8" name="">
            <a:extLst xmlns:a="http://schemas.openxmlformats.org/drawingml/2006/main">
              <a:ext uri="{FF2B5EF4-FFF2-40B4-BE49-F238E27FC236}">
                <a16:creationId xmlns:a16="http://schemas.microsoft.com/office/drawing/2014/main" id="{7A3E4251-047F-41C5-A5BF-C03424AFBAAB}"/>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87F0EFC7-795C-419B-88E6-6DB649A77FE8}"/>
              </a:ext>
            </a:extLst>
          </p:cNvPr>
          <p:cNvSpPr>
            <a:spLocks xmlns:a="http://schemas.openxmlformats.org/drawingml/2006/main" noGrp="1"/>
          </p:cNvSpPr>
          <p:nvPr/>
        </p:nvSpPr>
        <p:spPr>
          <a:xfrm xmlns:a="http://schemas.openxmlformats.org/drawingml/2006/main">
            <a:off x="609600" y="2971800"/>
            <a:ext cx="5905500" cy="3067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matplotlib.animation.FuncAnimation(fig, update, frames=n) calls your own update(frame) function once per frame, each time redrawing ax with that frame's slice of the data -- the animation equivalent of a for loop over frames.</a:t>
            </a:r>
          </a:p>
        </p:txBody>
      </p:sp>
      <p:sp>
        <p:nvSpPr>
          <p:cNvPr id="10" name="example-panel">
            <a:extLst xmlns:a="http://schemas.openxmlformats.org/drawingml/2006/main">
              <a:ext uri="{FF2B5EF4-FFF2-40B4-BE49-F238E27FC236}">
                <a16:creationId xmlns:a16="http://schemas.microsoft.com/office/drawing/2014/main" id="{32F5DAE7-01BD-4B42-BBE8-F048E22B33E7}"/>
              </a:ext>
            </a:extLst>
          </p:cNvPr>
          <p:cNvSpPr>
            <a:spLocks xmlns:a="http://schemas.openxmlformats.org/drawingml/2006/main" noGrp="1"/>
          </p:cNvSpPr>
          <p:nvPr/>
        </p:nvSpPr>
        <p:spPr>
          <a:xfrm xmlns:a="http://schemas.openxmlformats.org/drawingml/2006/main">
            <a:off x="6762750" y="1809750"/>
            <a:ext cx="4819650" cy="4248150"/>
          </a:xfrm>
          <a:prstGeom xmlns:a="http://schemas.openxmlformats.org/drawingml/2006/main" prst="roundRect">
            <a:avLst>
              <a:gd name="adj" fmla="val 1794"/>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45104477-622C-4F12-A2ED-D9F928C959A7}"/>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3BA4FC64-1397-475A-9385-E39CBA6BB0D4}"/>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The animation equivalent of a loop</a:t>
            </a:r>
          </a:p>
        </p:txBody>
      </p:sp>
      <p:sp>
        <p:nvSpPr>
          <p:cNvPr id="13" name="example-body">
            <a:extLst xmlns:a="http://schemas.openxmlformats.org/drawingml/2006/main">
              <a:ext uri="{FF2B5EF4-FFF2-40B4-BE49-F238E27FC236}">
                <a16:creationId xmlns:a16="http://schemas.microsoft.com/office/drawing/2014/main" id="{9CA8F39C-A9C5-46FC-836B-842F121E0127}"/>
              </a:ext>
            </a:extLst>
          </p:cNvPr>
          <p:cNvSpPr>
            <a:spLocks xmlns:a="http://schemas.openxmlformats.org/drawingml/2006/main" noGrp="1"/>
          </p:cNvSpPr>
          <p:nvPr/>
        </p:nvSpPr>
        <p:spPr>
          <a:xfrm xmlns:a="http://schemas.openxmlformats.org/drawingml/2006/main">
            <a:off x="6972300" y="2704338"/>
            <a:ext cx="4381500" cy="3220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Everything shown so far in this deck was a snapshot. FuncAnimation is the first tool this course has taught that shows a claim CHANGING, frame by frame, instead of stated once.</a:t>
            </a:r>
          </a:p>
        </p:txBody>
      </p:sp>
    </p:spTree>
    <p:extLst>
      <p:ext uri="{BB962C8B-B14F-4D97-AF65-F5344CB8AC3E}">
        <p14:creationId xmlns:p14="http://schemas.microsoft.com/office/powerpoint/2010/main" val="154802294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E2010359-D523-4577-8DA7-2EB90C89BCA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 DEFINED</a:t>
            </a:r>
          </a:p>
        </p:txBody>
      </p:sp>
      <p:sp>
        <p:nvSpPr>
          <p:cNvPr id="2" name="title">
            <a:extLst xmlns:a="http://schemas.openxmlformats.org/drawingml/2006/main">
              <a:ext uri="{FF2B5EF4-FFF2-40B4-BE49-F238E27FC236}">
                <a16:creationId xmlns:a16="http://schemas.microsoft.com/office/drawing/2014/main" id="{6B24B130-CE22-492D-A0AC-07E44F44A30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frame, defined</a:t>
            </a:r>
          </a:p>
        </p:txBody>
      </p:sp>
      <p:sp>
        <p:nvSpPr>
          <p:cNvPr id="3" name="">
            <a:extLst xmlns:a="http://schemas.openxmlformats.org/drawingml/2006/main">
              <a:ext uri="{FF2B5EF4-FFF2-40B4-BE49-F238E27FC236}">
                <a16:creationId xmlns:a16="http://schemas.microsoft.com/office/drawing/2014/main" id="{D396E69F-642E-460E-96C8-AB1EC4F5D60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1D851FC-374B-40D9-A9B3-C5C7CDC140D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D7D42BC1-212E-447F-8422-56612A0A02B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26</a:t>
            </a:r>
          </a:p>
        </p:txBody>
      </p:sp>
      <p:sp>
        <p:nvSpPr>
          <p:cNvPr id="6" name="term-label">
            <a:extLst xmlns:a="http://schemas.openxmlformats.org/drawingml/2006/main">
              <a:ext uri="{FF2B5EF4-FFF2-40B4-BE49-F238E27FC236}">
                <a16:creationId xmlns:a16="http://schemas.microsoft.com/office/drawing/2014/main" id="{01D3B9D7-8600-43E4-B17E-DF064238CD93}"/>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65B99DFC-BCA8-403A-A034-1A68E70AFBBB}"/>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frame</a:t>
            </a:r>
          </a:p>
        </p:txBody>
      </p:sp>
      <p:sp>
        <p:nvSpPr>
          <p:cNvPr id="8" name="">
            <a:extLst xmlns:a="http://schemas.openxmlformats.org/drawingml/2006/main">
              <a:ext uri="{FF2B5EF4-FFF2-40B4-BE49-F238E27FC236}">
                <a16:creationId xmlns:a16="http://schemas.microsoft.com/office/drawing/2014/main" id="{4C6CE128-AE8A-4AAD-AA0F-BD451E923C95}"/>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BF9E8A74-D01C-4371-A278-174505D994DA}"/>
              </a:ext>
            </a:extLst>
          </p:cNvPr>
          <p:cNvSpPr>
            <a:spLocks xmlns:a="http://schemas.openxmlformats.org/drawingml/2006/main" noGrp="1"/>
          </p:cNvSpPr>
          <p:nvPr/>
        </p:nvSpPr>
        <p:spPr>
          <a:xfrm xmlns:a="http://schemas.openxmlformats.org/drawingml/2006/main">
            <a:off x="609600" y="2971800"/>
            <a:ext cx="5905500" cy="3067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One still image in the sequence -- frame 0 is drawn first, frame 1 second, and so on. Each frame calls your update(frame) function once, with that frame's number passed in.</a:t>
            </a:r>
          </a:p>
        </p:txBody>
      </p:sp>
      <p:sp>
        <p:nvSpPr>
          <p:cNvPr id="10" name="example-panel">
            <a:extLst xmlns:a="http://schemas.openxmlformats.org/drawingml/2006/main">
              <a:ext uri="{FF2B5EF4-FFF2-40B4-BE49-F238E27FC236}">
                <a16:creationId xmlns:a16="http://schemas.microsoft.com/office/drawing/2014/main" id="{12BBCDBE-8AC6-4C44-82A2-4B1FAF34DD5E}"/>
              </a:ext>
            </a:extLst>
          </p:cNvPr>
          <p:cNvSpPr>
            <a:spLocks xmlns:a="http://schemas.openxmlformats.org/drawingml/2006/main" noGrp="1"/>
          </p:cNvSpPr>
          <p:nvPr/>
        </p:nvSpPr>
        <p:spPr>
          <a:xfrm xmlns:a="http://schemas.openxmlformats.org/drawingml/2006/main">
            <a:off x="6762750" y="1809750"/>
            <a:ext cx="4819650" cy="4248150"/>
          </a:xfrm>
          <a:prstGeom xmlns:a="http://schemas.openxmlformats.org/drawingml/2006/main" prst="roundRect">
            <a:avLst>
              <a:gd name="adj" fmla="val 1794"/>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0BF3B68B-E2D1-4718-9983-4F6913732F19}"/>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3F85A823-1D39-42E6-89B4-C3746696443A}"/>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Saving every frame as one file</a:t>
            </a:r>
          </a:p>
        </p:txBody>
      </p:sp>
      <p:sp>
        <p:nvSpPr>
          <p:cNvPr id="13" name="example-body">
            <a:extLst xmlns:a="http://schemas.openxmlformats.org/drawingml/2006/main">
              <a:ext uri="{FF2B5EF4-FFF2-40B4-BE49-F238E27FC236}">
                <a16:creationId xmlns:a16="http://schemas.microsoft.com/office/drawing/2014/main" id="{6AEA34A8-8F6A-4F7E-A74D-64CB4AC9BD76}"/>
              </a:ext>
            </a:extLst>
          </p:cNvPr>
          <p:cNvSpPr>
            <a:spLocks xmlns:a="http://schemas.openxmlformats.org/drawingml/2006/main" noGrp="1"/>
          </p:cNvSpPr>
          <p:nvPr/>
        </p:nvSpPr>
        <p:spPr>
          <a:xfrm xmlns:a="http://schemas.openxmlformats.org/drawingml/2006/main">
            <a:off x="6972300" y="2704338"/>
            <a:ext cx="4381500" cy="3220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ani.save(path, writer="pillow") stitches every frame into one shareable .gif file; no live window is required to produce it.</a:t>
            </a:r>
          </a:p>
        </p:txBody>
      </p:sp>
    </p:spTree>
    <p:extLst>
      <p:ext uri="{BB962C8B-B14F-4D97-AF65-F5344CB8AC3E}">
        <p14:creationId xmlns:p14="http://schemas.microsoft.com/office/powerpoint/2010/main" val="20442330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kicker">
            <a:extLst xmlns:a="http://schemas.openxmlformats.org/drawingml/2006/main">
              <a:ext uri="{FF2B5EF4-FFF2-40B4-BE49-F238E27FC236}">
                <a16:creationId xmlns:a16="http://schemas.microsoft.com/office/drawing/2014/main" id="{3A64A59F-16F6-4B83-B2B2-DFD60D47099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ANATOMY</a:t>
            </a:r>
          </a:p>
        </p:txBody>
      </p:sp>
      <p:sp>
        <p:nvSpPr>
          <p:cNvPr id="2" name="title">
            <a:extLst xmlns:a="http://schemas.openxmlformats.org/drawingml/2006/main">
              <a:ext uri="{FF2B5EF4-FFF2-40B4-BE49-F238E27FC236}">
                <a16:creationId xmlns:a16="http://schemas.microsoft.com/office/drawing/2014/main" id="{354972EA-9500-45E7-8246-F9A164E4D5C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Anatomy of a FuncAnimation(...) call</a:t>
            </a:r>
          </a:p>
        </p:txBody>
      </p:sp>
      <p:sp>
        <p:nvSpPr>
          <p:cNvPr id="3" name="">
            <a:extLst xmlns:a="http://schemas.openxmlformats.org/drawingml/2006/main">
              <a:ext uri="{FF2B5EF4-FFF2-40B4-BE49-F238E27FC236}">
                <a16:creationId xmlns:a16="http://schemas.microsoft.com/office/drawing/2014/main" id="{25641195-953E-460D-9CA8-DC0161575DF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093B41E-0B15-4C63-BBE4-35421831F93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15FA17DC-4056-45D3-BE96-0ADAEE29BD2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27</a:t>
            </a:r>
          </a:p>
        </p:txBody>
      </p:sp>
      <p:sp>
        <p:nvSpPr>
          <p:cNvPr id="6" name="anatomy-code-panel">
            <a:extLst xmlns:a="http://schemas.openxmlformats.org/drawingml/2006/main">
              <a:ext uri="{FF2B5EF4-FFF2-40B4-BE49-F238E27FC236}">
                <a16:creationId xmlns:a16="http://schemas.microsoft.com/office/drawing/2014/main" id="{F78F9D78-265B-46DD-9F43-D39097145EFC}"/>
              </a:ext>
            </a:extLst>
          </p:cNvPr>
          <p:cNvSpPr>
            <a:spLocks xmlns:a="http://schemas.openxmlformats.org/drawingml/2006/main" noGrp="1"/>
          </p:cNvSpPr>
          <p:nvPr/>
        </p:nvSpPr>
        <p:spPr>
          <a:xfrm xmlns:a="http://schemas.openxmlformats.org/drawingml/2006/main">
            <a:off x="609600" y="1733550"/>
            <a:ext cx="10972800" cy="876300"/>
          </a:xfrm>
          <a:prstGeom xmlns:a="http://schemas.openxmlformats.org/drawingml/2006/main" prst="roundRect">
            <a:avLst>
              <a:gd name="adj" fmla="val 8696"/>
            </a:avLst>
          </a:prstGeom>
          <a:solidFill xmlns:a="http://schemas.openxmlformats.org/drawingml/2006/main">
            <a:srgbClr val="17191C"/>
          </a:solidFill>
          <a:ln xmlns:a="http://schemas.openxmlformats.org/drawingml/2006/main" w="9525">
            <a:solidFill>
              <a:srgbClr val="17191C"/>
            </a:solidFill>
            <a:prstDash val="solid"/>
          </a:ln>
        </p:spPr>
      </p:sp>
      <p:sp>
        <p:nvSpPr>
          <p:cNvPr id="7" name="anatomy-code">
            <a:extLst xmlns:a="http://schemas.openxmlformats.org/drawingml/2006/main">
              <a:ext uri="{FF2B5EF4-FFF2-40B4-BE49-F238E27FC236}">
                <a16:creationId xmlns:a16="http://schemas.microsoft.com/office/drawing/2014/main" id="{C461C42D-71E8-49B8-9DC4-B2E28A518AFC}"/>
              </a:ext>
            </a:extLst>
          </p:cNvPr>
          <p:cNvSpPr>
            <a:spLocks xmlns:a="http://schemas.openxmlformats.org/drawingml/2006/main" noGrp="1"/>
          </p:cNvSpPr>
          <p:nvPr/>
        </p:nvSpPr>
        <p:spPr>
          <a:xfrm xmlns:a="http://schemas.openxmlformats.org/drawingml/2006/main">
            <a:off x="3019425" y="2057400"/>
            <a:ext cx="654177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0">
                <a:solidFill>
                  <a:srgbClr val="FFFFFF"/>
                </a:solidFill>
                <a:latin typeface="Consolas"/>
                <a:ea typeface="Consolas"/>
                <a:cs typeface="Consolas"/>
              </a:defRPr>
            </a:pPr>
            <a:r>
              <a:rPr sz="2100" b="0">
                <a:solidFill>
                  <a:srgbClr val="FFFFFF"/>
                </a:solidFill>
                <a:latin typeface="Consolas"/>
                <a:ea typeface="Consolas"/>
                <a:cs typeface="Consolas"/>
              </a:rPr>
              <a:t>ani = FuncAnimation(fig, update, frames=n)</a:t>
            </a:r>
          </a:p>
        </p:txBody>
      </p:sp>
      <p:sp>
        <p:nvSpPr>
          <p:cNvPr id="8" name="">
            <a:extLst xmlns:a="http://schemas.openxmlformats.org/drawingml/2006/main">
              <a:ext uri="{FF2B5EF4-FFF2-40B4-BE49-F238E27FC236}">
                <a16:creationId xmlns:a16="http://schemas.microsoft.com/office/drawing/2014/main" id="{1E0EEB17-E329-46EA-98C4-0174EA8CAEB3}"/>
              </a:ext>
            </a:extLst>
          </p:cNvPr>
          <p:cNvSpPr>
            <a:spLocks xmlns:a="http://schemas.openxmlformats.org/drawingml/2006/main" noGrp="1"/>
          </p:cNvSpPr>
          <p:nvPr/>
        </p:nvSpPr>
        <p:spPr>
          <a:xfrm xmlns:a="http://schemas.openxmlformats.org/drawingml/2006/main">
            <a:off x="3019425" y="2647950"/>
            <a:ext cx="440055"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9" name="part-chip-0">
            <a:extLst xmlns:a="http://schemas.openxmlformats.org/drawingml/2006/main">
              <a:ext uri="{FF2B5EF4-FFF2-40B4-BE49-F238E27FC236}">
                <a16:creationId xmlns:a16="http://schemas.microsoft.com/office/drawing/2014/main" id="{15B4C0DB-C02E-4AE7-936E-1F49FE37D77E}"/>
              </a:ext>
            </a:extLst>
          </p:cNvPr>
          <p:cNvSpPr>
            <a:spLocks xmlns:a="http://schemas.openxmlformats.org/drawingml/2006/main" noGrp="1"/>
          </p:cNvSpPr>
          <p:nvPr/>
        </p:nvSpPr>
        <p:spPr>
          <a:xfrm xmlns:a="http://schemas.openxmlformats.org/drawingml/2006/main">
            <a:off x="3115628"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0" name="part-chipno-0">
            <a:extLst xmlns:a="http://schemas.openxmlformats.org/drawingml/2006/main">
              <a:ext uri="{FF2B5EF4-FFF2-40B4-BE49-F238E27FC236}">
                <a16:creationId xmlns:a16="http://schemas.microsoft.com/office/drawing/2014/main" id="{F584C0F5-6D02-4BBA-839D-6ED0E04B8129}"/>
              </a:ext>
            </a:extLst>
          </p:cNvPr>
          <p:cNvSpPr>
            <a:spLocks xmlns:a="http://schemas.openxmlformats.org/drawingml/2006/main" noGrp="1"/>
          </p:cNvSpPr>
          <p:nvPr/>
        </p:nvSpPr>
        <p:spPr>
          <a:xfrm xmlns:a="http://schemas.openxmlformats.org/drawingml/2006/main">
            <a:off x="3115628"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1" name="part-lchip-0">
            <a:extLst xmlns:a="http://schemas.openxmlformats.org/drawingml/2006/main">
              <a:ext uri="{FF2B5EF4-FFF2-40B4-BE49-F238E27FC236}">
                <a16:creationId xmlns:a16="http://schemas.microsoft.com/office/drawing/2014/main" id="{C2162D11-C16C-4A5F-8779-DDBB866C5737}"/>
              </a:ext>
            </a:extLst>
          </p:cNvPr>
          <p:cNvSpPr>
            <a:spLocks xmlns:a="http://schemas.openxmlformats.org/drawingml/2006/main" noGrp="1"/>
          </p:cNvSpPr>
          <p:nvPr/>
        </p:nvSpPr>
        <p:spPr>
          <a:xfrm xmlns:a="http://schemas.openxmlformats.org/drawingml/2006/main">
            <a:off x="2001203"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2" name="part-lchipno-0">
            <a:extLst xmlns:a="http://schemas.openxmlformats.org/drawingml/2006/main">
              <a:ext uri="{FF2B5EF4-FFF2-40B4-BE49-F238E27FC236}">
                <a16:creationId xmlns:a16="http://schemas.microsoft.com/office/drawing/2014/main" id="{12757155-6F2F-491C-BC07-E81ABD152CF8}"/>
              </a:ext>
            </a:extLst>
          </p:cNvPr>
          <p:cNvSpPr>
            <a:spLocks xmlns:a="http://schemas.openxmlformats.org/drawingml/2006/main" noGrp="1"/>
          </p:cNvSpPr>
          <p:nvPr/>
        </p:nvSpPr>
        <p:spPr>
          <a:xfrm xmlns:a="http://schemas.openxmlformats.org/drawingml/2006/main">
            <a:off x="2001203"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3" name="part-head-0">
            <a:extLst xmlns:a="http://schemas.openxmlformats.org/drawingml/2006/main">
              <a:ext uri="{FF2B5EF4-FFF2-40B4-BE49-F238E27FC236}">
                <a16:creationId xmlns:a16="http://schemas.microsoft.com/office/drawing/2014/main" id="{1B59231C-33CE-4E6C-9AC6-A1B21E4799C2}"/>
              </a:ext>
            </a:extLst>
          </p:cNvPr>
          <p:cNvSpPr>
            <a:spLocks xmlns:a="http://schemas.openxmlformats.org/drawingml/2006/main" noGrp="1"/>
          </p:cNvSpPr>
          <p:nvPr/>
        </p:nvSpPr>
        <p:spPr>
          <a:xfrm xmlns:a="http://schemas.openxmlformats.org/drawingml/2006/main">
            <a:off x="2306003" y="3009900"/>
            <a:ext cx="217170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Stores the animation</a:t>
            </a:r>
          </a:p>
        </p:txBody>
      </p:sp>
      <p:sp>
        <p:nvSpPr>
          <p:cNvPr id="14" name="part-body-0">
            <a:extLst xmlns:a="http://schemas.openxmlformats.org/drawingml/2006/main">
              <a:ext uri="{FF2B5EF4-FFF2-40B4-BE49-F238E27FC236}">
                <a16:creationId xmlns:a16="http://schemas.microsoft.com/office/drawing/2014/main" id="{B8EC274B-9AEE-4EB5-9B9D-436612438F3C}"/>
              </a:ext>
            </a:extLst>
          </p:cNvPr>
          <p:cNvSpPr>
            <a:spLocks xmlns:a="http://schemas.openxmlformats.org/drawingml/2006/main" noGrp="1"/>
          </p:cNvSpPr>
          <p:nvPr/>
        </p:nvSpPr>
        <p:spPr>
          <a:xfrm xmlns:a="http://schemas.openxmlformats.org/drawingml/2006/main">
            <a:off x="2001203" y="3637026"/>
            <a:ext cx="247650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Keeps a reference so ani.save(...) can be called after this line.</a:t>
            </a:r>
          </a:p>
        </p:txBody>
      </p:sp>
      <p:sp>
        <p:nvSpPr>
          <p:cNvPr id="15" name="">
            <a:extLst xmlns:a="http://schemas.openxmlformats.org/drawingml/2006/main">
              <a:ext uri="{FF2B5EF4-FFF2-40B4-BE49-F238E27FC236}">
                <a16:creationId xmlns:a16="http://schemas.microsoft.com/office/drawing/2014/main" id="{7AAD9FE3-5435-44B5-AAC0-E85F13DE428A}"/>
              </a:ext>
            </a:extLst>
          </p:cNvPr>
          <p:cNvSpPr>
            <a:spLocks xmlns:a="http://schemas.openxmlformats.org/drawingml/2006/main" noGrp="1"/>
          </p:cNvSpPr>
          <p:nvPr/>
        </p:nvSpPr>
        <p:spPr>
          <a:xfrm xmlns:a="http://schemas.openxmlformats.org/drawingml/2006/main">
            <a:off x="3899535" y="2647950"/>
            <a:ext cx="205359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6" name="part-chip-1">
            <a:extLst xmlns:a="http://schemas.openxmlformats.org/drawingml/2006/main">
              <a:ext uri="{FF2B5EF4-FFF2-40B4-BE49-F238E27FC236}">
                <a16:creationId xmlns:a16="http://schemas.microsoft.com/office/drawing/2014/main" id="{60783B65-7AB9-423F-90E1-5E5080ACB7F9}"/>
              </a:ext>
            </a:extLst>
          </p:cNvPr>
          <p:cNvSpPr>
            <a:spLocks xmlns:a="http://schemas.openxmlformats.org/drawingml/2006/main" noGrp="1"/>
          </p:cNvSpPr>
          <p:nvPr/>
        </p:nvSpPr>
        <p:spPr>
          <a:xfrm xmlns:a="http://schemas.openxmlformats.org/drawingml/2006/main">
            <a:off x="480250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7" name="part-chipno-1">
            <a:extLst xmlns:a="http://schemas.openxmlformats.org/drawingml/2006/main">
              <a:ext uri="{FF2B5EF4-FFF2-40B4-BE49-F238E27FC236}">
                <a16:creationId xmlns:a16="http://schemas.microsoft.com/office/drawing/2014/main" id="{3B63F9FD-A7A3-45F0-B6E6-4B8E999633B6}"/>
              </a:ext>
            </a:extLst>
          </p:cNvPr>
          <p:cNvSpPr>
            <a:spLocks xmlns:a="http://schemas.openxmlformats.org/drawingml/2006/main" noGrp="1"/>
          </p:cNvSpPr>
          <p:nvPr/>
        </p:nvSpPr>
        <p:spPr>
          <a:xfrm xmlns:a="http://schemas.openxmlformats.org/drawingml/2006/main">
            <a:off x="480250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18" name="part-lchip-1">
            <a:extLst xmlns:a="http://schemas.openxmlformats.org/drawingml/2006/main">
              <a:ext uri="{FF2B5EF4-FFF2-40B4-BE49-F238E27FC236}">
                <a16:creationId xmlns:a16="http://schemas.microsoft.com/office/drawing/2014/main" id="{B0ACBE72-A7C1-4214-A966-D9ED04760DAB}"/>
              </a:ext>
            </a:extLst>
          </p:cNvPr>
          <p:cNvSpPr>
            <a:spLocks xmlns:a="http://schemas.openxmlformats.org/drawingml/2006/main" noGrp="1"/>
          </p:cNvSpPr>
          <p:nvPr/>
        </p:nvSpPr>
        <p:spPr>
          <a:xfrm xmlns:a="http://schemas.openxmlformats.org/drawingml/2006/main">
            <a:off x="3926205" y="4142994"/>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9" name="part-lchipno-1">
            <a:extLst xmlns:a="http://schemas.openxmlformats.org/drawingml/2006/main">
              <a:ext uri="{FF2B5EF4-FFF2-40B4-BE49-F238E27FC236}">
                <a16:creationId xmlns:a16="http://schemas.microsoft.com/office/drawing/2014/main" id="{A94A22AB-900A-4844-8A77-6696842B8DDA}"/>
              </a:ext>
            </a:extLst>
          </p:cNvPr>
          <p:cNvSpPr>
            <a:spLocks xmlns:a="http://schemas.openxmlformats.org/drawingml/2006/main" noGrp="1"/>
          </p:cNvSpPr>
          <p:nvPr/>
        </p:nvSpPr>
        <p:spPr>
          <a:xfrm xmlns:a="http://schemas.openxmlformats.org/drawingml/2006/main">
            <a:off x="3926205" y="4181094"/>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20" name="part-head-1">
            <a:extLst xmlns:a="http://schemas.openxmlformats.org/drawingml/2006/main">
              <a:ext uri="{FF2B5EF4-FFF2-40B4-BE49-F238E27FC236}">
                <a16:creationId xmlns:a16="http://schemas.microsoft.com/office/drawing/2014/main" id="{F0BFD2F0-0B88-45BA-B41C-2A4B03A06054}"/>
              </a:ext>
            </a:extLst>
          </p:cNvPr>
          <p:cNvSpPr>
            <a:spLocks xmlns:a="http://schemas.openxmlformats.org/drawingml/2006/main" noGrp="1"/>
          </p:cNvSpPr>
          <p:nvPr/>
        </p:nvSpPr>
        <p:spPr>
          <a:xfrm xmlns:a="http://schemas.openxmlformats.org/drawingml/2006/main">
            <a:off x="4231005" y="4123944"/>
            <a:ext cx="169545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The constructor</a:t>
            </a:r>
          </a:p>
        </p:txBody>
      </p:sp>
      <p:sp>
        <p:nvSpPr>
          <p:cNvPr id="21" name="part-body-1">
            <a:extLst xmlns:a="http://schemas.openxmlformats.org/drawingml/2006/main">
              <a:ext uri="{FF2B5EF4-FFF2-40B4-BE49-F238E27FC236}">
                <a16:creationId xmlns:a16="http://schemas.microsoft.com/office/drawing/2014/main" id="{C0A8F6B8-06B6-4636-8279-5B4D217EDC70}"/>
              </a:ext>
            </a:extLst>
          </p:cNvPr>
          <p:cNvSpPr>
            <a:spLocks xmlns:a="http://schemas.openxmlformats.org/drawingml/2006/main" noGrp="1"/>
          </p:cNvSpPr>
          <p:nvPr/>
        </p:nvSpPr>
        <p:spPr>
          <a:xfrm xmlns:a="http://schemas.openxmlformats.org/drawingml/2006/main">
            <a:off x="3926205" y="4751070"/>
            <a:ext cx="2000250" cy="5875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Builds the animation from one fig and a per-frame update function.</a:t>
            </a:r>
          </a:p>
        </p:txBody>
      </p:sp>
      <p:sp>
        <p:nvSpPr>
          <p:cNvPr id="22" name="">
            <a:extLst xmlns:a="http://schemas.openxmlformats.org/drawingml/2006/main">
              <a:ext uri="{FF2B5EF4-FFF2-40B4-BE49-F238E27FC236}">
                <a16:creationId xmlns:a16="http://schemas.microsoft.com/office/drawing/2014/main" id="{11ECE178-FD23-473E-B2B5-9FB8D696924B}"/>
              </a:ext>
            </a:extLst>
          </p:cNvPr>
          <p:cNvSpPr>
            <a:spLocks xmlns:a="http://schemas.openxmlformats.org/drawingml/2006/main" noGrp="1"/>
          </p:cNvSpPr>
          <p:nvPr/>
        </p:nvSpPr>
        <p:spPr>
          <a:xfrm xmlns:a="http://schemas.openxmlformats.org/drawingml/2006/main">
            <a:off x="5953125" y="2647950"/>
            <a:ext cx="440055"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23" name="part-chip-2">
            <a:extLst xmlns:a="http://schemas.openxmlformats.org/drawingml/2006/main">
              <a:ext uri="{FF2B5EF4-FFF2-40B4-BE49-F238E27FC236}">
                <a16:creationId xmlns:a16="http://schemas.microsoft.com/office/drawing/2014/main" id="{A7908ACB-D8EC-4370-9FFD-5FE6889B260C}"/>
              </a:ext>
            </a:extLst>
          </p:cNvPr>
          <p:cNvSpPr>
            <a:spLocks xmlns:a="http://schemas.openxmlformats.org/drawingml/2006/main" noGrp="1"/>
          </p:cNvSpPr>
          <p:nvPr/>
        </p:nvSpPr>
        <p:spPr>
          <a:xfrm xmlns:a="http://schemas.openxmlformats.org/drawingml/2006/main">
            <a:off x="6049328"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4" name="part-chipno-2">
            <a:extLst xmlns:a="http://schemas.openxmlformats.org/drawingml/2006/main">
              <a:ext uri="{FF2B5EF4-FFF2-40B4-BE49-F238E27FC236}">
                <a16:creationId xmlns:a16="http://schemas.microsoft.com/office/drawing/2014/main" id="{B552E342-C4C0-4FCD-987A-F7E12270BAF5}"/>
              </a:ext>
            </a:extLst>
          </p:cNvPr>
          <p:cNvSpPr>
            <a:spLocks xmlns:a="http://schemas.openxmlformats.org/drawingml/2006/main" noGrp="1"/>
          </p:cNvSpPr>
          <p:nvPr/>
        </p:nvSpPr>
        <p:spPr>
          <a:xfrm xmlns:a="http://schemas.openxmlformats.org/drawingml/2006/main">
            <a:off x="6049328"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5" name="part-lchip-2">
            <a:extLst xmlns:a="http://schemas.openxmlformats.org/drawingml/2006/main">
              <a:ext uri="{FF2B5EF4-FFF2-40B4-BE49-F238E27FC236}">
                <a16:creationId xmlns:a16="http://schemas.microsoft.com/office/drawing/2014/main" id="{B942AB10-C5AE-43D3-90FA-32F2E2B00C5E}"/>
              </a:ext>
            </a:extLst>
          </p:cNvPr>
          <p:cNvSpPr>
            <a:spLocks xmlns:a="http://schemas.openxmlformats.org/drawingml/2006/main" noGrp="1"/>
          </p:cNvSpPr>
          <p:nvPr/>
        </p:nvSpPr>
        <p:spPr>
          <a:xfrm xmlns:a="http://schemas.openxmlformats.org/drawingml/2006/main">
            <a:off x="5173028"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6" name="part-lchipno-2">
            <a:extLst xmlns:a="http://schemas.openxmlformats.org/drawingml/2006/main">
              <a:ext uri="{FF2B5EF4-FFF2-40B4-BE49-F238E27FC236}">
                <a16:creationId xmlns:a16="http://schemas.microsoft.com/office/drawing/2014/main" id="{A844A17A-06DA-4407-8BC0-AFE1AA4FCACB}"/>
              </a:ext>
            </a:extLst>
          </p:cNvPr>
          <p:cNvSpPr>
            <a:spLocks xmlns:a="http://schemas.openxmlformats.org/drawingml/2006/main" noGrp="1"/>
          </p:cNvSpPr>
          <p:nvPr/>
        </p:nvSpPr>
        <p:spPr>
          <a:xfrm xmlns:a="http://schemas.openxmlformats.org/drawingml/2006/main">
            <a:off x="5173028"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7" name="part-head-2">
            <a:extLst xmlns:a="http://schemas.openxmlformats.org/drawingml/2006/main">
              <a:ext uri="{FF2B5EF4-FFF2-40B4-BE49-F238E27FC236}">
                <a16:creationId xmlns:a16="http://schemas.microsoft.com/office/drawing/2014/main" id="{AF87E0C2-8FED-444D-A116-F0294639688A}"/>
              </a:ext>
            </a:extLst>
          </p:cNvPr>
          <p:cNvSpPr>
            <a:spLocks xmlns:a="http://schemas.openxmlformats.org/drawingml/2006/main" noGrp="1"/>
          </p:cNvSpPr>
          <p:nvPr/>
        </p:nvSpPr>
        <p:spPr>
          <a:xfrm xmlns:a="http://schemas.openxmlformats.org/drawingml/2006/main">
            <a:off x="5477828" y="3009900"/>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The figure</a:t>
            </a:r>
          </a:p>
        </p:txBody>
      </p:sp>
      <p:sp>
        <p:nvSpPr>
          <p:cNvPr id="28" name="part-body-2">
            <a:extLst xmlns:a="http://schemas.openxmlformats.org/drawingml/2006/main">
              <a:ext uri="{FF2B5EF4-FFF2-40B4-BE49-F238E27FC236}">
                <a16:creationId xmlns:a16="http://schemas.microsoft.com/office/drawing/2014/main" id="{0DFADAE6-1448-4395-A49B-57BF0705A67F}"/>
              </a:ext>
            </a:extLst>
          </p:cNvPr>
          <p:cNvSpPr>
            <a:spLocks xmlns:a="http://schemas.openxmlformats.org/drawingml/2006/main" noGrp="1"/>
          </p:cNvSpPr>
          <p:nvPr/>
        </p:nvSpPr>
        <p:spPr>
          <a:xfrm xmlns:a="http://schemas.openxmlformats.org/drawingml/2006/main">
            <a:off x="5173028" y="3390138"/>
            <a:ext cx="2000250" cy="5875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The one fig created once with plt.subplots(), reused every frame.</a:t>
            </a:r>
          </a:p>
        </p:txBody>
      </p:sp>
      <p:sp>
        <p:nvSpPr>
          <p:cNvPr id="29" name="">
            <a:extLst xmlns:a="http://schemas.openxmlformats.org/drawingml/2006/main">
              <a:ext uri="{FF2B5EF4-FFF2-40B4-BE49-F238E27FC236}">
                <a16:creationId xmlns:a16="http://schemas.microsoft.com/office/drawing/2014/main" id="{5535FE6D-C073-4D4C-B9C7-0AF709AFAB87}"/>
              </a:ext>
            </a:extLst>
          </p:cNvPr>
          <p:cNvSpPr>
            <a:spLocks xmlns:a="http://schemas.openxmlformats.org/drawingml/2006/main" noGrp="1"/>
          </p:cNvSpPr>
          <p:nvPr/>
        </p:nvSpPr>
        <p:spPr>
          <a:xfrm xmlns:a="http://schemas.openxmlformats.org/drawingml/2006/main">
            <a:off x="6686550" y="2647950"/>
            <a:ext cx="88011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30" name="part-chip-3">
            <a:extLst xmlns:a="http://schemas.openxmlformats.org/drawingml/2006/main">
              <a:ext uri="{FF2B5EF4-FFF2-40B4-BE49-F238E27FC236}">
                <a16:creationId xmlns:a16="http://schemas.microsoft.com/office/drawing/2014/main" id="{82E5041C-2662-490B-9B2E-5F5595A62322}"/>
              </a:ext>
            </a:extLst>
          </p:cNvPr>
          <p:cNvSpPr>
            <a:spLocks xmlns:a="http://schemas.openxmlformats.org/drawingml/2006/main" noGrp="1"/>
          </p:cNvSpPr>
          <p:nvPr/>
        </p:nvSpPr>
        <p:spPr>
          <a:xfrm xmlns:a="http://schemas.openxmlformats.org/drawingml/2006/main">
            <a:off x="7002780"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1" name="part-chipno-3">
            <a:extLst xmlns:a="http://schemas.openxmlformats.org/drawingml/2006/main">
              <a:ext uri="{FF2B5EF4-FFF2-40B4-BE49-F238E27FC236}">
                <a16:creationId xmlns:a16="http://schemas.microsoft.com/office/drawing/2014/main" id="{9EA1774E-1B58-4461-912B-F4BC59F9D5A1}"/>
              </a:ext>
            </a:extLst>
          </p:cNvPr>
          <p:cNvSpPr>
            <a:spLocks xmlns:a="http://schemas.openxmlformats.org/drawingml/2006/main" noGrp="1"/>
          </p:cNvSpPr>
          <p:nvPr/>
        </p:nvSpPr>
        <p:spPr>
          <a:xfrm xmlns:a="http://schemas.openxmlformats.org/drawingml/2006/main">
            <a:off x="7002780"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2" name="part-lchip-3">
            <a:extLst xmlns:a="http://schemas.openxmlformats.org/drawingml/2006/main">
              <a:ext uri="{FF2B5EF4-FFF2-40B4-BE49-F238E27FC236}">
                <a16:creationId xmlns:a16="http://schemas.microsoft.com/office/drawing/2014/main" id="{F3ABACF3-DCF5-45BA-9EAC-3328C04F1294}"/>
              </a:ext>
            </a:extLst>
          </p:cNvPr>
          <p:cNvSpPr>
            <a:spLocks xmlns:a="http://schemas.openxmlformats.org/drawingml/2006/main" noGrp="1"/>
          </p:cNvSpPr>
          <p:nvPr/>
        </p:nvSpPr>
        <p:spPr>
          <a:xfrm xmlns:a="http://schemas.openxmlformats.org/drawingml/2006/main">
            <a:off x="6126480" y="4142994"/>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3" name="part-lchipno-3">
            <a:extLst xmlns:a="http://schemas.openxmlformats.org/drawingml/2006/main">
              <a:ext uri="{FF2B5EF4-FFF2-40B4-BE49-F238E27FC236}">
                <a16:creationId xmlns:a16="http://schemas.microsoft.com/office/drawing/2014/main" id="{9D664DDF-0EBC-4D38-B40B-D6837927D653}"/>
              </a:ext>
            </a:extLst>
          </p:cNvPr>
          <p:cNvSpPr>
            <a:spLocks xmlns:a="http://schemas.openxmlformats.org/drawingml/2006/main" noGrp="1"/>
          </p:cNvSpPr>
          <p:nvPr/>
        </p:nvSpPr>
        <p:spPr>
          <a:xfrm xmlns:a="http://schemas.openxmlformats.org/drawingml/2006/main">
            <a:off x="6126480" y="4181094"/>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4" name="part-head-3">
            <a:extLst xmlns:a="http://schemas.openxmlformats.org/drawingml/2006/main">
              <a:ext uri="{FF2B5EF4-FFF2-40B4-BE49-F238E27FC236}">
                <a16:creationId xmlns:a16="http://schemas.microsoft.com/office/drawing/2014/main" id="{3B01A790-078C-4ABE-BB02-6AD17E2B15DB}"/>
              </a:ext>
            </a:extLst>
          </p:cNvPr>
          <p:cNvSpPr>
            <a:spLocks xmlns:a="http://schemas.openxmlformats.org/drawingml/2006/main" noGrp="1"/>
          </p:cNvSpPr>
          <p:nvPr/>
        </p:nvSpPr>
        <p:spPr>
          <a:xfrm xmlns:a="http://schemas.openxmlformats.org/drawingml/2006/main">
            <a:off x="6431280" y="4123944"/>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Frame updater</a:t>
            </a:r>
          </a:p>
        </p:txBody>
      </p:sp>
      <p:sp>
        <p:nvSpPr>
          <p:cNvPr id="35" name="part-body-3">
            <a:extLst xmlns:a="http://schemas.openxmlformats.org/drawingml/2006/main">
              <a:ext uri="{FF2B5EF4-FFF2-40B4-BE49-F238E27FC236}">
                <a16:creationId xmlns:a16="http://schemas.microsoft.com/office/drawing/2014/main" id="{244262D0-9A35-4FE2-8BFF-6FF8D6A007AE}"/>
              </a:ext>
            </a:extLst>
          </p:cNvPr>
          <p:cNvSpPr>
            <a:spLocks xmlns:a="http://schemas.openxmlformats.org/drawingml/2006/main" noGrp="1"/>
          </p:cNvSpPr>
          <p:nvPr/>
        </p:nvSpPr>
        <p:spPr>
          <a:xfrm xmlns:a="http://schemas.openxmlformats.org/drawingml/2006/main">
            <a:off x="6126480" y="4504182"/>
            <a:ext cx="2000250" cy="5875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Called once per frame, as update(frame); redraws ax each time.</a:t>
            </a:r>
          </a:p>
        </p:txBody>
      </p:sp>
      <p:sp>
        <p:nvSpPr>
          <p:cNvPr id="36" name="">
            <a:extLst xmlns:a="http://schemas.openxmlformats.org/drawingml/2006/main">
              <a:ext uri="{FF2B5EF4-FFF2-40B4-BE49-F238E27FC236}">
                <a16:creationId xmlns:a16="http://schemas.microsoft.com/office/drawing/2014/main" id="{E666F5AA-07C3-4E25-9BFD-63261C4B3556}"/>
              </a:ext>
            </a:extLst>
          </p:cNvPr>
          <p:cNvSpPr>
            <a:spLocks xmlns:a="http://schemas.openxmlformats.org/drawingml/2006/main" noGrp="1"/>
          </p:cNvSpPr>
          <p:nvPr/>
        </p:nvSpPr>
        <p:spPr>
          <a:xfrm xmlns:a="http://schemas.openxmlformats.org/drawingml/2006/main">
            <a:off x="7860030" y="2647950"/>
            <a:ext cx="117348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37" name="part-chip-4">
            <a:extLst xmlns:a="http://schemas.openxmlformats.org/drawingml/2006/main">
              <a:ext uri="{FF2B5EF4-FFF2-40B4-BE49-F238E27FC236}">
                <a16:creationId xmlns:a16="http://schemas.microsoft.com/office/drawing/2014/main" id="{E75D7ED3-3CC4-4669-9F99-BDC3B0DE1F09}"/>
              </a:ext>
            </a:extLst>
          </p:cNvPr>
          <p:cNvSpPr>
            <a:spLocks xmlns:a="http://schemas.openxmlformats.org/drawingml/2006/main" noGrp="1"/>
          </p:cNvSpPr>
          <p:nvPr/>
        </p:nvSpPr>
        <p:spPr>
          <a:xfrm xmlns:a="http://schemas.openxmlformats.org/drawingml/2006/main">
            <a:off x="832294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8" name="part-chipno-4">
            <a:extLst xmlns:a="http://schemas.openxmlformats.org/drawingml/2006/main">
              <a:ext uri="{FF2B5EF4-FFF2-40B4-BE49-F238E27FC236}">
                <a16:creationId xmlns:a16="http://schemas.microsoft.com/office/drawing/2014/main" id="{4474425B-C964-49B0-AA06-EB0930A39707}"/>
              </a:ext>
            </a:extLst>
          </p:cNvPr>
          <p:cNvSpPr>
            <a:spLocks xmlns:a="http://schemas.openxmlformats.org/drawingml/2006/main" noGrp="1"/>
          </p:cNvSpPr>
          <p:nvPr/>
        </p:nvSpPr>
        <p:spPr>
          <a:xfrm xmlns:a="http://schemas.openxmlformats.org/drawingml/2006/main">
            <a:off x="832294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5</a:t>
            </a:r>
          </a:p>
        </p:txBody>
      </p:sp>
      <p:sp>
        <p:nvSpPr>
          <p:cNvPr id="39" name="part-lchip-4">
            <a:extLst xmlns:a="http://schemas.openxmlformats.org/drawingml/2006/main">
              <a:ext uri="{FF2B5EF4-FFF2-40B4-BE49-F238E27FC236}">
                <a16:creationId xmlns:a16="http://schemas.microsoft.com/office/drawing/2014/main" id="{1B81FD55-0065-45F9-A974-B07FA318042F}"/>
              </a:ext>
            </a:extLst>
          </p:cNvPr>
          <p:cNvSpPr>
            <a:spLocks xmlns:a="http://schemas.openxmlformats.org/drawingml/2006/main" noGrp="1"/>
          </p:cNvSpPr>
          <p:nvPr/>
        </p:nvSpPr>
        <p:spPr>
          <a:xfrm xmlns:a="http://schemas.openxmlformats.org/drawingml/2006/main">
            <a:off x="7446645"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40" name="part-lchipno-4">
            <a:extLst xmlns:a="http://schemas.openxmlformats.org/drawingml/2006/main">
              <a:ext uri="{FF2B5EF4-FFF2-40B4-BE49-F238E27FC236}">
                <a16:creationId xmlns:a16="http://schemas.microsoft.com/office/drawing/2014/main" id="{12A41D3D-E259-4CF4-A2E4-6C9C6E915D7D}"/>
              </a:ext>
            </a:extLst>
          </p:cNvPr>
          <p:cNvSpPr>
            <a:spLocks xmlns:a="http://schemas.openxmlformats.org/drawingml/2006/main" noGrp="1"/>
          </p:cNvSpPr>
          <p:nvPr/>
        </p:nvSpPr>
        <p:spPr>
          <a:xfrm xmlns:a="http://schemas.openxmlformats.org/drawingml/2006/main">
            <a:off x="7446645"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5</a:t>
            </a:r>
          </a:p>
        </p:txBody>
      </p:sp>
      <p:sp>
        <p:nvSpPr>
          <p:cNvPr id="41" name="part-head-4">
            <a:extLst xmlns:a="http://schemas.openxmlformats.org/drawingml/2006/main">
              <a:ext uri="{FF2B5EF4-FFF2-40B4-BE49-F238E27FC236}">
                <a16:creationId xmlns:a16="http://schemas.microsoft.com/office/drawing/2014/main" id="{16D7B8C2-8C6E-434B-B18D-BF66113B4438}"/>
              </a:ext>
            </a:extLst>
          </p:cNvPr>
          <p:cNvSpPr>
            <a:spLocks xmlns:a="http://schemas.openxmlformats.org/drawingml/2006/main" noGrp="1"/>
          </p:cNvSpPr>
          <p:nvPr/>
        </p:nvSpPr>
        <p:spPr>
          <a:xfrm xmlns:a="http://schemas.openxmlformats.org/drawingml/2006/main">
            <a:off x="7751445" y="3009900"/>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Frame count</a:t>
            </a:r>
          </a:p>
        </p:txBody>
      </p:sp>
      <p:sp>
        <p:nvSpPr>
          <p:cNvPr id="42" name="part-body-4">
            <a:extLst xmlns:a="http://schemas.openxmlformats.org/drawingml/2006/main">
              <a:ext uri="{FF2B5EF4-FFF2-40B4-BE49-F238E27FC236}">
                <a16:creationId xmlns:a16="http://schemas.microsoft.com/office/drawing/2014/main" id="{04B0D8B4-77EF-472C-A3FB-554F16E65A3A}"/>
              </a:ext>
            </a:extLst>
          </p:cNvPr>
          <p:cNvSpPr>
            <a:spLocks xmlns:a="http://schemas.openxmlformats.org/drawingml/2006/main" noGrp="1"/>
          </p:cNvSpPr>
          <p:nvPr/>
        </p:nvSpPr>
        <p:spPr>
          <a:xfrm xmlns:a="http://schemas.openxmlformats.org/drawingml/2006/main">
            <a:off x="7446645" y="3390138"/>
            <a:ext cx="2000250" cy="5875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update is called once per frame, for frame = 0, 1, ... n-1.</a:t>
            </a:r>
          </a:p>
        </p:txBody>
      </p:sp>
    </p:spTree>
    <p:extLst>
      <p:ext uri="{BB962C8B-B14F-4D97-AF65-F5344CB8AC3E}">
        <p14:creationId xmlns:p14="http://schemas.microsoft.com/office/powerpoint/2010/main" val="37287898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14299CB3-5788-4CB5-8C4C-17436FE07FD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17F6453C-04E5-46E9-8944-791F5CCF23F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Four moves build any FuncAnimation</a:t>
            </a:r>
          </a:p>
        </p:txBody>
      </p:sp>
      <p:sp>
        <p:nvSpPr>
          <p:cNvPr id="3" name="">
            <a:extLst xmlns:a="http://schemas.openxmlformats.org/drawingml/2006/main">
              <a:ext uri="{FF2B5EF4-FFF2-40B4-BE49-F238E27FC236}">
                <a16:creationId xmlns:a16="http://schemas.microsoft.com/office/drawing/2014/main" id="{14774583-285B-45B7-8024-9B95D7291C3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FF68FEF-BD30-44C6-93C1-01AF3051D5F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601E2FCF-895F-4E6D-B7A3-662FC0CE2F6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28</a:t>
            </a:r>
          </a:p>
        </p:txBody>
      </p:sp>
      <p:sp>
        <p:nvSpPr>
          <p:cNvPr id="6" name="step-arrow-0">
            <a:extLst xmlns:a="http://schemas.openxmlformats.org/drawingml/2006/main">
              <a:ext uri="{FF2B5EF4-FFF2-40B4-BE49-F238E27FC236}">
                <a16:creationId xmlns:a16="http://schemas.microsoft.com/office/drawing/2014/main" id="{57DDF335-50E0-4332-A470-775569C4D50D}"/>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83241CFF-3729-424A-84BA-12360FED7C3F}"/>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9A090240-29EE-4D01-8189-EDBC4CAB3F09}"/>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7B10F867-77BD-466A-9BF9-5365C7FFAFC8}"/>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AE57B087-C3EA-457E-9F18-AA1EC3750446}"/>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F15A8B7E-F31C-4F59-94E7-2B8D43E0D4FC}"/>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SET UP</a:t>
            </a:r>
          </a:p>
        </p:txBody>
      </p:sp>
      <p:sp>
        <p:nvSpPr>
          <p:cNvPr id="12" name="">
            <a:extLst xmlns:a="http://schemas.openxmlformats.org/drawingml/2006/main">
              <a:ext uri="{FF2B5EF4-FFF2-40B4-BE49-F238E27FC236}">
                <a16:creationId xmlns:a16="http://schemas.microsoft.com/office/drawing/2014/main" id="{9728C45F-3002-4BC8-8BDA-8F532D7A5375}"/>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B4285C73-231F-4DF0-908F-BAE19898B961}"/>
              </a:ext>
            </a:extLst>
          </p:cNvPr>
          <p:cNvSpPr>
            <a:spLocks xmlns:a="http://schemas.openxmlformats.org/drawingml/2006/main" noGrp="1"/>
          </p:cNvSpPr>
          <p:nvPr/>
        </p:nvSpPr>
        <p:spPr>
          <a:xfrm xmlns:a="http://schemas.openxmlformats.org/drawingml/2006/main">
            <a:off x="8001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Create fig, ax once</a:t>
            </a:r>
          </a:p>
        </p:txBody>
      </p:sp>
      <p:sp>
        <p:nvSpPr>
          <p:cNvPr id="14" name="step-body-0">
            <a:extLst xmlns:a="http://schemas.openxmlformats.org/drawingml/2006/main">
              <a:ext uri="{FF2B5EF4-FFF2-40B4-BE49-F238E27FC236}">
                <a16:creationId xmlns:a16="http://schemas.microsoft.com/office/drawing/2014/main" id="{60768158-D4B2-4913-B1C4-224A33CF692C}"/>
              </a:ext>
            </a:extLst>
          </p:cNvPr>
          <p:cNvSpPr>
            <a:spLocks xmlns:a="http://schemas.openxmlformats.org/drawingml/2006/main" noGrp="1"/>
          </p:cNvSpPr>
          <p:nvPr/>
        </p:nvSpPr>
        <p:spPr>
          <a:xfrm xmlns:a="http://schemas.openxmlformats.org/drawingml/2006/main">
            <a:off x="8001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Build the figure and axes outside the loop -- they get reused every frame, not recreated.</a:t>
            </a:r>
          </a:p>
        </p:txBody>
      </p:sp>
      <p:sp>
        <p:nvSpPr>
          <p:cNvPr id="15" name="step-node-1">
            <a:extLst xmlns:a="http://schemas.openxmlformats.org/drawingml/2006/main">
              <a:ext uri="{FF2B5EF4-FFF2-40B4-BE49-F238E27FC236}">
                <a16:creationId xmlns:a16="http://schemas.microsoft.com/office/drawing/2014/main" id="{01A96106-0D4B-4738-82CD-A9A442F9184B}"/>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5ABB8E65-2DE5-46C6-A89A-3AC80B07C321}"/>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D86575BD-7E61-4C9B-8D1E-D4199D2998FE}"/>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UPDATE</a:t>
            </a:r>
          </a:p>
        </p:txBody>
      </p:sp>
      <p:sp>
        <p:nvSpPr>
          <p:cNvPr id="18" name="">
            <a:extLst xmlns:a="http://schemas.openxmlformats.org/drawingml/2006/main">
              <a:ext uri="{FF2B5EF4-FFF2-40B4-BE49-F238E27FC236}">
                <a16:creationId xmlns:a16="http://schemas.microsoft.com/office/drawing/2014/main" id="{AF0C4A71-23B4-4D65-8395-3A8E7A45DC41}"/>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95B3D8AF-738C-4699-90ED-F272CA54963A}"/>
              </a:ext>
            </a:extLst>
          </p:cNvPr>
          <p:cNvSpPr>
            <a:spLocks xmlns:a="http://schemas.openxmlformats.org/drawingml/2006/main" noGrp="1"/>
          </p:cNvSpPr>
          <p:nvPr/>
        </p:nvSpPr>
        <p:spPr>
          <a:xfrm xmlns:a="http://schemas.openxmlformats.org/drawingml/2006/main">
            <a:off x="36004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Write update(frame)</a:t>
            </a:r>
          </a:p>
        </p:txBody>
      </p:sp>
      <p:sp>
        <p:nvSpPr>
          <p:cNvPr id="20" name="step-body-1">
            <a:extLst xmlns:a="http://schemas.openxmlformats.org/drawingml/2006/main">
              <a:ext uri="{FF2B5EF4-FFF2-40B4-BE49-F238E27FC236}">
                <a16:creationId xmlns:a16="http://schemas.microsoft.com/office/drawing/2014/main" id="{3C709D8E-2229-4B7E-97E5-BBF90357DADE}"/>
              </a:ext>
            </a:extLst>
          </p:cNvPr>
          <p:cNvSpPr>
            <a:spLocks xmlns:a="http://schemas.openxmlformats.org/drawingml/2006/main" noGrp="1"/>
          </p:cNvSpPr>
          <p:nvPr/>
        </p:nvSpPr>
        <p:spPr>
          <a:xfrm xmlns:a="http://schemas.openxmlformats.org/drawingml/2006/main">
            <a:off x="36004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Clear ax, redraw using only data through this frame, then reset labels, limits, and title -- ax.clear() erases them too.</a:t>
            </a:r>
          </a:p>
        </p:txBody>
      </p:sp>
      <p:sp>
        <p:nvSpPr>
          <p:cNvPr id="21" name="step-node-2">
            <a:extLst xmlns:a="http://schemas.openxmlformats.org/drawingml/2006/main">
              <a:ext uri="{FF2B5EF4-FFF2-40B4-BE49-F238E27FC236}">
                <a16:creationId xmlns:a16="http://schemas.microsoft.com/office/drawing/2014/main" id="{F445C775-D09F-4D1A-90D5-BA9F9AB7E48A}"/>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493AAF4B-DECD-4E13-88C9-59F2328EC504}"/>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392A30EB-011B-4203-B9CC-3FEA981D7BED}"/>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ANIMATE</a:t>
            </a:r>
          </a:p>
        </p:txBody>
      </p:sp>
      <p:sp>
        <p:nvSpPr>
          <p:cNvPr id="24" name="">
            <a:extLst xmlns:a="http://schemas.openxmlformats.org/drawingml/2006/main">
              <a:ext uri="{FF2B5EF4-FFF2-40B4-BE49-F238E27FC236}">
                <a16:creationId xmlns:a16="http://schemas.microsoft.com/office/drawing/2014/main" id="{0C3E8582-1137-4B55-AC06-F317FB2524AB}"/>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C78E787C-918B-4844-AC0E-A85BED8024BF}"/>
              </a:ext>
            </a:extLst>
          </p:cNvPr>
          <p:cNvSpPr>
            <a:spLocks xmlns:a="http://schemas.openxmlformats.org/drawingml/2006/main" noGrp="1"/>
          </p:cNvSpPr>
          <p:nvPr/>
        </p:nvSpPr>
        <p:spPr>
          <a:xfrm xmlns:a="http://schemas.openxmlformats.org/drawingml/2006/main">
            <a:off x="64008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Call FuncAnimation</a:t>
            </a:r>
          </a:p>
        </p:txBody>
      </p:sp>
      <p:sp>
        <p:nvSpPr>
          <p:cNvPr id="26" name="step-body-2">
            <a:extLst xmlns:a="http://schemas.openxmlformats.org/drawingml/2006/main">
              <a:ext uri="{FF2B5EF4-FFF2-40B4-BE49-F238E27FC236}">
                <a16:creationId xmlns:a16="http://schemas.microsoft.com/office/drawing/2014/main" id="{20F6713D-8D75-4B7C-9D21-21325C85475E}"/>
              </a:ext>
            </a:extLst>
          </p:cNvPr>
          <p:cNvSpPr>
            <a:spLocks xmlns:a="http://schemas.openxmlformats.org/drawingml/2006/main" noGrp="1"/>
          </p:cNvSpPr>
          <p:nvPr/>
        </p:nvSpPr>
        <p:spPr>
          <a:xfrm xmlns:a="http://schemas.openxmlformats.org/drawingml/2006/main">
            <a:off x="64008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Pass the figure, the update function, and how many frames to run.</a:t>
            </a:r>
          </a:p>
        </p:txBody>
      </p:sp>
      <p:sp>
        <p:nvSpPr>
          <p:cNvPr id="27" name="step-node-3">
            <a:extLst xmlns:a="http://schemas.openxmlformats.org/drawingml/2006/main">
              <a:ext uri="{FF2B5EF4-FFF2-40B4-BE49-F238E27FC236}">
                <a16:creationId xmlns:a16="http://schemas.microsoft.com/office/drawing/2014/main" id="{271DF78E-5CA2-4DD8-8F4E-1945ABC8092C}"/>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A2384FA3-3401-46CA-88E8-5C9CE50B01FD}"/>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175DBC06-E344-4CAD-BDF5-C35D3DADD16E}"/>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SAVE</a:t>
            </a:r>
          </a:p>
        </p:txBody>
      </p:sp>
      <p:sp>
        <p:nvSpPr>
          <p:cNvPr id="30" name="">
            <a:extLst xmlns:a="http://schemas.openxmlformats.org/drawingml/2006/main">
              <a:ext uri="{FF2B5EF4-FFF2-40B4-BE49-F238E27FC236}">
                <a16:creationId xmlns:a16="http://schemas.microsoft.com/office/drawing/2014/main" id="{63AF539B-B944-4318-8D9B-1677FB1E2C92}"/>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D918C322-5291-4E32-9F25-3FE6BDD2D545}"/>
              </a:ext>
            </a:extLst>
          </p:cNvPr>
          <p:cNvSpPr>
            <a:spLocks xmlns:a="http://schemas.openxmlformats.org/drawingml/2006/main" noGrp="1"/>
          </p:cNvSpPr>
          <p:nvPr/>
        </p:nvSpPr>
        <p:spPr>
          <a:xfrm xmlns:a="http://schemas.openxmlformats.org/drawingml/2006/main">
            <a:off x="92011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Save as a .gif</a:t>
            </a:r>
          </a:p>
        </p:txBody>
      </p:sp>
      <p:sp>
        <p:nvSpPr>
          <p:cNvPr id="32" name="step-body-3">
            <a:extLst xmlns:a="http://schemas.openxmlformats.org/drawingml/2006/main">
              <a:ext uri="{FF2B5EF4-FFF2-40B4-BE49-F238E27FC236}">
                <a16:creationId xmlns:a16="http://schemas.microsoft.com/office/drawing/2014/main" id="{84EBB94B-D774-4F5A-8285-CB27D7C7BE47}"/>
              </a:ext>
            </a:extLst>
          </p:cNvPr>
          <p:cNvSpPr>
            <a:spLocks xmlns:a="http://schemas.openxmlformats.org/drawingml/2006/main" noGrp="1"/>
          </p:cNvSpPr>
          <p:nvPr/>
        </p:nvSpPr>
        <p:spPr>
          <a:xfrm xmlns:a="http://schemas.openxmlformats.org/drawingml/2006/main">
            <a:off x="92011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ani.save(path, writer="pillow") writes every frame to one shareable file -- no live window needed.</a:t>
            </a:r>
          </a:p>
        </p:txBody>
      </p:sp>
    </p:spTree>
    <p:extLst>
      <p:ext uri="{BB962C8B-B14F-4D97-AF65-F5344CB8AC3E}">
        <p14:creationId xmlns:p14="http://schemas.microsoft.com/office/powerpoint/2010/main" val="208247111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5EA3D4A9-FA7F-49AE-A9C9-1CCF6672BCD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46F54C72-C3D5-403F-939A-341DADEBB2D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what happens without ax.set_ylim() in update()?</a:t>
            </a:r>
          </a:p>
        </p:txBody>
      </p:sp>
      <p:sp>
        <p:nvSpPr>
          <p:cNvPr id="3" name="">
            <a:extLst xmlns:a="http://schemas.openxmlformats.org/drawingml/2006/main">
              <a:ext uri="{FF2B5EF4-FFF2-40B4-BE49-F238E27FC236}">
                <a16:creationId xmlns:a16="http://schemas.microsoft.com/office/drawing/2014/main" id="{D6C23E60-F627-4366-91C9-EC1790E65058}"/>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B03E2AF-AAC0-4D43-8D6C-AC599F4768B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22C1786B-D4AB-4E3A-B09B-AFF13BF5C83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29</a:t>
            </a:r>
          </a:p>
        </p:txBody>
      </p:sp>
      <p:sp>
        <p:nvSpPr>
          <p:cNvPr id="6" name="code-panel">
            <a:extLst xmlns:a="http://schemas.openxmlformats.org/drawingml/2006/main">
              <a:ext uri="{FF2B5EF4-FFF2-40B4-BE49-F238E27FC236}">
                <a16:creationId xmlns:a16="http://schemas.microsoft.com/office/drawing/2014/main" id="{49D66CF0-ECC5-4672-95F9-3FDE77CB0B63}"/>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CA459873-6DE3-4456-9CB7-EAF2F13343A1}"/>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def update(frame):</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ax.clear()</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shown = plot_df.iloc[: frame + 1]</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ax.bar(shown["room_id"],</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shown["energy_kwh_m2_yr"])</a:t>
            </a:r>
          </a:p>
        </p:txBody>
      </p:sp>
      <p:sp>
        <p:nvSpPr>
          <p:cNvPr id="8" name="question">
            <a:extLst xmlns:a="http://schemas.openxmlformats.org/drawingml/2006/main">
              <a:ext uri="{FF2B5EF4-FFF2-40B4-BE49-F238E27FC236}">
                <a16:creationId xmlns:a16="http://schemas.microsoft.com/office/drawing/2014/main" id="{66217A40-1B87-4263-B870-8510DFC9D84F}"/>
              </a:ext>
            </a:extLst>
          </p:cNvPr>
          <p:cNvSpPr>
            <a:spLocks xmlns:a="http://schemas.openxmlformats.org/drawingml/2006/main" noGrp="1"/>
          </p:cNvSpPr>
          <p:nvPr/>
        </p:nvSpPr>
        <p:spPr>
          <a:xfrm xmlns:a="http://schemas.openxmlformats.org/drawingml/2006/main">
            <a:off x="7315200" y="1809750"/>
            <a:ext cx="4267200" cy="8641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What happens to the y-axis across frames, with no ax.set_ylim()?</a:t>
            </a:r>
          </a:p>
        </p:txBody>
      </p:sp>
      <p:sp>
        <p:nvSpPr>
          <p:cNvPr id="9" name="opt-0">
            <a:extLst xmlns:a="http://schemas.openxmlformats.org/drawingml/2006/main">
              <a:ext uri="{FF2B5EF4-FFF2-40B4-BE49-F238E27FC236}">
                <a16:creationId xmlns:a16="http://schemas.microsoft.com/office/drawing/2014/main" id="{05D38EA3-67F9-46AF-AD86-533465B895EC}"/>
              </a:ext>
            </a:extLst>
          </p:cNvPr>
          <p:cNvSpPr>
            <a:spLocks xmlns:a="http://schemas.openxmlformats.org/drawingml/2006/main" noGrp="1"/>
          </p:cNvSpPr>
          <p:nvPr/>
        </p:nvSpPr>
        <p:spPr>
          <a:xfrm xmlns:a="http://schemas.openxmlformats.org/drawingml/2006/main">
            <a:off x="7315200" y="27881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FA484C95-6E81-4720-8101-C11423913B61}"/>
              </a:ext>
            </a:extLst>
          </p:cNvPr>
          <p:cNvSpPr>
            <a:spLocks xmlns:a="http://schemas.openxmlformats.org/drawingml/2006/main" noGrp="1"/>
          </p:cNvSpPr>
          <p:nvPr/>
        </p:nvSpPr>
        <p:spPr>
          <a:xfrm xmlns:a="http://schemas.openxmlformats.org/drawingml/2006/main">
            <a:off x="7448550" y="29310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C04DC799-5754-4FA5-8D44-A1AECAC7803E}"/>
              </a:ext>
            </a:extLst>
          </p:cNvPr>
          <p:cNvSpPr>
            <a:spLocks xmlns:a="http://schemas.openxmlformats.org/drawingml/2006/main" noGrp="1"/>
          </p:cNvSpPr>
          <p:nvPr/>
        </p:nvSpPr>
        <p:spPr>
          <a:xfrm xmlns:a="http://schemas.openxmlformats.org/drawingml/2006/main">
            <a:off x="7772400" y="28262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Stays fixed at 0-430 -- matplotlib remembers the original scale</a:t>
            </a:r>
          </a:p>
        </p:txBody>
      </p:sp>
      <p:sp>
        <p:nvSpPr>
          <p:cNvPr id="12" name="opt-1">
            <a:extLst xmlns:a="http://schemas.openxmlformats.org/drawingml/2006/main">
              <a:ext uri="{FF2B5EF4-FFF2-40B4-BE49-F238E27FC236}">
                <a16:creationId xmlns:a16="http://schemas.microsoft.com/office/drawing/2014/main" id="{E1C12907-350D-4EF4-8621-E0D094FC5799}"/>
              </a:ext>
            </a:extLst>
          </p:cNvPr>
          <p:cNvSpPr>
            <a:spLocks xmlns:a="http://schemas.openxmlformats.org/drawingml/2006/main" noGrp="1"/>
          </p:cNvSpPr>
          <p:nvPr/>
        </p:nvSpPr>
        <p:spPr>
          <a:xfrm xmlns:a="http://schemas.openxmlformats.org/drawingml/2006/main">
            <a:off x="7315200" y="33596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737C8BC6-4222-4121-95A0-FD6580E34FAA}"/>
              </a:ext>
            </a:extLst>
          </p:cNvPr>
          <p:cNvSpPr>
            <a:spLocks xmlns:a="http://schemas.openxmlformats.org/drawingml/2006/main" noGrp="1"/>
          </p:cNvSpPr>
          <p:nvPr/>
        </p:nvSpPr>
        <p:spPr>
          <a:xfrm xmlns:a="http://schemas.openxmlformats.org/drawingml/2006/main">
            <a:off x="7448550" y="35025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E8A887F8-1B0D-4C1B-AD57-F10F84CB15E3}"/>
              </a:ext>
            </a:extLst>
          </p:cNvPr>
          <p:cNvSpPr>
            <a:spLocks xmlns:a="http://schemas.openxmlformats.org/drawingml/2006/main" noGrp="1"/>
          </p:cNvSpPr>
          <p:nvPr/>
        </p:nvSpPr>
        <p:spPr>
          <a:xfrm xmlns:a="http://schemas.openxmlformats.org/drawingml/2006/main">
            <a:off x="7772400" y="33977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Autorescales to fit only the bars shown so far -- early bars can look as tall as R306's</a:t>
            </a:r>
          </a:p>
        </p:txBody>
      </p:sp>
      <p:sp>
        <p:nvSpPr>
          <p:cNvPr id="15" name="opt-2">
            <a:extLst xmlns:a="http://schemas.openxmlformats.org/drawingml/2006/main">
              <a:ext uri="{FF2B5EF4-FFF2-40B4-BE49-F238E27FC236}">
                <a16:creationId xmlns:a16="http://schemas.microsoft.com/office/drawing/2014/main" id="{99BD1C7F-B796-493A-8598-04D79E84C1CB}"/>
              </a:ext>
            </a:extLst>
          </p:cNvPr>
          <p:cNvSpPr>
            <a:spLocks xmlns:a="http://schemas.openxmlformats.org/drawingml/2006/main" noGrp="1"/>
          </p:cNvSpPr>
          <p:nvPr/>
        </p:nvSpPr>
        <p:spPr>
          <a:xfrm xmlns:a="http://schemas.openxmlformats.org/drawingml/2006/main">
            <a:off x="7315200" y="39311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94F83CB7-6423-4485-89EE-99C7734BF94A}"/>
              </a:ext>
            </a:extLst>
          </p:cNvPr>
          <p:cNvSpPr>
            <a:spLocks xmlns:a="http://schemas.openxmlformats.org/drawingml/2006/main" noGrp="1"/>
          </p:cNvSpPr>
          <p:nvPr/>
        </p:nvSpPr>
        <p:spPr>
          <a:xfrm xmlns:a="http://schemas.openxmlformats.org/drawingml/2006/main">
            <a:off x="7448550" y="40740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A6890DD2-0B29-4D77-B4C0-D75A0FC62EF9}"/>
              </a:ext>
            </a:extLst>
          </p:cNvPr>
          <p:cNvSpPr>
            <a:spLocks xmlns:a="http://schemas.openxmlformats.org/drawingml/2006/main" noGrp="1"/>
          </p:cNvSpPr>
          <p:nvPr/>
        </p:nvSpPr>
        <p:spPr>
          <a:xfrm xmlns:a="http://schemas.openxmlformats.org/drawingml/2006/main">
            <a:off x="7772400" y="39692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FuncAnimation errors -- limits must be set once outside update()</a:t>
            </a:r>
          </a:p>
        </p:txBody>
      </p:sp>
      <p:sp>
        <p:nvSpPr>
          <p:cNvPr id="18" name="opt-3">
            <a:extLst xmlns:a="http://schemas.openxmlformats.org/drawingml/2006/main">
              <a:ext uri="{FF2B5EF4-FFF2-40B4-BE49-F238E27FC236}">
                <a16:creationId xmlns:a16="http://schemas.microsoft.com/office/drawing/2014/main" id="{EE8470BC-DC97-4732-9470-15E4DBCE655A}"/>
              </a:ext>
            </a:extLst>
          </p:cNvPr>
          <p:cNvSpPr>
            <a:spLocks xmlns:a="http://schemas.openxmlformats.org/drawingml/2006/main" noGrp="1"/>
          </p:cNvSpPr>
          <p:nvPr/>
        </p:nvSpPr>
        <p:spPr>
          <a:xfrm xmlns:a="http://schemas.openxmlformats.org/drawingml/2006/main">
            <a:off x="7315200" y="45026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F0CD2351-EE03-4998-BBA7-93AB116A8458}"/>
              </a:ext>
            </a:extLst>
          </p:cNvPr>
          <p:cNvSpPr>
            <a:spLocks xmlns:a="http://schemas.openxmlformats.org/drawingml/2006/main" noGrp="1"/>
          </p:cNvSpPr>
          <p:nvPr/>
        </p:nvSpPr>
        <p:spPr>
          <a:xfrm xmlns:a="http://schemas.openxmlformats.org/drawingml/2006/main">
            <a:off x="7448550" y="46455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83B0341B-C439-49A5-A665-C5F749526912}"/>
              </a:ext>
            </a:extLst>
          </p:cNvPr>
          <p:cNvSpPr>
            <a:spLocks xmlns:a="http://schemas.openxmlformats.org/drawingml/2006/main" noGrp="1"/>
          </p:cNvSpPr>
          <p:nvPr/>
        </p:nvSpPr>
        <p:spPr>
          <a:xfrm xmlns:a="http://schemas.openxmlformats.org/drawingml/2006/main">
            <a:off x="7772400" y="45407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Old bars stay drawn on top, since ax.clear() removes labels but not bars</a:t>
            </a:r>
          </a:p>
        </p:txBody>
      </p:sp>
      <p:sp>
        <p:nvSpPr>
          <p:cNvPr id="21" name="answer-panel">
            <a:extLst xmlns:a="http://schemas.openxmlformats.org/drawingml/2006/main">
              <a:ext uri="{FF2B5EF4-FFF2-40B4-BE49-F238E27FC236}">
                <a16:creationId xmlns:a16="http://schemas.microsoft.com/office/drawing/2014/main" id="{CF3DF5C1-A26A-4BF9-9D8E-3E484F23AED9}"/>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82676B42-1EA9-4EF7-A07F-93DB24F67FD1}"/>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B</a:t>
            </a:r>
          </a:p>
        </p:txBody>
      </p:sp>
      <p:sp>
        <p:nvSpPr>
          <p:cNvPr id="23" name="why">
            <a:extLst xmlns:a="http://schemas.openxmlformats.org/drawingml/2006/main">
              <a:ext uri="{FF2B5EF4-FFF2-40B4-BE49-F238E27FC236}">
                <a16:creationId xmlns:a16="http://schemas.microsoft.com/office/drawing/2014/main" id="{58887E66-4CB5-46A9-900B-9CFCD2A46E1A}"/>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Verified: ax.clear() wipes stored limits; each new bar() autoscales y to that frame's own max value, not a fixed scale.</a:t>
            </a:r>
          </a:p>
        </p:txBody>
      </p:sp>
    </p:spTree>
    <p:extLst>
      <p:ext uri="{BB962C8B-B14F-4D97-AF65-F5344CB8AC3E}">
        <p14:creationId xmlns:p14="http://schemas.microsoft.com/office/powerpoint/2010/main" val="61226358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B635DDAA-D940-4293-990C-EC659491C1C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A6DF9ECA-6B85-41F5-AFFB-0913E2F2E4A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23 frames, one room revealed at a time</a:t>
            </a:r>
          </a:p>
        </p:txBody>
      </p:sp>
      <p:sp>
        <p:nvSpPr>
          <p:cNvPr id="3" name="">
            <a:extLst xmlns:a="http://schemas.openxmlformats.org/drawingml/2006/main">
              <a:ext uri="{FF2B5EF4-FFF2-40B4-BE49-F238E27FC236}">
                <a16:creationId xmlns:a16="http://schemas.microsoft.com/office/drawing/2014/main" id="{6F7441CD-4CA0-4672-A577-428B8F99DD5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D92ED71-5A3B-4C57-8132-C5EE6CF45B3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B1AF4060-3FB5-4C55-B36B-417F391E3F4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30</a:t>
            </a:r>
          </a:p>
        </p:txBody>
      </p:sp>
      <p:sp>
        <p:nvSpPr>
          <p:cNvPr id="6" name="code-panel">
            <a:extLst xmlns:a="http://schemas.openxmlformats.org/drawingml/2006/main">
              <a:ext uri="{FF2B5EF4-FFF2-40B4-BE49-F238E27FC236}">
                <a16:creationId xmlns:a16="http://schemas.microsoft.com/office/drawing/2014/main" id="{F86D3DBC-38AB-4343-8DB8-C7B7B80BE371}"/>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CE5C3BB5-E88F-469D-B185-69A7F033DCE1}"/>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import matplotlib.animation as animation</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plot_df = df.dropna(subset=["energy_kwh_m2_yr"]).sort_values("energy_kwh_m2_yr").reset_index(drop=True)</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n = len(plot_df)</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fig, ax = plt.subplots(figsize=(7, 4))</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def update(frame):</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    ax.clear()</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    shown = plot_df.iloc[: frame + 1]</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    ax.bar(shown["room_id"], shown["energy_kwh_m2_yr"])</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    ax.set_xlim(-0.5, n - 0.5)</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    ax.set_ylim(0, 430)</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    ax.set_xlabel("Room (sorted low to high)")</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    ax.set_ylabel("Energy (kWh/m2/yr)")</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    ax.set_title(f"{frame + 1} of {n} rooms")</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ani = animation.FuncAnimation(fig, update, frames=n)</a:t>
            </a:r>
          </a:p>
        </p:txBody>
      </p:sp>
      <p:sp>
        <p:nvSpPr>
          <p:cNvPr id="8" name="explain-head">
            <a:extLst xmlns:a="http://schemas.openxmlformats.org/drawingml/2006/main">
              <a:ext uri="{FF2B5EF4-FFF2-40B4-BE49-F238E27FC236}">
                <a16:creationId xmlns:a16="http://schemas.microsoft.com/office/drawing/2014/main" id="{E77C72BB-EF2D-49A2-921D-01766DA330D6}"/>
              </a:ext>
            </a:extLst>
          </p:cNvPr>
          <p:cNvSpPr>
            <a:spLocks xmlns:a="http://schemas.openxmlformats.org/drawingml/2006/main" noGrp="1"/>
          </p:cNvSpPr>
          <p:nvPr/>
        </p:nvSpPr>
        <p:spPr>
          <a:xfrm xmlns:a="http://schemas.openxmlformats.org/drawingml/2006/main">
            <a:off x="7886700" y="23717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Nothing is animated yet -- only assembled</a:t>
            </a:r>
          </a:p>
        </p:txBody>
      </p:sp>
      <p:sp>
        <p:nvSpPr>
          <p:cNvPr id="9" name="explain-body">
            <a:extLst xmlns:a="http://schemas.openxmlformats.org/drawingml/2006/main">
              <a:ext uri="{FF2B5EF4-FFF2-40B4-BE49-F238E27FC236}">
                <a16:creationId xmlns:a16="http://schemas.microsoft.com/office/drawing/2014/main" id="{0FF2F817-5C34-4EE6-92FF-FBBABE69EE6D}"/>
              </a:ext>
            </a:extLst>
          </p:cNvPr>
          <p:cNvSpPr>
            <a:spLocks xmlns:a="http://schemas.openxmlformats.org/drawingml/2006/main" noGrp="1"/>
          </p:cNvSpPr>
          <p:nvPr/>
        </p:nvSpPr>
        <p:spPr>
          <a:xfrm xmlns:a="http://schemas.openxmlformats.org/drawingml/2006/main">
            <a:off x="7886700" y="3157347"/>
            <a:ext cx="3695700" cy="20650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Frame 0 shows only the lowest-energy room; each later frame adds one more bar, in ascending order, until frame 22 shows all 23 rooms with R306's tall bar arriving last. set_xlim/set_ylim are re-set every frame -- exactly the two lines the previous predict removed -- so bar heights stay comparable across frames.</a:t>
            </a:r>
          </a:p>
        </p:txBody>
      </p:sp>
    </p:spTree>
    <p:extLst>
      <p:ext uri="{BB962C8B-B14F-4D97-AF65-F5344CB8AC3E}">
        <p14:creationId xmlns:p14="http://schemas.microsoft.com/office/powerpoint/2010/main" val="59331352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82E59C39-5F3B-41E9-BC48-A885F2C6A28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EC2EDC2F-EA8A-42F0-A0AE-B93DF4DA2B7F}"/>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Save the sequence as one shareable .gif</a:t>
            </a:r>
          </a:p>
        </p:txBody>
      </p:sp>
      <p:sp>
        <p:nvSpPr>
          <p:cNvPr id="3" name="">
            <a:extLst xmlns:a="http://schemas.openxmlformats.org/drawingml/2006/main">
              <a:ext uri="{FF2B5EF4-FFF2-40B4-BE49-F238E27FC236}">
                <a16:creationId xmlns:a16="http://schemas.microsoft.com/office/drawing/2014/main" id="{41260DCD-834F-4AA5-9644-EAC4356D2C7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CA67FA8-5B70-41E5-8FA8-3876CA5657F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4461E6F2-2207-49C7-B5D2-2C058BE4A5B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31</a:t>
            </a:r>
          </a:p>
        </p:txBody>
      </p:sp>
      <p:sp>
        <p:nvSpPr>
          <p:cNvPr id="6" name="code-panel">
            <a:extLst xmlns:a="http://schemas.openxmlformats.org/drawingml/2006/main">
              <a:ext uri="{FF2B5EF4-FFF2-40B4-BE49-F238E27FC236}">
                <a16:creationId xmlns:a16="http://schemas.microsoft.com/office/drawing/2014/main" id="{E2E644ED-1150-4223-AA8D-DA71714E65DB}"/>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CDF6DAF9-DADB-40F0-8964-B63D40B18151}"/>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import matplotlib.animation as animation</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ani.save("energy_reporting.gif", writer="pillow", fps=5)</a:t>
            </a:r>
          </a:p>
        </p:txBody>
      </p:sp>
      <p:sp>
        <p:nvSpPr>
          <p:cNvPr id="8" name="explain-head">
            <a:extLst xmlns:a="http://schemas.openxmlformats.org/drawingml/2006/main">
              <a:ext uri="{FF2B5EF4-FFF2-40B4-BE49-F238E27FC236}">
                <a16:creationId xmlns:a16="http://schemas.microsoft.com/office/drawing/2014/main" id="{6B444D37-6777-4D8F-8A25-B8D50DE1CCCD}"/>
              </a:ext>
            </a:extLst>
          </p:cNvPr>
          <p:cNvSpPr>
            <a:spLocks xmlns:a="http://schemas.openxmlformats.org/drawingml/2006/main" noGrp="1"/>
          </p:cNvSpPr>
          <p:nvPr/>
        </p:nvSpPr>
        <p:spPr>
          <a:xfrm xmlns:a="http://schemas.openxmlformats.org/drawingml/2006/main">
            <a:off x="7886700" y="2266950"/>
            <a:ext cx="3695700" cy="9212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One file, playable anywhere, no Python required to view it</a:t>
            </a:r>
          </a:p>
        </p:txBody>
      </p:sp>
      <p:sp>
        <p:nvSpPr>
          <p:cNvPr id="9" name="explain-body">
            <a:extLst xmlns:a="http://schemas.openxmlformats.org/drawingml/2006/main">
              <a:ext uri="{FF2B5EF4-FFF2-40B4-BE49-F238E27FC236}">
                <a16:creationId xmlns:a16="http://schemas.microsoft.com/office/drawing/2014/main" id="{F79F9C3F-D4F1-4257-8B4C-D774B908A717}"/>
              </a:ext>
            </a:extLst>
          </p:cNvPr>
          <p:cNvSpPr>
            <a:spLocks xmlns:a="http://schemas.openxmlformats.org/drawingml/2006/main" noGrp="1"/>
          </p:cNvSpPr>
          <p:nvPr/>
        </p:nvSpPr>
        <p:spPr>
          <a:xfrm xmlns:a="http://schemas.openxmlformats.org/drawingml/2006/main">
            <a:off x="7886700" y="3340608"/>
            <a:ext cx="3695700" cy="20650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ani.save() renders every one of the 23 frames and writes them into a single .gif using the Pillow writer (installed alongside Matplotlib). No plt.show() call is needed -- check the Files pane in Spyder for energy_reporting.gif once this cell finishes running. This is the deliverable a caption should accompany, not a lecture-only demo.</a:t>
            </a:r>
          </a:p>
        </p:txBody>
      </p:sp>
    </p:spTree>
    <p:extLst>
      <p:ext uri="{BB962C8B-B14F-4D97-AF65-F5344CB8AC3E}">
        <p14:creationId xmlns:p14="http://schemas.microsoft.com/office/powerpoint/2010/main" val="108208372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6F7A7424-C901-4CEC-893E-346FADE9020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PRINCIPLE</a:t>
            </a:r>
          </a:p>
        </p:txBody>
      </p:sp>
      <p:sp>
        <p:nvSpPr>
          <p:cNvPr id="2" name="title">
            <a:extLst xmlns:a="http://schemas.openxmlformats.org/drawingml/2006/main">
              <a:ext uri="{FF2B5EF4-FFF2-40B4-BE49-F238E27FC236}">
                <a16:creationId xmlns:a16="http://schemas.microsoft.com/office/drawing/2014/main" id="{983D8C0A-22E5-4551-B880-184AF8DCED8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Static and dynamic are two forms of evidence, not one primary and one extra</a:t>
            </a:r>
          </a:p>
        </p:txBody>
      </p:sp>
      <p:sp>
        <p:nvSpPr>
          <p:cNvPr id="3" name="">
            <a:extLst xmlns:a="http://schemas.openxmlformats.org/drawingml/2006/main">
              <a:ext uri="{FF2B5EF4-FFF2-40B4-BE49-F238E27FC236}">
                <a16:creationId xmlns:a16="http://schemas.microsoft.com/office/drawing/2014/main" id="{3ED00CE1-CD9D-4943-8AC5-E1FD62ED9C9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92B5560-7937-4930-BC2B-88A75599CAF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94DC1E46-8934-48B4-98AF-22A843B3866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32</a:t>
            </a:r>
          </a:p>
        </p:txBody>
      </p:sp>
      <p:sp>
        <p:nvSpPr>
          <p:cNvPr id="6" name="statement">
            <a:extLst xmlns:a="http://schemas.openxmlformats.org/drawingml/2006/main">
              <a:ext uri="{FF2B5EF4-FFF2-40B4-BE49-F238E27FC236}">
                <a16:creationId xmlns:a16="http://schemas.microsoft.com/office/drawing/2014/main" id="{8EB18050-FE91-4F3F-8A1C-98E8EB9B529C}"/>
              </a:ext>
            </a:extLst>
          </p:cNvPr>
          <p:cNvSpPr>
            <a:spLocks xmlns:a="http://schemas.openxmlformats.org/drawingml/2006/main" noGrp="1"/>
          </p:cNvSpPr>
          <p:nvPr/>
        </p:nvSpPr>
        <p:spPr>
          <a:xfrm xmlns:a="http://schemas.openxmlformats.org/drawingml/2006/main">
            <a:off x="609600" y="2076450"/>
            <a:ext cx="9829800" cy="20513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11316"/>
                </a:solidFill>
                <a:latin typeface="Arial"/>
                <a:ea typeface="Arial"/>
                <a:cs typeface="Arial"/>
              </a:defRPr>
            </a:pPr>
            <a:r>
              <a:rPr sz="3600" b="1">
                <a:solidFill>
                  <a:srgbClr val="111316"/>
                </a:solidFill>
                <a:latin typeface="Arial"/>
                <a:ea typeface="Arial"/>
                <a:cs typeface="Arial"/>
              </a:rPr>
              <a:t>A static figure shows a finished claim. A .gif shows how that claim was built, room by room -- this week teaches both with equal depth and equal rigor.</a:t>
            </a:r>
          </a:p>
        </p:txBody>
      </p:sp>
      <p:sp>
        <p:nvSpPr>
          <p:cNvPr id="7" name="">
            <a:extLst xmlns:a="http://schemas.openxmlformats.org/drawingml/2006/main">
              <a:ext uri="{FF2B5EF4-FFF2-40B4-BE49-F238E27FC236}">
                <a16:creationId xmlns:a16="http://schemas.microsoft.com/office/drawing/2014/main" id="{B2DDDB38-363B-474E-9876-AC0C32F23026}"/>
              </a:ext>
            </a:extLst>
          </p:cNvPr>
          <p:cNvSpPr>
            <a:spLocks xmlns:a="http://schemas.openxmlformats.org/drawingml/2006/main" noGrp="1"/>
          </p:cNvSpPr>
          <p:nvPr/>
        </p:nvSpPr>
        <p:spPr>
          <a:xfrm xmlns:a="http://schemas.openxmlformats.org/drawingml/2006/main">
            <a:off x="609600" y="4337304"/>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8" name="supporting">
            <a:extLst xmlns:a="http://schemas.openxmlformats.org/drawingml/2006/main">
              <a:ext uri="{FF2B5EF4-FFF2-40B4-BE49-F238E27FC236}">
                <a16:creationId xmlns:a16="http://schemas.microsoft.com/office/drawing/2014/main" id="{9F093459-D279-46CD-BF17-EB6200D1CEFC}"/>
              </a:ext>
            </a:extLst>
          </p:cNvPr>
          <p:cNvSpPr>
            <a:spLocks xmlns:a="http://schemas.openxmlformats.org/drawingml/2006/main" noGrp="1"/>
          </p:cNvSpPr>
          <p:nvPr/>
        </p:nvSpPr>
        <p:spPr>
          <a:xfrm xmlns:a="http://schemas.openxmlformats.org/drawingml/2006/main">
            <a:off x="609600" y="4661154"/>
            <a:ext cx="9334500" cy="8717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Project 1 Part III needs exactly two static figures, built with today's fig, ax pattern. Part IV then asks you to choose ONE evidence extension -- a FuncAnimation .gif (this week) or a GeoPandas map (Week 7) -- not both, and not neither.</a:t>
            </a:r>
          </a:p>
        </p:txBody>
      </p:sp>
    </p:spTree>
    <p:extLst>
      <p:ext uri="{BB962C8B-B14F-4D97-AF65-F5344CB8AC3E}">
        <p14:creationId xmlns:p14="http://schemas.microsoft.com/office/powerpoint/2010/main" val="123407035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BB992DAB-6DCB-4E59-BD79-988B591D5CF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FBF8C0C9-0BB0-4CB4-8F34-8B8EA707749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Transfer the encoding: four architectural questions</a:t>
            </a:r>
          </a:p>
        </p:txBody>
      </p:sp>
      <p:sp>
        <p:nvSpPr>
          <p:cNvPr id="3" name="">
            <a:extLst xmlns:a="http://schemas.openxmlformats.org/drawingml/2006/main">
              <a:ext uri="{FF2B5EF4-FFF2-40B4-BE49-F238E27FC236}">
                <a16:creationId xmlns:a16="http://schemas.microsoft.com/office/drawing/2014/main" id="{1018D52D-AE9C-471C-A7AA-5EC990E5F0E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397663E-8A20-473E-977F-6D4B9D84099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65E101FA-B78E-4B0C-B3DB-5F8A07D7FDD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33</a:t>
            </a:r>
          </a:p>
        </p:txBody>
      </p:sp>
      <p:sp>
        <p:nvSpPr>
          <p:cNvPr id="6" name="exercise-accent">
            <a:extLst xmlns:a="http://schemas.openxmlformats.org/drawingml/2006/main">
              <a:ext uri="{FF2B5EF4-FFF2-40B4-BE49-F238E27FC236}">
                <a16:creationId xmlns:a16="http://schemas.microsoft.com/office/drawing/2014/main" id="{1286CD39-6B36-4CBB-9A5D-31A8C52A947F}"/>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F54CB7B7-8DF4-40D8-9C57-1ECFFA99C9D2}"/>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Choose the visual form from the decision question—not from habit. No code required.</a:t>
            </a:r>
          </a:p>
        </p:txBody>
      </p:sp>
      <p:sp>
        <p:nvSpPr>
          <p:cNvPr id="8" name="work-label">
            <a:extLst xmlns:a="http://schemas.openxmlformats.org/drawingml/2006/main">
              <a:ext uri="{FF2B5EF4-FFF2-40B4-BE49-F238E27FC236}">
                <a16:creationId xmlns:a16="http://schemas.microsoft.com/office/drawing/2014/main" id="{A6B5D4D0-DA31-4128-9CFB-6C1B1877A845}"/>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8FDB6ED6-75B4-474A-B46D-EFA81CB98ECE}"/>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A7016312-6E61-4DA3-B763-2520850937EE}"/>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Room-area spread → choose a distribution view and label m².</a:t>
            </a:r>
          </a:p>
        </p:txBody>
      </p:sp>
      <p:sp>
        <p:nvSpPr>
          <p:cNvPr id="11" name="exercise-no-1">
            <a:extLst xmlns:a="http://schemas.openxmlformats.org/drawingml/2006/main">
              <a:ext uri="{FF2B5EF4-FFF2-40B4-BE49-F238E27FC236}">
                <a16:creationId xmlns:a16="http://schemas.microsoft.com/office/drawing/2014/main" id="{3CCD3DB4-DFC4-4A89-A3B8-8F5A2464F351}"/>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145531FE-0E67-4B02-A715-D6CF101B176C}"/>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Embodied carbon by assembly → choose a comparison view and label kgCO₂e.</a:t>
            </a:r>
          </a:p>
        </p:txBody>
      </p:sp>
      <p:sp>
        <p:nvSpPr>
          <p:cNvPr id="13" name="exercise-no-2">
            <a:extLst xmlns:a="http://schemas.openxmlformats.org/drawingml/2006/main">
              <a:ext uri="{FF2B5EF4-FFF2-40B4-BE49-F238E27FC236}">
                <a16:creationId xmlns:a16="http://schemas.microsoft.com/office/drawing/2014/main" id="{B3997DC1-5132-42D1-8090-CEF2550C1CDD}"/>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F12515C7-BD59-4198-8415-C9EE1E62F271}"/>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WWR versus simulated EUI → choose a relationship view and identify a useful annotation.</a:t>
            </a:r>
          </a:p>
        </p:txBody>
      </p:sp>
      <p:sp>
        <p:nvSpPr>
          <p:cNvPr id="15" name="exercise-no-3">
            <a:extLst xmlns:a="http://schemas.openxmlformats.org/drawingml/2006/main">
              <a:ext uri="{FF2B5EF4-FFF2-40B4-BE49-F238E27FC236}">
                <a16:creationId xmlns:a16="http://schemas.microsoft.com/office/drawing/2014/main" id="{4AC1585E-C988-4AD2-B2B2-3B9A7004D212}"/>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8FF2D436-E46A-4573-91E3-8F35A20E4529}"/>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Monthly overheating hours → choose a change-over-time view and state whether animation adds evidence.</a:t>
            </a:r>
          </a:p>
        </p:txBody>
      </p:sp>
    </p:spTree>
    <p:extLst>
      <p:ext uri="{BB962C8B-B14F-4D97-AF65-F5344CB8AC3E}">
        <p14:creationId xmlns:p14="http://schemas.microsoft.com/office/powerpoint/2010/main" val="186045870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E48B2D55-5B60-4681-8BBD-ECDDD5C3C66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2026 VISUALIZATION HORIZON</a:t>
            </a:r>
          </a:p>
        </p:txBody>
      </p:sp>
      <p:sp>
        <p:nvSpPr>
          <p:cNvPr id="2" name="title">
            <a:extLst xmlns:a="http://schemas.openxmlformats.org/drawingml/2006/main">
              <a:ext uri="{FF2B5EF4-FFF2-40B4-BE49-F238E27FC236}">
                <a16:creationId xmlns:a16="http://schemas.microsoft.com/office/drawing/2014/main" id="{0BF7F247-E328-4AC1-A655-D468F9E0E9E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current visualization workflow separates evidence from delivery</a:t>
            </a:r>
          </a:p>
        </p:txBody>
      </p:sp>
      <p:sp>
        <p:nvSpPr>
          <p:cNvPr id="3" name="">
            <a:extLst xmlns:a="http://schemas.openxmlformats.org/drawingml/2006/main">
              <a:ext uri="{FF2B5EF4-FFF2-40B4-BE49-F238E27FC236}">
                <a16:creationId xmlns:a16="http://schemas.microsoft.com/office/drawing/2014/main" id="{284A2E54-958C-42E3-9578-3FFBB7FA1916}"/>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415AF2F-15D4-4585-8F1C-90DD9AD06FA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6 · Meeting A · Visual Reasoning: Static and Dynamic Evidence</a:t>
            </a:r>
          </a:p>
        </p:txBody>
      </p:sp>
      <p:sp>
        <p:nvSpPr>
          <p:cNvPr id="5" name="page">
            <a:extLst xmlns:a="http://schemas.openxmlformats.org/drawingml/2006/main">
              <a:ext uri="{FF2B5EF4-FFF2-40B4-BE49-F238E27FC236}">
                <a16:creationId xmlns:a16="http://schemas.microsoft.com/office/drawing/2014/main" id="{7E7D97F3-3687-40CA-9731-86C7A2F366B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34</a:t>
            </a:r>
          </a:p>
        </p:txBody>
      </p:sp>
      <p:sp>
        <p:nvSpPr>
          <p:cNvPr id="6" name="step-arrow-0">
            <a:extLst xmlns:a="http://schemas.openxmlformats.org/drawingml/2006/main">
              <a:ext uri="{FF2B5EF4-FFF2-40B4-BE49-F238E27FC236}">
                <a16:creationId xmlns:a16="http://schemas.microsoft.com/office/drawing/2014/main" id="{B472B4FA-B62B-44AF-B0C7-D6C38B701D57}"/>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95B943DD-A032-4405-922E-877D2167655C}"/>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5B8BA68C-0985-4041-948D-8AEB35C01357}"/>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6072300D-29AE-4921-8BCB-32AD4DD54FA8}"/>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54303488-9C4E-4FA7-B183-6E47CA45FF6C}"/>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9757C676-D688-4152-A246-6A5A04F485CD}"/>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QUESTION</a:t>
            </a:r>
          </a:p>
        </p:txBody>
      </p:sp>
      <p:sp>
        <p:nvSpPr>
          <p:cNvPr id="12" name="">
            <a:extLst xmlns:a="http://schemas.openxmlformats.org/drawingml/2006/main">
              <a:ext uri="{FF2B5EF4-FFF2-40B4-BE49-F238E27FC236}">
                <a16:creationId xmlns:a16="http://schemas.microsoft.com/office/drawing/2014/main" id="{CEEBCA74-DA05-4E98-9FAB-604EE130A64F}"/>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5FACA83F-14B1-45C6-B92E-A0EAFB2ED162}"/>
              </a:ext>
            </a:extLst>
          </p:cNvPr>
          <p:cNvSpPr>
            <a:spLocks xmlns:a="http://schemas.openxmlformats.org/drawingml/2006/main" noGrp="1"/>
          </p:cNvSpPr>
          <p:nvPr/>
        </p:nvSpPr>
        <p:spPr>
          <a:xfrm xmlns:a="http://schemas.openxmlformats.org/drawingml/2006/main">
            <a:off x="8001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Name the comparison</a:t>
            </a:r>
          </a:p>
        </p:txBody>
      </p:sp>
      <p:sp>
        <p:nvSpPr>
          <p:cNvPr id="14" name="step-body-0">
            <a:extLst xmlns:a="http://schemas.openxmlformats.org/drawingml/2006/main">
              <a:ext uri="{FF2B5EF4-FFF2-40B4-BE49-F238E27FC236}">
                <a16:creationId xmlns:a16="http://schemas.microsoft.com/office/drawing/2014/main" id="{2051490D-59BE-4075-96AA-C5DA97533EB9}"/>
              </a:ext>
            </a:extLst>
          </p:cNvPr>
          <p:cNvSpPr>
            <a:spLocks xmlns:a="http://schemas.openxmlformats.org/drawingml/2006/main" noGrp="1"/>
          </p:cNvSpPr>
          <p:nvPr/>
        </p:nvSpPr>
        <p:spPr>
          <a:xfrm xmlns:a="http://schemas.openxmlformats.org/drawingml/2006/main">
            <a:off x="8001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Distribution, comparison, relationship, change, spatial pattern, or uncertainty comes before a chart type.</a:t>
            </a:r>
          </a:p>
        </p:txBody>
      </p:sp>
      <p:sp>
        <p:nvSpPr>
          <p:cNvPr id="15" name="step-node-1">
            <a:extLst xmlns:a="http://schemas.openxmlformats.org/drawingml/2006/main">
              <a:ext uri="{FF2B5EF4-FFF2-40B4-BE49-F238E27FC236}">
                <a16:creationId xmlns:a16="http://schemas.microsoft.com/office/drawing/2014/main" id="{4A076DEC-B8B0-4530-A496-1A454BAB1D60}"/>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3AF3E230-BE18-4A8E-95C4-55AF329A94DD}"/>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34962CAA-8D42-4A45-971B-5DB00F917A41}"/>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SPECIFY</a:t>
            </a:r>
          </a:p>
        </p:txBody>
      </p:sp>
      <p:sp>
        <p:nvSpPr>
          <p:cNvPr id="18" name="">
            <a:extLst xmlns:a="http://schemas.openxmlformats.org/drawingml/2006/main">
              <a:ext uri="{FF2B5EF4-FFF2-40B4-BE49-F238E27FC236}">
                <a16:creationId xmlns:a16="http://schemas.microsoft.com/office/drawing/2014/main" id="{B058885F-A5B0-44C2-BEA8-889ACA4F8A6D}"/>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B4AF5690-FBE1-4980-B937-984D83DEA016}"/>
              </a:ext>
            </a:extLst>
          </p:cNvPr>
          <p:cNvSpPr>
            <a:spLocks xmlns:a="http://schemas.openxmlformats.org/drawingml/2006/main" noGrp="1"/>
          </p:cNvSpPr>
          <p:nvPr/>
        </p:nvSpPr>
        <p:spPr>
          <a:xfrm xmlns:a="http://schemas.openxmlformats.org/drawingml/2006/main">
            <a:off x="36004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Make the view reproducible</a:t>
            </a:r>
          </a:p>
        </p:txBody>
      </p:sp>
      <p:sp>
        <p:nvSpPr>
          <p:cNvPr id="20" name="step-body-1">
            <a:extLst xmlns:a="http://schemas.openxmlformats.org/drawingml/2006/main">
              <a:ext uri="{FF2B5EF4-FFF2-40B4-BE49-F238E27FC236}">
                <a16:creationId xmlns:a16="http://schemas.microsoft.com/office/drawing/2014/main" id="{84F8D36F-848C-4B48-B89D-6C734E94D78B}"/>
              </a:ext>
            </a:extLst>
          </p:cNvPr>
          <p:cNvSpPr>
            <a:spLocks xmlns:a="http://schemas.openxmlformats.org/drawingml/2006/main" noGrp="1"/>
          </p:cNvSpPr>
          <p:nvPr/>
        </p:nvSpPr>
        <p:spPr>
          <a:xfrm xmlns:a="http://schemas.openxmlformats.org/drawingml/2006/main">
            <a:off x="36004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Code or a declarative specification should rebuild the same encodings, filters, labels, and scales.</a:t>
            </a:r>
          </a:p>
        </p:txBody>
      </p:sp>
      <p:sp>
        <p:nvSpPr>
          <p:cNvPr id="21" name="step-node-2">
            <a:extLst xmlns:a="http://schemas.openxmlformats.org/drawingml/2006/main">
              <a:ext uri="{FF2B5EF4-FFF2-40B4-BE49-F238E27FC236}">
                <a16:creationId xmlns:a16="http://schemas.microsoft.com/office/drawing/2014/main" id="{CFDEB96C-C859-4C4B-8A5F-DF96EF00F65A}"/>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BCB6D5BA-BA88-48C6-B412-B7068044C4A6}"/>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9ECD7726-95D1-4461-9D73-6D7A3945FB20}"/>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ACCESS</a:t>
            </a:r>
          </a:p>
        </p:txBody>
      </p:sp>
      <p:sp>
        <p:nvSpPr>
          <p:cNvPr id="24" name="">
            <a:extLst xmlns:a="http://schemas.openxmlformats.org/drawingml/2006/main">
              <a:ext uri="{FF2B5EF4-FFF2-40B4-BE49-F238E27FC236}">
                <a16:creationId xmlns:a16="http://schemas.microsoft.com/office/drawing/2014/main" id="{E5DD084D-6854-49EE-B3EB-9A84FAB647A9}"/>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0F0FFAFC-61BF-476D-8B70-4F3C6B3507B7}"/>
              </a:ext>
            </a:extLst>
          </p:cNvPr>
          <p:cNvSpPr>
            <a:spLocks xmlns:a="http://schemas.openxmlformats.org/drawingml/2006/main" noGrp="1"/>
          </p:cNvSpPr>
          <p:nvPr/>
        </p:nvSpPr>
        <p:spPr>
          <a:xfrm xmlns:a="http://schemas.openxmlformats.org/drawingml/2006/main">
            <a:off x="64008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Do not rely on color alone</a:t>
            </a:r>
          </a:p>
        </p:txBody>
      </p:sp>
      <p:sp>
        <p:nvSpPr>
          <p:cNvPr id="26" name="step-body-2">
            <a:extLst xmlns:a="http://schemas.openxmlformats.org/drawingml/2006/main">
              <a:ext uri="{FF2B5EF4-FFF2-40B4-BE49-F238E27FC236}">
                <a16:creationId xmlns:a16="http://schemas.microsoft.com/office/drawing/2014/main" id="{DA5F0AA5-C914-4087-BE23-43B7E3BA26B4}"/>
              </a:ext>
            </a:extLst>
          </p:cNvPr>
          <p:cNvSpPr>
            <a:spLocks xmlns:a="http://schemas.openxmlformats.org/drawingml/2006/main" noGrp="1"/>
          </p:cNvSpPr>
          <p:nvPr/>
        </p:nvSpPr>
        <p:spPr>
          <a:xfrm xmlns:a="http://schemas.openxmlformats.org/drawingml/2006/main">
            <a:off x="64008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Use direct labels, sufficient contrast, and a concise description of the chart's structure and finding.</a:t>
            </a:r>
          </a:p>
        </p:txBody>
      </p:sp>
      <p:sp>
        <p:nvSpPr>
          <p:cNvPr id="27" name="step-node-3">
            <a:extLst xmlns:a="http://schemas.openxmlformats.org/drawingml/2006/main">
              <a:ext uri="{FF2B5EF4-FFF2-40B4-BE49-F238E27FC236}">
                <a16:creationId xmlns:a16="http://schemas.microsoft.com/office/drawing/2014/main" id="{7108CEE7-E7E0-4860-9A83-4C7BDDD234F4}"/>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DF8DAE6F-DEEB-4501-B351-E0F387045D88}"/>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D15BA41C-A1A1-4086-973A-15BD1BCF40D1}"/>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DELIVER</a:t>
            </a:r>
          </a:p>
        </p:txBody>
      </p:sp>
      <p:sp>
        <p:nvSpPr>
          <p:cNvPr id="30" name="">
            <a:extLst xmlns:a="http://schemas.openxmlformats.org/drawingml/2006/main">
              <a:ext uri="{FF2B5EF4-FFF2-40B4-BE49-F238E27FC236}">
                <a16:creationId xmlns:a16="http://schemas.microsoft.com/office/drawing/2014/main" id="{3274252E-454D-4CB6-8C10-195380892ECC}"/>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40683800-C9A7-4D02-809F-7062F80EAA30}"/>
              </a:ext>
            </a:extLst>
          </p:cNvPr>
          <p:cNvSpPr>
            <a:spLocks xmlns:a="http://schemas.openxmlformats.org/drawingml/2006/main" noGrp="1"/>
          </p:cNvSpPr>
          <p:nvPr/>
        </p:nvSpPr>
        <p:spPr>
          <a:xfrm xmlns:a="http://schemas.openxmlformats.org/drawingml/2006/main">
            <a:off x="9201150" y="2667000"/>
            <a:ext cx="2190750" cy="7978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Choose the lightest useful medium</a:t>
            </a:r>
          </a:p>
        </p:txBody>
      </p:sp>
      <p:sp>
        <p:nvSpPr>
          <p:cNvPr id="32" name="step-body-3">
            <a:extLst xmlns:a="http://schemas.openxmlformats.org/drawingml/2006/main">
              <a:ext uri="{FF2B5EF4-FFF2-40B4-BE49-F238E27FC236}">
                <a16:creationId xmlns:a16="http://schemas.microsoft.com/office/drawing/2014/main" id="{E3466F3D-EFBD-482A-911D-EC23856EA8D7}"/>
              </a:ext>
            </a:extLst>
          </p:cNvPr>
          <p:cNvSpPr>
            <a:spLocks xmlns:a="http://schemas.openxmlformats.org/drawingml/2006/main" noGrp="1"/>
          </p:cNvSpPr>
          <p:nvPr/>
        </p:nvSpPr>
        <p:spPr>
          <a:xfrm xmlns:a="http://schemas.openxmlformats.org/drawingml/2006/main">
            <a:off x="9201150" y="3617214"/>
            <a:ext cx="2190750" cy="22311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Prefer static for a fixed claim; animate sequence; add interaction only when exploration changes the answer.</a:t>
            </a:r>
          </a:p>
        </p:txBody>
      </p:sp>
    </p:spTree>
    <p:extLst>
      <p:ext uri="{BB962C8B-B14F-4D97-AF65-F5344CB8AC3E}">
        <p14:creationId xmlns:p14="http://schemas.microsoft.com/office/powerpoint/2010/main" val="601879817"/>
      </p:ext>
    </p:extLst>
  </p:cSld>
</p:sld>
</file>

<file path=ppt/slides/slide35.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12" name="close-week">
            <a:extLst xmlns:a="http://schemas.openxmlformats.org/drawingml/2006/main">
              <a:ext uri="{FF2B5EF4-FFF2-40B4-BE49-F238E27FC236}">
                <a16:creationId xmlns:a16="http://schemas.microsoft.com/office/drawing/2014/main" id="{5336E3C9-8FC0-4234-A857-AA6CB0636406}"/>
              </a:ext>
            </a:extLst>
          </p:cNvPr>
          <p:cNvSpPr>
            <a:spLocks xmlns:a="http://schemas.openxmlformats.org/drawingml/2006/main" noGrp="1"/>
          </p:cNvSpPr>
          <p:nvPr/>
        </p:nvSpPr>
        <p:spPr>
          <a:xfrm xmlns:a="http://schemas.openxmlformats.org/drawingml/2006/main">
            <a:off x="609600" y="4572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6 · MEETING A · VISUAL REASONING: STATIC AND DYNAMIC EVIDENCE</a:t>
            </a:r>
          </a:p>
        </p:txBody>
      </p:sp>
      <p:sp>
        <p:nvSpPr>
          <p:cNvPr id="2" name="close-title">
            <a:extLst xmlns:a="http://schemas.openxmlformats.org/drawingml/2006/main">
              <a:ext uri="{FF2B5EF4-FFF2-40B4-BE49-F238E27FC236}">
                <a16:creationId xmlns:a16="http://schemas.microsoft.com/office/drawing/2014/main" id="{A0E8F74E-297B-451D-9C85-A503EC8378B0}"/>
              </a:ext>
            </a:extLst>
          </p:cNvPr>
          <p:cNvSpPr>
            <a:spLocks xmlns:a="http://schemas.openxmlformats.org/drawingml/2006/main" noGrp="1"/>
          </p:cNvSpPr>
          <p:nvPr/>
        </p:nvSpPr>
        <p:spPr>
          <a:xfrm xmlns:a="http://schemas.openxmlformats.org/drawingml/2006/main">
            <a:off x="609600" y="106680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FFFFFF"/>
                </a:solidFill>
                <a:latin typeface="Arial"/>
                <a:ea typeface="Arial"/>
                <a:cs typeface="Arial"/>
              </a:defRPr>
            </a:pPr>
            <a:r>
              <a:rPr sz="3600" b="1">
                <a:solidFill>
                  <a:srgbClr val="FFFFFF"/>
                </a:solidFill>
                <a:latin typeface="Arial"/>
                <a:ea typeface="Arial"/>
                <a:cs typeface="Arial"/>
              </a:rPr>
              <a:t>Four questions, four encodings, one honest annotation</a:t>
            </a:r>
          </a:p>
        </p:txBody>
      </p:sp>
      <p:sp>
        <p:nvSpPr>
          <p:cNvPr id="3" name="">
            <a:extLst xmlns:a="http://schemas.openxmlformats.org/drawingml/2006/main">
              <a:ext uri="{FF2B5EF4-FFF2-40B4-BE49-F238E27FC236}">
                <a16:creationId xmlns:a16="http://schemas.microsoft.com/office/drawing/2014/main" id="{01D3DC67-E948-495C-AD0F-193E3A117DC2}"/>
              </a:ext>
            </a:extLst>
          </p:cNvPr>
          <p:cNvSpPr>
            <a:spLocks xmlns:a="http://schemas.openxmlformats.org/drawingml/2006/main" noGrp="1"/>
          </p:cNvSpPr>
          <p:nvPr/>
        </p:nvSpPr>
        <p:spPr>
          <a:xfrm xmlns:a="http://schemas.openxmlformats.org/drawingml/2006/main">
            <a:off x="609600" y="2324100"/>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4" name="take-no-0">
            <a:extLst xmlns:a="http://schemas.openxmlformats.org/drawingml/2006/main">
              <a:ext uri="{FF2B5EF4-FFF2-40B4-BE49-F238E27FC236}">
                <a16:creationId xmlns:a16="http://schemas.microsoft.com/office/drawing/2014/main" id="{6AC61532-899B-41A4-A9D0-51227E81FF36}"/>
              </a:ext>
            </a:extLst>
          </p:cNvPr>
          <p:cNvSpPr>
            <a:spLocks xmlns:a="http://schemas.openxmlformats.org/drawingml/2006/main" noGrp="1"/>
          </p:cNvSpPr>
          <p:nvPr/>
        </p:nvSpPr>
        <p:spPr>
          <a:xfrm xmlns:a="http://schemas.openxmlformats.org/drawingml/2006/main">
            <a:off x="609600" y="2743200"/>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01</a:t>
            </a:r>
          </a:p>
        </p:txBody>
      </p:sp>
      <p:sp>
        <p:nvSpPr>
          <p:cNvPr id="5" name="take-0">
            <a:extLst xmlns:a="http://schemas.openxmlformats.org/drawingml/2006/main">
              <a:ext uri="{FF2B5EF4-FFF2-40B4-BE49-F238E27FC236}">
                <a16:creationId xmlns:a16="http://schemas.microsoft.com/office/drawing/2014/main" id="{DD81CF32-7C64-4521-AEF0-001FD3A7BC77}"/>
              </a:ext>
            </a:extLst>
          </p:cNvPr>
          <p:cNvSpPr>
            <a:spLocks xmlns:a="http://schemas.openxmlformats.org/drawingml/2006/main" noGrp="1"/>
          </p:cNvSpPr>
          <p:nvPr/>
        </p:nvSpPr>
        <p:spPr>
          <a:xfrm xmlns:a="http://schemas.openxmlformats.org/drawingml/2006/main">
            <a:off x="1409700" y="2705100"/>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Pick the encoding from the question -- distribution, comparison, relationship, or change over a sequence.</a:t>
            </a:r>
          </a:p>
        </p:txBody>
      </p:sp>
      <p:sp>
        <p:nvSpPr>
          <p:cNvPr id="6" name="take-no-1">
            <a:extLst xmlns:a="http://schemas.openxmlformats.org/drawingml/2006/main">
              <a:ext uri="{FF2B5EF4-FFF2-40B4-BE49-F238E27FC236}">
                <a16:creationId xmlns:a16="http://schemas.microsoft.com/office/drawing/2014/main" id="{A0F421DB-D0DF-4682-8C93-46B8B350C143}"/>
              </a:ext>
            </a:extLst>
          </p:cNvPr>
          <p:cNvSpPr>
            <a:spLocks xmlns:a="http://schemas.openxmlformats.org/drawingml/2006/main" noGrp="1"/>
          </p:cNvSpPr>
          <p:nvPr/>
        </p:nvSpPr>
        <p:spPr>
          <a:xfrm xmlns:a="http://schemas.openxmlformats.org/drawingml/2006/main">
            <a:off x="609600" y="3528822"/>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02</a:t>
            </a:r>
          </a:p>
        </p:txBody>
      </p:sp>
      <p:sp>
        <p:nvSpPr>
          <p:cNvPr id="7" name="take-1">
            <a:extLst xmlns:a="http://schemas.openxmlformats.org/drawingml/2006/main">
              <a:ext uri="{FF2B5EF4-FFF2-40B4-BE49-F238E27FC236}">
                <a16:creationId xmlns:a16="http://schemas.microsoft.com/office/drawing/2014/main" id="{F2852F70-BA17-4BF4-893B-F16E482F90A1}"/>
              </a:ext>
            </a:extLst>
          </p:cNvPr>
          <p:cNvSpPr>
            <a:spLocks xmlns:a="http://schemas.openxmlformats.org/drawingml/2006/main" noGrp="1"/>
          </p:cNvSpPr>
          <p:nvPr/>
        </p:nvSpPr>
        <p:spPr>
          <a:xfrm xmlns:a="http://schemas.openxmlformats.org/drawingml/2006/main">
            <a:off x="1409700" y="3490722"/>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fig, ax names the canvas and the plot area explicitly -- label every axis with its unit.</a:t>
            </a:r>
          </a:p>
        </p:txBody>
      </p:sp>
      <p:sp>
        <p:nvSpPr>
          <p:cNvPr id="8" name="take-no-2">
            <a:extLst xmlns:a="http://schemas.openxmlformats.org/drawingml/2006/main">
              <a:ext uri="{FF2B5EF4-FFF2-40B4-BE49-F238E27FC236}">
                <a16:creationId xmlns:a16="http://schemas.microsoft.com/office/drawing/2014/main" id="{2EC26FE7-0837-46FE-8309-BDA813342E43}"/>
              </a:ext>
            </a:extLst>
          </p:cNvPr>
          <p:cNvSpPr>
            <a:spLocks xmlns:a="http://schemas.openxmlformats.org/drawingml/2006/main" noGrp="1"/>
          </p:cNvSpPr>
          <p:nvPr/>
        </p:nvSpPr>
        <p:spPr>
          <a:xfrm xmlns:a="http://schemas.openxmlformats.org/drawingml/2006/main">
            <a:off x="609600" y="4314444"/>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03</a:t>
            </a:r>
          </a:p>
        </p:txBody>
      </p:sp>
      <p:sp>
        <p:nvSpPr>
          <p:cNvPr id="9" name="take-2">
            <a:extLst xmlns:a="http://schemas.openxmlformats.org/drawingml/2006/main">
              <a:ext uri="{FF2B5EF4-FFF2-40B4-BE49-F238E27FC236}">
                <a16:creationId xmlns:a16="http://schemas.microsoft.com/office/drawing/2014/main" id="{F3DCA025-D6E2-402D-95BD-A096871778AB}"/>
              </a:ext>
            </a:extLst>
          </p:cNvPr>
          <p:cNvSpPr>
            <a:spLocks xmlns:a="http://schemas.openxmlformats.org/drawingml/2006/main" noGrp="1"/>
          </p:cNvSpPr>
          <p:nvPr/>
        </p:nvSpPr>
        <p:spPr>
          <a:xfrm xmlns:a="http://schemas.openxmlformats.org/drawingml/2006/main">
            <a:off x="1409700" y="4276344"/>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Annotate the one outlier or turning point that matters, directly on the figure.</a:t>
            </a:r>
          </a:p>
        </p:txBody>
      </p:sp>
      <p:sp>
        <p:nvSpPr>
          <p:cNvPr id="10" name="take-no-3">
            <a:extLst xmlns:a="http://schemas.openxmlformats.org/drawingml/2006/main">
              <a:ext uri="{FF2B5EF4-FFF2-40B4-BE49-F238E27FC236}">
                <a16:creationId xmlns:a16="http://schemas.microsoft.com/office/drawing/2014/main" id="{47133C15-A5A4-46B2-92B7-C981DD04E8C1}"/>
              </a:ext>
            </a:extLst>
          </p:cNvPr>
          <p:cNvSpPr>
            <a:spLocks xmlns:a="http://schemas.openxmlformats.org/drawingml/2006/main" noGrp="1"/>
          </p:cNvSpPr>
          <p:nvPr/>
        </p:nvSpPr>
        <p:spPr>
          <a:xfrm xmlns:a="http://schemas.openxmlformats.org/drawingml/2006/main">
            <a:off x="609600" y="5100066"/>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04</a:t>
            </a:r>
          </a:p>
        </p:txBody>
      </p:sp>
      <p:sp>
        <p:nvSpPr>
          <p:cNvPr id="11" name="take-3">
            <a:extLst xmlns:a="http://schemas.openxmlformats.org/drawingml/2006/main">
              <a:ext uri="{FF2B5EF4-FFF2-40B4-BE49-F238E27FC236}">
                <a16:creationId xmlns:a16="http://schemas.microsoft.com/office/drawing/2014/main" id="{1BA5ADE3-EE17-49B2-A0F3-509B509F4338}"/>
              </a:ext>
            </a:extLst>
          </p:cNvPr>
          <p:cNvSpPr>
            <a:spLocks xmlns:a="http://schemas.openxmlformats.org/drawingml/2006/main" noGrp="1"/>
          </p:cNvSpPr>
          <p:nvPr/>
        </p:nvSpPr>
        <p:spPr>
          <a:xfrm xmlns:a="http://schemas.openxmlformats.org/drawingml/2006/main">
            <a:off x="1409700" y="5061966"/>
            <a:ext cx="10172700" cy="9784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A .gif built with FuncAnimation is real, gradable evidence -- Project 1 Part IV lets you choose it, or next week's GeoPandas map, as your one evidence extension.</a:t>
            </a:r>
          </a:p>
        </p:txBody>
      </p:sp>
    </p:spTree>
    <p:extLst>
      <p:ext uri="{BB962C8B-B14F-4D97-AF65-F5344CB8AC3E}">
        <p14:creationId xmlns:p14="http://schemas.microsoft.com/office/powerpoint/2010/main" val="4562479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2026-08-20T17:07:04.1010000Z</dcterms:created>
  <dcterms:modified xsi:type="dcterms:W3CDTF">2026-08-20T17:07:04.1010000Z</dcterms:modified>
</coreProperties>
</file>