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1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381235bc648ac" /><Relationship Type="http://schemas.openxmlformats.org/officeDocument/2006/relationships/extended-properties" Target="/docProps/app.xml" Id="R495868487c4b4c48" /><Relationship Type="http://schemas.openxmlformats.org/officeDocument/2006/relationships/officeDocument" Target="/ppt/presentation.xml" Id="Ra2eadea73fec44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19ab22f4a4a25"/>
  </p:sldMasterIdLst>
  <p:notesMasterIdLst>
    <p:notesMasterId xmlns:r="http://schemas.openxmlformats.org/officeDocument/2006/relationships" r:id="Rc5a685974ca24c4c"/>
  </p:notesMasterIdLst>
  <p:sldIdLst>
    <p:sldId xmlns:r="http://schemas.openxmlformats.org/officeDocument/2006/relationships" id="256" r:id="R119dcc056ada4077"/>
    <p:sldId xmlns:r="http://schemas.openxmlformats.org/officeDocument/2006/relationships" id="257" r:id="R506fed6817824b59"/>
    <p:sldId xmlns:r="http://schemas.openxmlformats.org/officeDocument/2006/relationships" id="258" r:id="R33bf709c17ff4263"/>
    <p:sldId xmlns:r="http://schemas.openxmlformats.org/officeDocument/2006/relationships" id="259" r:id="R53a813bef8074ce9"/>
    <p:sldId xmlns:r="http://schemas.openxmlformats.org/officeDocument/2006/relationships" id="260" r:id="R4dea69f16ab3498a"/>
    <p:sldId xmlns:r="http://schemas.openxmlformats.org/officeDocument/2006/relationships" id="261" r:id="R1f03e8ae8cd44c75"/>
    <p:sldId xmlns:r="http://schemas.openxmlformats.org/officeDocument/2006/relationships" id="262" r:id="Rba5c903589d949ca"/>
    <p:sldId xmlns:r="http://schemas.openxmlformats.org/officeDocument/2006/relationships" id="263" r:id="Rdd5e86c182b14939"/>
    <p:sldId xmlns:r="http://schemas.openxmlformats.org/officeDocument/2006/relationships" id="264" r:id="R8b4a6bf4787b4d93"/>
    <p:sldId xmlns:r="http://schemas.openxmlformats.org/officeDocument/2006/relationships" id="265" r:id="Rab380e38ede244c9"/>
    <p:sldId xmlns:r="http://schemas.openxmlformats.org/officeDocument/2006/relationships" id="266" r:id="Rdaa73d87609045a4"/>
    <p:sldId xmlns:r="http://schemas.openxmlformats.org/officeDocument/2006/relationships" id="267" r:id="R5335d6cc16e7452a"/>
    <p:sldId xmlns:r="http://schemas.openxmlformats.org/officeDocument/2006/relationships" id="268" r:id="Rcc7c77b032d346b2"/>
    <p:sldId xmlns:r="http://schemas.openxmlformats.org/officeDocument/2006/relationships" id="269" r:id="Rc60e4e8631634da5"/>
    <p:sldId xmlns:r="http://schemas.openxmlformats.org/officeDocument/2006/relationships" id="270" r:id="R7273e18db77845a0"/>
    <p:sldId xmlns:r="http://schemas.openxmlformats.org/officeDocument/2006/relationships" id="271" r:id="R589d285c59124ffc"/>
    <p:sldId xmlns:r="http://schemas.openxmlformats.org/officeDocument/2006/relationships" id="272" r:id="R0f616d31af0f4314"/>
    <p:sldId xmlns:r="http://schemas.openxmlformats.org/officeDocument/2006/relationships" id="273" r:id="R088b34b0785841bf"/>
    <p:sldId xmlns:r="http://schemas.openxmlformats.org/officeDocument/2006/relationships" id="274" r:id="Rd558902634224e6b"/>
    <p:sldId xmlns:r="http://schemas.openxmlformats.org/officeDocument/2006/relationships" id="275" r:id="R6532021e2bc347aa"/>
    <p:sldId xmlns:r="http://schemas.openxmlformats.org/officeDocument/2006/relationships" id="276" r:id="Rfd117aed3eac4f00"/>
    <p:sldId xmlns:r="http://schemas.openxmlformats.org/officeDocument/2006/relationships" id="277" r:id="R2738d2c00cb24173"/>
    <p:sldId xmlns:r="http://schemas.openxmlformats.org/officeDocument/2006/relationships" id="278" r:id="R3171c04dbcdc4a06"/>
    <p:sldId xmlns:r="http://schemas.openxmlformats.org/officeDocument/2006/relationships" id="279" r:id="Re5ff528fdc854c55"/>
    <p:sldId xmlns:r="http://schemas.openxmlformats.org/officeDocument/2006/relationships" id="280" r:id="R9ef43b75661a46b5"/>
    <p:sldId xmlns:r="http://schemas.openxmlformats.org/officeDocument/2006/relationships" id="281" r:id="Rf1bc4dac87b04914"/>
    <p:sldId xmlns:r="http://schemas.openxmlformats.org/officeDocument/2006/relationships" id="282" r:id="R81bc4f4940094faf"/>
    <p:sldId xmlns:r="http://schemas.openxmlformats.org/officeDocument/2006/relationships" id="283" r:id="R6a7cf4d1a5d443a7"/>
    <p:sldId xmlns:r="http://schemas.openxmlformats.org/officeDocument/2006/relationships" id="284" r:id="R9b8dd68fe2154183"/>
    <p:sldId xmlns:r="http://schemas.openxmlformats.org/officeDocument/2006/relationships" id="285" r:id="R31a8c8ea9db84935"/>
    <p:sldId xmlns:r="http://schemas.openxmlformats.org/officeDocument/2006/relationships" id="286" r:id="R97b21279205f46b6"/>
    <p:sldId xmlns:r="http://schemas.openxmlformats.org/officeDocument/2006/relationships" id="287" r:id="R3269261f674f4a9e"/>
    <p:sldId xmlns:r="http://schemas.openxmlformats.org/officeDocument/2006/relationships" id="288" r:id="Rc56b2e7a104b4130"/>
    <p:sldId xmlns:r="http://schemas.openxmlformats.org/officeDocument/2006/relationships" id="289" r:id="R402565537ba24f7d"/>
    <p:sldId xmlns:r="http://schemas.openxmlformats.org/officeDocument/2006/relationships" id="290" r:id="R60c4ed4740a446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cd38a1eef2476e" /><Relationship Type="http://schemas.openxmlformats.org/officeDocument/2006/relationships/slideMaster" Target="/ppt/slideMasters/slideMaster1.xml" Id="R92719ab22f4a4a25" /><Relationship Type="http://schemas.openxmlformats.org/officeDocument/2006/relationships/notesMaster" Target="/ppt/notesMasters/notesMaster1.xml" Id="Rc5a685974ca24c4c" /><Relationship Type="http://schemas.openxmlformats.org/officeDocument/2006/relationships/presProps" Target="/ppt/presProps.xml" Id="Rf90540046cca4206" /><Relationship Type="http://schemas.openxmlformats.org/officeDocument/2006/relationships/tableStyles" Target="/ppt/tableStyles.xml" Id="R8f28ecfc88054c6e" /><Relationship Type="http://schemas.openxmlformats.org/officeDocument/2006/relationships/slide" Target="/ppt/slides/slide1.xml" Id="R119dcc056ada4077" /><Relationship Type="http://schemas.openxmlformats.org/officeDocument/2006/relationships/slide" Target="/ppt/slides/slide2.xml" Id="R506fed6817824b59" /><Relationship Type="http://schemas.openxmlformats.org/officeDocument/2006/relationships/slide" Target="/ppt/slides/slide3.xml" Id="R33bf709c17ff4263" /><Relationship Type="http://schemas.openxmlformats.org/officeDocument/2006/relationships/slide" Target="/ppt/slides/slide4.xml" Id="R53a813bef8074ce9" /><Relationship Type="http://schemas.openxmlformats.org/officeDocument/2006/relationships/slide" Target="/ppt/slides/slide5.xml" Id="R4dea69f16ab3498a" /><Relationship Type="http://schemas.openxmlformats.org/officeDocument/2006/relationships/slide" Target="/ppt/slides/slide6.xml" Id="R1f03e8ae8cd44c75" /><Relationship Type="http://schemas.openxmlformats.org/officeDocument/2006/relationships/slide" Target="/ppt/slides/slide7.xml" Id="Rba5c903589d949ca" /><Relationship Type="http://schemas.openxmlformats.org/officeDocument/2006/relationships/slide" Target="/ppt/slides/slide8.xml" Id="Rdd5e86c182b14939" /><Relationship Type="http://schemas.openxmlformats.org/officeDocument/2006/relationships/slide" Target="/ppt/slides/slide9.xml" Id="R8b4a6bf4787b4d93" /><Relationship Type="http://schemas.openxmlformats.org/officeDocument/2006/relationships/slide" Target="/ppt/slides/slide10.xml" Id="Rab380e38ede244c9" /><Relationship Type="http://schemas.openxmlformats.org/officeDocument/2006/relationships/slide" Target="/ppt/slides/slide11.xml" Id="Rdaa73d87609045a4" /><Relationship Type="http://schemas.openxmlformats.org/officeDocument/2006/relationships/slide" Target="/ppt/slides/slide12.xml" Id="R5335d6cc16e7452a" /><Relationship Type="http://schemas.openxmlformats.org/officeDocument/2006/relationships/slide" Target="/ppt/slides/slide13.xml" Id="Rcc7c77b032d346b2" /><Relationship Type="http://schemas.openxmlformats.org/officeDocument/2006/relationships/slide" Target="/ppt/slides/slide14.xml" Id="Rc60e4e8631634da5" /><Relationship Type="http://schemas.openxmlformats.org/officeDocument/2006/relationships/slide" Target="/ppt/slides/slide15.xml" Id="R7273e18db77845a0" /><Relationship Type="http://schemas.openxmlformats.org/officeDocument/2006/relationships/slide" Target="/ppt/slides/slide16.xml" Id="R589d285c59124ffc" /><Relationship Type="http://schemas.openxmlformats.org/officeDocument/2006/relationships/slide" Target="/ppt/slides/slide17.xml" Id="R0f616d31af0f4314" /><Relationship Type="http://schemas.openxmlformats.org/officeDocument/2006/relationships/slide" Target="/ppt/slides/slide18.xml" Id="R088b34b0785841bf" /><Relationship Type="http://schemas.openxmlformats.org/officeDocument/2006/relationships/slide" Target="/ppt/slides/slide19.xml" Id="Rd558902634224e6b" /><Relationship Type="http://schemas.openxmlformats.org/officeDocument/2006/relationships/slide" Target="/ppt/slides/slide20.xml" Id="R6532021e2bc347aa" /><Relationship Type="http://schemas.openxmlformats.org/officeDocument/2006/relationships/slide" Target="/ppt/slides/slide21.xml" Id="Rfd117aed3eac4f00" /><Relationship Type="http://schemas.openxmlformats.org/officeDocument/2006/relationships/slide" Target="/ppt/slides/slide22.xml" Id="R2738d2c00cb24173" /><Relationship Type="http://schemas.openxmlformats.org/officeDocument/2006/relationships/slide" Target="/ppt/slides/slide23.xml" Id="R3171c04dbcdc4a06" /><Relationship Type="http://schemas.openxmlformats.org/officeDocument/2006/relationships/slide" Target="/ppt/slides/slide24.xml" Id="Re5ff528fdc854c55" /><Relationship Type="http://schemas.openxmlformats.org/officeDocument/2006/relationships/slide" Target="/ppt/slides/slide25.xml" Id="R9ef43b75661a46b5" /><Relationship Type="http://schemas.openxmlformats.org/officeDocument/2006/relationships/slide" Target="/ppt/slides/slide26.xml" Id="Rf1bc4dac87b04914" /><Relationship Type="http://schemas.openxmlformats.org/officeDocument/2006/relationships/slide" Target="/ppt/slides/slide27.xml" Id="R81bc4f4940094faf" /><Relationship Type="http://schemas.openxmlformats.org/officeDocument/2006/relationships/slide" Target="/ppt/slides/slide28.xml" Id="R6a7cf4d1a5d443a7" /><Relationship Type="http://schemas.openxmlformats.org/officeDocument/2006/relationships/slide" Target="/ppt/slides/slide29.xml" Id="R9b8dd68fe2154183" /><Relationship Type="http://schemas.openxmlformats.org/officeDocument/2006/relationships/slide" Target="/ppt/slides/slide30.xml" Id="R31a8c8ea9db84935" /><Relationship Type="http://schemas.openxmlformats.org/officeDocument/2006/relationships/slide" Target="/ppt/slides/slide31.xml" Id="R97b21279205f46b6" /><Relationship Type="http://schemas.openxmlformats.org/officeDocument/2006/relationships/slide" Target="/ppt/slides/slide32.xml" Id="R3269261f674f4a9e" /><Relationship Type="http://schemas.openxmlformats.org/officeDocument/2006/relationships/slide" Target="/ppt/slides/slide33.xml" Id="Rc56b2e7a104b4130" /><Relationship Type="http://schemas.openxmlformats.org/officeDocument/2006/relationships/slide" Target="/ppt/slides/slide34.xml" Id="R402565537ba24f7d" /><Relationship Type="http://schemas.openxmlformats.org/officeDocument/2006/relationships/slide" Target="/ppt/slides/slide35.xml" Id="R60c4ed4740a446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ac84fc022a49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e95d2adb048f8" /><Relationship Type="http://schemas.openxmlformats.org/officeDocument/2006/relationships/notesMaster" Target="/ppt/notesMasters/notesMaster1.xml" Id="Rc39b5f706c454b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bc9f57aa3242a3" /><Relationship Type="http://schemas.openxmlformats.org/officeDocument/2006/relationships/notesMaster" Target="/ppt/notesMasters/notesMaster1.xml" Id="R4d1eed93147a41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af6dabaabc4e7d" /><Relationship Type="http://schemas.openxmlformats.org/officeDocument/2006/relationships/notesMaster" Target="/ppt/notesMasters/notesMaster1.xml" Id="Rd10b1e61d7e24d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baf02b604a4434" /><Relationship Type="http://schemas.openxmlformats.org/officeDocument/2006/relationships/notesMaster" Target="/ppt/notesMasters/notesMaster1.xml" Id="Rea8a7dc042e64e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31913478424af0" /><Relationship Type="http://schemas.openxmlformats.org/officeDocument/2006/relationships/notesMaster" Target="/ppt/notesMasters/notesMaster1.xml" Id="Rb11515147cb144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e75616b4444a8d" /><Relationship Type="http://schemas.openxmlformats.org/officeDocument/2006/relationships/notesMaster" Target="/ppt/notesMasters/notesMaster1.xml" Id="Rcb27846f549a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a8e1cbfef24933" /><Relationship Type="http://schemas.openxmlformats.org/officeDocument/2006/relationships/notesMaster" Target="/ppt/notesMasters/notesMaster1.xml" Id="R6151b27e7de444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1a3868ea47475e" /><Relationship Type="http://schemas.openxmlformats.org/officeDocument/2006/relationships/notesMaster" Target="/ppt/notesMasters/notesMaster1.xml" Id="R1e51633b682c4c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2c91f694ec41ce" /><Relationship Type="http://schemas.openxmlformats.org/officeDocument/2006/relationships/notesMaster" Target="/ppt/notesMasters/notesMaster1.xml" Id="R88afd6d10dd342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3c16f321984fd1" /><Relationship Type="http://schemas.openxmlformats.org/officeDocument/2006/relationships/notesMaster" Target="/ppt/notesMasters/notesMaster1.xml" Id="R6f1c768eb12740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f434ba709a4da9" /><Relationship Type="http://schemas.openxmlformats.org/officeDocument/2006/relationships/notesMaster" Target="/ppt/notesMasters/notesMaster1.xml" Id="R7c2834cef599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1d46e99d7d4de0" /><Relationship Type="http://schemas.openxmlformats.org/officeDocument/2006/relationships/notesMaster" Target="/ppt/notesMasters/notesMaster1.xml" Id="Rf41d43fcb72841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bdfe9355a6424c" /><Relationship Type="http://schemas.openxmlformats.org/officeDocument/2006/relationships/notesMaster" Target="/ppt/notesMasters/notesMaster1.xml" Id="R44022475bf5748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f4e8e99fe7494f" /><Relationship Type="http://schemas.openxmlformats.org/officeDocument/2006/relationships/notesMaster" Target="/ppt/notesMasters/notesMaster1.xml" Id="R67319522b58b4f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ef78d8f1f0420e" /><Relationship Type="http://schemas.openxmlformats.org/officeDocument/2006/relationships/notesMaster" Target="/ppt/notesMasters/notesMaster1.xml" Id="R3760bfc11d474d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d0e62372864764" /><Relationship Type="http://schemas.openxmlformats.org/officeDocument/2006/relationships/notesMaster" Target="/ppt/notesMasters/notesMaster1.xml" Id="R741321dbaaaf42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a3e67dda54f4eb7" /><Relationship Type="http://schemas.openxmlformats.org/officeDocument/2006/relationships/notesMaster" Target="/ppt/notesMasters/notesMaster1.xml" Id="R09f2ed22388b47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c097fedba144f5" /><Relationship Type="http://schemas.openxmlformats.org/officeDocument/2006/relationships/notesMaster" Target="/ppt/notesMasters/notesMaster1.xml" Id="R48863048166c46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e8893c83e7479a" /><Relationship Type="http://schemas.openxmlformats.org/officeDocument/2006/relationships/notesMaster" Target="/ppt/notesMasters/notesMaster1.xml" Id="R5876d7cf40ee442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80f7e6b156e40d1" /><Relationship Type="http://schemas.openxmlformats.org/officeDocument/2006/relationships/notesMaster" Target="/ppt/notesMasters/notesMaster1.xml" Id="R707da468adb444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7be8ea43db4109" /><Relationship Type="http://schemas.openxmlformats.org/officeDocument/2006/relationships/notesMaster" Target="/ppt/notesMasters/notesMaster1.xml" Id="R6954e71a4db043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3437f5c781e46e1" /><Relationship Type="http://schemas.openxmlformats.org/officeDocument/2006/relationships/notesMaster" Target="/ppt/notesMasters/notesMaster1.xml" Id="Rfed09771ea3d4e6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b82576b7e54a3c" /><Relationship Type="http://schemas.openxmlformats.org/officeDocument/2006/relationships/notesMaster" Target="/ppt/notesMasters/notesMaster1.xml" Id="Rea0d5ba0a81b4e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a8bec8a82544cf7" /><Relationship Type="http://schemas.openxmlformats.org/officeDocument/2006/relationships/notesMaster" Target="/ppt/notesMasters/notesMaster1.xml" Id="R2d07e29a75ba46b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27ea3e2372540c3" /><Relationship Type="http://schemas.openxmlformats.org/officeDocument/2006/relationships/notesMaster" Target="/ppt/notesMasters/notesMaster1.xml" Id="R7e07f254c5a246a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d67b6f77bf4aba" /><Relationship Type="http://schemas.openxmlformats.org/officeDocument/2006/relationships/notesMaster" Target="/ppt/notesMasters/notesMaster1.xml" Id="Rf29d9aa55836472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c44691c8f7547c7" /><Relationship Type="http://schemas.openxmlformats.org/officeDocument/2006/relationships/notesMaster" Target="/ppt/notesMasters/notesMaster1.xml" Id="R3023bcf799054c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ef404ca2704d76" /><Relationship Type="http://schemas.openxmlformats.org/officeDocument/2006/relationships/notesMaster" Target="/ppt/notesMasters/notesMaster1.xml" Id="R09ac64c6b63f4a9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bd183b220814cac" /><Relationship Type="http://schemas.openxmlformats.org/officeDocument/2006/relationships/notesMaster" Target="/ppt/notesMasters/notesMaster1.xml" Id="R48d151ccbb6b4c8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88779b8eaa341d4" /><Relationship Type="http://schemas.openxmlformats.org/officeDocument/2006/relationships/notesMaster" Target="/ppt/notesMasters/notesMaster1.xml" Id="Rbdb36646fbc94ee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f1784c56df648c1" /><Relationship Type="http://schemas.openxmlformats.org/officeDocument/2006/relationships/notesMaster" Target="/ppt/notesMasters/notesMaster1.xml" Id="Rc576fbb000a04b4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77726b20aaf425f" /><Relationship Type="http://schemas.openxmlformats.org/officeDocument/2006/relationships/notesMaster" Target="/ppt/notesMasters/notesMaster1.xml" Id="R34cfc71706964db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96430e99f874425" /><Relationship Type="http://schemas.openxmlformats.org/officeDocument/2006/relationships/notesMaster" Target="/ppt/notesMasters/notesMaster1.xml" Id="Rcdcf16c8111545b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9d83527ce394ac3" /><Relationship Type="http://schemas.openxmlformats.org/officeDocument/2006/relationships/notesMaster" Target="/ppt/notesMasters/notesMaster1.xml" Id="R11f55d3959d4468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4452c85228540c9" /><Relationship Type="http://schemas.openxmlformats.org/officeDocument/2006/relationships/notesMaster" Target="/ppt/notesMasters/notesMaster1.xml" Id="R93f17f77d6c743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open the Week 04 student file and confirm their working folder before running any cell.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 which outcome feels least certain right now; revisit it at the exit check.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Tell students this studio produces exactly four files/artifacts named on the last slide - work toward those, not toward extra polish.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Cold-call one student per row to give the architectural example before moving to the studio cycle.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Walk the five boxes out loud, then cover the bottom box and ask what would go wrong if a student started there. Every studio slip this week is a version of skipping to the bottom box.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Same cycle as Weeks 2-3 - name it, do not re-teach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Path.cwd() will differ by machine; only rooms.shape has one correct answer everyone should match: (24, 12).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- https://docs.spyder-ide.org/current/faq.html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If a student's shape differs from (24, 12), check DATA_PATH before anything else - a wrong file, not a wrong idea, is the likely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Take a show of hands before revealing - most students guess bool. This previews the answer-key table on the very next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This is the same real, verified pandas 3.0.5 output from Monday's lecture - not a simplification. Students check their own console against it line by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Circulate and check that students can name which room_id is missing which value, not just that a count is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Connect back to Week 3's def/return lecture - a function that prints but never returns produces None, exactly like info()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Point out info() returns None - the predict slide just before this one rehearses exactly that. A good moment to contrast print-as-side-effect with a method that returns a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a student to state Radley Hall's provenance note from memory before revealing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excerpt covers 4 of 12 columns; Studio 3 asks students to write all twelve in their own 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A dictionary entry that just repeats the column name ('area_m2: the area in m2') is incomplete - require unit AND meaning AND, where relevant, allowed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Ask: is an empty string the same as NaN? No - isna() only flags true gaps, not deliberately-recorded empty 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'drop the column' and 'drop the row' are not the only two options - flagging-and-keeping is the one beginners forget.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is the exact line the next two slides use - predict its result first, then confirm against the real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 student who answers (1, 12) has isna()/notna() backwards - worth a direct correction before Studio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Verified against pandas 3.0.5: Copy-on-Write means skipping .copy() here would not corrupt rooms or raise a warning, unlike what older tutorials claim - .copy() is still required for explicit, readable intent (see the definition slide right after this one).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corrects a real, verified pandas 3.0 behavior change - do not teach the old SettingWithCopyWarning as if it still fires.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The two justification sentences are graded content, not filler - a cleaned file with no written reasoning behind it fails Project 1's Part I rubric line later.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why we didn't just write cleaned['area_m2'] * 10.7639 without wrapping it in np.array - both work here; the np.array wrapper makes the NumPy connection explicit for teaching, not because pandas needs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https://numpy.org/doc/stable/user/quickstart.html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Ask which column answers 'how efficient is this room per square meter' and which answers 'how much energy does this room actually use in a year' - Studio 5 sorts by neither yet (that is Week 5), but does compare the two directly on the student's own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Confirm (23, 14): 23 rows survived the energy-based filter, 14 columns because area_ft2 AND energy_kwh_yr were both added on the two previous slides. Forgetting index=False would add a stray Unnamed: 0 column instead, making it (23, 15).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https://pandas.pydata.org/docs/getting_started/intro_tutorials/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Check that students reopened the exported CSV to confirm it, rather than trusting the write silently succeeded.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chart is built from the same cleaned, verified numbers your own script will produce - it is a target to compare against, not a substitute for running your own plt.scatter.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Students should notice the same high outlier point the reference chart showed - if they don't see it, their cleaned subset likely dropped the wrong row.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notes: This is the required weekly transfer check: 2-4 self-written assert statements on an input different from the one worked through live. Expected: R204 area_ft2 = 699.7.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notes: Expected findings: the comment claiming has_daylight is 'already a clean bool column' is false; dropna() removes R303 and R206 for two unrelated reasons; overwriting area_m2 leaves a m2-named column holding ft2 values; the missing index=False adds a stray Unnamed: 0 column.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https://skillsbuild.org/adult-learners/explore-learning/artificial-intelligence</a:t>
            </a:r>
          </a:p>
          <a:p xmlns:a="http://schemas.openxmlformats.org/drawingml/2006/main">
            <a:r>
              <a:t>- https://www.unesco.org/en/articles/guidance-generative-ai-education-and-research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Remind students dataset selection for Project 1 opens now, separate from tonight's submission - Radley Hall stays the shared in-class example through Week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All four artifacts come from one script - there is no second file this week.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Cold-call two volunteers. This rehearses the kind of question a Project 1 pin-up will ask in Week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Students save, restart the kernel, run from the top, and submit the script plus its exported CSV and figure before Monday, 9:00am.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4d8e6a98a40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61cc71030f4bcd" /><Relationship Type="http://schemas.openxmlformats.org/officeDocument/2006/relationships/slideLayout" Target="/ppt/slideLayouts/slideLayout1.xml" Id="R6cd1f05c0673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d1f05c0673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4d4bb0d814ae0" /><Relationship Type="http://schemas.openxmlformats.org/officeDocument/2006/relationships/notesSlide" Target="/ppt/notesSlides/notesSlide1.xml" Id="R2e963c8d486245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672a3687c4f7a" /><Relationship Type="http://schemas.openxmlformats.org/officeDocument/2006/relationships/notesSlide" Target="/ppt/notesSlides/notesSlide2.xml" Id="R2382a256c4644f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3726cbf284625" /><Relationship Type="http://schemas.openxmlformats.org/officeDocument/2006/relationships/notesSlide" Target="/ppt/notesSlides/notesSlide3.xml" Id="Rab285055e01347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7f194759d46df" /><Relationship Type="http://schemas.openxmlformats.org/officeDocument/2006/relationships/notesSlide" Target="/ppt/notesSlides/notesSlide4.xml" Id="R27d2b8904911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a4acff55d4e25" /><Relationship Type="http://schemas.openxmlformats.org/officeDocument/2006/relationships/image" Target="/ppt/media/image.png" Id="R9f94283129e749cf" /><Relationship Type="http://schemas.openxmlformats.org/officeDocument/2006/relationships/notesSlide" Target="/ppt/notesSlides/notesSlide5.xml" Id="R307c1362f74847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998931571431b" /><Relationship Type="http://schemas.openxmlformats.org/officeDocument/2006/relationships/notesSlide" Target="/ppt/notesSlides/notesSlide6.xml" Id="R808cf4966a974b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c1b61a8944602" /><Relationship Type="http://schemas.openxmlformats.org/officeDocument/2006/relationships/notesSlide" Target="/ppt/notesSlides/notesSlide7.xml" Id="R60b6d3933072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b19aff8dc4cd8" /><Relationship Type="http://schemas.openxmlformats.org/officeDocument/2006/relationships/notesSlide" Target="/ppt/notesSlides/notesSlide8.xml" Id="R81fb462e9ffd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6a9c7083d446f" /><Relationship Type="http://schemas.openxmlformats.org/officeDocument/2006/relationships/notesSlide" Target="/ppt/notesSlides/notesSlide9.xml" Id="Re703e17b713144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6af4db4994e88" /><Relationship Type="http://schemas.openxmlformats.org/officeDocument/2006/relationships/notesSlide" Target="/ppt/notesSlides/notesSlide10.xml" Id="R206de8cec54a40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d7db9edfe4c97" /><Relationship Type="http://schemas.openxmlformats.org/officeDocument/2006/relationships/notesSlide" Target="/ppt/notesSlides/notesSlide11.xml" Id="R2426448c298d4ba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74c7194e74cfb" /><Relationship Type="http://schemas.openxmlformats.org/officeDocument/2006/relationships/notesSlide" Target="/ppt/notesSlides/notesSlide12.xml" Id="Ra1d0fa89e85944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0c5010cf44b2" /><Relationship Type="http://schemas.openxmlformats.org/officeDocument/2006/relationships/notesSlide" Target="/ppt/notesSlides/notesSlide13.xml" Id="R3709814a933f43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6b39359a64a33" /><Relationship Type="http://schemas.openxmlformats.org/officeDocument/2006/relationships/notesSlide" Target="/ppt/notesSlides/notesSlide14.xml" Id="Ra47f47b0950a4d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c221495494b1e" /><Relationship Type="http://schemas.openxmlformats.org/officeDocument/2006/relationships/notesSlide" Target="/ppt/notesSlides/notesSlide15.xml" Id="Reeb891aab8ab48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d2b6229d524384" /><Relationship Type="http://schemas.openxmlformats.org/officeDocument/2006/relationships/notesSlide" Target="/ppt/notesSlides/notesSlide16.xml" Id="R0f697f2f9a4145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97f02f4944383" /><Relationship Type="http://schemas.openxmlformats.org/officeDocument/2006/relationships/notesSlide" Target="/ppt/notesSlides/notesSlide17.xml" Id="Rc22569732a4840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9a8d555c0472a" /><Relationship Type="http://schemas.openxmlformats.org/officeDocument/2006/relationships/notesSlide" Target="/ppt/notesSlides/notesSlide18.xml" Id="R9f2b9e9a01cb42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fba2087a24086" /><Relationship Type="http://schemas.openxmlformats.org/officeDocument/2006/relationships/notesSlide" Target="/ppt/notesSlides/notesSlide19.xml" Id="R4128020ac4bb42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387c26c45e4f83" /><Relationship Type="http://schemas.openxmlformats.org/officeDocument/2006/relationships/notesSlide" Target="/ppt/notesSlides/notesSlide20.xml" Id="Rb1cf5908733c48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d7e7a84224e4e" /><Relationship Type="http://schemas.openxmlformats.org/officeDocument/2006/relationships/notesSlide" Target="/ppt/notesSlides/notesSlide21.xml" Id="R8a7a6a9d03be49c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be1bd8d4d4cb1" /><Relationship Type="http://schemas.openxmlformats.org/officeDocument/2006/relationships/notesSlide" Target="/ppt/notesSlides/notesSlide22.xml" Id="R4d122021b68d4f2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8ce4668c34c22" /><Relationship Type="http://schemas.openxmlformats.org/officeDocument/2006/relationships/notesSlide" Target="/ppt/notesSlides/notesSlide23.xml" Id="Rb10c69a3638045c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ad2fb3ea240f9" /><Relationship Type="http://schemas.openxmlformats.org/officeDocument/2006/relationships/notesSlide" Target="/ppt/notesSlides/notesSlide24.xml" Id="R2029f18fc99647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2eeb88af44b1d" /><Relationship Type="http://schemas.openxmlformats.org/officeDocument/2006/relationships/notesSlide" Target="/ppt/notesSlides/notesSlide25.xml" Id="R91f0441f842c475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82211d57a4cec" /><Relationship Type="http://schemas.openxmlformats.org/officeDocument/2006/relationships/notesSlide" Target="/ppt/notesSlides/notesSlide26.xml" Id="R99c88379dc674d0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54bf2e4d74fc7" /><Relationship Type="http://schemas.openxmlformats.org/officeDocument/2006/relationships/notesSlide" Target="/ppt/notesSlides/notesSlide27.xml" Id="R06b633b485f3431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8acb11f8148e9" /><Relationship Type="http://schemas.openxmlformats.org/officeDocument/2006/relationships/chart" Target="/ppt/slides/charts/chart1.xml" Id="R511e42335d3944f2" /><Relationship Type="http://schemas.openxmlformats.org/officeDocument/2006/relationships/notesSlide" Target="/ppt/notesSlides/notesSlide28.xml" Id="R11fd60bbb5364cc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d0ea6148d4a8e" /><Relationship Type="http://schemas.openxmlformats.org/officeDocument/2006/relationships/notesSlide" Target="/ppt/notesSlides/notesSlide29.xml" Id="R779dfa826802462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73f586c944f79" /><Relationship Type="http://schemas.openxmlformats.org/officeDocument/2006/relationships/notesSlide" Target="/ppt/notesSlides/notesSlide30.xml" Id="R634efcbeab65437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9f052b9834a31" /><Relationship Type="http://schemas.openxmlformats.org/officeDocument/2006/relationships/notesSlide" Target="/ppt/notesSlides/notesSlide31.xml" Id="R915ad3cc575b4b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961d75b744c8d" /><Relationship Type="http://schemas.openxmlformats.org/officeDocument/2006/relationships/notesSlide" Target="/ppt/notesSlides/notesSlide32.xml" Id="Ra397efcb61bf4f1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d8585d4e54416" /><Relationship Type="http://schemas.openxmlformats.org/officeDocument/2006/relationships/notesSlide" Target="/ppt/notesSlides/notesSlide33.xml" Id="Rde79ff0af1b7464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50472ee064da9" /><Relationship Type="http://schemas.openxmlformats.org/officeDocument/2006/relationships/notesSlide" Target="/ppt/notesSlides/notesSlide34.xml" Id="R749509a3d3384b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c33fe98ff4b68" /><Relationship Type="http://schemas.openxmlformats.org/officeDocument/2006/relationships/notesSlide" Target="/ppt/notesSlides/notesSlide35.xml" Id="R54ca8940f512475a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11316"/>
                </a:solidFill>
              </a:rPr>
              <a:t>area_ft2 vs. energy_kwh_m2_yr - Radley Hall (23 rooms)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 b="1">
              <a:solidFill>
                <a:srgbClr val="111316"/>
              </a:solidFill>
            </a:defRPr>
          </a:pPr>
        </a:p>
      </c:txPr>
    </c:title>
    <c:plotArea>
      <c:scatterChart>
        <c:scatterStyle val="marker"/>
        <c:ser>
          <c:idx val="0"/>
          <c:order val="0"/>
          <c:tx>
            <c:v>North</c:v>
          </c:tx>
          <c:xVal>
            <c:numLit>
              <c:formatCode>General</c:formatCode>
              <c:ptCount val="12"/>
              <c:pt idx="0">
                <c:v>839.6</c:v>
              </c:pt>
              <c:pt idx="1">
                <c:v>475.8</c:v>
              </c:pt>
              <c:pt idx="2">
                <c:v>199.1</c:v>
              </c:pt>
              <c:pt idx="3">
                <c:v>559.7</c:v>
              </c:pt>
              <c:pt idx="4">
                <c:v>586.6</c:v>
              </c:pt>
              <c:pt idx="5">
                <c:v>183</c:v>
              </c:pt>
              <c:pt idx="6">
                <c:v>538.2</c:v>
              </c:pt>
              <c:pt idx="7">
                <c:v>204.5</c:v>
              </c:pt>
              <c:pt idx="8">
                <c:v>193.8</c:v>
              </c:pt>
              <c:pt idx="9">
                <c:v>32.3</c:v>
              </c:pt>
              <c:pt idx="10">
                <c:v>188.4</c:v>
              </c:pt>
              <c:pt idx="11">
                <c:v>1291.7</c:v>
              </c:pt>
            </c:numLit>
          </c:xVal>
          <c:yVal>
            <c:numLit>
              <c:formatCode>General</c:formatCode>
              <c:ptCount val="12"/>
              <c:pt idx="0">
                <c:v>62</c:v>
              </c:pt>
              <c:pt idx="1">
                <c:v>71.5</c:v>
              </c:pt>
              <c:pt idx="2">
                <c:v>58</c:v>
              </c:pt>
              <c:pt idx="3">
                <c:v>88</c:v>
              </c:pt>
              <c:pt idx="4">
                <c:v>84.5</c:v>
              </c:pt>
              <c:pt idx="5">
                <c:v>60.5</c:v>
              </c:pt>
              <c:pt idx="6">
                <c:v>86</c:v>
              </c:pt>
              <c:pt idx="7">
                <c:v>59</c:v>
              </c:pt>
              <c:pt idx="8">
                <c:v>61.5</c:v>
              </c:pt>
              <c:pt idx="9">
                <c:v>12</c:v>
              </c:pt>
              <c:pt idx="10">
                <c:v>60</c:v>
              </c:pt>
              <c:pt idx="11">
                <c:v>68</c:v>
              </c:pt>
            </c:numLit>
          </c:yVal>
        </c:ser>
        <c:ser>
          <c:idx val="1"/>
          <c:order val="1"/>
          <c:tx>
            <c:v>South</c:v>
          </c:tx>
          <c:xVal>
            <c:numLit>
              <c:formatCode>General</c:formatCode>
              <c:ptCount val="11"/>
              <c:pt idx="0">
                <c:v>672.7</c:v>
              </c:pt>
              <c:pt idx="1">
                <c:v>624.3</c:v>
              </c:pt>
              <c:pt idx="2">
                <c:v>172.2</c:v>
              </c:pt>
              <c:pt idx="3">
                <c:v>699.7</c:v>
              </c:pt>
              <c:pt idx="4">
                <c:v>651.2</c:v>
              </c:pt>
              <c:pt idx="5">
                <c:v>683.5</c:v>
              </c:pt>
              <c:pt idx="6">
                <c:v>640.5</c:v>
              </c:pt>
              <c:pt idx="7">
                <c:v>86.1</c:v>
              </c:pt>
              <c:pt idx="8">
                <c:v>177.6</c:v>
              </c:pt>
              <c:pt idx="9">
                <c:v>180.8</c:v>
              </c:pt>
              <c:pt idx="10">
                <c:v>185.1</c:v>
              </c:pt>
            </c:numLit>
          </c:xVal>
          <c:yVal>
            <c:numLit>
              <c:formatCode>General</c:formatCode>
              <c:ptCount val="11"/>
              <c:pt idx="0">
                <c:v>95</c:v>
              </c:pt>
              <c:pt idx="1">
                <c:v>91.5</c:v>
              </c:pt>
              <c:pt idx="2">
                <c:v>74</c:v>
              </c:pt>
              <c:pt idx="3">
                <c:v>98</c:v>
              </c:pt>
              <c:pt idx="4">
                <c:v>93</c:v>
              </c:pt>
              <c:pt idx="5">
                <c:v>96.5</c:v>
              </c:pt>
              <c:pt idx="6">
                <c:v>90</c:v>
              </c:pt>
              <c:pt idx="7">
                <c:v>410</c:v>
              </c:pt>
              <c:pt idx="8">
                <c:v>76.5</c:v>
              </c:pt>
              <c:pt idx="9">
                <c:v>73</c:v>
              </c:pt>
              <c:pt idx="10">
                <c:v>75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energy_kwh_m2_yr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1E3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5A5F66"/>
                    </a:solidFill>
                  </a:rPr>
                  <a:t>area_ft2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5A5F66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A5F66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B8BCC4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5A5F66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B8BCC4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4C05ADB0-621F-4352-BCA9-F472B20F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B3063D20-6B7A-47F9-80CD-E4B0404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33597C38-712A-472E-9865-40EFDBFA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87661E12-6307-4B42-988B-1605DB41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4 · MEETING B · DATA TRUSTWORTHINESS STUDIO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C0069D25-7F1D-46BF-89F4-B70ADA4F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Radley Hall's room data into a trustworthy, documented dataset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8C21855-8728-4A00-B84E-95DBFB8D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pandas trustworthiness interview, data dictionary, cleaning justification, and a NumPy + Matplotlib touch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52FF6-13C2-4EEB-B741-E1DD90AC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95A5CD7D-3850-4745-B4A5-A4788E9C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388347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7DFEE48E-A5D3-4A37-BF1C-63627A9C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ACB160-0D49-42AA-8E3E-2156FA60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B3E22-8233-46BB-B0D2-C66FE908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BB3EED1-FF33-4CFD-8F79-2441DE4E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931EBDC-FEFF-4F18-9CBA-F878473C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4798E7FF-C280-462D-809D-13C8CEA7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C12C24DF-94C8-4444-AD4D-B7797A6A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Interview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69128094-4BDB-49BE-B600-33B48162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Run the full pandas trustworthiness interview on a real dataset: shape, dtypes, head, info, and NaN counts.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2499A92F-6F29-482A-ADB3-E9D24C0B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B041CEF6-4D75-41D8-B243-8B8B31B6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Document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A4053FD5-CBAE-4BC6-9F28-8F15CD8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Write a data dictionary and a provenance note before exporting a single number.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52A35C3A-46DE-4B1A-ADD5-A19B9BB0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03F2073D-5BC9-4C5C-8A86-213652C7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8843D82D-1D59-48D4-B692-C41392FA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Build a filtered, documented subset with a written justification for every row dropped or column kept-and-flagged.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E612B6A9-2F89-4722-AEAD-7BE20C22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999E1202-87F2-434D-A764-A9C5EE86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Derive &amp; show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F4FE0316-762A-4877-9FCE-C81BAF7A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Add one vectorized NumPy column and plot it in a single Matplotlib scatter.</a:t>
            </a:r>
          </a:p>
        </p:txBody>
      </p:sp>
    </p:spTree>
    <p:extLst>
      <p:ext uri="{BB962C8B-B14F-4D97-AF65-F5344CB8AC3E}">
        <p14:creationId xmlns:p14="http://schemas.microsoft.com/office/powerpoint/2010/main" val="14424693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1B36C6B-60F0-4888-AD0E-6142351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677A9E-0033-4AD1-ADA3-2B0D2237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E2742-1454-48F0-9132-0B900520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16FC72B-37FC-467C-BF75-411735AB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B2DE7DB-8D19-4EC2-A2D5-CC4555EE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0093A044-0DE6-4581-B64A-693BD33D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E3379-62E9-4189-8306-AEA684A3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6F1955E3-A631-4BDF-A639-7BF2E5B8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Load Radley Hall and run the trustworthiness interview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6610CE2D-389B-48C5-8880-6C432853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074CB-FD55-4287-88B0-CAEF42EE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FB94FC03-313D-4E0A-9175-34C50F5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data dictionary and provenance note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11BBA3C1-FAD4-42CE-935F-F2E7B3FA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964992-72FF-44EA-B5BA-6E52DCAB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4D29AED1-3DF1-4BFF-9FA4-4EBB7269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 and export a cleaned, justified subset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272C0DC2-6BD7-4773-8F5B-DF1DFDC0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90FC3E-82C5-4A95-AE3A-EA9996F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7D427121-DA19-475B-A738-4B7BECA8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 NumPy column, plot it, self-check, and audit AI</a:t>
            </a:r>
          </a:p>
        </p:txBody>
      </p:sp>
    </p:spTree>
    <p:extLst>
      <p:ext uri="{BB962C8B-B14F-4D97-AF65-F5344CB8AC3E}">
        <p14:creationId xmlns:p14="http://schemas.microsoft.com/office/powerpoint/2010/main" val="358113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kicker">
            <a:extLst xmlns:a="http://schemas.openxmlformats.org/drawingml/2006/main">
              <a:ext uri="{FF2B5EF4-FFF2-40B4-BE49-F238E27FC236}">
                <a16:creationId xmlns:a16="http://schemas.microsoft.com/office/drawing/2014/main" id="{94BDA312-B251-4835-92DE-90D9D584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FE687F-5DDF-4ED5-99DA-E3042576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Monday's vocabulary before you start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27B2A-98F6-4D20-9987-DC1F9682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4508788-60E0-4D54-B7F2-2B403FB7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93F9F92-E373-44AC-A046-72BEBF1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1EA3C-B896-4251-AA1F-33F52AB0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3FEAB886-BD8C-41DA-8F96-ACB52263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BF771-E349-43FA-A636-6DFD18F3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85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CFCE2C05-2DDD-41C4-8415-869E1915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62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D5DD9-335A-4907-B7A1-A032E22A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8595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798F16FF-8CB7-4BF7-AE82-21665B2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6215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4C45A-8D65-45AE-895A-AB891E26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D1251D50-2D25-4475-98DA-EC0F1B69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61D41-0AF8-4444-8A8E-7F784DB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1935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BEE0BD1C-918B-4488-ADA4-B2DBF442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9555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labeled column of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3B870-130F-4189-8155-FD744913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1935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035AE1CD-0713-4419-97A6-42F8262D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9555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rooms['area_m2']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D59E3-2376-4F8F-8A36-56B23407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03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16DF69E2-5C49-4917-9579-09798334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65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A2FB9F-3EE1-495F-9D54-C21559E4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603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3CD9937C-FED3-4863-B80F-83A2B5F0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365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table of Series sharing one index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85A41-DFA4-41D0-8FBA-6AB92B51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603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2E639EBE-D2FA-4F43-A016-4BDA7A89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65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4C8A90-B0A0-4F6A-8E16-33F2D3D9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139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079F8CD3-FD05-4137-A050-FD57E7E4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759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44EB3-3BEF-49B5-9DF5-BC0364D4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0139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47253BEA-EDE5-48EA-9B6E-AB54FCF7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7759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function that belongs to an object, called with a dot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C80B41-B87C-488F-95F5-232D3AC2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50139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7DC42D32-B13D-41F5-80AA-02456EB0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57759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rooms.head()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4F80A8-9E24-47B4-896C-85B63FB5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AD23E6BE-9696-498E-A248-9D4FEF81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keyword argument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93AB9-ED4E-4A01-A82C-DE33A534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B790C8AE-5665-4294-8A51-9044A482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value named at the call site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E55D5A-3F3C-484A-9E9E-E8458C9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FF7563F4-E7F1-4D87-B7D7-78370B28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sep=','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6402D4-98C5-4897-8396-D41CC59F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774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77E5E6F9-AECA-4E6F-8ED3-15840F1E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394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docstring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0877AE-54C0-4839-9315-4D56875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774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CB2669AB-2454-4433-93D0-1E365D9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394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short description inside triple quotes, right under def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FBE77A-DA73-4C74-BBEF-5D527108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7740"/>
            <a:ext cx="2476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869E07EF-394E-4C29-AEC9-B58D154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3940"/>
            <a:ext cx="2247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"""Return floor area."""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592F5A-2BE5-4DA0-98DD-DCF6BE72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30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5-0">
            <a:extLst xmlns:a="http://schemas.openxmlformats.org/drawingml/2006/main">
              <a:ext uri="{FF2B5EF4-FFF2-40B4-BE49-F238E27FC236}">
                <a16:creationId xmlns:a16="http://schemas.microsoft.com/office/drawing/2014/main" id="{2881548E-E8D9-4E3A-94EC-FE67A3AB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92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type hint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60F16AF-CA7D-4128-9E42-AAA96E86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5130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5-1">
            <a:extLst xmlns:a="http://schemas.openxmlformats.org/drawingml/2006/main">
              <a:ext uri="{FF2B5EF4-FFF2-40B4-BE49-F238E27FC236}">
                <a16:creationId xmlns:a16="http://schemas.microsoft.com/office/drawing/2014/main" id="{A96A1A5D-5815-4141-81F1-B48F4EA1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5892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documented, unenforced expected type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D49C3F-3DDF-443F-BA1D-63BC2095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51307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5-2">
            <a:extLst xmlns:a="http://schemas.openxmlformats.org/drawingml/2006/main">
              <a:ext uri="{FF2B5EF4-FFF2-40B4-BE49-F238E27FC236}">
                <a16:creationId xmlns:a16="http://schemas.microsoft.com/office/drawing/2014/main" id="{5F0BB338-A2B0-40A4-9E0B-8F00977B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58927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area_m2: float</a:t>
            </a:r>
          </a:p>
        </p:txBody>
      </p:sp>
      <p:sp>
        <p:nvSpPr>
          <p:cNvPr id="48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C8366DC7-FF78-4EC7-ACF5-BD85FFCB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49" name="callout">
            <a:extLst xmlns:a="http://schemas.openxmlformats.org/drawingml/2006/main">
              <a:ext uri="{FF2B5EF4-FFF2-40B4-BE49-F238E27FC236}">
                <a16:creationId xmlns:a16="http://schemas.microsoft.com/office/drawing/2014/main" id="{91844CE5-7073-47E8-A547-A304A9D6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Every term here came from Monday's lecture - if one feels shaky, flag it before Studio 1, not after.</a:t>
            </a:r>
          </a:p>
        </p:txBody>
      </p:sp>
    </p:spTree>
    <p:extLst>
      <p:ext uri="{BB962C8B-B14F-4D97-AF65-F5344CB8AC3E}">
        <p14:creationId xmlns:p14="http://schemas.microsoft.com/office/powerpoint/2010/main" val="12908470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">
            <a:extLst xmlns:a="http://schemas.openxmlformats.org/drawingml/2006/main">
              <a:ext uri="{FF2B5EF4-FFF2-40B4-BE49-F238E27FC236}">
                <a16:creationId xmlns:a16="http://schemas.microsoft.com/office/drawing/2014/main" id="{E82F7129-388F-4774-A1EE-F215ECA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9E5BBAC-23CC-4825-B986-63FF14C3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interview, as one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53173-A78A-4520-A6C0-8DE46941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98F2965-510E-4752-AB67-FBADA848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83DBBE-4CA4-46BA-A105-3659A9D8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figure-panel">
            <a:extLst xmlns:a="http://schemas.openxmlformats.org/drawingml/2006/main">
              <a:ext uri="{FF2B5EF4-FFF2-40B4-BE49-F238E27FC236}">
                <a16:creationId xmlns:a16="http://schemas.microsoft.com/office/drawing/2014/main" id="{A3C49697-47C9-4CE5-B911-D6DF8B53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3995166"/>
          </a:xfrm>
          <a:prstGeom xmlns:a="http://schemas.openxmlformats.org/drawingml/2006/main" prst="roundRect">
            <a:avLst>
              <a:gd name="adj" fmla="val 19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7" name="" descr="Flow diagram of five boxes - shape, .dtypes, .head(), .info(), .isna() - leading to a final box reading only now: filter, derive, export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94283129e749cf"/>
          <a:stretch xmlns:a="http://schemas.openxmlformats.org/drawingml/2006/main"/>
        </p:blipFill>
        <p:spPr>
          <a:xfrm xmlns:a="http://schemas.openxmlformats.org/drawingml/2006/main">
            <a:off x="742950" y="2360070"/>
            <a:ext cx="6629400" cy="2894527"/>
          </a:xfrm>
          <a:prstGeom xmlns:a="http://schemas.openxmlformats.org/drawingml/2006/main" prst="rect">
            <a:avLst/>
          </a:prstGeom>
        </p:spPr>
      </p:pic>
      <p:sp>
        <p:nvSpPr>
          <p:cNvPr id="8" name="figure-caption">
            <a:extLst xmlns:a="http://schemas.openxmlformats.org/drawingml/2006/main">
              <a:ext uri="{FF2B5EF4-FFF2-40B4-BE49-F238E27FC236}">
                <a16:creationId xmlns:a16="http://schemas.microsoft.com/office/drawing/2014/main" id="{A6EC9C86-C786-4DA9-A18F-8332928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1116"/>
            <a:ext cx="65913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Five questions, in order, before any cleaning decision is made.</a:t>
            </a:r>
          </a:p>
        </p:txBody>
      </p:sp>
      <p:sp>
        <p:nvSpPr>
          <p:cNvPr id="9" name="figure-explain-head">
            <a:extLst xmlns:a="http://schemas.openxmlformats.org/drawingml/2006/main">
              <a:ext uri="{FF2B5EF4-FFF2-40B4-BE49-F238E27FC236}">
                <a16:creationId xmlns:a16="http://schemas.microsoft.com/office/drawing/2014/main" id="{4FAD1E96-E246-455F-B45B-04AC5B10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order is the method</a:t>
            </a:r>
          </a:p>
        </p:txBody>
      </p:sp>
      <p:sp>
        <p:nvSpPr>
          <p:cNvPr id="10" name="figure-explain-body">
            <a:extLst xmlns:a="http://schemas.openxmlformats.org/drawingml/2006/main">
              <a:ext uri="{FF2B5EF4-FFF2-40B4-BE49-F238E27FC236}">
                <a16:creationId xmlns:a16="http://schemas.microsoft.com/office/drawing/2014/main" id="{B8EAAA84-23E5-4F4D-A2A0-5163D369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2211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Each box is one question with one call that answers it. The point is not the five method names - it is that all five come BEFORE the box at the bottom. Filtering or deriving a column first means deciding without evidence.</a:t>
            </a:r>
          </a:p>
        </p:txBody>
      </p:sp>
    </p:spTree>
    <p:extLst>
      <p:ext uri="{BB962C8B-B14F-4D97-AF65-F5344CB8AC3E}">
        <p14:creationId xmlns:p14="http://schemas.microsoft.com/office/powerpoint/2010/main" val="1168170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63746600-F835-4A63-8119-853186F5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F27DE0-FCC3-4237-88BD-F19159D4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Repeat one studio cycle for every exercise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CA7650-586B-45BB-BDEA-8B0CAAC9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E0A24B9-EE58-4ABF-8D49-3B7E5477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DD16576-1A5C-4116-8B9F-4C7ADCB5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047F22B1-6A89-4900-A7B9-E3389207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41ABF681-AA94-4D6C-A46F-B3EBBDB6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B7645978-5303-4A9C-83BC-63C687D3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496023DA-15F5-4620-87D1-AA551A6E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6A0BD64-1794-4B22-A47F-5A73924D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AFC64682-8C11-4AE8-8E98-8C45EEA0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E03B4-D0E8-4270-948B-E088786B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CF07F34A-6863-445A-A572-C1F7B17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the expected result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9A6EFEE1-685E-4905-8FCF-C3CB32E4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Include shape, dtype, or expected count.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C514867F-4890-4382-9008-A06E9985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F916AEB9-0F11-4473-8C98-8272DFB9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28DD45A3-F361-45CE-916F-25B85578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68D645-A521-403F-9070-FC5008DA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2842D35-A965-4C6F-9391-419DA473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Execute one cell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152D1A65-56D7-472A-A67B-C3C5F78B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Ctrl+Enter and leave later cells untouched.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CCD0C23-D173-4DFB-B71C-6A6620EC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C7491447-4AF6-4C56-9ED6-44A8BFDA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90DDC3C-CABC-4F21-ADE0-5F018769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INSPECT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A9AB94-575E-4EED-BF8B-DFC4792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189D8252-C320-4803-B148-57CBD508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evidence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AD72F6D-D37C-431C-B3EB-CAD71E84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Check Console output and Variable Explorer state.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C469C769-8363-4B76-863A-F34E601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56D505B1-47B2-4433-B6FC-C0D213AC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EDF9D8D-7C2B-49D1-A37B-272EBF07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18953-E7C3-411F-BC96-4899054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AD5AB8CB-12FE-46BC-B30B-4AA12103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Interpret the result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B2275D88-824B-4DC7-B77E-79304AB5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what the result means and one limitation.</a:t>
            </a:r>
          </a:p>
        </p:txBody>
      </p:sp>
    </p:spTree>
    <p:extLst>
      <p:ext uri="{BB962C8B-B14F-4D97-AF65-F5344CB8AC3E}">
        <p14:creationId xmlns:p14="http://schemas.microsoft.com/office/powerpoint/2010/main" val="564159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1222864-492E-44A7-8C19-7AA3667C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2D1253-0691-4E0D-99ED-19CD22AF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your folder, then load Radley Hall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544A1-9C76-490A-B70C-6562B030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8F3BCAF-FBDA-42DA-93FE-9E6828C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ACE4505-F7FB-4564-9617-2CA5CEFB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FAF9D91F-157C-49C1-A762-9B7E5BB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12BCC17-A7D7-47B7-AFE6-438C5842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pandas as pd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print(Path.cwd())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DATA_PATH = Path('data') / 'building_rooms.csv'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 = pd.read_csv(DATA_PATH, sep=',')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85BD-D74F-4CE6-BF23-A8731D2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A1756B2-1ADF-436B-8CC1-6E3EEE21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E59F3732-EBFF-4653-8D4C-614D187F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# Path.cwd() output varies by machine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(24, 12)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5264432-0F7F-4DE9-B310-3F05C8D3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47925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ritual as Weeks 1-3, one new keyword argument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B663ED3-B83B-43C5-A36B-A138D5A2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3547"/>
            <a:ext cx="3695700" cy="1844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Path.cwd() and the working-folder check are the same habit from Week 1B. sep=',' is the keyword argument from Monday's lecture - explicit here because a comma-separated file is what this course always uses, but naming it removes any doubt for someone reading your script later.</a:t>
            </a:r>
          </a:p>
        </p:txBody>
      </p:sp>
    </p:spTree>
    <p:extLst>
      <p:ext uri="{BB962C8B-B14F-4D97-AF65-F5344CB8AC3E}">
        <p14:creationId xmlns:p14="http://schemas.microsoft.com/office/powerpoint/2010/main" val="4429539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9A2EE8C-3D89-4DCE-A1DB-C4A23917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04F38A-D45D-4262-923D-EBEBFB1D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1: load the dataset and confirm its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FEFFF-ACA5-43B7-89A3-74BA5F32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5C8F91BA-3F44-4A48-8AD2-6E766855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286EB17-9ADA-45F6-8492-67526B8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1E3C94F9-ADAA-4F68-A8BF-1DB4CB73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3B6854A2-EDCD-4D58-A3D5-C536CFA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 touching a single value, know how big the table is.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2DEEE76-5F1C-4ADB-813C-43002952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B2584708-9399-4231-B275-644ED9F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519C25B-86E9-46D4-B6E7-F7D39FA9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cells [0]-[1] and read the printed shape.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42ABAAFF-FB13-4338-8C08-EBEEEE6E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C63977D-AE3C-4507-B16A-2ADD49D3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Predict rows and columns before printing shape.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3FC6B22-919F-4728-8451-CFBC1B29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CB3B5FF-0AF4-43E7-B529-B26EB742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24 rooms, 12 recorded columns.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31EC8998-4753-40D5-9ED0-6A07E959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1F74C936-8D6D-4E1C-8A1D-6AA0F352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Find rooms in the Variable Explorer and open it.</a:t>
            </a:r>
          </a:p>
        </p:txBody>
      </p:sp>
    </p:spTree>
    <p:extLst>
      <p:ext uri="{BB962C8B-B14F-4D97-AF65-F5344CB8AC3E}">
        <p14:creationId xmlns:p14="http://schemas.microsoft.com/office/powerpoint/2010/main" val="6155323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599C7D79-613C-4A78-9BAB-2ABED647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D312CE-AC76-49BD-9BB2-2BB04CA2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a dtype before you print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020EC-5069-450F-B506-344C5C69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C2A64F0-6A06-45C5-B92A-C560689A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89906F5-5513-403A-8878-E96D04D8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81041FC-161D-4586-9C37-B87A0CF0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A3612C1-6589-4931-B5FC-0F2BE1C8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R303 has no recorded has_daylight value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print(rooms['has_daylight'].dtype)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58D208A7-C0A7-4904-BD92-1B28B92F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dtype does this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28F0AED7-E130-4160-A830-2A48725D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21277B74-D498-4B2D-A860-1F1166EE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9C7FD588-A743-446B-90E1-BA4C1B94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bool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18938FA2-8929-4FB1-A663-F0AF7E0B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386B0940-CAE0-4699-BB6F-D75FBC99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18879010-B95C-4E2E-9489-5B57B961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object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CAE0B0F9-FB35-42A2-8D3A-75EA6451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F2496A25-ED3A-4F22-8599-021AE25B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5E1FCA28-D121-4B56-B3D7-EBE94C3E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float64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D736FC26-E226-4B72-952B-A4B86619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E3E43EDC-05A1-4AEC-8CA6-96C8DD5F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B12D7261-4352-40CD-85F6-241040E0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str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A0299000-AC7D-4CE0-9664-47E14B7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58BF3347-7C70-4B66-9426-02C82D5B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499D8C31-4E1D-43DA-B757-0B0EF75A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bool array cannot hold a missing value. R303's missing entry forces the whole has_daylight column to fall back to dtype object.</a:t>
            </a:r>
          </a:p>
        </p:txBody>
      </p:sp>
    </p:spTree>
    <p:extLst>
      <p:ext uri="{BB962C8B-B14F-4D97-AF65-F5344CB8AC3E}">
        <p14:creationId xmlns:p14="http://schemas.microsoft.com/office/powerpoint/2010/main" val="16729701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kicker">
            <a:extLst xmlns:a="http://schemas.openxmlformats.org/drawingml/2006/main">
              <a:ext uri="{FF2B5EF4-FFF2-40B4-BE49-F238E27FC236}">
                <a16:creationId xmlns:a16="http://schemas.microsoft.com/office/drawing/2014/main" id="{EC701D54-091F-461B-B1B2-7AA91214F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C07FBD-F8D6-4E4C-9804-C9B0C71F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trustworthiness interview - your answer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A454D-2F8B-4A34-8160-040F08AA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2BF7CDF-084A-4137-A445-CF12F3C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261AA8-63A7-4E79-AD23-13788E6C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193AF-1171-4BF2-8820-EF25D001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CBCC3165-9E9F-4147-99D9-4895DF93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column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6564F2-660F-4D2B-AAC0-DD7ACD0C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9907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1748ACDB-F491-4B23-B933-BADE6D18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0669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68375-3305-4FC3-982B-D49D881F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907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55287EAF-F644-44A3-9047-6C9C53F4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669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non-null / 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F1CC9-C442-47D5-8A9C-6994E0F5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907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header-3">
            <a:extLst xmlns:a="http://schemas.openxmlformats.org/drawingml/2006/main">
              <a:ext uri="{FF2B5EF4-FFF2-40B4-BE49-F238E27FC236}">
                <a16:creationId xmlns:a16="http://schemas.microsoft.com/office/drawing/2014/main" id="{529012F4-D69A-4FB0-AE89-5B49CF80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01898-EB46-48C4-9EB5-718C4F6B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0">
            <a:extLst xmlns:a="http://schemas.openxmlformats.org/drawingml/2006/main">
              <a:ext uri="{FF2B5EF4-FFF2-40B4-BE49-F238E27FC236}">
                <a16:creationId xmlns:a16="http://schemas.microsoft.com/office/drawing/2014/main" id="{46D90C00-FFD6-4A6A-8E23-E5711B8C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room_id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2EE5F-7A19-48DB-AE8C-3DC1846F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5241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1">
            <a:extLst xmlns:a="http://schemas.openxmlformats.org/drawingml/2006/main">
              <a:ext uri="{FF2B5EF4-FFF2-40B4-BE49-F238E27FC236}">
                <a16:creationId xmlns:a16="http://schemas.microsoft.com/office/drawing/2014/main" id="{72D9C6D6-EF36-4BE4-AF78-8AFBA186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6003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0FBE7-4317-47D3-B4F5-DD679CDE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241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0-2">
            <a:extLst xmlns:a="http://schemas.openxmlformats.org/drawingml/2006/main">
              <a:ext uri="{FF2B5EF4-FFF2-40B4-BE49-F238E27FC236}">
                <a16:creationId xmlns:a16="http://schemas.microsoft.com/office/drawing/2014/main" id="{B4435273-C02B-4A1E-9B54-42AFE53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03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1FC7F-72F9-4E3E-9352-F69E5AAC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5241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0-3">
            <a:extLst xmlns:a="http://schemas.openxmlformats.org/drawingml/2006/main">
              <a:ext uri="{FF2B5EF4-FFF2-40B4-BE49-F238E27FC236}">
                <a16:creationId xmlns:a16="http://schemas.microsoft.com/office/drawing/2014/main" id="{F877E128-F495-4C87-B3CD-61E4FB3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003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 text label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931B4-55C8-4C51-87FE-F2BD331B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0">
            <a:extLst xmlns:a="http://schemas.openxmlformats.org/drawingml/2006/main">
              <a:ext uri="{FF2B5EF4-FFF2-40B4-BE49-F238E27FC236}">
                <a16:creationId xmlns:a16="http://schemas.microsoft.com/office/drawing/2014/main" id="{204BB142-4921-4F6D-8125-3D6E0FBE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F602B-62EE-4B59-BE19-0942EFD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575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1-1">
            <a:extLst xmlns:a="http://schemas.openxmlformats.org/drawingml/2006/main">
              <a:ext uri="{FF2B5EF4-FFF2-40B4-BE49-F238E27FC236}">
                <a16:creationId xmlns:a16="http://schemas.microsoft.com/office/drawing/2014/main" id="{3C0A4B80-EE69-4639-929B-7F4D9EE9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1337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int64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6F55D-B04E-4BDC-964E-435BBBA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575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1-2">
            <a:extLst xmlns:a="http://schemas.openxmlformats.org/drawingml/2006/main">
              <a:ext uri="{FF2B5EF4-FFF2-40B4-BE49-F238E27FC236}">
                <a16:creationId xmlns:a16="http://schemas.microsoft.com/office/drawing/2014/main" id="{3991DDC0-F731-436D-9F9F-BD06C2FF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337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B747C6-62D2-4E05-8657-CEFBFB33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057525"/>
            <a:ext cx="18573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1-3">
            <a:extLst xmlns:a="http://schemas.openxmlformats.org/drawingml/2006/main">
              <a:ext uri="{FF2B5EF4-FFF2-40B4-BE49-F238E27FC236}">
                <a16:creationId xmlns:a16="http://schemas.microsoft.com/office/drawing/2014/main" id="{184EAA67-1716-4C79-94F0-548DA173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133725"/>
            <a:ext cx="1628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 whole number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897B0F-4B36-4F99-9330-2B31D666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2-0">
            <a:extLst xmlns:a="http://schemas.openxmlformats.org/drawingml/2006/main">
              <a:ext uri="{FF2B5EF4-FFF2-40B4-BE49-F238E27FC236}">
                <a16:creationId xmlns:a16="http://schemas.microsoft.com/office/drawing/2014/main" id="{4738CFF8-84F6-4822-B369-7948123F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zone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FEF48E-459B-4524-AF40-A95CFBD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90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2-1">
            <a:extLst xmlns:a="http://schemas.openxmlformats.org/drawingml/2006/main">
              <a:ext uri="{FF2B5EF4-FFF2-40B4-BE49-F238E27FC236}">
                <a16:creationId xmlns:a16="http://schemas.microsoft.com/office/drawing/2014/main" id="{F2770E9C-DEFE-4B53-87DB-8FDE130A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67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88D6FF-37AF-4B5A-B4AC-F2D5DCB1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90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2-2">
            <a:extLst xmlns:a="http://schemas.openxmlformats.org/drawingml/2006/main">
              <a:ext uri="{FF2B5EF4-FFF2-40B4-BE49-F238E27FC236}">
                <a16:creationId xmlns:a16="http://schemas.microsoft.com/office/drawing/2014/main" id="{359618C3-871D-424B-A0ED-0A188C4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67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83E0BC-B258-4C0D-ACD0-4CA20441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59092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2-3">
            <a:extLst xmlns:a="http://schemas.openxmlformats.org/drawingml/2006/main">
              <a:ext uri="{FF2B5EF4-FFF2-40B4-BE49-F238E27FC236}">
                <a16:creationId xmlns:a16="http://schemas.microsoft.com/office/drawing/2014/main" id="{A640A162-8D3E-4D52-A8C8-E2FD652F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66712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 text category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24B9A6-F274-4523-9047-DCDFA852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19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3-0">
            <a:extLst xmlns:a="http://schemas.openxmlformats.org/drawingml/2006/main">
              <a:ext uri="{FF2B5EF4-FFF2-40B4-BE49-F238E27FC236}">
                <a16:creationId xmlns:a16="http://schemas.microsoft.com/office/drawing/2014/main" id="{59C18FF3-2CA3-42D2-835B-5288A16D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081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B3E60E-1656-4C28-B33F-6996F04A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1319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3-1">
            <a:extLst xmlns:a="http://schemas.openxmlformats.org/drawingml/2006/main">
              <a:ext uri="{FF2B5EF4-FFF2-40B4-BE49-F238E27FC236}">
                <a16:creationId xmlns:a16="http://schemas.microsoft.com/office/drawing/2014/main" id="{1798C042-2D3D-430D-85F7-5BD50AD5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081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float64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462735-0DA4-47C0-9D53-79A3D1DC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19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3-2">
            <a:extLst xmlns:a="http://schemas.openxmlformats.org/drawingml/2006/main">
              <a:ext uri="{FF2B5EF4-FFF2-40B4-BE49-F238E27FC236}">
                <a16:creationId xmlns:a16="http://schemas.microsoft.com/office/drawing/2014/main" id="{F561A509-5F05-4F97-A9FE-608399D2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081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1FAC4-CA92-4524-87D3-BFFBD014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3194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3-3">
            <a:extLst xmlns:a="http://schemas.openxmlformats.org/drawingml/2006/main">
              <a:ext uri="{FF2B5EF4-FFF2-40B4-BE49-F238E27FC236}">
                <a16:creationId xmlns:a16="http://schemas.microsoft.com/office/drawing/2014/main" id="{9DC30231-3B95-4463-B2F7-BDC64605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0814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 measured number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4ADED9-4A0D-4049-89B1-DEECC6C2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296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4-0">
            <a:extLst xmlns:a="http://schemas.openxmlformats.org/drawingml/2006/main">
              <a:ext uri="{FF2B5EF4-FFF2-40B4-BE49-F238E27FC236}">
                <a16:creationId xmlns:a16="http://schemas.microsoft.com/office/drawing/2014/main" id="{A2FC8471-A84B-49CB-ADE3-1E650012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916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has_daylight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1C7CBD-E422-4D09-8FD8-7B9B4526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67296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9" name="cell-4-1">
            <a:extLst xmlns:a="http://schemas.openxmlformats.org/drawingml/2006/main">
              <a:ext uri="{FF2B5EF4-FFF2-40B4-BE49-F238E27FC236}">
                <a16:creationId xmlns:a16="http://schemas.microsoft.com/office/drawing/2014/main" id="{BD5FAC3A-F9D0-4E15-A34F-C6024B5B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4916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object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B0F7EB-6579-4F04-A861-BA79A1B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7296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1" name="cell-4-2">
            <a:extLst xmlns:a="http://schemas.openxmlformats.org/drawingml/2006/main">
              <a:ext uri="{FF2B5EF4-FFF2-40B4-BE49-F238E27FC236}">
                <a16:creationId xmlns:a16="http://schemas.microsoft.com/office/drawing/2014/main" id="{1CF379C5-BBA3-4DF5-BD8C-368713B6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4916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376000-8741-4259-89CC-677D030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72965"/>
            <a:ext cx="1857375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3" name="cell-4-3">
            <a:extLst xmlns:a="http://schemas.openxmlformats.org/drawingml/2006/main">
              <a:ext uri="{FF2B5EF4-FFF2-40B4-BE49-F238E27FC236}">
                <a16:creationId xmlns:a16="http://schemas.microsoft.com/office/drawing/2014/main" id="{D6327AD9-0A1A-45E5-9A5A-3B7C3C35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749165"/>
            <a:ext cx="1628775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missing value (R303) breaks the bool dtype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7CF25D-0852-49BB-B3CB-B7056746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829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5" name="cell-5-0">
            <a:extLst xmlns:a="http://schemas.openxmlformats.org/drawingml/2006/main">
              <a:ext uri="{FF2B5EF4-FFF2-40B4-BE49-F238E27FC236}">
                <a16:creationId xmlns:a16="http://schemas.microsoft.com/office/drawing/2014/main" id="{593EB7BF-BB0A-40EC-86F0-2C017A49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449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energy_kwh_m2_yr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D23593-46C1-4588-9B06-8546F96F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540829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7" name="cell-5-1">
            <a:extLst xmlns:a="http://schemas.openxmlformats.org/drawingml/2006/main">
              <a:ext uri="{FF2B5EF4-FFF2-40B4-BE49-F238E27FC236}">
                <a16:creationId xmlns:a16="http://schemas.microsoft.com/office/drawing/2014/main" id="{AF8019B2-B531-41CF-B2ED-B5510404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48449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float64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6CE607B-4E3F-49D6-BC69-574215E7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0829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59" name="cell-5-2">
            <a:extLst xmlns:a="http://schemas.openxmlformats.org/drawingml/2006/main">
              <a:ext uri="{FF2B5EF4-FFF2-40B4-BE49-F238E27FC236}">
                <a16:creationId xmlns:a16="http://schemas.microsoft.com/office/drawing/2014/main" id="{7D2CEEAA-CD2C-4AA0-B2D5-19F39A1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8449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942D4A-ABDF-40F3-AA92-91ED30BF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408295"/>
            <a:ext cx="1857375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61" name="cell-5-3">
            <a:extLst xmlns:a="http://schemas.openxmlformats.org/drawingml/2006/main">
              <a:ext uri="{FF2B5EF4-FFF2-40B4-BE49-F238E27FC236}">
                <a16:creationId xmlns:a16="http://schemas.microsoft.com/office/drawing/2014/main" id="{17588D27-9C38-40D0-AD06-00332B7A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5484495"/>
            <a:ext cx="1628775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missing value (R206)</a:t>
            </a:r>
          </a:p>
        </p:txBody>
      </p:sp>
      <p:sp>
        <p:nvSpPr>
          <p:cNvPr id="6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922EC7A5-03F4-4AA6-ABE5-04AE1B0E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63" name="callout">
            <a:extLst xmlns:a="http://schemas.openxmlformats.org/drawingml/2006/main">
              <a:ext uri="{FF2B5EF4-FFF2-40B4-BE49-F238E27FC236}">
                <a16:creationId xmlns:a16="http://schemas.microsoft.com/office/drawing/2014/main" id="{E0EC0573-B9A4-42A8-94C3-B1BDCE72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table summarizes dtypes + isna().sum() side by side - it is NOT the literal text info() prints (the real printout follows Studio 2). If your own numbers don't match, stop and find the difference before continuing.</a:t>
            </a:r>
          </a:p>
        </p:txBody>
      </p:sp>
    </p:spTree>
    <p:extLst>
      <p:ext uri="{BB962C8B-B14F-4D97-AF65-F5344CB8AC3E}">
        <p14:creationId xmlns:p14="http://schemas.microsoft.com/office/powerpoint/2010/main" val="18205443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FEAA65FA-91F5-43B6-9F39-77BD9ADD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0A2F49-2263-4A7E-AFA1-34456E6A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2: run the interview yourself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08361-C976-43C2-B786-EC4D000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8843BAE-5D02-4F38-8A60-B052503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A4975B2-926B-460C-BA0B-F14845CB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78096B66-2993-4570-8781-A14D91DB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365C3282-5AF7-454C-88BA-530A1BD5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dtypes, head, info, and isna().sum() - all four, on your own machine.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959E5EF6-154D-46C0-A127-D3C3D6F5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5ECB6B4D-0648-4BA4-B78C-EC0C510B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E6616115-3B79-4DBA-BC8A-973E9A09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 rooms.dtypes and find the one object column.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EE42F912-60E5-4247-B4DC-269AE4A2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A76E8C88-BC18-41C5-9A2F-91690A60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 rooms.head() and rooms.info().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27E7F8C4-7B3F-44FC-94B2-410EA6F6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1E8D82F0-BEBD-46B0-A388-8A9894EF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Print rooms.isna().sum() and name both missing values by room_id.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5EB8965-04AF-4CAF-9498-2A74BB6C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3A8190F-FA65-4B4F-9744-21288383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Compare your output with the answer key - do not skip a mismatch.</a:t>
            </a:r>
          </a:p>
        </p:txBody>
      </p:sp>
    </p:spTree>
    <p:extLst>
      <p:ext uri="{BB962C8B-B14F-4D97-AF65-F5344CB8AC3E}">
        <p14:creationId xmlns:p14="http://schemas.microsoft.com/office/powerpoint/2010/main" val="15350350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19696DC0-5688-49EC-8F83-A6553EC8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074FBB-5C97-42A3-981F-64ECB61B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what info() hands 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A4673-5C5F-4787-BF0D-F044C389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D178456-7245-423D-8A8B-028094B4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14D6AC7-5F71-402E-91B8-C1EBEC75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5A3D5DE3-1EDB-458E-8623-C249BC96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82FAA879-5115-47B6-B0EC-962791C3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x = rooms.info()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print(x)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DF6CF3F1-67A4-49BE-AB69-7A3026D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the second line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D820152F-DDA4-430F-8980-FE48A574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56AAB5EB-FB84-4C86-840D-867EFF94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CCD4BBC9-8219-4121-9C11-FBD23E58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The summary again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B0A56450-3932-4B72-8D25-9636EA3B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A5260A73-9A43-4BFC-950F-E47C2496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4A1CD4A4-E723-49CE-B22E-FE97C692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None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56003B4F-5EFC-42E1-9C6F-09555430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F393618E-1626-46A5-B28D-57ABDC9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5EE3624C-CE6A-487F-8883-8F4D1F2D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 DataFrame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F4FD013E-F8F3-4BAD-AB76-A2453F53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76DA2BBC-1143-4EB8-8991-B5A0F4E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E3D9615B-02FF-4ADB-8B23-3E8F6ECF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An error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A34D06D0-5694-468D-BF33-F8642712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75E37D8E-9BE7-4477-AC8B-45302179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DEE719DD-A255-4DAF-8400-311D5882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info() prints its summary as a side effect and returns nothing. x holds None, so print(x) prints the word None, not the summary again.</a:t>
            </a:r>
          </a:p>
        </p:txBody>
      </p:sp>
    </p:spTree>
    <p:extLst>
      <p:ext uri="{BB962C8B-B14F-4D97-AF65-F5344CB8AC3E}">
        <p14:creationId xmlns:p14="http://schemas.microsoft.com/office/powerpoint/2010/main" val="16440792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F4A2C80-8C0D-40F7-8A85-1865CEFC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C7E8BEB-7C32-4868-A74A-86280EDB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 your info() output against the real thing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BF4CA-6A4B-486C-9BC0-569EC1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544C93C-A3BF-4689-89C2-CE5D9572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B7D07E-1801-4F17-8496-028CA0B8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5B890F0-71C0-447E-A694-25F40E4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D7098C9-4A41-41E0-B8D5-D4C0B02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14036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rooms.info()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3485B-F614-430E-8892-F6E18D5B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815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1E719AB6-FBC2-4F65-8E81-73480E80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245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AB091552-DBEB-4D29-B81A-13FF60BC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1054"/>
            <a:ext cx="6400800" cy="1968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&lt;class 'pandas.DataFrame'&gt;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RangeIndex: 24 entries, 0 to 23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Data columns (total 12 columns):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#   Column            Non-Null Count  Dtype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---  ------            --------------  ----- 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6   has_daylight      23 non-null     object 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7   energy_kwh_m2_yr  23 non-null     float64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...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dtypes: float64(6), int64(1), object(1), str(4)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memory usage: 2.4+ KB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E0DAC57-5FEA-44F8-B59A-FC96A825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6697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.info() answer key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5800696D-2F8F-4E1F-8579-E478858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64561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This is the exact, verified pandas 3.0.5 output for rooms.info() - not a simplification, and not the same thing as the hand-built dtype answer-key table from before Studio 2. If your own printout doesn't show has_daylight and energy_kwh_m2_yr both at 23 non-null, stop and find the difference before Studio 3.</a:t>
            </a:r>
          </a:p>
        </p:txBody>
      </p:sp>
    </p:spTree>
    <p:extLst>
      <p:ext uri="{BB962C8B-B14F-4D97-AF65-F5344CB8AC3E}">
        <p14:creationId xmlns:p14="http://schemas.microsoft.com/office/powerpoint/2010/main" val="996973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428C4BE8-7C47-4124-A58B-D9BA4E12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REQUIRED ARTIFACT, FROM MONDAY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CE245B8-3C0A-4CFC-A7D4-9B3AF333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 dictionary and a provenance note, recalled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900B3A-D3D3-48DA-9E29-1E41091E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944B395-4CE2-446F-BBE3-9223CF2E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05CFAF5-3BB8-4BA7-88DE-30C9B176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5452F275-43EF-4AB7-968D-DCC42D87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dictionary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104C3CBC-1134-4E3A-8D07-8DD17EB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entry per column: name, unit or allowed values, meaning. Write it before trusting a single number - Project 1 requires one for every dataset you submit, including your own later.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C46041DC-3D81-4DB1-8512-26D114D4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Provenance note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5AF0633F-6EDD-4648-A1A4-6F3A24FA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Where the file came from, when, and under what assumptions - one or two sentences is enough. For Radley Hall: instructor-built, fictional, for this course only.</a:t>
            </a:r>
          </a:p>
        </p:txBody>
      </p:sp>
    </p:spTree>
    <p:extLst>
      <p:ext uri="{BB962C8B-B14F-4D97-AF65-F5344CB8AC3E}">
        <p14:creationId xmlns:p14="http://schemas.microsoft.com/office/powerpoint/2010/main" val="21058291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EE3B21C1-34D5-497A-BBB5-7A059C2B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58335B-1CAC-432B-8B89-2222241F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Radley Hall's data dictionary - the reference you'll extend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77D11-8658-4A71-90C1-6EA45C5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51F404-E147-45FE-9F2A-1712C224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B9CF476-BA40-4EBA-A11D-9F4C1F5C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88EE5-285A-4608-BC57-3267F760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B2854FE6-E688-4551-8FFF-BF7AF3E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column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9314B-DB22-4FF0-8248-0DDCFBBE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06FB139B-66E2-436C-85BA-04E24C7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unit / values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7E9D9-809F-4CC9-94D3-7826BBB0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6289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632A17D4-2D4B-4401-96DF-7E4408E1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F563D-C001-4B52-81FF-CCB93645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79E1415E-E63F-450B-A4AA-3A59BB4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63DBFB-FB51-4618-9F38-D5C29E11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6EA5B267-C548-48B7-B919-523B4D18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385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North / South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47E84-9DE3-48C1-97D1-2A0D42F3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623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259AB403-8B2F-4475-A8F8-F3F6F6C3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85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building half the room sits 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7979A8-7F87-4195-8974-AE9DCE9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332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28673854-AB52-4D6A-84DB-605179F7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952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area_m2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A335C-E0EB-406C-A038-EBB771A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0332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5DB3A0A3-3DF8-4AFD-BBD4-60C848F6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952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31016-D53F-44C9-B702-70116F19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0332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DA352A52-AB10-4931-934A-C69B0FBB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7952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measured room floor area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3552B-3993-45E8-BED6-F9E33946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2BEB7CC4-9D2C-43C6-85DC-37844A5E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has_daylight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659E8-3797-41D0-A036-98BF8C7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1BB2F5F7-B1D2-4D44-ADD8-B1C017A5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 / False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C8CDF9-1C7C-4D07-A35B-50221701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3FEF291A-D422-47DA-8CCB-A22C259D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room has at least one exterior daylight opening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81745-7A0C-4EE8-B67C-EC1AF1F4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D99280D0-1DDF-4B81-AB3D-37A50B3E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energy_kwh_m2_yr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CE572-FA45-436E-8E35-74DA2A9A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FD03F16A-12A7-45E5-B7F2-16D3A356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kWh / m² / yr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50DCEE-D606-445C-9496-14896785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77774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8FBAE0A2-EF5C-4D7F-9729-B7A9B329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5394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modeled annual energy use intensity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AE88C14D-95FB-4C09-A1A3-77B27CC6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EB84C4D6-5870-40B8-9379-EDAD3A18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Fictional, instructor-built data for this course - not a real building. Say this in your own provenance note whenever data isn't yours.</a:t>
            </a:r>
          </a:p>
        </p:txBody>
      </p:sp>
    </p:spTree>
    <p:extLst>
      <p:ext uri="{BB962C8B-B14F-4D97-AF65-F5344CB8AC3E}">
        <p14:creationId xmlns:p14="http://schemas.microsoft.com/office/powerpoint/2010/main" val="424208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32C0FA8-31C6-44AB-B9F9-E3F7CE7B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5A064C-9B8A-4E0F-A802-98EFFE93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3: write your data dictionary and provenance 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BBEC4-186A-494F-9042-5FBBBC5B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3232D37-BE68-42AB-BED7-BC6A1E91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DF05D4D-2142-4BB8-BABA-9A6CDE90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F27C955B-C08C-4EDC-B3A5-9A47E90A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0743EC59-9B46-466D-A793-E668EF57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Extend the reference table above to all 12 columns, in your own script.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7AB44A95-B22F-4552-A430-EE642206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6CCC4CE2-D86A-4E39-BFB9-B091499E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02D472F0-A1D1-4E9B-9FD1-535EAAD5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List every column, its unit or values, and its meaning.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A847A955-FCFC-447B-B9D5-2D7B39EB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D0C431C-16AA-4386-A10D-1FEA603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where Radley Hall's data came from (see the reference slide).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20CA2329-6E04-4475-AE89-84DDA6F3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7E46566E-FAB4-4EB9-AFD8-64F6F9C1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Note which two values are missing, by room_id.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FDCBD2B2-1103-4613-89E6-1B5B8C27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9487D207-8852-41EA-985F-47819A1B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Save both as Python strings or comments in your script.</a:t>
            </a:r>
          </a:p>
        </p:txBody>
      </p:sp>
    </p:spTree>
    <p:extLst>
      <p:ext uri="{BB962C8B-B14F-4D97-AF65-F5344CB8AC3E}">
        <p14:creationId xmlns:p14="http://schemas.microsoft.com/office/powerpoint/2010/main" val="1850426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5EF474B4-060E-4615-99A3-06B84017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RECALL, FROM MONDAY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1AFE01-AF7A-4F44-BF0F-2D577CDA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NaN marks a value nobody recorded, recalled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8282A-94B8-4DB8-A52D-7ED931FD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89E9F5-63B7-4EAA-9B3B-5B30BBBD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6AAC466-F647-4FE7-B41E-383080DE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8C3E1815-B0E5-485A-8C34-6DF51D3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6947AE8A-1533-4082-BC1E-A7DE57AC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NaN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AC6CF-451C-49B2-B0FB-257367FE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7B38F9E7-69D3-43CF-A146-FC3CDF147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Recall from Monday: pandas' marker for a missing value - not zero, not an empty string, not False. A genuine absence, in any column type.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6838CC1E-AD92-43DB-97E1-2A9FFF58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EDB80826-3CF1-4C1D-8CE5-12870BE1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9800681E-E0D2-4B4D-BE03-C8E850CE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real gaps in Radley Hall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3500918C-3E5F-458A-AEE7-8932DE90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R303 has no recorded has_daylight value; R206 has no recorded energy_kwh_m2_yr. rooms.isna().sum() reports exactly one NaN in each column - finding gaps like these, before trusting a single number, is the whole point of the trustworthiness interview.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ECDB6C11-5107-4E5A-A667-D27A74C8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FC6B07B-BB4B-408F-8E8E-94241A9A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1F596F75-D853-4E8E-AA2F-8B21A35E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NaN is contagious in arithmetic: 5 + NaN is NaN, not 5. Derive a column from one with a gap, and that row silently becomes NaN too.</a:t>
            </a:r>
          </a:p>
        </p:txBody>
      </p:sp>
    </p:spTree>
    <p:extLst>
      <p:ext uri="{BB962C8B-B14F-4D97-AF65-F5344CB8AC3E}">
        <p14:creationId xmlns:p14="http://schemas.microsoft.com/office/powerpoint/2010/main" val="20250994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31D84D39-F585-4384-A759-CA681111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JUDGMENT, FROM MONDAY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FEFBC9D-5378-4C43-A40A-842A14DE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NaN as a modeling decision, recalled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754AC-2168-48E9-9D4A-4B62919C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F97DC3C-ECC0-4797-A0D7-DC39C3A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D7C89FB-EA97-436E-A5B0-24045609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A080E4D0-5E17-462E-80DB-299F292D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Drop the row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725AA3C-1EA8-4692-AAA4-9DFBC11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Removes a record entirely - defensible when the missing value is required for the analysis at hand, e.g. you cannot compute an energy comparison without energy_kwh_m2_yr.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D3C15436-5016-4F6D-84E5-F8C1A18B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Keep the column, flag the gap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B0A8C2B7-E018-4FB8-8A45-FFC7F7E6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Dropping has_daylight would throw away 23 good values to fix 1 gap. Keep it, but remember its dtype (object) and count (23/24) every time you use it.</a:t>
            </a:r>
          </a:p>
        </p:txBody>
      </p:sp>
    </p:spTree>
    <p:extLst>
      <p:ext uri="{BB962C8B-B14F-4D97-AF65-F5344CB8AC3E}">
        <p14:creationId xmlns:p14="http://schemas.microsoft.com/office/powerpoint/2010/main" val="14758631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kicker">
            <a:extLst xmlns:a="http://schemas.openxmlformats.org/drawingml/2006/main">
              <a:ext uri="{FF2B5EF4-FFF2-40B4-BE49-F238E27FC236}">
                <a16:creationId xmlns:a16="http://schemas.microsoft.com/office/drawing/2014/main" id="{D432AAB7-C111-4DE6-8FC7-EE5003C5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ANATOMY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B33487F-1953-44FC-8901-A10B4D6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filter line one part at a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B3ED4-F165-4ED9-BFE7-EE14253B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5C6E546-FE0C-4ED3-B15C-794882FD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3597752-3F4D-4152-BA07-DFF5DEFD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F429F916-438C-4C64-B108-C9C214C9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810E47A3-626A-4AB6-9B55-0B1DA2CA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57400"/>
            <a:ext cx="729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rooms['energy_kwh_m2_yr'].notna()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6B143-D07A-45A1-91C8-173E5F02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479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D4F38378-FA75-42E0-B9BF-961E8DAA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738B5B3C-C392-4C63-9D93-AA54CFC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D6973635-4377-47CF-9139-7DE26165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EB39F284-B1A5-4C24-B446-0069B7B5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42E69264-B785-42A2-BCF7-41314EBD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DataFrame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C8340D81-FC4A-4CE8-97A8-65D6EF98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390138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The loaded table - one row per room.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E82104-34E2-4E10-AC53-C75ADF68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64795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9050EFC4-2E66-4833-9E3A-0337D853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F2A43334-7434-421E-84C3-26C23207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07997A9F-AFF9-476B-8D18-1192B38E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FCBB3604-33DC-434D-BA1F-6EE786EF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1DDD78D3-197B-4CB5-B88A-872C7A1B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Column selector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D17575AC-D004-4E9B-87F9-C8684AD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37026"/>
            <a:ext cx="2000250" cy="4107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Brackets + a quoted name pull out one Series.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4F4769-0B69-4461-9748-6A24967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4795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02454FFF-0BBA-496F-9767-9D5CF50E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7CAFA6C3-D92E-42F2-87FD-CA0329E0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83A71926-CA0E-48D9-B968-D2F0713D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4F4352B5-AEB9-4456-9401-23BC05F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E21D2B86-F3FA-4BDC-AA1D-BC84138D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Method call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81531F29-C641-4EF7-9BFC-27A72482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True where a value IS recorded, False where it's NaN - one Boolean per row.</a:t>
            </a:r>
          </a:p>
        </p:txBody>
      </p:sp>
    </p:spTree>
    <p:extLst>
      <p:ext uri="{BB962C8B-B14F-4D97-AF65-F5344CB8AC3E}">
        <p14:creationId xmlns:p14="http://schemas.microsoft.com/office/powerpoint/2010/main" val="87160709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6A40E5FA-2445-44B1-94D4-B12C67FB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AD1B8D-6359-4E23-B7F4-C5FF5200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Commit to a row count before you filter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380C2-57D7-49FD-8158-46132F4F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4B774DF-135F-4648-9E91-C455BE82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68E4E7-B0EE-42F4-A570-3E44B8D2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6358F241-4CC4-4AE0-82E7-850916E2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3EA6D1D4-2E43-4B9C-B77A-06BC370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only R206 lacks a recorded energy_kwh_m2_yr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mask = rooms['energy_kwh_m2_yr'].notna()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cleaned = rooms[mask]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print(cleaned.shape)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7A98F1B4-75E3-477F-9D24-4435C875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the last line print?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704235F9-1294-4880-B984-3C36466F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79CC39D0-8D02-45A9-A086-D2624130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34B28CD1-16CD-450A-882E-3480FA3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(24, 12)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23853F4C-D3BE-4E0E-8CC9-F7176A79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BA019864-E874-4A4C-8635-87640A17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D477B2EE-5892-4317-86E8-35E3DD4C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(23, 12)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C1B8E749-B140-4CDF-A45D-D4CD85B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4EADECA5-BBD3-409A-B0AC-C8F8CDF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A3BC56EF-16E1-41B8-B529-FB44659D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(23, 11)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ED6E27AB-71D2-4F2D-B938-0ED67274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264F9107-5BA0-4E0E-AD8A-99532EC8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5D402BEC-30BF-445D-8AB8-620B2842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(1, 12)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5809B290-8CC3-4C23-90D0-4E37C777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8260D56F-F1D1-4207-A679-E8B16F36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88DB57B2-D1B0-47BC-91E7-1089327E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mask keeps rows with a recorded value: 23 of 24, 12 columns untouched. (1,12) inverts it; (23,11) confuses row vs. column drops.</a:t>
            </a:r>
          </a:p>
        </p:txBody>
      </p:sp>
    </p:spTree>
    <p:extLst>
      <p:ext uri="{BB962C8B-B14F-4D97-AF65-F5344CB8AC3E}">
        <p14:creationId xmlns:p14="http://schemas.microsoft.com/office/powerpoint/2010/main" val="154993112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64D47192-BA83-4F2A-A1F5-63EB3D9E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C184203-6BF3-4E60-B92E-F6FF8502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drop, one keep - both documented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CC5DC-29D2-470C-B3D8-09F2D911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E2F9DDE-31D2-4E40-B181-3938AD1A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8A30D6-D9E2-4365-88E5-541A19A3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128EFED6-DDCF-4873-87E7-99A1BC7D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0AFAF202-C575-48B5-ABE6-2E135C43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cleaned = rooms[rooms['energy_kwh_m2_yr'].notna()].copy()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print(cleaned.shape)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421EB-C9BC-4C01-9981-EFB2DFD8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9397FCBF-DA79-41CE-9712-5882E886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A9A72AC-4BCE-4FE1-BE4B-E4B4170A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(23, 12)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3A082C4-1C1E-4B9A-BFA5-6849F826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Interpreting the result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A5BC9AB-B2D9-404D-B8AA-8B7028F1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26486"/>
            <a:ext cx="3695700" cy="1623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Filtering to notna() rows drops room R206 (its only fault: no energy reading) and keeps everything else, including R303's still-missing has_daylight value, which we keep and flag rather than drop. One drop, one keep, both documented - this week's central judgment call.</a:t>
            </a:r>
          </a:p>
        </p:txBody>
      </p:sp>
    </p:spTree>
    <p:extLst>
      <p:ext uri="{BB962C8B-B14F-4D97-AF65-F5344CB8AC3E}">
        <p14:creationId xmlns:p14="http://schemas.microsoft.com/office/powerpoint/2010/main" val="15079215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7F98B7B7-D244-4D8D-9757-69020529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88F4E1-7D8C-45F0-890B-B7292C59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.copy() makes cleaned independent of rooms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37C901-B838-45F3-BBCF-414401DA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AC73B28-16AD-495A-95E1-6F2D06C7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D5BF629-CF5C-4EE2-A899-AB0A7B88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59E79617-2BC4-43B9-8F51-5B476037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603283FB-7698-4B71-B433-82AE826B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30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.copy()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EF8B7-4BB3-4EC3-8F9A-3D41E042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73633480-CBCB-4469-B464-72F436D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DataFrame method that returns an independent copy of the data. The moment .copy() runs, the copy and the original become two separate objects in memory - editing one never edits the other.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CA4DDD2A-1403-4E3F-B114-BC24D115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224B4B8F-C2CC-460A-BB50-3B2F0181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VERIFIED: PANDAS 3.0.5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D5CD4932-AE96-4707-96D3-D47A5856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cleaned = rooms[mask].copy()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42CFD2F1-C36F-4484-89DF-E58CD28B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rooms[mask] already returns a new, filtered table in pandas 3.0 - editing it does not corrupt rooms. Adding .copy() anyway is this course's required habit: it states your intent in the code itself, so anyone reading the script later knows cleaned stands on its own.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21517530-419A-483C-985F-7095743E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83E5669E-E485-4B8E-B5AD-270218DA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304D20F2-837D-4868-80E6-36D80FA6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Older tutorials warn skipping .copy() raises a SettingWithCopyWarning. Verified: pandas 3.0's Copy-on-Write removed that warning here.</a:t>
            </a:r>
          </a:p>
        </p:txBody>
      </p:sp>
    </p:spTree>
    <p:extLst>
      <p:ext uri="{BB962C8B-B14F-4D97-AF65-F5344CB8AC3E}">
        <p14:creationId xmlns:p14="http://schemas.microsoft.com/office/powerpoint/2010/main" val="1220126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2DCF25E-7BE3-4AEC-812E-5DB7EE9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1F0971-E908-4854-B8A0-08A6885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4: build the cleaned subset and justify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2FD6B-7496-4EF0-80DE-FF5B8CF9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8DC87F1-36ED-43DF-9B87-9165C4F2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8474AF8-C5AA-4FC7-B38F-431F45D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D936AF45-80A1-4B50-86EA-0821D29F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10AB531-17B8-4137-A4B3-3A387E0F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dropped row or column needs one written sentence.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0B623FBE-5145-41F3-9F49-D3DA56CD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F4A5B5A1-9619-4840-BAE3-D6752467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82D1B62E-EB8C-4E72-B098-5F207A91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Filter to rows with a recorded energy_kwh_m2_yr.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886EA538-36C5-4415-BE76-4A67ADC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955FCE48-0304-4E2B-BE10-BF5BDB1A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result is 23 rows, and name the dropped room_id.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5858484B-67F0-4E73-B5F8-7D0A649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B97CB4D6-EF8D-4D4C-BC41-A5D78032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sentence justifying the drop.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3FFC56E6-BEC5-4CBA-A408-F29EA497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16FBB50B-C850-4B87-9DAB-710F2CD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sentence justifying why has_daylight stays, unfixed.</a:t>
            </a:r>
          </a:p>
        </p:txBody>
      </p:sp>
    </p:spTree>
    <p:extLst>
      <p:ext uri="{BB962C8B-B14F-4D97-AF65-F5344CB8AC3E}">
        <p14:creationId xmlns:p14="http://schemas.microsoft.com/office/powerpoint/2010/main" val="10749811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E92E932-E442-44AD-8931-7D64EC68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8B29F0-F5EE-4998-B4D2-8B561C2F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vectorized column, in one small documented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553C9-3D5D-4557-A955-C6D5D26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54675E1-3F10-438C-8633-AFF839F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10F64E-DE89-4155-BE53-D959C288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97E0AD01-0174-467F-BDA4-B0792F88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08D4EB1-B959-4E74-9957-81111FAC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convert_m2_to_ft2(area_m2: pd.Series, decimals: int = 1) -&gt; np.ndarray: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"""Convert area from m2 to ft2."""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np.round(np.array(area_m2) * 10.7639, decimals)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cleaned['area_ft2'] = convert_m2_to_ft2(cleaned['area_m2'])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print(cleaned[['room_id', 'area_m2', 'area_ft2']].head(3))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282ED-1C82-47C9-A671-37B4C4F63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FE2575E-673F-4967-9335-729E2217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5821BFCF-9091-419F-B4D9-FAB4D630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area_m2  area_ft2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   78.0     839.6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   44.2     475.8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R103     18.5     199.1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1DE31EFA-FF19-4553-AC36-C178831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05025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vectorized idea as Monday's NumPy slide - now a documented function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3509633E-2C3D-436D-8B27-5FB247FB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8683"/>
            <a:ext cx="3695700" cy="2506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np.array(area_m2) turns the column into a NumPy array; * 10.7639 converts every room's area at once - no loop, no per-row copy-paste. Wrapping it as convert_m2_to_ft2, with a docstring and a type hint on the parameter and return value, is this week's required 'one clean function per pipeline stage' - the same convention from Monday's lecture, now applied to real data. The next slide adds a second function.</a:t>
            </a:r>
          </a:p>
        </p:txBody>
      </p:sp>
    </p:spTree>
    <p:extLst>
      <p:ext uri="{BB962C8B-B14F-4D97-AF65-F5344CB8AC3E}">
        <p14:creationId xmlns:p14="http://schemas.microsoft.com/office/powerpoint/2010/main" val="49493752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E76FD81B-82FA-4439-BC8E-EA4E9DA3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377F95-3856-41A3-B518-DB5E7003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...continued: a second documented function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3602F-764A-430F-BD3C-203FD93D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EA45388-F5CF-4699-8765-6BB270EA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5C671E9-DA52-4F12-B8DF-27791B0D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D566BD22-F061-4A4A-ABAC-4ED69C8B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A6E7C6B0-9A65-4AD1-82D5-EDAC6BD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6197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def estimate_annual_energy_kwh(energy_kwh_m2_yr: pd.Series, area_m2: pd.Series) -&gt; pd.Series: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"""Total annual energy use, in kWh/yr."""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(energy_kwh_m2_yr * area_m2).round(0)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cleaned['energy_kwh_yr'] = estimate_annual_energy_kwh(cleaned['energy_kwh_m2_yr'], cleaned['area_m2'])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print(cleaned[['room_id', 'area_m2', 'energy_kwh_yr']].head(3))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5BBA1-98E7-45EB-A6E4-436FC48F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4306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E6DB485C-EB47-46AF-8CD4-DEA20F0A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606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3FD397FA-8FB2-4A49-9A15-B39C4245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7206"/>
            <a:ext cx="6400800" cy="752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room_id  area_m2  energy_kwh_yr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0    R101     78.0         4836.0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1    R102     44.2         3160.0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2    R103     18.5         1073.0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D63950F8-9ABC-4ABD-AA62-EDDFF020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3695700" cy="9212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Intensity and total answer different questions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6DA08145-53B9-48DD-A869-6EA5C300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40608"/>
            <a:ext cx="3695700" cy="20650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energy_kwh_m2_yr is an intensity (per square meter); energy_kwh_yr is a real total. R306, the Server closet, has the highest intensity in the whole building - 410 kWh/m2/yr - but at only 8.0 m2 that multiplies into a modest 3,280 kWh/yr, well below several ordinary Studios. Two functions, two documented pipeline stages, one dataset.</a:t>
            </a:r>
          </a:p>
        </p:txBody>
      </p:sp>
    </p:spTree>
    <p:extLst>
      <p:ext uri="{BB962C8B-B14F-4D97-AF65-F5344CB8AC3E}">
        <p14:creationId xmlns:p14="http://schemas.microsoft.com/office/powerpoint/2010/main" val="173608562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D3D13C3-9175-4FB7-8E01-44C238DC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0CA253-E6EE-4ABE-ADEF-441A46D5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Export the cleaned dataset - keyword argument again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024F-24F9-4F54-B5C4-A1827B73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7C415D9-D907-4016-9FC8-A4D9831B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B0C9B13-7B3C-462C-920E-0031E4B6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0279714-9322-4F41-A672-2CFBB481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A2B6AA7-1409-408C-92BD-D280269D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314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cleaned.to_csv('radley_hall_cleaned.csv', index=False)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check = pd.read_csv('radley_hall_cleaned.csv')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print(check.shape)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775EF-5C14-4F8F-8DEB-2855170A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5514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F6857DBB-4CE2-4957-8BCD-11CCA539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9814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682FD9CD-5463-41B3-8C1B-758C9068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98414"/>
            <a:ext cx="6400800" cy="2308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(23, 14)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8D859B09-0B19-4E71-9A58-5D617D42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14625"/>
            <a:ext cx="3695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index=False, every time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2D9BB944-0A06-4BA8-BC4E-87E6F4C1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2211"/>
            <a:ext cx="36957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Without index=False, pandas writes its own row-number column into the file - clutter nobody asked for (Monday's slide on to_csv). This is the exact line Project 1 requires for every CSV you submit.</a:t>
            </a:r>
          </a:p>
        </p:txBody>
      </p:sp>
    </p:spTree>
    <p:extLst>
      <p:ext uri="{BB962C8B-B14F-4D97-AF65-F5344CB8AC3E}">
        <p14:creationId xmlns:p14="http://schemas.microsoft.com/office/powerpoint/2010/main" val="83433333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47FE614-1B34-40D6-992A-1A4ACC87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9374828-75C6-4A67-AD46-EB6B6D71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5: add the column, then export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30154-DE0E-4475-A980-0CF724B1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F8A48C0-295B-4375-8E96-B6BA9CE1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C8B9F-4480-4AA3-B9BC-E0A1A10E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9D8D57C9-E5F8-4CCF-90C4-7D7A19A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369C91D-9899-4347-AC43-8AD43597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 cleaned into one shareable file.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4F45AFC1-BF64-41AB-9577-F9B6F2CB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B33EBABB-952C-42E0-AF1A-EF9E312A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550E6991-2DF9-4959-B03A-4320546B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area_ft2 with a single vectorized line.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E088303A-604D-46BA-93C5-4BED584E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08C3D868-E4ED-4791-9836-08534AC9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the dtype is float64, not object.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7AE02CDF-920A-48B4-AAA8-6B9F58FC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677DD757-594A-4B2B-85C3-14226D2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Export with cleaned.to_csv(path, index=False).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FD9DB37B-82EE-4FB4-9057-457631F5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024F9DA7-0B46-4482-BB24-2FA98207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Reopen the exported file and confirm its shape.</a:t>
            </a:r>
          </a:p>
        </p:txBody>
      </p:sp>
    </p:spTree>
    <p:extLst>
      <p:ext uri="{BB962C8B-B14F-4D97-AF65-F5344CB8AC3E}">
        <p14:creationId xmlns:p14="http://schemas.microsoft.com/office/powerpoint/2010/main" val="151593756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02E96279-9834-4544-9CEC-804501B6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VISUAL TARGET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1A174B3-F2A0-4C6F-9B44-6235C525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your scatter should roughly show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E2971D-E88F-48D1-A917-EA11569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FA82C29-AB80-455C-8248-AD7039AC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067464-3C8F-4FC8-9FEC-35DDC452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7010400" cy="4248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1e42335d3944f2"/>
          </a:graphicData>
        </a:graphic>
      </p:graphicFrame>
      <p:sp>
        <p:nvSpPr>
          <p:cNvPr id="7" name="chart-explain-head">
            <a:extLst xmlns:a="http://schemas.openxmlformats.org/drawingml/2006/main">
              <a:ext uri="{FF2B5EF4-FFF2-40B4-BE49-F238E27FC236}">
                <a16:creationId xmlns:a16="http://schemas.microsoft.com/office/drawing/2014/main" id="{E94C62FD-376A-4B01-B6E7-1FA6611A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35814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shape, not just the code</a:t>
            </a:r>
          </a:p>
        </p:txBody>
      </p:sp>
      <p:sp>
        <p:nvSpPr>
          <p:cNvPr id="8" name="chart-explain-body">
            <a:extLst xmlns:a="http://schemas.openxmlformats.org/drawingml/2006/main">
              <a:ext uri="{FF2B5EF4-FFF2-40B4-BE49-F238E27FC236}">
                <a16:creationId xmlns:a16="http://schemas.microsoft.com/office/drawing/2014/main" id="{6061DB82-1292-4643-B6FB-0F62394F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95472"/>
            <a:ext cx="3581400" cy="1402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Each point is one room; color marks zone. Most points sit under 100 kWh/m2/yr, except one server closet far above the rest. We'll name that formally as an outlier next week - for now, just notice it.</a:t>
            </a:r>
          </a:p>
        </p:txBody>
      </p:sp>
    </p:spTree>
    <p:extLst>
      <p:ext uri="{BB962C8B-B14F-4D97-AF65-F5344CB8AC3E}">
        <p14:creationId xmlns:p14="http://schemas.microsoft.com/office/powerpoint/2010/main" val="10847429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928882F-1F27-41B9-96FA-F77F6888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6606FB-A3BD-4617-B988-CDD673C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6: build your own Matplotlib scatter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64ECD-B2AF-47C0-B8D3-A1706410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F8A5369-41D0-4459-BA09-684CFBF1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BD6C2BE-47F3-4BCD-B74D-8B122ABC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00998F6D-F592-438B-A15E-4B079CD5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4F1515E2-A65B-439C-A844-D9D91F4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static figure: area_ft2 (x) against energy_kwh_m2_yr (y).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CB9239C3-A183-40B3-A193-5A2456B2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5705715F-9962-4BF9-816A-06FD3A4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4B078B30-78F6-4CE0-9864-92D051C2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plt.scatter(cleaned['area_ft2'], cleaned['energy_kwh_m2_yr'])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BE9F6217-2326-4A13-B0A6-A714A7D0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F8729E10-BBFD-485A-A02C-3AEA3207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Label both axes with their units.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CA116E69-4C16-4AE3-B0C9-E6ACF60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C9A7C0E4-287C-47DB-8E94-C1B5F6EF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a title naming the building and room count.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046C5CF-0EA7-4BB1-BE5D-3CEC5499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104CE2BB-8439-4BB0-AE73-B8EC4A0D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Save the figure with plt.savefig(...) and open the file.</a:t>
            </a:r>
          </a:p>
        </p:txBody>
      </p:sp>
    </p:spTree>
    <p:extLst>
      <p:ext uri="{BB962C8B-B14F-4D97-AF65-F5344CB8AC3E}">
        <p14:creationId xmlns:p14="http://schemas.microsoft.com/office/powerpoint/2010/main" val="8262981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FE8573E-B92C-4812-A1B3-77E33D30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CFBC6C1-3676-4636-BA53-D44EA640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7: self-check on a different room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1A972B-458B-4DCE-B4EF-E73614A9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F963D48-26F5-4086-8C05-3021B586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467211-04D8-4FFD-B07D-8355AC26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0A446C18-EC7B-42F9-B95E-72A658A5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7AD2F133-6FC9-406B-A5D3-1766258A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 your pipeline generalizes past the one room you traced live.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9C5DC701-924E-4B93-A546-64648803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ACAB9E51-2C71-45CB-BDD0-44696A0F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9E5EC8DF-D958-4E0A-82B1-24AAEBFC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Pick room R204, not R101 - a room you haven't hand-checked yet.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C2B10BB6-97DA-4C6C-8BDA-0D0D7A8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699D2CC0-D82C-41AC-A7A4-F542186F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its area_ft2 equals round(area_m2 * 10.7639, 1).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E329E779-B89E-467C-B745-8A0DC431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676E0AB4-76EF-4FA7-B713-4BE09E3A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cleaned has zero missing energy values.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FF9EA6B5-A997-4BCB-A815-B0F3B545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959B1885-1E14-4A84-8198-3C81D60F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Assert has_daylight still shows exactly one missing value.</a:t>
            </a:r>
          </a:p>
        </p:txBody>
      </p:sp>
    </p:spTree>
    <p:extLst>
      <p:ext uri="{BB962C8B-B14F-4D97-AF65-F5344CB8AC3E}">
        <p14:creationId xmlns:p14="http://schemas.microsoft.com/office/powerpoint/2010/main" val="2895466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867D7B7-9DBB-4D05-8030-B5F86A9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B355109-875A-4B87-B533-50374D5C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8: audit an AI-generated cleaning script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F03FC-11EE-416A-A387-C86AB91C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75090B3-1A19-400C-8401-31D02359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F9435-B714-4A1C-BB34-F7288E2A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5E6A99B0-6080-441D-88B7-BF773A0D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93D3391A-37F5-4925-A08F-BA201813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drops rows with dropna(), overwrites area_m2, and skips index=False.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4B2CF027-4B73-4173-ACED-B9186E91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FE3D6AC2-39AF-466F-8E8B-35B5E77A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41E7954B-1AD2-4F0C-98D6-743D22FE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Find the factual error in the AI's own comment.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B80B24AB-6DBA-496F-8344-CA26868E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770B33E8-4258-4373-BBD7-11603137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Identify which two rooms dropna() silently removes.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608131A4-AC6A-4D58-9AC9-A64949FA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88603F92-CB18-4D6A-9FF7-47DF4C50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Explain why overwriting area_m2 destroys provenance.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81218307-48A5-4403-8762-36022414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31144525-BC02-49D7-9318-F684DAC2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Add index=False and record every accepted, modified, and rejected change.</a:t>
            </a:r>
          </a:p>
        </p:txBody>
      </p:sp>
    </p:spTree>
    <p:extLst>
      <p:ext uri="{BB962C8B-B14F-4D97-AF65-F5344CB8AC3E}">
        <p14:creationId xmlns:p14="http://schemas.microsoft.com/office/powerpoint/2010/main" val="98733803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3CB02D61-C6E5-40D0-88CF-B02F8760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15E6A2A-17D4-4230-9DB6-B6D5D9E9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This studio previews Project 1, Part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253CDE-EA9A-4A3E-BF24-6C658308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3D8E77E8-57A8-46BD-83AE-725CBF1F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9BD298-F1CC-4242-B44D-8BCC58BF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6D941B06-7965-466D-86C1-8009CD8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9829800" cy="2051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Interview, document, clean, derive, export - the exact five moves Project 1 Part I will ask you to repeat on a dataset you choose yourself.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8C1A2-BF04-473F-A4AF-BE154B86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3504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DE7DE36B-A04F-4705-9F4E-E442545C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7354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Project 1 opens this week (dataset selection); nothing here is graded twice - today's Radley Hall practice is what makes next week's version, on your own data, faster.</a:t>
            </a:r>
          </a:p>
        </p:txBody>
      </p:sp>
    </p:spTree>
    <p:extLst>
      <p:ext uri="{BB962C8B-B14F-4D97-AF65-F5344CB8AC3E}">
        <p14:creationId xmlns:p14="http://schemas.microsoft.com/office/powerpoint/2010/main" val="155417777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5F7DB9A8-8156-4A69-A7C3-1B993F1A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30C54F7-877F-4D03-8416-F2C736E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one small, honest evidence package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A8EF9-EBDF-4D91-9B35-D8EC879E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5A74116-21B3-4776-B363-9CD70A5A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59AB113-66D8-42CA-A0E6-4FE7F600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4026E10E-82BF-4621-9E03-C9971A13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D68B72B1-2C43-452A-ACD6-7008703F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71ECED8A-A268-4271-A63E-EDB01F0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18C910D4-D45F-480E-98E2-04F97868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6E9FD2FA-CDB3-4099-8E1B-D47E0FD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8B95B432-3E3F-4943-B2BE-DDB56FE2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707FB-F724-4D5F-9E78-7518AA53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02F36852-0D90-4688-AFF8-145A5ED7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Cleaned CSV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0F3E61B-39E8-44DC-B232-481EF2C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radley_hall_cleaned.csv, exported with index=False.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2BA77FBB-B267-444B-A9E4-AB13E1E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E6C7FA3-DFF5-4C79-A4BB-68137511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F8849C41-7A8F-4ECF-BBB7-42DC6DF5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E7FD11-26F6-4D32-821D-921DB113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215DD648-C9A8-487E-8F23-6D921089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dictionary + provenance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F3980A1E-574B-413A-BCC8-CC08EFB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Every column, unit, meaning, and source.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5B5E1FE8-CD18-48D9-A7AD-791F2D2C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780DA91-A849-43C0-9D65-D0C98EBC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6B0C4D1-4301-4490-B04D-0C69F3F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650547-C7A0-445E-931E-FF5FCD0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02CCA8C2-770A-4A46-866F-848AB994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Drop-justification memo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449A6906-45CA-4E59-ACEE-91F678E0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sentence per dropped row or column - or per kept-but-flagged one.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E84810CC-A464-4B1C-999F-A0E7F694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A98F6E2B-24D1-4C15-92B9-C3A83781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808D6220-2F1E-422D-94A9-BB32D386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FIGURE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D58AA4-2BA4-411E-A8C9-A36C501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F2CD7B5F-CCB1-4C89-9C3F-C90A8501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NumPy + Matplotlib touch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79A0478D-4A1D-40CB-B614-5F0BF87A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area_ft2 column and its scatter plot, saved as an image.</a:t>
            </a:r>
          </a:p>
        </p:txBody>
      </p:sp>
    </p:spTree>
    <p:extLst>
      <p:ext uri="{BB962C8B-B14F-4D97-AF65-F5344CB8AC3E}">
        <p14:creationId xmlns:p14="http://schemas.microsoft.com/office/powerpoint/2010/main" val="170350464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44E1365-A28F-4F26-B724-58B4CC49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75BCA54-10E8-47A9-8AE7-E67E8104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Exit check: defend one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42ABE-C704-46D7-9203-5FC66FB8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4F2FC47-8F4A-4450-B0DB-DC755FB3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4 · Meeting B · Data Trustworthiness Studio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E7E1DD1-DEC1-412C-A3FB-84F87D48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8AA6B233-AEBB-49DC-BA77-8C349D7D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A87E31CA-2158-486A-BD61-959455E1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Pick one cleaning decision - a drop, or a keep-and-flag.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D1249532-9588-4BC8-BD2C-52E532C9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05449450-90E9-4E7F-A0C3-6B3FE0BA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D81BB431-2A7B-4659-B08D-2BCBFE41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decision in one sentence.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314C6C9C-F148-4487-AF1E-E3EEF115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016FAE7F-44A6-494B-9C4F-C29352B7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evidence that justified it.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7212E7BA-2642-4CF8-AC1D-96AC4060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072C7904-D749-410E-9CCD-11194E2D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what it does NOT prove.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4619EDCB-1C47-4310-B841-8245F92F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B83AE64E-4FE8-46A2-AEBB-1B3C2F53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 ready to explain it cold, no notes.</a:t>
            </a:r>
          </a:p>
        </p:txBody>
      </p:sp>
    </p:spTree>
    <p:extLst>
      <p:ext uri="{BB962C8B-B14F-4D97-AF65-F5344CB8AC3E}">
        <p14:creationId xmlns:p14="http://schemas.microsoft.com/office/powerpoint/2010/main" val="14139017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97B66254-0A7A-4AEE-9A9A-180ADB94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4 · MEETING B · DATA TRUSTWORTHINESS STUDIO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E225973-15C7-4E5D-9F49-5D1F7D7F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Trustworthy data is documented, not just clean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F73ED-C5AC-4CE5-A412-C91C1012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D51A6B61-1FA9-442F-BB57-AA12326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7EEDCE5D-5CF3-48C5-9A22-CF7B84BA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Interview every dataset before you trust it: shape, dtypes, head, info, NaN.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695F2422-C030-4BDF-B82B-3B78B936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C2B9E692-9A82-405B-A794-BDA1CDC5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drop and every kept gap needs one written sentence.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9F18FDA9-FF93-426D-BEEA-A7FFF06A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6408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11662D57-750D-4F42-95A6-6038C5C8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88308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vectorized NumPy column and a Matplotlib scatter took five lines, not a loop.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AB0AC343-9649-43F7-89DD-07614823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203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CBF52544-8E08-4FB2-B08A-036542F9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7393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exact workflow is Project 1, Part I - on your own data, starting now.</a:t>
            </a:r>
          </a:p>
        </p:txBody>
      </p:sp>
    </p:spTree>
    <p:extLst>
      <p:ext uri="{BB962C8B-B14F-4D97-AF65-F5344CB8AC3E}">
        <p14:creationId xmlns:p14="http://schemas.microsoft.com/office/powerpoint/2010/main" val="1700965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2026-08-20T17:41:51.1690000Z</dcterms:created>
  <dcterms:modified xsi:type="dcterms:W3CDTF">2026-08-20T17:41:51.1690000Z</dcterms:modified>
</coreProperties>
</file>