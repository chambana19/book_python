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4657983b7642aa" /><Relationship Type="http://schemas.openxmlformats.org/officeDocument/2006/relationships/extended-properties" Target="/docProps/app.xml" Id="R273e157e04ab42dd" /><Relationship Type="http://schemas.openxmlformats.org/officeDocument/2006/relationships/officeDocument" Target="/ppt/presentation.xml" Id="R453015a1e87a4f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c11defccc14295"/>
  </p:sldMasterIdLst>
  <p:notesMasterIdLst>
    <p:notesMasterId xmlns:r="http://schemas.openxmlformats.org/officeDocument/2006/relationships" r:id="Red232704e66a4a9f"/>
  </p:notesMasterIdLst>
  <p:sldIdLst>
    <p:sldId xmlns:r="http://schemas.openxmlformats.org/officeDocument/2006/relationships" id="256" r:id="Rc3e56e18e12c487c"/>
    <p:sldId xmlns:r="http://schemas.openxmlformats.org/officeDocument/2006/relationships" id="257" r:id="Re3bee225847d4f9a"/>
    <p:sldId xmlns:r="http://schemas.openxmlformats.org/officeDocument/2006/relationships" id="258" r:id="Rbe216c0aee994cf3"/>
    <p:sldId xmlns:r="http://schemas.openxmlformats.org/officeDocument/2006/relationships" id="259" r:id="Rbac63ab046374eca"/>
    <p:sldId xmlns:r="http://schemas.openxmlformats.org/officeDocument/2006/relationships" id="260" r:id="R79ad957869d04a84"/>
    <p:sldId xmlns:r="http://schemas.openxmlformats.org/officeDocument/2006/relationships" id="261" r:id="Rcf90d1eb732240bb"/>
    <p:sldId xmlns:r="http://schemas.openxmlformats.org/officeDocument/2006/relationships" id="262" r:id="Rcdb9e0b0e5bb4a73"/>
    <p:sldId xmlns:r="http://schemas.openxmlformats.org/officeDocument/2006/relationships" id="263" r:id="Rec17b9c0e21944a3"/>
    <p:sldId xmlns:r="http://schemas.openxmlformats.org/officeDocument/2006/relationships" id="264" r:id="Rafaa95b1014a41a2"/>
    <p:sldId xmlns:r="http://schemas.openxmlformats.org/officeDocument/2006/relationships" id="265" r:id="R3a6057dc957d4152"/>
    <p:sldId xmlns:r="http://schemas.openxmlformats.org/officeDocument/2006/relationships" id="266" r:id="Rdd6a68ef3dc94fe2"/>
    <p:sldId xmlns:r="http://schemas.openxmlformats.org/officeDocument/2006/relationships" id="267" r:id="R9d2fa22562954c49"/>
    <p:sldId xmlns:r="http://schemas.openxmlformats.org/officeDocument/2006/relationships" id="268" r:id="R60982a8d3965412b"/>
    <p:sldId xmlns:r="http://schemas.openxmlformats.org/officeDocument/2006/relationships" id="269" r:id="R81653969b670404f"/>
    <p:sldId xmlns:r="http://schemas.openxmlformats.org/officeDocument/2006/relationships" id="270" r:id="R002e67be36f843b4"/>
    <p:sldId xmlns:r="http://schemas.openxmlformats.org/officeDocument/2006/relationships" id="271" r:id="R06e1ff149f7d4a12"/>
    <p:sldId xmlns:r="http://schemas.openxmlformats.org/officeDocument/2006/relationships" id="272" r:id="R9b525cae5293459b"/>
    <p:sldId xmlns:r="http://schemas.openxmlformats.org/officeDocument/2006/relationships" id="273" r:id="R6684a01b07274172"/>
    <p:sldId xmlns:r="http://schemas.openxmlformats.org/officeDocument/2006/relationships" id="274" r:id="R92ccb55263284141"/>
    <p:sldId xmlns:r="http://schemas.openxmlformats.org/officeDocument/2006/relationships" id="275" r:id="Rd339f43b05c34ffb"/>
    <p:sldId xmlns:r="http://schemas.openxmlformats.org/officeDocument/2006/relationships" id="276" r:id="R069881894a6841b1"/>
    <p:sldId xmlns:r="http://schemas.openxmlformats.org/officeDocument/2006/relationships" id="277" r:id="R09ddde1b420c4455"/>
    <p:sldId xmlns:r="http://schemas.openxmlformats.org/officeDocument/2006/relationships" id="278" r:id="R91248c554f1c46a0"/>
    <p:sldId xmlns:r="http://schemas.openxmlformats.org/officeDocument/2006/relationships" id="279" r:id="R7762734ded2c443f"/>
    <p:sldId xmlns:r="http://schemas.openxmlformats.org/officeDocument/2006/relationships" id="280" r:id="Red1920728d084203"/>
    <p:sldId xmlns:r="http://schemas.openxmlformats.org/officeDocument/2006/relationships" id="281" r:id="R82d6c7f1ef3a4604"/>
    <p:sldId xmlns:r="http://schemas.openxmlformats.org/officeDocument/2006/relationships" id="282" r:id="R933f22f8292f4d74"/>
    <p:sldId xmlns:r="http://schemas.openxmlformats.org/officeDocument/2006/relationships" id="283" r:id="R5d686df3edb04609"/>
    <p:sldId xmlns:r="http://schemas.openxmlformats.org/officeDocument/2006/relationships" id="284" r:id="R519aaa8edb924b73"/>
    <p:sldId xmlns:r="http://schemas.openxmlformats.org/officeDocument/2006/relationships" id="285" r:id="Rb5fbe51c9f73470a"/>
    <p:sldId xmlns:r="http://schemas.openxmlformats.org/officeDocument/2006/relationships" id="286" r:id="Rb611c663e3274769"/>
    <p:sldId xmlns:r="http://schemas.openxmlformats.org/officeDocument/2006/relationships" id="287" r:id="R567cb82085a2464c"/>
    <p:sldId xmlns:r="http://schemas.openxmlformats.org/officeDocument/2006/relationships" id="288" r:id="Rf7791801759d4e8d"/>
    <p:sldId xmlns:r="http://schemas.openxmlformats.org/officeDocument/2006/relationships" id="289" r:id="Rd33b51a181de4f56"/>
    <p:sldId xmlns:r="http://schemas.openxmlformats.org/officeDocument/2006/relationships" id="290" r:id="R62f4acf16d234908"/>
    <p:sldId xmlns:r="http://schemas.openxmlformats.org/officeDocument/2006/relationships" id="291" r:id="Rf57750207fe8496f"/>
    <p:sldId xmlns:r="http://schemas.openxmlformats.org/officeDocument/2006/relationships" id="292" r:id="R186e2bed0165459e"/>
    <p:sldId xmlns:r="http://schemas.openxmlformats.org/officeDocument/2006/relationships" id="293" r:id="R0a06e10d29df4300"/>
    <p:sldId xmlns:r="http://schemas.openxmlformats.org/officeDocument/2006/relationships" id="294" r:id="Rf7d5c26cc85140e7"/>
    <p:sldId xmlns:r="http://schemas.openxmlformats.org/officeDocument/2006/relationships" id="295" r:id="R752ea059264a4906"/>
    <p:sldId xmlns:r="http://schemas.openxmlformats.org/officeDocument/2006/relationships" id="296" r:id="Rbbbdbad786e945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5d40238a4f40c6" /><Relationship Type="http://schemas.openxmlformats.org/officeDocument/2006/relationships/slideMaster" Target="/ppt/slideMasters/slideMaster1.xml" Id="R7ac11defccc14295" /><Relationship Type="http://schemas.openxmlformats.org/officeDocument/2006/relationships/notesMaster" Target="/ppt/notesMasters/notesMaster1.xml" Id="Red232704e66a4a9f" /><Relationship Type="http://schemas.openxmlformats.org/officeDocument/2006/relationships/presProps" Target="/ppt/presProps.xml" Id="R9bf8d899a9304b40" /><Relationship Type="http://schemas.openxmlformats.org/officeDocument/2006/relationships/tableStyles" Target="/ppt/tableStyles.xml" Id="R070ad232852b4ce5" /><Relationship Type="http://schemas.openxmlformats.org/officeDocument/2006/relationships/slide" Target="/ppt/slides/slide1.xml" Id="Rc3e56e18e12c487c" /><Relationship Type="http://schemas.openxmlformats.org/officeDocument/2006/relationships/slide" Target="/ppt/slides/slide2.xml" Id="Re3bee225847d4f9a" /><Relationship Type="http://schemas.openxmlformats.org/officeDocument/2006/relationships/slide" Target="/ppt/slides/slide3.xml" Id="Rbe216c0aee994cf3" /><Relationship Type="http://schemas.openxmlformats.org/officeDocument/2006/relationships/slide" Target="/ppt/slides/slide4.xml" Id="Rbac63ab046374eca" /><Relationship Type="http://schemas.openxmlformats.org/officeDocument/2006/relationships/slide" Target="/ppt/slides/slide5.xml" Id="R79ad957869d04a84" /><Relationship Type="http://schemas.openxmlformats.org/officeDocument/2006/relationships/slide" Target="/ppt/slides/slide6.xml" Id="Rcf90d1eb732240bb" /><Relationship Type="http://schemas.openxmlformats.org/officeDocument/2006/relationships/slide" Target="/ppt/slides/slide7.xml" Id="Rcdb9e0b0e5bb4a73" /><Relationship Type="http://schemas.openxmlformats.org/officeDocument/2006/relationships/slide" Target="/ppt/slides/slide8.xml" Id="Rec17b9c0e21944a3" /><Relationship Type="http://schemas.openxmlformats.org/officeDocument/2006/relationships/slide" Target="/ppt/slides/slide9.xml" Id="Rafaa95b1014a41a2" /><Relationship Type="http://schemas.openxmlformats.org/officeDocument/2006/relationships/slide" Target="/ppt/slides/slide10.xml" Id="R3a6057dc957d4152" /><Relationship Type="http://schemas.openxmlformats.org/officeDocument/2006/relationships/slide" Target="/ppt/slides/slide11.xml" Id="Rdd6a68ef3dc94fe2" /><Relationship Type="http://schemas.openxmlformats.org/officeDocument/2006/relationships/slide" Target="/ppt/slides/slide12.xml" Id="R9d2fa22562954c49" /><Relationship Type="http://schemas.openxmlformats.org/officeDocument/2006/relationships/slide" Target="/ppt/slides/slide13.xml" Id="R60982a8d3965412b" /><Relationship Type="http://schemas.openxmlformats.org/officeDocument/2006/relationships/slide" Target="/ppt/slides/slide14.xml" Id="R81653969b670404f" /><Relationship Type="http://schemas.openxmlformats.org/officeDocument/2006/relationships/slide" Target="/ppt/slides/slide15.xml" Id="R002e67be36f843b4" /><Relationship Type="http://schemas.openxmlformats.org/officeDocument/2006/relationships/slide" Target="/ppt/slides/slide16.xml" Id="R06e1ff149f7d4a12" /><Relationship Type="http://schemas.openxmlformats.org/officeDocument/2006/relationships/slide" Target="/ppt/slides/slide17.xml" Id="R9b525cae5293459b" /><Relationship Type="http://schemas.openxmlformats.org/officeDocument/2006/relationships/slide" Target="/ppt/slides/slide18.xml" Id="R6684a01b07274172" /><Relationship Type="http://schemas.openxmlformats.org/officeDocument/2006/relationships/slide" Target="/ppt/slides/slide19.xml" Id="R92ccb55263284141" /><Relationship Type="http://schemas.openxmlformats.org/officeDocument/2006/relationships/slide" Target="/ppt/slides/slide20.xml" Id="Rd339f43b05c34ffb" /><Relationship Type="http://schemas.openxmlformats.org/officeDocument/2006/relationships/slide" Target="/ppt/slides/slide21.xml" Id="R069881894a6841b1" /><Relationship Type="http://schemas.openxmlformats.org/officeDocument/2006/relationships/slide" Target="/ppt/slides/slide22.xml" Id="R09ddde1b420c4455" /><Relationship Type="http://schemas.openxmlformats.org/officeDocument/2006/relationships/slide" Target="/ppt/slides/slide23.xml" Id="R91248c554f1c46a0" /><Relationship Type="http://schemas.openxmlformats.org/officeDocument/2006/relationships/slide" Target="/ppt/slides/slide24.xml" Id="R7762734ded2c443f" /><Relationship Type="http://schemas.openxmlformats.org/officeDocument/2006/relationships/slide" Target="/ppt/slides/slide25.xml" Id="Red1920728d084203" /><Relationship Type="http://schemas.openxmlformats.org/officeDocument/2006/relationships/slide" Target="/ppt/slides/slide26.xml" Id="R82d6c7f1ef3a4604" /><Relationship Type="http://schemas.openxmlformats.org/officeDocument/2006/relationships/slide" Target="/ppt/slides/slide27.xml" Id="R933f22f8292f4d74" /><Relationship Type="http://schemas.openxmlformats.org/officeDocument/2006/relationships/slide" Target="/ppt/slides/slide28.xml" Id="R5d686df3edb04609" /><Relationship Type="http://schemas.openxmlformats.org/officeDocument/2006/relationships/slide" Target="/ppt/slides/slide29.xml" Id="R519aaa8edb924b73" /><Relationship Type="http://schemas.openxmlformats.org/officeDocument/2006/relationships/slide" Target="/ppt/slides/slide30.xml" Id="Rb5fbe51c9f73470a" /><Relationship Type="http://schemas.openxmlformats.org/officeDocument/2006/relationships/slide" Target="/ppt/slides/slide31.xml" Id="Rb611c663e3274769" /><Relationship Type="http://schemas.openxmlformats.org/officeDocument/2006/relationships/slide" Target="/ppt/slides/slide32.xml" Id="R567cb82085a2464c" /><Relationship Type="http://schemas.openxmlformats.org/officeDocument/2006/relationships/slide" Target="/ppt/slides/slide33.xml" Id="Rf7791801759d4e8d" /><Relationship Type="http://schemas.openxmlformats.org/officeDocument/2006/relationships/slide" Target="/ppt/slides/slide34.xml" Id="Rd33b51a181de4f56" /><Relationship Type="http://schemas.openxmlformats.org/officeDocument/2006/relationships/slide" Target="/ppt/slides/slide35.xml" Id="R62f4acf16d234908" /><Relationship Type="http://schemas.openxmlformats.org/officeDocument/2006/relationships/slide" Target="/ppt/slides/slide36.xml" Id="Rf57750207fe8496f" /><Relationship Type="http://schemas.openxmlformats.org/officeDocument/2006/relationships/slide" Target="/ppt/slides/slide37.xml" Id="R186e2bed0165459e" /><Relationship Type="http://schemas.openxmlformats.org/officeDocument/2006/relationships/slide" Target="/ppt/slides/slide38.xml" Id="R0a06e10d29df4300" /><Relationship Type="http://schemas.openxmlformats.org/officeDocument/2006/relationships/slide" Target="/ppt/slides/slide39.xml" Id="Rf7d5c26cc85140e7" /><Relationship Type="http://schemas.openxmlformats.org/officeDocument/2006/relationships/slide" Target="/ppt/slides/slide40.xml" Id="R752ea059264a4906" /><Relationship Type="http://schemas.openxmlformats.org/officeDocument/2006/relationships/slide" Target="/ppt/slides/slide41.xml" Id="Rbbbdbad786e945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b03a0ebf4942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af4e9acf6b4ea5" /><Relationship Type="http://schemas.openxmlformats.org/officeDocument/2006/relationships/notesMaster" Target="/ppt/notesMasters/notesMaster1.xml" Id="Re3beae2b650b42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ee825cf5aa4a04" /><Relationship Type="http://schemas.openxmlformats.org/officeDocument/2006/relationships/notesMaster" Target="/ppt/notesMasters/notesMaster1.xml" Id="R3655a47a12b746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7571aceb2b4952" /><Relationship Type="http://schemas.openxmlformats.org/officeDocument/2006/relationships/notesMaster" Target="/ppt/notesMasters/notesMaster1.xml" Id="Re01a3fdf95994a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e9bf3375154356" /><Relationship Type="http://schemas.openxmlformats.org/officeDocument/2006/relationships/notesMaster" Target="/ppt/notesMasters/notesMaster1.xml" Id="Rc230e3ab87b042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30de7108aa40b6" /><Relationship Type="http://schemas.openxmlformats.org/officeDocument/2006/relationships/notesMaster" Target="/ppt/notesMasters/notesMaster1.xml" Id="Rfcbaad77dcb34a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6a7939db2343b6" /><Relationship Type="http://schemas.openxmlformats.org/officeDocument/2006/relationships/notesMaster" Target="/ppt/notesMasters/notesMaster1.xml" Id="Ra20e1beab15d48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6fcc1a5096423d" /><Relationship Type="http://schemas.openxmlformats.org/officeDocument/2006/relationships/notesMaster" Target="/ppt/notesMasters/notesMaster1.xml" Id="Rd544e4fe8e4f42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6c1160a862422e" /><Relationship Type="http://schemas.openxmlformats.org/officeDocument/2006/relationships/notesMaster" Target="/ppt/notesMasters/notesMaster1.xml" Id="R7534ba22484043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e88eebe3984654" /><Relationship Type="http://schemas.openxmlformats.org/officeDocument/2006/relationships/notesMaster" Target="/ppt/notesMasters/notesMaster1.xml" Id="R1e7cbc88558a4a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8bcbece3144791" /><Relationship Type="http://schemas.openxmlformats.org/officeDocument/2006/relationships/notesMaster" Target="/ppt/notesMasters/notesMaster1.xml" Id="R9e698bb9cb1443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56632310ee415c" /><Relationship Type="http://schemas.openxmlformats.org/officeDocument/2006/relationships/notesMaster" Target="/ppt/notesMasters/notesMaster1.xml" Id="R68498e1ef80245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c0e3bad78b44b7" /><Relationship Type="http://schemas.openxmlformats.org/officeDocument/2006/relationships/notesMaster" Target="/ppt/notesMasters/notesMaster1.xml" Id="R2258cb6b55b8418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dd067a76842496d" /><Relationship Type="http://schemas.openxmlformats.org/officeDocument/2006/relationships/notesMaster" Target="/ppt/notesMasters/notesMaster1.xml" Id="Rdcaf6a392cd04a5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17d56893824dea" /><Relationship Type="http://schemas.openxmlformats.org/officeDocument/2006/relationships/notesMaster" Target="/ppt/notesMasters/notesMaster1.xml" Id="R63f44ba9a33b46e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0345a1aea294e6f" /><Relationship Type="http://schemas.openxmlformats.org/officeDocument/2006/relationships/notesMaster" Target="/ppt/notesMasters/notesMaster1.xml" Id="R4b05bb7eef7145f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f76ff07966478b" /><Relationship Type="http://schemas.openxmlformats.org/officeDocument/2006/relationships/notesMaster" Target="/ppt/notesMasters/notesMaster1.xml" Id="Rcfb9dcfa9da146d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1f61fd8071c422a" /><Relationship Type="http://schemas.openxmlformats.org/officeDocument/2006/relationships/notesMaster" Target="/ppt/notesMasters/notesMaster1.xml" Id="Rda6b60d4488a422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78abbbd22d145da" /><Relationship Type="http://schemas.openxmlformats.org/officeDocument/2006/relationships/notesMaster" Target="/ppt/notesMasters/notesMaster1.xml" Id="R531416ffb5bc4ec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663df80c24c44d4" /><Relationship Type="http://schemas.openxmlformats.org/officeDocument/2006/relationships/notesMaster" Target="/ppt/notesMasters/notesMaster1.xml" Id="R2a16d9cf9b0b480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2149591d336427d" /><Relationship Type="http://schemas.openxmlformats.org/officeDocument/2006/relationships/notesMaster" Target="/ppt/notesMasters/notesMaster1.xml" Id="R8555e93908bb4bb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0dd71a2b6ab4a6a" /><Relationship Type="http://schemas.openxmlformats.org/officeDocument/2006/relationships/notesMaster" Target="/ppt/notesMasters/notesMaster1.xml" Id="Rdfec1d4182004fe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e07bd4f33294630" /><Relationship Type="http://schemas.openxmlformats.org/officeDocument/2006/relationships/notesMaster" Target="/ppt/notesMasters/notesMaster1.xml" Id="R660e54b8365143f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57432cc66534a36" /><Relationship Type="http://schemas.openxmlformats.org/officeDocument/2006/relationships/notesMaster" Target="/ppt/notesMasters/notesMaster1.xml" Id="Rcc57b070d4c84bb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ebf50a907464730" /><Relationship Type="http://schemas.openxmlformats.org/officeDocument/2006/relationships/notesMaster" Target="/ppt/notesMasters/notesMaster1.xml" Id="Rcad3c5fadeeb42e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933b4cc2bd345f4" /><Relationship Type="http://schemas.openxmlformats.org/officeDocument/2006/relationships/notesMaster" Target="/ppt/notesMasters/notesMaster1.xml" Id="R4b811c00ca1d456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be72cdb626a4fb8" /><Relationship Type="http://schemas.openxmlformats.org/officeDocument/2006/relationships/notesMaster" Target="/ppt/notesMasters/notesMaster1.xml" Id="Rcd6f63e2201f4b1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624bd8ebb6f40c9" /><Relationship Type="http://schemas.openxmlformats.org/officeDocument/2006/relationships/notesMaster" Target="/ppt/notesMasters/notesMaster1.xml" Id="R2600552c031945a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070930be20449c5" /><Relationship Type="http://schemas.openxmlformats.org/officeDocument/2006/relationships/notesMaster" Target="/ppt/notesMasters/notesMaster1.xml" Id="R02c1802c8ed1458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1160e74604f4498" /><Relationship Type="http://schemas.openxmlformats.org/officeDocument/2006/relationships/notesMaster" Target="/ppt/notesMasters/notesMaster1.xml" Id="R1e9fa0c83afc484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5a90ea5d1fe4f2d" /><Relationship Type="http://schemas.openxmlformats.org/officeDocument/2006/relationships/notesMaster" Target="/ppt/notesMasters/notesMaster1.xml" Id="Rb19a3514cfc0439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3fa4eb407184b85" /><Relationship Type="http://schemas.openxmlformats.org/officeDocument/2006/relationships/notesMaster" Target="/ppt/notesMasters/notesMaster1.xml" Id="Rafc116a68d6d4ca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3b27273d80c41c5" /><Relationship Type="http://schemas.openxmlformats.org/officeDocument/2006/relationships/notesMaster" Target="/ppt/notesMasters/notesMaster1.xml" Id="R4721d0c89a1d495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494e74c486344e7" /><Relationship Type="http://schemas.openxmlformats.org/officeDocument/2006/relationships/notesMaster" Target="/ppt/notesMasters/notesMaster1.xml" Id="Rce318fb66d7740a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00d093f90fa4927" /><Relationship Type="http://schemas.openxmlformats.org/officeDocument/2006/relationships/notesMaster" Target="/ppt/notesMasters/notesMaster1.xml" Id="Reacaaaad550f4db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f456c1cb0f64a2b" /><Relationship Type="http://schemas.openxmlformats.org/officeDocument/2006/relationships/notesMaster" Target="/ppt/notesMasters/notesMaster1.xml" Id="R017be1153e734f8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4dd094903134953" /><Relationship Type="http://schemas.openxmlformats.org/officeDocument/2006/relationships/notesMaster" Target="/ppt/notesMasters/notesMaster1.xml" Id="R35741aeb3f01410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0d87d0a45d04298" /><Relationship Type="http://schemas.openxmlformats.org/officeDocument/2006/relationships/notesMaster" Target="/ppt/notesMasters/notesMaster1.xml" Id="Rc93452a9433e446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29f8eeddb594b40" /><Relationship Type="http://schemas.openxmlformats.org/officeDocument/2006/relationships/notesMaster" Target="/ppt/notesMasters/notesMaster1.xml" Id="Rc788e05c5aec439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3b3d82aa21444ef" /><Relationship Type="http://schemas.openxmlformats.org/officeDocument/2006/relationships/notesMaster" Target="/ppt/notesMasters/notesMaster1.xml" Id="R5fa9f13cb550493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ae9e68064314ee6" /><Relationship Type="http://schemas.openxmlformats.org/officeDocument/2006/relationships/notesMaster" Target="/ppt/notesMasters/notesMaster1.xml" Id="R66f2692f3660423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dc114b6ab3642c7" /><Relationship Type="http://schemas.openxmlformats.org/officeDocument/2006/relationships/notesMaster" Target="/ppt/notesMasters/notesMaster1.xml" Id="Rded90757234d43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Open by naming today's shift: Weeks 1-3 used only built-in Python; from today on, almost everything runs through a library someone else wrote and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what 'third-party' should mean to a design student: someone outside this course wrote, tested, and maintains this code; our job is to call it correctly, not rebuild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https://docs.python.org/3/tutorial/modules.html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Name the dependency chain: NumPy gives arrays, pandas adds labels, and Matplotlib shows selected evidence. The trustworthiness interview protects every later week.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Tell students that Matplotlib appears only as a short preview today; Wednesday's studio makes the figure. Keep the focus on one connected data object moving through the toolchain.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Trace one data value through the four layers. Introduce np, pd, and plt as conventional aliases when each layer is reached.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https://docs.python.org/3/tutorial/modules.html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- https://pandas.pydata.org/docs/getting_started/intro_tutorials/</a:t>
            </a:r>
          </a:p>
          <a:p xmlns:a="http://schemas.openxmlformats.org/drawingml/2006/main">
            <a:r>
              <a:t>- https://matplotlib.org/stable/users/explain/quick_start.html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Trace each printed line before running it. Relate [0] to the list indexing students saw in Week 3B. Then contrast a vectorized multiplication with a loop: same conceptual operation, but the array owns the repetition.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Introduce Series before running the code so students read the index correctly the first time; the code slide right after this one prints exactly this example. Verified: pd.Series([35.0, 62.5, 44.2], name='area_m2') prints a three-row Series indexed 0-2, dtype float64.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https://pandas.pydata.org/docs/getting_started/intro_tutorials/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at the index column on the left; it is not one of the three data values, it is a label pandas assigned automatically.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https://pandas.pydata.org/docs/getting_started/intro_tutorials/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Verified: rooms['area_m2'] returns &lt;class 'pandas.Series'&gt; and rooms[['area_m2']] returns &lt;class 'pandas.DataFrame'&gt; for the same column - confirm this contrast live if time allows, it is the single most common bracket-count slip beginners make with pandas.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https://pandas.pydata.org/docs/getting_started/intro_tutorials/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which column is a Series by itself - point to rooms['area_m2'] as exactly the Series from two slides ago, just now inside a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https://pandas.pydata.org/docs/getting_started/intro_tutorials/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Warn students not to expect console output from this cell - a blank Console after Ctrl+Enter is correct here, the figure appears in the Plots pane instead. Quick recap before moving on: NumPy computes, pandas organizes, Matplotlib shows - one job each.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https://matplotlib.org/stable/users/explain/quick_start.html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Write both forms on the board side by side: len(rooms) and rooms.head(). Ask which one exists because rooms is a DataFrame - method calls only make sense for the object they belong 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what len(rooms) counts - rows, not columns or cells. Confirm against rooms.shape later this hour.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https://pandas.pydata.org/docs/getting_started/intro_tutorials/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Note the float noise in 48.620000000000005 - same floating-point display quirk from Week 2, still true here. Not an 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Tie directly to the critique that motivated this convention: earlier drafts required docstrings at Project 1 without ever teaching them; today is the week that closes that gap. Verified: material_required.__doc__ returns the exact triple-quoted string above.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This is the single most common misconception with type hints. Verified: material_required('44.2', 0.10) raises TypeError inside the multiplication ('can't multiply sequence by non-int of type float'), not at the call - Python parses and calls the function fine, hints or no hints.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If time allows, actually run rectangular_area('8.5', 5.2) live and show the TypeError happens inside the multiplication, not at the call - the hint warned you, Python did not stop you.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Say plainly: no real building's performance data is behind these numbers. That claim matters as much as any code on the slide - provenance starts with saying what data is not.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Have students point to the index, one Series, and the full DataFrame. This visual dependency prevents pandas from appearing as an unrelated new syntax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- https://pandas.pydata.org/docs/getting_started/intro_tutorials/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why naming an already-default argument is ever worth doing - answer: readability for a human, not necessity for Python.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https://pandas.pydata.org/docs/getting_started/intro_tutorials/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why there are no parentheses after shape - contrast with rooms.head(), which does something and therefore needs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Demonstrate the interview as one uninterrupted sequence. Have students predict what each check contributes before revealing the Radley Hall evidence. Emphasize that no single line is sufficient by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Point out the column subset in brackets - selecting fewer columns just to read them on a slide is a display choice, not a change to rooms itself.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Poll all four options before revealing. A assumes info() hands back the DataFrame it summarized; B assumes the printed text IS the return value; D assumes a structured summary object comes back. Verified: type(rooms.info()) is NoneType, and the full summary text still prints once, before that line even evaluates.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Confirmed a moment ago: x = rooms.info() leaves x as None - the summary itself is a print side effect, not a return value. Also note pandas 3.0.5 prints the class as pandas.DataFrame, not pandas.core.frame.DataFrame as some older references show.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what would happen to a design decision built on a dataset with no provenance note - the answer is that no one downstream can tell fabricated data from measured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This excerpt covers 4 of 12 columns; Meeting B has students extend it to all twelve.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Trace the chain right to left: .sum() cannot run until .isna() has already produced a Boolean table for it to add. Verified: rooms.isna() returns a same-shaped DataFrame, all dtype bool; .sum() on it returns a Series of per-column counts, dtype int64.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Connect directly back to the dtype table and info() a few slides ago - the object dtype and the 23-of-24 count were symptoms, isna().sum() is the diagnosis naming the exact 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how this picture would change if someone had run rooms.dropna() first: both red bars would vanish, and so would two whole rooms. The gaps are the evidence that a decision is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Emphasize 'becomes part of your provenance note' - a silent drop is the one option that is never acceptable, because it erases the decision from the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Ask what south_rooms.shape would be if the comparison used 'south' in lowercase - answer: (0, 12), a common beginner mismatch worth naming.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Ask what would be lost if this line had instead written rooms['area_m2'] = ... - the original measured value, silently, under its original name. Meeting B's AI-audit exercise uses exactly this mistake.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whether the small server closet must have the largest total because it has the largest intensity. The mismatch is the teaching 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at R306 in the left panel, then ask the class to find it on the right before revealing that it is not there. The absence is the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Confirm the new shape is (24, 14) - two more columns than the raw file's 12, because area_ft2 and energy_kwh_yr were both added on the two previous slides.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https://pandas.pydata.org/docs/getting_started/intro_tutorials/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dropna() with no arguments drops any row containing at least one NaN in ANY column - here that silently removes room R303 (missing has_daylight) and room R206 (missing energy_kwh_m2_yr), the same two gaps the isna().sum() interview just found. A defensible policy names which columns are required for the question at hand and only drops or flags rows missing THOSE columns, rather than accepting pandas default axis=0/how=any behavior as a shortcut. This is the same trustworthiness interview from earlier in the deck, now aimed at an AI suggestion instead of a human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https://skillsbuild.org/adult-learners/explore-learning/artificial-intelligence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Optional current-practice bridge. Do not turn this into a format survey. The transferable idea is that faster storage and interchange do not repair an undefined row, ambiguous unit, or undocumented missing-value policy.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https://arrow.apache.org/overview/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students which half their current CSV already supplies. The answer is usually neither in full. Connect this directly to the Project 1 README, data dictionary, flags, and validator.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https://arrow.apache.org/overview/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Optional current-practice bridge. Keep the distinction crisp: IFC describes exchanged built assets; IDS specifies and checks required IFC information; Brick gives operational building data a portable semantic graph. Students are not expected to author these standards today—the transfer is that a CSV extract must not sever identity or provenance.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https://www.buildingsmart.org/standards/bsi-standards/industry-foundation-classes/</a:t>
            </a:r>
          </a:p>
          <a:p xmlns:a="http://schemas.openxmlformats.org/drawingml/2006/main">
            <a:r>
              <a:t>- https://www.buildingsmart.org/standards/bsi-standards/information-delivery-specification-ids/</a:t>
            </a:r>
          </a:p>
          <a:p xmlns:a="http://schemas.openxmlformats.org/drawingml/2006/main">
            <a:r>
              <a:t>- https://brickschema.org/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Preview Meeting B: same dataset, but now students run every step themselves, document it, and add the NumPy + Matplotlib touch.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a1c74228154b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98b4e74cba4216" /><Relationship Type="http://schemas.openxmlformats.org/officeDocument/2006/relationships/slideLayout" Target="/ppt/slideLayouts/slideLayout1.xml" Id="R39a79cf3fa1f44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a79cf3fa1f44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4287387c54eff" /><Relationship Type="http://schemas.openxmlformats.org/officeDocument/2006/relationships/notesSlide" Target="/ppt/notesSlides/notesSlide1.xml" Id="Ra20418a1091940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156aa3ca54542" /><Relationship Type="http://schemas.openxmlformats.org/officeDocument/2006/relationships/notesSlide" Target="/ppt/notesSlides/notesSlide2.xml" Id="R0ad75ed764ec47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12ff086fc4296" /><Relationship Type="http://schemas.openxmlformats.org/officeDocument/2006/relationships/notesSlide" Target="/ppt/notesSlides/notesSlide3.xml" Id="Rcc291cb4d2e346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a973e8c2e4ca1" /><Relationship Type="http://schemas.openxmlformats.org/officeDocument/2006/relationships/notesSlide" Target="/ppt/notesSlides/notesSlide4.xml" Id="Rd72b731a04e845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493f201bd4ff5" /><Relationship Type="http://schemas.openxmlformats.org/officeDocument/2006/relationships/notesSlide" Target="/ppt/notesSlides/notesSlide5.xml" Id="R11c679b58a6141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4a5f520804ec0" /><Relationship Type="http://schemas.openxmlformats.org/officeDocument/2006/relationships/notesSlide" Target="/ppt/notesSlides/notesSlide6.xml" Id="Ra229b2e295e749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eb311454b49ce" /><Relationship Type="http://schemas.openxmlformats.org/officeDocument/2006/relationships/notesSlide" Target="/ppt/notesSlides/notesSlide7.xml" Id="R5eb20993359148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c971b53744ec0" /><Relationship Type="http://schemas.openxmlformats.org/officeDocument/2006/relationships/notesSlide" Target="/ppt/notesSlides/notesSlide8.xml" Id="R4d2116ce5abf4c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4b43642964553" /><Relationship Type="http://schemas.openxmlformats.org/officeDocument/2006/relationships/notesSlide" Target="/ppt/notesSlides/notesSlide9.xml" Id="R6a948e1a220247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5d849ac2d4fdd" /><Relationship Type="http://schemas.openxmlformats.org/officeDocument/2006/relationships/notesSlide" Target="/ppt/notesSlides/notesSlide10.xml" Id="Rf26187c3d21c4d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784322f52417e" /><Relationship Type="http://schemas.openxmlformats.org/officeDocument/2006/relationships/notesSlide" Target="/ppt/notesSlides/notesSlide11.xml" Id="Re83b9ee8d38946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11eac2415488f" /><Relationship Type="http://schemas.openxmlformats.org/officeDocument/2006/relationships/notesSlide" Target="/ppt/notesSlides/notesSlide12.xml" Id="Rcfde2c8b023b4a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49621a6564ab4" /><Relationship Type="http://schemas.openxmlformats.org/officeDocument/2006/relationships/notesSlide" Target="/ppt/notesSlides/notesSlide13.xml" Id="R22fac5fda69c40d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3e0fe71344644" /><Relationship Type="http://schemas.openxmlformats.org/officeDocument/2006/relationships/notesSlide" Target="/ppt/notesSlides/notesSlide14.xml" Id="R711a45e79a1149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58e765f0844a4" /><Relationship Type="http://schemas.openxmlformats.org/officeDocument/2006/relationships/notesSlide" Target="/ppt/notesSlides/notesSlide15.xml" Id="Rd9dce05b57f1466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a99f0a77742dd" /><Relationship Type="http://schemas.openxmlformats.org/officeDocument/2006/relationships/notesSlide" Target="/ppt/notesSlides/notesSlide16.xml" Id="R09cadcc009344a5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8dc57af85446b" /><Relationship Type="http://schemas.openxmlformats.org/officeDocument/2006/relationships/notesSlide" Target="/ppt/notesSlides/notesSlide17.xml" Id="R7e4b84c8bf234d3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c591230f042c3" /><Relationship Type="http://schemas.openxmlformats.org/officeDocument/2006/relationships/notesSlide" Target="/ppt/notesSlides/notesSlide18.xml" Id="R62abb930ad0a45e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2ea5b2631457f" /><Relationship Type="http://schemas.openxmlformats.org/officeDocument/2006/relationships/notesSlide" Target="/ppt/notesSlides/notesSlide19.xml" Id="Rc008d728afbb44b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738739e5d49dd" /><Relationship Type="http://schemas.openxmlformats.org/officeDocument/2006/relationships/notesSlide" Target="/ppt/notesSlides/notesSlide20.xml" Id="Rd87731c84407414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2f4db67d04de2" /><Relationship Type="http://schemas.openxmlformats.org/officeDocument/2006/relationships/notesSlide" Target="/ppt/notesSlides/notesSlide21.xml" Id="R4ec8548c1ffe4e9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3802e359d4341" /><Relationship Type="http://schemas.openxmlformats.org/officeDocument/2006/relationships/notesSlide" Target="/ppt/notesSlides/notesSlide22.xml" Id="Ra87f6a056b18462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d0c562dab48fe" /><Relationship Type="http://schemas.openxmlformats.org/officeDocument/2006/relationships/notesSlide" Target="/ppt/notesSlides/notesSlide23.xml" Id="R1f59b490adc841f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eee47118448ea" /><Relationship Type="http://schemas.openxmlformats.org/officeDocument/2006/relationships/notesSlide" Target="/ppt/notesSlides/notesSlide24.xml" Id="R90c4b1df16e848f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e8ce26ba046b3" /><Relationship Type="http://schemas.openxmlformats.org/officeDocument/2006/relationships/notesSlide" Target="/ppt/notesSlides/notesSlide25.xml" Id="R07449eb73fdb4ca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5461d2c5e4cf0" /><Relationship Type="http://schemas.openxmlformats.org/officeDocument/2006/relationships/notesSlide" Target="/ppt/notesSlides/notesSlide26.xml" Id="Rbe76365775014f7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ff93de6f34101" /><Relationship Type="http://schemas.openxmlformats.org/officeDocument/2006/relationships/notesSlide" Target="/ppt/notesSlides/notesSlide27.xml" Id="R8f8f30132e60466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c6cb89e8e4595" /><Relationship Type="http://schemas.openxmlformats.org/officeDocument/2006/relationships/notesSlide" Target="/ppt/notesSlides/notesSlide28.xml" Id="Rbf130baafdff49e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ee11fa835408b" /><Relationship Type="http://schemas.openxmlformats.org/officeDocument/2006/relationships/notesSlide" Target="/ppt/notesSlides/notesSlide29.xml" Id="R96aca935fe16483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9feeddc084d91" /><Relationship Type="http://schemas.openxmlformats.org/officeDocument/2006/relationships/image" Target="/ppt/media/image.png" Id="R02b1ffb9efb34726" /><Relationship Type="http://schemas.openxmlformats.org/officeDocument/2006/relationships/notesSlide" Target="/ppt/notesSlides/notesSlide30.xml" Id="R8d74064925eb453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ae55cf0f9405c" /><Relationship Type="http://schemas.openxmlformats.org/officeDocument/2006/relationships/notesSlide" Target="/ppt/notesSlides/notesSlide31.xml" Id="R73092ca1d8a9442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45ae69fae432c" /><Relationship Type="http://schemas.openxmlformats.org/officeDocument/2006/relationships/notesSlide" Target="/ppt/notesSlides/notesSlide32.xml" Id="Rc2578caa57aa495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0e26b19464873" /><Relationship Type="http://schemas.openxmlformats.org/officeDocument/2006/relationships/notesSlide" Target="/ppt/notesSlides/notesSlide33.xml" Id="Rd002d58e4a424b7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fdcd109ef4d11" /><Relationship Type="http://schemas.openxmlformats.org/officeDocument/2006/relationships/notesSlide" Target="/ppt/notesSlides/notesSlide34.xml" Id="Ref53ec2a9bfb4c0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b8bf0b20140a5" /><Relationship Type="http://schemas.openxmlformats.org/officeDocument/2006/relationships/image" Target="/ppt/media/image2.png" Id="R4a5b276bb85e42b4" /><Relationship Type="http://schemas.openxmlformats.org/officeDocument/2006/relationships/notesSlide" Target="/ppt/notesSlides/notesSlide35.xml" Id="R43392a6987bc4c4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f666f416342d6" /><Relationship Type="http://schemas.openxmlformats.org/officeDocument/2006/relationships/notesSlide" Target="/ppt/notesSlides/notesSlide36.xml" Id="Rd7985dd0a59941b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8b125fa704d70" /><Relationship Type="http://schemas.openxmlformats.org/officeDocument/2006/relationships/notesSlide" Target="/ppt/notesSlides/notesSlide37.xml" Id="R4e7d9e3aa42c4da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27ca640264303" /><Relationship Type="http://schemas.openxmlformats.org/officeDocument/2006/relationships/notesSlide" Target="/ppt/notesSlides/notesSlide38.xml" Id="R62503cc93e684fb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f91453a1744ec" /><Relationship Type="http://schemas.openxmlformats.org/officeDocument/2006/relationships/notesSlide" Target="/ppt/notesSlides/notesSlide39.xml" Id="Rbb51ce84e73442b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cc79958c44463" /><Relationship Type="http://schemas.openxmlformats.org/officeDocument/2006/relationships/notesSlide" Target="/ppt/notesSlides/notesSlide40.xml" Id="R87e6a508af2a4eb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eef5fddd74bba" /><Relationship Type="http://schemas.openxmlformats.org/officeDocument/2006/relationships/notesSlide" Target="/ppt/notesSlides/notesSlide41.xml" Id="R091bedc9349a4e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urse-mark">
            <a:extLst xmlns:a="http://schemas.openxmlformats.org/drawingml/2006/main">
              <a:ext uri="{FF2B5EF4-FFF2-40B4-BE49-F238E27FC236}">
                <a16:creationId xmlns:a16="http://schemas.microsoft.com/office/drawing/2014/main" id="{18CA1CE1-33D5-41D0-882D-2F728986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&lt;&gt;  ARC 500</a:t>
            </a:r>
          </a:p>
        </p:txBody>
      </p:sp>
      <p:sp>
        <p:nvSpPr>
          <p:cNvPr id="2" name="course-full-title">
            <a:extLst xmlns:a="http://schemas.openxmlformats.org/drawingml/2006/main">
              <a:ext uri="{FF2B5EF4-FFF2-40B4-BE49-F238E27FC236}">
                <a16:creationId xmlns:a16="http://schemas.microsoft.com/office/drawing/2014/main" id="{A29B50A9-32C2-4D73-ACBC-C5F17DAD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9AA1A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1AC"/>
                </a:solidFill>
                <a:latin typeface="Arial"/>
                <a:ea typeface="Arial"/>
                <a:cs typeface="Arial"/>
              </a:rPr>
              <a:t>Programming with Python and Generative AI  ·  Scripting, Data Analysis, Visualization, Problem-Solving, and Optimization</a:t>
            </a:r>
          </a:p>
        </p:txBody>
      </p:sp>
      <p:sp>
        <p:nvSpPr>
          <p:cNvPr id="3" name="accent-bar">
            <a:extLst xmlns:a="http://schemas.openxmlformats.org/drawingml/2006/main">
              <a:ext uri="{FF2B5EF4-FFF2-40B4-BE49-F238E27FC236}">
                <a16:creationId xmlns:a16="http://schemas.microsoft.com/office/drawing/2014/main" id="{BC9D236F-C3B3-4102-8F27-A21B2422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3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label">
            <a:extLst xmlns:a="http://schemas.openxmlformats.org/drawingml/2006/main">
              <a:ext uri="{FF2B5EF4-FFF2-40B4-BE49-F238E27FC236}">
                <a16:creationId xmlns:a16="http://schemas.microsoft.com/office/drawing/2014/main" id="{7C795EBC-7D95-4496-B369-DA84855F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52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4 · MEETING A · MEET THE TOOLCHAIN, THEN DATA AS EVIDENCE</a:t>
            </a:r>
          </a:p>
        </p:txBody>
      </p:sp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6AF0C572-E326-48B9-A59D-BA02FCBC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7165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libraries, one trustworthy dataset</a:t>
            </a:r>
          </a:p>
        </p:txBody>
      </p:sp>
      <p:sp>
        <p:nvSpPr>
          <p:cNvPr id="6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8F4D613F-7999-4CDE-95B2-492A27A9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914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Meeting A · first contact with NumPy, pandas, and Matplotlib, plus the pandas trustworthiness interview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378E9-1E24-4516-ADF8-C2E725BD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instructor">
            <a:extLst xmlns:a="http://schemas.openxmlformats.org/drawingml/2006/main">
              <a:ext uri="{FF2B5EF4-FFF2-40B4-BE49-F238E27FC236}">
                <a16:creationId xmlns:a16="http://schemas.microsoft.com/office/drawing/2014/main" id="{21499FA8-D9E0-4301-9A40-C926D3FA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JunHo Chun, PhD  ·  School of Architecture  ·  Syracuse University  ·  Fall 2026</a:t>
            </a:r>
          </a:p>
        </p:txBody>
      </p:sp>
    </p:spTree>
    <p:extLst>
      <p:ext uri="{BB962C8B-B14F-4D97-AF65-F5344CB8AC3E}">
        <p14:creationId xmlns:p14="http://schemas.microsoft.com/office/powerpoint/2010/main" val="13714324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B9DC2DB0-7875-4AD6-8BBB-01025824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PRINCIPLE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9D1A5FD-912E-4AA9-B0E0-AD634462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library is tested code you call, not code you rewrite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EF64E-24DE-4C05-844B-CE24F54F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CDB9410-49AD-41B9-AA78-1F884628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040A0BA-E512-4992-BC84-E0BDD3C6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statement">
            <a:extLst xmlns:a="http://schemas.openxmlformats.org/drawingml/2006/main">
              <a:ext uri="{FF2B5EF4-FFF2-40B4-BE49-F238E27FC236}">
                <a16:creationId xmlns:a16="http://schemas.microsoft.com/office/drawing/2014/main" id="{D6CE6D6B-DCCB-4B7A-A4C6-21C71ED0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9829800" cy="2545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NumPy, pandas, and Matplotlib are third-party libraries - written and maintained by other people - that you import and call, the same way you already import pathlib and sys.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E6ED5-FD31-4B76-A62A-2CCC86DA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8" name="supporting">
            <a:extLst xmlns:a="http://schemas.openxmlformats.org/drawingml/2006/main">
              <a:ext uri="{FF2B5EF4-FFF2-40B4-BE49-F238E27FC236}">
                <a16:creationId xmlns:a16="http://schemas.microsoft.com/office/drawing/2014/main" id="{24883A3E-B380-478E-BCD4-6568C35E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2530"/>
            <a:ext cx="9334500" cy="87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Recall Weeks 1-3: import loads a module so its tools become available by name. Today's three libraries are installed separately but imported with the exact same keyword, import.</a:t>
            </a:r>
          </a:p>
        </p:txBody>
      </p:sp>
    </p:spTree>
    <p:extLst>
      <p:ext uri="{BB962C8B-B14F-4D97-AF65-F5344CB8AC3E}">
        <p14:creationId xmlns:p14="http://schemas.microsoft.com/office/powerpoint/2010/main" val="20736414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DADB6B8C-0726-4264-BB3F-C2EB8305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0560075-B385-4CC3-ACFE-89031E12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By the end, you should be able to…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E9149-B3AC-48F3-BE34-0BFEA7DC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5114BB6-FB18-4E1D-8D87-54184EC4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D048CD5-3849-41AF-A497-616BA464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outcome-number-0">
            <a:extLst xmlns:a="http://schemas.openxmlformats.org/drawingml/2006/main">
              <a:ext uri="{FF2B5EF4-FFF2-40B4-BE49-F238E27FC236}">
                <a16:creationId xmlns:a16="http://schemas.microsoft.com/office/drawing/2014/main" id="{FCF5C55A-3D23-426F-BCF6-B009E868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outcome-head-0">
            <a:extLst xmlns:a="http://schemas.openxmlformats.org/drawingml/2006/main">
              <a:ext uri="{FF2B5EF4-FFF2-40B4-BE49-F238E27FC236}">
                <a16:creationId xmlns:a16="http://schemas.microsoft.com/office/drawing/2014/main" id="{ADECC738-6DC6-4678-8A94-F7CD300F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sp>
        <p:nvSpPr>
          <p:cNvPr id="8" name="outcome-body-0">
            <a:extLst xmlns:a="http://schemas.openxmlformats.org/drawingml/2006/main">
              <a:ext uri="{FF2B5EF4-FFF2-40B4-BE49-F238E27FC236}">
                <a16:creationId xmlns:a16="http://schemas.microsoft.com/office/drawing/2014/main" id="{3C9FDE18-2A32-4FD2-92F4-C203F49D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Read a NumPy array's shape and dtype, select a value, and apply vectorized arithmetic.</a:t>
            </a:r>
          </a:p>
        </p:txBody>
      </p:sp>
      <p:sp>
        <p:nvSpPr>
          <p:cNvPr id="9" name="outcome-number-1">
            <a:extLst xmlns:a="http://schemas.openxmlformats.org/drawingml/2006/main">
              <a:ext uri="{FF2B5EF4-FFF2-40B4-BE49-F238E27FC236}">
                <a16:creationId xmlns:a16="http://schemas.microsoft.com/office/drawing/2014/main" id="{A2246A62-5B2C-4F36-964E-334EE984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outcome-head-1">
            <a:extLst xmlns:a="http://schemas.openxmlformats.org/drawingml/2006/main">
              <a:ext uri="{FF2B5EF4-FFF2-40B4-BE49-F238E27FC236}">
                <a16:creationId xmlns:a16="http://schemas.microsoft.com/office/drawing/2014/main" id="{0B830E7A-D2D0-4A58-B486-FE8069B8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Bridge</a:t>
            </a:r>
          </a:p>
        </p:txBody>
      </p:sp>
      <p:sp>
        <p:nvSpPr>
          <p:cNvPr id="11" name="outcome-body-1">
            <a:extLst xmlns:a="http://schemas.openxmlformats.org/drawingml/2006/main">
              <a:ext uri="{FF2B5EF4-FFF2-40B4-BE49-F238E27FC236}">
                <a16:creationId xmlns:a16="http://schemas.microsoft.com/office/drawing/2014/main" id="{0D7E1AAB-64BB-46D1-8124-260206AB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Recognize the same values as a pandas Series, then as columns inside a DataFrame.</a:t>
            </a:r>
          </a:p>
        </p:txBody>
      </p:sp>
      <p:sp>
        <p:nvSpPr>
          <p:cNvPr id="12" name="outcome-number-2">
            <a:extLst xmlns:a="http://schemas.openxmlformats.org/drawingml/2006/main">
              <a:ext uri="{FF2B5EF4-FFF2-40B4-BE49-F238E27FC236}">
                <a16:creationId xmlns:a16="http://schemas.microsoft.com/office/drawing/2014/main" id="{0E656AE1-7BF1-47DC-A001-7F03D1DC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outcome-head-2">
            <a:extLst xmlns:a="http://schemas.openxmlformats.org/drawingml/2006/main">
              <a:ext uri="{FF2B5EF4-FFF2-40B4-BE49-F238E27FC236}">
                <a16:creationId xmlns:a16="http://schemas.microsoft.com/office/drawing/2014/main" id="{FA93ADD5-9285-47F5-BA94-3C099ECC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Call clearly</a:t>
            </a:r>
          </a:p>
        </p:txBody>
      </p:sp>
      <p:sp>
        <p:nvSpPr>
          <p:cNvPr id="14" name="outcome-body-2">
            <a:extLst xmlns:a="http://schemas.openxmlformats.org/drawingml/2006/main">
              <a:ext uri="{FF2B5EF4-FFF2-40B4-BE49-F238E27FC236}">
                <a16:creationId xmlns:a16="http://schemas.microsoft.com/office/drawing/2014/main" id="{31A25F06-3AA0-4E63-B4F7-049421CF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Distinguish a function from a method, use a keyword argument, and read a lightweight docstring/type hint.</a:t>
            </a:r>
          </a:p>
        </p:txBody>
      </p:sp>
      <p:sp>
        <p:nvSpPr>
          <p:cNvPr id="15" name="outcome-number-3">
            <a:extLst xmlns:a="http://schemas.openxmlformats.org/drawingml/2006/main">
              <a:ext uri="{FF2B5EF4-FFF2-40B4-BE49-F238E27FC236}">
                <a16:creationId xmlns:a16="http://schemas.microsoft.com/office/drawing/2014/main" id="{D197E7A0-01FD-4E7A-939B-FCDA9EB0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outcome-head-3">
            <a:extLst xmlns:a="http://schemas.openxmlformats.org/drawingml/2006/main">
              <a:ext uri="{FF2B5EF4-FFF2-40B4-BE49-F238E27FC236}">
                <a16:creationId xmlns:a16="http://schemas.microsoft.com/office/drawing/2014/main" id="{A18E226D-D2AD-41C2-A233-E8A3BD8A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Interview</a:t>
            </a:r>
          </a:p>
        </p:txBody>
      </p:sp>
      <p:sp>
        <p:nvSpPr>
          <p:cNvPr id="17" name="outcome-body-3">
            <a:extLst xmlns:a="http://schemas.openxmlformats.org/drawingml/2006/main">
              <a:ext uri="{FF2B5EF4-FFF2-40B4-BE49-F238E27FC236}">
                <a16:creationId xmlns:a16="http://schemas.microsoft.com/office/drawing/2014/main" id="{4A028F59-2501-4D50-840F-CCFAE8B9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Run one pandas trustworthiness interview before filtering, deriving, or exporting data.</a:t>
            </a:r>
          </a:p>
        </p:txBody>
      </p:sp>
    </p:spTree>
    <p:extLst>
      <p:ext uri="{BB962C8B-B14F-4D97-AF65-F5344CB8AC3E}">
        <p14:creationId xmlns:p14="http://schemas.microsoft.com/office/powerpoint/2010/main" val="13736888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E09F152D-412D-4D02-A80C-E869D5FC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ROAD 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B5FDAE2-F80B-435F-A493-18F041C3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Today’s learning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42ED9-1DEA-47C6-AD94-0CDDB86E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00ACA00-95CF-44ED-8280-A3805353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63EA88E-F4CE-4551-8DBD-F716413A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agenda-no-0">
            <a:extLst xmlns:a="http://schemas.openxmlformats.org/drawingml/2006/main">
              <a:ext uri="{FF2B5EF4-FFF2-40B4-BE49-F238E27FC236}">
                <a16:creationId xmlns:a16="http://schemas.microsoft.com/office/drawing/2014/main" id="{1522EF1D-E3A5-4C02-A928-A60B35A7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55C8E-69F7-43EF-965B-2C2F669D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526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8" name="agenda-item-0">
            <a:extLst xmlns:a="http://schemas.openxmlformats.org/drawingml/2006/main">
              <a:ext uri="{FF2B5EF4-FFF2-40B4-BE49-F238E27FC236}">
                <a16:creationId xmlns:a16="http://schemas.microsoft.com/office/drawing/2014/main" id="{68CFB348-C24B-4637-9028-B14FEAEE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431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NumPy first: array, shape, dtype, indexing, vectorization</a:t>
            </a:r>
          </a:p>
        </p:txBody>
      </p:sp>
      <p:sp>
        <p:nvSpPr>
          <p:cNvPr id="9" name="agenda-no-1">
            <a:extLst xmlns:a="http://schemas.openxmlformats.org/drawingml/2006/main">
              <a:ext uri="{FF2B5EF4-FFF2-40B4-BE49-F238E27FC236}">
                <a16:creationId xmlns:a16="http://schemas.microsoft.com/office/drawing/2014/main" id="{C3979F26-B0AC-4AC4-962F-A7C18A35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E4EBA-0457-4B74-980D-05E6E6B8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670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agenda-item-1">
            <a:extLst xmlns:a="http://schemas.openxmlformats.org/drawingml/2006/main">
              <a:ext uri="{FF2B5EF4-FFF2-40B4-BE49-F238E27FC236}">
                <a16:creationId xmlns:a16="http://schemas.microsoft.com/office/drawing/2014/main" id="{FEAC65F5-1BA0-4A15-A1B5-8EADF895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575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Bridge the array into a pandas Series and DataFrame</a:t>
            </a:r>
          </a:p>
        </p:txBody>
      </p:sp>
      <p:sp>
        <p:nvSpPr>
          <p:cNvPr id="12" name="agenda-no-2">
            <a:extLst xmlns:a="http://schemas.openxmlformats.org/drawingml/2006/main">
              <a:ext uri="{FF2B5EF4-FFF2-40B4-BE49-F238E27FC236}">
                <a16:creationId xmlns:a16="http://schemas.microsoft.com/office/drawing/2014/main" id="{C6D1C90F-E97C-41E2-8D71-3E49A0B0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C69BF-BEB9-4800-AD0D-6B5D50E9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4" name="agenda-item-2">
            <a:extLst xmlns:a="http://schemas.openxmlformats.org/drawingml/2006/main">
              <a:ext uri="{FF2B5EF4-FFF2-40B4-BE49-F238E27FC236}">
                <a16:creationId xmlns:a16="http://schemas.microsoft.com/office/drawing/2014/main" id="{91993056-7DEC-497E-B63A-978E82B3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719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Function vs. method, keyword arguments, and light documentation</a:t>
            </a:r>
          </a:p>
        </p:txBody>
      </p:sp>
      <p:sp>
        <p:nvSpPr>
          <p:cNvPr id="15" name="agenda-no-3">
            <a:extLst xmlns:a="http://schemas.openxmlformats.org/drawingml/2006/main">
              <a:ext uri="{FF2B5EF4-FFF2-40B4-BE49-F238E27FC236}">
                <a16:creationId xmlns:a16="http://schemas.microsoft.com/office/drawing/2014/main" id="{FA908029-181F-47D8-AA7D-F44E2A95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7AA19-1F1B-491E-A060-B6B7C8D3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958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agenda-item-3">
            <a:extLst xmlns:a="http://schemas.openxmlformats.org/drawingml/2006/main">
              <a:ext uri="{FF2B5EF4-FFF2-40B4-BE49-F238E27FC236}">
                <a16:creationId xmlns:a16="http://schemas.microsoft.com/office/drawing/2014/main" id="{FD39423E-E733-4EA1-AD21-1D9E1641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863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Interview, clean, derive, and export Radley Hall data</a:t>
            </a:r>
          </a:p>
        </p:txBody>
      </p:sp>
    </p:spTree>
    <p:extLst>
      <p:ext uri="{BB962C8B-B14F-4D97-AF65-F5344CB8AC3E}">
        <p14:creationId xmlns:p14="http://schemas.microsoft.com/office/powerpoint/2010/main" val="1913144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97623913-BB5A-4EC4-A41D-BF755B48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B135A3A-9FD6-48B1-81F3-D1608C92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library stack adds one capability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350E1-8296-4534-A948-A2E5DC31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FC7C05E-145D-40C5-A16A-AF59BCE2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646D217-6EEA-4144-8544-BAFDD86E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118EC629-BE55-4F03-AFF0-4324ACCE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1C07D20B-1CC2-4062-8050-49872862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07316CCD-06DC-495B-B193-CF544C5E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8C6D6D45-ABDE-46F0-B9E2-D1D7CF2D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820D7DED-ED4F-43B2-A0DD-44579766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1180B468-D7A8-40E5-918C-27897DD5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D9B55-CCFC-4D6B-B81E-491C6A3A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41B3FD40-277D-4781-9647-AB82D0B4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Built-in logic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0440102B-D501-4D52-86F7-56DD1B5B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Variables, conditions, loops, functions, and standard modules.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6A3CC87C-0C78-4CA4-B25B-631CA566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4D4EA9AB-CD8B-40CA-B75B-15DD6C28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44AA30A5-5B7E-4190-9C5D-B122D048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NUMPY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FBF243-302E-4FD3-8C15-DDB41306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4869F986-3D01-4239-94F6-AA0327F4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Numerical arrays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907BC7D1-867C-4DFB-8C96-EB297E5B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Shape, dtype, indexing, and vectorized calculation.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CA75A178-F05D-4A20-A1FE-A0DC7E5E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1B45CC42-907E-4BAA-A8F8-00CCC536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0D08948B-73C9-4E7C-8DD2-B00D1238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PANDAS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B20E37-0C87-42F4-85E1-07A6B863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8740C567-ED08-4664-BD15-B91CC50B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Labeled evidence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B2D56E28-4783-48BD-9ED5-8717D8EF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Series and DataFrames add names, indexes, and table operations.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801BCD53-1F96-4254-BAC6-E3A0DD64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3C893A2C-0305-4CEC-8ABC-53F9F5DC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6CBFF7DE-79D6-44A5-A132-8B241162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MATPLOTLIB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3810C4-A844-4E03-991E-868B4648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DA290EF0-900A-41EB-BC12-DF6DA0A4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Visible result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D1C5A864-E5B0-4FAC-BA55-F652A686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Figures turn selected numerical evidence into an inspectable artifact.</a:t>
            </a:r>
          </a:p>
        </p:txBody>
      </p:sp>
    </p:spTree>
    <p:extLst>
      <p:ext uri="{BB962C8B-B14F-4D97-AF65-F5344CB8AC3E}">
        <p14:creationId xmlns:p14="http://schemas.microsoft.com/office/powerpoint/2010/main" val="12640095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FA872EF3-78C2-485C-B54E-F2B47533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CCEAB5-3D1C-4924-AC43-A18E3DE1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NumPy arrays add shape, dtype, indexing, and vectorized arithmetic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FDFBA-B0A1-43B5-AA65-CC505F2B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1602A4D-A531-4601-9D1E-F94D92AC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DBD7AD2-6EEB-4BA6-8C3F-D45A35BB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E73B7D71-DF50-4833-BD1D-503AD8E3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DC91512C-DAAC-499A-9C1C-B9E7C06A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79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areas_m2 = np.array([35.0, 62.5, 44.2])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print(areas_m2.shape, areas_m2.dtype)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print(areas_m2[0])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print(areas_m2 * 10.7639)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363A5-56FD-4ECB-8DA9-E70225C3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8042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AB1CED8F-FFDB-4E42-A4F5-D0548BDA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2342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C6E4F40B-0EC1-444A-912C-83273853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0942"/>
            <a:ext cx="6400800" cy="578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(3,) float64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35.0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[376.7365  672.74375 475.76438]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E19751FB-34BD-42DF-A45F-6B1BED77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object, four questions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FC349040-FD4A-4FD6-A0DF-7B9A641C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95472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shape says three values along one axis; dtype says they share a floating-point type; [0] selects the first value; multiplication acts on every element. This vectorized pattern is the numerical foundation under pandas columns.</a:t>
            </a:r>
          </a:p>
        </p:txBody>
      </p:sp>
    </p:spTree>
    <p:extLst>
      <p:ext uri="{BB962C8B-B14F-4D97-AF65-F5344CB8AC3E}">
        <p14:creationId xmlns:p14="http://schemas.microsoft.com/office/powerpoint/2010/main" val="11007388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C41849DD-D5C7-486F-9C69-92813B04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D25C5D-C612-4066-9FD4-D80945BB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Series is one labeled column of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F7892-0D60-4B92-B621-1875C082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200B37D-9745-44BA-BA75-2250AD7D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BB111DF-55F3-41C7-A877-149873B2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35357CD9-EFA3-423C-B9D4-D6F4D484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81A660D8-EC76-4490-B0F8-87122FAE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30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Series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8A7F1-0C5A-4F53-AD68-F8540EC4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472E71EB-7153-4579-BB78-C94BB318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Series is pandas' one-dimensional, labeled array: every value sits at an index position, the whole Series shares one dtype, and it can carry a name recording what it measures. A Series is the building block a DataFrame's columns are made of.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30275018-0811-4A8A-831B-12F57A31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BFAB3CF8-6D27-44E7-BD00-CF8692B5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C612ED7B-6418-4966-8326-FC678051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pd.Series([35.0, 62.5, 44.2], name='area_m2')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D497E920-2FEE-4F41-8ED5-7F75B234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51226"/>
            <a:ext cx="4381500" cy="1982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Three numbers - the same three from the NumPy array a moment ago. pandas labels them 0, 1, 2 automatically and remembers they are all area_m2; a plain NumPy array has neither label.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7CAF4361-2EAC-4C83-B240-502A3876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706C28B9-EF04-4425-B1F2-3A6E6FA2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16C6494C-9A9D-4910-8888-BE1E7AA1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printed index (0, 1, 2) looks like a fourth column of data. It isn't - it's a label pandas assigned, and it never counts toward the Series' length or dtype.</a:t>
            </a:r>
          </a:p>
        </p:txBody>
      </p:sp>
    </p:spTree>
    <p:extLst>
      <p:ext uri="{BB962C8B-B14F-4D97-AF65-F5344CB8AC3E}">
        <p14:creationId xmlns:p14="http://schemas.microsoft.com/office/powerpoint/2010/main" val="9280188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EB2BC583-0372-4591-9728-CB7B39A2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E15AD5-A30B-4DE7-BA73-5B786D67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three numbers, now as a Series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3989E-4089-4952-B450-4961235D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9936F15-C40C-4E00-B762-741C7E54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A55BD67-AF40-421B-9BEC-59A001F1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4410C025-C92F-4F06-BEC7-3294D8A6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99D01632-3E60-48CA-9B0D-760189FA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619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pandas as pd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areas_m2 = pd.Series([35.0, 62.5, 44.2], name='area_m2')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print(areas_m2)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C8EE7-B9CE-4161-BE6E-E0EA9AF3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4306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3C200C12-1E67-417F-AA94-86C1DF5A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606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28480B3B-8153-4405-A10E-978D055C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7206"/>
            <a:ext cx="6400800" cy="752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0    35.0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1    62.5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2    44.2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Name: area_m2, dtype: float64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9916B6EB-C53C-40B3-A5B0-2160D895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241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Read the index, then the values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A75B974D-38DB-47B2-9A17-DCBD275C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09747"/>
            <a:ext cx="3695700" cy="162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left column (0, 1, 2) is the index pandas assigned automatically - not a fourth data value. dtype: float64 confirms all three numbers share one type, and Name: area_m2 records what they measure, exactly as defined on the previous slide.</a:t>
            </a:r>
          </a:p>
        </p:txBody>
      </p:sp>
    </p:spTree>
    <p:extLst>
      <p:ext uri="{BB962C8B-B14F-4D97-AF65-F5344CB8AC3E}">
        <p14:creationId xmlns:p14="http://schemas.microsoft.com/office/powerpoint/2010/main" val="11955730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ED6BC93C-92ED-4CC6-81A3-1723D398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F0B6375-DD83-444C-A52C-799430B4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DataFrame is a table of Series sharing one index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CDECA-5189-4657-BE57-DC6DA175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E9BC4E4-1504-4D4C-9A35-C79F1C7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8DCD5A3-352A-494C-8533-D4484675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C97EC62F-7EA4-4163-9991-94D7AECC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F5BBA68C-EE62-4EC7-8277-8087B15B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30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DataFrame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83DC0-FA6B-485B-827E-52846515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5A5F12A9-2A0D-4731-83B2-1C3C3974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DataFrame is pandas' two-dimensional table: one or more named columns, each one internally a Series, all sharing the same row index. Almost every dataset this semester - including Radley Hall, later today - lives in a DataFrame.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958C330F-BAAA-4A24-8D28-169DADE2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96D6391F-3428-4B3F-A43E-3F2440C0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AFBF1AE5-BA4A-423C-93C9-C3AB12B5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pd.DataFrame({'room_id': [...], 'area_m2': [...]})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7633CB7F-9893-43A0-91F8-B25CFCDF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51226"/>
            <a:ext cx="4381500" cy="1982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Two Series, room_id and area_m2, share row labels 0, 1, 2. rooms['area_m2'] pulls one column back out as exactly the Series from the previous slide - a DataFrame is Series bundled under one shared index, not a new kind of value.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14549E3C-CB96-4A31-8269-6E002D2F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C6E5A828-0F36-4FD9-BB1D-0C8B122F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53BFE9AD-33EA-41AA-BF20-DFBC8B09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rooms['area_m2'] (one pair of brackets) returns a Series; rooms[['area_m2']] (two pairs) returns a one-column DataFrame. The bracket count changes the type you get back.</a:t>
            </a:r>
          </a:p>
        </p:txBody>
      </p:sp>
    </p:spTree>
    <p:extLst>
      <p:ext uri="{BB962C8B-B14F-4D97-AF65-F5344CB8AC3E}">
        <p14:creationId xmlns:p14="http://schemas.microsoft.com/office/powerpoint/2010/main" val="1025968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E73C88F1-8B4B-40B1-B359-A4E17DCE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1914620-462C-4734-93E1-F5BF73D2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Two columns, one shared index: a DataFrame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042C7-CADC-4EC9-AD28-2C47DE1B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39341AF-9897-425B-8EC1-05ADFEB8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6B3AD3C-9190-412D-A510-742CEB69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8DC6C3BD-8878-49C9-ACCA-D89B9CF3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7539037D-31F2-4DC3-A69E-DC3355AF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619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pandas as pd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rooms = pd.DataFrame({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'room_id': ['R101', 'R102', 'R103'],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'area_m2': [78.0, 44.2, 18.5],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print(rooms)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F98D3-A362-49DE-98E4-AF1BA7D3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4306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D6E2723F-DB89-45F3-B88C-2C39F219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606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2ACA6B3B-7164-4BF2-A674-90F2DE80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7206"/>
            <a:ext cx="6400800" cy="752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room_id  area_m2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0    R101     78.0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1    R102     44.2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2    R103     18.5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A82E0B4E-4756-48C9-B507-2F25B2B2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241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Read the table, then find the Series inside it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6B210999-8953-433C-B956-D940742B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09747"/>
            <a:ext cx="3695700" cy="162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rooms['area_m2'] is exactly the Series idea from the previous slide, now living inside a table alongside room_id, sharing its index. This is the structure you will use for almost every dataset this semester - including Radley Hall, later today.</a:t>
            </a:r>
          </a:p>
        </p:txBody>
      </p:sp>
    </p:spTree>
    <p:extLst>
      <p:ext uri="{BB962C8B-B14F-4D97-AF65-F5344CB8AC3E}">
        <p14:creationId xmlns:p14="http://schemas.microsoft.com/office/powerpoint/2010/main" val="18756649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B0AD0E24-6BC1-41EC-9193-BA3BEAEB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053B30-605B-4906-B671-C2CE9797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Matplotlib: turn numbers into a figure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FD5D1-E3C8-4425-A283-4E268843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1604D1C-FDC4-4902-B464-5D66DA1B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E7136FD-3BAF-49B8-8EDD-1F8AA1D1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64E487FF-CD2C-4615-89B8-7AFFEC18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52DEA300-A3C2-4E68-AD93-58FEEE26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matplotlib.pyplot as plt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areas_m2 = [35.0, 62.5, 44.2]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energy = [58.0, 95.0, 71.5]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plt.scatter(areas_m2, energy)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plt.xlabel('area_m2')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plt.ylabel('energy_kwh_m2_yr')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plt.title('Three rooms')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plt.show()</a:t>
            </a:r>
          </a:p>
        </p:txBody>
      </p:sp>
      <p:sp>
        <p:nvSpPr>
          <p:cNvPr id="8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51C6A460-9847-4271-9681-7541CDE7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479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No printed output - a figure instead</a:t>
            </a:r>
          </a:p>
        </p:txBody>
      </p:sp>
      <p:sp>
        <p:nvSpPr>
          <p:cNvPr id="9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78FD90F2-F3E4-4332-AEDE-F0C2E830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3547"/>
            <a:ext cx="3695700" cy="184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plt.scatter plots one point per room: x = area_m2, y = energy. plt.show() opens the figure window; it prints nothing to the console. Picture three dots, roughly left to right by area - does a bigger room always use more energy per square meter? We'll ask that question for real on Radley Hall's data in a few minutes.</a:t>
            </a:r>
          </a:p>
        </p:txBody>
      </p:sp>
    </p:spTree>
    <p:extLst>
      <p:ext uri="{BB962C8B-B14F-4D97-AF65-F5344CB8AC3E}">
        <p14:creationId xmlns:p14="http://schemas.microsoft.com/office/powerpoint/2010/main" val="17473575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CC053BA9-1058-4E14-AEB3-9602A75B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NEW 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A01B5E5-2746-4FDF-8671-BC54AAC7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Function call vs. method 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D7CF7-F5FB-45B4-9859-29989145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FD84D8B-E1DA-47E4-B22F-CA40658D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D9C9DA0-9822-46EF-92BD-B6509F48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98433479-A547-404E-BD3F-E0BC9273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Function call (recall)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921258E2-2385-430B-84D7-E54D3943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7461"/>
            <a:ext cx="5219700" cy="87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Recall from Weeks 1-3: a function is called by its own name, with data passed in as an argument - len(rooms), round(3.14159, 2).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5061ACB0-21F7-4B70-878F-5DC11DBF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Method call (new)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E5593869-B6E4-46CA-B8DC-9D5F977D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0746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 method is a function that belongs to a specific object and is called with dot notation - rooms.head() reads 'call head on rooms.' The object comes first; that is the only new part.</a:t>
            </a:r>
          </a:p>
        </p:txBody>
      </p:sp>
    </p:spTree>
    <p:extLst>
      <p:ext uri="{BB962C8B-B14F-4D97-AF65-F5344CB8AC3E}">
        <p14:creationId xmlns:p14="http://schemas.microsoft.com/office/powerpoint/2010/main" val="10101446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2024AA12-3DFD-476B-B132-BAF32243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FF07B1A-9FAD-4B5A-B246-6C8889BE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object, two ways to ask it a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628E1-CF57-48B5-864C-8EA950CE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DE4473E-6198-4C23-9DE2-37796423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07B08DA-57F7-4FF0-9E00-6F9730ED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524F338A-1B1A-4D49-8F3E-46F1C72F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7EC9B846-D0A7-48C1-A0CB-72C6EA65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619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pandas as pd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rooms = pd.read_csv('data/building_rooms.csv')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print(len(rooms))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print(rooms[['room_id', 'zone', 'area_m2']].head(2))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5D882-03A8-466A-AB7B-BAB9DC83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4306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9DFA8BEF-8121-4076-9C09-E4E8481D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606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36553177-F014-4B72-B7DF-E9AD3D5B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7206"/>
            <a:ext cx="6400800" cy="752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24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room_id   zone  area_m2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0    R101  North     78.0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1    R102  North     44.2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03D92EB9-9185-411F-AD86-5B8F5720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0980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len() is a function; .head() is a method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8CF8A86E-DAE5-4EEF-9D9E-A2FCE8B2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5422"/>
            <a:ext cx="3695700" cy="2506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This is Radley Hall, this week's shared dataset - fictional, instructor-built data for this course, not measurements from a real building (more on that in a few minutes). len(rooms) is Python's built-in function, called on rooms exactly like the Week 1-3 examples. rooms.head() is a method - it belongs to the DataFrame and only exists because rooms is one. Both are completely ordinary; you will use both constantly.</a:t>
            </a:r>
          </a:p>
        </p:txBody>
      </p:sp>
    </p:spTree>
    <p:extLst>
      <p:ext uri="{BB962C8B-B14F-4D97-AF65-F5344CB8AC3E}">
        <p14:creationId xmlns:p14="http://schemas.microsoft.com/office/powerpoint/2010/main" val="5587082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01F68089-1C12-444B-8FE9-45689BF1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19EDDE7-672F-4B37-8EF2-6F1EC398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keyword argument names its value at the call site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47F23-ED75-40D0-AFDC-E03119D7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9AA0DAA-CA97-436D-95B4-09B69F0F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719E3FE-EC6C-4F8E-8F78-B59222A1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47E7679E-7DAF-4490-9C67-D71464F9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1333EA42-C81B-47F0-9528-0D16CA98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96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material_required(area_m2: float, allowance: float = 0.10) -&gt; float: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"""Return required material area including a waste allowance."""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area_m2 * (1 + allowance)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print(material_required(44.2))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print(material_required(44.2, allowance=0.15))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2A6A1-0721-4A1C-BAF1-D27EE394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177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BE96F36C-D7C7-496D-9845-A4BDC1D4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607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5AE1B5C5-593B-4048-994E-B26F38A9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4678"/>
            <a:ext cx="6400800" cy="404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48.620000000000005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50.83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E7170CEB-1114-415F-A256-CB00D964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66950"/>
            <a:ext cx="3695700" cy="92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 Week 3's default argument - now name it at the call site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92A44C7F-3922-4B9D-B47F-2BDDC704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40608"/>
            <a:ext cx="3695700" cy="2065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allowance=0.10 is the default from Week 3. material_required(44.2, allowance=0.15) is new: writing allowance= at the call site overrides the default and makes the override self-documenting. You'll see this exact shape in pd.read_csv(path, sep=',') and df.to_csv(path, index=False) all semester.</a:t>
            </a:r>
          </a:p>
        </p:txBody>
      </p:sp>
    </p:spTree>
    <p:extLst>
      <p:ext uri="{BB962C8B-B14F-4D97-AF65-F5344CB8AC3E}">
        <p14:creationId xmlns:p14="http://schemas.microsoft.com/office/powerpoint/2010/main" val="16697914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59A1AA35-A76B-4454-AA4D-4E63AB2E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3008422-F981-4740-806F-A2DD9991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docstring documents what a function does, in place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D5CFD-4E7E-4E9C-958C-84B5F38F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BD87ABD-1C1C-495E-A327-70AC8AF6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643347D-9981-4151-87AD-75CB797D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CF646F30-F7DF-4B29-9D2B-3DE6E046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01D3FE6B-9233-4A11-9C0F-8B7676A1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30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docstring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0E0EF-AEB2-4368-98D5-6F5483D9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AABD9E88-DAF5-4BF1-9010-1C6E2055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short, triple-quoted string as the very first line inside a function body - what it does, in one or two sentences. Week 3's area_status never had one; that's the gap we close today - from now on, every function you write gets one.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9DDB3693-BADA-4736-BF40-81FBC5E4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DA219CB7-5B30-4FFA-BC54-E43BC150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E29955AC-91DF-49B3-A45D-AC7ED731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"""Return required material area including a waste allowance."""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EF121CD2-16C5-4385-B160-149D261B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51226"/>
            <a:ext cx="4381500" cy="1982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This line runs as ordinary code but does no calculation - Python stores it on the function. It can be read back later with .__doc__ or help(), the next slide's example.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0CA7B098-191A-4CBD-A185-1DDD63A2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A662B96F-037B-4096-B4B6-562BC9A7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95D4E453-7742-441C-B8C0-72A7054A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docstring is not a # comment: a comment is stripped before running and cannot be read back; a docstring is stored on the function and stays readable by name after the fact.</a:t>
            </a:r>
          </a:p>
        </p:txBody>
      </p:sp>
    </p:spTree>
    <p:extLst>
      <p:ext uri="{BB962C8B-B14F-4D97-AF65-F5344CB8AC3E}">
        <p14:creationId xmlns:p14="http://schemas.microsoft.com/office/powerpoint/2010/main" val="13380633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9570E477-CE3D-45A2-B663-5A266856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4B33037-7A4B-47DA-815A-4C626685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type hint documents intent - Python never checks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5D206-B933-44A7-8A2C-84C01CCA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42FA842-B532-4786-A453-A425A7BB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D24E5A6-A470-4F9A-BF4D-8771752D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89883020-2A6B-43E1-9FD9-7DD0DA92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4B9FBC4A-D441-4111-B35E-5054F4A8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30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type hint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B20C40-DF75-4ECE-80F7-3962C526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198B4FEA-BF2C-4181-B10F-34AC6647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note after a parameter's colon (area_m2: float) and after -&gt; (-&gt; float) stating the expected input and return type. Python does not enforce it - it documents intent for you, a teammate, or an AI assistant reading your code.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9D1287D6-C04E-4F2C-9E0B-7C0504E4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D7213C81-1B7A-4CC0-ACC1-368B1D82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0AE63AD4-4BA2-4BC2-8151-C47C00ED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797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def material_required(area_m2: float, allowance: float = 0.10) -&gt; float: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57D21752-64CE-4037-A8F7-AB10047A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98114"/>
            <a:ext cx="4381500" cy="1735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area_m2: float and allowance: float document the expected inputs; -&gt; float documents the return. Nothing stops you from calling this with a string - Python still runs it, and fails later, if at all.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4BD9B359-C7E2-4352-B32E-1F75E0A0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74B7F03B-6BF0-4A87-A875-CB15601C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14E57279-204C-4F3B-A8F2-A226490D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"Does not enforce" is the one idea to hold onto: a type hint is a promise, not a guardrail. Project 1 grades whether the promise is present and accurate, not whether Python checked it.</a:t>
            </a:r>
          </a:p>
        </p:txBody>
      </p:sp>
    </p:spTree>
    <p:extLst>
      <p:ext uri="{BB962C8B-B14F-4D97-AF65-F5344CB8AC3E}">
        <p14:creationId xmlns:p14="http://schemas.microsoft.com/office/powerpoint/2010/main" val="4587867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A49EADD2-8517-4092-AECF-743B154E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A846F5-AC04-4791-BA6C-A9A42755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small function, fully documented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7A4BC-7A7D-4794-A268-A30EEC06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3F5DE60-71B0-439A-A732-A09BA77E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18563C0-2391-441C-8A70-EACE2F81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D8F7D3F3-579C-4102-A749-0438D35B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035631A5-C4C4-494D-B9E8-8F09A11C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96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rectangular_area(length_m: float, width_m: float) -&gt; float: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"""Return rectangular floor area in square meters."""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length_m * width_m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print(rectangular_area(8.5, 5.2))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print(rectangular_area.__doc__)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FE9E0-4D02-4241-8374-C57C2A10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177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8AC8DE3C-61A2-46C3-A370-B0C4A90C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607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C5954ED5-274D-4D18-8EBB-600063D4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4678"/>
            <a:ext cx="6400800" cy="404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44.2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Return rectangular floor area in square meters.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02F52A82-9CC1-4E06-ADB0-CB138357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52700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Hint, don't enforce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62AACAB6-121C-4CD8-9FAB-2EB9031C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50286"/>
            <a:ext cx="3695700" cy="184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length_m: float and width_m: float document the expected inputs; -&gt; float documents the return. Nothing stops you from calling rectangular_area('8.5', 5.2) - Python still runs it. The docstring is available any time via .__doc__ or help(). Starting today, every function you write in this course gets both.</a:t>
            </a:r>
          </a:p>
        </p:txBody>
      </p:sp>
    </p:spTree>
    <p:extLst>
      <p:ext uri="{BB962C8B-B14F-4D97-AF65-F5344CB8AC3E}">
        <p14:creationId xmlns:p14="http://schemas.microsoft.com/office/powerpoint/2010/main" val="78985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14750146-99EC-4515-A313-41A9A304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PRINCIPLE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30F780F-83B4-49DA-8FBD-FBDE75B4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Meet Radley Hall - this week's shared 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6EEA7-112A-41A3-B31E-BF934375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C09BA9F-266B-48FA-B0F5-2D1CEA45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21F0178-38EC-496B-9BC8-3EBDB94D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statement">
            <a:extLst xmlns:a="http://schemas.openxmlformats.org/drawingml/2006/main">
              <a:ext uri="{FF2B5EF4-FFF2-40B4-BE49-F238E27FC236}">
                <a16:creationId xmlns:a16="http://schemas.microsoft.com/office/drawing/2014/main" id="{9A9EA1F5-DDA2-4551-9582-2C3AA2D8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9829800" cy="1557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Radley Hall is a fictional 24-room building, built for this course - not a real measured building.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57BA7-C4F9-4236-B3E7-0C82FAFC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6403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8" name="supporting">
            <a:extLst xmlns:a="http://schemas.openxmlformats.org/drawingml/2006/main">
              <a:ext uri="{FF2B5EF4-FFF2-40B4-BE49-F238E27FC236}">
                <a16:creationId xmlns:a16="http://schemas.microsoft.com/office/drawing/2014/main" id="{C6DB3DB5-3E3D-4CED-B75D-5F7C2356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0253"/>
            <a:ext cx="9334500" cy="87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Weeks 4 through 7 all reuse this same room-by-room file, building_rooms.csv, so the analysis stays continuous across the month, the same way the Gallery/Lobby/Studio example carried through Weeks 1-3.</a:t>
            </a:r>
          </a:p>
        </p:txBody>
      </p:sp>
    </p:spTree>
    <p:extLst>
      <p:ext uri="{BB962C8B-B14F-4D97-AF65-F5344CB8AC3E}">
        <p14:creationId xmlns:p14="http://schemas.microsoft.com/office/powerpoint/2010/main" val="85485576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B63CABD2-BB05-481B-AD0E-6CA098E2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ECF249E-C166-4B0D-844E-EA5ECCC7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same values gain structure as they move into pandas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A225B-7E0F-46DC-A376-8D1CF67F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8F70CFF-75D0-4ADB-AA76-081B1985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56BAE7B-2930-4512-B948-83F6BEB6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85FFD52F-1C65-4387-BF48-43667CE7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3C78A3B9-F915-4CB1-914A-8C309E3C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131061DD-5D3B-4467-832C-BA74CC3C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F92BA8D6-6736-456A-86EA-0B0349A4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F9840210-11F0-45F9-8C65-F1E76114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DD2A39A4-D92F-48D6-BF19-B7C1FCC2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C442E-2861-480C-BB3C-A547B199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2C869257-8629-4D36-AF6A-9CCC7BFF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Ordered values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69B44863-7156-45DA-8421-248288F2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Python stores a simple sequence without a shared numerical dtype.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8C0B3B3A-2955-46FD-A49B-78BE13B9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566F258B-7BD3-4779-8950-390DE851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353E4A68-6681-4A2F-840F-97EFFDBD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ARRAY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CAC628-ADD0-4CF4-BD98-39E1C1BC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98584708-06FA-4BB2-9F6B-CA3A7315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Numerical shape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DB85942F-B27C-4370-97E4-BA46ECE3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NumPy adds dtype, shape, vectorized arithmetic, and multidimensional indexing.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1CD0AC0E-F833-41B6-94CA-70DCAC52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B9F0138A-21B3-4807-BC7E-0ED6F184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A736BB3B-7109-4E34-8181-A9636305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SERIES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3847D1-E530-4CAC-8A59-5284F938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864AC12C-7A11-42C9-8190-B88E8185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labeled column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734380FA-94F0-499B-8C65-30887AEE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pandas adds an index and a column name to a one-dimensional array.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B1DD2303-C215-4812-BDC9-0BF3851A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F4133179-40D3-4D7D-B4E7-E13729AF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4F675370-FAFC-4195-8899-8A3977C7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DATAFRAME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8823C1-6121-4B55-AE16-C2B7D4CD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FDB855E4-B6D7-4E91-9ADD-ABC26985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Related columns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C1CFD456-2652-4DAF-91DF-14A089DE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Several named Series share one row index as a table.</a:t>
            </a:r>
          </a:p>
        </p:txBody>
      </p:sp>
    </p:spTree>
    <p:extLst>
      <p:ext uri="{BB962C8B-B14F-4D97-AF65-F5344CB8AC3E}">
        <p14:creationId xmlns:p14="http://schemas.microsoft.com/office/powerpoint/2010/main" val="7497871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E20BB2FB-1D4A-4BA1-A2B2-7B1611AC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91B36F5-5D2D-4F3A-9B99-69346230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Load the real dataset with a keyword argument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1247C-D073-47AE-9C0F-9312A73F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BF998B1-B791-481D-A37F-9BD632A8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BB631AD-0737-4FF0-8451-06193324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AD60BF9F-3864-4F06-A7F8-9279C79F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3145BD72-9DE9-4AB0-996D-EC49A04E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pandas as pd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rooms = pd.read_csv('data/building_rooms.csv', sep=',')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print(type(rooms))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3CE9C-3B59-48F8-A27E-8AFF2DC1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27DE54A3-DF1E-4D31-BFF2-7B3CF61D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C4148011-2AA1-4C5C-B1E3-2C649C48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&lt;class 'pandas.DataFrame'&gt;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0ED71B32-DD67-4905-A6D7-B99AD062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19350"/>
            <a:ext cx="3695700" cy="92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sep=',' is the first keyword argument you'll use constantly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D7DAA260-636C-4384-9215-777024AF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93008"/>
            <a:ext cx="3695700" cy="162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path is a positional argument - required, no name needed. sep=',' is a keyword argument: optional here (comma is already the default) but naming it makes the file format explicit for a reader. You'll see this same shape in df.to_csv(path, index=False) later today.</a:t>
            </a:r>
          </a:p>
        </p:txBody>
      </p:sp>
    </p:spTree>
    <p:extLst>
      <p:ext uri="{BB962C8B-B14F-4D97-AF65-F5344CB8AC3E}">
        <p14:creationId xmlns:p14="http://schemas.microsoft.com/office/powerpoint/2010/main" val="123817335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CC3850B3-7090-4BB9-AF2D-087B6816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62DD0D0-AFBD-4C5D-83D4-137EC515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First question: how big is this?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370DF-A0C1-468C-BE5D-D1A0458F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9F5553F-D0BD-4726-8BA5-4F467038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B155306-2CC9-4B0E-947A-E4443A43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A5D89C44-0033-47F7-BA93-5F8BDA62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F36538F8-AB58-4AEE-8554-989686B1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print(rooms.shape)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83576-8FFD-4A6A-BC92-BB72A957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168455FC-F1EA-424C-96AF-2B87B8C7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33D22D8F-A756-46A4-8814-9DBFB0E3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(24, 12)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55DC9D45-0F0A-4047-894B-E1C77583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14625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shape, defined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FAF0847C-B934-466A-8F3D-96601086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12211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rooms.shape is an attribute, not a method - no parentheses, because nothing needs to run; pandas already knows the size. The tuple reads (rows, columns): 24 rooms, 12 recorded fields. Always check shape before trusting a dataset's scale.</a:t>
            </a:r>
          </a:p>
        </p:txBody>
      </p:sp>
    </p:spTree>
    <p:extLst>
      <p:ext uri="{BB962C8B-B14F-4D97-AF65-F5344CB8AC3E}">
        <p14:creationId xmlns:p14="http://schemas.microsoft.com/office/powerpoint/2010/main" val="20682808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kicker">
            <a:extLst xmlns:a="http://schemas.openxmlformats.org/drawingml/2006/main">
              <a:ext uri="{FF2B5EF4-FFF2-40B4-BE49-F238E27FC236}">
                <a16:creationId xmlns:a16="http://schemas.microsoft.com/office/drawing/2014/main" id="{05D734FE-2BA9-4777-8FEB-619C0799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4A40882-4692-4F45-8233-C4293EFF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interview checks scale, examples, types, completeness, and gaps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927B1-8C7A-4E80-98B4-A4E63E50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873144E-93BA-4B2F-8D2F-71FD0C68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3B44F22-FE89-4A87-9429-A92ACE6D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CD014-4D34-48E2-9184-7AB4B693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966EF341-0E6B-4A73-A99A-5B514099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pandas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D613B-BA4A-4942-B284-0E5A99D8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5267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E6CEB3B2-65C4-49CD-A1DE-B841B685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2887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in Radley Hall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184B8-FD34-4220-95FB-2A097074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5267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C141AC00-B857-4503-BEEC-DB65C909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2887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 it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65084-9486-48D2-992E-FF3BFAA7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369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DFC13DC5-2E00-499F-9BF0-6E09A6A8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989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rooms.shape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13C06-9DC5-45EC-A999-BC4B4194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9369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1">
            <a:extLst xmlns:a="http://schemas.openxmlformats.org/drawingml/2006/main">
              <a:ext uri="{FF2B5EF4-FFF2-40B4-BE49-F238E27FC236}">
                <a16:creationId xmlns:a16="http://schemas.microsoft.com/office/drawing/2014/main" id="{59CD12F4-5652-4FA9-A6A9-A070D8AA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6989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(24, 12)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D762A-6902-4992-A935-81C2580E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9369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2">
            <a:extLst xmlns:a="http://schemas.openxmlformats.org/drawingml/2006/main">
              <a:ext uri="{FF2B5EF4-FFF2-40B4-BE49-F238E27FC236}">
                <a16:creationId xmlns:a16="http://schemas.microsoft.com/office/drawing/2014/main" id="{CC4EEA4F-DB66-4EC5-A4D2-866E1716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6989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Is this the expected scale?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E5F2E-A6A9-4764-A5BC-0ADEBA06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471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B4DE97D7-A55F-4285-8EE4-CD8D6F3E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091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rooms.head(3)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8743B3-5ADD-4586-868E-AD77CF0A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3471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8308F4EB-C000-4587-A166-8F3B6029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1091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IDs, zones,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9E8636-79F8-4C48-ABFB-6B91BDA5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3471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CEFFC560-CB66-41C9-88A9-1FB0C66E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1091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Do examples look plausible?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340C9B-660F-4B09-BF84-B6D502D9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573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2-0">
            <a:extLst xmlns:a="http://schemas.openxmlformats.org/drawingml/2006/main">
              <a:ext uri="{FF2B5EF4-FFF2-40B4-BE49-F238E27FC236}">
                <a16:creationId xmlns:a16="http://schemas.microsoft.com/office/drawing/2014/main" id="{063D7527-3913-448E-B4B4-C1C31CFB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193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rooms.dtypes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5C3542-3E87-4C8C-963D-89CA5C9E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7573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2-1">
            <a:extLst xmlns:a="http://schemas.openxmlformats.org/drawingml/2006/main">
              <a:ext uri="{FF2B5EF4-FFF2-40B4-BE49-F238E27FC236}">
                <a16:creationId xmlns:a16="http://schemas.microsoft.com/office/drawing/2014/main" id="{6EB52795-8363-420F-9023-1185410D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5193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has_daylight is object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CD5F28-9ABC-4ED0-9FBA-7AA8F678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7573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2-2">
            <a:extLst xmlns:a="http://schemas.openxmlformats.org/drawingml/2006/main">
              <a:ext uri="{FF2B5EF4-FFF2-40B4-BE49-F238E27FC236}">
                <a16:creationId xmlns:a16="http://schemas.microsoft.com/office/drawing/2014/main" id="{C261B931-4AFF-41A1-A91E-E659EF6D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5193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Are columns the expected type?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E251FB-7602-4384-8347-75F34F12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675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3-0">
            <a:extLst xmlns:a="http://schemas.openxmlformats.org/drawingml/2006/main">
              <a:ext uri="{FF2B5EF4-FFF2-40B4-BE49-F238E27FC236}">
                <a16:creationId xmlns:a16="http://schemas.microsoft.com/office/drawing/2014/main" id="{B72B0E67-408D-41A3-9182-D35030B9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295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rooms.info()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44C860-4CE4-418D-8F36-F84ACCCC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51675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3-1">
            <a:extLst xmlns:a="http://schemas.openxmlformats.org/drawingml/2006/main">
              <a:ext uri="{FF2B5EF4-FFF2-40B4-BE49-F238E27FC236}">
                <a16:creationId xmlns:a16="http://schemas.microsoft.com/office/drawing/2014/main" id="{377E5EC0-2A6B-480B-B433-066DEA89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9295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two columns have 23 non-null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C8E814-5A6C-482C-8DEA-3265FE2B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1675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3-2">
            <a:extLst xmlns:a="http://schemas.openxmlformats.org/drawingml/2006/main">
              <a:ext uri="{FF2B5EF4-FFF2-40B4-BE49-F238E27FC236}">
                <a16:creationId xmlns:a16="http://schemas.microsoft.com/office/drawing/2014/main" id="{D7A5E33F-2D8F-47C4-9950-BD188FDC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59295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Which fields are incomplete?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E7184C-DCCA-4308-A48D-9F29ABDF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7" name="cell-4-0">
            <a:extLst xmlns:a="http://schemas.openxmlformats.org/drawingml/2006/main">
              <a:ext uri="{FF2B5EF4-FFF2-40B4-BE49-F238E27FC236}">
                <a16:creationId xmlns:a16="http://schemas.microsoft.com/office/drawing/2014/main" id="{B093EB62-423F-4CF2-B25F-A8D91BD2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3397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rooms.isna().sum()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94B0EA-90FB-465A-99A4-FFB3FCD7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5777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9" name="cell-4-1">
            <a:extLst xmlns:a="http://schemas.openxmlformats.org/drawingml/2006/main">
              <a:ext uri="{FF2B5EF4-FFF2-40B4-BE49-F238E27FC236}">
                <a16:creationId xmlns:a16="http://schemas.microsoft.com/office/drawing/2014/main" id="{9B963CEB-918B-48A5-91CF-A0C51B43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3397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gap in each field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F1E4B6-F44C-4FC4-B47F-C6E55553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5777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1" name="cell-4-2">
            <a:extLst xmlns:a="http://schemas.openxmlformats.org/drawingml/2006/main">
              <a:ext uri="{FF2B5EF4-FFF2-40B4-BE49-F238E27FC236}">
                <a16:creationId xmlns:a16="http://schemas.microsoft.com/office/drawing/2014/main" id="{490673F5-EB67-458C-B549-53D6C50A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3397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How many values are missing?</a:t>
            </a:r>
          </a:p>
        </p:txBody>
      </p:sp>
      <p:sp>
        <p:nvSpPr>
          <p:cNvPr id="42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E28898E3-DD8C-4420-95A2-6140F5D6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43" name="callout">
            <a:extLst xmlns:a="http://schemas.openxmlformats.org/drawingml/2006/main">
              <a:ext uri="{FF2B5EF4-FFF2-40B4-BE49-F238E27FC236}">
                <a16:creationId xmlns:a16="http://schemas.microsoft.com/office/drawing/2014/main" id="{4213F18C-9F20-4AC9-B857-A2442966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Run the five checks as one interview, then investigate any mismatch. A surprising dtype or count is evidence—not a display nuisance.</a:t>
            </a:r>
          </a:p>
        </p:txBody>
      </p:sp>
    </p:spTree>
    <p:extLst>
      <p:ext uri="{BB962C8B-B14F-4D97-AF65-F5344CB8AC3E}">
        <p14:creationId xmlns:p14="http://schemas.microsoft.com/office/powerpoint/2010/main" val="134996346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3A75C5CD-81B2-4DDE-AA91-3339ACAE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ADCC086-CDBE-4A3A-8FDC-07B2A648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Third question: what do the first rows actually look like?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CAA03-7CF5-4EE3-8B8E-3EFB89F2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FF38B7B-AD9F-4FD7-9B6A-F36DB135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004F340-70D4-479C-9EC6-E88A4966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739A06E7-1F9C-401F-886B-A2A57B3C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D126F9F9-E172-4753-BC37-DD45064A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619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print(rooms[['room_id', 'zone', 'room_type', 'area_m2']].head(3))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2367A-6D0D-47C0-8D21-F1B1E686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4306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080BB77B-C2D5-4D40-A0B8-AA2826CD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606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12B5A1AB-35AE-49FC-877C-1DCCE6EA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7206"/>
            <a:ext cx="6400800" cy="752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room_id   zone room_type  area_m2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0    R101  North     Lobby     78.0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1    R102  North   Gallery     44.2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2    R103  North    Office     18.5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E6159B07-858B-433C-9A34-F0AAC9F4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14625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.head(), defined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A752FAFC-FDE7-4030-AB85-C2D556C8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12211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head(3) returns the first 3 rows as a new DataFrame - a quick sanity check that column names, types, and values look like what the data dictionary promises. It is not a substitute for the dictionary itself.</a:t>
            </a:r>
          </a:p>
        </p:txBody>
      </p:sp>
    </p:spTree>
    <p:extLst>
      <p:ext uri="{BB962C8B-B14F-4D97-AF65-F5344CB8AC3E}">
        <p14:creationId xmlns:p14="http://schemas.microsoft.com/office/powerpoint/2010/main" val="138118475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4D3FDAB4-4E88-47AE-B8FF-DBF4E5E6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561DA5-54CA-4A2D-B817-B4814D80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Commit to an answer before .info() runs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9D830-EC9F-4854-85A8-33F72469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1B2E21C-8E2C-4D03-9E93-65259EC3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E895840-43BC-4EC6-8F67-A405D346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FD404200-578B-4893-9D9B-FB78D814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24D43F72-701D-4432-A429-6B7D0743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x = rooms.info()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print(type(x))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A3AA9D10-B636-4CF3-B250-4B2DDD6A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does this print?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15A9CC15-7A58-4B9F-ABE5-D3531F0B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6C8F7D2A-39A4-4AE3-AD02-F5C9B35A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038B542D-0ACE-4E0E-98AB-9FD770C3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&lt;class 'pandas.DataFrame'&gt;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00F5F08E-4D0D-4F49-AF22-594F0188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D209F704-C795-4BE3-AE87-0571F66E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38EE2877-9F29-4CCA-A0EA-4DF3B5B5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&lt;class 'str'&gt;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9DFB4E1B-8078-4454-B5FC-13DC52B0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42BD32D1-AC55-4EE5-B8B7-F474C58D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EFEE554E-62B9-46B0-8369-186B5B3C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&lt;class 'NoneType'&gt;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3C57F776-2214-4189-9BA4-007BB12F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99DE9F1B-1056-41FA-9810-7D0C549F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24630D53-2DB5-45E9-9F42-5C8679AA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&lt;class 'dict'&gt;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3DA0F9C6-37BA-49BC-87AF-61B86570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1553AED0-0E5A-42AE-9A18-326517EA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C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F12C8608-FAA6-4278-BDC2-D4292F77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info() prints as a side effect and returns nothing, so x is None here - type(x) is NoneType, not a DataFrame, a string, or a dict.</a:t>
            </a:r>
          </a:p>
        </p:txBody>
      </p:sp>
    </p:spTree>
    <p:extLst>
      <p:ext uri="{BB962C8B-B14F-4D97-AF65-F5344CB8AC3E}">
        <p14:creationId xmlns:p14="http://schemas.microsoft.com/office/powerpoint/2010/main" val="98110244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322785FD-0D22-400F-86A1-3CB8AE01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B8711E-0BF1-4D35-8C36-B780243E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Fourth question: what does .info() summarize in one shot?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E3EE3-B56D-4A61-9CF9-0CD3DEDD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810DE47-C646-430A-ACB5-16244B2D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1D0B186-E753-4777-B2F0-8EEFD6DF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DFF34660-325E-4F45-989D-0388A98A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64552FE0-1EB5-4541-A6A0-63E55065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1403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rooms.info()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82130C-C439-40E6-9917-B1A00289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815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E2AB0B28-3274-4A0A-9326-FDB53B15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245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92A2B655-32E8-4C50-BA25-53A1B62C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1054"/>
            <a:ext cx="6400800" cy="1968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&lt;class 'pandas.DataFrame'&gt;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RangeIndex: 24 entries, 0 to 23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Data columns (total 12 columns):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#   Column            Non-Null Count  Dtype  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---  ------            --------------  -----  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...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6   has_daylight      23 non-null     object 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7   energy_kwh_m2_yr  23 non-null     float64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...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dtypes: float64(6), int64(1), object(1), str(4)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memory usage: 2.4+ KB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969DA5EB-F649-4AE4-A8DB-C63F10E8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28850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.info(), defined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1F5E5348-958F-45F8-8F79-39419111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6436"/>
            <a:ext cx="3695700" cy="272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rooms.info() prints, in one call, the class, row count, every column's name, non-null count, and dtype, then a dtypes summary and memory usage - shape, dtypes, and head, all gathered in one place. Read Non-Null Count against the total, 24: has_daylight and energy_kwh_m2_yr both show 23, confirming the two gaps you already suspected. (The real printout lists all 12 rows; trimmed here to fit the slide - your own console will show every one.)</a:t>
            </a:r>
          </a:p>
        </p:txBody>
      </p:sp>
    </p:spTree>
    <p:extLst>
      <p:ext uri="{BB962C8B-B14F-4D97-AF65-F5344CB8AC3E}">
        <p14:creationId xmlns:p14="http://schemas.microsoft.com/office/powerpoint/2010/main" val="97874986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22FB5B2A-F9DE-41E3-94E8-10733319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REQUIRED, NOT OPTIONAL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861C7B-2DE0-4DB1-B92A-15E0A5E4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data dictionary and a provenance note are required artifacts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6699E-8D59-4C04-B8E5-1D3FA987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FEBA4C7-086F-4249-9126-9656CB48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197E790-A699-4D79-86B4-7024FC73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AC2BAE6D-4515-4DAB-B921-99783185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Data dictionary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955E977E-730B-4FF1-936B-33F2476C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746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One row per column: name, meaning, unit, allowed values. Written before you trust a single number - Project 1 requires one for every dataset you submit, starting with Radley Hall today.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E28B1BA8-5B66-4E98-927B-16A24AC3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Provenance note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1E552818-B46B-419F-A30E-3A9BFA8F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0746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Where did this file come from, when, and under what assumptions? For Radley Hall: an instructor-built fictional dataset for this course, not a measurement of a real building.</a:t>
            </a:r>
          </a:p>
        </p:txBody>
      </p:sp>
    </p:spTree>
    <p:extLst>
      <p:ext uri="{BB962C8B-B14F-4D97-AF65-F5344CB8AC3E}">
        <p14:creationId xmlns:p14="http://schemas.microsoft.com/office/powerpoint/2010/main" val="144856439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kicker">
            <a:extLst xmlns:a="http://schemas.openxmlformats.org/drawingml/2006/main">
              <a:ext uri="{FF2B5EF4-FFF2-40B4-BE49-F238E27FC236}">
                <a16:creationId xmlns:a16="http://schemas.microsoft.com/office/drawing/2014/main" id="{76597ABE-C666-40AD-B784-F40D6523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E86C422-D81E-43F1-80DD-61DA3527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Radley Hall's data dictionary (excerpt)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C9372-728E-4946-89B4-6DD43070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E0B002A-D990-43E9-BD74-AC8C380C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A0DE943-550A-4460-9A5C-752B758D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A0846-EA55-4E1C-97F2-44D054F4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B59D035E-DFA9-4D02-B5C8-378BF250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column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5CB28-03EE-4C23-9541-751A523E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289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A2571BBC-6C72-4940-90F8-4AADE972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051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unit / values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D4FE4-10C1-47E4-803D-194FD12A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289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2CA7EE28-6B3A-471B-B2FE-FE22BB5D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051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B35058-9F98-4313-B8EF-88A29FAC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F1902EE4-FBFE-466D-9869-38179A5B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area_m2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BE1CC-43FE-4A88-82E0-D3552351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623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1">
            <a:extLst xmlns:a="http://schemas.openxmlformats.org/drawingml/2006/main">
              <a:ext uri="{FF2B5EF4-FFF2-40B4-BE49-F238E27FC236}">
                <a16:creationId xmlns:a16="http://schemas.microsoft.com/office/drawing/2014/main" id="{4A071C4C-5FF2-4F90-B428-88E99E7B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385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9CF55-2C81-4EAF-9C11-7CE89D1C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623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2">
            <a:extLst xmlns:a="http://schemas.openxmlformats.org/drawingml/2006/main">
              <a:ext uri="{FF2B5EF4-FFF2-40B4-BE49-F238E27FC236}">
                <a16:creationId xmlns:a16="http://schemas.microsoft.com/office/drawing/2014/main" id="{B8DFB0BA-6BFD-48D7-9632-C91ED8BC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385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measured room floor area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BE8F94-4AF8-48EA-999D-1B4AEB86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59FAE025-DEDC-418A-9605-9BBCFDF1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68F95D-19B1-4848-B0A2-87A26662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9570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7A2883D3-A40B-4599-A780-4FCDF6ED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7190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 / S / E / 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B12F53-7E01-44E8-BE75-5DEA19BC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9570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66B5DAE3-6931-4C6D-82F6-84D5C7DD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7190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primary wall-facing direction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68522C-8195-497D-9C4E-28A12861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672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2-0">
            <a:extLst xmlns:a="http://schemas.openxmlformats.org/drawingml/2006/main">
              <a:ext uri="{FF2B5EF4-FFF2-40B4-BE49-F238E27FC236}">
                <a16:creationId xmlns:a16="http://schemas.microsoft.com/office/drawing/2014/main" id="{5EBEE7F8-0129-4BBC-83B5-3304C6D6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292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has_daylight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FBEDEB-8D0D-4D63-8B78-E66BA494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3672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2-1">
            <a:extLst xmlns:a="http://schemas.openxmlformats.org/drawingml/2006/main">
              <a:ext uri="{FF2B5EF4-FFF2-40B4-BE49-F238E27FC236}">
                <a16:creationId xmlns:a16="http://schemas.microsoft.com/office/drawing/2014/main" id="{790B45C8-63A6-445E-ADAF-9B5C243D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1292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True / False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35143D-B047-4ED1-ADA5-B438C479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3672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2-2">
            <a:extLst xmlns:a="http://schemas.openxmlformats.org/drawingml/2006/main">
              <a:ext uri="{FF2B5EF4-FFF2-40B4-BE49-F238E27FC236}">
                <a16:creationId xmlns:a16="http://schemas.microsoft.com/office/drawing/2014/main" id="{D0E95BB8-EA51-4347-AD1C-AA53A128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1292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room has at least one exterior daylight opening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6BD25C-87FF-459D-B06F-A4D1653C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774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3-0">
            <a:extLst xmlns:a="http://schemas.openxmlformats.org/drawingml/2006/main">
              <a:ext uri="{FF2B5EF4-FFF2-40B4-BE49-F238E27FC236}">
                <a16:creationId xmlns:a16="http://schemas.microsoft.com/office/drawing/2014/main" id="{98FCE471-6896-4C57-83EB-883BD1BE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394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energy_kwh_m2_yr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D65889-9E19-405C-9057-BB5DC05B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7774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3-1">
            <a:extLst xmlns:a="http://schemas.openxmlformats.org/drawingml/2006/main">
              <a:ext uri="{FF2B5EF4-FFF2-40B4-BE49-F238E27FC236}">
                <a16:creationId xmlns:a16="http://schemas.microsoft.com/office/drawing/2014/main" id="{B7ED5931-C0C7-4BFE-B74C-8A5F0E34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5394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kWh / m² / yr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A4F3F1-75AC-4595-BA6D-C7150D4D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7774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3-2">
            <a:extLst xmlns:a="http://schemas.openxmlformats.org/drawingml/2006/main">
              <a:ext uri="{FF2B5EF4-FFF2-40B4-BE49-F238E27FC236}">
                <a16:creationId xmlns:a16="http://schemas.microsoft.com/office/drawing/2014/main" id="{989CFDA1-DEB1-4015-AC04-EB1D43B4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5394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modeled annual energy use intensity</a:t>
            </a:r>
          </a:p>
        </p:txBody>
      </p:sp>
      <p:sp>
        <p:nvSpPr>
          <p:cNvPr id="36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B8FD8A00-C2F3-42C8-BDEA-50CF2B94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37" name="callout">
            <a:extLst xmlns:a="http://schemas.openxmlformats.org/drawingml/2006/main">
              <a:ext uri="{FF2B5EF4-FFF2-40B4-BE49-F238E27FC236}">
                <a16:creationId xmlns:a16="http://schemas.microsoft.com/office/drawing/2014/main" id="{7FB9C6A2-E85B-441D-A935-EB597FEE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Fictional, instructor-built data for this course - not measurements from a real building. Say so in your own provenance note whenever the data isn't yours.</a:t>
            </a:r>
          </a:p>
        </p:txBody>
      </p:sp>
    </p:spTree>
    <p:extLst>
      <p:ext uri="{BB962C8B-B14F-4D97-AF65-F5344CB8AC3E}">
        <p14:creationId xmlns:p14="http://schemas.microsoft.com/office/powerpoint/2010/main" val="18837985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F1A79CDF-D16A-45F9-988B-CF68AB60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ANATOMY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A9A8EAC-82BD-412C-A01A-F7712055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Read rooms.isna().sum() one part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5190B-7207-456D-9269-34CCB4F3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7D5FE45-D780-4697-AF23-ADC07C92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B702459-4C74-40DA-A780-86839C5A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anatomy-code-panel">
            <a:extLst xmlns:a="http://schemas.openxmlformats.org/drawingml/2006/main">
              <a:ext uri="{FF2B5EF4-FFF2-40B4-BE49-F238E27FC236}">
                <a16:creationId xmlns:a16="http://schemas.microsoft.com/office/drawing/2014/main" id="{C00E3555-2521-4799-B462-BF5A6DAC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anatomy-code">
            <a:extLst xmlns:a="http://schemas.openxmlformats.org/drawingml/2006/main">
              <a:ext uri="{FF2B5EF4-FFF2-40B4-BE49-F238E27FC236}">
                <a16:creationId xmlns:a16="http://schemas.microsoft.com/office/drawing/2014/main" id="{299ABCAC-6BF7-47AB-B94A-906FD195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57400"/>
            <a:ext cx="415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3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rooms.isna().sum()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59492-C6D8-44BC-A1DB-00D3B487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479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9" name="part-chip-0">
            <a:extLst xmlns:a="http://schemas.openxmlformats.org/drawingml/2006/main">
              <a:ext uri="{FF2B5EF4-FFF2-40B4-BE49-F238E27FC236}">
                <a16:creationId xmlns:a16="http://schemas.microsoft.com/office/drawing/2014/main" id="{7CB6DC3B-C9D1-459F-98E4-EA8272A7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t-chipno-0">
            <a:extLst xmlns:a="http://schemas.openxmlformats.org/drawingml/2006/main">
              <a:ext uri="{FF2B5EF4-FFF2-40B4-BE49-F238E27FC236}">
                <a16:creationId xmlns:a16="http://schemas.microsoft.com/office/drawing/2014/main" id="{36E26D36-72F8-4871-B367-D9A02313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part-lchip-0">
            <a:extLst xmlns:a="http://schemas.openxmlformats.org/drawingml/2006/main">
              <a:ext uri="{FF2B5EF4-FFF2-40B4-BE49-F238E27FC236}">
                <a16:creationId xmlns:a16="http://schemas.microsoft.com/office/drawing/2014/main" id="{45A5AA31-1F31-4CEB-8E0E-DDDA887F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-lchipno-0">
            <a:extLst xmlns:a="http://schemas.openxmlformats.org/drawingml/2006/main">
              <a:ext uri="{FF2B5EF4-FFF2-40B4-BE49-F238E27FC236}">
                <a16:creationId xmlns:a16="http://schemas.microsoft.com/office/drawing/2014/main" id="{BEECE3D5-F960-4083-B293-5833BA1F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art-head-0">
            <a:extLst xmlns:a="http://schemas.openxmlformats.org/drawingml/2006/main">
              <a:ext uri="{FF2B5EF4-FFF2-40B4-BE49-F238E27FC236}">
                <a16:creationId xmlns:a16="http://schemas.microsoft.com/office/drawing/2014/main" id="{0A92D5D9-A794-4599-886F-1E85FEAC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0990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DataFrame</a:t>
            </a:r>
          </a:p>
        </p:txBody>
      </p:sp>
      <p:sp>
        <p:nvSpPr>
          <p:cNvPr id="14" name="part-body-0">
            <a:extLst xmlns:a="http://schemas.openxmlformats.org/drawingml/2006/main">
              <a:ext uri="{FF2B5EF4-FFF2-40B4-BE49-F238E27FC236}">
                <a16:creationId xmlns:a16="http://schemas.microsoft.com/office/drawing/2014/main" id="{C415663F-76D8-4D60-A9BA-DB07B7D5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90138"/>
            <a:ext cx="2000250" cy="76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Already interviewed once - the same table shape and info() described a moment ago.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3C61B-1760-43DE-8F2F-64A60AE8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47950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6" name="part-chip-1">
            <a:extLst xmlns:a="http://schemas.openxmlformats.org/drawingml/2006/main">
              <a:ext uri="{FF2B5EF4-FFF2-40B4-BE49-F238E27FC236}">
                <a16:creationId xmlns:a16="http://schemas.microsoft.com/office/drawing/2014/main" id="{9ECF0B80-2333-4F21-95D7-0819DBD8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rt-chipno-1">
            <a:extLst xmlns:a="http://schemas.openxmlformats.org/drawingml/2006/main">
              <a:ext uri="{FF2B5EF4-FFF2-40B4-BE49-F238E27FC236}">
                <a16:creationId xmlns:a16="http://schemas.microsoft.com/office/drawing/2014/main" id="{876E9D90-DE9E-4B76-8CFE-E5F03CF8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part-lchip-1">
            <a:extLst xmlns:a="http://schemas.openxmlformats.org/drawingml/2006/main">
              <a:ext uri="{FF2B5EF4-FFF2-40B4-BE49-F238E27FC236}">
                <a16:creationId xmlns:a16="http://schemas.microsoft.com/office/drawing/2014/main" id="{07E61A5C-FD06-461F-8838-9777A4CF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49674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t-lchipno-1">
            <a:extLst xmlns:a="http://schemas.openxmlformats.org/drawingml/2006/main">
              <a:ext uri="{FF2B5EF4-FFF2-40B4-BE49-F238E27FC236}">
                <a16:creationId xmlns:a16="http://schemas.microsoft.com/office/drawing/2014/main" id="{EB3E40B9-34C9-4FA2-AB21-206AC3D1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87774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part-head-1">
            <a:extLst xmlns:a="http://schemas.openxmlformats.org/drawingml/2006/main">
              <a:ext uri="{FF2B5EF4-FFF2-40B4-BE49-F238E27FC236}">
                <a16:creationId xmlns:a16="http://schemas.microsoft.com/office/drawing/2014/main" id="{2C87BBEF-9571-4252-9E9D-E277833E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30624"/>
            <a:ext cx="169545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Marks each cell</a:t>
            </a:r>
          </a:p>
        </p:txBody>
      </p:sp>
      <p:sp>
        <p:nvSpPr>
          <p:cNvPr id="21" name="part-body-1">
            <a:extLst xmlns:a="http://schemas.openxmlformats.org/drawingml/2006/main">
              <a:ext uri="{FF2B5EF4-FFF2-40B4-BE49-F238E27FC236}">
                <a16:creationId xmlns:a16="http://schemas.microsoft.com/office/drawing/2014/main" id="{198523D4-F8F2-4863-8BAE-825F7CC6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57750"/>
            <a:ext cx="200025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 same-shaped True/False table - True wherever a value is missing.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4C0166-574C-41E4-BFF6-0C40F2E9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47950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23" name="part-chip-2">
            <a:extLst xmlns:a="http://schemas.openxmlformats.org/drawingml/2006/main">
              <a:ext uri="{FF2B5EF4-FFF2-40B4-BE49-F238E27FC236}">
                <a16:creationId xmlns:a16="http://schemas.microsoft.com/office/drawing/2014/main" id="{CAF38323-9920-4DC8-9E88-0D55C968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t-chipno-2">
            <a:extLst xmlns:a="http://schemas.openxmlformats.org/drawingml/2006/main">
              <a:ext uri="{FF2B5EF4-FFF2-40B4-BE49-F238E27FC236}">
                <a16:creationId xmlns:a16="http://schemas.microsoft.com/office/drawing/2014/main" id="{9A9E3EE3-9CF2-4560-81F4-948C8297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part-lchip-2">
            <a:extLst xmlns:a="http://schemas.openxmlformats.org/drawingml/2006/main">
              <a:ext uri="{FF2B5EF4-FFF2-40B4-BE49-F238E27FC236}">
                <a16:creationId xmlns:a16="http://schemas.microsoft.com/office/drawing/2014/main" id="{52088786-BDB2-4E0A-A76C-601FD795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rt-lchipno-2">
            <a:extLst xmlns:a="http://schemas.openxmlformats.org/drawingml/2006/main">
              <a:ext uri="{FF2B5EF4-FFF2-40B4-BE49-F238E27FC236}">
                <a16:creationId xmlns:a16="http://schemas.microsoft.com/office/drawing/2014/main" id="{4062C78D-F989-419B-96C4-584BA330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part-head-2">
            <a:extLst xmlns:a="http://schemas.openxmlformats.org/drawingml/2006/main">
              <a:ext uri="{FF2B5EF4-FFF2-40B4-BE49-F238E27FC236}">
                <a16:creationId xmlns:a16="http://schemas.microsoft.com/office/drawing/2014/main" id="{3C94D275-07FF-4761-844E-C45D8014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9900"/>
            <a:ext cx="217170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Adds down each column</a:t>
            </a:r>
          </a:p>
        </p:txBody>
      </p:sp>
      <p:sp>
        <p:nvSpPr>
          <p:cNvPr id="28" name="part-body-2">
            <a:extLst xmlns:a="http://schemas.openxmlformats.org/drawingml/2006/main">
              <a:ext uri="{FF2B5EF4-FFF2-40B4-BE49-F238E27FC236}">
                <a16:creationId xmlns:a16="http://schemas.microsoft.com/office/drawing/2014/main" id="{7E7907A6-6DE6-4B7A-8AF6-23411E80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37026"/>
            <a:ext cx="247650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True counts as 1, so each column's total is its missing-value count.</a:t>
            </a:r>
          </a:p>
        </p:txBody>
      </p:sp>
    </p:spTree>
    <p:extLst>
      <p:ext uri="{BB962C8B-B14F-4D97-AF65-F5344CB8AC3E}">
        <p14:creationId xmlns:p14="http://schemas.microsoft.com/office/powerpoint/2010/main" val="44017115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9D6950AD-CF27-41D6-8FCC-2EA6244D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80D3065-51AA-4B88-A47B-70AA1CC9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Fifth question: where exactly are the gaps?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7F8BA-8CAA-4BF1-AE2E-42304548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B7CF95A-0B24-4ADE-BE0B-1F74F433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1EE4511-0C9B-430D-912B-CE083B7A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857BABBA-708E-4AB2-AE83-E50D7C2B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3F8D361C-DC9B-423D-9FC1-638AD724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79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print(rooms[['has_daylight', 'energy_kwh_m2_yr']].isna().sum())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5F535-6173-48A7-890C-A0DEB316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8042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CE19FEDA-4D7A-436E-A346-6C924030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2342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329D387D-50EB-4016-BDBF-D851985C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0942"/>
            <a:ext cx="6400800" cy="578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has_daylight        1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energy_kwh_m2_yr    1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dtype: int64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0EE3575D-82AF-4563-8A15-7EBE72F7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28900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isna().sum(), defined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3C36C403-3EE9-4E00-B770-9D956F9A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26486"/>
            <a:ext cx="3695700" cy="162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isna() marks every missing value True; .sum() adds the Trues per column (True counts as 1). One missing has_daylight (room R303) and one missing energy_kwh_m2_yr (room R206) - now you know exactly where, not just that dtypes or info() looked odd.</a:t>
            </a:r>
          </a:p>
        </p:txBody>
      </p:sp>
    </p:spTree>
    <p:extLst>
      <p:ext uri="{BB962C8B-B14F-4D97-AF65-F5344CB8AC3E}">
        <p14:creationId xmlns:p14="http://schemas.microsoft.com/office/powerpoint/2010/main" val="90071584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93859C01-76CC-425C-BD4E-E7620F56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VISUAL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E4BD08F-97B7-4DE0-83CB-DEC4D194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Both gaps, in one picture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4191D-A5DB-4B64-8BE0-A4DB5872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186FDFB-B29F-474B-B632-1A4F0289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307E0DC-1FCB-424C-A9DB-CF7096F9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" name="figure-panel">
            <a:extLst xmlns:a="http://schemas.openxmlformats.org/drawingml/2006/main">
              <a:ext uri="{FF2B5EF4-FFF2-40B4-BE49-F238E27FC236}">
                <a16:creationId xmlns:a16="http://schemas.microsoft.com/office/drawing/2014/main" id="{AA45D461-CC20-4989-9E38-11EE25BE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3995166"/>
          </a:xfrm>
          <a:prstGeom xmlns:a="http://schemas.openxmlformats.org/drawingml/2006/main" prst="roundRect">
            <a:avLst>
              <a:gd name="adj" fmla="val 1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 descr="Horizontal bar chart of missing-value counts per column; has_daylight and energy_kwh_m2_yr each show 1, every other column 0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b1ffb9efb34726"/>
          <a:stretch xmlns:a="http://schemas.openxmlformats.org/drawingml/2006/main"/>
        </p:blipFill>
        <p:spPr>
          <a:xfrm xmlns:a="http://schemas.openxmlformats.org/drawingml/2006/main">
            <a:off x="953547" y="1943100"/>
            <a:ext cx="6208206" cy="3728466"/>
          </a:xfrm>
          <a:prstGeom xmlns:a="http://schemas.openxmlformats.org/drawingml/2006/main" prst="rect">
            <a:avLst/>
          </a:prstGeom>
        </p:spPr>
      </p:pic>
      <p:sp>
        <p:nvSpPr>
          <p:cNvPr id="8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B4C36182-98A7-4A6C-B200-8818C765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1116"/>
            <a:ext cx="65913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One bar per column of Radley Hall. Only two columns are not zero.</a:t>
            </a:r>
          </a:p>
        </p:txBody>
      </p:sp>
      <p:sp>
        <p:nvSpPr>
          <p:cNvPr id="9" name="figure-explain-head">
            <a:extLst xmlns:a="http://schemas.openxmlformats.org/drawingml/2006/main">
              <a:ext uri="{FF2B5EF4-FFF2-40B4-BE49-F238E27FC236}">
                <a16:creationId xmlns:a16="http://schemas.microsoft.com/office/drawing/2014/main" id="{478801FF-C224-45C8-8B9E-95D6193E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479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Two gaps, not a vague sense of dirt</a:t>
            </a:r>
          </a:p>
        </p:txBody>
      </p:sp>
      <p:sp>
        <p:nvSpPr>
          <p:cNvPr id="10" name="figure-explain-body">
            <a:extLst xmlns:a="http://schemas.openxmlformats.org/drawingml/2006/main">
              <a:ext uri="{FF2B5EF4-FFF2-40B4-BE49-F238E27FC236}">
                <a16:creationId xmlns:a16="http://schemas.microsoft.com/office/drawing/2014/main" id="{0E44C99B-201C-4627-BCDE-1E9C36BB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3547"/>
            <a:ext cx="3695700" cy="184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printed isna().sum() column is easy to skim past. Here the shape of the problem is immediate: 10 of 12 columns are complete, and exactly two rooms are missing exactly one value each. That is a small, nameable problem with a decision attached - not a reason to reach for dropna().</a:t>
            </a:r>
          </a:p>
        </p:txBody>
      </p:sp>
    </p:spTree>
    <p:extLst>
      <p:ext uri="{BB962C8B-B14F-4D97-AF65-F5344CB8AC3E}">
        <p14:creationId xmlns:p14="http://schemas.microsoft.com/office/powerpoint/2010/main" val="201759326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241E2C1B-CA60-40E3-9573-8B826D93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JUDGMENT, NOT A BUG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8437672-8C98-4BAA-A4D9-7FF0758C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NaN as a modeling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FBA73-4420-4466-8CD9-1E023C56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86A3DCF-3440-43AA-907E-405C4CAB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A3BB5C3-FC00-45A5-9A14-DECEFF3E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BF96CD62-8F02-4E11-9FE6-BC7B360A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NaN, defined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DB53247A-8AEE-4B35-B204-248D5F42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746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pandas' marker for 'no value recorded here' - not zero, not False, a genuine absence. It is exactly why has_daylight, expected to be a clean bool, prints as object instead.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E9B36774-4817-4196-82D6-E278C837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Your decision, every time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13CF2964-5B20-4564-9155-193F9DED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0746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Drop the row? Drop the column? Fill with an assumed value, and say so? Leave it and flag it? There is no default right answer - whichever you pick becomes part of your provenance note.</a:t>
            </a:r>
          </a:p>
        </p:txBody>
      </p:sp>
    </p:spTree>
    <p:extLst>
      <p:ext uri="{BB962C8B-B14F-4D97-AF65-F5344CB8AC3E}">
        <p14:creationId xmlns:p14="http://schemas.microsoft.com/office/powerpoint/2010/main" val="166349142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506031C7-393B-48FD-96AD-27C5EB9B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A27B737-8703-4894-8D26-A0452598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Filter to the rows that matter for a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F7C31-76F8-4227-AA28-A1A60F13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63907A9-B19C-4700-81FC-F15AFEEC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A92A95D-CD24-4882-90F6-E8CDBB24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0DAE9D5D-D88F-4A65-A001-125F3F4E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A5EEA65A-2BE0-4CDD-A21D-711A8619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south_rooms = rooms[rooms['zone'] == 'South']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print(south_rooms.shape)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26F6B-F0E4-4FEA-8627-1DDF5185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F0190E98-9451-45BB-A374-155A26A7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D66BF769-BA4E-4B41-8A7D-7E59D07E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(12, 12)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114725F3-3D34-46BD-AE44-E98AC67E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Boolean filtering, defined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6C24BDE0-8D60-4950-8E47-C3A5250C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71672"/>
            <a:ext cx="3695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rooms['zone'] == 'South' produces a Series of True/False, one per row - Boolean comparison, recalled from Week 2. rooms[...] keeps only the True rows. 12 of 24 rooms sit in the South zone.</a:t>
            </a:r>
          </a:p>
        </p:txBody>
      </p:sp>
    </p:spTree>
    <p:extLst>
      <p:ext uri="{BB962C8B-B14F-4D97-AF65-F5344CB8AC3E}">
        <p14:creationId xmlns:p14="http://schemas.microsoft.com/office/powerpoint/2010/main" val="26240925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D24EE79C-A7AA-44CC-A5E1-C3174C9B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EDE8DFB-DE96-4A9D-AA53-87E52ED1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Add one derived column - don't overwrite the original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F6265-5043-4536-9311-A3A21B09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2DDF03D-517A-4152-9115-472E0654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9929D72-6AA1-44E0-8A5A-255294CA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C8EB09B0-CB29-4838-8EB1-DF1421C8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F5B568B1-9B16-4153-B907-C124C93F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619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rooms['area_ft2'] = (rooms['area_m2'] * 10.7639).round(1)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print(rooms[['room_id', 'area_m2', 'area_ft2']].head(3))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DBC32-C343-4704-A283-B2F68C46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4306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C983A9DB-5ED5-4857-90C5-780ADDB3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606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0861264F-4931-4260-BCF3-68CB04C8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7206"/>
            <a:ext cx="6400800" cy="752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room_id  area_m2  area_ft2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0    R101     78.0     839.6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1    R102     44.2     475.8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2    R103     18.5     199.1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4600D13D-9472-4ECC-B31A-B5AF69B4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717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vectorized line, no loop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9828797D-7E3A-4B91-B781-6C296037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57347"/>
            <a:ext cx="3695700" cy="2065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rooms['area_m2'] * 10.7639 multiplies every row's value at once - the same vectorized idea as the NumPy slide from the top of the hour. Assigning to a new column name (area_ft2) keeps area_m2 intact for anyone auditing your work later. The next slide adds a second derived column, this time wrapped in a documented function.</a:t>
            </a:r>
          </a:p>
        </p:txBody>
      </p:sp>
    </p:spTree>
    <p:extLst>
      <p:ext uri="{BB962C8B-B14F-4D97-AF65-F5344CB8AC3E}">
        <p14:creationId xmlns:p14="http://schemas.microsoft.com/office/powerpoint/2010/main" val="197542532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6F475F11-C144-44EC-A02C-051A8C3F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E5884D9-5F4D-4D7D-95E7-E83DA8EC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...continued: a second documented function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9EA97-654B-4682-9EED-2F062B3E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70934A1-D5A2-4EAA-BA5A-268F1BB5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DDC96F1-43F3-43C2-A245-D704D780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16BEC2E9-B9C0-4828-B63E-161CF2FD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DAF20D54-E797-41F1-8FA6-89FCFE7E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619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estimate_annual_energy_kwh(energy_kwh_m2_yr: pd.Series, area_m2: pd.Series) -&gt; pd.Series: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"""Total annual energy use, in kWh/yr."""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(energy_kwh_m2_yr * area_m2).round(0)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rooms['energy_kwh_yr'] = estimate_annual_energy_kwh(rooms.energy_kwh_m2_yr, rooms.area_m2)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print(rooms[['room_id', 'area_m2', 'energy_kwh_yr']].head(3))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119A1-07A1-4CEF-9E45-6FE4037E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4306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867F8591-EB94-4237-B522-C1B46DA1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606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46CCC41A-F3AA-46A8-834A-8648E738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7206"/>
            <a:ext cx="6400800" cy="752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room_id  area_m2  energy_kwh_yr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0    R101     78.0         4836.0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1    R102     44.2         3160.0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2    R103     18.5         1073.0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6302C0CE-2935-468D-B86B-63132433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05075"/>
            <a:ext cx="3695700" cy="92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Intensity and total answer different questions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85030D4F-DA8C-4DB7-8A42-3AAE50B7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78733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Intensity is per square meter; energy_kwh_yr is a total. R306 has the highest intensity (410 kWh/m²/yr), yet its 8 m² area yields only 3,280 kWh/yr. A derived column changes which question the table can answer.</a:t>
            </a:r>
          </a:p>
        </p:txBody>
      </p:sp>
    </p:spTree>
    <p:extLst>
      <p:ext uri="{BB962C8B-B14F-4D97-AF65-F5344CB8AC3E}">
        <p14:creationId xmlns:p14="http://schemas.microsoft.com/office/powerpoint/2010/main" val="77915664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EA0229BF-8FC1-4A36-A2A1-33811829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VISUAL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CEB182F-CD35-4067-B2C5-3F6E91BE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Two rankings, two different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E5141-27C5-45C0-965B-6150660B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40700D9-2962-46AF-A58E-F1509C31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A507D60-5E9E-4D8D-BBFC-7AB59CAA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6" name="figure-panel">
            <a:extLst xmlns:a="http://schemas.openxmlformats.org/drawingml/2006/main">
              <a:ext uri="{FF2B5EF4-FFF2-40B4-BE49-F238E27FC236}">
                <a16:creationId xmlns:a16="http://schemas.microsoft.com/office/drawing/2014/main" id="{B4739C7B-9A03-45ED-A359-35CFD166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572500" cy="3818382"/>
          </a:xfrm>
          <a:prstGeom xmlns:a="http://schemas.openxmlformats.org/drawingml/2006/main" prst="roundRect">
            <a:avLst>
              <a:gd name="adj" fmla="val 19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 descr="Two side-by-side horizontal bar charts of the top six rooms, one ranked by energy intensity where R306 leads, one by annual total where R306 is absent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b276bb85e42b4"/>
          <a:stretch xmlns:a="http://schemas.openxmlformats.org/drawingml/2006/main"/>
        </p:blipFill>
        <p:spPr>
          <a:xfrm xmlns:a="http://schemas.openxmlformats.org/drawingml/2006/main">
            <a:off x="1616523" y="1943100"/>
            <a:ext cx="6558655" cy="3551682"/>
          </a:xfrm>
          <a:prstGeom xmlns:a="http://schemas.openxmlformats.org/drawingml/2006/main" prst="rect">
            <a:avLst/>
          </a:prstGeom>
        </p:spPr>
      </p:pic>
      <p:sp>
        <p:nvSpPr>
          <p:cNvPr id="8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A407825E-28F8-4D8F-9777-BD7EE0B6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4332"/>
            <a:ext cx="8267700" cy="448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Left: ranked by intensity per square meter. Right: ranked by total annual energy. R306 leads one list and is missing from the other.</a:t>
            </a:r>
          </a:p>
        </p:txBody>
      </p:sp>
      <p:sp>
        <p:nvSpPr>
          <p:cNvPr id="9" name="figure-explain-head">
            <a:extLst xmlns:a="http://schemas.openxmlformats.org/drawingml/2006/main">
              <a:ext uri="{FF2B5EF4-FFF2-40B4-BE49-F238E27FC236}">
                <a16:creationId xmlns:a16="http://schemas.microsoft.com/office/drawing/2014/main" id="{845B16AC-00DD-4CDA-A7CC-B6CEF5A7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28825"/>
            <a:ext cx="2019300" cy="92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derived column changes the ranking</a:t>
            </a:r>
          </a:p>
        </p:txBody>
      </p:sp>
      <p:sp>
        <p:nvSpPr>
          <p:cNvPr id="10" name="figure-explain-body">
            <a:extLst xmlns:a="http://schemas.openxmlformats.org/drawingml/2006/main">
              <a:ext uri="{FF2B5EF4-FFF2-40B4-BE49-F238E27FC236}">
                <a16:creationId xmlns:a16="http://schemas.microsoft.com/office/drawing/2014/main" id="{84B7001B-E65F-4C97-9A0F-164B67BD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02483"/>
            <a:ext cx="2019300" cy="272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R306 dominates the left chart at 410 kWh/m2/yr and does not appear on the right at all. Nothing about the data changed between these two panels - only which question was asked. This is what a derived column is for, and why naming it honestly matters.</a:t>
            </a:r>
          </a:p>
        </p:txBody>
      </p:sp>
    </p:spTree>
    <p:extLst>
      <p:ext uri="{BB962C8B-B14F-4D97-AF65-F5344CB8AC3E}">
        <p14:creationId xmlns:p14="http://schemas.microsoft.com/office/powerpoint/2010/main" val="99319008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17C5B0D3-D9C9-45D3-91DA-FB021CF1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1004D3D-0C17-475D-A134-B48587F4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Export with a keyword argument you'll use every week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69307-D72F-4EB0-A87B-6EEF4AEB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D163447-EC05-4B94-8C37-E7133A14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F12723B-3DCB-403D-BB7D-9425E971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ED8C7994-C356-4EF5-ACE4-590D3506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20CD8957-900C-4BDC-990B-5E5152A3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rooms.to_csv('rooms_with_area_ft2.csv', index=False)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check = pd.read_csv('rooms_with_area_ft2.csv')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print(check.shape)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DEEC1-7334-461A-8190-D964EF0C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27ADC9AA-CF87-4058-BF7D-75C13B8E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AEDE42AE-9087-442D-849E-C0CF4EE0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(24, 14)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95BB5967-9838-4CCF-A6E1-6D187CA1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28900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index=False, defined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401E9002-1AB6-40A6-9302-1B7A67B8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26486"/>
            <a:ext cx="3695700" cy="162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Without index=False, pandas writes its own row-number index as an extra unnamed column - clutter your collaborators didn't ask for. index=False is the keyword-argument habit Project 1 requires on every CSV you export, starting this week.</a:t>
            </a:r>
          </a:p>
        </p:txBody>
      </p:sp>
    </p:spTree>
    <p:extLst>
      <p:ext uri="{BB962C8B-B14F-4D97-AF65-F5344CB8AC3E}">
        <p14:creationId xmlns:p14="http://schemas.microsoft.com/office/powerpoint/2010/main" val="75610712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A9D603CA-C797-4292-878B-A0EB274C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4D23430-01A8-4F56-A1C0-4C6D35D8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check: would you trust this AI-suggested line?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327A3-B591-4913-AE51-37415834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1309214-B403-41D3-94B0-2816A86F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F14B808-206D-49E4-B594-D22D528F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64A06EC5-B77F-4ACE-B2EE-58798453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637F4E40-DD0A-44A2-9702-A2DDB12A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 AI assistant suggests rooms.dropna() right after loading - before anyone has looked at the data.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A372EFE7-DED3-440C-8347-1649E0A6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113AAFA9-0026-42B6-9F94-29589D43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3FA4D118-76C5-4246-99E2-DB3567E2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Run the trustworthiness interview first: what does dropna() actually remove here?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56720595-B992-4127-99B8-74086D3E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9136515E-B700-4A53-B3AD-4339E36E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 which two rooms would silently disappear.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245A6618-8DAC-4AD8-AE04-6F57B267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2183648B-F31B-43D1-A827-442F5C80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Decide: is a blanket dropna() ever the right first move?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B8EF9F93-552E-4FA3-B4F7-F39528B2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0A18E895-23CC-4F28-8025-B62E7BFF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Write the one-line policy you would use instead.</a:t>
            </a:r>
          </a:p>
        </p:txBody>
      </p:sp>
    </p:spTree>
    <p:extLst>
      <p:ext uri="{BB962C8B-B14F-4D97-AF65-F5344CB8AC3E}">
        <p14:creationId xmlns:p14="http://schemas.microsoft.com/office/powerpoint/2010/main" val="130241119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5864FE13-3BCB-4D29-B0E0-F3F4956E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2026 PRACTICE HORIZON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57302A-AAF0-4C04-BE24-D233383A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Typed columnar data changes scale—not the evidence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693B2-F209-41B7-8C02-AB2186CE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0DE798F-1BCE-4E60-B9C1-D772B95B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1992F57-4488-4B88-A357-622780DF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5EB5D1F6-9AD0-4BE1-8852-07825FD7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016BABDF-1EC5-4D40-AB92-095C7994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31BAA01E-6785-4518-A9A6-787E816D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9CDDC879-EA66-4ABA-B50F-D4F4CE46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AE627892-DB06-486F-BFD7-82633E39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2E08EF27-DE5B-408F-AF08-C50ACC4E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CSV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5B4DF-0C04-4C73-8D7A-1A661349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3E824015-A7B2-47B6-9E42-6B7D32C6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Read and exchange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AE247E6F-9294-40A2-A637-FEC97A1C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Transparent for small handoffs, but types and units still live outside the file.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878678BF-ECD7-4861-A4B0-59E43BF6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5A3023C-179B-4620-A45C-DF12E72F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5236CB61-EA44-4B1D-88B0-CB09C5D5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PARQUET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FD80C8-6137-4A0C-B61D-BD02C664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200D69F9-720F-4CF3-BFA2-4AAA2CE0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Store typed columns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7F224F9D-703B-4C11-8E35-A0432BB8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Compressed columnar storage supports larger analytical tables and repeatable schemas.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8E14206D-00CE-4C3E-9C21-6EFEEAF4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E0F92CAF-CD31-4C71-9E07-2365B326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B51E2D3A-5C10-4DB6-819E-3201EA9F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B4ADB3-3CC4-4812-AC68-058B2518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B98CF3E3-BD4F-426F-B501-6F9B9C69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Move data efficiently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0DCDFCE9-0236-4D0C-A4D0-25715008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 language-independent in-memory columnar format reduces conversion between tools.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079B5C46-2630-41C9-849E-758F9BFF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31124DD7-2721-430F-B8CD-05500670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6C940D84-22FA-4A31-A26E-0B4028A0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CONTRACT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CE2D2B-FAA5-4699-A323-D249478A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0E10E741-ACC1-4212-B6C8-2CDB6137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Preserve meaning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D1B6AC34-0D42-4BE4-9354-A0135877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Row meaning, units, null policy, identifiers, provenance, and checks remain mandatory.</a:t>
            </a:r>
          </a:p>
        </p:txBody>
      </p:sp>
    </p:spTree>
    <p:extLst>
      <p:ext uri="{BB962C8B-B14F-4D97-AF65-F5344CB8AC3E}">
        <p14:creationId xmlns:p14="http://schemas.microsoft.com/office/powerpoint/2010/main" val="36098455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8006051B-C5C1-42F7-AC53-6E9B9E29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PROFESSIONAL HANDOFF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7A3232A-17E8-44EC-B88E-60998DC0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trustworthy table travels with a compact data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F9E16-54D9-4C53-92F6-802DEFE6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4856789-FD29-4C7A-87BE-F3F0FD01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C22C8F0-E1C2-4BD2-B3DD-133A1186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E64443F1-22A0-4DA8-977C-5D57C50C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Machine-readable evidence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F11A1706-D59B-41CA-8450-192F3EA6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2211"/>
            <a:ext cx="5219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Stable column names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Explicit dtypes and nullability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Persistent record identifier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Units or unit-bearing metadata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Schema and range checks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802FDAA6-E292-4F72-B563-C98A5560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146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Human-readable evidence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9F70E2C8-BFA3-4FB5-9628-4D341F05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2211"/>
            <a:ext cx="5219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What one row represents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Who produced the data and when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Cleaning and exclusion decisions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Known gaps and intended uses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 reproducible run instruction</a:t>
            </a:r>
          </a:p>
        </p:txBody>
      </p:sp>
    </p:spTree>
    <p:extLst>
      <p:ext uri="{BB962C8B-B14F-4D97-AF65-F5344CB8AC3E}">
        <p14:creationId xmlns:p14="http://schemas.microsoft.com/office/powerpoint/2010/main" val="181546787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">
            <a:extLst xmlns:a="http://schemas.openxmlformats.org/drawingml/2006/main">
              <a:ext uri="{FF2B5EF4-FFF2-40B4-BE49-F238E27FC236}">
                <a16:creationId xmlns:a16="http://schemas.microsoft.com/office/drawing/2014/main" id="{680F0CC8-B6C1-4BE5-B0A9-BEE213BB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2026 BUILT-ENVIRONMENT HORIZON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C6AFDEF-845E-4F23-9E08-280FD740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IFC, IDS, and Brick answer three different data-contract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52700-1438-4076-B6CD-459F2D8F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40B882A-1AC8-4CBF-B41F-11162B52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A · Meet the Toolchain, Then Data as Evidence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CD9C357-1700-4FEF-BFA5-B73BECEE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29212-AEB8-4FA8-A1BC-8BFEF9ED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1651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1BB3DBD6-0567-477B-AC55-AFC66479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90775"/>
            <a:ext cx="142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A1620-C49C-4690-9296-28D45DF4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600" y="2314575"/>
            <a:ext cx="299243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F4E7210C-8649-4FA3-8D7E-4D812A35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00" y="2390775"/>
            <a:ext cx="276383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question it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E5357-7C9A-4219-B4BB-5799C772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2314575"/>
            <a:ext cx="2786063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1EDDB9C4-3DB8-4BE4-B1B9-1C4341C1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8" y="2390775"/>
            <a:ext cx="25574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271E5-5492-4A5E-B850-C705B9EA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651000" cy="929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36549972-4B4F-4232-8DFC-7918EE29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24175"/>
            <a:ext cx="142240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IFC 4.3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E3840-BB29-46FA-9B5C-274E1CBE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600" y="2847975"/>
            <a:ext cx="2992438" cy="929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1">
            <a:extLst xmlns:a="http://schemas.openxmlformats.org/drawingml/2006/main">
              <a:ext uri="{FF2B5EF4-FFF2-40B4-BE49-F238E27FC236}">
                <a16:creationId xmlns:a16="http://schemas.microsoft.com/office/drawing/2014/main" id="{32D0F6DB-4352-41A3-B817-7D9FD7B9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00" y="2924175"/>
            <a:ext cx="2763838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asset objects, properties, and relationships are exchanged?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2F3C9A-1E21-41AF-ADB5-418A6584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2847975"/>
            <a:ext cx="2786063" cy="929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2">
            <a:extLst xmlns:a="http://schemas.openxmlformats.org/drawingml/2006/main">
              <a:ext uri="{FF2B5EF4-FFF2-40B4-BE49-F238E27FC236}">
                <a16:creationId xmlns:a16="http://schemas.microsoft.com/office/drawing/2014/main" id="{C2533621-644B-4192-9127-81E970AC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8" y="2924175"/>
            <a:ext cx="2557463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Validate schema/version, stable IDs, units, property sets, and the intended exchange 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AFFD95-FF8A-442C-8C5A-C78CB3A3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7615"/>
            <a:ext cx="1651000" cy="929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AA6ECFA5-DA67-4983-B4E2-F1E0960D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3815"/>
            <a:ext cx="142240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IDS 1.0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B80352-21B3-4DEB-88BD-BBE2EC41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600" y="3777615"/>
            <a:ext cx="2992438" cy="929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D3F883C8-0038-4C2A-894C-17024C62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00" y="3853815"/>
            <a:ext cx="2763838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Which IFC information must be present, and which values are allowed?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F62F12-5756-419F-BB05-0C1993C8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3777615"/>
            <a:ext cx="2786063" cy="929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D8CE2F73-F431-4562-B8A7-E6FF62FF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8" y="3853815"/>
            <a:ext cx="2557463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Run the machine-readable requirement check; report failures instead of repairing them silently.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8C2A44-AFCE-4C96-92DE-CA1C4F4D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7255"/>
            <a:ext cx="1651000" cy="929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2-0">
            <a:extLst xmlns:a="http://schemas.openxmlformats.org/drawingml/2006/main">
              <a:ext uri="{FF2B5EF4-FFF2-40B4-BE49-F238E27FC236}">
                <a16:creationId xmlns:a16="http://schemas.microsoft.com/office/drawing/2014/main" id="{5EDEB067-EF78-460A-AEAD-86B0633C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3455"/>
            <a:ext cx="142240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Brick 1.4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E73D20-3B6D-4172-8B97-30CA68D9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600" y="4707255"/>
            <a:ext cx="2992438" cy="929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2-1">
            <a:extLst xmlns:a="http://schemas.openxmlformats.org/drawingml/2006/main">
              <a:ext uri="{FF2B5EF4-FFF2-40B4-BE49-F238E27FC236}">
                <a16:creationId xmlns:a16="http://schemas.microsoft.com/office/drawing/2014/main" id="{0AF90C1C-8E70-427F-A939-0BDF80F1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00" y="4783455"/>
            <a:ext cx="2763838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How are operational equipment, spaces, points, and their relationships named for analytics?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CF904-6C78-49A8-B408-FE44D8EB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4707255"/>
            <a:ext cx="2786063" cy="929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2-2">
            <a:extLst xmlns:a="http://schemas.openxmlformats.org/drawingml/2006/main">
              <a:ext uri="{FF2B5EF4-FFF2-40B4-BE49-F238E27FC236}">
                <a16:creationId xmlns:a16="http://schemas.microsoft.com/office/drawing/2014/main" id="{769BC178-C2EB-48F8-B0C4-7A63A2A3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8" y="4783455"/>
            <a:ext cx="2557463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Check classes, units, relationships, and whether the same query transfers across buildings.</a:t>
            </a:r>
          </a:p>
        </p:txBody>
      </p:sp>
      <p:sp>
        <p:nvSpPr>
          <p:cNvPr id="30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39F48CE3-DD36-4F7C-B41A-3518F03E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31" name="callout">
            <a:extLst xmlns:a="http://schemas.openxmlformats.org/drawingml/2006/main">
              <a:ext uri="{FF2B5EF4-FFF2-40B4-BE49-F238E27FC236}">
                <a16:creationId xmlns:a16="http://schemas.microsoft.com/office/drawing/2014/main" id="{F7E18AB5-DA8A-4B62-82A9-5EDA409C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 pandas DataFrame is often an analysis view extracted from a richer building model. Keep the original identity, units, provenance, and requirement result so the table can be traced back to the asset evidence.</a:t>
            </a:r>
          </a:p>
        </p:txBody>
      </p:sp>
    </p:spTree>
    <p:extLst>
      <p:ext uri="{BB962C8B-B14F-4D97-AF65-F5344CB8AC3E}">
        <p14:creationId xmlns:p14="http://schemas.microsoft.com/office/powerpoint/2010/main" val="95966886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week">
            <a:extLst xmlns:a="http://schemas.openxmlformats.org/drawingml/2006/main">
              <a:ext uri="{FF2B5EF4-FFF2-40B4-BE49-F238E27FC236}">
                <a16:creationId xmlns:a16="http://schemas.microsoft.com/office/drawing/2014/main" id="{BB7210C2-8B9E-47DB-B115-3B979BD5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4 · MEETING A · MEET THE TOOLCHAIN, THEN DATA AS EVIDENCE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E57B7CB1-1048-4CDB-9FBD-81306741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Trustworthy data is interviewed, not just loaded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1BA66-657C-4061-BE17-BF1275B2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4" name="take-no-0">
            <a:extLst xmlns:a="http://schemas.openxmlformats.org/drawingml/2006/main">
              <a:ext uri="{FF2B5EF4-FFF2-40B4-BE49-F238E27FC236}">
                <a16:creationId xmlns:a16="http://schemas.microsoft.com/office/drawing/2014/main" id="{33100DC1-CB83-4BEE-AFB1-E7DE13FB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ake-0">
            <a:extLst xmlns:a="http://schemas.openxmlformats.org/drawingml/2006/main">
              <a:ext uri="{FF2B5EF4-FFF2-40B4-BE49-F238E27FC236}">
                <a16:creationId xmlns:a16="http://schemas.microsoft.com/office/drawing/2014/main" id="{857A0624-265A-461D-A8B1-FDB00F2B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05100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libraries, three jobs: NumPy computes, pandas organizes, Matplotlib shows.</a:t>
            </a:r>
          </a:p>
        </p:txBody>
      </p:sp>
      <p:sp>
        <p:nvSpPr>
          <p:cNvPr id="6" name="take-no-1">
            <a:extLst xmlns:a="http://schemas.openxmlformats.org/drawingml/2006/main">
              <a:ext uri="{FF2B5EF4-FFF2-40B4-BE49-F238E27FC236}">
                <a16:creationId xmlns:a16="http://schemas.microsoft.com/office/drawing/2014/main" id="{C1A0C88B-C2BC-4B95-BF39-6D388CCF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8822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ake-1">
            <a:extLst xmlns:a="http://schemas.openxmlformats.org/drawingml/2006/main">
              <a:ext uri="{FF2B5EF4-FFF2-40B4-BE49-F238E27FC236}">
                <a16:creationId xmlns:a16="http://schemas.microsoft.com/office/drawing/2014/main" id="{D59F3C32-9733-4358-9B20-A22D8E85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90722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method call belongs to an object; a function call does not - both can take keyword arguments.</a:t>
            </a:r>
          </a:p>
        </p:txBody>
      </p:sp>
      <p:sp>
        <p:nvSpPr>
          <p:cNvPr id="8" name="take-no-2">
            <a:extLst xmlns:a="http://schemas.openxmlformats.org/drawingml/2006/main">
              <a:ext uri="{FF2B5EF4-FFF2-40B4-BE49-F238E27FC236}">
                <a16:creationId xmlns:a16="http://schemas.microsoft.com/office/drawing/2014/main" id="{5FAA334E-14F0-4DEF-9AB1-64963BF7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444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take-2">
            <a:extLst xmlns:a="http://schemas.openxmlformats.org/drawingml/2006/main">
              <a:ext uri="{FF2B5EF4-FFF2-40B4-BE49-F238E27FC236}">
                <a16:creationId xmlns:a16="http://schemas.microsoft.com/office/drawing/2014/main" id="{F7167D65-BFD1-4BDF-B266-445BCACD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76344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Docstrings and type hints document intent; Python does not enforce the hint at runtime.</a:t>
            </a:r>
          </a:p>
        </p:txBody>
      </p:sp>
      <p:sp>
        <p:nvSpPr>
          <p:cNvPr id="10" name="take-no-3">
            <a:extLst xmlns:a="http://schemas.openxmlformats.org/drawingml/2006/main">
              <a:ext uri="{FF2B5EF4-FFF2-40B4-BE49-F238E27FC236}">
                <a16:creationId xmlns:a16="http://schemas.microsoft.com/office/drawing/2014/main" id="{381BEEDD-059D-40C1-97B1-3FDA1064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0066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take-3">
            <a:extLst xmlns:a="http://schemas.openxmlformats.org/drawingml/2006/main">
              <a:ext uri="{FF2B5EF4-FFF2-40B4-BE49-F238E27FC236}">
                <a16:creationId xmlns:a16="http://schemas.microsoft.com/office/drawing/2014/main" id="{17C167BA-6FA1-4F62-A81B-EEF56FD4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61966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trusting a DataFrame, interview it: shape, dtypes, head, info, and NaN counts.</a:t>
            </a:r>
          </a:p>
        </p:txBody>
      </p:sp>
    </p:spTree>
    <p:extLst>
      <p:ext uri="{BB962C8B-B14F-4D97-AF65-F5344CB8AC3E}">
        <p14:creationId xmlns:p14="http://schemas.microsoft.com/office/powerpoint/2010/main" val="9890078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2026-08-20T17:41:48.1790000Z</dcterms:created>
  <dcterms:modified xsi:type="dcterms:W3CDTF">2026-08-20T17:41:48.1790000Z</dcterms:modified>
</coreProperties>
</file>