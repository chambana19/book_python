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5e2f9f0ae54e97" /><Relationship Type="http://schemas.openxmlformats.org/officeDocument/2006/relationships/extended-properties" Target="/docProps/app.xml" Id="R5747ecbe67724bbf" /><Relationship Type="http://schemas.openxmlformats.org/officeDocument/2006/relationships/officeDocument" Target="/ppt/presentation.xml" Id="R7f1c72448b8a43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16267068444dae"/>
  </p:sldMasterIdLst>
  <p:notesMasterIdLst>
    <p:notesMasterId xmlns:r="http://schemas.openxmlformats.org/officeDocument/2006/relationships" r:id="Ra8fb7632f0614525"/>
  </p:notesMasterIdLst>
  <p:sldIdLst>
    <p:sldId xmlns:r="http://schemas.openxmlformats.org/officeDocument/2006/relationships" id="256" r:id="R9c908a7c4c24469e"/>
    <p:sldId xmlns:r="http://schemas.openxmlformats.org/officeDocument/2006/relationships" id="257" r:id="R45f0fe0acaab4ac0"/>
    <p:sldId xmlns:r="http://schemas.openxmlformats.org/officeDocument/2006/relationships" id="258" r:id="Rc12d275d555d4896"/>
    <p:sldId xmlns:r="http://schemas.openxmlformats.org/officeDocument/2006/relationships" id="259" r:id="R48d300f2d58b4753"/>
    <p:sldId xmlns:r="http://schemas.openxmlformats.org/officeDocument/2006/relationships" id="260" r:id="R5b31e38680674d72"/>
    <p:sldId xmlns:r="http://schemas.openxmlformats.org/officeDocument/2006/relationships" id="261" r:id="R8051ffaec2e7476c"/>
    <p:sldId xmlns:r="http://schemas.openxmlformats.org/officeDocument/2006/relationships" id="262" r:id="Rc62f235c0b5545a4"/>
    <p:sldId xmlns:r="http://schemas.openxmlformats.org/officeDocument/2006/relationships" id="263" r:id="Rd72abaf7b8874621"/>
    <p:sldId xmlns:r="http://schemas.openxmlformats.org/officeDocument/2006/relationships" id="264" r:id="Rdd4d6a7b79714d5b"/>
    <p:sldId xmlns:r="http://schemas.openxmlformats.org/officeDocument/2006/relationships" id="265" r:id="R36e039f174ac4583"/>
    <p:sldId xmlns:r="http://schemas.openxmlformats.org/officeDocument/2006/relationships" id="266" r:id="R729bc90348674d9a"/>
    <p:sldId xmlns:r="http://schemas.openxmlformats.org/officeDocument/2006/relationships" id="267" r:id="R0e36ae0df3f2459f"/>
    <p:sldId xmlns:r="http://schemas.openxmlformats.org/officeDocument/2006/relationships" id="268" r:id="R25826fadada24bd1"/>
    <p:sldId xmlns:r="http://schemas.openxmlformats.org/officeDocument/2006/relationships" id="269" r:id="R1dc317a2328844f8"/>
    <p:sldId xmlns:r="http://schemas.openxmlformats.org/officeDocument/2006/relationships" id="270" r:id="R6b0d2dc632114de4"/>
    <p:sldId xmlns:r="http://schemas.openxmlformats.org/officeDocument/2006/relationships" id="271" r:id="R940bf251650d4e8f"/>
    <p:sldId xmlns:r="http://schemas.openxmlformats.org/officeDocument/2006/relationships" id="272" r:id="Rec3d3802a69e4e90"/>
    <p:sldId xmlns:r="http://schemas.openxmlformats.org/officeDocument/2006/relationships" id="273" r:id="R6fa29b29312e4e3f"/>
    <p:sldId xmlns:r="http://schemas.openxmlformats.org/officeDocument/2006/relationships" id="274" r:id="R2ea52462689a4846"/>
    <p:sldId xmlns:r="http://schemas.openxmlformats.org/officeDocument/2006/relationships" id="275" r:id="R94f159c32292464f"/>
    <p:sldId xmlns:r="http://schemas.openxmlformats.org/officeDocument/2006/relationships" id="276" r:id="Rcc176eab16ba495d"/>
    <p:sldId xmlns:r="http://schemas.openxmlformats.org/officeDocument/2006/relationships" id="277" r:id="R8b7ece5c230346dd"/>
    <p:sldId xmlns:r="http://schemas.openxmlformats.org/officeDocument/2006/relationships" id="278" r:id="Rd9ac48abe63c4136"/>
    <p:sldId xmlns:r="http://schemas.openxmlformats.org/officeDocument/2006/relationships" id="279" r:id="Rcf90eb560d354917"/>
    <p:sldId xmlns:r="http://schemas.openxmlformats.org/officeDocument/2006/relationships" id="280" r:id="R0eae82ef133e434e"/>
    <p:sldId xmlns:r="http://schemas.openxmlformats.org/officeDocument/2006/relationships" id="281" r:id="R16ef8350f5184760"/>
    <p:sldId xmlns:r="http://schemas.openxmlformats.org/officeDocument/2006/relationships" id="282" r:id="R6e9ce633a6644ee7"/>
    <p:sldId xmlns:r="http://schemas.openxmlformats.org/officeDocument/2006/relationships" id="283" r:id="R1aa70cf3337a4665"/>
    <p:sldId xmlns:r="http://schemas.openxmlformats.org/officeDocument/2006/relationships" id="284" r:id="Rb541e66a9fdb43d7"/>
    <p:sldId xmlns:r="http://schemas.openxmlformats.org/officeDocument/2006/relationships" id="285" r:id="Rf4f6122b284347da"/>
    <p:sldId xmlns:r="http://schemas.openxmlformats.org/officeDocument/2006/relationships" id="286" r:id="Rebd99aa8803b4856"/>
    <p:sldId xmlns:r="http://schemas.openxmlformats.org/officeDocument/2006/relationships" id="287" r:id="Rad22a34943504ecd"/>
    <p:sldId xmlns:r="http://schemas.openxmlformats.org/officeDocument/2006/relationships" id="288" r:id="R8e65d8579c854799"/>
    <p:sldId xmlns:r="http://schemas.openxmlformats.org/officeDocument/2006/relationships" id="289" r:id="Rb448c1844ac94f47"/>
    <p:sldId xmlns:r="http://schemas.openxmlformats.org/officeDocument/2006/relationships" id="290" r:id="Rb03eaaaeef6d48b1"/>
    <p:sldId xmlns:r="http://schemas.openxmlformats.org/officeDocument/2006/relationships" id="291" r:id="R131c62d6b47340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9267096b3e4878" /><Relationship Type="http://schemas.openxmlformats.org/officeDocument/2006/relationships/slideMaster" Target="/ppt/slideMasters/slideMaster1.xml" Id="Rf616267068444dae" /><Relationship Type="http://schemas.openxmlformats.org/officeDocument/2006/relationships/notesMaster" Target="/ppt/notesMasters/notesMaster1.xml" Id="Ra8fb7632f0614525" /><Relationship Type="http://schemas.openxmlformats.org/officeDocument/2006/relationships/presProps" Target="/ppt/presProps.xml" Id="R2b2c447040084ab7" /><Relationship Type="http://schemas.openxmlformats.org/officeDocument/2006/relationships/tableStyles" Target="/ppt/tableStyles.xml" Id="Rddec503983704bf2" /><Relationship Type="http://schemas.openxmlformats.org/officeDocument/2006/relationships/slide" Target="/ppt/slides/slide1.xml" Id="R9c908a7c4c24469e" /><Relationship Type="http://schemas.openxmlformats.org/officeDocument/2006/relationships/slide" Target="/ppt/slides/slide2.xml" Id="R45f0fe0acaab4ac0" /><Relationship Type="http://schemas.openxmlformats.org/officeDocument/2006/relationships/slide" Target="/ppt/slides/slide3.xml" Id="Rc12d275d555d4896" /><Relationship Type="http://schemas.openxmlformats.org/officeDocument/2006/relationships/slide" Target="/ppt/slides/slide4.xml" Id="R48d300f2d58b4753" /><Relationship Type="http://schemas.openxmlformats.org/officeDocument/2006/relationships/slide" Target="/ppt/slides/slide5.xml" Id="R5b31e38680674d72" /><Relationship Type="http://schemas.openxmlformats.org/officeDocument/2006/relationships/slide" Target="/ppt/slides/slide6.xml" Id="R8051ffaec2e7476c" /><Relationship Type="http://schemas.openxmlformats.org/officeDocument/2006/relationships/slide" Target="/ppt/slides/slide7.xml" Id="Rc62f235c0b5545a4" /><Relationship Type="http://schemas.openxmlformats.org/officeDocument/2006/relationships/slide" Target="/ppt/slides/slide8.xml" Id="Rd72abaf7b8874621" /><Relationship Type="http://schemas.openxmlformats.org/officeDocument/2006/relationships/slide" Target="/ppt/slides/slide9.xml" Id="Rdd4d6a7b79714d5b" /><Relationship Type="http://schemas.openxmlformats.org/officeDocument/2006/relationships/slide" Target="/ppt/slides/slide10.xml" Id="R36e039f174ac4583" /><Relationship Type="http://schemas.openxmlformats.org/officeDocument/2006/relationships/slide" Target="/ppt/slides/slide11.xml" Id="R729bc90348674d9a" /><Relationship Type="http://schemas.openxmlformats.org/officeDocument/2006/relationships/slide" Target="/ppt/slides/slide12.xml" Id="R0e36ae0df3f2459f" /><Relationship Type="http://schemas.openxmlformats.org/officeDocument/2006/relationships/slide" Target="/ppt/slides/slide13.xml" Id="R25826fadada24bd1" /><Relationship Type="http://schemas.openxmlformats.org/officeDocument/2006/relationships/slide" Target="/ppt/slides/slide14.xml" Id="R1dc317a2328844f8" /><Relationship Type="http://schemas.openxmlformats.org/officeDocument/2006/relationships/slide" Target="/ppt/slides/slide15.xml" Id="R6b0d2dc632114de4" /><Relationship Type="http://schemas.openxmlformats.org/officeDocument/2006/relationships/slide" Target="/ppt/slides/slide16.xml" Id="R940bf251650d4e8f" /><Relationship Type="http://schemas.openxmlformats.org/officeDocument/2006/relationships/slide" Target="/ppt/slides/slide17.xml" Id="Rec3d3802a69e4e90" /><Relationship Type="http://schemas.openxmlformats.org/officeDocument/2006/relationships/slide" Target="/ppt/slides/slide18.xml" Id="R6fa29b29312e4e3f" /><Relationship Type="http://schemas.openxmlformats.org/officeDocument/2006/relationships/slide" Target="/ppt/slides/slide19.xml" Id="R2ea52462689a4846" /><Relationship Type="http://schemas.openxmlformats.org/officeDocument/2006/relationships/slide" Target="/ppt/slides/slide20.xml" Id="R94f159c32292464f" /><Relationship Type="http://schemas.openxmlformats.org/officeDocument/2006/relationships/slide" Target="/ppt/slides/slide21.xml" Id="Rcc176eab16ba495d" /><Relationship Type="http://schemas.openxmlformats.org/officeDocument/2006/relationships/slide" Target="/ppt/slides/slide22.xml" Id="R8b7ece5c230346dd" /><Relationship Type="http://schemas.openxmlformats.org/officeDocument/2006/relationships/slide" Target="/ppt/slides/slide23.xml" Id="Rd9ac48abe63c4136" /><Relationship Type="http://schemas.openxmlformats.org/officeDocument/2006/relationships/slide" Target="/ppt/slides/slide24.xml" Id="Rcf90eb560d354917" /><Relationship Type="http://schemas.openxmlformats.org/officeDocument/2006/relationships/slide" Target="/ppt/slides/slide25.xml" Id="R0eae82ef133e434e" /><Relationship Type="http://schemas.openxmlformats.org/officeDocument/2006/relationships/slide" Target="/ppt/slides/slide26.xml" Id="R16ef8350f5184760" /><Relationship Type="http://schemas.openxmlformats.org/officeDocument/2006/relationships/slide" Target="/ppt/slides/slide27.xml" Id="R6e9ce633a6644ee7" /><Relationship Type="http://schemas.openxmlformats.org/officeDocument/2006/relationships/slide" Target="/ppt/slides/slide28.xml" Id="R1aa70cf3337a4665" /><Relationship Type="http://schemas.openxmlformats.org/officeDocument/2006/relationships/slide" Target="/ppt/slides/slide29.xml" Id="Rb541e66a9fdb43d7" /><Relationship Type="http://schemas.openxmlformats.org/officeDocument/2006/relationships/slide" Target="/ppt/slides/slide30.xml" Id="Rf4f6122b284347da" /><Relationship Type="http://schemas.openxmlformats.org/officeDocument/2006/relationships/slide" Target="/ppt/slides/slide31.xml" Id="Rebd99aa8803b4856" /><Relationship Type="http://schemas.openxmlformats.org/officeDocument/2006/relationships/slide" Target="/ppt/slides/slide32.xml" Id="Rad22a34943504ecd" /><Relationship Type="http://schemas.openxmlformats.org/officeDocument/2006/relationships/slide" Target="/ppt/slides/slide33.xml" Id="R8e65d8579c854799" /><Relationship Type="http://schemas.openxmlformats.org/officeDocument/2006/relationships/slide" Target="/ppt/slides/slide34.xml" Id="Rb448c1844ac94f47" /><Relationship Type="http://schemas.openxmlformats.org/officeDocument/2006/relationships/slide" Target="/ppt/slides/slide35.xml" Id="Rb03eaaaeef6d48b1" /><Relationship Type="http://schemas.openxmlformats.org/officeDocument/2006/relationships/slide" Target="/ppt/slides/slide36.xml" Id="R131c62d6b47340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c3a964a55e40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5c916e83314113" /><Relationship Type="http://schemas.openxmlformats.org/officeDocument/2006/relationships/notesMaster" Target="/ppt/notesMasters/notesMaster1.xml" Id="Rcc8afc21158049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c890553e3f490c" /><Relationship Type="http://schemas.openxmlformats.org/officeDocument/2006/relationships/notesMaster" Target="/ppt/notesMasters/notesMaster1.xml" Id="R0211c907ce144d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e1507ec7d643e6" /><Relationship Type="http://schemas.openxmlformats.org/officeDocument/2006/relationships/notesMaster" Target="/ppt/notesMasters/notesMaster1.xml" Id="Rd7629d08a15c41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06240b934e4e20" /><Relationship Type="http://schemas.openxmlformats.org/officeDocument/2006/relationships/notesMaster" Target="/ppt/notesMasters/notesMaster1.xml" Id="Rd2007ab160894c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03079cfe804b67" /><Relationship Type="http://schemas.openxmlformats.org/officeDocument/2006/relationships/notesMaster" Target="/ppt/notesMasters/notesMaster1.xml" Id="R10e793da7ab944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5925ca450a4f5b" /><Relationship Type="http://schemas.openxmlformats.org/officeDocument/2006/relationships/notesMaster" Target="/ppt/notesMasters/notesMaster1.xml" Id="R31071819ecc341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c0e67ad8ec4a66" /><Relationship Type="http://schemas.openxmlformats.org/officeDocument/2006/relationships/notesMaster" Target="/ppt/notesMasters/notesMaster1.xml" Id="R277393735f214c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8a781689e3494c" /><Relationship Type="http://schemas.openxmlformats.org/officeDocument/2006/relationships/notesMaster" Target="/ppt/notesMasters/notesMaster1.xml" Id="Rcb46a6376e8144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fbe8865f40486b" /><Relationship Type="http://schemas.openxmlformats.org/officeDocument/2006/relationships/notesMaster" Target="/ppt/notesMasters/notesMaster1.xml" Id="Ra4bbf63af5e04e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a5d78e0ec24db7" /><Relationship Type="http://schemas.openxmlformats.org/officeDocument/2006/relationships/notesMaster" Target="/ppt/notesMasters/notesMaster1.xml" Id="R77225360e81049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f658198487448c" /><Relationship Type="http://schemas.openxmlformats.org/officeDocument/2006/relationships/notesMaster" Target="/ppt/notesMasters/notesMaster1.xml" Id="R26522701517a4c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03f2dd5c544125" /><Relationship Type="http://schemas.openxmlformats.org/officeDocument/2006/relationships/notesMaster" Target="/ppt/notesMasters/notesMaster1.xml" Id="R25ffb5dddbea494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d1e4838b2bf44a5" /><Relationship Type="http://schemas.openxmlformats.org/officeDocument/2006/relationships/notesMaster" Target="/ppt/notesMasters/notesMaster1.xml" Id="R7a16ce65f10d434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7b1ea36afda4022" /><Relationship Type="http://schemas.openxmlformats.org/officeDocument/2006/relationships/notesMaster" Target="/ppt/notesMasters/notesMaster1.xml" Id="Rc0ea719a1a4449f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8335e7819ef40bd" /><Relationship Type="http://schemas.openxmlformats.org/officeDocument/2006/relationships/notesMaster" Target="/ppt/notesMasters/notesMaster1.xml" Id="R6624e222e40640e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793a13d97b34da5" /><Relationship Type="http://schemas.openxmlformats.org/officeDocument/2006/relationships/notesMaster" Target="/ppt/notesMasters/notesMaster1.xml" Id="Ra139da6505db410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42be73845bb4f17" /><Relationship Type="http://schemas.openxmlformats.org/officeDocument/2006/relationships/notesMaster" Target="/ppt/notesMasters/notesMaster1.xml" Id="Rcf0f9da99082441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acb1189fbbd48c1" /><Relationship Type="http://schemas.openxmlformats.org/officeDocument/2006/relationships/notesMaster" Target="/ppt/notesMasters/notesMaster1.xml" Id="Rc25d139e54ba45f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9ea920431bc4106" /><Relationship Type="http://schemas.openxmlformats.org/officeDocument/2006/relationships/notesMaster" Target="/ppt/notesMasters/notesMaster1.xml" Id="Rc52417517aee498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4640f9666894834" /><Relationship Type="http://schemas.openxmlformats.org/officeDocument/2006/relationships/notesMaster" Target="/ppt/notesMasters/notesMaster1.xml" Id="Rab4df536906c490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4d11013ed9349e1" /><Relationship Type="http://schemas.openxmlformats.org/officeDocument/2006/relationships/notesMaster" Target="/ppt/notesMasters/notesMaster1.xml" Id="R643c3aa2c6614ee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616139cf5f44bdd" /><Relationship Type="http://schemas.openxmlformats.org/officeDocument/2006/relationships/notesMaster" Target="/ppt/notesMasters/notesMaster1.xml" Id="R631fe85e273147c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ff680ea629b4f09" /><Relationship Type="http://schemas.openxmlformats.org/officeDocument/2006/relationships/notesMaster" Target="/ppt/notesMasters/notesMaster1.xml" Id="R8ac1a05f8533483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f89995af3cf4893" /><Relationship Type="http://schemas.openxmlformats.org/officeDocument/2006/relationships/notesMaster" Target="/ppt/notesMasters/notesMaster1.xml" Id="R7466b0ba2899450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8f4a8a7cff44191" /><Relationship Type="http://schemas.openxmlformats.org/officeDocument/2006/relationships/notesMaster" Target="/ppt/notesMasters/notesMaster1.xml" Id="R31d35128b26a4c2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123fca833714ae5" /><Relationship Type="http://schemas.openxmlformats.org/officeDocument/2006/relationships/notesMaster" Target="/ppt/notesMasters/notesMaster1.xml" Id="R08991e0515764f9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28acebefe294a18" /><Relationship Type="http://schemas.openxmlformats.org/officeDocument/2006/relationships/notesMaster" Target="/ppt/notesMasters/notesMaster1.xml" Id="Rbf8fa73755ed40b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91141e01f774110" /><Relationship Type="http://schemas.openxmlformats.org/officeDocument/2006/relationships/notesMaster" Target="/ppt/notesMasters/notesMaster1.xml" Id="R8f94404e46ba45b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e007d05a4e74e0f" /><Relationship Type="http://schemas.openxmlformats.org/officeDocument/2006/relationships/notesMaster" Target="/ppt/notesMasters/notesMaster1.xml" Id="R29171c006c0a44e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44a92441f404658" /><Relationship Type="http://schemas.openxmlformats.org/officeDocument/2006/relationships/notesMaster" Target="/ppt/notesMasters/notesMaster1.xml" Id="Rc4e49f034a16473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bc38859d7d74096" /><Relationship Type="http://schemas.openxmlformats.org/officeDocument/2006/relationships/notesMaster" Target="/ppt/notesMasters/notesMaster1.xml" Id="Rea3f51fbdf244a2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737a27f233b41f2" /><Relationship Type="http://schemas.openxmlformats.org/officeDocument/2006/relationships/notesMaster" Target="/ppt/notesMasters/notesMaster1.xml" Id="Ra94716b45a964e0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cbf58f63c6e4446" /><Relationship Type="http://schemas.openxmlformats.org/officeDocument/2006/relationships/notesMaster" Target="/ppt/notesMasters/notesMaster1.xml" Id="R48c2e8852e0240b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2405da14114401a" /><Relationship Type="http://schemas.openxmlformats.org/officeDocument/2006/relationships/notesMaster" Target="/ppt/notesMasters/notesMaster1.xml" Id="Rb33ea62c1a4f467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ce9ddf4c5e449ce" /><Relationship Type="http://schemas.openxmlformats.org/officeDocument/2006/relationships/notesMaster" Target="/ppt/notesMasters/notesMaster1.xml" Id="R2c219d86e2094c2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93b30d965dd4abe" /><Relationship Type="http://schemas.openxmlformats.org/officeDocument/2006/relationships/notesMaster" Target="/ppt/notesMasters/notesMaster1.xml" Id="Rf13b6b674c9d4e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Open the Week 07 handout. Ask students to state, before running anything, which EPSG code they will reproject to and why.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Name this explicitly as one of Project 1 Part IV's two evidence-extension choices (map or Week 6's .gif) - not an unconditional requirement, and not a separate assignment.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Preview that today's four steps are the same four steps as Meeting A's closing process slide, just run for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Adapted from the Week 3B recall-table pattern. Ask students to find each term already in the printed handout before running cell [1].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This slide is the map of the whole studio - refer back to it before each new cell.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students to predict which zone will be higher before running - by now they should say South from memory.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This step matters precisely because Meeting B is about to attach these numbers to shapes - any silent drift here would poison the 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Have students say the CRS out loud and state, before the next cell, whether it is safe to compute .area right now.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https://geopandas.org/en/stable/getting_started/introduction.html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what would happen if one side's zone values were 'north' (lowercase) - preview of the AI-audit bug coming later this studio. Walk through the call left to right on the board: zones (left, keeps geometry), zone_summary (right, attributes only), on='zone' (the shared key).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- https://geopandas.org/en/stable/getting_started/introduction.html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Tie back to 07A's spatial-join process slide and the merge just shown. This is why today's pipeline is a merge, not gpd.sjoin() - Meeting A's spatial join answers a different kind of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https://geopandas.org/en/stable/docs/user_guide/mapping.html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notes: This predicts the AI-audit bug later in the studio - a lowercased key silently drops every match.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Have students write this exact sentence into their own handout before the next cell - it is graded as part of the reproducibility rubric 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Almost everyone predicts a sensible m2 number out of habit. Let the warning print, then read its text aloud before revealing the strip.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https://geopandas.org/en/stable/docs/user_guide/projections.html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Do not let students skip actually seeing the raw UserWarning print live in the console - read its text aloud before moving on. Also ask why .area has no parentheses, contrasting it with .merge() and .to_crs(), which are both called with ().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https://geopandas.org/en/stable/docs/user_guide/projections.html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Option C is the set_crs()/to_crs() mixup from 07A - name it explicitly if anyone picks it. Option D reads the wrong column entirely.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https://geopandas.org/en/stable/docs/user_guide/projections.html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Have students compute the percent difference themselves: (239.74-240)/240*100 = about -0.11%. Small, honest, and worth naming in their own written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https://geopandas.org/en/stable/docs/user_guide/projections.html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Contrast the chip for zones_utm against the chip for zones_merged - same data, two different names, two different CRSs.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https://geopandas.org/en/stable/docs/user_guide/projections.html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notes: Expected: about 0.11% difference, both zones. Accept 'yes, trustworthy for a zone-level comparison' as the correct judgment, with the percent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Connect directly to Week 6's fig/ax/labeled-axes standard - a map is still a Matplotlib figure with the same labeling requirements.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https://geopandas.org/en/stable/docs/user_guide/mapping.html</a:t>
            </a:r>
          </a:p>
          <a:p xmlns:a="http://schemas.openxmlformats.org/drawingml/2006/main">
            <a:r>
              <a:t>- https://matplotlib.org/stable/users/explain/quick_start.html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Have students name the two numbers the color scale spans before the next slide reveals the actual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https://geopandas.org/en/stable/docs/user_guide/mapping.html</a:t>
            </a:r>
          </a:p>
          <a:p xmlns:a="http://schemas.openxmlformats.org/drawingml/2006/main">
            <a:r>
              <a:t>- https://matplotlib.org/stable/users/explain/colors/colormaps.html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Per course policy, no fabricated text output for a plotting call - describe the figure precisely instead. Confirm this exact code runs cleanly against real geopandas/matplotlib before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https://geopandas.org/en/stable/docs/user_guide/mapping.html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Expected implication, echoing Week 5/6: south-facing exposure plausibly drives higher cooling/solar loads - bounded, not overclaimed, language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what this map still cannot tell you - occupancy, construction quality, or whether the two zones are even comparable programmes. A choropleth invites over-reading, so name its limits out loud.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Point out floors is a GeoDataFrame of exactly three rows, built entirely from numbers typed into this cell - no file, no internet connection, the same technique that authored zone_footprints.geojson in the first place.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https://geopandas.org/en/stable/docs/user_guide/mapping.html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why the footprints are close to—but not exactly—240 m². Connect the answer to CRS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https://geopandas.org/en/stable/docs/user_guide/mapping.html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Option D is true only for how='inner' - name that contrast explicitly. The next slide is exactly this bug, hidden inside a function.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Give students this exact function. Have them predict, out loud, whether it will error - it will not; both bugs fail silently.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Require students to name both defects before accepting this output. Same exact function and output as authored - split across two slides only so the full function fits the code panel at full size.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https://geopandas.org/en/stable/docs/user_guide/projections.html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notes: Require running the fixed function and comparing its output to cell [5]'s known-good numbers before accepting the repair.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Have students say, for each row, which column they would trust and why - identical drill to 07A's summary table, now run on this studio's own numbers.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https://geopandas.org/en/stable/docs/user_guide/projections.html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State plainly that this satisfies the required weekly self-generated check - it is graded, not optional.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This transfer check changes the spatial metric from area to perimeter.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This is the exact 'different row/case/parameter' the plan's transfer safeguard requires - name it as such to students.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notes: Required, graded transfer-safeguard element - a script with all four assertions passing silently is the expected deliverable, not optional polish.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Remind students this is what Part IV looks like only if they chose the map over Week 6's .gif - one evidence extension, not both - and these four artifacts then compile alongside Parts I-III from Weeks 4-6 into one Project 1 folder.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Exit ticket: students state their own Project 1 site's planned EPSG code and one sentence justifying it, tying directly into next week's compiled draft.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0ebc5810c54c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832d587c5d4361" /><Relationship Type="http://schemas.openxmlformats.org/officeDocument/2006/relationships/slideLayout" Target="/ppt/slideLayouts/slideLayout1.xml" Id="R401ef7c169154a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1ef7c169154a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0e070cb65460a" /><Relationship Type="http://schemas.openxmlformats.org/officeDocument/2006/relationships/notesSlide" Target="/ppt/notesSlides/notesSlide1.xml" Id="R25d513d3b25746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5a21ee9424c7a" /><Relationship Type="http://schemas.openxmlformats.org/officeDocument/2006/relationships/notesSlide" Target="/ppt/notesSlides/notesSlide2.xml" Id="R96fa3089c8e84f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3c8caaf8f4ca6" /><Relationship Type="http://schemas.openxmlformats.org/officeDocument/2006/relationships/notesSlide" Target="/ppt/notesSlides/notesSlide3.xml" Id="R542db41698774f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3aea7cbaf4c26" /><Relationship Type="http://schemas.openxmlformats.org/officeDocument/2006/relationships/notesSlide" Target="/ppt/notesSlides/notesSlide4.xml" Id="R05c8c75c708543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a48ff10604d87" /><Relationship Type="http://schemas.openxmlformats.org/officeDocument/2006/relationships/notesSlide" Target="/ppt/notesSlides/notesSlide5.xml" Id="Rd2f9d82394404a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96c9127ba47f6" /><Relationship Type="http://schemas.openxmlformats.org/officeDocument/2006/relationships/notesSlide" Target="/ppt/notesSlides/notesSlide6.xml" Id="Rc74fde6114384d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2c9740c2d4932" /><Relationship Type="http://schemas.openxmlformats.org/officeDocument/2006/relationships/notesSlide" Target="/ppt/notesSlides/notesSlide7.xml" Id="R03833d1facf54b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9e4e1547f44ff" /><Relationship Type="http://schemas.openxmlformats.org/officeDocument/2006/relationships/notesSlide" Target="/ppt/notesSlides/notesSlide8.xml" Id="R6b08301c7b1042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2653be4d747b9" /><Relationship Type="http://schemas.openxmlformats.org/officeDocument/2006/relationships/notesSlide" Target="/ppt/notesSlides/notesSlide9.xml" Id="R5e60ee5446ff44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7afb91c1c4f99" /><Relationship Type="http://schemas.openxmlformats.org/officeDocument/2006/relationships/notesSlide" Target="/ppt/notesSlides/notesSlide10.xml" Id="R85b114aefc5541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01dfb5d184af6" /><Relationship Type="http://schemas.openxmlformats.org/officeDocument/2006/relationships/notesSlide" Target="/ppt/notesSlides/notesSlide11.xml" Id="R301c4c28a21b47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d6432e061489f" /><Relationship Type="http://schemas.openxmlformats.org/officeDocument/2006/relationships/notesSlide" Target="/ppt/notesSlides/notesSlide12.xml" Id="R787debc95b4b49e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307441c52403a" /><Relationship Type="http://schemas.openxmlformats.org/officeDocument/2006/relationships/notesSlide" Target="/ppt/notesSlides/notesSlide13.xml" Id="R69e6f8e1f8254a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932dc501d4809" /><Relationship Type="http://schemas.openxmlformats.org/officeDocument/2006/relationships/notesSlide" Target="/ppt/notesSlides/notesSlide14.xml" Id="Rfb91e3ee0c1e46a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dc180fb8c4535" /><Relationship Type="http://schemas.openxmlformats.org/officeDocument/2006/relationships/notesSlide" Target="/ppt/notesSlides/notesSlide15.xml" Id="Rc3b44c4386294b7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02259b4a34d96" /><Relationship Type="http://schemas.openxmlformats.org/officeDocument/2006/relationships/notesSlide" Target="/ppt/notesSlides/notesSlide16.xml" Id="R5b3163f128734df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0cd85e9704584" /><Relationship Type="http://schemas.openxmlformats.org/officeDocument/2006/relationships/notesSlide" Target="/ppt/notesSlides/notesSlide17.xml" Id="R223a0223a80742b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4ca49ce084d93" /><Relationship Type="http://schemas.openxmlformats.org/officeDocument/2006/relationships/notesSlide" Target="/ppt/notesSlides/notesSlide18.xml" Id="R3ab97e025de24e8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61bde95b24cf6" /><Relationship Type="http://schemas.openxmlformats.org/officeDocument/2006/relationships/notesSlide" Target="/ppt/notesSlides/notesSlide19.xml" Id="R7f65624d9eca453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c6e9b4c5f4b62" /><Relationship Type="http://schemas.openxmlformats.org/officeDocument/2006/relationships/notesSlide" Target="/ppt/notesSlides/notesSlide20.xml" Id="R43a33de82388469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1a77916134c29" /><Relationship Type="http://schemas.openxmlformats.org/officeDocument/2006/relationships/notesSlide" Target="/ppt/notesSlides/notesSlide21.xml" Id="R34a0967671ff482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d4feaa9ae4d2e" /><Relationship Type="http://schemas.openxmlformats.org/officeDocument/2006/relationships/notesSlide" Target="/ppt/notesSlides/notesSlide22.xml" Id="Rb0f22ba2e3c24e6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459a050204ba9" /><Relationship Type="http://schemas.openxmlformats.org/officeDocument/2006/relationships/image" Target="/ppt/media/image.png" Id="R04cad39f6c98427f" /><Relationship Type="http://schemas.openxmlformats.org/officeDocument/2006/relationships/notesSlide" Target="/ppt/notesSlides/notesSlide23.xml" Id="R14a59f30a730400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0ee540e1241af" /><Relationship Type="http://schemas.openxmlformats.org/officeDocument/2006/relationships/notesSlide" Target="/ppt/notesSlides/notesSlide24.xml" Id="R104a8e5e1bbf4ee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a8c629baf43fd" /><Relationship Type="http://schemas.openxmlformats.org/officeDocument/2006/relationships/notesSlide" Target="/ppt/notesSlides/notesSlide25.xml" Id="Rdabf650aa5a74a6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2634f87fc4a78" /><Relationship Type="http://schemas.openxmlformats.org/officeDocument/2006/relationships/notesSlide" Target="/ppt/notesSlides/notesSlide26.xml" Id="Rdc0b6dc182c74c4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640cd4eb84975" /><Relationship Type="http://schemas.openxmlformats.org/officeDocument/2006/relationships/notesSlide" Target="/ppt/notesSlides/notesSlide27.xml" Id="R6aefc21e924a457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52ab780814d51" /><Relationship Type="http://schemas.openxmlformats.org/officeDocument/2006/relationships/notesSlide" Target="/ppt/notesSlides/notesSlide28.xml" Id="R043720ee51c3478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569dac3f541a9" /><Relationship Type="http://schemas.openxmlformats.org/officeDocument/2006/relationships/notesSlide" Target="/ppt/notesSlides/notesSlide29.xml" Id="Rca8f958721c944f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e49d3a9ed4635" /><Relationship Type="http://schemas.openxmlformats.org/officeDocument/2006/relationships/notesSlide" Target="/ppt/notesSlides/notesSlide30.xml" Id="R879126e32da949c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a2f0f4ce04604" /><Relationship Type="http://schemas.openxmlformats.org/officeDocument/2006/relationships/notesSlide" Target="/ppt/notesSlides/notesSlide31.xml" Id="R510857461302422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51ddb21284d38" /><Relationship Type="http://schemas.openxmlformats.org/officeDocument/2006/relationships/notesSlide" Target="/ppt/notesSlides/notesSlide32.xml" Id="Rc445576b21094fa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5652737ca43f2" /><Relationship Type="http://schemas.openxmlformats.org/officeDocument/2006/relationships/notesSlide" Target="/ppt/notesSlides/notesSlide33.xml" Id="R593ce3011346461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7bc2452a54e6a" /><Relationship Type="http://schemas.openxmlformats.org/officeDocument/2006/relationships/notesSlide" Target="/ppt/notesSlides/notesSlide34.xml" Id="R7eaaeef5c35b427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999559ed44d90" /><Relationship Type="http://schemas.openxmlformats.org/officeDocument/2006/relationships/notesSlide" Target="/ppt/notesSlides/notesSlide35.xml" Id="Rfffa388755dc449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e3673a95a4bc7" /><Relationship Type="http://schemas.openxmlformats.org/officeDocument/2006/relationships/notesSlide" Target="/ppt/notesSlides/notesSlide36.xml" Id="R4e2975aab91a46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urse-mark">
            <a:extLst xmlns:a="http://schemas.openxmlformats.org/drawingml/2006/main">
              <a:ext uri="{FF2B5EF4-FFF2-40B4-BE49-F238E27FC236}">
                <a16:creationId xmlns:a16="http://schemas.microsoft.com/office/drawing/2014/main" id="{DE42063B-8BAB-470E-A376-305F1A2D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&lt;&gt;  ARC 500</a:t>
            </a:r>
          </a:p>
        </p:txBody>
      </p:sp>
      <p:sp>
        <p:nvSpPr>
          <p:cNvPr id="2" name="course-full-title">
            <a:extLst xmlns:a="http://schemas.openxmlformats.org/drawingml/2006/main">
              <a:ext uri="{FF2B5EF4-FFF2-40B4-BE49-F238E27FC236}">
                <a16:creationId xmlns:a16="http://schemas.microsoft.com/office/drawing/2014/main" id="{D759D1F0-CDC0-4314-8F43-2530441F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9AA1A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1AC"/>
                </a:solidFill>
                <a:latin typeface="Arial"/>
                <a:ea typeface="Arial"/>
                <a:cs typeface="Arial"/>
              </a:rPr>
              <a:t>Programming with Python and Generative AI  ·  Scripting, Data Analysis, Visualization, Problem-Solving, and Optimization</a:t>
            </a:r>
          </a:p>
        </p:txBody>
      </p:sp>
      <p:sp>
        <p:nvSpPr>
          <p:cNvPr id="3" name="accent-bar">
            <a:extLst xmlns:a="http://schemas.openxmlformats.org/drawingml/2006/main">
              <a:ext uri="{FF2B5EF4-FFF2-40B4-BE49-F238E27FC236}">
                <a16:creationId xmlns:a16="http://schemas.microsoft.com/office/drawing/2014/main" id="{A37D05FC-B69A-40A6-AAEE-BFAEFF4E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3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label">
            <a:extLst xmlns:a="http://schemas.openxmlformats.org/drawingml/2006/main">
              <a:ext uri="{FF2B5EF4-FFF2-40B4-BE49-F238E27FC236}">
                <a16:creationId xmlns:a16="http://schemas.microsoft.com/office/drawing/2014/main" id="{BDB3E4DE-9B65-410E-B76C-07B40CF2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52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WEEK 7 · MEETING B · SPATIAL JOIN AND CHOROPLETH STUDIO</a:t>
            </a:r>
          </a:p>
        </p:txBody>
      </p:sp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08F0C8FE-129A-472E-82B2-FA328A0E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7165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Turn Radley Hall's zone summary into a map</a:t>
            </a:r>
          </a:p>
        </p:txBody>
      </p:sp>
      <p:sp>
        <p:nvSpPr>
          <p:cNvPr id="6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9FC5425C-FFF6-462A-9D35-BD11E31A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914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Meeting B · merge attributes onto geometry, reproject, measure, and produce Project 1's spatial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1C43C-E193-40F8-9392-5E182EF6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instructor">
            <a:extLst xmlns:a="http://schemas.openxmlformats.org/drawingml/2006/main">
              <a:ext uri="{FF2B5EF4-FFF2-40B4-BE49-F238E27FC236}">
                <a16:creationId xmlns:a16="http://schemas.microsoft.com/office/drawing/2014/main" id="{324D5239-223F-4EE7-9FB6-E2D02954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JunHo Chun, PhD  ·  School of Architecture  ·  Syracuse University  ·  Fall 2026</a:t>
            </a:r>
          </a:p>
        </p:txBody>
      </p:sp>
    </p:spTree>
    <p:extLst>
      <p:ext uri="{BB962C8B-B14F-4D97-AF65-F5344CB8AC3E}">
        <p14:creationId xmlns:p14="http://schemas.microsoft.com/office/powerpoint/2010/main" val="14630583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5EF94B10-3DDB-4F74-AEC2-BA5A49F9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01EA0F3-93DE-4E71-A215-7882E605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By the end, you should be able to…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722EB-AAD9-45EE-BC60-E55E4ACB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22B930B-627F-4B59-9781-327D6EAB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FDAEB65-AB30-4C83-AE3E-3B045E19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outcome-number-0">
            <a:extLst xmlns:a="http://schemas.openxmlformats.org/drawingml/2006/main">
              <a:ext uri="{FF2B5EF4-FFF2-40B4-BE49-F238E27FC236}">
                <a16:creationId xmlns:a16="http://schemas.microsoft.com/office/drawing/2014/main" id="{8495A477-3627-489F-98E2-01C21A73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outcome-head-0">
            <a:extLst xmlns:a="http://schemas.openxmlformats.org/drawingml/2006/main">
              <a:ext uri="{FF2B5EF4-FFF2-40B4-BE49-F238E27FC236}">
                <a16:creationId xmlns:a16="http://schemas.microsoft.com/office/drawing/2014/main" id="{0BF2661D-57DC-4D36-BC94-8BD87753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Merge</a:t>
            </a:r>
          </a:p>
        </p:txBody>
      </p:sp>
      <p:sp>
        <p:nvSpPr>
          <p:cNvPr id="8" name="outcome-body-0">
            <a:extLst xmlns:a="http://schemas.openxmlformats.org/drawingml/2006/main">
              <a:ext uri="{FF2B5EF4-FFF2-40B4-BE49-F238E27FC236}">
                <a16:creationId xmlns:a16="http://schemas.microsoft.com/office/drawing/2014/main" id="{12B70F1C-E443-435F-A9D0-6F8F27E3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Attribute-join the Week 5 zone summary onto zone_footprints.geojson by the shared zone key.</a:t>
            </a:r>
          </a:p>
        </p:txBody>
      </p:sp>
      <p:sp>
        <p:nvSpPr>
          <p:cNvPr id="9" name="outcome-number-1">
            <a:extLst xmlns:a="http://schemas.openxmlformats.org/drawingml/2006/main">
              <a:ext uri="{FF2B5EF4-FFF2-40B4-BE49-F238E27FC236}">
                <a16:creationId xmlns:a16="http://schemas.microsoft.com/office/drawing/2014/main" id="{0532B9A2-68EF-4222-B530-8A6A6181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outcome-head-1">
            <a:extLst xmlns:a="http://schemas.openxmlformats.org/drawingml/2006/main">
              <a:ext uri="{FF2B5EF4-FFF2-40B4-BE49-F238E27FC236}">
                <a16:creationId xmlns:a16="http://schemas.microsoft.com/office/drawing/2014/main" id="{BC9417EB-761C-43AE-8433-45A29BEC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Reproject</a:t>
            </a:r>
          </a:p>
        </p:txBody>
      </p:sp>
      <p:sp>
        <p:nvSpPr>
          <p:cNvPr id="11" name="outcome-body-1">
            <a:extLst xmlns:a="http://schemas.openxmlformats.org/drawingml/2006/main">
              <a:ext uri="{FF2B5EF4-FFF2-40B4-BE49-F238E27FC236}">
                <a16:creationId xmlns:a16="http://schemas.microsoft.com/office/drawing/2014/main" id="{F3F3090D-B24A-4B6D-9B03-057CCE1B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Convert to EPSG:32618 and justify that CRS choice in one written sentence.</a:t>
            </a:r>
          </a:p>
        </p:txBody>
      </p:sp>
      <p:sp>
        <p:nvSpPr>
          <p:cNvPr id="12" name="outcome-number-2">
            <a:extLst xmlns:a="http://schemas.openxmlformats.org/drawingml/2006/main">
              <a:ext uri="{FF2B5EF4-FFF2-40B4-BE49-F238E27FC236}">
                <a16:creationId xmlns:a16="http://schemas.microsoft.com/office/drawing/2014/main" id="{39DEA0CF-B54B-4394-82D2-257F4269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outcome-head-2">
            <a:extLst xmlns:a="http://schemas.openxmlformats.org/drawingml/2006/main">
              <a:ext uri="{FF2B5EF4-FFF2-40B4-BE49-F238E27FC236}">
                <a16:creationId xmlns:a16="http://schemas.microsoft.com/office/drawing/2014/main" id="{FAD30454-A85D-4A6F-9E5C-4AEBB547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14" name="outcome-body-2">
            <a:extLst xmlns:a="http://schemas.openxmlformats.org/drawingml/2006/main">
              <a:ext uri="{FF2B5EF4-FFF2-40B4-BE49-F238E27FC236}">
                <a16:creationId xmlns:a16="http://schemas.microsoft.com/office/drawing/2014/main" id="{A0BB0E08-6547-4128-9154-32428A12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Compute a real spatial metric (footprint area) and check it against a known ground truth.</a:t>
            </a:r>
          </a:p>
        </p:txBody>
      </p:sp>
      <p:sp>
        <p:nvSpPr>
          <p:cNvPr id="15" name="outcome-number-3">
            <a:extLst xmlns:a="http://schemas.openxmlformats.org/drawingml/2006/main">
              <a:ext uri="{FF2B5EF4-FFF2-40B4-BE49-F238E27FC236}">
                <a16:creationId xmlns:a16="http://schemas.microsoft.com/office/drawing/2014/main" id="{B562BFE1-8EEA-4133-8D5E-587B0E08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outcome-head-3">
            <a:extLst xmlns:a="http://schemas.openxmlformats.org/drawingml/2006/main">
              <a:ext uri="{FF2B5EF4-FFF2-40B4-BE49-F238E27FC236}">
                <a16:creationId xmlns:a16="http://schemas.microsoft.com/office/drawing/2014/main" id="{E0DC6C64-6680-4F05-A5E9-427BE597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14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Map</a:t>
            </a:r>
          </a:p>
        </p:txBody>
      </p:sp>
      <p:sp>
        <p:nvSpPr>
          <p:cNvPr id="17" name="outcome-body-3">
            <a:extLst xmlns:a="http://schemas.openxmlformats.org/drawingml/2006/main">
              <a:ext uri="{FF2B5EF4-FFF2-40B4-BE49-F238E27FC236}">
                <a16:creationId xmlns:a16="http://schemas.microsoft.com/office/drawing/2014/main" id="{69047909-7DA3-4061-B070-9E43DD82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01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Produce one static, properly labeled choropleth map colored by mean energy use intensity.</a:t>
            </a:r>
          </a:p>
        </p:txBody>
      </p:sp>
    </p:spTree>
    <p:extLst>
      <p:ext uri="{BB962C8B-B14F-4D97-AF65-F5344CB8AC3E}">
        <p14:creationId xmlns:p14="http://schemas.microsoft.com/office/powerpoint/2010/main" val="13200422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DDDA6287-CF70-494F-B5AC-B172BBF6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ROAD 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525B416-4D71-4DAA-899B-47F3CD07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Today’s learning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B9A59-7837-41EE-9286-CB361D87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91320EA-A70F-4B2B-9E31-07BA7D69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99094B2-F364-4B4B-987A-2FC8BA16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agenda-no-0">
            <a:extLst xmlns:a="http://schemas.openxmlformats.org/drawingml/2006/main">
              <a:ext uri="{FF2B5EF4-FFF2-40B4-BE49-F238E27FC236}">
                <a16:creationId xmlns:a16="http://schemas.microsoft.com/office/drawing/2014/main" id="{C95D9197-A712-4984-A724-313CC08C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61CD2-A4DF-406F-A7DF-A7A9FBC5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526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8" name="agenda-item-0">
            <a:extLst xmlns:a="http://schemas.openxmlformats.org/drawingml/2006/main">
              <a:ext uri="{FF2B5EF4-FFF2-40B4-BE49-F238E27FC236}">
                <a16:creationId xmlns:a16="http://schemas.microsoft.com/office/drawing/2014/main" id="{6DCC8980-6578-4D65-ABB2-64F3C4DE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431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 the zone summary and load the zone geometry</a:t>
            </a:r>
          </a:p>
        </p:txBody>
      </p:sp>
      <p:sp>
        <p:nvSpPr>
          <p:cNvPr id="9" name="agenda-no-1">
            <a:extLst xmlns:a="http://schemas.openxmlformats.org/drawingml/2006/main">
              <a:ext uri="{FF2B5EF4-FFF2-40B4-BE49-F238E27FC236}">
                <a16:creationId xmlns:a16="http://schemas.microsoft.com/office/drawing/2014/main" id="{D42079E3-C471-4241-A55C-8FC5C15C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71BE9-3384-42B3-945B-5B0D063A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670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agenda-item-1">
            <a:extLst xmlns:a="http://schemas.openxmlformats.org/drawingml/2006/main">
              <a:ext uri="{FF2B5EF4-FFF2-40B4-BE49-F238E27FC236}">
                <a16:creationId xmlns:a16="http://schemas.microsoft.com/office/drawing/2014/main" id="{266C9C47-93FD-4B47-9AA0-AC1C3217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575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Merge, then reproject before measuring anything</a:t>
            </a:r>
          </a:p>
        </p:txBody>
      </p:sp>
      <p:sp>
        <p:nvSpPr>
          <p:cNvPr id="12" name="agenda-no-2">
            <a:extLst xmlns:a="http://schemas.openxmlformats.org/drawingml/2006/main">
              <a:ext uri="{FF2B5EF4-FFF2-40B4-BE49-F238E27FC236}">
                <a16:creationId xmlns:a16="http://schemas.microsoft.com/office/drawing/2014/main" id="{5BB73EFC-5310-463C-8998-4D883EBF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9E4CF9-89F2-4602-8C4C-EA35F996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4" name="agenda-item-2">
            <a:extLst xmlns:a="http://schemas.openxmlformats.org/drawingml/2006/main">
              <a:ext uri="{FF2B5EF4-FFF2-40B4-BE49-F238E27FC236}">
                <a16:creationId xmlns:a16="http://schemas.microsoft.com/office/drawing/2014/main" id="{096C8F63-A916-4180-BA75-00F1C2F2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719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Compute the spatial metric and build the choropleth</a:t>
            </a:r>
          </a:p>
        </p:txBody>
      </p:sp>
      <p:sp>
        <p:nvSpPr>
          <p:cNvPr id="15" name="agenda-no-3">
            <a:extLst xmlns:a="http://schemas.openxmlformats.org/drawingml/2006/main">
              <a:ext uri="{FF2B5EF4-FFF2-40B4-BE49-F238E27FC236}">
                <a16:creationId xmlns:a16="http://schemas.microsoft.com/office/drawing/2014/main" id="{3BAC7973-EE15-4CB1-B48F-54566854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A519D4-9FCE-43C2-AD15-65FEB774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958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agenda-item-3">
            <a:extLst xmlns:a="http://schemas.openxmlformats.org/drawingml/2006/main">
              <a:ext uri="{FF2B5EF4-FFF2-40B4-BE49-F238E27FC236}">
                <a16:creationId xmlns:a16="http://schemas.microsoft.com/office/drawing/2014/main" id="{BAAD88A0-B57F-49C8-AD36-4C94387A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863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Audit an AI draft and run your own transfer check</a:t>
            </a:r>
          </a:p>
        </p:txBody>
      </p:sp>
    </p:spTree>
    <p:extLst>
      <p:ext uri="{BB962C8B-B14F-4D97-AF65-F5344CB8AC3E}">
        <p14:creationId xmlns:p14="http://schemas.microsoft.com/office/powerpoint/2010/main" val="17779875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kicker">
            <a:extLst xmlns:a="http://schemas.openxmlformats.org/drawingml/2006/main">
              <a:ext uri="{FF2B5EF4-FFF2-40B4-BE49-F238E27FC236}">
                <a16:creationId xmlns:a16="http://schemas.microsoft.com/office/drawing/2014/main" id="{1A7202FE-D591-4DC0-A713-123789CD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4CDD422-2A9F-4477-905C-DB78761E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 five terms from Meeting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34C31-06A5-412B-A6B3-BFB0AA11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1C0931B-6F13-4416-AE08-7D00B992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6F00DA2-C4FA-45B7-8C4C-96C3CEE7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3AB17-D8D9-4C2B-A0A2-7CF7D4EF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3054D705-E322-4CE9-B6FF-CEBACBD4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2887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88C5F-3981-49A1-AD43-28DBAE2B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5267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D94AEA55-C1F2-4F51-9FC2-BAEB39E0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2887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434AF-48E4-44F6-94A9-AFAD70C9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5267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A29818EA-7C75-47D9-8218-C8589261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2887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today's 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5E92E3-A467-4C04-AE9C-13895AC9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0">
            <a:extLst xmlns:a="http://schemas.openxmlformats.org/drawingml/2006/main">
              <a:ext uri="{FF2B5EF4-FFF2-40B4-BE49-F238E27FC236}">
                <a16:creationId xmlns:a16="http://schemas.microsoft.com/office/drawing/2014/main" id="{1CA555A1-4DBF-4BD9-838C-99FD586E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227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GeoDataFrame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EF928E-5B0D-40A9-8B4A-5A7807CC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8607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1">
            <a:extLst xmlns:a="http://schemas.openxmlformats.org/drawingml/2006/main">
              <a:ext uri="{FF2B5EF4-FFF2-40B4-BE49-F238E27FC236}">
                <a16:creationId xmlns:a16="http://schemas.microsoft.com/office/drawing/2014/main" id="{56F13521-9098-4D9B-B959-374EA8BA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6227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DataFrame with a geometry column and a CRS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39FFD3-91A8-46E8-BF63-0C32ED76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8607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2">
            <a:extLst xmlns:a="http://schemas.openxmlformats.org/drawingml/2006/main">
              <a:ext uri="{FF2B5EF4-FFF2-40B4-BE49-F238E27FC236}">
                <a16:creationId xmlns:a16="http://schemas.microsoft.com/office/drawing/2014/main" id="{971422C2-24C5-45EF-901B-E78F04A7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6227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zone_footprints.geojson, loaded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41D664-7E78-42E9-B8C1-A5A9D515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709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9437C5AD-7B7A-4081-A004-988C6232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329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CRS / EPSG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60B944-27A2-4276-A61F-5CA35311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2709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C897B3BC-02D3-4595-A4E5-AAF6594E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0329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a coordinate means; a numeric ID for 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C75B53-FE07-41BA-BC53-5406D10D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2709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1A42E332-735F-49C6-B02B-C21BDDC7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0329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4326 in the file, 32618 to measure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1FEFE5-B22C-4C03-9067-4078E022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811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2-0">
            <a:extLst xmlns:a="http://schemas.openxmlformats.org/drawingml/2006/main">
              <a:ext uri="{FF2B5EF4-FFF2-40B4-BE49-F238E27FC236}">
                <a16:creationId xmlns:a16="http://schemas.microsoft.com/office/drawing/2014/main" id="{305FE010-DEA1-4A0A-A9DA-E9B27D29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431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reproject (to_crs)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D5D856-ED31-461A-A7B4-B0B40EE7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6811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2-1">
            <a:extLst xmlns:a="http://schemas.openxmlformats.org/drawingml/2006/main">
              <a:ext uri="{FF2B5EF4-FFF2-40B4-BE49-F238E27FC236}">
                <a16:creationId xmlns:a16="http://schemas.microsoft.com/office/drawing/2014/main" id="{5D2F741D-02C0-46E9-8CEB-0593480B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4431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convert coordinates to a different CRS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55443A-0280-438C-8538-FAA805AF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6811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2-2">
            <a:extLst xmlns:a="http://schemas.openxmlformats.org/drawingml/2006/main">
              <a:ext uri="{FF2B5EF4-FFF2-40B4-BE49-F238E27FC236}">
                <a16:creationId xmlns:a16="http://schemas.microsoft.com/office/drawing/2014/main" id="{C8507E85-8191-4C4A-91BD-CED1F6BD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4431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before computing area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99EED0-66D6-4855-8782-16F96921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913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3-0">
            <a:extLst xmlns:a="http://schemas.openxmlformats.org/drawingml/2006/main">
              <a:ext uri="{FF2B5EF4-FFF2-40B4-BE49-F238E27FC236}">
                <a16:creationId xmlns:a16="http://schemas.microsoft.com/office/drawing/2014/main" id="{4ED303A7-0957-49E1-BA7E-B395C193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533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merge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FB6C95-1A89-49D4-8418-9A6804C4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50913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3-1">
            <a:extLst xmlns:a="http://schemas.openxmlformats.org/drawingml/2006/main">
              <a:ext uri="{FF2B5EF4-FFF2-40B4-BE49-F238E27FC236}">
                <a16:creationId xmlns:a16="http://schemas.microsoft.com/office/drawing/2014/main" id="{FABAB1AE-A3E2-41F6-9210-99164C3E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8533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attribute join on a shared column value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27A33A-4B7C-49C8-B6E9-DE25C0BA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50913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3-2">
            <a:extLst xmlns:a="http://schemas.openxmlformats.org/drawingml/2006/main">
              <a:ext uri="{FF2B5EF4-FFF2-40B4-BE49-F238E27FC236}">
                <a16:creationId xmlns:a16="http://schemas.microsoft.com/office/drawing/2014/main" id="{11CD547E-6295-4663-A22E-772796AD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58533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join zone_summary onto zones by zone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354A03-5E00-438A-AC61-3081AA5B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015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7" name="cell-4-0">
            <a:extLst xmlns:a="http://schemas.openxmlformats.org/drawingml/2006/main">
              <a:ext uri="{FF2B5EF4-FFF2-40B4-BE49-F238E27FC236}">
                <a16:creationId xmlns:a16="http://schemas.microsoft.com/office/drawing/2014/main" id="{A0AD1C66-BC2D-47F4-B13A-C5569941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635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choropleth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0DE5A4-AE49-4D26-9704-697BAA5C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5015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9" name="cell-4-1">
            <a:extLst xmlns:a="http://schemas.openxmlformats.org/drawingml/2006/main">
              <a:ext uri="{FF2B5EF4-FFF2-40B4-BE49-F238E27FC236}">
                <a16:creationId xmlns:a16="http://schemas.microsoft.com/office/drawing/2014/main" id="{96F7FFED-639C-4A3E-B905-019CA527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2635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map shaded by an attribute value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65F862-53AF-4C18-ABCB-7BF66859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5015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1" name="cell-4-2">
            <a:extLst xmlns:a="http://schemas.openxmlformats.org/drawingml/2006/main">
              <a:ext uri="{FF2B5EF4-FFF2-40B4-BE49-F238E27FC236}">
                <a16:creationId xmlns:a16="http://schemas.microsoft.com/office/drawing/2014/main" id="{D5E3EE22-6849-474F-A396-0C2A1E98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2635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shade each zone by mean energy</a:t>
            </a:r>
          </a:p>
        </p:txBody>
      </p:sp>
      <p:sp>
        <p:nvSpPr>
          <p:cNvPr id="42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99092B46-B33D-4676-8E40-F28FA9B4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43" name="callout">
            <a:extLst xmlns:a="http://schemas.openxmlformats.org/drawingml/2006/main">
              <a:ext uri="{FF2B5EF4-FFF2-40B4-BE49-F238E27FC236}">
                <a16:creationId xmlns:a16="http://schemas.microsoft.com/office/drawing/2014/main" id="{8F64989B-4C8C-4438-B942-6630063F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Every term above appears at least once in today's script - point to it as you reach that line.</a:t>
            </a:r>
          </a:p>
        </p:txBody>
      </p:sp>
    </p:spTree>
    <p:extLst>
      <p:ext uri="{BB962C8B-B14F-4D97-AF65-F5344CB8AC3E}">
        <p14:creationId xmlns:p14="http://schemas.microsoft.com/office/powerpoint/2010/main" val="5872983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3B1B4F71-E3DA-45A4-B3C5-B74288EB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AF1C4DB-F1E7-4420-80BC-6B50D9B3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Today's pipeline is four ordered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49DFE-5E61-4948-9168-1410FEE2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F6BB83C-D837-4A8B-B503-7C65A2E1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6260ECC-DFC2-4C14-9882-8F1759DC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57EE6088-F988-43F9-8733-86D9AFC0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52A6EFDD-1E51-4B55-A5AD-623C516F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B0FDB71C-5495-4149-A0AF-FFAB1266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E9169DE9-1BF6-4F3F-A1B8-6E13373D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1265081-A267-4055-97A7-96AAE683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99D3764A-304E-4E76-B291-799F3ED5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SUMMARIZE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FD0101-B4E5-4AF6-92A0-56643216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06CD92C4-AA51-4577-AC36-FC3549F6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 Week 5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C513F0FF-82A5-49FB-9246-A6362219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Group building_rooms.csv by zone - mean energy, mean area, room count.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18A924AF-92D6-4CD0-8E42-13BFAC8F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0731F542-EADD-4013-983A-4C095801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D3F4C4B5-F4A1-45C0-A66F-FC7457E0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MERGE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9EF960-B9FF-4E79-8972-9487513B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C87E37D6-8E94-4E64-9BE9-A674E8BC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Attribute join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29A7CD75-543E-40FB-A6B2-89519340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zones.merge(zone_summary, on='zone') attaches those numbers to each polygon.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CF163F40-C4C6-4D6A-AEA5-8896F1FA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BEB61090-6F87-4E31-9B97-50D0B2EF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F813ED66-19A6-4FA2-A794-4636D648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REPROJECT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BB8AFC-3EA6-4446-BA82-B538F802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262FB0D3-B22D-447F-9915-5E29E40A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to_crs()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6A6F18F8-15A8-4F19-A227-D7FC198C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Convert from EPSG:4326 (degrees) to EPSG:32618, UTM 18N (meters), before measuring.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616EE697-2F60-4585-BC27-D9538AAF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4A2E3EF7-A77F-4F0B-BE0E-528BDC7C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33330A55-C51F-40C3-A108-2F4A920A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MAP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2DEDF3-EB9E-49C2-9F16-16072586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4F7ED326-B49F-4CB5-81BE-9015EF6E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Compute + plot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FE7933EC-50E9-45F4-8921-97C6C9C9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footprint area, then one static choropleth colored by mean energy.</a:t>
            </a:r>
          </a:p>
        </p:txBody>
      </p:sp>
    </p:spTree>
    <p:extLst>
      <p:ext uri="{BB962C8B-B14F-4D97-AF65-F5344CB8AC3E}">
        <p14:creationId xmlns:p14="http://schemas.microsoft.com/office/powerpoint/2010/main" val="7168173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61A6FF61-85DA-49DC-A59C-0964F960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2105537-2F97-49D2-A95B-3D343B59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[1] Recall Week 5: one row of attributes per zone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7DB96-EB8F-4513-A473-7CFAF86D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FAB0A57-D938-47FD-8231-29BD9C06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A7BF8C9-CF16-4874-A517-60F22A4E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EAC359CE-ED0C-4CCF-89CC-3E030955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A5267931-C781-4335-A009-B719C55A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79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pandas as pd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rooms = pd.read_csv('building_rooms.csv')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zone_summary = rooms.groupby('zone').agg(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mean_energy_kwh_m2_yr=('energy_kwh_m2_yr', 'mean'),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mean_area_m2=('area_m2', 'mean'),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room_count=('room_id', 'count'),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).reset_index()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print(zone_summary)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66CE6-DE30-4CD7-840B-33D9A5A1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8042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1A68E1F1-E883-4531-AA67-1D0010D2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2342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A2136E52-D6FD-4AE9-BFED-BEEFC1FB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0942"/>
            <a:ext cx="6400800" cy="578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zone  mean_energy_kwh_m2_yr  mean_area_m2  room_count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0  North              64.250000        40.975          12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1  South             115.681818        38.250          12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F50A90C1-2C3D-4DA5-BD4D-A5B61603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241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finding as Week 5, no new numbers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487E412A-76CC-421A-ABBB-234E5388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09747"/>
            <a:ext cx="3695700" cy="162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This is the exact groupby from Week 5, just with renamed, unit-labeled columns so they merge cleanly onto geometry later. Two rows, one per zone - South still runs roughly 80% higher energy use intensity than North, the same finding you have already seen twice.</a:t>
            </a:r>
          </a:p>
        </p:txBody>
      </p:sp>
    </p:spTree>
    <p:extLst>
      <p:ext uri="{BB962C8B-B14F-4D97-AF65-F5344CB8AC3E}">
        <p14:creationId xmlns:p14="http://schemas.microsoft.com/office/powerpoint/2010/main" val="2659873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69C937ED-BC03-4B55-891C-197E93B0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8424D13-1195-478F-A2B2-33F915FF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1: verify the recalled summary matches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26DE3-7523-4A4A-8109-8C10AE60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D770C8B-4DD4-4524-849C-9E25B8A2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0B456A1-465E-4840-A14B-63D1CD75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1A787CEA-2C1A-41F5-8698-A46BE818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EBB7386E-270B-49C1-8021-4F7A62E5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 moving on, confirm this table has not silently changed.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63F3C131-7DD3-4CB9-89A1-C3DEF96C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356C3FEA-EEA9-4232-903D-3981920E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06C50402-CF8B-4AD0-998A-6952C68F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 mean_energy_kwh_m2_yr for both zones from memory.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9DA9642B-586A-4355-8C7B-91C08D31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5FF59809-467D-49DC-A501-1BD753D1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Run the cell and compare.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8689F444-3345-4BA7-B25F-0A201A9F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AEF9AD75-B134-4BD3-AD2F-D2C07425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Check room_count sums to 24 across both zones.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3F654DC0-225A-4D54-AF49-00A349D4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943118DF-98E7-480C-A57A-BEFD4ADF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Note this is attribute data only - no geometry yet.</a:t>
            </a:r>
          </a:p>
        </p:txBody>
      </p:sp>
    </p:spTree>
    <p:extLst>
      <p:ext uri="{BB962C8B-B14F-4D97-AF65-F5344CB8AC3E}">
        <p14:creationId xmlns:p14="http://schemas.microsoft.com/office/powerpoint/2010/main" val="7523420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C92ED760-C3DA-44E5-80C7-4207AFF3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3FD4B9C-E326-4D57-BFBA-11E8A8D6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[2] Load the zone geometry and inspect its CRS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F291A-D730-45DD-B146-B41AD603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C7305C3-D21E-4BAE-97C2-72A2359E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306CC86-0FDF-4229-A899-F6535DA3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C7AB575B-D1C6-45FC-A035-EC7B8092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CE0B7DFE-5996-4922-97BE-F086FD6E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619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geopandas as gpd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zones = gpd.read_file('zone_footprints.geojson')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print(zones)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print('CRS:', zones.crs)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72F92-9282-48D5-A329-765B79E0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4306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84A42195-9FF4-49BC-83BD-D9CB4F29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606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B2AD5FF3-6529-4897-B004-6BEBEACC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7206"/>
            <a:ext cx="6400800" cy="752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zone                                           geometry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0  North  POLYGON ((-76.1351 43.03936, -76.13481 43.0393...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1  South  POLYGON ((-76.1351 43.0392, -76.13481 43.0392,...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CRS: EPSG:4326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96F86890-C565-4598-93E8-16B361A0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28900"/>
            <a:ext cx="3695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Two polygons, in degrees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3475F59C-8514-4F9C-BB5D-4EBC0899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26486"/>
            <a:ext cx="3695700" cy="162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Two Radley Hall zone footprints - by construction, each a 24 m x 10 m rectangle (240 m2). The file's CRS is EPSG:4326: longitude/latitude degrees, correct for storage, wrong for measuring - exactly the pitfall named all through Meeting A.</a:t>
            </a:r>
          </a:p>
        </p:txBody>
      </p:sp>
    </p:spTree>
    <p:extLst>
      <p:ext uri="{BB962C8B-B14F-4D97-AF65-F5344CB8AC3E}">
        <p14:creationId xmlns:p14="http://schemas.microsoft.com/office/powerpoint/2010/main" val="13680094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5013088C-7650-40FE-86E3-9FA86D2C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751833B-7382-4783-A08D-1BCB829E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[3] Merge the zone summary onto the geometry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AEB0B-433F-45E2-AAAB-0B214228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4855F8A-B1F5-4D46-B873-6E7183DC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ED2FB05-725F-437F-A227-86A586D9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CD145363-B9E7-41D4-9DCA-3B6E1A56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0988A356-063E-4D7B-A361-42A5135B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619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zones_merged = zones.merge(zone_summary, on='zone', how='left')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print(type(zones_merged).__name__)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print(zones_merged[['zone', 'mean_energy_kwh_m2_yr', 'mean_area_m2', 'room_count']])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ABA63-A40C-4C7D-916D-3953107D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4306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D58F16DA-D7BE-44A7-B0BA-DC8EBA39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606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61B73646-2815-41C9-8500-3FA4E3A8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7206"/>
            <a:ext cx="6400800" cy="752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GeoDataFrame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zone  mean_energy_kwh_m2_yr  mean_area_m2  room_count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0  North              64.250000        40.975          12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1  South             115.681818        38.250          12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C81AFC59-4E12-4593-B6EC-77D46759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241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An ordinary pandas merge, on a GeoDataFrame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893A21D2-D0E8-4DED-BE64-85DFCF87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09747"/>
            <a:ext cx="3695700" cy="162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merge() works exactly as in Week 5 - matching rows by the shared zone column. Because the left side (zones) was a GeoDataFrame, the result stays a GeoDataFrame; the geometry column survives the merge untouched, just with three new attribute columns attached.</a:t>
            </a:r>
          </a:p>
        </p:txBody>
      </p:sp>
    </p:spTree>
    <p:extLst>
      <p:ext uri="{BB962C8B-B14F-4D97-AF65-F5344CB8AC3E}">
        <p14:creationId xmlns:p14="http://schemas.microsoft.com/office/powerpoint/2010/main" val="16935967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FBD5B949-BBEE-45DD-BAD0-E178CD03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B8423D1-53C0-434F-921F-B0630A5F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This merge matches by a shared key, not by location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0D666-0F0D-4B67-9C2C-5419D414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4B990DC-D3D3-4C33-897A-3ABC295C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C08B58F-E475-468D-A4B6-E08654E7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1B148D5F-F0CC-439E-BBCE-D8CE6C43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AE5BD5E9-89C8-4CB7-95BD-1919697F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attribute join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DFDE23-9ABE-434E-932C-C98B7191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4DC90CE2-7883-4F36-9B25-2DB52D3B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An attribute join (what merge() does) matches rows by comparing values in a shared column - here, zone. It never looks at geometry. A spatial join (gpd.sjoin(), Meeting A) instead matches rows by where their geometries sit in space.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6F58A9F1-608E-461A-A5B4-7472C25B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34D6FE9F-9871-4FB2-A7E3-E80205CC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D3B237E7-A306-420F-9CFC-7FC174AF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zones.merge(zone_summary, on='zone', how='left')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9ACE55E2-4507-4177-A798-52BAB27E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51226"/>
            <a:ext cx="4381500" cy="1982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Both tables already share one zone value per row, so a plain attribute join is enough - no geometry comparison needed. gpd.sjoin() is for the opposite case: rows with no shared column, only shared space.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38BB7BAD-D835-4162-8343-B493FB0E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C0E340A7-B19E-4270-A6EB-409AF4C5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436F11F9-4E78-4BC5-99E9-3672DCC3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merge() runs identically on a plain DataFrame or a GeoDataFrame - it only compares the join column, so a mismatched key (case, spelling) returns NaN, not an error.</a:t>
            </a:r>
          </a:p>
        </p:txBody>
      </p:sp>
    </p:spTree>
    <p:extLst>
      <p:ext uri="{BB962C8B-B14F-4D97-AF65-F5344CB8AC3E}">
        <p14:creationId xmlns:p14="http://schemas.microsoft.com/office/powerpoint/2010/main" val="6509775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F8141C7B-61D4-4B79-8428-17BA2981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5576C6A-7B1A-4083-AE77-73ADE3E8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2: confirm the merge attached the right numbers to the right shape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EF5CB-594F-407A-88E4-9EA3FF10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405D147-CE9D-48F8-ACCA-DBB3A636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B9C5BDC-4217-4F71-B53B-4A65B16C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C7D8A848-693B-4F89-AACE-46FE508B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E0C4EA5E-332C-41A5-846C-3241ED2F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merge can silently attach the wrong row if a key does not match exactly.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92338D15-A2AF-4D86-A67C-3B3762A8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CCC2C3BE-7852-4587-87DC-F284C61E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496E6011-475D-4153-BF1D-046FF4D6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Confirm zones_merged still has a geometry column (check .dtypes).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8FD0491D-7376-480A-8048-7E5F11A3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23705478-D0D6-4040-A21D-9737EF05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Confirm North's row shows 64.25, South's shows 115.68.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7F68B86D-36E3-4B1D-A524-740CC8A5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92389EEA-A385-453D-8D9D-5A9A0C7F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Confirm type(zones_merged) is still a GeoDataFrame, not a plain DataFrame.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66F27895-B219-428F-B854-78DCDC31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6A37A112-C737-4555-AF72-3A7AB586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State in one sentence why zone must match exactly (case, spelling) on both sides.</a:t>
            </a:r>
          </a:p>
        </p:txBody>
      </p:sp>
    </p:spTree>
    <p:extLst>
      <p:ext uri="{BB962C8B-B14F-4D97-AF65-F5344CB8AC3E}">
        <p14:creationId xmlns:p14="http://schemas.microsoft.com/office/powerpoint/2010/main" val="1261592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AFB06AA3-5184-45ED-B110-1512F987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REQUIRED NOTE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0EA4732-C805-46A9-ADA4-BEC2FF16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CRS-choice justification, stated once and reused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8A06D-00C3-4CE4-B5BF-8974C7D0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B704AD1-C934-4D38-A07B-A4AAB387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2CE71EF-4B64-409B-938C-729A9FB5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6B44318C-0CE8-4214-89ED-BC69F6B7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choice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7CDE4AB4-D204-4658-9EAD-E888B344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2186"/>
            <a:ext cx="5219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EPSG:32618 - UTM zone 18N. Syracuse, NY's longitude (about 76 degrees W) falls inside UTM 18N's 78W-72W band, so this is the correct projected CRS for measuring distance or area here.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B522E1D2-89C1-458B-A6EA-1A4B9EB3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14600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Why write it down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825CB57E-3A47-4FAD-A633-E29D529E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12186"/>
            <a:ext cx="5219700" cy="1932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If you choose the map as your Project 1 Part IV evidence extension (the alternative to Week 6's .gif), it requires a CRS-choice justification note. One sentence, written once, stating the EPSG code and the reason, satisfies that requirement - do this now while the reasoning is fresh.</a:t>
            </a:r>
          </a:p>
        </p:txBody>
      </p:sp>
    </p:spTree>
    <p:extLst>
      <p:ext uri="{BB962C8B-B14F-4D97-AF65-F5344CB8AC3E}">
        <p14:creationId xmlns:p14="http://schemas.microsoft.com/office/powerpoint/2010/main" val="18763375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04F944F8-DA02-4A43-A50B-E594FA95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CAF4AAF-9208-4526-82D6-659CBF26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Merging attributes does not reproject anything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E8358-D1CB-4D35-9359-03F34DA1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950B00D-BB55-499A-91A3-46349470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38096EA-5C10-4A88-9BFB-3F57C6D2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FAC6BB8B-E83E-4D8F-97FE-680C51B5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812795B8-C359-4EC8-A7DA-46989C0F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wrong_area = zones_merged.geometry.area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print(f'{wrong_area.iloc[0]:.2e}')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F7A88CA1-6ACB-41F0-B585-5D66B4AA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Before reprojecting, what does this print for North?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24E37289-9C03-4989-B843-4D6D3FD8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5246DF2B-3D22-4270-8638-17D86840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3325B269-E9AA-4F67-859E-3BEC354B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240.00 m2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979B7F10-238B-4F35-A2AF-3378FA54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E17EBEC8-7AEF-4B01-86DF-B23CA71B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4A358E3A-05BE-48DE-9F00-1F495A13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2.65e-08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1958F9F4-3225-4D7B-ADCD-BF1F87FB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6F8A11B9-CD1B-4254-81FE-4E62A8CD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528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7C46326E-283F-411F-815A-57ABFEB1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a UserWarning stops execution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80EE1873-643A-4B30-9536-354D415A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76F3D1E2-326F-4B38-A92A-12153175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624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9450767D-A47E-43D1-9F4E-C1FAB4AC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8.01e+00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FE80DB0D-19B1-4C27-8447-2EA9B0D2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AAF4DAC7-54D8-47E1-A13D-60708B29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B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A1285298-8432-4317-9AA7-3A2CA2EF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merge() never reprojects. zones_merged stays EPSG:4326, so .area returns square degrees: 2.65e-08 - a warning, not an error.</a:t>
            </a:r>
          </a:p>
        </p:txBody>
      </p:sp>
    </p:spTree>
    <p:extLst>
      <p:ext uri="{BB962C8B-B14F-4D97-AF65-F5344CB8AC3E}">
        <p14:creationId xmlns:p14="http://schemas.microsoft.com/office/powerpoint/2010/main" val="11259118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53E283B3-E916-4D8D-AFFB-5F7DBF14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4723831-BEA0-4804-BC74-C4420B4A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[4] The pitfall, shown once more, on your own merged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D79738-1F5B-4562-BAC1-DAFFAEB3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2D457F9-2216-40DA-981B-0DF36090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BBF4366-78CF-480A-A120-6CD477C7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C3B85307-A122-47DA-9FAB-ED81CC12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C082FDC0-FC2C-4910-AAFC-225A61EA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wrong_area = zones_merged.geometry.area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print('wrong (EPSG:4326) area, North:', f'{wrong_area.iloc[0]:.2e}')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3763D-62DA-4A4C-B09B-37007A60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60103708-AC71-4032-944C-20EC8A48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B79E2CDA-CBD7-4EB2-8F98-8B248E03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wrong (EPSG:4326) area, North: 2.65e-08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83587283-F92C-426D-BE64-EE8E714F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0980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Still EPSG:4326 - still meaningless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C9B8D305-7C1B-4DB4-889C-4D544624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5422"/>
            <a:ext cx="3695700" cy="2506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zones_merged has not been reprojected yet, so .area still returns square degrees - 2.65e-08, the same tiny, meaningless number from Meeting A's DEMO 2. This also raises a real UserWarning ('Geometry is in a geographic CRS...'), printed to the console, not shown in the output panel here. Notice .area has no parentheses - it is a property you read, not a method you call, unlike .merge() or .to_crs().</a:t>
            </a:r>
          </a:p>
        </p:txBody>
      </p:sp>
    </p:spTree>
    <p:extLst>
      <p:ext uri="{BB962C8B-B14F-4D97-AF65-F5344CB8AC3E}">
        <p14:creationId xmlns:p14="http://schemas.microsoft.com/office/powerpoint/2010/main" val="3113693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10AE5EF6-3CBC-4AF3-860A-E1D43744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99C462C-3465-47F3-8132-7D1B9EA6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to_crs() moves coordinates - it does not just relabel them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98F4A-88BB-444C-B824-44DE342C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75ABE52-3259-4054-8664-D10C12DC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D09BF8B-012F-4F72-8191-6FCC96D2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EB40F316-28CA-4859-8AC6-9284471F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41FCDF71-0579-44F7-8136-07EC219C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zones_utm = zones_merged.to_crs('EPSG:32618')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area_m2 = zones_utm.geometry.area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print(f'{area_m2.iloc[0]:.2f}')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F27AB2BF-3C05-4490-9AEC-C7E4BED1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After reprojecting, what does this print for North?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B738FBDD-5BFA-4BBD-9848-B072684A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6805CA6E-9E82-4899-B082-D7581C97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0BA29E8E-B7AE-4598-8C41-643ED983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240.00 m2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12FA1488-ADEC-4466-8135-3F435055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E2E5E13B-AF1D-44E5-B4FF-D1F83503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9D2339D4-9AF6-4919-89D6-C4034212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239.74 m2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49525EDB-BDCE-4B37-9AFB-62C679A6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035212C5-1F2D-4A37-9EAB-587144CD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528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4DC48995-18AB-4896-B33F-CECA5616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2.65e-08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BA85BD9D-9C66-4DCB-8CD5-1514D1C0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7BF3A4CB-002D-45EE-B5CA-0A3B44A6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624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A105FB61-FCA1-4152-BCDD-36E0F2DF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64.25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38EE5503-E74A-414B-9496-9B04E1BE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407D8F4A-8CDD-426F-810F-2A921A1A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B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F94C4A9F-6A2D-4F6A-AAF6-D197AFA7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to_crs() moves every coordinate to UTM 18N meters, unlike set_crs(); area now measures 239.74 m2, real distortion, not a bug.</a:t>
            </a:r>
          </a:p>
        </p:txBody>
      </p:sp>
    </p:spTree>
    <p:extLst>
      <p:ext uri="{BB962C8B-B14F-4D97-AF65-F5344CB8AC3E}">
        <p14:creationId xmlns:p14="http://schemas.microsoft.com/office/powerpoint/2010/main" val="20244204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C19856BE-C101-481A-BD83-20A03F73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F122FF5-4524-44ED-A640-0272C0B1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[5] Reproject, then compute the real spatial metric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B30C6-4CAB-4000-B54F-4FC610E1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B775AFE-E4A8-487A-A234-F8A44D6F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BAE745E-296B-4489-9875-C91D27A9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A04C2DF0-01D5-4318-B398-8FDC51BE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E833006C-881F-4A5A-A2F1-B5AC22C1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79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zones_utm = zones_merged.to_crs('EPSG:32618')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zones_utm['footprint_area_m2'] = zones_utm.geometry.area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print(zones_utm[['zone', 'footprint_area_m2', 'mean_energy_kwh_m2_yr']])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E1201-D3EA-4F7A-9057-6EDB9CAF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8042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5BBC600A-AB8F-4B50-B95B-CB50391B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2342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6ECE5AF3-0DA3-4605-9C06-2DE87119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0942"/>
            <a:ext cx="6400800" cy="578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zone  footprint_area_m2  mean_energy_kwh_m2_yr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0  North         239.742649              64.250000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1  South         239.743272             115.681818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52E754D4-B9CF-4B74-B069-83BC4296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717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239.74 m2 against a known 240 m2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99F8EB8D-9FCE-4968-86CA-67692246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57347"/>
            <a:ext cx="3695700" cy="2065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Both zones are 24 m x 10 m rectangles by construction - 240 m2 exactly. Reprojected and measured correctly, both compute to 239.74 m2: within about 0.1% of ground truth. This is real, small projection distortion, not a mistake - and it is the exact number from Meeting A's DEMO 2, now reproduced on your own merged GeoDataFrame.</a:t>
            </a:r>
          </a:p>
        </p:txBody>
      </p:sp>
    </p:spTree>
    <p:extLst>
      <p:ext uri="{BB962C8B-B14F-4D97-AF65-F5344CB8AC3E}">
        <p14:creationId xmlns:p14="http://schemas.microsoft.com/office/powerpoint/2010/main" val="13139292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kicker">
            <a:extLst xmlns:a="http://schemas.openxmlformats.org/drawingml/2006/main">
              <a:ext uri="{FF2B5EF4-FFF2-40B4-BE49-F238E27FC236}">
                <a16:creationId xmlns:a16="http://schemas.microsoft.com/office/drawing/2014/main" id="{B3156936-7DA2-4877-B694-F22AEADE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ANATOMY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A755D04-AFD9-4A68-ABBD-68C64B05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to_crs() returns a brand-new, reprojected GeoDataFrame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124C6-7AC5-4396-8591-89063E5E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255F526-8D42-4FC7-9703-2D92F647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6FA23DB-0EFA-412E-9D52-751D5B9F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anatomy-code-panel">
            <a:extLst xmlns:a="http://schemas.openxmlformats.org/drawingml/2006/main">
              <a:ext uri="{FF2B5EF4-FFF2-40B4-BE49-F238E27FC236}">
                <a16:creationId xmlns:a16="http://schemas.microsoft.com/office/drawing/2014/main" id="{DE5C1B79-F806-4129-B1CD-6C29AD8E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anatomy-code">
            <a:extLst xmlns:a="http://schemas.openxmlformats.org/drawingml/2006/main">
              <a:ext uri="{FF2B5EF4-FFF2-40B4-BE49-F238E27FC236}">
                <a16:creationId xmlns:a16="http://schemas.microsoft.com/office/drawing/2014/main" id="{AD272D66-A9F6-4390-98FB-A10C8716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574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3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zones_utm = zones_merged.to_crs('EPSG:32618')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FBE77-A3ED-4D33-A671-B0F1E80C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188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9" name="part-chip-0">
            <a:extLst xmlns:a="http://schemas.openxmlformats.org/drawingml/2006/main">
              <a:ext uri="{FF2B5EF4-FFF2-40B4-BE49-F238E27FC236}">
                <a16:creationId xmlns:a16="http://schemas.microsoft.com/office/drawing/2014/main" id="{AF372BEC-1131-40A9-9BBC-95CD9511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rt-chipno-0">
            <a:extLst xmlns:a="http://schemas.openxmlformats.org/drawingml/2006/main">
              <a:ext uri="{FF2B5EF4-FFF2-40B4-BE49-F238E27FC236}">
                <a16:creationId xmlns:a16="http://schemas.microsoft.com/office/drawing/2014/main" id="{5C6218BD-149E-4FC3-B52E-6C200EB1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part-lchip-0">
            <a:extLst xmlns:a="http://schemas.openxmlformats.org/drawingml/2006/main">
              <a:ext uri="{FF2B5EF4-FFF2-40B4-BE49-F238E27FC236}">
                <a16:creationId xmlns:a16="http://schemas.microsoft.com/office/drawing/2014/main" id="{3ABB8103-30FE-45C4-BFFB-83B58905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-lchipno-0">
            <a:extLst xmlns:a="http://schemas.openxmlformats.org/drawingml/2006/main">
              <a:ext uri="{FF2B5EF4-FFF2-40B4-BE49-F238E27FC236}">
                <a16:creationId xmlns:a16="http://schemas.microsoft.com/office/drawing/2014/main" id="{0DDB24BD-400E-46B6-A210-27E70CA7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art-head-0">
            <a:extLst xmlns:a="http://schemas.openxmlformats.org/drawingml/2006/main">
              <a:ext uri="{FF2B5EF4-FFF2-40B4-BE49-F238E27FC236}">
                <a16:creationId xmlns:a16="http://schemas.microsoft.com/office/drawing/2014/main" id="{B60104DC-EF42-4AAB-A60A-A604FC3E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009900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 new name</a:t>
            </a:r>
          </a:p>
        </p:txBody>
      </p:sp>
      <p:sp>
        <p:nvSpPr>
          <p:cNvPr id="14" name="part-body-0">
            <a:extLst xmlns:a="http://schemas.openxmlformats.org/drawingml/2006/main">
              <a:ext uri="{FF2B5EF4-FFF2-40B4-BE49-F238E27FC236}">
                <a16:creationId xmlns:a16="http://schemas.microsoft.com/office/drawing/2014/main" id="{BCCBD67D-D1CE-4CE4-8A3D-6F7729AF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90138"/>
            <a:ext cx="20002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zones_merged itself is left untouched, still EPSG:4326.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91BB65-EB77-4A5D-91D6-5FF2260A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647950"/>
            <a:ext cx="251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6" name="part-chip-1">
            <a:extLst xmlns:a="http://schemas.openxmlformats.org/drawingml/2006/main">
              <a:ext uri="{FF2B5EF4-FFF2-40B4-BE49-F238E27FC236}">
                <a16:creationId xmlns:a16="http://schemas.microsoft.com/office/drawing/2014/main" id="{8D7336D0-35B4-4E89-ACEE-E60D31E3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rt-chipno-1">
            <a:extLst xmlns:a="http://schemas.openxmlformats.org/drawingml/2006/main">
              <a:ext uri="{FF2B5EF4-FFF2-40B4-BE49-F238E27FC236}">
                <a16:creationId xmlns:a16="http://schemas.microsoft.com/office/drawing/2014/main" id="{A15156D5-4441-4DA5-9237-6155CFEF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part-lchip-1">
            <a:extLst xmlns:a="http://schemas.openxmlformats.org/drawingml/2006/main">
              <a:ext uri="{FF2B5EF4-FFF2-40B4-BE49-F238E27FC236}">
                <a16:creationId xmlns:a16="http://schemas.microsoft.com/office/drawing/2014/main" id="{8CC57021-4D02-4911-9247-B8B81A8D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t-lchipno-1">
            <a:extLst xmlns:a="http://schemas.openxmlformats.org/drawingml/2006/main">
              <a:ext uri="{FF2B5EF4-FFF2-40B4-BE49-F238E27FC236}">
                <a16:creationId xmlns:a16="http://schemas.microsoft.com/office/drawing/2014/main" id="{701A6793-7CB1-4EAA-9ED7-A9F8BB32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part-head-1">
            <a:extLst xmlns:a="http://schemas.openxmlformats.org/drawingml/2006/main">
              <a:ext uri="{FF2B5EF4-FFF2-40B4-BE49-F238E27FC236}">
                <a16:creationId xmlns:a16="http://schemas.microsoft.com/office/drawing/2014/main" id="{B0393960-7EBB-4664-AB0C-75C542AE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Unprojected</a:t>
            </a:r>
          </a:p>
        </p:txBody>
      </p:sp>
      <p:sp>
        <p:nvSpPr>
          <p:cNvPr id="21" name="part-body-1">
            <a:extLst xmlns:a="http://schemas.openxmlformats.org/drawingml/2006/main">
              <a:ext uri="{FF2B5EF4-FFF2-40B4-BE49-F238E27FC236}">
                <a16:creationId xmlns:a16="http://schemas.microsoft.com/office/drawing/2014/main" id="{EAC0F5B8-62DB-404C-8BD0-FE912E3F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390138"/>
            <a:ext cx="200025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GeoDataFrame being converted - read, not modified.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80AE33-0658-47E3-9429-31ED5154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479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23" name="part-chip-2">
            <a:extLst xmlns:a="http://schemas.openxmlformats.org/drawingml/2006/main">
              <a:ext uri="{FF2B5EF4-FFF2-40B4-BE49-F238E27FC236}">
                <a16:creationId xmlns:a16="http://schemas.microsoft.com/office/drawing/2014/main" id="{8866163D-FCA0-47DD-9194-CC952AA2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t-chipno-2">
            <a:extLst xmlns:a="http://schemas.openxmlformats.org/drawingml/2006/main">
              <a:ext uri="{FF2B5EF4-FFF2-40B4-BE49-F238E27FC236}">
                <a16:creationId xmlns:a16="http://schemas.microsoft.com/office/drawing/2014/main" id="{F434286F-FDF9-403A-BBF5-C1710AD0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part-lchip-2">
            <a:extLst xmlns:a="http://schemas.openxmlformats.org/drawingml/2006/main">
              <a:ext uri="{FF2B5EF4-FFF2-40B4-BE49-F238E27FC236}">
                <a16:creationId xmlns:a16="http://schemas.microsoft.com/office/drawing/2014/main" id="{37B67EE6-F91A-44DF-9961-C3B3B106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07289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rt-lchipno-2">
            <a:extLst xmlns:a="http://schemas.openxmlformats.org/drawingml/2006/main">
              <a:ext uri="{FF2B5EF4-FFF2-40B4-BE49-F238E27FC236}">
                <a16:creationId xmlns:a16="http://schemas.microsoft.com/office/drawing/2014/main" id="{C394AE99-E0E1-4AFE-AD71-EC1318B3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11099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part-head-2">
            <a:extLst xmlns:a="http://schemas.openxmlformats.org/drawingml/2006/main">
              <a:ext uri="{FF2B5EF4-FFF2-40B4-BE49-F238E27FC236}">
                <a16:creationId xmlns:a16="http://schemas.microsoft.com/office/drawing/2014/main" id="{9AAAD062-6B05-47B5-A457-D064463A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53840"/>
            <a:ext cx="217170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Recomputes coordinates</a:t>
            </a:r>
          </a:p>
        </p:txBody>
      </p:sp>
      <p:sp>
        <p:nvSpPr>
          <p:cNvPr id="28" name="part-body-2">
            <a:extLst xmlns:a="http://schemas.openxmlformats.org/drawingml/2006/main">
              <a:ext uri="{FF2B5EF4-FFF2-40B4-BE49-F238E27FC236}">
                <a16:creationId xmlns:a16="http://schemas.microsoft.com/office/drawing/2014/main" id="{96D08634-02F1-4371-9309-00081554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680966"/>
            <a:ext cx="247650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Unlike set_crs(), this actually moves every point.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B9248D-359B-495B-96C0-F1C4AA69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647950"/>
            <a:ext cx="251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30" name="part-chip-3">
            <a:extLst xmlns:a="http://schemas.openxmlformats.org/drawingml/2006/main">
              <a:ext uri="{FF2B5EF4-FFF2-40B4-BE49-F238E27FC236}">
                <a16:creationId xmlns:a16="http://schemas.microsoft.com/office/drawing/2014/main" id="{AB9F524D-7A55-477C-AB23-7CDC5ABB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rt-chipno-3">
            <a:extLst xmlns:a="http://schemas.openxmlformats.org/drawingml/2006/main">
              <a:ext uri="{FF2B5EF4-FFF2-40B4-BE49-F238E27FC236}">
                <a16:creationId xmlns:a16="http://schemas.microsoft.com/office/drawing/2014/main" id="{10448D1E-6D08-442B-BE35-B7A239BB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part-lchip-3">
            <a:extLst xmlns:a="http://schemas.openxmlformats.org/drawingml/2006/main">
              <a:ext uri="{FF2B5EF4-FFF2-40B4-BE49-F238E27FC236}">
                <a16:creationId xmlns:a16="http://schemas.microsoft.com/office/drawing/2014/main" id="{1EECA52D-F525-4A0B-B204-31F851E3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t-lchipno-3">
            <a:extLst xmlns:a="http://schemas.openxmlformats.org/drawingml/2006/main">
              <a:ext uri="{FF2B5EF4-FFF2-40B4-BE49-F238E27FC236}">
                <a16:creationId xmlns:a16="http://schemas.microsoft.com/office/drawing/2014/main" id="{3E1C1647-ED11-441C-8C98-15834262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4" name="part-head-3">
            <a:extLst xmlns:a="http://schemas.openxmlformats.org/drawingml/2006/main">
              <a:ext uri="{FF2B5EF4-FFF2-40B4-BE49-F238E27FC236}">
                <a16:creationId xmlns:a16="http://schemas.microsoft.com/office/drawing/2014/main" id="{8BC4460E-179B-4C58-875F-D9AD5447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09900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Target CRS</a:t>
            </a:r>
          </a:p>
        </p:txBody>
      </p:sp>
      <p:sp>
        <p:nvSpPr>
          <p:cNvPr id="35" name="part-body-3">
            <a:extLst xmlns:a="http://schemas.openxmlformats.org/drawingml/2006/main">
              <a:ext uri="{FF2B5EF4-FFF2-40B4-BE49-F238E27FC236}">
                <a16:creationId xmlns:a16="http://schemas.microsoft.com/office/drawing/2014/main" id="{732439ED-357B-4044-BC23-1A46B2AD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90138"/>
            <a:ext cx="200025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UTM zone 18N, meters - the correct choice for Syracuse, NY.</a:t>
            </a:r>
          </a:p>
        </p:txBody>
      </p:sp>
    </p:spTree>
    <p:extLst>
      <p:ext uri="{BB962C8B-B14F-4D97-AF65-F5344CB8AC3E}">
        <p14:creationId xmlns:p14="http://schemas.microsoft.com/office/powerpoint/2010/main" val="18031651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AFB93B87-5712-4ACF-BF3F-C49ECE5F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B0B6685-9E12-4F93-8230-3F21A1D1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3: check your spatial metric against ground truth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A42A2-939A-4123-8664-1FCA3A88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4F14B47-29B0-44CA-A199-9A723535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BD73592-960C-43E3-AD46-88E877D2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5DFF6B60-76AF-4B72-B0CC-510DE028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BF6EBFC4-2F45-436C-ACF4-DBF891C3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measured value with no known truth to compare against cannot be trusted blindly.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F612ED21-13E9-494C-93AD-CACC8A7C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98AF8911-D727-49FD-B3D8-CB91E7A4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0A325862-E335-476F-B1FE-9239A4DB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State the known ground truth (240 m2) before printing anything.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5CE365E3-11DD-4DDD-B2EA-98645D2E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95BBA62E-DF48-4DEF-9F17-576F8116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Run cell [5] and compare footprint_area_m2 to 240.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38952EC5-9C5A-4B2F-B9FC-A4ABDA01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C08B7A4C-33AF-414A-B762-A040A5BF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Compute the percent difference for both zones.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55831F25-C99B-4B9C-8AF3-E5370B61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EB7A4919-FA8D-4F07-9222-1A4DE58A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Write one sentence: is this distortion small enough to trust for this map?</a:t>
            </a:r>
          </a:p>
        </p:txBody>
      </p:sp>
    </p:spTree>
    <p:extLst>
      <p:ext uri="{BB962C8B-B14F-4D97-AF65-F5344CB8AC3E}">
        <p14:creationId xmlns:p14="http://schemas.microsoft.com/office/powerpoint/2010/main" val="46511884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F4E0B03B-D05E-4AD8-A7CE-E85045D9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567AB16-11C5-4055-93F2-2A923145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choropleth turns one attribute column into map color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3FCD3-1799-4692-9460-A0C59A0B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49EA04F-DE75-4FAE-9AD2-54DB19CF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EC1CBE2-5868-458D-9168-BA83E565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F9A65200-7170-435F-A31A-9147B2E3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1207E869-FDE4-4CA9-B545-12DAB617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choropleth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083E70-4510-428E-A463-DB1EAAC6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C8F2BC55-B33D-45EB-9E61-D7B418F1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choropleth map shades each polygon by the value of one attribute column - here, mean_energy_kwh_m2_yr. Color encodes a number; the polygon boundary stays the actual geography.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2CBA7BD8-5EBF-452B-991E-319511AE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2AE1C23E-03A3-459D-91A8-A83BD0A9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3038BE14-0DDC-4BE4-90B4-0993CE07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zones_utm.plot(column='mean_energy_kwh_m2_yr', ...)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E41B3A4C-CB73-4D0A-8B61-AEB5B1FD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51226"/>
            <a:ext cx="4381500" cy="2973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 projected CRS (so shapes are not distorted), a labeled color scale (legend), axis labels stating the CRS and units, and a title - the same fig/ax labeling discipline from Week 6, just applied to a map instead of a scatter plot.</a:t>
            </a:r>
          </a:p>
        </p:txBody>
      </p:sp>
    </p:spTree>
    <p:extLst>
      <p:ext uri="{BB962C8B-B14F-4D97-AF65-F5344CB8AC3E}">
        <p14:creationId xmlns:p14="http://schemas.microsoft.com/office/powerpoint/2010/main" val="1599050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52816FA7-CB64-46E0-B330-0F756382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B0306E6-0EE3-4BA2-80AD-B3686E2A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Color on a choropleth encodes the value, not the row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03873-14B8-45C0-A9EA-87FDF1BF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DF52444-77F9-400E-85C0-B2F504F5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E150EFE-7E62-48FB-80F9-157FC077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6768CBB5-EA0D-4785-AE5C-98920082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4E53E375-448A-4F7E-B23A-9474E760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zones_utm.plot(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column='mean_energy_kwh_m2_yr',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cmap='OrRd',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legend=True,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5F0B843D-C2CF-4C05-8418-95F8A653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Which zone renders visibly darker on the map?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6F542939-E598-41B2-AD9C-2097AC1A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7C2E0CE7-05A1-45C5-8F5A-F0AC1B33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2F4ED1D3-E509-4CC5-8E3C-7B20B25D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North - listed first in the table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8B20EAC0-836C-46C9-BA69-BA789D7F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85320A83-92DC-4F33-8B74-FCB645B6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750A5B2D-1A53-44D8-A144-6BFF442E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South - its mean energy is higher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951A01BB-1975-49E7-94A1-82EAD4A6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19358850-832E-4496-8909-C4DDD897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528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4FD18570-BDB9-4A39-96BA-82E4DF9D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Both identical - cmap normalizes them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92952BC9-7863-45EF-8AFF-68D44792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347F84A7-CB4A-4E95-ABF5-D7ACA433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624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4CFF1E71-00D2-4C46-B6C5-D1C74D22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Neither - plot() needs categories, not numbers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CCE0BA8B-7AF8-4E44-842F-AFAEFB1C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C8C4F80A-62FE-49E9-963F-13F1CC4B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B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6790BB26-C0DD-45FE-B076-B03D4D6A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column=... shades by that column's own value, numbers included. South nearly doubles North, so OrRd renders it visibly darker.</a:t>
            </a:r>
          </a:p>
        </p:txBody>
      </p:sp>
    </p:spTree>
    <p:extLst>
      <p:ext uri="{BB962C8B-B14F-4D97-AF65-F5344CB8AC3E}">
        <p14:creationId xmlns:p14="http://schemas.microsoft.com/office/powerpoint/2010/main" val="17676472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E5C4CA48-2860-4D42-97E8-9A0429CE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A13A1F8-B8F2-4640-B84D-00922269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[6] Build the static, labeled choropleth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E00FD-DA92-4FC3-8999-75BB06F7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E08A7AE-52F2-48A8-A13D-3DD7BE3A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6C9601B-F0F3-4C47-B413-E894624E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B896930D-07E2-4729-BFF2-0E3305A4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AA22DDC7-31BF-4759-A47E-F8BE133B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matplotlib.pyplot as plt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fig, ax = plt.subplots(figsize=(6, 5))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zones_utm.plot(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column='mean_energy_kwh_m2_yr', cmap='OrRd',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edgecolor='black', legend=True,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legend_kwds={'label':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'Mean energy use intensity (kWh/m2/yr)'},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ax=ax,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ax.set_title('Radley Hall (fictional): EUI by zone')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ax.set_xlabel('Easting (m, EPSG:32618)')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ax.set_ylabel('Northing (m, EPSG:32618)')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fig.savefig('radley_hall_energy_choropleth.png', dpi=150)</a:t>
            </a:r>
          </a:p>
        </p:txBody>
      </p:sp>
      <p:sp>
        <p:nvSpPr>
          <p:cNvPr id="8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E99A4512-A5B6-48EB-AC5C-2EC8E1F5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0980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line of GeoDataFrame plotting, fully labeled</a:t>
            </a:r>
          </a:p>
        </p:txBody>
      </p:sp>
      <p:sp>
        <p:nvSpPr>
          <p:cNvPr id="9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25D5C349-C316-4916-AD25-2874F9E5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5422"/>
            <a:ext cx="3695700" cy="2506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gdf.plot(column=...) is GeoPandas's one-line choropleth: it shades each polygon by that column's value using the cmap color scale. legend=True adds the color-scale key; legend_kwds gives that key its units label - without it the bar has no caption, and a scale with no units is not evidence. South renders visibly darker than North. This call produces a figure, not text, so inspect the saved PNG in Spyder's Plots pane.</a:t>
            </a:r>
          </a:p>
        </p:txBody>
      </p:sp>
    </p:spTree>
    <p:extLst>
      <p:ext uri="{BB962C8B-B14F-4D97-AF65-F5344CB8AC3E}">
        <p14:creationId xmlns:p14="http://schemas.microsoft.com/office/powerpoint/2010/main" val="10867057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0E5C0FAC-5175-4EDD-8D33-1E28C141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4BDDFD4-CAC7-48DB-A0F8-A5AA46A1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4: read the map you just made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D0085-1BA8-47FD-83B3-533C91F3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121C9C1-1349-40D9-BE28-7C2714CB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D2B11AA-E854-4FC9-A7CB-54FDD636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24DA796C-40F3-42F3-B421-3D29BDE7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887A4474-9448-4854-93A6-A9D4EEC7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map is only useful if you can say what it shows in one sentence.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C72AAA6A-2CAB-4FE0-9967-B58FEFF8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9B795230-05CB-471A-AC09-7B9DC672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E2B318EE-B4D8-46C7-9A2E-D248D449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 which zone is visibly darker and why.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8E7B4AB1-7126-4A5F-B9D5-3F4D144D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1C660CAE-F6A7-465B-96CE-3D0102A3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State the two numbers the color scale represents (min/max energy).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CB4DA0FD-9A8D-430D-908A-4537C7E8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5DDCA3A5-8C29-480D-88AA-38FD6DBD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Confirm axis labels state both units and CRS.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B5813855-5C6A-4BB1-95AF-085EC1D4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B6CD979F-0931-4211-830E-0D08EB03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Write the one-sentence design implication this map supports.</a:t>
            </a:r>
          </a:p>
        </p:txBody>
      </p:sp>
    </p:spTree>
    <p:extLst>
      <p:ext uri="{BB962C8B-B14F-4D97-AF65-F5344CB8AC3E}">
        <p14:creationId xmlns:p14="http://schemas.microsoft.com/office/powerpoint/2010/main" val="195387717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802759A1-F64E-4E00-AD99-B13F0B2D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VISUAL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BD38EAC-3463-4F8E-9645-AC800234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map this studio produces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5478C-DBD8-4C15-8284-1FBCEE1C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A89C36F-81A1-4F6E-8A06-882B08E0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04116E2-EBEC-4E61-9F84-9305E595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" name="figure-panel">
            <a:extLst xmlns:a="http://schemas.openxmlformats.org/drawingml/2006/main">
              <a:ext uri="{FF2B5EF4-FFF2-40B4-BE49-F238E27FC236}">
                <a16:creationId xmlns:a16="http://schemas.microsoft.com/office/drawing/2014/main" id="{2F1DA915-86CA-4713-A55C-84DA6D5F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3818382"/>
          </a:xfrm>
          <a:prstGeom xmlns:a="http://schemas.openxmlformats.org/drawingml/2006/main" prst="roundRect">
            <a:avLst>
              <a:gd name="adj" fmla="val 19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 descr="Choropleth of the two zone polygons shaded by mean energy use intensity, South visibly darker than North, with a labelled colour bar and axes in meters with the EPSG cod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ad39f6c98427f"/>
          <a:stretch xmlns:a="http://schemas.openxmlformats.org/drawingml/2006/main"/>
        </p:blipFill>
        <p:spPr>
          <a:xfrm xmlns:a="http://schemas.openxmlformats.org/drawingml/2006/main">
            <a:off x="1973755" y="1943100"/>
            <a:ext cx="4167790" cy="3551682"/>
          </a:xfrm>
          <a:prstGeom xmlns:a="http://schemas.openxmlformats.org/drawingml/2006/main" prst="rect">
            <a:avLst/>
          </a:prstGeom>
        </p:spPr>
      </p:pic>
      <p:sp>
        <p:nvSpPr>
          <p:cNvPr id="8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386CE4F0-2716-49C9-8909-92B45BA3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4332"/>
            <a:ext cx="6591300" cy="448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deliverable: shaded by mean_energy_kwh_m2_yr, axes in meters, CRS stated, colour bar labelled with its units.</a:t>
            </a:r>
          </a:p>
        </p:txBody>
      </p:sp>
      <p:sp>
        <p:nvSpPr>
          <p:cNvPr id="9" name="figure-explain-head">
            <a:extLst xmlns:a="http://schemas.openxmlformats.org/drawingml/2006/main">
              <a:ext uri="{FF2B5EF4-FFF2-40B4-BE49-F238E27FC236}">
                <a16:creationId xmlns:a16="http://schemas.microsoft.com/office/drawing/2014/main" id="{EBEF69BE-0841-4251-9F86-B65F90E1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479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Week 5's number, now in a place</a:t>
            </a:r>
          </a:p>
        </p:txBody>
      </p:sp>
      <p:sp>
        <p:nvSpPr>
          <p:cNvPr id="10" name="figure-explain-body">
            <a:extLst xmlns:a="http://schemas.openxmlformats.org/drawingml/2006/main">
              <a:ext uri="{FF2B5EF4-FFF2-40B4-BE49-F238E27FC236}">
                <a16:creationId xmlns:a16="http://schemas.microsoft.com/office/drawing/2014/main" id="{52F5B77E-2F1E-4CD5-9C40-40B652D9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3547"/>
            <a:ext cx="3695700" cy="184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South renders visibly darker than North. This is the same roughly 80% higher energy finding from Week 5's groupby - but a table cannot show that the difference has a location and an orientation. The labels are not decoration: a map without units and a stated CRS is not reproducible evidence.</a:t>
            </a:r>
          </a:p>
        </p:txBody>
      </p:sp>
    </p:spTree>
    <p:extLst>
      <p:ext uri="{BB962C8B-B14F-4D97-AF65-F5344CB8AC3E}">
        <p14:creationId xmlns:p14="http://schemas.microsoft.com/office/powerpoint/2010/main" val="185912454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A3EC551F-DE5A-4D8F-AC3B-F003C888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056F2D-9511-437B-A112-21DD1850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[6b] By floor, not just by zone: three in-code polygons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B38F6-996B-46E9-9693-0E74AF39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C2123EC-A285-4AAA-AE10-86F516F5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3162779-9D09-4B9E-9EAF-79F9156C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75417843-68C0-4BEA-BC07-C42D329C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5D314C12-8F05-4623-BBF9-53AB589C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from shapely.geometry import Polygon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rect(lon0, lat0, lon1, lat1):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Polygon([(lon0, lat0), (lon1, lat0), (lon1, lat1), (lon0, lat1)])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floors = gpd.GeoDataFrame(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{'floor': [1, 2, 3]},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geometry=[rect(-76.1361, 43.0392, -76.135805, 43.0392898),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rect(-76.1361, 43.039362, -76.135805, 43.039452),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rect(-76.1361, 43.039524, -76.135805, 43.039614)],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crs='EPSG:4326',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8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FBB9DDBE-B6E9-49C6-819F-20E0E471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241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 GeoDataFrame you build, not one you download</a:t>
            </a:r>
          </a:p>
        </p:txBody>
      </p:sp>
      <p:sp>
        <p:nvSpPr>
          <p:cNvPr id="9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E7BD1AD5-1F46-47AD-88E2-4299D803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09747"/>
            <a:ext cx="3695700" cy="162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rect() writes each floor's footprint as a shapely Polygon literal - the exact pattern CONTRACT.md recommends instead of a live download. All three are built the same size (24m x 10m) as zones_merged, using rooms' own "floor" column (1, 2, 3) as the new join key.</a:t>
            </a:r>
          </a:p>
        </p:txBody>
      </p:sp>
    </p:spTree>
    <p:extLst>
      <p:ext uri="{BB962C8B-B14F-4D97-AF65-F5344CB8AC3E}">
        <p14:creationId xmlns:p14="http://schemas.microsoft.com/office/powerpoint/2010/main" val="204563049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78B176E0-07C5-4066-B707-933732DD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2FFBA1D-8F81-4966-B35E-0A4A115A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...continued: groupby, reproject, merge, measure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77620-1EDE-4EE0-88FF-62259747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517323C-6BE5-483D-BB6D-BDA97F94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4FBB36C-4B44-45CF-8C69-D7F7018D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AD03E4E9-7F20-4FAD-8892-1AD54805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43A035B2-7E28-4D70-AC45-9E041AA2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619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floor_summary = rooms.groupby('floor', as_index=False).agg(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mean_energy=('energy_kwh_m2_yr', 'mean'))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floors_utm = floors.to_crs(32618)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floors_utm['footprint_area_m2'] = floors_utm.area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floors_merged = floors_utm.merge(floor_summary, on='floor')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47C2BB-2A76-46EB-80C4-78C47128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4306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C53570F5-12B6-48D9-B62E-8A39B003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606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11AD3F02-AE82-4354-B73A-FD69CD86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7206"/>
            <a:ext cx="6400800" cy="752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floor  footprint_area_m2  mean_energy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0      1              239.68        66.29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1      2              240.21        79.57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2      3              240.21       113.61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27F15398-F9CD-4F2C-B317-BBE03596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Group, reproject, measure, merge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27E675A8-7FAD-405E-BC98-33A1ECA6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71672"/>
            <a:ext cx="3695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Mean energy rises by floor. Each projected footprint is near the known 240 m² area; small differences are expected projection distortion and should be acknowledged, not hidden.</a:t>
            </a:r>
          </a:p>
        </p:txBody>
      </p:sp>
    </p:spTree>
    <p:extLst>
      <p:ext uri="{BB962C8B-B14F-4D97-AF65-F5344CB8AC3E}">
        <p14:creationId xmlns:p14="http://schemas.microsoft.com/office/powerpoint/2010/main" val="111211025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CEB77EC4-CA06-47C5-8977-2F64EE27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BFE1077-E989-4A28-A019-F110E1ED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mismatched join key fails silently, not with an error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23DBB-63FC-4CEB-86D1-126A9CC7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EBD452D-0982-4F87-9081-12FC0FDE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4FFB5DC-645B-4069-8A8B-DA8A033B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EAA73255-07BE-4815-AED9-7DA4B686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2F82178B-309C-4DEE-9D60-16FDFA07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left = pd.DataFrame({'zone': ['North', 'South']})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right = pd.DataFrame({'zone': ['north', 'south'], 'value': [1, 2]})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merged = left.merge(right, on='zone', how='left')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print(merged['value'])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B8E3F047-44F1-4D40-BAAB-DA492E54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does merged['value'] print?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15696E17-36CE-41BE-8D1F-4907E264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82DAD4BB-6CB8-44C3-92C3-88CE773E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457BF858-36AC-4A10-9209-C38758D5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1, 2 - the names matched anyway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AD5A946B-613E-4611-A0B2-F2DD7151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3EFA8229-22E1-4525-A261-BE7A71D3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91C8C461-D808-41FF-B20E-6A9EB654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NaN, NaN - nothing matched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E2863A00-960A-4906-91E3-F643F6CB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14B0B85E-EACC-4714-9D55-60C5C213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528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81CC818D-C9CC-4E22-B20F-2B7E96FB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KeyError - mismatched keys crash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03DD875B-3FDE-4AC4-BD19-0DD429AB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64979C15-19AF-488B-BE15-28899529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624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AEBB17AE-71E6-40E0-BE6B-2C4978A6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 rows - unmatched keys get dropped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113883C6-8E6E-43ED-B0FD-6C47F18C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3DFEF454-7554-4289-9250-38566EB5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B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68FCF5E9-8838-4136-BDAB-9940DE57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merge() compares strings exactly: North != north, so nothing matches. how=left keeps both rows anyway, just NaN - not an error.</a:t>
            </a:r>
          </a:p>
        </p:txBody>
      </p:sp>
    </p:spTree>
    <p:extLst>
      <p:ext uri="{BB962C8B-B14F-4D97-AF65-F5344CB8AC3E}">
        <p14:creationId xmlns:p14="http://schemas.microsoft.com/office/powerpoint/2010/main" val="139556321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B426EB62-9424-44FA-A015-82309F17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EDD0F73-4F12-4F04-B98B-5A7901CA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[7] AI-audit: two bugs, one merged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31321-3A8D-4F19-A010-4F21692E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EA39930-9494-442C-9074-B1A837BB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668A642-449E-4697-850C-4793E24A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5FBB5D8F-FEBE-45E6-9198-2EC45C29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F3C69161-5F3D-4E2B-A3B7-B5747EAB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ai_zone_area_report(rooms_df, zones_gdf):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zone_summary = rooms_df.groupby('zone').agg(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mean_energy_kwh_m2_yr=('energy_kwh_m2_yr', 'mean')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).reset_index()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z = zone_summary['zone']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zone_summary['zone'] = z.str.lower()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merged = zones_gdf.merge(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zone_summary, on='zone', how='left')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merged['area_m2'] = merged.geometry.area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cols = ['zone', 'area_m2', 'mean_energy_kwh_m2_yr']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merged[cols]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print(ai_zone_area_report(rooms, zones))</a:t>
            </a:r>
          </a:p>
        </p:txBody>
      </p:sp>
      <p:sp>
        <p:nvSpPr>
          <p:cNvPr id="8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98743AF5-9459-4AFC-9DD4-68E73ED2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Read it before the output loads</a:t>
            </a:r>
          </a:p>
        </p:txBody>
      </p:sp>
      <p:sp>
        <p:nvSpPr>
          <p:cNvPr id="9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CA0A5B96-EE27-4F31-BEE8-102049F0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71672"/>
            <a:ext cx="3695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This function claims to reproduce the zone report from cells [1] and [5]. Read it line by line - two of these lines look correct but are not - before the next slide reveals what it actually printed.</a:t>
            </a:r>
          </a:p>
        </p:txBody>
      </p:sp>
    </p:spTree>
    <p:extLst>
      <p:ext uri="{BB962C8B-B14F-4D97-AF65-F5344CB8AC3E}">
        <p14:creationId xmlns:p14="http://schemas.microsoft.com/office/powerpoint/2010/main" val="47451829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A8928C8F-8E45-45DF-BA97-40C43190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57E2B1E-A3C3-4AB8-A9B4-6994D833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[7] AI-audit, continued: what it actually printed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C8943-D637-4B02-86DE-195163C4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181EA27-C9FF-4BB8-96D8-B88ECB90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D0F6519-AC6A-40F1-A543-6E16DC9D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417E4997-E813-4329-BE76-F6B6D651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00C6E53C-9784-4159-8AD8-0AD36F4F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79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print(ai_zone_area_report(rooms, zones))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000F7-083A-42B2-BF99-9CE5722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8042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35AFC900-C111-4710-B174-9F1CFFF9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2342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9F5460DF-3D9C-467E-8E86-EDD5FD99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0942"/>
            <a:ext cx="6400800" cy="578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zone       area_m2  mean_energy_kwh_m2_yr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0  North  2.649809e-08                    NaN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1  South  2.649809e-08                    NaN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51FB56F6-A2ED-4F55-A7A6-04512C38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717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Two silent bugs, one broken table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7FD81C41-BC74-4045-96AD-992F510E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57347"/>
            <a:ext cx="3695700" cy="2065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Bug 1: .str.lower() makes the join key 'north'/'south', but zones_gdf still has 'North'/'South' - merge silently finds no matches, so mean_energy_kwh_m2_yr is NaN for every row. Bug 2: .geometry.area runs before any reprojection, so the column named area_m2 actually holds meaningless square-degree values. Neither line raises an error - both fail silently.</a:t>
            </a:r>
          </a:p>
        </p:txBody>
      </p:sp>
    </p:spTree>
    <p:extLst>
      <p:ext uri="{BB962C8B-B14F-4D97-AF65-F5344CB8AC3E}">
        <p14:creationId xmlns:p14="http://schemas.microsoft.com/office/powerpoint/2010/main" val="8662158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19779E7D-BD26-493F-A606-DD035AC7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40CCCAA-F719-4138-A8C2-9EA7C1E1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5: diagnose and repair the AI-generated function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26966-5C4E-43B4-A9EC-AAD65025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AC6201B-A8FA-465E-8A59-B404B409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8884901-75BB-4286-9A36-318CDE9E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40EB773F-864D-481C-9A58-62B07E11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F36ADEA7-19A4-4C85-B599-820529F3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Both bugs above run without any error message.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5E350D52-63BF-42CE-9A73-41EB9926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18428AA6-EDC5-454A-9973-80D6D123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5DD9EDD3-108A-4835-9D64-64647DF6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 the merge-key defect and where it was introduced.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1C3C693E-1428-4AF0-8C3F-5A2E0EE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7A815D35-E4E0-4D1C-88C1-77C9635C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 the CRS defect and where it was introduced.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13277184-322D-474F-B58C-83D2841B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8B68918F-D2BF-4719-8669-ACF9507A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Rewrite the function fixing both.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6D84606F-E9A1-4B65-8143-5D496DF8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75894DC8-A6C6-43A5-B61C-D7D0A499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Confirm your fixed version reproduces 239.74 m2 and the correct energy values.</a:t>
            </a:r>
          </a:p>
        </p:txBody>
      </p:sp>
    </p:spTree>
    <p:extLst>
      <p:ext uri="{BB962C8B-B14F-4D97-AF65-F5344CB8AC3E}">
        <p14:creationId xmlns:p14="http://schemas.microsoft.com/office/powerpoint/2010/main" val="70937712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kicker">
            <a:extLst xmlns:a="http://schemas.openxmlformats.org/drawingml/2006/main">
              <a:ext uri="{FF2B5EF4-FFF2-40B4-BE49-F238E27FC236}">
                <a16:creationId xmlns:a16="http://schemas.microsoft.com/office/drawing/2014/main" id="{1F619D31-3608-4B21-AC13-4713A802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RECAP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0D21E27-ECEE-46A4-9E4B-A31C706B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Every reprojected number from today, checked against ground truth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F6845-325E-43CD-A080-7199466A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2423624-FD84-47BC-8822-15C09621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6A979F7-58B8-452D-A915-367793BD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0E9E4-B412-4B24-A286-318D8B33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246128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23E2716C-B2C9-47EB-905A-82A035F8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2017528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90881-583E-41B9-B6B0-6A8461D5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5728" y="2905125"/>
            <a:ext cx="1727791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D5937749-1480-49C0-BA6F-4E0306DD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028" y="2981325"/>
            <a:ext cx="1499191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 reprojecting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0E7BD-F1BA-4659-94CD-A90D6ED4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3519" y="2905125"/>
            <a:ext cx="1727791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AC56F495-44C2-416F-A353-6AEC0D92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7819" y="2981325"/>
            <a:ext cx="1499191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after reprojecting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607DE4-5DB3-4400-9AE7-CE51A7BB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309" y="2905125"/>
            <a:ext cx="1727791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header-3">
            <a:extLst xmlns:a="http://schemas.openxmlformats.org/drawingml/2006/main">
              <a:ext uri="{FF2B5EF4-FFF2-40B4-BE49-F238E27FC236}">
                <a16:creationId xmlns:a16="http://schemas.microsoft.com/office/drawing/2014/main" id="{0A5BC6CC-B12F-485D-BABB-488CB0AD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609" y="2981325"/>
            <a:ext cx="1499191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known truth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42065-8B6F-437E-9ED6-18F97C4E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6145"/>
            <a:ext cx="224612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0">
            <a:extLst xmlns:a="http://schemas.openxmlformats.org/drawingml/2006/main">
              <a:ext uri="{FF2B5EF4-FFF2-40B4-BE49-F238E27FC236}">
                <a16:creationId xmlns:a16="http://schemas.microsoft.com/office/drawing/2014/main" id="{67B89526-C405-4B9A-8096-D666FA3B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2345"/>
            <a:ext cx="201752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North zone area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A37E9E-0713-4136-BECA-F73568B9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5728" y="3446145"/>
            <a:ext cx="1727791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1">
            <a:extLst xmlns:a="http://schemas.openxmlformats.org/drawingml/2006/main">
              <a:ext uri="{FF2B5EF4-FFF2-40B4-BE49-F238E27FC236}">
                <a16:creationId xmlns:a16="http://schemas.microsoft.com/office/drawing/2014/main" id="{56DEB516-29F3-4D15-8540-8C33F1AB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028" y="3522345"/>
            <a:ext cx="149919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2.65e-08 (deg2)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2B1319-3696-474B-A0D6-5E4ABF32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3519" y="3446145"/>
            <a:ext cx="1727791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0-2">
            <a:extLst xmlns:a="http://schemas.openxmlformats.org/drawingml/2006/main">
              <a:ext uri="{FF2B5EF4-FFF2-40B4-BE49-F238E27FC236}">
                <a16:creationId xmlns:a16="http://schemas.microsoft.com/office/drawing/2014/main" id="{6930F01D-04F3-43AB-91D5-6B1017CF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7819" y="3522345"/>
            <a:ext cx="149919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239.74 m2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A66EC0-700F-4B14-8A6C-4F5452C9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309" y="3446145"/>
            <a:ext cx="1727791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0-3">
            <a:extLst xmlns:a="http://schemas.openxmlformats.org/drawingml/2006/main">
              <a:ext uri="{FF2B5EF4-FFF2-40B4-BE49-F238E27FC236}">
                <a16:creationId xmlns:a16="http://schemas.microsoft.com/office/drawing/2014/main" id="{2AC703A3-9E69-4C27-9014-54AAA8AD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609" y="3522345"/>
            <a:ext cx="149919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240.00 m2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016B75-CF93-45BD-94EC-10964083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9545"/>
            <a:ext cx="224612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0">
            <a:extLst xmlns:a="http://schemas.openxmlformats.org/drawingml/2006/main">
              <a:ext uri="{FF2B5EF4-FFF2-40B4-BE49-F238E27FC236}">
                <a16:creationId xmlns:a16="http://schemas.microsoft.com/office/drawing/2014/main" id="{A216B05B-45EB-47B8-90AC-8D82413A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5745"/>
            <a:ext cx="201752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North zone perimeter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EEC208-845B-4DAE-B87D-4B5C9ECB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5728" y="3979545"/>
            <a:ext cx="1727791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1-1">
            <a:extLst xmlns:a="http://schemas.openxmlformats.org/drawingml/2006/main">
              <a:ext uri="{FF2B5EF4-FFF2-40B4-BE49-F238E27FC236}">
                <a16:creationId xmlns:a16="http://schemas.microsoft.com/office/drawing/2014/main" id="{C9E4879C-3D1D-4EB6-B109-FB58C262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028" y="4055745"/>
            <a:ext cx="149919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7.70e-04 (deg)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47325B-600C-4EF0-8334-5E3E3A57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3519" y="3979545"/>
            <a:ext cx="1727791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1-2">
            <a:extLst xmlns:a="http://schemas.openxmlformats.org/drawingml/2006/main">
              <a:ext uri="{FF2B5EF4-FFF2-40B4-BE49-F238E27FC236}">
                <a16:creationId xmlns:a16="http://schemas.microsoft.com/office/drawing/2014/main" id="{F59F45EA-B35B-4777-AFEC-65E590F0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7819" y="4055745"/>
            <a:ext cx="149919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68.01 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1F1C2C-FE69-4E5E-AC1C-F1DE7B3C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309" y="3979545"/>
            <a:ext cx="1727791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1-3">
            <a:extLst xmlns:a="http://schemas.openxmlformats.org/drawingml/2006/main">
              <a:ext uri="{FF2B5EF4-FFF2-40B4-BE49-F238E27FC236}">
                <a16:creationId xmlns:a16="http://schemas.microsoft.com/office/drawing/2014/main" id="{38BAC4BC-B090-4A1A-9339-49746A40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609" y="4055745"/>
            <a:ext cx="149919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68.00 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1E3E61-2ED4-4E47-A5C4-0A93B75B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2945"/>
            <a:ext cx="224612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2-0">
            <a:extLst xmlns:a="http://schemas.openxmlformats.org/drawingml/2006/main">
              <a:ext uri="{FF2B5EF4-FFF2-40B4-BE49-F238E27FC236}">
                <a16:creationId xmlns:a16="http://schemas.microsoft.com/office/drawing/2014/main" id="{593FC41E-D398-4809-877C-D0F62AE9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9145"/>
            <a:ext cx="201752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R102-R103 distance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2DA74C-DD8E-412A-8BD4-BD702BBB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5728" y="4512945"/>
            <a:ext cx="1727791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2-1">
            <a:extLst xmlns:a="http://schemas.openxmlformats.org/drawingml/2006/main">
              <a:ext uri="{FF2B5EF4-FFF2-40B4-BE49-F238E27FC236}">
                <a16:creationId xmlns:a16="http://schemas.microsoft.com/office/drawing/2014/main" id="{A4046DD1-0330-4143-95DA-97C0894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028" y="4589145"/>
            <a:ext cx="149919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0.000098 (deg)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72DDE9-77EB-44DE-9457-DDE4EDCE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3519" y="4512945"/>
            <a:ext cx="1727791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2-2">
            <a:extLst xmlns:a="http://schemas.openxmlformats.org/drawingml/2006/main">
              <a:ext uri="{FF2B5EF4-FFF2-40B4-BE49-F238E27FC236}">
                <a16:creationId xmlns:a16="http://schemas.microsoft.com/office/drawing/2014/main" id="{531249E3-46A0-4C62-BAA0-D6802DDE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7819" y="4589145"/>
            <a:ext cx="149919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8.010 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D059CD-6DD6-4A96-AEC0-03EA7D90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309" y="4512945"/>
            <a:ext cx="1727791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7" name="cell-2-3">
            <a:extLst xmlns:a="http://schemas.openxmlformats.org/drawingml/2006/main">
              <a:ext uri="{FF2B5EF4-FFF2-40B4-BE49-F238E27FC236}">
                <a16:creationId xmlns:a16="http://schemas.microsoft.com/office/drawing/2014/main" id="{9B856035-96D6-4FE9-BA6D-EBB941A1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609" y="4589145"/>
            <a:ext cx="149919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8.000 m</a:t>
            </a:r>
          </a:p>
        </p:txBody>
      </p:sp>
      <p:sp>
        <p:nvSpPr>
          <p:cNvPr id="38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E2056813-765D-4244-B472-0FF12586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39" name="callout">
            <a:extLst xmlns:a="http://schemas.openxmlformats.org/drawingml/2006/main">
              <a:ext uri="{FF2B5EF4-FFF2-40B4-BE49-F238E27FC236}">
                <a16:creationId xmlns:a16="http://schemas.microsoft.com/office/drawing/2014/main" id="{AC61CB68-75ED-4FAB-A888-1D2E768A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rule, three quantities: a geographic-CRS number is real math applied to the wrong unit; the projected column always lands within a fraction of a percent of a known truth.</a:t>
            </a:r>
          </a:p>
        </p:txBody>
      </p:sp>
    </p:spTree>
    <p:extLst>
      <p:ext uri="{BB962C8B-B14F-4D97-AF65-F5344CB8AC3E}">
        <p14:creationId xmlns:p14="http://schemas.microsoft.com/office/powerpoint/2010/main" val="10935867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B2C3307F-B136-467D-AEC4-7FABA89B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REQUIRED SELF-CHECK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217F3E1-6178-4EB4-B6A2-E3EDD136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lightweight transfer safeguard, applied to a new metric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288D6-7C70-4E06-90EE-763E003C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1E766A9-4F30-4D84-BFB8-4F4A8D79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9D73BB0-FA84-4FDD-810E-371A7C89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C581D061-5BDF-4C1A-9138-9781FA4A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changes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DC2F2441-8C68-400A-8101-803B9BD6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221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Same pipeline, a different spatial metric: perimeter length (zones_utm.geometry.length) instead of area, plus a second, previously-unused 8.0 m room pair (R102-R103) instead of R101-R102.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1F940366-B4E0-4262-946D-AD00C137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146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Why it counts as transfer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320F2016-97F9-40F7-AB21-D6E67140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2211"/>
            <a:ext cx="5219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Length needs the same projected CRS as area - proving you understand the general rule, not just one memorized example. You write the assert statements yourself, against your own predicted values.</a:t>
            </a:r>
          </a:p>
        </p:txBody>
      </p:sp>
    </p:spTree>
    <p:extLst>
      <p:ext uri="{BB962C8B-B14F-4D97-AF65-F5344CB8AC3E}">
        <p14:creationId xmlns:p14="http://schemas.microsoft.com/office/powerpoint/2010/main" val="24635885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C38C4A2B-626C-4A0D-A8A2-E09B3B13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39D2D98-A955-4B46-9904-FA31989B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[8] Self-check: perimeter, then prepare a second pair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4367E-441F-4B7D-8A26-0E5C06AC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5A2C8CA-8FA7-4664-AFDE-DB922624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EAD3DDA-AC50-4005-B525-00DF23C0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DD7EDE89-29AB-4B13-ABA1-0FDD6B74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D5E37EB7-390E-4112-8161-9873E4D5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79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zones_utm['perimeter_m'] = zones_utm.length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print(zones_utm[['zone', 'perimeter_m']])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coords = [(-76.134977, 43.039407),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(-76.134879, 43.039407)]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pair = gpd.GeoDataFrame(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{'room_id': ['R102', 'R103']},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geometry=[Point(xy) for xy in coords], crs=4326)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81024-E06B-40A7-8391-F9EF8308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8042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7C72BCDA-73D1-44CA-AE65-AB2CABEC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2342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2F3EEE0A-6B15-498A-95B6-66FCCCE6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0942"/>
            <a:ext cx="6400800" cy="578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zone  perimeter_m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0  North    68.013880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1  South    68.014005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53936C68-686E-449B-970C-5A92FACA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622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discipline, a new metric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524263FB-37E7-4A39-B0C5-22623B12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47872"/>
            <a:ext cx="369570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known 24 m × 10 m rectangle has a 68 m perimeter. The projected result (68.01 m) is close, not magically exact. The next slide measures the point pair.</a:t>
            </a:r>
          </a:p>
        </p:txBody>
      </p:sp>
    </p:spTree>
    <p:extLst>
      <p:ext uri="{BB962C8B-B14F-4D97-AF65-F5344CB8AC3E}">
        <p14:creationId xmlns:p14="http://schemas.microsoft.com/office/powerpoint/2010/main" val="37599289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A48F9EE7-A545-46DF-A620-AF68423F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D81D229-1407-4463-B079-92B91F5D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[8] continued: measure the second pair in both CRSs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9FC8B-A189-4582-9A3F-4A7C0FE6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A23D434-9620-49F3-94B2-0BE3F8E0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71E032B-30FB-4ECF-B158-32293D87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93DF9EAF-1488-494A-9C80-5A5AC5CA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EC227179-9E78-42CD-8753-9010B57A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967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d_deg = pair.geometry.iloc[0].distance(pair.geometry.iloc[1])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pair_utm = pair.to_crs('EPSG:32618')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pts_utm = pair_utm.geometry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d_m = pts_utm.iloc[0].distance(pts_utm.iloc[1])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print(f'R102-R103 in EPSG:4326 (degrees): {d_deg:.6f}')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print(f'R102-R103 in EPSG:32618 (meters): {d_m:.3f}')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2D5ED-DF6D-4651-B69C-012B3AA1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1778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FF229517-EA77-4BB7-876D-24A5B4E8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6078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311D1FB2-24EF-4655-8AD9-7A7E2172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4678"/>
            <a:ext cx="6400800" cy="404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R102-R103 in EPSG:4326 (degrees): 0.000098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R102-R103 in EPSG:32618 (meters): 8.010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FEBFA780-C898-4844-BAA1-2E92F6A5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 previously-unused pair, same pattern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1151E0F1-4FF8-4B2B-925B-194CCBB6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71672"/>
            <a:ext cx="3695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R102-R103, a different 8.0 m pair than Meeting A's demo, reproduces the identical 0.000098-degrees / 8.010-meters pattern - proof the rule generalizes, not a coincidence of one pair of rooms.</a:t>
            </a:r>
          </a:p>
        </p:txBody>
      </p:sp>
    </p:spTree>
    <p:extLst>
      <p:ext uri="{BB962C8B-B14F-4D97-AF65-F5344CB8AC3E}">
        <p14:creationId xmlns:p14="http://schemas.microsoft.com/office/powerpoint/2010/main" val="206515424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40DE7F98-7241-459F-A641-D582D0E6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9161F8D-E69B-4111-81B8-1379A2AF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6: write your own boundary assertions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D21AC-C864-45D6-9AEB-EC6E791E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08CC1B4-391B-4B2E-B0C4-637D48C5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E65E6C3-D73C-4992-8193-BFA0C752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3BFDDDFC-DB98-4BCF-A00D-EB6FF249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25D7EEBB-0311-4A5A-B78F-66AE1C1D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Turn the two checks above into 2-4 self-written assert statements.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5E074C02-5A7A-426A-B0BE-613BF3D6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03142D14-F1B0-4C81-ABE5-BD5DA055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03C2A33E-2C5E-49A2-A283-20C42629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Assert both zones' perimeter_m is within 0.1 m of the known 68.0 m.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F41DC66E-C922-4580-8127-DEA5E7AE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77C72D35-08FA-4B19-95D9-E9C77BD1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Assert d_m is within 0.1 m of the known 8.0 m.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EA8D2C1D-F7A2-4786-8DCA-9DA378E8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7CEDEEC8-6E96-43AA-93B4-20276B1D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Assert d_deg is much smaller than 0.001 (still meaningless as meters).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5CAFFFB9-D8C3-43BF-B185-6E804B3B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8DA9A05E-21EF-49BF-9029-8526B622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Run from a restarted kernel and confirm silent success.</a:t>
            </a:r>
          </a:p>
        </p:txBody>
      </p:sp>
    </p:spTree>
    <p:extLst>
      <p:ext uri="{BB962C8B-B14F-4D97-AF65-F5344CB8AC3E}">
        <p14:creationId xmlns:p14="http://schemas.microsoft.com/office/powerpoint/2010/main" val="184859341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5AEFBEFB-D5EB-460E-B189-3BF07208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93A1426-0565-4F4F-90ED-89DB18C2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Submit a reproducible Project 1 spatial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6A928-2360-4C57-A003-5D1534A0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0FF90E0-37F7-46E8-9565-6710974D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7 · Meeting B · Spatial Join and Choropleth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7875FEA-ED78-414A-BA25-88F6679A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B7033987-0791-4286-BF39-1994B699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AD003943-BD2A-4D74-A4A7-9AD93CC8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DEDFA89D-5457-498B-AE23-746E003F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66BEDC98-4585-4E39-9351-369248D5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2F9C8EF7-A6D2-400C-B2D3-02B97BD1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4BA7D452-888E-4350-9F80-71784B0B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SCRIPT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9336C7-BED1-4DD1-A46D-0CF114BA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76DA00E0-6582-4880-9D83-F26CB782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reproducible .py file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FB2F9496-A5C4-4213-A9FE-3D00FECD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Runs top to bottom from a restarted kernel with no manual steps.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6B2A92B3-10A7-484F-B1F3-B2F6ED8A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ECCBDF64-2960-4E18-BA3C-4B80624A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A73D3D35-9121-4A6A-AD93-B9222B58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205F2C-A9F6-4273-B09E-F3EA1D83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2D04ACD6-B56A-410E-BA74-BA07B706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static choropleth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B4EB5433-CB44-41E6-918D-08EB1D80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Labeled title, axes with units/CRS, and a legend - exported as an image file.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7EDA4E02-F5E3-42CC-B30C-D70A1571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3B3C0641-05B1-4E85-A58F-B38F8804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3F6023EA-AE9B-464B-B9DE-EA738327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NOTE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0F6C57-44CB-4D1A-BE81-2D643445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69298AD7-AD06-4FB8-AF9B-0BD499F4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CRS-choice justification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D77FD44E-9360-46C2-A6D9-B61BA77E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EPSG code stated and justified in one written sentence.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49BD8722-51F6-4FF2-AFD7-7CDC4E2E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E503D949-10AB-4403-A74A-364B5A23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635C3259-9E4C-48FA-B4C5-18C18282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CHECKS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B9A089-B456-4E7A-A072-240121DF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C3F33613-A400-434E-9423-FB807712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Self-written asserts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CE714E73-0341-4B9F-A76E-8E611B00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2-4 assertions on the perimeter/second-pair transfer check, all passing.</a:t>
            </a:r>
          </a:p>
        </p:txBody>
      </p:sp>
    </p:spTree>
    <p:extLst>
      <p:ext uri="{BB962C8B-B14F-4D97-AF65-F5344CB8AC3E}">
        <p14:creationId xmlns:p14="http://schemas.microsoft.com/office/powerpoint/2010/main" val="183856638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week">
            <a:extLst xmlns:a="http://schemas.openxmlformats.org/drawingml/2006/main">
              <a:ext uri="{FF2B5EF4-FFF2-40B4-BE49-F238E27FC236}">
                <a16:creationId xmlns:a16="http://schemas.microsoft.com/office/drawing/2014/main" id="{DBDDBBCC-3C51-46A7-95CF-06DB3EB9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WEEK 7 · MEETING B · SPATIAL JOIN AND CHOROPLETH STUDIO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D968B589-A7CE-4EF2-8505-C3702159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merge, one reprojection, one honest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C950A-8DBB-4AEB-9C5F-D0DD963A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4" name="take-no-0">
            <a:extLst xmlns:a="http://schemas.openxmlformats.org/drawingml/2006/main">
              <a:ext uri="{FF2B5EF4-FFF2-40B4-BE49-F238E27FC236}">
                <a16:creationId xmlns:a16="http://schemas.microsoft.com/office/drawing/2014/main" id="{8B5DD524-04AD-44C2-8E05-9BD2E63F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ake-0">
            <a:extLst xmlns:a="http://schemas.openxmlformats.org/drawingml/2006/main">
              <a:ext uri="{FF2B5EF4-FFF2-40B4-BE49-F238E27FC236}">
                <a16:creationId xmlns:a16="http://schemas.microsoft.com/office/drawing/2014/main" id="{CB8065EC-9471-4255-8AF4-C21583CD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05100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Attribute data merges onto geometry exactly like any other pandas merge - by a shared key.</a:t>
            </a:r>
          </a:p>
        </p:txBody>
      </p:sp>
      <p:sp>
        <p:nvSpPr>
          <p:cNvPr id="6" name="take-no-1">
            <a:extLst xmlns:a="http://schemas.openxmlformats.org/drawingml/2006/main">
              <a:ext uri="{FF2B5EF4-FFF2-40B4-BE49-F238E27FC236}">
                <a16:creationId xmlns:a16="http://schemas.microsoft.com/office/drawing/2014/main" id="{8658C032-DE2E-4775-A641-25647D83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8822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ake-1">
            <a:extLst xmlns:a="http://schemas.openxmlformats.org/drawingml/2006/main">
              <a:ext uri="{FF2B5EF4-FFF2-40B4-BE49-F238E27FC236}">
                <a16:creationId xmlns:a16="http://schemas.microsoft.com/office/drawing/2014/main" id="{0FCBC1B0-9C79-46CF-A027-365D1F3E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90722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Always reproject to a justified projected CRS before computing area, length, or any distance.</a:t>
            </a:r>
          </a:p>
        </p:txBody>
      </p:sp>
      <p:sp>
        <p:nvSpPr>
          <p:cNvPr id="8" name="take-no-2">
            <a:extLst xmlns:a="http://schemas.openxmlformats.org/drawingml/2006/main">
              <a:ext uri="{FF2B5EF4-FFF2-40B4-BE49-F238E27FC236}">
                <a16:creationId xmlns:a16="http://schemas.microsoft.com/office/drawing/2014/main" id="{08C92AF4-D6AA-48B2-B953-DE33E35B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444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take-2">
            <a:extLst xmlns:a="http://schemas.openxmlformats.org/drawingml/2006/main">
              <a:ext uri="{FF2B5EF4-FFF2-40B4-BE49-F238E27FC236}">
                <a16:creationId xmlns:a16="http://schemas.microsoft.com/office/drawing/2014/main" id="{26ECEFDE-40D2-468F-A7AA-78300DB2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76344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239.74 m2 against a known 240 m2, and 68.01 m against a known 68 m, are both small, honest projection distortion - not errors.</a:t>
            </a:r>
          </a:p>
        </p:txBody>
      </p:sp>
      <p:sp>
        <p:nvSpPr>
          <p:cNvPr id="10" name="take-no-3">
            <a:extLst xmlns:a="http://schemas.openxmlformats.org/drawingml/2006/main">
              <a:ext uri="{FF2B5EF4-FFF2-40B4-BE49-F238E27FC236}">
                <a16:creationId xmlns:a16="http://schemas.microsoft.com/office/drawing/2014/main" id="{14151389-7125-4049-A6B1-A1652855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0066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take-3">
            <a:extLst xmlns:a="http://schemas.openxmlformats.org/drawingml/2006/main">
              <a:ext uri="{FF2B5EF4-FFF2-40B4-BE49-F238E27FC236}">
                <a16:creationId xmlns:a16="http://schemas.microsoft.com/office/drawing/2014/main" id="{768BC937-E0DB-468C-B0CC-AA2E3ECC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61966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choropleth is a labeled Matplotlib figure like any other - color just encodes one more attribute.</a:t>
            </a:r>
          </a:p>
        </p:txBody>
      </p:sp>
    </p:spTree>
    <p:extLst>
      <p:ext uri="{BB962C8B-B14F-4D97-AF65-F5344CB8AC3E}">
        <p14:creationId xmlns:p14="http://schemas.microsoft.com/office/powerpoint/2010/main" val="13837943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2026-08-20T17:42:00.3380000Z</dcterms:created>
  <dcterms:modified xsi:type="dcterms:W3CDTF">2026-08-20T17:42:00.3390000Z</dcterms:modified>
</coreProperties>
</file>