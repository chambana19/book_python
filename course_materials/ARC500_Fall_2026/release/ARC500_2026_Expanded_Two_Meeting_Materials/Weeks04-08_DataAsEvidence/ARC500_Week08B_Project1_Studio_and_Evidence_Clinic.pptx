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ea994affc0496f" /><Relationship Type="http://schemas.openxmlformats.org/officeDocument/2006/relationships/extended-properties" Target="/docProps/app.xml" Id="Rc44f707f28be4a03" /><Relationship Type="http://schemas.openxmlformats.org/officeDocument/2006/relationships/officeDocument" Target="/ppt/presentation.xml" Id="R84c0ed05742d4e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a20aca703b463c"/>
  </p:sldMasterIdLst>
  <p:notesMasterIdLst>
    <p:notesMasterId xmlns:r="http://schemas.openxmlformats.org/officeDocument/2006/relationships" r:id="Rfdebd06e238c400d"/>
  </p:notesMasterIdLst>
  <p:sldIdLst>
    <p:sldId xmlns:r="http://schemas.openxmlformats.org/officeDocument/2006/relationships" id="256" r:id="Rd6c048e27fea4377"/>
    <p:sldId xmlns:r="http://schemas.openxmlformats.org/officeDocument/2006/relationships" id="257" r:id="Re2f0e13bbe484e37"/>
    <p:sldId xmlns:r="http://schemas.openxmlformats.org/officeDocument/2006/relationships" id="258" r:id="Rffe3320ddccd4aa2"/>
    <p:sldId xmlns:r="http://schemas.openxmlformats.org/officeDocument/2006/relationships" id="259" r:id="R012392d8c664410f"/>
    <p:sldId xmlns:r="http://schemas.openxmlformats.org/officeDocument/2006/relationships" id="260" r:id="Rd3ea428772394582"/>
    <p:sldId xmlns:r="http://schemas.openxmlformats.org/officeDocument/2006/relationships" id="261" r:id="R6155aef53c1e42f4"/>
    <p:sldId xmlns:r="http://schemas.openxmlformats.org/officeDocument/2006/relationships" id="262" r:id="R19bfbd54f8524d6c"/>
    <p:sldId xmlns:r="http://schemas.openxmlformats.org/officeDocument/2006/relationships" id="263" r:id="R6a374144ccec454a"/>
    <p:sldId xmlns:r="http://schemas.openxmlformats.org/officeDocument/2006/relationships" id="264" r:id="R70fd6e78e8bf402d"/>
    <p:sldId xmlns:r="http://schemas.openxmlformats.org/officeDocument/2006/relationships" id="265" r:id="R55e74f17cbd8445e"/>
    <p:sldId xmlns:r="http://schemas.openxmlformats.org/officeDocument/2006/relationships" id="266" r:id="R3cc1986852224ffc"/>
    <p:sldId xmlns:r="http://schemas.openxmlformats.org/officeDocument/2006/relationships" id="267" r:id="R76bad071d87a4d87"/>
    <p:sldId xmlns:r="http://schemas.openxmlformats.org/officeDocument/2006/relationships" id="268" r:id="Ra58bf68ef8b84cbe"/>
    <p:sldId xmlns:r="http://schemas.openxmlformats.org/officeDocument/2006/relationships" id="269" r:id="Rab9d3df742154c5b"/>
    <p:sldId xmlns:r="http://schemas.openxmlformats.org/officeDocument/2006/relationships" id="270" r:id="R87c1a126af864141"/>
    <p:sldId xmlns:r="http://schemas.openxmlformats.org/officeDocument/2006/relationships" id="271" r:id="Rb8d5016eaf684c76"/>
    <p:sldId xmlns:r="http://schemas.openxmlformats.org/officeDocument/2006/relationships" id="272" r:id="R6c93308ad4fa4550"/>
    <p:sldId xmlns:r="http://schemas.openxmlformats.org/officeDocument/2006/relationships" id="273" r:id="R7c737fc25dad4591"/>
    <p:sldId xmlns:r="http://schemas.openxmlformats.org/officeDocument/2006/relationships" id="274" r:id="R18acb9e124e6421e"/>
    <p:sldId xmlns:r="http://schemas.openxmlformats.org/officeDocument/2006/relationships" id="275" r:id="R89b4421172434a9a"/>
    <p:sldId xmlns:r="http://schemas.openxmlformats.org/officeDocument/2006/relationships" id="276" r:id="Rb0ef067e1bcb4ab6"/>
    <p:sldId xmlns:r="http://schemas.openxmlformats.org/officeDocument/2006/relationships" id="277" r:id="R005ae4d91dd84a44"/>
    <p:sldId xmlns:r="http://schemas.openxmlformats.org/officeDocument/2006/relationships" id="278" r:id="R60a0abd533114926"/>
    <p:sldId xmlns:r="http://schemas.openxmlformats.org/officeDocument/2006/relationships" id="279" r:id="Refae4a53108d4dff"/>
    <p:sldId xmlns:r="http://schemas.openxmlformats.org/officeDocument/2006/relationships" id="280" r:id="R339bd94d1aa44a62"/>
    <p:sldId xmlns:r="http://schemas.openxmlformats.org/officeDocument/2006/relationships" id="281" r:id="R1b132f751d8a44a9"/>
    <p:sldId xmlns:r="http://schemas.openxmlformats.org/officeDocument/2006/relationships" id="282" r:id="R790408bdd4e8420c"/>
    <p:sldId xmlns:r="http://schemas.openxmlformats.org/officeDocument/2006/relationships" id="283" r:id="Rbc29749f044c4bc4"/>
    <p:sldId xmlns:r="http://schemas.openxmlformats.org/officeDocument/2006/relationships" id="284" r:id="R4a713774fee5405a"/>
    <p:sldId xmlns:r="http://schemas.openxmlformats.org/officeDocument/2006/relationships" id="285" r:id="Ra55e5384a450476e"/>
    <p:sldId xmlns:r="http://schemas.openxmlformats.org/officeDocument/2006/relationships" id="286" r:id="Rc9f2fa38980b4a8a"/>
    <p:sldId xmlns:r="http://schemas.openxmlformats.org/officeDocument/2006/relationships" id="287" r:id="R88421c4611dc4b79"/>
    <p:sldId xmlns:r="http://schemas.openxmlformats.org/officeDocument/2006/relationships" id="288" r:id="R22ed83a487b7475d"/>
    <p:sldId xmlns:r="http://schemas.openxmlformats.org/officeDocument/2006/relationships" id="289" r:id="R15ebb6c9fb7f457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5670109c01488e" /><Relationship Type="http://schemas.openxmlformats.org/officeDocument/2006/relationships/slideMaster" Target="/ppt/slideMasters/slideMaster1.xml" Id="R60a20aca703b463c" /><Relationship Type="http://schemas.openxmlformats.org/officeDocument/2006/relationships/notesMaster" Target="/ppt/notesMasters/notesMaster1.xml" Id="Rfdebd06e238c400d" /><Relationship Type="http://schemas.openxmlformats.org/officeDocument/2006/relationships/presProps" Target="/ppt/presProps.xml" Id="R6099c49f76e24f32" /><Relationship Type="http://schemas.openxmlformats.org/officeDocument/2006/relationships/tableStyles" Target="/ppt/tableStyles.xml" Id="R30ac2e912bbf43ab" /><Relationship Type="http://schemas.openxmlformats.org/officeDocument/2006/relationships/slide" Target="/ppt/slides/slide1.xml" Id="Rd6c048e27fea4377" /><Relationship Type="http://schemas.openxmlformats.org/officeDocument/2006/relationships/slide" Target="/ppt/slides/slide2.xml" Id="Re2f0e13bbe484e37" /><Relationship Type="http://schemas.openxmlformats.org/officeDocument/2006/relationships/slide" Target="/ppt/slides/slide3.xml" Id="Rffe3320ddccd4aa2" /><Relationship Type="http://schemas.openxmlformats.org/officeDocument/2006/relationships/slide" Target="/ppt/slides/slide4.xml" Id="R012392d8c664410f" /><Relationship Type="http://schemas.openxmlformats.org/officeDocument/2006/relationships/slide" Target="/ppt/slides/slide5.xml" Id="Rd3ea428772394582" /><Relationship Type="http://schemas.openxmlformats.org/officeDocument/2006/relationships/slide" Target="/ppt/slides/slide6.xml" Id="R6155aef53c1e42f4" /><Relationship Type="http://schemas.openxmlformats.org/officeDocument/2006/relationships/slide" Target="/ppt/slides/slide7.xml" Id="R19bfbd54f8524d6c" /><Relationship Type="http://schemas.openxmlformats.org/officeDocument/2006/relationships/slide" Target="/ppt/slides/slide8.xml" Id="R6a374144ccec454a" /><Relationship Type="http://schemas.openxmlformats.org/officeDocument/2006/relationships/slide" Target="/ppt/slides/slide9.xml" Id="R70fd6e78e8bf402d" /><Relationship Type="http://schemas.openxmlformats.org/officeDocument/2006/relationships/slide" Target="/ppt/slides/slide10.xml" Id="R55e74f17cbd8445e" /><Relationship Type="http://schemas.openxmlformats.org/officeDocument/2006/relationships/slide" Target="/ppt/slides/slide11.xml" Id="R3cc1986852224ffc" /><Relationship Type="http://schemas.openxmlformats.org/officeDocument/2006/relationships/slide" Target="/ppt/slides/slide12.xml" Id="R76bad071d87a4d87" /><Relationship Type="http://schemas.openxmlformats.org/officeDocument/2006/relationships/slide" Target="/ppt/slides/slide13.xml" Id="Ra58bf68ef8b84cbe" /><Relationship Type="http://schemas.openxmlformats.org/officeDocument/2006/relationships/slide" Target="/ppt/slides/slide14.xml" Id="Rab9d3df742154c5b" /><Relationship Type="http://schemas.openxmlformats.org/officeDocument/2006/relationships/slide" Target="/ppt/slides/slide15.xml" Id="R87c1a126af864141" /><Relationship Type="http://schemas.openxmlformats.org/officeDocument/2006/relationships/slide" Target="/ppt/slides/slide16.xml" Id="Rb8d5016eaf684c76" /><Relationship Type="http://schemas.openxmlformats.org/officeDocument/2006/relationships/slide" Target="/ppt/slides/slide17.xml" Id="R6c93308ad4fa4550" /><Relationship Type="http://schemas.openxmlformats.org/officeDocument/2006/relationships/slide" Target="/ppt/slides/slide18.xml" Id="R7c737fc25dad4591" /><Relationship Type="http://schemas.openxmlformats.org/officeDocument/2006/relationships/slide" Target="/ppt/slides/slide19.xml" Id="R18acb9e124e6421e" /><Relationship Type="http://schemas.openxmlformats.org/officeDocument/2006/relationships/slide" Target="/ppt/slides/slide20.xml" Id="R89b4421172434a9a" /><Relationship Type="http://schemas.openxmlformats.org/officeDocument/2006/relationships/slide" Target="/ppt/slides/slide21.xml" Id="Rb0ef067e1bcb4ab6" /><Relationship Type="http://schemas.openxmlformats.org/officeDocument/2006/relationships/slide" Target="/ppt/slides/slide22.xml" Id="R005ae4d91dd84a44" /><Relationship Type="http://schemas.openxmlformats.org/officeDocument/2006/relationships/slide" Target="/ppt/slides/slide23.xml" Id="R60a0abd533114926" /><Relationship Type="http://schemas.openxmlformats.org/officeDocument/2006/relationships/slide" Target="/ppt/slides/slide24.xml" Id="Refae4a53108d4dff" /><Relationship Type="http://schemas.openxmlformats.org/officeDocument/2006/relationships/slide" Target="/ppt/slides/slide25.xml" Id="R339bd94d1aa44a62" /><Relationship Type="http://schemas.openxmlformats.org/officeDocument/2006/relationships/slide" Target="/ppt/slides/slide26.xml" Id="R1b132f751d8a44a9" /><Relationship Type="http://schemas.openxmlformats.org/officeDocument/2006/relationships/slide" Target="/ppt/slides/slide27.xml" Id="R790408bdd4e8420c" /><Relationship Type="http://schemas.openxmlformats.org/officeDocument/2006/relationships/slide" Target="/ppt/slides/slide28.xml" Id="Rbc29749f044c4bc4" /><Relationship Type="http://schemas.openxmlformats.org/officeDocument/2006/relationships/slide" Target="/ppt/slides/slide29.xml" Id="R4a713774fee5405a" /><Relationship Type="http://schemas.openxmlformats.org/officeDocument/2006/relationships/slide" Target="/ppt/slides/slide30.xml" Id="Ra55e5384a450476e" /><Relationship Type="http://schemas.openxmlformats.org/officeDocument/2006/relationships/slide" Target="/ppt/slides/slide31.xml" Id="Rc9f2fa38980b4a8a" /><Relationship Type="http://schemas.openxmlformats.org/officeDocument/2006/relationships/slide" Target="/ppt/slides/slide32.xml" Id="R88421c4611dc4b79" /><Relationship Type="http://schemas.openxmlformats.org/officeDocument/2006/relationships/slide" Target="/ppt/slides/slide33.xml" Id="R22ed83a487b7475d" /><Relationship Type="http://schemas.openxmlformats.org/officeDocument/2006/relationships/slide" Target="/ppt/slides/slide34.xml" Id="R15ebb6c9fb7f457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859b730b544f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41363cda634a2b" /><Relationship Type="http://schemas.openxmlformats.org/officeDocument/2006/relationships/notesMaster" Target="/ppt/notesMasters/notesMaster1.xml" Id="Rbaeb0bcbb13c4e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16a17fb2854675" /><Relationship Type="http://schemas.openxmlformats.org/officeDocument/2006/relationships/notesMaster" Target="/ppt/notesMasters/notesMaster1.xml" Id="R9689df1c53bf42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abde08cedb4f64" /><Relationship Type="http://schemas.openxmlformats.org/officeDocument/2006/relationships/notesMaster" Target="/ppt/notesMasters/notesMaster1.xml" Id="R4698b2596ea442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8f221306334d89" /><Relationship Type="http://schemas.openxmlformats.org/officeDocument/2006/relationships/notesMaster" Target="/ppt/notesMasters/notesMaster1.xml" Id="R6f115e8d0ee043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e046eb1c3a4e7a" /><Relationship Type="http://schemas.openxmlformats.org/officeDocument/2006/relationships/notesMaster" Target="/ppt/notesMasters/notesMaster1.xml" Id="Rf02e0f95e57d4a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7dd0d5067c4094" /><Relationship Type="http://schemas.openxmlformats.org/officeDocument/2006/relationships/notesMaster" Target="/ppt/notesMasters/notesMaster1.xml" Id="R4869fd1f455c4b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50ce2100db4782" /><Relationship Type="http://schemas.openxmlformats.org/officeDocument/2006/relationships/notesMaster" Target="/ppt/notesMasters/notesMaster1.xml" Id="R2e8a6d6019ac44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90633a7b7c4457" /><Relationship Type="http://schemas.openxmlformats.org/officeDocument/2006/relationships/notesMaster" Target="/ppt/notesMasters/notesMaster1.xml" Id="R80d2f320054848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7f20980e364d1f" /><Relationship Type="http://schemas.openxmlformats.org/officeDocument/2006/relationships/notesMaster" Target="/ppt/notesMasters/notesMaster1.xml" Id="R9f3c7cf5eb1145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825fc2cbfb34d19" /><Relationship Type="http://schemas.openxmlformats.org/officeDocument/2006/relationships/notesMaster" Target="/ppt/notesMasters/notesMaster1.xml" Id="Rbe8dffab474c4b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c08a1027bf4475" /><Relationship Type="http://schemas.openxmlformats.org/officeDocument/2006/relationships/notesMaster" Target="/ppt/notesMasters/notesMaster1.xml" Id="R86a90be9177b40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463366296eb454c" /><Relationship Type="http://schemas.openxmlformats.org/officeDocument/2006/relationships/notesMaster" Target="/ppt/notesMasters/notesMaster1.xml" Id="R41aee25436f64d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b841a2558e44d0b" /><Relationship Type="http://schemas.openxmlformats.org/officeDocument/2006/relationships/notesMaster" Target="/ppt/notesMasters/notesMaster1.xml" Id="R1cc23e11fa7644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b44cc46ec44b84" /><Relationship Type="http://schemas.openxmlformats.org/officeDocument/2006/relationships/notesMaster" Target="/ppt/notesMasters/notesMaster1.xml" Id="R5aab0d3095134c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c898db72674c8d" /><Relationship Type="http://schemas.openxmlformats.org/officeDocument/2006/relationships/notesMaster" Target="/ppt/notesMasters/notesMaster1.xml" Id="Rb5f6b69c05584ba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67615b0b6a14b2e" /><Relationship Type="http://schemas.openxmlformats.org/officeDocument/2006/relationships/notesMaster" Target="/ppt/notesMasters/notesMaster1.xml" Id="Rae892fcfc8dc41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ae54ca647a542e4" /><Relationship Type="http://schemas.openxmlformats.org/officeDocument/2006/relationships/notesMaster" Target="/ppt/notesMasters/notesMaster1.xml" Id="R27920bede6214a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c06738e153a44d1" /><Relationship Type="http://schemas.openxmlformats.org/officeDocument/2006/relationships/notesMaster" Target="/ppt/notesMasters/notesMaster1.xml" Id="Rb30cc6e48ee7416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f64cf09f374639" /><Relationship Type="http://schemas.openxmlformats.org/officeDocument/2006/relationships/notesMaster" Target="/ppt/notesMasters/notesMaster1.xml" Id="R26d211a83772434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c818bae77db4268" /><Relationship Type="http://schemas.openxmlformats.org/officeDocument/2006/relationships/notesMaster" Target="/ppt/notesMasters/notesMaster1.xml" Id="R389c0b3a237e4f0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6e8d1e9c6c4a02" /><Relationship Type="http://schemas.openxmlformats.org/officeDocument/2006/relationships/notesMaster" Target="/ppt/notesMasters/notesMaster1.xml" Id="Rf488f7eede674f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d40dce7e8c24728" /><Relationship Type="http://schemas.openxmlformats.org/officeDocument/2006/relationships/notesMaster" Target="/ppt/notesMasters/notesMaster1.xml" Id="R200f0d82b975444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f4e026cf7714d62" /><Relationship Type="http://schemas.openxmlformats.org/officeDocument/2006/relationships/notesMaster" Target="/ppt/notesMasters/notesMaster1.xml" Id="R28e9d6e2955c43e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d00f7e90d7404e" /><Relationship Type="http://schemas.openxmlformats.org/officeDocument/2006/relationships/notesMaster" Target="/ppt/notesMasters/notesMaster1.xml" Id="R0b740e5a8da64a9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344eef0959e4094" /><Relationship Type="http://schemas.openxmlformats.org/officeDocument/2006/relationships/notesMaster" Target="/ppt/notesMasters/notesMaster1.xml" Id="R338038cec8824e6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b0da33ea636411c" /><Relationship Type="http://schemas.openxmlformats.org/officeDocument/2006/relationships/notesMaster" Target="/ppt/notesMasters/notesMaster1.xml" Id="R20cf9cf1f02148f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f6b196660a148b4" /><Relationship Type="http://schemas.openxmlformats.org/officeDocument/2006/relationships/notesMaster" Target="/ppt/notesMasters/notesMaster1.xml" Id="R8df0f3bb28c74a5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8f818de2c9d4e29" /><Relationship Type="http://schemas.openxmlformats.org/officeDocument/2006/relationships/notesMaster" Target="/ppt/notesMasters/notesMaster1.xml" Id="R57e661365116408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e0e7e70cb394fa6" /><Relationship Type="http://schemas.openxmlformats.org/officeDocument/2006/relationships/notesMaster" Target="/ppt/notesMasters/notesMaster1.xml" Id="Rbd746842754a426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4c6c4a980d248a4" /><Relationship Type="http://schemas.openxmlformats.org/officeDocument/2006/relationships/notesMaster" Target="/ppt/notesMasters/notesMaster1.xml" Id="R1ea85be128c346f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dab141b6ce54bdc" /><Relationship Type="http://schemas.openxmlformats.org/officeDocument/2006/relationships/notesMaster" Target="/ppt/notesMasters/notesMaster1.xml" Id="R3d4ac97f878548f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130da7feb1d499f" /><Relationship Type="http://schemas.openxmlformats.org/officeDocument/2006/relationships/notesMaster" Target="/ppt/notesMasters/notesMaster1.xml" Id="Rf1d360a4eedd482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b70e335cb5143e1" /><Relationship Type="http://schemas.openxmlformats.org/officeDocument/2006/relationships/notesMaster" Target="/ppt/notesMasters/notesMaster1.xml" Id="Rf0d780dbced041e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2f160a91901464d" /><Relationship Type="http://schemas.openxmlformats.org/officeDocument/2006/relationships/notesMaster" Target="/ppt/notesMasters/notesMaster1.xml" Id="R7bb4635885ea4b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Fall Break removed this week's Meeting A entirely; open by naming that plainly — today is entirely peer clinic and project-finishing time, and Project 1 is due at the end of this session.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Say explicitly that no new library or concept is introduced today; every item on the checklist already came from Weeks 4-7.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These are today's only outcomes — no new syntax is being taught, so hold the group to using class time on their own files, not on note-taking.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Write the 46-minute studio-time block on the board now so students can see the whole session's shape before it starts.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If any row is empty, that's today's first priority — the clinic still works on an incomplete draft, but say so to your partner before they start critiquing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Ask for a show of hands: who has restarted their kernel and run their own script top-to-bottom since finishing it? Expect fewer hands than you'd like — that gap is what today closes.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Take a vote. After a cold run, input row order is not a valid excuse for mismatched grouped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https://pandas.pydata.org/docs/user_guide/index.html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Demonstrate the RUN step live on your own copy of the Radley Hall pipeline from Weeks 4-7 first, so students see a cold restart before doing it to a partner's real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Model both roles briefly with a volunteer's real file before pairs start — the giving/receiving asymmetry is the actual skill here, not the checklist itself.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3 minutes.</a:t>
            </a:r>
          </a:p>
          <a:p xmlns:a="http://schemas.openxmlformats.org/drawingml/2006/main">
            <a:r>
              <a:t>Teaching notes: These six rows are copied directly from Project 1's own rubric (Section 4 of the semester plan) — tell students plainly that this is not a new checklist, it is the actual grading instrument.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This is rubric line 4's exact check, one line at a time — point at chip 4 and ask a volunteer whether their own script reprojects before or after it computes .area. 'After' is the bug from Week 7's AI-audit exercise — the exact defect to look for in a partner's code today.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https://geopandas.org/en/stable/docs/user_guide/projections.html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Say the 70% cap out loud and let it land — this is a compliance gate from the course grading framework (Section 1), not a suggestion.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notes: 12 minutes total for both directions — roughly 5-6 minutes per partner. Circulate and listen for vague notes such as 'looks fine' and redirect them to a specific rubric 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Optional pause point: students show their partner the one line that makes paths inspectable.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Require evidence, not 'it worked on my laptop.'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Students complete: 'One row represents…'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Check the Project 1 evidence table has two separate columns.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Students point to both denominators in their table or caption.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The point is a defended choice, not a universal 'median is better' rule.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A robust claim should disclose when one row controls the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If the sentence cannot be written, the chart purpose is not yet clear.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Use 'associated with' for observational patterns.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An extension must qualify the evidence, not merely look impressive.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Read captions without showing the figures; they should still make sense.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Ask a partner to describe the chart without relying on red/green vocabulary.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https://matplotlib.org/stable/users/explain/colors/colormaps.html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This can live in 00_START_HERE or a submission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Not every comment is equal; prioritize correctness and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Students should be able to connect every accepted suggestion to a verification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The title slide plus five numbered content slides equals six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Fix every failing check, then perform the human evidence review on the next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Partners initial each row after a cold-run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minutes.</a:t>
            </a:r>
          </a:p>
          <a:p xmlns:a="http://schemas.openxmlformats.org/drawingml/2006/main">
            <a:r>
              <a:t>Teaching notes: One partner times; the other notes the first point where the story becomes unclear.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27 minutes.</a:t>
            </a:r>
          </a:p>
          <a:p xmlns:a="http://schemas.openxmlformats.org/drawingml/2006/main">
            <a:r>
              <a:t>Teaching notes: This is the final 27-minute studio block in the 80-minute meeting: reserve it for actual independent (or still-paired) project work, with you circulating room to room. Announce the exact submission mechanism and the pin-up order now, then go quiet and work the 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Teaching notes: Close by asking each pair to name one thing they fixed because of their partner's note — make the critique's value visible before everyone leaves.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9dcf444e704d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d14d9b0a0c4919" /><Relationship Type="http://schemas.openxmlformats.org/officeDocument/2006/relationships/slideLayout" Target="/ppt/slideLayouts/slideLayout1.xml" Id="R2a1d55c3b1d841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1d55c3b1d841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98e62f5014f96" /><Relationship Type="http://schemas.openxmlformats.org/officeDocument/2006/relationships/notesSlide" Target="/ppt/notesSlides/notesSlide1.xml" Id="Rbc904e4ce4bb47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70f6c33384228" /><Relationship Type="http://schemas.openxmlformats.org/officeDocument/2006/relationships/notesSlide" Target="/ppt/notesSlides/notesSlide2.xml" Id="Rfbe547f029fc41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5347032c941f6" /><Relationship Type="http://schemas.openxmlformats.org/officeDocument/2006/relationships/notesSlide" Target="/ppt/notesSlides/notesSlide3.xml" Id="R39168f9b98d64c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7c62281c74a9e" /><Relationship Type="http://schemas.openxmlformats.org/officeDocument/2006/relationships/notesSlide" Target="/ppt/notesSlides/notesSlide4.xml" Id="Rfad334f0b59141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8b8b5009c4d27" /><Relationship Type="http://schemas.openxmlformats.org/officeDocument/2006/relationships/notesSlide" Target="/ppt/notesSlides/notesSlide5.xml" Id="R6c40d63f11c142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760b0a9604661" /><Relationship Type="http://schemas.openxmlformats.org/officeDocument/2006/relationships/notesSlide" Target="/ppt/notesSlides/notesSlide6.xml" Id="Ref5fe23b9f7646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e9e69a28d4945" /><Relationship Type="http://schemas.openxmlformats.org/officeDocument/2006/relationships/notesSlide" Target="/ppt/notesSlides/notesSlide7.xml" Id="R1ff1b09f898444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95f93d024465f" /><Relationship Type="http://schemas.openxmlformats.org/officeDocument/2006/relationships/notesSlide" Target="/ppt/notesSlides/notesSlide8.xml" Id="Reb411917a1da4b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53c11dd334880" /><Relationship Type="http://schemas.openxmlformats.org/officeDocument/2006/relationships/notesSlide" Target="/ppt/notesSlides/notesSlide9.xml" Id="Rf1657e03efd347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b50df473f14db6" /><Relationship Type="http://schemas.openxmlformats.org/officeDocument/2006/relationships/notesSlide" Target="/ppt/notesSlides/notesSlide10.xml" Id="R95991660ab8a49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cc0d68b30463e" /><Relationship Type="http://schemas.openxmlformats.org/officeDocument/2006/relationships/notesSlide" Target="/ppt/notesSlides/notesSlide11.xml" Id="Rd44c1cff004e43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96b07d4ff4ce3" /><Relationship Type="http://schemas.openxmlformats.org/officeDocument/2006/relationships/notesSlide" Target="/ppt/notesSlides/notesSlide12.xml" Id="R9a98218ea64047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5249047874ba7" /><Relationship Type="http://schemas.openxmlformats.org/officeDocument/2006/relationships/notesSlide" Target="/ppt/notesSlides/notesSlide13.xml" Id="Re1c04f6e0ea7401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493a468494a48" /><Relationship Type="http://schemas.openxmlformats.org/officeDocument/2006/relationships/notesSlide" Target="/ppt/notesSlides/notesSlide14.xml" Id="R3815a9e0fb8f4c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1f8810936342d9" /><Relationship Type="http://schemas.openxmlformats.org/officeDocument/2006/relationships/notesSlide" Target="/ppt/notesSlides/notesSlide15.xml" Id="Ra9316267653b43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e0637fa9049da" /><Relationship Type="http://schemas.openxmlformats.org/officeDocument/2006/relationships/notesSlide" Target="/ppt/notesSlides/notesSlide16.xml" Id="R14e267dc518a49a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97ff9004a49e9" /><Relationship Type="http://schemas.openxmlformats.org/officeDocument/2006/relationships/notesSlide" Target="/ppt/notesSlides/notesSlide17.xml" Id="Rd80ea0ea4aa347a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b2a6c8d3346ff" /><Relationship Type="http://schemas.openxmlformats.org/officeDocument/2006/relationships/notesSlide" Target="/ppt/notesSlides/notesSlide18.xml" Id="Rc9c43250a1da412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0b882d4214653" /><Relationship Type="http://schemas.openxmlformats.org/officeDocument/2006/relationships/notesSlide" Target="/ppt/notesSlides/notesSlide19.xml" Id="Rd42f1252d7d840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9903297a445fa" /><Relationship Type="http://schemas.openxmlformats.org/officeDocument/2006/relationships/notesSlide" Target="/ppt/notesSlides/notesSlide20.xml" Id="R50cd7f1a3dc341f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618b03e9f946c8" /><Relationship Type="http://schemas.openxmlformats.org/officeDocument/2006/relationships/notesSlide" Target="/ppt/notesSlides/notesSlide21.xml" Id="Rf994d82febbf45e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2cbd5ec18464b" /><Relationship Type="http://schemas.openxmlformats.org/officeDocument/2006/relationships/notesSlide" Target="/ppt/notesSlides/notesSlide22.xml" Id="R82d7cde348cb42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4b3b4e47b4d28" /><Relationship Type="http://schemas.openxmlformats.org/officeDocument/2006/relationships/notesSlide" Target="/ppt/notesSlides/notesSlide23.xml" Id="Rfd13745c22ae4a5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7cc91fa294420" /><Relationship Type="http://schemas.openxmlformats.org/officeDocument/2006/relationships/notesSlide" Target="/ppt/notesSlides/notesSlide24.xml" Id="R6e490080230e466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1cf7ad6274581" /><Relationship Type="http://schemas.openxmlformats.org/officeDocument/2006/relationships/notesSlide" Target="/ppt/notesSlides/notesSlide25.xml" Id="R2e70aeba35fb43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f8cd751c74b74" /><Relationship Type="http://schemas.openxmlformats.org/officeDocument/2006/relationships/notesSlide" Target="/ppt/notesSlides/notesSlide26.xml" Id="Rb7aff98e99c64a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97275bcc34372" /><Relationship Type="http://schemas.openxmlformats.org/officeDocument/2006/relationships/notesSlide" Target="/ppt/notesSlides/notesSlide27.xml" Id="R9f7f3749163e413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bebd6732b4418" /><Relationship Type="http://schemas.openxmlformats.org/officeDocument/2006/relationships/notesSlide" Target="/ppt/notesSlides/notesSlide28.xml" Id="R09cef226419d4f3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8da461f66f49bf" /><Relationship Type="http://schemas.openxmlformats.org/officeDocument/2006/relationships/notesSlide" Target="/ppt/notesSlides/notesSlide29.xml" Id="R5310a2e57a3e4fb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0ff5897944c8c" /><Relationship Type="http://schemas.openxmlformats.org/officeDocument/2006/relationships/notesSlide" Target="/ppt/notesSlides/notesSlide30.xml" Id="R518e7946630441b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43bed65084815" /><Relationship Type="http://schemas.openxmlformats.org/officeDocument/2006/relationships/notesSlide" Target="/ppt/notesSlides/notesSlide31.xml" Id="R80b8e85e2b06488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9439fa3954ffd" /><Relationship Type="http://schemas.openxmlformats.org/officeDocument/2006/relationships/notesSlide" Target="/ppt/notesSlides/notesSlide32.xml" Id="Rbe23b188d5174b5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9c54d2db847d5" /><Relationship Type="http://schemas.openxmlformats.org/officeDocument/2006/relationships/notesSlide" Target="/ppt/notesSlides/notesSlide33.xml" Id="R97f071c9262c45f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26d415345a4ef2" /><Relationship Type="http://schemas.openxmlformats.org/officeDocument/2006/relationships/notesSlide" Target="/ppt/notesSlides/notesSlide34.xml" Id="Rb525cc0a30884d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urse-mark">
            <a:extLst xmlns:a="http://schemas.openxmlformats.org/drawingml/2006/main">
              <a:ext uri="{FF2B5EF4-FFF2-40B4-BE49-F238E27FC236}">
                <a16:creationId xmlns:a16="http://schemas.microsoft.com/office/drawing/2014/main" id="{96CDE57A-3CB0-4E0A-993B-892C7035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&lt;&gt;  ARC 500</a:t>
            </a:r>
          </a:p>
        </p:txBody>
      </p:sp>
      <p:sp>
        <p:nvSpPr>
          <p:cNvPr id="2" name="course-full-title">
            <a:extLst xmlns:a="http://schemas.openxmlformats.org/drawingml/2006/main">
              <a:ext uri="{FF2B5EF4-FFF2-40B4-BE49-F238E27FC236}">
                <a16:creationId xmlns:a16="http://schemas.microsoft.com/office/drawing/2014/main" id="{A5EA38AE-DCAF-4931-A6D8-D461219E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9AA1A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9AA1AC"/>
                </a:solidFill>
                <a:latin typeface="Arial"/>
                <a:ea typeface="Arial"/>
                <a:cs typeface="Arial"/>
              </a:rPr>
              <a:t>Programming with Python and Generative AI  ·  Scripting, Data Analysis, Visualization, Problem-Solving, and Optimization</a:t>
            </a:r>
          </a:p>
        </p:txBody>
      </p:sp>
      <p:sp>
        <p:nvSpPr>
          <p:cNvPr id="3" name="accent-bar">
            <a:extLst xmlns:a="http://schemas.openxmlformats.org/drawingml/2006/main">
              <a:ext uri="{FF2B5EF4-FFF2-40B4-BE49-F238E27FC236}">
                <a16:creationId xmlns:a16="http://schemas.microsoft.com/office/drawing/2014/main" id="{876C8BCA-2129-4F58-AF1A-82E6822B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week-label">
            <a:extLst xmlns:a="http://schemas.openxmlformats.org/drawingml/2006/main">
              <a:ext uri="{FF2B5EF4-FFF2-40B4-BE49-F238E27FC236}">
                <a16:creationId xmlns:a16="http://schemas.microsoft.com/office/drawing/2014/main" id="{56922CA2-A057-45C6-9C16-9F6AF6EB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352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8 · MEETING B · PROJECT 1 STUDIO AND EVIDENCE CLINIC</a:t>
            </a:r>
          </a:p>
        </p:txBody>
      </p:sp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90922723-1E01-42AE-AC86-2ABB9763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71650"/>
            <a:ext cx="990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Give a critique, pass one, and finish Project 1</a:t>
            </a:r>
          </a:p>
        </p:txBody>
      </p:sp>
      <p:sp>
        <p:nvSpPr>
          <p:cNvPr id="6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980BAA1F-DFD4-412E-9A7D-AD9345B3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914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Meeting B · peer-clinic protocol, a rubric-tied submission checklist, and structured studio time — no new library 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035004-76E0-4DAC-833E-70A2398B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959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instructor">
            <a:extLst xmlns:a="http://schemas.openxmlformats.org/drawingml/2006/main">
              <a:ext uri="{FF2B5EF4-FFF2-40B4-BE49-F238E27FC236}">
                <a16:creationId xmlns:a16="http://schemas.microsoft.com/office/drawing/2014/main" id="{F58BF059-B598-4197-83B7-6B214D25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245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D7D9D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9DC"/>
                </a:solidFill>
                <a:latin typeface="Arial"/>
                <a:ea typeface="Arial"/>
                <a:cs typeface="Arial"/>
              </a:rPr>
              <a:t>JunHo Chun, PhD  ·  School of Architecture  ·  Syracuse University  ·  Fall 2026</a:t>
            </a:r>
          </a:p>
        </p:txBody>
      </p:sp>
    </p:spTree>
    <p:extLst>
      <p:ext uri="{BB962C8B-B14F-4D97-AF65-F5344CB8AC3E}">
        <p14:creationId xmlns:p14="http://schemas.microsoft.com/office/powerpoint/2010/main" val="3879254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C9E229BC-E23A-48A0-8E29-7E89802E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EA176A-272C-473C-A2E7-BCFE8D0A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partner is the cheapest grader you'll 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C36946-30C0-421B-BF5A-DB565207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A183681-A21D-482B-A496-67EEF182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6CD28B3-6A54-4E96-B484-76AA008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563570F3-3A45-44E4-A059-A4E838DF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9829800" cy="1557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If a partner can't reproduce your numbers from a cold restart, an instructor won't be able to either.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09CD9-66AC-4728-9D39-C0B68CFF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2128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D7C1B672-CC51-4B4A-9A34-AE3EF0EF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5978"/>
            <a:ext cx="93345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Today trades new content for a structured, rubric-tied peer critique, then studio time to fix what it finds — before you submit, not after.</a:t>
            </a:r>
          </a:p>
        </p:txBody>
      </p:sp>
    </p:spTree>
    <p:extLst>
      <p:ext uri="{BB962C8B-B14F-4D97-AF65-F5344CB8AC3E}">
        <p14:creationId xmlns:p14="http://schemas.microsoft.com/office/powerpoint/2010/main" val="379484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74F61DEA-6D76-47EA-B6F3-6E50673D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7ADDFE8-7DB1-4CCF-AAFA-44869674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By the end, you should be able to…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CF8E25-2E0E-4521-A04E-8360B9F5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E3EBFAE-9191-4F71-AB33-73D1D210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F277131-2175-447C-9691-3EAB30B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outcome-number-0">
            <a:extLst xmlns:a="http://schemas.openxmlformats.org/drawingml/2006/main">
              <a:ext uri="{FF2B5EF4-FFF2-40B4-BE49-F238E27FC236}">
                <a16:creationId xmlns:a16="http://schemas.microsoft.com/office/drawing/2014/main" id="{46D66E7B-667D-49D4-AAB7-D13906D9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outcome-head-0">
            <a:extLst xmlns:a="http://schemas.openxmlformats.org/drawingml/2006/main">
              <a:ext uri="{FF2B5EF4-FFF2-40B4-BE49-F238E27FC236}">
                <a16:creationId xmlns:a16="http://schemas.microsoft.com/office/drawing/2014/main" id="{C4147DA5-A850-47D9-8E55-A9E6F022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Critique</a:t>
            </a:r>
          </a:p>
        </p:txBody>
      </p:sp>
      <p:sp>
        <p:nvSpPr>
          <p:cNvPr id="8" name="outcome-body-0">
            <a:extLst xmlns:a="http://schemas.openxmlformats.org/drawingml/2006/main">
              <a:ext uri="{FF2B5EF4-FFF2-40B4-BE49-F238E27FC236}">
                <a16:creationId xmlns:a16="http://schemas.microsoft.com/office/drawing/2014/main" id="{2FBA4BD3-01C5-4170-83D1-A2D83B06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Give and receive a structured, rubric-tied critique of a partner's data provenance and reproducibility.</a:t>
            </a:r>
          </a:p>
        </p:txBody>
      </p:sp>
      <p:sp>
        <p:nvSpPr>
          <p:cNvPr id="9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88CA737C-7723-4D6B-86EC-84B86C6D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outcome-head-1">
            <a:extLst xmlns:a="http://schemas.openxmlformats.org/drawingml/2006/main">
              <a:ext uri="{FF2B5EF4-FFF2-40B4-BE49-F238E27FC236}">
                <a16:creationId xmlns:a16="http://schemas.microsoft.com/office/drawing/2014/main" id="{B3AD2571-FBE0-42E6-8E51-9DC1D912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050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1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5B21251A-EED8-42D7-B4FD-E4D6FD41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Check your own Project 1 package, line by line, against the actual rubric before you submit it.</a:t>
            </a:r>
          </a:p>
        </p:txBody>
      </p:sp>
      <p:sp>
        <p:nvSpPr>
          <p:cNvPr id="12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A80BF181-C851-4988-8D89-A6E5D129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outcome-head-2">
            <a:extLst xmlns:a="http://schemas.openxmlformats.org/drawingml/2006/main">
              <a:ext uri="{FF2B5EF4-FFF2-40B4-BE49-F238E27FC236}">
                <a16:creationId xmlns:a16="http://schemas.microsoft.com/office/drawing/2014/main" id="{9EADA570-143A-43B4-B94E-329A4F9E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4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F19AA720-2607-43E3-A7C6-01C32ACA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Confirm your pipeline runs cold — restarted kernel, top to bottom — with no manual fixes in between.</a:t>
            </a:r>
          </a:p>
        </p:txBody>
      </p:sp>
      <p:sp>
        <p:nvSpPr>
          <p:cNvPr id="15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3C396C68-A19D-4E83-896E-1E6B2D44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495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outcome-head-3">
            <a:extLst xmlns:a="http://schemas.openxmlformats.org/drawingml/2006/main">
              <a:ext uri="{FF2B5EF4-FFF2-40B4-BE49-F238E27FC236}">
                <a16:creationId xmlns:a16="http://schemas.microsoft.com/office/drawing/2014/main" id="{69FE93F5-CD89-4306-AB89-D7ED4AF9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14800"/>
            <a:ext cx="449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Submit</a:t>
            </a:r>
          </a:p>
        </p:txBody>
      </p:sp>
      <p:sp>
        <p:nvSpPr>
          <p:cNvPr id="17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FBE54593-72D2-4748-B744-95E7EED3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10100"/>
            <a:ext cx="46291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Turn in the complete package: two exact-schema CSVs, this week's figures and map, report, README, and AI-use disclosure.</a:t>
            </a:r>
          </a:p>
        </p:txBody>
      </p:sp>
    </p:spTree>
    <p:extLst>
      <p:ext uri="{BB962C8B-B14F-4D97-AF65-F5344CB8AC3E}">
        <p14:creationId xmlns:p14="http://schemas.microsoft.com/office/powerpoint/2010/main" val="246070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EB2694FB-ACBB-41C4-9EE8-64A76A8A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ROAD 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7E61ADA-C14E-4C66-AB96-E528D060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Today’s learning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2B6377-F9C1-404F-93A3-1540AA3A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AE24CE4-BDFF-4D4B-B214-E4AA56A1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2D04CB2-D781-490A-94AA-C9AE6DF9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agenda-no-0">
            <a:extLst xmlns:a="http://schemas.openxmlformats.org/drawingml/2006/main">
              <a:ext uri="{FF2B5EF4-FFF2-40B4-BE49-F238E27FC236}">
                <a16:creationId xmlns:a16="http://schemas.microsoft.com/office/drawing/2014/main" id="{C0D9D688-2300-4430-AB0F-5D62CF41A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99472-7774-495E-A3A2-3DE5C5D3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526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8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DCF1109C-28E6-4635-8C46-AFBD4E39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431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you're bringing all four Project 1 parts</a:t>
            </a:r>
          </a:p>
        </p:txBody>
      </p:sp>
      <p:sp>
        <p:nvSpPr>
          <p:cNvPr id="9" name="agenda-no-1">
            <a:extLst xmlns:a="http://schemas.openxmlformats.org/drawingml/2006/main">
              <a:ext uri="{FF2B5EF4-FFF2-40B4-BE49-F238E27FC236}">
                <a16:creationId xmlns:a16="http://schemas.microsoft.com/office/drawing/2014/main" id="{C62BFACC-CB43-4302-B9FB-FD67E502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AB1BD-ACFD-4044-AAD5-765A445E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67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B598D01D-28F6-477B-8A42-C71AC7C7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575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Learn the peer-clinic protocol: swap, run cold, trace, note</a:t>
            </a:r>
          </a:p>
        </p:txBody>
      </p:sp>
      <p:sp>
        <p:nvSpPr>
          <p:cNvPr id="12" name="agenda-no-2">
            <a:extLst xmlns:a="http://schemas.openxmlformats.org/drawingml/2006/main">
              <a:ext uri="{FF2B5EF4-FFF2-40B4-BE49-F238E27FC236}">
                <a16:creationId xmlns:a16="http://schemas.microsoft.com/office/drawing/2014/main" id="{08066EB5-4CBA-44A8-B08B-1B62E7C3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90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D740E-846A-4E1E-9501-0029EB35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4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5546470B-2B1F-475F-B271-BBE1AB33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719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the clinic against the actual rubric checklist</a:t>
            </a:r>
          </a:p>
        </p:txBody>
      </p:sp>
      <p:sp>
        <p:nvSpPr>
          <p:cNvPr id="15" name="agenda-no-3">
            <a:extLst xmlns:a="http://schemas.openxmlformats.org/drawingml/2006/main">
              <a:ext uri="{FF2B5EF4-FFF2-40B4-BE49-F238E27FC236}">
                <a16:creationId xmlns:a16="http://schemas.microsoft.com/office/drawing/2014/main" id="{0251CB0F-44D7-4E5F-8C02-0528174B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59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2ABE4-0E14-47E6-BF03-B6961DBB3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2FEA4562-BF9E-4F68-80F3-8AA11F7C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86325"/>
            <a:ext cx="92011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time: fix, finalize, and submit</a:t>
            </a:r>
          </a:p>
        </p:txBody>
      </p:sp>
    </p:spTree>
    <p:extLst>
      <p:ext uri="{BB962C8B-B14F-4D97-AF65-F5344CB8AC3E}">
        <p14:creationId xmlns:p14="http://schemas.microsoft.com/office/powerpoint/2010/main" val="143419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kicker">
            <a:extLst xmlns:a="http://schemas.openxmlformats.org/drawingml/2006/main">
              <a:ext uri="{FF2B5EF4-FFF2-40B4-BE49-F238E27FC236}">
                <a16:creationId xmlns:a16="http://schemas.microsoft.com/office/drawing/2014/main" id="{8F052CF9-CC1B-41CB-A19F-2BB34B96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0B59D09-00B1-443A-97BF-FBC3B403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your four parts before the clinic starts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B84E7-8840-4F15-899B-8BC3FC3A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DE6BE84-FBED-4DD8-BEBA-ED050D74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F7E724-34EA-46C9-BD3E-D2283E0E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D4FB3-01B0-4CDF-9F3C-786E8113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806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70F4C1A7-CCC0-47C0-906E-76C3CE34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257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1 part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D1E1E-9FD8-44C9-81A1-1B115378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2524125"/>
            <a:ext cx="82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4D4788EF-DBAD-4443-9E2E-E9EEC4FF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2600325"/>
            <a:ext cx="59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EE9A6-8963-4813-B28F-72310678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2524125"/>
            <a:ext cx="379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7F504A9A-4ACC-47D5-A30C-050BA9CF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600325"/>
            <a:ext cx="356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should already exist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231B34-3C4C-4E0C-9954-45CB7019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28067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A6C29BC4-1576-42F7-A2A4-B8F26276F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2578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Part I — Data as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C536E6-A4CF-4EE5-9474-547004A4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3057525"/>
            <a:ext cx="825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374885F4-50B4-4D50-A0C2-E74F41C4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3133725"/>
            <a:ext cx="596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A9DA4D-33E5-43F1-9DA2-40A09A29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057525"/>
            <a:ext cx="37973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4A18D2CE-B449-41D7-A48E-E425A057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133725"/>
            <a:ext cx="35687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Cleaned CSV (exact schema) + data dictionary + drop-justification memo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D4F01-45D0-47A4-B7FB-36F19EBA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8545"/>
            <a:ext cx="28067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EAA0D592-0A5E-49DE-8439-BF24AA79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4745"/>
            <a:ext cx="2578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Part II — Grouping &amp; Outlier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CD7B2-31A4-4B87-BE45-D9FE4ACF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3598545"/>
            <a:ext cx="825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EFA4F2B9-5BC8-41CF-B615-CE85B291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3674745"/>
            <a:ext cx="596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C24A3F-1C3F-423B-9547-B94E2674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3598545"/>
            <a:ext cx="37973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60170AE6-D975-4A19-B75A-54AA36CA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674745"/>
            <a:ext cx="35687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Grouped-summary CSV + IQR flags (z-score/merge optional extensions)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97928-B9B4-4CCB-9BAB-0B58DF0E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9565"/>
            <a:ext cx="28067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B57636F6-D23F-4014-8EFF-FD61CB66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5765"/>
            <a:ext cx="25781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Part III — Two Purposeful Static Figures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A162C2-9FC2-4653-BB2C-A2C0CA33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4139565"/>
            <a:ext cx="825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A2721087-E2A3-4ADF-ADA8-8622D5DB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4215765"/>
            <a:ext cx="596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646272-09D1-48BB-A0EE-774FE49D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4139565"/>
            <a:ext cx="37973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35F589D7-2E1F-4E92-BF87-CA738337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4215765"/>
            <a:ext cx="35687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static figures (fig/ax) — one shows a cleaning/outlier fix, one is annotated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BD0928-755A-413A-AFA7-232E2696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0585"/>
            <a:ext cx="28067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FB87B27D-3B84-4AC9-A11D-A7ED38F3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56785"/>
            <a:ext cx="25781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Part IV — Choose One Evidence Extension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3E88E5-B701-4CD1-A208-B6F0A228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300" y="4680585"/>
            <a:ext cx="825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80895A61-2FB1-4985-BB80-A3D7CBEE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4756785"/>
            <a:ext cx="596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6 or 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C88726-06D3-4F77-8DBC-69BF5A22E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1800" y="4680585"/>
            <a:ext cx="37973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655143A4-FAB6-4D59-B92E-79B65583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4756785"/>
            <a:ext cx="35687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chosen extension: map + metric (Wk 7) OR a captioned FuncAnimation .gif (Wk 6) — not both</a:t>
            </a:r>
          </a:p>
        </p:txBody>
      </p:sp>
      <p:sp>
        <p:nvSpPr>
          <p:cNvPr id="3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549A941E-47DB-4389-813B-5A11DE90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THE FULL PACKAGE</a:t>
            </a:r>
          </a:p>
        </p:txBody>
      </p:sp>
      <p:sp>
        <p:nvSpPr>
          <p:cNvPr id="37" name="callout">
            <a:extLst xmlns:a="http://schemas.openxmlformats.org/drawingml/2006/main">
              <a:ext uri="{FF2B5EF4-FFF2-40B4-BE49-F238E27FC236}">
                <a16:creationId xmlns:a16="http://schemas.microsoft.com/office/drawing/2014/main" id="{B8CA9176-9AB3-41B3-80D8-AB69B994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Three image/gif exports total — two static figures plus your one chosen map or .gif — plus two exact-schema CSVs, a report, a README, and an AI-use disclosure appendix — that's the whole package.</a:t>
            </a:r>
          </a:p>
        </p:txBody>
      </p:sp>
    </p:spTree>
    <p:extLst>
      <p:ext uri="{BB962C8B-B14F-4D97-AF65-F5344CB8AC3E}">
        <p14:creationId xmlns:p14="http://schemas.microsoft.com/office/powerpoint/2010/main" val="1086476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3ED07D4F-4EDF-44A5-B550-632CDF16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VOCABULARY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CC227D-C051-492A-9F7A-4B25FA48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Reproducibility: a cold-restart test, not a compliment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2322A-1892-4004-A919-DC63D8FA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42EE7FD-1A62-4607-B343-20E58B5C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161D1C9-6DD7-4F0B-AF86-E718DB82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4A97EAEC-3591-45FA-BAF5-5BE8096B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08F21257-A33F-4A85-B723-7FCD7A87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Reproducibility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28370-10E1-4286-BEE4-BC25CE84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3C84C1E2-C8B1-4A3C-BEAA-710070F6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 result is reproducible when a partner can restart your kernel, run your scripts top to bottom with no manual fixes, and get your exact numbers back — every reported value traceable to a raw row, not just a script that happens to run without an error.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6D726735-91B9-43C5-BCAA-B8F721D1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846A4077-6ED5-4825-8155-148BFC67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TODAY'S CLINIC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3DD9E39A-4095-4333-A204-B13894AF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it takes a partner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C56CE2C1-3352-4FD6-A469-AF1550E1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You already know your own story, so your own gaps are invisible to you. Hand a partner only your folder and README — if they reproduce your numbers cold, you're done; if not, you just found the fix before your grade depended on it.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F1D52C08-8A86-48E6-8869-5AC967F1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1449CEEF-6677-49C9-9237-40BC66D5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449CCAE5-4782-4E67-A589-D4798B86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'It ran without an error' is not the same claim as 'it reproduced the report.' A stale intermediate CSV, a hard-coded path, or a cell run out of order can all still hand back numbers that don't match — that gap is exactly what the clinic below is built to catch.</a:t>
            </a:r>
          </a:p>
        </p:txBody>
      </p:sp>
    </p:spTree>
    <p:extLst>
      <p:ext uri="{BB962C8B-B14F-4D97-AF65-F5344CB8AC3E}">
        <p14:creationId xmlns:p14="http://schemas.microsoft.com/office/powerpoint/2010/main" val="5888578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0B3E5F56-C523-4AFA-9282-4C6BCF8E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PREDICT BEFORE YOU RUN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FC91CCF-9E84-455B-BD28-ECABFAC5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partners, two row orders — same grouped numbers?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F9FB0-4A8A-42C9-849C-96B5AE9E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E2B8827-7EB4-4DDC-A373-06F34565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45ADAF-0268-4DC7-991A-AE20DC41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3A8A256-3AFD-4445-924B-B1F78791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B8A624E6-7668-4685-91AC-18E28B48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# same 6 rows, different input order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summary_a = rooms_a.groupby('zone')['energy_kwh_m2_yr'].mean()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summary_b = rooms_b.groupby('zone')['energy_kwh_m2_yr'].mean()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print(summary_a.equals(summary_b))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868E6029-18B5-4842-B112-7F352FD4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does .equals() print here?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3D3AAE92-8996-4FFC-A5F1-0374485D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8AD99012-1091-4CEC-AEF1-4C18B8FC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3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35460EEC-1636-4D10-9B3B-8430F054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True — groupby sorts by key, so input row order does not matter.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2D90247C-BA25-40C4-8C00-A8FBB56E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813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4865D415-EA74-45C6-8143-996CE6A8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432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E82B5502-9E9C-4EF0-9511-3765A806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194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False — each result keeps the first-seen zone order.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D76C6E2D-86B4-4A6B-9843-0F7EC780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909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84BB9ADF-F0F5-4553-A55B-CFCE1622D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528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33EA50F8-EAF7-4A2D-BE7D-48B158BE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290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False — float summation order changes the mean.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F07F6824-27CE-49B7-9BFE-C5394B69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42672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E15A7AA7-53B8-4C1E-9DC5-0B73F476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624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CCC1F14E-F37E-44D6-9D4F-2DB99D4F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676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Only if both files were sorted first.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7AC3CD4C-0BF8-4762-B005-06C85568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0BD78D0E-B17C-4C9C-8262-E349A373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A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04170DD7-33EF-4078-8962-505BB199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True. groupby sorts its output by key, so both Series align by index and value despite different input row order.</a:t>
            </a:r>
          </a:p>
        </p:txBody>
      </p:sp>
    </p:spTree>
    <p:extLst>
      <p:ext uri="{BB962C8B-B14F-4D97-AF65-F5344CB8AC3E}">
        <p14:creationId xmlns:p14="http://schemas.microsoft.com/office/powerpoint/2010/main" val="695249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BCB22661-1437-4232-A103-E7D2B4C4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4CB787B-7C89-4C1B-A016-34994599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peer-clinic protocol, four moves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2BDF3-E2EE-4B3E-ABC6-971D73D4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9B0C5B22-6685-49A6-AC4F-B02B1A27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543FE9E-9C9C-4B46-BA9F-81827C4B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1B9A3006-F0C0-4D3D-8A8E-EF7BCF9B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65EDFD34-D608-4791-9F39-616EC2A0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DDBD88D1-08F0-40EC-A0ED-74E112F7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B24C77FA-A006-4B17-974A-583C6440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C648100C-85FC-463E-9027-34EC1C55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E2924CEC-CFD3-4D94-A91E-94578BA1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SWAP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5A5D1-DB81-4664-9CBE-1561F7EA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CEEFB9E2-91AF-4396-B481-7BF471B0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Trade files, not context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27085A96-ABB7-4B43-AC5C-C3963C94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Hand your partner only what a grader would get: the folder, the README, the report. No verbal walkthrough yet.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98DC3C29-B530-42B3-818D-028FB7C7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72D8D680-E044-4D4D-BD69-5ACF3B09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CA6F957E-6B06-4AD5-86E2-EB6156AC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70712-2C54-47D3-B54A-CE7CC99E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105D6AA1-E12E-456F-A2CF-44696CF1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Restart and run cold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BE509F3A-BC87-4732-97A7-94537A38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From a fresh kernel, run their scripts in order. Note the first place it breaks or a number doesn't match the report.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A8B76E68-EBE2-4645-B479-5EF7B7F7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10751A5A-225A-4198-A45B-62FCA8ED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8996834E-0835-46FE-92C7-0EA7FEC0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A4444-55C9-4AB1-892B-68758A7B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167A4E17-7A0C-47F9-98CA-00A69C6D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Follow one number back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3B21ECF7-A111-44C5-8AF1-2508B4DC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Pick one reported number and trace it from the report to the grouped-summary CSV to the cleaned CSV to the raw data.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C219AB0F-DDA2-4ED4-97C8-DB61CBBB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74D000A6-2791-4746-8107-5684C072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AD1496BD-01D8-496B-B0F8-41E6F9D1A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NOTE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62120D-5403-4F35-932F-54501748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F440BA54-4423-4A61-AC1A-317A79E62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one fixable note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57F893CF-B88E-47AE-A6A0-3DDE08F2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Not a compliment — one sentence naming the rubric line, the gap, and what would close it.</a:t>
            </a:r>
          </a:p>
        </p:txBody>
      </p:sp>
    </p:spTree>
    <p:extLst>
      <p:ext uri="{BB962C8B-B14F-4D97-AF65-F5344CB8AC3E}">
        <p14:creationId xmlns:p14="http://schemas.microsoft.com/office/powerpoint/2010/main" val="1641379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DA219923-5042-4D7E-9AA5-75069C18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PROTOCOL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B359354-7CDB-430E-B510-122F8509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Giving vs. receiving a critique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1B587-09B6-4BD2-B01A-ACFD8CDE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29FF37A-93E8-4EB5-BCEF-C8D92750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2FEE5F6-411B-4302-AE2E-D7390C75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52EF0D0C-84D4-4CE6-ACB8-9A4F7833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Giving a critique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A3CFA8F3-FF55-4940-9B70-47CADA87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Point at the rubric line, not a vibe. Name the specific number, formula, or file that's off, not just a feeling that something's off. Name one gap and one thing that already works.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C43505DD-D06B-485C-BE1B-9E3B1452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Receiving a critique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C9DD02C1-4306-4CE8-8C52-BA810B67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07461"/>
            <a:ext cx="5219700" cy="1136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Ask one clarifying question before defending the choice. Write the note down even if you disagree — you decide later what to change, but you can't act on a note you didn't keep.</a:t>
            </a:r>
          </a:p>
        </p:txBody>
      </p:sp>
    </p:spTree>
    <p:extLst>
      <p:ext uri="{BB962C8B-B14F-4D97-AF65-F5344CB8AC3E}">
        <p14:creationId xmlns:p14="http://schemas.microsoft.com/office/powerpoint/2010/main" val="6002999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kicker">
            <a:extLst xmlns:a="http://schemas.openxmlformats.org/drawingml/2006/main">
              <a:ext uri="{FF2B5EF4-FFF2-40B4-BE49-F238E27FC236}">
                <a16:creationId xmlns:a16="http://schemas.microsoft.com/office/drawing/2014/main" id="{EEA9B93D-3205-421A-9902-AAC71442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C1A3D69-8513-4BCD-AD5D-C2B6B6EE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Rubric-tied critique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CA616-E8F5-4799-8547-66D652A2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0C13858-992A-4692-AFE5-DF85441C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B8A6617-E713-43C1-B9B0-2D42975A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338F1-6795-4ADC-8203-E00AAD0E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54747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81FC96B7-9266-4DF7-9906-C2DF69C4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432614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1 rubric 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4077C-875E-421D-8990-CEF5E48F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347" y="1885950"/>
            <a:ext cx="103517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D41C15EB-FE63-45F9-8D79-6086D05F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647" y="1962150"/>
            <a:ext cx="80657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B313D-FC38-4A73-AF41-E991D7CF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517" y="1885950"/>
            <a:ext cx="5382883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78ABB073-0187-40F3-B11D-35DD9DA4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817" y="1962150"/>
            <a:ext cx="515428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Ask your partner to show you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E1EAF-43E8-4D86-B7A7-3F5A5920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4554747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DE9C0D89-CF32-40AE-BD67-73277399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95550"/>
            <a:ext cx="4326147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Data provenance, cleaning, and exact-format exports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DDD70-D414-496D-AF4A-99D73D2A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347" y="2419350"/>
            <a:ext cx="103517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3C4580B7-8635-4A69-B5C2-95D3397E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647" y="2495550"/>
            <a:ext cx="80657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B73DF-B4C2-467D-86B6-956DBF6B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517" y="2419350"/>
            <a:ext cx="5382883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40B71AD8-1CD6-4DD1-92B1-94710F0B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817" y="2495550"/>
            <a:ext cx="5154283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your Week 4 cleaning script from a restart; confirm the exported CSV matches the exact schema.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5E38FA-31DA-4127-9E8B-93A89790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0370"/>
            <a:ext cx="455474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9BA10D80-3952-463E-AE11-5BCCDBD7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6570"/>
            <a:ext cx="432614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Grouping and IQR-based outlier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A1A95-9884-4AC2-82AE-2A7F2FA3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347" y="2960370"/>
            <a:ext cx="103517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DD4FB3FA-652B-481C-A286-24C3F3DF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647" y="3036570"/>
            <a:ext cx="80657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184536-D792-439E-9AD8-6DA76165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517" y="2960370"/>
            <a:ext cx="5382883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8645694F-DF36-4E46-8156-080371CF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817" y="3036570"/>
            <a:ext cx="5154283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IQR flags appear and every flagged row has a keep/investigate/exclude sentence; z-score and a merged benchmark are optional extras, not required.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1C86FA-FFE7-48A3-A37B-4C7735EC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4554747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2-0">
            <a:extLst xmlns:a="http://schemas.openxmlformats.org/drawingml/2006/main">
              <a:ext uri="{FF2B5EF4-FFF2-40B4-BE49-F238E27FC236}">
                <a16:creationId xmlns:a16="http://schemas.microsoft.com/office/drawing/2014/main" id="{E92D674C-F8DD-49B7-A0CE-F85806B3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4326147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purposeful static figures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2D8933-CFB9-4D0A-9C2A-FCB7A49C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347" y="3695700"/>
            <a:ext cx="103517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2-1">
            <a:extLst xmlns:a="http://schemas.openxmlformats.org/drawingml/2006/main">
              <a:ext uri="{FF2B5EF4-FFF2-40B4-BE49-F238E27FC236}">
                <a16:creationId xmlns:a16="http://schemas.microsoft.com/office/drawing/2014/main" id="{31A17AA7-6896-4EBD-ADF4-06620889C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647" y="3771900"/>
            <a:ext cx="80657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2051A2-8F81-4360-8A76-C366BEA8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517" y="3695700"/>
            <a:ext cx="5382883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2-2">
            <a:extLst xmlns:a="http://schemas.openxmlformats.org/drawingml/2006/main">
              <a:ext uri="{FF2B5EF4-FFF2-40B4-BE49-F238E27FC236}">
                <a16:creationId xmlns:a16="http://schemas.microsoft.com/office/drawing/2014/main" id="{7FA76B12-999E-4E0D-8E31-ECDE5D8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817" y="3771900"/>
            <a:ext cx="5154283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Two figures, one showing a cleaning/outlier consequence, one with a direct annotation.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CC1B8A-8DD0-408E-9381-FDFEAD30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6720"/>
            <a:ext cx="4554747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1" name="cell-3-0">
            <a:extLst xmlns:a="http://schemas.openxmlformats.org/drawingml/2006/main">
              <a:ext uri="{FF2B5EF4-FFF2-40B4-BE49-F238E27FC236}">
                <a16:creationId xmlns:a16="http://schemas.microsoft.com/office/drawing/2014/main" id="{F0589AE7-A0EC-433B-9EA9-72EE01A2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2920"/>
            <a:ext cx="4326147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Chosen extension: map OR animation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B75284-F562-465B-9209-B00D494B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347" y="4236720"/>
            <a:ext cx="103517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3" name="cell-3-1">
            <a:extLst xmlns:a="http://schemas.openxmlformats.org/drawingml/2006/main">
              <a:ext uri="{FF2B5EF4-FFF2-40B4-BE49-F238E27FC236}">
                <a16:creationId xmlns:a16="http://schemas.microsoft.com/office/drawing/2014/main" id="{F52A04AE-E4D0-4311-94F7-A4551A8C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647" y="4312920"/>
            <a:ext cx="80657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6AC3CC-5F3C-474A-AD80-710CDC9F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517" y="4236720"/>
            <a:ext cx="5382883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5" name="cell-3-2">
            <a:extLst xmlns:a="http://schemas.openxmlformats.org/drawingml/2006/main">
              <a:ext uri="{FF2B5EF4-FFF2-40B4-BE49-F238E27FC236}">
                <a16:creationId xmlns:a16="http://schemas.microsoft.com/office/drawing/2014/main" id="{6FDD3CD0-C6BA-4D2F-90B1-0974D294A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817" y="4312920"/>
            <a:ext cx="5154283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Whichever the student picked — a map with a projected CRS, or a captioned FuncAnimation .gif — is present and correct, not both.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CA0E99-2D11-4B58-A149-F26182CD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4554747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7" name="cell-4-0">
            <a:extLst xmlns:a="http://schemas.openxmlformats.org/drawingml/2006/main">
              <a:ext uri="{FF2B5EF4-FFF2-40B4-BE49-F238E27FC236}">
                <a16:creationId xmlns:a16="http://schemas.microsoft.com/office/drawing/2014/main" id="{5ACD6803-A065-4229-8EC6-BF226356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4326147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Interpretation, limitations, and bounded recommendation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9B2D2D-FBC7-4984-89F2-7A8B3518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347" y="4972050"/>
            <a:ext cx="103517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39" name="cell-4-1">
            <a:extLst xmlns:a="http://schemas.openxmlformats.org/drawingml/2006/main">
              <a:ext uri="{FF2B5EF4-FFF2-40B4-BE49-F238E27FC236}">
                <a16:creationId xmlns:a16="http://schemas.microsoft.com/office/drawing/2014/main" id="{4E03E169-3DB6-442F-9E46-7D6BC788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647" y="5048250"/>
            <a:ext cx="80657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71AA84-C560-4F14-A6F1-19E6A00A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517" y="4972050"/>
            <a:ext cx="5382883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1" name="cell-4-2">
            <a:extLst xmlns:a="http://schemas.openxmlformats.org/drawingml/2006/main">
              <a:ext uri="{FF2B5EF4-FFF2-40B4-BE49-F238E27FC236}">
                <a16:creationId xmlns:a16="http://schemas.microsoft.com/office/drawing/2014/main" id="{16E87E00-4021-42F3-890E-C46A8E1B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817" y="5048250"/>
            <a:ext cx="5154283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closing paragraph names two real limitations, not just one plot's caption.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78CBCF-CC2C-4915-B14D-615F6D27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3070"/>
            <a:ext cx="4554747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3" name="cell-5-0">
            <a:extLst xmlns:a="http://schemas.openxmlformats.org/drawingml/2006/main">
              <a:ext uri="{FF2B5EF4-FFF2-40B4-BE49-F238E27FC236}">
                <a16:creationId xmlns:a16="http://schemas.microsoft.com/office/drawing/2014/main" id="{878F6846-D986-46FA-A0B5-0965F775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9270"/>
            <a:ext cx="4326147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Code quality, reproducibility, and AI-use disclosure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5099B4-75DE-46F3-AC32-A2565754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347" y="5513070"/>
            <a:ext cx="103517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5" name="cell-5-1">
            <a:extLst xmlns:a="http://schemas.openxmlformats.org/drawingml/2006/main">
              <a:ext uri="{FF2B5EF4-FFF2-40B4-BE49-F238E27FC236}">
                <a16:creationId xmlns:a16="http://schemas.microsoft.com/office/drawing/2014/main" id="{01720909-CD15-4E9D-A412-AF050A5D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647" y="5589270"/>
            <a:ext cx="80657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60A3DCF-5B4A-4D09-97C7-FF485552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517" y="5513070"/>
            <a:ext cx="5382883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7" name="cell-5-2">
            <a:extLst xmlns:a="http://schemas.openxmlformats.org/drawingml/2006/main">
              <a:ext uri="{FF2B5EF4-FFF2-40B4-BE49-F238E27FC236}">
                <a16:creationId xmlns:a16="http://schemas.microsoft.com/office/drawing/2014/main" id="{609F1ED0-E246-46B4-B7B6-1215125B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817" y="5589270"/>
            <a:ext cx="5154283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Docstrings and type hints on every function, and a complete AI-use disclosure appendix.</a:t>
            </a:r>
          </a:p>
        </p:txBody>
      </p:sp>
    </p:spTree>
    <p:extLst>
      <p:ext uri="{BB962C8B-B14F-4D97-AF65-F5344CB8AC3E}">
        <p14:creationId xmlns:p14="http://schemas.microsoft.com/office/powerpoint/2010/main" val="12317934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kicker">
            <a:extLst xmlns:a="http://schemas.openxmlformats.org/drawingml/2006/main">
              <a:ext uri="{FF2B5EF4-FFF2-40B4-BE49-F238E27FC236}">
                <a16:creationId xmlns:a16="http://schemas.microsoft.com/office/drawing/2014/main" id="{454AA015-3B25-45D0-B61F-15984ADA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RUBRIC LINE 4, REFRESHER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9D7288-4E76-4B80-A4C6-39D88B77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Reread the reprojection line before your partner does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DD493-E154-4421-BAAC-3C90659E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3198D4A-24D8-4B1E-BA02-097A7C19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48ACD0C-1EA4-4891-B1A7-05F0FE7D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anatomy-code-panel">
            <a:extLst xmlns:a="http://schemas.openxmlformats.org/drawingml/2006/main">
              <a:ext uri="{FF2B5EF4-FFF2-40B4-BE49-F238E27FC236}">
                <a16:creationId xmlns:a16="http://schemas.microsoft.com/office/drawing/2014/main" id="{F500509E-6A94-415B-952F-4E50C6D0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728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1ECD5FB8-8415-408D-A51A-6ABF2651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57400"/>
            <a:ext cx="792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zones_utm = zones_merged.to_crs('EPSG:32618')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DF0FE-1930-43AD-A1C3-C218C6E2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47950"/>
            <a:ext cx="15087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9" name="part-chip-0">
            <a:extLst xmlns:a="http://schemas.openxmlformats.org/drawingml/2006/main">
              <a:ext uri="{FF2B5EF4-FFF2-40B4-BE49-F238E27FC236}">
                <a16:creationId xmlns:a16="http://schemas.microsoft.com/office/drawing/2014/main" id="{A65E67F8-187A-41DE-AD3F-684821B0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rt-chipno-0">
            <a:extLst xmlns:a="http://schemas.openxmlformats.org/drawingml/2006/main">
              <a:ext uri="{FF2B5EF4-FFF2-40B4-BE49-F238E27FC236}">
                <a16:creationId xmlns:a16="http://schemas.microsoft.com/office/drawing/2014/main" id="{673CC507-5E55-4F1D-96E5-87414DA4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1" name="part-lchip-0">
            <a:extLst xmlns:a="http://schemas.openxmlformats.org/drawingml/2006/main">
              <a:ext uri="{FF2B5EF4-FFF2-40B4-BE49-F238E27FC236}">
                <a16:creationId xmlns:a16="http://schemas.microsoft.com/office/drawing/2014/main" id="{A6740F95-D05A-4C34-882C-093B853E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35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rt-lchipno-0">
            <a:extLst xmlns:a="http://schemas.openxmlformats.org/drawingml/2006/main">
              <a:ext uri="{FF2B5EF4-FFF2-40B4-BE49-F238E27FC236}">
                <a16:creationId xmlns:a16="http://schemas.microsoft.com/office/drawing/2014/main" id="{A2448A36-F02C-432D-B9BD-CDFC4E35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35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part-head-0">
            <a:extLst xmlns:a="http://schemas.openxmlformats.org/drawingml/2006/main">
              <a:ext uri="{FF2B5EF4-FFF2-40B4-BE49-F238E27FC236}">
                <a16:creationId xmlns:a16="http://schemas.microsoft.com/office/drawing/2014/main" id="{5CF62D55-E36D-4422-848E-6A1EDECC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155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new object</a:t>
            </a:r>
          </a:p>
        </p:txBody>
      </p:sp>
      <p:sp>
        <p:nvSpPr>
          <p:cNvPr id="14" name="part-body-0">
            <a:extLst xmlns:a="http://schemas.openxmlformats.org/drawingml/2006/main">
              <a:ext uri="{FF2B5EF4-FFF2-40B4-BE49-F238E27FC236}">
                <a16:creationId xmlns:a16="http://schemas.microsoft.com/office/drawing/2014/main" id="{CDAB9F4B-AF81-43AD-A1C8-769D6204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355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Reprojected copy — zones_merged is untouched by this call.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1057B-E5F9-4FD3-A0AD-38EF9628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5780" y="264795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6" name="part-chip-1">
            <a:extLst xmlns:a="http://schemas.openxmlformats.org/drawingml/2006/main">
              <a:ext uri="{FF2B5EF4-FFF2-40B4-BE49-F238E27FC236}">
                <a16:creationId xmlns:a16="http://schemas.microsoft.com/office/drawing/2014/main" id="{25E71776-57E1-431A-8A34-B293D625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rt-chipno-1">
            <a:extLst xmlns:a="http://schemas.openxmlformats.org/drawingml/2006/main">
              <a:ext uri="{FF2B5EF4-FFF2-40B4-BE49-F238E27FC236}">
                <a16:creationId xmlns:a16="http://schemas.microsoft.com/office/drawing/2014/main" id="{D42B48BC-37E6-4F3E-94E0-8A38C579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779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part-lchip-1">
            <a:extLst xmlns:a="http://schemas.openxmlformats.org/drawingml/2006/main">
              <a:ext uri="{FF2B5EF4-FFF2-40B4-BE49-F238E27FC236}">
                <a16:creationId xmlns:a16="http://schemas.microsoft.com/office/drawing/2014/main" id="{7F227B17-BF59-467D-9882-5CF02A0A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t-lchipno-1">
            <a:extLst xmlns:a="http://schemas.openxmlformats.org/drawingml/2006/main">
              <a:ext uri="{FF2B5EF4-FFF2-40B4-BE49-F238E27FC236}">
                <a16:creationId xmlns:a16="http://schemas.microsoft.com/office/drawing/2014/main" id="{9AF44BED-BF01-4C95-BD61-EFFB0E2B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part-head-1">
            <a:extLst xmlns:a="http://schemas.openxmlformats.org/drawingml/2006/main">
              <a:ext uri="{FF2B5EF4-FFF2-40B4-BE49-F238E27FC236}">
                <a16:creationId xmlns:a16="http://schemas.microsoft.com/office/drawing/2014/main" id="{D496143B-BA86-49EE-A7D4-F64D394C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295" y="3009900"/>
            <a:ext cx="1695450" cy="5318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Still EPSG:4326</a:t>
            </a:r>
          </a:p>
        </p:txBody>
      </p:sp>
      <p:sp>
        <p:nvSpPr>
          <p:cNvPr id="21" name="part-body-1">
            <a:extLst xmlns:a="http://schemas.openxmlformats.org/drawingml/2006/main">
              <a:ext uri="{FF2B5EF4-FFF2-40B4-BE49-F238E27FC236}">
                <a16:creationId xmlns:a16="http://schemas.microsoft.com/office/drawing/2014/main" id="{C857564B-7ECD-40C8-90ED-4B030ECD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637026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Degrees — correct for storage, wrong for measuring area or length.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F909E9-23B0-4669-9CDD-8DDD8D9E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460" y="2647950"/>
            <a:ext cx="1341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23" name="part-chip-2">
            <a:extLst xmlns:a="http://schemas.openxmlformats.org/drawingml/2006/main">
              <a:ext uri="{FF2B5EF4-FFF2-40B4-BE49-F238E27FC236}">
                <a16:creationId xmlns:a16="http://schemas.microsoft.com/office/drawing/2014/main" id="{3ADAC5BF-B2E6-4AAB-8601-EEA7A269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19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t-chipno-2">
            <a:extLst xmlns:a="http://schemas.openxmlformats.org/drawingml/2006/main">
              <a:ext uri="{FF2B5EF4-FFF2-40B4-BE49-F238E27FC236}">
                <a16:creationId xmlns:a16="http://schemas.microsoft.com/office/drawing/2014/main" id="{AE127600-90DE-4857-948D-936B2DD2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419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part-lchip-2">
            <a:extLst xmlns:a="http://schemas.openxmlformats.org/drawingml/2006/main">
              <a:ext uri="{FF2B5EF4-FFF2-40B4-BE49-F238E27FC236}">
                <a16:creationId xmlns:a16="http://schemas.microsoft.com/office/drawing/2014/main" id="{016F1511-2FAB-43A2-9B03-D986392B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895" y="4319778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rt-lchipno-2">
            <a:extLst xmlns:a="http://schemas.openxmlformats.org/drawingml/2006/main">
              <a:ext uri="{FF2B5EF4-FFF2-40B4-BE49-F238E27FC236}">
                <a16:creationId xmlns:a16="http://schemas.microsoft.com/office/drawing/2014/main" id="{72D59865-E2B9-42D3-A564-59CC5D10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895" y="4357878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7" name="part-head-2">
            <a:extLst xmlns:a="http://schemas.openxmlformats.org/drawingml/2006/main">
              <a:ext uri="{FF2B5EF4-FFF2-40B4-BE49-F238E27FC236}">
                <a16:creationId xmlns:a16="http://schemas.microsoft.com/office/drawing/2014/main" id="{9E88625E-CC35-47FF-8D5B-92D5EF3A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2695" y="4300728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Reprojects</a:t>
            </a:r>
          </a:p>
        </p:txBody>
      </p:sp>
      <p:sp>
        <p:nvSpPr>
          <p:cNvPr id="28" name="part-body-2">
            <a:extLst xmlns:a="http://schemas.openxmlformats.org/drawingml/2006/main">
              <a:ext uri="{FF2B5EF4-FFF2-40B4-BE49-F238E27FC236}">
                <a16:creationId xmlns:a16="http://schemas.microsoft.com/office/drawing/2014/main" id="{482DB60C-A60B-4913-9E33-510F5011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895" y="4680966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Returns a new GeoDataFrame in the CRS you name; never edits in place.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031640-A47B-422A-A28D-5B493DB0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580" y="2647950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30" name="part-chip-3">
            <a:extLst xmlns:a="http://schemas.openxmlformats.org/drawingml/2006/main">
              <a:ext uri="{FF2B5EF4-FFF2-40B4-BE49-F238E27FC236}">
                <a16:creationId xmlns:a16="http://schemas.microsoft.com/office/drawing/2014/main" id="{1901B241-96FE-4D79-A26E-78D5C9D3A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595" y="27241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rt-chipno-3">
            <a:extLst xmlns:a="http://schemas.openxmlformats.org/drawingml/2006/main">
              <a:ext uri="{FF2B5EF4-FFF2-40B4-BE49-F238E27FC236}">
                <a16:creationId xmlns:a16="http://schemas.microsoft.com/office/drawing/2014/main" id="{4421AF96-406C-455E-98BB-7B7EA7A3C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595" y="2771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part-lchip-3">
            <a:extLst xmlns:a="http://schemas.openxmlformats.org/drawingml/2006/main">
              <a:ext uri="{FF2B5EF4-FFF2-40B4-BE49-F238E27FC236}">
                <a16:creationId xmlns:a16="http://schemas.microsoft.com/office/drawing/2014/main" id="{C45CDB6F-11F7-411B-A70A-ADB0F239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295" y="302895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t-lchipno-3">
            <a:extLst xmlns:a="http://schemas.openxmlformats.org/drawingml/2006/main">
              <a:ext uri="{FF2B5EF4-FFF2-40B4-BE49-F238E27FC236}">
                <a16:creationId xmlns:a16="http://schemas.microsoft.com/office/drawing/2014/main" id="{AB83AE8D-12F6-4744-ADD1-C73CD08A6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295" y="3067050"/>
            <a:ext cx="209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4" name="part-head-3">
            <a:extLst xmlns:a="http://schemas.openxmlformats.org/drawingml/2006/main">
              <a:ext uri="{FF2B5EF4-FFF2-40B4-BE49-F238E27FC236}">
                <a16:creationId xmlns:a16="http://schemas.microsoft.com/office/drawing/2014/main" id="{CD7CE1B1-7AAE-4BE9-B174-9CE25734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095" y="3009900"/>
            <a:ext cx="1695450" cy="284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Target CRS</a:t>
            </a:r>
          </a:p>
        </p:txBody>
      </p:sp>
      <p:sp>
        <p:nvSpPr>
          <p:cNvPr id="35" name="part-body-3">
            <a:extLst xmlns:a="http://schemas.openxmlformats.org/drawingml/2006/main">
              <a:ext uri="{FF2B5EF4-FFF2-40B4-BE49-F238E27FC236}">
                <a16:creationId xmlns:a16="http://schemas.microsoft.com/office/drawing/2014/main" id="{C05D553F-EA59-4438-978C-2A223A23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295" y="3390138"/>
            <a:ext cx="2000250" cy="5875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UTM zone 18N, in meters — required before .area or .length means anything.</a:t>
            </a:r>
          </a:p>
        </p:txBody>
      </p:sp>
    </p:spTree>
    <p:extLst>
      <p:ext uri="{BB962C8B-B14F-4D97-AF65-F5344CB8AC3E}">
        <p14:creationId xmlns:p14="http://schemas.microsoft.com/office/powerpoint/2010/main" val="3381742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B7833186-E71E-4E42-B1B7-FE6F8B17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A7C8CE-A8F0-42BB-94AA-A2BA1D13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Before you submit: the hygiene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2FE61-04F3-4BC2-B876-21C504F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A65E445-E393-4448-A22F-61C90371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7A12D9-2CFD-49AE-880E-C3AB165D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A0F0CD-00AD-4DB9-BF18-00A92C91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B5812907-919F-4BE4-914E-41CB3876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EB8AE-01BE-4CD5-BBAD-1C4BBB05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95575"/>
            <a:ext cx="514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2F950877-352C-478D-A8B1-B9DFFE91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71775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Passing looks like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31B1E-4C91-4673-8705-37343607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22860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2465503A-8EF3-4F99-A941-F0ACA83A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20574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File names &amp; exports match spec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DB0A6-C040-4D3A-8430-B8848ED5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28975"/>
            <a:ext cx="5143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4650FFDA-3440-4011-B194-62218372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05175"/>
            <a:ext cx="4914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Your Week 4, 5, 6, and 7 scripts, and both CSVs, are named and formatted exactly as each week's spec 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75D7E8-0CED-4F6B-AB03-FD2D9793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4305"/>
            <a:ext cx="22860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84D91731-40C9-4CA6-8388-58971960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0505"/>
            <a:ext cx="20574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Self-check asserts 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BA25B-1606-43B8-A48E-B8C7E767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64305"/>
            <a:ext cx="5143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1BB7B54B-A396-444E-AA1E-3B9238F0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40505"/>
            <a:ext cx="4914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Your assert-based validation runs clean, top to bottom, from a just-restarted kernel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BBDACB-1D36-4AAB-88B6-632522E3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22860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45CCFEF6-1179-4DD5-97D7-43735FF0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20574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AI-use disclosure 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1228EA-6E29-4CB0-A20D-8E655B0A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505325"/>
            <a:ext cx="5143500" cy="7353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52CA8B8F-2F74-4431-8851-40D62A79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81525"/>
            <a:ext cx="4914900" cy="5829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One suggestion accepted as-is, one modified, one rejected or independently verified — named specifically, not generically</a:t>
            </a:r>
          </a:p>
        </p:txBody>
      </p:sp>
      <p:sp>
        <p:nvSpPr>
          <p:cNvPr id="22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5234E6D7-2A15-49FF-854A-DAB9D7F5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COMPLIANCE GATE</a:t>
            </a:r>
          </a:p>
        </p:txBody>
      </p:sp>
      <p:sp>
        <p:nvSpPr>
          <p:cNvPr id="23" name="callout">
            <a:extLst xmlns:a="http://schemas.openxmlformats.org/drawingml/2006/main">
              <a:ext uri="{FF2B5EF4-FFF2-40B4-BE49-F238E27FC236}">
                <a16:creationId xmlns:a16="http://schemas.microsoft.com/office/drawing/2014/main" id="{B6A33297-BC7A-4767-9BFC-0CA241F6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missing, incomplete, or fabricated AI-use disclosure caps this submission at 70%, regardless of technical quality.</a:t>
            </a:r>
          </a:p>
        </p:txBody>
      </p:sp>
    </p:spTree>
    <p:extLst>
      <p:ext uri="{BB962C8B-B14F-4D97-AF65-F5344CB8AC3E}">
        <p14:creationId xmlns:p14="http://schemas.microsoft.com/office/powerpoint/2010/main" val="1958358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C43A9F0C-8F94-4A69-BDC3-A87A412E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8B985FC-1990-4EE8-B673-4D394E29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Peer Clinic: swap and critique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E456E-97FE-49B3-86EF-1A810460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CAA6F8E8-E140-4576-9F64-998A81F0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7EAA4E-3912-472C-A8C8-86125208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3BE27B53-7738-4636-815F-72DAA607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27F71FF2-0FB4-4857-92CA-5F21AC97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Trade folders with a partner and run their Project 1 pipeline cold.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93457844-4295-4BEE-B204-FB654539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7111462E-5B5D-45D5-B25D-D53B67AE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779FC197-0C88-48A8-8ADA-95FCE922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Restart your partner's kernel and run every script top to bottom.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FB9F39AF-58DC-4F7E-ADC8-1C553820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59441BA1-8410-4586-9DBF-F730345C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Work down the rubric checklist together, rubric line by rubric line.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4098967F-EDF5-4F37-AF1E-A32687A8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FBC1EE0E-14B1-47EC-8A40-AB64C8AA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Trace one reported number back to the raw data with them watching.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8B6B6A7B-F7DA-45B1-8029-C507C0E33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73F0D4B4-07D5-4F09-8E11-DA9848B9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Give one specific, fixable note per rubric line — then swap roles.</a:t>
            </a:r>
          </a:p>
        </p:txBody>
      </p:sp>
    </p:spTree>
    <p:extLst>
      <p:ext uri="{BB962C8B-B14F-4D97-AF65-F5344CB8AC3E}">
        <p14:creationId xmlns:p14="http://schemas.microsoft.com/office/powerpoint/2010/main" val="12728032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D7D1C71-E81C-41B8-94D8-1C198CFE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893EE29-C80F-48F9-8849-19EA00DC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1 · Make the working directory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2AAEE6-5EA4-4A72-A721-9C1AB716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81C37D6-B0EA-4A5F-91D7-92619820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3D1ED00-0E3D-4098-8E9C-C7F3B1E8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E60D2CC1-C782-42C6-9231-04475734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9829800" cy="1557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reproducible project does not depend on whichever folder Spyder happened to remember.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28F55-C9CC-4087-9EEF-8579E2A8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2128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E6EC0117-AE02-4060-B091-B444DA7B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5978"/>
            <a:ext cx="93345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Use a project-relative path strategy, print the working folder once, and keep data/outputs in named subfolders.</a:t>
            </a:r>
          </a:p>
        </p:txBody>
      </p:sp>
    </p:spTree>
    <p:extLst>
      <p:ext uri="{BB962C8B-B14F-4D97-AF65-F5344CB8AC3E}">
        <p14:creationId xmlns:p14="http://schemas.microsoft.com/office/powerpoint/2010/main" val="6127856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B7A35F2F-C339-49A4-BD58-23232BC3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91428E-E2EE-4EBA-9C85-EC1BEA7E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2 · Cold-run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EB701-653F-4FB0-9CA3-4DFF7C8F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672ED6A-65DA-491D-9BC2-6204428C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B580A3F-B838-4CF5-82F4-C7890A3E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1ED71-1182-4F10-94D3-AED90635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96AAFFF5-C364-42CE-B3A6-0B1A6703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5C070-347E-4DD6-9BEF-232B6FFE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384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E18F1982-6FFD-4FB3-AD94-F76AFF62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146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F73EF-4128-4061-9FA4-F3ADA9F5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8E9A0D66-C857-4728-9ABD-EC39747B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restart kernel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0CD7FF-B2F8-498B-9C0C-83B78B81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718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6CE4CC97-0105-405A-BA3E-E2ACA534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480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 hidden 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11C0C-0D26-4E02-BC80-D87215C8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4782C651-D696-4D73-9B5E-FD38EC0D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814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run top to bottom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90F94-2293-4088-BEE5-DEF9FC73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052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06E5E57D-6974-4D0D-8E3A-39300D4E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7814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no manual cells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1C4B59-14BF-4403-A783-F9CE1924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8631A8D1-8DBD-4BC2-BC98-CFE7CDA0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outputs recreated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374809-D06A-40BF-8DDA-8D8BBF4F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386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EA1484D9-6E45-4F64-9701-F2344DA1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148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timestamps 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22E6F-E8D2-4255-8076-CB89A36E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3-0">
            <a:extLst xmlns:a="http://schemas.openxmlformats.org/drawingml/2006/main">
              <a:ext uri="{FF2B5EF4-FFF2-40B4-BE49-F238E27FC236}">
                <a16:creationId xmlns:a16="http://schemas.microsoft.com/office/drawing/2014/main" id="{8C0467F0-EC1C-422A-AE62-6E23F3D1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ED4EC-312C-48AC-9D28-74CA0601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720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3-1">
            <a:extLst xmlns:a="http://schemas.openxmlformats.org/drawingml/2006/main">
              <a:ext uri="{FF2B5EF4-FFF2-40B4-BE49-F238E27FC236}">
                <a16:creationId xmlns:a16="http://schemas.microsoft.com/office/drawing/2014/main" id="{1AD9C5F7-360E-4B53-BE76-2D2751DB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482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same values</a:t>
            </a:r>
          </a:p>
        </p:txBody>
      </p:sp>
      <p:sp>
        <p:nvSpPr>
          <p:cNvPr id="26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51A725AE-A39D-4EB2-B11C-0F9BB335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27" name="callout">
            <a:extLst xmlns:a="http://schemas.openxmlformats.org/drawingml/2006/main">
              <a:ext uri="{FF2B5EF4-FFF2-40B4-BE49-F238E27FC236}">
                <a16:creationId xmlns:a16="http://schemas.microsoft.com/office/drawing/2014/main" id="{EAF55994-E408-4D43-8DD8-1F6C9D7D0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Record the cold-run result in the submission checklist.</a:t>
            </a:r>
          </a:p>
        </p:txBody>
      </p:sp>
    </p:spTree>
    <p:extLst>
      <p:ext uri="{BB962C8B-B14F-4D97-AF65-F5344CB8AC3E}">
        <p14:creationId xmlns:p14="http://schemas.microsoft.com/office/powerpoint/2010/main" val="3180489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A1FDD178-76CD-4AA7-A0B2-183ED06F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295D1B-B400-4058-B6CB-47415A8F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3 · State what one row means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2AB45-F6CF-45B0-B966-52B046BF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5E75768-C96E-4369-B50A-10294522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962534A-B7F3-453D-B644-3E8628C1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5CC27D12-E7FB-4EC7-A82B-92B4BB33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UNIT OF ANALYSIS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72854922-411F-4D1E-A976-45497AF4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796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Room, sensor interval, building, parcel, simulation run, or another explicit entity.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230A5000-3B36-4733-A5A1-332E2B657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03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0A8E5015-B68D-4F2E-8DAD-18030380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9796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Counts, averages, joins, and claims are wrong if the reader assumes a different row meaning.</a:t>
            </a:r>
          </a:p>
        </p:txBody>
      </p:sp>
    </p:spTree>
    <p:extLst>
      <p:ext uri="{BB962C8B-B14F-4D97-AF65-F5344CB8AC3E}">
        <p14:creationId xmlns:p14="http://schemas.microsoft.com/office/powerpoint/2010/main" val="12297886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">
            <a:extLst xmlns:a="http://schemas.openxmlformats.org/drawingml/2006/main">
              <a:ext uri="{FF2B5EF4-FFF2-40B4-BE49-F238E27FC236}">
                <a16:creationId xmlns:a16="http://schemas.microsoft.com/office/drawing/2014/main" id="{B56720FD-590A-40E2-ADF3-6CC9551D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B2A6E84-A1F2-4596-9966-857AC2F8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4 · Separate missingness from outliers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EA5D27-F4FA-486E-BE75-0D6EE5B9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42358D8-BB01-4561-9D5D-DDD92D0A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A1EE512-35BD-4B38-AC79-70206F0E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2CCEB-0A58-4FB7-86D9-521294EB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6C78D54B-E2DE-4840-81CF-0F32E3B66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6DB25-EBAE-463E-A6A5-4A9BD880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623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8CA79183-035E-423F-AE20-A7B3145F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385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A6AA1-CF7B-42D7-8E59-F5F1220A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62300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header-2">
            <a:extLst xmlns:a="http://schemas.openxmlformats.org/drawingml/2006/main">
              <a:ext uri="{FF2B5EF4-FFF2-40B4-BE49-F238E27FC236}">
                <a16:creationId xmlns:a16="http://schemas.microsoft.com/office/drawing/2014/main" id="{1521C9A3-291C-4EEC-BA3C-4444ED29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38500"/>
            <a:ext cx="224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D3D88-F295-45B6-9CF4-F7AC4820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0">
            <a:extLst xmlns:a="http://schemas.openxmlformats.org/drawingml/2006/main">
              <a:ext uri="{FF2B5EF4-FFF2-40B4-BE49-F238E27FC236}">
                <a16:creationId xmlns:a16="http://schemas.microsoft.com/office/drawing/2014/main" id="{CA6ABAE4-B745-40BE-AE75-2ED2C195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value absent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608C3C-47E5-4558-8B5D-C8C3C4E6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957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0-1">
            <a:extLst xmlns:a="http://schemas.openxmlformats.org/drawingml/2006/main">
              <a:ext uri="{FF2B5EF4-FFF2-40B4-BE49-F238E27FC236}">
                <a16:creationId xmlns:a16="http://schemas.microsoft.com/office/drawing/2014/main" id="{D75C2AE1-3677-4CA4-ABBE-37B39B04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19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missing_flag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146C6-C2CB-4492-9EBD-A7F9976C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9570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0-2">
            <a:extLst xmlns:a="http://schemas.openxmlformats.org/drawingml/2006/main">
              <a:ext uri="{FF2B5EF4-FFF2-40B4-BE49-F238E27FC236}">
                <a16:creationId xmlns:a16="http://schemas.microsoft.com/office/drawing/2014/main" id="{04948E04-D605-4FC9-B8F0-02E77D84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7190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trace source / report denominator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E95F46-35F4-4771-84FB-14CB95B7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67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1-0">
            <a:extLst xmlns:a="http://schemas.openxmlformats.org/drawingml/2006/main">
              <a:ext uri="{FF2B5EF4-FFF2-40B4-BE49-F238E27FC236}">
                <a16:creationId xmlns:a16="http://schemas.microsoft.com/office/drawing/2014/main" id="{EAE6A9F5-171E-4496-88C8-86438B14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29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value present but extreme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5224EA-519A-4E55-8EDB-96DDD696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367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1-1">
            <a:extLst xmlns:a="http://schemas.openxmlformats.org/drawingml/2006/main">
              <a:ext uri="{FF2B5EF4-FFF2-40B4-BE49-F238E27FC236}">
                <a16:creationId xmlns:a16="http://schemas.microsoft.com/office/drawing/2014/main" id="{C1F3CD65-591E-4CFB-B2D2-D9887512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129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outlier_flag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D6E0D7-5321-46AD-ACC5-E7F2A09A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36720"/>
            <a:ext cx="247650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1-2">
            <a:extLst xmlns:a="http://schemas.openxmlformats.org/drawingml/2006/main">
              <a:ext uri="{FF2B5EF4-FFF2-40B4-BE49-F238E27FC236}">
                <a16:creationId xmlns:a16="http://schemas.microsoft.com/office/drawing/2014/main" id="{B76C5B35-1592-45FC-8F27-7AA6D437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312920"/>
            <a:ext cx="224790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investigate context / sensitivity</a:t>
            </a:r>
          </a:p>
        </p:txBody>
      </p:sp>
      <p:sp>
        <p:nvSpPr>
          <p:cNvPr id="24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8417BEB3-FAB1-43A2-8F0C-71125225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25" name="callout">
            <a:extLst xmlns:a="http://schemas.openxmlformats.org/drawingml/2006/main">
              <a:ext uri="{FF2B5EF4-FFF2-40B4-BE49-F238E27FC236}">
                <a16:creationId xmlns:a16="http://schemas.microsoft.com/office/drawing/2014/main" id="{FC507881-E3B9-49C7-8C30-91751950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missing value cannot be an IQR outlier because no numeric value exists to compare.</a:t>
            </a:r>
          </a:p>
        </p:txBody>
      </p:sp>
    </p:spTree>
    <p:extLst>
      <p:ext uri="{BB962C8B-B14F-4D97-AF65-F5344CB8AC3E}">
        <p14:creationId xmlns:p14="http://schemas.microsoft.com/office/powerpoint/2010/main" val="18060587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D2BE800E-567E-4074-9DB5-831AA867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DENOMINATOR DISCIPLINE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59E75D0-A194-453E-AD2E-606AB640A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5 · Report n_rows and n_measured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C1B22-BD45-4EC3-BA00-46B51205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78E2118-1135-4B2F-9514-E0990E93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3F2922D-96E0-4D93-8A55-3D4B207B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6" name="term-label">
            <a:extLst xmlns:a="http://schemas.openxmlformats.org/drawingml/2006/main">
              <a:ext uri="{FF2B5EF4-FFF2-40B4-BE49-F238E27FC236}">
                <a16:creationId xmlns:a16="http://schemas.microsoft.com/office/drawing/2014/main" id="{6BCC2ACF-ACE9-46A9-8BED-34EEDCC3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TERM</a:t>
            </a:r>
          </a:p>
        </p:txBody>
      </p:sp>
      <p:sp>
        <p:nvSpPr>
          <p:cNvPr id="7" name="term">
            <a:extLst xmlns:a="http://schemas.openxmlformats.org/drawingml/2006/main">
              <a:ext uri="{FF2B5EF4-FFF2-40B4-BE49-F238E27FC236}">
                <a16:creationId xmlns:a16="http://schemas.microsoft.com/office/drawing/2014/main" id="{E0DC9904-D66A-451B-B91D-B1AB6174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n_measured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9E79F-F793-4A21-B410-54F5FA87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E74B5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D7BC4FC0-89D1-4651-8F02-E9BD50C7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90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number of non-missing observations used for a statistic. It may be smaller than the number of rows in the group.</a:t>
            </a:r>
          </a:p>
        </p:txBody>
      </p:sp>
      <p:sp>
        <p:nvSpPr>
          <p:cNvPr id="10" name="example-panel">
            <a:extLst xmlns:a="http://schemas.openxmlformats.org/drawingml/2006/main">
              <a:ext uri="{FF2B5EF4-FFF2-40B4-BE49-F238E27FC236}">
                <a16:creationId xmlns:a16="http://schemas.microsoft.com/office/drawing/2014/main" id="{43AEDA12-D23A-4E75-87D2-011740B5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81965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example-label">
            <a:extLst xmlns:a="http://schemas.openxmlformats.org/drawingml/2006/main">
              <a:ext uri="{FF2B5EF4-FFF2-40B4-BE49-F238E27FC236}">
                <a16:creationId xmlns:a16="http://schemas.microsoft.com/office/drawing/2014/main" id="{F69F0E84-E195-4382-86ED-B035FB95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193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IN PRACTICE</a:t>
            </a:r>
          </a:p>
        </p:txBody>
      </p:sp>
      <p:sp>
        <p:nvSpPr>
          <p:cNvPr id="12" name="example-head">
            <a:extLst xmlns:a="http://schemas.openxmlformats.org/drawingml/2006/main">
              <a:ext uri="{FF2B5EF4-FFF2-40B4-BE49-F238E27FC236}">
                <a16:creationId xmlns:a16="http://schemas.microsoft.com/office/drawing/2014/main" id="{8CCF8A6A-E668-4DAC-99C0-3A7C8FAE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4381500" cy="304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Example</a:t>
            </a:r>
          </a:p>
        </p:txBody>
      </p:sp>
      <p:sp>
        <p:nvSpPr>
          <p:cNvPr id="13" name="example-body">
            <a:extLst xmlns:a="http://schemas.openxmlformats.org/drawingml/2006/main">
              <a:ext uri="{FF2B5EF4-FFF2-40B4-BE49-F238E27FC236}">
                <a16:creationId xmlns:a16="http://schemas.microsoft.com/office/drawing/2014/main" id="{0F0DCEBF-EE84-4601-B028-A82B889C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04338"/>
            <a:ext cx="4381500" cy="22296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Zone North: n_rows=12, n_measured=10 for energy intensity. The mean uses 10—not 12.</a:t>
            </a:r>
          </a:p>
        </p:txBody>
      </p:sp>
      <p:sp>
        <p:nvSpPr>
          <p:cNvPr id="14" name="note-bar">
            <a:extLst xmlns:a="http://schemas.openxmlformats.org/drawingml/2006/main">
              <a:ext uri="{FF2B5EF4-FFF2-40B4-BE49-F238E27FC236}">
                <a16:creationId xmlns:a16="http://schemas.microsoft.com/office/drawing/2014/main" id="{E5F1A362-4505-4D81-991F-5C256E9D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note-label">
            <a:extLst xmlns:a="http://schemas.openxmlformats.org/drawingml/2006/main">
              <a:ext uri="{FF2B5EF4-FFF2-40B4-BE49-F238E27FC236}">
                <a16:creationId xmlns:a16="http://schemas.microsoft.com/office/drawing/2014/main" id="{708F7CAD-BF31-4C29-BD3D-0123F3F1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B5731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5731A"/>
                </a:solidFill>
                <a:latin typeface="Arial"/>
                <a:ea typeface="Arial"/>
                <a:cs typeface="Arial"/>
              </a:rPr>
              <a:t>COMMON CONFUSION</a:t>
            </a:r>
          </a:p>
        </p:txBody>
      </p:sp>
      <p:sp>
        <p:nvSpPr>
          <p:cNvPr id="16" name="note">
            <a:extLst xmlns:a="http://schemas.openxmlformats.org/drawingml/2006/main">
              <a:ext uri="{FF2B5EF4-FFF2-40B4-BE49-F238E27FC236}">
                <a16:creationId xmlns:a16="http://schemas.microsoft.com/office/drawing/2014/main" id="{B54B101F-5D3B-4FF0-BF64-24358010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Never let a grouped mean imply that every row was measured.</a:t>
            </a:r>
          </a:p>
        </p:txBody>
      </p:sp>
    </p:spTree>
    <p:extLst>
      <p:ext uri="{BB962C8B-B14F-4D97-AF65-F5344CB8AC3E}">
        <p14:creationId xmlns:p14="http://schemas.microsoft.com/office/powerpoint/2010/main" val="9244705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kicker">
            <a:extLst xmlns:a="http://schemas.openxmlformats.org/drawingml/2006/main">
              <a:ext uri="{FF2B5EF4-FFF2-40B4-BE49-F238E27FC236}">
                <a16:creationId xmlns:a16="http://schemas.microsoft.com/office/drawing/2014/main" id="{6DDD0D6B-36C3-4E3F-87FB-D3EE2379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DEFEND THE SUMMARY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7258A7-582E-42DC-AB7F-510FB861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6 · Mean or median?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96529-51ED-4176-A1C4-46D0D97A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6414C72-0D3E-4B16-9C89-B6686377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1851E8-82E1-4B94-8304-3458DA39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B57B70B1-0C53-4937-A0CC-8B5FA34A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3246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21B05622-4695-4F87-88F2-6E56E4F0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8293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values = [52, 55, 57, 59, 410]</a:t>
            </a:r>
          </a:p>
        </p:txBody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D9F84768-923C-4A49-8CB0-8DB453CC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09750"/>
            <a:ext cx="4267200" cy="1152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Which summary better represents the typical room before the extreme case is resolved?</a:t>
            </a:r>
          </a:p>
        </p:txBody>
      </p:sp>
      <p:sp>
        <p:nvSpPr>
          <p:cNvPr id="9" name="opt-0">
            <a:extLst xmlns:a="http://schemas.openxmlformats.org/drawingml/2006/main">
              <a:ext uri="{FF2B5EF4-FFF2-40B4-BE49-F238E27FC236}">
                <a16:creationId xmlns:a16="http://schemas.microsoft.com/office/drawing/2014/main" id="{C6B6A879-2033-4E58-A55E-2BA63090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76194"/>
            <a:ext cx="4267200" cy="4476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0" name="opt-letter-0">
            <a:extLst xmlns:a="http://schemas.openxmlformats.org/drawingml/2006/main">
              <a:ext uri="{FF2B5EF4-FFF2-40B4-BE49-F238E27FC236}">
                <a16:creationId xmlns:a16="http://schemas.microsoft.com/office/drawing/2014/main" id="{1A724F9C-13ED-4352-9A24-4B3CBD56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90494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" name="opt-text-0">
            <a:extLst xmlns:a="http://schemas.openxmlformats.org/drawingml/2006/main">
              <a:ext uri="{FF2B5EF4-FFF2-40B4-BE49-F238E27FC236}">
                <a16:creationId xmlns:a16="http://schemas.microsoft.com/office/drawing/2014/main" id="{D00B220A-295B-4EDC-9546-0DC1D9F8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4294"/>
            <a:ext cx="3676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Mean only</a:t>
            </a:r>
          </a:p>
        </p:txBody>
      </p:sp>
      <p:sp>
        <p:nvSpPr>
          <p:cNvPr id="12" name="opt-1">
            <a:extLst xmlns:a="http://schemas.openxmlformats.org/drawingml/2006/main">
              <a:ext uri="{FF2B5EF4-FFF2-40B4-BE49-F238E27FC236}">
                <a16:creationId xmlns:a16="http://schemas.microsoft.com/office/drawing/2014/main" id="{CC73C5E3-A429-478D-B39E-86FD7ED5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81019"/>
            <a:ext cx="4267200" cy="4476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opt-letter-1">
            <a:extLst xmlns:a="http://schemas.openxmlformats.org/drawingml/2006/main">
              <a:ext uri="{FF2B5EF4-FFF2-40B4-BE49-F238E27FC236}">
                <a16:creationId xmlns:a16="http://schemas.microsoft.com/office/drawing/2014/main" id="{9E0906E9-C7E3-4574-9E15-0462253B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695319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" name="opt-text-1">
            <a:extLst xmlns:a="http://schemas.openxmlformats.org/drawingml/2006/main">
              <a:ext uri="{FF2B5EF4-FFF2-40B4-BE49-F238E27FC236}">
                <a16:creationId xmlns:a16="http://schemas.microsoft.com/office/drawing/2014/main" id="{224CC938-AE81-48B1-9171-A81AAA3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119"/>
            <a:ext cx="3676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Median, with the extreme case reported separately</a:t>
            </a:r>
          </a:p>
        </p:txBody>
      </p:sp>
      <p:sp>
        <p:nvSpPr>
          <p:cNvPr id="15" name="opt-2">
            <a:extLst xmlns:a="http://schemas.openxmlformats.org/drawingml/2006/main">
              <a:ext uri="{FF2B5EF4-FFF2-40B4-BE49-F238E27FC236}">
                <a16:creationId xmlns:a16="http://schemas.microsoft.com/office/drawing/2014/main" id="{3EBF5F64-30D4-4EF1-ACDE-86DF11DC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85844"/>
            <a:ext cx="4267200" cy="4476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opt-letter-2">
            <a:extLst xmlns:a="http://schemas.openxmlformats.org/drawingml/2006/main">
              <a:ext uri="{FF2B5EF4-FFF2-40B4-BE49-F238E27FC236}">
                <a16:creationId xmlns:a16="http://schemas.microsoft.com/office/drawing/2014/main" id="{58FEFD8B-A3FC-40CB-96CA-34F402F8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00144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opt-text-2">
            <a:extLst xmlns:a="http://schemas.openxmlformats.org/drawingml/2006/main">
              <a:ext uri="{FF2B5EF4-FFF2-40B4-BE49-F238E27FC236}">
                <a16:creationId xmlns:a16="http://schemas.microsoft.com/office/drawing/2014/main" id="{7E28EC53-3302-4B69-BC79-BAF91035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23944"/>
            <a:ext cx="3676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Maximum</a:t>
            </a:r>
          </a:p>
        </p:txBody>
      </p:sp>
      <p:sp>
        <p:nvSpPr>
          <p:cNvPr id="18" name="opt-3">
            <a:extLst xmlns:a="http://schemas.openxmlformats.org/drawingml/2006/main">
              <a:ext uri="{FF2B5EF4-FFF2-40B4-BE49-F238E27FC236}">
                <a16:creationId xmlns:a16="http://schemas.microsoft.com/office/drawing/2014/main" id="{550A6697-32F6-4A54-9B4F-2DAC39C3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90669"/>
            <a:ext cx="4267200" cy="4476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opt-letter-3">
            <a:extLst xmlns:a="http://schemas.openxmlformats.org/drawingml/2006/main">
              <a:ext uri="{FF2B5EF4-FFF2-40B4-BE49-F238E27FC236}">
                <a16:creationId xmlns:a16="http://schemas.microsoft.com/office/drawing/2014/main" id="{31EB0333-5B1B-44C4-B5B8-776FDA1B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04969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0" name="opt-text-3">
            <a:extLst xmlns:a="http://schemas.openxmlformats.org/drawingml/2006/main">
              <a:ext uri="{FF2B5EF4-FFF2-40B4-BE49-F238E27FC236}">
                <a16:creationId xmlns:a16="http://schemas.microsoft.com/office/drawing/2014/main" id="{9C4D1A7D-AF07-4238-BDC3-0C87A676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28769"/>
            <a:ext cx="36766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>
                <a:solidFill>
                  <a:srgbClr val="111316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111316"/>
                </a:solidFill>
                <a:latin typeface="Consolas"/>
                <a:ea typeface="Consolas"/>
                <a:cs typeface="Consolas"/>
              </a:rPr>
              <a:t>Delete 410 automatically</a:t>
            </a:r>
          </a:p>
        </p:txBody>
      </p:sp>
      <p:sp>
        <p:nvSpPr>
          <p:cNvPr id="21" name="answer-panel">
            <a:extLst xmlns:a="http://schemas.openxmlformats.org/drawingml/2006/main">
              <a:ext uri="{FF2B5EF4-FFF2-40B4-BE49-F238E27FC236}">
                <a16:creationId xmlns:a16="http://schemas.microsoft.com/office/drawing/2014/main" id="{18CBFF8A-9DBB-4B6D-BF74-AD5614C9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22" name="answer-label">
            <a:extLst xmlns:a="http://schemas.openxmlformats.org/drawingml/2006/main">
              <a:ext uri="{FF2B5EF4-FFF2-40B4-BE49-F238E27FC236}">
                <a16:creationId xmlns:a16="http://schemas.microsoft.com/office/drawing/2014/main" id="{EAA3595A-A373-405F-921B-DA16C41F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721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1F4D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F4D78"/>
                </a:solidFill>
                <a:latin typeface="Arial"/>
                <a:ea typeface="Arial"/>
                <a:cs typeface="Arial"/>
              </a:rPr>
              <a:t>ANSWER  ·  B</a:t>
            </a:r>
          </a:p>
        </p:txBody>
      </p:sp>
      <p:sp>
        <p:nvSpPr>
          <p:cNvPr id="23" name="why">
            <a:extLst xmlns:a="http://schemas.openxmlformats.org/drawingml/2006/main">
              <a:ext uri="{FF2B5EF4-FFF2-40B4-BE49-F238E27FC236}">
                <a16:creationId xmlns:a16="http://schemas.microsoft.com/office/drawing/2014/main" id="{E295C7E2-1240-4D31-A67F-7338457C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0553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median is resistant to the extreme value. Keep the case visible and run a sensitivity comparison before any exclusion.</a:t>
            </a:r>
          </a:p>
        </p:txBody>
      </p:sp>
    </p:spTree>
    <p:extLst>
      <p:ext uri="{BB962C8B-B14F-4D97-AF65-F5344CB8AC3E}">
        <p14:creationId xmlns:p14="http://schemas.microsoft.com/office/powerpoint/2010/main" val="19051446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E1E462A3-30D4-4F9C-922D-D9F48234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0B11DD-AE6C-486B-9615-5D49B7C1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7 · Run an outlier sensitivity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EE09D-5710-42AC-B8F3-76934FDA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598B4ED-1657-4C3E-BB59-B79833ED0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01A951F-A582-4227-9744-4B846994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6D2B0332-D38C-4A63-BD8C-83FC2EEA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WITH THE CASE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9E9705A5-47E8-4B42-ADD2-402F1CC9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271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Report the statistic and interpretation using every measured value.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A257C10D-0568-4CF6-AEDD-2D3ED44A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WITHOUT THE CASE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3E00EDCC-9059-4E13-9390-E34D3E9A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2711"/>
            <a:ext cx="52197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Report the same statistic after a justified temporary exclusion. If the claim changes, say so.</a:t>
            </a:r>
          </a:p>
        </p:txBody>
      </p:sp>
    </p:spTree>
    <p:extLst>
      <p:ext uri="{BB962C8B-B14F-4D97-AF65-F5344CB8AC3E}">
        <p14:creationId xmlns:p14="http://schemas.microsoft.com/office/powerpoint/2010/main" val="75969937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0422F97E-CEC6-4AD2-8A24-562EF590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0CEF99-B133-4AF5-BFA5-535678B3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8 · Figure 1 answers a distribution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84029-12C9-4DA9-A8F7-4C9466F0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386D743-5790-42FB-806A-FAF75640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0D9BF80-DEC4-4723-A51B-B181BABC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7E2000AD-0B84-4951-A158-6BF59521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89EA43B0-C864-4BCC-9490-0FC32F14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the exported distribution figure at presentation size.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A50DC8FF-3AE7-40C6-9ED7-0D97A986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C9FE186D-D85C-491E-B186-E487BA08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AC783E30-3DF4-41B8-A178-F912A9BF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Read the title without seeing the code.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3BEDF9A7-22F0-469A-836E-54E66615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82A4DFCB-A9F9-4CDC-B42F-303534B6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 x/y labels and units.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EDFE8B57-7193-4654-992A-17244C13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4A040593-A3F7-4F49-8A75-1FA1C29D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Identify the typical range and any unusual cases.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57DACF89-7803-49C9-909F-34C98A10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CDED7CE9-CD17-4A1B-8FFC-E8EA9479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Write one bounded sentence the figure supports.</a:t>
            </a:r>
          </a:p>
        </p:txBody>
      </p:sp>
    </p:spTree>
    <p:extLst>
      <p:ext uri="{BB962C8B-B14F-4D97-AF65-F5344CB8AC3E}">
        <p14:creationId xmlns:p14="http://schemas.microsoft.com/office/powerpoint/2010/main" val="8132236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BBC1AA66-F806-4DF0-8408-ADE66A80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E19857-5F2D-46C8-B245-EB836FB6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9 · Figure 2 answers a relationship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20950-0B4C-48FC-AB16-D96B2ACE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9766DF1-25C8-4C5C-AB5B-55F6DBB6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D124C16-3E26-4434-958A-36BBCA92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AC89FFB6-4905-476A-BE8D-A190C9279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CCEC3AB8-DBF6-4B82-A82A-593C648D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 the relationship figure as evidence, not decoration.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0A892668-99FB-4C17-9BDD-4FBEAAB6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DFB7C79D-F9FC-48B0-9EB2-E0603BAC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6880AF81-F8DE-401A-B3BD-DD26BC68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x, y, units, and each encoded group.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BCFAFE04-3683-4659-8B36-A497E63C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37D1F21F-9DEB-474B-988F-C9F8A4D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Annotate the case that changes the interpretation.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5BCE1B9F-BCF6-4529-9E61-BBB403AB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3324AEFF-17E4-4114-A879-F3DCBD7D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Avoid causal language unless the design supports it.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DAC8BE45-A6D6-4B30-8641-D448DF8E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54ED493C-382E-46DB-9DBD-9A297D3F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what remains unexplained.</a:t>
            </a:r>
          </a:p>
        </p:txBody>
      </p:sp>
    </p:spTree>
    <p:extLst>
      <p:ext uri="{BB962C8B-B14F-4D97-AF65-F5344CB8AC3E}">
        <p14:creationId xmlns:p14="http://schemas.microsoft.com/office/powerpoint/2010/main" val="22909187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904A2F73-826B-4211-BDC5-E3449944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7650164-B471-412E-87BD-D61AFA3A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10 · Map or animation: one extension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F248AE-3047-490D-BDF5-19ABA0D7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C551A90-C639-460D-9E77-BA9871DE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3EC80B0-1E70-4005-A8EA-1772860C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F20E0CF8-39D5-4C3F-81D8-9E99C6D3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MAP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3E1C405C-B211-47E9-A66C-EC8B3ED9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271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State CRS, spatial operation, legend meaning, and what location adds to the claim.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FD25DB5E-FBAF-4BFD-B914-B3003EB3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0512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ANIMATION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F5E6BA3F-AE7B-484D-90C9-A6FB084C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2711"/>
            <a:ext cx="5219700" cy="87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State what changes, what stays fixed, frame units, and what motion reveals beyond a static figure.</a:t>
            </a:r>
          </a:p>
        </p:txBody>
      </p:sp>
    </p:spTree>
    <p:extLst>
      <p:ext uri="{BB962C8B-B14F-4D97-AF65-F5344CB8AC3E}">
        <p14:creationId xmlns:p14="http://schemas.microsoft.com/office/powerpoint/2010/main" val="19514622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25F873FB-EC64-4F05-9AC3-ED6B808B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A83CEC8-27ED-420F-9BFF-70D6A043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11 · Caption as a four-part argument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7120A-3C91-4801-A515-FA05936C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DC7B469-E2D1-4652-980B-F686802F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71B2974-B6CE-41DB-AEA2-8D924076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CA31CC94-D5F1-4934-A9FF-D90F9B9E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13BF0FFC-A080-4D7A-BF3C-3EA5371B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3A26369B-426C-4E65-91C5-58E9F59D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A0FE449B-CDDB-4402-A440-CD520197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59D4BFAD-B838-4E5F-BEA5-7196C6A7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C1C13F7F-E5FC-449B-9588-E60DDFC8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WHAT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C4EAA-740B-4A71-8D3D-40F96E68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E182AF31-CF4A-4D0F-851A-B0774359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evidence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8BC62411-F181-4A4F-8F03-21E1A209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Variable, groups, time, or space.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D9560F00-9C73-4F34-BBE0-3C3BDEA2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8188F4EB-6AF7-4AB0-A328-56CE77FD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186A6ABF-A82B-4131-AC0F-6210EF54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HOW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5794CF-FFD4-4E14-9FE1-DBF7BF08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9984DFA8-4BD8-483E-9222-A4AACBC7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 the method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81E637E3-A012-4640-968B-D917D21D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Summary, filter, CRS, or frame logic.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AEEA4BAD-CC4A-42F8-B9AB-27A727AD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A219297C-F3C4-4934-ABCD-C6341551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C69511E8-68D8-43C2-97DD-84119B50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SO WHAT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E0E849-ADC8-4244-94BD-A2F84B96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E206B95F-B867-4DE4-9876-5FDFDBB2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the pattern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1F1CFFF8-4B9C-47F2-9610-8B9BB621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One bounded finding.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8CA14297-B8D1-4CD5-968C-2406B806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E642294B-8AE0-48E1-BFC9-8FD80FF9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BD371761-F0D2-4260-9292-95428AD8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DA8C9F-CE65-4960-AF5B-A072D196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04C8308A-79E7-42A8-BE42-5F366D94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State uncertainty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617B9A3D-E97D-45A6-B9D1-903917EE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Missing rows, proxy, sampling, or scope.</a:t>
            </a:r>
          </a:p>
        </p:txBody>
      </p:sp>
    </p:spTree>
    <p:extLst>
      <p:ext uri="{BB962C8B-B14F-4D97-AF65-F5344CB8AC3E}">
        <p14:creationId xmlns:p14="http://schemas.microsoft.com/office/powerpoint/2010/main" val="14256277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">
            <a:extLst xmlns:a="http://schemas.openxmlformats.org/drawingml/2006/main">
              <a:ext uri="{FF2B5EF4-FFF2-40B4-BE49-F238E27FC236}">
                <a16:creationId xmlns:a16="http://schemas.microsoft.com/office/drawing/2014/main" id="{88B4F1FA-460F-4A09-ACEA-0F7D034D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CONCEPT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5015A00-B970-4F0C-BC4C-EAB260A6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12 · Visual accessibility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D858E-39FF-47C6-ACEB-C92A15BD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88F954A-2D75-4676-86D4-60065C5F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3E15688-B793-4CCE-84B1-B4EF501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B270F518-4D87-46AB-ACBB-1A6BABF0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ON THE SLIDE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75D0F542-352F-4AB1-896B-C6631415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9796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Legible labels · units · sufficient contrast · direct annotation · no color-only meaning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C5DE2482-B903-4101-BF8C-EFD2AADD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00375"/>
            <a:ext cx="52197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IN THE FILE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93C9FD9B-904A-4D84-8F7E-40C74BC6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97961"/>
            <a:ext cx="52197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Descriptive alt text · reading order · concise source note · meaningful filename</a:t>
            </a:r>
          </a:p>
        </p:txBody>
      </p:sp>
    </p:spTree>
    <p:extLst>
      <p:ext uri="{BB962C8B-B14F-4D97-AF65-F5344CB8AC3E}">
        <p14:creationId xmlns:p14="http://schemas.microsoft.com/office/powerpoint/2010/main" val="43297342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D34C9395-D366-4C65-8520-13A6EACB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85469FE-D3AF-4464-91C6-3818678C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13 · Reproducibility log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8FA6E-8A79-4446-B0F6-78B7F771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ADCF85D-AE81-4C07-8083-4BD4599A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4E13EC3-D1D2-41A1-A957-4B3366A1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DF0D1-BC86-4165-98E4-C1E8D3DD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0EE320B1-C310-4E25-AF7C-E845D42C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8DA88-5B5D-4717-977B-2F797F1F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717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577FF3C6-E862-49F5-8204-36E4F991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479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085632-9B16-45C4-99E9-50499C65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5A3EEC07-5C72-4F58-87AD-EC50CA48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Python environment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1E7F4-4002-441F-837A-0FF8CBF9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051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DB6D8D9E-654A-4F94-A8E6-C231637B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813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environment.yml + preflight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2FCE8-6AA8-4FE5-BA2D-41F31CE1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8904E282-B2A3-4E2C-BADF-F14DE6FE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input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3F9BC-8681-4E4D-B126-E253E0B4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385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52D67032-ED9D-416D-A9AE-F41AC993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147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names + source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69A062-183B-41B2-AD44-CAC5B5D8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EF33DD07-238C-4794-A691-80AE81BD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randomness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87D01-1193-4A84-BB6A-8BDE336C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719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093F2675-59CD-4668-80B8-93958C59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481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seed or 'none'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96539-D100-4625-9B01-CF161318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3-0">
            <a:extLst xmlns:a="http://schemas.openxmlformats.org/drawingml/2006/main">
              <a:ext uri="{FF2B5EF4-FFF2-40B4-BE49-F238E27FC236}">
                <a16:creationId xmlns:a16="http://schemas.microsoft.com/office/drawing/2014/main" id="{9D560CEC-AC3F-47DC-8787-7CAEF600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outputs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18122C-4AFF-407A-B68B-34FB4583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053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3-1">
            <a:extLst xmlns:a="http://schemas.openxmlformats.org/drawingml/2006/main">
              <a:ext uri="{FF2B5EF4-FFF2-40B4-BE49-F238E27FC236}">
                <a16:creationId xmlns:a16="http://schemas.microsoft.com/office/drawing/2014/main" id="{5B40D55A-F9AE-4410-96AE-ACC23F89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815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expected filenames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18082-748C-45FE-8168-B0952BA3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4-0">
            <a:extLst xmlns:a="http://schemas.openxmlformats.org/drawingml/2006/main">
              <a:ext uri="{FF2B5EF4-FFF2-40B4-BE49-F238E27FC236}">
                <a16:creationId xmlns:a16="http://schemas.microsoft.com/office/drawing/2014/main" id="{E0B803AB-33B7-48A1-AFF5-2C3CC0D5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cold run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F7301-7845-416B-A934-1BCD1B2A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387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4-1">
            <a:extLst xmlns:a="http://schemas.openxmlformats.org/drawingml/2006/main">
              <a:ext uri="{FF2B5EF4-FFF2-40B4-BE49-F238E27FC236}">
                <a16:creationId xmlns:a16="http://schemas.microsoft.com/office/drawing/2014/main" id="{642D4BE0-0A3C-49A8-B96C-C21E8BDF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149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date + result</a:t>
            </a:r>
          </a:p>
        </p:txBody>
      </p:sp>
      <p:sp>
        <p:nvSpPr>
          <p:cNvPr id="30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612E9943-3768-4FCB-99E5-B27BED6E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1" name="callout">
            <a:extLst xmlns:a="http://schemas.openxmlformats.org/drawingml/2006/main">
              <a:ext uri="{FF2B5EF4-FFF2-40B4-BE49-F238E27FC236}">
                <a16:creationId xmlns:a16="http://schemas.microsoft.com/office/drawing/2014/main" id="{8D6BDE67-27C7-496E-B85E-C7EBCF71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short log saves the reviewer from reverse-engineering your setup.</a:t>
            </a:r>
          </a:p>
        </p:txBody>
      </p:sp>
    </p:spTree>
    <p:extLst>
      <p:ext uri="{BB962C8B-B14F-4D97-AF65-F5344CB8AC3E}">
        <p14:creationId xmlns:p14="http://schemas.microsoft.com/office/powerpoint/2010/main" val="59514978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FECF6279-995F-49F3-9C91-5D390C70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C0C4A5-D909-443B-8347-03C5DCED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14 · Triage peer feedback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6980F-C901-4110-9248-4FD49F64D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BDB782F7-C8D0-48A5-B02C-C3EA0617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EBD2339-A0B2-496F-A473-AE83EBA6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D5C6EC77-20EE-4041-8BAC-20066CAB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42F3AF6B-17DA-4944-AA91-B4DEA9D1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46007FD1-F45E-49A8-BA3C-9E56A14B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2571FFD9-77E7-40BD-86AF-2FDF6803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ED66E707-371C-414E-A0E6-C4CBA984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51CB6C1C-8EEF-41ED-BCD7-02B0755C8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BLOCKER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91857-5DF6-4898-9D37-E2D63456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2541F131-FA8F-4A55-8487-AE31966B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Wrong or unreproducible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E665D5EC-F419-4644-BC7B-DD0DD702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Fix before submission.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D7C06329-97D3-4C85-ADFE-E84DC108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639647B-3C63-4BA4-B9AB-E9C69E7B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6AB33B77-722D-4601-8A2C-3C193C5E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CLARITY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DEC431-E063-4D5E-AF57-50008158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B69D181E-3E5C-492A-ADFB-7FD2CDFB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Evidence is hard to read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50BE314B-D7FD-48A2-84B5-6E8E74B7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Revise title, table, annotation, or caption.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9260EC9B-E9D4-42D8-AC4A-FC174EAD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DF09AFFC-3446-4030-9224-DD33AA0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165ABA7A-ACE5-4C15-9A82-14A541BA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CA5996-AA1C-4063-864D-E5FB249C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4C9C3F41-C999-4E86-BA32-F6AACEAB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50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Claim is too broad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170F70BD-74D1-4BBE-9B6D-CD5748B0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70326"/>
            <a:ext cx="2190750" cy="2478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Narrow the language or add evidence.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514445B4-6D9F-4942-8717-71FD7D57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D91F85F3-8D51-4C8B-8C9D-DCC63B97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F83FA598-16B7-48EA-9760-AFF13951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OPTIONAL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8C3A63-A4CD-4A4B-83E9-E25184D2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0109373E-B370-4589-89C8-98800118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Preference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E9E0F666-1742-4AB5-AAE4-A685CD14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Adopt only if it strengthens the question.</a:t>
            </a:r>
          </a:p>
        </p:txBody>
      </p:sp>
    </p:spTree>
    <p:extLst>
      <p:ext uri="{BB962C8B-B14F-4D97-AF65-F5344CB8AC3E}">
        <p14:creationId xmlns:p14="http://schemas.microsoft.com/office/powerpoint/2010/main" val="50527674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84A9BA0A-7E8C-4B79-B89E-5C81817A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D2B5DD-3EDA-4DA7-B071-E24B6E9C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15 · Complete the AI-use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D9FC1-BB6D-43FC-AFA5-6E05244F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4D8541C-E695-4DBA-9698-0400407A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40459A4-C98D-4C53-BE98-087A18CF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ED221-1F46-4CF6-9EBE-3444DF2E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4E6E8FED-53AC-4ADD-8CA6-F7784187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29238-6FF5-4838-A979-295E42D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717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9FA2AB67-6CDC-401F-9C95-52C6EDED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479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minimum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8E0C65-2DE7-4888-B239-B62A6DA9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995C7EB7-8DEE-4709-AA09-34A74DA8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tool + 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BA4D1-4813-440C-87DB-EF43E7B29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051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469AE2F3-E23B-4A2F-8353-D0214F89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813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task was delegated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5A8FC2-8B5B-4C85-AABE-969ACE06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770D568F-C3DF-4898-B305-E62F7E29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47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suggestion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6F7A7A-8357-41FF-A3E5-E3E60BFD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385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BC75F65E-2FBC-49B4-AD49-D2976781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147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the tool proposed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7378A-BD82-459E-B416-D2FDC267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99F5C3FF-A4EE-48E5-B2EE-82F16E03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C3F7A0-1F4F-4CE4-BEAF-93ED2D05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719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66DD22A2-5AD0-4B1C-BA35-F1017A18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481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accepted / modified / rejected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026CAB-2159-4254-BB1A-53005B45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3-0">
            <a:extLst xmlns:a="http://schemas.openxmlformats.org/drawingml/2006/main">
              <a:ext uri="{FF2B5EF4-FFF2-40B4-BE49-F238E27FC236}">
                <a16:creationId xmlns:a16="http://schemas.microsoft.com/office/drawing/2014/main" id="{A1968BA9-EE17-40AF-BBBC-A3811362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C93598-2FB5-475D-91A3-522A246B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053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3-1">
            <a:extLst xmlns:a="http://schemas.openxmlformats.org/drawingml/2006/main">
              <a:ext uri="{FF2B5EF4-FFF2-40B4-BE49-F238E27FC236}">
                <a16:creationId xmlns:a16="http://schemas.microsoft.com/office/drawing/2014/main" id="{18CCC3C7-CE09-4CCC-B185-89348060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815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test, source, or manual check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FBA553-3BFF-48A0-BBEE-DCD821F2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4-0">
            <a:extLst xmlns:a="http://schemas.openxmlformats.org/drawingml/2006/main">
              <a:ext uri="{FF2B5EF4-FFF2-40B4-BE49-F238E27FC236}">
                <a16:creationId xmlns:a16="http://schemas.microsoft.com/office/drawing/2014/main" id="{2F51556C-4E62-48A4-A156-FF95F024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AA9229-8C87-4B2C-A0F0-0BE44801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38725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4-1">
            <a:extLst xmlns:a="http://schemas.openxmlformats.org/drawingml/2006/main">
              <a:ext uri="{FF2B5EF4-FFF2-40B4-BE49-F238E27FC236}">
                <a16:creationId xmlns:a16="http://schemas.microsoft.com/office/drawing/2014/main" id="{7C9A1A74-598F-4A8D-B4FD-949D8F04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14925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what remains uncertain</a:t>
            </a:r>
          </a:p>
        </p:txBody>
      </p:sp>
      <p:sp>
        <p:nvSpPr>
          <p:cNvPr id="30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B0098E4C-7624-4EA8-9FDD-7C2E660F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1" name="callout">
            <a:extLst xmlns:a="http://schemas.openxmlformats.org/drawingml/2006/main">
              <a:ext uri="{FF2B5EF4-FFF2-40B4-BE49-F238E27FC236}">
                <a16:creationId xmlns:a16="http://schemas.microsoft.com/office/drawing/2014/main" id="{568EC3BD-EC38-426A-A37C-CED0E4A2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The record evaluates judgment, not whether AI was used.</a:t>
            </a:r>
          </a:p>
        </p:txBody>
      </p:sp>
    </p:spTree>
    <p:extLst>
      <p:ext uri="{BB962C8B-B14F-4D97-AF65-F5344CB8AC3E}">
        <p14:creationId xmlns:p14="http://schemas.microsoft.com/office/powerpoint/2010/main" val="143542932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">
            <a:extLst xmlns:a="http://schemas.openxmlformats.org/drawingml/2006/main">
              <a:ext uri="{FF2B5EF4-FFF2-40B4-BE49-F238E27FC236}">
                <a16:creationId xmlns:a16="http://schemas.microsoft.com/office/drawing/2014/main" id="{A34B83BE-AF67-416E-8ED4-876A3F6B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METHOD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9185263-CFA4-4381-BCE0-2355EF6E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16 · Six-slide narrative rehearsal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D82EC-065E-4F44-9E1E-BA66F748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FF8183EB-1529-47B1-A52A-9B496413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D012BF-C521-4EFE-8A8E-B202FB09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6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D99D6061-9C6F-4D33-8038-7FD39D21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7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4D9809A2-2E8E-4025-B000-E24B30D7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8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265872F2-8A11-4F91-8017-CEF3C16E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86175"/>
            <a:ext cx="152400" cy="4953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solidFill>
              <a:srgbClr val="E8EEF5"/>
            </a:solidFill>
            <a:prstDash val="solid"/>
          </a:ln>
        </p:spPr>
      </p:sp>
      <p:sp>
        <p:nvSpPr>
          <p:cNvPr id="9" name="step-node-0">
            <a:extLst xmlns:a="http://schemas.openxmlformats.org/drawingml/2006/main">
              <a:ext uri="{FF2B5EF4-FFF2-40B4-BE49-F238E27FC236}">
                <a16:creationId xmlns:a16="http://schemas.microsoft.com/office/drawing/2014/main" id="{70F13859-79CC-40ED-8C2C-7013E030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0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1DD1F9FA-0BA6-4AE4-B19E-E9F22CC2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462EC0E4-BA85-4D2C-8627-F0853CF5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8E329-7306-4C41-9678-3FA4AC13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4B5"/>
            </a:solidFill>
            <a:prstDash val="solid"/>
          </a:ln>
        </p:spPr>
      </p:sp>
      <p:sp>
        <p:nvSpPr>
          <p:cNvPr id="13" name="step-head-0">
            <a:extLst xmlns:a="http://schemas.openxmlformats.org/drawingml/2006/main">
              <a:ext uri="{FF2B5EF4-FFF2-40B4-BE49-F238E27FC236}">
                <a16:creationId xmlns:a16="http://schemas.microsoft.com/office/drawing/2014/main" id="{112B8760-32A4-4F84-BBBC-230E3D88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Claim</a:t>
            </a:r>
          </a:p>
        </p:txBody>
      </p:sp>
      <p:sp>
        <p:nvSpPr>
          <p:cNvPr id="14" name="step-body-0">
            <a:extLst xmlns:a="http://schemas.openxmlformats.org/drawingml/2006/main">
              <a:ext uri="{FF2B5EF4-FFF2-40B4-BE49-F238E27FC236}">
                <a16:creationId xmlns:a16="http://schemas.microsoft.com/office/drawing/2014/main" id="{36DA8BED-0D25-4D21-A9A0-A81DDC94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Bounded title and question.</a:t>
            </a:r>
          </a:p>
        </p:txBody>
      </p:sp>
      <p:sp>
        <p:nvSpPr>
          <p:cNvPr id="15" name="step-node-1">
            <a:extLst xmlns:a="http://schemas.openxmlformats.org/drawingml/2006/main">
              <a:ext uri="{FF2B5EF4-FFF2-40B4-BE49-F238E27FC236}">
                <a16:creationId xmlns:a16="http://schemas.microsoft.com/office/drawing/2014/main" id="{2A8560A6-2D5C-4051-892D-3BDD9DAE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6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0A30BE8C-657D-432C-A7F2-F4F7DEDB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11CE37AD-0DAD-4635-8236-1CE31F02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9885F9-5112-45D1-8919-8F0CA2CF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19" name="step-head-1">
            <a:extLst xmlns:a="http://schemas.openxmlformats.org/drawingml/2006/main">
              <a:ext uri="{FF2B5EF4-FFF2-40B4-BE49-F238E27FC236}">
                <a16:creationId xmlns:a16="http://schemas.microsoft.com/office/drawing/2014/main" id="{9B947FAA-49E0-4320-831B-DFBED420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Trust</a:t>
            </a:r>
          </a:p>
        </p:txBody>
      </p:sp>
      <p:sp>
        <p:nvSpPr>
          <p:cNvPr id="20" name="step-body-1">
            <a:extLst xmlns:a="http://schemas.openxmlformats.org/drawingml/2006/main">
              <a:ext uri="{FF2B5EF4-FFF2-40B4-BE49-F238E27FC236}">
                <a16:creationId xmlns:a16="http://schemas.microsoft.com/office/drawing/2014/main" id="{3CF492E9-2AA9-465D-8E7F-63932DE8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Data, denominators, grouped evidence, outlier decision.</a:t>
            </a:r>
          </a:p>
        </p:txBody>
      </p:sp>
      <p:sp>
        <p:nvSpPr>
          <p:cNvPr id="21" name="step-node-2">
            <a:extLst xmlns:a="http://schemas.openxmlformats.org/drawingml/2006/main">
              <a:ext uri="{FF2B5EF4-FFF2-40B4-BE49-F238E27FC236}">
                <a16:creationId xmlns:a16="http://schemas.microsoft.com/office/drawing/2014/main" id="{EA5CC308-F494-4637-8E69-FADA706F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B3833231-AF56-4B9A-B583-2CB7BFE7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40E912EF-261C-4961-99CB-B468A754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3–4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F19D0A-63AD-4625-A697-74B46011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25" name="step-head-2">
            <a:extLst xmlns:a="http://schemas.openxmlformats.org/drawingml/2006/main">
              <a:ext uri="{FF2B5EF4-FFF2-40B4-BE49-F238E27FC236}">
                <a16:creationId xmlns:a16="http://schemas.microsoft.com/office/drawing/2014/main" id="{9E6510D3-A1D3-4B0B-9F4D-BDAD9555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Visual evidence</a:t>
            </a:r>
          </a:p>
        </p:txBody>
      </p:sp>
      <p:sp>
        <p:nvSpPr>
          <p:cNvPr id="26" name="step-body-2">
            <a:extLst xmlns:a="http://schemas.openxmlformats.org/drawingml/2006/main">
              <a:ext uri="{FF2B5EF4-FFF2-40B4-BE49-F238E27FC236}">
                <a16:creationId xmlns:a16="http://schemas.microsoft.com/office/drawing/2014/main" id="{1028CFCD-9838-4D06-A0B4-2ECE8E43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Two static figures, then one extension.</a:t>
            </a:r>
          </a:p>
        </p:txBody>
      </p:sp>
      <p:sp>
        <p:nvSpPr>
          <p:cNvPr id="27" name="step-node-3">
            <a:extLst xmlns:a="http://schemas.openxmlformats.org/drawingml/2006/main">
              <a:ext uri="{FF2B5EF4-FFF2-40B4-BE49-F238E27FC236}">
                <a16:creationId xmlns:a16="http://schemas.microsoft.com/office/drawing/2014/main" id="{7D038FA9-3770-40C2-A289-BB865D6A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47850"/>
            <a:ext cx="2571750" cy="41719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8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3EDC069F-03FC-470B-B5D9-8FFD7D71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38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149C3645-8ACF-425F-A831-D0048273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5740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BA8DC-884A-4DA0-A3D0-67C21543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316"/>
            </a:solidFill>
            <a:prstDash val="solid"/>
          </a:ln>
        </p:spPr>
      </p:sp>
      <p:sp>
        <p:nvSpPr>
          <p:cNvPr id="31" name="step-head-3">
            <a:extLst xmlns:a="http://schemas.openxmlformats.org/drawingml/2006/main">
              <a:ext uri="{FF2B5EF4-FFF2-40B4-BE49-F238E27FC236}">
                <a16:creationId xmlns:a16="http://schemas.microsoft.com/office/drawing/2014/main" id="{BE3A3308-C0B4-4C47-B7FA-444616A9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32" name="step-body-3">
            <a:extLst xmlns:a="http://schemas.openxmlformats.org/drawingml/2006/main">
              <a:ext uri="{FF2B5EF4-FFF2-40B4-BE49-F238E27FC236}">
                <a16:creationId xmlns:a16="http://schemas.microsoft.com/office/drawing/2014/main" id="{6F3C62A5-C2F1-4580-8AB1-CD07A6E8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52800"/>
            <a:ext cx="2190750" cy="249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Recommendation, limits, next evidence.</a:t>
            </a:r>
          </a:p>
        </p:txBody>
      </p:sp>
    </p:spTree>
    <p:extLst>
      <p:ext uri="{BB962C8B-B14F-4D97-AF65-F5344CB8AC3E}">
        <p14:creationId xmlns:p14="http://schemas.microsoft.com/office/powerpoint/2010/main" val="148401488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FC92D57-C526-4786-A6C3-E7F1A287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PYTHON SYNTAX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0B739C-E6BC-414E-B51F-06D5C88A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17 · Run the submission validator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7FA4E-51BB-457C-8F65-8EAD6FDE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DF6133EC-3AEF-4648-9D32-987CF0CD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ECA2408-AC5D-4EE3-BECE-B75CF706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7350E2B4-A31B-4BDF-96D5-346C52D6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96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17191C"/>
            </a:solidFill>
            <a:prstDash val="solid"/>
          </a:ln>
        </p:spPr>
      </p:sp>
      <p:sp>
        <p:nvSpPr>
          <p:cNvPr id="7" name="code">
            <a:extLst xmlns:a="http://schemas.openxmlformats.org/drawingml/2006/main">
              <a:ext uri="{FF2B5EF4-FFF2-40B4-BE49-F238E27FC236}">
                <a16:creationId xmlns:a16="http://schemas.microsoft.com/office/drawing/2014/main" id="{1083C98F-D99F-4309-9509-E76666B8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6400800" cy="2967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8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python validate_submission.py Submission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F32D9-C8E8-4428-8C6B-45584550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1778"/>
            <a:ext cx="640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5258"/>
            </a:solidFill>
            <a:prstDash val="solid"/>
          </a:ln>
        </p:spPr>
      </p:sp>
      <p:sp>
        <p:nvSpPr>
          <p:cNvPr id="9" name="output-label">
            <a:extLst xmlns:a="http://schemas.openxmlformats.org/drawingml/2006/main">
              <a:ext uri="{FF2B5EF4-FFF2-40B4-BE49-F238E27FC236}">
                <a16:creationId xmlns:a16="http://schemas.microsoft.com/office/drawing/2014/main" id="{6EB5EB15-D322-419F-AA46-7F6CE430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6078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0" name="output">
            <a:extLst xmlns:a="http://schemas.openxmlformats.org/drawingml/2006/main">
              <a:ext uri="{FF2B5EF4-FFF2-40B4-BE49-F238E27FC236}">
                <a16:creationId xmlns:a16="http://schemas.microsoft.com/office/drawing/2014/main" id="{87930FC6-6812-479D-AA59-C68F147D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4678"/>
            <a:ext cx="6400800" cy="404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PASS: 14/14 checks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200" b="0">
                <a:solidFill>
                  <a:srgbClr val="E8EEF5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8EEF5"/>
                </a:solidFill>
                <a:latin typeface="Consolas"/>
                <a:ea typeface="Consolas"/>
                <a:cs typeface="Consolas"/>
              </a:rPr>
              <a:t>Submission package is ready for final human review.</a:t>
            </a:r>
          </a:p>
        </p:txBody>
      </p:sp>
      <p:sp>
        <p:nvSpPr>
          <p:cNvPr id="11" name="explain-head">
            <a:extLst xmlns:a="http://schemas.openxmlformats.org/drawingml/2006/main">
              <a:ext uri="{FF2B5EF4-FFF2-40B4-BE49-F238E27FC236}">
                <a16:creationId xmlns:a16="http://schemas.microsoft.com/office/drawing/2014/main" id="{C9593258-9F49-4F68-BA7D-312AA9BB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695700" cy="6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validator is a floor, not a grade</a:t>
            </a:r>
          </a:p>
        </p:txBody>
      </p:sp>
      <p:sp>
        <p:nvSpPr>
          <p:cNvPr id="12" name="explain-body">
            <a:extLst xmlns:a="http://schemas.openxmlformats.org/drawingml/2006/main">
              <a:ext uri="{FF2B5EF4-FFF2-40B4-BE49-F238E27FC236}">
                <a16:creationId xmlns:a16="http://schemas.microsoft.com/office/drawing/2014/main" id="{EFF1D3FB-27BA-4805-9BB9-31E56115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71672"/>
            <a:ext cx="36957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It checks required files, non-placeholder artifacts, readable tables/figures, and declared metadata. It cannot judge whether the architectural claim is meaningful.</a:t>
            </a:r>
          </a:p>
        </p:txBody>
      </p:sp>
    </p:spTree>
    <p:extLst>
      <p:ext uri="{BB962C8B-B14F-4D97-AF65-F5344CB8AC3E}">
        <p14:creationId xmlns:p14="http://schemas.microsoft.com/office/powerpoint/2010/main" val="84490457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kicker">
            <a:extLst xmlns:a="http://schemas.openxmlformats.org/drawingml/2006/main">
              <a:ext uri="{FF2B5EF4-FFF2-40B4-BE49-F238E27FC236}">
                <a16:creationId xmlns:a16="http://schemas.microsoft.com/office/drawing/2014/main" id="{6DC557AB-68C2-4447-897C-681DC211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READ THE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D48494F-D706-4FC9-B8E2-E4886F9B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18 · Final evidence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FEA1B1-77AD-4A29-8660-4252A0AB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0303E2C0-F81D-45EF-A4BA-CCA51980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7042D47-52D2-4B10-95EA-38FAB879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9C9E0-D867-4AC0-A998-8372BD98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header-0">
            <a:extLst xmlns:a="http://schemas.openxmlformats.org/drawingml/2006/main">
              <a:ext uri="{FF2B5EF4-FFF2-40B4-BE49-F238E27FC236}">
                <a16:creationId xmlns:a16="http://schemas.microsoft.com/office/drawing/2014/main" id="{736D46A3-0A00-47B5-8B40-BC77A4C4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2413B-469B-4C2D-BDA0-D0F37954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6220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header-1">
            <a:extLst xmlns:a="http://schemas.openxmlformats.org/drawingml/2006/main">
              <a:ext uri="{FF2B5EF4-FFF2-40B4-BE49-F238E27FC236}">
                <a16:creationId xmlns:a16="http://schemas.microsoft.com/office/drawing/2014/main" id="{F1C9988A-A09F-44C4-9E22-ADA1D508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3840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yes / 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2C7BE8-7E54-4CE6-BAA2-E39A918B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1" name="cell-0-0">
            <a:extLst xmlns:a="http://schemas.openxmlformats.org/drawingml/2006/main">
              <a:ext uri="{FF2B5EF4-FFF2-40B4-BE49-F238E27FC236}">
                <a16:creationId xmlns:a16="http://schemas.microsoft.com/office/drawing/2014/main" id="{DABFF4F2-7D58-4C30-8E31-14615A69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Does each number have a denominator and unit?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A3632-3E7A-4D32-8962-21175EE8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9560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cell-0-1">
            <a:extLst xmlns:a="http://schemas.openxmlformats.org/drawingml/2006/main">
              <a:ext uri="{FF2B5EF4-FFF2-40B4-BE49-F238E27FC236}">
                <a16:creationId xmlns:a16="http://schemas.microsoft.com/office/drawing/2014/main" id="{4A550B3D-809A-42FF-BA1B-D9EC7125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7180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59A8F-51F9-4F7A-9129-F0DFF5D8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662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5" name="cell-1-0">
            <a:extLst xmlns:a="http://schemas.openxmlformats.org/drawingml/2006/main">
              <a:ext uri="{FF2B5EF4-FFF2-40B4-BE49-F238E27FC236}">
                <a16:creationId xmlns:a16="http://schemas.microsoft.com/office/drawing/2014/main" id="{41C4B167-EB9F-41BA-82B9-759597F6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1282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Does each figure answer a different question?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D391B-3DBA-447F-BE43-0F0724BF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3662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cell-1-1">
            <a:extLst xmlns:a="http://schemas.openxmlformats.org/drawingml/2006/main">
              <a:ext uri="{FF2B5EF4-FFF2-40B4-BE49-F238E27FC236}">
                <a16:creationId xmlns:a16="http://schemas.microsoft.com/office/drawing/2014/main" id="{28E4CA2E-C05D-4EDB-974B-3A7EB08A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1282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53339-1B44-4B57-8F13-06E26BB9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764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9" name="cell-2-0">
            <a:extLst xmlns:a="http://schemas.openxmlformats.org/drawingml/2006/main">
              <a:ext uri="{FF2B5EF4-FFF2-40B4-BE49-F238E27FC236}">
                <a16:creationId xmlns:a16="http://schemas.microsoft.com/office/drawing/2014/main" id="{AA81FF7E-8394-4995-BF66-A0675022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384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 missingness and outliers separate?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410ACE-602C-47F3-8F99-7750869E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7764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cell-2-1">
            <a:extLst xmlns:a="http://schemas.openxmlformats.org/drawingml/2006/main">
              <a:ext uri="{FF2B5EF4-FFF2-40B4-BE49-F238E27FC236}">
                <a16:creationId xmlns:a16="http://schemas.microsoft.com/office/drawing/2014/main" id="{4EC86987-CEFF-494F-B934-14984571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5384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34E3E7-CAF5-4AE0-AE2A-83F6AA85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104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3" name="cell-3-0">
            <a:extLst xmlns:a="http://schemas.openxmlformats.org/drawingml/2006/main">
              <a:ext uri="{FF2B5EF4-FFF2-40B4-BE49-F238E27FC236}">
                <a16:creationId xmlns:a16="http://schemas.microsoft.com/office/drawing/2014/main" id="{4E51E03B-746F-4F79-97A3-7D7EE46E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724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Does the recommendation match the evidence?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CFFCA-FD1E-43DA-8222-9B0F6F7E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1040"/>
            <a:ext cx="3714750" cy="5410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5" name="cell-3-1">
            <a:extLst xmlns:a="http://schemas.openxmlformats.org/drawingml/2006/main">
              <a:ext uri="{FF2B5EF4-FFF2-40B4-BE49-F238E27FC236}">
                <a16:creationId xmlns:a16="http://schemas.microsoft.com/office/drawing/2014/main" id="{31DAD0A9-410F-47D8-85D9-8DA92FDC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87240"/>
            <a:ext cx="3486150" cy="388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0A8765-8CE2-4D75-9320-0C1B2879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206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7" name="cell-4-0">
            <a:extLst xmlns:a="http://schemas.openxmlformats.org/drawingml/2006/main">
              <a:ext uri="{FF2B5EF4-FFF2-40B4-BE49-F238E27FC236}">
                <a16:creationId xmlns:a16="http://schemas.microsoft.com/office/drawing/2014/main" id="{E7334956-C0E4-4C6C-A233-36419947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826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Are limitations visible?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A88BF8-FACB-426C-A582-198D5524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52060"/>
            <a:ext cx="371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9" name="cell-4-1">
            <a:extLst xmlns:a="http://schemas.openxmlformats.org/drawingml/2006/main">
              <a:ext uri="{FF2B5EF4-FFF2-40B4-BE49-F238E27FC236}">
                <a16:creationId xmlns:a16="http://schemas.microsoft.com/office/drawing/2014/main" id="{F68EAA4E-11F1-46A8-9DE6-45188F3E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28260"/>
            <a:ext cx="3486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0" name="callout-label">
            <a:extLst xmlns:a="http://schemas.openxmlformats.org/drawingml/2006/main">
              <a:ext uri="{FF2B5EF4-FFF2-40B4-BE49-F238E27FC236}">
                <a16:creationId xmlns:a16="http://schemas.microsoft.com/office/drawing/2014/main" id="{C07B5A7B-2C5E-46F5-ADCC-E94F74E3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62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ARCHITECTURAL LENS</a:t>
            </a:r>
          </a:p>
        </p:txBody>
      </p:sp>
      <p:sp>
        <p:nvSpPr>
          <p:cNvPr id="31" name="callout">
            <a:extLst xmlns:a="http://schemas.openxmlformats.org/drawingml/2006/main">
              <a:ext uri="{FF2B5EF4-FFF2-40B4-BE49-F238E27FC236}">
                <a16:creationId xmlns:a16="http://schemas.microsoft.com/office/drawing/2014/main" id="{EC31D808-B12E-464C-B47D-9AF614A8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3162300" cy="3790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A technically valid package can still make an unsupported claim.</a:t>
            </a:r>
          </a:p>
        </p:txBody>
      </p:sp>
    </p:spTree>
    <p:extLst>
      <p:ext uri="{BB962C8B-B14F-4D97-AF65-F5344CB8AC3E}">
        <p14:creationId xmlns:p14="http://schemas.microsoft.com/office/powerpoint/2010/main" val="125918752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C8E8720D-3C47-466F-B8D9-6AC2FA50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PRINCIPLE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AE57B9E-078B-4122-9E6D-13094F03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Checkpoint 19 · Submit only after a 60-second rehearsal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89B86-BB69-4A0D-8E89-D1CE893A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7BB4A7F4-C383-4581-85EC-D1945602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D91631-5647-43E6-A5A5-1E90C8B9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6" name="statement">
            <a:extLst xmlns:a="http://schemas.openxmlformats.org/drawingml/2006/main">
              <a:ext uri="{FF2B5EF4-FFF2-40B4-BE49-F238E27FC236}">
                <a16:creationId xmlns:a16="http://schemas.microsoft.com/office/drawing/2014/main" id="{34BCE8C3-1A35-4635-B6EF-C9A9DD605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9829800" cy="1557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11316"/>
                </a:solidFill>
                <a:latin typeface="Arial"/>
                <a:ea typeface="Arial"/>
                <a:cs typeface="Arial"/>
              </a:rPr>
              <a:t>If the evidence story cannot be explained in one minute, the slide sequence is not yet doing enough work.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2EE14-C46B-49FC-BB0A-9AE4F6CC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2128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8" name="supporting">
            <a:extLst xmlns:a="http://schemas.openxmlformats.org/drawingml/2006/main">
              <a:ext uri="{FF2B5EF4-FFF2-40B4-BE49-F238E27FC236}">
                <a16:creationId xmlns:a16="http://schemas.microsoft.com/office/drawing/2014/main" id="{F205D4AB-7994-4BF6-8926-D070C5D8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5978"/>
            <a:ext cx="9334500" cy="6065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Question → trustworthiness → grouped/outlier evidence → two figures → extension → bounded recommendation and limits.</a:t>
            </a:r>
          </a:p>
        </p:txBody>
      </p:sp>
    </p:spTree>
    <p:extLst>
      <p:ext uri="{BB962C8B-B14F-4D97-AF65-F5344CB8AC3E}">
        <p14:creationId xmlns:p14="http://schemas.microsoft.com/office/powerpoint/2010/main" val="102179085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">
            <a:extLst xmlns:a="http://schemas.openxmlformats.org/drawingml/2006/main">
              <a:ext uri="{FF2B5EF4-FFF2-40B4-BE49-F238E27FC236}">
                <a16:creationId xmlns:a16="http://schemas.microsoft.com/office/drawing/2014/main" id="{ACDE22E7-6D48-4CA4-B293-8B3FABBC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IN-CLASS CHECK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7E79542-F4A0-48C8-A651-77B3D82A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Studio time: fix, finalize, and submit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5774D-21EE-4EB9-BFE0-361591D7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B93506B-0415-4A74-8B1B-CE558052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ARC 500  ·  Week 8 · Meeting B · Project 1 Studio and Evidence Clinic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1AC9EB-DBCC-4388-8E29-DB9EC783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29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00" b="0">
                <a:solidFill>
                  <a:srgbClr val="5A5F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A5F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6" name="exercise-accent">
            <a:extLst xmlns:a="http://schemas.openxmlformats.org/drawingml/2006/main">
              <a:ext uri="{FF2B5EF4-FFF2-40B4-BE49-F238E27FC236}">
                <a16:creationId xmlns:a16="http://schemas.microsoft.com/office/drawing/2014/main" id="{7E3993AC-8C44-4C49-8545-F1E478CD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000500" cy="424815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7" name="exercise-prompt">
            <a:extLst xmlns:a="http://schemas.openxmlformats.org/drawingml/2006/main">
              <a:ext uri="{FF2B5EF4-FFF2-40B4-BE49-F238E27FC236}">
                <a16:creationId xmlns:a16="http://schemas.microsoft.com/office/drawing/2014/main" id="{F9ED975A-309E-4D76-B482-E49992A0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3467100" cy="3676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rest of today is independent project work time — use it.</a:t>
            </a:r>
          </a:p>
        </p:txBody>
      </p:sp>
      <p:sp>
        <p:nvSpPr>
          <p:cNvPr id="8" name="work-label">
            <a:extLst xmlns:a="http://schemas.openxmlformats.org/drawingml/2006/main">
              <a:ext uri="{FF2B5EF4-FFF2-40B4-BE49-F238E27FC236}">
                <a16:creationId xmlns:a16="http://schemas.microsoft.com/office/drawing/2014/main" id="{31CC3258-EFE6-4B98-8184-6514890D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47850"/>
            <a:ext cx="655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WORK THROUGH IT</a:t>
            </a:r>
          </a:p>
        </p:txBody>
      </p:sp>
      <p:sp>
        <p:nvSpPr>
          <p:cNvPr id="9" name="exercise-no-0">
            <a:extLst xmlns:a="http://schemas.openxmlformats.org/drawingml/2006/main">
              <a:ext uri="{FF2B5EF4-FFF2-40B4-BE49-F238E27FC236}">
                <a16:creationId xmlns:a16="http://schemas.microsoft.com/office/drawing/2014/main" id="{60AE8D40-4969-4EF6-9B96-AD78B5A3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479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exercise-step-0">
            <a:extLst xmlns:a="http://schemas.openxmlformats.org/drawingml/2006/main">
              <a:ext uri="{FF2B5EF4-FFF2-40B4-BE49-F238E27FC236}">
                <a16:creationId xmlns:a16="http://schemas.microsoft.com/office/drawing/2014/main" id="{B393DC20-5B59-434C-9147-3049BB4F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479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Resolve the specific notes your partner just gave you first.</a:t>
            </a:r>
          </a:p>
        </p:txBody>
      </p:sp>
      <p:sp>
        <p:nvSpPr>
          <p:cNvPr id="11" name="exercise-no-1">
            <a:extLst xmlns:a="http://schemas.openxmlformats.org/drawingml/2006/main">
              <a:ext uri="{FF2B5EF4-FFF2-40B4-BE49-F238E27FC236}">
                <a16:creationId xmlns:a16="http://schemas.microsoft.com/office/drawing/2014/main" id="{86679FAE-044B-4E2D-A728-5311E88D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2" name="exercise-step-1">
            <a:extLst xmlns:a="http://schemas.openxmlformats.org/drawingml/2006/main">
              <a:ext uri="{FF2B5EF4-FFF2-40B4-BE49-F238E27FC236}">
                <a16:creationId xmlns:a16="http://schemas.microsoft.com/office/drawing/2014/main" id="{3772EBCB-8FED-437E-BA0D-986EFA09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Confirm both CSVs and all three image/gif exports (two figures + your chosen map or .gif) match the exact spec.</a:t>
            </a:r>
          </a:p>
        </p:txBody>
      </p:sp>
      <p:sp>
        <p:nvSpPr>
          <p:cNvPr id="13" name="exercise-no-2">
            <a:extLst xmlns:a="http://schemas.openxmlformats.org/drawingml/2006/main">
              <a:ext uri="{FF2B5EF4-FFF2-40B4-BE49-F238E27FC236}">
                <a16:creationId xmlns:a16="http://schemas.microsoft.com/office/drawing/2014/main" id="{64121662-0279-473E-A4D2-78D49F53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4" name="exercise-step-2">
            <a:extLst xmlns:a="http://schemas.openxmlformats.org/drawingml/2006/main">
              <a:ext uri="{FF2B5EF4-FFF2-40B4-BE49-F238E27FC236}">
                <a16:creationId xmlns:a16="http://schemas.microsoft.com/office/drawing/2014/main" id="{2F8513D2-E509-49B4-9B0D-4057489B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005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Proofread the 600-800-word evidence memo and the AI-use disclosure appendix.</a:t>
            </a:r>
          </a:p>
        </p:txBody>
      </p:sp>
      <p:sp>
        <p:nvSpPr>
          <p:cNvPr id="15" name="exercise-no-3">
            <a:extLst xmlns:a="http://schemas.openxmlformats.org/drawingml/2006/main">
              <a:ext uri="{FF2B5EF4-FFF2-40B4-BE49-F238E27FC236}">
                <a16:creationId xmlns:a16="http://schemas.microsoft.com/office/drawing/2014/main" id="{7A3BD78A-A348-4499-BC85-A92F3208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768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E74B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4B5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6" name="exercise-step-3">
            <a:extLst xmlns:a="http://schemas.openxmlformats.org/drawingml/2006/main">
              <a:ext uri="{FF2B5EF4-FFF2-40B4-BE49-F238E27FC236}">
                <a16:creationId xmlns:a16="http://schemas.microsoft.com/office/drawing/2014/main" id="{C1B10109-369B-4797-91B5-5D066C6A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876800"/>
            <a:ext cx="61150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1131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316"/>
                </a:solidFill>
                <a:latin typeface="Arial"/>
                <a:ea typeface="Arial"/>
                <a:cs typeface="Arial"/>
              </a:rPr>
              <a:t>Submit the complete package and stay ready for the short pin-up.</a:t>
            </a:r>
          </a:p>
        </p:txBody>
      </p:sp>
    </p:spTree>
    <p:extLst>
      <p:ext uri="{BB962C8B-B14F-4D97-AF65-F5344CB8AC3E}">
        <p14:creationId xmlns:p14="http://schemas.microsoft.com/office/powerpoint/2010/main" val="80320094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719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lose-week">
            <a:extLst xmlns:a="http://schemas.openxmlformats.org/drawingml/2006/main">
              <a:ext uri="{FF2B5EF4-FFF2-40B4-BE49-F238E27FC236}">
                <a16:creationId xmlns:a16="http://schemas.microsoft.com/office/drawing/2014/main" id="{A8792432-70DA-40CA-A5C2-EA7EB3B6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WEEK 8 · MEETING B · PROJECT 1 STUDIO AND EVIDENCE CLINIC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B6ABF31-3B25-4170-9956-D3ED5696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Reproducible, or it isn't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F14CA-75D7-44C3-AB88-EC676796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E74B5"/>
            </a:solidFill>
            <a:prstDash val="solid"/>
          </a:ln>
        </p:spPr>
      </p:sp>
      <p:sp>
        <p:nvSpPr>
          <p:cNvPr id="4" name="take-no-0">
            <a:extLst xmlns:a="http://schemas.openxmlformats.org/drawingml/2006/main">
              <a:ext uri="{FF2B5EF4-FFF2-40B4-BE49-F238E27FC236}">
                <a16:creationId xmlns:a16="http://schemas.microsoft.com/office/drawing/2014/main" id="{0876201D-EFB8-4898-8948-1F2F1050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4320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ake-0">
            <a:extLst xmlns:a="http://schemas.openxmlformats.org/drawingml/2006/main">
              <a:ext uri="{FF2B5EF4-FFF2-40B4-BE49-F238E27FC236}">
                <a16:creationId xmlns:a16="http://schemas.microsoft.com/office/drawing/2014/main" id="{DAC62DB7-80A6-4F61-BC6E-8C2EFCC0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05100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reproducibility critique is a cold restart-and-run test, not a compliment.</a:t>
            </a:r>
          </a:p>
        </p:txBody>
      </p:sp>
      <p:sp>
        <p:nvSpPr>
          <p:cNvPr id="6" name="take-no-1">
            <a:extLst xmlns:a="http://schemas.openxmlformats.org/drawingml/2006/main">
              <a:ext uri="{FF2B5EF4-FFF2-40B4-BE49-F238E27FC236}">
                <a16:creationId xmlns:a16="http://schemas.microsoft.com/office/drawing/2014/main" id="{3EEC8545-99EB-4240-A2CE-8A5D5D2E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8822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take-1">
            <a:extLst xmlns:a="http://schemas.openxmlformats.org/drawingml/2006/main">
              <a:ext uri="{FF2B5EF4-FFF2-40B4-BE49-F238E27FC236}">
                <a16:creationId xmlns:a16="http://schemas.microsoft.com/office/drawing/2014/main" id="{C5EB62AB-F068-4009-98D5-32EFD8E9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90722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rubric line has one concrete, checkable question — use it before your partner does.</a:t>
            </a:r>
          </a:p>
        </p:txBody>
      </p:sp>
      <p:sp>
        <p:nvSpPr>
          <p:cNvPr id="8" name="take-no-2">
            <a:extLst xmlns:a="http://schemas.openxmlformats.org/drawingml/2006/main">
              <a:ext uri="{FF2B5EF4-FFF2-40B4-BE49-F238E27FC236}">
                <a16:creationId xmlns:a16="http://schemas.microsoft.com/office/drawing/2014/main" id="{A32EF852-5270-4E12-AFD7-D70B0AC7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444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take-2">
            <a:extLst xmlns:a="http://schemas.openxmlformats.org/drawingml/2006/main">
              <a:ext uri="{FF2B5EF4-FFF2-40B4-BE49-F238E27FC236}">
                <a16:creationId xmlns:a16="http://schemas.microsoft.com/office/drawing/2014/main" id="{435A83A9-CA11-4750-9B1D-60CAF1C4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76344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AI-use disclosure is a compliance gate: missing or fabricated caps the score at 70%, no matter how good the rest is.</a:t>
            </a:r>
          </a:p>
        </p:txBody>
      </p:sp>
      <p:sp>
        <p:nvSpPr>
          <p:cNvPr id="10" name="take-no-3">
            <a:extLst xmlns:a="http://schemas.openxmlformats.org/drawingml/2006/main">
              <a:ext uri="{FF2B5EF4-FFF2-40B4-BE49-F238E27FC236}">
                <a16:creationId xmlns:a16="http://schemas.microsoft.com/office/drawing/2014/main" id="{F81F4C37-CE09-43B9-867D-7B4EDA0E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0066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>
                <a:solidFill>
                  <a:srgbClr val="E8EEF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E8EEF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1" name="take-3">
            <a:extLst xmlns:a="http://schemas.openxmlformats.org/drawingml/2006/main">
              <a:ext uri="{FF2B5EF4-FFF2-40B4-BE49-F238E27FC236}">
                <a16:creationId xmlns:a16="http://schemas.microsoft.com/office/drawing/2014/main" id="{A6AC8B36-5231-4F9A-AE84-E69AEAE4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61966"/>
            <a:ext cx="10172700" cy="6903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1 is due at the end of this session — submit the package and keep the pin-up ready.</a:t>
            </a:r>
          </a:p>
        </p:txBody>
      </p:sp>
    </p:spTree>
    <p:extLst>
      <p:ext uri="{BB962C8B-B14F-4D97-AF65-F5344CB8AC3E}">
        <p14:creationId xmlns:p14="http://schemas.microsoft.com/office/powerpoint/2010/main" val="18475041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2026-08-20T16:59:37.7410000Z</dcterms:created>
  <dcterms:modified xsi:type="dcterms:W3CDTF">2026-08-20T16:59:37.7410000Z</dcterms:modified>
</coreProperties>
</file>