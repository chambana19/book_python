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82968fd7d477e" /><Relationship Type="http://schemas.openxmlformats.org/officeDocument/2006/relationships/extended-properties" Target="/docProps/app.xml" Id="R544040c5813c407c" /><Relationship Type="http://schemas.openxmlformats.org/officeDocument/2006/relationships/officeDocument" Target="/ppt/presentation.xml" Id="Raeac67429f3d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d8b186214b4867"/>
  </p:sldMasterIdLst>
  <p:notesMasterIdLst>
    <p:notesMasterId xmlns:r="http://schemas.openxmlformats.org/officeDocument/2006/relationships" r:id="R4a43029c34c94cff"/>
  </p:notesMasterIdLst>
  <p:sldIdLst>
    <p:sldId xmlns:r="http://schemas.openxmlformats.org/officeDocument/2006/relationships" id="256" r:id="R1fe9d21860674ce5"/>
    <p:sldId xmlns:r="http://schemas.openxmlformats.org/officeDocument/2006/relationships" id="257" r:id="Rb054e9d56b784acc"/>
    <p:sldId xmlns:r="http://schemas.openxmlformats.org/officeDocument/2006/relationships" id="258" r:id="Rae505e7ca5d9465a"/>
    <p:sldId xmlns:r="http://schemas.openxmlformats.org/officeDocument/2006/relationships" id="259" r:id="Re50a4defead54a8f"/>
    <p:sldId xmlns:r="http://schemas.openxmlformats.org/officeDocument/2006/relationships" id="260" r:id="Rd278b9ef35d0488e"/>
    <p:sldId xmlns:r="http://schemas.openxmlformats.org/officeDocument/2006/relationships" id="261" r:id="R05f9483197a547b3"/>
    <p:sldId xmlns:r="http://schemas.openxmlformats.org/officeDocument/2006/relationships" id="262" r:id="R5f7be482b9464154"/>
    <p:sldId xmlns:r="http://schemas.openxmlformats.org/officeDocument/2006/relationships" id="263" r:id="R0c42ca76ca674d5b"/>
    <p:sldId xmlns:r="http://schemas.openxmlformats.org/officeDocument/2006/relationships" id="264" r:id="R26b126dad4f942c7"/>
    <p:sldId xmlns:r="http://schemas.openxmlformats.org/officeDocument/2006/relationships" id="265" r:id="R864a4f06e461424a"/>
    <p:sldId xmlns:r="http://schemas.openxmlformats.org/officeDocument/2006/relationships" id="266" r:id="Ra962f45597b14e9b"/>
    <p:sldId xmlns:r="http://schemas.openxmlformats.org/officeDocument/2006/relationships" id="267" r:id="R6863cd6419f44396"/>
    <p:sldId xmlns:r="http://schemas.openxmlformats.org/officeDocument/2006/relationships" id="268" r:id="R913f961a17f94b3c"/>
    <p:sldId xmlns:r="http://schemas.openxmlformats.org/officeDocument/2006/relationships" id="269" r:id="Rdf14d4c6baf148cf"/>
    <p:sldId xmlns:r="http://schemas.openxmlformats.org/officeDocument/2006/relationships" id="270" r:id="Rfb1f400a3bd64ef1"/>
    <p:sldId xmlns:r="http://schemas.openxmlformats.org/officeDocument/2006/relationships" id="271" r:id="R5493fe342a794a81"/>
    <p:sldId xmlns:r="http://schemas.openxmlformats.org/officeDocument/2006/relationships" id="272" r:id="R46f8206b1ca04060"/>
    <p:sldId xmlns:r="http://schemas.openxmlformats.org/officeDocument/2006/relationships" id="273" r:id="R188568fbf9e448ba"/>
    <p:sldId xmlns:r="http://schemas.openxmlformats.org/officeDocument/2006/relationships" id="274" r:id="R38acace8962e4eca"/>
    <p:sldId xmlns:r="http://schemas.openxmlformats.org/officeDocument/2006/relationships" id="275" r:id="Rb49df9a7f61c4ca2"/>
    <p:sldId xmlns:r="http://schemas.openxmlformats.org/officeDocument/2006/relationships" id="276" r:id="Rc3f256d007f0417d"/>
    <p:sldId xmlns:r="http://schemas.openxmlformats.org/officeDocument/2006/relationships" id="277" r:id="R20f3b0a81f4140a1"/>
    <p:sldId xmlns:r="http://schemas.openxmlformats.org/officeDocument/2006/relationships" id="278" r:id="Rb0320b4d14734fe0"/>
    <p:sldId xmlns:r="http://schemas.openxmlformats.org/officeDocument/2006/relationships" id="279" r:id="R4ecdf6ecb43b41cd"/>
    <p:sldId xmlns:r="http://schemas.openxmlformats.org/officeDocument/2006/relationships" id="280" r:id="R6e6f3edf8dfa4bef"/>
    <p:sldId xmlns:r="http://schemas.openxmlformats.org/officeDocument/2006/relationships" id="281" r:id="Rc6d9b0aa3cc04976"/>
    <p:sldId xmlns:r="http://schemas.openxmlformats.org/officeDocument/2006/relationships" id="282" r:id="R37849211151c4669"/>
    <p:sldId xmlns:r="http://schemas.openxmlformats.org/officeDocument/2006/relationships" id="283" r:id="R168d90f841024b80"/>
    <p:sldId xmlns:r="http://schemas.openxmlformats.org/officeDocument/2006/relationships" id="284" r:id="Rbf3a7b392ad44932"/>
    <p:sldId xmlns:r="http://schemas.openxmlformats.org/officeDocument/2006/relationships" id="285" r:id="Rf3aae0febb354dc6"/>
    <p:sldId xmlns:r="http://schemas.openxmlformats.org/officeDocument/2006/relationships" id="286" r:id="R656cad6e6aaa43ed"/>
    <p:sldId xmlns:r="http://schemas.openxmlformats.org/officeDocument/2006/relationships" id="287" r:id="R43c544b4870c4040"/>
    <p:sldId xmlns:r="http://schemas.openxmlformats.org/officeDocument/2006/relationships" id="288" r:id="R4197bc7b52e0401a"/>
    <p:sldId xmlns:r="http://schemas.openxmlformats.org/officeDocument/2006/relationships" id="289" r:id="R2df71a240d5d416a"/>
    <p:sldId xmlns:r="http://schemas.openxmlformats.org/officeDocument/2006/relationships" id="290" r:id="R56583bb0c09f4dc5"/>
    <p:sldId xmlns:r="http://schemas.openxmlformats.org/officeDocument/2006/relationships" id="291" r:id="Rf8510d75fbb04448"/>
    <p:sldId xmlns:r="http://schemas.openxmlformats.org/officeDocument/2006/relationships" id="292" r:id="R65df683e065649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dde5823dd4849" /><Relationship Type="http://schemas.openxmlformats.org/officeDocument/2006/relationships/slideMaster" Target="/ppt/slideMasters/slideMaster1.xml" Id="Rc4d8b186214b4867" /><Relationship Type="http://schemas.openxmlformats.org/officeDocument/2006/relationships/notesMaster" Target="/ppt/notesMasters/notesMaster1.xml" Id="R4a43029c34c94cff" /><Relationship Type="http://schemas.openxmlformats.org/officeDocument/2006/relationships/presProps" Target="/ppt/presProps.xml" Id="R6fb455e9dab94d16" /><Relationship Type="http://schemas.openxmlformats.org/officeDocument/2006/relationships/tableStyles" Target="/ppt/tableStyles.xml" Id="R99cc5d945e8847d8" /><Relationship Type="http://schemas.openxmlformats.org/officeDocument/2006/relationships/slide" Target="/ppt/slides/slide1.xml" Id="R1fe9d21860674ce5" /><Relationship Type="http://schemas.openxmlformats.org/officeDocument/2006/relationships/slide" Target="/ppt/slides/slide2.xml" Id="Rb054e9d56b784acc" /><Relationship Type="http://schemas.openxmlformats.org/officeDocument/2006/relationships/slide" Target="/ppt/slides/slide3.xml" Id="Rae505e7ca5d9465a" /><Relationship Type="http://schemas.openxmlformats.org/officeDocument/2006/relationships/slide" Target="/ppt/slides/slide4.xml" Id="Re50a4defead54a8f" /><Relationship Type="http://schemas.openxmlformats.org/officeDocument/2006/relationships/slide" Target="/ppt/slides/slide5.xml" Id="Rd278b9ef35d0488e" /><Relationship Type="http://schemas.openxmlformats.org/officeDocument/2006/relationships/slide" Target="/ppt/slides/slide6.xml" Id="R05f9483197a547b3" /><Relationship Type="http://schemas.openxmlformats.org/officeDocument/2006/relationships/slide" Target="/ppt/slides/slide7.xml" Id="R5f7be482b9464154" /><Relationship Type="http://schemas.openxmlformats.org/officeDocument/2006/relationships/slide" Target="/ppt/slides/slide8.xml" Id="R0c42ca76ca674d5b" /><Relationship Type="http://schemas.openxmlformats.org/officeDocument/2006/relationships/slide" Target="/ppt/slides/slide9.xml" Id="R26b126dad4f942c7" /><Relationship Type="http://schemas.openxmlformats.org/officeDocument/2006/relationships/slide" Target="/ppt/slides/slide10.xml" Id="R864a4f06e461424a" /><Relationship Type="http://schemas.openxmlformats.org/officeDocument/2006/relationships/slide" Target="/ppt/slides/slide11.xml" Id="Ra962f45597b14e9b" /><Relationship Type="http://schemas.openxmlformats.org/officeDocument/2006/relationships/slide" Target="/ppt/slides/slide12.xml" Id="R6863cd6419f44396" /><Relationship Type="http://schemas.openxmlformats.org/officeDocument/2006/relationships/slide" Target="/ppt/slides/slide13.xml" Id="R913f961a17f94b3c" /><Relationship Type="http://schemas.openxmlformats.org/officeDocument/2006/relationships/slide" Target="/ppt/slides/slide14.xml" Id="Rdf14d4c6baf148cf" /><Relationship Type="http://schemas.openxmlformats.org/officeDocument/2006/relationships/slide" Target="/ppt/slides/slide15.xml" Id="Rfb1f400a3bd64ef1" /><Relationship Type="http://schemas.openxmlformats.org/officeDocument/2006/relationships/slide" Target="/ppt/slides/slide16.xml" Id="R5493fe342a794a81" /><Relationship Type="http://schemas.openxmlformats.org/officeDocument/2006/relationships/slide" Target="/ppt/slides/slide17.xml" Id="R46f8206b1ca04060" /><Relationship Type="http://schemas.openxmlformats.org/officeDocument/2006/relationships/slide" Target="/ppt/slides/slide18.xml" Id="R188568fbf9e448ba" /><Relationship Type="http://schemas.openxmlformats.org/officeDocument/2006/relationships/slide" Target="/ppt/slides/slide19.xml" Id="R38acace8962e4eca" /><Relationship Type="http://schemas.openxmlformats.org/officeDocument/2006/relationships/slide" Target="/ppt/slides/slide20.xml" Id="Rb49df9a7f61c4ca2" /><Relationship Type="http://schemas.openxmlformats.org/officeDocument/2006/relationships/slide" Target="/ppt/slides/slide21.xml" Id="Rc3f256d007f0417d" /><Relationship Type="http://schemas.openxmlformats.org/officeDocument/2006/relationships/slide" Target="/ppt/slides/slide22.xml" Id="R20f3b0a81f4140a1" /><Relationship Type="http://schemas.openxmlformats.org/officeDocument/2006/relationships/slide" Target="/ppt/slides/slide23.xml" Id="Rb0320b4d14734fe0" /><Relationship Type="http://schemas.openxmlformats.org/officeDocument/2006/relationships/slide" Target="/ppt/slides/slide24.xml" Id="R4ecdf6ecb43b41cd" /><Relationship Type="http://schemas.openxmlformats.org/officeDocument/2006/relationships/slide" Target="/ppt/slides/slide25.xml" Id="R6e6f3edf8dfa4bef" /><Relationship Type="http://schemas.openxmlformats.org/officeDocument/2006/relationships/slide" Target="/ppt/slides/slide26.xml" Id="Rc6d9b0aa3cc04976" /><Relationship Type="http://schemas.openxmlformats.org/officeDocument/2006/relationships/slide" Target="/ppt/slides/slide27.xml" Id="R37849211151c4669" /><Relationship Type="http://schemas.openxmlformats.org/officeDocument/2006/relationships/slide" Target="/ppt/slides/slide28.xml" Id="R168d90f841024b80" /><Relationship Type="http://schemas.openxmlformats.org/officeDocument/2006/relationships/slide" Target="/ppt/slides/slide29.xml" Id="Rbf3a7b392ad44932" /><Relationship Type="http://schemas.openxmlformats.org/officeDocument/2006/relationships/slide" Target="/ppt/slides/slide30.xml" Id="Rf3aae0febb354dc6" /><Relationship Type="http://schemas.openxmlformats.org/officeDocument/2006/relationships/slide" Target="/ppt/slides/slide31.xml" Id="R656cad6e6aaa43ed" /><Relationship Type="http://schemas.openxmlformats.org/officeDocument/2006/relationships/slide" Target="/ppt/slides/slide32.xml" Id="R43c544b4870c4040" /><Relationship Type="http://schemas.openxmlformats.org/officeDocument/2006/relationships/slide" Target="/ppt/slides/slide33.xml" Id="R4197bc7b52e0401a" /><Relationship Type="http://schemas.openxmlformats.org/officeDocument/2006/relationships/slide" Target="/ppt/slides/slide34.xml" Id="R2df71a240d5d416a" /><Relationship Type="http://schemas.openxmlformats.org/officeDocument/2006/relationships/slide" Target="/ppt/slides/slide35.xml" Id="R56583bb0c09f4dc5" /><Relationship Type="http://schemas.openxmlformats.org/officeDocument/2006/relationships/slide" Target="/ppt/slides/slide36.xml" Id="Rf8510d75fbb04448" /><Relationship Type="http://schemas.openxmlformats.org/officeDocument/2006/relationships/slide" Target="/ppt/slides/slide37.xml" Id="R65df683e0656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142c0637b45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6bcdc195a4412" /><Relationship Type="http://schemas.openxmlformats.org/officeDocument/2006/relationships/notesMaster" Target="/ppt/notesMasters/notesMaster1.xml" Id="Ra87a41419ba94c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f1f429b8f44980" /><Relationship Type="http://schemas.openxmlformats.org/officeDocument/2006/relationships/notesMaster" Target="/ppt/notesMasters/notesMaster1.xml" Id="Rbefa4a11281441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9313653c29467d" /><Relationship Type="http://schemas.openxmlformats.org/officeDocument/2006/relationships/notesMaster" Target="/ppt/notesMasters/notesMaster1.xml" Id="Rd43254bf7f4948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f64036a4684bfb" /><Relationship Type="http://schemas.openxmlformats.org/officeDocument/2006/relationships/notesMaster" Target="/ppt/notesMasters/notesMaster1.xml" Id="R61e040ebdbe746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6e681698a44bf1" /><Relationship Type="http://schemas.openxmlformats.org/officeDocument/2006/relationships/notesMaster" Target="/ppt/notesMasters/notesMaster1.xml" Id="Ra246dbd7bcb04c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751d2ffd248e7" /><Relationship Type="http://schemas.openxmlformats.org/officeDocument/2006/relationships/notesMaster" Target="/ppt/notesMasters/notesMaster1.xml" Id="R1b8cdb916ed74e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2ccdd869a14e5e" /><Relationship Type="http://schemas.openxmlformats.org/officeDocument/2006/relationships/notesMaster" Target="/ppt/notesMasters/notesMaster1.xml" Id="Radd30375dc444a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8f90c0dee4a29" /><Relationship Type="http://schemas.openxmlformats.org/officeDocument/2006/relationships/notesMaster" Target="/ppt/notesMasters/notesMaster1.xml" Id="Rbdde237e7a98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bb67debe4f4bc4" /><Relationship Type="http://schemas.openxmlformats.org/officeDocument/2006/relationships/notesMaster" Target="/ppt/notesMasters/notesMaster1.xml" Id="R98c63ef4382846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7cdc1bc6264785" /><Relationship Type="http://schemas.openxmlformats.org/officeDocument/2006/relationships/notesMaster" Target="/ppt/notesMasters/notesMaster1.xml" Id="R2d103fe6cc8347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fb4cab04034a2f" /><Relationship Type="http://schemas.openxmlformats.org/officeDocument/2006/relationships/notesMaster" Target="/ppt/notesMasters/notesMaster1.xml" Id="Rab83e234890549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3a8a0364434f60" /><Relationship Type="http://schemas.openxmlformats.org/officeDocument/2006/relationships/notesMaster" Target="/ppt/notesMasters/notesMaster1.xml" Id="R2c04e2645d9e43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ff1708e2a8438f" /><Relationship Type="http://schemas.openxmlformats.org/officeDocument/2006/relationships/notesMaster" Target="/ppt/notesMasters/notesMaster1.xml" Id="Rf7b6f7dbabac42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57a96ff0e54fe5" /><Relationship Type="http://schemas.openxmlformats.org/officeDocument/2006/relationships/notesMaster" Target="/ppt/notesMasters/notesMaster1.xml" Id="Rb070df61d5fb45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8d715a392d4288" /><Relationship Type="http://schemas.openxmlformats.org/officeDocument/2006/relationships/notesMaster" Target="/ppt/notesMasters/notesMaster1.xml" Id="R73b3c02fa9e74a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c056271e61453c" /><Relationship Type="http://schemas.openxmlformats.org/officeDocument/2006/relationships/notesMaster" Target="/ppt/notesMasters/notesMaster1.xml" Id="Ra6ff6a82c3f448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3b991e011a4a91" /><Relationship Type="http://schemas.openxmlformats.org/officeDocument/2006/relationships/notesMaster" Target="/ppt/notesMasters/notesMaster1.xml" Id="R29b538d4262e40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75f35c06e44cbb" /><Relationship Type="http://schemas.openxmlformats.org/officeDocument/2006/relationships/notesMaster" Target="/ppt/notesMasters/notesMaster1.xml" Id="Rb36c79197f6348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1f302ce7e74c77" /><Relationship Type="http://schemas.openxmlformats.org/officeDocument/2006/relationships/notesMaster" Target="/ppt/notesMasters/notesMaster1.xml" Id="R62521f5bb86843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ba9bf3eb444eef" /><Relationship Type="http://schemas.openxmlformats.org/officeDocument/2006/relationships/notesMaster" Target="/ppt/notesMasters/notesMaster1.xml" Id="Rbef664c97103476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187668e9434c27" /><Relationship Type="http://schemas.openxmlformats.org/officeDocument/2006/relationships/notesMaster" Target="/ppt/notesMasters/notesMaster1.xml" Id="Rf7358afd4f9e46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e0356f759a48f9" /><Relationship Type="http://schemas.openxmlformats.org/officeDocument/2006/relationships/notesMaster" Target="/ppt/notesMasters/notesMaster1.xml" Id="R2542b8276f924c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4daec140bf4995" /><Relationship Type="http://schemas.openxmlformats.org/officeDocument/2006/relationships/notesMaster" Target="/ppt/notesMasters/notesMaster1.xml" Id="R36955278c25f4c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de69c2821e4e0a" /><Relationship Type="http://schemas.openxmlformats.org/officeDocument/2006/relationships/notesMaster" Target="/ppt/notesMasters/notesMaster1.xml" Id="Rd2f5f6a9969d4e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490f6d938b4607" /><Relationship Type="http://schemas.openxmlformats.org/officeDocument/2006/relationships/notesMaster" Target="/ppt/notesMasters/notesMaster1.xml" Id="R33f940abeff0404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172a1f2f5814798" /><Relationship Type="http://schemas.openxmlformats.org/officeDocument/2006/relationships/notesMaster" Target="/ppt/notesMasters/notesMaster1.xml" Id="R91b86e49fa5245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839361e13a4225" /><Relationship Type="http://schemas.openxmlformats.org/officeDocument/2006/relationships/notesMaster" Target="/ppt/notesMasters/notesMaster1.xml" Id="R4f415768be9c4b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77b7d729904ba8" /><Relationship Type="http://schemas.openxmlformats.org/officeDocument/2006/relationships/notesMaster" Target="/ppt/notesMasters/notesMaster1.xml" Id="R665540a7488946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be7a215ec0c454f" /><Relationship Type="http://schemas.openxmlformats.org/officeDocument/2006/relationships/notesMaster" Target="/ppt/notesMasters/notesMaster1.xml" Id="R6baed3b060244a3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215d10e3114997" /><Relationship Type="http://schemas.openxmlformats.org/officeDocument/2006/relationships/notesMaster" Target="/ppt/notesMasters/notesMaster1.xml" Id="R80de598fa98643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7063cf04224706" /><Relationship Type="http://schemas.openxmlformats.org/officeDocument/2006/relationships/notesMaster" Target="/ppt/notesMasters/notesMaster1.xml" Id="R2435d92e87b140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93ab84b7c348ae" /><Relationship Type="http://schemas.openxmlformats.org/officeDocument/2006/relationships/notesMaster" Target="/ppt/notesMasters/notesMaster1.xml" Id="R297f7c4e2f13488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5e7711dd1ad4bda" /><Relationship Type="http://schemas.openxmlformats.org/officeDocument/2006/relationships/notesMaster" Target="/ppt/notesMasters/notesMaster1.xml" Id="Rf77702105cd34d4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72b56927cb3478f" /><Relationship Type="http://schemas.openxmlformats.org/officeDocument/2006/relationships/notesMaster" Target="/ppt/notesMasters/notesMaster1.xml" Id="R44ffc907c8604d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e90345268344253" /><Relationship Type="http://schemas.openxmlformats.org/officeDocument/2006/relationships/notesMaster" Target="/ppt/notesMasters/notesMaster1.xml" Id="R62aa9727fa6f49e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341c766ab9643a3" /><Relationship Type="http://schemas.openxmlformats.org/officeDocument/2006/relationships/notesMaster" Target="/ppt/notesMasters/notesMaster1.xml" Id="R374c97456caf4dc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4d2ea3067814cb3" /><Relationship Type="http://schemas.openxmlformats.org/officeDocument/2006/relationships/notesMaster" Target="/ppt/notesMasters/notesMaster1.xml" Id="Re071fb2034204b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with: if you had 24 rows of room data, how would you compare North to South without inspecting every row by eye? Preview that groupby() answers this today, and that a single summary number still needs an outlier check before anyone should trust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Set up the whole session in one line: grouping tells a comparison story, outlier rules protect that story from being distorted by one bad or genuinely extreme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Flag outcome 3 explicitly: Week 4 passed values as arguments; today a familiar function itself becomes the argument, written without parentheses.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Tell students the whole session builds toward one dataset-level claim about Radley Hall that survives an outlier audit. Optional pandas convenience methods remain in the handout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Keep this brief — a 60-90 second recall, not a re-teach. Confirm students still have last week's cleaned building_rooms.csv open or accessible.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Draw this on the board as three literal piles of index cards if useful: split into a North pile and a South pile, summarize each pile, then rebuild one small table. This is the mental model for every groupby() call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groupby() alone does nothing observable — it only becomes visible once an aggregation like .mean() is chained after it. Try printing df.groupby("zone") alone to show the unhelpful &lt;DataFrameGroupBy object&gt; repr.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each numbered chip in turn: DataFrame, split, pick one column, apply-and-combine. Ask which chip would change if the call grouped by room_type instead of zone — only the SPLIT chip.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Poll hands for each option before revealing. Option C is the important trap: groupby() sorts by the group KEY, not by the result — sort_values() two slides ahead is the actual ranking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Run it live and ask: which zone uses more energy per square meter, and by roughly how much? Do not confirm the exact percentage yet — that is the headline table two slides ahead.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mean_energy=, mean_area=, n= are keyword arguments naming the output columns — the same keyword-argument idea from Week 4's pd.read_csv(path, sep=','), now used to name results instead of configure a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finding to anchor for the rest of the Weeks 4-7 arc. Compute the percentage live: 115.68 / 64.25 = 1.80, so about 80% more — do not round this to 'double.' Ask what a designer would want to check before acting on it (sample size per zone, orientation mix, equipment load).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With only two zones the reordering is subtle here; promise students the room_type table later in the session makes sort_values() far more useful, with seven categories to rank.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Read the contrast aloud: my_function names the reusable procedure; my_function() would call it immediately. The next two code slides apply this to .agg(), then contrast it with .apply(), which receives the whole group instead of one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South's spread (337.0) is so much larger than North's (76.0) — a preview that South also contains the extreme outlier room the class audits later this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Keep this brief: the two results match by design (same math), so the point is the difference in what arrives inside the function, not a new number to memorize.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Point at max (410.0) sitting far above the 75th percentile (90.8) — that gap is exactly what the outlier rules ahead will formalize instead of eyeballing.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students would worry about if the split had been 20 North rooms and 4 South rooms instead — the same 80% gap would deserve far less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table foreshadows the area_m2 outlier disagreement later this session — note how wide the room_type range already looks (3.0 to 82.1 m²) before any outlier rule is even applied.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Transition slide — keep it short. The room to keep in mind here is R306 (Radley Hall's server closet), already visible as the max in the describe()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IQR is exactly the 'box' in a box-and-whisker plot: Q1 and Q3 are the box's edges, IQR is its height. This slide names the number; the next slide builds an outlier rule from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Write the two fence equations after tracing the visual sequence. Stress that 1.5 is a convention and a flag is not a verdict.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Write df.loc[condition, column] on the board next to Week 4's df[condition] — the second, comma-separated part is the only new part. Then write low, high = 1, 2 on the board and ask what each name holds before running any real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students to guess the room type before revealing it. 'Server' should feel like a satisfying, defensible explanation once shown — contrast this with the harder cases coming up on area_m2.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Contrast the two rules conceptually before running code: IQR is based on quartiles (resistant to extremes); z-score is based on mean/std (sensitive to them) — exactly why they can disagree. The next code slide applies this rule to the same R306 example the IQR rule just caught.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that flag_iqr calls iqr_bounds inside itself - one function calling another, a first preview of composing small functions instead of writing one long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what a suspiciously LOW energy reading might mean for a closet - a broken meter, an unused space, or a genuinely minimal-conditioning room - and contrast it with R306's high-side, equipment-driven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which of the two flagged rooms looks more surprising. Most students say R306 because it is dramatic; R110 is the more interesting one, because a suspiciously LOW reading can mean a broken meter rather than an efficient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State plainly: this agreement is the easy case. The next table shows the two rules pulling in different directions on a different column of the exact same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plainly: on energy_kwh_m2_yr the two rules just agreed (R306). The next table shows a real column, area_m2, where they do not — that disagreement is the point, not a bug in either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whether the gallery is a valid program type or a suspicious record, and whether a 3 m² 'room' is legitimate. Numeric flags begin an investigation; they do not resolve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Emphasize: an outlier rule only produces a flag. Which of these three explanations applies is a judgment call the analyst has to defend in writing — exactly the keep/investigate/exclude sentence Meeting B will require for every flagged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Keep this brief and concrete — the next slide is the payoff: merging the zone summary back onto every individual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exact merge — a group summary attached back onto per-row data — is the pattern Project 1 Part II requires; tell students explicitly that this slide is a preview of that milestone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reuses the room_type/area_m2 grouping pattern from earlier in the session on a different column, reinforcing that groupby().mean().round() is a general recipe, not a one-off. Ask students whether the energy ranking matches the area ranking from the earlier table — it should not match exactly, which is itself worth discussing.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Show the AI code: def flag_outliers(s): return s[( (s - s.mean())/s.std() ) &gt; 2]. The repair should use .abs() and should NOT silently drop flagged rows — tie this back to the three-category harder question from two slides 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https://skillsbuild.org/adult-learners/explore-learning/artificial-intelligence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Exit prompt: ask students to name which room was flagged by both rules and which room was flagged by only one, then state the decision each flag requires.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bf3305676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0c6e5b12634053" /><Relationship Type="http://schemas.openxmlformats.org/officeDocument/2006/relationships/slideLayout" Target="/ppt/slideLayouts/slideLayout1.xml" Id="R9bcb51d58223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b51d58223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8a2fd308845c1" /><Relationship Type="http://schemas.openxmlformats.org/officeDocument/2006/relationships/notesSlide" Target="/ppt/notesSlides/notesSlide1.xml" Id="R5187095da71a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b7e370d57492d" /><Relationship Type="http://schemas.openxmlformats.org/officeDocument/2006/relationships/notesSlide" Target="/ppt/notesSlides/notesSlide2.xml" Id="R8e81728a2d9940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ef04a7b9849d1" /><Relationship Type="http://schemas.openxmlformats.org/officeDocument/2006/relationships/notesSlide" Target="/ppt/notesSlides/notesSlide3.xml" Id="R3171352891f8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162f698444cba" /><Relationship Type="http://schemas.openxmlformats.org/officeDocument/2006/relationships/notesSlide" Target="/ppt/notesSlides/notesSlide4.xml" Id="R2f920cde5dad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ea90effd645f5" /><Relationship Type="http://schemas.openxmlformats.org/officeDocument/2006/relationships/notesSlide" Target="/ppt/notesSlides/notesSlide5.xml" Id="Refc07db4616e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bbca0ef594296" /><Relationship Type="http://schemas.openxmlformats.org/officeDocument/2006/relationships/notesSlide" Target="/ppt/notesSlides/notesSlide6.xml" Id="R2c1585e70cf948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31674ea2c421f" /><Relationship Type="http://schemas.openxmlformats.org/officeDocument/2006/relationships/notesSlide" Target="/ppt/notesSlides/notesSlide7.xml" Id="R6c58cca117974b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09c931dff481a" /><Relationship Type="http://schemas.openxmlformats.org/officeDocument/2006/relationships/notesSlide" Target="/ppt/notesSlides/notesSlide8.xml" Id="R21a281d2a555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54fd8ab2a4064" /><Relationship Type="http://schemas.openxmlformats.org/officeDocument/2006/relationships/notesSlide" Target="/ppt/notesSlides/notesSlide9.xml" Id="R9286d0658b1740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2b26f9c9b4a05" /><Relationship Type="http://schemas.openxmlformats.org/officeDocument/2006/relationships/notesSlide" Target="/ppt/notesSlides/notesSlide10.xml" Id="Rac1ed9cc02b54c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eba5a8a744ebc" /><Relationship Type="http://schemas.openxmlformats.org/officeDocument/2006/relationships/notesSlide" Target="/ppt/notesSlides/notesSlide11.xml" Id="R01b9bb64973c40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8a0a83ce4ac0" /><Relationship Type="http://schemas.openxmlformats.org/officeDocument/2006/relationships/notesSlide" Target="/ppt/notesSlides/notesSlide12.xml" Id="Rd1e869cbb1c844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6f5b9efdc4815" /><Relationship Type="http://schemas.openxmlformats.org/officeDocument/2006/relationships/notesSlide" Target="/ppt/notesSlides/notesSlide13.xml" Id="R01a56805c27a46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35706917e4650" /><Relationship Type="http://schemas.openxmlformats.org/officeDocument/2006/relationships/notesSlide" Target="/ppt/notesSlides/notesSlide14.xml" Id="R4e835e9552cf46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147738c974ee0" /><Relationship Type="http://schemas.openxmlformats.org/officeDocument/2006/relationships/notesSlide" Target="/ppt/notesSlides/notesSlide15.xml" Id="R1ac91c0168cf43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3307d1a754ba5" /><Relationship Type="http://schemas.openxmlformats.org/officeDocument/2006/relationships/notesSlide" Target="/ppt/notesSlides/notesSlide16.xml" Id="R34139c93f37344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f05fe3f264785" /><Relationship Type="http://schemas.openxmlformats.org/officeDocument/2006/relationships/notesSlide" Target="/ppt/notesSlides/notesSlide17.xml" Id="Re63df023686340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1908339bd42de" /><Relationship Type="http://schemas.openxmlformats.org/officeDocument/2006/relationships/notesSlide" Target="/ppt/notesSlides/notesSlide18.xml" Id="Rb92bdc0027ec43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c3c9596bb4fc9" /><Relationship Type="http://schemas.openxmlformats.org/officeDocument/2006/relationships/notesSlide" Target="/ppt/notesSlides/notesSlide19.xml" Id="R2fb25c2da02e47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ab9033f04026" /><Relationship Type="http://schemas.openxmlformats.org/officeDocument/2006/relationships/notesSlide" Target="/ppt/notesSlides/notesSlide20.xml" Id="R37565f2dd39a49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99e0362b44176" /><Relationship Type="http://schemas.openxmlformats.org/officeDocument/2006/relationships/notesSlide" Target="/ppt/notesSlides/notesSlide21.xml" Id="Rbc70cd55516749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b3128008c43e3" /><Relationship Type="http://schemas.openxmlformats.org/officeDocument/2006/relationships/notesSlide" Target="/ppt/notesSlides/notesSlide22.xml" Id="R9495082cc5fb47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5035e163847ff" /><Relationship Type="http://schemas.openxmlformats.org/officeDocument/2006/relationships/notesSlide" Target="/ppt/notesSlides/notesSlide23.xml" Id="Rd25ed7f7e7514a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f12c07cd14ca7" /><Relationship Type="http://schemas.openxmlformats.org/officeDocument/2006/relationships/notesSlide" Target="/ppt/notesSlides/notesSlide24.xml" Id="R652ae6ab488f44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ff7c69cfd4dd2" /><Relationship Type="http://schemas.openxmlformats.org/officeDocument/2006/relationships/notesSlide" Target="/ppt/notesSlides/notesSlide25.xml" Id="Rab14b1cb94dd4d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77efb27344862" /><Relationship Type="http://schemas.openxmlformats.org/officeDocument/2006/relationships/notesSlide" Target="/ppt/notesSlides/notesSlide26.xml" Id="R449d49391a6447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bf04d1e8b4b99" /><Relationship Type="http://schemas.openxmlformats.org/officeDocument/2006/relationships/notesSlide" Target="/ppt/notesSlides/notesSlide27.xml" Id="Rbd630e8657aa49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da654ebcd40e7" /><Relationship Type="http://schemas.openxmlformats.org/officeDocument/2006/relationships/image" Target="/ppt/media/image.png" Id="R76bd1028769a48b5" /><Relationship Type="http://schemas.openxmlformats.org/officeDocument/2006/relationships/notesSlide" Target="/ppt/notesSlides/notesSlide28.xml" Id="R4a4a4ecf8d4941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7fb6c7bda4e23" /><Relationship Type="http://schemas.openxmlformats.org/officeDocument/2006/relationships/notesSlide" Target="/ppt/notesSlides/notesSlide29.xml" Id="R3b08bae7c8254a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2cd2a3a694dce" /><Relationship Type="http://schemas.openxmlformats.org/officeDocument/2006/relationships/notesSlide" Target="/ppt/notesSlides/notesSlide30.xml" Id="Ra6727f226b664c4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133b53db5403b" /><Relationship Type="http://schemas.openxmlformats.org/officeDocument/2006/relationships/notesSlide" Target="/ppt/notesSlides/notesSlide31.xml" Id="Ra51ae44c263347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8daede2524ba9" /><Relationship Type="http://schemas.openxmlformats.org/officeDocument/2006/relationships/notesSlide" Target="/ppt/notesSlides/notesSlide32.xml" Id="Rb3898f776a2740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de032f8674dd2" /><Relationship Type="http://schemas.openxmlformats.org/officeDocument/2006/relationships/notesSlide" Target="/ppt/notesSlides/notesSlide33.xml" Id="Rabdd7e278a0f42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ba5127caf4af7" /><Relationship Type="http://schemas.openxmlformats.org/officeDocument/2006/relationships/notesSlide" Target="/ppt/notesSlides/notesSlide34.xml" Id="R135dfab3bcb341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8bf844c1c4a8c" /><Relationship Type="http://schemas.openxmlformats.org/officeDocument/2006/relationships/notesSlide" Target="/ppt/notesSlides/notesSlide35.xml" Id="R0d8a12c817fb4f6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bd7896171470e" /><Relationship Type="http://schemas.openxmlformats.org/officeDocument/2006/relationships/notesSlide" Target="/ppt/notesSlides/notesSlide36.xml" Id="Racf0ce84bbcb40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3e09148d54032" /><Relationship Type="http://schemas.openxmlformats.org/officeDocument/2006/relationships/notesSlide" Target="/ppt/notesSlides/notesSlide37.xml" Id="Ra1bf795ecd5a41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256771CE-1367-4310-8F0B-FC613732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A890CEAC-547A-4344-8266-690A32EF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F8C8EF5D-7C26-49AB-93AE-27F1DD6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D14591BF-094D-4CC8-8AEE-D99D6B5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5 · MEETING A · GROUPING, OUTLIERS, AND DEFENSIBLE SUMMARIES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C7BE302A-3875-4625-921C-7866AA32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many rows into one defensible comparison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9C972FB-3F13-4C68-91B1-A961238B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Split-apply-combine, one function passed to .agg(), dual-rule outlier audits, and a key-based merge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CA18E-920D-4C68-8540-DBD2AAA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38863E93-6B72-4AC0-8DC1-250942F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0542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DB52B400-3E34-4BC9-8AD9-6387E8E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222496-1175-4AB2-B504-A1563A8B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summary is only as trustworthy as the grouping and the outlier check behind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4C8A-4328-40A0-BE61-6BDEA4E4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4CC994C-1A7C-40C4-A81A-4DCE2297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A934B13-8E3F-4BBD-AA7D-BB12CD2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0F0C5548-E4C4-4089-B951-FD4E48EA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829800" cy="2051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groupby() answers ‘compared to what’ — but a mean can hide one extreme value, and no single outlier rule catches everything.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499EE-7817-458F-9197-FC63A37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11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40A046A0-5D91-4FC6-B21C-C26CAB59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4954"/>
            <a:ext cx="93345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Today: split-apply-combine as the grammar behind every group comparison; functions passed in as arguments so each group can be summarized your way; and two named rules — IQR and z-score — for deciding which values deserve a closer look, including what to do when they disagree.</a:t>
            </a:r>
          </a:p>
        </p:txBody>
      </p:sp>
    </p:spTree>
    <p:extLst>
      <p:ext uri="{BB962C8B-B14F-4D97-AF65-F5344CB8AC3E}">
        <p14:creationId xmlns:p14="http://schemas.microsoft.com/office/powerpoint/2010/main" val="1002437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F0F1972B-77ED-4F0C-8E4E-399B964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D30EDD-F77E-40B8-B7FE-B8688320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E8B00-1839-43BC-B52C-7B1E5EB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9C6D41F-6529-46DC-82CD-B99E556C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4B0CC19-8F89-42A7-99BA-20DAAED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CCE349BC-63F1-411D-9581-7C7D0723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94B32720-F518-479C-B4A9-0986EB44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FD629584-2B9D-4186-818F-F2BDCD1B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groupby() to split a DataFrame into categories, apply summaries, and combine results.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AF72C20F-7D70-4F09-B508-60BB656F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52C04D80-CBFA-4F28-8BD9-9B6D42A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B656E3F6-F1EC-4E05-891A-5B42D09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Produce multiple aggregations in one call and sort the evidence table.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1E4CC8CB-8472-42FC-83F6-4C02EAF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B5065A70-0D2D-49A6-AFE3-71D46B27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039AF627-13C6-4E05-A10A-E8B78476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Pass one function you wrote into .agg() or .apply(), then attach a grouped result with a key-based merge.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07804FCC-A944-4375-A3C7-7531E321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5B0A3F6D-775E-473D-BB69-75117F5A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Judge outliers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7B0DD654-FBAA-4664-9271-E856B16F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Compare IQR and z-score flags, then decide keep / investigate / exclude in writing.</a:t>
            </a:r>
          </a:p>
        </p:txBody>
      </p:sp>
    </p:spTree>
    <p:extLst>
      <p:ext uri="{BB962C8B-B14F-4D97-AF65-F5344CB8AC3E}">
        <p14:creationId xmlns:p14="http://schemas.microsoft.com/office/powerpoint/2010/main" val="811892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805D7F5-2411-4F24-9A0B-8451639C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F73F2-5390-4D9B-92DD-B235EF6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E346C-D816-4FCF-8437-6642D25F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B9B1E7-2540-4D77-8EA5-FCAEEDEC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3AFFC87-25E5-415B-917F-3FAB18E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E4CF6B5C-7A4E-4C82-8DCD-1235C15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F0C3B-7698-48C4-A287-FE6C95A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9EBE22A7-745C-42E6-B566-4D944E8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Split, apply, combine: the grammar of groupby()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A3DA43C2-8071-4D43-9AF2-C2753C2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30103-69D8-4BCE-8892-E2B6B5D8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77E1C6CE-1694-408A-A04D-2997D6C8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Multiple aggregations and ranking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02C4DD0B-BECA-4EFA-AA27-D6EB2757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4DF80-6F62-46B6-9CF1-51F4AB00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E25D0DE5-B2F6-41ED-BBF2-296BB6AC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function passed into .agg() and .apply()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F22E8847-C2EE-4EC6-ADE5-B61B8343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7F215-F385-400A-8A9F-69E26B7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E56311D1-0F9B-4C73-A43D-DC96B032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vs. z-score decisions, then one key-based merge</a:t>
            </a:r>
          </a:p>
        </p:txBody>
      </p:sp>
    </p:spTree>
    <p:extLst>
      <p:ext uri="{BB962C8B-B14F-4D97-AF65-F5344CB8AC3E}">
        <p14:creationId xmlns:p14="http://schemas.microsoft.com/office/powerpoint/2010/main" val="237620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148737E4-F0E9-4DDF-99C7-32C5218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D39ADF-3A32-49B1-B65B-FCA2D98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Radley Hall, the shared teaching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08A23-FF07-40A4-A5A8-A65151D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41469B7-EB21-4D9F-8B59-00352EE7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847FEEE-A925-446A-AD02-72E2ECC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8E58F73B-CD03-439A-8F05-B0391CD4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it is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45FE5341-7459-446E-9D77-2D8EFB0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 rooms in a fictional building we're calling Radley Hall (not a real Slocum Hall record) — first opened in Week 4. Each row is one room: floor, zone (North/South), room_type, area_m2, energy_kwh_m2_yr, and a few more columns.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536DFEAB-DA1C-48A0-BB33-4987F538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Week 4 already found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1C0020BA-607F-45D9-AE57-CAE9688B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missing has_daylight value (room R303) and one missing energy_kwh_m2_yr value (room R206) — real reasons the Week 4 trustworthiness interview mattered. Today we group and compare; we are not re-cleaning.</a:t>
            </a:r>
          </a:p>
        </p:txBody>
      </p:sp>
    </p:spTree>
    <p:extLst>
      <p:ext uri="{BB962C8B-B14F-4D97-AF65-F5344CB8AC3E}">
        <p14:creationId xmlns:p14="http://schemas.microsoft.com/office/powerpoint/2010/main" val="776862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39FE71BF-707F-411E-8AA8-346A9D94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21CA7E-0443-4EA8-8720-A644C334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Split, apply, combine: the grammar behind every groupby()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D8804-FC4A-4262-835F-2587935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363F400-42C3-4AD8-BA4C-4920330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0FC7F0-3080-4E31-A944-63CC8AFA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DDFD2257-D94F-4832-9AC5-60CAE2BC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CBDEFDBC-0A2E-4AC1-8535-D0A947F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92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node-0">
            <a:extLst xmlns:a="http://schemas.openxmlformats.org/drawingml/2006/main">
              <a:ext uri="{FF2B5EF4-FFF2-40B4-BE49-F238E27FC236}">
                <a16:creationId xmlns:a16="http://schemas.microsoft.com/office/drawing/2014/main" id="{3120963C-FE63-45B2-9A46-5F14C4EE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9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C20C676-8F82-4DB9-A1BC-652C19BF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ACED958B-F470-488D-82E4-04A754EB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9666D-3BBD-4E27-88A7-C9A371A6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2" name="step-head-0">
            <a:extLst xmlns:a="http://schemas.openxmlformats.org/drawingml/2006/main">
              <a:ext uri="{FF2B5EF4-FFF2-40B4-BE49-F238E27FC236}">
                <a16:creationId xmlns:a16="http://schemas.microsoft.com/office/drawing/2014/main" id="{14920255-11F4-4750-86AB-04531D67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303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Divide the rows</a:t>
            </a:r>
          </a:p>
        </p:txBody>
      </p:sp>
      <p:sp>
        <p:nvSpPr>
          <p:cNvPr id="13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5F5ACDB-943E-4084-949C-4F34F1FC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035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Pandas divides the DataFrame into groups sharing one category value — every room where zone == 'South' becomes one group, every 'North' room another.</a:t>
            </a:r>
          </a:p>
        </p:txBody>
      </p:sp>
      <p:sp>
        <p:nvSpPr>
          <p:cNvPr id="14" name="step-node-1">
            <a:extLst xmlns:a="http://schemas.openxmlformats.org/drawingml/2006/main">
              <a:ext uri="{FF2B5EF4-FFF2-40B4-BE49-F238E27FC236}">
                <a16:creationId xmlns:a16="http://schemas.microsoft.com/office/drawing/2014/main" id="{5948B823-CB37-404C-8D1C-EE2834F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3067FF7-8ACD-46E0-96DE-F775A49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B2287EA-E316-4F1E-A9C6-87AF326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C5F5E-488A-4333-BCD4-B8383C79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8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A20789F-B6E1-4302-A668-E551BA9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667000"/>
            <a:ext cx="303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Summarize each group</a:t>
            </a:r>
          </a:p>
        </p:txBody>
      </p:sp>
      <p:sp>
        <p:nvSpPr>
          <p:cNvPr id="1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5ECC07A-EBF3-4BF1-B256-35EA582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3352800"/>
            <a:ext cx="3035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same function — mean, count, or a function you wrote — runs once per group, independently of every other group.</a:t>
            </a:r>
          </a:p>
        </p:txBody>
      </p:sp>
      <p:sp>
        <p:nvSpPr>
          <p:cNvPr id="20" name="step-node-2">
            <a:extLst xmlns:a="http://schemas.openxmlformats.org/drawingml/2006/main">
              <a:ext uri="{FF2B5EF4-FFF2-40B4-BE49-F238E27FC236}">
                <a16:creationId xmlns:a16="http://schemas.microsoft.com/office/drawing/2014/main" id="{7D4EBBB6-9F8A-4686-8A36-E9A29F3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DBEA306-F6F2-4E30-A3E1-ED6BB4A1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DD4A8B70-CF7B-4F34-9D19-D7F8CF02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6599F-17D7-4179-891C-74FAC463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AD88604E-87C9-49F0-BE25-7949EA1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667000"/>
            <a:ext cx="303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Rebuild one table</a:t>
            </a:r>
          </a:p>
        </p:txBody>
      </p:sp>
      <p:sp>
        <p:nvSpPr>
          <p:cNvPr id="2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25C3D8E-1C39-4EFB-993D-CDC03DB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3352800"/>
            <a:ext cx="3035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Pandas reassembles one result per group into a single output table, indexed by the group labels.</a:t>
            </a:r>
          </a:p>
        </p:txBody>
      </p:sp>
    </p:spTree>
    <p:extLst>
      <p:ext uri="{BB962C8B-B14F-4D97-AF65-F5344CB8AC3E}">
        <p14:creationId xmlns:p14="http://schemas.microsoft.com/office/powerpoint/2010/main" val="450252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F26DC5FF-B0B0-45CA-ADEE-19C1383F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TERM, DEFINED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F1C7B1-8D18-4417-B721-863392F8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groupby(),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DCBA2-BDEC-45C3-9279-671439DE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35A50D-F2E9-40E7-967A-FC513506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A9D4EC-B035-4275-B937-0FC9465F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47CA7B9C-4F9F-4424-9708-1FE208B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9354E5E4-BD47-4D2C-B75F-43FE542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df.groupby(column) is a DataFrame method that divides rows into groups sharing the same value in column, so a later aggregation (like .mean()) runs separately per group instead of once over the whole table.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7BEBF5D-5E1E-4A85-93F9-10377BF7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41B035C9-34F8-4C1F-87B4-B7A914A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df.groupby("zone")["energy_kwh_m2_yr"].mean()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mean is computed for every 'North' row, and a separate mean for every 'South' row — split-apply-combine, written in one line.</a:t>
            </a:r>
          </a:p>
        </p:txBody>
      </p:sp>
    </p:spTree>
    <p:extLst>
      <p:ext uri="{BB962C8B-B14F-4D97-AF65-F5344CB8AC3E}">
        <p14:creationId xmlns:p14="http://schemas.microsoft.com/office/powerpoint/2010/main" val="20696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D0A86908-C8D9-4112-96BC-6D60634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8D5419-DE3E-4369-89D2-0AE9F125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line performs split, apply, and combine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09FB0-405E-48FD-B836-CEBCBDBE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1B43028-C4C8-4F5D-A9C8-95482AF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B431D8F-8DA5-4EA8-A155-FD53FFC5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B4F929EE-1521-423B-ACA2-BB1AA9F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9E09B187-D649-430C-80A0-CA98B4D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df.groupby("zone")["energy_kwh_m2_yr"].mean()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25EAA-9CA2-49C5-8963-F81F5EA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89AC4A2C-CC61-4158-99AB-87A329B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3C29A69D-FE90-4EEF-BA4B-5609085B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8E0B617B-DDBC-4B9E-9F0A-EF20BEB7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8BED72C6-CCA3-4E4D-B328-BDF42C56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772AD5BF-DDDD-403C-8CEE-FCB7BC0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DataFrame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B9B16B7C-5B2E-401D-BC95-40850AD4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Radley Hall's 24 rooms, one per row.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134B5-0A07-43E8-BBFD-D2DBC710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479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86BE877A-1C76-4242-8142-C0B0892B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98CB9E66-B63D-4CE0-B995-62D6EC02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485F184C-C7EE-4216-9639-CE34350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6562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53E6ADD1-B33D-43D3-BA0A-FF29E504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4662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BAA35DF0-2467-44BF-8787-D827111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7512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E3A3C752-E86B-4F36-939E-F9F3AF6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Divides rows into a North group and a South group.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9F6DB-9FEB-4678-9E73-1A08F9D5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479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568AE9E9-8E88-44E2-921F-A79528DC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EA8B572F-0602-4236-9E17-02B0C05B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501666CD-57A4-4BEA-9DB1-67F053C0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661FC9D7-8469-4FF2-B05B-13E80574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44DEB12B-694A-40EC-9F38-506C8A68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Pick one column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946C524A-C712-4932-BEEB-98E0972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7026"/>
            <a:ext cx="2000250" cy="76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Selects a single column from each group — this is why the result is a Series, not a DataFrame.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E04FA2-8D0B-471F-8849-571DA9E3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142ADF4B-5B4F-455E-84C6-8CF790A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2A0A6625-F76D-47D7-8C71-F3DA6D9F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C3ECBD3E-0A4B-44DC-9A56-FE557B96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35812176-77C2-41CA-A7E3-A192106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8E8473EC-FFE5-4E8B-98D4-A7E9D6F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 + COMBINE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A27BB055-9AF2-42D0-B886-B54AA1DD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3702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Averages each group's values, then rebuilds one result indexed by zone.</a:t>
            </a:r>
          </a:p>
        </p:txBody>
      </p:sp>
    </p:spTree>
    <p:extLst>
      <p:ext uri="{BB962C8B-B14F-4D97-AF65-F5344CB8AC3E}">
        <p14:creationId xmlns:p14="http://schemas.microsoft.com/office/powerpoint/2010/main" val="720741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0B5F789A-F8D5-437C-9D09-9088BE26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148C45-A0F5-4FEC-AF2C-91A3F6D2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an answer before you run the aggregation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2429D-4A68-4AB5-8003-13C2C14E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DBDA8A-4361-48F6-8025-69C8FA65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5106934-A943-45E3-9D77-8AE02271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546AADF-A3CE-4C04-B30D-50E400DB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7EC60BF-0FD0-4A50-B1B6-82E5701E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zone_energy = 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df.groupby("zone")["energy_kwh_m2_yr"]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.mean()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.round(2)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print(zone_energy)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28038EEA-0149-4697-A687-F9B3BA1C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66FC8A6C-668C-445E-9576-A62F71AF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BA847076-DA2D-46AF-A482-3ABBDE6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B3DA2683-06B5-430E-A743-911DC33D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DataFrame with columns zone and energy_kwh_m2_yr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81890C40-7294-411C-9D15-706F945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FBEFC2D4-9D7F-48C5-A95E-B3CDFF7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802D5AC3-9BD5-4B8D-8324-24A0BE67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Series indexed by zone: North 64.25, South 115.68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B9EAD188-A7AF-4C5C-8B19-B76C08E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38590046-C98F-458C-9219-DBA9358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6919884B-2360-4231-87F2-B1C57E7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Series, but South listed first because it has the higher mean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F517DF4B-05CA-4C60-8572-7A9D68A4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6805EAF8-5889-4B91-955B-927206D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AA53A3D4-C785-4DA5-AE59-5620D95D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SyntaxError, because .mean() and .round(2) cannot be split across lines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5786152E-84A4-45EC-905E-1D02B26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A564161-82D9-4F88-A5E9-C3CF65A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B5C77A47-2818-480B-86FF-D56241BE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single-column selection returns a Series. Groups sort by zone name, not by mean — sort_values() ranks by value next.</a:t>
            </a:r>
          </a:p>
        </p:txBody>
      </p:sp>
    </p:spTree>
    <p:extLst>
      <p:ext uri="{BB962C8B-B14F-4D97-AF65-F5344CB8AC3E}">
        <p14:creationId xmlns:p14="http://schemas.microsoft.com/office/powerpoint/2010/main" val="708433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7BBCB9B-FA67-4B0E-89A2-F0A97E8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FE9455-70B0-4F49-885C-A76F16A0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line performs the whole split-apply-combine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37D31-5FE1-48AE-BB11-F7A6A881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5DFCB26-0A42-4629-BF62-EF2CB7F7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B13DC2-393C-407A-8440-E2A6C83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3CFCDE7-8F39-4590-817F-99DD204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99393AC-698F-412B-B560-4213BB4A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zone_energy = 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df.groupby("zone")["energy_kwh_m2_yr"]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.mean()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.round(2)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print(zone_energy)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E08C9-DEF6-4E24-BDF5-1AAE30B8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2A845E8-75A2-4B7B-BDF8-B88C8350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353A1F9-6E7F-4422-ADA5-C6B307CA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 64.25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115.68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Name: energy_kwh_m2_yr, dtype: float64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39C284E-8AA4-4E42-9029-8348A22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result as a Series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C30C99D2-E74A-4A89-958E-6BFDE7E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output is a Series indexed by zone — recall Series from Week 4: one labeled column of values. South already looks much higher than North; the next slides make that comparison precise and complete.</a:t>
            </a:r>
          </a:p>
        </p:txBody>
      </p:sp>
    </p:spTree>
    <p:extLst>
      <p:ext uri="{BB962C8B-B14F-4D97-AF65-F5344CB8AC3E}">
        <p14:creationId xmlns:p14="http://schemas.microsoft.com/office/powerpoint/2010/main" val="494413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8ECAC3B-2AB5-4FFE-9596-BBE29B6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939A18-A142-4A20-A155-501D040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Multiple aggregations in one call, using .agg()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420E3-958C-458F-BE08-0B85A51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19EFCA1-7B71-4C1F-81F7-F377CA53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01A49A-9888-4E2F-AC91-E62137AE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0B1E7107-ECD2-4C50-9B97-60835B79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1420CB7-412E-4713-BC61-70C1B7C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zone_summary = df.groupby("zone").agg(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mean_energy=("energy_kwh_m2_yr", "mean"),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mean_area=("area_m2", "mean"),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n=("room_id", "count"),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).round(2)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print(zone_summary)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2A193-0FD1-4021-A5AA-34BAACD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CB89861-B443-46CD-B874-8A8B8CD2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52916B5-B027-43FD-A279-2CE5C6E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mean_energy  mean_area   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                           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    64.25      40.98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   115.68      38.25  12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1520D7E-6AC1-4231-B4F0-D093C33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Named aggregations, one per column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B3D69B2F-D2A3-418F-8B83-05DAFEB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Each keyword argument names a new column and states (source column, function) as a paired value in parentheses — Python calls this pairing a tuple, defined properly later this session. One .agg() call replaces three separate one-off summaries — and every result lands in one table, ready to compare.</a:t>
            </a:r>
          </a:p>
        </p:txBody>
      </p:sp>
    </p:spTree>
    <p:extLst>
      <p:ext uri="{BB962C8B-B14F-4D97-AF65-F5344CB8AC3E}">
        <p14:creationId xmlns:p14="http://schemas.microsoft.com/office/powerpoint/2010/main" val="19865585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B0218C66-81DB-4BDB-981B-93D0BD50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EF176C-D07A-49D6-989E-F3BCB1B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headline finding: South rooms cost far more energy per m²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FF378-E4C6-4170-9987-4C591093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959F40-D812-433A-BD60-9952629D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5F65B2-46FE-47EA-B973-FA2D852F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30AB-D86A-49F6-8B36-59ADFDF2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D05A246E-5524-4D75-9829-065D6487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67445-CFC8-47A2-B233-36E12409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71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5BC3D93-1FAD-44E2-8B4F-7A5A6BF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48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mean_energy_kwh_m2_yr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05530-AB46-4C80-94D2-B0350654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2C78D9BC-9AEB-4346-8EDA-C94FF3A8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mean_area_m2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B000F-E7FA-49CD-8F01-A4C355FE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71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95020C5A-03AB-4AC1-B2C2-169E0168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E8B5F-99DB-4703-B20F-E521ADEF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8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D3CE0A0A-EB0C-4A1F-A2BC-E6B9459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90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North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DBC01-61B3-40F2-A67B-6BFDC165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128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F7277F55-E2FE-4CE9-96B1-E345E215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890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64.25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42DAD-E7CA-4253-BB24-062CC325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28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ACC80BEB-3B9F-486F-8673-E1AB958A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90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40.98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B66DA-7B6F-45E8-9FC6-EF8635FE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28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7D1F302D-925E-4091-8BFB-E1E04BFE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890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B40CD-4C41-4F95-8D93-55EAB94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62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90A82F0C-081F-4F2B-81FB-F661DF7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24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South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96DDE-6F73-49E6-AFA6-9D2BECB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462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9022CCE1-264D-46FB-9C44-BAAF161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224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115.68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186C7B-655F-48E6-9215-5E416760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62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EB96EF87-F489-4D8A-9ECF-35A204EB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24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38.25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67879-6A8B-422E-90C8-25F6AF01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462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22323395-214C-42E3-BE6E-9C185090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224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36D5C3C7-DC1E-47FB-8AF8-69CF5695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9D9A2B90-6E8A-4088-B2EB-64B75176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South-zone rooms use about 80% more energy per m² than North rooms — despite nearly identical average area and identical room counts. A plausible story: south-facing exposure driving cooling and solar loads. We will revisit this exact finding in Weeks 6 and 7.</a:t>
            </a:r>
          </a:p>
        </p:txBody>
      </p:sp>
    </p:spTree>
    <p:extLst>
      <p:ext uri="{BB962C8B-B14F-4D97-AF65-F5344CB8AC3E}">
        <p14:creationId xmlns:p14="http://schemas.microsoft.com/office/powerpoint/2010/main" val="13841468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1B427342-B52C-477B-92BC-D9103F6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36C4AE-6C3B-4702-8DA2-016300AA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sort_values() ranks a summary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1BBA2-4E14-4CAA-8AA8-DAECAA86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8ACBE7E-5740-429A-8C90-FB434516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E34FB64-A251-481C-9999-9E5B65A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9E5EB38-DAA4-4B41-8805-33FC991D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72C889D-4324-4CF3-9AD0-B6FCD15A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ranked = zone_summary.sort_values(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"mean_energy", ascending=False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print(ranked)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F3F46-6F84-4674-A733-6237743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2D0AB6B-13C7-4934-B529-0BC4CDC1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6EFDF15-BA4C-4D7B-A9E6-0227E763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mean_energy  mean_area   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                           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   115.68      38.25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    64.25      40.98  12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C9A6ABB-D3D9-4BFA-B0F6-87528D60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Sorting is a separate, explicit step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1E62F80-401C-425E-972A-32709E9F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groupby().agg() does not guarantee any particular row order. sort_values(column, ascending=False) reorders the existing table — it does not recompute anything.</a:t>
            </a:r>
          </a:p>
        </p:txBody>
      </p:sp>
    </p:spTree>
    <p:extLst>
      <p:ext uri="{BB962C8B-B14F-4D97-AF65-F5344CB8AC3E}">
        <p14:creationId xmlns:p14="http://schemas.microsoft.com/office/powerpoint/2010/main" val="13145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1C406AAD-AD95-4C6B-A92B-4352AD1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FUNCTION CONCEPT, EXTENDED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DF28EB-8614-424D-8DA1-80DFA69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familiar function can be passed into .agg()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500F-9187-4CDB-884B-9387CFA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89C8AE2-F3EF-45F2-B985-7D921214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CE3B907-75CD-4608-BFE7-7446B5CF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CE6F64B8-559F-4A32-AD73-8F888557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Week 4, then extend it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D6D71C41-4732-4CC2-986F-FF4C6A3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4: you called a function with values, like pd.read_csv(path, sep=','). Today the function name itself can become an argument: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df.groupby("zone").agg(my_function)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AE31957E-E744-4531-8169-925801D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actually happens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65CB6044-B3C6-4658-A73F-D33EF9DB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agg() receives my_function without parentheses, then calls my_function(values) once for each group during split-apply-combine. You do not write the repetition yourself.</a:t>
            </a:r>
          </a:p>
        </p:txBody>
      </p:sp>
    </p:spTree>
    <p:extLst>
      <p:ext uri="{BB962C8B-B14F-4D97-AF65-F5344CB8AC3E}">
        <p14:creationId xmlns:p14="http://schemas.microsoft.com/office/powerpoint/2010/main" val="4972596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AF469C2-5671-42D1-9041-D4B8DE64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AEF6CA-1D17-46ED-9A3D-DFB0BA79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.agg() accepts a function you defined yourself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0158F-D18D-4DA2-A582-A535F4C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96BFD61-D12E-43FA-8718-8CA5B34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56CAD2-8723-48F9-9552-C4F30B0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25C319C-96E4-4CFC-B7F6-E8747DD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45A9529-6672-4432-95AD-0833B47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energy_spread(values):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"""Return max minus min for one group."""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values.max() - values.min()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spread = df.groupby("zone")["energy_kwh_m2_yr"].agg(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energy_spread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print(spread)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3D2D-531E-4C2D-AB5A-A624D7C4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67CB183-2934-4948-A131-D689D8E0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D83613C-401C-41C0-9E9A-186B669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 76.0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337.0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Name: energy_kwh_m2_yr, dtype: float64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BA8F012-7DB9-479B-8466-AAD3AE32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definition, reused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BDF6ABD-B88C-4805-89F1-638E444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6486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energy_spread is an ordinary function from Week 3: def, a parameter, a return. .agg(energy_spread) — note: no parentheses after the name — runs it once per zone's values and combines the results, same split-apply-combine as 'mean'.</a:t>
            </a:r>
          </a:p>
        </p:txBody>
      </p:sp>
    </p:spTree>
    <p:extLst>
      <p:ext uri="{BB962C8B-B14F-4D97-AF65-F5344CB8AC3E}">
        <p14:creationId xmlns:p14="http://schemas.microsoft.com/office/powerpoint/2010/main" val="17067752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6DC554A-3592-43B7-AE20-E6115DE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3C5226-4943-4EE9-B9E9-E8FB421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.apply() hands a function the WHOLE group at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F94AF-6651-4C61-B259-C5923BA1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E1C74D9-F0D3-4E84-A4A5-8039550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001D04-9875-4E1D-9C23-3376993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F3BED75-873D-43E7-B4BA-F15693B6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7D4ED6D3-9C40-46BD-BEE2-67434AE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zone_energy_spread(group):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"""Spread of energy_kwh_m2_yr within one group."""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col = group["energy_kwh_m2_yr"]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col.max() - col.min()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print(df.groupby("zone").apply(zone_energy_spread))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8CE9C-B801-41E7-904D-DBB3E74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1E96834-9316-4546-9B33-C446E0F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CA65C910-F38E-4131-9CBF-6784FE1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 76.0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337.0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dtype: float64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2DBFEBF6-478E-401B-BFA4-D2846241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agg vs. apply: what the function receives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A2E6E8C-5DD8-4CC1-B682-38664BBA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agg(energy_spread) passed one column's values. apply(zone_energy_spread) passes the whole group's DataFrame, so the function itself must select the column it needs — useful when a summary needs more than one column at once.</a:t>
            </a:r>
          </a:p>
        </p:txBody>
      </p:sp>
    </p:spTree>
    <p:extLst>
      <p:ext uri="{BB962C8B-B14F-4D97-AF65-F5344CB8AC3E}">
        <p14:creationId xmlns:p14="http://schemas.microsoft.com/office/powerpoint/2010/main" val="202480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F926BB5D-B185-4819-A68E-29D67F69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694F79-335B-40D9-AEDC-3CBE114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describe() summarizes a whole column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067F2-395C-4007-A442-1A3E0CD4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035556-B9CA-4CC9-BB5A-908EEE19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777A59-50DB-402E-AA89-900159A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76465-183A-441E-85A4-5D08CE3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F5145A1C-75F3-421D-9BB4-A6620E9E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C90E9-6D31-49B4-99BB-0CD7CE05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116AA10-3BED-43DD-B27D-F6BAF3BC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energy_kwh_m2_yr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725C4-55ED-4FF8-B224-37687BB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E8D2C888-99DA-43FB-98C5-E852D3E1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A4260-6CD4-4709-A137-F43C9633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2AD14C09-4493-48B6-B9CB-64CED44C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95375-EBF9-4A8C-B267-AFF37058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A46E1C9A-AC18-45AB-99E5-2388BD7F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2379F-3478-4DC7-BEDA-CDF244F5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E0B2506D-835A-4AFD-AC6B-6CA178A7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88.8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894D0-6ABA-4699-99F8-5EB39E3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14869015-83F8-42AA-A1FD-BB6DED8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DEF0E-2FBD-469D-88A1-74043A8F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FF4C9CFD-56E1-4FF4-B717-56EE1E37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72.5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68670-27CD-498C-A4C8-288A6D17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FDCDB744-A85F-43DE-BBA8-ECD81509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7316A-6C7A-4F58-AE38-C8286B3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6CC7B4B3-9768-43DD-90B2-5C65252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12.0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E3523-FA4B-4385-AC01-F44B6478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4-0">
            <a:extLst xmlns:a="http://schemas.openxmlformats.org/drawingml/2006/main">
              <a:ext uri="{FF2B5EF4-FFF2-40B4-BE49-F238E27FC236}">
                <a16:creationId xmlns:a16="http://schemas.microsoft.com/office/drawing/2014/main" id="{8EB088E6-6A0C-4FFC-9FC2-C19FCEB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86E62-3B5C-4CFD-B91A-926751C5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4-1">
            <a:extLst xmlns:a="http://schemas.openxmlformats.org/drawingml/2006/main">
              <a:ext uri="{FF2B5EF4-FFF2-40B4-BE49-F238E27FC236}">
                <a16:creationId xmlns:a16="http://schemas.microsoft.com/office/drawing/2014/main" id="{92DBA4B9-B75A-4AB6-BF3E-AE101858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862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61.8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37ADC-FA08-4958-BBB4-EE38D26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5-0">
            <a:extLst xmlns:a="http://schemas.openxmlformats.org/drawingml/2006/main">
              <a:ext uri="{FF2B5EF4-FFF2-40B4-BE49-F238E27FC236}">
                <a16:creationId xmlns:a16="http://schemas.microsoft.com/office/drawing/2014/main" id="{EC3DFB26-FF56-4037-B2E8-9B029EC6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EFE034-2A09-4825-A9DA-6101D447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5-1">
            <a:extLst xmlns:a="http://schemas.openxmlformats.org/drawingml/2006/main">
              <a:ext uri="{FF2B5EF4-FFF2-40B4-BE49-F238E27FC236}">
                <a16:creationId xmlns:a16="http://schemas.microsoft.com/office/drawing/2014/main" id="{5F5A3B6E-3151-45FA-B830-769F2A5E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47A3FD-B9C9-4CD2-80B2-9A78EF6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6-0">
            <a:extLst xmlns:a="http://schemas.openxmlformats.org/drawingml/2006/main">
              <a:ext uri="{FF2B5EF4-FFF2-40B4-BE49-F238E27FC236}">
                <a16:creationId xmlns:a16="http://schemas.microsoft.com/office/drawing/2014/main" id="{1479F458-E0EA-4A7A-A0C9-338A1DB3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75%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EC11E6-4F57-4C64-9959-B3FFF0BC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6-1">
            <a:extLst xmlns:a="http://schemas.openxmlformats.org/drawingml/2006/main">
              <a:ext uri="{FF2B5EF4-FFF2-40B4-BE49-F238E27FC236}">
                <a16:creationId xmlns:a16="http://schemas.microsoft.com/office/drawing/2014/main" id="{86F4922E-D98C-4CD6-B36E-39C37F8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387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90.8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C41E3-A9C6-40A5-A8C5-D3ACF097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7-0">
            <a:extLst xmlns:a="http://schemas.openxmlformats.org/drawingml/2006/main">
              <a:ext uri="{FF2B5EF4-FFF2-40B4-BE49-F238E27FC236}">
                <a16:creationId xmlns:a16="http://schemas.microsoft.com/office/drawing/2014/main" id="{3F4FD041-3F5D-4F2F-B36B-4703979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A42BB4-3E98-4B54-AEDE-B3D781E3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388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7-1">
            <a:extLst xmlns:a="http://schemas.openxmlformats.org/drawingml/2006/main">
              <a:ext uri="{FF2B5EF4-FFF2-40B4-BE49-F238E27FC236}">
                <a16:creationId xmlns:a16="http://schemas.microsoft.com/office/drawing/2014/main" id="{26033487-16B7-4D23-975F-A134EFE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150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410.0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814B257E-BFA4-48CD-94EF-27128CD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420B8305-B01A-4A84-90AC-2DF630C2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df["energy_kwh_m2_yr"]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    .describe()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call returns count, mean, spread (std), and the four quartiles. count is 23, not 24 — recall room R206's missing value from Week 4; describe() silently skips it.</a:t>
            </a:r>
          </a:p>
        </p:txBody>
      </p:sp>
    </p:spTree>
    <p:extLst>
      <p:ext uri="{BB962C8B-B14F-4D97-AF65-F5344CB8AC3E}">
        <p14:creationId xmlns:p14="http://schemas.microsoft.com/office/powerpoint/2010/main" val="980877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D33DEAB-F077-4C49-9637-E2A45BA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CAC8BA-F97D-4143-B203-D400357B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value_counts() counts how often each category appears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93E36-2795-4249-903C-09573E6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DF6058B-1293-4963-A004-E65A430B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FD5857-E6DB-4517-B01E-E00DAA4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DE2153A-9B3C-491D-82E2-3FF872DF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415C588-75C0-4E3E-8C62-477A63D2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print(df["zone"].value_counts())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34E47-1BF5-40CD-A786-617456C0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EF78C15-7EC2-48DB-AA6E-3047DC52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83D2648-58B0-498F-A9C4-BC088F2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Name: count, dtype: int64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7CDE070-B947-4A84-AB02-96C9D83D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quick sanity check before grouping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48B41C5-1765-4E75-BC10-5A9999C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value_counts() answers 'how many rows in each category' — confirming a balanced 12-and-12 split here is exactly why the headline finding's comparison is fair: neither zone is being averaged from a much smaller sample.</a:t>
            </a:r>
          </a:p>
        </p:txBody>
      </p:sp>
    </p:spTree>
    <p:extLst>
      <p:ext uri="{BB962C8B-B14F-4D97-AF65-F5344CB8AC3E}">
        <p14:creationId xmlns:p14="http://schemas.microsoft.com/office/powerpoint/2010/main" val="3762604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">
            <a:extLst xmlns:a="http://schemas.openxmlformats.org/drawingml/2006/main">
              <a:ext uri="{FF2B5EF4-FFF2-40B4-BE49-F238E27FC236}">
                <a16:creationId xmlns:a16="http://schemas.microsoft.com/office/drawing/2014/main" id="{EB831692-5506-4294-B891-BF68B21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5FA71D-9D82-47F2-8DF3-EC876E4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room_type ranks program areas from largest to smallest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A4258-8BB6-4522-AD90-A06CD212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2EE3466-4534-4F2F-AECF-4E8AB0C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C8E5DE9-163A-4296-A39F-5576B98C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6449A-A823-49F7-9F2E-42737FA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BA02B122-C4A5-4EEB-8DC1-323BDAE8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room_type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F8A7B-E6BD-4B6F-B386-71BB974A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38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CEDBA79F-E88C-49A5-90C8-1B366BD0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14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mean_area_m2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E456D-B0BD-4E56-BA50-B786ADEC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38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24A8468C-BBAA-40AA-894E-CC1169BE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14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0A42F-F584-4A60-A1E7-730C13FD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7F0B86AF-30DF-4225-8470-92416CF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Gallery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6254E-4422-4567-B0AF-36618CA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D1CAFD59-30FB-41B1-AD36-2C43E0B1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479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82.1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CA6D8-FE32-4EA2-BADC-1C5E03D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717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56F3FA3C-FF7F-4B9B-85D6-223C5261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479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91233-64A4-4FDE-86FF-03999F1F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FCA72032-87A0-4760-AF58-15D25750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Lobby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D1A52-BAE8-428A-B034-671E108B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05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F08F6AB8-86BD-4420-B338-52635780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813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78.0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BB59E-AC69-4175-AAEE-EF016733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05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5EB23938-F983-4A1E-942A-57A96DDE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0BBA7-9294-4F6C-AAB4-28EB99BC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14A7F5C0-ADB3-4556-9443-97BAE372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9AA4C-D2D9-4EE1-BB41-58024C5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385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20FAA306-763E-49F9-A485-11219C5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147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61.5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96085-0AA1-4912-9DF8-5E8C562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385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9F4E2D59-EBBB-40CB-ABCA-9F86E3C4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147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944A0-D655-4682-B392-7DE949E5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5664CA9C-19AD-4DA9-8BD5-1DD716E4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Classroom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FD928-3FAA-4D03-B0D8-79085DB1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719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6346E1BE-DAD4-4BF3-B2ED-578E9313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52.2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33A58D-0319-4579-8745-8FB8A536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19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F023CF5A-B4CD-4C32-8AF3-6B0418C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8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943590-6149-49C6-A611-EEE7318B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621BD6EC-50E1-4C38-92A5-5D3FEA1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0BC86E-E7E7-4FC7-93D8-BF925D8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05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7CC6A2AD-4093-48AA-8CA4-68C690D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1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17.2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02CE8B-B292-433E-B83D-69B7BDC6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05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3D81F95D-847C-4A6E-841F-4E2265F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81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F423DB-DF6E-49F8-B393-91DA1F06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5-0">
            <a:extLst xmlns:a="http://schemas.openxmlformats.org/drawingml/2006/main">
              <a:ext uri="{FF2B5EF4-FFF2-40B4-BE49-F238E27FC236}">
                <a16:creationId xmlns:a16="http://schemas.microsoft.com/office/drawing/2014/main" id="{3570C14D-24E3-4554-ABC8-BC56E2A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C4333E-46CE-4708-937B-EF09AD8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387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5-1">
            <a:extLst xmlns:a="http://schemas.openxmlformats.org/drawingml/2006/main">
              <a:ext uri="{FF2B5EF4-FFF2-40B4-BE49-F238E27FC236}">
                <a16:creationId xmlns:a16="http://schemas.microsoft.com/office/drawing/2014/main" id="{D335AA12-6D1A-41CF-9CA5-60F7A45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149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78ED76-4FF9-4FF4-9CAD-2E444639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387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5-2">
            <a:extLst xmlns:a="http://schemas.openxmlformats.org/drawingml/2006/main">
              <a:ext uri="{FF2B5EF4-FFF2-40B4-BE49-F238E27FC236}">
                <a16:creationId xmlns:a16="http://schemas.microsoft.com/office/drawing/2014/main" id="{9BEDF5E5-81E1-4652-BDCC-D55565A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149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6388A-72E0-4430-A2D6-A9FB9DA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9" name="cell-6-0">
            <a:extLst xmlns:a="http://schemas.openxmlformats.org/drawingml/2006/main">
              <a:ext uri="{FF2B5EF4-FFF2-40B4-BE49-F238E27FC236}">
                <a16:creationId xmlns:a16="http://schemas.microsoft.com/office/drawing/2014/main" id="{B9E5C630-725C-4EA6-BDD4-65BD050E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Closet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AA7605-675F-454E-99C5-2F3886A3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72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1" name="cell-6-1">
            <a:extLst xmlns:a="http://schemas.openxmlformats.org/drawingml/2006/main">
              <a:ext uri="{FF2B5EF4-FFF2-40B4-BE49-F238E27FC236}">
                <a16:creationId xmlns:a16="http://schemas.microsoft.com/office/drawing/2014/main" id="{B2FF81A6-35BA-47AE-AFE6-AD2E1800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83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1C3054-8841-4D43-AA43-7761A14B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72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3" name="cell-6-2">
            <a:extLst xmlns:a="http://schemas.openxmlformats.org/drawingml/2006/main">
              <a:ext uri="{FF2B5EF4-FFF2-40B4-BE49-F238E27FC236}">
                <a16:creationId xmlns:a16="http://schemas.microsoft.com/office/drawing/2014/main" id="{35264382-D111-4B76-BEB2-C4E4FC48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483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026B8B1C-FF30-43B6-B212-8B5988E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55" name="callout">
            <a:extLst xmlns:a="http://schemas.openxmlformats.org/drawingml/2006/main">
              <a:ext uri="{FF2B5EF4-FFF2-40B4-BE49-F238E27FC236}">
                <a16:creationId xmlns:a16="http://schemas.microsoft.com/office/drawing/2014/main" id="{85E41B76-43A4-4B66-AE63-27B6F2F9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df.groupby("room_type").agg(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    mean_area=("area_m2",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               "mean"),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    n=("room_id","count"),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Then .sort_values("mean_area") ranks the table. n matters as much as the mean: Gallery's 82.1 m² average rests on only 2 rooms.</a:t>
            </a:r>
          </a:p>
        </p:txBody>
      </p:sp>
    </p:spTree>
    <p:extLst>
      <p:ext uri="{BB962C8B-B14F-4D97-AF65-F5344CB8AC3E}">
        <p14:creationId xmlns:p14="http://schemas.microsoft.com/office/powerpoint/2010/main" val="16320252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5C098F53-CAB1-403A-A86F-A1A49CD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2E3D19-05BC-43D0-A86F-F7851B7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group mean can hide one room that does not belong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DDF8B-02C8-42C5-9CB6-E27E4E41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93DD4D3-71FA-40EE-8BB5-8409E90D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BB253D-F3D5-474F-A7FB-EB279A1A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743E9C69-FA1D-433C-BFD5-ACC551B3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9829800" cy="2051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Grouping compares averages. It says nothing about whether any single row is a measurement error, a genuine extreme, or evidence of a missing variable.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69B7E-303C-4B3C-B8DC-D2DEDC8E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73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5F3A4BCE-157F-4F01-8427-4638E73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1154"/>
            <a:ext cx="93345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named rules give that judgment a repeatable procedure: the IQR rule and the z-score rule. Applied to the same data, they usually agree — and today's second example shows exactly what it looks like when they do not.</a:t>
            </a:r>
          </a:p>
        </p:txBody>
      </p:sp>
    </p:spTree>
    <p:extLst>
      <p:ext uri="{BB962C8B-B14F-4D97-AF65-F5344CB8AC3E}">
        <p14:creationId xmlns:p14="http://schemas.microsoft.com/office/powerpoint/2010/main" val="8970033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4E388F6-81DB-425A-8651-88050F9A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FB109C-9C1E-40C7-A141-97F0E7CC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IQR,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2903A-8699-4329-ACB3-735169FC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E87CDD5-7DC5-42E6-AC93-37DD7D21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39DD7D-BDD2-4013-ABEF-955248E8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E36D3F7D-0E4D-4317-9685-FE20790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41DC8F6B-7EEC-476E-9B11-64B68976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8C4A0-6289-449F-9493-F88610A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15A4C257-F37C-4DD3-9E94-DEC8E575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— the interquartile range — measures the spread of the MIDDLE 50% of a sorted column: IQR = Q3 − Q1. One extreme value barely moves it, unlike a standard deviation, which every value affects.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7A7D6767-009F-48A0-855D-5180FA35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FC86E6D0-A636-4D3D-8B4B-B8A52B21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23BC0AE4-9C2F-4F1A-BF10-0C54DDB2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energy_kwh_m2_yr: Q1 = 61.75, Q3 = 90.75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5EC017D5-2EED-4483-ADEF-91B46E9A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IQR = 90.75 − 61.75 = 29.0 kWh/m²/yr. The middle half of the 23 recorded rooms' energy values spans just 29 — small next to the 410.0 maximum.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230675B4-2F51-45B5-A0F0-4C41A1A2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E3BA219C-5341-4603-8083-785C327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D4163F40-0A80-4765-A6A6-79A7684B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alone is just a number — it doesn't flag anything. The IQR RULE, built from it on the next slide, adds the ×1.5 fences that actually flag a row.</a:t>
            </a:r>
          </a:p>
        </p:txBody>
      </p:sp>
    </p:spTree>
    <p:extLst>
      <p:ext uri="{BB962C8B-B14F-4D97-AF65-F5344CB8AC3E}">
        <p14:creationId xmlns:p14="http://schemas.microsoft.com/office/powerpoint/2010/main" val="1837610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31B54C67-734C-4B9C-9BEF-8A363B2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E31768-DDE3-4A96-A8D5-A4406373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IQR rule turns quartiles into an investigation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438B0-8ECF-48FB-8F5E-D6D0AA96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AB87065-75E4-4511-9266-46D53D68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FD869C-9E62-4073-A300-98C5D12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58D4519B-58D2-4FE2-93D7-D2AB2E8F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805C1046-9DDF-432A-A746-7A6064D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74D06C72-BA59-4725-92E8-89BB2A83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FC657E8F-A31D-4501-AE3B-11FF10C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30E17B0-A855-4CFE-BEB6-6C8BF01C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C195B1F-F5BA-4049-8B0D-26A3174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E8155-4BA8-4282-A39B-FC70006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C17233E1-177F-4D8D-AD2D-925FD9FB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 quartile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6B04AE3C-7986-41B8-BF67-11C7078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Twenty-five percent of the values lie at or below Q1.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6B1E5573-37DB-4A45-9E62-79AE825D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CD62222-F752-44E4-B9C0-6D23E8DE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3EF0B9FB-83E3-4FD7-B4EB-17235AD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95992-13C3-4FEC-916B-016F364E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62F68DC1-070D-4EF2-802B-1D327DCC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Upper quartile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ADD6871-AD99-4FF9-ACB7-1D55E09A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Seventy-five percent lie at or below Q3.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B45C1992-E24A-48BD-9AB0-A2D87126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F8CD181-8280-44E8-8170-E1EFF3F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34B0190-4299-4E75-ACB7-CA13390A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IQR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23BAE-57F7-4E4A-8E07-D1F07FB3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CC3E0763-3B74-452E-8ED4-1350ED27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Middle spread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8828F40-AFD2-411B-8B52-CB58CB4A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IQR = Q3 − Q1 describes the middle half of the evidence.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794B5883-B298-47C7-BAA5-EE218B2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3DF416D-71C2-4AB0-A25C-4D371A7A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E845173-45A7-4034-928C-C986A7C5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FENCES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DF5C7-192A-4990-8C32-C733E24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DEA7F407-83EC-4EED-9102-063ECF2F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Flag, do not delete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03D6BEAF-9751-496E-9C52-BFABDDB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Q1 − 1.5×IQR and Q3 + 1.5×IQR identify rows to investigate.</a:t>
            </a:r>
          </a:p>
        </p:txBody>
      </p:sp>
    </p:spTree>
    <p:extLst>
      <p:ext uri="{BB962C8B-B14F-4D97-AF65-F5344CB8AC3E}">
        <p14:creationId xmlns:p14="http://schemas.microsoft.com/office/powerpoint/2010/main" val="11872685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72A59D4A-E35B-4A70-97C1-07A845F9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TERM, DEFINED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233316-6653-4FB7-B00C-222AB76E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.loc[] / .iloc[] and tuple-unpacking,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B52D4-5DD2-42C5-B12E-B2DD60B5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9563232-AC66-480D-9638-3E0AD49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51E5EF-A86D-4F2C-8BEB-AD83AC9E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252F8752-8903-4F80-BF9A-7B6FEF7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.loc[row, col]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8528A570-4F73-4404-8093-8821CF4C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1686"/>
            <a:ext cx="5219700" cy="2462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4 filtered rows with one condition and no column choice: rooms[rooms['zone']=='South']. df.loc[row_selector, column_selector] does both at once — row_selector picks matching rows (e.g. df["room_id"] == "R306"), column_selector names which column to keep. .iloc[0] then pulls the first value out of that filtered result BY POSITION — needed because the filtered Series keeps its original row label, not a fresh 0.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B9C44012-1123-4313-AA45-25449488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Tuple-unpacking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6359C3E0-B44A-4FC4-81E9-8447A7A3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21686"/>
            <a:ext cx="5219700" cy="166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low, high = q1 - 1.5 * iqr, q3 + 1.5 * iqr computes two numbers on the right as one paired value — a tuple — then unpacks them into two names at once, in order, on the left. Every function that returns more than one value uses this same pattern.</a:t>
            </a:r>
          </a:p>
        </p:txBody>
      </p:sp>
    </p:spTree>
    <p:extLst>
      <p:ext uri="{BB962C8B-B14F-4D97-AF65-F5344CB8AC3E}">
        <p14:creationId xmlns:p14="http://schemas.microsoft.com/office/powerpoint/2010/main" val="16121058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5730185-BF7E-4407-90BE-66BD42F2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910628-6E9D-4568-9F0D-574205FE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 the IQR rule to energy_kwh_m2_yr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78B19-BAB5-47A2-94F8-EC244489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8B7F4C1-2C57-4AD6-B8C0-9EA18DE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C5A8C4-19EF-417A-B388-E76CFB8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AFD3559-E030-4322-BC71-3AF6E4EB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71BC3C0-84D3-4E65-AA6F-49818A18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q1 = df["energy_kwh_m2_yr"].quantile(0.25)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q3 = df["energy_kwh_m2_yr"].quantile(0.75)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iqr = q3 - q1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low, high = q1 - 1.5 * iqr, q3 + 1.5 * iqr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print(low, high)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r306 = df.loc[df["room_id"] == "R306", "energy_kwh_m2_yr"]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print(r306.iloc[0] &gt; high)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BA79F-61DA-44FF-BA2C-205D99F2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26B0120-9EB3-4908-94FC-0CF229E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8E8B75D-78FA-4FFB-8E5B-0B40515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18.25 134.25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A0F3F4B0-50ED-4579-A540-63FA427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R306: a server closet at 410.0 kWh/m²/yr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B44685C-F133-4BA4-9DDB-0442E289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low, high unpack the tuple from the line above; df.loc[row, col] then selects R306's row and its energy column, and .iloc[0] pulls that one value out by position (just defined). 410.0 is far above the high bound of 134.25, so the IQR rule flags room R306 — a server room running equipment around the clock is a real, physically plausible reason for extreme energy use, not obviously a data-entry error.</a:t>
            </a:r>
          </a:p>
        </p:txBody>
      </p:sp>
    </p:spTree>
    <p:extLst>
      <p:ext uri="{BB962C8B-B14F-4D97-AF65-F5344CB8AC3E}">
        <p14:creationId xmlns:p14="http://schemas.microsoft.com/office/powerpoint/2010/main" val="8840676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F5C4AB5-D03E-4B8A-A2CF-D7D9B2D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7F9A9D-27C7-4344-A479-73872190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z-score,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8B1E2-523F-4F57-A833-249A73F8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48FECD-52AD-4F15-9D63-30607117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893A31D-827B-46B8-95FA-8A19F00C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04E85417-BDEA-4257-A240-154B0AEC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13CE525-4B86-4781-B506-EAE1E7E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z-score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7CA6-4CC4-40C5-9BDD-629B7983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D4365D89-9B6B-40E0-9EC3-520AB2A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z-score restates one value as 'how many standard deviations from the mean': z = (x − mean) / std. z = 0 means exactly average; z = 2 means two standard deviations above it.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E0ACFE16-132C-4F3E-BF75-350218B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3BE39397-31C5-4C2A-BC78-2139962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99D27F3B-078B-4B61-8679-353026F2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z-score rule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637564EE-B2D2-4A53-B095-5FC7641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Flags any row where |z| &gt; 2 (some fields use 3; this course uses 2) — a threshold the analyst states, exactly like IQR's ×1.5.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FDFDC4BF-D925-47C4-B8BE-DF113BD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212B7F0C-C5BF-40E2-8B7C-50484C3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7245AC9E-556E-4AA0-B631-9072526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extreme value inflates the column's own std, which can shrink its own z-score. R306's std-inclusive z is 4.43; excluding R306 from both the mean and the std (leave-one-out) gives 17.26.</a:t>
            </a:r>
          </a:p>
        </p:txBody>
      </p:sp>
    </p:spTree>
    <p:extLst>
      <p:ext uri="{BB962C8B-B14F-4D97-AF65-F5344CB8AC3E}">
        <p14:creationId xmlns:p14="http://schemas.microsoft.com/office/powerpoint/2010/main" val="5569901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79AA4841-EB45-4E1B-8BAF-8C14288F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9B3767-9699-4AE5-B565-6453922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Wrap the IQR rule into two small documented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F9F87-EFB1-4E71-AF33-FDC38621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C3DF16A-75B4-486B-8772-5A32AD7E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A50464F-425A-4020-B740-165E744E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412628A-69F1-468F-8425-1193E7FF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7AC67D8-0766-4524-86DF-76D0B0F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iqr_bounds(values: pd.Series) -&gt; tuple[float, float]: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"""Return (low, high) IQR fence bounds."""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q1, q3 = values.quantile(0.25), values.quantile(0.75)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iqr = q3 - q1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q1 - 1.5 * iqr, q3 + 1.5 * iqr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flag_iqr(df: pd.DataFrame, col: str) -&gt; pd.Series: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"""True where df[col] sits outside the IQR bounds."""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low, high = iqr_bounds(df[col])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(df[col] &lt; low) | (df[col] &gt; high)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567C75E-1811-4C94-8AED-2FF68819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function per pipeline stage, again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2ED6977-4E41-4AD1-B1D8-0072EEA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7347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iqr_bounds and flag_iqr follow Week 4's convention - a docstring, type hints on parameters and return values - now applied to Week 5's rule. flag_iqr returns a Series of True/False, one per room: the same Boolean-Series idea from Week 2's comparisons, now produced by a function instead of one inline expression.</a:t>
            </a:r>
          </a:p>
        </p:txBody>
      </p:sp>
    </p:spTree>
    <p:extLst>
      <p:ext uri="{BB962C8B-B14F-4D97-AF65-F5344CB8AC3E}">
        <p14:creationId xmlns:p14="http://schemas.microsoft.com/office/powerpoint/2010/main" val="6148442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C0E7B38-9F1F-41E6-A9A6-1C9AD14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3596E7-19EB-4166-AF10-D20E2A33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apply it to every room, not just 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077BD-4CB8-4CC4-B71E-C04430C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66470B5-52F0-43AB-A74B-A15E01D3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13B5C9-865F-42FB-8A41-3459E25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D159E3E-D1F8-4524-A5C1-E65A50B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47691C7-4CB9-4927-A9DA-99C40C2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df['iqr_flag'] = flag_iqr(df, 'energy_kwh_m2_yr')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flagged = df.loc[df['iqr_flag'],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['room_id', 'zone', 'room_type', 'energy_kwh_m2_yr']]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print(flagged)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00369-558D-4157-B10A-41B20E39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5CBD12E-47B1-4FAD-8610-4186E4E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6E5E06F-5CE7-4934-845C-3204FDE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room_id   zone room_type  energy_kwh_m2_yr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17    R306  South    Server             410.0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19    R110  North    Closet              12.0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4BB9F68-70F1-4D93-9EFA-BD296383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low outlier the single-row check never found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1BD965F-EB50-4832-886E-ACD65D90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16808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earlier slide only ever asked about R306. Running flag_iqr across the WHOLE column surfaces a second flagged room: R110, a Closet at only 12.0 kWh/m2/yr - below the rule's low bound, not above its high bound. A one-room spot-check would never have found it; applying the function to every room does.</a:t>
            </a:r>
          </a:p>
        </p:txBody>
      </p:sp>
    </p:spTree>
    <p:extLst>
      <p:ext uri="{BB962C8B-B14F-4D97-AF65-F5344CB8AC3E}">
        <p14:creationId xmlns:p14="http://schemas.microsoft.com/office/powerpoint/2010/main" val="20589852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78A6FDFA-6BB8-497E-923B-5E880B4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E80AAA-EAED-45FD-9E67-01340EE2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two rooms, seen instead of listed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D91DB-3431-4D3B-AEFF-D312F789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B175A5-478B-4D39-9DA0-3EFA733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15C7DE-5897-4DA7-8C8B-88B6670A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figure-panel">
            <a:extLst xmlns:a="http://schemas.openxmlformats.org/drawingml/2006/main">
              <a:ext uri="{FF2B5EF4-FFF2-40B4-BE49-F238E27FC236}">
                <a16:creationId xmlns:a16="http://schemas.microsoft.com/office/drawing/2014/main" id="{7722A0A3-F416-4003-A842-B2B7F313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3818382"/>
          </a:xfrm>
          <a:prstGeom xmlns:a="http://schemas.openxmlformats.org/drawingml/2006/main" prst="roundRect">
            <a:avLst>
              <a:gd name="adj" fmla="val 1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 descr="Strip plot of all 23 rooms' energy intensity with IQR band and 1.5-IQR fences; R110 at 12 and R306 at 410 fall outside the fenc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d1028769a48b5"/>
          <a:stretch xmlns:a="http://schemas.openxmlformats.org/drawingml/2006/main"/>
        </p:blipFill>
        <p:spPr>
          <a:xfrm xmlns:a="http://schemas.openxmlformats.org/drawingml/2006/main">
            <a:off x="742950" y="2322545"/>
            <a:ext cx="6629400" cy="2792791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70AD3A44-ED3B-4BCA-9595-922F8DD3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4332"/>
            <a:ext cx="6591300" cy="448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Every cleaned room plotted on one axis. Shaded band = the interquartile range; dashed lines = the 1.5-IQR fences the code just computed.</a:t>
            </a:r>
          </a:p>
        </p:txBody>
      </p:sp>
      <p:sp>
        <p:nvSpPr>
          <p:cNvPr id="9" name="figure-explain-head">
            <a:extLst xmlns:a="http://schemas.openxmlformats.org/drawingml/2006/main">
              <a:ext uri="{FF2B5EF4-FFF2-40B4-BE49-F238E27FC236}">
                <a16:creationId xmlns:a16="http://schemas.microsoft.com/office/drawing/2014/main" id="{7C749ED1-5A4D-48EF-A55A-3D1AC2C0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rule is a picture before it is a formula</a:t>
            </a:r>
          </a:p>
        </p:txBody>
      </p:sp>
      <p:sp>
        <p:nvSpPr>
          <p:cNvPr id="10" name="figure-explain-body">
            <a:extLst xmlns:a="http://schemas.openxmlformats.org/drawingml/2006/main">
              <a:ext uri="{FF2B5EF4-FFF2-40B4-BE49-F238E27FC236}">
                <a16:creationId xmlns:a16="http://schemas.microsoft.com/office/drawing/2014/main" id="{70C6085F-6A6B-4C9B-BB87-14A3DE94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7347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printed table said R306 and R110 were flagged. This says why: the middle half of the building sits in a narrow band around 62-91, and R306's 410 is nowhere near it. R110's 12 is flagged for the opposite reason - a closet using almost nothing. Same numbers, same code, but the distance is now something you can point at.</a:t>
            </a:r>
          </a:p>
        </p:txBody>
      </p:sp>
    </p:spTree>
    <p:extLst>
      <p:ext uri="{BB962C8B-B14F-4D97-AF65-F5344CB8AC3E}">
        <p14:creationId xmlns:p14="http://schemas.microsoft.com/office/powerpoint/2010/main" val="2677958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B5575D0C-D1D5-406F-8878-6D64FD06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2621FB-D179-4463-9928-C32DB656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 the z-score rule to the same column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6DD8D-8D9F-4694-BCA5-BA520B7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66EA8D0-56BA-4DC2-A016-073CA3F4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7FE59BE-E7B2-4E01-ADDE-6583F59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4491015-1E03-4002-B1D8-BA8D399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534E3BF-10FF-45E2-9800-E23455A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mean = df["energy_kwh_m2_yr"].mean()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std = df["energy_kwh_m2_yr"].std()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r306 = df.loc[df["room_id"] == "R306", "energy_kwh_m2_yr"].iloc[0]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 = (r306 - mean) / std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print(round(z, 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print(abs(z) &gt; 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486B0-D80F-4634-89FA-55281AD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41C80EF2-C572-4CBE-8E89-E953380D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E9270098-4CEB-439F-8829-D679AAB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4.43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309F003-660B-4F79-B490-AF86198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rules agree: R306 is genuinely extreme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55B0C49-B7E4-4531-A8EF-CF27A7A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z-score of 4.43 is far past the |z| &gt; 2 threshold. On energy_kwh_m2_yr, the IQR rule and the z-score rule reach the same verdict — the clean case where two independent methods reinforce each other.</a:t>
            </a:r>
          </a:p>
        </p:txBody>
      </p:sp>
    </p:spTree>
    <p:extLst>
      <p:ext uri="{BB962C8B-B14F-4D97-AF65-F5344CB8AC3E}">
        <p14:creationId xmlns:p14="http://schemas.microsoft.com/office/powerpoint/2010/main" val="7017714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6E3B983D-6C06-4E71-B4B3-DE56533E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TWO RULES, SIDE BY SIDE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453053-3B47-4E7B-AE19-CADCDFF3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vs. z-score: two different lenses on one column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7BD86-C8ED-4B5E-93CB-E085C3F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766318F-5710-4592-9C0E-2DDF09D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C226BF-F971-4DE1-A517-BF5A92BA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B5F6E92F-05B6-4C0A-8527-7C9A0FD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rule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AC0182BE-86C2-44F2-B592-5F5AD76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Built from quartiles (Q1, Q3) — the middle 50% of the data. Resistant to extremes: one huge value barely shifts Q1 or Q3. Flags a row outside Q1 − 1.5×IQR to Q3 + 1.5×IQR.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46FD135A-8D09-4752-AA8D-1018D8D0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z-score rule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CBCECD5A-7854-4B4E-9EFF-9398D86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Built from the mean and std — every value pulls on both. Sensitive to extremes: one huge value inflates std and can even mask itself. Flags a row where |z| &gt; 2.</a:t>
            </a:r>
          </a:p>
        </p:txBody>
      </p:sp>
    </p:spTree>
    <p:extLst>
      <p:ext uri="{BB962C8B-B14F-4D97-AF65-F5344CB8AC3E}">
        <p14:creationId xmlns:p14="http://schemas.microsoft.com/office/powerpoint/2010/main" val="12128813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BE9F85C9-6A91-4524-AA89-6FDF4F1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AEE1A5-72B8-481A-91AD-6E22E274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 area_m2, two rules disagree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7EF9D-C422-4FA2-BA68-A19A279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E25665F-316C-4641-9383-007112EB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2C1E447-967C-44CF-A99A-F33E3A9C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9B671-67E5-4895-B228-F448424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6C362935-1F3B-4BEA-ACE2-F808A63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room_id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99559-30D9-423A-B525-9001736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718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B029BF9-880F-4A1C-B069-8E8913A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480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room_type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47C6A-1D4A-4581-B385-4DA30499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09CE527F-4C3C-4E7C-95EE-6DAA9D83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80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area_m2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50590-E121-47DA-8481-62AB810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65DBD372-7848-4563-8416-3B2C7E7C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z-score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4B9CD-8691-486B-8548-80C23C2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header-4">
            <a:extLst xmlns:a="http://schemas.openxmlformats.org/drawingml/2006/main">
              <a:ext uri="{FF2B5EF4-FFF2-40B4-BE49-F238E27FC236}">
                <a16:creationId xmlns:a16="http://schemas.microsoft.com/office/drawing/2014/main" id="{736F9601-74F4-4D0E-AC7E-05982AD9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IQR flag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570A-07D9-4D9A-BD60-D6D9D75E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718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0957BD34-1BF6-467A-A036-2ABE230A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480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 flag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ABD43-DC31-43BD-858D-4E9656D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0">
            <a:extLst xmlns:a="http://schemas.openxmlformats.org/drawingml/2006/main">
              <a:ext uri="{FF2B5EF4-FFF2-40B4-BE49-F238E27FC236}">
                <a16:creationId xmlns:a16="http://schemas.microsoft.com/office/drawing/2014/main" id="{3A91DE64-40C0-4C82-A005-54333A0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R309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68764-EAD2-4092-8571-67B9634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052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1">
            <a:extLst xmlns:a="http://schemas.openxmlformats.org/drawingml/2006/main">
              <a:ext uri="{FF2B5EF4-FFF2-40B4-BE49-F238E27FC236}">
                <a16:creationId xmlns:a16="http://schemas.microsoft.com/office/drawing/2014/main" id="{D485704C-F6FF-4343-9201-6E24AD6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814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Gallery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9D7B6-CC4A-451A-B0FA-E8C00FF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52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0-2">
            <a:extLst xmlns:a="http://schemas.openxmlformats.org/drawingml/2006/main">
              <a:ext uri="{FF2B5EF4-FFF2-40B4-BE49-F238E27FC236}">
                <a16:creationId xmlns:a16="http://schemas.microsoft.com/office/drawing/2014/main" id="{C448A8D8-2840-4D0C-BFF8-078AED5B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E18BF-FEB3-48B7-A5D4-9B2E7152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0-3">
            <a:extLst xmlns:a="http://schemas.openxmlformats.org/drawingml/2006/main">
              <a:ext uri="{FF2B5EF4-FFF2-40B4-BE49-F238E27FC236}">
                <a16:creationId xmlns:a16="http://schemas.microsoft.com/office/drawing/2014/main" id="{39FFE7ED-CE04-4438-8599-6660B036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77C6B-5284-4D60-9708-900A2B96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52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0-4">
            <a:extLst xmlns:a="http://schemas.openxmlformats.org/drawingml/2006/main">
              <a:ext uri="{FF2B5EF4-FFF2-40B4-BE49-F238E27FC236}">
                <a16:creationId xmlns:a16="http://schemas.microsoft.com/office/drawing/2014/main" id="{00315C7C-9203-43D2-9878-12913B02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814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B0CAC-D54C-44EE-B862-A87AAA8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52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0-5">
            <a:extLst xmlns:a="http://schemas.openxmlformats.org/drawingml/2006/main">
              <a:ext uri="{FF2B5EF4-FFF2-40B4-BE49-F238E27FC236}">
                <a16:creationId xmlns:a16="http://schemas.microsoft.com/office/drawing/2014/main" id="{9FF1CFFD-CBDE-4780-90BC-CD846B8C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814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4A25F-6331-460A-91FC-C71F3320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1-0">
            <a:extLst xmlns:a="http://schemas.openxmlformats.org/drawingml/2006/main">
              <a:ext uri="{FF2B5EF4-FFF2-40B4-BE49-F238E27FC236}">
                <a16:creationId xmlns:a16="http://schemas.microsoft.com/office/drawing/2014/main" id="{F42F31AE-3C08-47F3-916B-44BCD26B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R110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4B98B8-5095-4C63-B98C-E6D861F7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386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1-1">
            <a:extLst xmlns:a="http://schemas.openxmlformats.org/drawingml/2006/main">
              <a:ext uri="{FF2B5EF4-FFF2-40B4-BE49-F238E27FC236}">
                <a16:creationId xmlns:a16="http://schemas.microsoft.com/office/drawing/2014/main" id="{4A80C503-099B-4A0A-914A-6529CA8B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148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Closet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1F4EAD-12DD-47C5-9079-4595994C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1-2">
            <a:extLst xmlns:a="http://schemas.openxmlformats.org/drawingml/2006/main">
              <a:ext uri="{FF2B5EF4-FFF2-40B4-BE49-F238E27FC236}">
                <a16:creationId xmlns:a16="http://schemas.microsoft.com/office/drawing/2014/main" id="{735914AD-29B6-4DD2-8A11-6EC3B7E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48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BC429-4B44-4566-A6C2-7727C9A8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86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1-3">
            <a:extLst xmlns:a="http://schemas.openxmlformats.org/drawingml/2006/main">
              <a:ext uri="{FF2B5EF4-FFF2-40B4-BE49-F238E27FC236}">
                <a16:creationId xmlns:a16="http://schemas.microsoft.com/office/drawing/2014/main" id="{08E010A5-9CA4-4EEE-9021-7906767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-1.28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04721-F7EE-4BB5-A75F-D5D359D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1-4">
            <a:extLst xmlns:a="http://schemas.openxmlformats.org/drawingml/2006/main">
              <a:ext uri="{FF2B5EF4-FFF2-40B4-BE49-F238E27FC236}">
                <a16:creationId xmlns:a16="http://schemas.microsoft.com/office/drawing/2014/main" id="{8409A1B9-99D0-4163-86E3-7D6467ED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48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94EC9-AD1E-4C4C-9491-EAC1779A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1-5">
            <a:extLst xmlns:a="http://schemas.openxmlformats.org/drawingml/2006/main">
              <a:ext uri="{FF2B5EF4-FFF2-40B4-BE49-F238E27FC236}">
                <a16:creationId xmlns:a16="http://schemas.microsoft.com/office/drawing/2014/main" id="{38CA7695-ECE1-4DA7-8355-E815C59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148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72FAD7A3-0C17-4B9C-9039-643AC203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11332632-E772-4178-B980-E2FE5368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bounds are wide (−47.25 to 123.95) because this building mixes small offices and large studios. The 120 m² gallery fits inside that range but its z-score is 2.82. The 3 m² closet is flagged by neither rule.</a:t>
            </a:r>
          </a:p>
        </p:txBody>
      </p:sp>
    </p:spTree>
    <p:extLst>
      <p:ext uri="{BB962C8B-B14F-4D97-AF65-F5344CB8AC3E}">
        <p14:creationId xmlns:p14="http://schemas.microsoft.com/office/powerpoint/2010/main" val="16109660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9BEB98F1-4171-4550-AFDB-789B0B0A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F7D8D2-6A41-4FC3-AA9B-0741253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harder question underneath any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E8EBC-0FA6-4F52-9A06-F16246E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4E3950-6DA8-4D39-A279-785229B1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3583B1E-BE72-420B-946F-851E5CBA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59814906-02B9-49F5-B560-BA5382D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B4C6E9BA-BF7A-4BEE-8997-A9DC94CD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92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node-0">
            <a:extLst xmlns:a="http://schemas.openxmlformats.org/drawingml/2006/main">
              <a:ext uri="{FF2B5EF4-FFF2-40B4-BE49-F238E27FC236}">
                <a16:creationId xmlns:a16="http://schemas.microsoft.com/office/drawing/2014/main" id="{686B448B-39CA-463C-B36B-22A4D60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9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4668DF9-A0DD-4D38-A075-275E6E11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E39DD178-0EF0-4E11-A8C3-6C5CDF5E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MEASUREMENT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AF04D-B5C7-4FAA-B40F-9AB8C30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2" name="step-head-0">
            <a:extLst xmlns:a="http://schemas.openxmlformats.org/drawingml/2006/main">
              <a:ext uri="{FF2B5EF4-FFF2-40B4-BE49-F238E27FC236}">
                <a16:creationId xmlns:a16="http://schemas.microsoft.com/office/drawing/2014/main" id="{47CAA53F-91FB-49F4-91F3-2D5B0C24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Was it recorded wrong?</a:t>
            </a:r>
          </a:p>
        </p:txBody>
      </p:sp>
      <p:sp>
        <p:nvSpPr>
          <p:cNvPr id="13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62A19D3-B5DD-4F73-BED2-557D24FB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misplaced decimal, a unit mix-up, a sensor fault. Check the source before anything else — this is the only category where 'fix the number' is the right response.</a:t>
            </a:r>
          </a:p>
        </p:txBody>
      </p:sp>
      <p:sp>
        <p:nvSpPr>
          <p:cNvPr id="14" name="step-node-1">
            <a:extLst xmlns:a="http://schemas.openxmlformats.org/drawingml/2006/main">
              <a:ext uri="{FF2B5EF4-FFF2-40B4-BE49-F238E27FC236}">
                <a16:creationId xmlns:a16="http://schemas.microsoft.com/office/drawing/2014/main" id="{E268C530-5CD5-4394-B690-234BCDFD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422364A-6AF8-44AC-9294-BA2107B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EFF523C7-5D07-449A-B3C7-300E3C1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GENUINE EXTREME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192B9-1572-481D-930B-E34C460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8" name="step-head-1">
            <a:extLst xmlns:a="http://schemas.openxmlformats.org/drawingml/2006/main">
              <a:ext uri="{FF2B5EF4-FFF2-40B4-BE49-F238E27FC236}">
                <a16:creationId xmlns:a16="http://schemas.microsoft.com/office/drawing/2014/main" id="{B2BC51F6-57AD-4A2D-BD65-453B7860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Is it really that different?</a:t>
            </a:r>
          </a:p>
        </p:txBody>
      </p:sp>
      <p:sp>
        <p:nvSpPr>
          <p:cNvPr id="1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8786FB9-015E-4AC4-8CEC-B766026F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R306's server load is a real, physically explainable extreme. Keep it in the analysis and say why.</a:t>
            </a:r>
          </a:p>
        </p:txBody>
      </p:sp>
      <p:sp>
        <p:nvSpPr>
          <p:cNvPr id="20" name="step-node-2">
            <a:extLst xmlns:a="http://schemas.openxmlformats.org/drawingml/2006/main">
              <a:ext uri="{FF2B5EF4-FFF2-40B4-BE49-F238E27FC236}">
                <a16:creationId xmlns:a16="http://schemas.microsoft.com/office/drawing/2014/main" id="{5ED4DAC1-F69F-45F3-914A-F8D46262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53B69F58-B70C-4D67-80B4-9FB66811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353B9DC-E8AA-4C54-A792-30EE25F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MISSING VARIABLE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032DE-FFFA-4BD7-9264-D7A9BD3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BAA9C8B9-C084-473C-9601-8B580F9F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Is a category missing from the model?</a:t>
            </a:r>
          </a:p>
        </p:txBody>
      </p:sp>
      <p:sp>
        <p:nvSpPr>
          <p:cNvPr id="2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A9FB4E2-B57C-4C6F-B11A-DC4C2B8D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R110 (a closet on a room schedule) and R309 (a double-height gallery) both suggest the grouping itself — room_type, ceiling height — may need refining, not the row deleted.</a:t>
            </a:r>
          </a:p>
        </p:txBody>
      </p:sp>
    </p:spTree>
    <p:extLst>
      <p:ext uri="{BB962C8B-B14F-4D97-AF65-F5344CB8AC3E}">
        <p14:creationId xmlns:p14="http://schemas.microsoft.com/office/powerpoint/2010/main" val="8302774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C7BE1C1-2158-486B-BA5F-E0F1141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TERM, DEFINED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372870-EDC1-49CD-B772-94DCA54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rename() and merge() combine small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6B2CD-2016-4FB8-93B8-4F15DFD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4623DD6-E687-4172-8569-64E2EE73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832087-0417-4BCC-9398-C631980E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6F2C5311-D025-41B8-8F86-F733378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rename(columns=...)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57C9A926-E0CA-4F8E-B997-60DD996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df.rename(columns={"zone": "zone_name"}) returns a copy with one or more column names changed — useful right before a merge, so the shared key column has a clear, matching name on both sides.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9E70E53-AD6A-4788-A3CE-F3AC1EF5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merge(other, on=...)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2E10030B-B747-4D4C-8769-5B24FB7C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df.merge(other_df, on="zone", how="left") joins two tables on a shared key column, attaching other_df's columns onto every matching row of df — like a spreadsheet VLOOKUP, but explicit about which rows matched.</a:t>
            </a:r>
          </a:p>
        </p:txBody>
      </p:sp>
    </p:spTree>
    <p:extLst>
      <p:ext uri="{BB962C8B-B14F-4D97-AF65-F5344CB8AC3E}">
        <p14:creationId xmlns:p14="http://schemas.microsoft.com/office/powerpoint/2010/main" val="19317079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0AEFAA9-ADD7-454A-8B5D-A498F5C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EE1477-5394-4419-95C1-0AA3F260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 the zone summary back onto every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C432E-8B62-4EA3-880E-0D8896A7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AF46DA5-390D-4475-91DC-CC9DB477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F56CEE2-6ABB-4784-BAB0-6D642402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C042E55-A6BF-4950-B49C-48CB65A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1767D6C-25E3-419F-B3BB-8F3ECA75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zone_lookup = zone_summary.reset_index()[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["zone", "mean_energy"]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].rename(columns={"mean_energy": "zone_mean_energy"})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merged = df.merge(zone_lookup, on="zone", how="left")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merged["vs_zone_mean"] = (merged["energy_kwh_m2_yr"] / merged["zone_mean_energy"]).round(2)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cols = ["room_id", "zone", "energy_kwh_m2_yr",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"zone_mean_energy", "vs_zone_mean"]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rows = merged["room_id"].isin(["R101", "R104", "R306"])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print(merged.loc[rows, cols].to_string(index=False))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94DFC-E157-4599-8490-E663F3D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120D44F-D8EA-4898-A068-ECA58C9F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E3D53AE-14CF-4BF3-AADD-2EC64894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room_id  zone  energy_kwh_m2_yr  zone_mean_energy  vs_zone_mean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R101 North              62.0             64.25          0.96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R104 South              95.0            115.68          0.82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R306 South             410.0            115.68          3.54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ED53B14-BD04-4158-9071-69DEF72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room now knows its own zone's average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AEF2D6C-DE54-44AD-9768-6E967502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9222"/>
            <a:ext cx="3695700" cy="27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.isin([...]) keeps only the rows whose value matches an item in that list — here, three specific rooms for a compact printout — and .to_string(index=False) prints the DataFrame without pandas' default row-index column, purely for a cleaner readout. R306's own zone average is 115.68, and its own value is still 3.54× that average — confirming the outlier is extreme even against its own zone's already-higher baseline, not just the whole-building average.</a:t>
            </a:r>
          </a:p>
        </p:txBody>
      </p:sp>
    </p:spTree>
    <p:extLst>
      <p:ext uri="{BB962C8B-B14F-4D97-AF65-F5344CB8AC3E}">
        <p14:creationId xmlns:p14="http://schemas.microsoft.com/office/powerpoint/2010/main" val="6389029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3D5A0819-1A08-4668-9988-BAFAC0C3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7C5D87-F80D-4E5A-BBD5-76FDC438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In-class check: rank room types by energy, not 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ADE04-1163-40F6-B55E-E484C0C4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AAC4CB-E138-4168-9B9B-C818E828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FEA5964-6F7B-46A2-8B0C-E7B7386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F9BF6DE1-9A1B-4256-85F2-F9FBC25C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6596C1F8-C9B0-458D-BAA8-21CB3BC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Reuse the room_type table's pattern, but rank by mean energy_kwh_m2_yr instead of mean area_m2.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B1975C17-FBBF-4966-B6B1-0B6A5C53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1B1D045-071B-4619-B6F5-A0F9EAA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24EA0DD2-8400-4357-88B2-50E9B266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df.groupby('room_type')['energy_kwh_m2_yr'].mean().round(2).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56553A66-09D1-47FF-8289-C21B29CD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F9240C55-7346-45A4-A824-1D24957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Sort the result from highest to lowest.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FC9178D1-292D-4727-B186-7F3C5AAD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5A64642B-1D7B-4B1A-B502-81F095E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two room types nearest the top.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CD9AE3EC-03D2-4465-B99E-C9349A7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1D369B6D-93B8-40DE-A867-4A866DCF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one plausible reason — not a certainty — for the ranking.</a:t>
            </a:r>
          </a:p>
        </p:txBody>
      </p:sp>
    </p:spTree>
    <p:extLst>
      <p:ext uri="{BB962C8B-B14F-4D97-AF65-F5344CB8AC3E}">
        <p14:creationId xmlns:p14="http://schemas.microsoft.com/office/powerpoint/2010/main" val="3142273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47CF56E-E1F4-4F35-9F6E-C4F6874E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F2C857-6645-415B-B254-D1D5921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 an AI-generated outlier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EFA4D-EB03-4845-840C-12F4272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DDAC5D-4DC1-41C0-9A2E-6D12939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5 · Meeting A · Grouping, Outliers, and Defensible Summaries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0B70AA0-4D7A-40F0-9DF6-DA7C6C9B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C5C8BF86-98C5-4A2C-8C87-CCF7BF0A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585A373C-A161-4380-ADF3-EE36302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wrote a z-score flag function that only checks one direction and treats every flag as a verdict.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EF4B4F04-1E26-4AA6-B343-4C74C75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D58FF76E-BC1B-4BCE-96D3-BFE8E16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600BB24C-1405-43B8-A5F4-8B81ED8D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why z &gt; 2 (not abs(z) &gt; 2) misses low outliers entirely.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6812F3D2-761F-47E3-AE63-7B5D2DEE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DB0FE9E7-3312-4B12-8231-A3368EB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missing cross-check this function never runs.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70470EFF-3645-4149-BDA5-1D68687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926CDD12-271D-418C-AE77-7927C7B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Rewrite the return line to label a flag 'investigate', not delete it.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DFFB8E9-9BC8-4BE9-8715-5451391D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330788EF-4F60-4D02-BA6D-9487252B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repaired function still catches room R306.</a:t>
            </a:r>
          </a:p>
        </p:txBody>
      </p:sp>
    </p:spTree>
    <p:extLst>
      <p:ext uri="{BB962C8B-B14F-4D97-AF65-F5344CB8AC3E}">
        <p14:creationId xmlns:p14="http://schemas.microsoft.com/office/powerpoint/2010/main" val="4051042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5D8AE451-DF6C-4267-A446-D2D1B00A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5 · MEETING A · GROUPING, OUTLIERS, AND DEFENSIBLE SUMMARIES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E0C640E-7A3D-4B30-A58D-6F4EE3FF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comparison is only as strong as its weakest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6628F-E365-4FEE-A9F6-283FB30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0E69D22D-0963-4E12-8259-8B9356BD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FB75F7DA-0176-477B-B93F-D522F70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groupby() is split, apply, combine — one line, three steps.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987CE888-9132-43DE-9D57-00F05ADF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078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CFCA0B69-DDBD-4556-984B-99280EB7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2686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function name can be passed into .agg() without calling it first.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78341A98-11AB-4590-AC21-9230206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37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BA6E5DD7-2FAE-4989-9794-B064BA5A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027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IQR and z-score can disagree; that disagreement is evidence to interpret.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AA2C1133-7999-4BC2-94C2-E8792583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399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8F8A61A2-1FE0-48A6-B626-21A6BD4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85894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key-based merge attaches group context back to each row.</a:t>
            </a:r>
          </a:p>
        </p:txBody>
      </p:sp>
    </p:spTree>
    <p:extLst>
      <p:ext uri="{BB962C8B-B14F-4D97-AF65-F5344CB8AC3E}">
        <p14:creationId xmlns:p14="http://schemas.microsoft.com/office/powerpoint/2010/main" val="872047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2026-08-20T17:41:53.0020000Z</dcterms:created>
  <dcterms:modified xsi:type="dcterms:W3CDTF">2026-08-20T17:41:53.0020000Z</dcterms:modified>
</coreProperties>
</file>