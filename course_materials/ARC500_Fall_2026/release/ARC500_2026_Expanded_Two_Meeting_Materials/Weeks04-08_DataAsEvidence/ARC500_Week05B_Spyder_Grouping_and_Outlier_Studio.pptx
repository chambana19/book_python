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81946f2355c43c7" /><Relationship Type="http://schemas.openxmlformats.org/officeDocument/2006/relationships/extended-properties" Target="/docProps/app.xml" Id="Rc6f454dadf3f4338" /><Relationship Type="http://schemas.openxmlformats.org/officeDocument/2006/relationships/officeDocument" Target="/ppt/presentation.xml" Id="Rb18921e3d01b467d" /></Relationships>
</file>

<file path=ppt/presentation.xml><?xml version="1.0" encoding="utf-8"?>
<p:presentation xmlns:p="http://schemas.openxmlformats.org/presentationml/2006/main">
  <p:sldMasterIdLst>
    <p:sldMasterId xmlns:r="http://schemas.openxmlformats.org/officeDocument/2006/relationships" id="2147483648" r:id="Rfa823ce7c8c145a2"/>
  </p:sldMasterIdLst>
  <p:notesMasterIdLst>
    <p:notesMasterId xmlns:r="http://schemas.openxmlformats.org/officeDocument/2006/relationships" r:id="R6c683399a07e413a"/>
  </p:notesMasterIdLst>
  <p:sldIdLst>
    <p:sldId xmlns:r="http://schemas.openxmlformats.org/officeDocument/2006/relationships" id="256" r:id="Rb413510bcefb4c88"/>
    <p:sldId xmlns:r="http://schemas.openxmlformats.org/officeDocument/2006/relationships" id="257" r:id="Rad0b9b7a784f42f8"/>
    <p:sldId xmlns:r="http://schemas.openxmlformats.org/officeDocument/2006/relationships" id="258" r:id="Ra2a601dd55014184"/>
    <p:sldId xmlns:r="http://schemas.openxmlformats.org/officeDocument/2006/relationships" id="259" r:id="R96e4ae07912c4313"/>
    <p:sldId xmlns:r="http://schemas.openxmlformats.org/officeDocument/2006/relationships" id="260" r:id="Rc9d6ee55f9f144fb"/>
    <p:sldId xmlns:r="http://schemas.openxmlformats.org/officeDocument/2006/relationships" id="261" r:id="Rde9a475c61104d3c"/>
    <p:sldId xmlns:r="http://schemas.openxmlformats.org/officeDocument/2006/relationships" id="262" r:id="R0ae1c7ed7c174a87"/>
    <p:sldId xmlns:r="http://schemas.openxmlformats.org/officeDocument/2006/relationships" id="263" r:id="Rf732c1a56b7b4446"/>
    <p:sldId xmlns:r="http://schemas.openxmlformats.org/officeDocument/2006/relationships" id="264" r:id="Rc7e52a0b03584f77"/>
    <p:sldId xmlns:r="http://schemas.openxmlformats.org/officeDocument/2006/relationships" id="265" r:id="Rc89464347c4543c0"/>
    <p:sldId xmlns:r="http://schemas.openxmlformats.org/officeDocument/2006/relationships" id="266" r:id="R8c36581eb3b74d2e"/>
    <p:sldId xmlns:r="http://schemas.openxmlformats.org/officeDocument/2006/relationships" id="267" r:id="R658a91b8be6e4aa0"/>
    <p:sldId xmlns:r="http://schemas.openxmlformats.org/officeDocument/2006/relationships" id="268" r:id="R88fa552d31614c09"/>
    <p:sldId xmlns:r="http://schemas.openxmlformats.org/officeDocument/2006/relationships" id="269" r:id="R232c7001431a4edf"/>
    <p:sldId xmlns:r="http://schemas.openxmlformats.org/officeDocument/2006/relationships" id="270" r:id="R17d78e8d92c547cd"/>
    <p:sldId xmlns:r="http://schemas.openxmlformats.org/officeDocument/2006/relationships" id="271" r:id="R5080f5b13ced4100"/>
    <p:sldId xmlns:r="http://schemas.openxmlformats.org/officeDocument/2006/relationships" id="272" r:id="Rd15d76bf5c9547bc"/>
    <p:sldId xmlns:r="http://schemas.openxmlformats.org/officeDocument/2006/relationships" id="273" r:id="R32ada4e1823b4df0"/>
    <p:sldId xmlns:r="http://schemas.openxmlformats.org/officeDocument/2006/relationships" id="274" r:id="R686a8b50fbb04e69"/>
    <p:sldId xmlns:r="http://schemas.openxmlformats.org/officeDocument/2006/relationships" id="275" r:id="R530f738555ae4d75"/>
    <p:sldId xmlns:r="http://schemas.openxmlformats.org/officeDocument/2006/relationships" id="276" r:id="Rdb5c452251cb428a"/>
    <p:sldId xmlns:r="http://schemas.openxmlformats.org/officeDocument/2006/relationships" id="277" r:id="Re0a00c5c61d24f48"/>
    <p:sldId xmlns:r="http://schemas.openxmlformats.org/officeDocument/2006/relationships" id="278" r:id="R9ec19817fa53497e"/>
    <p:sldId xmlns:r="http://schemas.openxmlformats.org/officeDocument/2006/relationships" id="279" r:id="R3039a36e9b154e5e"/>
    <p:sldId xmlns:r="http://schemas.openxmlformats.org/officeDocument/2006/relationships" id="280" r:id="R2555982ef68d4aba"/>
    <p:sldId xmlns:r="http://schemas.openxmlformats.org/officeDocument/2006/relationships" id="281" r:id="R59e2035e82294d46"/>
    <p:sldId xmlns:r="http://schemas.openxmlformats.org/officeDocument/2006/relationships" id="282" r:id="Rce4bde6c479c4a1b"/>
    <p:sldId xmlns:r="http://schemas.openxmlformats.org/officeDocument/2006/relationships" id="283" r:id="R09c9b5b51bad48b4"/>
    <p:sldId xmlns:r="http://schemas.openxmlformats.org/officeDocument/2006/relationships" id="284" r:id="R0daaad46f3e54fee"/>
    <p:sldId xmlns:r="http://schemas.openxmlformats.org/officeDocument/2006/relationships" id="285" r:id="R42dd2579184344b2"/>
    <p:sldId xmlns:r="http://schemas.openxmlformats.org/officeDocument/2006/relationships" id="286" r:id="R37e1a3630d974973"/>
    <p:sldId xmlns:r="http://schemas.openxmlformats.org/officeDocument/2006/relationships" id="287" r:id="R32391664c94b4714"/>
    <p:sldId xmlns:r="http://schemas.openxmlformats.org/officeDocument/2006/relationships" id="288" r:id="Rc42aab9b1a454400"/>
    <p:sldId xmlns:r="http://schemas.openxmlformats.org/officeDocument/2006/relationships" id="289" r:id="R265af4d5f8954b88"/>
    <p:sldId xmlns:r="http://schemas.openxmlformats.org/officeDocument/2006/relationships" id="290" r:id="Rd1867b09f18b413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dcb9aca453a4d24" /><Relationship Type="http://schemas.openxmlformats.org/officeDocument/2006/relationships/slideMaster" Target="/ppt/slideMasters/slideMaster1.xml" Id="Rfa823ce7c8c145a2" /><Relationship Type="http://schemas.openxmlformats.org/officeDocument/2006/relationships/notesMaster" Target="/ppt/notesMasters/notesMaster1.xml" Id="R6c683399a07e413a" /><Relationship Type="http://schemas.openxmlformats.org/officeDocument/2006/relationships/presProps" Target="/ppt/presProps.xml" Id="R857b7563c1c6406a" /><Relationship Type="http://schemas.openxmlformats.org/officeDocument/2006/relationships/tableStyles" Target="/ppt/tableStyles.xml" Id="R0b31a48657be46b4" /><Relationship Type="http://schemas.openxmlformats.org/officeDocument/2006/relationships/slide" Target="/ppt/slides/slide1.xml" Id="Rb413510bcefb4c88" /><Relationship Type="http://schemas.openxmlformats.org/officeDocument/2006/relationships/slide" Target="/ppt/slides/slide2.xml" Id="Rad0b9b7a784f42f8" /><Relationship Type="http://schemas.openxmlformats.org/officeDocument/2006/relationships/slide" Target="/ppt/slides/slide3.xml" Id="Ra2a601dd55014184" /><Relationship Type="http://schemas.openxmlformats.org/officeDocument/2006/relationships/slide" Target="/ppt/slides/slide4.xml" Id="R96e4ae07912c4313" /><Relationship Type="http://schemas.openxmlformats.org/officeDocument/2006/relationships/slide" Target="/ppt/slides/slide5.xml" Id="Rc9d6ee55f9f144fb" /><Relationship Type="http://schemas.openxmlformats.org/officeDocument/2006/relationships/slide" Target="/ppt/slides/slide6.xml" Id="Rde9a475c61104d3c" /><Relationship Type="http://schemas.openxmlformats.org/officeDocument/2006/relationships/slide" Target="/ppt/slides/slide7.xml" Id="R0ae1c7ed7c174a87" /><Relationship Type="http://schemas.openxmlformats.org/officeDocument/2006/relationships/slide" Target="/ppt/slides/slide8.xml" Id="Rf732c1a56b7b4446" /><Relationship Type="http://schemas.openxmlformats.org/officeDocument/2006/relationships/slide" Target="/ppt/slides/slide9.xml" Id="Rc7e52a0b03584f77" /><Relationship Type="http://schemas.openxmlformats.org/officeDocument/2006/relationships/slide" Target="/ppt/slides/slide10.xml" Id="Rc89464347c4543c0" /><Relationship Type="http://schemas.openxmlformats.org/officeDocument/2006/relationships/slide" Target="/ppt/slides/slide11.xml" Id="R8c36581eb3b74d2e" /><Relationship Type="http://schemas.openxmlformats.org/officeDocument/2006/relationships/slide" Target="/ppt/slides/slide12.xml" Id="R658a91b8be6e4aa0" /><Relationship Type="http://schemas.openxmlformats.org/officeDocument/2006/relationships/slide" Target="/ppt/slides/slide13.xml" Id="R88fa552d31614c09" /><Relationship Type="http://schemas.openxmlformats.org/officeDocument/2006/relationships/slide" Target="/ppt/slides/slide14.xml" Id="R232c7001431a4edf" /><Relationship Type="http://schemas.openxmlformats.org/officeDocument/2006/relationships/slide" Target="/ppt/slides/slide15.xml" Id="R17d78e8d92c547cd" /><Relationship Type="http://schemas.openxmlformats.org/officeDocument/2006/relationships/slide" Target="/ppt/slides/slide16.xml" Id="R5080f5b13ced4100" /><Relationship Type="http://schemas.openxmlformats.org/officeDocument/2006/relationships/slide" Target="/ppt/slides/slide17.xml" Id="Rd15d76bf5c9547bc" /><Relationship Type="http://schemas.openxmlformats.org/officeDocument/2006/relationships/slide" Target="/ppt/slides/slide18.xml" Id="R32ada4e1823b4df0" /><Relationship Type="http://schemas.openxmlformats.org/officeDocument/2006/relationships/slide" Target="/ppt/slides/slide19.xml" Id="R686a8b50fbb04e69" /><Relationship Type="http://schemas.openxmlformats.org/officeDocument/2006/relationships/slide" Target="/ppt/slides/slide20.xml" Id="R530f738555ae4d75" /><Relationship Type="http://schemas.openxmlformats.org/officeDocument/2006/relationships/slide" Target="/ppt/slides/slide21.xml" Id="Rdb5c452251cb428a" /><Relationship Type="http://schemas.openxmlformats.org/officeDocument/2006/relationships/slide" Target="/ppt/slides/slide22.xml" Id="Re0a00c5c61d24f48" /><Relationship Type="http://schemas.openxmlformats.org/officeDocument/2006/relationships/slide" Target="/ppt/slides/slide23.xml" Id="R9ec19817fa53497e" /><Relationship Type="http://schemas.openxmlformats.org/officeDocument/2006/relationships/slide" Target="/ppt/slides/slide24.xml" Id="R3039a36e9b154e5e" /><Relationship Type="http://schemas.openxmlformats.org/officeDocument/2006/relationships/slide" Target="/ppt/slides/slide25.xml" Id="R2555982ef68d4aba" /><Relationship Type="http://schemas.openxmlformats.org/officeDocument/2006/relationships/slide" Target="/ppt/slides/slide26.xml" Id="R59e2035e82294d46" /><Relationship Type="http://schemas.openxmlformats.org/officeDocument/2006/relationships/slide" Target="/ppt/slides/slide27.xml" Id="Rce4bde6c479c4a1b" /><Relationship Type="http://schemas.openxmlformats.org/officeDocument/2006/relationships/slide" Target="/ppt/slides/slide28.xml" Id="R09c9b5b51bad48b4" /><Relationship Type="http://schemas.openxmlformats.org/officeDocument/2006/relationships/slide" Target="/ppt/slides/slide29.xml" Id="R0daaad46f3e54fee" /><Relationship Type="http://schemas.openxmlformats.org/officeDocument/2006/relationships/slide" Target="/ppt/slides/slide30.xml" Id="R42dd2579184344b2" /><Relationship Type="http://schemas.openxmlformats.org/officeDocument/2006/relationships/slide" Target="/ppt/slides/slide31.xml" Id="R37e1a3630d974973" /><Relationship Type="http://schemas.openxmlformats.org/officeDocument/2006/relationships/slide" Target="/ppt/slides/slide32.xml" Id="R32391664c94b4714" /><Relationship Type="http://schemas.openxmlformats.org/officeDocument/2006/relationships/slide" Target="/ppt/slides/slide33.xml" Id="Rc42aab9b1a454400" /><Relationship Type="http://schemas.openxmlformats.org/officeDocument/2006/relationships/slide" Target="/ppt/slides/slide34.xml" Id="R265af4d5f8954b88" /><Relationship Type="http://schemas.openxmlformats.org/officeDocument/2006/relationships/slide" Target="/ppt/slides/slide35.xml" Id="Rd1867b09f18b413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a76b780f7ca42c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a24344b00c34cd4" /><Relationship Type="http://schemas.openxmlformats.org/officeDocument/2006/relationships/notesMaster" Target="/ppt/notesMasters/notesMaster1.xml" Id="Rbe74320d0c01400d" /></Relationships>
</file>

<file path=ppt/notesSlides/_rels/notesSlide2.xml.rels>&#65279;<?xml version="1.0" encoding="utf-8"?><Relationships xmlns="http://schemas.openxmlformats.org/package/2006/relationships"><Relationship Type="http://schemas.openxmlformats.org/officeDocument/2006/relationships/slide" Target="/ppt/slides/slide2.xml" Id="R5e4a2e9735f44066" /><Relationship Type="http://schemas.openxmlformats.org/officeDocument/2006/relationships/notesMaster" Target="/ppt/notesMasters/notesMaster1.xml" Id="Re267896808214c62" /></Relationships>
</file>

<file path=ppt/notesSlides/_rels/notesSlide3.xml.rels>&#65279;<?xml version="1.0" encoding="utf-8"?><Relationships xmlns="http://schemas.openxmlformats.org/package/2006/relationships"><Relationship Type="http://schemas.openxmlformats.org/officeDocument/2006/relationships/slide" Target="/ppt/slides/slide3.xml" Id="Rd26e4fe6282b4723" /><Relationship Type="http://schemas.openxmlformats.org/officeDocument/2006/relationships/notesMaster" Target="/ppt/notesMasters/notesMaster1.xml" Id="R66b8bfcdb478417a" /></Relationships>
</file>

<file path=ppt/notesSlides/_rels/notesSlide4.xml.rels>&#65279;<?xml version="1.0" encoding="utf-8"?><Relationships xmlns="http://schemas.openxmlformats.org/package/2006/relationships"><Relationship Type="http://schemas.openxmlformats.org/officeDocument/2006/relationships/slide" Target="/ppt/slides/slide4.xml" Id="Rd3a074731add4044" /><Relationship Type="http://schemas.openxmlformats.org/officeDocument/2006/relationships/notesMaster" Target="/ppt/notesMasters/notesMaster1.xml" Id="R97d019f3052a40d7" /></Relationships>
</file>

<file path=ppt/notesSlides/_rels/notesSlide5.xml.rels>&#65279;<?xml version="1.0" encoding="utf-8"?><Relationships xmlns="http://schemas.openxmlformats.org/package/2006/relationships"><Relationship Type="http://schemas.openxmlformats.org/officeDocument/2006/relationships/slide" Target="/ppt/slides/slide5.xml" Id="Ra5a9597de97a40e4" /><Relationship Type="http://schemas.openxmlformats.org/officeDocument/2006/relationships/notesMaster" Target="/ppt/notesMasters/notesMaster1.xml" Id="R7b7f7bb428c24659" /></Relationships>
</file>

<file path=ppt/notesSlides/_rels/notesSlide6.xml.rels>&#65279;<?xml version="1.0" encoding="utf-8"?><Relationships xmlns="http://schemas.openxmlformats.org/package/2006/relationships"><Relationship Type="http://schemas.openxmlformats.org/officeDocument/2006/relationships/slide" Target="/ppt/slides/slide6.xml" Id="R8628558d5c8a48af" /><Relationship Type="http://schemas.openxmlformats.org/officeDocument/2006/relationships/notesMaster" Target="/ppt/notesMasters/notesMaster1.xml" Id="R63ea81bd9aae4d03" /></Relationships>
</file>

<file path=ppt/notesSlides/_rels/notesSlide7.xml.rels>&#65279;<?xml version="1.0" encoding="utf-8"?><Relationships xmlns="http://schemas.openxmlformats.org/package/2006/relationships"><Relationship Type="http://schemas.openxmlformats.org/officeDocument/2006/relationships/slide" Target="/ppt/slides/slide7.xml" Id="Rea12bbc566bc495d" /><Relationship Type="http://schemas.openxmlformats.org/officeDocument/2006/relationships/notesMaster" Target="/ppt/notesMasters/notesMaster1.xml" Id="R3df44b0544e24a37" /></Relationships>
</file>

<file path=ppt/notesSlides/_rels/notesSlide8.xml.rels>&#65279;<?xml version="1.0" encoding="utf-8"?><Relationships xmlns="http://schemas.openxmlformats.org/package/2006/relationships"><Relationship Type="http://schemas.openxmlformats.org/officeDocument/2006/relationships/slide" Target="/ppt/slides/slide8.xml" Id="R8574417230af4b9f" /><Relationship Type="http://schemas.openxmlformats.org/officeDocument/2006/relationships/notesMaster" Target="/ppt/notesMasters/notesMaster1.xml" Id="R924079ab124d4008" /></Relationships>
</file>

<file path=ppt/notesSlides/_rels/notesSlide9.xml.rels>&#65279;<?xml version="1.0" encoding="utf-8"?><Relationships xmlns="http://schemas.openxmlformats.org/package/2006/relationships"><Relationship Type="http://schemas.openxmlformats.org/officeDocument/2006/relationships/slide" Target="/ppt/slides/slide9.xml" Id="R256886b504944d73" /><Relationship Type="http://schemas.openxmlformats.org/officeDocument/2006/relationships/notesMaster" Target="/ppt/notesMasters/notesMaster1.xml" Id="R970536886acc4b5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82645bf1efe41a1" /><Relationship Type="http://schemas.openxmlformats.org/officeDocument/2006/relationships/notesMaster" Target="/ppt/notesMasters/notesMaster1.xml" Id="Rf9e6399910404c0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d27c8dd540b4ab8" /><Relationship Type="http://schemas.openxmlformats.org/officeDocument/2006/relationships/notesMaster" Target="/ppt/notesMasters/notesMaster1.xml" Id="R28a2bf137e154be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c3991fb9d1849b4" /><Relationship Type="http://schemas.openxmlformats.org/officeDocument/2006/relationships/notesMaster" Target="/ppt/notesMasters/notesMaster1.xml" Id="R4f6cde322d0246f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fc41a6316614243" /><Relationship Type="http://schemas.openxmlformats.org/officeDocument/2006/relationships/notesMaster" Target="/ppt/notesMasters/notesMaster1.xml" Id="R6a35480cac7d4ff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4b1ab8f13894136" /><Relationship Type="http://schemas.openxmlformats.org/officeDocument/2006/relationships/notesMaster" Target="/ppt/notesMasters/notesMaster1.xml" Id="R4a10dcc5b9f74c1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57c9eb7252e4185" /><Relationship Type="http://schemas.openxmlformats.org/officeDocument/2006/relationships/notesMaster" Target="/ppt/notesMasters/notesMaster1.xml" Id="Rb89aac9e3b97495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8da08668f2c40a5" /><Relationship Type="http://schemas.openxmlformats.org/officeDocument/2006/relationships/notesMaster" Target="/ppt/notesMasters/notesMaster1.xml" Id="R45f1dbff1926447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2c1caa9d14f478d" /><Relationship Type="http://schemas.openxmlformats.org/officeDocument/2006/relationships/notesMaster" Target="/ppt/notesMasters/notesMaster1.xml" Id="Rc3478e3bb674465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0611ee07ab44f5e" /><Relationship Type="http://schemas.openxmlformats.org/officeDocument/2006/relationships/notesMaster" Target="/ppt/notesMasters/notesMaster1.xml" Id="R3682744c3935446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d2994b0d6044567" /><Relationship Type="http://schemas.openxmlformats.org/officeDocument/2006/relationships/notesMaster" Target="/ppt/notesMasters/notesMaster1.xml" Id="R20f8849b698848a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eb82d4d909d4548" /><Relationship Type="http://schemas.openxmlformats.org/officeDocument/2006/relationships/notesMaster" Target="/ppt/notesMasters/notesMaster1.xml" Id="R09440750bfb744b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daec6cbe477489e" /><Relationship Type="http://schemas.openxmlformats.org/officeDocument/2006/relationships/notesMaster" Target="/ppt/notesMasters/notesMaster1.xml" Id="R4ee64fe48fa84d3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92c82e3a9e54f3b" /><Relationship Type="http://schemas.openxmlformats.org/officeDocument/2006/relationships/notesMaster" Target="/ppt/notesMasters/notesMaster1.xml" Id="Raacef1091b1243c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fe04bb73a3d4d5e" /><Relationship Type="http://schemas.openxmlformats.org/officeDocument/2006/relationships/notesMaster" Target="/ppt/notesMasters/notesMaster1.xml" Id="Rd4ee80979787421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f41b9d7db174a25" /><Relationship Type="http://schemas.openxmlformats.org/officeDocument/2006/relationships/notesMaster" Target="/ppt/notesMasters/notesMaster1.xml" Id="R6e739b82e4f2492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e982bf17b484331" /><Relationship Type="http://schemas.openxmlformats.org/officeDocument/2006/relationships/notesMaster" Target="/ppt/notesMasters/notesMaster1.xml" Id="Raa533c1a5a9e4f1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bf43ed3eea64c29" /><Relationship Type="http://schemas.openxmlformats.org/officeDocument/2006/relationships/notesMaster" Target="/ppt/notesMasters/notesMaster1.xml" Id="Rfddbf00409f84a1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9abfeefb9324436" /><Relationship Type="http://schemas.openxmlformats.org/officeDocument/2006/relationships/notesMaster" Target="/ppt/notesMasters/notesMaster1.xml" Id="Rf01fb2472dd84bf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de96a9ee39a48bf" /><Relationship Type="http://schemas.openxmlformats.org/officeDocument/2006/relationships/notesMaster" Target="/ppt/notesMasters/notesMaster1.xml" Id="Rb47518f3bccd403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aab56862a91449b" /><Relationship Type="http://schemas.openxmlformats.org/officeDocument/2006/relationships/notesMaster" Target="/ppt/notesMasters/notesMaster1.xml" Id="Rbf950dcee6774e72"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6f6e19ab43a410d" /><Relationship Type="http://schemas.openxmlformats.org/officeDocument/2006/relationships/notesMaster" Target="/ppt/notesMasters/notesMaster1.xml" Id="Rf5f71e6b93804b7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e774053f6c34935" /><Relationship Type="http://schemas.openxmlformats.org/officeDocument/2006/relationships/notesMaster" Target="/ppt/notesMasters/notesMaster1.xml" Id="R9082ea6d55da44dc"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44337402fb184d74" /><Relationship Type="http://schemas.openxmlformats.org/officeDocument/2006/relationships/notesMaster" Target="/ppt/notesMasters/notesMaster1.xml" Id="Rfa7613f2bada4dd5"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a363b40c861945b6" /><Relationship Type="http://schemas.openxmlformats.org/officeDocument/2006/relationships/notesMaster" Target="/ppt/notesMasters/notesMaster1.xml" Id="R88594e895fa840da"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814c9874ab1f4cb4" /><Relationship Type="http://schemas.openxmlformats.org/officeDocument/2006/relationships/notesMaster" Target="/ppt/notesMasters/notesMaster1.xml" Id="R4e2411dfe6d8463f"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847bf99ef974097" /><Relationship Type="http://schemas.openxmlformats.org/officeDocument/2006/relationships/notesMaster" Target="/ppt/notesMasters/notesMaster1.xml" Id="R3b9ca2a4ca4f4e4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Students open the Week 5 handout and predict the zone_summary numbers before running any cell — most should recall South &gt; North from Meeting A without looking.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minutes.</a:t>
            </a:r>
          </a:p>
          <a:p xmlns:a="http://schemas.openxmlformats.org/drawingml/2006/main">
            <a:r>
              <a:t>Teaching notes: Point out outcome 4 is graded twice today: once as the required in-file transfer check, once as the Project 1 checkpoint itself.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minutes.</a:t>
            </a:r>
          </a:p>
          <a:p xmlns:a="http://schemas.openxmlformats.org/drawingml/2006/main">
            <a:r>
              <a:t>Teaching notes: Tell students the last agenda item is not optional practice — it is this week's graded assignment and the Project 1 milestone at once.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minutes.</a:t>
            </a:r>
          </a:p>
          <a:p xmlns:a="http://schemas.openxmlformats.org/drawingml/2006/main">
            <a:r>
              <a:t>Teaching notes: Have students point to each term in their own Week 5 handout before Ctrl+Enter on the first real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minutes.</a:t>
            </a:r>
          </a:p>
          <a:p xmlns:a="http://schemas.openxmlformats.org/drawingml/2006/main">
            <a:r>
              <a:t>Teaching notes: Have students name split, select, apply, and combine in order before moving on.</a:t>
            </a:r>
          </a:p>
          <a:p xmlns:a="http://schemas.openxmlformats.org/drawingml/2006/main">
            <a:r>
              <a:t/>
            </a:r>
          </a:p>
          <a:p xmlns:a="http://schemas.openxmlformats.org/drawingml/2006/main">
            <a:r>
              <a:t>[Sources]</a:t>
            </a:r>
          </a:p>
          <a:p xmlns:a="http://schemas.openxmlformats.org/drawingml/2006/main">
            <a:r>
              <a:t>- https://pandas.pydata.org/docs/user_guide/index.html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minutes.</a:t>
            </a:r>
          </a:p>
          <a:p xmlns:a="http://schemas.openxmlformats.org/drawingml/2006/main">
            <a:r>
              <a:t>Teaching notes: Ask what the output shape would be if the split were on room_type instead of zone - the diagram's middle column would have more boxes, and the combined table more rows.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minutes.</a:t>
            </a:r>
          </a:p>
          <a:p xmlns:a="http://schemas.openxmlformats.org/drawingml/2006/main">
            <a:r>
              <a:t>Teaching notes: This sequence prevents students from debugging a groupby typo and an outlier-function typo at the same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minutes.</a:t>
            </a:r>
          </a:p>
          <a:p xmlns:a="http://schemas.openxmlformats.org/drawingml/2006/main">
            <a:r>
              <a:t>Teaching notes: This is the exact dtype line the next slide's df.dtypes call will show for room_id, zone, and room_type — confirm no one is thrown by str looking unfamiliar.</a:t>
            </a:r>
          </a:p>
          <a:p xmlns:a="http://schemas.openxmlformats.org/drawingml/2006/main">
            <a:r>
              <a:t/>
            </a:r>
          </a:p>
          <a:p xmlns:a="http://schemas.openxmlformats.org/drawingml/2006/main">
            <a:r>
              <a:t>[Sources]</a:t>
            </a:r>
          </a:p>
          <a:p xmlns:a="http://schemas.openxmlformats.org/drawingml/2006/main">
            <a:r>
              <a:t>- https://pandas.pydata.org/docs/user_guide/index.html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Confirm every student's working directory actually contains building_rooms.csv before moving on; a FileNotFoundError here stalls everything downstream.</a:t>
            </a:r>
          </a:p>
          <a:p xmlns:a="http://schemas.openxmlformats.org/drawingml/2006/main">
            <a:r>
              <a:t/>
            </a:r>
          </a:p>
          <a:p xmlns:a="http://schemas.openxmlformats.org/drawingml/2006/main">
            <a:r>
              <a:t>[Sources]</a:t>
            </a:r>
          </a:p>
          <a:p xmlns:a="http://schemas.openxmlformats.org/drawingml/2006/main">
            <a:r>
              <a:t>- https://pandas.pydata.org/docs/user_guide/index.html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Ask what students expected instead — most beginners expect groupby() alone to already show North/South means; that expectation is exactly what this term corrects.</a:t>
            </a:r>
          </a:p>
          <a:p xmlns:a="http://schemas.openxmlformats.org/drawingml/2006/main">
            <a:r>
              <a:t/>
            </a:r>
          </a:p>
          <a:p xmlns:a="http://schemas.openxmlformats.org/drawingml/2006/main">
            <a:r>
              <a:t>[Sources]</a:t>
            </a:r>
          </a:p>
          <a:p xmlns:a="http://schemas.openxmlformats.org/drawingml/2006/main">
            <a:r>
              <a:t>- https://pandas.pydata.org/docs/user_guide/index.html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This is the single most common groupby() misconception — some students will confidently guess option A. Run it live immediately after revealing the answer.</a:t>
            </a:r>
          </a:p>
          <a:p xmlns:a="http://schemas.openxmlformats.org/drawingml/2006/main">
            <a:r>
              <a:t/>
            </a:r>
          </a:p>
          <a:p xmlns:a="http://schemas.openxmlformats.org/drawingml/2006/main">
            <a:r>
              <a:t>[Sources]</a:t>
            </a:r>
          </a:p>
          <a:p xmlns:a="http://schemas.openxmlformats.org/drawingml/2006/main">
            <a:r>
              <a:t>- https://pandas.pydata.org/docs/user_guide/index.html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This is a deliberate checkpoint: any student whose numbers differ here has a data or environment problem to fix before Studio 1, not after.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Teaching notes: Expected top of ranking: Server (410.0, n=1), Studio (94.0, n=6). Expected bottom: Closet (12.0, n=1). Both extremes rest on n=1 — press students to say so explicitly, not just report the number.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Ask one student to state the 80% figure from memory before you reveal the table — most should already have it from Meeting 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Write df.loc[condition, column] on the board next to Week 4's df[condition] — the comma-separated column choice is the only new part.</a:t>
            </a:r>
          </a:p>
          <a:p xmlns:a="http://schemas.openxmlformats.org/drawingml/2006/main">
            <a:r>
              <a:t/>
            </a:r>
          </a:p>
          <a:p xmlns:a="http://schemas.openxmlformats.org/drawingml/2006/main">
            <a:r>
              <a:t>[Sources]</a:t>
            </a:r>
          </a:p>
          <a:p xmlns:a="http://schemas.openxmlformats.org/drawingml/2006/main">
            <a:r>
              <a:t>- https://pandas.pydata.org/docs/user_guide/index.html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Write low, high = 1, 2 on the board and ask what each name holds before running any real code — this is the exact pattern the next slide's iqr_bounds() function returns.</a:t>
            </a:r>
          </a:p>
          <a:p xmlns:a="http://schemas.openxmlformats.org/drawingml/2006/main">
            <a:r>
              <a:t/>
            </a:r>
          </a:p>
          <a:p xmlns:a="http://schemas.openxmlformats.org/drawingml/2006/main">
            <a:r>
              <a:t>[Sources]</a:t>
            </a:r>
          </a:p>
          <a:p xmlns:a="http://schemas.openxmlformats.org/drawingml/2006/main">
            <a:r>
              <a:t>- https://pandas.pydata.org/docs/user_guide/index.html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Ask students to recall these exact bounds from memory before showing them — most should still have 18.25 and 134.25 from Meeting A.</a:t>
            </a:r>
          </a:p>
          <a:p xmlns:a="http://schemas.openxmlformats.org/drawingml/2006/main">
            <a:r>
              <a:t/>
            </a:r>
          </a:p>
          <a:p xmlns:a="http://schemas.openxmlformats.org/drawingml/2006/main">
            <a:r>
              <a:t>[Sources]</a:t>
            </a:r>
          </a:p>
          <a:p xmlns:a="http://schemas.openxmlformats.org/drawingml/2006/main">
            <a:r>
              <a:t>- https://pandas.pydata.org/docs/user_guide/index.html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Ask why iqr_bounds() is written as its own small function rather than inlined into flag_iqr() — because Meeting A's boxplot-bound discussion and this flag both need the same two numbers. Flag the &amp;/| point explicitly: it is a real, common beginner trap.</a:t>
            </a:r>
          </a:p>
          <a:p xmlns:a="http://schemas.openxmlformats.org/drawingml/2006/main">
            <a:r>
              <a:t/>
            </a:r>
          </a:p>
          <a:p xmlns:a="http://schemas.openxmlformats.org/drawingml/2006/main">
            <a:r>
              <a:t>[Sources]</a:t>
            </a:r>
          </a:p>
          <a:p xmlns:a="http://schemas.openxmlformats.org/drawingml/2006/main">
            <a:r>
              <a:t>- https://pandas.pydata.org/docs/user_guide/index.html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a:t>
            </a:r>
          </a:p>
          <a:p xmlns:a="http://schemas.openxmlformats.org/drawingml/2006/main">
            <a:r>
              <a:t>Teaching notes: Expected: True, with bounds 18.25 to 134.25. If a student gets False, the most common cause is calling flag_iqr on the wrong column name.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Contrast the two rules once more before coding: IQR uses quartiles (resistant to extremes), z-score uses mean and standard deviation (sensitive to them) — that difference is why they can disagree.</a:t>
            </a:r>
          </a:p>
          <a:p xmlns:a="http://schemas.openxmlformats.org/drawingml/2006/main">
            <a:r>
              <a:t/>
            </a:r>
          </a:p>
          <a:p xmlns:a="http://schemas.openxmlformats.org/drawingml/2006/main">
            <a:r>
              <a:t>[Sources]</a:t>
            </a:r>
          </a:p>
          <a:p xmlns:a="http://schemas.openxmlformats.org/drawingml/2006/main">
            <a:r>
              <a:t>- https://pandas.pydata.org/docs/user_guide/index.html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Ask what would happen to R309's flag if threshold were raised to 3.0 — students should reason that 2.82 &lt; 3.0, so it would stop being flagged, without needing to run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Teaching notes: This is the 'clean' case from Meeting A, now reproduced by the student's own two functions rather than watched as a demo — the point is that they built both tools themselves.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Most students expect the two rules to always agree after Studio 2-3's clean case — this is the moment that expectation breaks, on purpose.</a:t>
            </a:r>
          </a:p>
          <a:p xmlns:a="http://schemas.openxmlformats.org/drawingml/2006/main">
            <a:r>
              <a:t/>
            </a:r>
          </a:p>
          <a:p xmlns:a="http://schemas.openxmlformats.org/drawingml/2006/main">
            <a:r>
              <a:t>[Sources]</a:t>
            </a:r>
          </a:p>
          <a:p xmlns:a="http://schemas.openxmlformats.org/drawingml/2006/main">
            <a:r>
              <a:t>- https://pandas.pydata.org/docs/user_guide/index.html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Walk through this as a guided reveal before Studio 4 asks students to reproduce it themselves — the point is that this disagreement is real, not a bug in anyone's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Resist resolving this. The honest answer is that the room needs a human decision, which is exactly what Studio 5's keep/investigate/exclude sentence is for.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a:t>
            </a:r>
          </a:p>
          <a:p xmlns:a="http://schemas.openxmlformats.org/drawingml/2006/main">
            <a:r>
              <a:t>Teaching notes: There is no single correct 'one more row' answer here — grade the reasoning (relative to nearby values in the sorted list), not a specific room_id.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a:t>
            </a:r>
          </a:p>
          <a:p xmlns:a="http://schemas.openxmlformats.org/drawingml/2006/main">
            <a:r>
              <a:t>Teaching notes: Watch for students who quietly drop a flagged row instead of writing a decision sentence — deleting evidence is exactly the silent-exclude failure mode this exercise is designed to catch.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Name the misconception directly: a flag is not a property of the room, it is a property of (room, column) together.</a:t>
            </a:r>
          </a:p>
          <a:p xmlns:a="http://schemas.openxmlformats.org/drawingml/2006/main">
            <a:r>
              <a:t/>
            </a:r>
          </a:p>
          <a:p xmlns:a="http://schemas.openxmlformats.org/drawingml/2006/main">
            <a:r>
              <a:t>[Sources]</a:t>
            </a:r>
          </a:p>
          <a:p xmlns:a="http://schemas.openxmlformats.org/drawingml/2006/main">
            <a:r>
              <a:t>- https://pandas.pydata.org/docs/user_guide/index.html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This is the model for the required transfer-safeguard check — the next slide asks students to turn exactly this comparison into their own assert statements.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Teaching notes: This satisfies the course's required lightweight transfer safeguard: a self-generated check on a different input (a different column, R306 on area_m2) than the one worked through live in Studio 2-3 (energy_kwh_m2_yr).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Say this explicitly and only once, clearly: nothing extra is owed beyond what Studio 7 produces. Point to Project 1 Part II in the syllabus if anyone is unsure.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Teaching notes: Circulate here more than anywhere else this session — column names, missing values, and group sizes will differ a lot across student datasets. The functions should not need to change; only the three variables at the top of the cell should.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Show the AI code: def flag_outliers(s): return s[((s - s.mean())/s.std()) &gt; 2]. Require evidence from a rerun, not just a claim the repair looks better.</a:t>
            </a:r>
          </a:p>
          <a:p xmlns:a="http://schemas.openxmlformats.org/drawingml/2006/main">
            <a:r>
              <a:t/>
            </a:r>
          </a:p>
          <a:p xmlns:a="http://schemas.openxmlformats.org/drawingml/2006/main">
            <a:r>
              <a:t>[Sources]</a:t>
            </a:r>
          </a:p>
          <a:p xmlns:a="http://schemas.openxmlformats.org/drawingml/2006/main">
            <a:r>
              <a:t>- https://skillsbuild.org/adult-learners/explore-learning/artificial-intelligence</a:t>
            </a:r>
          </a:p>
          <a:p xmlns:a="http://schemas.openxmlformats.org/drawingml/2006/main">
            <a:r>
              <a:t>- https://www.unesco.org/en/articles/guidance-generative-ai-education-and-research</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Use peer verification before submission — one student runs the file from a restarted kernel while the other checks all four items against the screen.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minutes.</a:t>
            </a:r>
          </a:p>
          <a:p xmlns:a="http://schemas.openxmlformats.org/drawingml/2006/main">
            <a:r>
              <a:t>Teaching notes: Exit prompt: students state, out loud or in writing, which of their own dataset's flagged rows they are least confident about, and why.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e8537e6414e4b7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eea1540143b4b3d" /><Relationship Type="http://schemas.openxmlformats.org/officeDocument/2006/relationships/slideLayout" Target="/ppt/slideLayouts/slideLayout1.xml" Id="R6a4555cfd84d49e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a4555cfd84d49e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01058b3211e4c9d" /><Relationship Type="http://schemas.openxmlformats.org/officeDocument/2006/relationships/notesSlide" Target="/ppt/notesSlides/notesSlide1.xml" Id="R59a904418efd4e8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d94cd7116384229" /><Relationship Type="http://schemas.openxmlformats.org/officeDocument/2006/relationships/notesSlide" Target="/ppt/notesSlides/notesSlide2.xml" Id="Rbde0601ba29c4d5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ab5d7f0fbec40a9" /><Relationship Type="http://schemas.openxmlformats.org/officeDocument/2006/relationships/notesSlide" Target="/ppt/notesSlides/notesSlide3.xml" Id="Ra5b77c181501444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1aacc673c164219" /><Relationship Type="http://schemas.openxmlformats.org/officeDocument/2006/relationships/notesSlide" Target="/ppt/notesSlides/notesSlide4.xml" Id="Rc5f160b05da14f1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e406d0ac2e14bd8" /><Relationship Type="http://schemas.openxmlformats.org/officeDocument/2006/relationships/notesSlide" Target="/ppt/notesSlides/notesSlide5.xml" Id="Refa7576f562342c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735c779eead4449" /><Relationship Type="http://schemas.openxmlformats.org/officeDocument/2006/relationships/image" Target="/ppt/media/image.png" Id="R7fd69095a86a4b37" /><Relationship Type="http://schemas.openxmlformats.org/officeDocument/2006/relationships/notesSlide" Target="/ppt/notesSlides/notesSlide6.xml" Id="R75bd21ffe9d1427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bd1ba2ec2264464" /><Relationship Type="http://schemas.openxmlformats.org/officeDocument/2006/relationships/notesSlide" Target="/ppt/notesSlides/notesSlide7.xml" Id="Rd52722b460b7492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7e1525c8e4c4960" /><Relationship Type="http://schemas.openxmlformats.org/officeDocument/2006/relationships/notesSlide" Target="/ppt/notesSlides/notesSlide8.xml" Id="Raa3456d396e7407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697c8a47bcf4b7c" /><Relationship Type="http://schemas.openxmlformats.org/officeDocument/2006/relationships/notesSlide" Target="/ppt/notesSlides/notesSlide9.xml" Id="Rccbd5dbaaabe496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e237261e6014c64" /><Relationship Type="http://schemas.openxmlformats.org/officeDocument/2006/relationships/notesSlide" Target="/ppt/notesSlides/notesSlide10.xml" Id="R6745cd70c45840b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089ff39508c45d0" /><Relationship Type="http://schemas.openxmlformats.org/officeDocument/2006/relationships/notesSlide" Target="/ppt/notesSlides/notesSlide11.xml" Id="R5805979ea3174ee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0a85b55d6734abb" /><Relationship Type="http://schemas.openxmlformats.org/officeDocument/2006/relationships/notesSlide" Target="/ppt/notesSlides/notesSlide12.xml" Id="R31d37a7f7ed849a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f7b5f6cf90b4c8f" /><Relationship Type="http://schemas.openxmlformats.org/officeDocument/2006/relationships/notesSlide" Target="/ppt/notesSlides/notesSlide13.xml" Id="Rf848690a26484dc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4ffc89cbd5745d4" /><Relationship Type="http://schemas.openxmlformats.org/officeDocument/2006/relationships/notesSlide" Target="/ppt/notesSlides/notesSlide14.xml" Id="R192c38f50f7b4bd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719fde43e4f4f18" /><Relationship Type="http://schemas.openxmlformats.org/officeDocument/2006/relationships/notesSlide" Target="/ppt/notesSlides/notesSlide15.xml" Id="Rf1122cd72309462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1d32dbc3b274bfc" /><Relationship Type="http://schemas.openxmlformats.org/officeDocument/2006/relationships/notesSlide" Target="/ppt/notesSlides/notesSlide16.xml" Id="Rba85ea3c912243a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9636da20acf4948" /><Relationship Type="http://schemas.openxmlformats.org/officeDocument/2006/relationships/notesSlide" Target="/ppt/notesSlides/notesSlide17.xml" Id="Rea404d6de5224e1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050b827877943d7" /><Relationship Type="http://schemas.openxmlformats.org/officeDocument/2006/relationships/notesSlide" Target="/ppt/notesSlides/notesSlide18.xml" Id="R2ea229ed665a44e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d33aa582bc844a7" /><Relationship Type="http://schemas.openxmlformats.org/officeDocument/2006/relationships/notesSlide" Target="/ppt/notesSlides/notesSlide19.xml" Id="Rf035b664406c4d2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0209b60996744da" /><Relationship Type="http://schemas.openxmlformats.org/officeDocument/2006/relationships/notesSlide" Target="/ppt/notesSlides/notesSlide20.xml" Id="R28f5021b34a748a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a859197b94524c0f" /><Relationship Type="http://schemas.openxmlformats.org/officeDocument/2006/relationships/notesSlide" Target="/ppt/notesSlides/notesSlide21.xml" Id="R719fceda67a246d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4b0d1feaf0054cd0" /><Relationship Type="http://schemas.openxmlformats.org/officeDocument/2006/relationships/notesSlide" Target="/ppt/notesSlides/notesSlide22.xml" Id="R70850bd6f7d1463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d35b8860eb724571" /><Relationship Type="http://schemas.openxmlformats.org/officeDocument/2006/relationships/notesSlide" Target="/ppt/notesSlides/notesSlide23.xml" Id="Rb08df1fddd3c4f8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6f434cd46b3e41a2" /><Relationship Type="http://schemas.openxmlformats.org/officeDocument/2006/relationships/notesSlide" Target="/ppt/notesSlides/notesSlide24.xml" Id="R060363d9bc7b415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7392aa25490b44e8" /><Relationship Type="http://schemas.openxmlformats.org/officeDocument/2006/relationships/image" Target="/ppt/media/image2.png" Id="R69918665ee9347b9" /><Relationship Type="http://schemas.openxmlformats.org/officeDocument/2006/relationships/notesSlide" Target="/ppt/notesSlides/notesSlide25.xml" Id="R90695ae600fe47c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0d7afb34d8954136" /><Relationship Type="http://schemas.openxmlformats.org/officeDocument/2006/relationships/notesSlide" Target="/ppt/notesSlides/notesSlide26.xml" Id="R3191b50a6f36465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8032f402817648b7" /><Relationship Type="http://schemas.openxmlformats.org/officeDocument/2006/relationships/notesSlide" Target="/ppt/notesSlides/notesSlide27.xml" Id="R8ff697f1f72049b9"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3bf6f0a7023f4995" /><Relationship Type="http://schemas.openxmlformats.org/officeDocument/2006/relationships/notesSlide" Target="/ppt/notesSlides/notesSlide28.xml" Id="R99081cb3548d403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9f6bcb819156419a" /><Relationship Type="http://schemas.openxmlformats.org/officeDocument/2006/relationships/notesSlide" Target="/ppt/notesSlides/notesSlide29.xml" Id="Rc583cb953c45418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d873790c648f41d7" /><Relationship Type="http://schemas.openxmlformats.org/officeDocument/2006/relationships/notesSlide" Target="/ppt/notesSlides/notesSlide30.xml" Id="Rca56fc68a1334f35"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bb152a8bab454d61" /><Relationship Type="http://schemas.openxmlformats.org/officeDocument/2006/relationships/notesSlide" Target="/ppt/notesSlides/notesSlide31.xml" Id="R5190fb6cf64e40a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a08a64d6ab5e4f20" /><Relationship Type="http://schemas.openxmlformats.org/officeDocument/2006/relationships/notesSlide" Target="/ppt/notesSlides/notesSlide32.xml" Id="R1d554392c152402b"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2dbf5b0108234c8a" /><Relationship Type="http://schemas.openxmlformats.org/officeDocument/2006/relationships/notesSlide" Target="/ppt/notesSlides/notesSlide33.xml" Id="R306179d4b27144ed"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345670934fcd4359" /><Relationship Type="http://schemas.openxmlformats.org/officeDocument/2006/relationships/notesSlide" Target="/ppt/notesSlides/notesSlide34.xml" Id="Rfa0ffa11b3a045da"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5c135437da674ecb" /><Relationship Type="http://schemas.openxmlformats.org/officeDocument/2006/relationships/notesSlide" Target="/ppt/notesSlides/notesSlide35.xml" Id="R6e6d76696f5541c2" /></Relationships>
</file>

<file path=ppt/slides/slide1.xml><?xml version="1.0" encoding="utf-8"?>
<p:sld xmlns:p="http://schemas.openxmlformats.org/presentationml/2006/main">
  <p:cSld>
    <p:bg>
      <p:bgPr>
        <a:solidFill xmlns:a="http://schemas.openxmlformats.org/drawingml/2006/main">
          <a:srgbClr val="17191C"/>
        </a:solidFill>
      </p:bgPr>
    </p:bg>
    <p:spTree>
      <p:nvGrpSpPr>
        <p:cNvPr id="1" name=""/>
        <p:cNvGrpSpPr/>
        <p:nvPr/>
      </p:nvGrpSpPr>
      <p:grpSpPr>
        <a:xfrm xmlns:a="http://schemas.openxmlformats.org/drawingml/2006/main"/>
      </p:grpSpPr>
      <p:sp>
        <p:nvSpPr>
          <p:cNvPr id="9" name="course-mark">
            <a:extLst xmlns:a="http://schemas.openxmlformats.org/drawingml/2006/main">
              <a:ext uri="{FF2B5EF4-FFF2-40B4-BE49-F238E27FC236}">
                <a16:creationId xmlns:a16="http://schemas.microsoft.com/office/drawing/2014/main" id="{19C6BB67-4CDE-45DF-B00A-13BDEAE5C17E}"/>
              </a:ext>
            </a:extLst>
          </p:cNvPr>
          <p:cNvSpPr>
            <a:spLocks xmlns:a="http://schemas.openxmlformats.org/drawingml/2006/main" noGrp="1"/>
          </p:cNvSpPr>
          <p:nvPr/>
        </p:nvSpPr>
        <p:spPr>
          <a:xfrm xmlns:a="http://schemas.openxmlformats.org/drawingml/2006/main">
            <a:off x="609600" y="45720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FFFFFF"/>
                </a:solidFill>
                <a:latin typeface="Arial"/>
                <a:ea typeface="Arial"/>
                <a:cs typeface="Arial"/>
              </a:defRPr>
            </a:pPr>
            <a:r>
              <a:rPr sz="1800" b="1">
                <a:solidFill>
                  <a:srgbClr val="FFFFFF"/>
                </a:solidFill>
                <a:latin typeface="Arial"/>
                <a:ea typeface="Arial"/>
                <a:cs typeface="Arial"/>
              </a:rPr>
              <a:t>&lt;&gt;  ARC 500</a:t>
            </a:r>
          </a:p>
        </p:txBody>
      </p:sp>
      <p:sp>
        <p:nvSpPr>
          <p:cNvPr id="2" name="course-full-title">
            <a:extLst xmlns:a="http://schemas.openxmlformats.org/drawingml/2006/main">
              <a:ext uri="{FF2B5EF4-FFF2-40B4-BE49-F238E27FC236}">
                <a16:creationId xmlns:a16="http://schemas.microsoft.com/office/drawing/2014/main" id="{9066C6ED-D6A5-4E9A-B0A7-677DB79C882C}"/>
              </a:ext>
            </a:extLst>
          </p:cNvPr>
          <p:cNvSpPr>
            <a:spLocks xmlns:a="http://schemas.openxmlformats.org/drawingml/2006/main" noGrp="1"/>
          </p:cNvSpPr>
          <p:nvPr/>
        </p:nvSpPr>
        <p:spPr>
          <a:xfrm xmlns:a="http://schemas.openxmlformats.org/drawingml/2006/main">
            <a:off x="609600" y="819150"/>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9AA1AC"/>
                </a:solidFill>
                <a:latin typeface="Arial"/>
                <a:ea typeface="Arial"/>
                <a:cs typeface="Arial"/>
              </a:defRPr>
            </a:pPr>
            <a:r>
              <a:rPr sz="900" b="0">
                <a:solidFill>
                  <a:srgbClr val="9AA1AC"/>
                </a:solidFill>
                <a:latin typeface="Arial"/>
                <a:ea typeface="Arial"/>
                <a:cs typeface="Arial"/>
              </a:rPr>
              <a:t>Programming with Python and Generative AI  ·  Scripting, Data Analysis, Visualization, Problem-Solving, and Optimization</a:t>
            </a:r>
          </a:p>
        </p:txBody>
      </p:sp>
      <p:sp>
        <p:nvSpPr>
          <p:cNvPr id="3" name="accent-bar">
            <a:extLst xmlns:a="http://schemas.openxmlformats.org/drawingml/2006/main">
              <a:ext uri="{FF2B5EF4-FFF2-40B4-BE49-F238E27FC236}">
                <a16:creationId xmlns:a16="http://schemas.microsoft.com/office/drawing/2014/main" id="{BDAC546A-E8A2-4AC2-B7A1-D56D17B22F13}"/>
              </a:ext>
            </a:extLst>
          </p:cNvPr>
          <p:cNvSpPr>
            <a:spLocks xmlns:a="http://schemas.openxmlformats.org/drawingml/2006/main" noGrp="1"/>
          </p:cNvSpPr>
          <p:nvPr/>
        </p:nvSpPr>
        <p:spPr>
          <a:xfrm xmlns:a="http://schemas.openxmlformats.org/drawingml/2006/main">
            <a:off x="609600" y="1333500"/>
            <a:ext cx="133350" cy="2857500"/>
          </a:xfrm>
          <a:prstGeom xmlns:a="http://schemas.openxmlformats.org/drawingml/2006/main" prst="rect">
            <a:avLst/>
          </a:prstGeom>
          <a:solidFill xmlns:a="http://schemas.openxmlformats.org/drawingml/2006/main">
            <a:srgbClr val="2E74B5"/>
          </a:solidFill>
          <a:ln xmlns:a="http://schemas.openxmlformats.org/drawingml/2006/main" w="0">
            <a:noFill/>
            <a:prstDash val="solid"/>
          </a:ln>
        </p:spPr>
      </p:sp>
      <p:sp>
        <p:nvSpPr>
          <p:cNvPr id="4" name="week-label">
            <a:extLst xmlns:a="http://schemas.openxmlformats.org/drawingml/2006/main">
              <a:ext uri="{FF2B5EF4-FFF2-40B4-BE49-F238E27FC236}">
                <a16:creationId xmlns:a16="http://schemas.microsoft.com/office/drawing/2014/main" id="{DA3AA3C3-B4E9-4A8E-914D-6875D65089B5}"/>
              </a:ext>
            </a:extLst>
          </p:cNvPr>
          <p:cNvSpPr>
            <a:spLocks xmlns:a="http://schemas.openxmlformats.org/drawingml/2006/main" noGrp="1"/>
          </p:cNvSpPr>
          <p:nvPr/>
        </p:nvSpPr>
        <p:spPr>
          <a:xfrm xmlns:a="http://schemas.openxmlformats.org/drawingml/2006/main">
            <a:off x="1028700" y="135255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E8EEF5"/>
                </a:solidFill>
                <a:latin typeface="Arial"/>
                <a:ea typeface="Arial"/>
                <a:cs typeface="Arial"/>
              </a:defRPr>
            </a:pPr>
            <a:r>
              <a:rPr sz="1200" b="1">
                <a:solidFill>
                  <a:srgbClr val="E8EEF5"/>
                </a:solidFill>
                <a:latin typeface="Arial"/>
                <a:ea typeface="Arial"/>
                <a:cs typeface="Arial"/>
              </a:rPr>
              <a:t>WEEK 5 · MEETING B · GROUPING AND OUTLIER STUDIO</a:t>
            </a:r>
          </a:p>
        </p:txBody>
      </p:sp>
      <p:sp>
        <p:nvSpPr>
          <p:cNvPr id="5" name="deck-title">
            <a:extLst xmlns:a="http://schemas.openxmlformats.org/drawingml/2006/main">
              <a:ext uri="{FF2B5EF4-FFF2-40B4-BE49-F238E27FC236}">
                <a16:creationId xmlns:a16="http://schemas.microsoft.com/office/drawing/2014/main" id="{D424C5BC-B27F-490D-AE52-B829B8C7C498}"/>
              </a:ext>
            </a:extLst>
          </p:cNvPr>
          <p:cNvSpPr>
            <a:spLocks xmlns:a="http://schemas.openxmlformats.org/drawingml/2006/main" noGrp="1"/>
          </p:cNvSpPr>
          <p:nvPr/>
        </p:nvSpPr>
        <p:spPr>
          <a:xfrm xmlns:a="http://schemas.openxmlformats.org/drawingml/2006/main">
            <a:off x="1028700" y="1771650"/>
            <a:ext cx="99060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4500" b="1">
                <a:solidFill>
                  <a:srgbClr val="FFFFFF"/>
                </a:solidFill>
                <a:latin typeface="Arial"/>
                <a:ea typeface="Arial"/>
                <a:cs typeface="Arial"/>
              </a:defRPr>
            </a:pPr>
            <a:r>
              <a:rPr sz="4500" b="1">
                <a:solidFill>
                  <a:srgbClr val="FFFFFF"/>
                </a:solidFill>
                <a:latin typeface="Arial"/>
                <a:ea typeface="Arial"/>
                <a:cs typeface="Arial"/>
              </a:rPr>
              <a:t>Build a grouped, outlier-audited evidence table</a:t>
            </a:r>
          </a:p>
        </p:txBody>
      </p:sp>
      <p:sp>
        <p:nvSpPr>
          <p:cNvPr id="6" name="deck-subtitle">
            <a:extLst xmlns:a="http://schemas.openxmlformats.org/drawingml/2006/main">
              <a:ext uri="{FF2B5EF4-FFF2-40B4-BE49-F238E27FC236}">
                <a16:creationId xmlns:a16="http://schemas.microsoft.com/office/drawing/2014/main" id="{0A2AF8A6-1DBF-4B47-A10D-CFBB19F59EC8}"/>
              </a:ext>
            </a:extLst>
          </p:cNvPr>
          <p:cNvSpPr>
            <a:spLocks xmlns:a="http://schemas.openxmlformats.org/drawingml/2006/main" noGrp="1"/>
          </p:cNvSpPr>
          <p:nvPr/>
        </p:nvSpPr>
        <p:spPr>
          <a:xfrm xmlns:a="http://schemas.openxmlformats.org/drawingml/2006/main">
            <a:off x="1028700" y="3848100"/>
            <a:ext cx="9144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D7D9DC"/>
                </a:solidFill>
                <a:latin typeface="Arial"/>
                <a:ea typeface="Arial"/>
                <a:cs typeface="Arial"/>
              </a:defRPr>
            </a:pPr>
            <a:r>
              <a:rPr sz="2100" b="0">
                <a:solidFill>
                  <a:srgbClr val="D7D9DC"/>
                </a:solidFill>
                <a:latin typeface="Arial"/>
                <a:ea typeface="Arial"/>
                <a:cs typeface="Arial"/>
              </a:rPr>
              <a:t>Meeting B · groupby(), .agg(), dual-rule outlier flags, and your Project 1 checkpoint</a:t>
            </a:r>
          </a:p>
        </p:txBody>
      </p:sp>
      <p:sp>
        <p:nvSpPr>
          <p:cNvPr id="7" name="">
            <a:extLst xmlns:a="http://schemas.openxmlformats.org/drawingml/2006/main">
              <a:ext uri="{FF2B5EF4-FFF2-40B4-BE49-F238E27FC236}">
                <a16:creationId xmlns:a16="http://schemas.microsoft.com/office/drawing/2014/main" id="{7A32858A-8EE2-41C4-B771-B80E9C58D19D}"/>
              </a:ext>
            </a:extLst>
          </p:cNvPr>
          <p:cNvSpPr>
            <a:spLocks xmlns:a="http://schemas.openxmlformats.org/drawingml/2006/main" noGrp="1"/>
          </p:cNvSpPr>
          <p:nvPr/>
        </p:nvSpPr>
        <p:spPr>
          <a:xfrm xmlns:a="http://schemas.openxmlformats.org/drawingml/2006/main">
            <a:off x="1028700" y="5295900"/>
            <a:ext cx="2476500" cy="0"/>
          </a:xfrm>
          <a:prstGeom xmlns:a="http://schemas.openxmlformats.org/drawingml/2006/main" prst="line">
            <a:avLst/>
          </a:prstGeom>
          <a:noFill xmlns:a="http://schemas.openxmlformats.org/drawingml/2006/main"/>
          <a:ln xmlns:a="http://schemas.openxmlformats.org/drawingml/2006/main" w="9525">
            <a:solidFill>
              <a:srgbClr val="FFFFFF"/>
            </a:solidFill>
            <a:prstDash val="solid"/>
          </a:ln>
        </p:spPr>
      </p:sp>
      <p:sp>
        <p:nvSpPr>
          <p:cNvPr id="8" name="instructor">
            <a:extLst xmlns:a="http://schemas.openxmlformats.org/drawingml/2006/main">
              <a:ext uri="{FF2B5EF4-FFF2-40B4-BE49-F238E27FC236}">
                <a16:creationId xmlns:a16="http://schemas.microsoft.com/office/drawing/2014/main" id="{F9D15621-CBC7-4485-BC0B-865D441D968E}"/>
              </a:ext>
            </a:extLst>
          </p:cNvPr>
          <p:cNvSpPr>
            <a:spLocks xmlns:a="http://schemas.openxmlformats.org/drawingml/2006/main" noGrp="1"/>
          </p:cNvSpPr>
          <p:nvPr/>
        </p:nvSpPr>
        <p:spPr>
          <a:xfrm xmlns:a="http://schemas.openxmlformats.org/drawingml/2006/main">
            <a:off x="1028700" y="552450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0">
                <a:solidFill>
                  <a:srgbClr val="D7D9DC"/>
                </a:solidFill>
                <a:latin typeface="Arial"/>
                <a:ea typeface="Arial"/>
                <a:cs typeface="Arial"/>
              </a:defRPr>
            </a:pPr>
            <a:r>
              <a:rPr sz="1200" b="0">
                <a:solidFill>
                  <a:srgbClr val="D7D9DC"/>
                </a:solidFill>
                <a:latin typeface="Arial"/>
                <a:ea typeface="Arial"/>
                <a:cs typeface="Arial"/>
              </a:rPr>
              <a:t>JunHo Chun, PhD  ·  School of Architecture  ·  Syracuse University  ·  Fall 2026</a:t>
            </a:r>
          </a:p>
        </p:txBody>
      </p:sp>
    </p:spTree>
    <p:extLst>
      <p:ext uri="{BB962C8B-B14F-4D97-AF65-F5344CB8AC3E}">
        <p14:creationId xmlns:p14="http://schemas.microsoft.com/office/powerpoint/2010/main" val="76890522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kicker">
            <a:extLst xmlns:a="http://schemas.openxmlformats.org/drawingml/2006/main">
              <a:ext uri="{FF2B5EF4-FFF2-40B4-BE49-F238E27FC236}">
                <a16:creationId xmlns:a16="http://schemas.microsoft.com/office/drawing/2014/main" id="{C512875C-3829-4DD0-81C6-5B1786055D91}"/>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LEARNING OUTCOMES</a:t>
            </a:r>
          </a:p>
        </p:txBody>
      </p:sp>
      <p:sp>
        <p:nvSpPr>
          <p:cNvPr id="2" name="title">
            <a:extLst xmlns:a="http://schemas.openxmlformats.org/drawingml/2006/main">
              <a:ext uri="{FF2B5EF4-FFF2-40B4-BE49-F238E27FC236}">
                <a16:creationId xmlns:a16="http://schemas.microsoft.com/office/drawing/2014/main" id="{B8338D94-6241-4E18-BC97-DDC137C06929}"/>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By the end, you should be able to…</a:t>
            </a:r>
          </a:p>
        </p:txBody>
      </p:sp>
      <p:sp>
        <p:nvSpPr>
          <p:cNvPr id="3" name="">
            <a:extLst xmlns:a="http://schemas.openxmlformats.org/drawingml/2006/main">
              <a:ext uri="{FF2B5EF4-FFF2-40B4-BE49-F238E27FC236}">
                <a16:creationId xmlns:a16="http://schemas.microsoft.com/office/drawing/2014/main" id="{4953DD40-4681-4CBC-9A9C-017379A9CAA2}"/>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4F2AC719-4FA6-4C76-90C0-8EAE4C6D536E}"/>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5 · Meeting B · Grouping and Outlier Studio</a:t>
            </a:r>
          </a:p>
        </p:txBody>
      </p:sp>
      <p:sp>
        <p:nvSpPr>
          <p:cNvPr id="5" name="page">
            <a:extLst xmlns:a="http://schemas.openxmlformats.org/drawingml/2006/main">
              <a:ext uri="{FF2B5EF4-FFF2-40B4-BE49-F238E27FC236}">
                <a16:creationId xmlns:a16="http://schemas.microsoft.com/office/drawing/2014/main" id="{2926E192-00DD-4BBD-82AC-4143FFC185D2}"/>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02</a:t>
            </a:r>
          </a:p>
        </p:txBody>
      </p:sp>
      <p:sp>
        <p:nvSpPr>
          <p:cNvPr id="6" name="outcome-number-0">
            <a:extLst xmlns:a="http://schemas.openxmlformats.org/drawingml/2006/main">
              <a:ext uri="{FF2B5EF4-FFF2-40B4-BE49-F238E27FC236}">
                <a16:creationId xmlns:a16="http://schemas.microsoft.com/office/drawing/2014/main" id="{3BF3522C-BFC9-471B-A1C2-5845095AACB9}"/>
              </a:ext>
            </a:extLst>
          </p:cNvPr>
          <p:cNvSpPr>
            <a:spLocks xmlns:a="http://schemas.openxmlformats.org/drawingml/2006/main" noGrp="1"/>
          </p:cNvSpPr>
          <p:nvPr/>
        </p:nvSpPr>
        <p:spPr>
          <a:xfrm xmlns:a="http://schemas.openxmlformats.org/drawingml/2006/main">
            <a:off x="609600" y="188595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1">
                <a:solidFill>
                  <a:srgbClr val="2E74B5"/>
                </a:solidFill>
                <a:latin typeface="Arial"/>
                <a:ea typeface="Arial"/>
                <a:cs typeface="Arial"/>
              </a:defRPr>
            </a:pPr>
            <a:r>
              <a:rPr sz="3000" b="1">
                <a:solidFill>
                  <a:srgbClr val="2E74B5"/>
                </a:solidFill>
                <a:latin typeface="Arial"/>
                <a:ea typeface="Arial"/>
                <a:cs typeface="Arial"/>
              </a:rPr>
              <a:t>1</a:t>
            </a:r>
          </a:p>
        </p:txBody>
      </p:sp>
      <p:sp>
        <p:nvSpPr>
          <p:cNvPr id="7" name="outcome-head-0">
            <a:extLst xmlns:a="http://schemas.openxmlformats.org/drawingml/2006/main">
              <a:ext uri="{FF2B5EF4-FFF2-40B4-BE49-F238E27FC236}">
                <a16:creationId xmlns:a16="http://schemas.microsoft.com/office/drawing/2014/main" id="{E814BA18-A1B3-4F06-A454-8ADAF9465BCE}"/>
              </a:ext>
            </a:extLst>
          </p:cNvPr>
          <p:cNvSpPr>
            <a:spLocks xmlns:a="http://schemas.openxmlformats.org/drawingml/2006/main" noGrp="1"/>
          </p:cNvSpPr>
          <p:nvPr/>
        </p:nvSpPr>
        <p:spPr>
          <a:xfrm xmlns:a="http://schemas.openxmlformats.org/drawingml/2006/main">
            <a:off x="1200150" y="1905000"/>
            <a:ext cx="449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Group and rank</a:t>
            </a:r>
          </a:p>
        </p:txBody>
      </p:sp>
      <p:sp>
        <p:nvSpPr>
          <p:cNvPr id="8" name="outcome-body-0">
            <a:extLst xmlns:a="http://schemas.openxmlformats.org/drawingml/2006/main">
              <a:ext uri="{FF2B5EF4-FFF2-40B4-BE49-F238E27FC236}">
                <a16:creationId xmlns:a16="http://schemas.microsoft.com/office/drawing/2014/main" id="{F2C82A70-D2EC-4D70-865B-35F8E3436612}"/>
              </a:ext>
            </a:extLst>
          </p:cNvPr>
          <p:cNvSpPr>
            <a:spLocks xmlns:a="http://schemas.openxmlformats.org/drawingml/2006/main" noGrp="1"/>
          </p:cNvSpPr>
          <p:nvPr/>
        </p:nvSpPr>
        <p:spPr>
          <a:xfrm xmlns:a="http://schemas.openxmlformats.org/drawingml/2006/main">
            <a:off x="1200150" y="2400300"/>
            <a:ext cx="46291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Group Radley Hall rooms by zone and by room_type, produce multiple aggregations, and sort the result.</a:t>
            </a:r>
          </a:p>
        </p:txBody>
      </p:sp>
      <p:sp>
        <p:nvSpPr>
          <p:cNvPr id="9" name="outcome-number-1">
            <a:extLst xmlns:a="http://schemas.openxmlformats.org/drawingml/2006/main">
              <a:ext uri="{FF2B5EF4-FFF2-40B4-BE49-F238E27FC236}">
                <a16:creationId xmlns:a16="http://schemas.microsoft.com/office/drawing/2014/main" id="{96012C18-D922-4F7F-B255-CC00D88D05EC}"/>
              </a:ext>
            </a:extLst>
          </p:cNvPr>
          <p:cNvSpPr>
            <a:spLocks xmlns:a="http://schemas.openxmlformats.org/drawingml/2006/main" noGrp="1"/>
          </p:cNvSpPr>
          <p:nvPr/>
        </p:nvSpPr>
        <p:spPr>
          <a:xfrm xmlns:a="http://schemas.openxmlformats.org/drawingml/2006/main">
            <a:off x="6362700" y="188595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1">
                <a:solidFill>
                  <a:srgbClr val="2E74B5"/>
                </a:solidFill>
                <a:latin typeface="Arial"/>
                <a:ea typeface="Arial"/>
                <a:cs typeface="Arial"/>
              </a:defRPr>
            </a:pPr>
            <a:r>
              <a:rPr sz="3000" b="1">
                <a:solidFill>
                  <a:srgbClr val="2E74B5"/>
                </a:solidFill>
                <a:latin typeface="Arial"/>
                <a:ea typeface="Arial"/>
                <a:cs typeface="Arial"/>
              </a:rPr>
              <a:t>2</a:t>
            </a:r>
          </a:p>
        </p:txBody>
      </p:sp>
      <p:sp>
        <p:nvSpPr>
          <p:cNvPr id="10" name="outcome-head-1">
            <a:extLst xmlns:a="http://schemas.openxmlformats.org/drawingml/2006/main">
              <a:ext uri="{FF2B5EF4-FFF2-40B4-BE49-F238E27FC236}">
                <a16:creationId xmlns:a16="http://schemas.microsoft.com/office/drawing/2014/main" id="{8B0D2AE8-EF06-48C9-BD37-F558AED234B3}"/>
              </a:ext>
            </a:extLst>
          </p:cNvPr>
          <p:cNvSpPr>
            <a:spLocks xmlns:a="http://schemas.openxmlformats.org/drawingml/2006/main" noGrp="1"/>
          </p:cNvSpPr>
          <p:nvPr/>
        </p:nvSpPr>
        <p:spPr>
          <a:xfrm xmlns:a="http://schemas.openxmlformats.org/drawingml/2006/main">
            <a:off x="6953250" y="1905000"/>
            <a:ext cx="449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Flag, both ways</a:t>
            </a:r>
          </a:p>
        </p:txBody>
      </p:sp>
      <p:sp>
        <p:nvSpPr>
          <p:cNvPr id="11" name="outcome-body-1">
            <a:extLst xmlns:a="http://schemas.openxmlformats.org/drawingml/2006/main">
              <a:ext uri="{FF2B5EF4-FFF2-40B4-BE49-F238E27FC236}">
                <a16:creationId xmlns:a16="http://schemas.microsoft.com/office/drawing/2014/main" id="{3E4F08CA-AD18-409A-995C-DDFD8F83F239}"/>
              </a:ext>
            </a:extLst>
          </p:cNvPr>
          <p:cNvSpPr>
            <a:spLocks xmlns:a="http://schemas.openxmlformats.org/drawingml/2006/main" noGrp="1"/>
          </p:cNvSpPr>
          <p:nvPr/>
        </p:nvSpPr>
        <p:spPr>
          <a:xfrm xmlns:a="http://schemas.openxmlformats.org/drawingml/2006/main">
            <a:off x="6953250" y="2400300"/>
            <a:ext cx="46291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Write and apply an IQR-rule function and a z-score-rule function to the same column.</a:t>
            </a:r>
          </a:p>
        </p:txBody>
      </p:sp>
      <p:sp>
        <p:nvSpPr>
          <p:cNvPr id="12" name="outcome-number-2">
            <a:extLst xmlns:a="http://schemas.openxmlformats.org/drawingml/2006/main">
              <a:ext uri="{FF2B5EF4-FFF2-40B4-BE49-F238E27FC236}">
                <a16:creationId xmlns:a16="http://schemas.microsoft.com/office/drawing/2014/main" id="{0C330736-1450-4AE1-89E0-7BFF77847D3F}"/>
              </a:ext>
            </a:extLst>
          </p:cNvPr>
          <p:cNvSpPr>
            <a:spLocks xmlns:a="http://schemas.openxmlformats.org/drawingml/2006/main" noGrp="1"/>
          </p:cNvSpPr>
          <p:nvPr/>
        </p:nvSpPr>
        <p:spPr>
          <a:xfrm xmlns:a="http://schemas.openxmlformats.org/drawingml/2006/main">
            <a:off x="609600" y="409575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1">
                <a:solidFill>
                  <a:srgbClr val="2E74B5"/>
                </a:solidFill>
                <a:latin typeface="Arial"/>
                <a:ea typeface="Arial"/>
                <a:cs typeface="Arial"/>
              </a:defRPr>
            </a:pPr>
            <a:r>
              <a:rPr sz="3000" b="1">
                <a:solidFill>
                  <a:srgbClr val="2E74B5"/>
                </a:solidFill>
                <a:latin typeface="Arial"/>
                <a:ea typeface="Arial"/>
                <a:cs typeface="Arial"/>
              </a:rPr>
              <a:t>3</a:t>
            </a:r>
          </a:p>
        </p:txBody>
      </p:sp>
      <p:sp>
        <p:nvSpPr>
          <p:cNvPr id="13" name="outcome-head-2">
            <a:extLst xmlns:a="http://schemas.openxmlformats.org/drawingml/2006/main">
              <a:ext uri="{FF2B5EF4-FFF2-40B4-BE49-F238E27FC236}">
                <a16:creationId xmlns:a16="http://schemas.microsoft.com/office/drawing/2014/main" id="{1DE5F533-67AB-4F30-81A3-3854917E422F}"/>
              </a:ext>
            </a:extLst>
          </p:cNvPr>
          <p:cNvSpPr>
            <a:spLocks xmlns:a="http://schemas.openxmlformats.org/drawingml/2006/main" noGrp="1"/>
          </p:cNvSpPr>
          <p:nvPr/>
        </p:nvSpPr>
        <p:spPr>
          <a:xfrm xmlns:a="http://schemas.openxmlformats.org/drawingml/2006/main">
            <a:off x="1200150" y="4114800"/>
            <a:ext cx="449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Decide, in writing</a:t>
            </a:r>
          </a:p>
        </p:txBody>
      </p:sp>
      <p:sp>
        <p:nvSpPr>
          <p:cNvPr id="14" name="outcome-body-2">
            <a:extLst xmlns:a="http://schemas.openxmlformats.org/drawingml/2006/main">
              <a:ext uri="{FF2B5EF4-FFF2-40B4-BE49-F238E27FC236}">
                <a16:creationId xmlns:a16="http://schemas.microsoft.com/office/drawing/2014/main" id="{ADA98CE3-0C6E-417B-8A6C-E9639F377632}"/>
              </a:ext>
            </a:extLst>
          </p:cNvPr>
          <p:cNvSpPr>
            <a:spLocks xmlns:a="http://schemas.openxmlformats.org/drawingml/2006/main" noGrp="1"/>
          </p:cNvSpPr>
          <p:nvPr/>
        </p:nvSpPr>
        <p:spPr>
          <a:xfrm xmlns:a="http://schemas.openxmlformats.org/drawingml/2006/main">
            <a:off x="1200150" y="4610100"/>
            <a:ext cx="46291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Write a keep / investigate / exclude sentence for every flagged row, naming which explanation applies.</a:t>
            </a:r>
          </a:p>
        </p:txBody>
      </p:sp>
      <p:sp>
        <p:nvSpPr>
          <p:cNvPr id="15" name="outcome-number-3">
            <a:extLst xmlns:a="http://schemas.openxmlformats.org/drawingml/2006/main">
              <a:ext uri="{FF2B5EF4-FFF2-40B4-BE49-F238E27FC236}">
                <a16:creationId xmlns:a16="http://schemas.microsoft.com/office/drawing/2014/main" id="{034BAD83-1D7B-4C9B-8181-89824B10BA7E}"/>
              </a:ext>
            </a:extLst>
          </p:cNvPr>
          <p:cNvSpPr>
            <a:spLocks xmlns:a="http://schemas.openxmlformats.org/drawingml/2006/main" noGrp="1"/>
          </p:cNvSpPr>
          <p:nvPr/>
        </p:nvSpPr>
        <p:spPr>
          <a:xfrm xmlns:a="http://schemas.openxmlformats.org/drawingml/2006/main">
            <a:off x="6362700" y="409575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1">
                <a:solidFill>
                  <a:srgbClr val="2E74B5"/>
                </a:solidFill>
                <a:latin typeface="Arial"/>
                <a:ea typeface="Arial"/>
                <a:cs typeface="Arial"/>
              </a:defRPr>
            </a:pPr>
            <a:r>
              <a:rPr sz="3000" b="1">
                <a:solidFill>
                  <a:srgbClr val="2E74B5"/>
                </a:solidFill>
                <a:latin typeface="Arial"/>
                <a:ea typeface="Arial"/>
                <a:cs typeface="Arial"/>
              </a:rPr>
              <a:t>4</a:t>
            </a:r>
          </a:p>
        </p:txBody>
      </p:sp>
      <p:sp>
        <p:nvSpPr>
          <p:cNvPr id="16" name="outcome-head-3">
            <a:extLst xmlns:a="http://schemas.openxmlformats.org/drawingml/2006/main">
              <a:ext uri="{FF2B5EF4-FFF2-40B4-BE49-F238E27FC236}">
                <a16:creationId xmlns:a16="http://schemas.microsoft.com/office/drawing/2014/main" id="{D18FD5FE-2C0F-455E-ABE4-0C22685A2D75}"/>
              </a:ext>
            </a:extLst>
          </p:cNvPr>
          <p:cNvSpPr>
            <a:spLocks xmlns:a="http://schemas.openxmlformats.org/drawingml/2006/main" noGrp="1"/>
          </p:cNvSpPr>
          <p:nvPr/>
        </p:nvSpPr>
        <p:spPr>
          <a:xfrm xmlns:a="http://schemas.openxmlformats.org/drawingml/2006/main">
            <a:off x="6953250" y="4114800"/>
            <a:ext cx="449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Transfer</a:t>
            </a:r>
          </a:p>
        </p:txBody>
      </p:sp>
      <p:sp>
        <p:nvSpPr>
          <p:cNvPr id="17" name="outcome-body-3">
            <a:extLst xmlns:a="http://schemas.openxmlformats.org/drawingml/2006/main">
              <a:ext uri="{FF2B5EF4-FFF2-40B4-BE49-F238E27FC236}">
                <a16:creationId xmlns:a16="http://schemas.microsoft.com/office/drawing/2014/main" id="{8B030588-7BC4-4CA0-84B3-68666AA6E9F2}"/>
              </a:ext>
            </a:extLst>
          </p:cNvPr>
          <p:cNvSpPr>
            <a:spLocks xmlns:a="http://schemas.openxmlformats.org/drawingml/2006/main" noGrp="1"/>
          </p:cNvSpPr>
          <p:nvPr/>
        </p:nvSpPr>
        <p:spPr>
          <a:xfrm xmlns:a="http://schemas.openxmlformats.org/drawingml/2006/main">
            <a:off x="6953250" y="4610100"/>
            <a:ext cx="46291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Apply the same two functions to a different column, then to your own Project 1 dataset, with self-written assert checks.</a:t>
            </a:r>
          </a:p>
        </p:txBody>
      </p:sp>
    </p:spTree>
    <p:extLst>
      <p:ext uri="{BB962C8B-B14F-4D97-AF65-F5344CB8AC3E}">
        <p14:creationId xmlns:p14="http://schemas.microsoft.com/office/powerpoint/2010/main" val="163943577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kicker">
            <a:extLst xmlns:a="http://schemas.openxmlformats.org/drawingml/2006/main">
              <a:ext uri="{FF2B5EF4-FFF2-40B4-BE49-F238E27FC236}">
                <a16:creationId xmlns:a16="http://schemas.microsoft.com/office/drawing/2014/main" id="{14EE7C64-B8AD-4083-A010-65C13B61B6FB}"/>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ROAD MAP</a:t>
            </a:r>
          </a:p>
        </p:txBody>
      </p:sp>
      <p:sp>
        <p:nvSpPr>
          <p:cNvPr id="2" name="title">
            <a:extLst xmlns:a="http://schemas.openxmlformats.org/drawingml/2006/main">
              <a:ext uri="{FF2B5EF4-FFF2-40B4-BE49-F238E27FC236}">
                <a16:creationId xmlns:a16="http://schemas.microsoft.com/office/drawing/2014/main" id="{9DC8A157-3F15-45CE-B1F2-939E57DBFD92}"/>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Today’s learning sequence</a:t>
            </a:r>
          </a:p>
        </p:txBody>
      </p:sp>
      <p:sp>
        <p:nvSpPr>
          <p:cNvPr id="3" name="">
            <a:extLst xmlns:a="http://schemas.openxmlformats.org/drawingml/2006/main">
              <a:ext uri="{FF2B5EF4-FFF2-40B4-BE49-F238E27FC236}">
                <a16:creationId xmlns:a16="http://schemas.microsoft.com/office/drawing/2014/main" id="{7CD6BF83-10AD-4188-88B2-C6F972BD44EE}"/>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319FC783-BFF0-43EB-92B7-89150CD63DD3}"/>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5 · Meeting B · Grouping and Outlier Studio</a:t>
            </a:r>
          </a:p>
        </p:txBody>
      </p:sp>
      <p:sp>
        <p:nvSpPr>
          <p:cNvPr id="5" name="page">
            <a:extLst xmlns:a="http://schemas.openxmlformats.org/drawingml/2006/main">
              <a:ext uri="{FF2B5EF4-FFF2-40B4-BE49-F238E27FC236}">
                <a16:creationId xmlns:a16="http://schemas.microsoft.com/office/drawing/2014/main" id="{50C4A4BA-9881-4113-BD4E-728A61F1AEF8}"/>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03</a:t>
            </a:r>
          </a:p>
        </p:txBody>
      </p:sp>
      <p:sp>
        <p:nvSpPr>
          <p:cNvPr id="6" name="agenda-no-0">
            <a:extLst xmlns:a="http://schemas.openxmlformats.org/drawingml/2006/main">
              <a:ext uri="{FF2B5EF4-FFF2-40B4-BE49-F238E27FC236}">
                <a16:creationId xmlns:a16="http://schemas.microsoft.com/office/drawing/2014/main" id="{4F715B56-B24F-4C2C-8B75-7BEFC3DB3AFB}"/>
              </a:ext>
            </a:extLst>
          </p:cNvPr>
          <p:cNvSpPr>
            <a:spLocks xmlns:a="http://schemas.openxmlformats.org/drawingml/2006/main" noGrp="1"/>
          </p:cNvSpPr>
          <p:nvPr/>
        </p:nvSpPr>
        <p:spPr>
          <a:xfrm xmlns:a="http://schemas.openxmlformats.org/drawingml/2006/main">
            <a:off x="609600" y="2200275"/>
            <a:ext cx="59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B822181E-AFB5-47EF-A21C-A78D9989521E}"/>
              </a:ext>
            </a:extLst>
          </p:cNvPr>
          <p:cNvSpPr>
            <a:spLocks xmlns:a="http://schemas.openxmlformats.org/drawingml/2006/main" noGrp="1"/>
          </p:cNvSpPr>
          <p:nvPr/>
        </p:nvSpPr>
        <p:spPr>
          <a:xfrm xmlns:a="http://schemas.openxmlformats.org/drawingml/2006/main">
            <a:off x="1314450" y="2352675"/>
            <a:ext cx="74295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8" name="agenda-item-0">
            <a:extLst xmlns:a="http://schemas.openxmlformats.org/drawingml/2006/main">
              <a:ext uri="{FF2B5EF4-FFF2-40B4-BE49-F238E27FC236}">
                <a16:creationId xmlns:a16="http://schemas.microsoft.com/office/drawing/2014/main" id="{EFAE37AD-7561-47EB-AAFA-A7DE2A522D4A}"/>
              </a:ext>
            </a:extLst>
          </p:cNvPr>
          <p:cNvSpPr>
            <a:spLocks xmlns:a="http://schemas.openxmlformats.org/drawingml/2006/main" noGrp="1"/>
          </p:cNvSpPr>
          <p:nvPr/>
        </p:nvSpPr>
        <p:spPr>
          <a:xfrm xmlns:a="http://schemas.openxmlformats.org/drawingml/2006/main">
            <a:off x="2381250" y="2143125"/>
            <a:ext cx="9201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111316"/>
                </a:solidFill>
                <a:latin typeface="Arial"/>
                <a:ea typeface="Arial"/>
                <a:cs typeface="Arial"/>
              </a:defRPr>
            </a:pPr>
            <a:r>
              <a:rPr sz="2100" b="0">
                <a:solidFill>
                  <a:srgbClr val="111316"/>
                </a:solidFill>
                <a:latin typeface="Arial"/>
                <a:ea typeface="Arial"/>
                <a:cs typeface="Arial"/>
              </a:rPr>
              <a:t>Recall the grammar: group, aggregate, sort</a:t>
            </a:r>
          </a:p>
        </p:txBody>
      </p:sp>
      <p:sp>
        <p:nvSpPr>
          <p:cNvPr id="9" name="agenda-no-1">
            <a:extLst xmlns:a="http://schemas.openxmlformats.org/drawingml/2006/main">
              <a:ext uri="{FF2B5EF4-FFF2-40B4-BE49-F238E27FC236}">
                <a16:creationId xmlns:a16="http://schemas.microsoft.com/office/drawing/2014/main" id="{0F1752F4-A29A-4350-8806-7CEC217AAD13}"/>
              </a:ext>
            </a:extLst>
          </p:cNvPr>
          <p:cNvSpPr>
            <a:spLocks xmlns:a="http://schemas.openxmlformats.org/drawingml/2006/main" noGrp="1"/>
          </p:cNvSpPr>
          <p:nvPr/>
        </p:nvSpPr>
        <p:spPr>
          <a:xfrm xmlns:a="http://schemas.openxmlformats.org/drawingml/2006/main">
            <a:off x="609600" y="3114675"/>
            <a:ext cx="59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9CBC5C7B-8B28-4ACC-9375-FC0C343B10FF}"/>
              </a:ext>
            </a:extLst>
          </p:cNvPr>
          <p:cNvSpPr>
            <a:spLocks xmlns:a="http://schemas.openxmlformats.org/drawingml/2006/main" noGrp="1"/>
          </p:cNvSpPr>
          <p:nvPr/>
        </p:nvSpPr>
        <p:spPr>
          <a:xfrm xmlns:a="http://schemas.openxmlformats.org/drawingml/2006/main">
            <a:off x="1314450" y="3267075"/>
            <a:ext cx="74295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11" name="agenda-item-1">
            <a:extLst xmlns:a="http://schemas.openxmlformats.org/drawingml/2006/main">
              <a:ext uri="{FF2B5EF4-FFF2-40B4-BE49-F238E27FC236}">
                <a16:creationId xmlns:a16="http://schemas.microsoft.com/office/drawing/2014/main" id="{2F5B3A73-5EF1-41C2-97D8-8A1542D4FD4A}"/>
              </a:ext>
            </a:extLst>
          </p:cNvPr>
          <p:cNvSpPr>
            <a:spLocks xmlns:a="http://schemas.openxmlformats.org/drawingml/2006/main" noGrp="1"/>
          </p:cNvSpPr>
          <p:nvPr/>
        </p:nvSpPr>
        <p:spPr>
          <a:xfrm xmlns:a="http://schemas.openxmlformats.org/drawingml/2006/main">
            <a:off x="2381250" y="3057525"/>
            <a:ext cx="9201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111316"/>
                </a:solidFill>
                <a:latin typeface="Arial"/>
                <a:ea typeface="Arial"/>
                <a:cs typeface="Arial"/>
              </a:defRPr>
            </a:pPr>
            <a:r>
              <a:rPr sz="2100" b="0">
                <a:solidFill>
                  <a:srgbClr val="111316"/>
                </a:solidFill>
                <a:latin typeface="Arial"/>
                <a:ea typeface="Arial"/>
                <a:cs typeface="Arial"/>
              </a:rPr>
              <a:t>Write and apply both outlier-flag functions</a:t>
            </a:r>
          </a:p>
        </p:txBody>
      </p:sp>
      <p:sp>
        <p:nvSpPr>
          <p:cNvPr id="12" name="agenda-no-2">
            <a:extLst xmlns:a="http://schemas.openxmlformats.org/drawingml/2006/main">
              <a:ext uri="{FF2B5EF4-FFF2-40B4-BE49-F238E27FC236}">
                <a16:creationId xmlns:a16="http://schemas.microsoft.com/office/drawing/2014/main" id="{097CF59A-2BEF-46F5-B048-D405F3FEE662}"/>
              </a:ext>
            </a:extLst>
          </p:cNvPr>
          <p:cNvSpPr>
            <a:spLocks xmlns:a="http://schemas.openxmlformats.org/drawingml/2006/main" noGrp="1"/>
          </p:cNvSpPr>
          <p:nvPr/>
        </p:nvSpPr>
        <p:spPr>
          <a:xfrm xmlns:a="http://schemas.openxmlformats.org/drawingml/2006/main">
            <a:off x="609600" y="4029075"/>
            <a:ext cx="59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AE493611-9F8B-48E6-B6F5-1893F6E6EE8C}"/>
              </a:ext>
            </a:extLst>
          </p:cNvPr>
          <p:cNvSpPr>
            <a:spLocks xmlns:a="http://schemas.openxmlformats.org/drawingml/2006/main" noGrp="1"/>
          </p:cNvSpPr>
          <p:nvPr/>
        </p:nvSpPr>
        <p:spPr>
          <a:xfrm xmlns:a="http://schemas.openxmlformats.org/drawingml/2006/main">
            <a:off x="1314450" y="4181475"/>
            <a:ext cx="74295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14" name="agenda-item-2">
            <a:extLst xmlns:a="http://schemas.openxmlformats.org/drawingml/2006/main">
              <a:ext uri="{FF2B5EF4-FFF2-40B4-BE49-F238E27FC236}">
                <a16:creationId xmlns:a16="http://schemas.microsoft.com/office/drawing/2014/main" id="{2811BCE7-A05E-4479-8A82-E1F0C0C8FD0C}"/>
              </a:ext>
            </a:extLst>
          </p:cNvPr>
          <p:cNvSpPr>
            <a:spLocks xmlns:a="http://schemas.openxmlformats.org/drawingml/2006/main" noGrp="1"/>
          </p:cNvSpPr>
          <p:nvPr/>
        </p:nvSpPr>
        <p:spPr>
          <a:xfrm xmlns:a="http://schemas.openxmlformats.org/drawingml/2006/main">
            <a:off x="2381250" y="3971925"/>
            <a:ext cx="9201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111316"/>
                </a:solidFill>
                <a:latin typeface="Arial"/>
                <a:ea typeface="Arial"/>
                <a:cs typeface="Arial"/>
              </a:defRPr>
            </a:pPr>
            <a:r>
              <a:rPr sz="2100" b="0">
                <a:solidFill>
                  <a:srgbClr val="111316"/>
                </a:solidFill>
                <a:latin typeface="Arial"/>
                <a:ea typeface="Arial"/>
                <a:cs typeface="Arial"/>
              </a:rPr>
              <a:t>Decide keep / investigate / exclude, in writing</a:t>
            </a:r>
          </a:p>
        </p:txBody>
      </p:sp>
      <p:sp>
        <p:nvSpPr>
          <p:cNvPr id="15" name="agenda-no-3">
            <a:extLst xmlns:a="http://schemas.openxmlformats.org/drawingml/2006/main">
              <a:ext uri="{FF2B5EF4-FFF2-40B4-BE49-F238E27FC236}">
                <a16:creationId xmlns:a16="http://schemas.microsoft.com/office/drawing/2014/main" id="{2B1523B5-0C86-41E8-B67F-DE23931E81E4}"/>
              </a:ext>
            </a:extLst>
          </p:cNvPr>
          <p:cNvSpPr>
            <a:spLocks xmlns:a="http://schemas.openxmlformats.org/drawingml/2006/main" noGrp="1"/>
          </p:cNvSpPr>
          <p:nvPr/>
        </p:nvSpPr>
        <p:spPr>
          <a:xfrm xmlns:a="http://schemas.openxmlformats.org/drawingml/2006/main">
            <a:off x="609600" y="4943475"/>
            <a:ext cx="59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04</a:t>
            </a:r>
          </a:p>
        </p:txBody>
      </p:sp>
      <p:sp>
        <p:nvSpPr>
          <p:cNvPr id="16" name="">
            <a:extLst xmlns:a="http://schemas.openxmlformats.org/drawingml/2006/main">
              <a:ext uri="{FF2B5EF4-FFF2-40B4-BE49-F238E27FC236}">
                <a16:creationId xmlns:a16="http://schemas.microsoft.com/office/drawing/2014/main" id="{6F47C0EB-FEA2-4648-9103-B0F3FED1B30D}"/>
              </a:ext>
            </a:extLst>
          </p:cNvPr>
          <p:cNvSpPr>
            <a:spLocks xmlns:a="http://schemas.openxmlformats.org/drawingml/2006/main" noGrp="1"/>
          </p:cNvSpPr>
          <p:nvPr/>
        </p:nvSpPr>
        <p:spPr>
          <a:xfrm xmlns:a="http://schemas.openxmlformats.org/drawingml/2006/main">
            <a:off x="1314450" y="5095875"/>
            <a:ext cx="74295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17" name="agenda-item-3">
            <a:extLst xmlns:a="http://schemas.openxmlformats.org/drawingml/2006/main">
              <a:ext uri="{FF2B5EF4-FFF2-40B4-BE49-F238E27FC236}">
                <a16:creationId xmlns:a16="http://schemas.microsoft.com/office/drawing/2014/main" id="{E7FCDC8B-DF83-4B35-A6B8-FDB61064663F}"/>
              </a:ext>
            </a:extLst>
          </p:cNvPr>
          <p:cNvSpPr>
            <a:spLocks xmlns:a="http://schemas.openxmlformats.org/drawingml/2006/main" noGrp="1"/>
          </p:cNvSpPr>
          <p:nvPr/>
        </p:nvSpPr>
        <p:spPr>
          <a:xfrm xmlns:a="http://schemas.openxmlformats.org/drawingml/2006/main">
            <a:off x="2381250" y="4886325"/>
            <a:ext cx="9201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111316"/>
                </a:solidFill>
                <a:latin typeface="Arial"/>
                <a:ea typeface="Arial"/>
                <a:cs typeface="Arial"/>
              </a:defRPr>
            </a:pPr>
            <a:r>
              <a:rPr sz="2100" b="0">
                <a:solidFill>
                  <a:srgbClr val="111316"/>
                </a:solidFill>
                <a:latin typeface="Arial"/>
                <a:ea typeface="Arial"/>
                <a:cs typeface="Arial"/>
              </a:rPr>
              <a:t>Transfer to a new case, then to your own dataset</a:t>
            </a:r>
          </a:p>
        </p:txBody>
      </p:sp>
    </p:spTree>
    <p:extLst>
      <p:ext uri="{BB962C8B-B14F-4D97-AF65-F5344CB8AC3E}">
        <p14:creationId xmlns:p14="http://schemas.microsoft.com/office/powerpoint/2010/main" val="21663065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kicker">
            <a:extLst xmlns:a="http://schemas.openxmlformats.org/drawingml/2006/main">
              <a:ext uri="{FF2B5EF4-FFF2-40B4-BE49-F238E27FC236}">
                <a16:creationId xmlns:a16="http://schemas.microsoft.com/office/drawing/2014/main" id="{F7AC8608-037C-4F7B-9E7F-C916D964C6D3}"/>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READ THE DATA</a:t>
            </a:r>
          </a:p>
        </p:txBody>
      </p:sp>
      <p:sp>
        <p:nvSpPr>
          <p:cNvPr id="2" name="title">
            <a:extLst xmlns:a="http://schemas.openxmlformats.org/drawingml/2006/main">
              <a:ext uri="{FF2B5EF4-FFF2-40B4-BE49-F238E27FC236}">
                <a16:creationId xmlns:a16="http://schemas.microsoft.com/office/drawing/2014/main" id="{A4373FB8-CCC6-41D9-AB14-1C69C42715F9}"/>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Recall four terms from Meeting A before writing any code</a:t>
            </a:r>
          </a:p>
        </p:txBody>
      </p:sp>
      <p:sp>
        <p:nvSpPr>
          <p:cNvPr id="3" name="">
            <a:extLst xmlns:a="http://schemas.openxmlformats.org/drawingml/2006/main">
              <a:ext uri="{FF2B5EF4-FFF2-40B4-BE49-F238E27FC236}">
                <a16:creationId xmlns:a16="http://schemas.microsoft.com/office/drawing/2014/main" id="{45E91022-E7C6-4CE4-B4A1-DDC6F1038065}"/>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74A9707D-216F-43EC-9263-33C434906A4E}"/>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5 · Meeting B · Grouping and Outlier Studio</a:t>
            </a:r>
          </a:p>
        </p:txBody>
      </p:sp>
      <p:sp>
        <p:nvSpPr>
          <p:cNvPr id="5" name="page">
            <a:extLst xmlns:a="http://schemas.openxmlformats.org/drawingml/2006/main">
              <a:ext uri="{FF2B5EF4-FFF2-40B4-BE49-F238E27FC236}">
                <a16:creationId xmlns:a16="http://schemas.microsoft.com/office/drawing/2014/main" id="{CB118894-7BB1-4252-9407-B4599FB16D28}"/>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04</a:t>
            </a:r>
          </a:p>
        </p:txBody>
      </p:sp>
      <p:sp>
        <p:nvSpPr>
          <p:cNvPr id="6" name="">
            <a:extLst xmlns:a="http://schemas.openxmlformats.org/drawingml/2006/main">
              <a:ext uri="{FF2B5EF4-FFF2-40B4-BE49-F238E27FC236}">
                <a16:creationId xmlns:a16="http://schemas.microsoft.com/office/drawing/2014/main" id="{616501EA-81B1-439E-84A5-58ED59E7FA6C}"/>
              </a:ext>
            </a:extLst>
          </p:cNvPr>
          <p:cNvSpPr>
            <a:spLocks xmlns:a="http://schemas.openxmlformats.org/drawingml/2006/main" noGrp="1"/>
          </p:cNvSpPr>
          <p:nvPr/>
        </p:nvSpPr>
        <p:spPr>
          <a:xfrm xmlns:a="http://schemas.openxmlformats.org/drawingml/2006/main">
            <a:off x="609600" y="2524125"/>
            <a:ext cx="2476500" cy="53340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7" name="header-0">
            <a:extLst xmlns:a="http://schemas.openxmlformats.org/drawingml/2006/main">
              <a:ext uri="{FF2B5EF4-FFF2-40B4-BE49-F238E27FC236}">
                <a16:creationId xmlns:a16="http://schemas.microsoft.com/office/drawing/2014/main" id="{B648510F-8F06-45E3-B6AE-55B3D7DB86F6}"/>
              </a:ext>
            </a:extLst>
          </p:cNvPr>
          <p:cNvSpPr>
            <a:spLocks xmlns:a="http://schemas.openxmlformats.org/drawingml/2006/main" noGrp="1"/>
          </p:cNvSpPr>
          <p:nvPr/>
        </p:nvSpPr>
        <p:spPr>
          <a:xfrm xmlns:a="http://schemas.openxmlformats.org/drawingml/2006/main">
            <a:off x="723900" y="2600325"/>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term</a:t>
            </a:r>
          </a:p>
        </p:txBody>
      </p:sp>
      <p:sp>
        <p:nvSpPr>
          <p:cNvPr id="8" name="">
            <a:extLst xmlns:a="http://schemas.openxmlformats.org/drawingml/2006/main">
              <a:ext uri="{FF2B5EF4-FFF2-40B4-BE49-F238E27FC236}">
                <a16:creationId xmlns:a16="http://schemas.microsoft.com/office/drawing/2014/main" id="{0EA970D1-26B9-4D3C-BF38-3D00C1CF3382}"/>
              </a:ext>
            </a:extLst>
          </p:cNvPr>
          <p:cNvSpPr>
            <a:spLocks xmlns:a="http://schemas.openxmlformats.org/drawingml/2006/main" noGrp="1"/>
          </p:cNvSpPr>
          <p:nvPr/>
        </p:nvSpPr>
        <p:spPr>
          <a:xfrm xmlns:a="http://schemas.openxmlformats.org/drawingml/2006/main">
            <a:off x="3086100" y="2524125"/>
            <a:ext cx="2476500" cy="53340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9" name="header-1">
            <a:extLst xmlns:a="http://schemas.openxmlformats.org/drawingml/2006/main">
              <a:ext uri="{FF2B5EF4-FFF2-40B4-BE49-F238E27FC236}">
                <a16:creationId xmlns:a16="http://schemas.microsoft.com/office/drawing/2014/main" id="{E1BC79CB-097B-4E95-B10E-401971CD49AE}"/>
              </a:ext>
            </a:extLst>
          </p:cNvPr>
          <p:cNvSpPr>
            <a:spLocks xmlns:a="http://schemas.openxmlformats.org/drawingml/2006/main" noGrp="1"/>
          </p:cNvSpPr>
          <p:nvPr/>
        </p:nvSpPr>
        <p:spPr>
          <a:xfrm xmlns:a="http://schemas.openxmlformats.org/drawingml/2006/main">
            <a:off x="3200400" y="2600325"/>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definition</a:t>
            </a:r>
          </a:p>
        </p:txBody>
      </p:sp>
      <p:sp>
        <p:nvSpPr>
          <p:cNvPr id="10" name="">
            <a:extLst xmlns:a="http://schemas.openxmlformats.org/drawingml/2006/main">
              <a:ext uri="{FF2B5EF4-FFF2-40B4-BE49-F238E27FC236}">
                <a16:creationId xmlns:a16="http://schemas.microsoft.com/office/drawing/2014/main" id="{E348AB14-1B51-4AFA-A398-57028B810867}"/>
              </a:ext>
            </a:extLst>
          </p:cNvPr>
          <p:cNvSpPr>
            <a:spLocks xmlns:a="http://schemas.openxmlformats.org/drawingml/2006/main" noGrp="1"/>
          </p:cNvSpPr>
          <p:nvPr/>
        </p:nvSpPr>
        <p:spPr>
          <a:xfrm xmlns:a="http://schemas.openxmlformats.org/drawingml/2006/main">
            <a:off x="5562600" y="2524125"/>
            <a:ext cx="2476500" cy="53340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11" name="header-2">
            <a:extLst xmlns:a="http://schemas.openxmlformats.org/drawingml/2006/main">
              <a:ext uri="{FF2B5EF4-FFF2-40B4-BE49-F238E27FC236}">
                <a16:creationId xmlns:a16="http://schemas.microsoft.com/office/drawing/2014/main" id="{E0544654-460E-40FF-BBA4-A60E55E8A428}"/>
              </a:ext>
            </a:extLst>
          </p:cNvPr>
          <p:cNvSpPr>
            <a:spLocks xmlns:a="http://schemas.openxmlformats.org/drawingml/2006/main" noGrp="1"/>
          </p:cNvSpPr>
          <p:nvPr/>
        </p:nvSpPr>
        <p:spPr>
          <a:xfrm xmlns:a="http://schemas.openxmlformats.org/drawingml/2006/main">
            <a:off x="5676900" y="2600325"/>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example</a:t>
            </a:r>
          </a:p>
        </p:txBody>
      </p:sp>
      <p:sp>
        <p:nvSpPr>
          <p:cNvPr id="12" name="">
            <a:extLst xmlns:a="http://schemas.openxmlformats.org/drawingml/2006/main">
              <a:ext uri="{FF2B5EF4-FFF2-40B4-BE49-F238E27FC236}">
                <a16:creationId xmlns:a16="http://schemas.microsoft.com/office/drawing/2014/main" id="{C6832EB7-952E-417A-AB8A-272EAAFA268B}"/>
              </a:ext>
            </a:extLst>
          </p:cNvPr>
          <p:cNvSpPr>
            <a:spLocks xmlns:a="http://schemas.openxmlformats.org/drawingml/2006/main" noGrp="1"/>
          </p:cNvSpPr>
          <p:nvPr/>
        </p:nvSpPr>
        <p:spPr>
          <a:xfrm xmlns:a="http://schemas.openxmlformats.org/drawingml/2006/main">
            <a:off x="609600" y="3057525"/>
            <a:ext cx="2476500" cy="73533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3" name="cell-0-0">
            <a:extLst xmlns:a="http://schemas.openxmlformats.org/drawingml/2006/main">
              <a:ext uri="{FF2B5EF4-FFF2-40B4-BE49-F238E27FC236}">
                <a16:creationId xmlns:a16="http://schemas.microsoft.com/office/drawing/2014/main" id="{3CED66F9-956C-46D2-B4EA-5C4C49F724D3}"/>
              </a:ext>
            </a:extLst>
          </p:cNvPr>
          <p:cNvSpPr>
            <a:spLocks xmlns:a="http://schemas.openxmlformats.org/drawingml/2006/main" noGrp="1"/>
          </p:cNvSpPr>
          <p:nvPr/>
        </p:nvSpPr>
        <p:spPr>
          <a:xfrm xmlns:a="http://schemas.openxmlformats.org/drawingml/2006/main">
            <a:off x="723900" y="3133725"/>
            <a:ext cx="2247900" cy="582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groupby()</a:t>
            </a:r>
          </a:p>
        </p:txBody>
      </p:sp>
      <p:sp>
        <p:nvSpPr>
          <p:cNvPr id="14" name="">
            <a:extLst xmlns:a="http://schemas.openxmlformats.org/drawingml/2006/main">
              <a:ext uri="{FF2B5EF4-FFF2-40B4-BE49-F238E27FC236}">
                <a16:creationId xmlns:a16="http://schemas.microsoft.com/office/drawing/2014/main" id="{98043FD6-B861-4540-BABA-32DDAE9C3F74}"/>
              </a:ext>
            </a:extLst>
          </p:cNvPr>
          <p:cNvSpPr>
            <a:spLocks xmlns:a="http://schemas.openxmlformats.org/drawingml/2006/main" noGrp="1"/>
          </p:cNvSpPr>
          <p:nvPr/>
        </p:nvSpPr>
        <p:spPr>
          <a:xfrm xmlns:a="http://schemas.openxmlformats.org/drawingml/2006/main">
            <a:off x="3086100" y="3057525"/>
            <a:ext cx="2476500" cy="73533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5" name="cell-0-1">
            <a:extLst xmlns:a="http://schemas.openxmlformats.org/drawingml/2006/main">
              <a:ext uri="{FF2B5EF4-FFF2-40B4-BE49-F238E27FC236}">
                <a16:creationId xmlns:a16="http://schemas.microsoft.com/office/drawing/2014/main" id="{2F7F9EB4-ECE5-477F-8139-9AEB58A3CD63}"/>
              </a:ext>
            </a:extLst>
          </p:cNvPr>
          <p:cNvSpPr>
            <a:spLocks xmlns:a="http://schemas.openxmlformats.org/drawingml/2006/main" noGrp="1"/>
          </p:cNvSpPr>
          <p:nvPr/>
        </p:nvSpPr>
        <p:spPr>
          <a:xfrm xmlns:a="http://schemas.openxmlformats.org/drawingml/2006/main">
            <a:off x="3200400" y="3133725"/>
            <a:ext cx="2247900" cy="582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splits rows into categories before summarizing</a:t>
            </a:r>
          </a:p>
        </p:txBody>
      </p:sp>
      <p:sp>
        <p:nvSpPr>
          <p:cNvPr id="16" name="">
            <a:extLst xmlns:a="http://schemas.openxmlformats.org/drawingml/2006/main">
              <a:ext uri="{FF2B5EF4-FFF2-40B4-BE49-F238E27FC236}">
                <a16:creationId xmlns:a16="http://schemas.microsoft.com/office/drawing/2014/main" id="{8C4F1BC4-CB63-43CF-9B50-BB9AE98EECF3}"/>
              </a:ext>
            </a:extLst>
          </p:cNvPr>
          <p:cNvSpPr>
            <a:spLocks xmlns:a="http://schemas.openxmlformats.org/drawingml/2006/main" noGrp="1"/>
          </p:cNvSpPr>
          <p:nvPr/>
        </p:nvSpPr>
        <p:spPr>
          <a:xfrm xmlns:a="http://schemas.openxmlformats.org/drawingml/2006/main">
            <a:off x="5562600" y="3057525"/>
            <a:ext cx="2476500" cy="73533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7" name="cell-0-2">
            <a:extLst xmlns:a="http://schemas.openxmlformats.org/drawingml/2006/main">
              <a:ext uri="{FF2B5EF4-FFF2-40B4-BE49-F238E27FC236}">
                <a16:creationId xmlns:a16="http://schemas.microsoft.com/office/drawing/2014/main" id="{625FF64A-2DA9-4CB7-9B16-78E1D95D854C}"/>
              </a:ext>
            </a:extLst>
          </p:cNvPr>
          <p:cNvSpPr>
            <a:spLocks xmlns:a="http://schemas.openxmlformats.org/drawingml/2006/main" noGrp="1"/>
          </p:cNvSpPr>
          <p:nvPr/>
        </p:nvSpPr>
        <p:spPr>
          <a:xfrm xmlns:a="http://schemas.openxmlformats.org/drawingml/2006/main">
            <a:off x="5676900" y="3133725"/>
            <a:ext cx="2247900" cy="582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df.groupby("zone")</a:t>
            </a:r>
          </a:p>
        </p:txBody>
      </p:sp>
      <p:sp>
        <p:nvSpPr>
          <p:cNvPr id="18" name="">
            <a:extLst xmlns:a="http://schemas.openxmlformats.org/drawingml/2006/main">
              <a:ext uri="{FF2B5EF4-FFF2-40B4-BE49-F238E27FC236}">
                <a16:creationId xmlns:a16="http://schemas.microsoft.com/office/drawing/2014/main" id="{E077CF12-BD12-44AF-A55A-0996288BE6EF}"/>
              </a:ext>
            </a:extLst>
          </p:cNvPr>
          <p:cNvSpPr>
            <a:spLocks xmlns:a="http://schemas.openxmlformats.org/drawingml/2006/main" noGrp="1"/>
          </p:cNvSpPr>
          <p:nvPr/>
        </p:nvSpPr>
        <p:spPr>
          <a:xfrm xmlns:a="http://schemas.openxmlformats.org/drawingml/2006/main">
            <a:off x="609600" y="3792855"/>
            <a:ext cx="2476500"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19" name="cell-1-0">
            <a:extLst xmlns:a="http://schemas.openxmlformats.org/drawingml/2006/main">
              <a:ext uri="{FF2B5EF4-FFF2-40B4-BE49-F238E27FC236}">
                <a16:creationId xmlns:a16="http://schemas.microsoft.com/office/drawing/2014/main" id="{FE91D7E7-BC4C-44C6-89BE-83B34C828117}"/>
              </a:ext>
            </a:extLst>
          </p:cNvPr>
          <p:cNvSpPr>
            <a:spLocks xmlns:a="http://schemas.openxmlformats.org/drawingml/2006/main" noGrp="1"/>
          </p:cNvSpPr>
          <p:nvPr/>
        </p:nvSpPr>
        <p:spPr>
          <a:xfrm xmlns:a="http://schemas.openxmlformats.org/drawingml/2006/main">
            <a:off x="723900" y="3869055"/>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IQR rule</a:t>
            </a:r>
          </a:p>
        </p:txBody>
      </p:sp>
      <p:sp>
        <p:nvSpPr>
          <p:cNvPr id="20" name="">
            <a:extLst xmlns:a="http://schemas.openxmlformats.org/drawingml/2006/main">
              <a:ext uri="{FF2B5EF4-FFF2-40B4-BE49-F238E27FC236}">
                <a16:creationId xmlns:a16="http://schemas.microsoft.com/office/drawing/2014/main" id="{62612A01-3DAB-42F9-A580-C2413487C8E3}"/>
              </a:ext>
            </a:extLst>
          </p:cNvPr>
          <p:cNvSpPr>
            <a:spLocks xmlns:a="http://schemas.openxmlformats.org/drawingml/2006/main" noGrp="1"/>
          </p:cNvSpPr>
          <p:nvPr/>
        </p:nvSpPr>
        <p:spPr>
          <a:xfrm xmlns:a="http://schemas.openxmlformats.org/drawingml/2006/main">
            <a:off x="3086100" y="3792855"/>
            <a:ext cx="2476500"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1" name="cell-1-1">
            <a:extLst xmlns:a="http://schemas.openxmlformats.org/drawingml/2006/main">
              <a:ext uri="{FF2B5EF4-FFF2-40B4-BE49-F238E27FC236}">
                <a16:creationId xmlns:a16="http://schemas.microsoft.com/office/drawing/2014/main" id="{F5444DCA-EB1A-491A-B74D-134F1698F1BD}"/>
              </a:ext>
            </a:extLst>
          </p:cNvPr>
          <p:cNvSpPr>
            <a:spLocks xmlns:a="http://schemas.openxmlformats.org/drawingml/2006/main" noGrp="1"/>
          </p:cNvSpPr>
          <p:nvPr/>
        </p:nvSpPr>
        <p:spPr>
          <a:xfrm xmlns:a="http://schemas.openxmlformats.org/drawingml/2006/main">
            <a:off x="3200400" y="3869055"/>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flags values outside Q1 − 1.5×IQR to Q3 + 1.5×IQR</a:t>
            </a:r>
          </a:p>
        </p:txBody>
      </p:sp>
      <p:sp>
        <p:nvSpPr>
          <p:cNvPr id="22" name="">
            <a:extLst xmlns:a="http://schemas.openxmlformats.org/drawingml/2006/main">
              <a:ext uri="{FF2B5EF4-FFF2-40B4-BE49-F238E27FC236}">
                <a16:creationId xmlns:a16="http://schemas.microsoft.com/office/drawing/2014/main" id="{0C8E095C-EBBD-4E7A-A3A1-7646C9190C42}"/>
              </a:ext>
            </a:extLst>
          </p:cNvPr>
          <p:cNvSpPr>
            <a:spLocks xmlns:a="http://schemas.openxmlformats.org/drawingml/2006/main" noGrp="1"/>
          </p:cNvSpPr>
          <p:nvPr/>
        </p:nvSpPr>
        <p:spPr>
          <a:xfrm xmlns:a="http://schemas.openxmlformats.org/drawingml/2006/main">
            <a:off x="5562600" y="3792855"/>
            <a:ext cx="2476500"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3" name="cell-1-2">
            <a:extLst xmlns:a="http://schemas.openxmlformats.org/drawingml/2006/main">
              <a:ext uri="{FF2B5EF4-FFF2-40B4-BE49-F238E27FC236}">
                <a16:creationId xmlns:a16="http://schemas.microsoft.com/office/drawing/2014/main" id="{A58F2A14-B836-485E-8F78-594EE0A3464E}"/>
              </a:ext>
            </a:extLst>
          </p:cNvPr>
          <p:cNvSpPr>
            <a:spLocks xmlns:a="http://schemas.openxmlformats.org/drawingml/2006/main" noGrp="1"/>
          </p:cNvSpPr>
          <p:nvPr/>
        </p:nvSpPr>
        <p:spPr>
          <a:xfrm xmlns:a="http://schemas.openxmlformats.org/drawingml/2006/main">
            <a:off x="5676900" y="3869055"/>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boxplot whiskers</a:t>
            </a:r>
          </a:p>
        </p:txBody>
      </p:sp>
      <p:sp>
        <p:nvSpPr>
          <p:cNvPr id="24" name="">
            <a:extLst xmlns:a="http://schemas.openxmlformats.org/drawingml/2006/main">
              <a:ext uri="{FF2B5EF4-FFF2-40B4-BE49-F238E27FC236}">
                <a16:creationId xmlns:a16="http://schemas.microsoft.com/office/drawing/2014/main" id="{98F61A32-8487-47FA-82FF-31B5E1AECB65}"/>
              </a:ext>
            </a:extLst>
          </p:cNvPr>
          <p:cNvSpPr>
            <a:spLocks xmlns:a="http://schemas.openxmlformats.org/drawingml/2006/main" noGrp="1"/>
          </p:cNvSpPr>
          <p:nvPr/>
        </p:nvSpPr>
        <p:spPr>
          <a:xfrm xmlns:a="http://schemas.openxmlformats.org/drawingml/2006/main">
            <a:off x="609600" y="4333875"/>
            <a:ext cx="2476500"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5" name="cell-2-0">
            <a:extLst xmlns:a="http://schemas.openxmlformats.org/drawingml/2006/main">
              <a:ext uri="{FF2B5EF4-FFF2-40B4-BE49-F238E27FC236}">
                <a16:creationId xmlns:a16="http://schemas.microsoft.com/office/drawing/2014/main" id="{C9D00EE3-77E7-4DA9-8DE1-14014C54B478}"/>
              </a:ext>
            </a:extLst>
          </p:cNvPr>
          <p:cNvSpPr>
            <a:spLocks xmlns:a="http://schemas.openxmlformats.org/drawingml/2006/main" noGrp="1"/>
          </p:cNvSpPr>
          <p:nvPr/>
        </p:nvSpPr>
        <p:spPr>
          <a:xfrm xmlns:a="http://schemas.openxmlformats.org/drawingml/2006/main">
            <a:off x="723900" y="4410075"/>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z-score rule</a:t>
            </a:r>
          </a:p>
        </p:txBody>
      </p:sp>
      <p:sp>
        <p:nvSpPr>
          <p:cNvPr id="26" name="">
            <a:extLst xmlns:a="http://schemas.openxmlformats.org/drawingml/2006/main">
              <a:ext uri="{FF2B5EF4-FFF2-40B4-BE49-F238E27FC236}">
                <a16:creationId xmlns:a16="http://schemas.microsoft.com/office/drawing/2014/main" id="{AC57CBAF-BFA4-48AA-985E-D6032E67E5AF}"/>
              </a:ext>
            </a:extLst>
          </p:cNvPr>
          <p:cNvSpPr>
            <a:spLocks xmlns:a="http://schemas.openxmlformats.org/drawingml/2006/main" noGrp="1"/>
          </p:cNvSpPr>
          <p:nvPr/>
        </p:nvSpPr>
        <p:spPr>
          <a:xfrm xmlns:a="http://schemas.openxmlformats.org/drawingml/2006/main">
            <a:off x="3086100" y="4333875"/>
            <a:ext cx="2476500"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7" name="cell-2-1">
            <a:extLst xmlns:a="http://schemas.openxmlformats.org/drawingml/2006/main">
              <a:ext uri="{FF2B5EF4-FFF2-40B4-BE49-F238E27FC236}">
                <a16:creationId xmlns:a16="http://schemas.microsoft.com/office/drawing/2014/main" id="{D9C98998-9115-4364-A8E4-06951DAB0F89}"/>
              </a:ext>
            </a:extLst>
          </p:cNvPr>
          <p:cNvSpPr>
            <a:spLocks xmlns:a="http://schemas.openxmlformats.org/drawingml/2006/main" noGrp="1"/>
          </p:cNvSpPr>
          <p:nvPr/>
        </p:nvSpPr>
        <p:spPr>
          <a:xfrm xmlns:a="http://schemas.openxmlformats.org/drawingml/2006/main">
            <a:off x="3200400" y="4410075"/>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flags values where |z| &gt; 2, z = (x − mean) / std</a:t>
            </a:r>
          </a:p>
        </p:txBody>
      </p:sp>
      <p:sp>
        <p:nvSpPr>
          <p:cNvPr id="28" name="">
            <a:extLst xmlns:a="http://schemas.openxmlformats.org/drawingml/2006/main">
              <a:ext uri="{FF2B5EF4-FFF2-40B4-BE49-F238E27FC236}">
                <a16:creationId xmlns:a16="http://schemas.microsoft.com/office/drawing/2014/main" id="{1F86B383-D8D5-4265-AEF5-56268DDAE0ED}"/>
              </a:ext>
            </a:extLst>
          </p:cNvPr>
          <p:cNvSpPr>
            <a:spLocks xmlns:a="http://schemas.openxmlformats.org/drawingml/2006/main" noGrp="1"/>
          </p:cNvSpPr>
          <p:nvPr/>
        </p:nvSpPr>
        <p:spPr>
          <a:xfrm xmlns:a="http://schemas.openxmlformats.org/drawingml/2006/main">
            <a:off x="5562600" y="4333875"/>
            <a:ext cx="2476500"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9" name="cell-2-2">
            <a:extLst xmlns:a="http://schemas.openxmlformats.org/drawingml/2006/main">
              <a:ext uri="{FF2B5EF4-FFF2-40B4-BE49-F238E27FC236}">
                <a16:creationId xmlns:a16="http://schemas.microsoft.com/office/drawing/2014/main" id="{1D4CF344-0D75-419C-A73F-8A8FF5C20D4C}"/>
              </a:ext>
            </a:extLst>
          </p:cNvPr>
          <p:cNvSpPr>
            <a:spLocks xmlns:a="http://schemas.openxmlformats.org/drawingml/2006/main" noGrp="1"/>
          </p:cNvSpPr>
          <p:nvPr/>
        </p:nvSpPr>
        <p:spPr>
          <a:xfrm xmlns:a="http://schemas.openxmlformats.org/drawingml/2006/main">
            <a:off x="5676900" y="4410075"/>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z = (x − mean) / std</a:t>
            </a:r>
          </a:p>
        </p:txBody>
      </p:sp>
      <p:sp>
        <p:nvSpPr>
          <p:cNvPr id="30" name="">
            <a:extLst xmlns:a="http://schemas.openxmlformats.org/drawingml/2006/main">
              <a:ext uri="{FF2B5EF4-FFF2-40B4-BE49-F238E27FC236}">
                <a16:creationId xmlns:a16="http://schemas.microsoft.com/office/drawing/2014/main" id="{554DBAC8-B659-454E-9212-57315E417EE2}"/>
              </a:ext>
            </a:extLst>
          </p:cNvPr>
          <p:cNvSpPr>
            <a:spLocks xmlns:a="http://schemas.openxmlformats.org/drawingml/2006/main" noGrp="1"/>
          </p:cNvSpPr>
          <p:nvPr/>
        </p:nvSpPr>
        <p:spPr>
          <a:xfrm xmlns:a="http://schemas.openxmlformats.org/drawingml/2006/main">
            <a:off x="609600" y="4874895"/>
            <a:ext cx="2476500"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31" name="cell-3-0">
            <a:extLst xmlns:a="http://schemas.openxmlformats.org/drawingml/2006/main">
              <a:ext uri="{FF2B5EF4-FFF2-40B4-BE49-F238E27FC236}">
                <a16:creationId xmlns:a16="http://schemas.microsoft.com/office/drawing/2014/main" id="{5D8F914A-2C22-4BAA-8B4A-128202DC2EB2}"/>
              </a:ext>
            </a:extLst>
          </p:cNvPr>
          <p:cNvSpPr>
            <a:spLocks xmlns:a="http://schemas.openxmlformats.org/drawingml/2006/main" noGrp="1"/>
          </p:cNvSpPr>
          <p:nvPr/>
        </p:nvSpPr>
        <p:spPr>
          <a:xfrm xmlns:a="http://schemas.openxmlformats.org/drawingml/2006/main">
            <a:off x="723900" y="4951095"/>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.agg(my_fn)</a:t>
            </a:r>
          </a:p>
        </p:txBody>
      </p:sp>
      <p:sp>
        <p:nvSpPr>
          <p:cNvPr id="32" name="">
            <a:extLst xmlns:a="http://schemas.openxmlformats.org/drawingml/2006/main">
              <a:ext uri="{FF2B5EF4-FFF2-40B4-BE49-F238E27FC236}">
                <a16:creationId xmlns:a16="http://schemas.microsoft.com/office/drawing/2014/main" id="{1D82288A-42AB-424A-BC2D-CE28E3B358C5}"/>
              </a:ext>
            </a:extLst>
          </p:cNvPr>
          <p:cNvSpPr>
            <a:spLocks xmlns:a="http://schemas.openxmlformats.org/drawingml/2006/main" noGrp="1"/>
          </p:cNvSpPr>
          <p:nvPr/>
        </p:nvSpPr>
        <p:spPr>
          <a:xfrm xmlns:a="http://schemas.openxmlformats.org/drawingml/2006/main">
            <a:off x="3086100" y="4874895"/>
            <a:ext cx="2476500"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33" name="cell-3-1">
            <a:extLst xmlns:a="http://schemas.openxmlformats.org/drawingml/2006/main">
              <a:ext uri="{FF2B5EF4-FFF2-40B4-BE49-F238E27FC236}">
                <a16:creationId xmlns:a16="http://schemas.microsoft.com/office/drawing/2014/main" id="{AFE14618-36B6-41F4-81E0-33F38D69ADAC}"/>
              </a:ext>
            </a:extLst>
          </p:cNvPr>
          <p:cNvSpPr>
            <a:spLocks xmlns:a="http://schemas.openxmlformats.org/drawingml/2006/main" noGrp="1"/>
          </p:cNvSpPr>
          <p:nvPr/>
        </p:nvSpPr>
        <p:spPr>
          <a:xfrm xmlns:a="http://schemas.openxmlformats.org/drawingml/2006/main">
            <a:off x="3200400" y="4951095"/>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passes a function name in without calling it first</a:t>
            </a:r>
          </a:p>
        </p:txBody>
      </p:sp>
      <p:sp>
        <p:nvSpPr>
          <p:cNvPr id="34" name="">
            <a:extLst xmlns:a="http://schemas.openxmlformats.org/drawingml/2006/main">
              <a:ext uri="{FF2B5EF4-FFF2-40B4-BE49-F238E27FC236}">
                <a16:creationId xmlns:a16="http://schemas.microsoft.com/office/drawing/2014/main" id="{D834BC0F-9CEE-4885-BA68-205B9452ADD7}"/>
              </a:ext>
            </a:extLst>
          </p:cNvPr>
          <p:cNvSpPr>
            <a:spLocks xmlns:a="http://schemas.openxmlformats.org/drawingml/2006/main" noGrp="1"/>
          </p:cNvSpPr>
          <p:nvPr/>
        </p:nvSpPr>
        <p:spPr>
          <a:xfrm xmlns:a="http://schemas.openxmlformats.org/drawingml/2006/main">
            <a:off x="5562600" y="4874895"/>
            <a:ext cx="2476500"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35" name="cell-3-2">
            <a:extLst xmlns:a="http://schemas.openxmlformats.org/drawingml/2006/main">
              <a:ext uri="{FF2B5EF4-FFF2-40B4-BE49-F238E27FC236}">
                <a16:creationId xmlns:a16="http://schemas.microsoft.com/office/drawing/2014/main" id="{F6AEE38B-3473-4E6C-8EF9-B3F319C07C1C}"/>
              </a:ext>
            </a:extLst>
          </p:cNvPr>
          <p:cNvSpPr>
            <a:spLocks xmlns:a="http://schemas.openxmlformats.org/drawingml/2006/main" noGrp="1"/>
          </p:cNvSpPr>
          <p:nvPr/>
        </p:nvSpPr>
        <p:spPr>
          <a:xfrm xmlns:a="http://schemas.openxmlformats.org/drawingml/2006/main">
            <a:off x="5676900" y="4951095"/>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df.groupby(...).agg(my_fn)</a:t>
            </a:r>
          </a:p>
        </p:txBody>
      </p:sp>
      <p:sp>
        <p:nvSpPr>
          <p:cNvPr id="36" name="callout-label">
            <a:extLst xmlns:a="http://schemas.openxmlformats.org/drawingml/2006/main">
              <a:ext uri="{FF2B5EF4-FFF2-40B4-BE49-F238E27FC236}">
                <a16:creationId xmlns:a16="http://schemas.microsoft.com/office/drawing/2014/main" id="{8FB17E81-98C0-4828-A5FF-7586DA3CBB69}"/>
              </a:ext>
            </a:extLst>
          </p:cNvPr>
          <p:cNvSpPr>
            <a:spLocks xmlns:a="http://schemas.openxmlformats.org/drawingml/2006/main" noGrp="1"/>
          </p:cNvSpPr>
          <p:nvPr/>
        </p:nvSpPr>
        <p:spPr>
          <a:xfrm xmlns:a="http://schemas.openxmlformats.org/drawingml/2006/main">
            <a:off x="8420100" y="1866900"/>
            <a:ext cx="3162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ARCHITECTURAL LENS</a:t>
            </a:r>
          </a:p>
        </p:txBody>
      </p:sp>
      <p:sp>
        <p:nvSpPr>
          <p:cNvPr id="37" name="callout">
            <a:extLst xmlns:a="http://schemas.openxmlformats.org/drawingml/2006/main">
              <a:ext uri="{FF2B5EF4-FFF2-40B4-BE49-F238E27FC236}">
                <a16:creationId xmlns:a16="http://schemas.microsoft.com/office/drawing/2014/main" id="{D1A4B28D-6E64-410C-8006-319F04AB16FD}"/>
              </a:ext>
            </a:extLst>
          </p:cNvPr>
          <p:cNvSpPr>
            <a:spLocks xmlns:a="http://schemas.openxmlformats.org/drawingml/2006/main" noGrp="1"/>
          </p:cNvSpPr>
          <p:nvPr/>
        </p:nvSpPr>
        <p:spPr>
          <a:xfrm xmlns:a="http://schemas.openxmlformats.org/drawingml/2006/main">
            <a:off x="8420100" y="2190750"/>
            <a:ext cx="3162300" cy="3790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1">
                <a:solidFill>
                  <a:srgbClr val="111316"/>
                </a:solidFill>
                <a:latin typeface="Arial"/>
                <a:ea typeface="Arial"/>
                <a:cs typeface="Arial"/>
              </a:defRPr>
            </a:pPr>
            <a:r>
              <a:rPr sz="1800" b="1">
                <a:solidFill>
                  <a:srgbClr val="111316"/>
                </a:solidFill>
                <a:latin typeface="Arial"/>
                <a:ea typeface="Arial"/>
                <a:cs typeface="Arial"/>
              </a:rPr>
              <a:t>Grouping answers 'compared to what.' An outlier rule asks whether one row distorts that comparison. Today's studio uses both, first on Radley Hall and then on Project 1 data.</a:t>
            </a:r>
          </a:p>
        </p:txBody>
      </p:sp>
    </p:spTree>
    <p:extLst>
      <p:ext uri="{BB962C8B-B14F-4D97-AF65-F5344CB8AC3E}">
        <p14:creationId xmlns:p14="http://schemas.microsoft.com/office/powerpoint/2010/main" val="206453661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kicker">
            <a:extLst xmlns:a="http://schemas.openxmlformats.org/drawingml/2006/main">
              <a:ext uri="{FF2B5EF4-FFF2-40B4-BE49-F238E27FC236}">
                <a16:creationId xmlns:a16="http://schemas.microsoft.com/office/drawing/2014/main" id="{8951E79F-71F7-4B6D-A688-AEC26511E8D5}"/>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RECALL</a:t>
            </a:r>
          </a:p>
        </p:txBody>
      </p:sp>
      <p:sp>
        <p:nvSpPr>
          <p:cNvPr id="2" name="title">
            <a:extLst xmlns:a="http://schemas.openxmlformats.org/drawingml/2006/main">
              <a:ext uri="{FF2B5EF4-FFF2-40B4-BE49-F238E27FC236}">
                <a16:creationId xmlns:a16="http://schemas.microsoft.com/office/drawing/2014/main" id="{A1C5681D-5851-4FA0-B881-E5E05F9415A3}"/>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Recall: groupby() exploded into four moves</a:t>
            </a:r>
          </a:p>
        </p:txBody>
      </p:sp>
      <p:sp>
        <p:nvSpPr>
          <p:cNvPr id="3" name="">
            <a:extLst xmlns:a="http://schemas.openxmlformats.org/drawingml/2006/main">
              <a:ext uri="{FF2B5EF4-FFF2-40B4-BE49-F238E27FC236}">
                <a16:creationId xmlns:a16="http://schemas.microsoft.com/office/drawing/2014/main" id="{449539F3-E6E2-4736-AC08-AFB81403BCB3}"/>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1224A949-0E88-4600-9130-6A6506810275}"/>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5 · Meeting B · Grouping and Outlier Studio</a:t>
            </a:r>
          </a:p>
        </p:txBody>
      </p:sp>
      <p:sp>
        <p:nvSpPr>
          <p:cNvPr id="5" name="page">
            <a:extLst xmlns:a="http://schemas.openxmlformats.org/drawingml/2006/main">
              <a:ext uri="{FF2B5EF4-FFF2-40B4-BE49-F238E27FC236}">
                <a16:creationId xmlns:a16="http://schemas.microsoft.com/office/drawing/2014/main" id="{7B313A1C-3091-4282-B6E0-1E0079B4A763}"/>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05</a:t>
            </a:r>
          </a:p>
        </p:txBody>
      </p:sp>
      <p:sp>
        <p:nvSpPr>
          <p:cNvPr id="6" name="anatomy-code-panel">
            <a:extLst xmlns:a="http://schemas.openxmlformats.org/drawingml/2006/main">
              <a:ext uri="{FF2B5EF4-FFF2-40B4-BE49-F238E27FC236}">
                <a16:creationId xmlns:a16="http://schemas.microsoft.com/office/drawing/2014/main" id="{0B58B301-633B-4E38-84CF-880D1545054F}"/>
              </a:ext>
            </a:extLst>
          </p:cNvPr>
          <p:cNvSpPr>
            <a:spLocks xmlns:a="http://schemas.openxmlformats.org/drawingml/2006/main" noGrp="1"/>
          </p:cNvSpPr>
          <p:nvPr/>
        </p:nvSpPr>
        <p:spPr>
          <a:xfrm xmlns:a="http://schemas.openxmlformats.org/drawingml/2006/main">
            <a:off x="609600" y="1733550"/>
            <a:ext cx="10972800" cy="876300"/>
          </a:xfrm>
          <a:prstGeom xmlns:a="http://schemas.openxmlformats.org/drawingml/2006/main" prst="roundRect">
            <a:avLst>
              <a:gd name="adj" fmla="val 8696"/>
            </a:avLst>
          </a:prstGeom>
          <a:solidFill xmlns:a="http://schemas.openxmlformats.org/drawingml/2006/main">
            <a:srgbClr val="17191C"/>
          </a:solidFill>
          <a:ln xmlns:a="http://schemas.openxmlformats.org/drawingml/2006/main" w="9525">
            <a:solidFill>
              <a:srgbClr val="17191C"/>
            </a:solidFill>
            <a:prstDash val="solid"/>
          </a:ln>
        </p:spPr>
      </p:sp>
      <p:sp>
        <p:nvSpPr>
          <p:cNvPr id="7" name="anatomy-code">
            <a:extLst xmlns:a="http://schemas.openxmlformats.org/drawingml/2006/main">
              <a:ext uri="{FF2B5EF4-FFF2-40B4-BE49-F238E27FC236}">
                <a16:creationId xmlns:a16="http://schemas.microsoft.com/office/drawing/2014/main" id="{68980E88-C1E8-4A8B-8B95-A5FB68D011B5}"/>
              </a:ext>
            </a:extLst>
          </p:cNvPr>
          <p:cNvSpPr>
            <a:spLocks xmlns:a="http://schemas.openxmlformats.org/drawingml/2006/main" noGrp="1"/>
          </p:cNvSpPr>
          <p:nvPr/>
        </p:nvSpPr>
        <p:spPr>
          <a:xfrm xmlns:a="http://schemas.openxmlformats.org/drawingml/2006/main">
            <a:off x="1381125" y="2057400"/>
            <a:ext cx="981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a:solidFill>
                  <a:srgbClr val="FFFFFF"/>
                </a:solidFill>
                <a:latin typeface="Consolas"/>
                <a:ea typeface="Consolas"/>
                <a:cs typeface="Consolas"/>
              </a:defRPr>
            </a:pPr>
            <a:r>
              <a:rPr sz="3000" b="0">
                <a:solidFill>
                  <a:srgbClr val="FFFFFF"/>
                </a:solidFill>
                <a:latin typeface="Consolas"/>
                <a:ea typeface="Consolas"/>
                <a:cs typeface="Consolas"/>
              </a:rPr>
              <a:t>df.groupby("zone")["energy_kwh_m2_yr"].mean()</a:t>
            </a:r>
          </a:p>
        </p:txBody>
      </p:sp>
      <p:sp>
        <p:nvSpPr>
          <p:cNvPr id="8" name="">
            <a:extLst xmlns:a="http://schemas.openxmlformats.org/drawingml/2006/main">
              <a:ext uri="{FF2B5EF4-FFF2-40B4-BE49-F238E27FC236}">
                <a16:creationId xmlns:a16="http://schemas.microsoft.com/office/drawing/2014/main" id="{4932623A-1EA1-4B6F-BFC1-DEFBBAA0AC12}"/>
              </a:ext>
            </a:extLst>
          </p:cNvPr>
          <p:cNvSpPr>
            <a:spLocks xmlns:a="http://schemas.openxmlformats.org/drawingml/2006/main" noGrp="1"/>
          </p:cNvSpPr>
          <p:nvPr/>
        </p:nvSpPr>
        <p:spPr>
          <a:xfrm xmlns:a="http://schemas.openxmlformats.org/drawingml/2006/main">
            <a:off x="1381125" y="2647950"/>
            <a:ext cx="41910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9" name="part-chip-0">
            <a:extLst xmlns:a="http://schemas.openxmlformats.org/drawingml/2006/main">
              <a:ext uri="{FF2B5EF4-FFF2-40B4-BE49-F238E27FC236}">
                <a16:creationId xmlns:a16="http://schemas.microsoft.com/office/drawing/2014/main" id="{95A7F006-60B5-4A99-90DE-1B802586544D}"/>
              </a:ext>
            </a:extLst>
          </p:cNvPr>
          <p:cNvSpPr>
            <a:spLocks xmlns:a="http://schemas.openxmlformats.org/drawingml/2006/main" noGrp="1"/>
          </p:cNvSpPr>
          <p:nvPr/>
        </p:nvSpPr>
        <p:spPr>
          <a:xfrm xmlns:a="http://schemas.openxmlformats.org/drawingml/2006/main">
            <a:off x="1466850" y="2724150"/>
            <a:ext cx="247650" cy="2476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10" name="part-chipno-0">
            <a:extLst xmlns:a="http://schemas.openxmlformats.org/drawingml/2006/main">
              <a:ext uri="{FF2B5EF4-FFF2-40B4-BE49-F238E27FC236}">
                <a16:creationId xmlns:a16="http://schemas.microsoft.com/office/drawing/2014/main" id="{99B4BBEB-609D-47B4-AF9A-33043440F8CB}"/>
              </a:ext>
            </a:extLst>
          </p:cNvPr>
          <p:cNvSpPr>
            <a:spLocks xmlns:a="http://schemas.openxmlformats.org/drawingml/2006/main" noGrp="1"/>
          </p:cNvSpPr>
          <p:nvPr/>
        </p:nvSpPr>
        <p:spPr>
          <a:xfrm xmlns:a="http://schemas.openxmlformats.org/drawingml/2006/main">
            <a:off x="1466850" y="27717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1</a:t>
            </a:r>
          </a:p>
        </p:txBody>
      </p:sp>
      <p:sp>
        <p:nvSpPr>
          <p:cNvPr id="11" name="part-lchip-0">
            <a:extLst xmlns:a="http://schemas.openxmlformats.org/drawingml/2006/main">
              <a:ext uri="{FF2B5EF4-FFF2-40B4-BE49-F238E27FC236}">
                <a16:creationId xmlns:a16="http://schemas.microsoft.com/office/drawing/2014/main" id="{0BF2DC09-7E74-49BD-BD13-BF01A4A3B2AF}"/>
              </a:ext>
            </a:extLst>
          </p:cNvPr>
          <p:cNvSpPr>
            <a:spLocks xmlns:a="http://schemas.openxmlformats.org/drawingml/2006/main" noGrp="1"/>
          </p:cNvSpPr>
          <p:nvPr/>
        </p:nvSpPr>
        <p:spPr>
          <a:xfrm xmlns:a="http://schemas.openxmlformats.org/drawingml/2006/main">
            <a:off x="876300" y="3028950"/>
            <a:ext cx="209550" cy="2095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12" name="part-lchipno-0">
            <a:extLst xmlns:a="http://schemas.openxmlformats.org/drawingml/2006/main">
              <a:ext uri="{FF2B5EF4-FFF2-40B4-BE49-F238E27FC236}">
                <a16:creationId xmlns:a16="http://schemas.microsoft.com/office/drawing/2014/main" id="{EE57D30E-3509-410F-AC69-1B62D6BF9525}"/>
              </a:ext>
            </a:extLst>
          </p:cNvPr>
          <p:cNvSpPr>
            <a:spLocks xmlns:a="http://schemas.openxmlformats.org/drawingml/2006/main" noGrp="1"/>
          </p:cNvSpPr>
          <p:nvPr/>
        </p:nvSpPr>
        <p:spPr>
          <a:xfrm xmlns:a="http://schemas.openxmlformats.org/drawingml/2006/main">
            <a:off x="876300" y="3067050"/>
            <a:ext cx="209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1</a:t>
            </a:r>
          </a:p>
        </p:txBody>
      </p:sp>
      <p:sp>
        <p:nvSpPr>
          <p:cNvPr id="13" name="part-head-0">
            <a:extLst xmlns:a="http://schemas.openxmlformats.org/drawingml/2006/main">
              <a:ext uri="{FF2B5EF4-FFF2-40B4-BE49-F238E27FC236}">
                <a16:creationId xmlns:a16="http://schemas.microsoft.com/office/drawing/2014/main" id="{027B752A-0060-473B-9A31-F4AEF0ED16B9}"/>
              </a:ext>
            </a:extLst>
          </p:cNvPr>
          <p:cNvSpPr>
            <a:spLocks xmlns:a="http://schemas.openxmlformats.org/drawingml/2006/main" noGrp="1"/>
          </p:cNvSpPr>
          <p:nvPr/>
        </p:nvSpPr>
        <p:spPr>
          <a:xfrm xmlns:a="http://schemas.openxmlformats.org/drawingml/2006/main">
            <a:off x="1181100" y="3009900"/>
            <a:ext cx="1123950" cy="53187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df — the table</a:t>
            </a:r>
          </a:p>
        </p:txBody>
      </p:sp>
      <p:sp>
        <p:nvSpPr>
          <p:cNvPr id="14" name="part-body-0">
            <a:extLst xmlns:a="http://schemas.openxmlformats.org/drawingml/2006/main">
              <a:ext uri="{FF2B5EF4-FFF2-40B4-BE49-F238E27FC236}">
                <a16:creationId xmlns:a16="http://schemas.microsoft.com/office/drawing/2014/main" id="{5CCA15A7-F4CE-4387-9498-D009E8BC2616}"/>
              </a:ext>
            </a:extLst>
          </p:cNvPr>
          <p:cNvSpPr>
            <a:spLocks xmlns:a="http://schemas.openxmlformats.org/drawingml/2006/main" noGrp="1"/>
          </p:cNvSpPr>
          <p:nvPr/>
        </p:nvSpPr>
        <p:spPr>
          <a:xfrm xmlns:a="http://schemas.openxmlformats.org/drawingml/2006/main">
            <a:off x="876300" y="3637026"/>
            <a:ext cx="1428750" cy="4107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0">
                <a:solidFill>
                  <a:srgbClr val="5A5F66"/>
                </a:solidFill>
                <a:latin typeface="Arial"/>
                <a:ea typeface="Arial"/>
                <a:cs typeface="Arial"/>
              </a:defRPr>
            </a:pPr>
            <a:r>
              <a:rPr sz="1200" b="0">
                <a:solidFill>
                  <a:srgbClr val="5A5F66"/>
                </a:solidFill>
                <a:latin typeface="Arial"/>
                <a:ea typeface="Arial"/>
                <a:cs typeface="Arial"/>
              </a:rPr>
              <a:t>All 24 rooms and their columns.</a:t>
            </a:r>
          </a:p>
        </p:txBody>
      </p:sp>
      <p:sp>
        <p:nvSpPr>
          <p:cNvPr id="15" name="">
            <a:extLst xmlns:a="http://schemas.openxmlformats.org/drawingml/2006/main">
              <a:ext uri="{FF2B5EF4-FFF2-40B4-BE49-F238E27FC236}">
                <a16:creationId xmlns:a16="http://schemas.microsoft.com/office/drawing/2014/main" id="{90CD8CD2-63A9-4454-B805-ACD291964DEE}"/>
              </a:ext>
            </a:extLst>
          </p:cNvPr>
          <p:cNvSpPr>
            <a:spLocks xmlns:a="http://schemas.openxmlformats.org/drawingml/2006/main" noGrp="1"/>
          </p:cNvSpPr>
          <p:nvPr/>
        </p:nvSpPr>
        <p:spPr>
          <a:xfrm xmlns:a="http://schemas.openxmlformats.org/drawingml/2006/main">
            <a:off x="1800225" y="2647950"/>
            <a:ext cx="335280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16" name="part-chip-1">
            <a:extLst xmlns:a="http://schemas.openxmlformats.org/drawingml/2006/main">
              <a:ext uri="{FF2B5EF4-FFF2-40B4-BE49-F238E27FC236}">
                <a16:creationId xmlns:a16="http://schemas.microsoft.com/office/drawing/2014/main" id="{1B50459F-3A17-4FE1-8664-8B16C0B06EC5}"/>
              </a:ext>
            </a:extLst>
          </p:cNvPr>
          <p:cNvSpPr>
            <a:spLocks xmlns:a="http://schemas.openxmlformats.org/drawingml/2006/main" noGrp="1"/>
          </p:cNvSpPr>
          <p:nvPr/>
        </p:nvSpPr>
        <p:spPr>
          <a:xfrm xmlns:a="http://schemas.openxmlformats.org/drawingml/2006/main">
            <a:off x="3352800" y="2724150"/>
            <a:ext cx="247650" cy="2476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17" name="part-chipno-1">
            <a:extLst xmlns:a="http://schemas.openxmlformats.org/drawingml/2006/main">
              <a:ext uri="{FF2B5EF4-FFF2-40B4-BE49-F238E27FC236}">
                <a16:creationId xmlns:a16="http://schemas.microsoft.com/office/drawing/2014/main" id="{BFD3EB35-FB02-49E7-B870-AAAD947BABE3}"/>
              </a:ext>
            </a:extLst>
          </p:cNvPr>
          <p:cNvSpPr>
            <a:spLocks xmlns:a="http://schemas.openxmlformats.org/drawingml/2006/main" noGrp="1"/>
          </p:cNvSpPr>
          <p:nvPr/>
        </p:nvSpPr>
        <p:spPr>
          <a:xfrm xmlns:a="http://schemas.openxmlformats.org/drawingml/2006/main">
            <a:off x="3352800" y="27717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2</a:t>
            </a:r>
          </a:p>
        </p:txBody>
      </p:sp>
      <p:sp>
        <p:nvSpPr>
          <p:cNvPr id="18" name="part-lchip-1">
            <a:extLst xmlns:a="http://schemas.openxmlformats.org/drawingml/2006/main">
              <a:ext uri="{FF2B5EF4-FFF2-40B4-BE49-F238E27FC236}">
                <a16:creationId xmlns:a16="http://schemas.microsoft.com/office/drawing/2014/main" id="{26AE6E1C-6BF4-481E-8942-9442BF24DC0A}"/>
              </a:ext>
            </a:extLst>
          </p:cNvPr>
          <p:cNvSpPr>
            <a:spLocks xmlns:a="http://schemas.openxmlformats.org/drawingml/2006/main" noGrp="1"/>
          </p:cNvSpPr>
          <p:nvPr/>
        </p:nvSpPr>
        <p:spPr>
          <a:xfrm xmlns:a="http://schemas.openxmlformats.org/drawingml/2006/main">
            <a:off x="2476500" y="3028950"/>
            <a:ext cx="209550" cy="2095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19" name="part-lchipno-1">
            <a:extLst xmlns:a="http://schemas.openxmlformats.org/drawingml/2006/main">
              <a:ext uri="{FF2B5EF4-FFF2-40B4-BE49-F238E27FC236}">
                <a16:creationId xmlns:a16="http://schemas.microsoft.com/office/drawing/2014/main" id="{A0D22D92-AB3C-44B9-818F-6DA121EBDBBC}"/>
              </a:ext>
            </a:extLst>
          </p:cNvPr>
          <p:cNvSpPr>
            <a:spLocks xmlns:a="http://schemas.openxmlformats.org/drawingml/2006/main" noGrp="1"/>
          </p:cNvSpPr>
          <p:nvPr/>
        </p:nvSpPr>
        <p:spPr>
          <a:xfrm xmlns:a="http://schemas.openxmlformats.org/drawingml/2006/main">
            <a:off x="2476500" y="3067050"/>
            <a:ext cx="209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2</a:t>
            </a:r>
          </a:p>
        </p:txBody>
      </p:sp>
      <p:sp>
        <p:nvSpPr>
          <p:cNvPr id="20" name="part-head-1">
            <a:extLst xmlns:a="http://schemas.openxmlformats.org/drawingml/2006/main">
              <a:ext uri="{FF2B5EF4-FFF2-40B4-BE49-F238E27FC236}">
                <a16:creationId xmlns:a16="http://schemas.microsoft.com/office/drawing/2014/main" id="{FDD94EB1-79EA-4D2D-9B32-3ACD3A1A2338}"/>
              </a:ext>
            </a:extLst>
          </p:cNvPr>
          <p:cNvSpPr>
            <a:spLocks xmlns:a="http://schemas.openxmlformats.org/drawingml/2006/main" noGrp="1"/>
          </p:cNvSpPr>
          <p:nvPr/>
        </p:nvSpPr>
        <p:spPr>
          <a:xfrm xmlns:a="http://schemas.openxmlformats.org/drawingml/2006/main">
            <a:off x="2781300" y="3009900"/>
            <a:ext cx="1695450" cy="284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SPLIT by zone</a:t>
            </a:r>
          </a:p>
        </p:txBody>
      </p:sp>
      <p:sp>
        <p:nvSpPr>
          <p:cNvPr id="21" name="part-body-1">
            <a:extLst xmlns:a="http://schemas.openxmlformats.org/drawingml/2006/main">
              <a:ext uri="{FF2B5EF4-FFF2-40B4-BE49-F238E27FC236}">
                <a16:creationId xmlns:a16="http://schemas.microsoft.com/office/drawing/2014/main" id="{1C2AB2AB-EF78-4822-AE71-8018D71B60E4}"/>
              </a:ext>
            </a:extLst>
          </p:cNvPr>
          <p:cNvSpPr>
            <a:spLocks xmlns:a="http://schemas.openxmlformats.org/drawingml/2006/main" noGrp="1"/>
          </p:cNvSpPr>
          <p:nvPr/>
        </p:nvSpPr>
        <p:spPr>
          <a:xfrm xmlns:a="http://schemas.openxmlformats.org/drawingml/2006/main">
            <a:off x="2476500" y="3390138"/>
            <a:ext cx="2000250" cy="4107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0">
                <a:solidFill>
                  <a:srgbClr val="5A5F66"/>
                </a:solidFill>
                <a:latin typeface="Arial"/>
                <a:ea typeface="Arial"/>
                <a:cs typeface="Arial"/>
              </a:defRPr>
            </a:pPr>
            <a:r>
              <a:rPr sz="1200" b="0">
                <a:solidFill>
                  <a:srgbClr val="5A5F66"/>
                </a:solidFill>
                <a:latin typeface="Arial"/>
                <a:ea typeface="Arial"/>
                <a:cs typeface="Arial"/>
              </a:rPr>
              <a:t>Collect North rows together and South rows together.</a:t>
            </a:r>
          </a:p>
        </p:txBody>
      </p:sp>
      <p:sp>
        <p:nvSpPr>
          <p:cNvPr id="22" name="">
            <a:extLst xmlns:a="http://schemas.openxmlformats.org/drawingml/2006/main">
              <a:ext uri="{FF2B5EF4-FFF2-40B4-BE49-F238E27FC236}">
                <a16:creationId xmlns:a16="http://schemas.microsoft.com/office/drawing/2014/main" id="{2A10ED8E-FE5A-4714-BC5A-682260EC4DEF}"/>
              </a:ext>
            </a:extLst>
          </p:cNvPr>
          <p:cNvSpPr>
            <a:spLocks xmlns:a="http://schemas.openxmlformats.org/drawingml/2006/main" noGrp="1"/>
          </p:cNvSpPr>
          <p:nvPr/>
        </p:nvSpPr>
        <p:spPr>
          <a:xfrm xmlns:a="http://schemas.openxmlformats.org/drawingml/2006/main">
            <a:off x="5153025" y="2647950"/>
            <a:ext cx="419100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23" name="part-chip-2">
            <a:extLst xmlns:a="http://schemas.openxmlformats.org/drawingml/2006/main">
              <a:ext uri="{FF2B5EF4-FFF2-40B4-BE49-F238E27FC236}">
                <a16:creationId xmlns:a16="http://schemas.microsoft.com/office/drawing/2014/main" id="{878E0264-C93D-4476-BB7E-DC03DC78690D}"/>
              </a:ext>
            </a:extLst>
          </p:cNvPr>
          <p:cNvSpPr>
            <a:spLocks xmlns:a="http://schemas.openxmlformats.org/drawingml/2006/main" noGrp="1"/>
          </p:cNvSpPr>
          <p:nvPr/>
        </p:nvSpPr>
        <p:spPr>
          <a:xfrm xmlns:a="http://schemas.openxmlformats.org/drawingml/2006/main">
            <a:off x="7124700" y="2724150"/>
            <a:ext cx="247650" cy="2476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24" name="part-chipno-2">
            <a:extLst xmlns:a="http://schemas.openxmlformats.org/drawingml/2006/main">
              <a:ext uri="{FF2B5EF4-FFF2-40B4-BE49-F238E27FC236}">
                <a16:creationId xmlns:a16="http://schemas.microsoft.com/office/drawing/2014/main" id="{E48208A6-F9E7-4032-BD22-8F6B07A3561B}"/>
              </a:ext>
            </a:extLst>
          </p:cNvPr>
          <p:cNvSpPr>
            <a:spLocks xmlns:a="http://schemas.openxmlformats.org/drawingml/2006/main" noGrp="1"/>
          </p:cNvSpPr>
          <p:nvPr/>
        </p:nvSpPr>
        <p:spPr>
          <a:xfrm xmlns:a="http://schemas.openxmlformats.org/drawingml/2006/main">
            <a:off x="7124700" y="27717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3</a:t>
            </a:r>
          </a:p>
        </p:txBody>
      </p:sp>
      <p:sp>
        <p:nvSpPr>
          <p:cNvPr id="25" name="part-lchip-2">
            <a:extLst xmlns:a="http://schemas.openxmlformats.org/drawingml/2006/main">
              <a:ext uri="{FF2B5EF4-FFF2-40B4-BE49-F238E27FC236}">
                <a16:creationId xmlns:a16="http://schemas.microsoft.com/office/drawing/2014/main" id="{ED6D51AA-FA03-445D-897B-EE976457B5CC}"/>
              </a:ext>
            </a:extLst>
          </p:cNvPr>
          <p:cNvSpPr>
            <a:spLocks xmlns:a="http://schemas.openxmlformats.org/drawingml/2006/main" noGrp="1"/>
          </p:cNvSpPr>
          <p:nvPr/>
        </p:nvSpPr>
        <p:spPr>
          <a:xfrm xmlns:a="http://schemas.openxmlformats.org/drawingml/2006/main">
            <a:off x="6248400" y="3028950"/>
            <a:ext cx="209550" cy="2095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26" name="part-lchipno-2">
            <a:extLst xmlns:a="http://schemas.openxmlformats.org/drawingml/2006/main">
              <a:ext uri="{FF2B5EF4-FFF2-40B4-BE49-F238E27FC236}">
                <a16:creationId xmlns:a16="http://schemas.microsoft.com/office/drawing/2014/main" id="{B96E9398-8F53-46A3-80E2-C9D57DECA6CE}"/>
              </a:ext>
            </a:extLst>
          </p:cNvPr>
          <p:cNvSpPr>
            <a:spLocks xmlns:a="http://schemas.openxmlformats.org/drawingml/2006/main" noGrp="1"/>
          </p:cNvSpPr>
          <p:nvPr/>
        </p:nvSpPr>
        <p:spPr>
          <a:xfrm xmlns:a="http://schemas.openxmlformats.org/drawingml/2006/main">
            <a:off x="6248400" y="3067050"/>
            <a:ext cx="209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3</a:t>
            </a:r>
          </a:p>
        </p:txBody>
      </p:sp>
      <p:sp>
        <p:nvSpPr>
          <p:cNvPr id="27" name="part-head-2">
            <a:extLst xmlns:a="http://schemas.openxmlformats.org/drawingml/2006/main">
              <a:ext uri="{FF2B5EF4-FFF2-40B4-BE49-F238E27FC236}">
                <a16:creationId xmlns:a16="http://schemas.microsoft.com/office/drawing/2014/main" id="{0F894A92-5C3C-42B5-8F6D-BAF3EE6445E9}"/>
              </a:ext>
            </a:extLst>
          </p:cNvPr>
          <p:cNvSpPr>
            <a:spLocks xmlns:a="http://schemas.openxmlformats.org/drawingml/2006/main" noGrp="1"/>
          </p:cNvSpPr>
          <p:nvPr/>
        </p:nvSpPr>
        <p:spPr>
          <a:xfrm xmlns:a="http://schemas.openxmlformats.org/drawingml/2006/main">
            <a:off x="6553200" y="3009900"/>
            <a:ext cx="1695450" cy="53187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SELECT one column</a:t>
            </a:r>
          </a:p>
        </p:txBody>
      </p:sp>
      <p:sp>
        <p:nvSpPr>
          <p:cNvPr id="28" name="part-body-2">
            <a:extLst xmlns:a="http://schemas.openxmlformats.org/drawingml/2006/main">
              <a:ext uri="{FF2B5EF4-FFF2-40B4-BE49-F238E27FC236}">
                <a16:creationId xmlns:a16="http://schemas.microsoft.com/office/drawing/2014/main" id="{5BDE9C32-C335-4F3C-8FE6-DE72AA63506E}"/>
              </a:ext>
            </a:extLst>
          </p:cNvPr>
          <p:cNvSpPr>
            <a:spLocks xmlns:a="http://schemas.openxmlformats.org/drawingml/2006/main" noGrp="1"/>
          </p:cNvSpPr>
          <p:nvPr/>
        </p:nvSpPr>
        <p:spPr>
          <a:xfrm xmlns:a="http://schemas.openxmlformats.org/drawingml/2006/main">
            <a:off x="6248400" y="3637026"/>
            <a:ext cx="2000250" cy="4107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0">
                <a:solidFill>
                  <a:srgbClr val="5A5F66"/>
                </a:solidFill>
                <a:latin typeface="Arial"/>
                <a:ea typeface="Arial"/>
                <a:cs typeface="Arial"/>
              </a:defRPr>
            </a:pPr>
            <a:r>
              <a:rPr sz="1200" b="0">
                <a:solidFill>
                  <a:srgbClr val="5A5F66"/>
                </a:solidFill>
                <a:latin typeface="Arial"/>
                <a:ea typeface="Arial"/>
                <a:cs typeface="Arial"/>
              </a:rPr>
              <a:t>Choose the measurement to summarize.</a:t>
            </a:r>
          </a:p>
        </p:txBody>
      </p:sp>
      <p:sp>
        <p:nvSpPr>
          <p:cNvPr id="29" name="">
            <a:extLst xmlns:a="http://schemas.openxmlformats.org/drawingml/2006/main">
              <a:ext uri="{FF2B5EF4-FFF2-40B4-BE49-F238E27FC236}">
                <a16:creationId xmlns:a16="http://schemas.microsoft.com/office/drawing/2014/main" id="{A1AC9DD3-F449-4648-A910-9D1E9518C219}"/>
              </a:ext>
            </a:extLst>
          </p:cNvPr>
          <p:cNvSpPr>
            <a:spLocks xmlns:a="http://schemas.openxmlformats.org/drawingml/2006/main" noGrp="1"/>
          </p:cNvSpPr>
          <p:nvPr/>
        </p:nvSpPr>
        <p:spPr>
          <a:xfrm xmlns:a="http://schemas.openxmlformats.org/drawingml/2006/main">
            <a:off x="9344025" y="2647950"/>
            <a:ext cx="146685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30" name="part-chip-3">
            <a:extLst xmlns:a="http://schemas.openxmlformats.org/drawingml/2006/main">
              <a:ext uri="{FF2B5EF4-FFF2-40B4-BE49-F238E27FC236}">
                <a16:creationId xmlns:a16="http://schemas.microsoft.com/office/drawing/2014/main" id="{CF997BF7-51CA-450E-90F7-94F19FB34623}"/>
              </a:ext>
            </a:extLst>
          </p:cNvPr>
          <p:cNvSpPr>
            <a:spLocks xmlns:a="http://schemas.openxmlformats.org/drawingml/2006/main" noGrp="1"/>
          </p:cNvSpPr>
          <p:nvPr/>
        </p:nvSpPr>
        <p:spPr>
          <a:xfrm xmlns:a="http://schemas.openxmlformats.org/drawingml/2006/main">
            <a:off x="9953625" y="2724150"/>
            <a:ext cx="247650" cy="2476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31" name="part-chipno-3">
            <a:extLst xmlns:a="http://schemas.openxmlformats.org/drawingml/2006/main">
              <a:ext uri="{FF2B5EF4-FFF2-40B4-BE49-F238E27FC236}">
                <a16:creationId xmlns:a16="http://schemas.microsoft.com/office/drawing/2014/main" id="{725AAAB9-8111-4162-A96E-989D75CC2B9A}"/>
              </a:ext>
            </a:extLst>
          </p:cNvPr>
          <p:cNvSpPr>
            <a:spLocks xmlns:a="http://schemas.openxmlformats.org/drawingml/2006/main" noGrp="1"/>
          </p:cNvSpPr>
          <p:nvPr/>
        </p:nvSpPr>
        <p:spPr>
          <a:xfrm xmlns:a="http://schemas.openxmlformats.org/drawingml/2006/main">
            <a:off x="9953625" y="27717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4</a:t>
            </a:r>
          </a:p>
        </p:txBody>
      </p:sp>
      <p:sp>
        <p:nvSpPr>
          <p:cNvPr id="32" name="part-lchip-3">
            <a:extLst xmlns:a="http://schemas.openxmlformats.org/drawingml/2006/main">
              <a:ext uri="{FF2B5EF4-FFF2-40B4-BE49-F238E27FC236}">
                <a16:creationId xmlns:a16="http://schemas.microsoft.com/office/drawing/2014/main" id="{B4EA1716-AF1D-465F-A03C-93489E1E092B}"/>
              </a:ext>
            </a:extLst>
          </p:cNvPr>
          <p:cNvSpPr>
            <a:spLocks xmlns:a="http://schemas.openxmlformats.org/drawingml/2006/main" noGrp="1"/>
          </p:cNvSpPr>
          <p:nvPr/>
        </p:nvSpPr>
        <p:spPr>
          <a:xfrm xmlns:a="http://schemas.openxmlformats.org/drawingml/2006/main">
            <a:off x="9077325" y="3028950"/>
            <a:ext cx="209550" cy="2095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33" name="part-lchipno-3">
            <a:extLst xmlns:a="http://schemas.openxmlformats.org/drawingml/2006/main">
              <a:ext uri="{FF2B5EF4-FFF2-40B4-BE49-F238E27FC236}">
                <a16:creationId xmlns:a16="http://schemas.microsoft.com/office/drawing/2014/main" id="{52AA03B0-92E0-40F2-A5F3-EC8FD54FA49C}"/>
              </a:ext>
            </a:extLst>
          </p:cNvPr>
          <p:cNvSpPr>
            <a:spLocks xmlns:a="http://schemas.openxmlformats.org/drawingml/2006/main" noGrp="1"/>
          </p:cNvSpPr>
          <p:nvPr/>
        </p:nvSpPr>
        <p:spPr>
          <a:xfrm xmlns:a="http://schemas.openxmlformats.org/drawingml/2006/main">
            <a:off x="9077325" y="3067050"/>
            <a:ext cx="209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4</a:t>
            </a:r>
          </a:p>
        </p:txBody>
      </p:sp>
      <p:sp>
        <p:nvSpPr>
          <p:cNvPr id="34" name="part-head-3">
            <a:extLst xmlns:a="http://schemas.openxmlformats.org/drawingml/2006/main">
              <a:ext uri="{FF2B5EF4-FFF2-40B4-BE49-F238E27FC236}">
                <a16:creationId xmlns:a16="http://schemas.microsoft.com/office/drawing/2014/main" id="{8EF25DCD-5966-4AF8-8672-DA3959829368}"/>
              </a:ext>
            </a:extLst>
          </p:cNvPr>
          <p:cNvSpPr>
            <a:spLocks xmlns:a="http://schemas.openxmlformats.org/drawingml/2006/main" noGrp="1"/>
          </p:cNvSpPr>
          <p:nvPr/>
        </p:nvSpPr>
        <p:spPr>
          <a:xfrm xmlns:a="http://schemas.openxmlformats.org/drawingml/2006/main">
            <a:off x="9382125" y="3009900"/>
            <a:ext cx="1695450" cy="53187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APPLY + COMBINE</a:t>
            </a:r>
          </a:p>
        </p:txBody>
      </p:sp>
      <p:sp>
        <p:nvSpPr>
          <p:cNvPr id="35" name="part-body-3">
            <a:extLst xmlns:a="http://schemas.openxmlformats.org/drawingml/2006/main">
              <a:ext uri="{FF2B5EF4-FFF2-40B4-BE49-F238E27FC236}">
                <a16:creationId xmlns:a16="http://schemas.microsoft.com/office/drawing/2014/main" id="{99544BB1-2C16-4E25-8A39-1D72A5DFD979}"/>
              </a:ext>
            </a:extLst>
          </p:cNvPr>
          <p:cNvSpPr>
            <a:spLocks xmlns:a="http://schemas.openxmlformats.org/drawingml/2006/main" noGrp="1"/>
          </p:cNvSpPr>
          <p:nvPr/>
        </p:nvSpPr>
        <p:spPr>
          <a:xfrm xmlns:a="http://schemas.openxmlformats.org/drawingml/2006/main">
            <a:off x="9077325" y="3637026"/>
            <a:ext cx="2000250" cy="4107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0">
                <a:solidFill>
                  <a:srgbClr val="5A5F66"/>
                </a:solidFill>
                <a:latin typeface="Arial"/>
                <a:ea typeface="Arial"/>
                <a:cs typeface="Arial"/>
              </a:defRPr>
            </a:pPr>
            <a:r>
              <a:rPr sz="1200" b="0">
                <a:solidFill>
                  <a:srgbClr val="5A5F66"/>
                </a:solidFill>
                <a:latin typeface="Arial"/>
                <a:ea typeface="Arial"/>
                <a:cs typeface="Arial"/>
              </a:rPr>
              <a:t>Compute each group mean and return one Series.</a:t>
            </a:r>
          </a:p>
        </p:txBody>
      </p:sp>
    </p:spTree>
    <p:extLst>
      <p:ext uri="{BB962C8B-B14F-4D97-AF65-F5344CB8AC3E}">
        <p14:creationId xmlns:p14="http://schemas.microsoft.com/office/powerpoint/2010/main" val="147211987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kicker">
            <a:extLst xmlns:a="http://schemas.openxmlformats.org/drawingml/2006/main">
              <a:ext uri="{FF2B5EF4-FFF2-40B4-BE49-F238E27FC236}">
                <a16:creationId xmlns:a16="http://schemas.microsoft.com/office/drawing/2014/main" id="{0963C7FF-3624-4911-A5E0-F3BD454A5CD2}"/>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VISUAL EVIDENCE</a:t>
            </a:r>
          </a:p>
        </p:txBody>
      </p:sp>
      <p:sp>
        <p:nvSpPr>
          <p:cNvPr id="2" name="title">
            <a:extLst xmlns:a="http://schemas.openxmlformats.org/drawingml/2006/main">
              <a:ext uri="{FF2B5EF4-FFF2-40B4-BE49-F238E27FC236}">
                <a16:creationId xmlns:a16="http://schemas.microsoft.com/office/drawing/2014/main" id="{FD77F0BE-122F-456E-802B-4757C990B25C}"/>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Split, apply, combine - drawn</a:t>
            </a:r>
          </a:p>
        </p:txBody>
      </p:sp>
      <p:sp>
        <p:nvSpPr>
          <p:cNvPr id="3" name="">
            <a:extLst xmlns:a="http://schemas.openxmlformats.org/drawingml/2006/main">
              <a:ext uri="{FF2B5EF4-FFF2-40B4-BE49-F238E27FC236}">
                <a16:creationId xmlns:a16="http://schemas.microsoft.com/office/drawing/2014/main" id="{9993705A-DFA0-4144-A2FA-530C8352F102}"/>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2317780D-0F86-42A7-BF8D-C88A56A940C6}"/>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5 · Meeting B · Grouping and Outlier Studio</a:t>
            </a:r>
          </a:p>
        </p:txBody>
      </p:sp>
      <p:sp>
        <p:nvSpPr>
          <p:cNvPr id="5" name="page">
            <a:extLst xmlns:a="http://schemas.openxmlformats.org/drawingml/2006/main">
              <a:ext uri="{FF2B5EF4-FFF2-40B4-BE49-F238E27FC236}">
                <a16:creationId xmlns:a16="http://schemas.microsoft.com/office/drawing/2014/main" id="{A32B0AE0-4384-4367-9180-28E0DE0D279A}"/>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06</a:t>
            </a:r>
          </a:p>
        </p:txBody>
      </p:sp>
      <p:sp>
        <p:nvSpPr>
          <p:cNvPr id="6" name="figure-panel">
            <a:extLst xmlns:a="http://schemas.openxmlformats.org/drawingml/2006/main">
              <a:ext uri="{FF2B5EF4-FFF2-40B4-BE49-F238E27FC236}">
                <a16:creationId xmlns:a16="http://schemas.microsoft.com/office/drawing/2014/main" id="{C1ADE674-5BFD-4136-8A0D-A36A023B0CB1}"/>
              </a:ext>
            </a:extLst>
          </p:cNvPr>
          <p:cNvSpPr>
            <a:spLocks xmlns:a="http://schemas.openxmlformats.org/drawingml/2006/main" noGrp="1"/>
          </p:cNvSpPr>
          <p:nvPr/>
        </p:nvSpPr>
        <p:spPr>
          <a:xfrm xmlns:a="http://schemas.openxmlformats.org/drawingml/2006/main">
            <a:off x="609600" y="1809750"/>
            <a:ext cx="6896100" cy="3995166"/>
          </a:xfrm>
          <a:prstGeom xmlns:a="http://schemas.openxmlformats.org/drawingml/2006/main" prst="roundRect">
            <a:avLst>
              <a:gd name="adj" fmla="val 1907"/>
            </a:avLst>
          </a:prstGeom>
          <a:solidFill xmlns:a="http://schemas.openxmlformats.org/drawingml/2006/main">
            <a:srgbClr val="FFFFFF"/>
          </a:solidFill>
          <a:ln xmlns:a="http://schemas.openxmlformats.org/drawingml/2006/main" w="9525">
            <a:solidFill>
              <a:srgbClr val="B8BCC4"/>
            </a:solidFill>
            <a:prstDash val="solid"/>
          </a:ln>
        </p:spPr>
      </p:sp>
      <p:pic>
        <p:nvPicPr>
          <p:cNvPr id="17" name="" descr="Diagram: one table of 24 rooms splits into a North group of 12 and a South group of 12, each passes through .mean(), and both combine into one row per zone."/>
          <p:cNvPicPr>
            <a:picLocks xmlns:a="http://schemas.openxmlformats.org/drawingml/2006/main" noChangeAspect="1"/>
          </p:cNvPicPr>
          <p:nvPr/>
        </p:nvPicPr>
        <p:blipFill>
          <a:blip xmlns:r="http://schemas.openxmlformats.org/officeDocument/2006/relationships" xmlns:a="http://schemas.openxmlformats.org/drawingml/2006/main" r:embed="R7fd69095a86a4b37"/>
          <a:stretch xmlns:a="http://schemas.openxmlformats.org/drawingml/2006/main"/>
        </p:blipFill>
        <p:spPr>
          <a:xfrm xmlns:a="http://schemas.openxmlformats.org/drawingml/2006/main">
            <a:off x="742950" y="2190303"/>
            <a:ext cx="6629400" cy="3234061"/>
          </a:xfrm>
          <a:prstGeom xmlns:a="http://schemas.openxmlformats.org/drawingml/2006/main" prst="rect">
            <a:avLst/>
          </a:prstGeom>
        </p:spPr>
      </p:pic>
      <p:sp>
        <p:nvSpPr>
          <p:cNvPr id="8" name="figure-caption">
            <a:extLst xmlns:a="http://schemas.openxmlformats.org/drawingml/2006/main">
              <a:ext uri="{FF2B5EF4-FFF2-40B4-BE49-F238E27FC236}">
                <a16:creationId xmlns:a16="http://schemas.microsoft.com/office/drawing/2014/main" id="{DB6E2654-C9C7-4B7A-8601-3E0ED5B65723}"/>
              </a:ext>
            </a:extLst>
          </p:cNvPr>
          <p:cNvSpPr>
            <a:spLocks xmlns:a="http://schemas.openxmlformats.org/drawingml/2006/main" noGrp="1"/>
          </p:cNvSpPr>
          <p:nvPr/>
        </p:nvSpPr>
        <p:spPr>
          <a:xfrm xmlns:a="http://schemas.openxmlformats.org/drawingml/2006/main">
            <a:off x="762000" y="5881116"/>
            <a:ext cx="6591300" cy="27203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0">
                <a:solidFill>
                  <a:srgbClr val="5A5F66"/>
                </a:solidFill>
                <a:latin typeface="Arial"/>
                <a:ea typeface="Arial"/>
                <a:cs typeface="Arial"/>
              </a:defRPr>
            </a:pPr>
            <a:r>
              <a:rPr sz="1200" b="0">
                <a:solidFill>
                  <a:srgbClr val="5A5F66"/>
                </a:solidFill>
                <a:latin typeface="Arial"/>
                <a:ea typeface="Arial"/>
                <a:cs typeface="Arial"/>
              </a:rPr>
              <a:t>One table in, two groups, one aggregation each, one summary table out.</a:t>
            </a:r>
          </a:p>
        </p:txBody>
      </p:sp>
      <p:sp>
        <p:nvSpPr>
          <p:cNvPr id="9" name="figure-explain-head">
            <a:extLst xmlns:a="http://schemas.openxmlformats.org/drawingml/2006/main">
              <a:ext uri="{FF2B5EF4-FFF2-40B4-BE49-F238E27FC236}">
                <a16:creationId xmlns:a16="http://schemas.microsoft.com/office/drawing/2014/main" id="{47B5BC08-A4D9-49C0-B025-B18422BA83BC}"/>
              </a:ext>
            </a:extLst>
          </p:cNvPr>
          <p:cNvSpPr>
            <a:spLocks xmlns:a="http://schemas.openxmlformats.org/drawingml/2006/main" noGrp="1"/>
          </p:cNvSpPr>
          <p:nvPr/>
        </p:nvSpPr>
        <p:spPr>
          <a:xfrm xmlns:a="http://schemas.openxmlformats.org/drawingml/2006/main">
            <a:off x="7886700" y="2628900"/>
            <a:ext cx="3695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Three words, one shape</a:t>
            </a:r>
          </a:p>
        </p:txBody>
      </p:sp>
      <p:sp>
        <p:nvSpPr>
          <p:cNvPr id="10" name="figure-explain-body">
            <a:extLst xmlns:a="http://schemas.openxmlformats.org/drawingml/2006/main">
              <a:ext uri="{FF2B5EF4-FFF2-40B4-BE49-F238E27FC236}">
                <a16:creationId xmlns:a16="http://schemas.microsoft.com/office/drawing/2014/main" id="{8FF1968C-85B8-4DC0-9C2C-0B107E802E55}"/>
              </a:ext>
            </a:extLst>
          </p:cNvPr>
          <p:cNvSpPr>
            <a:spLocks xmlns:a="http://schemas.openxmlformats.org/drawingml/2006/main" noGrp="1"/>
          </p:cNvSpPr>
          <p:nvPr/>
        </p:nvSpPr>
        <p:spPr>
          <a:xfrm xmlns:a="http://schemas.openxmlformats.org/drawingml/2006/main">
            <a:off x="7886700" y="3126486"/>
            <a:ext cx="3695700" cy="16230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groupby('zone') does the split. .agg() or .mean() does the apply. pandas does the combine for you, which is why the result has one row per zone rather than one row per room. Knowing which of the three you are looking at is how you debug a summary that came back the wrong shape.</a:t>
            </a:r>
          </a:p>
        </p:txBody>
      </p:sp>
    </p:spTree>
    <p:extLst>
      <p:ext uri="{BB962C8B-B14F-4D97-AF65-F5344CB8AC3E}">
        <p14:creationId xmlns:p14="http://schemas.microsoft.com/office/powerpoint/2010/main" val="82052357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kicker">
            <a:extLst xmlns:a="http://schemas.openxmlformats.org/drawingml/2006/main">
              <a:ext uri="{FF2B5EF4-FFF2-40B4-BE49-F238E27FC236}">
                <a16:creationId xmlns:a16="http://schemas.microsoft.com/office/drawing/2014/main" id="{FAE34B63-76B9-4DE9-8153-A1546D5EBCD8}"/>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METHOD</a:t>
            </a:r>
          </a:p>
        </p:txBody>
      </p:sp>
      <p:sp>
        <p:nvSpPr>
          <p:cNvPr id="2" name="title">
            <a:extLst xmlns:a="http://schemas.openxmlformats.org/drawingml/2006/main">
              <a:ext uri="{FF2B5EF4-FFF2-40B4-BE49-F238E27FC236}">
                <a16:creationId xmlns:a16="http://schemas.microsoft.com/office/drawing/2014/main" id="{150E05CE-3E15-4FF6-8A01-C3F93C6D8CB9}"/>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Build complexity only after the smaller part works</a:t>
            </a:r>
          </a:p>
        </p:txBody>
      </p:sp>
      <p:sp>
        <p:nvSpPr>
          <p:cNvPr id="3" name="">
            <a:extLst xmlns:a="http://schemas.openxmlformats.org/drawingml/2006/main">
              <a:ext uri="{FF2B5EF4-FFF2-40B4-BE49-F238E27FC236}">
                <a16:creationId xmlns:a16="http://schemas.microsoft.com/office/drawing/2014/main" id="{8C6EE275-56C1-4678-B5E0-C3AE2BFFF667}"/>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081FCFB6-CF70-4748-8B39-5DAB4264DE7D}"/>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5 · Meeting B · Grouping and Outlier Studio</a:t>
            </a:r>
          </a:p>
        </p:txBody>
      </p:sp>
      <p:sp>
        <p:nvSpPr>
          <p:cNvPr id="5" name="page">
            <a:extLst xmlns:a="http://schemas.openxmlformats.org/drawingml/2006/main">
              <a:ext uri="{FF2B5EF4-FFF2-40B4-BE49-F238E27FC236}">
                <a16:creationId xmlns:a16="http://schemas.microsoft.com/office/drawing/2014/main" id="{3DA2F78A-FC90-4DA9-A9EA-4305A6A92FF9}"/>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07</a:t>
            </a:r>
          </a:p>
        </p:txBody>
      </p:sp>
      <p:sp>
        <p:nvSpPr>
          <p:cNvPr id="6" name="step-arrow-0">
            <a:extLst xmlns:a="http://schemas.openxmlformats.org/drawingml/2006/main">
              <a:ext uri="{FF2B5EF4-FFF2-40B4-BE49-F238E27FC236}">
                <a16:creationId xmlns:a16="http://schemas.microsoft.com/office/drawing/2014/main" id="{7EC85F52-367D-4874-9B0E-080713A06DFA}"/>
              </a:ext>
            </a:extLst>
          </p:cNvPr>
          <p:cNvSpPr>
            <a:spLocks xmlns:a="http://schemas.openxmlformats.org/drawingml/2006/main" noGrp="1"/>
          </p:cNvSpPr>
          <p:nvPr/>
        </p:nvSpPr>
        <p:spPr>
          <a:xfrm xmlns:a="http://schemas.openxmlformats.org/drawingml/2006/main">
            <a:off x="4130675"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7" name="step-arrow-1">
            <a:extLst xmlns:a="http://schemas.openxmlformats.org/drawingml/2006/main">
              <a:ext uri="{FF2B5EF4-FFF2-40B4-BE49-F238E27FC236}">
                <a16:creationId xmlns:a16="http://schemas.microsoft.com/office/drawing/2014/main" id="{48493977-668F-43AF-8797-5561FB13D871}"/>
              </a:ext>
            </a:extLst>
          </p:cNvPr>
          <p:cNvSpPr>
            <a:spLocks xmlns:a="http://schemas.openxmlformats.org/drawingml/2006/main" noGrp="1"/>
          </p:cNvSpPr>
          <p:nvPr/>
        </p:nvSpPr>
        <p:spPr>
          <a:xfrm xmlns:a="http://schemas.openxmlformats.org/drawingml/2006/main">
            <a:off x="7908925"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8" name="step-node-0">
            <a:extLst xmlns:a="http://schemas.openxmlformats.org/drawingml/2006/main">
              <a:ext uri="{FF2B5EF4-FFF2-40B4-BE49-F238E27FC236}">
                <a16:creationId xmlns:a16="http://schemas.microsoft.com/office/drawing/2014/main" id="{E0CD1E75-0679-4109-BF89-57A213E246D3}"/>
              </a:ext>
            </a:extLst>
          </p:cNvPr>
          <p:cNvSpPr>
            <a:spLocks xmlns:a="http://schemas.openxmlformats.org/drawingml/2006/main" noGrp="1"/>
          </p:cNvSpPr>
          <p:nvPr/>
        </p:nvSpPr>
        <p:spPr>
          <a:xfrm xmlns:a="http://schemas.openxmlformats.org/drawingml/2006/main">
            <a:off x="609600" y="1847850"/>
            <a:ext cx="3416300" cy="4171950"/>
          </a:xfrm>
          <a:prstGeom xmlns:a="http://schemas.openxmlformats.org/drawingml/2006/main" prst="roundRect">
            <a:avLst>
              <a:gd name="adj" fmla="val 2788"/>
            </a:avLst>
          </a:prstGeom>
          <a:solidFill xmlns:a="http://schemas.openxmlformats.org/drawingml/2006/main">
            <a:srgbClr val="F3F7FB"/>
          </a:solidFill>
          <a:ln xmlns:a="http://schemas.openxmlformats.org/drawingml/2006/main" w="9525">
            <a:solidFill>
              <a:srgbClr val="2E74B5"/>
            </a:solidFill>
            <a:prstDash val="solid"/>
          </a:ln>
        </p:spPr>
      </p:sp>
      <p:sp>
        <p:nvSpPr>
          <p:cNvPr id="9" name="step-number-0">
            <a:extLst xmlns:a="http://schemas.openxmlformats.org/drawingml/2006/main">
              <a:ext uri="{FF2B5EF4-FFF2-40B4-BE49-F238E27FC236}">
                <a16:creationId xmlns:a16="http://schemas.microsoft.com/office/drawing/2014/main" id="{81597C0A-C947-4A9E-968B-D52CBCB58059}"/>
              </a:ext>
            </a:extLst>
          </p:cNvPr>
          <p:cNvSpPr>
            <a:spLocks xmlns:a="http://schemas.openxmlformats.org/drawingml/2006/main" noGrp="1"/>
          </p:cNvSpPr>
          <p:nvPr/>
        </p:nvSpPr>
        <p:spPr>
          <a:xfrm xmlns:a="http://schemas.openxmlformats.org/drawingml/2006/main">
            <a:off x="80010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01</a:t>
            </a:r>
          </a:p>
        </p:txBody>
      </p:sp>
      <p:sp>
        <p:nvSpPr>
          <p:cNvPr id="10" name="step-label-0">
            <a:extLst xmlns:a="http://schemas.openxmlformats.org/drawingml/2006/main">
              <a:ext uri="{FF2B5EF4-FFF2-40B4-BE49-F238E27FC236}">
                <a16:creationId xmlns:a16="http://schemas.microsoft.com/office/drawing/2014/main" id="{E5610A96-683E-46DC-A811-8BDB3213FA16}"/>
              </a:ext>
            </a:extLst>
          </p:cNvPr>
          <p:cNvSpPr>
            <a:spLocks xmlns:a="http://schemas.openxmlformats.org/drawingml/2006/main" noGrp="1"/>
          </p:cNvSpPr>
          <p:nvPr/>
        </p:nvSpPr>
        <p:spPr>
          <a:xfrm xmlns:a="http://schemas.openxmlformats.org/drawingml/2006/main">
            <a:off x="1295400" y="2057400"/>
            <a:ext cx="254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ONE COLUMN</a:t>
            </a:r>
          </a:p>
        </p:txBody>
      </p:sp>
      <p:sp>
        <p:nvSpPr>
          <p:cNvPr id="11" name="">
            <a:extLst xmlns:a="http://schemas.openxmlformats.org/drawingml/2006/main">
              <a:ext uri="{FF2B5EF4-FFF2-40B4-BE49-F238E27FC236}">
                <a16:creationId xmlns:a16="http://schemas.microsoft.com/office/drawing/2014/main" id="{501213AD-D2A5-4C37-85A9-139574205D93}"/>
              </a:ext>
            </a:extLst>
          </p:cNvPr>
          <p:cNvSpPr>
            <a:spLocks xmlns:a="http://schemas.openxmlformats.org/drawingml/2006/main" noGrp="1"/>
          </p:cNvSpPr>
          <p:nvPr/>
        </p:nvSpPr>
        <p:spPr>
          <a:xfrm xmlns:a="http://schemas.openxmlformats.org/drawingml/2006/main">
            <a:off x="800100" y="2476500"/>
            <a:ext cx="303530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12" name="step-head-0">
            <a:extLst xmlns:a="http://schemas.openxmlformats.org/drawingml/2006/main">
              <a:ext uri="{FF2B5EF4-FFF2-40B4-BE49-F238E27FC236}">
                <a16:creationId xmlns:a16="http://schemas.microsoft.com/office/drawing/2014/main" id="{6CA245C7-A16E-48D6-94A0-BE46F79FF472}"/>
              </a:ext>
            </a:extLst>
          </p:cNvPr>
          <p:cNvSpPr>
            <a:spLocks xmlns:a="http://schemas.openxmlformats.org/drawingml/2006/main" noGrp="1"/>
          </p:cNvSpPr>
          <p:nvPr/>
        </p:nvSpPr>
        <p:spPr>
          <a:xfrm xmlns:a="http://schemas.openxmlformats.org/drawingml/2006/main">
            <a:off x="800100" y="2667000"/>
            <a:ext cx="30353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Verify one summary</a:t>
            </a:r>
          </a:p>
        </p:txBody>
      </p:sp>
      <p:sp>
        <p:nvSpPr>
          <p:cNvPr id="13" name="step-body-0">
            <a:extLst xmlns:a="http://schemas.openxmlformats.org/drawingml/2006/main">
              <a:ext uri="{FF2B5EF4-FFF2-40B4-BE49-F238E27FC236}">
                <a16:creationId xmlns:a16="http://schemas.microsoft.com/office/drawing/2014/main" id="{3CC05A2A-7D89-404F-A17B-9B452D9E850C}"/>
              </a:ext>
            </a:extLst>
          </p:cNvPr>
          <p:cNvSpPr>
            <a:spLocks xmlns:a="http://schemas.openxmlformats.org/drawingml/2006/main" noGrp="1"/>
          </p:cNvSpPr>
          <p:nvPr/>
        </p:nvSpPr>
        <p:spPr>
          <a:xfrm xmlns:a="http://schemas.openxmlformats.org/drawingml/2006/main">
            <a:off x="800100" y="3352800"/>
            <a:ext cx="3035300"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Group by zone, compute one mean, and check it against Meeting A's headline number before trusting anything more complex.</a:t>
            </a:r>
          </a:p>
        </p:txBody>
      </p:sp>
      <p:sp>
        <p:nvSpPr>
          <p:cNvPr id="14" name="step-node-1">
            <a:extLst xmlns:a="http://schemas.openxmlformats.org/drawingml/2006/main">
              <a:ext uri="{FF2B5EF4-FFF2-40B4-BE49-F238E27FC236}">
                <a16:creationId xmlns:a16="http://schemas.microsoft.com/office/drawing/2014/main" id="{B34784DC-2C08-41F8-9C6A-14CE4F79413B}"/>
              </a:ext>
            </a:extLst>
          </p:cNvPr>
          <p:cNvSpPr>
            <a:spLocks xmlns:a="http://schemas.openxmlformats.org/drawingml/2006/main" noGrp="1"/>
          </p:cNvSpPr>
          <p:nvPr/>
        </p:nvSpPr>
        <p:spPr>
          <a:xfrm xmlns:a="http://schemas.openxmlformats.org/drawingml/2006/main">
            <a:off x="4387850" y="1847850"/>
            <a:ext cx="3416300" cy="4171950"/>
          </a:xfrm>
          <a:prstGeom xmlns:a="http://schemas.openxmlformats.org/drawingml/2006/main" prst="roundRect">
            <a:avLst>
              <a:gd name="adj" fmla="val 2788"/>
            </a:avLst>
          </a:prstGeom>
          <a:solidFill xmlns:a="http://schemas.openxmlformats.org/drawingml/2006/main">
            <a:srgbClr val="F6F7F9"/>
          </a:solidFill>
          <a:ln xmlns:a="http://schemas.openxmlformats.org/drawingml/2006/main" w="9525">
            <a:solidFill>
              <a:srgbClr val="DDE0E5"/>
            </a:solidFill>
            <a:prstDash val="solid"/>
          </a:ln>
        </p:spPr>
      </p:sp>
      <p:sp>
        <p:nvSpPr>
          <p:cNvPr id="15" name="step-number-1">
            <a:extLst xmlns:a="http://schemas.openxmlformats.org/drawingml/2006/main">
              <a:ext uri="{FF2B5EF4-FFF2-40B4-BE49-F238E27FC236}">
                <a16:creationId xmlns:a16="http://schemas.microsoft.com/office/drawing/2014/main" id="{42A886C8-25E1-48D4-8C0E-704D0038785B}"/>
              </a:ext>
            </a:extLst>
          </p:cNvPr>
          <p:cNvSpPr>
            <a:spLocks xmlns:a="http://schemas.openxmlformats.org/drawingml/2006/main" noGrp="1"/>
          </p:cNvSpPr>
          <p:nvPr/>
        </p:nvSpPr>
        <p:spPr>
          <a:xfrm xmlns:a="http://schemas.openxmlformats.org/drawingml/2006/main">
            <a:off x="457835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02</a:t>
            </a:r>
          </a:p>
        </p:txBody>
      </p:sp>
      <p:sp>
        <p:nvSpPr>
          <p:cNvPr id="16" name="step-label-1">
            <a:extLst xmlns:a="http://schemas.openxmlformats.org/drawingml/2006/main">
              <a:ext uri="{FF2B5EF4-FFF2-40B4-BE49-F238E27FC236}">
                <a16:creationId xmlns:a16="http://schemas.microsoft.com/office/drawing/2014/main" id="{43192CFD-08FD-494A-88FE-CE0B0EB0F7C6}"/>
              </a:ext>
            </a:extLst>
          </p:cNvPr>
          <p:cNvSpPr>
            <a:spLocks xmlns:a="http://schemas.openxmlformats.org/drawingml/2006/main" noGrp="1"/>
          </p:cNvSpPr>
          <p:nvPr/>
        </p:nvSpPr>
        <p:spPr>
          <a:xfrm xmlns:a="http://schemas.openxmlformats.org/drawingml/2006/main">
            <a:off x="5073650" y="2057400"/>
            <a:ext cx="254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GROUPED SUMMARY</a:t>
            </a:r>
          </a:p>
        </p:txBody>
      </p:sp>
      <p:sp>
        <p:nvSpPr>
          <p:cNvPr id="17" name="">
            <a:extLst xmlns:a="http://schemas.openxmlformats.org/drawingml/2006/main">
              <a:ext uri="{FF2B5EF4-FFF2-40B4-BE49-F238E27FC236}">
                <a16:creationId xmlns:a16="http://schemas.microsoft.com/office/drawing/2014/main" id="{1871DDED-7FBB-4348-AC2F-535D07D2382D}"/>
              </a:ext>
            </a:extLst>
          </p:cNvPr>
          <p:cNvSpPr>
            <a:spLocks xmlns:a="http://schemas.openxmlformats.org/drawingml/2006/main" noGrp="1"/>
          </p:cNvSpPr>
          <p:nvPr/>
        </p:nvSpPr>
        <p:spPr>
          <a:xfrm xmlns:a="http://schemas.openxmlformats.org/drawingml/2006/main">
            <a:off x="4578350" y="2476500"/>
            <a:ext cx="303530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18" name="step-head-1">
            <a:extLst xmlns:a="http://schemas.openxmlformats.org/drawingml/2006/main">
              <a:ext uri="{FF2B5EF4-FFF2-40B4-BE49-F238E27FC236}">
                <a16:creationId xmlns:a16="http://schemas.microsoft.com/office/drawing/2014/main" id="{9CC4A11D-9707-4FF9-BBB8-4B3937268E7B}"/>
              </a:ext>
            </a:extLst>
          </p:cNvPr>
          <p:cNvSpPr>
            <a:spLocks xmlns:a="http://schemas.openxmlformats.org/drawingml/2006/main" noGrp="1"/>
          </p:cNvSpPr>
          <p:nvPr/>
        </p:nvSpPr>
        <p:spPr>
          <a:xfrm xmlns:a="http://schemas.openxmlformats.org/drawingml/2006/main">
            <a:off x="4578350" y="2667000"/>
            <a:ext cx="30353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Add aggregations and rank</a:t>
            </a:r>
          </a:p>
        </p:txBody>
      </p:sp>
      <p:sp>
        <p:nvSpPr>
          <p:cNvPr id="19" name="step-body-1">
            <a:extLst xmlns:a="http://schemas.openxmlformats.org/drawingml/2006/main">
              <a:ext uri="{FF2B5EF4-FFF2-40B4-BE49-F238E27FC236}">
                <a16:creationId xmlns:a16="http://schemas.microsoft.com/office/drawing/2014/main" id="{CB6A6C54-3157-418D-B5A0-3068E4EC00D6}"/>
              </a:ext>
            </a:extLst>
          </p:cNvPr>
          <p:cNvSpPr>
            <a:spLocks xmlns:a="http://schemas.openxmlformats.org/drawingml/2006/main" noGrp="1"/>
          </p:cNvSpPr>
          <p:nvPr/>
        </p:nvSpPr>
        <p:spPr>
          <a:xfrm xmlns:a="http://schemas.openxmlformats.org/drawingml/2006/main">
            <a:off x="4578350" y="3452622"/>
            <a:ext cx="3035300" cy="23957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Multiple named aggregations in one .agg() call, then sort_values().</a:t>
            </a:r>
          </a:p>
        </p:txBody>
      </p:sp>
      <p:sp>
        <p:nvSpPr>
          <p:cNvPr id="20" name="step-node-2">
            <a:extLst xmlns:a="http://schemas.openxmlformats.org/drawingml/2006/main">
              <a:ext uri="{FF2B5EF4-FFF2-40B4-BE49-F238E27FC236}">
                <a16:creationId xmlns:a16="http://schemas.microsoft.com/office/drawing/2014/main" id="{6FDA2999-EFEB-4C92-BC1A-68230A31A18B}"/>
              </a:ext>
            </a:extLst>
          </p:cNvPr>
          <p:cNvSpPr>
            <a:spLocks xmlns:a="http://schemas.openxmlformats.org/drawingml/2006/main" noGrp="1"/>
          </p:cNvSpPr>
          <p:nvPr/>
        </p:nvSpPr>
        <p:spPr>
          <a:xfrm xmlns:a="http://schemas.openxmlformats.org/drawingml/2006/main">
            <a:off x="8166100" y="1847850"/>
            <a:ext cx="3416300" cy="4171950"/>
          </a:xfrm>
          <a:prstGeom xmlns:a="http://schemas.openxmlformats.org/drawingml/2006/main" prst="roundRect">
            <a:avLst>
              <a:gd name="adj" fmla="val 2788"/>
            </a:avLst>
          </a:prstGeom>
          <a:solidFill xmlns:a="http://schemas.openxmlformats.org/drawingml/2006/main">
            <a:srgbClr val="F6F7F9"/>
          </a:solidFill>
          <a:ln xmlns:a="http://schemas.openxmlformats.org/drawingml/2006/main" w="9525">
            <a:solidFill>
              <a:srgbClr val="DDE0E5"/>
            </a:solidFill>
            <a:prstDash val="solid"/>
          </a:ln>
        </p:spPr>
      </p:sp>
      <p:sp>
        <p:nvSpPr>
          <p:cNvPr id="21" name="step-number-2">
            <a:extLst xmlns:a="http://schemas.openxmlformats.org/drawingml/2006/main">
              <a:ext uri="{FF2B5EF4-FFF2-40B4-BE49-F238E27FC236}">
                <a16:creationId xmlns:a16="http://schemas.microsoft.com/office/drawing/2014/main" id="{82DF9756-140C-4AFF-98C8-1D94F4891633}"/>
              </a:ext>
            </a:extLst>
          </p:cNvPr>
          <p:cNvSpPr>
            <a:spLocks xmlns:a="http://schemas.openxmlformats.org/drawingml/2006/main" noGrp="1"/>
          </p:cNvSpPr>
          <p:nvPr/>
        </p:nvSpPr>
        <p:spPr>
          <a:xfrm xmlns:a="http://schemas.openxmlformats.org/drawingml/2006/main">
            <a:off x="835660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03</a:t>
            </a:r>
          </a:p>
        </p:txBody>
      </p:sp>
      <p:sp>
        <p:nvSpPr>
          <p:cNvPr id="22" name="step-label-2">
            <a:extLst xmlns:a="http://schemas.openxmlformats.org/drawingml/2006/main">
              <a:ext uri="{FF2B5EF4-FFF2-40B4-BE49-F238E27FC236}">
                <a16:creationId xmlns:a16="http://schemas.microsoft.com/office/drawing/2014/main" id="{7A0885E5-E5E2-47BE-8F4F-55C026232D16}"/>
              </a:ext>
            </a:extLst>
          </p:cNvPr>
          <p:cNvSpPr>
            <a:spLocks xmlns:a="http://schemas.openxmlformats.org/drawingml/2006/main" noGrp="1"/>
          </p:cNvSpPr>
          <p:nvPr/>
        </p:nvSpPr>
        <p:spPr>
          <a:xfrm xmlns:a="http://schemas.openxmlformats.org/drawingml/2006/main">
            <a:off x="8851900" y="2057400"/>
            <a:ext cx="254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OUTLIER FLAGS</a:t>
            </a:r>
          </a:p>
        </p:txBody>
      </p:sp>
      <p:sp>
        <p:nvSpPr>
          <p:cNvPr id="23" name="">
            <a:extLst xmlns:a="http://schemas.openxmlformats.org/drawingml/2006/main">
              <a:ext uri="{FF2B5EF4-FFF2-40B4-BE49-F238E27FC236}">
                <a16:creationId xmlns:a16="http://schemas.microsoft.com/office/drawing/2014/main" id="{5104682F-7539-4655-93BB-CAC42EF66760}"/>
              </a:ext>
            </a:extLst>
          </p:cNvPr>
          <p:cNvSpPr>
            <a:spLocks xmlns:a="http://schemas.openxmlformats.org/drawingml/2006/main" noGrp="1"/>
          </p:cNvSpPr>
          <p:nvPr/>
        </p:nvSpPr>
        <p:spPr>
          <a:xfrm xmlns:a="http://schemas.openxmlformats.org/drawingml/2006/main">
            <a:off x="8356600" y="2476500"/>
            <a:ext cx="303530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24" name="step-head-2">
            <a:extLst xmlns:a="http://schemas.openxmlformats.org/drawingml/2006/main">
              <a:ext uri="{FF2B5EF4-FFF2-40B4-BE49-F238E27FC236}">
                <a16:creationId xmlns:a16="http://schemas.microsoft.com/office/drawing/2014/main" id="{901CACAA-A7B5-45DA-A2BC-8ED7DED73F82}"/>
              </a:ext>
            </a:extLst>
          </p:cNvPr>
          <p:cNvSpPr>
            <a:spLocks xmlns:a="http://schemas.openxmlformats.org/drawingml/2006/main" noGrp="1"/>
          </p:cNvSpPr>
          <p:nvPr/>
        </p:nvSpPr>
        <p:spPr>
          <a:xfrm xmlns:a="http://schemas.openxmlformats.org/drawingml/2006/main">
            <a:off x="8356600" y="2667000"/>
            <a:ext cx="30353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Write, then apply, both rules</a:t>
            </a:r>
          </a:p>
        </p:txBody>
      </p:sp>
      <p:sp>
        <p:nvSpPr>
          <p:cNvPr id="25" name="step-body-2">
            <a:extLst xmlns:a="http://schemas.openxmlformats.org/drawingml/2006/main">
              <a:ext uri="{FF2B5EF4-FFF2-40B4-BE49-F238E27FC236}">
                <a16:creationId xmlns:a16="http://schemas.microsoft.com/office/drawing/2014/main" id="{359FDD17-1C59-4E4B-8D7D-0DA23542B007}"/>
              </a:ext>
            </a:extLst>
          </p:cNvPr>
          <p:cNvSpPr>
            <a:spLocks xmlns:a="http://schemas.openxmlformats.org/drawingml/2006/main" noGrp="1"/>
          </p:cNvSpPr>
          <p:nvPr/>
        </p:nvSpPr>
        <p:spPr>
          <a:xfrm xmlns:a="http://schemas.openxmlformats.org/drawingml/2006/main">
            <a:off x="8356600" y="3452622"/>
            <a:ext cx="3035300" cy="23957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One reusable function per rule, applied first to energy, then to area, then to your own data.</a:t>
            </a:r>
          </a:p>
        </p:txBody>
      </p:sp>
    </p:spTree>
    <p:extLst>
      <p:ext uri="{BB962C8B-B14F-4D97-AF65-F5344CB8AC3E}">
        <p14:creationId xmlns:p14="http://schemas.microsoft.com/office/powerpoint/2010/main" val="128486971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kicker">
            <a:extLst xmlns:a="http://schemas.openxmlformats.org/drawingml/2006/main">
              <a:ext uri="{FF2B5EF4-FFF2-40B4-BE49-F238E27FC236}">
                <a16:creationId xmlns:a16="http://schemas.microsoft.com/office/drawing/2014/main" id="{FAEFF40C-1293-4AC6-AFB1-780803BB67D7}"/>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PREDICT BEFORE YOU RUN</a:t>
            </a:r>
          </a:p>
        </p:txBody>
      </p:sp>
      <p:sp>
        <p:nvSpPr>
          <p:cNvPr id="2" name="title">
            <a:extLst xmlns:a="http://schemas.openxmlformats.org/drawingml/2006/main">
              <a:ext uri="{FF2B5EF4-FFF2-40B4-BE49-F238E27FC236}">
                <a16:creationId xmlns:a16="http://schemas.microsoft.com/office/drawing/2014/main" id="{0CA81A72-1A95-4726-A41B-EC51FD72CF33}"/>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Predict: what dtype does this column show?</a:t>
            </a:r>
          </a:p>
        </p:txBody>
      </p:sp>
      <p:sp>
        <p:nvSpPr>
          <p:cNvPr id="3" name="">
            <a:extLst xmlns:a="http://schemas.openxmlformats.org/drawingml/2006/main">
              <a:ext uri="{FF2B5EF4-FFF2-40B4-BE49-F238E27FC236}">
                <a16:creationId xmlns:a16="http://schemas.microsoft.com/office/drawing/2014/main" id="{588DEA85-E990-4D72-88BF-C5EB236E0D24}"/>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41275CFC-12C5-4A3D-B4F5-3783F4FA675C}"/>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5 · Meeting B · Grouping and Outlier Studio</a:t>
            </a:r>
          </a:p>
        </p:txBody>
      </p:sp>
      <p:sp>
        <p:nvSpPr>
          <p:cNvPr id="5" name="page">
            <a:extLst xmlns:a="http://schemas.openxmlformats.org/drawingml/2006/main">
              <a:ext uri="{FF2B5EF4-FFF2-40B4-BE49-F238E27FC236}">
                <a16:creationId xmlns:a16="http://schemas.microsoft.com/office/drawing/2014/main" id="{1AC4ECA3-4537-4071-BE96-14FDE0F7B950}"/>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08</a:t>
            </a:r>
          </a:p>
        </p:txBody>
      </p:sp>
      <p:sp>
        <p:nvSpPr>
          <p:cNvPr id="6" name="code-panel">
            <a:extLst xmlns:a="http://schemas.openxmlformats.org/drawingml/2006/main">
              <a:ext uri="{FF2B5EF4-FFF2-40B4-BE49-F238E27FC236}">
                <a16:creationId xmlns:a16="http://schemas.microsoft.com/office/drawing/2014/main" id="{6E6C218A-418E-4409-A226-1F77E9AE193E}"/>
              </a:ext>
            </a:extLst>
          </p:cNvPr>
          <p:cNvSpPr>
            <a:spLocks xmlns:a="http://schemas.openxmlformats.org/drawingml/2006/main" noGrp="1"/>
          </p:cNvSpPr>
          <p:nvPr/>
        </p:nvSpPr>
        <p:spPr>
          <a:xfrm xmlns:a="http://schemas.openxmlformats.org/drawingml/2006/main">
            <a:off x="609600" y="1809750"/>
            <a:ext cx="6324600" cy="3238500"/>
          </a:xfrm>
          <a:prstGeom xmlns:a="http://schemas.openxmlformats.org/drawingml/2006/main" prst="roundRect">
            <a:avLst>
              <a:gd name="adj" fmla="val 2353"/>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77E28151-B3AF-414B-A1AE-207F7B0ED044}"/>
              </a:ext>
            </a:extLst>
          </p:cNvPr>
          <p:cNvSpPr>
            <a:spLocks xmlns:a="http://schemas.openxmlformats.org/drawingml/2006/main" noGrp="1"/>
          </p:cNvSpPr>
          <p:nvPr/>
        </p:nvSpPr>
        <p:spPr>
          <a:xfrm xmlns:a="http://schemas.openxmlformats.org/drawingml/2006/main">
            <a:off x="857250" y="2038350"/>
            <a:ext cx="58293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df = pd.read_csv("building_rooms.csv")</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print(df["zone"].dtype)</a:t>
            </a:r>
          </a:p>
        </p:txBody>
      </p:sp>
      <p:sp>
        <p:nvSpPr>
          <p:cNvPr id="8" name="question">
            <a:extLst xmlns:a="http://schemas.openxmlformats.org/drawingml/2006/main">
              <a:ext uri="{FF2B5EF4-FFF2-40B4-BE49-F238E27FC236}">
                <a16:creationId xmlns:a16="http://schemas.microsoft.com/office/drawing/2014/main" id="{639208D5-9792-4023-A2EB-040F606FF526}"/>
              </a:ext>
            </a:extLst>
          </p:cNvPr>
          <p:cNvSpPr>
            <a:spLocks xmlns:a="http://schemas.openxmlformats.org/drawingml/2006/main" noGrp="1"/>
          </p:cNvSpPr>
          <p:nvPr/>
        </p:nvSpPr>
        <p:spPr>
          <a:xfrm xmlns:a="http://schemas.openxmlformats.org/drawingml/2006/main">
            <a:off x="7315200" y="1809750"/>
            <a:ext cx="42672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What prints, on this course's real pandas install?</a:t>
            </a:r>
          </a:p>
        </p:txBody>
      </p:sp>
      <p:sp>
        <p:nvSpPr>
          <p:cNvPr id="9" name="opt-0">
            <a:extLst xmlns:a="http://schemas.openxmlformats.org/drawingml/2006/main">
              <a:ext uri="{FF2B5EF4-FFF2-40B4-BE49-F238E27FC236}">
                <a16:creationId xmlns:a16="http://schemas.microsoft.com/office/drawing/2014/main" id="{6819D9A8-5F33-4AAC-86E1-E80C7FCFA0AA}"/>
              </a:ext>
            </a:extLst>
          </p:cNvPr>
          <p:cNvSpPr>
            <a:spLocks xmlns:a="http://schemas.openxmlformats.org/drawingml/2006/main" noGrp="1"/>
          </p:cNvSpPr>
          <p:nvPr/>
        </p:nvSpPr>
        <p:spPr>
          <a:xfrm xmlns:a="http://schemas.openxmlformats.org/drawingml/2006/main">
            <a:off x="7315200" y="25717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0" name="opt-letter-0">
            <a:extLst xmlns:a="http://schemas.openxmlformats.org/drawingml/2006/main">
              <a:ext uri="{FF2B5EF4-FFF2-40B4-BE49-F238E27FC236}">
                <a16:creationId xmlns:a16="http://schemas.microsoft.com/office/drawing/2014/main" id="{2506FB99-5C26-4C48-8AAC-AFD038CC7D60}"/>
              </a:ext>
            </a:extLst>
          </p:cNvPr>
          <p:cNvSpPr>
            <a:spLocks xmlns:a="http://schemas.openxmlformats.org/drawingml/2006/main" noGrp="1"/>
          </p:cNvSpPr>
          <p:nvPr/>
        </p:nvSpPr>
        <p:spPr>
          <a:xfrm xmlns:a="http://schemas.openxmlformats.org/drawingml/2006/main">
            <a:off x="7448550" y="27336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A</a:t>
            </a:r>
          </a:p>
        </p:txBody>
      </p:sp>
      <p:sp>
        <p:nvSpPr>
          <p:cNvPr id="11" name="opt-text-0">
            <a:extLst xmlns:a="http://schemas.openxmlformats.org/drawingml/2006/main">
              <a:ext uri="{FF2B5EF4-FFF2-40B4-BE49-F238E27FC236}">
                <a16:creationId xmlns:a16="http://schemas.microsoft.com/office/drawing/2014/main" id="{CB7C4E8D-F50E-4234-B307-80CAEB2A52EA}"/>
              </a:ext>
            </a:extLst>
          </p:cNvPr>
          <p:cNvSpPr>
            <a:spLocks xmlns:a="http://schemas.openxmlformats.org/drawingml/2006/main" noGrp="1"/>
          </p:cNvSpPr>
          <p:nvPr/>
        </p:nvSpPr>
        <p:spPr>
          <a:xfrm xmlns:a="http://schemas.openxmlformats.org/drawingml/2006/main">
            <a:off x="7772400" y="26098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object — the classic pandas text-column dtype</a:t>
            </a:r>
          </a:p>
        </p:txBody>
      </p:sp>
      <p:sp>
        <p:nvSpPr>
          <p:cNvPr id="12" name="opt-1">
            <a:extLst xmlns:a="http://schemas.openxmlformats.org/drawingml/2006/main">
              <a:ext uri="{FF2B5EF4-FFF2-40B4-BE49-F238E27FC236}">
                <a16:creationId xmlns:a16="http://schemas.microsoft.com/office/drawing/2014/main" id="{625040AB-856A-4438-9DBC-2667FCA53A75}"/>
              </a:ext>
            </a:extLst>
          </p:cNvPr>
          <p:cNvSpPr>
            <a:spLocks xmlns:a="http://schemas.openxmlformats.org/drawingml/2006/main" noGrp="1"/>
          </p:cNvSpPr>
          <p:nvPr/>
        </p:nvSpPr>
        <p:spPr>
          <a:xfrm xmlns:a="http://schemas.openxmlformats.org/drawingml/2006/main">
            <a:off x="7315200" y="31813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3" name="opt-letter-1">
            <a:extLst xmlns:a="http://schemas.openxmlformats.org/drawingml/2006/main">
              <a:ext uri="{FF2B5EF4-FFF2-40B4-BE49-F238E27FC236}">
                <a16:creationId xmlns:a16="http://schemas.microsoft.com/office/drawing/2014/main" id="{2F1A3BD3-5A18-4534-B21B-9F15642B751E}"/>
              </a:ext>
            </a:extLst>
          </p:cNvPr>
          <p:cNvSpPr>
            <a:spLocks xmlns:a="http://schemas.openxmlformats.org/drawingml/2006/main" noGrp="1"/>
          </p:cNvSpPr>
          <p:nvPr/>
        </p:nvSpPr>
        <p:spPr>
          <a:xfrm xmlns:a="http://schemas.openxmlformats.org/drawingml/2006/main">
            <a:off x="7448550" y="33432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B</a:t>
            </a:r>
          </a:p>
        </p:txBody>
      </p:sp>
      <p:sp>
        <p:nvSpPr>
          <p:cNvPr id="14" name="opt-text-1">
            <a:extLst xmlns:a="http://schemas.openxmlformats.org/drawingml/2006/main">
              <a:ext uri="{FF2B5EF4-FFF2-40B4-BE49-F238E27FC236}">
                <a16:creationId xmlns:a16="http://schemas.microsoft.com/office/drawing/2014/main" id="{F7B08FD2-92F2-4A93-B363-EB223FC4C434}"/>
              </a:ext>
            </a:extLst>
          </p:cNvPr>
          <p:cNvSpPr>
            <a:spLocks xmlns:a="http://schemas.openxmlformats.org/drawingml/2006/main" noGrp="1"/>
          </p:cNvSpPr>
          <p:nvPr/>
        </p:nvSpPr>
        <p:spPr>
          <a:xfrm xmlns:a="http://schemas.openxmlformats.org/drawingml/2006/main">
            <a:off x="7772400" y="32194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str</a:t>
            </a:r>
          </a:p>
        </p:txBody>
      </p:sp>
      <p:sp>
        <p:nvSpPr>
          <p:cNvPr id="15" name="opt-2">
            <a:extLst xmlns:a="http://schemas.openxmlformats.org/drawingml/2006/main">
              <a:ext uri="{FF2B5EF4-FFF2-40B4-BE49-F238E27FC236}">
                <a16:creationId xmlns:a16="http://schemas.microsoft.com/office/drawing/2014/main" id="{29362809-49FE-479D-BFA6-7BF5BB2C28A4}"/>
              </a:ext>
            </a:extLst>
          </p:cNvPr>
          <p:cNvSpPr>
            <a:spLocks xmlns:a="http://schemas.openxmlformats.org/drawingml/2006/main" noGrp="1"/>
          </p:cNvSpPr>
          <p:nvPr/>
        </p:nvSpPr>
        <p:spPr>
          <a:xfrm xmlns:a="http://schemas.openxmlformats.org/drawingml/2006/main">
            <a:off x="7315200" y="37909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6" name="opt-letter-2">
            <a:extLst xmlns:a="http://schemas.openxmlformats.org/drawingml/2006/main">
              <a:ext uri="{FF2B5EF4-FFF2-40B4-BE49-F238E27FC236}">
                <a16:creationId xmlns:a16="http://schemas.microsoft.com/office/drawing/2014/main" id="{DE47BA59-A66E-422A-A254-92D7B00F0119}"/>
              </a:ext>
            </a:extLst>
          </p:cNvPr>
          <p:cNvSpPr>
            <a:spLocks xmlns:a="http://schemas.openxmlformats.org/drawingml/2006/main" noGrp="1"/>
          </p:cNvSpPr>
          <p:nvPr/>
        </p:nvSpPr>
        <p:spPr>
          <a:xfrm xmlns:a="http://schemas.openxmlformats.org/drawingml/2006/main">
            <a:off x="7448550" y="39528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C</a:t>
            </a:r>
          </a:p>
        </p:txBody>
      </p:sp>
      <p:sp>
        <p:nvSpPr>
          <p:cNvPr id="17" name="opt-text-2">
            <a:extLst xmlns:a="http://schemas.openxmlformats.org/drawingml/2006/main">
              <a:ext uri="{FF2B5EF4-FFF2-40B4-BE49-F238E27FC236}">
                <a16:creationId xmlns:a16="http://schemas.microsoft.com/office/drawing/2014/main" id="{D5124604-CB23-48DF-8DCB-9B7515A77A35}"/>
              </a:ext>
            </a:extLst>
          </p:cNvPr>
          <p:cNvSpPr>
            <a:spLocks xmlns:a="http://schemas.openxmlformats.org/drawingml/2006/main" noGrp="1"/>
          </p:cNvSpPr>
          <p:nvPr/>
        </p:nvSpPr>
        <p:spPr>
          <a:xfrm xmlns:a="http://schemas.openxmlformats.org/drawingml/2006/main">
            <a:off x="7772400" y="38290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string — pandas' nullable text dtype</a:t>
            </a:r>
          </a:p>
        </p:txBody>
      </p:sp>
      <p:sp>
        <p:nvSpPr>
          <p:cNvPr id="18" name="opt-3">
            <a:extLst xmlns:a="http://schemas.openxmlformats.org/drawingml/2006/main">
              <a:ext uri="{FF2B5EF4-FFF2-40B4-BE49-F238E27FC236}">
                <a16:creationId xmlns:a16="http://schemas.microsoft.com/office/drawing/2014/main" id="{8B182ECE-88DA-4F1C-9867-C60B531F8C4B}"/>
              </a:ext>
            </a:extLst>
          </p:cNvPr>
          <p:cNvSpPr>
            <a:spLocks xmlns:a="http://schemas.openxmlformats.org/drawingml/2006/main" noGrp="1"/>
          </p:cNvSpPr>
          <p:nvPr/>
        </p:nvSpPr>
        <p:spPr>
          <a:xfrm xmlns:a="http://schemas.openxmlformats.org/drawingml/2006/main">
            <a:off x="7315200" y="44005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9" name="opt-letter-3">
            <a:extLst xmlns:a="http://schemas.openxmlformats.org/drawingml/2006/main">
              <a:ext uri="{FF2B5EF4-FFF2-40B4-BE49-F238E27FC236}">
                <a16:creationId xmlns:a16="http://schemas.microsoft.com/office/drawing/2014/main" id="{19824EC6-5ADF-4A4A-9D50-E61FE0B68F3C}"/>
              </a:ext>
            </a:extLst>
          </p:cNvPr>
          <p:cNvSpPr>
            <a:spLocks xmlns:a="http://schemas.openxmlformats.org/drawingml/2006/main" noGrp="1"/>
          </p:cNvSpPr>
          <p:nvPr/>
        </p:nvSpPr>
        <p:spPr>
          <a:xfrm xmlns:a="http://schemas.openxmlformats.org/drawingml/2006/main">
            <a:off x="7448550" y="45624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D</a:t>
            </a:r>
          </a:p>
        </p:txBody>
      </p:sp>
      <p:sp>
        <p:nvSpPr>
          <p:cNvPr id="20" name="opt-text-3">
            <a:extLst xmlns:a="http://schemas.openxmlformats.org/drawingml/2006/main">
              <a:ext uri="{FF2B5EF4-FFF2-40B4-BE49-F238E27FC236}">
                <a16:creationId xmlns:a16="http://schemas.microsoft.com/office/drawing/2014/main" id="{49185D23-728A-45D1-9888-49E2C4B06949}"/>
              </a:ext>
            </a:extLst>
          </p:cNvPr>
          <p:cNvSpPr>
            <a:spLocks xmlns:a="http://schemas.openxmlformats.org/drawingml/2006/main" noGrp="1"/>
          </p:cNvSpPr>
          <p:nvPr/>
        </p:nvSpPr>
        <p:spPr>
          <a:xfrm xmlns:a="http://schemas.openxmlformats.org/drawingml/2006/main">
            <a:off x="7772400" y="44386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category</a:t>
            </a:r>
          </a:p>
        </p:txBody>
      </p:sp>
      <p:sp>
        <p:nvSpPr>
          <p:cNvPr id="21" name="answer-panel">
            <a:extLst xmlns:a="http://schemas.openxmlformats.org/drawingml/2006/main">
              <a:ext uri="{FF2B5EF4-FFF2-40B4-BE49-F238E27FC236}">
                <a16:creationId xmlns:a16="http://schemas.microsoft.com/office/drawing/2014/main" id="{BB79A254-F690-45EB-BB35-917500D79E81}"/>
              </a:ext>
            </a:extLst>
          </p:cNvPr>
          <p:cNvSpPr>
            <a:spLocks xmlns:a="http://schemas.openxmlformats.org/drawingml/2006/main" noGrp="1"/>
          </p:cNvSpPr>
          <p:nvPr/>
        </p:nvSpPr>
        <p:spPr>
          <a:xfrm xmlns:a="http://schemas.openxmlformats.org/drawingml/2006/main">
            <a:off x="609600" y="5219700"/>
            <a:ext cx="10972800" cy="914400"/>
          </a:xfrm>
          <a:prstGeom xmlns:a="http://schemas.openxmlformats.org/drawingml/2006/main" prst="roundRect">
            <a:avLst>
              <a:gd name="adj" fmla="val 8333"/>
            </a:avLst>
          </a:prstGeom>
          <a:solidFill xmlns:a="http://schemas.openxmlformats.org/drawingml/2006/main">
            <a:srgbClr val="F3F7FB"/>
          </a:solidFill>
          <a:ln xmlns:a="http://schemas.openxmlformats.org/drawingml/2006/main" w="9525">
            <a:solidFill>
              <a:srgbClr val="2E74B5"/>
            </a:solidFill>
            <a:prstDash val="solid"/>
          </a:ln>
        </p:spPr>
      </p:sp>
      <p:sp>
        <p:nvSpPr>
          <p:cNvPr id="22" name="answer-label">
            <a:extLst xmlns:a="http://schemas.openxmlformats.org/drawingml/2006/main">
              <a:ext uri="{FF2B5EF4-FFF2-40B4-BE49-F238E27FC236}">
                <a16:creationId xmlns:a16="http://schemas.microsoft.com/office/drawing/2014/main" id="{71303749-19FF-4FCB-BBEB-C35FB5822C25}"/>
              </a:ext>
            </a:extLst>
          </p:cNvPr>
          <p:cNvSpPr>
            <a:spLocks xmlns:a="http://schemas.openxmlformats.org/drawingml/2006/main" noGrp="1"/>
          </p:cNvSpPr>
          <p:nvPr/>
        </p:nvSpPr>
        <p:spPr>
          <a:xfrm xmlns:a="http://schemas.openxmlformats.org/drawingml/2006/main">
            <a:off x="819150" y="53721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ANSWER  ·  B</a:t>
            </a:r>
          </a:p>
        </p:txBody>
      </p:sp>
      <p:sp>
        <p:nvSpPr>
          <p:cNvPr id="23" name="why">
            <a:extLst xmlns:a="http://schemas.openxmlformats.org/drawingml/2006/main">
              <a:ext uri="{FF2B5EF4-FFF2-40B4-BE49-F238E27FC236}">
                <a16:creationId xmlns:a16="http://schemas.microsoft.com/office/drawing/2014/main" id="{B833C53E-515B-43C5-B1A2-FBEF495CC7FB}"/>
              </a:ext>
            </a:extLst>
          </p:cNvPr>
          <p:cNvSpPr>
            <a:spLocks xmlns:a="http://schemas.openxmlformats.org/drawingml/2006/main" noGrp="1"/>
          </p:cNvSpPr>
          <p:nvPr/>
        </p:nvSpPr>
        <p:spPr>
          <a:xfrm xmlns:a="http://schemas.openxmlformats.org/drawingml/2006/main">
            <a:off x="819150" y="5638800"/>
            <a:ext cx="1055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Verified against pandas 3.0.5: text columns now print as str, not the object older pandas docs might lead you to expect.</a:t>
            </a:r>
          </a:p>
        </p:txBody>
      </p:sp>
    </p:spTree>
    <p:extLst>
      <p:ext uri="{BB962C8B-B14F-4D97-AF65-F5344CB8AC3E}">
        <p14:creationId xmlns:p14="http://schemas.microsoft.com/office/powerpoint/2010/main" val="72055927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E8BF34A9-83CA-4397-AB6C-CB5AE8000D50}"/>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1042669A-BA28-4221-9EFF-6BBAD6217F76}"/>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Load Radley Hall and recall the trustworthiness interview</a:t>
            </a:r>
          </a:p>
        </p:txBody>
      </p:sp>
      <p:sp>
        <p:nvSpPr>
          <p:cNvPr id="3" name="">
            <a:extLst xmlns:a="http://schemas.openxmlformats.org/drawingml/2006/main">
              <a:ext uri="{FF2B5EF4-FFF2-40B4-BE49-F238E27FC236}">
                <a16:creationId xmlns:a16="http://schemas.microsoft.com/office/drawing/2014/main" id="{C45D38C4-E7B6-41CC-8E73-A805942D0BB3}"/>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5E62EBC2-6046-49BD-8ECF-ABC90CA76C71}"/>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5 · Meeting B · Grouping and Outlier Studio</a:t>
            </a:r>
          </a:p>
        </p:txBody>
      </p:sp>
      <p:sp>
        <p:nvSpPr>
          <p:cNvPr id="5" name="page">
            <a:extLst xmlns:a="http://schemas.openxmlformats.org/drawingml/2006/main">
              <a:ext uri="{FF2B5EF4-FFF2-40B4-BE49-F238E27FC236}">
                <a16:creationId xmlns:a16="http://schemas.microsoft.com/office/drawing/2014/main" id="{60B793C4-2442-456A-A04E-D829E878C26F}"/>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09</a:t>
            </a:r>
          </a:p>
        </p:txBody>
      </p:sp>
      <p:sp>
        <p:nvSpPr>
          <p:cNvPr id="6" name="code-panel">
            <a:extLst xmlns:a="http://schemas.openxmlformats.org/drawingml/2006/main">
              <a:ext uri="{FF2B5EF4-FFF2-40B4-BE49-F238E27FC236}">
                <a16:creationId xmlns:a16="http://schemas.microsoft.com/office/drawing/2014/main" id="{EB3E291D-C56B-467E-AA68-E62690D93E0A}"/>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A927B58A-A798-48EF-B82D-D686F2906FCE}"/>
              </a:ext>
            </a:extLst>
          </p:cNvPr>
          <p:cNvSpPr>
            <a:spLocks xmlns:a="http://schemas.openxmlformats.org/drawingml/2006/main" noGrp="1"/>
          </p:cNvSpPr>
          <p:nvPr/>
        </p:nvSpPr>
        <p:spPr>
          <a:xfrm xmlns:a="http://schemas.openxmlformats.org/drawingml/2006/main">
            <a:off x="857250" y="2057400"/>
            <a:ext cx="6400800" cy="20985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import pandas as pd</a:t>
            </a:r>
          </a:p>
          <a:p xmlns:a="http://schemas.openxmlformats.org/drawingml/2006/main">
            <a:r>
              <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df = pd.read_csv("building_rooms.csv")</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print(df.shape)</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print(df[["room_id", "zone", "room_type",</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"area_m2", "energy_kwh_m2_yr"]].dtypes)</a:t>
            </a:r>
          </a:p>
        </p:txBody>
      </p:sp>
      <p:sp>
        <p:nvSpPr>
          <p:cNvPr id="8" name="">
            <a:extLst xmlns:a="http://schemas.openxmlformats.org/drawingml/2006/main">
              <a:ext uri="{FF2B5EF4-FFF2-40B4-BE49-F238E27FC236}">
                <a16:creationId xmlns:a16="http://schemas.microsoft.com/office/drawing/2014/main" id="{324363ED-B06C-4695-8D3E-98E84C3A7AF5}"/>
              </a:ext>
            </a:extLst>
          </p:cNvPr>
          <p:cNvSpPr>
            <a:spLocks xmlns:a="http://schemas.openxmlformats.org/drawingml/2006/main" noGrp="1"/>
          </p:cNvSpPr>
          <p:nvPr/>
        </p:nvSpPr>
        <p:spPr>
          <a:xfrm xmlns:a="http://schemas.openxmlformats.org/drawingml/2006/main">
            <a:off x="857250" y="4213098"/>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398D83BF-FCDB-4C6C-8C80-4467B204959D}"/>
              </a:ext>
            </a:extLst>
          </p:cNvPr>
          <p:cNvSpPr>
            <a:spLocks xmlns:a="http://schemas.openxmlformats.org/drawingml/2006/main" noGrp="1"/>
          </p:cNvSpPr>
          <p:nvPr/>
        </p:nvSpPr>
        <p:spPr>
          <a:xfrm xmlns:a="http://schemas.openxmlformats.org/drawingml/2006/main">
            <a:off x="857250" y="4327398"/>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E3012DA1-06E0-43BF-BD4D-755389E9779F}"/>
              </a:ext>
            </a:extLst>
          </p:cNvPr>
          <p:cNvSpPr>
            <a:spLocks xmlns:a="http://schemas.openxmlformats.org/drawingml/2006/main" noGrp="1"/>
          </p:cNvSpPr>
          <p:nvPr/>
        </p:nvSpPr>
        <p:spPr>
          <a:xfrm xmlns:a="http://schemas.openxmlformats.org/drawingml/2006/main">
            <a:off x="857250" y="4555998"/>
            <a:ext cx="6400800" cy="12733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(24, 12)</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room_id                 str</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zone                    str</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room_type               str</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area_m2             float64</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energy_kwh_m2_yr    float64</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dtype: object</a:t>
            </a:r>
          </a:p>
        </p:txBody>
      </p:sp>
      <p:sp>
        <p:nvSpPr>
          <p:cNvPr id="11" name="explain-head">
            <a:extLst xmlns:a="http://schemas.openxmlformats.org/drawingml/2006/main">
              <a:ext uri="{FF2B5EF4-FFF2-40B4-BE49-F238E27FC236}">
                <a16:creationId xmlns:a16="http://schemas.microsoft.com/office/drawing/2014/main" id="{E436CFED-161A-4D84-AC52-7C7824076109}"/>
              </a:ext>
            </a:extLst>
          </p:cNvPr>
          <p:cNvSpPr>
            <a:spLocks xmlns:a="http://schemas.openxmlformats.org/drawingml/2006/main" noGrp="1"/>
          </p:cNvSpPr>
          <p:nvPr/>
        </p:nvSpPr>
        <p:spPr>
          <a:xfrm xmlns:a="http://schemas.openxmlformats.org/drawingml/2006/main">
            <a:off x="7886700" y="2867025"/>
            <a:ext cx="3695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Same file, a new question</a:t>
            </a:r>
          </a:p>
        </p:txBody>
      </p:sp>
      <p:sp>
        <p:nvSpPr>
          <p:cNvPr id="12" name="explain-body">
            <a:extLst xmlns:a="http://schemas.openxmlformats.org/drawingml/2006/main">
              <a:ext uri="{FF2B5EF4-FFF2-40B4-BE49-F238E27FC236}">
                <a16:creationId xmlns:a16="http://schemas.microsoft.com/office/drawing/2014/main" id="{EFC7C9C6-5816-4F26-B03B-F04B0D01EB53}"/>
              </a:ext>
            </a:extLst>
          </p:cNvPr>
          <p:cNvSpPr>
            <a:spLocks xmlns:a="http://schemas.openxmlformats.org/drawingml/2006/main" noGrp="1"/>
          </p:cNvSpPr>
          <p:nvPr/>
        </p:nvSpPr>
        <p:spPr>
          <a:xfrm xmlns:a="http://schemas.openxmlformats.org/drawingml/2006/main">
            <a:off x="7886700" y="3364611"/>
            <a:ext cx="3695700" cy="960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Week 4 asked whether this data could be trusted. Today assumes yes, and asks a new question: compared to what — and does any one row distort that comparison?</a:t>
            </a:r>
          </a:p>
        </p:txBody>
      </p:sp>
    </p:spTree>
    <p:extLst>
      <p:ext uri="{BB962C8B-B14F-4D97-AF65-F5344CB8AC3E}">
        <p14:creationId xmlns:p14="http://schemas.microsoft.com/office/powerpoint/2010/main" val="20939566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F8D27689-F619-4423-A80F-2940C5249568}"/>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 DEFINED</a:t>
            </a:r>
          </a:p>
        </p:txBody>
      </p:sp>
      <p:sp>
        <p:nvSpPr>
          <p:cNvPr id="2" name="title">
            <a:extLst xmlns:a="http://schemas.openxmlformats.org/drawingml/2006/main">
              <a:ext uri="{FF2B5EF4-FFF2-40B4-BE49-F238E27FC236}">
                <a16:creationId xmlns:a16="http://schemas.microsoft.com/office/drawing/2014/main" id="{E32B80E5-A59A-4CEB-A70A-FB286F004F32}"/>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GroupBy object, defined</a:t>
            </a:r>
          </a:p>
        </p:txBody>
      </p:sp>
      <p:sp>
        <p:nvSpPr>
          <p:cNvPr id="3" name="">
            <a:extLst xmlns:a="http://schemas.openxmlformats.org/drawingml/2006/main">
              <a:ext uri="{FF2B5EF4-FFF2-40B4-BE49-F238E27FC236}">
                <a16:creationId xmlns:a16="http://schemas.microsoft.com/office/drawing/2014/main" id="{2A1D5FFE-4E2E-4BF6-8F12-6EEEF662FAEF}"/>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3B3DC241-D5D8-46B1-AF49-4ADA24E5D7A2}"/>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5 · Meeting B · Grouping and Outlier Studio</a:t>
            </a:r>
          </a:p>
        </p:txBody>
      </p:sp>
      <p:sp>
        <p:nvSpPr>
          <p:cNvPr id="5" name="page">
            <a:extLst xmlns:a="http://schemas.openxmlformats.org/drawingml/2006/main">
              <a:ext uri="{FF2B5EF4-FFF2-40B4-BE49-F238E27FC236}">
                <a16:creationId xmlns:a16="http://schemas.microsoft.com/office/drawing/2014/main" id="{3DB96E90-76AA-4E91-B330-78562E947663}"/>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10</a:t>
            </a:r>
          </a:p>
        </p:txBody>
      </p:sp>
      <p:sp>
        <p:nvSpPr>
          <p:cNvPr id="6" name="term-label">
            <a:extLst xmlns:a="http://schemas.openxmlformats.org/drawingml/2006/main">
              <a:ext uri="{FF2B5EF4-FFF2-40B4-BE49-F238E27FC236}">
                <a16:creationId xmlns:a16="http://schemas.microsoft.com/office/drawing/2014/main" id="{15472F4B-9476-4302-8AC6-C1502CA34857}"/>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7329112A-2963-4F58-9C08-D8E66894526B}"/>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Arial"/>
                <a:ea typeface="Arial"/>
                <a:cs typeface="Arial"/>
              </a:defRPr>
            </a:pPr>
            <a:r>
              <a:rPr sz="3000" b="1">
                <a:solidFill>
                  <a:srgbClr val="111316"/>
                </a:solidFill>
                <a:latin typeface="Arial"/>
                <a:ea typeface="Arial"/>
                <a:cs typeface="Arial"/>
              </a:rPr>
              <a:t>GroupBy object</a:t>
            </a:r>
          </a:p>
        </p:txBody>
      </p:sp>
      <p:sp>
        <p:nvSpPr>
          <p:cNvPr id="8" name="">
            <a:extLst xmlns:a="http://schemas.openxmlformats.org/drawingml/2006/main">
              <a:ext uri="{FF2B5EF4-FFF2-40B4-BE49-F238E27FC236}">
                <a16:creationId xmlns:a16="http://schemas.microsoft.com/office/drawing/2014/main" id="{4187E91C-D783-44AE-9CA0-77EA380D7A05}"/>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B98EEC2A-3CF6-4D27-AAC6-4BA19FF61B11}"/>
              </a:ext>
            </a:extLst>
          </p:cNvPr>
          <p:cNvSpPr>
            <a:spLocks xmlns:a="http://schemas.openxmlformats.org/drawingml/2006/main" noGrp="1"/>
          </p:cNvSpPr>
          <p:nvPr/>
        </p:nvSpPr>
        <p:spPr>
          <a:xfrm xmlns:a="http://schemas.openxmlformats.org/drawingml/2006/main">
            <a:off x="609600" y="2971800"/>
            <a:ext cx="590550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The intermediate result produced by df.groupby(col) alone — a plan for splitting rows into groups, not a finished table. Nothing is summarized yet: chaining an aggregation like .mean() or .agg() afterward is what actually runs the split-apply-combine sequence and produces a readable Series or DataFrame.</a:t>
            </a:r>
          </a:p>
        </p:txBody>
      </p:sp>
      <p:sp>
        <p:nvSpPr>
          <p:cNvPr id="10" name="example-panel">
            <a:extLst xmlns:a="http://schemas.openxmlformats.org/drawingml/2006/main">
              <a:ext uri="{FF2B5EF4-FFF2-40B4-BE49-F238E27FC236}">
                <a16:creationId xmlns:a16="http://schemas.microsoft.com/office/drawing/2014/main" id="{009081FC-71B9-485A-8F4F-AA167CF1C4AD}"/>
              </a:ext>
            </a:extLst>
          </p:cNvPr>
          <p:cNvSpPr>
            <a:spLocks xmlns:a="http://schemas.openxmlformats.org/drawingml/2006/main" noGrp="1"/>
          </p:cNvSpPr>
          <p:nvPr/>
        </p:nvSpPr>
        <p:spPr>
          <a:xfrm xmlns:a="http://schemas.openxmlformats.org/drawingml/2006/main">
            <a:off x="6762750" y="1809750"/>
            <a:ext cx="4819650" cy="3257550"/>
          </a:xfrm>
          <a:prstGeom xmlns:a="http://schemas.openxmlformats.org/drawingml/2006/main" prst="roundRect">
            <a:avLst>
              <a:gd name="adj" fmla="val 2339"/>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4E4FA433-6805-4C52-9373-9407847315D8}"/>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IN PRACTICE</a:t>
            </a:r>
          </a:p>
        </p:txBody>
      </p:sp>
      <p:sp>
        <p:nvSpPr>
          <p:cNvPr id="12" name="example-head">
            <a:extLst xmlns:a="http://schemas.openxmlformats.org/drawingml/2006/main">
              <a:ext uri="{FF2B5EF4-FFF2-40B4-BE49-F238E27FC236}">
                <a16:creationId xmlns:a16="http://schemas.microsoft.com/office/drawing/2014/main" id="{28AB65BF-4BA0-4496-9A74-ABC432F41126}"/>
              </a:ext>
            </a:extLst>
          </p:cNvPr>
          <p:cNvSpPr>
            <a:spLocks xmlns:a="http://schemas.openxmlformats.org/drawingml/2006/main" noGrp="1"/>
          </p:cNvSpPr>
          <p:nvPr/>
        </p:nvSpPr>
        <p:spPr>
          <a:xfrm xmlns:a="http://schemas.openxmlformats.org/drawingml/2006/main">
            <a:off x="6972300" y="2286000"/>
            <a:ext cx="4381500" cy="3040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Consolas"/>
                <a:ea typeface="Consolas"/>
                <a:cs typeface="Consolas"/>
              </a:defRPr>
            </a:pPr>
            <a:r>
              <a:rPr sz="1800" b="1">
                <a:solidFill>
                  <a:srgbClr val="111316"/>
                </a:solidFill>
                <a:latin typeface="Consolas"/>
                <a:ea typeface="Consolas"/>
                <a:cs typeface="Consolas"/>
              </a:rPr>
              <a:t>print(df.groupby("zone"))</a:t>
            </a:r>
          </a:p>
        </p:txBody>
      </p:sp>
      <p:sp>
        <p:nvSpPr>
          <p:cNvPr id="13" name="example-body">
            <a:extLst xmlns:a="http://schemas.openxmlformats.org/drawingml/2006/main">
              <a:ext uri="{FF2B5EF4-FFF2-40B4-BE49-F238E27FC236}">
                <a16:creationId xmlns:a16="http://schemas.microsoft.com/office/drawing/2014/main" id="{2F9E60ED-A4A6-4700-AAE6-7E1DEBB003BD}"/>
              </a:ext>
            </a:extLst>
          </p:cNvPr>
          <p:cNvSpPr>
            <a:spLocks xmlns:a="http://schemas.openxmlformats.org/drawingml/2006/main" noGrp="1"/>
          </p:cNvSpPr>
          <p:nvPr/>
        </p:nvSpPr>
        <p:spPr>
          <a:xfrm xmlns:a="http://schemas.openxmlformats.org/drawingml/2006/main">
            <a:off x="6972300" y="2704338"/>
            <a:ext cx="4381500" cy="22296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Prints a line like &lt;pandas.api.typing.DataFrameGroupBy object at 0x...&gt; — a real, verified line from this course's pandas install, not a table of zone means.</a:t>
            </a:r>
          </a:p>
        </p:txBody>
      </p:sp>
      <p:sp>
        <p:nvSpPr>
          <p:cNvPr id="14" name="note-bar">
            <a:extLst xmlns:a="http://schemas.openxmlformats.org/drawingml/2006/main">
              <a:ext uri="{FF2B5EF4-FFF2-40B4-BE49-F238E27FC236}">
                <a16:creationId xmlns:a16="http://schemas.microsoft.com/office/drawing/2014/main" id="{431F70B3-BD61-4B9E-8AB4-F2E8E94207DB}"/>
              </a:ext>
            </a:extLst>
          </p:cNvPr>
          <p:cNvSpPr>
            <a:spLocks xmlns:a="http://schemas.openxmlformats.org/drawingml/2006/main" noGrp="1"/>
          </p:cNvSpPr>
          <p:nvPr/>
        </p:nvSpPr>
        <p:spPr>
          <a:xfrm xmlns:a="http://schemas.openxmlformats.org/drawingml/2006/main">
            <a:off x="609600" y="5334000"/>
            <a:ext cx="57150" cy="723900"/>
          </a:xfrm>
          <a:prstGeom xmlns:a="http://schemas.openxmlformats.org/drawingml/2006/main" prst="rect">
            <a:avLst/>
          </a:prstGeom>
          <a:solidFill xmlns:a="http://schemas.openxmlformats.org/drawingml/2006/main">
            <a:srgbClr val="B5731A"/>
          </a:solidFill>
          <a:ln xmlns:a="http://schemas.openxmlformats.org/drawingml/2006/main" w="0">
            <a:noFill/>
            <a:prstDash val="solid"/>
          </a:ln>
        </p:spPr>
      </p:sp>
      <p:sp>
        <p:nvSpPr>
          <p:cNvPr id="15" name="note-label">
            <a:extLst xmlns:a="http://schemas.openxmlformats.org/drawingml/2006/main">
              <a:ext uri="{FF2B5EF4-FFF2-40B4-BE49-F238E27FC236}">
                <a16:creationId xmlns:a16="http://schemas.microsoft.com/office/drawing/2014/main" id="{F1A9D72A-A811-4BBF-AAF3-DE18FF433C50}"/>
              </a:ext>
            </a:extLst>
          </p:cNvPr>
          <p:cNvSpPr>
            <a:spLocks xmlns:a="http://schemas.openxmlformats.org/drawingml/2006/main" noGrp="1"/>
          </p:cNvSpPr>
          <p:nvPr/>
        </p:nvSpPr>
        <p:spPr>
          <a:xfrm xmlns:a="http://schemas.openxmlformats.org/drawingml/2006/main">
            <a:off x="819150" y="5353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B5731A"/>
                </a:solidFill>
                <a:latin typeface="Arial"/>
                <a:ea typeface="Arial"/>
                <a:cs typeface="Arial"/>
              </a:defRPr>
            </a:pPr>
            <a:r>
              <a:rPr sz="900" b="1">
                <a:solidFill>
                  <a:srgbClr val="B5731A"/>
                </a:solidFill>
                <a:latin typeface="Arial"/>
                <a:ea typeface="Arial"/>
                <a:cs typeface="Arial"/>
              </a:rPr>
              <a:t>COMMON CONFUSION</a:t>
            </a:r>
          </a:p>
        </p:txBody>
      </p:sp>
      <p:sp>
        <p:nvSpPr>
          <p:cNvPr id="16" name="note">
            <a:extLst xmlns:a="http://schemas.openxmlformats.org/drawingml/2006/main">
              <a:ext uri="{FF2B5EF4-FFF2-40B4-BE49-F238E27FC236}">
                <a16:creationId xmlns:a16="http://schemas.microsoft.com/office/drawing/2014/main" id="{6C9C6EF9-FDCF-4F51-94DF-B64EFE458AA7}"/>
              </a:ext>
            </a:extLst>
          </p:cNvPr>
          <p:cNvSpPr>
            <a:spLocks xmlns:a="http://schemas.openxmlformats.org/drawingml/2006/main" noGrp="1"/>
          </p:cNvSpPr>
          <p:nvPr/>
        </p:nvSpPr>
        <p:spPr>
          <a:xfrm xmlns:a="http://schemas.openxmlformats.org/drawingml/2006/main">
            <a:off x="819150" y="5562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A GroupBy object is not a mistake to fix — it always sits between groupby() and an aggregation. Predict this exact print() on the next slide before you see it run.</a:t>
            </a:r>
          </a:p>
        </p:txBody>
      </p:sp>
    </p:spTree>
    <p:extLst>
      <p:ext uri="{BB962C8B-B14F-4D97-AF65-F5344CB8AC3E}">
        <p14:creationId xmlns:p14="http://schemas.microsoft.com/office/powerpoint/2010/main" val="165268595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kicker">
            <a:extLst xmlns:a="http://schemas.openxmlformats.org/drawingml/2006/main">
              <a:ext uri="{FF2B5EF4-FFF2-40B4-BE49-F238E27FC236}">
                <a16:creationId xmlns:a16="http://schemas.microsoft.com/office/drawing/2014/main" id="{DFD39E55-9B24-486C-BCFF-62E28C1108A7}"/>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PREDICT BEFORE YOU RUN</a:t>
            </a:r>
          </a:p>
        </p:txBody>
      </p:sp>
      <p:sp>
        <p:nvSpPr>
          <p:cNvPr id="2" name="title">
            <a:extLst xmlns:a="http://schemas.openxmlformats.org/drawingml/2006/main">
              <a:ext uri="{FF2B5EF4-FFF2-40B4-BE49-F238E27FC236}">
                <a16:creationId xmlns:a16="http://schemas.microsoft.com/office/drawing/2014/main" id="{E5A6006E-9ED7-4BB7-B5CD-B365AD3E9C37}"/>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Predict: what prints before any aggregation runs?</a:t>
            </a:r>
          </a:p>
        </p:txBody>
      </p:sp>
      <p:sp>
        <p:nvSpPr>
          <p:cNvPr id="3" name="">
            <a:extLst xmlns:a="http://schemas.openxmlformats.org/drawingml/2006/main">
              <a:ext uri="{FF2B5EF4-FFF2-40B4-BE49-F238E27FC236}">
                <a16:creationId xmlns:a16="http://schemas.microsoft.com/office/drawing/2014/main" id="{7878E8D6-EEDC-466D-8F17-2A09F9313453}"/>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3F127F38-C0C9-41E5-9B9F-4EBC7A29ECE7}"/>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5 · Meeting B · Grouping and Outlier Studio</a:t>
            </a:r>
          </a:p>
        </p:txBody>
      </p:sp>
      <p:sp>
        <p:nvSpPr>
          <p:cNvPr id="5" name="page">
            <a:extLst xmlns:a="http://schemas.openxmlformats.org/drawingml/2006/main">
              <a:ext uri="{FF2B5EF4-FFF2-40B4-BE49-F238E27FC236}">
                <a16:creationId xmlns:a16="http://schemas.microsoft.com/office/drawing/2014/main" id="{253A9E58-0CA5-4A7A-8E73-2A1ECCFFEDD9}"/>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11</a:t>
            </a:r>
          </a:p>
        </p:txBody>
      </p:sp>
      <p:sp>
        <p:nvSpPr>
          <p:cNvPr id="6" name="code-panel">
            <a:extLst xmlns:a="http://schemas.openxmlformats.org/drawingml/2006/main">
              <a:ext uri="{FF2B5EF4-FFF2-40B4-BE49-F238E27FC236}">
                <a16:creationId xmlns:a16="http://schemas.microsoft.com/office/drawing/2014/main" id="{3A4BB27C-3DF6-4C44-9024-95584ED43A45}"/>
              </a:ext>
            </a:extLst>
          </p:cNvPr>
          <p:cNvSpPr>
            <a:spLocks xmlns:a="http://schemas.openxmlformats.org/drawingml/2006/main" noGrp="1"/>
          </p:cNvSpPr>
          <p:nvPr/>
        </p:nvSpPr>
        <p:spPr>
          <a:xfrm xmlns:a="http://schemas.openxmlformats.org/drawingml/2006/main">
            <a:off x="609600" y="1809750"/>
            <a:ext cx="6324600" cy="3238500"/>
          </a:xfrm>
          <a:prstGeom xmlns:a="http://schemas.openxmlformats.org/drawingml/2006/main" prst="roundRect">
            <a:avLst>
              <a:gd name="adj" fmla="val 2353"/>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A3D18087-9353-4632-AC83-FC987AF79984}"/>
              </a:ext>
            </a:extLst>
          </p:cNvPr>
          <p:cNvSpPr>
            <a:spLocks xmlns:a="http://schemas.openxmlformats.org/drawingml/2006/main" noGrp="1"/>
          </p:cNvSpPr>
          <p:nvPr/>
        </p:nvSpPr>
        <p:spPr>
          <a:xfrm xmlns:a="http://schemas.openxmlformats.org/drawingml/2006/main">
            <a:off x="857250" y="2038350"/>
            <a:ext cx="58293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print(df.groupby("zone"))</a:t>
            </a:r>
          </a:p>
        </p:txBody>
      </p:sp>
      <p:sp>
        <p:nvSpPr>
          <p:cNvPr id="8" name="question">
            <a:extLst xmlns:a="http://schemas.openxmlformats.org/drawingml/2006/main">
              <a:ext uri="{FF2B5EF4-FFF2-40B4-BE49-F238E27FC236}">
                <a16:creationId xmlns:a16="http://schemas.microsoft.com/office/drawing/2014/main" id="{1AAC488C-A9B7-4ECF-840B-73AEBA4AA0AE}"/>
              </a:ext>
            </a:extLst>
          </p:cNvPr>
          <p:cNvSpPr>
            <a:spLocks xmlns:a="http://schemas.openxmlformats.org/drawingml/2006/main" noGrp="1"/>
          </p:cNvSpPr>
          <p:nvPr/>
        </p:nvSpPr>
        <p:spPr>
          <a:xfrm xmlns:a="http://schemas.openxmlformats.org/drawingml/2006/main">
            <a:off x="7315200" y="1809750"/>
            <a:ext cx="42672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What does this print?</a:t>
            </a:r>
          </a:p>
        </p:txBody>
      </p:sp>
      <p:sp>
        <p:nvSpPr>
          <p:cNvPr id="9" name="opt-0">
            <a:extLst xmlns:a="http://schemas.openxmlformats.org/drawingml/2006/main">
              <a:ext uri="{FF2B5EF4-FFF2-40B4-BE49-F238E27FC236}">
                <a16:creationId xmlns:a16="http://schemas.microsoft.com/office/drawing/2014/main" id="{A823B3BD-34E7-4F00-A573-5CBF33A31449}"/>
              </a:ext>
            </a:extLst>
          </p:cNvPr>
          <p:cNvSpPr>
            <a:spLocks xmlns:a="http://schemas.openxmlformats.org/drawingml/2006/main" noGrp="1"/>
          </p:cNvSpPr>
          <p:nvPr/>
        </p:nvSpPr>
        <p:spPr>
          <a:xfrm xmlns:a="http://schemas.openxmlformats.org/drawingml/2006/main">
            <a:off x="7315200" y="25717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0" name="opt-letter-0">
            <a:extLst xmlns:a="http://schemas.openxmlformats.org/drawingml/2006/main">
              <a:ext uri="{FF2B5EF4-FFF2-40B4-BE49-F238E27FC236}">
                <a16:creationId xmlns:a16="http://schemas.microsoft.com/office/drawing/2014/main" id="{81123491-DAB8-4E2E-9635-4C3D4EED2052}"/>
              </a:ext>
            </a:extLst>
          </p:cNvPr>
          <p:cNvSpPr>
            <a:spLocks xmlns:a="http://schemas.openxmlformats.org/drawingml/2006/main" noGrp="1"/>
          </p:cNvSpPr>
          <p:nvPr/>
        </p:nvSpPr>
        <p:spPr>
          <a:xfrm xmlns:a="http://schemas.openxmlformats.org/drawingml/2006/main">
            <a:off x="7448550" y="27336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A</a:t>
            </a:r>
          </a:p>
        </p:txBody>
      </p:sp>
      <p:sp>
        <p:nvSpPr>
          <p:cNvPr id="11" name="opt-text-0">
            <a:extLst xmlns:a="http://schemas.openxmlformats.org/drawingml/2006/main">
              <a:ext uri="{FF2B5EF4-FFF2-40B4-BE49-F238E27FC236}">
                <a16:creationId xmlns:a16="http://schemas.microsoft.com/office/drawing/2014/main" id="{9534DD24-CECF-442B-AAEF-BCD7F1C9901D}"/>
              </a:ext>
            </a:extLst>
          </p:cNvPr>
          <p:cNvSpPr>
            <a:spLocks xmlns:a="http://schemas.openxmlformats.org/drawingml/2006/main" noGrp="1"/>
          </p:cNvSpPr>
          <p:nvPr/>
        </p:nvSpPr>
        <p:spPr>
          <a:xfrm xmlns:a="http://schemas.openxmlformats.org/drawingml/2006/main">
            <a:off x="7772400" y="26098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A DataFrame with one row per zone, every column already averaged</a:t>
            </a:r>
          </a:p>
        </p:txBody>
      </p:sp>
      <p:sp>
        <p:nvSpPr>
          <p:cNvPr id="12" name="opt-1">
            <a:extLst xmlns:a="http://schemas.openxmlformats.org/drawingml/2006/main">
              <a:ext uri="{FF2B5EF4-FFF2-40B4-BE49-F238E27FC236}">
                <a16:creationId xmlns:a16="http://schemas.microsoft.com/office/drawing/2014/main" id="{40E01FC6-AD53-424E-AA59-D3694FCB3257}"/>
              </a:ext>
            </a:extLst>
          </p:cNvPr>
          <p:cNvSpPr>
            <a:spLocks xmlns:a="http://schemas.openxmlformats.org/drawingml/2006/main" noGrp="1"/>
          </p:cNvSpPr>
          <p:nvPr/>
        </p:nvSpPr>
        <p:spPr>
          <a:xfrm xmlns:a="http://schemas.openxmlformats.org/drawingml/2006/main">
            <a:off x="7315200" y="31813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3" name="opt-letter-1">
            <a:extLst xmlns:a="http://schemas.openxmlformats.org/drawingml/2006/main">
              <a:ext uri="{FF2B5EF4-FFF2-40B4-BE49-F238E27FC236}">
                <a16:creationId xmlns:a16="http://schemas.microsoft.com/office/drawing/2014/main" id="{0BBB0DEF-1C3E-4611-9A68-2D97E00305A7}"/>
              </a:ext>
            </a:extLst>
          </p:cNvPr>
          <p:cNvSpPr>
            <a:spLocks xmlns:a="http://schemas.openxmlformats.org/drawingml/2006/main" noGrp="1"/>
          </p:cNvSpPr>
          <p:nvPr/>
        </p:nvSpPr>
        <p:spPr>
          <a:xfrm xmlns:a="http://schemas.openxmlformats.org/drawingml/2006/main">
            <a:off x="7448550" y="33432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B</a:t>
            </a:r>
          </a:p>
        </p:txBody>
      </p:sp>
      <p:sp>
        <p:nvSpPr>
          <p:cNvPr id="14" name="opt-text-1">
            <a:extLst xmlns:a="http://schemas.openxmlformats.org/drawingml/2006/main">
              <a:ext uri="{FF2B5EF4-FFF2-40B4-BE49-F238E27FC236}">
                <a16:creationId xmlns:a16="http://schemas.microsoft.com/office/drawing/2014/main" id="{9FD7A07B-275E-4601-8506-44E628F853A2}"/>
              </a:ext>
            </a:extLst>
          </p:cNvPr>
          <p:cNvSpPr>
            <a:spLocks xmlns:a="http://schemas.openxmlformats.org/drawingml/2006/main" noGrp="1"/>
          </p:cNvSpPr>
          <p:nvPr/>
        </p:nvSpPr>
        <p:spPr>
          <a:xfrm xmlns:a="http://schemas.openxmlformats.org/drawingml/2006/main">
            <a:off x="7772400" y="32194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&lt;pandas.api.typing.DataFrameGroupBy object at 0x...&gt;</a:t>
            </a:r>
          </a:p>
        </p:txBody>
      </p:sp>
      <p:sp>
        <p:nvSpPr>
          <p:cNvPr id="15" name="opt-2">
            <a:extLst xmlns:a="http://schemas.openxmlformats.org/drawingml/2006/main">
              <a:ext uri="{FF2B5EF4-FFF2-40B4-BE49-F238E27FC236}">
                <a16:creationId xmlns:a16="http://schemas.microsoft.com/office/drawing/2014/main" id="{A61C0F40-2B74-403B-917C-D95F6C6ED8BC}"/>
              </a:ext>
            </a:extLst>
          </p:cNvPr>
          <p:cNvSpPr>
            <a:spLocks xmlns:a="http://schemas.openxmlformats.org/drawingml/2006/main" noGrp="1"/>
          </p:cNvSpPr>
          <p:nvPr/>
        </p:nvSpPr>
        <p:spPr>
          <a:xfrm xmlns:a="http://schemas.openxmlformats.org/drawingml/2006/main">
            <a:off x="7315200" y="37909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6" name="opt-letter-2">
            <a:extLst xmlns:a="http://schemas.openxmlformats.org/drawingml/2006/main">
              <a:ext uri="{FF2B5EF4-FFF2-40B4-BE49-F238E27FC236}">
                <a16:creationId xmlns:a16="http://schemas.microsoft.com/office/drawing/2014/main" id="{924E14A5-DDB2-4F31-A78A-9882F3DE645D}"/>
              </a:ext>
            </a:extLst>
          </p:cNvPr>
          <p:cNvSpPr>
            <a:spLocks xmlns:a="http://schemas.openxmlformats.org/drawingml/2006/main" noGrp="1"/>
          </p:cNvSpPr>
          <p:nvPr/>
        </p:nvSpPr>
        <p:spPr>
          <a:xfrm xmlns:a="http://schemas.openxmlformats.org/drawingml/2006/main">
            <a:off x="7448550" y="39528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C</a:t>
            </a:r>
          </a:p>
        </p:txBody>
      </p:sp>
      <p:sp>
        <p:nvSpPr>
          <p:cNvPr id="17" name="opt-text-2">
            <a:extLst xmlns:a="http://schemas.openxmlformats.org/drawingml/2006/main">
              <a:ext uri="{FF2B5EF4-FFF2-40B4-BE49-F238E27FC236}">
                <a16:creationId xmlns:a16="http://schemas.microsoft.com/office/drawing/2014/main" id="{BE8F8F20-E13D-445E-8258-379F4959959D}"/>
              </a:ext>
            </a:extLst>
          </p:cNvPr>
          <p:cNvSpPr>
            <a:spLocks xmlns:a="http://schemas.openxmlformats.org/drawingml/2006/main" noGrp="1"/>
          </p:cNvSpPr>
          <p:nvPr/>
        </p:nvSpPr>
        <p:spPr>
          <a:xfrm xmlns:a="http://schemas.openxmlformats.org/drawingml/2006/main">
            <a:off x="7772400" y="38290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['North', 'South'] — just the two zone names</a:t>
            </a:r>
          </a:p>
        </p:txBody>
      </p:sp>
      <p:sp>
        <p:nvSpPr>
          <p:cNvPr id="18" name="opt-3">
            <a:extLst xmlns:a="http://schemas.openxmlformats.org/drawingml/2006/main">
              <a:ext uri="{FF2B5EF4-FFF2-40B4-BE49-F238E27FC236}">
                <a16:creationId xmlns:a16="http://schemas.microsoft.com/office/drawing/2014/main" id="{5B22BA98-7279-4CA3-B411-0146453D79BF}"/>
              </a:ext>
            </a:extLst>
          </p:cNvPr>
          <p:cNvSpPr>
            <a:spLocks xmlns:a="http://schemas.openxmlformats.org/drawingml/2006/main" noGrp="1"/>
          </p:cNvSpPr>
          <p:nvPr/>
        </p:nvSpPr>
        <p:spPr>
          <a:xfrm xmlns:a="http://schemas.openxmlformats.org/drawingml/2006/main">
            <a:off x="7315200" y="44005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9" name="opt-letter-3">
            <a:extLst xmlns:a="http://schemas.openxmlformats.org/drawingml/2006/main">
              <a:ext uri="{FF2B5EF4-FFF2-40B4-BE49-F238E27FC236}">
                <a16:creationId xmlns:a16="http://schemas.microsoft.com/office/drawing/2014/main" id="{07A2E96A-ACE5-4CBA-AE3F-57912614DB1E}"/>
              </a:ext>
            </a:extLst>
          </p:cNvPr>
          <p:cNvSpPr>
            <a:spLocks xmlns:a="http://schemas.openxmlformats.org/drawingml/2006/main" noGrp="1"/>
          </p:cNvSpPr>
          <p:nvPr/>
        </p:nvSpPr>
        <p:spPr>
          <a:xfrm xmlns:a="http://schemas.openxmlformats.org/drawingml/2006/main">
            <a:off x="7448550" y="45624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D</a:t>
            </a:r>
          </a:p>
        </p:txBody>
      </p:sp>
      <p:sp>
        <p:nvSpPr>
          <p:cNvPr id="20" name="opt-text-3">
            <a:extLst xmlns:a="http://schemas.openxmlformats.org/drawingml/2006/main">
              <a:ext uri="{FF2B5EF4-FFF2-40B4-BE49-F238E27FC236}">
                <a16:creationId xmlns:a16="http://schemas.microsoft.com/office/drawing/2014/main" id="{BF7FA9A5-0B2F-44C7-AB35-09EAAD32D2C7}"/>
              </a:ext>
            </a:extLst>
          </p:cNvPr>
          <p:cNvSpPr>
            <a:spLocks xmlns:a="http://schemas.openxmlformats.org/drawingml/2006/main" noGrp="1"/>
          </p:cNvSpPr>
          <p:nvPr/>
        </p:nvSpPr>
        <p:spPr>
          <a:xfrm xmlns:a="http://schemas.openxmlformats.org/drawingml/2006/main">
            <a:off x="7772400" y="44386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A ValueError, because no aggregation function was given</a:t>
            </a:r>
          </a:p>
        </p:txBody>
      </p:sp>
      <p:sp>
        <p:nvSpPr>
          <p:cNvPr id="21" name="answer-panel">
            <a:extLst xmlns:a="http://schemas.openxmlformats.org/drawingml/2006/main">
              <a:ext uri="{FF2B5EF4-FFF2-40B4-BE49-F238E27FC236}">
                <a16:creationId xmlns:a16="http://schemas.microsoft.com/office/drawing/2014/main" id="{D7CC48F7-45A4-4153-99D6-9FC61403F3FA}"/>
              </a:ext>
            </a:extLst>
          </p:cNvPr>
          <p:cNvSpPr>
            <a:spLocks xmlns:a="http://schemas.openxmlformats.org/drawingml/2006/main" noGrp="1"/>
          </p:cNvSpPr>
          <p:nvPr/>
        </p:nvSpPr>
        <p:spPr>
          <a:xfrm xmlns:a="http://schemas.openxmlformats.org/drawingml/2006/main">
            <a:off x="609600" y="5219700"/>
            <a:ext cx="10972800" cy="914400"/>
          </a:xfrm>
          <a:prstGeom xmlns:a="http://schemas.openxmlformats.org/drawingml/2006/main" prst="roundRect">
            <a:avLst>
              <a:gd name="adj" fmla="val 8333"/>
            </a:avLst>
          </a:prstGeom>
          <a:solidFill xmlns:a="http://schemas.openxmlformats.org/drawingml/2006/main">
            <a:srgbClr val="F3F7FB"/>
          </a:solidFill>
          <a:ln xmlns:a="http://schemas.openxmlformats.org/drawingml/2006/main" w="9525">
            <a:solidFill>
              <a:srgbClr val="2E74B5"/>
            </a:solidFill>
            <a:prstDash val="solid"/>
          </a:ln>
        </p:spPr>
      </p:sp>
      <p:sp>
        <p:nvSpPr>
          <p:cNvPr id="22" name="answer-label">
            <a:extLst xmlns:a="http://schemas.openxmlformats.org/drawingml/2006/main">
              <a:ext uri="{FF2B5EF4-FFF2-40B4-BE49-F238E27FC236}">
                <a16:creationId xmlns:a16="http://schemas.microsoft.com/office/drawing/2014/main" id="{FD64A992-9E50-4018-B5EB-270D351110D4}"/>
              </a:ext>
            </a:extLst>
          </p:cNvPr>
          <p:cNvSpPr>
            <a:spLocks xmlns:a="http://schemas.openxmlformats.org/drawingml/2006/main" noGrp="1"/>
          </p:cNvSpPr>
          <p:nvPr/>
        </p:nvSpPr>
        <p:spPr>
          <a:xfrm xmlns:a="http://schemas.openxmlformats.org/drawingml/2006/main">
            <a:off x="819150" y="53721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ANSWER  ·  B</a:t>
            </a:r>
          </a:p>
        </p:txBody>
      </p:sp>
      <p:sp>
        <p:nvSpPr>
          <p:cNvPr id="23" name="why">
            <a:extLst xmlns:a="http://schemas.openxmlformats.org/drawingml/2006/main">
              <a:ext uri="{FF2B5EF4-FFF2-40B4-BE49-F238E27FC236}">
                <a16:creationId xmlns:a16="http://schemas.microsoft.com/office/drawing/2014/main" id="{1B0D8B16-BFFA-4BB9-B917-D973BCF515B6}"/>
              </a:ext>
            </a:extLst>
          </p:cNvPr>
          <p:cNvSpPr>
            <a:spLocks xmlns:a="http://schemas.openxmlformats.org/drawingml/2006/main" noGrp="1"/>
          </p:cNvSpPr>
          <p:nvPr/>
        </p:nvSpPr>
        <p:spPr>
          <a:xfrm xmlns:a="http://schemas.openxmlformats.org/drawingml/2006/main">
            <a:off x="819150" y="5638800"/>
            <a:ext cx="1055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groupby() alone only plans the split — a GroupBy object, not a table. Chain .agg() or .mean() to compute anything.</a:t>
            </a:r>
          </a:p>
        </p:txBody>
      </p:sp>
    </p:spTree>
    <p:extLst>
      <p:ext uri="{BB962C8B-B14F-4D97-AF65-F5344CB8AC3E}">
        <p14:creationId xmlns:p14="http://schemas.microsoft.com/office/powerpoint/2010/main" val="144941656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51D6DB58-B820-4539-BC66-7515C9C79452}"/>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E6CDC344-38C2-49BB-920D-F794F4CE21D2}"/>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Recall from Meeting A: group, then aggregate</a:t>
            </a:r>
          </a:p>
        </p:txBody>
      </p:sp>
      <p:sp>
        <p:nvSpPr>
          <p:cNvPr id="3" name="">
            <a:extLst xmlns:a="http://schemas.openxmlformats.org/drawingml/2006/main">
              <a:ext uri="{FF2B5EF4-FFF2-40B4-BE49-F238E27FC236}">
                <a16:creationId xmlns:a16="http://schemas.microsoft.com/office/drawing/2014/main" id="{934BEFD6-F18B-4F70-981A-04FB7953434F}"/>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00FAE16B-AF31-4846-9A84-E43AD86F5C0A}"/>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5 · Meeting B · Grouping and Outlier Studio</a:t>
            </a:r>
          </a:p>
        </p:txBody>
      </p:sp>
      <p:sp>
        <p:nvSpPr>
          <p:cNvPr id="5" name="page">
            <a:extLst xmlns:a="http://schemas.openxmlformats.org/drawingml/2006/main">
              <a:ext uri="{FF2B5EF4-FFF2-40B4-BE49-F238E27FC236}">
                <a16:creationId xmlns:a16="http://schemas.microsoft.com/office/drawing/2014/main" id="{2D48626A-7FE8-4560-A583-93AD0D8E135F}"/>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12</a:t>
            </a:r>
          </a:p>
        </p:txBody>
      </p:sp>
      <p:sp>
        <p:nvSpPr>
          <p:cNvPr id="6" name="code-panel">
            <a:extLst xmlns:a="http://schemas.openxmlformats.org/drawingml/2006/main">
              <a:ext uri="{FF2B5EF4-FFF2-40B4-BE49-F238E27FC236}">
                <a16:creationId xmlns:a16="http://schemas.microsoft.com/office/drawing/2014/main" id="{C5DF29C5-0F99-4973-9169-DC6381797B29}"/>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1A094816-C802-459F-82DD-11F5CB5A4EEC}"/>
              </a:ext>
            </a:extLst>
          </p:cNvPr>
          <p:cNvSpPr>
            <a:spLocks xmlns:a="http://schemas.openxmlformats.org/drawingml/2006/main" noGrp="1"/>
          </p:cNvSpPr>
          <p:nvPr/>
        </p:nvSpPr>
        <p:spPr>
          <a:xfrm xmlns:a="http://schemas.openxmlformats.org/drawingml/2006/main">
            <a:off x="857250" y="2057400"/>
            <a:ext cx="6400800" cy="261975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zone_summary = df.groupby("zone").agg(</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mean_energy=("energy_kwh_m2_yr", "mean"),</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mean_area=("area_m2", "mean"),</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n=("room_id", "count"),</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).round(2)</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print(zone_summary)</a:t>
            </a:r>
          </a:p>
        </p:txBody>
      </p:sp>
      <p:sp>
        <p:nvSpPr>
          <p:cNvPr id="8" name="">
            <a:extLst xmlns:a="http://schemas.openxmlformats.org/drawingml/2006/main">
              <a:ext uri="{FF2B5EF4-FFF2-40B4-BE49-F238E27FC236}">
                <a16:creationId xmlns:a16="http://schemas.microsoft.com/office/drawing/2014/main" id="{67DD7C78-ABDB-4FCF-A9EE-B714DC7F703F}"/>
              </a:ext>
            </a:extLst>
          </p:cNvPr>
          <p:cNvSpPr>
            <a:spLocks xmlns:a="http://schemas.openxmlformats.org/drawingml/2006/main" noGrp="1"/>
          </p:cNvSpPr>
          <p:nvPr/>
        </p:nvSpPr>
        <p:spPr>
          <a:xfrm xmlns:a="http://schemas.openxmlformats.org/drawingml/2006/main">
            <a:off x="857250" y="4734306"/>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FA3618B5-26E8-40DC-AA55-DF46E54231D6}"/>
              </a:ext>
            </a:extLst>
          </p:cNvPr>
          <p:cNvSpPr>
            <a:spLocks xmlns:a="http://schemas.openxmlformats.org/drawingml/2006/main" noGrp="1"/>
          </p:cNvSpPr>
          <p:nvPr/>
        </p:nvSpPr>
        <p:spPr>
          <a:xfrm xmlns:a="http://schemas.openxmlformats.org/drawingml/2006/main">
            <a:off x="857250" y="4848606"/>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A6B73CCD-FFEF-4523-8DF3-0D8564C0AF99}"/>
              </a:ext>
            </a:extLst>
          </p:cNvPr>
          <p:cNvSpPr>
            <a:spLocks xmlns:a="http://schemas.openxmlformats.org/drawingml/2006/main" noGrp="1"/>
          </p:cNvSpPr>
          <p:nvPr/>
        </p:nvSpPr>
        <p:spPr>
          <a:xfrm xmlns:a="http://schemas.openxmlformats.org/drawingml/2006/main">
            <a:off x="857250" y="5077206"/>
            <a:ext cx="6400800" cy="75209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       mean_energy  mean_area   n</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zone                             </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North        64.25      40.98  12</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South       115.68      38.25  12</a:t>
            </a:r>
          </a:p>
        </p:txBody>
      </p:sp>
      <p:sp>
        <p:nvSpPr>
          <p:cNvPr id="11" name="explain-head">
            <a:extLst xmlns:a="http://schemas.openxmlformats.org/drawingml/2006/main">
              <a:ext uri="{FF2B5EF4-FFF2-40B4-BE49-F238E27FC236}">
                <a16:creationId xmlns:a16="http://schemas.microsoft.com/office/drawing/2014/main" id="{93BBB122-90AA-4FAD-9812-21BA458CAC4E}"/>
              </a:ext>
            </a:extLst>
          </p:cNvPr>
          <p:cNvSpPr>
            <a:spLocks xmlns:a="http://schemas.openxmlformats.org/drawingml/2006/main" noGrp="1"/>
          </p:cNvSpPr>
          <p:nvPr/>
        </p:nvSpPr>
        <p:spPr>
          <a:xfrm xmlns:a="http://schemas.openxmlformats.org/drawingml/2006/main">
            <a:off x="7886700" y="2790825"/>
            <a:ext cx="3695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Confirm before extending</a:t>
            </a:r>
          </a:p>
        </p:txBody>
      </p:sp>
      <p:sp>
        <p:nvSpPr>
          <p:cNvPr id="12" name="explain-body">
            <a:extLst xmlns:a="http://schemas.openxmlformats.org/drawingml/2006/main">
              <a:ext uri="{FF2B5EF4-FFF2-40B4-BE49-F238E27FC236}">
                <a16:creationId xmlns:a16="http://schemas.microsoft.com/office/drawing/2014/main" id="{65C44AFF-65CC-49B5-A08F-EB37B82CBE84}"/>
              </a:ext>
            </a:extLst>
          </p:cNvPr>
          <p:cNvSpPr>
            <a:spLocks xmlns:a="http://schemas.openxmlformats.org/drawingml/2006/main" noGrp="1"/>
          </p:cNvSpPr>
          <p:nvPr/>
        </p:nvSpPr>
        <p:spPr>
          <a:xfrm xmlns:a="http://schemas.openxmlformats.org/drawingml/2006/main">
            <a:off x="7886700" y="3288411"/>
            <a:ext cx="36957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Run this first and confirm you get exactly Meeting A's numbers — North 64.25, South 115.68 — before Studio 1 asks you to build the same pattern for a new category.</a:t>
            </a:r>
          </a:p>
        </p:txBody>
      </p:sp>
    </p:spTree>
    <p:extLst>
      <p:ext uri="{BB962C8B-B14F-4D97-AF65-F5344CB8AC3E}">
        <p14:creationId xmlns:p14="http://schemas.microsoft.com/office/powerpoint/2010/main" val="104641819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CDD28A26-3880-4447-A725-1D8B7E8D32EE}"/>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IN-CLASS CHECK</a:t>
            </a:r>
          </a:p>
        </p:txBody>
      </p:sp>
      <p:sp>
        <p:nvSpPr>
          <p:cNvPr id="2" name="title">
            <a:extLst xmlns:a="http://schemas.openxmlformats.org/drawingml/2006/main">
              <a:ext uri="{FF2B5EF4-FFF2-40B4-BE49-F238E27FC236}">
                <a16:creationId xmlns:a16="http://schemas.microsoft.com/office/drawing/2014/main" id="{C581783E-3005-4190-BC33-9B112A6A1CAD}"/>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Studio 1: build the same pattern for room_type</a:t>
            </a:r>
          </a:p>
        </p:txBody>
      </p:sp>
      <p:sp>
        <p:nvSpPr>
          <p:cNvPr id="3" name="">
            <a:extLst xmlns:a="http://schemas.openxmlformats.org/drawingml/2006/main">
              <a:ext uri="{FF2B5EF4-FFF2-40B4-BE49-F238E27FC236}">
                <a16:creationId xmlns:a16="http://schemas.microsoft.com/office/drawing/2014/main" id="{08A94767-36B4-424B-B335-D357352404CE}"/>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9E22B7FD-E350-449E-A50B-35BCCD385062}"/>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5 · Meeting B · Grouping and Outlier Studio</a:t>
            </a:r>
          </a:p>
        </p:txBody>
      </p:sp>
      <p:sp>
        <p:nvSpPr>
          <p:cNvPr id="5" name="page">
            <a:extLst xmlns:a="http://schemas.openxmlformats.org/drawingml/2006/main">
              <a:ext uri="{FF2B5EF4-FFF2-40B4-BE49-F238E27FC236}">
                <a16:creationId xmlns:a16="http://schemas.microsoft.com/office/drawing/2014/main" id="{BD9F8805-3C6A-4B8C-B882-CC54AEA26AB7}"/>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13</a:t>
            </a:r>
          </a:p>
        </p:txBody>
      </p:sp>
      <p:sp>
        <p:nvSpPr>
          <p:cNvPr id="6" name="exercise-accent">
            <a:extLst xmlns:a="http://schemas.openxmlformats.org/drawingml/2006/main">
              <a:ext uri="{FF2B5EF4-FFF2-40B4-BE49-F238E27FC236}">
                <a16:creationId xmlns:a16="http://schemas.microsoft.com/office/drawing/2014/main" id="{3F4C08AB-A6D3-47F6-B251-A8E198FA41D6}"/>
              </a:ext>
            </a:extLst>
          </p:cNvPr>
          <p:cNvSpPr>
            <a:spLocks xmlns:a="http://schemas.openxmlformats.org/drawingml/2006/main" noGrp="1"/>
          </p:cNvSpPr>
          <p:nvPr/>
        </p:nvSpPr>
        <p:spPr>
          <a:xfrm xmlns:a="http://schemas.openxmlformats.org/drawingml/2006/main">
            <a:off x="609600" y="1809750"/>
            <a:ext cx="4000500" cy="4248150"/>
          </a:xfrm>
          <a:prstGeom xmlns:a="http://schemas.openxmlformats.org/drawingml/2006/main" prst="roundRect">
            <a:avLst>
              <a:gd name="adj" fmla="val 1429"/>
            </a:avLst>
          </a:prstGeom>
          <a:solidFill xmlns:a="http://schemas.openxmlformats.org/drawingml/2006/main">
            <a:srgbClr val="2E74B5"/>
          </a:solidFill>
          <a:ln xmlns:a="http://schemas.openxmlformats.org/drawingml/2006/main" w="9525">
            <a:solidFill>
              <a:srgbClr val="2E74B5"/>
            </a:solidFill>
            <a:prstDash val="solid"/>
          </a:ln>
        </p:spPr>
      </p:sp>
      <p:sp>
        <p:nvSpPr>
          <p:cNvPr id="7" name="exercise-prompt">
            <a:extLst xmlns:a="http://schemas.openxmlformats.org/drawingml/2006/main">
              <a:ext uri="{FF2B5EF4-FFF2-40B4-BE49-F238E27FC236}">
                <a16:creationId xmlns:a16="http://schemas.microsoft.com/office/drawing/2014/main" id="{FD5B8D75-F5B0-4325-B572-CA6201E56797}"/>
              </a:ext>
            </a:extLst>
          </p:cNvPr>
          <p:cNvSpPr>
            <a:spLocks xmlns:a="http://schemas.openxmlformats.org/drawingml/2006/main" noGrp="1"/>
          </p:cNvSpPr>
          <p:nvPr/>
        </p:nvSpPr>
        <p:spPr>
          <a:xfrm xmlns:a="http://schemas.openxmlformats.org/drawingml/2006/main">
            <a:off x="876300" y="2095500"/>
            <a:ext cx="3467100" cy="3676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100" b="1">
                <a:solidFill>
                  <a:srgbClr val="FFFFFF"/>
                </a:solidFill>
                <a:latin typeface="Arial"/>
                <a:ea typeface="Arial"/>
                <a:cs typeface="Arial"/>
              </a:defRPr>
            </a:pPr>
            <a:r>
              <a:rPr sz="2100" b="1">
                <a:solidFill>
                  <a:srgbClr val="FFFFFF"/>
                </a:solidFill>
                <a:latin typeface="Arial"/>
                <a:ea typeface="Arial"/>
                <a:cs typeface="Arial"/>
              </a:rPr>
              <a:t>Group by room_type instead of zone, with the same three aggregations, then rank by mean energy.</a:t>
            </a:r>
          </a:p>
        </p:txBody>
      </p:sp>
      <p:sp>
        <p:nvSpPr>
          <p:cNvPr id="8" name="work-label">
            <a:extLst xmlns:a="http://schemas.openxmlformats.org/drawingml/2006/main">
              <a:ext uri="{FF2B5EF4-FFF2-40B4-BE49-F238E27FC236}">
                <a16:creationId xmlns:a16="http://schemas.microsoft.com/office/drawing/2014/main" id="{799CD972-B31C-4952-A0F9-6B6918095C24}"/>
              </a:ext>
            </a:extLst>
          </p:cNvPr>
          <p:cNvSpPr>
            <a:spLocks xmlns:a="http://schemas.openxmlformats.org/drawingml/2006/main" noGrp="1"/>
          </p:cNvSpPr>
          <p:nvPr/>
        </p:nvSpPr>
        <p:spPr>
          <a:xfrm xmlns:a="http://schemas.openxmlformats.org/drawingml/2006/main">
            <a:off x="5029200" y="1847850"/>
            <a:ext cx="6553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WORK THROUGH IT</a:t>
            </a:r>
          </a:p>
        </p:txBody>
      </p:sp>
      <p:sp>
        <p:nvSpPr>
          <p:cNvPr id="9" name="exercise-no-0">
            <a:extLst xmlns:a="http://schemas.openxmlformats.org/drawingml/2006/main">
              <a:ext uri="{FF2B5EF4-FFF2-40B4-BE49-F238E27FC236}">
                <a16:creationId xmlns:a16="http://schemas.microsoft.com/office/drawing/2014/main" id="{B51044F3-D1EB-4EFB-A84F-5A2DB4A95045}"/>
              </a:ext>
            </a:extLst>
          </p:cNvPr>
          <p:cNvSpPr>
            <a:spLocks xmlns:a="http://schemas.openxmlformats.org/drawingml/2006/main" noGrp="1"/>
          </p:cNvSpPr>
          <p:nvPr/>
        </p:nvSpPr>
        <p:spPr>
          <a:xfrm xmlns:a="http://schemas.openxmlformats.org/drawingml/2006/main">
            <a:off x="5029200" y="22479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1.</a:t>
            </a:r>
          </a:p>
        </p:txBody>
      </p:sp>
      <p:sp>
        <p:nvSpPr>
          <p:cNvPr id="10" name="exercise-step-0">
            <a:extLst xmlns:a="http://schemas.openxmlformats.org/drawingml/2006/main">
              <a:ext uri="{FF2B5EF4-FFF2-40B4-BE49-F238E27FC236}">
                <a16:creationId xmlns:a16="http://schemas.microsoft.com/office/drawing/2014/main" id="{91516428-2E85-4BEB-8C43-41271AB4FFE0}"/>
              </a:ext>
            </a:extLst>
          </p:cNvPr>
          <p:cNvSpPr>
            <a:spLocks xmlns:a="http://schemas.openxmlformats.org/drawingml/2006/main" noGrp="1"/>
          </p:cNvSpPr>
          <p:nvPr/>
        </p:nvSpPr>
        <p:spPr>
          <a:xfrm xmlns:a="http://schemas.openxmlformats.org/drawingml/2006/main">
            <a:off x="5467350" y="22479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Write df.groupby("room_type").agg(mean_energy=(...), n=(...)).round(2).</a:t>
            </a:r>
          </a:p>
        </p:txBody>
      </p:sp>
      <p:sp>
        <p:nvSpPr>
          <p:cNvPr id="11" name="exercise-no-1">
            <a:extLst xmlns:a="http://schemas.openxmlformats.org/drawingml/2006/main">
              <a:ext uri="{FF2B5EF4-FFF2-40B4-BE49-F238E27FC236}">
                <a16:creationId xmlns:a16="http://schemas.microsoft.com/office/drawing/2014/main" id="{1862466E-DCB2-4B3A-8CF6-9BC9AF39B005}"/>
              </a:ext>
            </a:extLst>
          </p:cNvPr>
          <p:cNvSpPr>
            <a:spLocks xmlns:a="http://schemas.openxmlformats.org/drawingml/2006/main" noGrp="1"/>
          </p:cNvSpPr>
          <p:nvPr/>
        </p:nvSpPr>
        <p:spPr>
          <a:xfrm xmlns:a="http://schemas.openxmlformats.org/drawingml/2006/main">
            <a:off x="5029200" y="31242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2.</a:t>
            </a:r>
          </a:p>
        </p:txBody>
      </p:sp>
      <p:sp>
        <p:nvSpPr>
          <p:cNvPr id="12" name="exercise-step-1">
            <a:extLst xmlns:a="http://schemas.openxmlformats.org/drawingml/2006/main">
              <a:ext uri="{FF2B5EF4-FFF2-40B4-BE49-F238E27FC236}">
                <a16:creationId xmlns:a16="http://schemas.microsoft.com/office/drawing/2014/main" id="{1CA379B4-E47A-4C50-8FD4-FE49B4007873}"/>
              </a:ext>
            </a:extLst>
          </p:cNvPr>
          <p:cNvSpPr>
            <a:spLocks xmlns:a="http://schemas.openxmlformats.org/drawingml/2006/main" noGrp="1"/>
          </p:cNvSpPr>
          <p:nvPr/>
        </p:nvSpPr>
        <p:spPr>
          <a:xfrm xmlns:a="http://schemas.openxmlformats.org/drawingml/2006/main">
            <a:off x="5467350" y="31242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Sort by mean_energy, descending.</a:t>
            </a:r>
          </a:p>
        </p:txBody>
      </p:sp>
      <p:sp>
        <p:nvSpPr>
          <p:cNvPr id="13" name="exercise-no-2">
            <a:extLst xmlns:a="http://schemas.openxmlformats.org/drawingml/2006/main">
              <a:ext uri="{FF2B5EF4-FFF2-40B4-BE49-F238E27FC236}">
                <a16:creationId xmlns:a16="http://schemas.microsoft.com/office/drawing/2014/main" id="{C16148E6-28C8-40EC-A175-254B73B24F3F}"/>
              </a:ext>
            </a:extLst>
          </p:cNvPr>
          <p:cNvSpPr>
            <a:spLocks xmlns:a="http://schemas.openxmlformats.org/drawingml/2006/main" noGrp="1"/>
          </p:cNvSpPr>
          <p:nvPr/>
        </p:nvSpPr>
        <p:spPr>
          <a:xfrm xmlns:a="http://schemas.openxmlformats.org/drawingml/2006/main">
            <a:off x="5029200" y="40005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3.</a:t>
            </a:r>
          </a:p>
        </p:txBody>
      </p:sp>
      <p:sp>
        <p:nvSpPr>
          <p:cNvPr id="14" name="exercise-step-2">
            <a:extLst xmlns:a="http://schemas.openxmlformats.org/drawingml/2006/main">
              <a:ext uri="{FF2B5EF4-FFF2-40B4-BE49-F238E27FC236}">
                <a16:creationId xmlns:a16="http://schemas.microsoft.com/office/drawing/2014/main" id="{78540043-9664-4C85-8B88-6432091D02A4}"/>
              </a:ext>
            </a:extLst>
          </p:cNvPr>
          <p:cNvSpPr>
            <a:spLocks xmlns:a="http://schemas.openxmlformats.org/drawingml/2006/main" noGrp="1"/>
          </p:cNvSpPr>
          <p:nvPr/>
        </p:nvSpPr>
        <p:spPr>
          <a:xfrm xmlns:a="http://schemas.openxmlformats.org/drawingml/2006/main">
            <a:off x="5467350" y="40005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Identify which two room types have n = 1 — flag them as thin evidence.</a:t>
            </a:r>
          </a:p>
        </p:txBody>
      </p:sp>
      <p:sp>
        <p:nvSpPr>
          <p:cNvPr id="15" name="exercise-no-3">
            <a:extLst xmlns:a="http://schemas.openxmlformats.org/drawingml/2006/main">
              <a:ext uri="{FF2B5EF4-FFF2-40B4-BE49-F238E27FC236}">
                <a16:creationId xmlns:a16="http://schemas.microsoft.com/office/drawing/2014/main" id="{48EADBBE-1EC9-4A36-9061-1E5D889DEE24}"/>
              </a:ext>
            </a:extLst>
          </p:cNvPr>
          <p:cNvSpPr>
            <a:spLocks xmlns:a="http://schemas.openxmlformats.org/drawingml/2006/main" noGrp="1"/>
          </p:cNvSpPr>
          <p:nvPr/>
        </p:nvSpPr>
        <p:spPr>
          <a:xfrm xmlns:a="http://schemas.openxmlformats.org/drawingml/2006/main">
            <a:off x="5029200" y="48768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4.</a:t>
            </a:r>
          </a:p>
        </p:txBody>
      </p:sp>
      <p:sp>
        <p:nvSpPr>
          <p:cNvPr id="16" name="exercise-step-3">
            <a:extLst xmlns:a="http://schemas.openxmlformats.org/drawingml/2006/main">
              <a:ext uri="{FF2B5EF4-FFF2-40B4-BE49-F238E27FC236}">
                <a16:creationId xmlns:a16="http://schemas.microsoft.com/office/drawing/2014/main" id="{5C9458D8-1A19-40DC-90AA-957741EB7816}"/>
              </a:ext>
            </a:extLst>
          </p:cNvPr>
          <p:cNvSpPr>
            <a:spLocks xmlns:a="http://schemas.openxmlformats.org/drawingml/2006/main" noGrp="1"/>
          </p:cNvSpPr>
          <p:nvPr/>
        </p:nvSpPr>
        <p:spPr>
          <a:xfrm xmlns:a="http://schemas.openxmlformats.org/drawingml/2006/main">
            <a:off x="5467350" y="48768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Write one sentence: does a single-room category deserve the same confidence as a 10-room category?</a:t>
            </a:r>
          </a:p>
        </p:txBody>
      </p:sp>
    </p:spTree>
    <p:extLst>
      <p:ext uri="{BB962C8B-B14F-4D97-AF65-F5344CB8AC3E}">
        <p14:creationId xmlns:p14="http://schemas.microsoft.com/office/powerpoint/2010/main" val="133034350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kicker">
            <a:extLst xmlns:a="http://schemas.openxmlformats.org/drawingml/2006/main">
              <a:ext uri="{FF2B5EF4-FFF2-40B4-BE49-F238E27FC236}">
                <a16:creationId xmlns:a16="http://schemas.microsoft.com/office/drawing/2014/main" id="{16A990F5-021B-425C-B2D3-1A797F102FF3}"/>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READ THE DATA</a:t>
            </a:r>
          </a:p>
        </p:txBody>
      </p:sp>
      <p:sp>
        <p:nvSpPr>
          <p:cNvPr id="2" name="title">
            <a:extLst xmlns:a="http://schemas.openxmlformats.org/drawingml/2006/main">
              <a:ext uri="{FF2B5EF4-FFF2-40B4-BE49-F238E27FC236}">
                <a16:creationId xmlns:a16="http://schemas.microsoft.com/office/drawing/2014/main" id="{F79EE271-96A9-4152-B1B5-F6B0C8814643}"/>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Confirm the headline finding before building on it</a:t>
            </a:r>
          </a:p>
        </p:txBody>
      </p:sp>
      <p:sp>
        <p:nvSpPr>
          <p:cNvPr id="3" name="">
            <a:extLst xmlns:a="http://schemas.openxmlformats.org/drawingml/2006/main">
              <a:ext uri="{FF2B5EF4-FFF2-40B4-BE49-F238E27FC236}">
                <a16:creationId xmlns:a16="http://schemas.microsoft.com/office/drawing/2014/main" id="{87550DD6-1EAC-4FA8-B38A-EAE3B2CDFC8D}"/>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9BA00909-B968-4B4E-BE95-33865E8C0B1C}"/>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5 · Meeting B · Grouping and Outlier Studio</a:t>
            </a:r>
          </a:p>
        </p:txBody>
      </p:sp>
      <p:sp>
        <p:nvSpPr>
          <p:cNvPr id="5" name="page">
            <a:extLst xmlns:a="http://schemas.openxmlformats.org/drawingml/2006/main">
              <a:ext uri="{FF2B5EF4-FFF2-40B4-BE49-F238E27FC236}">
                <a16:creationId xmlns:a16="http://schemas.microsoft.com/office/drawing/2014/main" id="{F8B2E72A-D3D7-4725-BD41-F33F89168122}"/>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14</a:t>
            </a:r>
          </a:p>
        </p:txBody>
      </p:sp>
      <p:sp>
        <p:nvSpPr>
          <p:cNvPr id="6" name="">
            <a:extLst xmlns:a="http://schemas.openxmlformats.org/drawingml/2006/main">
              <a:ext uri="{FF2B5EF4-FFF2-40B4-BE49-F238E27FC236}">
                <a16:creationId xmlns:a16="http://schemas.microsoft.com/office/drawing/2014/main" id="{10E9E29F-92CA-4A4C-9A4F-511F33896202}"/>
              </a:ext>
            </a:extLst>
          </p:cNvPr>
          <p:cNvSpPr>
            <a:spLocks xmlns:a="http://schemas.openxmlformats.org/drawingml/2006/main" noGrp="1"/>
          </p:cNvSpPr>
          <p:nvPr/>
        </p:nvSpPr>
        <p:spPr>
          <a:xfrm xmlns:a="http://schemas.openxmlformats.org/drawingml/2006/main">
            <a:off x="609600" y="3171825"/>
            <a:ext cx="1857375"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7" name="header-0">
            <a:extLst xmlns:a="http://schemas.openxmlformats.org/drawingml/2006/main">
              <a:ext uri="{FF2B5EF4-FFF2-40B4-BE49-F238E27FC236}">
                <a16:creationId xmlns:a16="http://schemas.microsoft.com/office/drawing/2014/main" id="{C32ACF96-DE5A-4BA6-980F-9FCCF2B48A9B}"/>
              </a:ext>
            </a:extLst>
          </p:cNvPr>
          <p:cNvSpPr>
            <a:spLocks xmlns:a="http://schemas.openxmlformats.org/drawingml/2006/main" noGrp="1"/>
          </p:cNvSpPr>
          <p:nvPr/>
        </p:nvSpPr>
        <p:spPr>
          <a:xfrm xmlns:a="http://schemas.openxmlformats.org/drawingml/2006/main">
            <a:off x="723900" y="3248025"/>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zone</a:t>
            </a:r>
          </a:p>
        </p:txBody>
      </p:sp>
      <p:sp>
        <p:nvSpPr>
          <p:cNvPr id="8" name="">
            <a:extLst xmlns:a="http://schemas.openxmlformats.org/drawingml/2006/main">
              <a:ext uri="{FF2B5EF4-FFF2-40B4-BE49-F238E27FC236}">
                <a16:creationId xmlns:a16="http://schemas.microsoft.com/office/drawing/2014/main" id="{82CC1E87-9631-4F3F-B50A-1305BD3E26F9}"/>
              </a:ext>
            </a:extLst>
          </p:cNvPr>
          <p:cNvSpPr>
            <a:spLocks xmlns:a="http://schemas.openxmlformats.org/drawingml/2006/main" noGrp="1"/>
          </p:cNvSpPr>
          <p:nvPr/>
        </p:nvSpPr>
        <p:spPr>
          <a:xfrm xmlns:a="http://schemas.openxmlformats.org/drawingml/2006/main">
            <a:off x="2466975" y="3171825"/>
            <a:ext cx="1857375"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9" name="header-1">
            <a:extLst xmlns:a="http://schemas.openxmlformats.org/drawingml/2006/main">
              <a:ext uri="{FF2B5EF4-FFF2-40B4-BE49-F238E27FC236}">
                <a16:creationId xmlns:a16="http://schemas.microsoft.com/office/drawing/2014/main" id="{0DA3D8A7-76DF-4F6C-97D4-B9F8C1A694AE}"/>
              </a:ext>
            </a:extLst>
          </p:cNvPr>
          <p:cNvSpPr>
            <a:spLocks xmlns:a="http://schemas.openxmlformats.org/drawingml/2006/main" noGrp="1"/>
          </p:cNvSpPr>
          <p:nvPr/>
        </p:nvSpPr>
        <p:spPr>
          <a:xfrm xmlns:a="http://schemas.openxmlformats.org/drawingml/2006/main">
            <a:off x="2581275" y="3248025"/>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mean_energy_kwh_m2_yr</a:t>
            </a:r>
          </a:p>
        </p:txBody>
      </p:sp>
      <p:sp>
        <p:nvSpPr>
          <p:cNvPr id="10" name="">
            <a:extLst xmlns:a="http://schemas.openxmlformats.org/drawingml/2006/main">
              <a:ext uri="{FF2B5EF4-FFF2-40B4-BE49-F238E27FC236}">
                <a16:creationId xmlns:a16="http://schemas.microsoft.com/office/drawing/2014/main" id="{68BD4036-E8D6-4E5F-920F-794353619EF5}"/>
              </a:ext>
            </a:extLst>
          </p:cNvPr>
          <p:cNvSpPr>
            <a:spLocks xmlns:a="http://schemas.openxmlformats.org/drawingml/2006/main" noGrp="1"/>
          </p:cNvSpPr>
          <p:nvPr/>
        </p:nvSpPr>
        <p:spPr>
          <a:xfrm xmlns:a="http://schemas.openxmlformats.org/drawingml/2006/main">
            <a:off x="4324350" y="3171825"/>
            <a:ext cx="1857375"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11" name="header-2">
            <a:extLst xmlns:a="http://schemas.openxmlformats.org/drawingml/2006/main">
              <a:ext uri="{FF2B5EF4-FFF2-40B4-BE49-F238E27FC236}">
                <a16:creationId xmlns:a16="http://schemas.microsoft.com/office/drawing/2014/main" id="{E93E542A-F5DE-4D13-A4AC-F5468CFED3C3}"/>
              </a:ext>
            </a:extLst>
          </p:cNvPr>
          <p:cNvSpPr>
            <a:spLocks xmlns:a="http://schemas.openxmlformats.org/drawingml/2006/main" noGrp="1"/>
          </p:cNvSpPr>
          <p:nvPr/>
        </p:nvSpPr>
        <p:spPr>
          <a:xfrm xmlns:a="http://schemas.openxmlformats.org/drawingml/2006/main">
            <a:off x="4438650" y="3248025"/>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mean_area_m2</a:t>
            </a:r>
          </a:p>
        </p:txBody>
      </p:sp>
      <p:sp>
        <p:nvSpPr>
          <p:cNvPr id="12" name="">
            <a:extLst xmlns:a="http://schemas.openxmlformats.org/drawingml/2006/main">
              <a:ext uri="{FF2B5EF4-FFF2-40B4-BE49-F238E27FC236}">
                <a16:creationId xmlns:a16="http://schemas.microsoft.com/office/drawing/2014/main" id="{129CCD4F-C7F6-43A2-B11C-C431B2E5F4B1}"/>
              </a:ext>
            </a:extLst>
          </p:cNvPr>
          <p:cNvSpPr>
            <a:spLocks xmlns:a="http://schemas.openxmlformats.org/drawingml/2006/main" noGrp="1"/>
          </p:cNvSpPr>
          <p:nvPr/>
        </p:nvSpPr>
        <p:spPr>
          <a:xfrm xmlns:a="http://schemas.openxmlformats.org/drawingml/2006/main">
            <a:off x="6181725" y="3171825"/>
            <a:ext cx="1857375"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13" name="header-3">
            <a:extLst xmlns:a="http://schemas.openxmlformats.org/drawingml/2006/main">
              <a:ext uri="{FF2B5EF4-FFF2-40B4-BE49-F238E27FC236}">
                <a16:creationId xmlns:a16="http://schemas.microsoft.com/office/drawing/2014/main" id="{8C671919-6D74-4B65-85BB-2FFCF7C75E7C}"/>
              </a:ext>
            </a:extLst>
          </p:cNvPr>
          <p:cNvSpPr>
            <a:spLocks xmlns:a="http://schemas.openxmlformats.org/drawingml/2006/main" noGrp="1"/>
          </p:cNvSpPr>
          <p:nvPr/>
        </p:nvSpPr>
        <p:spPr>
          <a:xfrm xmlns:a="http://schemas.openxmlformats.org/drawingml/2006/main">
            <a:off x="6296025" y="3248025"/>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n</a:t>
            </a:r>
          </a:p>
        </p:txBody>
      </p:sp>
      <p:sp>
        <p:nvSpPr>
          <p:cNvPr id="14" name="">
            <a:extLst xmlns:a="http://schemas.openxmlformats.org/drawingml/2006/main">
              <a:ext uri="{FF2B5EF4-FFF2-40B4-BE49-F238E27FC236}">
                <a16:creationId xmlns:a16="http://schemas.microsoft.com/office/drawing/2014/main" id="{646E89C9-3EE1-4CD2-9399-288C2B07F1A1}"/>
              </a:ext>
            </a:extLst>
          </p:cNvPr>
          <p:cNvSpPr>
            <a:spLocks xmlns:a="http://schemas.openxmlformats.org/drawingml/2006/main" noGrp="1"/>
          </p:cNvSpPr>
          <p:nvPr/>
        </p:nvSpPr>
        <p:spPr>
          <a:xfrm xmlns:a="http://schemas.openxmlformats.org/drawingml/2006/main">
            <a:off x="609600" y="3712845"/>
            <a:ext cx="1857375"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5" name="cell-0-0">
            <a:extLst xmlns:a="http://schemas.openxmlformats.org/drawingml/2006/main">
              <a:ext uri="{FF2B5EF4-FFF2-40B4-BE49-F238E27FC236}">
                <a16:creationId xmlns:a16="http://schemas.microsoft.com/office/drawing/2014/main" id="{A88DFEF2-1714-4B2C-9C55-720CBBDACA51}"/>
              </a:ext>
            </a:extLst>
          </p:cNvPr>
          <p:cNvSpPr>
            <a:spLocks xmlns:a="http://schemas.openxmlformats.org/drawingml/2006/main" noGrp="1"/>
          </p:cNvSpPr>
          <p:nvPr/>
        </p:nvSpPr>
        <p:spPr>
          <a:xfrm xmlns:a="http://schemas.openxmlformats.org/drawingml/2006/main">
            <a:off x="723900" y="37890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North</a:t>
            </a:r>
          </a:p>
        </p:txBody>
      </p:sp>
      <p:sp>
        <p:nvSpPr>
          <p:cNvPr id="16" name="">
            <a:extLst xmlns:a="http://schemas.openxmlformats.org/drawingml/2006/main">
              <a:ext uri="{FF2B5EF4-FFF2-40B4-BE49-F238E27FC236}">
                <a16:creationId xmlns:a16="http://schemas.microsoft.com/office/drawing/2014/main" id="{EAF9B6F6-91D3-41ED-A937-86E652FE4E7B}"/>
              </a:ext>
            </a:extLst>
          </p:cNvPr>
          <p:cNvSpPr>
            <a:spLocks xmlns:a="http://schemas.openxmlformats.org/drawingml/2006/main" noGrp="1"/>
          </p:cNvSpPr>
          <p:nvPr/>
        </p:nvSpPr>
        <p:spPr>
          <a:xfrm xmlns:a="http://schemas.openxmlformats.org/drawingml/2006/main">
            <a:off x="2466975" y="3712845"/>
            <a:ext cx="1857375"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7" name="cell-0-1">
            <a:extLst xmlns:a="http://schemas.openxmlformats.org/drawingml/2006/main">
              <a:ext uri="{FF2B5EF4-FFF2-40B4-BE49-F238E27FC236}">
                <a16:creationId xmlns:a16="http://schemas.microsoft.com/office/drawing/2014/main" id="{5AC6C1F3-AF94-4359-BB13-F85824C68F56}"/>
              </a:ext>
            </a:extLst>
          </p:cNvPr>
          <p:cNvSpPr>
            <a:spLocks xmlns:a="http://schemas.openxmlformats.org/drawingml/2006/main" noGrp="1"/>
          </p:cNvSpPr>
          <p:nvPr/>
        </p:nvSpPr>
        <p:spPr>
          <a:xfrm xmlns:a="http://schemas.openxmlformats.org/drawingml/2006/main">
            <a:off x="2581275" y="37890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64.25</a:t>
            </a:r>
          </a:p>
        </p:txBody>
      </p:sp>
      <p:sp>
        <p:nvSpPr>
          <p:cNvPr id="18" name="">
            <a:extLst xmlns:a="http://schemas.openxmlformats.org/drawingml/2006/main">
              <a:ext uri="{FF2B5EF4-FFF2-40B4-BE49-F238E27FC236}">
                <a16:creationId xmlns:a16="http://schemas.microsoft.com/office/drawing/2014/main" id="{0A3814DE-9DC0-441C-A948-4E10A3DB5435}"/>
              </a:ext>
            </a:extLst>
          </p:cNvPr>
          <p:cNvSpPr>
            <a:spLocks xmlns:a="http://schemas.openxmlformats.org/drawingml/2006/main" noGrp="1"/>
          </p:cNvSpPr>
          <p:nvPr/>
        </p:nvSpPr>
        <p:spPr>
          <a:xfrm xmlns:a="http://schemas.openxmlformats.org/drawingml/2006/main">
            <a:off x="4324350" y="3712845"/>
            <a:ext cx="1857375"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9" name="cell-0-2">
            <a:extLst xmlns:a="http://schemas.openxmlformats.org/drawingml/2006/main">
              <a:ext uri="{FF2B5EF4-FFF2-40B4-BE49-F238E27FC236}">
                <a16:creationId xmlns:a16="http://schemas.microsoft.com/office/drawing/2014/main" id="{16C0D1B1-9F21-4016-B1A3-E3239C32FCF2}"/>
              </a:ext>
            </a:extLst>
          </p:cNvPr>
          <p:cNvSpPr>
            <a:spLocks xmlns:a="http://schemas.openxmlformats.org/drawingml/2006/main" noGrp="1"/>
          </p:cNvSpPr>
          <p:nvPr/>
        </p:nvSpPr>
        <p:spPr>
          <a:xfrm xmlns:a="http://schemas.openxmlformats.org/drawingml/2006/main">
            <a:off x="4438650" y="37890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40.98</a:t>
            </a:r>
          </a:p>
        </p:txBody>
      </p:sp>
      <p:sp>
        <p:nvSpPr>
          <p:cNvPr id="20" name="">
            <a:extLst xmlns:a="http://schemas.openxmlformats.org/drawingml/2006/main">
              <a:ext uri="{FF2B5EF4-FFF2-40B4-BE49-F238E27FC236}">
                <a16:creationId xmlns:a16="http://schemas.microsoft.com/office/drawing/2014/main" id="{4F342577-21FC-4C2B-A4FE-05670260F42E}"/>
              </a:ext>
            </a:extLst>
          </p:cNvPr>
          <p:cNvSpPr>
            <a:spLocks xmlns:a="http://schemas.openxmlformats.org/drawingml/2006/main" noGrp="1"/>
          </p:cNvSpPr>
          <p:nvPr/>
        </p:nvSpPr>
        <p:spPr>
          <a:xfrm xmlns:a="http://schemas.openxmlformats.org/drawingml/2006/main">
            <a:off x="6181725" y="3712845"/>
            <a:ext cx="1857375"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1" name="cell-0-3">
            <a:extLst xmlns:a="http://schemas.openxmlformats.org/drawingml/2006/main">
              <a:ext uri="{FF2B5EF4-FFF2-40B4-BE49-F238E27FC236}">
                <a16:creationId xmlns:a16="http://schemas.microsoft.com/office/drawing/2014/main" id="{2E6AA487-49D9-4540-A67C-B5165FE70B18}"/>
              </a:ext>
            </a:extLst>
          </p:cNvPr>
          <p:cNvSpPr>
            <a:spLocks xmlns:a="http://schemas.openxmlformats.org/drawingml/2006/main" noGrp="1"/>
          </p:cNvSpPr>
          <p:nvPr/>
        </p:nvSpPr>
        <p:spPr>
          <a:xfrm xmlns:a="http://schemas.openxmlformats.org/drawingml/2006/main">
            <a:off x="6296025" y="37890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12</a:t>
            </a:r>
          </a:p>
        </p:txBody>
      </p:sp>
      <p:sp>
        <p:nvSpPr>
          <p:cNvPr id="22" name="">
            <a:extLst xmlns:a="http://schemas.openxmlformats.org/drawingml/2006/main">
              <a:ext uri="{FF2B5EF4-FFF2-40B4-BE49-F238E27FC236}">
                <a16:creationId xmlns:a16="http://schemas.microsoft.com/office/drawing/2014/main" id="{3D324B14-6047-4BA9-BC8E-75D6256B4CCF}"/>
              </a:ext>
            </a:extLst>
          </p:cNvPr>
          <p:cNvSpPr>
            <a:spLocks xmlns:a="http://schemas.openxmlformats.org/drawingml/2006/main" noGrp="1"/>
          </p:cNvSpPr>
          <p:nvPr/>
        </p:nvSpPr>
        <p:spPr>
          <a:xfrm xmlns:a="http://schemas.openxmlformats.org/drawingml/2006/main">
            <a:off x="609600" y="4246245"/>
            <a:ext cx="1857375"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3" name="cell-1-0">
            <a:extLst xmlns:a="http://schemas.openxmlformats.org/drawingml/2006/main">
              <a:ext uri="{FF2B5EF4-FFF2-40B4-BE49-F238E27FC236}">
                <a16:creationId xmlns:a16="http://schemas.microsoft.com/office/drawing/2014/main" id="{AE4F644F-01D8-4A68-9864-B08C461B39C9}"/>
              </a:ext>
            </a:extLst>
          </p:cNvPr>
          <p:cNvSpPr>
            <a:spLocks xmlns:a="http://schemas.openxmlformats.org/drawingml/2006/main" noGrp="1"/>
          </p:cNvSpPr>
          <p:nvPr/>
        </p:nvSpPr>
        <p:spPr>
          <a:xfrm xmlns:a="http://schemas.openxmlformats.org/drawingml/2006/main">
            <a:off x="723900" y="43224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South</a:t>
            </a:r>
          </a:p>
        </p:txBody>
      </p:sp>
      <p:sp>
        <p:nvSpPr>
          <p:cNvPr id="24" name="">
            <a:extLst xmlns:a="http://schemas.openxmlformats.org/drawingml/2006/main">
              <a:ext uri="{FF2B5EF4-FFF2-40B4-BE49-F238E27FC236}">
                <a16:creationId xmlns:a16="http://schemas.microsoft.com/office/drawing/2014/main" id="{6BF4246A-12E6-45DE-9260-6D2BA5C09EF6}"/>
              </a:ext>
            </a:extLst>
          </p:cNvPr>
          <p:cNvSpPr>
            <a:spLocks xmlns:a="http://schemas.openxmlformats.org/drawingml/2006/main" noGrp="1"/>
          </p:cNvSpPr>
          <p:nvPr/>
        </p:nvSpPr>
        <p:spPr>
          <a:xfrm xmlns:a="http://schemas.openxmlformats.org/drawingml/2006/main">
            <a:off x="2466975" y="4246245"/>
            <a:ext cx="1857375"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5" name="cell-1-1">
            <a:extLst xmlns:a="http://schemas.openxmlformats.org/drawingml/2006/main">
              <a:ext uri="{FF2B5EF4-FFF2-40B4-BE49-F238E27FC236}">
                <a16:creationId xmlns:a16="http://schemas.microsoft.com/office/drawing/2014/main" id="{EE491AB6-A0FB-489A-96F6-24B3FBBB4997}"/>
              </a:ext>
            </a:extLst>
          </p:cNvPr>
          <p:cNvSpPr>
            <a:spLocks xmlns:a="http://schemas.openxmlformats.org/drawingml/2006/main" noGrp="1"/>
          </p:cNvSpPr>
          <p:nvPr/>
        </p:nvSpPr>
        <p:spPr>
          <a:xfrm xmlns:a="http://schemas.openxmlformats.org/drawingml/2006/main">
            <a:off x="2581275" y="43224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115.68</a:t>
            </a:r>
          </a:p>
        </p:txBody>
      </p:sp>
      <p:sp>
        <p:nvSpPr>
          <p:cNvPr id="26" name="">
            <a:extLst xmlns:a="http://schemas.openxmlformats.org/drawingml/2006/main">
              <a:ext uri="{FF2B5EF4-FFF2-40B4-BE49-F238E27FC236}">
                <a16:creationId xmlns:a16="http://schemas.microsoft.com/office/drawing/2014/main" id="{D09A3B96-7482-49CB-83DA-F967E88CFF5F}"/>
              </a:ext>
            </a:extLst>
          </p:cNvPr>
          <p:cNvSpPr>
            <a:spLocks xmlns:a="http://schemas.openxmlformats.org/drawingml/2006/main" noGrp="1"/>
          </p:cNvSpPr>
          <p:nvPr/>
        </p:nvSpPr>
        <p:spPr>
          <a:xfrm xmlns:a="http://schemas.openxmlformats.org/drawingml/2006/main">
            <a:off x="4324350" y="4246245"/>
            <a:ext cx="1857375"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7" name="cell-1-2">
            <a:extLst xmlns:a="http://schemas.openxmlformats.org/drawingml/2006/main">
              <a:ext uri="{FF2B5EF4-FFF2-40B4-BE49-F238E27FC236}">
                <a16:creationId xmlns:a16="http://schemas.microsoft.com/office/drawing/2014/main" id="{44C20249-E700-40B6-9027-9C306E0226DF}"/>
              </a:ext>
            </a:extLst>
          </p:cNvPr>
          <p:cNvSpPr>
            <a:spLocks xmlns:a="http://schemas.openxmlformats.org/drawingml/2006/main" noGrp="1"/>
          </p:cNvSpPr>
          <p:nvPr/>
        </p:nvSpPr>
        <p:spPr>
          <a:xfrm xmlns:a="http://schemas.openxmlformats.org/drawingml/2006/main">
            <a:off x="4438650" y="43224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38.25</a:t>
            </a:r>
          </a:p>
        </p:txBody>
      </p:sp>
      <p:sp>
        <p:nvSpPr>
          <p:cNvPr id="28" name="">
            <a:extLst xmlns:a="http://schemas.openxmlformats.org/drawingml/2006/main">
              <a:ext uri="{FF2B5EF4-FFF2-40B4-BE49-F238E27FC236}">
                <a16:creationId xmlns:a16="http://schemas.microsoft.com/office/drawing/2014/main" id="{61C10538-9DF3-4E13-B1F0-6E16099D1A23}"/>
              </a:ext>
            </a:extLst>
          </p:cNvPr>
          <p:cNvSpPr>
            <a:spLocks xmlns:a="http://schemas.openxmlformats.org/drawingml/2006/main" noGrp="1"/>
          </p:cNvSpPr>
          <p:nvPr/>
        </p:nvSpPr>
        <p:spPr>
          <a:xfrm xmlns:a="http://schemas.openxmlformats.org/drawingml/2006/main">
            <a:off x="6181725" y="4246245"/>
            <a:ext cx="1857375"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9" name="cell-1-3">
            <a:extLst xmlns:a="http://schemas.openxmlformats.org/drawingml/2006/main">
              <a:ext uri="{FF2B5EF4-FFF2-40B4-BE49-F238E27FC236}">
                <a16:creationId xmlns:a16="http://schemas.microsoft.com/office/drawing/2014/main" id="{91E5CFAE-E481-4F2F-86DE-425B880DD022}"/>
              </a:ext>
            </a:extLst>
          </p:cNvPr>
          <p:cNvSpPr>
            <a:spLocks xmlns:a="http://schemas.openxmlformats.org/drawingml/2006/main" noGrp="1"/>
          </p:cNvSpPr>
          <p:nvPr/>
        </p:nvSpPr>
        <p:spPr>
          <a:xfrm xmlns:a="http://schemas.openxmlformats.org/drawingml/2006/main">
            <a:off x="6296025" y="43224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12</a:t>
            </a:r>
          </a:p>
        </p:txBody>
      </p:sp>
      <p:sp>
        <p:nvSpPr>
          <p:cNvPr id="30" name="callout-label">
            <a:extLst xmlns:a="http://schemas.openxmlformats.org/drawingml/2006/main">
              <a:ext uri="{FF2B5EF4-FFF2-40B4-BE49-F238E27FC236}">
                <a16:creationId xmlns:a16="http://schemas.microsoft.com/office/drawing/2014/main" id="{B29B12C8-8028-49B2-B260-1A1916B19489}"/>
              </a:ext>
            </a:extLst>
          </p:cNvPr>
          <p:cNvSpPr>
            <a:spLocks xmlns:a="http://schemas.openxmlformats.org/drawingml/2006/main" noGrp="1"/>
          </p:cNvSpPr>
          <p:nvPr/>
        </p:nvSpPr>
        <p:spPr>
          <a:xfrm xmlns:a="http://schemas.openxmlformats.org/drawingml/2006/main">
            <a:off x="8420100" y="1866900"/>
            <a:ext cx="3162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ARCHITECTURAL LENS</a:t>
            </a:r>
          </a:p>
        </p:txBody>
      </p:sp>
      <p:sp>
        <p:nvSpPr>
          <p:cNvPr id="31" name="callout">
            <a:extLst xmlns:a="http://schemas.openxmlformats.org/drawingml/2006/main">
              <a:ext uri="{FF2B5EF4-FFF2-40B4-BE49-F238E27FC236}">
                <a16:creationId xmlns:a16="http://schemas.microsoft.com/office/drawing/2014/main" id="{C7AC7450-BAA0-4D78-B8BD-EB8154355C69}"/>
              </a:ext>
            </a:extLst>
          </p:cNvPr>
          <p:cNvSpPr>
            <a:spLocks xmlns:a="http://schemas.openxmlformats.org/drawingml/2006/main" noGrp="1"/>
          </p:cNvSpPr>
          <p:nvPr/>
        </p:nvSpPr>
        <p:spPr>
          <a:xfrm xmlns:a="http://schemas.openxmlformats.org/drawingml/2006/main">
            <a:off x="8420100" y="2190750"/>
            <a:ext cx="3162300" cy="3790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1">
                <a:solidFill>
                  <a:srgbClr val="111316"/>
                </a:solidFill>
                <a:latin typeface="Arial"/>
                <a:ea typeface="Arial"/>
                <a:cs typeface="Arial"/>
              </a:defRPr>
            </a:pPr>
            <a:r>
              <a:rPr sz="1800" b="1">
                <a:solidFill>
                  <a:srgbClr val="111316"/>
                </a:solidFill>
                <a:latin typeface="Arial"/>
                <a:ea typeface="Arial"/>
                <a:cs typeface="Arial"/>
              </a:rPr>
              <a:t>South-zone rooms use about 80% more energy per m² than North rooms, on identical n = 12 and nearly identical mean area. Everything from here forward — ranking, outlier flags, decision sentences — should be read against this one finding.</a:t>
            </a:r>
          </a:p>
        </p:txBody>
      </p:sp>
    </p:spTree>
    <p:extLst>
      <p:ext uri="{BB962C8B-B14F-4D97-AF65-F5344CB8AC3E}">
        <p14:creationId xmlns:p14="http://schemas.microsoft.com/office/powerpoint/2010/main" val="163890076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546E79CB-05E9-4AA8-AC40-57B65EE3D176}"/>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RECALL</a:t>
            </a:r>
          </a:p>
        </p:txBody>
      </p:sp>
      <p:sp>
        <p:nvSpPr>
          <p:cNvPr id="2" name="title">
            <a:extLst xmlns:a="http://schemas.openxmlformats.org/drawingml/2006/main">
              <a:ext uri="{FF2B5EF4-FFF2-40B4-BE49-F238E27FC236}">
                <a16:creationId xmlns:a16="http://schemas.microsoft.com/office/drawing/2014/main" id="{E35D8AE5-D63A-4322-AC71-EFA5C4CA9185}"/>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Recall: .loc[] and .iloc[], now doing double duty</a:t>
            </a:r>
          </a:p>
        </p:txBody>
      </p:sp>
      <p:sp>
        <p:nvSpPr>
          <p:cNvPr id="3" name="">
            <a:extLst xmlns:a="http://schemas.openxmlformats.org/drawingml/2006/main">
              <a:ext uri="{FF2B5EF4-FFF2-40B4-BE49-F238E27FC236}">
                <a16:creationId xmlns:a16="http://schemas.microsoft.com/office/drawing/2014/main" id="{E635A26D-EC7B-48BF-A1BA-8B01E45962A3}"/>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78C30C76-F364-49D6-A64B-7F78BDC3C5D5}"/>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5 · Meeting B · Grouping and Outlier Studio</a:t>
            </a:r>
          </a:p>
        </p:txBody>
      </p:sp>
      <p:sp>
        <p:nvSpPr>
          <p:cNvPr id="5" name="page">
            <a:extLst xmlns:a="http://schemas.openxmlformats.org/drawingml/2006/main">
              <a:ext uri="{FF2B5EF4-FFF2-40B4-BE49-F238E27FC236}">
                <a16:creationId xmlns:a16="http://schemas.microsoft.com/office/drawing/2014/main" id="{567CC318-68CF-45AE-877B-9DAA97255D8A}"/>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15</a:t>
            </a:r>
          </a:p>
        </p:txBody>
      </p:sp>
      <p:sp>
        <p:nvSpPr>
          <p:cNvPr id="6" name="term-label">
            <a:extLst xmlns:a="http://schemas.openxmlformats.org/drawingml/2006/main">
              <a:ext uri="{FF2B5EF4-FFF2-40B4-BE49-F238E27FC236}">
                <a16:creationId xmlns:a16="http://schemas.microsoft.com/office/drawing/2014/main" id="{4D006E7B-2EC2-4EAE-A0CC-69CF4AC705F7}"/>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C00798ED-B7D2-4CB0-87EA-D9CEB12A78D0}"/>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Consolas"/>
                <a:ea typeface="Consolas"/>
                <a:cs typeface="Consolas"/>
              </a:defRPr>
            </a:pPr>
            <a:r>
              <a:rPr sz="3000" b="1">
                <a:solidFill>
                  <a:srgbClr val="111316"/>
                </a:solidFill>
                <a:latin typeface="Consolas"/>
                <a:ea typeface="Consolas"/>
                <a:cs typeface="Consolas"/>
              </a:rPr>
              <a:t>.loc[row, col]</a:t>
            </a:r>
          </a:p>
        </p:txBody>
      </p:sp>
      <p:sp>
        <p:nvSpPr>
          <p:cNvPr id="8" name="">
            <a:extLst xmlns:a="http://schemas.openxmlformats.org/drawingml/2006/main">
              <a:ext uri="{FF2B5EF4-FFF2-40B4-BE49-F238E27FC236}">
                <a16:creationId xmlns:a16="http://schemas.microsoft.com/office/drawing/2014/main" id="{F5392F2C-1D8E-4113-9403-D3099796CB97}"/>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69B4F29E-7389-4150-8F55-379D40EEB42C}"/>
              </a:ext>
            </a:extLst>
          </p:cNvPr>
          <p:cNvSpPr>
            <a:spLocks xmlns:a="http://schemas.openxmlformats.org/drawingml/2006/main" noGrp="1"/>
          </p:cNvSpPr>
          <p:nvPr/>
        </p:nvSpPr>
        <p:spPr>
          <a:xfrm xmlns:a="http://schemas.openxmlformats.org/drawingml/2006/main">
            <a:off x="609600" y="2971800"/>
            <a:ext cx="590550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df.loc[row_selector, column_selector] selects matching rows AND names which column to keep, in one call. Week 4 filtered rows only, with no column choice: rooms[rooms['zone']=='South']. The result keeps its ORIGINAL row labels — it is not renumbered from 0.</a:t>
            </a:r>
          </a:p>
        </p:txBody>
      </p:sp>
      <p:sp>
        <p:nvSpPr>
          <p:cNvPr id="10" name="example-panel">
            <a:extLst xmlns:a="http://schemas.openxmlformats.org/drawingml/2006/main">
              <a:ext uri="{FF2B5EF4-FFF2-40B4-BE49-F238E27FC236}">
                <a16:creationId xmlns:a16="http://schemas.microsoft.com/office/drawing/2014/main" id="{D3A4463E-6601-4D51-ADB5-9E225C592801}"/>
              </a:ext>
            </a:extLst>
          </p:cNvPr>
          <p:cNvSpPr>
            <a:spLocks xmlns:a="http://schemas.openxmlformats.org/drawingml/2006/main" noGrp="1"/>
          </p:cNvSpPr>
          <p:nvPr/>
        </p:nvSpPr>
        <p:spPr>
          <a:xfrm xmlns:a="http://schemas.openxmlformats.org/drawingml/2006/main">
            <a:off x="6762750" y="1809750"/>
            <a:ext cx="4819650" cy="3257550"/>
          </a:xfrm>
          <a:prstGeom xmlns:a="http://schemas.openxmlformats.org/drawingml/2006/main" prst="roundRect">
            <a:avLst>
              <a:gd name="adj" fmla="val 2339"/>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F9371B6A-00D4-4BE3-B72D-88517FE37951}"/>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IN PRACTICE</a:t>
            </a:r>
          </a:p>
        </p:txBody>
      </p:sp>
      <p:sp>
        <p:nvSpPr>
          <p:cNvPr id="12" name="example-head">
            <a:extLst xmlns:a="http://schemas.openxmlformats.org/drawingml/2006/main">
              <a:ext uri="{FF2B5EF4-FFF2-40B4-BE49-F238E27FC236}">
                <a16:creationId xmlns:a16="http://schemas.microsoft.com/office/drawing/2014/main" id="{053D4397-5EF2-4D39-904A-82FD24EF29B4}"/>
              </a:ext>
            </a:extLst>
          </p:cNvPr>
          <p:cNvSpPr>
            <a:spLocks xmlns:a="http://schemas.openxmlformats.org/drawingml/2006/main" noGrp="1"/>
          </p:cNvSpPr>
          <p:nvPr/>
        </p:nvSpPr>
        <p:spPr>
          <a:xfrm xmlns:a="http://schemas.openxmlformats.org/drawingml/2006/main">
            <a:off x="6972300" y="2286000"/>
            <a:ext cx="438150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Consolas"/>
                <a:ea typeface="Consolas"/>
                <a:cs typeface="Consolas"/>
              </a:defRPr>
            </a:pPr>
            <a:r>
              <a:rPr sz="1800" b="1">
                <a:solidFill>
                  <a:srgbClr val="111316"/>
                </a:solidFill>
                <a:latin typeface="Consolas"/>
                <a:ea typeface="Consolas"/>
                <a:cs typeface="Consolas"/>
              </a:rPr>
              <a:t>df.loc[df["room_id"]=="R306", "energy_kwh_m2_yr"].iloc[0]</a:t>
            </a:r>
          </a:p>
        </p:txBody>
      </p:sp>
      <p:sp>
        <p:nvSpPr>
          <p:cNvPr id="13" name="example-body">
            <a:extLst xmlns:a="http://schemas.openxmlformats.org/drawingml/2006/main">
              <a:ext uri="{FF2B5EF4-FFF2-40B4-BE49-F238E27FC236}">
                <a16:creationId xmlns:a16="http://schemas.microsoft.com/office/drawing/2014/main" id="{6335E1CA-B305-4737-947D-ACD7D7F2553F}"/>
              </a:ext>
            </a:extLst>
          </p:cNvPr>
          <p:cNvSpPr>
            <a:spLocks xmlns:a="http://schemas.openxmlformats.org/drawingml/2006/main" noGrp="1"/>
          </p:cNvSpPr>
          <p:nvPr/>
        </p:nvSpPr>
        <p:spPr>
          <a:xfrm xmlns:a="http://schemas.openxmlformats.org/drawingml/2006/main">
            <a:off x="6972300" y="2951226"/>
            <a:ext cx="4381500" cy="19827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Row selector: room_id == 'R306'. Column selector: 'energy_kwh_m2_yr'. .iloc[0] then pulls the one matching value out BY POSITION, whatever that row's own label is.</a:t>
            </a:r>
          </a:p>
        </p:txBody>
      </p:sp>
      <p:sp>
        <p:nvSpPr>
          <p:cNvPr id="14" name="note-bar">
            <a:extLst xmlns:a="http://schemas.openxmlformats.org/drawingml/2006/main">
              <a:ext uri="{FF2B5EF4-FFF2-40B4-BE49-F238E27FC236}">
                <a16:creationId xmlns:a16="http://schemas.microsoft.com/office/drawing/2014/main" id="{29CA6F41-1A29-4213-922F-628F1558CD6E}"/>
              </a:ext>
            </a:extLst>
          </p:cNvPr>
          <p:cNvSpPr>
            <a:spLocks xmlns:a="http://schemas.openxmlformats.org/drawingml/2006/main" noGrp="1"/>
          </p:cNvSpPr>
          <p:nvPr/>
        </p:nvSpPr>
        <p:spPr>
          <a:xfrm xmlns:a="http://schemas.openxmlformats.org/drawingml/2006/main">
            <a:off x="609600" y="5334000"/>
            <a:ext cx="57150" cy="723900"/>
          </a:xfrm>
          <a:prstGeom xmlns:a="http://schemas.openxmlformats.org/drawingml/2006/main" prst="rect">
            <a:avLst/>
          </a:prstGeom>
          <a:solidFill xmlns:a="http://schemas.openxmlformats.org/drawingml/2006/main">
            <a:srgbClr val="B5731A"/>
          </a:solidFill>
          <a:ln xmlns:a="http://schemas.openxmlformats.org/drawingml/2006/main" w="0">
            <a:noFill/>
            <a:prstDash val="solid"/>
          </a:ln>
        </p:spPr>
      </p:sp>
      <p:sp>
        <p:nvSpPr>
          <p:cNvPr id="15" name="note-label">
            <a:extLst xmlns:a="http://schemas.openxmlformats.org/drawingml/2006/main">
              <a:ext uri="{FF2B5EF4-FFF2-40B4-BE49-F238E27FC236}">
                <a16:creationId xmlns:a16="http://schemas.microsoft.com/office/drawing/2014/main" id="{8F45A19A-7493-4DC2-BC64-935D03EDE6E1}"/>
              </a:ext>
            </a:extLst>
          </p:cNvPr>
          <p:cNvSpPr>
            <a:spLocks xmlns:a="http://schemas.openxmlformats.org/drawingml/2006/main" noGrp="1"/>
          </p:cNvSpPr>
          <p:nvPr/>
        </p:nvSpPr>
        <p:spPr>
          <a:xfrm xmlns:a="http://schemas.openxmlformats.org/drawingml/2006/main">
            <a:off x="819150" y="5353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B5731A"/>
                </a:solidFill>
                <a:latin typeface="Arial"/>
                <a:ea typeface="Arial"/>
                <a:cs typeface="Arial"/>
              </a:defRPr>
            </a:pPr>
            <a:r>
              <a:rPr sz="900" b="1">
                <a:solidFill>
                  <a:srgbClr val="B5731A"/>
                </a:solidFill>
                <a:latin typeface="Arial"/>
                <a:ea typeface="Arial"/>
                <a:cs typeface="Arial"/>
              </a:rPr>
              <a:t>COMMON CONFUSION</a:t>
            </a:r>
          </a:p>
        </p:txBody>
      </p:sp>
      <p:sp>
        <p:nvSpPr>
          <p:cNvPr id="16" name="note">
            <a:extLst xmlns:a="http://schemas.openxmlformats.org/drawingml/2006/main">
              <a:ext uri="{FF2B5EF4-FFF2-40B4-BE49-F238E27FC236}">
                <a16:creationId xmlns:a16="http://schemas.microsoft.com/office/drawing/2014/main" id="{E9AB1B3E-CF89-4764-8E95-330A329E3DFF}"/>
              </a:ext>
            </a:extLst>
          </p:cNvPr>
          <p:cNvSpPr>
            <a:spLocks xmlns:a="http://schemas.openxmlformats.org/drawingml/2006/main" noGrp="1"/>
          </p:cNvSpPr>
          <p:nvPr/>
        </p:nvSpPr>
        <p:spPr>
          <a:xfrm xmlns:a="http://schemas.openxmlformats.org/drawingml/2006/main">
            <a:off x="819150" y="5562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.iloc[0] does not mean 'the row labeled 0' — it means 'the first value in whatever .loc[] just returned.'</a:t>
            </a:r>
          </a:p>
        </p:txBody>
      </p:sp>
    </p:spTree>
    <p:extLst>
      <p:ext uri="{BB962C8B-B14F-4D97-AF65-F5344CB8AC3E}">
        <p14:creationId xmlns:p14="http://schemas.microsoft.com/office/powerpoint/2010/main" val="83276371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92B6923C-5B40-4FC6-A995-BA01A0648DD6}"/>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RECALL</a:t>
            </a:r>
          </a:p>
        </p:txBody>
      </p:sp>
      <p:sp>
        <p:nvSpPr>
          <p:cNvPr id="2" name="title">
            <a:extLst xmlns:a="http://schemas.openxmlformats.org/drawingml/2006/main">
              <a:ext uri="{FF2B5EF4-FFF2-40B4-BE49-F238E27FC236}">
                <a16:creationId xmlns:a16="http://schemas.microsoft.com/office/drawing/2014/main" id="{59B5D51F-017B-4E04-B14E-63F61D594603}"/>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Recall: tuple-unpacking, the pattern your function will use</a:t>
            </a:r>
          </a:p>
        </p:txBody>
      </p:sp>
      <p:sp>
        <p:nvSpPr>
          <p:cNvPr id="3" name="">
            <a:extLst xmlns:a="http://schemas.openxmlformats.org/drawingml/2006/main">
              <a:ext uri="{FF2B5EF4-FFF2-40B4-BE49-F238E27FC236}">
                <a16:creationId xmlns:a16="http://schemas.microsoft.com/office/drawing/2014/main" id="{58DB2F55-DECB-4C0E-B043-22817DA3A6E7}"/>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951E51F3-1C29-4CCA-B763-1A919B6FD6E7}"/>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5 · Meeting B · Grouping and Outlier Studio</a:t>
            </a:r>
          </a:p>
        </p:txBody>
      </p:sp>
      <p:sp>
        <p:nvSpPr>
          <p:cNvPr id="5" name="page">
            <a:extLst xmlns:a="http://schemas.openxmlformats.org/drawingml/2006/main">
              <a:ext uri="{FF2B5EF4-FFF2-40B4-BE49-F238E27FC236}">
                <a16:creationId xmlns:a16="http://schemas.microsoft.com/office/drawing/2014/main" id="{F1F80385-2945-400A-A1E9-3E0055224B52}"/>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16</a:t>
            </a:r>
          </a:p>
        </p:txBody>
      </p:sp>
      <p:sp>
        <p:nvSpPr>
          <p:cNvPr id="6" name="term-label">
            <a:extLst xmlns:a="http://schemas.openxmlformats.org/drawingml/2006/main">
              <a:ext uri="{FF2B5EF4-FFF2-40B4-BE49-F238E27FC236}">
                <a16:creationId xmlns:a16="http://schemas.microsoft.com/office/drawing/2014/main" id="{80531FB8-2D23-4094-A0DF-D8A27705249A}"/>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B552E966-D2DA-4EB7-A2D7-51F6E63E686A}"/>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Consolas"/>
                <a:ea typeface="Consolas"/>
                <a:cs typeface="Consolas"/>
              </a:defRPr>
            </a:pPr>
            <a:r>
              <a:rPr sz="3000" b="1">
                <a:solidFill>
                  <a:srgbClr val="111316"/>
                </a:solidFill>
                <a:latin typeface="Consolas"/>
                <a:ea typeface="Consolas"/>
                <a:cs typeface="Consolas"/>
              </a:rPr>
              <a:t>low, high = ...</a:t>
            </a:r>
          </a:p>
        </p:txBody>
      </p:sp>
      <p:sp>
        <p:nvSpPr>
          <p:cNvPr id="8" name="">
            <a:extLst xmlns:a="http://schemas.openxmlformats.org/drawingml/2006/main">
              <a:ext uri="{FF2B5EF4-FFF2-40B4-BE49-F238E27FC236}">
                <a16:creationId xmlns:a16="http://schemas.microsoft.com/office/drawing/2014/main" id="{CFF1AEB5-F242-4CDB-BC22-847A9F9C0365}"/>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647C4B30-60E8-4399-912D-5E5B7B9C4521}"/>
              </a:ext>
            </a:extLst>
          </p:cNvPr>
          <p:cNvSpPr>
            <a:spLocks xmlns:a="http://schemas.openxmlformats.org/drawingml/2006/main" noGrp="1"/>
          </p:cNvSpPr>
          <p:nvPr/>
        </p:nvSpPr>
        <p:spPr>
          <a:xfrm xmlns:a="http://schemas.openxmlformats.org/drawingml/2006/main">
            <a:off x="609600" y="2971800"/>
            <a:ext cx="590550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A function that returns two values separated by a comma, like return q1 - 1.5*iqr, q3 + 1.5*iqr, packages them as one paired value — a tuple. Writing low, high = iqr_bounds(df[col]) unpacks that pair into two names at once, in the order they were returned.</a:t>
            </a:r>
          </a:p>
        </p:txBody>
      </p:sp>
      <p:sp>
        <p:nvSpPr>
          <p:cNvPr id="10" name="example-panel">
            <a:extLst xmlns:a="http://schemas.openxmlformats.org/drawingml/2006/main">
              <a:ext uri="{FF2B5EF4-FFF2-40B4-BE49-F238E27FC236}">
                <a16:creationId xmlns:a16="http://schemas.microsoft.com/office/drawing/2014/main" id="{B7489AE8-7EBD-4BC6-8909-E8CA3C2BBB15}"/>
              </a:ext>
            </a:extLst>
          </p:cNvPr>
          <p:cNvSpPr>
            <a:spLocks xmlns:a="http://schemas.openxmlformats.org/drawingml/2006/main" noGrp="1"/>
          </p:cNvSpPr>
          <p:nvPr/>
        </p:nvSpPr>
        <p:spPr>
          <a:xfrm xmlns:a="http://schemas.openxmlformats.org/drawingml/2006/main">
            <a:off x="6762750" y="1809750"/>
            <a:ext cx="4819650" cy="3257550"/>
          </a:xfrm>
          <a:prstGeom xmlns:a="http://schemas.openxmlformats.org/drawingml/2006/main" prst="roundRect">
            <a:avLst>
              <a:gd name="adj" fmla="val 2339"/>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10247AE5-E1E7-461C-8094-F75ADA7CAF41}"/>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IN PRACTICE</a:t>
            </a:r>
          </a:p>
        </p:txBody>
      </p:sp>
      <p:sp>
        <p:nvSpPr>
          <p:cNvPr id="12" name="example-head">
            <a:extLst xmlns:a="http://schemas.openxmlformats.org/drawingml/2006/main">
              <a:ext uri="{FF2B5EF4-FFF2-40B4-BE49-F238E27FC236}">
                <a16:creationId xmlns:a16="http://schemas.microsoft.com/office/drawing/2014/main" id="{D97A713D-75C2-4143-9358-626633C4B78A}"/>
              </a:ext>
            </a:extLst>
          </p:cNvPr>
          <p:cNvSpPr>
            <a:spLocks xmlns:a="http://schemas.openxmlformats.org/drawingml/2006/main" noGrp="1"/>
          </p:cNvSpPr>
          <p:nvPr/>
        </p:nvSpPr>
        <p:spPr>
          <a:xfrm xmlns:a="http://schemas.openxmlformats.org/drawingml/2006/main">
            <a:off x="6972300" y="2286000"/>
            <a:ext cx="438150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Consolas"/>
                <a:ea typeface="Consolas"/>
                <a:cs typeface="Consolas"/>
              </a:defRPr>
            </a:pPr>
            <a:r>
              <a:rPr sz="1800" b="1">
                <a:solidFill>
                  <a:srgbClr val="111316"/>
                </a:solidFill>
                <a:latin typeface="Consolas"/>
                <a:ea typeface="Consolas"/>
                <a:cs typeface="Consolas"/>
              </a:rPr>
              <a:t>low, high = iqr_bounds(df["energy_kwh_m2_yr"])</a:t>
            </a:r>
          </a:p>
        </p:txBody>
      </p:sp>
      <p:sp>
        <p:nvSpPr>
          <p:cNvPr id="13" name="example-body">
            <a:extLst xmlns:a="http://schemas.openxmlformats.org/drawingml/2006/main">
              <a:ext uri="{FF2B5EF4-FFF2-40B4-BE49-F238E27FC236}">
                <a16:creationId xmlns:a16="http://schemas.microsoft.com/office/drawing/2014/main" id="{08604A5F-C895-4E22-9293-0A4AB8939E00}"/>
              </a:ext>
            </a:extLst>
          </p:cNvPr>
          <p:cNvSpPr>
            <a:spLocks xmlns:a="http://schemas.openxmlformats.org/drawingml/2006/main" noGrp="1"/>
          </p:cNvSpPr>
          <p:nvPr/>
        </p:nvSpPr>
        <p:spPr>
          <a:xfrm xmlns:a="http://schemas.openxmlformats.org/drawingml/2006/main">
            <a:off x="6972300" y="2951226"/>
            <a:ext cx="4381500" cy="19827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low receives the first returned number (18.25), high the second (134.25) — matched by ORDER, not by name.</a:t>
            </a:r>
          </a:p>
        </p:txBody>
      </p:sp>
      <p:sp>
        <p:nvSpPr>
          <p:cNvPr id="14" name="note-bar">
            <a:extLst xmlns:a="http://schemas.openxmlformats.org/drawingml/2006/main">
              <a:ext uri="{FF2B5EF4-FFF2-40B4-BE49-F238E27FC236}">
                <a16:creationId xmlns:a16="http://schemas.microsoft.com/office/drawing/2014/main" id="{0BEC5C2F-00A3-4988-866B-B1599ED45376}"/>
              </a:ext>
            </a:extLst>
          </p:cNvPr>
          <p:cNvSpPr>
            <a:spLocks xmlns:a="http://schemas.openxmlformats.org/drawingml/2006/main" noGrp="1"/>
          </p:cNvSpPr>
          <p:nvPr/>
        </p:nvSpPr>
        <p:spPr>
          <a:xfrm xmlns:a="http://schemas.openxmlformats.org/drawingml/2006/main">
            <a:off x="609600" y="5334000"/>
            <a:ext cx="57150" cy="723900"/>
          </a:xfrm>
          <a:prstGeom xmlns:a="http://schemas.openxmlformats.org/drawingml/2006/main" prst="rect">
            <a:avLst/>
          </a:prstGeom>
          <a:solidFill xmlns:a="http://schemas.openxmlformats.org/drawingml/2006/main">
            <a:srgbClr val="B5731A"/>
          </a:solidFill>
          <a:ln xmlns:a="http://schemas.openxmlformats.org/drawingml/2006/main" w="0">
            <a:noFill/>
            <a:prstDash val="solid"/>
          </a:ln>
        </p:spPr>
      </p:sp>
      <p:sp>
        <p:nvSpPr>
          <p:cNvPr id="15" name="note-label">
            <a:extLst xmlns:a="http://schemas.openxmlformats.org/drawingml/2006/main">
              <a:ext uri="{FF2B5EF4-FFF2-40B4-BE49-F238E27FC236}">
                <a16:creationId xmlns:a16="http://schemas.microsoft.com/office/drawing/2014/main" id="{7583A730-6CA6-40CE-92A4-AFC368F0355F}"/>
              </a:ext>
            </a:extLst>
          </p:cNvPr>
          <p:cNvSpPr>
            <a:spLocks xmlns:a="http://schemas.openxmlformats.org/drawingml/2006/main" noGrp="1"/>
          </p:cNvSpPr>
          <p:nvPr/>
        </p:nvSpPr>
        <p:spPr>
          <a:xfrm xmlns:a="http://schemas.openxmlformats.org/drawingml/2006/main">
            <a:off x="819150" y="5353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B5731A"/>
                </a:solidFill>
                <a:latin typeface="Arial"/>
                <a:ea typeface="Arial"/>
                <a:cs typeface="Arial"/>
              </a:defRPr>
            </a:pPr>
            <a:r>
              <a:rPr sz="900" b="1">
                <a:solidFill>
                  <a:srgbClr val="B5731A"/>
                </a:solidFill>
                <a:latin typeface="Arial"/>
                <a:ea typeface="Arial"/>
                <a:cs typeface="Arial"/>
              </a:rPr>
              <a:t>COMMON CONFUSION</a:t>
            </a:r>
          </a:p>
        </p:txBody>
      </p:sp>
      <p:sp>
        <p:nvSpPr>
          <p:cNvPr id="16" name="note">
            <a:extLst xmlns:a="http://schemas.openxmlformats.org/drawingml/2006/main">
              <a:ext uri="{FF2B5EF4-FFF2-40B4-BE49-F238E27FC236}">
                <a16:creationId xmlns:a16="http://schemas.microsoft.com/office/drawing/2014/main" id="{940FCAE2-A064-48BC-991C-67CB7687EAFA}"/>
              </a:ext>
            </a:extLst>
          </p:cNvPr>
          <p:cNvSpPr>
            <a:spLocks xmlns:a="http://schemas.openxmlformats.org/drawingml/2006/main" noGrp="1"/>
          </p:cNvSpPr>
          <p:nvPr/>
        </p:nvSpPr>
        <p:spPr>
          <a:xfrm xmlns:a="http://schemas.openxmlformats.org/drawingml/2006/main">
            <a:off x="819150" y="5562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The names low and high are yours to choose — Python does not know which returned number is 'low.' Swap the two names and you silently swap which bound is which.</a:t>
            </a:r>
          </a:p>
        </p:txBody>
      </p:sp>
    </p:spTree>
    <p:extLst>
      <p:ext uri="{BB962C8B-B14F-4D97-AF65-F5344CB8AC3E}">
        <p14:creationId xmlns:p14="http://schemas.microsoft.com/office/powerpoint/2010/main" val="162115056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694B172C-D34A-4BB2-92F7-62A4E27EA6DC}"/>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RECALL</a:t>
            </a:r>
          </a:p>
        </p:txBody>
      </p:sp>
      <p:sp>
        <p:nvSpPr>
          <p:cNvPr id="2" name="title">
            <a:extLst xmlns:a="http://schemas.openxmlformats.org/drawingml/2006/main">
              <a:ext uri="{FF2B5EF4-FFF2-40B4-BE49-F238E27FC236}">
                <a16:creationId xmlns:a16="http://schemas.microsoft.com/office/drawing/2014/main" id="{55921068-8A43-4EBF-8AF3-77AF95C78333}"/>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Recall: the IQR rule, before you code it</a:t>
            </a:r>
          </a:p>
        </p:txBody>
      </p:sp>
      <p:sp>
        <p:nvSpPr>
          <p:cNvPr id="3" name="">
            <a:extLst xmlns:a="http://schemas.openxmlformats.org/drawingml/2006/main">
              <a:ext uri="{FF2B5EF4-FFF2-40B4-BE49-F238E27FC236}">
                <a16:creationId xmlns:a16="http://schemas.microsoft.com/office/drawing/2014/main" id="{3211C897-1637-4BBB-A4A5-7B6E1050A3F9}"/>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C1B2FB61-D7CE-4E56-A663-E81AB912D850}"/>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5 · Meeting B · Grouping and Outlier Studio</a:t>
            </a:r>
          </a:p>
        </p:txBody>
      </p:sp>
      <p:sp>
        <p:nvSpPr>
          <p:cNvPr id="5" name="page">
            <a:extLst xmlns:a="http://schemas.openxmlformats.org/drawingml/2006/main">
              <a:ext uri="{FF2B5EF4-FFF2-40B4-BE49-F238E27FC236}">
                <a16:creationId xmlns:a16="http://schemas.microsoft.com/office/drawing/2014/main" id="{C201C458-BF68-45C9-B1C9-F4E6B94BC9D4}"/>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17</a:t>
            </a:r>
          </a:p>
        </p:txBody>
      </p:sp>
      <p:sp>
        <p:nvSpPr>
          <p:cNvPr id="6" name="term-label">
            <a:extLst xmlns:a="http://schemas.openxmlformats.org/drawingml/2006/main">
              <a:ext uri="{FF2B5EF4-FFF2-40B4-BE49-F238E27FC236}">
                <a16:creationId xmlns:a16="http://schemas.microsoft.com/office/drawing/2014/main" id="{49DCD492-86F0-436A-9718-DDE1EF47C05D}"/>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EE255CBC-47F9-45C6-BA3F-E8FDFC879598}"/>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Arial"/>
                <a:ea typeface="Arial"/>
                <a:cs typeface="Arial"/>
              </a:defRPr>
            </a:pPr>
            <a:r>
              <a:rPr sz="3000" b="1">
                <a:solidFill>
                  <a:srgbClr val="111316"/>
                </a:solidFill>
                <a:latin typeface="Arial"/>
                <a:ea typeface="Arial"/>
                <a:cs typeface="Arial"/>
              </a:rPr>
              <a:t>IQR rule</a:t>
            </a:r>
          </a:p>
        </p:txBody>
      </p:sp>
      <p:sp>
        <p:nvSpPr>
          <p:cNvPr id="8" name="">
            <a:extLst xmlns:a="http://schemas.openxmlformats.org/drawingml/2006/main">
              <a:ext uri="{FF2B5EF4-FFF2-40B4-BE49-F238E27FC236}">
                <a16:creationId xmlns:a16="http://schemas.microsoft.com/office/drawing/2014/main" id="{C1384E0A-7D2F-4D11-83F5-09BB2B42694A}"/>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C91B7D89-74C4-41F3-8BF1-2232B4C49FC5}"/>
              </a:ext>
            </a:extLst>
          </p:cNvPr>
          <p:cNvSpPr>
            <a:spLocks xmlns:a="http://schemas.openxmlformats.org/drawingml/2006/main" noGrp="1"/>
          </p:cNvSpPr>
          <p:nvPr/>
        </p:nvSpPr>
        <p:spPr>
          <a:xfrm xmlns:a="http://schemas.openxmlformats.org/drawingml/2006/main">
            <a:off x="609600" y="2971800"/>
            <a:ext cx="590550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Flags any value outside [Q1 − 1.5×IQR, Q3 + 1.5×IQR], where IQR = Q3 − Q1. A flag means 'investigate,' not 'delete' — the same convention Meeting A used.</a:t>
            </a:r>
          </a:p>
        </p:txBody>
      </p:sp>
      <p:sp>
        <p:nvSpPr>
          <p:cNvPr id="10" name="example-panel">
            <a:extLst xmlns:a="http://schemas.openxmlformats.org/drawingml/2006/main">
              <a:ext uri="{FF2B5EF4-FFF2-40B4-BE49-F238E27FC236}">
                <a16:creationId xmlns:a16="http://schemas.microsoft.com/office/drawing/2014/main" id="{50C9B643-1688-452E-B796-48F4511F19AB}"/>
              </a:ext>
            </a:extLst>
          </p:cNvPr>
          <p:cNvSpPr>
            <a:spLocks xmlns:a="http://schemas.openxmlformats.org/drawingml/2006/main" noGrp="1"/>
          </p:cNvSpPr>
          <p:nvPr/>
        </p:nvSpPr>
        <p:spPr>
          <a:xfrm xmlns:a="http://schemas.openxmlformats.org/drawingml/2006/main">
            <a:off x="6762750" y="1809750"/>
            <a:ext cx="4819650" cy="3257550"/>
          </a:xfrm>
          <a:prstGeom xmlns:a="http://schemas.openxmlformats.org/drawingml/2006/main" prst="roundRect">
            <a:avLst>
              <a:gd name="adj" fmla="val 2339"/>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E18B9A6D-51DA-48B6-8B6C-1B4020AB02E4}"/>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IN PRACTICE</a:t>
            </a:r>
          </a:p>
        </p:txBody>
      </p:sp>
      <p:sp>
        <p:nvSpPr>
          <p:cNvPr id="12" name="example-head">
            <a:extLst xmlns:a="http://schemas.openxmlformats.org/drawingml/2006/main">
              <a:ext uri="{FF2B5EF4-FFF2-40B4-BE49-F238E27FC236}">
                <a16:creationId xmlns:a16="http://schemas.microsoft.com/office/drawing/2014/main" id="{3B41975D-BDF4-45C0-AB72-91988D264FE4}"/>
              </a:ext>
            </a:extLst>
          </p:cNvPr>
          <p:cNvSpPr>
            <a:spLocks xmlns:a="http://schemas.openxmlformats.org/drawingml/2006/main" noGrp="1"/>
          </p:cNvSpPr>
          <p:nvPr/>
        </p:nvSpPr>
        <p:spPr>
          <a:xfrm xmlns:a="http://schemas.openxmlformats.org/drawingml/2006/main">
            <a:off x="6972300" y="2286000"/>
            <a:ext cx="4381500" cy="3040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Consolas"/>
                <a:ea typeface="Consolas"/>
                <a:cs typeface="Consolas"/>
              </a:defRPr>
            </a:pPr>
            <a:r>
              <a:rPr sz="1800" b="1">
                <a:solidFill>
                  <a:srgbClr val="111316"/>
                </a:solidFill>
                <a:latin typeface="Consolas"/>
                <a:ea typeface="Consolas"/>
                <a:cs typeface="Consolas"/>
              </a:rPr>
              <a:t>iqr_bounds(df["energy_kwh_m2_yr"])</a:t>
            </a:r>
          </a:p>
        </p:txBody>
      </p:sp>
      <p:sp>
        <p:nvSpPr>
          <p:cNvPr id="13" name="example-body">
            <a:extLst xmlns:a="http://schemas.openxmlformats.org/drawingml/2006/main">
              <a:ext uri="{FF2B5EF4-FFF2-40B4-BE49-F238E27FC236}">
                <a16:creationId xmlns:a16="http://schemas.microsoft.com/office/drawing/2014/main" id="{4B28407C-6919-46CC-B05D-DFE258796A7D}"/>
              </a:ext>
            </a:extLst>
          </p:cNvPr>
          <p:cNvSpPr>
            <a:spLocks xmlns:a="http://schemas.openxmlformats.org/drawingml/2006/main" noGrp="1"/>
          </p:cNvSpPr>
          <p:nvPr/>
        </p:nvSpPr>
        <p:spPr>
          <a:xfrm xmlns:a="http://schemas.openxmlformats.org/drawingml/2006/main">
            <a:off x="6972300" y="2704338"/>
            <a:ext cx="4381500" cy="22296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Q1 = 61.75, Q3 = 90.75, IQR = 29.0 → bounds (18.25, 134.25). Room R306 at 410.0 kWh/m²/yr sits far above the high bound — the room Studio 2 asks you to confirm.</a:t>
            </a:r>
          </a:p>
        </p:txBody>
      </p:sp>
      <p:sp>
        <p:nvSpPr>
          <p:cNvPr id="14" name="note-bar">
            <a:extLst xmlns:a="http://schemas.openxmlformats.org/drawingml/2006/main">
              <a:ext uri="{FF2B5EF4-FFF2-40B4-BE49-F238E27FC236}">
                <a16:creationId xmlns:a16="http://schemas.microsoft.com/office/drawing/2014/main" id="{CF2FE23D-6A43-4E48-B899-687074F00FC6}"/>
              </a:ext>
            </a:extLst>
          </p:cNvPr>
          <p:cNvSpPr>
            <a:spLocks xmlns:a="http://schemas.openxmlformats.org/drawingml/2006/main" noGrp="1"/>
          </p:cNvSpPr>
          <p:nvPr/>
        </p:nvSpPr>
        <p:spPr>
          <a:xfrm xmlns:a="http://schemas.openxmlformats.org/drawingml/2006/main">
            <a:off x="609600" y="5334000"/>
            <a:ext cx="57150" cy="723900"/>
          </a:xfrm>
          <a:prstGeom xmlns:a="http://schemas.openxmlformats.org/drawingml/2006/main" prst="rect">
            <a:avLst/>
          </a:prstGeom>
          <a:solidFill xmlns:a="http://schemas.openxmlformats.org/drawingml/2006/main">
            <a:srgbClr val="B5731A"/>
          </a:solidFill>
          <a:ln xmlns:a="http://schemas.openxmlformats.org/drawingml/2006/main" w="0">
            <a:noFill/>
            <a:prstDash val="solid"/>
          </a:ln>
        </p:spPr>
      </p:sp>
      <p:sp>
        <p:nvSpPr>
          <p:cNvPr id="15" name="note-label">
            <a:extLst xmlns:a="http://schemas.openxmlformats.org/drawingml/2006/main">
              <a:ext uri="{FF2B5EF4-FFF2-40B4-BE49-F238E27FC236}">
                <a16:creationId xmlns:a16="http://schemas.microsoft.com/office/drawing/2014/main" id="{4B57F7E6-DD9F-4E0B-BA60-5A6B69EFC83B}"/>
              </a:ext>
            </a:extLst>
          </p:cNvPr>
          <p:cNvSpPr>
            <a:spLocks xmlns:a="http://schemas.openxmlformats.org/drawingml/2006/main" noGrp="1"/>
          </p:cNvSpPr>
          <p:nvPr/>
        </p:nvSpPr>
        <p:spPr>
          <a:xfrm xmlns:a="http://schemas.openxmlformats.org/drawingml/2006/main">
            <a:off x="819150" y="5353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B5731A"/>
                </a:solidFill>
                <a:latin typeface="Arial"/>
                <a:ea typeface="Arial"/>
                <a:cs typeface="Arial"/>
              </a:defRPr>
            </a:pPr>
            <a:r>
              <a:rPr sz="900" b="1">
                <a:solidFill>
                  <a:srgbClr val="B5731A"/>
                </a:solidFill>
                <a:latin typeface="Arial"/>
                <a:ea typeface="Arial"/>
                <a:cs typeface="Arial"/>
              </a:rPr>
              <a:t>COMMON CONFUSION</a:t>
            </a:r>
          </a:p>
        </p:txBody>
      </p:sp>
      <p:sp>
        <p:nvSpPr>
          <p:cNvPr id="16" name="note">
            <a:extLst xmlns:a="http://schemas.openxmlformats.org/drawingml/2006/main">
              <a:ext uri="{FF2B5EF4-FFF2-40B4-BE49-F238E27FC236}">
                <a16:creationId xmlns:a16="http://schemas.microsoft.com/office/drawing/2014/main" id="{CC935967-6926-4FBC-A076-3198FEDA0864}"/>
              </a:ext>
            </a:extLst>
          </p:cNvPr>
          <p:cNvSpPr>
            <a:spLocks xmlns:a="http://schemas.openxmlformats.org/drawingml/2006/main" noGrp="1"/>
          </p:cNvSpPr>
          <p:nvPr/>
        </p:nvSpPr>
        <p:spPr>
          <a:xfrm xmlns:a="http://schemas.openxmlformats.org/drawingml/2006/main">
            <a:off x="819150" y="5562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1.5× is a convention, not a law of statistics — Meeting A named it as a stated, defensible judgment call.</a:t>
            </a:r>
          </a:p>
        </p:txBody>
      </p:sp>
    </p:spTree>
    <p:extLst>
      <p:ext uri="{BB962C8B-B14F-4D97-AF65-F5344CB8AC3E}">
        <p14:creationId xmlns:p14="http://schemas.microsoft.com/office/powerpoint/2010/main" val="210476399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icker">
            <a:extLst xmlns:a="http://schemas.openxmlformats.org/drawingml/2006/main">
              <a:ext uri="{FF2B5EF4-FFF2-40B4-BE49-F238E27FC236}">
                <a16:creationId xmlns:a16="http://schemas.microsoft.com/office/drawing/2014/main" id="{2DA37B75-B6AA-466E-B8AC-107B8A76404F}"/>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9D371267-807A-4844-B0EE-9E774613120E}"/>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Write one reusable IQR-flag function</a:t>
            </a:r>
          </a:p>
        </p:txBody>
      </p:sp>
      <p:sp>
        <p:nvSpPr>
          <p:cNvPr id="3" name="">
            <a:extLst xmlns:a="http://schemas.openxmlformats.org/drawingml/2006/main">
              <a:ext uri="{FF2B5EF4-FFF2-40B4-BE49-F238E27FC236}">
                <a16:creationId xmlns:a16="http://schemas.microsoft.com/office/drawing/2014/main" id="{1111B6B1-6F8C-4460-8608-0BAE85628FC8}"/>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A553D304-F860-4A28-A21E-7CD30AB3CC9E}"/>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5 · Meeting B · Grouping and Outlier Studio</a:t>
            </a:r>
          </a:p>
        </p:txBody>
      </p:sp>
      <p:sp>
        <p:nvSpPr>
          <p:cNvPr id="5" name="page">
            <a:extLst xmlns:a="http://schemas.openxmlformats.org/drawingml/2006/main">
              <a:ext uri="{FF2B5EF4-FFF2-40B4-BE49-F238E27FC236}">
                <a16:creationId xmlns:a16="http://schemas.microsoft.com/office/drawing/2014/main" id="{A199E99A-A3BB-43F2-A8FC-4D6FD9E5390A}"/>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18</a:t>
            </a:r>
          </a:p>
        </p:txBody>
      </p:sp>
      <p:sp>
        <p:nvSpPr>
          <p:cNvPr id="6" name="code-panel">
            <a:extLst xmlns:a="http://schemas.openxmlformats.org/drawingml/2006/main">
              <a:ext uri="{FF2B5EF4-FFF2-40B4-BE49-F238E27FC236}">
                <a16:creationId xmlns:a16="http://schemas.microsoft.com/office/drawing/2014/main" id="{247EF498-F954-4391-8642-6BA3033314D3}"/>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9CB72F43-79B5-4D0E-8E2C-5122C853E6C7}"/>
              </a:ext>
            </a:extLst>
          </p:cNvPr>
          <p:cNvSpPr>
            <a:spLocks xmlns:a="http://schemas.openxmlformats.org/drawingml/2006/main" noGrp="1"/>
          </p:cNvSpPr>
          <p:nvPr/>
        </p:nvSpPr>
        <p:spPr>
          <a:xfrm xmlns:a="http://schemas.openxmlformats.org/drawingml/2006/main">
            <a:off x="857250" y="2057400"/>
            <a:ext cx="6400800" cy="3771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def iqr_bounds(values: pd.Series) -&gt; tuple[float, float]:</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"""Return (low, high) IQR fence bounds."""</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q1, q3 = values.quantile(0.25), values.quantile(0.75)</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iqr = q3 - q1</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return q1 - 1.5 * iqr, q3 + 1.5 * iqr</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def flag_iqr(df: pd.DataFrame, col: str) -&gt; pd.Series:</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"""True where df[col] sits outside the IQR bounds."""</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low, high = iqr_bounds(df[col])</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return (df[col] &lt; low) | (df[col] &gt; high)</a:t>
            </a:r>
          </a:p>
        </p:txBody>
      </p:sp>
      <p:sp>
        <p:nvSpPr>
          <p:cNvPr id="8" name="explain-head">
            <a:extLst xmlns:a="http://schemas.openxmlformats.org/drawingml/2006/main">
              <a:ext uri="{FF2B5EF4-FFF2-40B4-BE49-F238E27FC236}">
                <a16:creationId xmlns:a16="http://schemas.microsoft.com/office/drawing/2014/main" id="{AFB42222-D65B-44A0-95DD-B5B804E7C457}"/>
              </a:ext>
            </a:extLst>
          </p:cNvPr>
          <p:cNvSpPr>
            <a:spLocks xmlns:a="http://schemas.openxmlformats.org/drawingml/2006/main" noGrp="1"/>
          </p:cNvSpPr>
          <p:nvPr/>
        </p:nvSpPr>
        <p:spPr>
          <a:xfrm xmlns:a="http://schemas.openxmlformats.org/drawingml/2006/main">
            <a:off x="7886700" y="2286000"/>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One function, reused on every column</a:t>
            </a:r>
          </a:p>
        </p:txBody>
      </p:sp>
      <p:sp>
        <p:nvSpPr>
          <p:cNvPr id="9" name="explain-body">
            <a:extLst xmlns:a="http://schemas.openxmlformats.org/drawingml/2006/main">
              <a:ext uri="{FF2B5EF4-FFF2-40B4-BE49-F238E27FC236}">
                <a16:creationId xmlns:a16="http://schemas.microsoft.com/office/drawing/2014/main" id="{F291E386-BAE1-4093-B227-D68D77B055DD}"/>
              </a:ext>
            </a:extLst>
          </p:cNvPr>
          <p:cNvSpPr>
            <a:spLocks xmlns:a="http://schemas.openxmlformats.org/drawingml/2006/main" noGrp="1"/>
          </p:cNvSpPr>
          <p:nvPr/>
        </p:nvSpPr>
        <p:spPr>
          <a:xfrm xmlns:a="http://schemas.openxmlformats.org/drawingml/2006/main">
            <a:off x="7886700" y="3071622"/>
            <a:ext cx="36957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Recall the docstring and type-hint convention from Week 4: -&gt; tuple[float, float] and -&gt; pd.Series state what each function returns. Combining two Boolean Series needs &amp; and | with parentheses around each condition — NOT Python's and/or from Weeks 2-3, which raises a ValueError on a Series. Write this once; Studio 2 through Studio 7 all call it, unchanged.</a:t>
            </a:r>
          </a:p>
        </p:txBody>
      </p:sp>
    </p:spTree>
    <p:extLst>
      <p:ext uri="{BB962C8B-B14F-4D97-AF65-F5344CB8AC3E}">
        <p14:creationId xmlns:p14="http://schemas.microsoft.com/office/powerpoint/2010/main" val="201935841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72725F65-441D-4142-B115-A3E2C4B914BE}"/>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IN-CLASS CHECK</a:t>
            </a:r>
          </a:p>
        </p:txBody>
      </p:sp>
      <p:sp>
        <p:nvSpPr>
          <p:cNvPr id="2" name="title">
            <a:extLst xmlns:a="http://schemas.openxmlformats.org/drawingml/2006/main">
              <a:ext uri="{FF2B5EF4-FFF2-40B4-BE49-F238E27FC236}">
                <a16:creationId xmlns:a16="http://schemas.microsoft.com/office/drawing/2014/main" id="{3CB6CD85-C6DE-4831-8C12-68801BA59A21}"/>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Studio 2: apply flag_iqr() to energy_kwh_m2_yr</a:t>
            </a:r>
          </a:p>
        </p:txBody>
      </p:sp>
      <p:sp>
        <p:nvSpPr>
          <p:cNvPr id="3" name="">
            <a:extLst xmlns:a="http://schemas.openxmlformats.org/drawingml/2006/main">
              <a:ext uri="{FF2B5EF4-FFF2-40B4-BE49-F238E27FC236}">
                <a16:creationId xmlns:a16="http://schemas.microsoft.com/office/drawing/2014/main" id="{F9F1E874-A5C1-4AB1-AA3F-0F3C611F645D}"/>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995588B0-E038-4783-B69A-6FBDA6D2483B}"/>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5 · Meeting B · Grouping and Outlier Studio</a:t>
            </a:r>
          </a:p>
        </p:txBody>
      </p:sp>
      <p:sp>
        <p:nvSpPr>
          <p:cNvPr id="5" name="page">
            <a:extLst xmlns:a="http://schemas.openxmlformats.org/drawingml/2006/main">
              <a:ext uri="{FF2B5EF4-FFF2-40B4-BE49-F238E27FC236}">
                <a16:creationId xmlns:a16="http://schemas.microsoft.com/office/drawing/2014/main" id="{4BC06500-720B-4316-8EB1-B8D5E0FE0BE8}"/>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19</a:t>
            </a:r>
          </a:p>
        </p:txBody>
      </p:sp>
      <p:sp>
        <p:nvSpPr>
          <p:cNvPr id="6" name="exercise-accent">
            <a:extLst xmlns:a="http://schemas.openxmlformats.org/drawingml/2006/main">
              <a:ext uri="{FF2B5EF4-FFF2-40B4-BE49-F238E27FC236}">
                <a16:creationId xmlns:a16="http://schemas.microsoft.com/office/drawing/2014/main" id="{59B28C5D-9F9B-4D10-BA70-08AE52AC6C8C}"/>
              </a:ext>
            </a:extLst>
          </p:cNvPr>
          <p:cNvSpPr>
            <a:spLocks xmlns:a="http://schemas.openxmlformats.org/drawingml/2006/main" noGrp="1"/>
          </p:cNvSpPr>
          <p:nvPr/>
        </p:nvSpPr>
        <p:spPr>
          <a:xfrm xmlns:a="http://schemas.openxmlformats.org/drawingml/2006/main">
            <a:off x="609600" y="1809750"/>
            <a:ext cx="4000500" cy="4248150"/>
          </a:xfrm>
          <a:prstGeom xmlns:a="http://schemas.openxmlformats.org/drawingml/2006/main" prst="roundRect">
            <a:avLst>
              <a:gd name="adj" fmla="val 1429"/>
            </a:avLst>
          </a:prstGeom>
          <a:solidFill xmlns:a="http://schemas.openxmlformats.org/drawingml/2006/main">
            <a:srgbClr val="2E74B5"/>
          </a:solidFill>
          <a:ln xmlns:a="http://schemas.openxmlformats.org/drawingml/2006/main" w="9525">
            <a:solidFill>
              <a:srgbClr val="2E74B5"/>
            </a:solidFill>
            <a:prstDash val="solid"/>
          </a:ln>
        </p:spPr>
      </p:sp>
      <p:sp>
        <p:nvSpPr>
          <p:cNvPr id="7" name="exercise-prompt">
            <a:extLst xmlns:a="http://schemas.openxmlformats.org/drawingml/2006/main">
              <a:ext uri="{FF2B5EF4-FFF2-40B4-BE49-F238E27FC236}">
                <a16:creationId xmlns:a16="http://schemas.microsoft.com/office/drawing/2014/main" id="{4B47AEC9-6D31-43F4-BFE2-77C9B821C384}"/>
              </a:ext>
            </a:extLst>
          </p:cNvPr>
          <p:cNvSpPr>
            <a:spLocks xmlns:a="http://schemas.openxmlformats.org/drawingml/2006/main" noGrp="1"/>
          </p:cNvSpPr>
          <p:nvPr/>
        </p:nvSpPr>
        <p:spPr>
          <a:xfrm xmlns:a="http://schemas.openxmlformats.org/drawingml/2006/main">
            <a:off x="876300" y="2095500"/>
            <a:ext cx="3467100" cy="3676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100" b="1">
                <a:solidFill>
                  <a:srgbClr val="FFFFFF"/>
                </a:solidFill>
                <a:latin typeface="Arial"/>
                <a:ea typeface="Arial"/>
                <a:cs typeface="Arial"/>
              </a:defRPr>
            </a:pPr>
            <a:r>
              <a:rPr sz="2100" b="1">
                <a:solidFill>
                  <a:srgbClr val="FFFFFF"/>
                </a:solidFill>
                <a:latin typeface="Arial"/>
                <a:ea typeface="Arial"/>
                <a:cs typeface="Arial"/>
              </a:rPr>
              <a:t>Confirm the function catches the room you expect from Meeting A.</a:t>
            </a:r>
          </a:p>
        </p:txBody>
      </p:sp>
      <p:sp>
        <p:nvSpPr>
          <p:cNvPr id="8" name="work-label">
            <a:extLst xmlns:a="http://schemas.openxmlformats.org/drawingml/2006/main">
              <a:ext uri="{FF2B5EF4-FFF2-40B4-BE49-F238E27FC236}">
                <a16:creationId xmlns:a16="http://schemas.microsoft.com/office/drawing/2014/main" id="{BEC86722-5196-49AF-B5C5-D4D370DA4449}"/>
              </a:ext>
            </a:extLst>
          </p:cNvPr>
          <p:cNvSpPr>
            <a:spLocks xmlns:a="http://schemas.openxmlformats.org/drawingml/2006/main" noGrp="1"/>
          </p:cNvSpPr>
          <p:nvPr/>
        </p:nvSpPr>
        <p:spPr>
          <a:xfrm xmlns:a="http://schemas.openxmlformats.org/drawingml/2006/main">
            <a:off x="5029200" y="1847850"/>
            <a:ext cx="6553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WORK THROUGH IT</a:t>
            </a:r>
          </a:p>
        </p:txBody>
      </p:sp>
      <p:sp>
        <p:nvSpPr>
          <p:cNvPr id="9" name="exercise-no-0">
            <a:extLst xmlns:a="http://schemas.openxmlformats.org/drawingml/2006/main">
              <a:ext uri="{FF2B5EF4-FFF2-40B4-BE49-F238E27FC236}">
                <a16:creationId xmlns:a16="http://schemas.microsoft.com/office/drawing/2014/main" id="{8392BEF1-BB4A-4776-9CAA-98671C065E71}"/>
              </a:ext>
            </a:extLst>
          </p:cNvPr>
          <p:cNvSpPr>
            <a:spLocks xmlns:a="http://schemas.openxmlformats.org/drawingml/2006/main" noGrp="1"/>
          </p:cNvSpPr>
          <p:nvPr/>
        </p:nvSpPr>
        <p:spPr>
          <a:xfrm xmlns:a="http://schemas.openxmlformats.org/drawingml/2006/main">
            <a:off x="5029200" y="22479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1.</a:t>
            </a:r>
          </a:p>
        </p:txBody>
      </p:sp>
      <p:sp>
        <p:nvSpPr>
          <p:cNvPr id="10" name="exercise-step-0">
            <a:extLst xmlns:a="http://schemas.openxmlformats.org/drawingml/2006/main">
              <a:ext uri="{FF2B5EF4-FFF2-40B4-BE49-F238E27FC236}">
                <a16:creationId xmlns:a16="http://schemas.microsoft.com/office/drawing/2014/main" id="{FBE6A5C8-ED39-447A-9F21-17E9B58DE1DF}"/>
              </a:ext>
            </a:extLst>
          </p:cNvPr>
          <p:cNvSpPr>
            <a:spLocks xmlns:a="http://schemas.openxmlformats.org/drawingml/2006/main" noGrp="1"/>
          </p:cNvSpPr>
          <p:nvPr/>
        </p:nvSpPr>
        <p:spPr>
          <a:xfrm xmlns:a="http://schemas.openxmlformats.org/drawingml/2006/main">
            <a:off x="5467350" y="22479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Add df["iqr_flag_energy"] = flag_iqr(df, "energy_kwh_m2_yr").</a:t>
            </a:r>
          </a:p>
        </p:txBody>
      </p:sp>
      <p:sp>
        <p:nvSpPr>
          <p:cNvPr id="11" name="exercise-no-1">
            <a:extLst xmlns:a="http://schemas.openxmlformats.org/drawingml/2006/main">
              <a:ext uri="{FF2B5EF4-FFF2-40B4-BE49-F238E27FC236}">
                <a16:creationId xmlns:a16="http://schemas.microsoft.com/office/drawing/2014/main" id="{97FB8D57-72A6-4F83-B36C-937A5C11B192}"/>
              </a:ext>
            </a:extLst>
          </p:cNvPr>
          <p:cNvSpPr>
            <a:spLocks xmlns:a="http://schemas.openxmlformats.org/drawingml/2006/main" noGrp="1"/>
          </p:cNvSpPr>
          <p:nvPr/>
        </p:nvSpPr>
        <p:spPr>
          <a:xfrm xmlns:a="http://schemas.openxmlformats.org/drawingml/2006/main">
            <a:off x="5029200" y="31242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2.</a:t>
            </a:r>
          </a:p>
        </p:txBody>
      </p:sp>
      <p:sp>
        <p:nvSpPr>
          <p:cNvPr id="12" name="exercise-step-1">
            <a:extLst xmlns:a="http://schemas.openxmlformats.org/drawingml/2006/main">
              <a:ext uri="{FF2B5EF4-FFF2-40B4-BE49-F238E27FC236}">
                <a16:creationId xmlns:a16="http://schemas.microsoft.com/office/drawing/2014/main" id="{BA96E267-0E12-4EC2-97DB-BF215A30C705}"/>
              </a:ext>
            </a:extLst>
          </p:cNvPr>
          <p:cNvSpPr>
            <a:spLocks xmlns:a="http://schemas.openxmlformats.org/drawingml/2006/main" noGrp="1"/>
          </p:cNvSpPr>
          <p:nvPr/>
        </p:nvSpPr>
        <p:spPr>
          <a:xfrm xmlns:a="http://schemas.openxmlformats.org/drawingml/2006/main">
            <a:off x="5467350" y="31242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Print only room R306's row.</a:t>
            </a:r>
          </a:p>
        </p:txBody>
      </p:sp>
      <p:sp>
        <p:nvSpPr>
          <p:cNvPr id="13" name="exercise-no-2">
            <a:extLst xmlns:a="http://schemas.openxmlformats.org/drawingml/2006/main">
              <a:ext uri="{FF2B5EF4-FFF2-40B4-BE49-F238E27FC236}">
                <a16:creationId xmlns:a16="http://schemas.microsoft.com/office/drawing/2014/main" id="{5CAA8D72-B3AB-4AB8-80A5-76E12C941764}"/>
              </a:ext>
            </a:extLst>
          </p:cNvPr>
          <p:cNvSpPr>
            <a:spLocks xmlns:a="http://schemas.openxmlformats.org/drawingml/2006/main" noGrp="1"/>
          </p:cNvSpPr>
          <p:nvPr/>
        </p:nvSpPr>
        <p:spPr>
          <a:xfrm xmlns:a="http://schemas.openxmlformats.org/drawingml/2006/main">
            <a:off x="5029200" y="40005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3.</a:t>
            </a:r>
          </a:p>
        </p:txBody>
      </p:sp>
      <p:sp>
        <p:nvSpPr>
          <p:cNvPr id="14" name="exercise-step-2">
            <a:extLst xmlns:a="http://schemas.openxmlformats.org/drawingml/2006/main">
              <a:ext uri="{FF2B5EF4-FFF2-40B4-BE49-F238E27FC236}">
                <a16:creationId xmlns:a16="http://schemas.microsoft.com/office/drawing/2014/main" id="{660FBB6F-7330-468F-90A6-A4C45B81A696}"/>
              </a:ext>
            </a:extLst>
          </p:cNvPr>
          <p:cNvSpPr>
            <a:spLocks xmlns:a="http://schemas.openxmlformats.org/drawingml/2006/main" noGrp="1"/>
          </p:cNvSpPr>
          <p:nvPr/>
        </p:nvSpPr>
        <p:spPr>
          <a:xfrm xmlns:a="http://schemas.openxmlformats.org/drawingml/2006/main">
            <a:off x="5467350" y="40005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Confirm the flag is True.</a:t>
            </a:r>
          </a:p>
        </p:txBody>
      </p:sp>
      <p:sp>
        <p:nvSpPr>
          <p:cNvPr id="15" name="exercise-no-3">
            <a:extLst xmlns:a="http://schemas.openxmlformats.org/drawingml/2006/main">
              <a:ext uri="{FF2B5EF4-FFF2-40B4-BE49-F238E27FC236}">
                <a16:creationId xmlns:a16="http://schemas.microsoft.com/office/drawing/2014/main" id="{D87C5062-8260-42C4-ABF6-C983BAC4CE2E}"/>
              </a:ext>
            </a:extLst>
          </p:cNvPr>
          <p:cNvSpPr>
            <a:spLocks xmlns:a="http://schemas.openxmlformats.org/drawingml/2006/main" noGrp="1"/>
          </p:cNvSpPr>
          <p:nvPr/>
        </p:nvSpPr>
        <p:spPr>
          <a:xfrm xmlns:a="http://schemas.openxmlformats.org/drawingml/2006/main">
            <a:off x="5029200" y="48768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4.</a:t>
            </a:r>
          </a:p>
        </p:txBody>
      </p:sp>
      <p:sp>
        <p:nvSpPr>
          <p:cNvPr id="16" name="exercise-step-3">
            <a:extLst xmlns:a="http://schemas.openxmlformats.org/drawingml/2006/main">
              <a:ext uri="{FF2B5EF4-FFF2-40B4-BE49-F238E27FC236}">
                <a16:creationId xmlns:a16="http://schemas.microsoft.com/office/drawing/2014/main" id="{87C2CFAF-D7D2-4E19-8E50-8195310B6636}"/>
              </a:ext>
            </a:extLst>
          </p:cNvPr>
          <p:cNvSpPr>
            <a:spLocks xmlns:a="http://schemas.openxmlformats.org/drawingml/2006/main" noGrp="1"/>
          </p:cNvSpPr>
          <p:nvPr/>
        </p:nvSpPr>
        <p:spPr>
          <a:xfrm xmlns:a="http://schemas.openxmlformats.org/drawingml/2006/main">
            <a:off x="5467350" y="48768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State the IQR bounds you computed, in your own words, without looking back at Meeting A.</a:t>
            </a:r>
          </a:p>
        </p:txBody>
      </p:sp>
    </p:spTree>
    <p:extLst>
      <p:ext uri="{BB962C8B-B14F-4D97-AF65-F5344CB8AC3E}">
        <p14:creationId xmlns:p14="http://schemas.microsoft.com/office/powerpoint/2010/main" val="43399916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85CAEDEA-1760-42E3-80A8-81DE280F24C0}"/>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RECALL</a:t>
            </a:r>
          </a:p>
        </p:txBody>
      </p:sp>
      <p:sp>
        <p:nvSpPr>
          <p:cNvPr id="2" name="title">
            <a:extLst xmlns:a="http://schemas.openxmlformats.org/drawingml/2006/main">
              <a:ext uri="{FF2B5EF4-FFF2-40B4-BE49-F238E27FC236}">
                <a16:creationId xmlns:a16="http://schemas.microsoft.com/office/drawing/2014/main" id="{97167421-11C8-42E2-B615-6654B71C7AB9}"/>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Recall: the z-score rule, before you code it</a:t>
            </a:r>
          </a:p>
        </p:txBody>
      </p:sp>
      <p:sp>
        <p:nvSpPr>
          <p:cNvPr id="3" name="">
            <a:extLst xmlns:a="http://schemas.openxmlformats.org/drawingml/2006/main">
              <a:ext uri="{FF2B5EF4-FFF2-40B4-BE49-F238E27FC236}">
                <a16:creationId xmlns:a16="http://schemas.microsoft.com/office/drawing/2014/main" id="{EA1C581C-4B24-416E-91C3-394065087901}"/>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DDDAFF9F-7D0A-47B8-AD2A-0FCCB85E5647}"/>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5 · Meeting B · Grouping and Outlier Studio</a:t>
            </a:r>
          </a:p>
        </p:txBody>
      </p:sp>
      <p:sp>
        <p:nvSpPr>
          <p:cNvPr id="5" name="page">
            <a:extLst xmlns:a="http://schemas.openxmlformats.org/drawingml/2006/main">
              <a:ext uri="{FF2B5EF4-FFF2-40B4-BE49-F238E27FC236}">
                <a16:creationId xmlns:a16="http://schemas.microsoft.com/office/drawing/2014/main" id="{C4F96480-5EB7-44ED-BEB3-9E3F0552E647}"/>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20</a:t>
            </a:r>
          </a:p>
        </p:txBody>
      </p:sp>
      <p:sp>
        <p:nvSpPr>
          <p:cNvPr id="6" name="term-label">
            <a:extLst xmlns:a="http://schemas.openxmlformats.org/drawingml/2006/main">
              <a:ext uri="{FF2B5EF4-FFF2-40B4-BE49-F238E27FC236}">
                <a16:creationId xmlns:a16="http://schemas.microsoft.com/office/drawing/2014/main" id="{B4D19324-38DF-4142-8482-E68C721BDD2B}"/>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339E8BB7-7C80-45FE-8AAD-D766C810D85F}"/>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Arial"/>
                <a:ea typeface="Arial"/>
                <a:cs typeface="Arial"/>
              </a:defRPr>
            </a:pPr>
            <a:r>
              <a:rPr sz="3000" b="1">
                <a:solidFill>
                  <a:srgbClr val="111316"/>
                </a:solidFill>
                <a:latin typeface="Arial"/>
                <a:ea typeface="Arial"/>
                <a:cs typeface="Arial"/>
              </a:rPr>
              <a:t>z-score rule</a:t>
            </a:r>
          </a:p>
        </p:txBody>
      </p:sp>
      <p:sp>
        <p:nvSpPr>
          <p:cNvPr id="8" name="">
            <a:extLst xmlns:a="http://schemas.openxmlformats.org/drawingml/2006/main">
              <a:ext uri="{FF2B5EF4-FFF2-40B4-BE49-F238E27FC236}">
                <a16:creationId xmlns:a16="http://schemas.microsoft.com/office/drawing/2014/main" id="{ED6ECF58-7D67-423D-AF72-30DB41187394}"/>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76A20A7C-0F23-4148-95BB-DE744717F809}"/>
              </a:ext>
            </a:extLst>
          </p:cNvPr>
          <p:cNvSpPr>
            <a:spLocks xmlns:a="http://schemas.openxmlformats.org/drawingml/2006/main" noGrp="1"/>
          </p:cNvSpPr>
          <p:nvPr/>
        </p:nvSpPr>
        <p:spPr>
          <a:xfrm xmlns:a="http://schemas.openxmlformats.org/drawingml/2006/main">
            <a:off x="609600" y="2971800"/>
            <a:ext cx="590550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Restates one value as 'how many standard deviations from the mean': z = (x − mean) / std. This course flags any row where |z| &gt; 2 — some fields use 3; the threshold is a stated judgment call, not a universal constant.</a:t>
            </a:r>
          </a:p>
        </p:txBody>
      </p:sp>
      <p:sp>
        <p:nvSpPr>
          <p:cNvPr id="10" name="example-panel">
            <a:extLst xmlns:a="http://schemas.openxmlformats.org/drawingml/2006/main">
              <a:ext uri="{FF2B5EF4-FFF2-40B4-BE49-F238E27FC236}">
                <a16:creationId xmlns:a16="http://schemas.microsoft.com/office/drawing/2014/main" id="{4DDBA68D-4B7D-4324-BCDD-D89DAD6BB69B}"/>
              </a:ext>
            </a:extLst>
          </p:cNvPr>
          <p:cNvSpPr>
            <a:spLocks xmlns:a="http://schemas.openxmlformats.org/drawingml/2006/main" noGrp="1"/>
          </p:cNvSpPr>
          <p:nvPr/>
        </p:nvSpPr>
        <p:spPr>
          <a:xfrm xmlns:a="http://schemas.openxmlformats.org/drawingml/2006/main">
            <a:off x="6762750" y="1809750"/>
            <a:ext cx="4819650" cy="3257550"/>
          </a:xfrm>
          <a:prstGeom xmlns:a="http://schemas.openxmlformats.org/drawingml/2006/main" prst="roundRect">
            <a:avLst>
              <a:gd name="adj" fmla="val 2339"/>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55660A9F-407C-49FD-8BE2-392888CE618A}"/>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IN PRACTICE</a:t>
            </a:r>
          </a:p>
        </p:txBody>
      </p:sp>
      <p:sp>
        <p:nvSpPr>
          <p:cNvPr id="12" name="example-head">
            <a:extLst xmlns:a="http://schemas.openxmlformats.org/drawingml/2006/main">
              <a:ext uri="{FF2B5EF4-FFF2-40B4-BE49-F238E27FC236}">
                <a16:creationId xmlns:a16="http://schemas.microsoft.com/office/drawing/2014/main" id="{4FEBF5AC-8948-4C3E-A786-38A62FB17EBC}"/>
              </a:ext>
            </a:extLst>
          </p:cNvPr>
          <p:cNvSpPr>
            <a:spLocks xmlns:a="http://schemas.openxmlformats.org/drawingml/2006/main" noGrp="1"/>
          </p:cNvSpPr>
          <p:nvPr/>
        </p:nvSpPr>
        <p:spPr>
          <a:xfrm xmlns:a="http://schemas.openxmlformats.org/drawingml/2006/main">
            <a:off x="6972300" y="2286000"/>
            <a:ext cx="4381500" cy="3040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Consolas"/>
                <a:ea typeface="Consolas"/>
                <a:cs typeface="Consolas"/>
              </a:defRPr>
            </a:pPr>
            <a:r>
              <a:rPr sz="1800" b="1">
                <a:solidFill>
                  <a:srgbClr val="111316"/>
                </a:solidFill>
                <a:latin typeface="Consolas"/>
                <a:ea typeface="Consolas"/>
                <a:cs typeface="Consolas"/>
              </a:rPr>
              <a:t>z = (x - mean) / std</a:t>
            </a:r>
          </a:p>
        </p:txBody>
      </p:sp>
      <p:sp>
        <p:nvSpPr>
          <p:cNvPr id="13" name="example-body">
            <a:extLst xmlns:a="http://schemas.openxmlformats.org/drawingml/2006/main">
              <a:ext uri="{FF2B5EF4-FFF2-40B4-BE49-F238E27FC236}">
                <a16:creationId xmlns:a16="http://schemas.microsoft.com/office/drawing/2014/main" id="{572B0FAB-D06E-40B4-B772-34492BFEB317}"/>
              </a:ext>
            </a:extLst>
          </p:cNvPr>
          <p:cNvSpPr>
            <a:spLocks xmlns:a="http://schemas.openxmlformats.org/drawingml/2006/main" noGrp="1"/>
          </p:cNvSpPr>
          <p:nvPr/>
        </p:nvSpPr>
        <p:spPr>
          <a:xfrm xmlns:a="http://schemas.openxmlformats.org/drawingml/2006/main">
            <a:off x="6972300" y="2704338"/>
            <a:ext cx="4381500" cy="22296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For energy_kwh_m2_yr: mean = 88.85, std = 72.54. Room R306 at 410.0 kWh/m²/yr → z = 4.43, far past |z| &gt; 2 — the same room the IQR rule flagged.</a:t>
            </a:r>
          </a:p>
        </p:txBody>
      </p:sp>
      <p:sp>
        <p:nvSpPr>
          <p:cNvPr id="14" name="note-bar">
            <a:extLst xmlns:a="http://schemas.openxmlformats.org/drawingml/2006/main">
              <a:ext uri="{FF2B5EF4-FFF2-40B4-BE49-F238E27FC236}">
                <a16:creationId xmlns:a16="http://schemas.microsoft.com/office/drawing/2014/main" id="{742A09CD-2BB4-43EA-881E-CD73345B14A0}"/>
              </a:ext>
            </a:extLst>
          </p:cNvPr>
          <p:cNvSpPr>
            <a:spLocks xmlns:a="http://schemas.openxmlformats.org/drawingml/2006/main" noGrp="1"/>
          </p:cNvSpPr>
          <p:nvPr/>
        </p:nvSpPr>
        <p:spPr>
          <a:xfrm xmlns:a="http://schemas.openxmlformats.org/drawingml/2006/main">
            <a:off x="609600" y="5334000"/>
            <a:ext cx="57150" cy="723900"/>
          </a:xfrm>
          <a:prstGeom xmlns:a="http://schemas.openxmlformats.org/drawingml/2006/main" prst="rect">
            <a:avLst/>
          </a:prstGeom>
          <a:solidFill xmlns:a="http://schemas.openxmlformats.org/drawingml/2006/main">
            <a:srgbClr val="B5731A"/>
          </a:solidFill>
          <a:ln xmlns:a="http://schemas.openxmlformats.org/drawingml/2006/main" w="0">
            <a:noFill/>
            <a:prstDash val="solid"/>
          </a:ln>
        </p:spPr>
      </p:sp>
      <p:sp>
        <p:nvSpPr>
          <p:cNvPr id="15" name="note-label">
            <a:extLst xmlns:a="http://schemas.openxmlformats.org/drawingml/2006/main">
              <a:ext uri="{FF2B5EF4-FFF2-40B4-BE49-F238E27FC236}">
                <a16:creationId xmlns:a16="http://schemas.microsoft.com/office/drawing/2014/main" id="{8B9F22E0-E4AC-4ADE-84E3-0E9F2D67000D}"/>
              </a:ext>
            </a:extLst>
          </p:cNvPr>
          <p:cNvSpPr>
            <a:spLocks xmlns:a="http://schemas.openxmlformats.org/drawingml/2006/main" noGrp="1"/>
          </p:cNvSpPr>
          <p:nvPr/>
        </p:nvSpPr>
        <p:spPr>
          <a:xfrm xmlns:a="http://schemas.openxmlformats.org/drawingml/2006/main">
            <a:off x="819150" y="5353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B5731A"/>
                </a:solidFill>
                <a:latin typeface="Arial"/>
                <a:ea typeface="Arial"/>
                <a:cs typeface="Arial"/>
              </a:defRPr>
            </a:pPr>
            <a:r>
              <a:rPr sz="900" b="1">
                <a:solidFill>
                  <a:srgbClr val="B5731A"/>
                </a:solidFill>
                <a:latin typeface="Arial"/>
                <a:ea typeface="Arial"/>
                <a:cs typeface="Arial"/>
              </a:rPr>
              <a:t>COMMON CONFUSION</a:t>
            </a:r>
          </a:p>
        </p:txBody>
      </p:sp>
      <p:sp>
        <p:nvSpPr>
          <p:cNvPr id="16" name="note">
            <a:extLst xmlns:a="http://schemas.openxmlformats.org/drawingml/2006/main">
              <a:ext uri="{FF2B5EF4-FFF2-40B4-BE49-F238E27FC236}">
                <a16:creationId xmlns:a16="http://schemas.microsoft.com/office/drawing/2014/main" id="{8B7A6240-E6F8-428D-8925-64E572FC2C22}"/>
              </a:ext>
            </a:extLst>
          </p:cNvPr>
          <p:cNvSpPr>
            <a:spLocks xmlns:a="http://schemas.openxmlformats.org/drawingml/2006/main" noGrp="1"/>
          </p:cNvSpPr>
          <p:nvPr/>
        </p:nvSpPr>
        <p:spPr>
          <a:xfrm xmlns:a="http://schemas.openxmlformats.org/drawingml/2006/main">
            <a:off x="819150" y="5562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threshold=2.0 in the next slide's flag_zscore() is a default argument, not a hard-coded rule — a caller can pass threshold=1.5 or threshold=3.0 instead.</a:t>
            </a:r>
          </a:p>
        </p:txBody>
      </p:sp>
    </p:spTree>
    <p:extLst>
      <p:ext uri="{BB962C8B-B14F-4D97-AF65-F5344CB8AC3E}">
        <p14:creationId xmlns:p14="http://schemas.microsoft.com/office/powerpoint/2010/main" val="4889952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icker">
            <a:extLst xmlns:a="http://schemas.openxmlformats.org/drawingml/2006/main">
              <a:ext uri="{FF2B5EF4-FFF2-40B4-BE49-F238E27FC236}">
                <a16:creationId xmlns:a16="http://schemas.microsoft.com/office/drawing/2014/main" id="{DD7F5780-2D79-48B3-BB29-3D37930A18CF}"/>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621D7BB8-CE9D-4EC0-9C46-7837F7F453F3}"/>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Write one reusable z-score-flag function</a:t>
            </a:r>
          </a:p>
        </p:txBody>
      </p:sp>
      <p:sp>
        <p:nvSpPr>
          <p:cNvPr id="3" name="">
            <a:extLst xmlns:a="http://schemas.openxmlformats.org/drawingml/2006/main">
              <a:ext uri="{FF2B5EF4-FFF2-40B4-BE49-F238E27FC236}">
                <a16:creationId xmlns:a16="http://schemas.microsoft.com/office/drawing/2014/main" id="{A209A0D4-39E3-4B51-88C2-B3E49E5A705C}"/>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E8423408-42D0-4AF2-801F-7B450C6BF586}"/>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5 · Meeting B · Grouping and Outlier Studio</a:t>
            </a:r>
          </a:p>
        </p:txBody>
      </p:sp>
      <p:sp>
        <p:nvSpPr>
          <p:cNvPr id="5" name="page">
            <a:extLst xmlns:a="http://schemas.openxmlformats.org/drawingml/2006/main">
              <a:ext uri="{FF2B5EF4-FFF2-40B4-BE49-F238E27FC236}">
                <a16:creationId xmlns:a16="http://schemas.microsoft.com/office/drawing/2014/main" id="{DDA55547-385B-41AF-B8EF-0B5C1176BE8A}"/>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21</a:t>
            </a:r>
          </a:p>
        </p:txBody>
      </p:sp>
      <p:sp>
        <p:nvSpPr>
          <p:cNvPr id="6" name="code-panel">
            <a:extLst xmlns:a="http://schemas.openxmlformats.org/drawingml/2006/main">
              <a:ext uri="{FF2B5EF4-FFF2-40B4-BE49-F238E27FC236}">
                <a16:creationId xmlns:a16="http://schemas.microsoft.com/office/drawing/2014/main" id="{A67CEED1-0406-496F-B0E3-237DAA2A800A}"/>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FB1E7545-CA8F-4ACB-9DE1-D7EE60C0CEFB}"/>
              </a:ext>
            </a:extLst>
          </p:cNvPr>
          <p:cNvSpPr>
            <a:spLocks xmlns:a="http://schemas.openxmlformats.org/drawingml/2006/main" noGrp="1"/>
          </p:cNvSpPr>
          <p:nvPr/>
        </p:nvSpPr>
        <p:spPr>
          <a:xfrm xmlns:a="http://schemas.openxmlformats.org/drawingml/2006/main">
            <a:off x="857250" y="2057400"/>
            <a:ext cx="6400800" cy="3771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def flag_zscore(</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df: pd.DataFrame, col: str, threshold: float = 2.0</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-&gt; pd.Series:</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"""True where |z-score| of df[col] exceeds threshold."""</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z = (df[col] - df[col].mean()) / df[col].std()</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return z.abs() &gt; threshold</a:t>
            </a:r>
          </a:p>
        </p:txBody>
      </p:sp>
      <p:sp>
        <p:nvSpPr>
          <p:cNvPr id="8" name="explain-head">
            <a:extLst xmlns:a="http://schemas.openxmlformats.org/drawingml/2006/main">
              <a:ext uri="{FF2B5EF4-FFF2-40B4-BE49-F238E27FC236}">
                <a16:creationId xmlns:a16="http://schemas.microsoft.com/office/drawing/2014/main" id="{9A1DA422-7D57-4901-924B-E8495A24E252}"/>
              </a:ext>
            </a:extLst>
          </p:cNvPr>
          <p:cNvSpPr>
            <a:spLocks xmlns:a="http://schemas.openxmlformats.org/drawingml/2006/main" noGrp="1"/>
          </p:cNvSpPr>
          <p:nvPr/>
        </p:nvSpPr>
        <p:spPr>
          <a:xfrm xmlns:a="http://schemas.openxmlformats.org/drawingml/2006/main">
            <a:off x="7886700" y="2609850"/>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A default argument, doing real work</a:t>
            </a:r>
          </a:p>
        </p:txBody>
      </p:sp>
      <p:sp>
        <p:nvSpPr>
          <p:cNvPr id="9" name="explain-body">
            <a:extLst xmlns:a="http://schemas.openxmlformats.org/drawingml/2006/main">
              <a:ext uri="{FF2B5EF4-FFF2-40B4-BE49-F238E27FC236}">
                <a16:creationId xmlns:a16="http://schemas.microsoft.com/office/drawing/2014/main" id="{EE8A2294-7717-44E5-A25F-D0396A3D8EB1}"/>
              </a:ext>
            </a:extLst>
          </p:cNvPr>
          <p:cNvSpPr>
            <a:spLocks xmlns:a="http://schemas.openxmlformats.org/drawingml/2006/main" noGrp="1"/>
          </p:cNvSpPr>
          <p:nvPr/>
        </p:nvSpPr>
        <p:spPr>
          <a:xfrm xmlns:a="http://schemas.openxmlformats.org/drawingml/2006/main">
            <a:off x="7886700" y="3395472"/>
            <a:ext cx="3695700" cy="1402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Recall default arguments from Week 3: threshold=2.0 is used unless a caller overrides it, e.g. flag_zscore(df, "area_m2", threshold=1.5). The rule's strictness becomes a stated, changeable parameter — not a hidden constant.</a:t>
            </a:r>
          </a:p>
        </p:txBody>
      </p:sp>
    </p:spTree>
    <p:extLst>
      <p:ext uri="{BB962C8B-B14F-4D97-AF65-F5344CB8AC3E}">
        <p14:creationId xmlns:p14="http://schemas.microsoft.com/office/powerpoint/2010/main" val="71622896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3CB49C58-11CC-4FDE-8D81-DB04A3215080}"/>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IN-CLASS CHECK</a:t>
            </a:r>
          </a:p>
        </p:txBody>
      </p:sp>
      <p:sp>
        <p:nvSpPr>
          <p:cNvPr id="2" name="title">
            <a:extLst xmlns:a="http://schemas.openxmlformats.org/drawingml/2006/main">
              <a:ext uri="{FF2B5EF4-FFF2-40B4-BE49-F238E27FC236}">
                <a16:creationId xmlns:a16="http://schemas.microsoft.com/office/drawing/2014/main" id="{06A781D8-1552-4584-9CB5-314F8A560DAA}"/>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Studio 3: apply flag_zscore() and compare with Studio 2</a:t>
            </a:r>
          </a:p>
        </p:txBody>
      </p:sp>
      <p:sp>
        <p:nvSpPr>
          <p:cNvPr id="3" name="">
            <a:extLst xmlns:a="http://schemas.openxmlformats.org/drawingml/2006/main">
              <a:ext uri="{FF2B5EF4-FFF2-40B4-BE49-F238E27FC236}">
                <a16:creationId xmlns:a16="http://schemas.microsoft.com/office/drawing/2014/main" id="{BD526E0C-7FA6-469E-8E96-2468820DE322}"/>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F18238F4-27F0-48BC-9C7B-1A86A2421E9D}"/>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5 · Meeting B · Grouping and Outlier Studio</a:t>
            </a:r>
          </a:p>
        </p:txBody>
      </p:sp>
      <p:sp>
        <p:nvSpPr>
          <p:cNvPr id="5" name="page">
            <a:extLst xmlns:a="http://schemas.openxmlformats.org/drawingml/2006/main">
              <a:ext uri="{FF2B5EF4-FFF2-40B4-BE49-F238E27FC236}">
                <a16:creationId xmlns:a16="http://schemas.microsoft.com/office/drawing/2014/main" id="{8958C6B2-54BB-42CE-88F1-E99F72A6475F}"/>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22</a:t>
            </a:r>
          </a:p>
        </p:txBody>
      </p:sp>
      <p:sp>
        <p:nvSpPr>
          <p:cNvPr id="6" name="exercise-accent">
            <a:extLst xmlns:a="http://schemas.openxmlformats.org/drawingml/2006/main">
              <a:ext uri="{FF2B5EF4-FFF2-40B4-BE49-F238E27FC236}">
                <a16:creationId xmlns:a16="http://schemas.microsoft.com/office/drawing/2014/main" id="{32CDAFD2-5A2A-40E2-B8AB-E9D1A45275FD}"/>
              </a:ext>
            </a:extLst>
          </p:cNvPr>
          <p:cNvSpPr>
            <a:spLocks xmlns:a="http://schemas.openxmlformats.org/drawingml/2006/main" noGrp="1"/>
          </p:cNvSpPr>
          <p:nvPr/>
        </p:nvSpPr>
        <p:spPr>
          <a:xfrm xmlns:a="http://schemas.openxmlformats.org/drawingml/2006/main">
            <a:off x="609600" y="1809750"/>
            <a:ext cx="4000500" cy="4248150"/>
          </a:xfrm>
          <a:prstGeom xmlns:a="http://schemas.openxmlformats.org/drawingml/2006/main" prst="roundRect">
            <a:avLst>
              <a:gd name="adj" fmla="val 1429"/>
            </a:avLst>
          </a:prstGeom>
          <a:solidFill xmlns:a="http://schemas.openxmlformats.org/drawingml/2006/main">
            <a:srgbClr val="2E74B5"/>
          </a:solidFill>
          <a:ln xmlns:a="http://schemas.openxmlformats.org/drawingml/2006/main" w="9525">
            <a:solidFill>
              <a:srgbClr val="2E74B5"/>
            </a:solidFill>
            <a:prstDash val="solid"/>
          </a:ln>
        </p:spPr>
      </p:sp>
      <p:sp>
        <p:nvSpPr>
          <p:cNvPr id="7" name="exercise-prompt">
            <a:extLst xmlns:a="http://schemas.openxmlformats.org/drawingml/2006/main">
              <a:ext uri="{FF2B5EF4-FFF2-40B4-BE49-F238E27FC236}">
                <a16:creationId xmlns:a16="http://schemas.microsoft.com/office/drawing/2014/main" id="{D3320C84-A4C2-4836-96A6-56F69F69ED1A}"/>
              </a:ext>
            </a:extLst>
          </p:cNvPr>
          <p:cNvSpPr>
            <a:spLocks xmlns:a="http://schemas.openxmlformats.org/drawingml/2006/main" noGrp="1"/>
          </p:cNvSpPr>
          <p:nvPr/>
        </p:nvSpPr>
        <p:spPr>
          <a:xfrm xmlns:a="http://schemas.openxmlformats.org/drawingml/2006/main">
            <a:off x="876300" y="2095500"/>
            <a:ext cx="3467100" cy="3676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100" b="1">
                <a:solidFill>
                  <a:srgbClr val="FFFFFF"/>
                </a:solidFill>
                <a:latin typeface="Arial"/>
                <a:ea typeface="Arial"/>
                <a:cs typeface="Arial"/>
              </a:defRPr>
            </a:pPr>
            <a:r>
              <a:rPr sz="2100" b="1">
                <a:solidFill>
                  <a:srgbClr val="FFFFFF"/>
                </a:solidFill>
                <a:latin typeface="Arial"/>
                <a:ea typeface="Arial"/>
                <a:cs typeface="Arial"/>
              </a:rPr>
              <a:t>Confirm the two independent rules agree on this column.</a:t>
            </a:r>
          </a:p>
        </p:txBody>
      </p:sp>
      <p:sp>
        <p:nvSpPr>
          <p:cNvPr id="8" name="work-label">
            <a:extLst xmlns:a="http://schemas.openxmlformats.org/drawingml/2006/main">
              <a:ext uri="{FF2B5EF4-FFF2-40B4-BE49-F238E27FC236}">
                <a16:creationId xmlns:a16="http://schemas.microsoft.com/office/drawing/2014/main" id="{F9912914-BD3B-4FD3-9EF0-C35799EBC0A9}"/>
              </a:ext>
            </a:extLst>
          </p:cNvPr>
          <p:cNvSpPr>
            <a:spLocks xmlns:a="http://schemas.openxmlformats.org/drawingml/2006/main" noGrp="1"/>
          </p:cNvSpPr>
          <p:nvPr/>
        </p:nvSpPr>
        <p:spPr>
          <a:xfrm xmlns:a="http://schemas.openxmlformats.org/drawingml/2006/main">
            <a:off x="5029200" y="1847850"/>
            <a:ext cx="6553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WORK THROUGH IT</a:t>
            </a:r>
          </a:p>
        </p:txBody>
      </p:sp>
      <p:sp>
        <p:nvSpPr>
          <p:cNvPr id="9" name="exercise-no-0">
            <a:extLst xmlns:a="http://schemas.openxmlformats.org/drawingml/2006/main">
              <a:ext uri="{FF2B5EF4-FFF2-40B4-BE49-F238E27FC236}">
                <a16:creationId xmlns:a16="http://schemas.microsoft.com/office/drawing/2014/main" id="{76919333-A65B-4F55-8727-94A6A42B7470}"/>
              </a:ext>
            </a:extLst>
          </p:cNvPr>
          <p:cNvSpPr>
            <a:spLocks xmlns:a="http://schemas.openxmlformats.org/drawingml/2006/main" noGrp="1"/>
          </p:cNvSpPr>
          <p:nvPr/>
        </p:nvSpPr>
        <p:spPr>
          <a:xfrm xmlns:a="http://schemas.openxmlformats.org/drawingml/2006/main">
            <a:off x="5029200" y="22479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1.</a:t>
            </a:r>
          </a:p>
        </p:txBody>
      </p:sp>
      <p:sp>
        <p:nvSpPr>
          <p:cNvPr id="10" name="exercise-step-0">
            <a:extLst xmlns:a="http://schemas.openxmlformats.org/drawingml/2006/main">
              <a:ext uri="{FF2B5EF4-FFF2-40B4-BE49-F238E27FC236}">
                <a16:creationId xmlns:a16="http://schemas.microsoft.com/office/drawing/2014/main" id="{066A1925-9FA0-49FB-B427-CA70071C1FE0}"/>
              </a:ext>
            </a:extLst>
          </p:cNvPr>
          <p:cNvSpPr>
            <a:spLocks xmlns:a="http://schemas.openxmlformats.org/drawingml/2006/main" noGrp="1"/>
          </p:cNvSpPr>
          <p:nvPr/>
        </p:nvSpPr>
        <p:spPr>
          <a:xfrm xmlns:a="http://schemas.openxmlformats.org/drawingml/2006/main">
            <a:off x="5467350" y="22479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Add df["z_flag_energy"] = flag_zscore(df, "energy_kwh_m2_yr").</a:t>
            </a:r>
          </a:p>
        </p:txBody>
      </p:sp>
      <p:sp>
        <p:nvSpPr>
          <p:cNvPr id="11" name="exercise-no-1">
            <a:extLst xmlns:a="http://schemas.openxmlformats.org/drawingml/2006/main">
              <a:ext uri="{FF2B5EF4-FFF2-40B4-BE49-F238E27FC236}">
                <a16:creationId xmlns:a16="http://schemas.microsoft.com/office/drawing/2014/main" id="{DD7B0B59-10C5-40F8-934D-5DD2375770D4}"/>
              </a:ext>
            </a:extLst>
          </p:cNvPr>
          <p:cNvSpPr>
            <a:spLocks xmlns:a="http://schemas.openxmlformats.org/drawingml/2006/main" noGrp="1"/>
          </p:cNvSpPr>
          <p:nvPr/>
        </p:nvSpPr>
        <p:spPr>
          <a:xfrm xmlns:a="http://schemas.openxmlformats.org/drawingml/2006/main">
            <a:off x="5029200" y="31242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2.</a:t>
            </a:r>
          </a:p>
        </p:txBody>
      </p:sp>
      <p:sp>
        <p:nvSpPr>
          <p:cNvPr id="12" name="exercise-step-1">
            <a:extLst xmlns:a="http://schemas.openxmlformats.org/drawingml/2006/main">
              <a:ext uri="{FF2B5EF4-FFF2-40B4-BE49-F238E27FC236}">
                <a16:creationId xmlns:a16="http://schemas.microsoft.com/office/drawing/2014/main" id="{F42E417D-B429-4739-BE57-C74423D718CD}"/>
              </a:ext>
            </a:extLst>
          </p:cNvPr>
          <p:cNvSpPr>
            <a:spLocks xmlns:a="http://schemas.openxmlformats.org/drawingml/2006/main" noGrp="1"/>
          </p:cNvSpPr>
          <p:nvPr/>
        </p:nvSpPr>
        <p:spPr>
          <a:xfrm xmlns:a="http://schemas.openxmlformats.org/drawingml/2006/main">
            <a:off x="5467350" y="31242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Print R306's row with both flag columns side by side.</a:t>
            </a:r>
          </a:p>
        </p:txBody>
      </p:sp>
      <p:sp>
        <p:nvSpPr>
          <p:cNvPr id="13" name="exercise-no-2">
            <a:extLst xmlns:a="http://schemas.openxmlformats.org/drawingml/2006/main">
              <a:ext uri="{FF2B5EF4-FFF2-40B4-BE49-F238E27FC236}">
                <a16:creationId xmlns:a16="http://schemas.microsoft.com/office/drawing/2014/main" id="{BD0927F2-5900-48BC-9D3B-8672EBCB4065}"/>
              </a:ext>
            </a:extLst>
          </p:cNvPr>
          <p:cNvSpPr>
            <a:spLocks xmlns:a="http://schemas.openxmlformats.org/drawingml/2006/main" noGrp="1"/>
          </p:cNvSpPr>
          <p:nvPr/>
        </p:nvSpPr>
        <p:spPr>
          <a:xfrm xmlns:a="http://schemas.openxmlformats.org/drawingml/2006/main">
            <a:off x="5029200" y="40005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3.</a:t>
            </a:r>
          </a:p>
        </p:txBody>
      </p:sp>
      <p:sp>
        <p:nvSpPr>
          <p:cNvPr id="14" name="exercise-step-2">
            <a:extLst xmlns:a="http://schemas.openxmlformats.org/drawingml/2006/main">
              <a:ext uri="{FF2B5EF4-FFF2-40B4-BE49-F238E27FC236}">
                <a16:creationId xmlns:a16="http://schemas.microsoft.com/office/drawing/2014/main" id="{ED42C9FC-2ED6-4E81-9AC6-64F66B57C04F}"/>
              </a:ext>
            </a:extLst>
          </p:cNvPr>
          <p:cNvSpPr>
            <a:spLocks xmlns:a="http://schemas.openxmlformats.org/drawingml/2006/main" noGrp="1"/>
          </p:cNvSpPr>
          <p:nvPr/>
        </p:nvSpPr>
        <p:spPr>
          <a:xfrm xmlns:a="http://schemas.openxmlformats.org/drawingml/2006/main">
            <a:off x="5467350" y="40005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Confirm both are True.</a:t>
            </a:r>
          </a:p>
        </p:txBody>
      </p:sp>
      <p:sp>
        <p:nvSpPr>
          <p:cNvPr id="15" name="exercise-no-3">
            <a:extLst xmlns:a="http://schemas.openxmlformats.org/drawingml/2006/main">
              <a:ext uri="{FF2B5EF4-FFF2-40B4-BE49-F238E27FC236}">
                <a16:creationId xmlns:a16="http://schemas.microsoft.com/office/drawing/2014/main" id="{24BAEEC4-652F-4A0C-AA61-54E8A02175B5}"/>
              </a:ext>
            </a:extLst>
          </p:cNvPr>
          <p:cNvSpPr>
            <a:spLocks xmlns:a="http://schemas.openxmlformats.org/drawingml/2006/main" noGrp="1"/>
          </p:cNvSpPr>
          <p:nvPr/>
        </p:nvSpPr>
        <p:spPr>
          <a:xfrm xmlns:a="http://schemas.openxmlformats.org/drawingml/2006/main">
            <a:off x="5029200" y="48768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4.</a:t>
            </a:r>
          </a:p>
        </p:txBody>
      </p:sp>
      <p:sp>
        <p:nvSpPr>
          <p:cNvPr id="16" name="exercise-step-3">
            <a:extLst xmlns:a="http://schemas.openxmlformats.org/drawingml/2006/main">
              <a:ext uri="{FF2B5EF4-FFF2-40B4-BE49-F238E27FC236}">
                <a16:creationId xmlns:a16="http://schemas.microsoft.com/office/drawing/2014/main" id="{FEE667CD-C99F-4A51-A983-3331A3B2E0EC}"/>
              </a:ext>
            </a:extLst>
          </p:cNvPr>
          <p:cNvSpPr>
            <a:spLocks xmlns:a="http://schemas.openxmlformats.org/drawingml/2006/main" noGrp="1"/>
          </p:cNvSpPr>
          <p:nvPr/>
        </p:nvSpPr>
        <p:spPr>
          <a:xfrm xmlns:a="http://schemas.openxmlformats.org/drawingml/2006/main">
            <a:off x="5467350" y="48768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Write one sentence: why does agreement between two differently-built rules increase your confidence more than either rule alone?</a:t>
            </a:r>
          </a:p>
        </p:txBody>
      </p:sp>
    </p:spTree>
    <p:extLst>
      <p:ext uri="{BB962C8B-B14F-4D97-AF65-F5344CB8AC3E}">
        <p14:creationId xmlns:p14="http://schemas.microsoft.com/office/powerpoint/2010/main" val="1152459737"/>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kicker">
            <a:extLst xmlns:a="http://schemas.openxmlformats.org/drawingml/2006/main">
              <a:ext uri="{FF2B5EF4-FFF2-40B4-BE49-F238E27FC236}">
                <a16:creationId xmlns:a16="http://schemas.microsoft.com/office/drawing/2014/main" id="{9C757398-C5D4-4B77-AFE7-BDE6AD29A647}"/>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PREDICT BEFORE YOU RUN</a:t>
            </a:r>
          </a:p>
        </p:txBody>
      </p:sp>
      <p:sp>
        <p:nvSpPr>
          <p:cNvPr id="2" name="title">
            <a:extLst xmlns:a="http://schemas.openxmlformats.org/drawingml/2006/main">
              <a:ext uri="{FF2B5EF4-FFF2-40B4-BE49-F238E27FC236}">
                <a16:creationId xmlns:a16="http://schemas.microsoft.com/office/drawing/2014/main" id="{F21C4F57-6B00-4E60-843C-7E88F3F6CE2B}"/>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Predict: do the two rules agree on room R309?</a:t>
            </a:r>
          </a:p>
        </p:txBody>
      </p:sp>
      <p:sp>
        <p:nvSpPr>
          <p:cNvPr id="3" name="">
            <a:extLst xmlns:a="http://schemas.openxmlformats.org/drawingml/2006/main">
              <a:ext uri="{FF2B5EF4-FFF2-40B4-BE49-F238E27FC236}">
                <a16:creationId xmlns:a16="http://schemas.microsoft.com/office/drawing/2014/main" id="{5FA430ED-63D1-41EF-A7C0-5B4806204E17}"/>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30BF9835-974B-4A40-8487-FF8C1C39B022}"/>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5 · Meeting B · Grouping and Outlier Studio</a:t>
            </a:r>
          </a:p>
        </p:txBody>
      </p:sp>
      <p:sp>
        <p:nvSpPr>
          <p:cNvPr id="5" name="page">
            <a:extLst xmlns:a="http://schemas.openxmlformats.org/drawingml/2006/main">
              <a:ext uri="{FF2B5EF4-FFF2-40B4-BE49-F238E27FC236}">
                <a16:creationId xmlns:a16="http://schemas.microsoft.com/office/drawing/2014/main" id="{788FF8B9-33A7-4A52-B821-3C66DF85F28E}"/>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23</a:t>
            </a:r>
          </a:p>
        </p:txBody>
      </p:sp>
      <p:sp>
        <p:nvSpPr>
          <p:cNvPr id="6" name="code-panel">
            <a:extLst xmlns:a="http://schemas.openxmlformats.org/drawingml/2006/main">
              <a:ext uri="{FF2B5EF4-FFF2-40B4-BE49-F238E27FC236}">
                <a16:creationId xmlns:a16="http://schemas.microsoft.com/office/drawing/2014/main" id="{F515ED1E-73EA-461F-9CD7-A6B2200AF562}"/>
              </a:ext>
            </a:extLst>
          </p:cNvPr>
          <p:cNvSpPr>
            <a:spLocks xmlns:a="http://schemas.openxmlformats.org/drawingml/2006/main" noGrp="1"/>
          </p:cNvSpPr>
          <p:nvPr/>
        </p:nvSpPr>
        <p:spPr>
          <a:xfrm xmlns:a="http://schemas.openxmlformats.org/drawingml/2006/main">
            <a:off x="609600" y="1809750"/>
            <a:ext cx="6324600" cy="3238500"/>
          </a:xfrm>
          <a:prstGeom xmlns:a="http://schemas.openxmlformats.org/drawingml/2006/main" prst="roundRect">
            <a:avLst>
              <a:gd name="adj" fmla="val 2353"/>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C36B8BA4-6822-4362-BE86-0C965A7CA8A5}"/>
              </a:ext>
            </a:extLst>
          </p:cNvPr>
          <p:cNvSpPr>
            <a:spLocks xmlns:a="http://schemas.openxmlformats.org/drawingml/2006/main" noGrp="1"/>
          </p:cNvSpPr>
          <p:nvPr/>
        </p:nvSpPr>
        <p:spPr>
          <a:xfrm xmlns:a="http://schemas.openxmlformats.org/drawingml/2006/main">
            <a:off x="857250" y="2038350"/>
            <a:ext cx="58293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df["iqr_flag_area"] = flag_iqr(df, "area_m2")</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df["z_flag_area"] = flag_zscore(df, "area_m2")</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print(df.loc[df["room_id"] == "R309",</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["iqr_flag_area", "z_flag_area"]])</a:t>
            </a:r>
          </a:p>
        </p:txBody>
      </p:sp>
      <p:sp>
        <p:nvSpPr>
          <p:cNvPr id="8" name="question">
            <a:extLst xmlns:a="http://schemas.openxmlformats.org/drawingml/2006/main">
              <a:ext uri="{FF2B5EF4-FFF2-40B4-BE49-F238E27FC236}">
                <a16:creationId xmlns:a16="http://schemas.microsoft.com/office/drawing/2014/main" id="{64987CEC-049D-4E47-9DE7-8D985FF58CB9}"/>
              </a:ext>
            </a:extLst>
          </p:cNvPr>
          <p:cNvSpPr>
            <a:spLocks xmlns:a="http://schemas.openxmlformats.org/drawingml/2006/main" noGrp="1"/>
          </p:cNvSpPr>
          <p:nvPr/>
        </p:nvSpPr>
        <p:spPr>
          <a:xfrm xmlns:a="http://schemas.openxmlformats.org/drawingml/2006/main">
            <a:off x="7315200" y="1809750"/>
            <a:ext cx="42672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R309 is a 120.0 m² gallery. Do both rules flag it?</a:t>
            </a:r>
          </a:p>
        </p:txBody>
      </p:sp>
      <p:sp>
        <p:nvSpPr>
          <p:cNvPr id="9" name="opt-0">
            <a:extLst xmlns:a="http://schemas.openxmlformats.org/drawingml/2006/main">
              <a:ext uri="{FF2B5EF4-FFF2-40B4-BE49-F238E27FC236}">
                <a16:creationId xmlns:a16="http://schemas.microsoft.com/office/drawing/2014/main" id="{C57F8798-931F-4B10-A079-5B0458F0F3F4}"/>
              </a:ext>
            </a:extLst>
          </p:cNvPr>
          <p:cNvSpPr>
            <a:spLocks xmlns:a="http://schemas.openxmlformats.org/drawingml/2006/main" noGrp="1"/>
          </p:cNvSpPr>
          <p:nvPr/>
        </p:nvSpPr>
        <p:spPr>
          <a:xfrm xmlns:a="http://schemas.openxmlformats.org/drawingml/2006/main">
            <a:off x="7315200" y="25717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0" name="opt-letter-0">
            <a:extLst xmlns:a="http://schemas.openxmlformats.org/drawingml/2006/main">
              <a:ext uri="{FF2B5EF4-FFF2-40B4-BE49-F238E27FC236}">
                <a16:creationId xmlns:a16="http://schemas.microsoft.com/office/drawing/2014/main" id="{C4138FAA-8582-4949-AC60-971204630B54}"/>
              </a:ext>
            </a:extLst>
          </p:cNvPr>
          <p:cNvSpPr>
            <a:spLocks xmlns:a="http://schemas.openxmlformats.org/drawingml/2006/main" noGrp="1"/>
          </p:cNvSpPr>
          <p:nvPr/>
        </p:nvSpPr>
        <p:spPr>
          <a:xfrm xmlns:a="http://schemas.openxmlformats.org/drawingml/2006/main">
            <a:off x="7448550" y="27336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A</a:t>
            </a:r>
          </a:p>
        </p:txBody>
      </p:sp>
      <p:sp>
        <p:nvSpPr>
          <p:cNvPr id="11" name="opt-text-0">
            <a:extLst xmlns:a="http://schemas.openxmlformats.org/drawingml/2006/main">
              <a:ext uri="{FF2B5EF4-FFF2-40B4-BE49-F238E27FC236}">
                <a16:creationId xmlns:a16="http://schemas.microsoft.com/office/drawing/2014/main" id="{413E0291-D739-4463-9DC3-11727BCE18DF}"/>
              </a:ext>
            </a:extLst>
          </p:cNvPr>
          <p:cNvSpPr>
            <a:spLocks xmlns:a="http://schemas.openxmlformats.org/drawingml/2006/main" noGrp="1"/>
          </p:cNvSpPr>
          <p:nvPr/>
        </p:nvSpPr>
        <p:spPr>
          <a:xfrm xmlns:a="http://schemas.openxmlformats.org/drawingml/2006/main">
            <a:off x="7772400" y="26098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Yes — both flag it, the same way they agreed on R306</a:t>
            </a:r>
          </a:p>
        </p:txBody>
      </p:sp>
      <p:sp>
        <p:nvSpPr>
          <p:cNvPr id="12" name="opt-1">
            <a:extLst xmlns:a="http://schemas.openxmlformats.org/drawingml/2006/main">
              <a:ext uri="{FF2B5EF4-FFF2-40B4-BE49-F238E27FC236}">
                <a16:creationId xmlns:a16="http://schemas.microsoft.com/office/drawing/2014/main" id="{CC7F7F6A-2A3D-4000-A2A6-DCD21F09A997}"/>
              </a:ext>
            </a:extLst>
          </p:cNvPr>
          <p:cNvSpPr>
            <a:spLocks xmlns:a="http://schemas.openxmlformats.org/drawingml/2006/main" noGrp="1"/>
          </p:cNvSpPr>
          <p:nvPr/>
        </p:nvSpPr>
        <p:spPr>
          <a:xfrm xmlns:a="http://schemas.openxmlformats.org/drawingml/2006/main">
            <a:off x="7315200" y="31813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3" name="opt-letter-1">
            <a:extLst xmlns:a="http://schemas.openxmlformats.org/drawingml/2006/main">
              <a:ext uri="{FF2B5EF4-FFF2-40B4-BE49-F238E27FC236}">
                <a16:creationId xmlns:a16="http://schemas.microsoft.com/office/drawing/2014/main" id="{FBE720D0-CA96-420B-9083-408831E8436F}"/>
              </a:ext>
            </a:extLst>
          </p:cNvPr>
          <p:cNvSpPr>
            <a:spLocks xmlns:a="http://schemas.openxmlformats.org/drawingml/2006/main" noGrp="1"/>
          </p:cNvSpPr>
          <p:nvPr/>
        </p:nvSpPr>
        <p:spPr>
          <a:xfrm xmlns:a="http://schemas.openxmlformats.org/drawingml/2006/main">
            <a:off x="7448550" y="33432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B</a:t>
            </a:r>
          </a:p>
        </p:txBody>
      </p:sp>
      <p:sp>
        <p:nvSpPr>
          <p:cNvPr id="14" name="opt-text-1">
            <a:extLst xmlns:a="http://schemas.openxmlformats.org/drawingml/2006/main">
              <a:ext uri="{FF2B5EF4-FFF2-40B4-BE49-F238E27FC236}">
                <a16:creationId xmlns:a16="http://schemas.microsoft.com/office/drawing/2014/main" id="{CD65DDB6-05DF-42DB-A692-C3BB99125B1C}"/>
              </a:ext>
            </a:extLst>
          </p:cNvPr>
          <p:cNvSpPr>
            <a:spLocks xmlns:a="http://schemas.openxmlformats.org/drawingml/2006/main" noGrp="1"/>
          </p:cNvSpPr>
          <p:nvPr/>
        </p:nvSpPr>
        <p:spPr>
          <a:xfrm xmlns:a="http://schemas.openxmlformats.org/drawingml/2006/main">
            <a:off x="7772400" y="32194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No — neither rule flags it</a:t>
            </a:r>
          </a:p>
        </p:txBody>
      </p:sp>
      <p:sp>
        <p:nvSpPr>
          <p:cNvPr id="15" name="opt-2">
            <a:extLst xmlns:a="http://schemas.openxmlformats.org/drawingml/2006/main">
              <a:ext uri="{FF2B5EF4-FFF2-40B4-BE49-F238E27FC236}">
                <a16:creationId xmlns:a16="http://schemas.microsoft.com/office/drawing/2014/main" id="{CC722E32-FCDF-4B28-B302-5464761F47A1}"/>
              </a:ext>
            </a:extLst>
          </p:cNvPr>
          <p:cNvSpPr>
            <a:spLocks xmlns:a="http://schemas.openxmlformats.org/drawingml/2006/main" noGrp="1"/>
          </p:cNvSpPr>
          <p:nvPr/>
        </p:nvSpPr>
        <p:spPr>
          <a:xfrm xmlns:a="http://schemas.openxmlformats.org/drawingml/2006/main">
            <a:off x="7315200" y="37909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6" name="opt-letter-2">
            <a:extLst xmlns:a="http://schemas.openxmlformats.org/drawingml/2006/main">
              <a:ext uri="{FF2B5EF4-FFF2-40B4-BE49-F238E27FC236}">
                <a16:creationId xmlns:a16="http://schemas.microsoft.com/office/drawing/2014/main" id="{D5983E23-A449-48A2-BE2A-37AF3D8D961A}"/>
              </a:ext>
            </a:extLst>
          </p:cNvPr>
          <p:cNvSpPr>
            <a:spLocks xmlns:a="http://schemas.openxmlformats.org/drawingml/2006/main" noGrp="1"/>
          </p:cNvSpPr>
          <p:nvPr/>
        </p:nvSpPr>
        <p:spPr>
          <a:xfrm xmlns:a="http://schemas.openxmlformats.org/drawingml/2006/main">
            <a:off x="7448550" y="39528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C</a:t>
            </a:r>
          </a:p>
        </p:txBody>
      </p:sp>
      <p:sp>
        <p:nvSpPr>
          <p:cNvPr id="17" name="opt-text-2">
            <a:extLst xmlns:a="http://schemas.openxmlformats.org/drawingml/2006/main">
              <a:ext uri="{FF2B5EF4-FFF2-40B4-BE49-F238E27FC236}">
                <a16:creationId xmlns:a16="http://schemas.microsoft.com/office/drawing/2014/main" id="{AFEC6CC1-F563-4B48-9EFD-785A284700D9}"/>
              </a:ext>
            </a:extLst>
          </p:cNvPr>
          <p:cNvSpPr>
            <a:spLocks xmlns:a="http://schemas.openxmlformats.org/drawingml/2006/main" noGrp="1"/>
          </p:cNvSpPr>
          <p:nvPr/>
        </p:nvSpPr>
        <p:spPr>
          <a:xfrm xmlns:a="http://schemas.openxmlformats.org/drawingml/2006/main">
            <a:off x="7772400" y="38290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No — the IQR rule flags it, the z-score rule does not</a:t>
            </a:r>
          </a:p>
        </p:txBody>
      </p:sp>
      <p:sp>
        <p:nvSpPr>
          <p:cNvPr id="18" name="opt-3">
            <a:extLst xmlns:a="http://schemas.openxmlformats.org/drawingml/2006/main">
              <a:ext uri="{FF2B5EF4-FFF2-40B4-BE49-F238E27FC236}">
                <a16:creationId xmlns:a16="http://schemas.microsoft.com/office/drawing/2014/main" id="{73AAB7B7-12BD-4D4B-9999-457298DAAB28}"/>
              </a:ext>
            </a:extLst>
          </p:cNvPr>
          <p:cNvSpPr>
            <a:spLocks xmlns:a="http://schemas.openxmlformats.org/drawingml/2006/main" noGrp="1"/>
          </p:cNvSpPr>
          <p:nvPr/>
        </p:nvSpPr>
        <p:spPr>
          <a:xfrm xmlns:a="http://schemas.openxmlformats.org/drawingml/2006/main">
            <a:off x="7315200" y="44005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9" name="opt-letter-3">
            <a:extLst xmlns:a="http://schemas.openxmlformats.org/drawingml/2006/main">
              <a:ext uri="{FF2B5EF4-FFF2-40B4-BE49-F238E27FC236}">
                <a16:creationId xmlns:a16="http://schemas.microsoft.com/office/drawing/2014/main" id="{5EB1BB2F-303A-414D-A028-8C9449A0A609}"/>
              </a:ext>
            </a:extLst>
          </p:cNvPr>
          <p:cNvSpPr>
            <a:spLocks xmlns:a="http://schemas.openxmlformats.org/drawingml/2006/main" noGrp="1"/>
          </p:cNvSpPr>
          <p:nvPr/>
        </p:nvSpPr>
        <p:spPr>
          <a:xfrm xmlns:a="http://schemas.openxmlformats.org/drawingml/2006/main">
            <a:off x="7448550" y="45624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D</a:t>
            </a:r>
          </a:p>
        </p:txBody>
      </p:sp>
      <p:sp>
        <p:nvSpPr>
          <p:cNvPr id="20" name="opt-text-3">
            <a:extLst xmlns:a="http://schemas.openxmlformats.org/drawingml/2006/main">
              <a:ext uri="{FF2B5EF4-FFF2-40B4-BE49-F238E27FC236}">
                <a16:creationId xmlns:a16="http://schemas.microsoft.com/office/drawing/2014/main" id="{AE7D343E-9BE3-4846-8A2F-B1A0FF15BE82}"/>
              </a:ext>
            </a:extLst>
          </p:cNvPr>
          <p:cNvSpPr>
            <a:spLocks xmlns:a="http://schemas.openxmlformats.org/drawingml/2006/main" noGrp="1"/>
          </p:cNvSpPr>
          <p:nvPr/>
        </p:nvSpPr>
        <p:spPr>
          <a:xfrm xmlns:a="http://schemas.openxmlformats.org/drawingml/2006/main">
            <a:off x="7772400" y="44386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No — the z-score rule flags it, the IQR rule does not</a:t>
            </a:r>
          </a:p>
        </p:txBody>
      </p:sp>
      <p:sp>
        <p:nvSpPr>
          <p:cNvPr id="21" name="answer-panel">
            <a:extLst xmlns:a="http://schemas.openxmlformats.org/drawingml/2006/main">
              <a:ext uri="{FF2B5EF4-FFF2-40B4-BE49-F238E27FC236}">
                <a16:creationId xmlns:a16="http://schemas.microsoft.com/office/drawing/2014/main" id="{43D19A6C-80AF-4736-A617-416662C17A79}"/>
              </a:ext>
            </a:extLst>
          </p:cNvPr>
          <p:cNvSpPr>
            <a:spLocks xmlns:a="http://schemas.openxmlformats.org/drawingml/2006/main" noGrp="1"/>
          </p:cNvSpPr>
          <p:nvPr/>
        </p:nvSpPr>
        <p:spPr>
          <a:xfrm xmlns:a="http://schemas.openxmlformats.org/drawingml/2006/main">
            <a:off x="609600" y="5219700"/>
            <a:ext cx="10972800" cy="914400"/>
          </a:xfrm>
          <a:prstGeom xmlns:a="http://schemas.openxmlformats.org/drawingml/2006/main" prst="roundRect">
            <a:avLst>
              <a:gd name="adj" fmla="val 8333"/>
            </a:avLst>
          </a:prstGeom>
          <a:solidFill xmlns:a="http://schemas.openxmlformats.org/drawingml/2006/main">
            <a:srgbClr val="F3F7FB"/>
          </a:solidFill>
          <a:ln xmlns:a="http://schemas.openxmlformats.org/drawingml/2006/main" w="9525">
            <a:solidFill>
              <a:srgbClr val="2E74B5"/>
            </a:solidFill>
            <a:prstDash val="solid"/>
          </a:ln>
        </p:spPr>
      </p:sp>
      <p:sp>
        <p:nvSpPr>
          <p:cNvPr id="22" name="answer-label">
            <a:extLst xmlns:a="http://schemas.openxmlformats.org/drawingml/2006/main">
              <a:ext uri="{FF2B5EF4-FFF2-40B4-BE49-F238E27FC236}">
                <a16:creationId xmlns:a16="http://schemas.microsoft.com/office/drawing/2014/main" id="{799371FD-D436-48EF-B2EB-DB7DA687733A}"/>
              </a:ext>
            </a:extLst>
          </p:cNvPr>
          <p:cNvSpPr>
            <a:spLocks xmlns:a="http://schemas.openxmlformats.org/drawingml/2006/main" noGrp="1"/>
          </p:cNvSpPr>
          <p:nvPr/>
        </p:nvSpPr>
        <p:spPr>
          <a:xfrm xmlns:a="http://schemas.openxmlformats.org/drawingml/2006/main">
            <a:off x="819150" y="53721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ANSWER  ·  D</a:t>
            </a:r>
          </a:p>
        </p:txBody>
      </p:sp>
      <p:sp>
        <p:nvSpPr>
          <p:cNvPr id="23" name="why">
            <a:extLst xmlns:a="http://schemas.openxmlformats.org/drawingml/2006/main">
              <a:ext uri="{FF2B5EF4-FFF2-40B4-BE49-F238E27FC236}">
                <a16:creationId xmlns:a16="http://schemas.microsoft.com/office/drawing/2014/main" id="{9E5A9582-E271-4A6E-A2D7-279EDABBF1C7}"/>
              </a:ext>
            </a:extLst>
          </p:cNvPr>
          <p:cNvSpPr>
            <a:spLocks xmlns:a="http://schemas.openxmlformats.org/drawingml/2006/main" noGrp="1"/>
          </p:cNvSpPr>
          <p:nvPr/>
        </p:nvSpPr>
        <p:spPr>
          <a:xfrm xmlns:a="http://schemas.openxmlformats.org/drawingml/2006/main">
            <a:off x="819150" y="5638800"/>
            <a:ext cx="1055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Verified: z = 2.82 flags R309, but area_m2 IQR bounds (−47.25 to 123.95) do not — same room, different verdicts.</a:t>
            </a:r>
          </a:p>
        </p:txBody>
      </p:sp>
    </p:spTree>
    <p:extLst>
      <p:ext uri="{BB962C8B-B14F-4D97-AF65-F5344CB8AC3E}">
        <p14:creationId xmlns:p14="http://schemas.microsoft.com/office/powerpoint/2010/main" val="1261274185"/>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kicker">
            <a:extLst xmlns:a="http://schemas.openxmlformats.org/drawingml/2006/main">
              <a:ext uri="{FF2B5EF4-FFF2-40B4-BE49-F238E27FC236}">
                <a16:creationId xmlns:a16="http://schemas.microsoft.com/office/drawing/2014/main" id="{2E41166B-712F-4CDE-B810-DDCC29B904EB}"/>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READ THE DATA</a:t>
            </a:r>
          </a:p>
        </p:txBody>
      </p:sp>
      <p:sp>
        <p:nvSpPr>
          <p:cNvPr id="2" name="title">
            <a:extLst xmlns:a="http://schemas.openxmlformats.org/drawingml/2006/main">
              <a:ext uri="{FF2B5EF4-FFF2-40B4-BE49-F238E27FC236}">
                <a16:creationId xmlns:a16="http://schemas.microsoft.com/office/drawing/2014/main" id="{F08A463C-87F0-4A5B-820C-0974D880D26C}"/>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Now apply both functions to area_m2 — the rules disagree</a:t>
            </a:r>
          </a:p>
        </p:txBody>
      </p:sp>
      <p:sp>
        <p:nvSpPr>
          <p:cNvPr id="3" name="">
            <a:extLst xmlns:a="http://schemas.openxmlformats.org/drawingml/2006/main">
              <a:ext uri="{FF2B5EF4-FFF2-40B4-BE49-F238E27FC236}">
                <a16:creationId xmlns:a16="http://schemas.microsoft.com/office/drawing/2014/main" id="{E11524A8-302A-43ED-A688-AD0783EEAE25}"/>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E404E6F3-B224-4C9B-A78B-393321520F8D}"/>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5 · Meeting B · Grouping and Outlier Studio</a:t>
            </a:r>
          </a:p>
        </p:txBody>
      </p:sp>
      <p:sp>
        <p:nvSpPr>
          <p:cNvPr id="5" name="page">
            <a:extLst xmlns:a="http://schemas.openxmlformats.org/drawingml/2006/main">
              <a:ext uri="{FF2B5EF4-FFF2-40B4-BE49-F238E27FC236}">
                <a16:creationId xmlns:a16="http://schemas.microsoft.com/office/drawing/2014/main" id="{D7A3DED6-C88F-49B7-AC6E-A5129999723E}"/>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24</a:t>
            </a:r>
          </a:p>
        </p:txBody>
      </p:sp>
      <p:sp>
        <p:nvSpPr>
          <p:cNvPr id="6" name="">
            <a:extLst xmlns:a="http://schemas.openxmlformats.org/drawingml/2006/main">
              <a:ext uri="{FF2B5EF4-FFF2-40B4-BE49-F238E27FC236}">
                <a16:creationId xmlns:a16="http://schemas.microsoft.com/office/drawing/2014/main" id="{FFBD2658-4BDB-48CC-9B7C-9C6EC76FAB1F}"/>
              </a:ext>
            </a:extLst>
          </p:cNvPr>
          <p:cNvSpPr>
            <a:spLocks xmlns:a="http://schemas.openxmlformats.org/drawingml/2006/main" noGrp="1"/>
          </p:cNvSpPr>
          <p:nvPr/>
        </p:nvSpPr>
        <p:spPr>
          <a:xfrm xmlns:a="http://schemas.openxmlformats.org/drawingml/2006/main">
            <a:off x="609600" y="3171825"/>
            <a:ext cx="1238250" cy="53340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7" name="header-0">
            <a:extLst xmlns:a="http://schemas.openxmlformats.org/drawingml/2006/main">
              <a:ext uri="{FF2B5EF4-FFF2-40B4-BE49-F238E27FC236}">
                <a16:creationId xmlns:a16="http://schemas.microsoft.com/office/drawing/2014/main" id="{0966750F-678C-4C87-AAD8-DD6EAC4E7F28}"/>
              </a:ext>
            </a:extLst>
          </p:cNvPr>
          <p:cNvSpPr>
            <a:spLocks xmlns:a="http://schemas.openxmlformats.org/drawingml/2006/main" noGrp="1"/>
          </p:cNvSpPr>
          <p:nvPr/>
        </p:nvSpPr>
        <p:spPr>
          <a:xfrm xmlns:a="http://schemas.openxmlformats.org/drawingml/2006/main">
            <a:off x="723900" y="3248025"/>
            <a:ext cx="1009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room_id</a:t>
            </a:r>
          </a:p>
        </p:txBody>
      </p:sp>
      <p:sp>
        <p:nvSpPr>
          <p:cNvPr id="8" name="">
            <a:extLst xmlns:a="http://schemas.openxmlformats.org/drawingml/2006/main">
              <a:ext uri="{FF2B5EF4-FFF2-40B4-BE49-F238E27FC236}">
                <a16:creationId xmlns:a16="http://schemas.microsoft.com/office/drawing/2014/main" id="{39D0B469-A736-43F4-A4C6-5B7F4E39FCAB}"/>
              </a:ext>
            </a:extLst>
          </p:cNvPr>
          <p:cNvSpPr>
            <a:spLocks xmlns:a="http://schemas.openxmlformats.org/drawingml/2006/main" noGrp="1"/>
          </p:cNvSpPr>
          <p:nvPr/>
        </p:nvSpPr>
        <p:spPr>
          <a:xfrm xmlns:a="http://schemas.openxmlformats.org/drawingml/2006/main">
            <a:off x="1847850" y="3171825"/>
            <a:ext cx="1238250" cy="53340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9" name="header-1">
            <a:extLst xmlns:a="http://schemas.openxmlformats.org/drawingml/2006/main">
              <a:ext uri="{FF2B5EF4-FFF2-40B4-BE49-F238E27FC236}">
                <a16:creationId xmlns:a16="http://schemas.microsoft.com/office/drawing/2014/main" id="{534CB1B9-B66C-42EC-8E4A-5E468EDEFB73}"/>
              </a:ext>
            </a:extLst>
          </p:cNvPr>
          <p:cNvSpPr>
            <a:spLocks xmlns:a="http://schemas.openxmlformats.org/drawingml/2006/main" noGrp="1"/>
          </p:cNvSpPr>
          <p:nvPr/>
        </p:nvSpPr>
        <p:spPr>
          <a:xfrm xmlns:a="http://schemas.openxmlformats.org/drawingml/2006/main">
            <a:off x="1962150" y="3248025"/>
            <a:ext cx="1009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room_type</a:t>
            </a:r>
          </a:p>
        </p:txBody>
      </p:sp>
      <p:sp>
        <p:nvSpPr>
          <p:cNvPr id="10" name="">
            <a:extLst xmlns:a="http://schemas.openxmlformats.org/drawingml/2006/main">
              <a:ext uri="{FF2B5EF4-FFF2-40B4-BE49-F238E27FC236}">
                <a16:creationId xmlns:a16="http://schemas.microsoft.com/office/drawing/2014/main" id="{89A5C0AC-BEE3-4F96-9BC7-DCB415174D7E}"/>
              </a:ext>
            </a:extLst>
          </p:cNvPr>
          <p:cNvSpPr>
            <a:spLocks xmlns:a="http://schemas.openxmlformats.org/drawingml/2006/main" noGrp="1"/>
          </p:cNvSpPr>
          <p:nvPr/>
        </p:nvSpPr>
        <p:spPr>
          <a:xfrm xmlns:a="http://schemas.openxmlformats.org/drawingml/2006/main">
            <a:off x="3086100" y="3171825"/>
            <a:ext cx="1238250" cy="53340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11" name="header-2">
            <a:extLst xmlns:a="http://schemas.openxmlformats.org/drawingml/2006/main">
              <a:ext uri="{FF2B5EF4-FFF2-40B4-BE49-F238E27FC236}">
                <a16:creationId xmlns:a16="http://schemas.microsoft.com/office/drawing/2014/main" id="{8115B20D-3ACA-453F-A64F-878C0914F13A}"/>
              </a:ext>
            </a:extLst>
          </p:cNvPr>
          <p:cNvSpPr>
            <a:spLocks xmlns:a="http://schemas.openxmlformats.org/drawingml/2006/main" noGrp="1"/>
          </p:cNvSpPr>
          <p:nvPr/>
        </p:nvSpPr>
        <p:spPr>
          <a:xfrm xmlns:a="http://schemas.openxmlformats.org/drawingml/2006/main">
            <a:off x="3200400" y="3248025"/>
            <a:ext cx="1009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area_m2</a:t>
            </a:r>
          </a:p>
        </p:txBody>
      </p:sp>
      <p:sp>
        <p:nvSpPr>
          <p:cNvPr id="12" name="">
            <a:extLst xmlns:a="http://schemas.openxmlformats.org/drawingml/2006/main">
              <a:ext uri="{FF2B5EF4-FFF2-40B4-BE49-F238E27FC236}">
                <a16:creationId xmlns:a16="http://schemas.microsoft.com/office/drawing/2014/main" id="{124CB2CE-27D8-49A8-95A4-94C1D0A8F987}"/>
              </a:ext>
            </a:extLst>
          </p:cNvPr>
          <p:cNvSpPr>
            <a:spLocks xmlns:a="http://schemas.openxmlformats.org/drawingml/2006/main" noGrp="1"/>
          </p:cNvSpPr>
          <p:nvPr/>
        </p:nvSpPr>
        <p:spPr>
          <a:xfrm xmlns:a="http://schemas.openxmlformats.org/drawingml/2006/main">
            <a:off x="4324350" y="3171825"/>
            <a:ext cx="1238250" cy="53340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13" name="header-3">
            <a:extLst xmlns:a="http://schemas.openxmlformats.org/drawingml/2006/main">
              <a:ext uri="{FF2B5EF4-FFF2-40B4-BE49-F238E27FC236}">
                <a16:creationId xmlns:a16="http://schemas.microsoft.com/office/drawing/2014/main" id="{AAE44876-E3A9-4025-9500-1890165A00D6}"/>
              </a:ext>
            </a:extLst>
          </p:cNvPr>
          <p:cNvSpPr>
            <a:spLocks xmlns:a="http://schemas.openxmlformats.org/drawingml/2006/main" noGrp="1"/>
          </p:cNvSpPr>
          <p:nvPr/>
        </p:nvSpPr>
        <p:spPr>
          <a:xfrm xmlns:a="http://schemas.openxmlformats.org/drawingml/2006/main">
            <a:off x="4438650" y="3248025"/>
            <a:ext cx="1009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z-score</a:t>
            </a:r>
          </a:p>
        </p:txBody>
      </p:sp>
      <p:sp>
        <p:nvSpPr>
          <p:cNvPr id="14" name="">
            <a:extLst xmlns:a="http://schemas.openxmlformats.org/drawingml/2006/main">
              <a:ext uri="{FF2B5EF4-FFF2-40B4-BE49-F238E27FC236}">
                <a16:creationId xmlns:a16="http://schemas.microsoft.com/office/drawing/2014/main" id="{60D37C1F-E9A8-451F-AC5F-C6A63930ADCF}"/>
              </a:ext>
            </a:extLst>
          </p:cNvPr>
          <p:cNvSpPr>
            <a:spLocks xmlns:a="http://schemas.openxmlformats.org/drawingml/2006/main" noGrp="1"/>
          </p:cNvSpPr>
          <p:nvPr/>
        </p:nvSpPr>
        <p:spPr>
          <a:xfrm xmlns:a="http://schemas.openxmlformats.org/drawingml/2006/main">
            <a:off x="5562600" y="3171825"/>
            <a:ext cx="1238250" cy="53340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15" name="header-4">
            <a:extLst xmlns:a="http://schemas.openxmlformats.org/drawingml/2006/main">
              <a:ext uri="{FF2B5EF4-FFF2-40B4-BE49-F238E27FC236}">
                <a16:creationId xmlns:a16="http://schemas.microsoft.com/office/drawing/2014/main" id="{BB2BDE18-E41E-4A73-B377-28A98EEC82DC}"/>
              </a:ext>
            </a:extLst>
          </p:cNvPr>
          <p:cNvSpPr>
            <a:spLocks xmlns:a="http://schemas.openxmlformats.org/drawingml/2006/main" noGrp="1"/>
          </p:cNvSpPr>
          <p:nvPr/>
        </p:nvSpPr>
        <p:spPr>
          <a:xfrm xmlns:a="http://schemas.openxmlformats.org/drawingml/2006/main">
            <a:off x="5676900" y="3248025"/>
            <a:ext cx="1009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IQR flag</a:t>
            </a:r>
          </a:p>
        </p:txBody>
      </p:sp>
      <p:sp>
        <p:nvSpPr>
          <p:cNvPr id="16" name="">
            <a:extLst xmlns:a="http://schemas.openxmlformats.org/drawingml/2006/main">
              <a:ext uri="{FF2B5EF4-FFF2-40B4-BE49-F238E27FC236}">
                <a16:creationId xmlns:a16="http://schemas.microsoft.com/office/drawing/2014/main" id="{727A5E08-7DA4-4783-A331-63121B4FEAD3}"/>
              </a:ext>
            </a:extLst>
          </p:cNvPr>
          <p:cNvSpPr>
            <a:spLocks xmlns:a="http://schemas.openxmlformats.org/drawingml/2006/main" noGrp="1"/>
          </p:cNvSpPr>
          <p:nvPr/>
        </p:nvSpPr>
        <p:spPr>
          <a:xfrm xmlns:a="http://schemas.openxmlformats.org/drawingml/2006/main">
            <a:off x="6800850" y="3171825"/>
            <a:ext cx="1238250" cy="53340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17" name="header-5">
            <a:extLst xmlns:a="http://schemas.openxmlformats.org/drawingml/2006/main">
              <a:ext uri="{FF2B5EF4-FFF2-40B4-BE49-F238E27FC236}">
                <a16:creationId xmlns:a16="http://schemas.microsoft.com/office/drawing/2014/main" id="{8CC94D09-F0EA-4C3D-AC4E-031430518CE1}"/>
              </a:ext>
            </a:extLst>
          </p:cNvPr>
          <p:cNvSpPr>
            <a:spLocks xmlns:a="http://schemas.openxmlformats.org/drawingml/2006/main" noGrp="1"/>
          </p:cNvSpPr>
          <p:nvPr/>
        </p:nvSpPr>
        <p:spPr>
          <a:xfrm xmlns:a="http://schemas.openxmlformats.org/drawingml/2006/main">
            <a:off x="6915150" y="3248025"/>
            <a:ext cx="1009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z flag</a:t>
            </a:r>
          </a:p>
        </p:txBody>
      </p:sp>
      <p:sp>
        <p:nvSpPr>
          <p:cNvPr id="18" name="">
            <a:extLst xmlns:a="http://schemas.openxmlformats.org/drawingml/2006/main">
              <a:ext uri="{FF2B5EF4-FFF2-40B4-BE49-F238E27FC236}">
                <a16:creationId xmlns:a16="http://schemas.microsoft.com/office/drawing/2014/main" id="{F6064FD3-568D-4634-86A7-B8972EB3206E}"/>
              </a:ext>
            </a:extLst>
          </p:cNvPr>
          <p:cNvSpPr>
            <a:spLocks xmlns:a="http://schemas.openxmlformats.org/drawingml/2006/main" noGrp="1"/>
          </p:cNvSpPr>
          <p:nvPr/>
        </p:nvSpPr>
        <p:spPr>
          <a:xfrm xmlns:a="http://schemas.openxmlformats.org/drawingml/2006/main">
            <a:off x="609600" y="3705225"/>
            <a:ext cx="123825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9" name="cell-0-0">
            <a:extLst xmlns:a="http://schemas.openxmlformats.org/drawingml/2006/main">
              <a:ext uri="{FF2B5EF4-FFF2-40B4-BE49-F238E27FC236}">
                <a16:creationId xmlns:a16="http://schemas.microsoft.com/office/drawing/2014/main" id="{A58E56A2-754A-47AE-A529-9440D781279F}"/>
              </a:ext>
            </a:extLst>
          </p:cNvPr>
          <p:cNvSpPr>
            <a:spLocks xmlns:a="http://schemas.openxmlformats.org/drawingml/2006/main" noGrp="1"/>
          </p:cNvSpPr>
          <p:nvPr/>
        </p:nvSpPr>
        <p:spPr>
          <a:xfrm xmlns:a="http://schemas.openxmlformats.org/drawingml/2006/main">
            <a:off x="723900" y="3781425"/>
            <a:ext cx="1009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R309</a:t>
            </a:r>
          </a:p>
        </p:txBody>
      </p:sp>
      <p:sp>
        <p:nvSpPr>
          <p:cNvPr id="20" name="">
            <a:extLst xmlns:a="http://schemas.openxmlformats.org/drawingml/2006/main">
              <a:ext uri="{FF2B5EF4-FFF2-40B4-BE49-F238E27FC236}">
                <a16:creationId xmlns:a16="http://schemas.microsoft.com/office/drawing/2014/main" id="{EE43C3F2-DAE0-4B11-B20D-7FE5291E7922}"/>
              </a:ext>
            </a:extLst>
          </p:cNvPr>
          <p:cNvSpPr>
            <a:spLocks xmlns:a="http://schemas.openxmlformats.org/drawingml/2006/main" noGrp="1"/>
          </p:cNvSpPr>
          <p:nvPr/>
        </p:nvSpPr>
        <p:spPr>
          <a:xfrm xmlns:a="http://schemas.openxmlformats.org/drawingml/2006/main">
            <a:off x="1847850" y="3705225"/>
            <a:ext cx="123825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1" name="cell-0-1">
            <a:extLst xmlns:a="http://schemas.openxmlformats.org/drawingml/2006/main">
              <a:ext uri="{FF2B5EF4-FFF2-40B4-BE49-F238E27FC236}">
                <a16:creationId xmlns:a16="http://schemas.microsoft.com/office/drawing/2014/main" id="{8B4299EA-56FA-4126-8A8C-86E900A8FC16}"/>
              </a:ext>
            </a:extLst>
          </p:cNvPr>
          <p:cNvSpPr>
            <a:spLocks xmlns:a="http://schemas.openxmlformats.org/drawingml/2006/main" noGrp="1"/>
          </p:cNvSpPr>
          <p:nvPr/>
        </p:nvSpPr>
        <p:spPr>
          <a:xfrm xmlns:a="http://schemas.openxmlformats.org/drawingml/2006/main">
            <a:off x="1962150" y="3781425"/>
            <a:ext cx="1009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Gallery</a:t>
            </a:r>
          </a:p>
        </p:txBody>
      </p:sp>
      <p:sp>
        <p:nvSpPr>
          <p:cNvPr id="22" name="">
            <a:extLst xmlns:a="http://schemas.openxmlformats.org/drawingml/2006/main">
              <a:ext uri="{FF2B5EF4-FFF2-40B4-BE49-F238E27FC236}">
                <a16:creationId xmlns:a16="http://schemas.microsoft.com/office/drawing/2014/main" id="{6028C129-CBF6-4FF1-8589-160A4B24D2EC}"/>
              </a:ext>
            </a:extLst>
          </p:cNvPr>
          <p:cNvSpPr>
            <a:spLocks xmlns:a="http://schemas.openxmlformats.org/drawingml/2006/main" noGrp="1"/>
          </p:cNvSpPr>
          <p:nvPr/>
        </p:nvSpPr>
        <p:spPr>
          <a:xfrm xmlns:a="http://schemas.openxmlformats.org/drawingml/2006/main">
            <a:off x="3086100" y="3705225"/>
            <a:ext cx="123825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3" name="cell-0-2">
            <a:extLst xmlns:a="http://schemas.openxmlformats.org/drawingml/2006/main">
              <a:ext uri="{FF2B5EF4-FFF2-40B4-BE49-F238E27FC236}">
                <a16:creationId xmlns:a16="http://schemas.microsoft.com/office/drawing/2014/main" id="{41981367-A68C-4143-B7C3-F388378C1F74}"/>
              </a:ext>
            </a:extLst>
          </p:cNvPr>
          <p:cNvSpPr>
            <a:spLocks xmlns:a="http://schemas.openxmlformats.org/drawingml/2006/main" noGrp="1"/>
          </p:cNvSpPr>
          <p:nvPr/>
        </p:nvSpPr>
        <p:spPr>
          <a:xfrm xmlns:a="http://schemas.openxmlformats.org/drawingml/2006/main">
            <a:off x="3200400" y="3781425"/>
            <a:ext cx="1009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120.0</a:t>
            </a:r>
          </a:p>
        </p:txBody>
      </p:sp>
      <p:sp>
        <p:nvSpPr>
          <p:cNvPr id="24" name="">
            <a:extLst xmlns:a="http://schemas.openxmlformats.org/drawingml/2006/main">
              <a:ext uri="{FF2B5EF4-FFF2-40B4-BE49-F238E27FC236}">
                <a16:creationId xmlns:a16="http://schemas.microsoft.com/office/drawing/2014/main" id="{D52F215B-84E0-456F-8173-DD93D466318F}"/>
              </a:ext>
            </a:extLst>
          </p:cNvPr>
          <p:cNvSpPr>
            <a:spLocks xmlns:a="http://schemas.openxmlformats.org/drawingml/2006/main" noGrp="1"/>
          </p:cNvSpPr>
          <p:nvPr/>
        </p:nvSpPr>
        <p:spPr>
          <a:xfrm xmlns:a="http://schemas.openxmlformats.org/drawingml/2006/main">
            <a:off x="4324350" y="3705225"/>
            <a:ext cx="123825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5" name="cell-0-3">
            <a:extLst xmlns:a="http://schemas.openxmlformats.org/drawingml/2006/main">
              <a:ext uri="{FF2B5EF4-FFF2-40B4-BE49-F238E27FC236}">
                <a16:creationId xmlns:a16="http://schemas.microsoft.com/office/drawing/2014/main" id="{E9601C1F-0A48-4CC7-A722-C92D64FD8E86}"/>
              </a:ext>
            </a:extLst>
          </p:cNvPr>
          <p:cNvSpPr>
            <a:spLocks xmlns:a="http://schemas.openxmlformats.org/drawingml/2006/main" noGrp="1"/>
          </p:cNvSpPr>
          <p:nvPr/>
        </p:nvSpPr>
        <p:spPr>
          <a:xfrm xmlns:a="http://schemas.openxmlformats.org/drawingml/2006/main">
            <a:off x="4438650" y="3781425"/>
            <a:ext cx="1009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2.82</a:t>
            </a:r>
          </a:p>
        </p:txBody>
      </p:sp>
      <p:sp>
        <p:nvSpPr>
          <p:cNvPr id="26" name="">
            <a:extLst xmlns:a="http://schemas.openxmlformats.org/drawingml/2006/main">
              <a:ext uri="{FF2B5EF4-FFF2-40B4-BE49-F238E27FC236}">
                <a16:creationId xmlns:a16="http://schemas.microsoft.com/office/drawing/2014/main" id="{99984654-CC0A-4151-BFE4-FF21C7E70E22}"/>
              </a:ext>
            </a:extLst>
          </p:cNvPr>
          <p:cNvSpPr>
            <a:spLocks xmlns:a="http://schemas.openxmlformats.org/drawingml/2006/main" noGrp="1"/>
          </p:cNvSpPr>
          <p:nvPr/>
        </p:nvSpPr>
        <p:spPr>
          <a:xfrm xmlns:a="http://schemas.openxmlformats.org/drawingml/2006/main">
            <a:off x="5562600" y="3705225"/>
            <a:ext cx="123825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7" name="cell-0-4">
            <a:extLst xmlns:a="http://schemas.openxmlformats.org/drawingml/2006/main">
              <a:ext uri="{FF2B5EF4-FFF2-40B4-BE49-F238E27FC236}">
                <a16:creationId xmlns:a16="http://schemas.microsoft.com/office/drawing/2014/main" id="{4A627BE7-E973-4192-9DDC-C36072866C12}"/>
              </a:ext>
            </a:extLst>
          </p:cNvPr>
          <p:cNvSpPr>
            <a:spLocks xmlns:a="http://schemas.openxmlformats.org/drawingml/2006/main" noGrp="1"/>
          </p:cNvSpPr>
          <p:nvPr/>
        </p:nvSpPr>
        <p:spPr>
          <a:xfrm xmlns:a="http://schemas.openxmlformats.org/drawingml/2006/main">
            <a:off x="5676900" y="3781425"/>
            <a:ext cx="1009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No</a:t>
            </a:r>
          </a:p>
        </p:txBody>
      </p:sp>
      <p:sp>
        <p:nvSpPr>
          <p:cNvPr id="28" name="">
            <a:extLst xmlns:a="http://schemas.openxmlformats.org/drawingml/2006/main">
              <a:ext uri="{FF2B5EF4-FFF2-40B4-BE49-F238E27FC236}">
                <a16:creationId xmlns:a16="http://schemas.microsoft.com/office/drawing/2014/main" id="{06B757BC-AA08-46C6-A627-0306E71D1A8A}"/>
              </a:ext>
            </a:extLst>
          </p:cNvPr>
          <p:cNvSpPr>
            <a:spLocks xmlns:a="http://schemas.openxmlformats.org/drawingml/2006/main" noGrp="1"/>
          </p:cNvSpPr>
          <p:nvPr/>
        </p:nvSpPr>
        <p:spPr>
          <a:xfrm xmlns:a="http://schemas.openxmlformats.org/drawingml/2006/main">
            <a:off x="6800850" y="3705225"/>
            <a:ext cx="123825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9" name="cell-0-5">
            <a:extLst xmlns:a="http://schemas.openxmlformats.org/drawingml/2006/main">
              <a:ext uri="{FF2B5EF4-FFF2-40B4-BE49-F238E27FC236}">
                <a16:creationId xmlns:a16="http://schemas.microsoft.com/office/drawing/2014/main" id="{E88683C5-657E-4417-A6C7-7D6C2685529B}"/>
              </a:ext>
            </a:extLst>
          </p:cNvPr>
          <p:cNvSpPr>
            <a:spLocks xmlns:a="http://schemas.openxmlformats.org/drawingml/2006/main" noGrp="1"/>
          </p:cNvSpPr>
          <p:nvPr/>
        </p:nvSpPr>
        <p:spPr>
          <a:xfrm xmlns:a="http://schemas.openxmlformats.org/drawingml/2006/main">
            <a:off x="6915150" y="3781425"/>
            <a:ext cx="1009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Yes</a:t>
            </a:r>
          </a:p>
        </p:txBody>
      </p:sp>
      <p:sp>
        <p:nvSpPr>
          <p:cNvPr id="30" name="">
            <a:extLst xmlns:a="http://schemas.openxmlformats.org/drawingml/2006/main">
              <a:ext uri="{FF2B5EF4-FFF2-40B4-BE49-F238E27FC236}">
                <a16:creationId xmlns:a16="http://schemas.microsoft.com/office/drawing/2014/main" id="{66F46974-8C1E-4594-94C0-2DD16876F75E}"/>
              </a:ext>
            </a:extLst>
          </p:cNvPr>
          <p:cNvSpPr>
            <a:spLocks xmlns:a="http://schemas.openxmlformats.org/drawingml/2006/main" noGrp="1"/>
          </p:cNvSpPr>
          <p:nvPr/>
        </p:nvSpPr>
        <p:spPr>
          <a:xfrm xmlns:a="http://schemas.openxmlformats.org/drawingml/2006/main">
            <a:off x="609600" y="4238625"/>
            <a:ext cx="1238250"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31" name="cell-1-0">
            <a:extLst xmlns:a="http://schemas.openxmlformats.org/drawingml/2006/main">
              <a:ext uri="{FF2B5EF4-FFF2-40B4-BE49-F238E27FC236}">
                <a16:creationId xmlns:a16="http://schemas.microsoft.com/office/drawing/2014/main" id="{D2EC9535-BC6A-4B62-9EC4-5CBFB7130E04}"/>
              </a:ext>
            </a:extLst>
          </p:cNvPr>
          <p:cNvSpPr>
            <a:spLocks xmlns:a="http://schemas.openxmlformats.org/drawingml/2006/main" noGrp="1"/>
          </p:cNvSpPr>
          <p:nvPr/>
        </p:nvSpPr>
        <p:spPr>
          <a:xfrm xmlns:a="http://schemas.openxmlformats.org/drawingml/2006/main">
            <a:off x="723900" y="4314825"/>
            <a:ext cx="1009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R110</a:t>
            </a:r>
          </a:p>
        </p:txBody>
      </p:sp>
      <p:sp>
        <p:nvSpPr>
          <p:cNvPr id="32" name="">
            <a:extLst xmlns:a="http://schemas.openxmlformats.org/drawingml/2006/main">
              <a:ext uri="{FF2B5EF4-FFF2-40B4-BE49-F238E27FC236}">
                <a16:creationId xmlns:a16="http://schemas.microsoft.com/office/drawing/2014/main" id="{E279494B-C864-456D-8A26-7A83A095C904}"/>
              </a:ext>
            </a:extLst>
          </p:cNvPr>
          <p:cNvSpPr>
            <a:spLocks xmlns:a="http://schemas.openxmlformats.org/drawingml/2006/main" noGrp="1"/>
          </p:cNvSpPr>
          <p:nvPr/>
        </p:nvSpPr>
        <p:spPr>
          <a:xfrm xmlns:a="http://schemas.openxmlformats.org/drawingml/2006/main">
            <a:off x="1847850" y="4238625"/>
            <a:ext cx="1238250"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33" name="cell-1-1">
            <a:extLst xmlns:a="http://schemas.openxmlformats.org/drawingml/2006/main">
              <a:ext uri="{FF2B5EF4-FFF2-40B4-BE49-F238E27FC236}">
                <a16:creationId xmlns:a16="http://schemas.microsoft.com/office/drawing/2014/main" id="{D56CD672-5115-4E44-921D-29334A06FA79}"/>
              </a:ext>
            </a:extLst>
          </p:cNvPr>
          <p:cNvSpPr>
            <a:spLocks xmlns:a="http://schemas.openxmlformats.org/drawingml/2006/main" noGrp="1"/>
          </p:cNvSpPr>
          <p:nvPr/>
        </p:nvSpPr>
        <p:spPr>
          <a:xfrm xmlns:a="http://schemas.openxmlformats.org/drawingml/2006/main">
            <a:off x="1962150" y="4314825"/>
            <a:ext cx="1009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Closet</a:t>
            </a:r>
          </a:p>
        </p:txBody>
      </p:sp>
      <p:sp>
        <p:nvSpPr>
          <p:cNvPr id="34" name="">
            <a:extLst xmlns:a="http://schemas.openxmlformats.org/drawingml/2006/main">
              <a:ext uri="{FF2B5EF4-FFF2-40B4-BE49-F238E27FC236}">
                <a16:creationId xmlns:a16="http://schemas.microsoft.com/office/drawing/2014/main" id="{2D44B832-C004-4129-B90B-0693C9A86C9F}"/>
              </a:ext>
            </a:extLst>
          </p:cNvPr>
          <p:cNvSpPr>
            <a:spLocks xmlns:a="http://schemas.openxmlformats.org/drawingml/2006/main" noGrp="1"/>
          </p:cNvSpPr>
          <p:nvPr/>
        </p:nvSpPr>
        <p:spPr>
          <a:xfrm xmlns:a="http://schemas.openxmlformats.org/drawingml/2006/main">
            <a:off x="3086100" y="4238625"/>
            <a:ext cx="1238250"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35" name="cell-1-2">
            <a:extLst xmlns:a="http://schemas.openxmlformats.org/drawingml/2006/main">
              <a:ext uri="{FF2B5EF4-FFF2-40B4-BE49-F238E27FC236}">
                <a16:creationId xmlns:a16="http://schemas.microsoft.com/office/drawing/2014/main" id="{15B5A503-E0B4-4CF4-8273-0BEC6045B9D6}"/>
              </a:ext>
            </a:extLst>
          </p:cNvPr>
          <p:cNvSpPr>
            <a:spLocks xmlns:a="http://schemas.openxmlformats.org/drawingml/2006/main" noGrp="1"/>
          </p:cNvSpPr>
          <p:nvPr/>
        </p:nvSpPr>
        <p:spPr>
          <a:xfrm xmlns:a="http://schemas.openxmlformats.org/drawingml/2006/main">
            <a:off x="3200400" y="4314825"/>
            <a:ext cx="1009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3.0</a:t>
            </a:r>
          </a:p>
        </p:txBody>
      </p:sp>
      <p:sp>
        <p:nvSpPr>
          <p:cNvPr id="36" name="">
            <a:extLst xmlns:a="http://schemas.openxmlformats.org/drawingml/2006/main">
              <a:ext uri="{FF2B5EF4-FFF2-40B4-BE49-F238E27FC236}">
                <a16:creationId xmlns:a16="http://schemas.microsoft.com/office/drawing/2014/main" id="{5B7FC007-00E1-4970-9591-12666D812FC9}"/>
              </a:ext>
            </a:extLst>
          </p:cNvPr>
          <p:cNvSpPr>
            <a:spLocks xmlns:a="http://schemas.openxmlformats.org/drawingml/2006/main" noGrp="1"/>
          </p:cNvSpPr>
          <p:nvPr/>
        </p:nvSpPr>
        <p:spPr>
          <a:xfrm xmlns:a="http://schemas.openxmlformats.org/drawingml/2006/main">
            <a:off x="4324350" y="4238625"/>
            <a:ext cx="1238250"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37" name="cell-1-3">
            <a:extLst xmlns:a="http://schemas.openxmlformats.org/drawingml/2006/main">
              <a:ext uri="{FF2B5EF4-FFF2-40B4-BE49-F238E27FC236}">
                <a16:creationId xmlns:a16="http://schemas.microsoft.com/office/drawing/2014/main" id="{B8D0B33E-9875-4C89-BD4C-789DD2B169B8}"/>
              </a:ext>
            </a:extLst>
          </p:cNvPr>
          <p:cNvSpPr>
            <a:spLocks xmlns:a="http://schemas.openxmlformats.org/drawingml/2006/main" noGrp="1"/>
          </p:cNvSpPr>
          <p:nvPr/>
        </p:nvSpPr>
        <p:spPr>
          <a:xfrm xmlns:a="http://schemas.openxmlformats.org/drawingml/2006/main">
            <a:off x="4438650" y="4314825"/>
            <a:ext cx="1009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-1.28</a:t>
            </a:r>
          </a:p>
        </p:txBody>
      </p:sp>
      <p:sp>
        <p:nvSpPr>
          <p:cNvPr id="38" name="">
            <a:extLst xmlns:a="http://schemas.openxmlformats.org/drawingml/2006/main">
              <a:ext uri="{FF2B5EF4-FFF2-40B4-BE49-F238E27FC236}">
                <a16:creationId xmlns:a16="http://schemas.microsoft.com/office/drawing/2014/main" id="{CEFB65C6-2BCA-48A3-A66D-76F15CDAC634}"/>
              </a:ext>
            </a:extLst>
          </p:cNvPr>
          <p:cNvSpPr>
            <a:spLocks xmlns:a="http://schemas.openxmlformats.org/drawingml/2006/main" noGrp="1"/>
          </p:cNvSpPr>
          <p:nvPr/>
        </p:nvSpPr>
        <p:spPr>
          <a:xfrm xmlns:a="http://schemas.openxmlformats.org/drawingml/2006/main">
            <a:off x="5562600" y="4238625"/>
            <a:ext cx="1238250"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39" name="cell-1-4">
            <a:extLst xmlns:a="http://schemas.openxmlformats.org/drawingml/2006/main">
              <a:ext uri="{FF2B5EF4-FFF2-40B4-BE49-F238E27FC236}">
                <a16:creationId xmlns:a16="http://schemas.microsoft.com/office/drawing/2014/main" id="{4DC4C916-BD3E-49A5-80EB-3A0FD39B5A14}"/>
              </a:ext>
            </a:extLst>
          </p:cNvPr>
          <p:cNvSpPr>
            <a:spLocks xmlns:a="http://schemas.openxmlformats.org/drawingml/2006/main" noGrp="1"/>
          </p:cNvSpPr>
          <p:nvPr/>
        </p:nvSpPr>
        <p:spPr>
          <a:xfrm xmlns:a="http://schemas.openxmlformats.org/drawingml/2006/main">
            <a:off x="5676900" y="4314825"/>
            <a:ext cx="1009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No</a:t>
            </a:r>
          </a:p>
        </p:txBody>
      </p:sp>
      <p:sp>
        <p:nvSpPr>
          <p:cNvPr id="40" name="">
            <a:extLst xmlns:a="http://schemas.openxmlformats.org/drawingml/2006/main">
              <a:ext uri="{FF2B5EF4-FFF2-40B4-BE49-F238E27FC236}">
                <a16:creationId xmlns:a16="http://schemas.microsoft.com/office/drawing/2014/main" id="{890F5A7B-29B4-4F95-B383-06EDF1624078}"/>
              </a:ext>
            </a:extLst>
          </p:cNvPr>
          <p:cNvSpPr>
            <a:spLocks xmlns:a="http://schemas.openxmlformats.org/drawingml/2006/main" noGrp="1"/>
          </p:cNvSpPr>
          <p:nvPr/>
        </p:nvSpPr>
        <p:spPr>
          <a:xfrm xmlns:a="http://schemas.openxmlformats.org/drawingml/2006/main">
            <a:off x="6800850" y="4238625"/>
            <a:ext cx="1238250"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41" name="cell-1-5">
            <a:extLst xmlns:a="http://schemas.openxmlformats.org/drawingml/2006/main">
              <a:ext uri="{FF2B5EF4-FFF2-40B4-BE49-F238E27FC236}">
                <a16:creationId xmlns:a16="http://schemas.microsoft.com/office/drawing/2014/main" id="{0B62BAE7-A694-46DD-804E-788EBF842AE7}"/>
              </a:ext>
            </a:extLst>
          </p:cNvPr>
          <p:cNvSpPr>
            <a:spLocks xmlns:a="http://schemas.openxmlformats.org/drawingml/2006/main" noGrp="1"/>
          </p:cNvSpPr>
          <p:nvPr/>
        </p:nvSpPr>
        <p:spPr>
          <a:xfrm xmlns:a="http://schemas.openxmlformats.org/drawingml/2006/main">
            <a:off x="6915150" y="4314825"/>
            <a:ext cx="1009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No</a:t>
            </a:r>
          </a:p>
        </p:txBody>
      </p:sp>
      <p:sp>
        <p:nvSpPr>
          <p:cNvPr id="42" name="callout-label">
            <a:extLst xmlns:a="http://schemas.openxmlformats.org/drawingml/2006/main">
              <a:ext uri="{FF2B5EF4-FFF2-40B4-BE49-F238E27FC236}">
                <a16:creationId xmlns:a16="http://schemas.microsoft.com/office/drawing/2014/main" id="{7033CD4F-0DFB-44A0-9CBA-BEE8F82E2C4C}"/>
              </a:ext>
            </a:extLst>
          </p:cNvPr>
          <p:cNvSpPr>
            <a:spLocks xmlns:a="http://schemas.openxmlformats.org/drawingml/2006/main" noGrp="1"/>
          </p:cNvSpPr>
          <p:nvPr/>
        </p:nvSpPr>
        <p:spPr>
          <a:xfrm xmlns:a="http://schemas.openxmlformats.org/drawingml/2006/main">
            <a:off x="8420100" y="1866900"/>
            <a:ext cx="3162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ARCHITECTURAL LENS</a:t>
            </a:r>
          </a:p>
        </p:txBody>
      </p:sp>
      <p:sp>
        <p:nvSpPr>
          <p:cNvPr id="43" name="callout">
            <a:extLst xmlns:a="http://schemas.openxmlformats.org/drawingml/2006/main">
              <a:ext uri="{FF2B5EF4-FFF2-40B4-BE49-F238E27FC236}">
                <a16:creationId xmlns:a16="http://schemas.microsoft.com/office/drawing/2014/main" id="{60673BB4-9DFB-44EC-806C-7629EB076401}"/>
              </a:ext>
            </a:extLst>
          </p:cNvPr>
          <p:cNvSpPr>
            <a:spLocks xmlns:a="http://schemas.openxmlformats.org/drawingml/2006/main" noGrp="1"/>
          </p:cNvSpPr>
          <p:nvPr/>
        </p:nvSpPr>
        <p:spPr>
          <a:xfrm xmlns:a="http://schemas.openxmlformats.org/drawingml/2006/main">
            <a:off x="8420100" y="2190750"/>
            <a:ext cx="3162300" cy="3790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1">
                <a:solidFill>
                  <a:srgbClr val="111316"/>
                </a:solidFill>
                <a:latin typeface="Arial"/>
                <a:ea typeface="Arial"/>
                <a:cs typeface="Arial"/>
              </a:defRPr>
            </a:pPr>
            <a:r>
              <a:rPr sz="1800" b="1">
                <a:solidFill>
                  <a:srgbClr val="111316"/>
                </a:solidFill>
                <a:latin typeface="Arial"/>
                <a:ea typeface="Arial"/>
                <a:cs typeface="Arial"/>
              </a:rPr>
              <a:t>IQR bounds on area_m2: −47.25 to 123.95 — wide because small offices and large studios both sit in this data, so even a 120.0 m² gallery fits inside. R110, a 3 m² closet, is not extreme enough by either rule. Same functions, same dataset, genuinely different verdicts.</a:t>
            </a:r>
          </a:p>
        </p:txBody>
      </p:sp>
    </p:spTree>
    <p:extLst>
      <p:ext uri="{BB962C8B-B14F-4D97-AF65-F5344CB8AC3E}">
        <p14:creationId xmlns:p14="http://schemas.microsoft.com/office/powerpoint/2010/main" val="1400299961"/>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kicker">
            <a:extLst xmlns:a="http://schemas.openxmlformats.org/drawingml/2006/main">
              <a:ext uri="{FF2B5EF4-FFF2-40B4-BE49-F238E27FC236}">
                <a16:creationId xmlns:a16="http://schemas.microsoft.com/office/drawing/2014/main" id="{EECEFC26-A5AC-476C-B47C-681E24D4FF13}"/>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VISUAL EVIDENCE</a:t>
            </a:r>
          </a:p>
        </p:txBody>
      </p:sp>
      <p:sp>
        <p:nvSpPr>
          <p:cNvPr id="2" name="title">
            <a:extLst xmlns:a="http://schemas.openxmlformats.org/drawingml/2006/main">
              <a:ext uri="{FF2B5EF4-FFF2-40B4-BE49-F238E27FC236}">
                <a16:creationId xmlns:a16="http://schemas.microsoft.com/office/drawing/2014/main" id="{AFBE1DFD-9E0A-4951-9AAC-282A4DEBE5C9}"/>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Where the two rules part company</a:t>
            </a:r>
          </a:p>
        </p:txBody>
      </p:sp>
      <p:sp>
        <p:nvSpPr>
          <p:cNvPr id="3" name="">
            <a:extLst xmlns:a="http://schemas.openxmlformats.org/drawingml/2006/main">
              <a:ext uri="{FF2B5EF4-FFF2-40B4-BE49-F238E27FC236}">
                <a16:creationId xmlns:a16="http://schemas.microsoft.com/office/drawing/2014/main" id="{FC7FB59A-74F8-4F42-8B87-7533F2645370}"/>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D9C2B204-3FD4-4305-85E0-602397D7EAE7}"/>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5 · Meeting B · Grouping and Outlier Studio</a:t>
            </a:r>
          </a:p>
        </p:txBody>
      </p:sp>
      <p:sp>
        <p:nvSpPr>
          <p:cNvPr id="5" name="page">
            <a:extLst xmlns:a="http://schemas.openxmlformats.org/drawingml/2006/main">
              <a:ext uri="{FF2B5EF4-FFF2-40B4-BE49-F238E27FC236}">
                <a16:creationId xmlns:a16="http://schemas.microsoft.com/office/drawing/2014/main" id="{AAA46150-685A-4C2B-8100-BE5CF29C8100}"/>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25</a:t>
            </a:r>
          </a:p>
        </p:txBody>
      </p:sp>
      <p:sp>
        <p:nvSpPr>
          <p:cNvPr id="6" name="figure-panel">
            <a:extLst xmlns:a="http://schemas.openxmlformats.org/drawingml/2006/main">
              <a:ext uri="{FF2B5EF4-FFF2-40B4-BE49-F238E27FC236}">
                <a16:creationId xmlns:a16="http://schemas.microsoft.com/office/drawing/2014/main" id="{06D1980B-11E0-47AC-A1B4-DDB1EE2F923E}"/>
              </a:ext>
            </a:extLst>
          </p:cNvPr>
          <p:cNvSpPr>
            <a:spLocks xmlns:a="http://schemas.openxmlformats.org/drawingml/2006/main" noGrp="1"/>
          </p:cNvSpPr>
          <p:nvPr/>
        </p:nvSpPr>
        <p:spPr>
          <a:xfrm xmlns:a="http://schemas.openxmlformats.org/drawingml/2006/main">
            <a:off x="609600" y="1809750"/>
            <a:ext cx="6896100" cy="3818382"/>
          </a:xfrm>
          <a:prstGeom xmlns:a="http://schemas.openxmlformats.org/drawingml/2006/main" prst="roundRect">
            <a:avLst>
              <a:gd name="adj" fmla="val 1996"/>
            </a:avLst>
          </a:prstGeom>
          <a:solidFill xmlns:a="http://schemas.openxmlformats.org/drawingml/2006/main">
            <a:srgbClr val="FFFFFF"/>
          </a:solidFill>
          <a:ln xmlns:a="http://schemas.openxmlformats.org/drawingml/2006/main" w="9525">
            <a:solidFill>
              <a:srgbClr val="B8BCC4"/>
            </a:solidFill>
            <a:prstDash val="solid"/>
          </a:ln>
        </p:spPr>
      </p:sp>
      <p:pic>
        <p:nvPicPr>
          <p:cNvPr id="17" name="" descr="Scatter of room area against its z-score, with the z-score threshold line at 2 and the IQR high fence marked; R309 sits above the z line but inside the IQR fence."/>
          <p:cNvPicPr>
            <a:picLocks xmlns:a="http://schemas.openxmlformats.org/drawingml/2006/main" noChangeAspect="1"/>
          </p:cNvPicPr>
          <p:nvPr/>
        </p:nvPicPr>
        <p:blipFill>
          <a:blip xmlns:r="http://schemas.openxmlformats.org/officeDocument/2006/relationships" xmlns:a="http://schemas.openxmlformats.org/drawingml/2006/main" r:embed="R69918665ee9347b9"/>
          <a:stretch xmlns:a="http://schemas.openxmlformats.org/drawingml/2006/main"/>
        </p:blipFill>
        <p:spPr>
          <a:xfrm xmlns:a="http://schemas.openxmlformats.org/drawingml/2006/main">
            <a:off x="1100727" y="1943100"/>
            <a:ext cx="5913846" cy="3551682"/>
          </a:xfrm>
          <a:prstGeom xmlns:a="http://schemas.openxmlformats.org/drawingml/2006/main" prst="rect">
            <a:avLst/>
          </a:prstGeom>
        </p:spPr>
      </p:pic>
      <p:sp>
        <p:nvSpPr>
          <p:cNvPr id="8" name="figure-caption">
            <a:extLst xmlns:a="http://schemas.openxmlformats.org/drawingml/2006/main">
              <a:ext uri="{FF2B5EF4-FFF2-40B4-BE49-F238E27FC236}">
                <a16:creationId xmlns:a16="http://schemas.microsoft.com/office/drawing/2014/main" id="{21BEF69D-8DB6-4445-8BB5-1AC6C51DCD51}"/>
              </a:ext>
            </a:extLst>
          </p:cNvPr>
          <p:cNvSpPr>
            <a:spLocks xmlns:a="http://schemas.openxmlformats.org/drawingml/2006/main" noGrp="1"/>
          </p:cNvSpPr>
          <p:nvPr/>
        </p:nvSpPr>
        <p:spPr>
          <a:xfrm xmlns:a="http://schemas.openxmlformats.org/drawingml/2006/main">
            <a:off x="762000" y="5704332"/>
            <a:ext cx="6591300" cy="4488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0">
                <a:solidFill>
                  <a:srgbClr val="5A5F66"/>
                </a:solidFill>
                <a:latin typeface="Arial"/>
                <a:ea typeface="Arial"/>
                <a:cs typeface="Arial"/>
              </a:defRPr>
            </a:pPr>
            <a:r>
              <a:rPr sz="1200" b="0">
                <a:solidFill>
                  <a:srgbClr val="5A5F66"/>
                </a:solidFill>
                <a:latin typeface="Arial"/>
                <a:ea typeface="Arial"/>
                <a:cs typeface="Arial"/>
              </a:rPr>
              <a:t>Every room's area_m2 against its own z-score. Green line = the z-score rule. Amber line = the IQR high fence.</a:t>
            </a:r>
          </a:p>
        </p:txBody>
      </p:sp>
      <p:sp>
        <p:nvSpPr>
          <p:cNvPr id="9" name="figure-explain-head">
            <a:extLst xmlns:a="http://schemas.openxmlformats.org/drawingml/2006/main">
              <a:ext uri="{FF2B5EF4-FFF2-40B4-BE49-F238E27FC236}">
                <a16:creationId xmlns:a16="http://schemas.microsoft.com/office/drawing/2014/main" id="{166BDE63-D2B5-48B1-A8BC-05ACBB200D0C}"/>
              </a:ext>
            </a:extLst>
          </p:cNvPr>
          <p:cNvSpPr>
            <a:spLocks xmlns:a="http://schemas.openxmlformats.org/drawingml/2006/main" noGrp="1"/>
          </p:cNvSpPr>
          <p:nvPr/>
        </p:nvSpPr>
        <p:spPr>
          <a:xfrm xmlns:a="http://schemas.openxmlformats.org/drawingml/2006/main">
            <a:off x="7886700" y="2371725"/>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R309 lands between the two rules</a:t>
            </a:r>
          </a:p>
        </p:txBody>
      </p:sp>
      <p:sp>
        <p:nvSpPr>
          <p:cNvPr id="10" name="figure-explain-body">
            <a:extLst xmlns:a="http://schemas.openxmlformats.org/drawingml/2006/main">
              <a:ext uri="{FF2B5EF4-FFF2-40B4-BE49-F238E27FC236}">
                <a16:creationId xmlns:a16="http://schemas.microsoft.com/office/drawing/2014/main" id="{00CA1454-37A9-420F-A64F-4356FB3BF327}"/>
              </a:ext>
            </a:extLst>
          </p:cNvPr>
          <p:cNvSpPr>
            <a:spLocks xmlns:a="http://schemas.openxmlformats.org/drawingml/2006/main" noGrp="1"/>
          </p:cNvSpPr>
          <p:nvPr/>
        </p:nvSpPr>
        <p:spPr>
          <a:xfrm xmlns:a="http://schemas.openxmlformats.org/drawingml/2006/main">
            <a:off x="7886700" y="3157347"/>
            <a:ext cx="3695700" cy="20650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R309 is a 120 m2 double-height gallery. The z-score rule flags it; the IQR rule does not, because this building's mix of small offices and large studios widens the interquartile range enough to swallow it. Neither rule is broken. They encode different ideas of 'unusual', and this room is where that difference becomes visible.</a:t>
            </a:r>
          </a:p>
        </p:txBody>
      </p:sp>
    </p:spTree>
    <p:extLst>
      <p:ext uri="{BB962C8B-B14F-4D97-AF65-F5344CB8AC3E}">
        <p14:creationId xmlns:p14="http://schemas.microsoft.com/office/powerpoint/2010/main" val="836452178"/>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17E41216-4BF7-4E1B-8FCA-8AA223441CFE}"/>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IN-CLASS CHECK</a:t>
            </a:r>
          </a:p>
        </p:txBody>
      </p:sp>
      <p:sp>
        <p:nvSpPr>
          <p:cNvPr id="2" name="title">
            <a:extLst xmlns:a="http://schemas.openxmlformats.org/drawingml/2006/main">
              <a:ext uri="{FF2B5EF4-FFF2-40B4-BE49-F238E27FC236}">
                <a16:creationId xmlns:a16="http://schemas.microsoft.com/office/drawing/2014/main" id="{C36BF470-ACBB-48DC-8D75-AECF41C69D7A}"/>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Studio 4: reproduce the disagreement yourself</a:t>
            </a:r>
          </a:p>
        </p:txBody>
      </p:sp>
      <p:sp>
        <p:nvSpPr>
          <p:cNvPr id="3" name="">
            <a:extLst xmlns:a="http://schemas.openxmlformats.org/drawingml/2006/main">
              <a:ext uri="{FF2B5EF4-FFF2-40B4-BE49-F238E27FC236}">
                <a16:creationId xmlns:a16="http://schemas.microsoft.com/office/drawing/2014/main" id="{4059B2AA-EBAB-4128-94F2-21DEB032B726}"/>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6F0D2AD2-CE6F-458E-9459-36CEBA3737DE}"/>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5 · Meeting B · Grouping and Outlier Studio</a:t>
            </a:r>
          </a:p>
        </p:txBody>
      </p:sp>
      <p:sp>
        <p:nvSpPr>
          <p:cNvPr id="5" name="page">
            <a:extLst xmlns:a="http://schemas.openxmlformats.org/drawingml/2006/main">
              <a:ext uri="{FF2B5EF4-FFF2-40B4-BE49-F238E27FC236}">
                <a16:creationId xmlns:a16="http://schemas.microsoft.com/office/drawing/2014/main" id="{55CFDB62-88EE-43BE-9EED-86EE80692D12}"/>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26</a:t>
            </a:r>
          </a:p>
        </p:txBody>
      </p:sp>
      <p:sp>
        <p:nvSpPr>
          <p:cNvPr id="6" name="exercise-accent">
            <a:extLst xmlns:a="http://schemas.openxmlformats.org/drawingml/2006/main">
              <a:ext uri="{FF2B5EF4-FFF2-40B4-BE49-F238E27FC236}">
                <a16:creationId xmlns:a16="http://schemas.microsoft.com/office/drawing/2014/main" id="{F4A04B91-FAA5-4C0F-B96B-F019B12A4006}"/>
              </a:ext>
            </a:extLst>
          </p:cNvPr>
          <p:cNvSpPr>
            <a:spLocks xmlns:a="http://schemas.openxmlformats.org/drawingml/2006/main" noGrp="1"/>
          </p:cNvSpPr>
          <p:nvPr/>
        </p:nvSpPr>
        <p:spPr>
          <a:xfrm xmlns:a="http://schemas.openxmlformats.org/drawingml/2006/main">
            <a:off x="609600" y="1809750"/>
            <a:ext cx="4000500" cy="4248150"/>
          </a:xfrm>
          <a:prstGeom xmlns:a="http://schemas.openxmlformats.org/drawingml/2006/main" prst="roundRect">
            <a:avLst>
              <a:gd name="adj" fmla="val 1429"/>
            </a:avLst>
          </a:prstGeom>
          <a:solidFill xmlns:a="http://schemas.openxmlformats.org/drawingml/2006/main">
            <a:srgbClr val="2E74B5"/>
          </a:solidFill>
          <a:ln xmlns:a="http://schemas.openxmlformats.org/drawingml/2006/main" w="9525">
            <a:solidFill>
              <a:srgbClr val="2E74B5"/>
            </a:solidFill>
            <a:prstDash val="solid"/>
          </a:ln>
        </p:spPr>
      </p:sp>
      <p:sp>
        <p:nvSpPr>
          <p:cNvPr id="7" name="exercise-prompt">
            <a:extLst xmlns:a="http://schemas.openxmlformats.org/drawingml/2006/main">
              <a:ext uri="{FF2B5EF4-FFF2-40B4-BE49-F238E27FC236}">
                <a16:creationId xmlns:a16="http://schemas.microsoft.com/office/drawing/2014/main" id="{0FCF91C7-175C-402E-85FB-1BA01D327E90}"/>
              </a:ext>
            </a:extLst>
          </p:cNvPr>
          <p:cNvSpPr>
            <a:spLocks xmlns:a="http://schemas.openxmlformats.org/drawingml/2006/main" noGrp="1"/>
          </p:cNvSpPr>
          <p:nvPr/>
        </p:nvSpPr>
        <p:spPr>
          <a:xfrm xmlns:a="http://schemas.openxmlformats.org/drawingml/2006/main">
            <a:off x="876300" y="2095500"/>
            <a:ext cx="3467100" cy="3676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100" b="1">
                <a:solidFill>
                  <a:srgbClr val="FFFFFF"/>
                </a:solidFill>
                <a:latin typeface="Arial"/>
                <a:ea typeface="Arial"/>
                <a:cs typeface="Arial"/>
              </a:defRPr>
            </a:pPr>
            <a:r>
              <a:rPr sz="2100" b="1">
                <a:solidFill>
                  <a:srgbClr val="FFFFFF"/>
                </a:solidFill>
                <a:latin typeface="Arial"/>
                <a:ea typeface="Arial"/>
                <a:cs typeface="Arial"/>
              </a:rPr>
              <a:t>Run your two functions on area_m2 and confirm the table above, then look for one more debatable row.</a:t>
            </a:r>
          </a:p>
        </p:txBody>
      </p:sp>
      <p:sp>
        <p:nvSpPr>
          <p:cNvPr id="8" name="work-label">
            <a:extLst xmlns:a="http://schemas.openxmlformats.org/drawingml/2006/main">
              <a:ext uri="{FF2B5EF4-FFF2-40B4-BE49-F238E27FC236}">
                <a16:creationId xmlns:a16="http://schemas.microsoft.com/office/drawing/2014/main" id="{D7EBD1C4-699A-4966-B513-DD87FB9E4791}"/>
              </a:ext>
            </a:extLst>
          </p:cNvPr>
          <p:cNvSpPr>
            <a:spLocks xmlns:a="http://schemas.openxmlformats.org/drawingml/2006/main" noGrp="1"/>
          </p:cNvSpPr>
          <p:nvPr/>
        </p:nvSpPr>
        <p:spPr>
          <a:xfrm xmlns:a="http://schemas.openxmlformats.org/drawingml/2006/main">
            <a:off x="5029200" y="1847850"/>
            <a:ext cx="6553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WORK THROUGH IT</a:t>
            </a:r>
          </a:p>
        </p:txBody>
      </p:sp>
      <p:sp>
        <p:nvSpPr>
          <p:cNvPr id="9" name="exercise-no-0">
            <a:extLst xmlns:a="http://schemas.openxmlformats.org/drawingml/2006/main">
              <a:ext uri="{FF2B5EF4-FFF2-40B4-BE49-F238E27FC236}">
                <a16:creationId xmlns:a16="http://schemas.microsoft.com/office/drawing/2014/main" id="{1EBFB7B8-121B-47A9-97E2-2774B0616052}"/>
              </a:ext>
            </a:extLst>
          </p:cNvPr>
          <p:cNvSpPr>
            <a:spLocks xmlns:a="http://schemas.openxmlformats.org/drawingml/2006/main" noGrp="1"/>
          </p:cNvSpPr>
          <p:nvPr/>
        </p:nvSpPr>
        <p:spPr>
          <a:xfrm xmlns:a="http://schemas.openxmlformats.org/drawingml/2006/main">
            <a:off x="5029200" y="22479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1.</a:t>
            </a:r>
          </a:p>
        </p:txBody>
      </p:sp>
      <p:sp>
        <p:nvSpPr>
          <p:cNvPr id="10" name="exercise-step-0">
            <a:extLst xmlns:a="http://schemas.openxmlformats.org/drawingml/2006/main">
              <a:ext uri="{FF2B5EF4-FFF2-40B4-BE49-F238E27FC236}">
                <a16:creationId xmlns:a16="http://schemas.microsoft.com/office/drawing/2014/main" id="{E3B48A4A-FDF8-4325-9318-6F3D86996E90}"/>
              </a:ext>
            </a:extLst>
          </p:cNvPr>
          <p:cNvSpPr>
            <a:spLocks xmlns:a="http://schemas.openxmlformats.org/drawingml/2006/main" noGrp="1"/>
          </p:cNvSpPr>
          <p:nvPr/>
        </p:nvSpPr>
        <p:spPr>
          <a:xfrm xmlns:a="http://schemas.openxmlformats.org/drawingml/2006/main">
            <a:off x="5467350" y="22479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Add iqr_flag_area and z_flag_area columns using your two functions.</a:t>
            </a:r>
          </a:p>
        </p:txBody>
      </p:sp>
      <p:sp>
        <p:nvSpPr>
          <p:cNvPr id="11" name="exercise-no-1">
            <a:extLst xmlns:a="http://schemas.openxmlformats.org/drawingml/2006/main">
              <a:ext uri="{FF2B5EF4-FFF2-40B4-BE49-F238E27FC236}">
                <a16:creationId xmlns:a16="http://schemas.microsoft.com/office/drawing/2014/main" id="{094BD547-82C5-40A5-8D7A-7F0A439E9604}"/>
              </a:ext>
            </a:extLst>
          </p:cNvPr>
          <p:cNvSpPr>
            <a:spLocks xmlns:a="http://schemas.openxmlformats.org/drawingml/2006/main" noGrp="1"/>
          </p:cNvSpPr>
          <p:nvPr/>
        </p:nvSpPr>
        <p:spPr>
          <a:xfrm xmlns:a="http://schemas.openxmlformats.org/drawingml/2006/main">
            <a:off x="5029200" y="31242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2.</a:t>
            </a:r>
          </a:p>
        </p:txBody>
      </p:sp>
      <p:sp>
        <p:nvSpPr>
          <p:cNvPr id="12" name="exercise-step-1">
            <a:extLst xmlns:a="http://schemas.openxmlformats.org/drawingml/2006/main">
              <a:ext uri="{FF2B5EF4-FFF2-40B4-BE49-F238E27FC236}">
                <a16:creationId xmlns:a16="http://schemas.microsoft.com/office/drawing/2014/main" id="{7E270105-B242-4D12-802B-5B01E45BF462}"/>
              </a:ext>
            </a:extLst>
          </p:cNvPr>
          <p:cNvSpPr>
            <a:spLocks xmlns:a="http://schemas.openxmlformats.org/drawingml/2006/main" noGrp="1"/>
          </p:cNvSpPr>
          <p:nvPr/>
        </p:nvSpPr>
        <p:spPr>
          <a:xfrm xmlns:a="http://schemas.openxmlformats.org/drawingml/2006/main">
            <a:off x="5467350" y="31242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Print the rows for R309 and R110 and confirm they match the table.</a:t>
            </a:r>
          </a:p>
        </p:txBody>
      </p:sp>
      <p:sp>
        <p:nvSpPr>
          <p:cNvPr id="13" name="exercise-no-2">
            <a:extLst xmlns:a="http://schemas.openxmlformats.org/drawingml/2006/main">
              <a:ext uri="{FF2B5EF4-FFF2-40B4-BE49-F238E27FC236}">
                <a16:creationId xmlns:a16="http://schemas.microsoft.com/office/drawing/2014/main" id="{14794C95-7276-4211-AEC6-1F7C9E5A0D11}"/>
              </a:ext>
            </a:extLst>
          </p:cNvPr>
          <p:cNvSpPr>
            <a:spLocks xmlns:a="http://schemas.openxmlformats.org/drawingml/2006/main" noGrp="1"/>
          </p:cNvSpPr>
          <p:nvPr/>
        </p:nvSpPr>
        <p:spPr>
          <a:xfrm xmlns:a="http://schemas.openxmlformats.org/drawingml/2006/main">
            <a:off x="5029200" y="40005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3.</a:t>
            </a:r>
          </a:p>
        </p:txBody>
      </p:sp>
      <p:sp>
        <p:nvSpPr>
          <p:cNvPr id="14" name="exercise-step-2">
            <a:extLst xmlns:a="http://schemas.openxmlformats.org/drawingml/2006/main">
              <a:ext uri="{FF2B5EF4-FFF2-40B4-BE49-F238E27FC236}">
                <a16:creationId xmlns:a16="http://schemas.microsoft.com/office/drawing/2014/main" id="{C0981795-EF07-40F6-B05F-958E0F014D28}"/>
              </a:ext>
            </a:extLst>
          </p:cNvPr>
          <p:cNvSpPr>
            <a:spLocks xmlns:a="http://schemas.openxmlformats.org/drawingml/2006/main" noGrp="1"/>
          </p:cNvSpPr>
          <p:nvPr/>
        </p:nvSpPr>
        <p:spPr>
          <a:xfrm xmlns:a="http://schemas.openxmlformats.org/drawingml/2006/main">
            <a:off x="5467350" y="40005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Sort the whole dataset by area_m2 and look at the 3 largest and 3 smallest rows.</a:t>
            </a:r>
          </a:p>
        </p:txBody>
      </p:sp>
      <p:sp>
        <p:nvSpPr>
          <p:cNvPr id="15" name="exercise-no-3">
            <a:extLst xmlns:a="http://schemas.openxmlformats.org/drawingml/2006/main">
              <a:ext uri="{FF2B5EF4-FFF2-40B4-BE49-F238E27FC236}">
                <a16:creationId xmlns:a16="http://schemas.microsoft.com/office/drawing/2014/main" id="{674AE102-4C4D-4FAF-ADF3-C458939B8AAC}"/>
              </a:ext>
            </a:extLst>
          </p:cNvPr>
          <p:cNvSpPr>
            <a:spLocks xmlns:a="http://schemas.openxmlformats.org/drawingml/2006/main" noGrp="1"/>
          </p:cNvSpPr>
          <p:nvPr/>
        </p:nvSpPr>
        <p:spPr>
          <a:xfrm xmlns:a="http://schemas.openxmlformats.org/drawingml/2006/main">
            <a:off x="5029200" y="48768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4.</a:t>
            </a:r>
          </a:p>
        </p:txBody>
      </p:sp>
      <p:sp>
        <p:nvSpPr>
          <p:cNvPr id="16" name="exercise-step-3">
            <a:extLst xmlns:a="http://schemas.openxmlformats.org/drawingml/2006/main">
              <a:ext uri="{FF2B5EF4-FFF2-40B4-BE49-F238E27FC236}">
                <a16:creationId xmlns:a16="http://schemas.microsoft.com/office/drawing/2014/main" id="{AC4AD3D8-7DA1-41F1-BCB3-BECA8EEF7CE7}"/>
              </a:ext>
            </a:extLst>
          </p:cNvPr>
          <p:cNvSpPr>
            <a:spLocks xmlns:a="http://schemas.openxmlformats.org/drawingml/2006/main" noGrp="1"/>
          </p:cNvSpPr>
          <p:nvPr/>
        </p:nvSpPr>
        <p:spPr>
          <a:xfrm xmlns:a="http://schemas.openxmlformats.org/drawingml/2006/main">
            <a:off x="5467350" y="48768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Name one row, other than R309 or R110, whose flag status you find debatable, and why.</a:t>
            </a:r>
          </a:p>
        </p:txBody>
      </p:sp>
    </p:spTree>
    <p:extLst>
      <p:ext uri="{BB962C8B-B14F-4D97-AF65-F5344CB8AC3E}">
        <p14:creationId xmlns:p14="http://schemas.microsoft.com/office/powerpoint/2010/main" val="1921176351"/>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86B340FE-43D5-4191-AE23-B2CBDE16EA80}"/>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IN-CLASS CHECK</a:t>
            </a:r>
          </a:p>
        </p:txBody>
      </p:sp>
      <p:sp>
        <p:nvSpPr>
          <p:cNvPr id="2" name="title">
            <a:extLst xmlns:a="http://schemas.openxmlformats.org/drawingml/2006/main">
              <a:ext uri="{FF2B5EF4-FFF2-40B4-BE49-F238E27FC236}">
                <a16:creationId xmlns:a16="http://schemas.microsoft.com/office/drawing/2014/main" id="{5E929BF1-8D8B-45C7-BBF5-5A71C6BAD8C0}"/>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Studio 5: write the keep / investigate / exclude decisions</a:t>
            </a:r>
          </a:p>
        </p:txBody>
      </p:sp>
      <p:sp>
        <p:nvSpPr>
          <p:cNvPr id="3" name="">
            <a:extLst xmlns:a="http://schemas.openxmlformats.org/drawingml/2006/main">
              <a:ext uri="{FF2B5EF4-FFF2-40B4-BE49-F238E27FC236}">
                <a16:creationId xmlns:a16="http://schemas.microsoft.com/office/drawing/2014/main" id="{1D122338-9959-449D-B8C7-DFDFFD7DB2EC}"/>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29006E6D-18E9-461E-9857-3DDBBB881A37}"/>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5 · Meeting B · Grouping and Outlier Studio</a:t>
            </a:r>
          </a:p>
        </p:txBody>
      </p:sp>
      <p:sp>
        <p:nvSpPr>
          <p:cNvPr id="5" name="page">
            <a:extLst xmlns:a="http://schemas.openxmlformats.org/drawingml/2006/main">
              <a:ext uri="{FF2B5EF4-FFF2-40B4-BE49-F238E27FC236}">
                <a16:creationId xmlns:a16="http://schemas.microsoft.com/office/drawing/2014/main" id="{E8713B4F-F217-4E6E-89C1-FC48A436AB95}"/>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27</a:t>
            </a:r>
          </a:p>
        </p:txBody>
      </p:sp>
      <p:sp>
        <p:nvSpPr>
          <p:cNvPr id="6" name="exercise-accent">
            <a:extLst xmlns:a="http://schemas.openxmlformats.org/drawingml/2006/main">
              <a:ext uri="{FF2B5EF4-FFF2-40B4-BE49-F238E27FC236}">
                <a16:creationId xmlns:a16="http://schemas.microsoft.com/office/drawing/2014/main" id="{C4494033-048D-441B-AEF5-20D3B4C0023F}"/>
              </a:ext>
            </a:extLst>
          </p:cNvPr>
          <p:cNvSpPr>
            <a:spLocks xmlns:a="http://schemas.openxmlformats.org/drawingml/2006/main" noGrp="1"/>
          </p:cNvSpPr>
          <p:nvPr/>
        </p:nvSpPr>
        <p:spPr>
          <a:xfrm xmlns:a="http://schemas.openxmlformats.org/drawingml/2006/main">
            <a:off x="609600" y="1809750"/>
            <a:ext cx="4000500" cy="4248150"/>
          </a:xfrm>
          <a:prstGeom xmlns:a="http://schemas.openxmlformats.org/drawingml/2006/main" prst="roundRect">
            <a:avLst>
              <a:gd name="adj" fmla="val 1429"/>
            </a:avLst>
          </a:prstGeom>
          <a:solidFill xmlns:a="http://schemas.openxmlformats.org/drawingml/2006/main">
            <a:srgbClr val="2E74B5"/>
          </a:solidFill>
          <a:ln xmlns:a="http://schemas.openxmlformats.org/drawingml/2006/main" w="9525">
            <a:solidFill>
              <a:srgbClr val="2E74B5"/>
            </a:solidFill>
            <a:prstDash val="solid"/>
          </a:ln>
        </p:spPr>
      </p:sp>
      <p:sp>
        <p:nvSpPr>
          <p:cNvPr id="7" name="exercise-prompt">
            <a:extLst xmlns:a="http://schemas.openxmlformats.org/drawingml/2006/main">
              <a:ext uri="{FF2B5EF4-FFF2-40B4-BE49-F238E27FC236}">
                <a16:creationId xmlns:a16="http://schemas.microsoft.com/office/drawing/2014/main" id="{5BCFAFBC-C922-4399-9240-38A83B576D32}"/>
              </a:ext>
            </a:extLst>
          </p:cNvPr>
          <p:cNvSpPr>
            <a:spLocks xmlns:a="http://schemas.openxmlformats.org/drawingml/2006/main" noGrp="1"/>
          </p:cNvSpPr>
          <p:nvPr/>
        </p:nvSpPr>
        <p:spPr>
          <a:xfrm xmlns:a="http://schemas.openxmlformats.org/drawingml/2006/main">
            <a:off x="876300" y="2095500"/>
            <a:ext cx="3467100" cy="3676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100" b="1">
                <a:solidFill>
                  <a:srgbClr val="FFFFFF"/>
                </a:solidFill>
                <a:latin typeface="Arial"/>
                <a:ea typeface="Arial"/>
                <a:cs typeface="Arial"/>
              </a:defRPr>
            </a:pPr>
            <a:r>
              <a:rPr sz="2100" b="1">
                <a:solidFill>
                  <a:srgbClr val="FFFFFF"/>
                </a:solidFill>
                <a:latin typeface="Arial"/>
                <a:ea typeface="Arial"/>
                <a:cs typeface="Arial"/>
              </a:rPr>
              <a:t>Write one sentence for each of R306, R309, and R110 — this is graded evidence, not a private note.</a:t>
            </a:r>
          </a:p>
        </p:txBody>
      </p:sp>
      <p:sp>
        <p:nvSpPr>
          <p:cNvPr id="8" name="work-label">
            <a:extLst xmlns:a="http://schemas.openxmlformats.org/drawingml/2006/main">
              <a:ext uri="{FF2B5EF4-FFF2-40B4-BE49-F238E27FC236}">
                <a16:creationId xmlns:a16="http://schemas.microsoft.com/office/drawing/2014/main" id="{95A5E8E7-5ADB-44BE-BED6-E97E6AD931AD}"/>
              </a:ext>
            </a:extLst>
          </p:cNvPr>
          <p:cNvSpPr>
            <a:spLocks xmlns:a="http://schemas.openxmlformats.org/drawingml/2006/main" noGrp="1"/>
          </p:cNvSpPr>
          <p:nvPr/>
        </p:nvSpPr>
        <p:spPr>
          <a:xfrm xmlns:a="http://schemas.openxmlformats.org/drawingml/2006/main">
            <a:off x="5029200" y="1847850"/>
            <a:ext cx="6553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WORK THROUGH IT</a:t>
            </a:r>
          </a:p>
        </p:txBody>
      </p:sp>
      <p:sp>
        <p:nvSpPr>
          <p:cNvPr id="9" name="exercise-no-0">
            <a:extLst xmlns:a="http://schemas.openxmlformats.org/drawingml/2006/main">
              <a:ext uri="{FF2B5EF4-FFF2-40B4-BE49-F238E27FC236}">
                <a16:creationId xmlns:a16="http://schemas.microsoft.com/office/drawing/2014/main" id="{F9E344B0-5D98-430C-8E9E-1DE6C43FDA78}"/>
              </a:ext>
            </a:extLst>
          </p:cNvPr>
          <p:cNvSpPr>
            <a:spLocks xmlns:a="http://schemas.openxmlformats.org/drawingml/2006/main" noGrp="1"/>
          </p:cNvSpPr>
          <p:nvPr/>
        </p:nvSpPr>
        <p:spPr>
          <a:xfrm xmlns:a="http://schemas.openxmlformats.org/drawingml/2006/main">
            <a:off x="5029200" y="22479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1.</a:t>
            </a:r>
          </a:p>
        </p:txBody>
      </p:sp>
      <p:sp>
        <p:nvSpPr>
          <p:cNvPr id="10" name="exercise-step-0">
            <a:extLst xmlns:a="http://schemas.openxmlformats.org/drawingml/2006/main">
              <a:ext uri="{FF2B5EF4-FFF2-40B4-BE49-F238E27FC236}">
                <a16:creationId xmlns:a16="http://schemas.microsoft.com/office/drawing/2014/main" id="{6E402FD1-D326-43F5-B956-F0173F77CED4}"/>
              </a:ext>
            </a:extLst>
          </p:cNvPr>
          <p:cNvSpPr>
            <a:spLocks xmlns:a="http://schemas.openxmlformats.org/drawingml/2006/main" noGrp="1"/>
          </p:cNvSpPr>
          <p:nvPr/>
        </p:nvSpPr>
        <p:spPr>
          <a:xfrm xmlns:a="http://schemas.openxmlformats.org/drawingml/2006/main">
            <a:off x="5467350" y="22479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Name which explanation (measurement error, genuine extreme, missing variable) applies to each room.</a:t>
            </a:r>
          </a:p>
        </p:txBody>
      </p:sp>
      <p:sp>
        <p:nvSpPr>
          <p:cNvPr id="11" name="exercise-no-1">
            <a:extLst xmlns:a="http://schemas.openxmlformats.org/drawingml/2006/main">
              <a:ext uri="{FF2B5EF4-FFF2-40B4-BE49-F238E27FC236}">
                <a16:creationId xmlns:a16="http://schemas.microsoft.com/office/drawing/2014/main" id="{98F8ED9E-70C0-4D95-A8C9-FF03B3052D86}"/>
              </a:ext>
            </a:extLst>
          </p:cNvPr>
          <p:cNvSpPr>
            <a:spLocks xmlns:a="http://schemas.openxmlformats.org/drawingml/2006/main" noGrp="1"/>
          </p:cNvSpPr>
          <p:nvPr/>
        </p:nvSpPr>
        <p:spPr>
          <a:xfrm xmlns:a="http://schemas.openxmlformats.org/drawingml/2006/main">
            <a:off x="5029200" y="31242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2.</a:t>
            </a:r>
          </a:p>
        </p:txBody>
      </p:sp>
      <p:sp>
        <p:nvSpPr>
          <p:cNvPr id="12" name="exercise-step-1">
            <a:extLst xmlns:a="http://schemas.openxmlformats.org/drawingml/2006/main">
              <a:ext uri="{FF2B5EF4-FFF2-40B4-BE49-F238E27FC236}">
                <a16:creationId xmlns:a16="http://schemas.microsoft.com/office/drawing/2014/main" id="{F0CB7F21-0C7C-495E-9C9B-AE2249FC841D}"/>
              </a:ext>
            </a:extLst>
          </p:cNvPr>
          <p:cNvSpPr>
            <a:spLocks xmlns:a="http://schemas.openxmlformats.org/drawingml/2006/main" noGrp="1"/>
          </p:cNvSpPr>
          <p:nvPr/>
        </p:nvSpPr>
        <p:spPr>
          <a:xfrm xmlns:a="http://schemas.openxmlformats.org/drawingml/2006/main">
            <a:off x="5467350" y="31242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R306: justify KEEP, citing the server-room explanation.</a:t>
            </a:r>
          </a:p>
        </p:txBody>
      </p:sp>
      <p:sp>
        <p:nvSpPr>
          <p:cNvPr id="13" name="exercise-no-2">
            <a:extLst xmlns:a="http://schemas.openxmlformats.org/drawingml/2006/main">
              <a:ext uri="{FF2B5EF4-FFF2-40B4-BE49-F238E27FC236}">
                <a16:creationId xmlns:a16="http://schemas.microsoft.com/office/drawing/2014/main" id="{45887132-210F-4EFF-B857-46EE9F346308}"/>
              </a:ext>
            </a:extLst>
          </p:cNvPr>
          <p:cNvSpPr>
            <a:spLocks xmlns:a="http://schemas.openxmlformats.org/drawingml/2006/main" noGrp="1"/>
          </p:cNvSpPr>
          <p:nvPr/>
        </p:nvSpPr>
        <p:spPr>
          <a:xfrm xmlns:a="http://schemas.openxmlformats.org/drawingml/2006/main">
            <a:off x="5029200" y="40005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3.</a:t>
            </a:r>
          </a:p>
        </p:txBody>
      </p:sp>
      <p:sp>
        <p:nvSpPr>
          <p:cNvPr id="14" name="exercise-step-2">
            <a:extLst xmlns:a="http://schemas.openxmlformats.org/drawingml/2006/main">
              <a:ext uri="{FF2B5EF4-FFF2-40B4-BE49-F238E27FC236}">
                <a16:creationId xmlns:a16="http://schemas.microsoft.com/office/drawing/2014/main" id="{4691E3EF-BAEB-41E0-8C9A-4EECE14E5AAF}"/>
              </a:ext>
            </a:extLst>
          </p:cNvPr>
          <p:cNvSpPr>
            <a:spLocks xmlns:a="http://schemas.openxmlformats.org/drawingml/2006/main" noGrp="1"/>
          </p:cNvSpPr>
          <p:nvPr/>
        </p:nvSpPr>
        <p:spPr>
          <a:xfrm xmlns:a="http://schemas.openxmlformats.org/drawingml/2006/main">
            <a:off x="5467350" y="40005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R309 and R110: since the rules disagree or both miss, justify INVESTIGATE rather than a silent keep or exclude.</a:t>
            </a:r>
          </a:p>
        </p:txBody>
      </p:sp>
      <p:sp>
        <p:nvSpPr>
          <p:cNvPr id="15" name="exercise-no-3">
            <a:extLst xmlns:a="http://schemas.openxmlformats.org/drawingml/2006/main">
              <a:ext uri="{FF2B5EF4-FFF2-40B4-BE49-F238E27FC236}">
                <a16:creationId xmlns:a16="http://schemas.microsoft.com/office/drawing/2014/main" id="{D41F7AE8-2E45-4E52-8C4E-C6CB5950B950}"/>
              </a:ext>
            </a:extLst>
          </p:cNvPr>
          <p:cNvSpPr>
            <a:spLocks xmlns:a="http://schemas.openxmlformats.org/drawingml/2006/main" noGrp="1"/>
          </p:cNvSpPr>
          <p:nvPr/>
        </p:nvSpPr>
        <p:spPr>
          <a:xfrm xmlns:a="http://schemas.openxmlformats.org/drawingml/2006/main">
            <a:off x="5029200" y="48768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4.</a:t>
            </a:r>
          </a:p>
        </p:txBody>
      </p:sp>
      <p:sp>
        <p:nvSpPr>
          <p:cNvPr id="16" name="exercise-step-3">
            <a:extLst xmlns:a="http://schemas.openxmlformats.org/drawingml/2006/main">
              <a:ext uri="{FF2B5EF4-FFF2-40B4-BE49-F238E27FC236}">
                <a16:creationId xmlns:a16="http://schemas.microsoft.com/office/drawing/2014/main" id="{AAB57B93-F894-40DC-9F22-DC869DEC50B0}"/>
              </a:ext>
            </a:extLst>
          </p:cNvPr>
          <p:cNvSpPr>
            <a:spLocks xmlns:a="http://schemas.openxmlformats.org/drawingml/2006/main" noGrp="1"/>
          </p:cNvSpPr>
          <p:nvPr/>
        </p:nvSpPr>
        <p:spPr>
          <a:xfrm xmlns:a="http://schemas.openxmlformats.org/drawingml/2006/main">
            <a:off x="5467350" y="48768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Save all three sentences in the cell provided — do not delete any flagged row from the DataFrame itself.</a:t>
            </a:r>
          </a:p>
        </p:txBody>
      </p:sp>
    </p:spTree>
    <p:extLst>
      <p:ext uri="{BB962C8B-B14F-4D97-AF65-F5344CB8AC3E}">
        <p14:creationId xmlns:p14="http://schemas.microsoft.com/office/powerpoint/2010/main" val="2000096615"/>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kicker">
            <a:extLst xmlns:a="http://schemas.openxmlformats.org/drawingml/2006/main">
              <a:ext uri="{FF2B5EF4-FFF2-40B4-BE49-F238E27FC236}">
                <a16:creationId xmlns:a16="http://schemas.microsoft.com/office/drawing/2014/main" id="{35E56C56-3672-4593-8326-004F7D507851}"/>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PREDICT BEFORE YOU RUN</a:t>
            </a:r>
          </a:p>
        </p:txBody>
      </p:sp>
      <p:sp>
        <p:nvSpPr>
          <p:cNvPr id="2" name="title">
            <a:extLst xmlns:a="http://schemas.openxmlformats.org/drawingml/2006/main">
              <a:ext uri="{FF2B5EF4-FFF2-40B4-BE49-F238E27FC236}">
                <a16:creationId xmlns:a16="http://schemas.microsoft.com/office/drawing/2014/main" id="{0A7AB243-C237-4401-A221-57386626BC9B}"/>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Predict: is R306 still an outlier on area_m2?</a:t>
            </a:r>
          </a:p>
        </p:txBody>
      </p:sp>
      <p:sp>
        <p:nvSpPr>
          <p:cNvPr id="3" name="">
            <a:extLst xmlns:a="http://schemas.openxmlformats.org/drawingml/2006/main">
              <a:ext uri="{FF2B5EF4-FFF2-40B4-BE49-F238E27FC236}">
                <a16:creationId xmlns:a16="http://schemas.microsoft.com/office/drawing/2014/main" id="{A3F7084B-ECFD-4421-B236-B6DFE8834A53}"/>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B573A380-5CCA-440F-ADB9-FEE884649515}"/>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5 · Meeting B · Grouping and Outlier Studio</a:t>
            </a:r>
          </a:p>
        </p:txBody>
      </p:sp>
      <p:sp>
        <p:nvSpPr>
          <p:cNvPr id="5" name="page">
            <a:extLst xmlns:a="http://schemas.openxmlformats.org/drawingml/2006/main">
              <a:ext uri="{FF2B5EF4-FFF2-40B4-BE49-F238E27FC236}">
                <a16:creationId xmlns:a16="http://schemas.microsoft.com/office/drawing/2014/main" id="{4BE2BE1C-0D4C-4F84-AAD5-7D89112F45CA}"/>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28</a:t>
            </a:r>
          </a:p>
        </p:txBody>
      </p:sp>
      <p:sp>
        <p:nvSpPr>
          <p:cNvPr id="6" name="code-panel">
            <a:extLst xmlns:a="http://schemas.openxmlformats.org/drawingml/2006/main">
              <a:ext uri="{FF2B5EF4-FFF2-40B4-BE49-F238E27FC236}">
                <a16:creationId xmlns:a16="http://schemas.microsoft.com/office/drawing/2014/main" id="{E9D35F55-A445-40EF-8845-D1A697FE6489}"/>
              </a:ext>
            </a:extLst>
          </p:cNvPr>
          <p:cNvSpPr>
            <a:spLocks xmlns:a="http://schemas.openxmlformats.org/drawingml/2006/main" noGrp="1"/>
          </p:cNvSpPr>
          <p:nvPr/>
        </p:nvSpPr>
        <p:spPr>
          <a:xfrm xmlns:a="http://schemas.openxmlformats.org/drawingml/2006/main">
            <a:off x="609600" y="1809750"/>
            <a:ext cx="6324600" cy="3238500"/>
          </a:xfrm>
          <a:prstGeom xmlns:a="http://schemas.openxmlformats.org/drawingml/2006/main" prst="roundRect">
            <a:avLst>
              <a:gd name="adj" fmla="val 2353"/>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6FB52C26-8C19-4AA3-8954-D42C2D30260A}"/>
              </a:ext>
            </a:extLst>
          </p:cNvPr>
          <p:cNvSpPr>
            <a:spLocks xmlns:a="http://schemas.openxmlformats.org/drawingml/2006/main" noGrp="1"/>
          </p:cNvSpPr>
          <p:nvPr/>
        </p:nvSpPr>
        <p:spPr>
          <a:xfrm xmlns:a="http://schemas.openxmlformats.org/drawingml/2006/main">
            <a:off x="857250" y="2038350"/>
            <a:ext cx="58293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df["iqr_flag_area"] = flag_iqr(df, "area_m2")</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df["z_flag_area"] = flag_zscore(df, "area_m2")</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cols = ["area_m2", "iqr_flag_area", "z_flag_area"]</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print(df.loc[df["room_id"] == "R306", cols])</a:t>
            </a:r>
          </a:p>
        </p:txBody>
      </p:sp>
      <p:sp>
        <p:nvSpPr>
          <p:cNvPr id="8" name="question">
            <a:extLst xmlns:a="http://schemas.openxmlformats.org/drawingml/2006/main">
              <a:ext uri="{FF2B5EF4-FFF2-40B4-BE49-F238E27FC236}">
                <a16:creationId xmlns:a16="http://schemas.microsoft.com/office/drawing/2014/main" id="{0DA6B81F-354C-4DEC-9D6D-53BB90395AAD}"/>
              </a:ext>
            </a:extLst>
          </p:cNvPr>
          <p:cNvSpPr>
            <a:spLocks xmlns:a="http://schemas.openxmlformats.org/drawingml/2006/main" noGrp="1"/>
          </p:cNvSpPr>
          <p:nvPr/>
        </p:nvSpPr>
        <p:spPr>
          <a:xfrm xmlns:a="http://schemas.openxmlformats.org/drawingml/2006/main">
            <a:off x="7315200" y="1809750"/>
            <a:ext cx="4267200" cy="86410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R306 was True/True on energy. What happens on area_m2 (8.0 m²)?</a:t>
            </a:r>
          </a:p>
        </p:txBody>
      </p:sp>
      <p:sp>
        <p:nvSpPr>
          <p:cNvPr id="9" name="opt-0">
            <a:extLst xmlns:a="http://schemas.openxmlformats.org/drawingml/2006/main">
              <a:ext uri="{FF2B5EF4-FFF2-40B4-BE49-F238E27FC236}">
                <a16:creationId xmlns:a16="http://schemas.microsoft.com/office/drawing/2014/main" id="{5F41B49B-A132-41A7-A3F5-6282FF279F48}"/>
              </a:ext>
            </a:extLst>
          </p:cNvPr>
          <p:cNvSpPr>
            <a:spLocks xmlns:a="http://schemas.openxmlformats.org/drawingml/2006/main" noGrp="1"/>
          </p:cNvSpPr>
          <p:nvPr/>
        </p:nvSpPr>
        <p:spPr>
          <a:xfrm xmlns:a="http://schemas.openxmlformats.org/drawingml/2006/main">
            <a:off x="7315200" y="2788158"/>
            <a:ext cx="4267200" cy="514350"/>
          </a:xfrm>
          <a:prstGeom xmlns:a="http://schemas.openxmlformats.org/drawingml/2006/main" prst="roundRect">
            <a:avLst>
              <a:gd name="adj" fmla="val 11111"/>
            </a:avLst>
          </a:prstGeom>
          <a:solidFill xmlns:a="http://schemas.openxmlformats.org/drawingml/2006/main">
            <a:srgbClr val="F6F7F9"/>
          </a:solidFill>
          <a:ln xmlns:a="http://schemas.openxmlformats.org/drawingml/2006/main" w="9525">
            <a:solidFill>
              <a:srgbClr val="DDE0E5"/>
            </a:solidFill>
            <a:prstDash val="solid"/>
          </a:ln>
        </p:spPr>
      </p:sp>
      <p:sp>
        <p:nvSpPr>
          <p:cNvPr id="10" name="opt-letter-0">
            <a:extLst xmlns:a="http://schemas.openxmlformats.org/drawingml/2006/main">
              <a:ext uri="{FF2B5EF4-FFF2-40B4-BE49-F238E27FC236}">
                <a16:creationId xmlns:a16="http://schemas.microsoft.com/office/drawing/2014/main" id="{5013693B-C75D-4093-8F26-659582CB744D}"/>
              </a:ext>
            </a:extLst>
          </p:cNvPr>
          <p:cNvSpPr>
            <a:spLocks xmlns:a="http://schemas.openxmlformats.org/drawingml/2006/main" noGrp="1"/>
          </p:cNvSpPr>
          <p:nvPr/>
        </p:nvSpPr>
        <p:spPr>
          <a:xfrm xmlns:a="http://schemas.openxmlformats.org/drawingml/2006/main">
            <a:off x="7448550" y="2931033"/>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A</a:t>
            </a:r>
          </a:p>
        </p:txBody>
      </p:sp>
      <p:sp>
        <p:nvSpPr>
          <p:cNvPr id="11" name="opt-text-0">
            <a:extLst xmlns:a="http://schemas.openxmlformats.org/drawingml/2006/main">
              <a:ext uri="{FF2B5EF4-FFF2-40B4-BE49-F238E27FC236}">
                <a16:creationId xmlns:a16="http://schemas.microsoft.com/office/drawing/2014/main" id="{777CB361-E7F5-4905-AC41-B939129E44AA}"/>
              </a:ext>
            </a:extLst>
          </p:cNvPr>
          <p:cNvSpPr>
            <a:spLocks xmlns:a="http://schemas.openxmlformats.org/drawingml/2006/main" noGrp="1"/>
          </p:cNvSpPr>
          <p:nvPr/>
        </p:nvSpPr>
        <p:spPr>
          <a:xfrm xmlns:a="http://schemas.openxmlformats.org/drawingml/2006/main">
            <a:off x="7772400" y="2826258"/>
            <a:ext cx="3676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True / True again — R306 is already established as an outlier</a:t>
            </a:r>
          </a:p>
        </p:txBody>
      </p:sp>
      <p:sp>
        <p:nvSpPr>
          <p:cNvPr id="12" name="opt-1">
            <a:extLst xmlns:a="http://schemas.openxmlformats.org/drawingml/2006/main">
              <a:ext uri="{FF2B5EF4-FFF2-40B4-BE49-F238E27FC236}">
                <a16:creationId xmlns:a16="http://schemas.microsoft.com/office/drawing/2014/main" id="{B57B3633-778D-429D-A074-5F2EBC9C90F2}"/>
              </a:ext>
            </a:extLst>
          </p:cNvPr>
          <p:cNvSpPr>
            <a:spLocks xmlns:a="http://schemas.openxmlformats.org/drawingml/2006/main" noGrp="1"/>
          </p:cNvSpPr>
          <p:nvPr/>
        </p:nvSpPr>
        <p:spPr>
          <a:xfrm xmlns:a="http://schemas.openxmlformats.org/drawingml/2006/main">
            <a:off x="7315200" y="3359658"/>
            <a:ext cx="4267200" cy="514350"/>
          </a:xfrm>
          <a:prstGeom xmlns:a="http://schemas.openxmlformats.org/drawingml/2006/main" prst="roundRect">
            <a:avLst>
              <a:gd name="adj" fmla="val 11111"/>
            </a:avLst>
          </a:prstGeom>
          <a:solidFill xmlns:a="http://schemas.openxmlformats.org/drawingml/2006/main">
            <a:srgbClr val="F6F7F9"/>
          </a:solidFill>
          <a:ln xmlns:a="http://schemas.openxmlformats.org/drawingml/2006/main" w="9525">
            <a:solidFill>
              <a:srgbClr val="DDE0E5"/>
            </a:solidFill>
            <a:prstDash val="solid"/>
          </a:ln>
        </p:spPr>
      </p:sp>
      <p:sp>
        <p:nvSpPr>
          <p:cNvPr id="13" name="opt-letter-1">
            <a:extLst xmlns:a="http://schemas.openxmlformats.org/drawingml/2006/main">
              <a:ext uri="{FF2B5EF4-FFF2-40B4-BE49-F238E27FC236}">
                <a16:creationId xmlns:a16="http://schemas.microsoft.com/office/drawing/2014/main" id="{0763E9F2-5BCF-46E3-85D3-FDC731ED158E}"/>
              </a:ext>
            </a:extLst>
          </p:cNvPr>
          <p:cNvSpPr>
            <a:spLocks xmlns:a="http://schemas.openxmlformats.org/drawingml/2006/main" noGrp="1"/>
          </p:cNvSpPr>
          <p:nvPr/>
        </p:nvSpPr>
        <p:spPr>
          <a:xfrm xmlns:a="http://schemas.openxmlformats.org/drawingml/2006/main">
            <a:off x="7448550" y="3502533"/>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B</a:t>
            </a:r>
          </a:p>
        </p:txBody>
      </p:sp>
      <p:sp>
        <p:nvSpPr>
          <p:cNvPr id="14" name="opt-text-1">
            <a:extLst xmlns:a="http://schemas.openxmlformats.org/drawingml/2006/main">
              <a:ext uri="{FF2B5EF4-FFF2-40B4-BE49-F238E27FC236}">
                <a16:creationId xmlns:a16="http://schemas.microsoft.com/office/drawing/2014/main" id="{67E7089B-9642-462C-AAB3-941C11F56722}"/>
              </a:ext>
            </a:extLst>
          </p:cNvPr>
          <p:cNvSpPr>
            <a:spLocks xmlns:a="http://schemas.openxmlformats.org/drawingml/2006/main" noGrp="1"/>
          </p:cNvSpPr>
          <p:nvPr/>
        </p:nvSpPr>
        <p:spPr>
          <a:xfrm xmlns:a="http://schemas.openxmlformats.org/drawingml/2006/main">
            <a:off x="7772400" y="3397758"/>
            <a:ext cx="3676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False / False — neither rule flags it on this column</a:t>
            </a:r>
          </a:p>
        </p:txBody>
      </p:sp>
      <p:sp>
        <p:nvSpPr>
          <p:cNvPr id="15" name="opt-2">
            <a:extLst xmlns:a="http://schemas.openxmlformats.org/drawingml/2006/main">
              <a:ext uri="{FF2B5EF4-FFF2-40B4-BE49-F238E27FC236}">
                <a16:creationId xmlns:a16="http://schemas.microsoft.com/office/drawing/2014/main" id="{BADFAC8F-71BC-4EE7-8B49-7B10D87DEED1}"/>
              </a:ext>
            </a:extLst>
          </p:cNvPr>
          <p:cNvSpPr>
            <a:spLocks xmlns:a="http://schemas.openxmlformats.org/drawingml/2006/main" noGrp="1"/>
          </p:cNvSpPr>
          <p:nvPr/>
        </p:nvSpPr>
        <p:spPr>
          <a:xfrm xmlns:a="http://schemas.openxmlformats.org/drawingml/2006/main">
            <a:off x="7315200" y="3931158"/>
            <a:ext cx="4267200" cy="514350"/>
          </a:xfrm>
          <a:prstGeom xmlns:a="http://schemas.openxmlformats.org/drawingml/2006/main" prst="roundRect">
            <a:avLst>
              <a:gd name="adj" fmla="val 11111"/>
            </a:avLst>
          </a:prstGeom>
          <a:solidFill xmlns:a="http://schemas.openxmlformats.org/drawingml/2006/main">
            <a:srgbClr val="F6F7F9"/>
          </a:solidFill>
          <a:ln xmlns:a="http://schemas.openxmlformats.org/drawingml/2006/main" w="9525">
            <a:solidFill>
              <a:srgbClr val="DDE0E5"/>
            </a:solidFill>
            <a:prstDash val="solid"/>
          </a:ln>
        </p:spPr>
      </p:sp>
      <p:sp>
        <p:nvSpPr>
          <p:cNvPr id="16" name="opt-letter-2">
            <a:extLst xmlns:a="http://schemas.openxmlformats.org/drawingml/2006/main">
              <a:ext uri="{FF2B5EF4-FFF2-40B4-BE49-F238E27FC236}">
                <a16:creationId xmlns:a16="http://schemas.microsoft.com/office/drawing/2014/main" id="{8A343D40-4874-4281-B585-E696D05C62C4}"/>
              </a:ext>
            </a:extLst>
          </p:cNvPr>
          <p:cNvSpPr>
            <a:spLocks xmlns:a="http://schemas.openxmlformats.org/drawingml/2006/main" noGrp="1"/>
          </p:cNvSpPr>
          <p:nvPr/>
        </p:nvSpPr>
        <p:spPr>
          <a:xfrm xmlns:a="http://schemas.openxmlformats.org/drawingml/2006/main">
            <a:off x="7448550" y="4074033"/>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C</a:t>
            </a:r>
          </a:p>
        </p:txBody>
      </p:sp>
      <p:sp>
        <p:nvSpPr>
          <p:cNvPr id="17" name="opt-text-2">
            <a:extLst xmlns:a="http://schemas.openxmlformats.org/drawingml/2006/main">
              <a:ext uri="{FF2B5EF4-FFF2-40B4-BE49-F238E27FC236}">
                <a16:creationId xmlns:a16="http://schemas.microsoft.com/office/drawing/2014/main" id="{25FD4B60-09DD-4BDE-9D3B-DD97D18A36D6}"/>
              </a:ext>
            </a:extLst>
          </p:cNvPr>
          <p:cNvSpPr>
            <a:spLocks xmlns:a="http://schemas.openxmlformats.org/drawingml/2006/main" noGrp="1"/>
          </p:cNvSpPr>
          <p:nvPr/>
        </p:nvSpPr>
        <p:spPr>
          <a:xfrm xmlns:a="http://schemas.openxmlformats.org/drawingml/2006/main">
            <a:off x="7772400" y="3969258"/>
            <a:ext cx="3676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True / False — only the IQR rule still flags it</a:t>
            </a:r>
          </a:p>
        </p:txBody>
      </p:sp>
      <p:sp>
        <p:nvSpPr>
          <p:cNvPr id="18" name="opt-3">
            <a:extLst xmlns:a="http://schemas.openxmlformats.org/drawingml/2006/main">
              <a:ext uri="{FF2B5EF4-FFF2-40B4-BE49-F238E27FC236}">
                <a16:creationId xmlns:a16="http://schemas.microsoft.com/office/drawing/2014/main" id="{9EA295AB-F5E8-4E90-8DEF-3D250C5C8114}"/>
              </a:ext>
            </a:extLst>
          </p:cNvPr>
          <p:cNvSpPr>
            <a:spLocks xmlns:a="http://schemas.openxmlformats.org/drawingml/2006/main" noGrp="1"/>
          </p:cNvSpPr>
          <p:nvPr/>
        </p:nvSpPr>
        <p:spPr>
          <a:xfrm xmlns:a="http://schemas.openxmlformats.org/drawingml/2006/main">
            <a:off x="7315200" y="4502658"/>
            <a:ext cx="4267200" cy="514350"/>
          </a:xfrm>
          <a:prstGeom xmlns:a="http://schemas.openxmlformats.org/drawingml/2006/main" prst="roundRect">
            <a:avLst>
              <a:gd name="adj" fmla="val 11111"/>
            </a:avLst>
          </a:prstGeom>
          <a:solidFill xmlns:a="http://schemas.openxmlformats.org/drawingml/2006/main">
            <a:srgbClr val="F6F7F9"/>
          </a:solidFill>
          <a:ln xmlns:a="http://schemas.openxmlformats.org/drawingml/2006/main" w="9525">
            <a:solidFill>
              <a:srgbClr val="DDE0E5"/>
            </a:solidFill>
            <a:prstDash val="solid"/>
          </a:ln>
        </p:spPr>
      </p:sp>
      <p:sp>
        <p:nvSpPr>
          <p:cNvPr id="19" name="opt-letter-3">
            <a:extLst xmlns:a="http://schemas.openxmlformats.org/drawingml/2006/main">
              <a:ext uri="{FF2B5EF4-FFF2-40B4-BE49-F238E27FC236}">
                <a16:creationId xmlns:a16="http://schemas.microsoft.com/office/drawing/2014/main" id="{9A570991-3E1F-4072-B2FF-62E19C40D3B9}"/>
              </a:ext>
            </a:extLst>
          </p:cNvPr>
          <p:cNvSpPr>
            <a:spLocks xmlns:a="http://schemas.openxmlformats.org/drawingml/2006/main" noGrp="1"/>
          </p:cNvSpPr>
          <p:nvPr/>
        </p:nvSpPr>
        <p:spPr>
          <a:xfrm xmlns:a="http://schemas.openxmlformats.org/drawingml/2006/main">
            <a:off x="7448550" y="4645533"/>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D</a:t>
            </a:r>
          </a:p>
        </p:txBody>
      </p:sp>
      <p:sp>
        <p:nvSpPr>
          <p:cNvPr id="20" name="opt-text-3">
            <a:extLst xmlns:a="http://schemas.openxmlformats.org/drawingml/2006/main">
              <a:ext uri="{FF2B5EF4-FFF2-40B4-BE49-F238E27FC236}">
                <a16:creationId xmlns:a16="http://schemas.microsoft.com/office/drawing/2014/main" id="{36C501C2-3913-4003-BEE8-94CB3CBAF499}"/>
              </a:ext>
            </a:extLst>
          </p:cNvPr>
          <p:cNvSpPr>
            <a:spLocks xmlns:a="http://schemas.openxmlformats.org/drawingml/2006/main" noGrp="1"/>
          </p:cNvSpPr>
          <p:nvPr/>
        </p:nvSpPr>
        <p:spPr>
          <a:xfrm xmlns:a="http://schemas.openxmlformats.org/drawingml/2006/main">
            <a:off x="7772400" y="4540758"/>
            <a:ext cx="3676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False / True — only the z-score rule still flags it</a:t>
            </a:r>
          </a:p>
        </p:txBody>
      </p:sp>
      <p:sp>
        <p:nvSpPr>
          <p:cNvPr id="21" name="answer-panel">
            <a:extLst xmlns:a="http://schemas.openxmlformats.org/drawingml/2006/main">
              <a:ext uri="{FF2B5EF4-FFF2-40B4-BE49-F238E27FC236}">
                <a16:creationId xmlns:a16="http://schemas.microsoft.com/office/drawing/2014/main" id="{8762E5F9-D254-4B90-92A0-40175274DE3D}"/>
              </a:ext>
            </a:extLst>
          </p:cNvPr>
          <p:cNvSpPr>
            <a:spLocks xmlns:a="http://schemas.openxmlformats.org/drawingml/2006/main" noGrp="1"/>
          </p:cNvSpPr>
          <p:nvPr/>
        </p:nvSpPr>
        <p:spPr>
          <a:xfrm xmlns:a="http://schemas.openxmlformats.org/drawingml/2006/main">
            <a:off x="609600" y="5219700"/>
            <a:ext cx="10972800" cy="914400"/>
          </a:xfrm>
          <a:prstGeom xmlns:a="http://schemas.openxmlformats.org/drawingml/2006/main" prst="roundRect">
            <a:avLst>
              <a:gd name="adj" fmla="val 8333"/>
            </a:avLst>
          </a:prstGeom>
          <a:solidFill xmlns:a="http://schemas.openxmlformats.org/drawingml/2006/main">
            <a:srgbClr val="F3F7FB"/>
          </a:solidFill>
          <a:ln xmlns:a="http://schemas.openxmlformats.org/drawingml/2006/main" w="9525">
            <a:solidFill>
              <a:srgbClr val="2E74B5"/>
            </a:solidFill>
            <a:prstDash val="solid"/>
          </a:ln>
        </p:spPr>
      </p:sp>
      <p:sp>
        <p:nvSpPr>
          <p:cNvPr id="22" name="answer-label">
            <a:extLst xmlns:a="http://schemas.openxmlformats.org/drawingml/2006/main">
              <a:ext uri="{FF2B5EF4-FFF2-40B4-BE49-F238E27FC236}">
                <a16:creationId xmlns:a16="http://schemas.microsoft.com/office/drawing/2014/main" id="{064553FD-6FC0-4739-9155-BBAFD26062A7}"/>
              </a:ext>
            </a:extLst>
          </p:cNvPr>
          <p:cNvSpPr>
            <a:spLocks xmlns:a="http://schemas.openxmlformats.org/drawingml/2006/main" noGrp="1"/>
          </p:cNvSpPr>
          <p:nvPr/>
        </p:nvSpPr>
        <p:spPr>
          <a:xfrm xmlns:a="http://schemas.openxmlformats.org/drawingml/2006/main">
            <a:off x="819150" y="53721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ANSWER  ·  B</a:t>
            </a:r>
          </a:p>
        </p:txBody>
      </p:sp>
      <p:sp>
        <p:nvSpPr>
          <p:cNvPr id="23" name="why">
            <a:extLst xmlns:a="http://schemas.openxmlformats.org/drawingml/2006/main">
              <a:ext uri="{FF2B5EF4-FFF2-40B4-BE49-F238E27FC236}">
                <a16:creationId xmlns:a16="http://schemas.microsoft.com/office/drawing/2014/main" id="{3A06D851-8C90-4219-9B5A-1D7CCBA51309}"/>
              </a:ext>
            </a:extLst>
          </p:cNvPr>
          <p:cNvSpPr>
            <a:spLocks xmlns:a="http://schemas.openxmlformats.org/drawingml/2006/main" noGrp="1"/>
          </p:cNvSpPr>
          <p:nvPr/>
        </p:nvSpPr>
        <p:spPr>
          <a:xfrm xmlns:a="http://schemas.openxmlformats.org/drawingml/2006/main">
            <a:off x="819150" y="5638800"/>
            <a:ext cx="1055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Verified: z = −1.11, and 8.0 m² sits inside the IQR bounds. Outlier status is never permanent — it depends on the column.</a:t>
            </a:r>
          </a:p>
        </p:txBody>
      </p:sp>
    </p:spTree>
    <p:extLst>
      <p:ext uri="{BB962C8B-B14F-4D97-AF65-F5344CB8AC3E}">
        <p14:creationId xmlns:p14="http://schemas.microsoft.com/office/powerpoint/2010/main" val="2097185520"/>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6DCC0D46-B770-41BD-BC77-C4189190AE58}"/>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35892F87-EA92-446F-91D2-3C61F2AFFA53}"/>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The SAME row can be ordinary on a different variable</a:t>
            </a:r>
          </a:p>
        </p:txBody>
      </p:sp>
      <p:sp>
        <p:nvSpPr>
          <p:cNvPr id="3" name="">
            <a:extLst xmlns:a="http://schemas.openxmlformats.org/drawingml/2006/main">
              <a:ext uri="{FF2B5EF4-FFF2-40B4-BE49-F238E27FC236}">
                <a16:creationId xmlns:a16="http://schemas.microsoft.com/office/drawing/2014/main" id="{BE2A453F-1508-4CFF-A912-6FB9E20EF01B}"/>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FA9B848D-1A31-4084-B0E4-58DCF9603F11}"/>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5 · Meeting B · Grouping and Outlier Studio</a:t>
            </a:r>
          </a:p>
        </p:txBody>
      </p:sp>
      <p:sp>
        <p:nvSpPr>
          <p:cNvPr id="5" name="page">
            <a:extLst xmlns:a="http://schemas.openxmlformats.org/drawingml/2006/main">
              <a:ext uri="{FF2B5EF4-FFF2-40B4-BE49-F238E27FC236}">
                <a16:creationId xmlns:a16="http://schemas.microsoft.com/office/drawing/2014/main" id="{7C945543-7122-4EB3-84F9-226AF339CDD9}"/>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29</a:t>
            </a:r>
          </a:p>
        </p:txBody>
      </p:sp>
      <p:sp>
        <p:nvSpPr>
          <p:cNvPr id="6" name="code-panel">
            <a:extLst xmlns:a="http://schemas.openxmlformats.org/drawingml/2006/main">
              <a:ext uri="{FF2B5EF4-FFF2-40B4-BE49-F238E27FC236}">
                <a16:creationId xmlns:a16="http://schemas.microsoft.com/office/drawing/2014/main" id="{32A9DAEA-5BD4-4126-A568-91241E7F48AB}"/>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E6499E9B-44FD-4BF6-8CC1-B1E03B02329E}"/>
              </a:ext>
            </a:extLst>
          </p:cNvPr>
          <p:cNvSpPr>
            <a:spLocks xmlns:a="http://schemas.openxmlformats.org/drawingml/2006/main" noGrp="1"/>
          </p:cNvSpPr>
          <p:nvPr/>
        </p:nvSpPr>
        <p:spPr>
          <a:xfrm xmlns:a="http://schemas.openxmlformats.org/drawingml/2006/main">
            <a:off x="857250" y="2057400"/>
            <a:ext cx="6400800" cy="29672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df["iqr_flag_area"] = flag_iqr(df, "area_m2")</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df["z_flag_area"] = flag_zscore(df, "area_m2")</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r306 = df.loc[</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df["room_id"] == "R306",</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["room_id", "area_m2",</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"iqr_flag_area", "z_flag_area"],</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print(r306.to_string(index=False))</a:t>
            </a:r>
          </a:p>
        </p:txBody>
      </p:sp>
      <p:sp>
        <p:nvSpPr>
          <p:cNvPr id="8" name="">
            <a:extLst xmlns:a="http://schemas.openxmlformats.org/drawingml/2006/main">
              <a:ext uri="{FF2B5EF4-FFF2-40B4-BE49-F238E27FC236}">
                <a16:creationId xmlns:a16="http://schemas.microsoft.com/office/drawing/2014/main" id="{19FE8CB3-A1F7-40F4-A519-7D3279715532}"/>
              </a:ext>
            </a:extLst>
          </p:cNvPr>
          <p:cNvSpPr>
            <a:spLocks xmlns:a="http://schemas.openxmlformats.org/drawingml/2006/main" noGrp="1"/>
          </p:cNvSpPr>
          <p:nvPr/>
        </p:nvSpPr>
        <p:spPr>
          <a:xfrm xmlns:a="http://schemas.openxmlformats.org/drawingml/2006/main">
            <a:off x="857250" y="5081778"/>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5EA15DF3-4149-4E31-A2A6-6C941EA91725}"/>
              </a:ext>
            </a:extLst>
          </p:cNvPr>
          <p:cNvSpPr>
            <a:spLocks xmlns:a="http://schemas.openxmlformats.org/drawingml/2006/main" noGrp="1"/>
          </p:cNvSpPr>
          <p:nvPr/>
        </p:nvSpPr>
        <p:spPr>
          <a:xfrm xmlns:a="http://schemas.openxmlformats.org/drawingml/2006/main">
            <a:off x="857250" y="5196078"/>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4DB06838-826C-4004-94A1-739F5BE0726F}"/>
              </a:ext>
            </a:extLst>
          </p:cNvPr>
          <p:cNvSpPr>
            <a:spLocks xmlns:a="http://schemas.openxmlformats.org/drawingml/2006/main" noGrp="1"/>
          </p:cNvSpPr>
          <p:nvPr/>
        </p:nvSpPr>
        <p:spPr>
          <a:xfrm xmlns:a="http://schemas.openxmlformats.org/drawingml/2006/main">
            <a:off x="857250" y="5424678"/>
            <a:ext cx="6400800" cy="4046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room_id  area_m2  iqr_flag_area  z_flag_area</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   R306      8.0          False        False</a:t>
            </a:r>
          </a:p>
        </p:txBody>
      </p:sp>
      <p:sp>
        <p:nvSpPr>
          <p:cNvPr id="11" name="explain-head">
            <a:extLst xmlns:a="http://schemas.openxmlformats.org/drawingml/2006/main">
              <a:ext uri="{FF2B5EF4-FFF2-40B4-BE49-F238E27FC236}">
                <a16:creationId xmlns:a16="http://schemas.microsoft.com/office/drawing/2014/main" id="{5973A7D6-145E-4891-8449-F153D3BC46A6}"/>
              </a:ext>
            </a:extLst>
          </p:cNvPr>
          <p:cNvSpPr>
            <a:spLocks xmlns:a="http://schemas.openxmlformats.org/drawingml/2006/main" noGrp="1"/>
          </p:cNvSpPr>
          <p:nvPr/>
        </p:nvSpPr>
        <p:spPr>
          <a:xfrm xmlns:a="http://schemas.openxmlformats.org/drawingml/2006/main">
            <a:off x="7886700" y="2286000"/>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Outlier status is column-specific</a:t>
            </a:r>
          </a:p>
        </p:txBody>
      </p:sp>
      <p:sp>
        <p:nvSpPr>
          <p:cNvPr id="12" name="explain-body">
            <a:extLst xmlns:a="http://schemas.openxmlformats.org/drawingml/2006/main">
              <a:ext uri="{FF2B5EF4-FFF2-40B4-BE49-F238E27FC236}">
                <a16:creationId xmlns:a16="http://schemas.microsoft.com/office/drawing/2014/main" id="{AC8218E0-CC43-4A48-8B61-F094CE8D2F81}"/>
              </a:ext>
            </a:extLst>
          </p:cNvPr>
          <p:cNvSpPr>
            <a:spLocks xmlns:a="http://schemas.openxmlformats.org/drawingml/2006/main" noGrp="1"/>
          </p:cNvSpPr>
          <p:nvPr/>
        </p:nvSpPr>
        <p:spPr>
          <a:xfrm xmlns:a="http://schemas.openxmlformats.org/drawingml/2006/main">
            <a:off x="7886700" y="3071622"/>
            <a:ext cx="36957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.to_string(index=False) prints a DataFrame slice without pandas' default row-index column — a cosmetic touch, not a data change. R306 is an extreme outlier on energy_kwh_m2_yr (Studio 2-3: both flags True) but an entirely ordinary room on area_m2 (both flags False, here). 'Outlier' always means outlier ON ONE VARIABLE — never a permanent label for a row.</a:t>
            </a:r>
          </a:p>
        </p:txBody>
      </p:sp>
    </p:spTree>
    <p:extLst>
      <p:ext uri="{BB962C8B-B14F-4D97-AF65-F5344CB8AC3E}">
        <p14:creationId xmlns:p14="http://schemas.microsoft.com/office/powerpoint/2010/main" val="662012762"/>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86D52811-E802-423A-B90D-C80420331DA5}"/>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IN-CLASS CHECK</a:t>
            </a:r>
          </a:p>
        </p:txBody>
      </p:sp>
      <p:sp>
        <p:nvSpPr>
          <p:cNvPr id="2" name="title">
            <a:extLst xmlns:a="http://schemas.openxmlformats.org/drawingml/2006/main">
              <a:ext uri="{FF2B5EF4-FFF2-40B4-BE49-F238E27FC236}">
                <a16:creationId xmlns:a16="http://schemas.microsoft.com/office/drawing/2014/main" id="{12CF8AC7-7705-47CF-BA87-B20B43A83D21}"/>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Studio 6: write your own transfer-safeguard asserts</a:t>
            </a:r>
          </a:p>
        </p:txBody>
      </p:sp>
      <p:sp>
        <p:nvSpPr>
          <p:cNvPr id="3" name="">
            <a:extLst xmlns:a="http://schemas.openxmlformats.org/drawingml/2006/main">
              <a:ext uri="{FF2B5EF4-FFF2-40B4-BE49-F238E27FC236}">
                <a16:creationId xmlns:a16="http://schemas.microsoft.com/office/drawing/2014/main" id="{3554508F-0A82-45D2-A112-1C90FA8AAAE7}"/>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B328EA97-66A7-458E-BA3B-AFFEBB6A14C0}"/>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5 · Meeting B · Grouping and Outlier Studio</a:t>
            </a:r>
          </a:p>
        </p:txBody>
      </p:sp>
      <p:sp>
        <p:nvSpPr>
          <p:cNvPr id="5" name="page">
            <a:extLst xmlns:a="http://schemas.openxmlformats.org/drawingml/2006/main">
              <a:ext uri="{FF2B5EF4-FFF2-40B4-BE49-F238E27FC236}">
                <a16:creationId xmlns:a16="http://schemas.microsoft.com/office/drawing/2014/main" id="{DB9A320C-B7DC-479D-AA58-D1D12FD003FE}"/>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30</a:t>
            </a:r>
          </a:p>
        </p:txBody>
      </p:sp>
      <p:sp>
        <p:nvSpPr>
          <p:cNvPr id="6" name="exercise-accent">
            <a:extLst xmlns:a="http://schemas.openxmlformats.org/drawingml/2006/main">
              <a:ext uri="{FF2B5EF4-FFF2-40B4-BE49-F238E27FC236}">
                <a16:creationId xmlns:a16="http://schemas.microsoft.com/office/drawing/2014/main" id="{1F4A34B5-6740-4A09-85A4-9E95D664C62C}"/>
              </a:ext>
            </a:extLst>
          </p:cNvPr>
          <p:cNvSpPr>
            <a:spLocks xmlns:a="http://schemas.openxmlformats.org/drawingml/2006/main" noGrp="1"/>
          </p:cNvSpPr>
          <p:nvPr/>
        </p:nvSpPr>
        <p:spPr>
          <a:xfrm xmlns:a="http://schemas.openxmlformats.org/drawingml/2006/main">
            <a:off x="609600" y="1809750"/>
            <a:ext cx="4000500" cy="4248150"/>
          </a:xfrm>
          <a:prstGeom xmlns:a="http://schemas.openxmlformats.org/drawingml/2006/main" prst="roundRect">
            <a:avLst>
              <a:gd name="adj" fmla="val 1429"/>
            </a:avLst>
          </a:prstGeom>
          <a:solidFill xmlns:a="http://schemas.openxmlformats.org/drawingml/2006/main">
            <a:srgbClr val="2E74B5"/>
          </a:solidFill>
          <a:ln xmlns:a="http://schemas.openxmlformats.org/drawingml/2006/main" w="9525">
            <a:solidFill>
              <a:srgbClr val="2E74B5"/>
            </a:solidFill>
            <a:prstDash val="solid"/>
          </a:ln>
        </p:spPr>
      </p:sp>
      <p:sp>
        <p:nvSpPr>
          <p:cNvPr id="7" name="exercise-prompt">
            <a:extLst xmlns:a="http://schemas.openxmlformats.org/drawingml/2006/main">
              <a:ext uri="{FF2B5EF4-FFF2-40B4-BE49-F238E27FC236}">
                <a16:creationId xmlns:a16="http://schemas.microsoft.com/office/drawing/2014/main" id="{A4266D7D-C928-4E3F-8988-3AD5320D9257}"/>
              </a:ext>
            </a:extLst>
          </p:cNvPr>
          <p:cNvSpPr>
            <a:spLocks xmlns:a="http://schemas.openxmlformats.org/drawingml/2006/main" noGrp="1"/>
          </p:cNvSpPr>
          <p:nvPr/>
        </p:nvSpPr>
        <p:spPr>
          <a:xfrm xmlns:a="http://schemas.openxmlformats.org/drawingml/2006/main">
            <a:off x="876300" y="2095500"/>
            <a:ext cx="3467100" cy="3676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100" b="1">
                <a:solidFill>
                  <a:srgbClr val="FFFFFF"/>
                </a:solidFill>
                <a:latin typeface="Arial"/>
                <a:ea typeface="Arial"/>
                <a:cs typeface="Arial"/>
              </a:defRPr>
            </a:pPr>
            <a:r>
              <a:rPr sz="2100" b="1">
                <a:solidFill>
                  <a:srgbClr val="FFFFFF"/>
                </a:solidFill>
                <a:latin typeface="Arial"/>
                <a:ea typeface="Arial"/>
                <a:cs typeface="Arial"/>
              </a:rPr>
              <a:t>Prove R306's area_m2 status with 2-4 assert statements you write yourself — a different input than energy_kwh_m2_yr, which you already tested live.</a:t>
            </a:r>
          </a:p>
        </p:txBody>
      </p:sp>
      <p:sp>
        <p:nvSpPr>
          <p:cNvPr id="8" name="work-label">
            <a:extLst xmlns:a="http://schemas.openxmlformats.org/drawingml/2006/main">
              <a:ext uri="{FF2B5EF4-FFF2-40B4-BE49-F238E27FC236}">
                <a16:creationId xmlns:a16="http://schemas.microsoft.com/office/drawing/2014/main" id="{521C80EF-9E07-4076-986A-CED7D3D9F6B8}"/>
              </a:ext>
            </a:extLst>
          </p:cNvPr>
          <p:cNvSpPr>
            <a:spLocks xmlns:a="http://schemas.openxmlformats.org/drawingml/2006/main" noGrp="1"/>
          </p:cNvSpPr>
          <p:nvPr/>
        </p:nvSpPr>
        <p:spPr>
          <a:xfrm xmlns:a="http://schemas.openxmlformats.org/drawingml/2006/main">
            <a:off x="5029200" y="1847850"/>
            <a:ext cx="6553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WORK THROUGH IT</a:t>
            </a:r>
          </a:p>
        </p:txBody>
      </p:sp>
      <p:sp>
        <p:nvSpPr>
          <p:cNvPr id="9" name="exercise-no-0">
            <a:extLst xmlns:a="http://schemas.openxmlformats.org/drawingml/2006/main">
              <a:ext uri="{FF2B5EF4-FFF2-40B4-BE49-F238E27FC236}">
                <a16:creationId xmlns:a16="http://schemas.microsoft.com/office/drawing/2014/main" id="{F18DB1D7-89C2-4D44-841E-203F91A120CF}"/>
              </a:ext>
            </a:extLst>
          </p:cNvPr>
          <p:cNvSpPr>
            <a:spLocks xmlns:a="http://schemas.openxmlformats.org/drawingml/2006/main" noGrp="1"/>
          </p:cNvSpPr>
          <p:nvPr/>
        </p:nvSpPr>
        <p:spPr>
          <a:xfrm xmlns:a="http://schemas.openxmlformats.org/drawingml/2006/main">
            <a:off x="5029200" y="22479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1.</a:t>
            </a:r>
          </a:p>
        </p:txBody>
      </p:sp>
      <p:sp>
        <p:nvSpPr>
          <p:cNvPr id="10" name="exercise-step-0">
            <a:extLst xmlns:a="http://schemas.openxmlformats.org/drawingml/2006/main">
              <a:ext uri="{FF2B5EF4-FFF2-40B4-BE49-F238E27FC236}">
                <a16:creationId xmlns:a16="http://schemas.microsoft.com/office/drawing/2014/main" id="{574A3D04-763D-4592-88B5-757DBC9E6E7F}"/>
              </a:ext>
            </a:extLst>
          </p:cNvPr>
          <p:cNvSpPr>
            <a:spLocks xmlns:a="http://schemas.openxmlformats.org/drawingml/2006/main" noGrp="1"/>
          </p:cNvSpPr>
          <p:nvPr/>
        </p:nvSpPr>
        <p:spPr>
          <a:xfrm xmlns:a="http://schemas.openxmlformats.org/drawingml/2006/main">
            <a:off x="5467350" y="22479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assert flag_iqr(df, "area_m2")[df["room_id"] == "R306"].iloc[0] is False.</a:t>
            </a:r>
          </a:p>
        </p:txBody>
      </p:sp>
      <p:sp>
        <p:nvSpPr>
          <p:cNvPr id="11" name="exercise-no-1">
            <a:extLst xmlns:a="http://schemas.openxmlformats.org/drawingml/2006/main">
              <a:ext uri="{FF2B5EF4-FFF2-40B4-BE49-F238E27FC236}">
                <a16:creationId xmlns:a16="http://schemas.microsoft.com/office/drawing/2014/main" id="{E8BFD84B-1CD4-4075-9A7A-5ABB80FAA331}"/>
              </a:ext>
            </a:extLst>
          </p:cNvPr>
          <p:cNvSpPr>
            <a:spLocks xmlns:a="http://schemas.openxmlformats.org/drawingml/2006/main" noGrp="1"/>
          </p:cNvSpPr>
          <p:nvPr/>
        </p:nvSpPr>
        <p:spPr>
          <a:xfrm xmlns:a="http://schemas.openxmlformats.org/drawingml/2006/main">
            <a:off x="5029200" y="31242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2.</a:t>
            </a:r>
          </a:p>
        </p:txBody>
      </p:sp>
      <p:sp>
        <p:nvSpPr>
          <p:cNvPr id="12" name="exercise-step-1">
            <a:extLst xmlns:a="http://schemas.openxmlformats.org/drawingml/2006/main">
              <a:ext uri="{FF2B5EF4-FFF2-40B4-BE49-F238E27FC236}">
                <a16:creationId xmlns:a16="http://schemas.microsoft.com/office/drawing/2014/main" id="{F41E4E93-AB58-4290-8F75-B29E275C23F5}"/>
              </a:ext>
            </a:extLst>
          </p:cNvPr>
          <p:cNvSpPr>
            <a:spLocks xmlns:a="http://schemas.openxmlformats.org/drawingml/2006/main" noGrp="1"/>
          </p:cNvSpPr>
          <p:nvPr/>
        </p:nvSpPr>
        <p:spPr>
          <a:xfrm xmlns:a="http://schemas.openxmlformats.org/drawingml/2006/main">
            <a:off x="5467350" y="31242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assert flag_zscore(df, "area_m2")[df["room_id"] == "R306"].iloc[0] is False.</a:t>
            </a:r>
          </a:p>
        </p:txBody>
      </p:sp>
      <p:sp>
        <p:nvSpPr>
          <p:cNvPr id="13" name="exercise-no-2">
            <a:extLst xmlns:a="http://schemas.openxmlformats.org/drawingml/2006/main">
              <a:ext uri="{FF2B5EF4-FFF2-40B4-BE49-F238E27FC236}">
                <a16:creationId xmlns:a16="http://schemas.microsoft.com/office/drawing/2014/main" id="{BD70B8B4-8756-4783-A2C3-6EABAF58EF66}"/>
              </a:ext>
            </a:extLst>
          </p:cNvPr>
          <p:cNvSpPr>
            <a:spLocks xmlns:a="http://schemas.openxmlformats.org/drawingml/2006/main" noGrp="1"/>
          </p:cNvSpPr>
          <p:nvPr/>
        </p:nvSpPr>
        <p:spPr>
          <a:xfrm xmlns:a="http://schemas.openxmlformats.org/drawingml/2006/main">
            <a:off x="5029200" y="40005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3.</a:t>
            </a:r>
          </a:p>
        </p:txBody>
      </p:sp>
      <p:sp>
        <p:nvSpPr>
          <p:cNvPr id="14" name="exercise-step-2">
            <a:extLst xmlns:a="http://schemas.openxmlformats.org/drawingml/2006/main">
              <a:ext uri="{FF2B5EF4-FFF2-40B4-BE49-F238E27FC236}">
                <a16:creationId xmlns:a16="http://schemas.microsoft.com/office/drawing/2014/main" id="{A3340B02-7DA1-410F-BD29-F4BFA3D8C9A8}"/>
              </a:ext>
            </a:extLst>
          </p:cNvPr>
          <p:cNvSpPr>
            <a:spLocks xmlns:a="http://schemas.openxmlformats.org/drawingml/2006/main" noGrp="1"/>
          </p:cNvSpPr>
          <p:nvPr/>
        </p:nvSpPr>
        <p:spPr>
          <a:xfrm xmlns:a="http://schemas.openxmlformats.org/drawingml/2006/main">
            <a:off x="5467350" y="40005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Add one more assert of your choice, on a different room (e.g. R110 or R309), on area_m2.</a:t>
            </a:r>
          </a:p>
        </p:txBody>
      </p:sp>
      <p:sp>
        <p:nvSpPr>
          <p:cNvPr id="15" name="exercise-no-3">
            <a:extLst xmlns:a="http://schemas.openxmlformats.org/drawingml/2006/main">
              <a:ext uri="{FF2B5EF4-FFF2-40B4-BE49-F238E27FC236}">
                <a16:creationId xmlns:a16="http://schemas.microsoft.com/office/drawing/2014/main" id="{983B5F1B-71C0-45CD-9B25-51E1CA85A6FA}"/>
              </a:ext>
            </a:extLst>
          </p:cNvPr>
          <p:cNvSpPr>
            <a:spLocks xmlns:a="http://schemas.openxmlformats.org/drawingml/2006/main" noGrp="1"/>
          </p:cNvSpPr>
          <p:nvPr/>
        </p:nvSpPr>
        <p:spPr>
          <a:xfrm xmlns:a="http://schemas.openxmlformats.org/drawingml/2006/main">
            <a:off x="5029200" y="48768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4.</a:t>
            </a:r>
          </a:p>
        </p:txBody>
      </p:sp>
      <p:sp>
        <p:nvSpPr>
          <p:cNvPr id="16" name="exercise-step-3">
            <a:extLst xmlns:a="http://schemas.openxmlformats.org/drawingml/2006/main">
              <a:ext uri="{FF2B5EF4-FFF2-40B4-BE49-F238E27FC236}">
                <a16:creationId xmlns:a16="http://schemas.microsoft.com/office/drawing/2014/main" id="{B0A3A9CD-7CD9-416F-BB9C-311DC1AE1DF0}"/>
              </a:ext>
            </a:extLst>
          </p:cNvPr>
          <p:cNvSpPr>
            <a:spLocks xmlns:a="http://schemas.openxmlformats.org/drawingml/2006/main" noGrp="1"/>
          </p:cNvSpPr>
          <p:nvPr/>
        </p:nvSpPr>
        <p:spPr>
          <a:xfrm xmlns:a="http://schemas.openxmlformats.org/drawingml/2006/main">
            <a:off x="5467350" y="48768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Restart the kernel, run the file from the top, and confirm silent, error-free output.</a:t>
            </a:r>
          </a:p>
        </p:txBody>
      </p:sp>
    </p:spTree>
    <p:extLst>
      <p:ext uri="{BB962C8B-B14F-4D97-AF65-F5344CB8AC3E}">
        <p14:creationId xmlns:p14="http://schemas.microsoft.com/office/powerpoint/2010/main" val="1803652451"/>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kicker">
            <a:extLst xmlns:a="http://schemas.openxmlformats.org/drawingml/2006/main">
              <a:ext uri="{FF2B5EF4-FFF2-40B4-BE49-F238E27FC236}">
                <a16:creationId xmlns:a16="http://schemas.microsoft.com/office/drawing/2014/main" id="{0B71148D-6D8F-418C-8C95-0E2B080F740B}"/>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METHOD</a:t>
            </a:r>
          </a:p>
        </p:txBody>
      </p:sp>
      <p:sp>
        <p:nvSpPr>
          <p:cNvPr id="2" name="title">
            <a:extLst xmlns:a="http://schemas.openxmlformats.org/drawingml/2006/main">
              <a:ext uri="{FF2B5EF4-FFF2-40B4-BE49-F238E27FC236}">
                <a16:creationId xmlns:a16="http://schemas.microsoft.com/office/drawing/2014/main" id="{41BF74E8-BE9F-4D89-9923-BFAC2F3CE0D1}"/>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This studio IS your Project 1 checkpoint</a:t>
            </a:r>
          </a:p>
        </p:txBody>
      </p:sp>
      <p:sp>
        <p:nvSpPr>
          <p:cNvPr id="3" name="">
            <a:extLst xmlns:a="http://schemas.openxmlformats.org/drawingml/2006/main">
              <a:ext uri="{FF2B5EF4-FFF2-40B4-BE49-F238E27FC236}">
                <a16:creationId xmlns:a16="http://schemas.microsoft.com/office/drawing/2014/main" id="{551F44A0-DBAA-4BE5-949A-F2268B809198}"/>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B4D96E54-7F43-4450-850F-EB0B3203A477}"/>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5 · Meeting B · Grouping and Outlier Studio</a:t>
            </a:r>
          </a:p>
        </p:txBody>
      </p:sp>
      <p:sp>
        <p:nvSpPr>
          <p:cNvPr id="5" name="page">
            <a:extLst xmlns:a="http://schemas.openxmlformats.org/drawingml/2006/main">
              <a:ext uri="{FF2B5EF4-FFF2-40B4-BE49-F238E27FC236}">
                <a16:creationId xmlns:a16="http://schemas.microsoft.com/office/drawing/2014/main" id="{4426DBEC-1735-48A9-BBAB-EB0221B3D0DD}"/>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31</a:t>
            </a:r>
          </a:p>
        </p:txBody>
      </p:sp>
      <p:sp>
        <p:nvSpPr>
          <p:cNvPr id="6" name="step-arrow-0">
            <a:extLst xmlns:a="http://schemas.openxmlformats.org/drawingml/2006/main">
              <a:ext uri="{FF2B5EF4-FFF2-40B4-BE49-F238E27FC236}">
                <a16:creationId xmlns:a16="http://schemas.microsoft.com/office/drawing/2014/main" id="{00CDB5A4-C431-40F4-AB12-D88D22B2F77B}"/>
              </a:ext>
            </a:extLst>
          </p:cNvPr>
          <p:cNvSpPr>
            <a:spLocks xmlns:a="http://schemas.openxmlformats.org/drawingml/2006/main" noGrp="1"/>
          </p:cNvSpPr>
          <p:nvPr/>
        </p:nvSpPr>
        <p:spPr>
          <a:xfrm xmlns:a="http://schemas.openxmlformats.org/drawingml/2006/main">
            <a:off x="4130675"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7" name="step-arrow-1">
            <a:extLst xmlns:a="http://schemas.openxmlformats.org/drawingml/2006/main">
              <a:ext uri="{FF2B5EF4-FFF2-40B4-BE49-F238E27FC236}">
                <a16:creationId xmlns:a16="http://schemas.microsoft.com/office/drawing/2014/main" id="{85FED398-E1A2-4486-BD13-42535A6D3CB5}"/>
              </a:ext>
            </a:extLst>
          </p:cNvPr>
          <p:cNvSpPr>
            <a:spLocks xmlns:a="http://schemas.openxmlformats.org/drawingml/2006/main" noGrp="1"/>
          </p:cNvSpPr>
          <p:nvPr/>
        </p:nvSpPr>
        <p:spPr>
          <a:xfrm xmlns:a="http://schemas.openxmlformats.org/drawingml/2006/main">
            <a:off x="7908925"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8" name="step-node-0">
            <a:extLst xmlns:a="http://schemas.openxmlformats.org/drawingml/2006/main">
              <a:ext uri="{FF2B5EF4-FFF2-40B4-BE49-F238E27FC236}">
                <a16:creationId xmlns:a16="http://schemas.microsoft.com/office/drawing/2014/main" id="{5675CAF6-0821-4D6A-8E2F-28F8C6B3EDA3}"/>
              </a:ext>
            </a:extLst>
          </p:cNvPr>
          <p:cNvSpPr>
            <a:spLocks xmlns:a="http://schemas.openxmlformats.org/drawingml/2006/main" noGrp="1"/>
          </p:cNvSpPr>
          <p:nvPr/>
        </p:nvSpPr>
        <p:spPr>
          <a:xfrm xmlns:a="http://schemas.openxmlformats.org/drawingml/2006/main">
            <a:off x="609600" y="1847850"/>
            <a:ext cx="3416300" cy="4171950"/>
          </a:xfrm>
          <a:prstGeom xmlns:a="http://schemas.openxmlformats.org/drawingml/2006/main" prst="roundRect">
            <a:avLst>
              <a:gd name="adj" fmla="val 2788"/>
            </a:avLst>
          </a:prstGeom>
          <a:solidFill xmlns:a="http://schemas.openxmlformats.org/drawingml/2006/main">
            <a:srgbClr val="F3F7FB"/>
          </a:solidFill>
          <a:ln xmlns:a="http://schemas.openxmlformats.org/drawingml/2006/main" w="9525">
            <a:solidFill>
              <a:srgbClr val="2E74B5"/>
            </a:solidFill>
            <a:prstDash val="solid"/>
          </a:ln>
        </p:spPr>
      </p:sp>
      <p:sp>
        <p:nvSpPr>
          <p:cNvPr id="9" name="step-number-0">
            <a:extLst xmlns:a="http://schemas.openxmlformats.org/drawingml/2006/main">
              <a:ext uri="{FF2B5EF4-FFF2-40B4-BE49-F238E27FC236}">
                <a16:creationId xmlns:a16="http://schemas.microsoft.com/office/drawing/2014/main" id="{611F10DD-A2F6-4A9D-A5BA-7780EEF814F3}"/>
              </a:ext>
            </a:extLst>
          </p:cNvPr>
          <p:cNvSpPr>
            <a:spLocks xmlns:a="http://schemas.openxmlformats.org/drawingml/2006/main" noGrp="1"/>
          </p:cNvSpPr>
          <p:nvPr/>
        </p:nvSpPr>
        <p:spPr>
          <a:xfrm xmlns:a="http://schemas.openxmlformats.org/drawingml/2006/main">
            <a:off x="80010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01</a:t>
            </a:r>
          </a:p>
        </p:txBody>
      </p:sp>
      <p:sp>
        <p:nvSpPr>
          <p:cNvPr id="10" name="step-label-0">
            <a:extLst xmlns:a="http://schemas.openxmlformats.org/drawingml/2006/main">
              <a:ext uri="{FF2B5EF4-FFF2-40B4-BE49-F238E27FC236}">
                <a16:creationId xmlns:a16="http://schemas.microsoft.com/office/drawing/2014/main" id="{1639EEF1-13E9-4DCB-9D63-3432C2911C0E}"/>
              </a:ext>
            </a:extLst>
          </p:cNvPr>
          <p:cNvSpPr>
            <a:spLocks xmlns:a="http://schemas.openxmlformats.org/drawingml/2006/main" noGrp="1"/>
          </p:cNvSpPr>
          <p:nvPr/>
        </p:nvSpPr>
        <p:spPr>
          <a:xfrm xmlns:a="http://schemas.openxmlformats.org/drawingml/2006/main">
            <a:off x="1295400" y="2057400"/>
            <a:ext cx="254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DATASET</a:t>
            </a:r>
          </a:p>
        </p:txBody>
      </p:sp>
      <p:sp>
        <p:nvSpPr>
          <p:cNvPr id="11" name="">
            <a:extLst xmlns:a="http://schemas.openxmlformats.org/drawingml/2006/main">
              <a:ext uri="{FF2B5EF4-FFF2-40B4-BE49-F238E27FC236}">
                <a16:creationId xmlns:a16="http://schemas.microsoft.com/office/drawing/2014/main" id="{6B7E6CFA-336E-43B9-B5B5-5F7D45FD5B7F}"/>
              </a:ext>
            </a:extLst>
          </p:cNvPr>
          <p:cNvSpPr>
            <a:spLocks xmlns:a="http://schemas.openxmlformats.org/drawingml/2006/main" noGrp="1"/>
          </p:cNvSpPr>
          <p:nvPr/>
        </p:nvSpPr>
        <p:spPr>
          <a:xfrm xmlns:a="http://schemas.openxmlformats.org/drawingml/2006/main">
            <a:off x="800100" y="2476500"/>
            <a:ext cx="303530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12" name="step-head-0">
            <a:extLst xmlns:a="http://schemas.openxmlformats.org/drawingml/2006/main">
              <a:ext uri="{FF2B5EF4-FFF2-40B4-BE49-F238E27FC236}">
                <a16:creationId xmlns:a16="http://schemas.microsoft.com/office/drawing/2014/main" id="{17319479-8A4D-466D-BA98-21587359F2EF}"/>
              </a:ext>
            </a:extLst>
          </p:cNvPr>
          <p:cNvSpPr>
            <a:spLocks xmlns:a="http://schemas.openxmlformats.org/drawingml/2006/main" noGrp="1"/>
          </p:cNvSpPr>
          <p:nvPr/>
        </p:nvSpPr>
        <p:spPr>
          <a:xfrm xmlns:a="http://schemas.openxmlformats.org/drawingml/2006/main">
            <a:off x="800100" y="2667000"/>
            <a:ext cx="30353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You already chose it</a:t>
            </a:r>
          </a:p>
        </p:txBody>
      </p:sp>
      <p:sp>
        <p:nvSpPr>
          <p:cNvPr id="13" name="step-body-0">
            <a:extLst xmlns:a="http://schemas.openxmlformats.org/drawingml/2006/main">
              <a:ext uri="{FF2B5EF4-FFF2-40B4-BE49-F238E27FC236}">
                <a16:creationId xmlns:a16="http://schemas.microsoft.com/office/drawing/2014/main" id="{DB40CA7D-1197-4F1E-AE27-855ECFCAF38C}"/>
              </a:ext>
            </a:extLst>
          </p:cNvPr>
          <p:cNvSpPr>
            <a:spLocks xmlns:a="http://schemas.openxmlformats.org/drawingml/2006/main" noGrp="1"/>
          </p:cNvSpPr>
          <p:nvPr/>
        </p:nvSpPr>
        <p:spPr>
          <a:xfrm xmlns:a="http://schemas.openxmlformats.org/drawingml/2006/main">
            <a:off x="800100" y="3352800"/>
            <a:ext cx="3035300"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In Week 4 you selected and cleaned your own Project 1 dataset. Today's pipeline runs on THAT file, not a new one.</a:t>
            </a:r>
          </a:p>
        </p:txBody>
      </p:sp>
      <p:sp>
        <p:nvSpPr>
          <p:cNvPr id="14" name="step-node-1">
            <a:extLst xmlns:a="http://schemas.openxmlformats.org/drawingml/2006/main">
              <a:ext uri="{FF2B5EF4-FFF2-40B4-BE49-F238E27FC236}">
                <a16:creationId xmlns:a16="http://schemas.microsoft.com/office/drawing/2014/main" id="{CBC1EA9A-8C05-48C4-BCF4-2BB48B4EC589}"/>
              </a:ext>
            </a:extLst>
          </p:cNvPr>
          <p:cNvSpPr>
            <a:spLocks xmlns:a="http://schemas.openxmlformats.org/drawingml/2006/main" noGrp="1"/>
          </p:cNvSpPr>
          <p:nvPr/>
        </p:nvSpPr>
        <p:spPr>
          <a:xfrm xmlns:a="http://schemas.openxmlformats.org/drawingml/2006/main">
            <a:off x="4387850" y="1847850"/>
            <a:ext cx="3416300" cy="4171950"/>
          </a:xfrm>
          <a:prstGeom xmlns:a="http://schemas.openxmlformats.org/drawingml/2006/main" prst="roundRect">
            <a:avLst>
              <a:gd name="adj" fmla="val 2788"/>
            </a:avLst>
          </a:prstGeom>
          <a:solidFill xmlns:a="http://schemas.openxmlformats.org/drawingml/2006/main">
            <a:srgbClr val="F6F7F9"/>
          </a:solidFill>
          <a:ln xmlns:a="http://schemas.openxmlformats.org/drawingml/2006/main" w="9525">
            <a:solidFill>
              <a:srgbClr val="DDE0E5"/>
            </a:solidFill>
            <a:prstDash val="solid"/>
          </a:ln>
        </p:spPr>
      </p:sp>
      <p:sp>
        <p:nvSpPr>
          <p:cNvPr id="15" name="step-number-1">
            <a:extLst xmlns:a="http://schemas.openxmlformats.org/drawingml/2006/main">
              <a:ext uri="{FF2B5EF4-FFF2-40B4-BE49-F238E27FC236}">
                <a16:creationId xmlns:a16="http://schemas.microsoft.com/office/drawing/2014/main" id="{5ADBD112-1C05-4D6B-A111-957C16BFD0BE}"/>
              </a:ext>
            </a:extLst>
          </p:cNvPr>
          <p:cNvSpPr>
            <a:spLocks xmlns:a="http://schemas.openxmlformats.org/drawingml/2006/main" noGrp="1"/>
          </p:cNvSpPr>
          <p:nvPr/>
        </p:nvSpPr>
        <p:spPr>
          <a:xfrm xmlns:a="http://schemas.openxmlformats.org/drawingml/2006/main">
            <a:off x="457835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02</a:t>
            </a:r>
          </a:p>
        </p:txBody>
      </p:sp>
      <p:sp>
        <p:nvSpPr>
          <p:cNvPr id="16" name="step-label-1">
            <a:extLst xmlns:a="http://schemas.openxmlformats.org/drawingml/2006/main">
              <a:ext uri="{FF2B5EF4-FFF2-40B4-BE49-F238E27FC236}">
                <a16:creationId xmlns:a16="http://schemas.microsoft.com/office/drawing/2014/main" id="{DC0C8A94-806E-4F56-AAE4-A019743E24D0}"/>
              </a:ext>
            </a:extLst>
          </p:cNvPr>
          <p:cNvSpPr>
            <a:spLocks xmlns:a="http://schemas.openxmlformats.org/drawingml/2006/main" noGrp="1"/>
          </p:cNvSpPr>
          <p:nvPr/>
        </p:nvSpPr>
        <p:spPr>
          <a:xfrm xmlns:a="http://schemas.openxmlformats.org/drawingml/2006/main">
            <a:off x="5073650" y="2057400"/>
            <a:ext cx="254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QUESTION</a:t>
            </a:r>
          </a:p>
        </p:txBody>
      </p:sp>
      <p:sp>
        <p:nvSpPr>
          <p:cNvPr id="17" name="">
            <a:extLst xmlns:a="http://schemas.openxmlformats.org/drawingml/2006/main">
              <a:ext uri="{FF2B5EF4-FFF2-40B4-BE49-F238E27FC236}">
                <a16:creationId xmlns:a16="http://schemas.microsoft.com/office/drawing/2014/main" id="{01E42C09-3F7E-4F3F-890C-7CE4337BF7E9}"/>
              </a:ext>
            </a:extLst>
          </p:cNvPr>
          <p:cNvSpPr>
            <a:spLocks xmlns:a="http://schemas.openxmlformats.org/drawingml/2006/main" noGrp="1"/>
          </p:cNvSpPr>
          <p:nvPr/>
        </p:nvSpPr>
        <p:spPr>
          <a:xfrm xmlns:a="http://schemas.openxmlformats.org/drawingml/2006/main">
            <a:off x="4578350" y="2476500"/>
            <a:ext cx="303530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18" name="step-head-1">
            <a:extLst xmlns:a="http://schemas.openxmlformats.org/drawingml/2006/main">
              <a:ext uri="{FF2B5EF4-FFF2-40B4-BE49-F238E27FC236}">
                <a16:creationId xmlns:a16="http://schemas.microsoft.com/office/drawing/2014/main" id="{A89DD2A7-67B7-4A9E-9F19-CFAFC2BE39B3}"/>
              </a:ext>
            </a:extLst>
          </p:cNvPr>
          <p:cNvSpPr>
            <a:spLocks xmlns:a="http://schemas.openxmlformats.org/drawingml/2006/main" noGrp="1"/>
          </p:cNvSpPr>
          <p:nvPr/>
        </p:nvSpPr>
        <p:spPr>
          <a:xfrm xmlns:a="http://schemas.openxmlformats.org/drawingml/2006/main">
            <a:off x="4578350" y="2667000"/>
            <a:ext cx="30353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Restate it here</a:t>
            </a:r>
          </a:p>
        </p:txBody>
      </p:sp>
      <p:sp>
        <p:nvSpPr>
          <p:cNvPr id="19" name="step-body-1">
            <a:extLst xmlns:a="http://schemas.openxmlformats.org/drawingml/2006/main">
              <a:ext uri="{FF2B5EF4-FFF2-40B4-BE49-F238E27FC236}">
                <a16:creationId xmlns:a16="http://schemas.microsoft.com/office/drawing/2014/main" id="{F518772A-D537-49A0-804B-C43AD2CC2279}"/>
              </a:ext>
            </a:extLst>
          </p:cNvPr>
          <p:cNvSpPr>
            <a:spLocks xmlns:a="http://schemas.openxmlformats.org/drawingml/2006/main" noGrp="1"/>
          </p:cNvSpPr>
          <p:nvPr/>
        </p:nvSpPr>
        <p:spPr>
          <a:xfrm xmlns:a="http://schemas.openxmlformats.org/drawingml/2006/main">
            <a:off x="4578350" y="3352800"/>
            <a:ext cx="3035300"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Write your Week 4 research question again before grouping — the grouping choice should serve that question, not the other way around.</a:t>
            </a:r>
          </a:p>
        </p:txBody>
      </p:sp>
      <p:sp>
        <p:nvSpPr>
          <p:cNvPr id="20" name="step-node-2">
            <a:extLst xmlns:a="http://schemas.openxmlformats.org/drawingml/2006/main">
              <a:ext uri="{FF2B5EF4-FFF2-40B4-BE49-F238E27FC236}">
                <a16:creationId xmlns:a16="http://schemas.microsoft.com/office/drawing/2014/main" id="{8FE1C523-5BFE-4205-8B2F-E542E9720169}"/>
              </a:ext>
            </a:extLst>
          </p:cNvPr>
          <p:cNvSpPr>
            <a:spLocks xmlns:a="http://schemas.openxmlformats.org/drawingml/2006/main" noGrp="1"/>
          </p:cNvSpPr>
          <p:nvPr/>
        </p:nvSpPr>
        <p:spPr>
          <a:xfrm xmlns:a="http://schemas.openxmlformats.org/drawingml/2006/main">
            <a:off x="8166100" y="1847850"/>
            <a:ext cx="3416300" cy="4171950"/>
          </a:xfrm>
          <a:prstGeom xmlns:a="http://schemas.openxmlformats.org/drawingml/2006/main" prst="roundRect">
            <a:avLst>
              <a:gd name="adj" fmla="val 2788"/>
            </a:avLst>
          </a:prstGeom>
          <a:solidFill xmlns:a="http://schemas.openxmlformats.org/drawingml/2006/main">
            <a:srgbClr val="F6F7F9"/>
          </a:solidFill>
          <a:ln xmlns:a="http://schemas.openxmlformats.org/drawingml/2006/main" w="9525">
            <a:solidFill>
              <a:srgbClr val="DDE0E5"/>
            </a:solidFill>
            <a:prstDash val="solid"/>
          </a:ln>
        </p:spPr>
      </p:sp>
      <p:sp>
        <p:nvSpPr>
          <p:cNvPr id="21" name="step-number-2">
            <a:extLst xmlns:a="http://schemas.openxmlformats.org/drawingml/2006/main">
              <a:ext uri="{FF2B5EF4-FFF2-40B4-BE49-F238E27FC236}">
                <a16:creationId xmlns:a16="http://schemas.microsoft.com/office/drawing/2014/main" id="{D1A1D2EC-17E8-49E6-A876-45F5C11532DC}"/>
              </a:ext>
            </a:extLst>
          </p:cNvPr>
          <p:cNvSpPr>
            <a:spLocks xmlns:a="http://schemas.openxmlformats.org/drawingml/2006/main" noGrp="1"/>
          </p:cNvSpPr>
          <p:nvPr/>
        </p:nvSpPr>
        <p:spPr>
          <a:xfrm xmlns:a="http://schemas.openxmlformats.org/drawingml/2006/main">
            <a:off x="835660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03</a:t>
            </a:r>
          </a:p>
        </p:txBody>
      </p:sp>
      <p:sp>
        <p:nvSpPr>
          <p:cNvPr id="22" name="step-label-2">
            <a:extLst xmlns:a="http://schemas.openxmlformats.org/drawingml/2006/main">
              <a:ext uri="{FF2B5EF4-FFF2-40B4-BE49-F238E27FC236}">
                <a16:creationId xmlns:a16="http://schemas.microsoft.com/office/drawing/2014/main" id="{83F4F283-69D9-4101-9C0C-33F68D3A6AD2}"/>
              </a:ext>
            </a:extLst>
          </p:cNvPr>
          <p:cNvSpPr>
            <a:spLocks xmlns:a="http://schemas.openxmlformats.org/drawingml/2006/main" noGrp="1"/>
          </p:cNvSpPr>
          <p:nvPr/>
        </p:nvSpPr>
        <p:spPr>
          <a:xfrm xmlns:a="http://schemas.openxmlformats.org/drawingml/2006/main">
            <a:off x="8851900" y="2057400"/>
            <a:ext cx="254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PROVENANCE</a:t>
            </a:r>
          </a:p>
        </p:txBody>
      </p:sp>
      <p:sp>
        <p:nvSpPr>
          <p:cNvPr id="23" name="">
            <a:extLst xmlns:a="http://schemas.openxmlformats.org/drawingml/2006/main">
              <a:ext uri="{FF2B5EF4-FFF2-40B4-BE49-F238E27FC236}">
                <a16:creationId xmlns:a16="http://schemas.microsoft.com/office/drawing/2014/main" id="{24C5D538-241F-4AC3-91F1-01C282C18845}"/>
              </a:ext>
            </a:extLst>
          </p:cNvPr>
          <p:cNvSpPr>
            <a:spLocks xmlns:a="http://schemas.openxmlformats.org/drawingml/2006/main" noGrp="1"/>
          </p:cNvSpPr>
          <p:nvPr/>
        </p:nvSpPr>
        <p:spPr>
          <a:xfrm xmlns:a="http://schemas.openxmlformats.org/drawingml/2006/main">
            <a:off x="8356600" y="2476500"/>
            <a:ext cx="303530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24" name="step-head-2">
            <a:extLst xmlns:a="http://schemas.openxmlformats.org/drawingml/2006/main">
              <a:ext uri="{FF2B5EF4-FFF2-40B4-BE49-F238E27FC236}">
                <a16:creationId xmlns:a16="http://schemas.microsoft.com/office/drawing/2014/main" id="{91AC980F-E290-4D08-BD4A-05C8C3A66C85}"/>
              </a:ext>
            </a:extLst>
          </p:cNvPr>
          <p:cNvSpPr>
            <a:spLocks xmlns:a="http://schemas.openxmlformats.org/drawingml/2006/main" noGrp="1"/>
          </p:cNvSpPr>
          <p:nvPr/>
        </p:nvSpPr>
        <p:spPr>
          <a:xfrm xmlns:a="http://schemas.openxmlformats.org/drawingml/2006/main">
            <a:off x="8356600" y="2667000"/>
            <a:ext cx="30353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This is the milestone</a:t>
            </a:r>
          </a:p>
        </p:txBody>
      </p:sp>
      <p:sp>
        <p:nvSpPr>
          <p:cNvPr id="25" name="step-body-2">
            <a:extLst xmlns:a="http://schemas.openxmlformats.org/drawingml/2006/main">
              <a:ext uri="{FF2B5EF4-FFF2-40B4-BE49-F238E27FC236}">
                <a16:creationId xmlns:a16="http://schemas.microsoft.com/office/drawing/2014/main" id="{13E27935-B102-4575-88B9-03C9EB520CB8}"/>
              </a:ext>
            </a:extLst>
          </p:cNvPr>
          <p:cNvSpPr>
            <a:spLocks xmlns:a="http://schemas.openxmlformats.org/drawingml/2006/main" noGrp="1"/>
          </p:cNvSpPr>
          <p:nvPr/>
        </p:nvSpPr>
        <p:spPr>
          <a:xfrm xmlns:a="http://schemas.openxmlformats.org/drawingml/2006/main">
            <a:off x="8356600" y="3352800"/>
            <a:ext cx="3035300"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A grouped/ranked table, dual-rule outlier flags, and decision sentences on your own data — submitted this week — IS the Project 1 dataset/question/provenance checkpoint. No separate memo is required.</a:t>
            </a:r>
          </a:p>
        </p:txBody>
      </p:sp>
    </p:spTree>
    <p:extLst>
      <p:ext uri="{BB962C8B-B14F-4D97-AF65-F5344CB8AC3E}">
        <p14:creationId xmlns:p14="http://schemas.microsoft.com/office/powerpoint/2010/main" val="2110365963"/>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7A85BA74-2518-41B7-B4A8-B7FC1CA291B5}"/>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IN-CLASS CHECK</a:t>
            </a:r>
          </a:p>
        </p:txBody>
      </p:sp>
      <p:sp>
        <p:nvSpPr>
          <p:cNvPr id="2" name="title">
            <a:extLst xmlns:a="http://schemas.openxmlformats.org/drawingml/2006/main">
              <a:ext uri="{FF2B5EF4-FFF2-40B4-BE49-F238E27FC236}">
                <a16:creationId xmlns:a16="http://schemas.microsoft.com/office/drawing/2014/main" id="{91B3480F-9AB0-4E95-8B35-F3D7788A4784}"/>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Studio 7: apply today's pipeline to your OWN dataset</a:t>
            </a:r>
          </a:p>
        </p:txBody>
      </p:sp>
      <p:sp>
        <p:nvSpPr>
          <p:cNvPr id="3" name="">
            <a:extLst xmlns:a="http://schemas.openxmlformats.org/drawingml/2006/main">
              <a:ext uri="{FF2B5EF4-FFF2-40B4-BE49-F238E27FC236}">
                <a16:creationId xmlns:a16="http://schemas.microsoft.com/office/drawing/2014/main" id="{6AA1EB10-80EF-46EB-A2C7-CCDDC89E8AD9}"/>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A7829C74-65B9-4B88-8A3E-183FC83DF536}"/>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5 · Meeting B · Grouping and Outlier Studio</a:t>
            </a:r>
          </a:p>
        </p:txBody>
      </p:sp>
      <p:sp>
        <p:nvSpPr>
          <p:cNvPr id="5" name="page">
            <a:extLst xmlns:a="http://schemas.openxmlformats.org/drawingml/2006/main">
              <a:ext uri="{FF2B5EF4-FFF2-40B4-BE49-F238E27FC236}">
                <a16:creationId xmlns:a16="http://schemas.microsoft.com/office/drawing/2014/main" id="{832D19F0-DFB9-4B9E-B2EC-63B5B7569498}"/>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32</a:t>
            </a:r>
          </a:p>
        </p:txBody>
      </p:sp>
      <p:sp>
        <p:nvSpPr>
          <p:cNvPr id="6" name="exercise-accent">
            <a:extLst xmlns:a="http://schemas.openxmlformats.org/drawingml/2006/main">
              <a:ext uri="{FF2B5EF4-FFF2-40B4-BE49-F238E27FC236}">
                <a16:creationId xmlns:a16="http://schemas.microsoft.com/office/drawing/2014/main" id="{2EED3267-9DAC-42DA-9FD1-67A290312CEB}"/>
              </a:ext>
            </a:extLst>
          </p:cNvPr>
          <p:cNvSpPr>
            <a:spLocks xmlns:a="http://schemas.openxmlformats.org/drawingml/2006/main" noGrp="1"/>
          </p:cNvSpPr>
          <p:nvPr/>
        </p:nvSpPr>
        <p:spPr>
          <a:xfrm xmlns:a="http://schemas.openxmlformats.org/drawingml/2006/main">
            <a:off x="609600" y="1809750"/>
            <a:ext cx="4000500" cy="4248150"/>
          </a:xfrm>
          <a:prstGeom xmlns:a="http://schemas.openxmlformats.org/drawingml/2006/main" prst="roundRect">
            <a:avLst>
              <a:gd name="adj" fmla="val 1429"/>
            </a:avLst>
          </a:prstGeom>
          <a:solidFill xmlns:a="http://schemas.openxmlformats.org/drawingml/2006/main">
            <a:srgbClr val="2E74B5"/>
          </a:solidFill>
          <a:ln xmlns:a="http://schemas.openxmlformats.org/drawingml/2006/main" w="9525">
            <a:solidFill>
              <a:srgbClr val="2E74B5"/>
            </a:solidFill>
            <a:prstDash val="solid"/>
          </a:ln>
        </p:spPr>
      </p:sp>
      <p:sp>
        <p:nvSpPr>
          <p:cNvPr id="7" name="exercise-prompt">
            <a:extLst xmlns:a="http://schemas.openxmlformats.org/drawingml/2006/main">
              <a:ext uri="{FF2B5EF4-FFF2-40B4-BE49-F238E27FC236}">
                <a16:creationId xmlns:a16="http://schemas.microsoft.com/office/drawing/2014/main" id="{B24D13E6-D8CF-457B-908C-EBCD87658343}"/>
              </a:ext>
            </a:extLst>
          </p:cNvPr>
          <p:cNvSpPr>
            <a:spLocks xmlns:a="http://schemas.openxmlformats.org/drawingml/2006/main" noGrp="1"/>
          </p:cNvSpPr>
          <p:nvPr/>
        </p:nvSpPr>
        <p:spPr>
          <a:xfrm xmlns:a="http://schemas.openxmlformats.org/drawingml/2006/main">
            <a:off x="876300" y="2095500"/>
            <a:ext cx="3467100" cy="3676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100" b="1">
                <a:solidFill>
                  <a:srgbClr val="FFFFFF"/>
                </a:solidFill>
                <a:latin typeface="Arial"/>
                <a:ea typeface="Arial"/>
                <a:cs typeface="Arial"/>
              </a:defRPr>
            </a:pPr>
            <a:r>
              <a:rPr sz="2100" b="1">
                <a:solidFill>
                  <a:srgbClr val="FFFFFF"/>
                </a:solidFill>
                <a:latin typeface="Arial"/>
                <a:ea typeface="Arial"/>
                <a:cs typeface="Arial"/>
              </a:rPr>
              <a:t>Repeat group → aggregate → sort → flag_iqr → flag_zscore → decision sentences on your Week 4 Project 1 dataset.</a:t>
            </a:r>
          </a:p>
        </p:txBody>
      </p:sp>
      <p:sp>
        <p:nvSpPr>
          <p:cNvPr id="8" name="work-label">
            <a:extLst xmlns:a="http://schemas.openxmlformats.org/drawingml/2006/main">
              <a:ext uri="{FF2B5EF4-FFF2-40B4-BE49-F238E27FC236}">
                <a16:creationId xmlns:a16="http://schemas.microsoft.com/office/drawing/2014/main" id="{07B79350-FB96-43AA-BA9E-F0EC4CD48C6B}"/>
              </a:ext>
            </a:extLst>
          </p:cNvPr>
          <p:cNvSpPr>
            <a:spLocks xmlns:a="http://schemas.openxmlformats.org/drawingml/2006/main" noGrp="1"/>
          </p:cNvSpPr>
          <p:nvPr/>
        </p:nvSpPr>
        <p:spPr>
          <a:xfrm xmlns:a="http://schemas.openxmlformats.org/drawingml/2006/main">
            <a:off x="5029200" y="1847850"/>
            <a:ext cx="6553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WORK THROUGH IT</a:t>
            </a:r>
          </a:p>
        </p:txBody>
      </p:sp>
      <p:sp>
        <p:nvSpPr>
          <p:cNvPr id="9" name="exercise-no-0">
            <a:extLst xmlns:a="http://schemas.openxmlformats.org/drawingml/2006/main">
              <a:ext uri="{FF2B5EF4-FFF2-40B4-BE49-F238E27FC236}">
                <a16:creationId xmlns:a16="http://schemas.microsoft.com/office/drawing/2014/main" id="{2D7BA663-6FB6-4571-A6F0-5FEBB70C9BE7}"/>
              </a:ext>
            </a:extLst>
          </p:cNvPr>
          <p:cNvSpPr>
            <a:spLocks xmlns:a="http://schemas.openxmlformats.org/drawingml/2006/main" noGrp="1"/>
          </p:cNvSpPr>
          <p:nvPr/>
        </p:nvSpPr>
        <p:spPr>
          <a:xfrm xmlns:a="http://schemas.openxmlformats.org/drawingml/2006/main">
            <a:off x="5029200" y="22479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1.</a:t>
            </a:r>
          </a:p>
        </p:txBody>
      </p:sp>
      <p:sp>
        <p:nvSpPr>
          <p:cNvPr id="10" name="exercise-step-0">
            <a:extLst xmlns:a="http://schemas.openxmlformats.org/drawingml/2006/main">
              <a:ext uri="{FF2B5EF4-FFF2-40B4-BE49-F238E27FC236}">
                <a16:creationId xmlns:a16="http://schemas.microsoft.com/office/drawing/2014/main" id="{E4F453A8-FC12-4CBF-97B7-DDF3444E7667}"/>
              </a:ext>
            </a:extLst>
          </p:cNvPr>
          <p:cNvSpPr>
            <a:spLocks xmlns:a="http://schemas.openxmlformats.org/drawingml/2006/main" noGrp="1"/>
          </p:cNvSpPr>
          <p:nvPr/>
        </p:nvSpPr>
        <p:spPr>
          <a:xfrm xmlns:a="http://schemas.openxmlformats.org/drawingml/2006/main">
            <a:off x="5467350" y="22479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Set DATA_PATH to your Week 4 cleaned CSV (it defaults to Radley Hall's file so this cell still runs before you edit it).</a:t>
            </a:r>
          </a:p>
        </p:txBody>
      </p:sp>
      <p:sp>
        <p:nvSpPr>
          <p:cNvPr id="11" name="exercise-no-1">
            <a:extLst xmlns:a="http://schemas.openxmlformats.org/drawingml/2006/main">
              <a:ext uri="{FF2B5EF4-FFF2-40B4-BE49-F238E27FC236}">
                <a16:creationId xmlns:a16="http://schemas.microsoft.com/office/drawing/2014/main" id="{256A3656-CBCE-42DF-89F4-3BE1897B782B}"/>
              </a:ext>
            </a:extLst>
          </p:cNvPr>
          <p:cNvSpPr>
            <a:spLocks xmlns:a="http://schemas.openxmlformats.org/drawingml/2006/main" noGrp="1"/>
          </p:cNvSpPr>
          <p:nvPr/>
        </p:nvSpPr>
        <p:spPr>
          <a:xfrm xmlns:a="http://schemas.openxmlformats.org/drawingml/2006/main">
            <a:off x="5029200" y="31242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2.</a:t>
            </a:r>
          </a:p>
        </p:txBody>
      </p:sp>
      <p:sp>
        <p:nvSpPr>
          <p:cNvPr id="12" name="exercise-step-1">
            <a:extLst xmlns:a="http://schemas.openxmlformats.org/drawingml/2006/main">
              <a:ext uri="{FF2B5EF4-FFF2-40B4-BE49-F238E27FC236}">
                <a16:creationId xmlns:a16="http://schemas.microsoft.com/office/drawing/2014/main" id="{81BB4FDD-603A-42EF-AE31-235BD5D929F4}"/>
              </a:ext>
            </a:extLst>
          </p:cNvPr>
          <p:cNvSpPr>
            <a:spLocks xmlns:a="http://schemas.openxmlformats.org/drawingml/2006/main" noGrp="1"/>
          </p:cNvSpPr>
          <p:nvPr/>
        </p:nvSpPr>
        <p:spPr>
          <a:xfrm xmlns:a="http://schemas.openxmlformats.org/drawingml/2006/main">
            <a:off x="5467350" y="31242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Set GROUP_COL and VALUE_COL to your own categorical and numeric columns.</a:t>
            </a:r>
          </a:p>
        </p:txBody>
      </p:sp>
      <p:sp>
        <p:nvSpPr>
          <p:cNvPr id="13" name="exercise-no-2">
            <a:extLst xmlns:a="http://schemas.openxmlformats.org/drawingml/2006/main">
              <a:ext uri="{FF2B5EF4-FFF2-40B4-BE49-F238E27FC236}">
                <a16:creationId xmlns:a16="http://schemas.microsoft.com/office/drawing/2014/main" id="{9C0D9CBE-EF41-4B0C-9D01-207171868A7D}"/>
              </a:ext>
            </a:extLst>
          </p:cNvPr>
          <p:cNvSpPr>
            <a:spLocks xmlns:a="http://schemas.openxmlformats.org/drawingml/2006/main" noGrp="1"/>
          </p:cNvSpPr>
          <p:nvPr/>
        </p:nvSpPr>
        <p:spPr>
          <a:xfrm xmlns:a="http://schemas.openxmlformats.org/drawingml/2006/main">
            <a:off x="5029200" y="40005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3.</a:t>
            </a:r>
          </a:p>
        </p:txBody>
      </p:sp>
      <p:sp>
        <p:nvSpPr>
          <p:cNvPr id="14" name="exercise-step-2">
            <a:extLst xmlns:a="http://schemas.openxmlformats.org/drawingml/2006/main">
              <a:ext uri="{FF2B5EF4-FFF2-40B4-BE49-F238E27FC236}">
                <a16:creationId xmlns:a16="http://schemas.microsoft.com/office/drawing/2014/main" id="{8ACF9894-01F0-4A29-AF16-53D8C23689D9}"/>
              </a:ext>
            </a:extLst>
          </p:cNvPr>
          <p:cNvSpPr>
            <a:spLocks xmlns:a="http://schemas.openxmlformats.org/drawingml/2006/main" noGrp="1"/>
          </p:cNvSpPr>
          <p:nvPr/>
        </p:nvSpPr>
        <p:spPr>
          <a:xfrm xmlns:a="http://schemas.openxmlformats.org/drawingml/2006/main">
            <a:off x="5467350" y="40005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Group, aggregate, sort, and print the ranked summary for your data.</a:t>
            </a:r>
          </a:p>
        </p:txBody>
      </p:sp>
      <p:sp>
        <p:nvSpPr>
          <p:cNvPr id="15" name="exercise-no-3">
            <a:extLst xmlns:a="http://schemas.openxmlformats.org/drawingml/2006/main">
              <a:ext uri="{FF2B5EF4-FFF2-40B4-BE49-F238E27FC236}">
                <a16:creationId xmlns:a16="http://schemas.microsoft.com/office/drawing/2014/main" id="{37691E6E-FB48-40F2-B362-6F19E5A25ADA}"/>
              </a:ext>
            </a:extLst>
          </p:cNvPr>
          <p:cNvSpPr>
            <a:spLocks xmlns:a="http://schemas.openxmlformats.org/drawingml/2006/main" noGrp="1"/>
          </p:cNvSpPr>
          <p:nvPr/>
        </p:nvSpPr>
        <p:spPr>
          <a:xfrm xmlns:a="http://schemas.openxmlformats.org/drawingml/2006/main">
            <a:off x="5029200" y="48768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4.</a:t>
            </a:r>
          </a:p>
        </p:txBody>
      </p:sp>
      <p:sp>
        <p:nvSpPr>
          <p:cNvPr id="16" name="exercise-step-3">
            <a:extLst xmlns:a="http://schemas.openxmlformats.org/drawingml/2006/main">
              <a:ext uri="{FF2B5EF4-FFF2-40B4-BE49-F238E27FC236}">
                <a16:creationId xmlns:a16="http://schemas.microsoft.com/office/drawing/2014/main" id="{83790A3C-4208-4163-B73A-DB8AADA46F7F}"/>
              </a:ext>
            </a:extLst>
          </p:cNvPr>
          <p:cNvSpPr>
            <a:spLocks xmlns:a="http://schemas.openxmlformats.org/drawingml/2006/main" noGrp="1"/>
          </p:cNvSpPr>
          <p:nvPr/>
        </p:nvSpPr>
        <p:spPr>
          <a:xfrm xmlns:a="http://schemas.openxmlformats.org/drawingml/2006/main">
            <a:off x="5467350" y="48768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Apply flag_iqr and flag_zscore to VALUE_COL, and write one keep / investigate / exclude sentence per flagged row.</a:t>
            </a:r>
          </a:p>
        </p:txBody>
      </p:sp>
    </p:spTree>
    <p:extLst>
      <p:ext uri="{BB962C8B-B14F-4D97-AF65-F5344CB8AC3E}">
        <p14:creationId xmlns:p14="http://schemas.microsoft.com/office/powerpoint/2010/main" val="1905018458"/>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1548BDB9-E12E-4DC9-B5E4-3E00A439658F}"/>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IN-CLASS CHECK</a:t>
            </a:r>
          </a:p>
        </p:txBody>
      </p:sp>
      <p:sp>
        <p:nvSpPr>
          <p:cNvPr id="2" name="title">
            <a:extLst xmlns:a="http://schemas.openxmlformats.org/drawingml/2006/main">
              <a:ext uri="{FF2B5EF4-FFF2-40B4-BE49-F238E27FC236}">
                <a16:creationId xmlns:a16="http://schemas.microsoft.com/office/drawing/2014/main" id="{09337594-A0B4-42AB-90C2-D18982ADA795}"/>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Studio 8: audit an AI-generated outlier function</a:t>
            </a:r>
          </a:p>
        </p:txBody>
      </p:sp>
      <p:sp>
        <p:nvSpPr>
          <p:cNvPr id="3" name="">
            <a:extLst xmlns:a="http://schemas.openxmlformats.org/drawingml/2006/main">
              <a:ext uri="{FF2B5EF4-FFF2-40B4-BE49-F238E27FC236}">
                <a16:creationId xmlns:a16="http://schemas.microsoft.com/office/drawing/2014/main" id="{1957A1A3-003B-4EF0-839D-4317BC940D07}"/>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378A2078-018F-4210-BC8B-79FEED61E708}"/>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5 · Meeting B · Grouping and Outlier Studio</a:t>
            </a:r>
          </a:p>
        </p:txBody>
      </p:sp>
      <p:sp>
        <p:nvSpPr>
          <p:cNvPr id="5" name="page">
            <a:extLst xmlns:a="http://schemas.openxmlformats.org/drawingml/2006/main">
              <a:ext uri="{FF2B5EF4-FFF2-40B4-BE49-F238E27FC236}">
                <a16:creationId xmlns:a16="http://schemas.microsoft.com/office/drawing/2014/main" id="{F8C01D41-25EB-48F9-A5E7-070B7FB80422}"/>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33</a:t>
            </a:r>
          </a:p>
        </p:txBody>
      </p:sp>
      <p:sp>
        <p:nvSpPr>
          <p:cNvPr id="6" name="exercise-accent">
            <a:extLst xmlns:a="http://schemas.openxmlformats.org/drawingml/2006/main">
              <a:ext uri="{FF2B5EF4-FFF2-40B4-BE49-F238E27FC236}">
                <a16:creationId xmlns:a16="http://schemas.microsoft.com/office/drawing/2014/main" id="{BC312084-7F6E-4FAE-ACCD-ECE5243117B3}"/>
              </a:ext>
            </a:extLst>
          </p:cNvPr>
          <p:cNvSpPr>
            <a:spLocks xmlns:a="http://schemas.openxmlformats.org/drawingml/2006/main" noGrp="1"/>
          </p:cNvSpPr>
          <p:nvPr/>
        </p:nvSpPr>
        <p:spPr>
          <a:xfrm xmlns:a="http://schemas.openxmlformats.org/drawingml/2006/main">
            <a:off x="609600" y="1809750"/>
            <a:ext cx="4000500" cy="4248150"/>
          </a:xfrm>
          <a:prstGeom xmlns:a="http://schemas.openxmlformats.org/drawingml/2006/main" prst="roundRect">
            <a:avLst>
              <a:gd name="adj" fmla="val 1429"/>
            </a:avLst>
          </a:prstGeom>
          <a:solidFill xmlns:a="http://schemas.openxmlformats.org/drawingml/2006/main">
            <a:srgbClr val="2E74B5"/>
          </a:solidFill>
          <a:ln xmlns:a="http://schemas.openxmlformats.org/drawingml/2006/main" w="9525">
            <a:solidFill>
              <a:srgbClr val="2E74B5"/>
            </a:solidFill>
            <a:prstDash val="solid"/>
          </a:ln>
        </p:spPr>
      </p:sp>
      <p:sp>
        <p:nvSpPr>
          <p:cNvPr id="7" name="exercise-prompt">
            <a:extLst xmlns:a="http://schemas.openxmlformats.org/drawingml/2006/main">
              <a:ext uri="{FF2B5EF4-FFF2-40B4-BE49-F238E27FC236}">
                <a16:creationId xmlns:a16="http://schemas.microsoft.com/office/drawing/2014/main" id="{E75E8DAB-E78F-40BF-B717-BEA76AF7214E}"/>
              </a:ext>
            </a:extLst>
          </p:cNvPr>
          <p:cNvSpPr>
            <a:spLocks xmlns:a="http://schemas.openxmlformats.org/drawingml/2006/main" noGrp="1"/>
          </p:cNvSpPr>
          <p:nvPr/>
        </p:nvSpPr>
        <p:spPr>
          <a:xfrm xmlns:a="http://schemas.openxmlformats.org/drawingml/2006/main">
            <a:off x="876300" y="2095500"/>
            <a:ext cx="3467100" cy="3676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100" b="1">
                <a:solidFill>
                  <a:srgbClr val="FFFFFF"/>
                </a:solidFill>
                <a:latin typeface="Arial"/>
                <a:ea typeface="Arial"/>
                <a:cs typeface="Arial"/>
              </a:defRPr>
            </a:pPr>
            <a:r>
              <a:rPr sz="2100" b="1">
                <a:solidFill>
                  <a:srgbClr val="FFFFFF"/>
                </a:solidFill>
                <a:latin typeface="Arial"/>
                <a:ea typeface="Arial"/>
                <a:cs typeface="Arial"/>
              </a:rPr>
              <a:t>AI wrote a z-score flag function that only checks one direction and silently drops flagged rows instead of recording them.</a:t>
            </a:r>
          </a:p>
        </p:txBody>
      </p:sp>
      <p:sp>
        <p:nvSpPr>
          <p:cNvPr id="8" name="work-label">
            <a:extLst xmlns:a="http://schemas.openxmlformats.org/drawingml/2006/main">
              <a:ext uri="{FF2B5EF4-FFF2-40B4-BE49-F238E27FC236}">
                <a16:creationId xmlns:a16="http://schemas.microsoft.com/office/drawing/2014/main" id="{20F685A7-3165-4D65-A354-74620DEAB345}"/>
              </a:ext>
            </a:extLst>
          </p:cNvPr>
          <p:cNvSpPr>
            <a:spLocks xmlns:a="http://schemas.openxmlformats.org/drawingml/2006/main" noGrp="1"/>
          </p:cNvSpPr>
          <p:nvPr/>
        </p:nvSpPr>
        <p:spPr>
          <a:xfrm xmlns:a="http://schemas.openxmlformats.org/drawingml/2006/main">
            <a:off x="5029200" y="1847850"/>
            <a:ext cx="6553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WORK THROUGH IT</a:t>
            </a:r>
          </a:p>
        </p:txBody>
      </p:sp>
      <p:sp>
        <p:nvSpPr>
          <p:cNvPr id="9" name="exercise-no-0">
            <a:extLst xmlns:a="http://schemas.openxmlformats.org/drawingml/2006/main">
              <a:ext uri="{FF2B5EF4-FFF2-40B4-BE49-F238E27FC236}">
                <a16:creationId xmlns:a16="http://schemas.microsoft.com/office/drawing/2014/main" id="{6C0C7ACB-CBA5-4BC9-8E73-EC0E0AC9BE68}"/>
              </a:ext>
            </a:extLst>
          </p:cNvPr>
          <p:cNvSpPr>
            <a:spLocks xmlns:a="http://schemas.openxmlformats.org/drawingml/2006/main" noGrp="1"/>
          </p:cNvSpPr>
          <p:nvPr/>
        </p:nvSpPr>
        <p:spPr>
          <a:xfrm xmlns:a="http://schemas.openxmlformats.org/drawingml/2006/main">
            <a:off x="5029200" y="22479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1.</a:t>
            </a:r>
          </a:p>
        </p:txBody>
      </p:sp>
      <p:sp>
        <p:nvSpPr>
          <p:cNvPr id="10" name="exercise-step-0">
            <a:extLst xmlns:a="http://schemas.openxmlformats.org/drawingml/2006/main">
              <a:ext uri="{FF2B5EF4-FFF2-40B4-BE49-F238E27FC236}">
                <a16:creationId xmlns:a16="http://schemas.microsoft.com/office/drawing/2014/main" id="{AFACB26C-55BF-4931-B2B1-DDBAC8395167}"/>
              </a:ext>
            </a:extLst>
          </p:cNvPr>
          <p:cNvSpPr>
            <a:spLocks xmlns:a="http://schemas.openxmlformats.org/drawingml/2006/main" noGrp="1"/>
          </p:cNvSpPr>
          <p:nvPr/>
        </p:nvSpPr>
        <p:spPr>
          <a:xfrm xmlns:a="http://schemas.openxmlformats.org/drawingml/2006/main">
            <a:off x="5467350" y="22479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Explain why z &gt; 2 (not abs(z) &gt; 2) misses low outliers entirely.</a:t>
            </a:r>
          </a:p>
        </p:txBody>
      </p:sp>
      <p:sp>
        <p:nvSpPr>
          <p:cNvPr id="11" name="exercise-no-1">
            <a:extLst xmlns:a="http://schemas.openxmlformats.org/drawingml/2006/main">
              <a:ext uri="{FF2B5EF4-FFF2-40B4-BE49-F238E27FC236}">
                <a16:creationId xmlns:a16="http://schemas.microsoft.com/office/drawing/2014/main" id="{AD9C685D-A0D8-49EB-8FA2-D044B7B20B64}"/>
              </a:ext>
            </a:extLst>
          </p:cNvPr>
          <p:cNvSpPr>
            <a:spLocks xmlns:a="http://schemas.openxmlformats.org/drawingml/2006/main" noGrp="1"/>
          </p:cNvSpPr>
          <p:nvPr/>
        </p:nvSpPr>
        <p:spPr>
          <a:xfrm xmlns:a="http://schemas.openxmlformats.org/drawingml/2006/main">
            <a:off x="5029200" y="31242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2.</a:t>
            </a:r>
          </a:p>
        </p:txBody>
      </p:sp>
      <p:sp>
        <p:nvSpPr>
          <p:cNvPr id="12" name="exercise-step-1">
            <a:extLst xmlns:a="http://schemas.openxmlformats.org/drawingml/2006/main">
              <a:ext uri="{FF2B5EF4-FFF2-40B4-BE49-F238E27FC236}">
                <a16:creationId xmlns:a16="http://schemas.microsoft.com/office/drawing/2014/main" id="{AE15ADC1-B3AF-45EA-8275-E13E581A137A}"/>
              </a:ext>
            </a:extLst>
          </p:cNvPr>
          <p:cNvSpPr>
            <a:spLocks xmlns:a="http://schemas.openxmlformats.org/drawingml/2006/main" noGrp="1"/>
          </p:cNvSpPr>
          <p:nvPr/>
        </p:nvSpPr>
        <p:spPr>
          <a:xfrm xmlns:a="http://schemas.openxmlformats.org/drawingml/2006/main">
            <a:off x="5467350" y="31242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Name the missing IQR cross-check this function never runs.</a:t>
            </a:r>
          </a:p>
        </p:txBody>
      </p:sp>
      <p:sp>
        <p:nvSpPr>
          <p:cNvPr id="13" name="exercise-no-2">
            <a:extLst xmlns:a="http://schemas.openxmlformats.org/drawingml/2006/main">
              <a:ext uri="{FF2B5EF4-FFF2-40B4-BE49-F238E27FC236}">
                <a16:creationId xmlns:a16="http://schemas.microsoft.com/office/drawing/2014/main" id="{29BD4200-CE43-49D0-830E-0B45DA83096C}"/>
              </a:ext>
            </a:extLst>
          </p:cNvPr>
          <p:cNvSpPr>
            <a:spLocks xmlns:a="http://schemas.openxmlformats.org/drawingml/2006/main" noGrp="1"/>
          </p:cNvSpPr>
          <p:nvPr/>
        </p:nvSpPr>
        <p:spPr>
          <a:xfrm xmlns:a="http://schemas.openxmlformats.org/drawingml/2006/main">
            <a:off x="5029200" y="40005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3.</a:t>
            </a:r>
          </a:p>
        </p:txBody>
      </p:sp>
      <p:sp>
        <p:nvSpPr>
          <p:cNvPr id="14" name="exercise-step-2">
            <a:extLst xmlns:a="http://schemas.openxmlformats.org/drawingml/2006/main">
              <a:ext uri="{FF2B5EF4-FFF2-40B4-BE49-F238E27FC236}">
                <a16:creationId xmlns:a16="http://schemas.microsoft.com/office/drawing/2014/main" id="{DF427D74-C254-4199-909C-C46DA9FA6404}"/>
              </a:ext>
            </a:extLst>
          </p:cNvPr>
          <p:cNvSpPr>
            <a:spLocks xmlns:a="http://schemas.openxmlformats.org/drawingml/2006/main" noGrp="1"/>
          </p:cNvSpPr>
          <p:nvPr/>
        </p:nvSpPr>
        <p:spPr>
          <a:xfrm xmlns:a="http://schemas.openxmlformats.org/drawingml/2006/main">
            <a:off x="5467350" y="40005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Rewrite the function so a flag is recorded in a new column, never deleted from the DataFrame.</a:t>
            </a:r>
          </a:p>
        </p:txBody>
      </p:sp>
      <p:sp>
        <p:nvSpPr>
          <p:cNvPr id="15" name="exercise-no-3">
            <a:extLst xmlns:a="http://schemas.openxmlformats.org/drawingml/2006/main">
              <a:ext uri="{FF2B5EF4-FFF2-40B4-BE49-F238E27FC236}">
                <a16:creationId xmlns:a16="http://schemas.microsoft.com/office/drawing/2014/main" id="{03555A45-B2B7-4A15-9ECC-ACEFAD8A896B}"/>
              </a:ext>
            </a:extLst>
          </p:cNvPr>
          <p:cNvSpPr>
            <a:spLocks xmlns:a="http://schemas.openxmlformats.org/drawingml/2006/main" noGrp="1"/>
          </p:cNvSpPr>
          <p:nvPr/>
        </p:nvSpPr>
        <p:spPr>
          <a:xfrm xmlns:a="http://schemas.openxmlformats.org/drawingml/2006/main">
            <a:off x="5029200" y="48768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4.</a:t>
            </a:r>
          </a:p>
        </p:txBody>
      </p:sp>
      <p:sp>
        <p:nvSpPr>
          <p:cNvPr id="16" name="exercise-step-3">
            <a:extLst xmlns:a="http://schemas.openxmlformats.org/drawingml/2006/main">
              <a:ext uri="{FF2B5EF4-FFF2-40B4-BE49-F238E27FC236}">
                <a16:creationId xmlns:a16="http://schemas.microsoft.com/office/drawing/2014/main" id="{31F5C30E-81CE-4C68-BE57-07560E235886}"/>
              </a:ext>
            </a:extLst>
          </p:cNvPr>
          <p:cNvSpPr>
            <a:spLocks xmlns:a="http://schemas.openxmlformats.org/drawingml/2006/main" noGrp="1"/>
          </p:cNvSpPr>
          <p:nvPr/>
        </p:nvSpPr>
        <p:spPr>
          <a:xfrm xmlns:a="http://schemas.openxmlformats.org/drawingml/2006/main">
            <a:off x="5467350" y="48768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Confirm the repaired function still flags R306 on energy_kwh_m2_yr.</a:t>
            </a:r>
          </a:p>
        </p:txBody>
      </p:sp>
    </p:spTree>
    <p:extLst>
      <p:ext uri="{BB962C8B-B14F-4D97-AF65-F5344CB8AC3E}">
        <p14:creationId xmlns:p14="http://schemas.microsoft.com/office/powerpoint/2010/main" val="64096799"/>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kicker">
            <a:extLst xmlns:a="http://schemas.openxmlformats.org/drawingml/2006/main">
              <a:ext uri="{FF2B5EF4-FFF2-40B4-BE49-F238E27FC236}">
                <a16:creationId xmlns:a16="http://schemas.microsoft.com/office/drawing/2014/main" id="{48966C17-D17F-4128-BCF8-D3C70B3B4726}"/>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METHOD</a:t>
            </a:r>
          </a:p>
        </p:txBody>
      </p:sp>
      <p:sp>
        <p:nvSpPr>
          <p:cNvPr id="2" name="title">
            <a:extLst xmlns:a="http://schemas.openxmlformats.org/drawingml/2006/main">
              <a:ext uri="{FF2B5EF4-FFF2-40B4-BE49-F238E27FC236}">
                <a16:creationId xmlns:a16="http://schemas.microsoft.com/office/drawing/2014/main" id="{45F59867-EE86-4C0C-8647-101AB31A26DC}"/>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Submit a small, reproducible evidence package</a:t>
            </a:r>
          </a:p>
        </p:txBody>
      </p:sp>
      <p:sp>
        <p:nvSpPr>
          <p:cNvPr id="3" name="">
            <a:extLst xmlns:a="http://schemas.openxmlformats.org/drawingml/2006/main">
              <a:ext uri="{FF2B5EF4-FFF2-40B4-BE49-F238E27FC236}">
                <a16:creationId xmlns:a16="http://schemas.microsoft.com/office/drawing/2014/main" id="{7BE54AA6-8238-433A-81DB-5F1500B222FA}"/>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A3D280B4-C103-4D12-B6BA-75C44867C330}"/>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5 · Meeting B · Grouping and Outlier Studio</a:t>
            </a:r>
          </a:p>
        </p:txBody>
      </p:sp>
      <p:sp>
        <p:nvSpPr>
          <p:cNvPr id="5" name="page">
            <a:extLst xmlns:a="http://schemas.openxmlformats.org/drawingml/2006/main">
              <a:ext uri="{FF2B5EF4-FFF2-40B4-BE49-F238E27FC236}">
                <a16:creationId xmlns:a16="http://schemas.microsoft.com/office/drawing/2014/main" id="{A898297C-7834-4A48-8007-98BA42EA714B}"/>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34</a:t>
            </a:r>
          </a:p>
        </p:txBody>
      </p:sp>
      <p:sp>
        <p:nvSpPr>
          <p:cNvPr id="6" name="step-arrow-0">
            <a:extLst xmlns:a="http://schemas.openxmlformats.org/drawingml/2006/main">
              <a:ext uri="{FF2B5EF4-FFF2-40B4-BE49-F238E27FC236}">
                <a16:creationId xmlns:a16="http://schemas.microsoft.com/office/drawing/2014/main" id="{65997BB9-F21E-44CF-9EE0-DF26EDD01C8D}"/>
              </a:ext>
            </a:extLst>
          </p:cNvPr>
          <p:cNvSpPr>
            <a:spLocks xmlns:a="http://schemas.openxmlformats.org/drawingml/2006/main" noGrp="1"/>
          </p:cNvSpPr>
          <p:nvPr/>
        </p:nvSpPr>
        <p:spPr>
          <a:xfrm xmlns:a="http://schemas.openxmlformats.org/drawingml/2006/main">
            <a:off x="321945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7" name="step-arrow-1">
            <a:extLst xmlns:a="http://schemas.openxmlformats.org/drawingml/2006/main">
              <a:ext uri="{FF2B5EF4-FFF2-40B4-BE49-F238E27FC236}">
                <a16:creationId xmlns:a16="http://schemas.microsoft.com/office/drawing/2014/main" id="{616C03C1-9C74-4236-B014-0ADED3B977F8}"/>
              </a:ext>
            </a:extLst>
          </p:cNvPr>
          <p:cNvSpPr>
            <a:spLocks xmlns:a="http://schemas.openxmlformats.org/drawingml/2006/main" noGrp="1"/>
          </p:cNvSpPr>
          <p:nvPr/>
        </p:nvSpPr>
        <p:spPr>
          <a:xfrm xmlns:a="http://schemas.openxmlformats.org/drawingml/2006/main">
            <a:off x="601980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8" name="step-arrow-2">
            <a:extLst xmlns:a="http://schemas.openxmlformats.org/drawingml/2006/main">
              <a:ext uri="{FF2B5EF4-FFF2-40B4-BE49-F238E27FC236}">
                <a16:creationId xmlns:a16="http://schemas.microsoft.com/office/drawing/2014/main" id="{9BAD458D-C04C-4F6F-8568-6C4795E60E4F}"/>
              </a:ext>
            </a:extLst>
          </p:cNvPr>
          <p:cNvSpPr>
            <a:spLocks xmlns:a="http://schemas.openxmlformats.org/drawingml/2006/main" noGrp="1"/>
          </p:cNvSpPr>
          <p:nvPr/>
        </p:nvSpPr>
        <p:spPr>
          <a:xfrm xmlns:a="http://schemas.openxmlformats.org/drawingml/2006/main">
            <a:off x="882015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9" name="step-node-0">
            <a:extLst xmlns:a="http://schemas.openxmlformats.org/drawingml/2006/main">
              <a:ext uri="{FF2B5EF4-FFF2-40B4-BE49-F238E27FC236}">
                <a16:creationId xmlns:a16="http://schemas.microsoft.com/office/drawing/2014/main" id="{0E22EF0B-3DED-4C75-AB86-7AE6F5478DBC}"/>
              </a:ext>
            </a:extLst>
          </p:cNvPr>
          <p:cNvSpPr>
            <a:spLocks xmlns:a="http://schemas.openxmlformats.org/drawingml/2006/main" noGrp="1"/>
          </p:cNvSpPr>
          <p:nvPr/>
        </p:nvSpPr>
        <p:spPr>
          <a:xfrm xmlns:a="http://schemas.openxmlformats.org/drawingml/2006/main">
            <a:off x="609600" y="1847850"/>
            <a:ext cx="2571750" cy="4171950"/>
          </a:xfrm>
          <a:prstGeom xmlns:a="http://schemas.openxmlformats.org/drawingml/2006/main" prst="roundRect">
            <a:avLst>
              <a:gd name="adj" fmla="val 3704"/>
            </a:avLst>
          </a:prstGeom>
          <a:solidFill xmlns:a="http://schemas.openxmlformats.org/drawingml/2006/main">
            <a:srgbClr val="F3F7FB"/>
          </a:solidFill>
          <a:ln xmlns:a="http://schemas.openxmlformats.org/drawingml/2006/main" w="9525">
            <a:solidFill>
              <a:srgbClr val="2E74B5"/>
            </a:solidFill>
            <a:prstDash val="solid"/>
          </a:ln>
        </p:spPr>
      </p:sp>
      <p:sp>
        <p:nvSpPr>
          <p:cNvPr id="10" name="step-number-0">
            <a:extLst xmlns:a="http://schemas.openxmlformats.org/drawingml/2006/main">
              <a:ext uri="{FF2B5EF4-FFF2-40B4-BE49-F238E27FC236}">
                <a16:creationId xmlns:a16="http://schemas.microsoft.com/office/drawing/2014/main" id="{72EEE734-8798-4C46-B9AE-99490673E699}"/>
              </a:ext>
            </a:extLst>
          </p:cNvPr>
          <p:cNvSpPr>
            <a:spLocks xmlns:a="http://schemas.openxmlformats.org/drawingml/2006/main" noGrp="1"/>
          </p:cNvSpPr>
          <p:nvPr/>
        </p:nvSpPr>
        <p:spPr>
          <a:xfrm xmlns:a="http://schemas.openxmlformats.org/drawingml/2006/main">
            <a:off x="80010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01</a:t>
            </a:r>
          </a:p>
        </p:txBody>
      </p:sp>
      <p:sp>
        <p:nvSpPr>
          <p:cNvPr id="11" name="step-label-0">
            <a:extLst xmlns:a="http://schemas.openxmlformats.org/drawingml/2006/main">
              <a:ext uri="{FF2B5EF4-FFF2-40B4-BE49-F238E27FC236}">
                <a16:creationId xmlns:a16="http://schemas.microsoft.com/office/drawing/2014/main" id="{9B3D7D38-A7EE-4C3C-B038-6A4B2B841BE0}"/>
              </a:ext>
            </a:extLst>
          </p:cNvPr>
          <p:cNvSpPr>
            <a:spLocks xmlns:a="http://schemas.openxmlformats.org/drawingml/2006/main" noGrp="1"/>
          </p:cNvSpPr>
          <p:nvPr/>
        </p:nvSpPr>
        <p:spPr>
          <a:xfrm xmlns:a="http://schemas.openxmlformats.org/drawingml/2006/main">
            <a:off x="129540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SCRIPT</a:t>
            </a:r>
          </a:p>
        </p:txBody>
      </p:sp>
      <p:sp>
        <p:nvSpPr>
          <p:cNvPr id="12" name="">
            <a:extLst xmlns:a="http://schemas.openxmlformats.org/drawingml/2006/main">
              <a:ext uri="{FF2B5EF4-FFF2-40B4-BE49-F238E27FC236}">
                <a16:creationId xmlns:a16="http://schemas.microsoft.com/office/drawing/2014/main" id="{90F16A8E-D0D0-4C5A-B575-179B42EA748F}"/>
              </a:ext>
            </a:extLst>
          </p:cNvPr>
          <p:cNvSpPr>
            <a:spLocks xmlns:a="http://schemas.openxmlformats.org/drawingml/2006/main" noGrp="1"/>
          </p:cNvSpPr>
          <p:nvPr/>
        </p:nvSpPr>
        <p:spPr>
          <a:xfrm xmlns:a="http://schemas.openxmlformats.org/drawingml/2006/main">
            <a:off x="800100" y="2476500"/>
            <a:ext cx="219075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13" name="step-head-0">
            <a:extLst xmlns:a="http://schemas.openxmlformats.org/drawingml/2006/main">
              <a:ext uri="{FF2B5EF4-FFF2-40B4-BE49-F238E27FC236}">
                <a16:creationId xmlns:a16="http://schemas.microsoft.com/office/drawing/2014/main" id="{D8CE2F94-0593-4DE6-8CC3-026027355E36}"/>
              </a:ext>
            </a:extLst>
          </p:cNvPr>
          <p:cNvSpPr>
            <a:spLocks xmlns:a="http://schemas.openxmlformats.org/drawingml/2006/main" noGrp="1"/>
          </p:cNvSpPr>
          <p:nvPr/>
        </p:nvSpPr>
        <p:spPr>
          <a:xfrm xmlns:a="http://schemas.openxmlformats.org/drawingml/2006/main">
            <a:off x="800100" y="2667000"/>
            <a:ext cx="219075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Runs top to bottom</a:t>
            </a:r>
          </a:p>
        </p:txBody>
      </p:sp>
      <p:sp>
        <p:nvSpPr>
          <p:cNvPr id="14" name="step-body-0">
            <a:extLst xmlns:a="http://schemas.openxmlformats.org/drawingml/2006/main">
              <a:ext uri="{FF2B5EF4-FFF2-40B4-BE49-F238E27FC236}">
                <a16:creationId xmlns:a16="http://schemas.microsoft.com/office/drawing/2014/main" id="{8D1DF407-D554-4378-B7C2-E1434944A090}"/>
              </a:ext>
            </a:extLst>
          </p:cNvPr>
          <p:cNvSpPr>
            <a:spLocks xmlns:a="http://schemas.openxmlformats.org/drawingml/2006/main" noGrp="1"/>
          </p:cNvSpPr>
          <p:nvPr/>
        </p:nvSpPr>
        <p:spPr>
          <a:xfrm xmlns:a="http://schemas.openxmlformats.org/drawingml/2006/main">
            <a:off x="800100" y="3370326"/>
            <a:ext cx="2190750" cy="24780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Restarted kernel, no leftover variables from earlier drafts.</a:t>
            </a:r>
          </a:p>
        </p:txBody>
      </p:sp>
      <p:sp>
        <p:nvSpPr>
          <p:cNvPr id="15" name="step-node-1">
            <a:extLst xmlns:a="http://schemas.openxmlformats.org/drawingml/2006/main">
              <a:ext uri="{FF2B5EF4-FFF2-40B4-BE49-F238E27FC236}">
                <a16:creationId xmlns:a16="http://schemas.microsoft.com/office/drawing/2014/main" id="{F1EBD46A-D0A7-41A2-ADB9-7E54143A35B1}"/>
              </a:ext>
            </a:extLst>
          </p:cNvPr>
          <p:cNvSpPr>
            <a:spLocks xmlns:a="http://schemas.openxmlformats.org/drawingml/2006/main" noGrp="1"/>
          </p:cNvSpPr>
          <p:nvPr/>
        </p:nvSpPr>
        <p:spPr>
          <a:xfrm xmlns:a="http://schemas.openxmlformats.org/drawingml/2006/main">
            <a:off x="340995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16" name="step-number-1">
            <a:extLst xmlns:a="http://schemas.openxmlformats.org/drawingml/2006/main">
              <a:ext uri="{FF2B5EF4-FFF2-40B4-BE49-F238E27FC236}">
                <a16:creationId xmlns:a16="http://schemas.microsoft.com/office/drawing/2014/main" id="{C00EABCE-1A83-449D-9910-1B02C13B8C59}"/>
              </a:ext>
            </a:extLst>
          </p:cNvPr>
          <p:cNvSpPr>
            <a:spLocks xmlns:a="http://schemas.openxmlformats.org/drawingml/2006/main" noGrp="1"/>
          </p:cNvSpPr>
          <p:nvPr/>
        </p:nvSpPr>
        <p:spPr>
          <a:xfrm xmlns:a="http://schemas.openxmlformats.org/drawingml/2006/main">
            <a:off x="360045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02</a:t>
            </a:r>
          </a:p>
        </p:txBody>
      </p:sp>
      <p:sp>
        <p:nvSpPr>
          <p:cNvPr id="17" name="step-label-1">
            <a:extLst xmlns:a="http://schemas.openxmlformats.org/drawingml/2006/main">
              <a:ext uri="{FF2B5EF4-FFF2-40B4-BE49-F238E27FC236}">
                <a16:creationId xmlns:a16="http://schemas.microsoft.com/office/drawing/2014/main" id="{111C6976-0228-4D3F-8D0F-1E37D0BCC2D9}"/>
              </a:ext>
            </a:extLst>
          </p:cNvPr>
          <p:cNvSpPr>
            <a:spLocks xmlns:a="http://schemas.openxmlformats.org/drawingml/2006/main" noGrp="1"/>
          </p:cNvSpPr>
          <p:nvPr/>
        </p:nvSpPr>
        <p:spPr>
          <a:xfrm xmlns:a="http://schemas.openxmlformats.org/drawingml/2006/main">
            <a:off x="409575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FLAGS</a:t>
            </a:r>
          </a:p>
        </p:txBody>
      </p:sp>
      <p:sp>
        <p:nvSpPr>
          <p:cNvPr id="18" name="">
            <a:extLst xmlns:a="http://schemas.openxmlformats.org/drawingml/2006/main">
              <a:ext uri="{FF2B5EF4-FFF2-40B4-BE49-F238E27FC236}">
                <a16:creationId xmlns:a16="http://schemas.microsoft.com/office/drawing/2014/main" id="{AB9B93C6-1878-4F8B-B1D6-23429AF15494}"/>
              </a:ext>
            </a:extLst>
          </p:cNvPr>
          <p:cNvSpPr>
            <a:spLocks xmlns:a="http://schemas.openxmlformats.org/drawingml/2006/main" noGrp="1"/>
          </p:cNvSpPr>
          <p:nvPr/>
        </p:nvSpPr>
        <p:spPr>
          <a:xfrm xmlns:a="http://schemas.openxmlformats.org/drawingml/2006/main">
            <a:off x="360045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19" name="step-head-1">
            <a:extLst xmlns:a="http://schemas.openxmlformats.org/drawingml/2006/main">
              <a:ext uri="{FF2B5EF4-FFF2-40B4-BE49-F238E27FC236}">
                <a16:creationId xmlns:a16="http://schemas.microsoft.com/office/drawing/2014/main" id="{F997E51C-E9E6-4A38-AF81-604FD8D91FE5}"/>
              </a:ext>
            </a:extLst>
          </p:cNvPr>
          <p:cNvSpPr>
            <a:spLocks xmlns:a="http://schemas.openxmlformats.org/drawingml/2006/main" noGrp="1"/>
          </p:cNvSpPr>
          <p:nvPr/>
        </p:nvSpPr>
        <p:spPr>
          <a:xfrm xmlns:a="http://schemas.openxmlformats.org/drawingml/2006/main">
            <a:off x="3600450" y="266700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Both rules, shown</a:t>
            </a:r>
          </a:p>
        </p:txBody>
      </p:sp>
      <p:sp>
        <p:nvSpPr>
          <p:cNvPr id="20" name="step-body-1">
            <a:extLst xmlns:a="http://schemas.openxmlformats.org/drawingml/2006/main">
              <a:ext uri="{FF2B5EF4-FFF2-40B4-BE49-F238E27FC236}">
                <a16:creationId xmlns:a16="http://schemas.microsoft.com/office/drawing/2014/main" id="{15C73C71-9353-4FD9-943C-6274FA29A45E}"/>
              </a:ext>
            </a:extLst>
          </p:cNvPr>
          <p:cNvSpPr>
            <a:spLocks xmlns:a="http://schemas.openxmlformats.org/drawingml/2006/main" noGrp="1"/>
          </p:cNvSpPr>
          <p:nvPr/>
        </p:nvSpPr>
        <p:spPr>
          <a:xfrm xmlns:a="http://schemas.openxmlformats.org/drawingml/2006/main">
            <a:off x="3600450" y="3352800"/>
            <a:ext cx="2190750"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iqr_flag and z_flag columns for at least one numeric column, on your own data.</a:t>
            </a:r>
          </a:p>
        </p:txBody>
      </p:sp>
      <p:sp>
        <p:nvSpPr>
          <p:cNvPr id="21" name="step-node-2">
            <a:extLst xmlns:a="http://schemas.openxmlformats.org/drawingml/2006/main">
              <a:ext uri="{FF2B5EF4-FFF2-40B4-BE49-F238E27FC236}">
                <a16:creationId xmlns:a16="http://schemas.microsoft.com/office/drawing/2014/main" id="{2F09FA3C-F485-4BE3-8DE2-644A3E85BBD7}"/>
              </a:ext>
            </a:extLst>
          </p:cNvPr>
          <p:cNvSpPr>
            <a:spLocks xmlns:a="http://schemas.openxmlformats.org/drawingml/2006/main" noGrp="1"/>
          </p:cNvSpPr>
          <p:nvPr/>
        </p:nvSpPr>
        <p:spPr>
          <a:xfrm xmlns:a="http://schemas.openxmlformats.org/drawingml/2006/main">
            <a:off x="621030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22" name="step-number-2">
            <a:extLst xmlns:a="http://schemas.openxmlformats.org/drawingml/2006/main">
              <a:ext uri="{FF2B5EF4-FFF2-40B4-BE49-F238E27FC236}">
                <a16:creationId xmlns:a16="http://schemas.microsoft.com/office/drawing/2014/main" id="{E1FDF604-1695-4983-B780-2063601C41F2}"/>
              </a:ext>
            </a:extLst>
          </p:cNvPr>
          <p:cNvSpPr>
            <a:spLocks xmlns:a="http://schemas.openxmlformats.org/drawingml/2006/main" noGrp="1"/>
          </p:cNvSpPr>
          <p:nvPr/>
        </p:nvSpPr>
        <p:spPr>
          <a:xfrm xmlns:a="http://schemas.openxmlformats.org/drawingml/2006/main">
            <a:off x="640080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03</a:t>
            </a:r>
          </a:p>
        </p:txBody>
      </p:sp>
      <p:sp>
        <p:nvSpPr>
          <p:cNvPr id="23" name="step-label-2">
            <a:extLst xmlns:a="http://schemas.openxmlformats.org/drawingml/2006/main">
              <a:ext uri="{FF2B5EF4-FFF2-40B4-BE49-F238E27FC236}">
                <a16:creationId xmlns:a16="http://schemas.microsoft.com/office/drawing/2014/main" id="{7D03F746-BCA8-4544-9F4E-9B8DDC54D36C}"/>
              </a:ext>
            </a:extLst>
          </p:cNvPr>
          <p:cNvSpPr>
            <a:spLocks xmlns:a="http://schemas.openxmlformats.org/drawingml/2006/main" noGrp="1"/>
          </p:cNvSpPr>
          <p:nvPr/>
        </p:nvSpPr>
        <p:spPr>
          <a:xfrm xmlns:a="http://schemas.openxmlformats.org/drawingml/2006/main">
            <a:off x="689610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DECISIONS</a:t>
            </a:r>
          </a:p>
        </p:txBody>
      </p:sp>
      <p:sp>
        <p:nvSpPr>
          <p:cNvPr id="24" name="">
            <a:extLst xmlns:a="http://schemas.openxmlformats.org/drawingml/2006/main">
              <a:ext uri="{FF2B5EF4-FFF2-40B4-BE49-F238E27FC236}">
                <a16:creationId xmlns:a16="http://schemas.microsoft.com/office/drawing/2014/main" id="{C9F43346-46BF-457B-98EE-A2D615CD8ADF}"/>
              </a:ext>
            </a:extLst>
          </p:cNvPr>
          <p:cNvSpPr>
            <a:spLocks xmlns:a="http://schemas.openxmlformats.org/drawingml/2006/main" noGrp="1"/>
          </p:cNvSpPr>
          <p:nvPr/>
        </p:nvSpPr>
        <p:spPr>
          <a:xfrm xmlns:a="http://schemas.openxmlformats.org/drawingml/2006/main">
            <a:off x="640080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25" name="step-head-2">
            <a:extLst xmlns:a="http://schemas.openxmlformats.org/drawingml/2006/main">
              <a:ext uri="{FF2B5EF4-FFF2-40B4-BE49-F238E27FC236}">
                <a16:creationId xmlns:a16="http://schemas.microsoft.com/office/drawing/2014/main" id="{5FE412F5-2D5F-4CE8-97B9-807CC41CF1C2}"/>
              </a:ext>
            </a:extLst>
          </p:cNvPr>
          <p:cNvSpPr>
            <a:spLocks xmlns:a="http://schemas.openxmlformats.org/drawingml/2006/main" noGrp="1"/>
          </p:cNvSpPr>
          <p:nvPr/>
        </p:nvSpPr>
        <p:spPr>
          <a:xfrm xmlns:a="http://schemas.openxmlformats.org/drawingml/2006/main">
            <a:off x="6400800" y="2667000"/>
            <a:ext cx="219075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One sentence per flag</a:t>
            </a:r>
          </a:p>
        </p:txBody>
      </p:sp>
      <p:sp>
        <p:nvSpPr>
          <p:cNvPr id="26" name="step-body-2">
            <a:extLst xmlns:a="http://schemas.openxmlformats.org/drawingml/2006/main">
              <a:ext uri="{FF2B5EF4-FFF2-40B4-BE49-F238E27FC236}">
                <a16:creationId xmlns:a16="http://schemas.microsoft.com/office/drawing/2014/main" id="{FB8743B0-396B-4B00-827F-80328146DE67}"/>
              </a:ext>
            </a:extLst>
          </p:cNvPr>
          <p:cNvSpPr>
            <a:spLocks xmlns:a="http://schemas.openxmlformats.org/drawingml/2006/main" noGrp="1"/>
          </p:cNvSpPr>
          <p:nvPr/>
        </p:nvSpPr>
        <p:spPr>
          <a:xfrm xmlns:a="http://schemas.openxmlformats.org/drawingml/2006/main">
            <a:off x="6400800" y="3370326"/>
            <a:ext cx="2190750" cy="24780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keep / investigate / exclude, naming measurement error, genuine extreme, or missing variable.</a:t>
            </a:r>
          </a:p>
        </p:txBody>
      </p:sp>
      <p:sp>
        <p:nvSpPr>
          <p:cNvPr id="27" name="step-node-3">
            <a:extLst xmlns:a="http://schemas.openxmlformats.org/drawingml/2006/main">
              <a:ext uri="{FF2B5EF4-FFF2-40B4-BE49-F238E27FC236}">
                <a16:creationId xmlns:a16="http://schemas.microsoft.com/office/drawing/2014/main" id="{17CA9FF2-0648-49D1-8B40-0D56AF53FC24}"/>
              </a:ext>
            </a:extLst>
          </p:cNvPr>
          <p:cNvSpPr>
            <a:spLocks xmlns:a="http://schemas.openxmlformats.org/drawingml/2006/main" noGrp="1"/>
          </p:cNvSpPr>
          <p:nvPr/>
        </p:nvSpPr>
        <p:spPr>
          <a:xfrm xmlns:a="http://schemas.openxmlformats.org/drawingml/2006/main">
            <a:off x="901065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28" name="step-number-3">
            <a:extLst xmlns:a="http://schemas.openxmlformats.org/drawingml/2006/main">
              <a:ext uri="{FF2B5EF4-FFF2-40B4-BE49-F238E27FC236}">
                <a16:creationId xmlns:a16="http://schemas.microsoft.com/office/drawing/2014/main" id="{7786D059-2F33-4A80-99B1-B46CD1D685CD}"/>
              </a:ext>
            </a:extLst>
          </p:cNvPr>
          <p:cNvSpPr>
            <a:spLocks xmlns:a="http://schemas.openxmlformats.org/drawingml/2006/main" noGrp="1"/>
          </p:cNvSpPr>
          <p:nvPr/>
        </p:nvSpPr>
        <p:spPr>
          <a:xfrm xmlns:a="http://schemas.openxmlformats.org/drawingml/2006/main">
            <a:off x="920115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04</a:t>
            </a:r>
          </a:p>
        </p:txBody>
      </p:sp>
      <p:sp>
        <p:nvSpPr>
          <p:cNvPr id="29" name="step-label-3">
            <a:extLst xmlns:a="http://schemas.openxmlformats.org/drawingml/2006/main">
              <a:ext uri="{FF2B5EF4-FFF2-40B4-BE49-F238E27FC236}">
                <a16:creationId xmlns:a16="http://schemas.microsoft.com/office/drawing/2014/main" id="{70992DF7-A8DB-4233-BC4A-B785C9C7F7DB}"/>
              </a:ext>
            </a:extLst>
          </p:cNvPr>
          <p:cNvSpPr>
            <a:spLocks xmlns:a="http://schemas.openxmlformats.org/drawingml/2006/main" noGrp="1"/>
          </p:cNvSpPr>
          <p:nvPr/>
        </p:nvSpPr>
        <p:spPr>
          <a:xfrm xmlns:a="http://schemas.openxmlformats.org/drawingml/2006/main">
            <a:off x="969645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DISCLOSURE</a:t>
            </a:r>
          </a:p>
        </p:txBody>
      </p:sp>
      <p:sp>
        <p:nvSpPr>
          <p:cNvPr id="30" name="">
            <a:extLst xmlns:a="http://schemas.openxmlformats.org/drawingml/2006/main">
              <a:ext uri="{FF2B5EF4-FFF2-40B4-BE49-F238E27FC236}">
                <a16:creationId xmlns:a16="http://schemas.microsoft.com/office/drawing/2014/main" id="{E0D12D84-AB6D-428C-A53C-A18BA34FBAF3}"/>
              </a:ext>
            </a:extLst>
          </p:cNvPr>
          <p:cNvSpPr>
            <a:spLocks xmlns:a="http://schemas.openxmlformats.org/drawingml/2006/main" noGrp="1"/>
          </p:cNvSpPr>
          <p:nvPr/>
        </p:nvSpPr>
        <p:spPr>
          <a:xfrm xmlns:a="http://schemas.openxmlformats.org/drawingml/2006/main">
            <a:off x="920115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31" name="step-head-3">
            <a:extLst xmlns:a="http://schemas.openxmlformats.org/drawingml/2006/main">
              <a:ext uri="{FF2B5EF4-FFF2-40B4-BE49-F238E27FC236}">
                <a16:creationId xmlns:a16="http://schemas.microsoft.com/office/drawing/2014/main" id="{A4660D89-6C6B-4A0E-9E9E-AA8BC930CB42}"/>
              </a:ext>
            </a:extLst>
          </p:cNvPr>
          <p:cNvSpPr>
            <a:spLocks xmlns:a="http://schemas.openxmlformats.org/drawingml/2006/main" noGrp="1"/>
          </p:cNvSpPr>
          <p:nvPr/>
        </p:nvSpPr>
        <p:spPr>
          <a:xfrm xmlns:a="http://schemas.openxmlformats.org/drawingml/2006/main">
            <a:off x="9201150" y="266700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AI-use record</a:t>
            </a:r>
          </a:p>
        </p:txBody>
      </p:sp>
      <p:sp>
        <p:nvSpPr>
          <p:cNvPr id="32" name="step-body-3">
            <a:extLst xmlns:a="http://schemas.openxmlformats.org/drawingml/2006/main">
              <a:ext uri="{FF2B5EF4-FFF2-40B4-BE49-F238E27FC236}">
                <a16:creationId xmlns:a16="http://schemas.microsoft.com/office/drawing/2014/main" id="{F0A4323C-4491-48AD-9DFC-57C7A21D9DA7}"/>
              </a:ext>
            </a:extLst>
          </p:cNvPr>
          <p:cNvSpPr>
            <a:spLocks xmlns:a="http://schemas.openxmlformats.org/drawingml/2006/main" noGrp="1"/>
          </p:cNvSpPr>
          <p:nvPr/>
        </p:nvSpPr>
        <p:spPr>
          <a:xfrm xmlns:a="http://schemas.openxmlformats.org/drawingml/2006/main">
            <a:off x="9201150" y="3352800"/>
            <a:ext cx="2190750"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Tool, prompt, what you accepted, modified, or rejected, and how you tested it.</a:t>
            </a:r>
          </a:p>
        </p:txBody>
      </p:sp>
    </p:spTree>
    <p:extLst>
      <p:ext uri="{BB962C8B-B14F-4D97-AF65-F5344CB8AC3E}">
        <p14:creationId xmlns:p14="http://schemas.microsoft.com/office/powerpoint/2010/main" val="1253286769"/>
      </p:ext>
    </p:extLst>
  </p:cSld>
</p:sld>
</file>

<file path=ppt/slides/slide35.xml><?xml version="1.0" encoding="utf-8"?>
<p:sld xmlns:p="http://schemas.openxmlformats.org/presentationml/2006/main">
  <p:cSld>
    <p:bg>
      <p:bgPr>
        <a:solidFill xmlns:a="http://schemas.openxmlformats.org/drawingml/2006/main">
          <a:srgbClr val="17191C"/>
        </a:solidFill>
      </p:bgPr>
    </p:bg>
    <p:spTree>
      <p:nvGrpSpPr>
        <p:cNvPr id="1" name=""/>
        <p:cNvGrpSpPr/>
        <p:nvPr/>
      </p:nvGrpSpPr>
      <p:grpSpPr>
        <a:xfrm xmlns:a="http://schemas.openxmlformats.org/drawingml/2006/main"/>
      </p:grpSpPr>
      <p:sp>
        <p:nvSpPr>
          <p:cNvPr id="12" name="close-week">
            <a:extLst xmlns:a="http://schemas.openxmlformats.org/drawingml/2006/main">
              <a:ext uri="{FF2B5EF4-FFF2-40B4-BE49-F238E27FC236}">
                <a16:creationId xmlns:a16="http://schemas.microsoft.com/office/drawing/2014/main" id="{970F1F30-0245-49F0-94CA-90CBE929A719}"/>
              </a:ext>
            </a:extLst>
          </p:cNvPr>
          <p:cNvSpPr>
            <a:spLocks xmlns:a="http://schemas.openxmlformats.org/drawingml/2006/main" noGrp="1"/>
          </p:cNvSpPr>
          <p:nvPr/>
        </p:nvSpPr>
        <p:spPr>
          <a:xfrm xmlns:a="http://schemas.openxmlformats.org/drawingml/2006/main">
            <a:off x="609600" y="4572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E8EEF5"/>
                </a:solidFill>
                <a:latin typeface="Arial"/>
                <a:ea typeface="Arial"/>
                <a:cs typeface="Arial"/>
              </a:defRPr>
            </a:pPr>
            <a:r>
              <a:rPr sz="1200" b="1">
                <a:solidFill>
                  <a:srgbClr val="E8EEF5"/>
                </a:solidFill>
                <a:latin typeface="Arial"/>
                <a:ea typeface="Arial"/>
                <a:cs typeface="Arial"/>
              </a:rPr>
              <a:t>WEEK 5 · MEETING B · GROUPING AND OUTLIER STUDIO</a:t>
            </a:r>
          </a:p>
        </p:txBody>
      </p:sp>
      <p:sp>
        <p:nvSpPr>
          <p:cNvPr id="2" name="close-title">
            <a:extLst xmlns:a="http://schemas.openxmlformats.org/drawingml/2006/main">
              <a:ext uri="{FF2B5EF4-FFF2-40B4-BE49-F238E27FC236}">
                <a16:creationId xmlns:a16="http://schemas.microsoft.com/office/drawing/2014/main" id="{B13E72E4-9297-4F8C-A632-CFA4CB0A8A60}"/>
              </a:ext>
            </a:extLst>
          </p:cNvPr>
          <p:cNvSpPr>
            <a:spLocks xmlns:a="http://schemas.openxmlformats.org/drawingml/2006/main" noGrp="1"/>
          </p:cNvSpPr>
          <p:nvPr/>
        </p:nvSpPr>
        <p:spPr>
          <a:xfrm xmlns:a="http://schemas.openxmlformats.org/drawingml/2006/main">
            <a:off x="609600" y="1066800"/>
            <a:ext cx="109728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600" b="1">
                <a:solidFill>
                  <a:srgbClr val="FFFFFF"/>
                </a:solidFill>
                <a:latin typeface="Arial"/>
                <a:ea typeface="Arial"/>
                <a:cs typeface="Arial"/>
              </a:defRPr>
            </a:pPr>
            <a:r>
              <a:rPr sz="3600" b="1">
                <a:solidFill>
                  <a:srgbClr val="FFFFFF"/>
                </a:solidFill>
                <a:latin typeface="Arial"/>
                <a:ea typeface="Arial"/>
                <a:cs typeface="Arial"/>
              </a:rPr>
              <a:t>A flagged row is a question, not a conclusion</a:t>
            </a:r>
          </a:p>
        </p:txBody>
      </p:sp>
      <p:sp>
        <p:nvSpPr>
          <p:cNvPr id="3" name="">
            <a:extLst xmlns:a="http://schemas.openxmlformats.org/drawingml/2006/main">
              <a:ext uri="{FF2B5EF4-FFF2-40B4-BE49-F238E27FC236}">
                <a16:creationId xmlns:a16="http://schemas.microsoft.com/office/drawing/2014/main" id="{D8339CA7-3E9C-441D-8A20-B662AE253170}"/>
              </a:ext>
            </a:extLst>
          </p:cNvPr>
          <p:cNvSpPr>
            <a:spLocks xmlns:a="http://schemas.openxmlformats.org/drawingml/2006/main" noGrp="1"/>
          </p:cNvSpPr>
          <p:nvPr/>
        </p:nvSpPr>
        <p:spPr>
          <a:xfrm xmlns:a="http://schemas.openxmlformats.org/drawingml/2006/main">
            <a:off x="609600" y="2324100"/>
            <a:ext cx="1600200" cy="0"/>
          </a:xfrm>
          <a:prstGeom xmlns:a="http://schemas.openxmlformats.org/drawingml/2006/main" prst="line">
            <a:avLst/>
          </a:prstGeom>
          <a:noFill xmlns:a="http://schemas.openxmlformats.org/drawingml/2006/main"/>
          <a:ln xmlns:a="http://schemas.openxmlformats.org/drawingml/2006/main" w="47625">
            <a:solidFill>
              <a:srgbClr val="2E74B5"/>
            </a:solidFill>
            <a:prstDash val="solid"/>
          </a:ln>
        </p:spPr>
      </p:sp>
      <p:sp>
        <p:nvSpPr>
          <p:cNvPr id="4" name="take-no-0">
            <a:extLst xmlns:a="http://schemas.openxmlformats.org/drawingml/2006/main">
              <a:ext uri="{FF2B5EF4-FFF2-40B4-BE49-F238E27FC236}">
                <a16:creationId xmlns:a16="http://schemas.microsoft.com/office/drawing/2014/main" id="{D40E1182-997C-4E48-AF1B-4F767F710650}"/>
              </a:ext>
            </a:extLst>
          </p:cNvPr>
          <p:cNvSpPr>
            <a:spLocks xmlns:a="http://schemas.openxmlformats.org/drawingml/2006/main" noGrp="1"/>
          </p:cNvSpPr>
          <p:nvPr/>
        </p:nvSpPr>
        <p:spPr>
          <a:xfrm xmlns:a="http://schemas.openxmlformats.org/drawingml/2006/main">
            <a:off x="609600" y="2743200"/>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01</a:t>
            </a:r>
          </a:p>
        </p:txBody>
      </p:sp>
      <p:sp>
        <p:nvSpPr>
          <p:cNvPr id="5" name="take-0">
            <a:extLst xmlns:a="http://schemas.openxmlformats.org/drawingml/2006/main">
              <a:ext uri="{FF2B5EF4-FFF2-40B4-BE49-F238E27FC236}">
                <a16:creationId xmlns:a16="http://schemas.microsoft.com/office/drawing/2014/main" id="{36E52DAA-76EF-429F-92AB-663B2E2AE2B5}"/>
              </a:ext>
            </a:extLst>
          </p:cNvPr>
          <p:cNvSpPr>
            <a:spLocks xmlns:a="http://schemas.openxmlformats.org/drawingml/2006/main" noGrp="1"/>
          </p:cNvSpPr>
          <p:nvPr/>
        </p:nvSpPr>
        <p:spPr>
          <a:xfrm xmlns:a="http://schemas.openxmlformats.org/drawingml/2006/main">
            <a:off x="1409700" y="2705100"/>
            <a:ext cx="10172700" cy="4023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FFFFFF"/>
                </a:solidFill>
                <a:latin typeface="Arial"/>
                <a:ea typeface="Arial"/>
                <a:cs typeface="Arial"/>
              </a:defRPr>
            </a:pPr>
            <a:r>
              <a:rPr sz="2100" b="0">
                <a:solidFill>
                  <a:srgbClr val="FFFFFF"/>
                </a:solidFill>
                <a:latin typeface="Arial"/>
                <a:ea typeface="Arial"/>
                <a:cs typeface="Arial"/>
              </a:rPr>
              <a:t>groupby() + .agg() turns many rows into one ranked, comparable table.</a:t>
            </a:r>
          </a:p>
        </p:txBody>
      </p:sp>
      <p:sp>
        <p:nvSpPr>
          <p:cNvPr id="6" name="take-no-1">
            <a:extLst xmlns:a="http://schemas.openxmlformats.org/drawingml/2006/main">
              <a:ext uri="{FF2B5EF4-FFF2-40B4-BE49-F238E27FC236}">
                <a16:creationId xmlns:a16="http://schemas.microsoft.com/office/drawing/2014/main" id="{DAC2DE2B-6023-4B2E-819E-42C46F0A9495}"/>
              </a:ext>
            </a:extLst>
          </p:cNvPr>
          <p:cNvSpPr>
            <a:spLocks xmlns:a="http://schemas.openxmlformats.org/drawingml/2006/main" noGrp="1"/>
          </p:cNvSpPr>
          <p:nvPr/>
        </p:nvSpPr>
        <p:spPr>
          <a:xfrm xmlns:a="http://schemas.openxmlformats.org/drawingml/2006/main">
            <a:off x="609600" y="3240786"/>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02</a:t>
            </a:r>
          </a:p>
        </p:txBody>
      </p:sp>
      <p:sp>
        <p:nvSpPr>
          <p:cNvPr id="7" name="take-1">
            <a:extLst xmlns:a="http://schemas.openxmlformats.org/drawingml/2006/main">
              <a:ext uri="{FF2B5EF4-FFF2-40B4-BE49-F238E27FC236}">
                <a16:creationId xmlns:a16="http://schemas.microsoft.com/office/drawing/2014/main" id="{993C5E2E-7F63-4CDA-B0B5-ABC4544FC966}"/>
              </a:ext>
            </a:extLst>
          </p:cNvPr>
          <p:cNvSpPr>
            <a:spLocks xmlns:a="http://schemas.openxmlformats.org/drawingml/2006/main" noGrp="1"/>
          </p:cNvSpPr>
          <p:nvPr/>
        </p:nvSpPr>
        <p:spPr>
          <a:xfrm xmlns:a="http://schemas.openxmlformats.org/drawingml/2006/main">
            <a:off x="1409700" y="3202686"/>
            <a:ext cx="10172700" cy="6903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FFFFFF"/>
                </a:solidFill>
                <a:latin typeface="Arial"/>
                <a:ea typeface="Arial"/>
                <a:cs typeface="Arial"/>
              </a:defRPr>
            </a:pPr>
            <a:r>
              <a:rPr sz="2100" b="0">
                <a:solidFill>
                  <a:srgbClr val="FFFFFF"/>
                </a:solidFill>
                <a:latin typeface="Arial"/>
                <a:ea typeface="Arial"/>
                <a:cs typeface="Arial"/>
              </a:rPr>
              <a:t>flag_iqr() and flag_zscore() are two independent lenses on the same column.</a:t>
            </a:r>
          </a:p>
        </p:txBody>
      </p:sp>
      <p:sp>
        <p:nvSpPr>
          <p:cNvPr id="8" name="take-no-2">
            <a:extLst xmlns:a="http://schemas.openxmlformats.org/drawingml/2006/main">
              <a:ext uri="{FF2B5EF4-FFF2-40B4-BE49-F238E27FC236}">
                <a16:creationId xmlns:a16="http://schemas.microsoft.com/office/drawing/2014/main" id="{6248E119-546D-485E-A343-37D50BD34739}"/>
              </a:ext>
            </a:extLst>
          </p:cNvPr>
          <p:cNvSpPr>
            <a:spLocks xmlns:a="http://schemas.openxmlformats.org/drawingml/2006/main" noGrp="1"/>
          </p:cNvSpPr>
          <p:nvPr/>
        </p:nvSpPr>
        <p:spPr>
          <a:xfrm xmlns:a="http://schemas.openxmlformats.org/drawingml/2006/main">
            <a:off x="609600" y="4026408"/>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03</a:t>
            </a:r>
          </a:p>
        </p:txBody>
      </p:sp>
      <p:sp>
        <p:nvSpPr>
          <p:cNvPr id="9" name="take-2">
            <a:extLst xmlns:a="http://schemas.openxmlformats.org/drawingml/2006/main">
              <a:ext uri="{FF2B5EF4-FFF2-40B4-BE49-F238E27FC236}">
                <a16:creationId xmlns:a16="http://schemas.microsoft.com/office/drawing/2014/main" id="{83986D37-4695-4555-8E05-11B363355B69}"/>
              </a:ext>
            </a:extLst>
          </p:cNvPr>
          <p:cNvSpPr>
            <a:spLocks xmlns:a="http://schemas.openxmlformats.org/drawingml/2006/main" noGrp="1"/>
          </p:cNvSpPr>
          <p:nvPr/>
        </p:nvSpPr>
        <p:spPr>
          <a:xfrm xmlns:a="http://schemas.openxmlformats.org/drawingml/2006/main">
            <a:off x="1409700" y="3988308"/>
            <a:ext cx="10172700" cy="6903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FFFFFF"/>
                </a:solidFill>
                <a:latin typeface="Arial"/>
                <a:ea typeface="Arial"/>
                <a:cs typeface="Arial"/>
              </a:defRPr>
            </a:pPr>
            <a:r>
              <a:rPr sz="2100" b="0">
                <a:solidFill>
                  <a:srgbClr val="FFFFFF"/>
                </a:solidFill>
                <a:latin typeface="Arial"/>
                <a:ea typeface="Arial"/>
                <a:cs typeface="Arial"/>
              </a:rPr>
              <a:t>Agreement earns confidence; disagreement earns a written decision, not a coin flip.</a:t>
            </a:r>
          </a:p>
        </p:txBody>
      </p:sp>
      <p:sp>
        <p:nvSpPr>
          <p:cNvPr id="10" name="take-no-3">
            <a:extLst xmlns:a="http://schemas.openxmlformats.org/drawingml/2006/main">
              <a:ext uri="{FF2B5EF4-FFF2-40B4-BE49-F238E27FC236}">
                <a16:creationId xmlns:a16="http://schemas.microsoft.com/office/drawing/2014/main" id="{A58DC2C3-C11B-4AF9-B90D-1AD42A0D6440}"/>
              </a:ext>
            </a:extLst>
          </p:cNvPr>
          <p:cNvSpPr>
            <a:spLocks xmlns:a="http://schemas.openxmlformats.org/drawingml/2006/main" noGrp="1"/>
          </p:cNvSpPr>
          <p:nvPr/>
        </p:nvSpPr>
        <p:spPr>
          <a:xfrm xmlns:a="http://schemas.openxmlformats.org/drawingml/2006/main">
            <a:off x="609600" y="4812030"/>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04</a:t>
            </a:r>
          </a:p>
        </p:txBody>
      </p:sp>
      <p:sp>
        <p:nvSpPr>
          <p:cNvPr id="11" name="take-3">
            <a:extLst xmlns:a="http://schemas.openxmlformats.org/drawingml/2006/main">
              <a:ext uri="{FF2B5EF4-FFF2-40B4-BE49-F238E27FC236}">
                <a16:creationId xmlns:a16="http://schemas.microsoft.com/office/drawing/2014/main" id="{773085EB-5721-4AF3-878E-28D97B746B4D}"/>
              </a:ext>
            </a:extLst>
          </p:cNvPr>
          <p:cNvSpPr>
            <a:spLocks xmlns:a="http://schemas.openxmlformats.org/drawingml/2006/main" noGrp="1"/>
          </p:cNvSpPr>
          <p:nvPr/>
        </p:nvSpPr>
        <p:spPr>
          <a:xfrm xmlns:a="http://schemas.openxmlformats.org/drawingml/2006/main">
            <a:off x="1409700" y="4773930"/>
            <a:ext cx="10172700" cy="6903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FFFFFF"/>
                </a:solidFill>
                <a:latin typeface="Arial"/>
                <a:ea typeface="Arial"/>
                <a:cs typeface="Arial"/>
              </a:defRPr>
            </a:pPr>
            <a:r>
              <a:rPr sz="2100" b="0">
                <a:solidFill>
                  <a:srgbClr val="FFFFFF"/>
                </a:solidFill>
                <a:latin typeface="Arial"/>
                <a:ea typeface="Arial"/>
                <a:cs typeface="Arial"/>
              </a:rPr>
              <a:t>This studio's output is this week's Project 1 checkpoint — on your own data.</a:t>
            </a:r>
          </a:p>
        </p:txBody>
      </p:sp>
    </p:spTree>
    <p:extLst>
      <p:ext uri="{BB962C8B-B14F-4D97-AF65-F5344CB8AC3E}">
        <p14:creationId xmlns:p14="http://schemas.microsoft.com/office/powerpoint/2010/main" val="10377604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2026-08-20T17:41:55.2660000Z</dcterms:created>
  <dcterms:modified xsi:type="dcterms:W3CDTF">2026-08-20T17:41:55.2660000Z</dcterms:modified>
</coreProperties>
</file>