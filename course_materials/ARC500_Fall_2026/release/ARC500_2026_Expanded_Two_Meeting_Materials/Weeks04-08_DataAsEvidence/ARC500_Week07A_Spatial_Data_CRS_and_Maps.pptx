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771ece253d44d0" /><Relationship Type="http://schemas.openxmlformats.org/officeDocument/2006/relationships/extended-properties" Target="/docProps/app.xml" Id="R94f49d9409394e1c" /><Relationship Type="http://schemas.openxmlformats.org/officeDocument/2006/relationships/officeDocument" Target="/ppt/presentation.xml" Id="Rafe3c3f544cc4aa9" /></Relationships>
</file>

<file path=ppt/presentation.xml><?xml version="1.0" encoding="utf-8"?>
<p:presentation xmlns:p="http://schemas.openxmlformats.org/presentationml/2006/main">
  <p:sldMasterIdLst>
    <p:sldMasterId xmlns:r="http://schemas.openxmlformats.org/officeDocument/2006/relationships" id="2147483648" r:id="Rc67d169b842246fc"/>
  </p:sldMasterIdLst>
  <p:notesMasterIdLst>
    <p:notesMasterId xmlns:r="http://schemas.openxmlformats.org/officeDocument/2006/relationships" r:id="R19460969cbad4001"/>
  </p:notesMasterIdLst>
  <p:sldIdLst>
    <p:sldId xmlns:r="http://schemas.openxmlformats.org/officeDocument/2006/relationships" id="256" r:id="R9fea931aae2a44c9"/>
    <p:sldId xmlns:r="http://schemas.openxmlformats.org/officeDocument/2006/relationships" id="257" r:id="R1f736fe11904419a"/>
    <p:sldId xmlns:r="http://schemas.openxmlformats.org/officeDocument/2006/relationships" id="258" r:id="R403489a825dd418a"/>
    <p:sldId xmlns:r="http://schemas.openxmlformats.org/officeDocument/2006/relationships" id="259" r:id="Rccf3d3a13f4f43a8"/>
    <p:sldId xmlns:r="http://schemas.openxmlformats.org/officeDocument/2006/relationships" id="260" r:id="R033f412ffabf4fec"/>
    <p:sldId xmlns:r="http://schemas.openxmlformats.org/officeDocument/2006/relationships" id="261" r:id="R7963ebec62054182"/>
    <p:sldId xmlns:r="http://schemas.openxmlformats.org/officeDocument/2006/relationships" id="262" r:id="Rdd6cd4c156434569"/>
    <p:sldId xmlns:r="http://schemas.openxmlformats.org/officeDocument/2006/relationships" id="263" r:id="Rd56302a2c22f44d8"/>
    <p:sldId xmlns:r="http://schemas.openxmlformats.org/officeDocument/2006/relationships" id="264" r:id="R5f0ee778a657463e"/>
    <p:sldId xmlns:r="http://schemas.openxmlformats.org/officeDocument/2006/relationships" id="265" r:id="R30de960186894674"/>
    <p:sldId xmlns:r="http://schemas.openxmlformats.org/officeDocument/2006/relationships" id="266" r:id="Rc279e38f69504f9c"/>
    <p:sldId xmlns:r="http://schemas.openxmlformats.org/officeDocument/2006/relationships" id="267" r:id="R03556208765746c2"/>
    <p:sldId xmlns:r="http://schemas.openxmlformats.org/officeDocument/2006/relationships" id="268" r:id="R6da608f45c334c54"/>
    <p:sldId xmlns:r="http://schemas.openxmlformats.org/officeDocument/2006/relationships" id="269" r:id="Rf170233f7fde4c32"/>
    <p:sldId xmlns:r="http://schemas.openxmlformats.org/officeDocument/2006/relationships" id="270" r:id="R5f8ea6b8beb94262"/>
    <p:sldId xmlns:r="http://schemas.openxmlformats.org/officeDocument/2006/relationships" id="271" r:id="Rddf02f1ab0b34a90"/>
    <p:sldId xmlns:r="http://schemas.openxmlformats.org/officeDocument/2006/relationships" id="272" r:id="R20f149cd613243d2"/>
    <p:sldId xmlns:r="http://schemas.openxmlformats.org/officeDocument/2006/relationships" id="273" r:id="Raada7686a2734720"/>
    <p:sldId xmlns:r="http://schemas.openxmlformats.org/officeDocument/2006/relationships" id="274" r:id="R0d26b0f3dd5747a4"/>
    <p:sldId xmlns:r="http://schemas.openxmlformats.org/officeDocument/2006/relationships" id="275" r:id="R5edefb64789e4714"/>
    <p:sldId xmlns:r="http://schemas.openxmlformats.org/officeDocument/2006/relationships" id="276" r:id="R9f3275cc7298470d"/>
    <p:sldId xmlns:r="http://schemas.openxmlformats.org/officeDocument/2006/relationships" id="277" r:id="R8fc31d6515cf4c8c"/>
    <p:sldId xmlns:r="http://schemas.openxmlformats.org/officeDocument/2006/relationships" id="278" r:id="R57cc4dd952a04765"/>
    <p:sldId xmlns:r="http://schemas.openxmlformats.org/officeDocument/2006/relationships" id="279" r:id="R8afaf252610d41f3"/>
    <p:sldId xmlns:r="http://schemas.openxmlformats.org/officeDocument/2006/relationships" id="280" r:id="R06771ac233294c81"/>
    <p:sldId xmlns:r="http://schemas.openxmlformats.org/officeDocument/2006/relationships" id="281" r:id="R27265e0147054156"/>
    <p:sldId xmlns:r="http://schemas.openxmlformats.org/officeDocument/2006/relationships" id="282" r:id="R9cd120c97151408b"/>
    <p:sldId xmlns:r="http://schemas.openxmlformats.org/officeDocument/2006/relationships" id="283" r:id="R051720e6f9034e29"/>
    <p:sldId xmlns:r="http://schemas.openxmlformats.org/officeDocument/2006/relationships" id="284" r:id="Rdcadae6087674777"/>
    <p:sldId xmlns:r="http://schemas.openxmlformats.org/officeDocument/2006/relationships" id="285" r:id="R5538c226325240b7"/>
    <p:sldId xmlns:r="http://schemas.openxmlformats.org/officeDocument/2006/relationships" id="286" r:id="R33581e750b054ec6"/>
    <p:sldId xmlns:r="http://schemas.openxmlformats.org/officeDocument/2006/relationships" id="287" r:id="Re6f982e8bd854e13"/>
    <p:sldId xmlns:r="http://schemas.openxmlformats.org/officeDocument/2006/relationships" id="288" r:id="R1f3e775a24224462"/>
    <p:sldId xmlns:r="http://schemas.openxmlformats.org/officeDocument/2006/relationships" id="289" r:id="Rdb257ac814ab47ab"/>
    <p:sldId xmlns:r="http://schemas.openxmlformats.org/officeDocument/2006/relationships" id="290" r:id="R066162238b1549c0"/>
    <p:sldId xmlns:r="http://schemas.openxmlformats.org/officeDocument/2006/relationships" id="291" r:id="Reac6665fd74844a3"/>
    <p:sldId xmlns:r="http://schemas.openxmlformats.org/officeDocument/2006/relationships" id="292" r:id="R201ad319a9f544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8541eeee174163" /><Relationship Type="http://schemas.openxmlformats.org/officeDocument/2006/relationships/slideMaster" Target="/ppt/slideMasters/slideMaster1.xml" Id="Rc67d169b842246fc" /><Relationship Type="http://schemas.openxmlformats.org/officeDocument/2006/relationships/notesMaster" Target="/ppt/notesMasters/notesMaster1.xml" Id="R19460969cbad4001" /><Relationship Type="http://schemas.openxmlformats.org/officeDocument/2006/relationships/presProps" Target="/ppt/presProps.xml" Id="R1e9a6a46cb6049b5" /><Relationship Type="http://schemas.openxmlformats.org/officeDocument/2006/relationships/tableStyles" Target="/ppt/tableStyles.xml" Id="Rde32c02c214f4efc" /><Relationship Type="http://schemas.openxmlformats.org/officeDocument/2006/relationships/slide" Target="/ppt/slides/slide1.xml" Id="R9fea931aae2a44c9" /><Relationship Type="http://schemas.openxmlformats.org/officeDocument/2006/relationships/slide" Target="/ppt/slides/slide2.xml" Id="R1f736fe11904419a" /><Relationship Type="http://schemas.openxmlformats.org/officeDocument/2006/relationships/slide" Target="/ppt/slides/slide3.xml" Id="R403489a825dd418a" /><Relationship Type="http://schemas.openxmlformats.org/officeDocument/2006/relationships/slide" Target="/ppt/slides/slide4.xml" Id="Rccf3d3a13f4f43a8" /><Relationship Type="http://schemas.openxmlformats.org/officeDocument/2006/relationships/slide" Target="/ppt/slides/slide5.xml" Id="R033f412ffabf4fec" /><Relationship Type="http://schemas.openxmlformats.org/officeDocument/2006/relationships/slide" Target="/ppt/slides/slide6.xml" Id="R7963ebec62054182" /><Relationship Type="http://schemas.openxmlformats.org/officeDocument/2006/relationships/slide" Target="/ppt/slides/slide7.xml" Id="Rdd6cd4c156434569" /><Relationship Type="http://schemas.openxmlformats.org/officeDocument/2006/relationships/slide" Target="/ppt/slides/slide8.xml" Id="Rd56302a2c22f44d8" /><Relationship Type="http://schemas.openxmlformats.org/officeDocument/2006/relationships/slide" Target="/ppt/slides/slide9.xml" Id="R5f0ee778a657463e" /><Relationship Type="http://schemas.openxmlformats.org/officeDocument/2006/relationships/slide" Target="/ppt/slides/slide10.xml" Id="R30de960186894674" /><Relationship Type="http://schemas.openxmlformats.org/officeDocument/2006/relationships/slide" Target="/ppt/slides/slide11.xml" Id="Rc279e38f69504f9c" /><Relationship Type="http://schemas.openxmlformats.org/officeDocument/2006/relationships/slide" Target="/ppt/slides/slide12.xml" Id="R03556208765746c2" /><Relationship Type="http://schemas.openxmlformats.org/officeDocument/2006/relationships/slide" Target="/ppt/slides/slide13.xml" Id="R6da608f45c334c54" /><Relationship Type="http://schemas.openxmlformats.org/officeDocument/2006/relationships/slide" Target="/ppt/slides/slide14.xml" Id="Rf170233f7fde4c32" /><Relationship Type="http://schemas.openxmlformats.org/officeDocument/2006/relationships/slide" Target="/ppt/slides/slide15.xml" Id="R5f8ea6b8beb94262" /><Relationship Type="http://schemas.openxmlformats.org/officeDocument/2006/relationships/slide" Target="/ppt/slides/slide16.xml" Id="Rddf02f1ab0b34a90" /><Relationship Type="http://schemas.openxmlformats.org/officeDocument/2006/relationships/slide" Target="/ppt/slides/slide17.xml" Id="R20f149cd613243d2" /><Relationship Type="http://schemas.openxmlformats.org/officeDocument/2006/relationships/slide" Target="/ppt/slides/slide18.xml" Id="Raada7686a2734720" /><Relationship Type="http://schemas.openxmlformats.org/officeDocument/2006/relationships/slide" Target="/ppt/slides/slide19.xml" Id="R0d26b0f3dd5747a4" /><Relationship Type="http://schemas.openxmlformats.org/officeDocument/2006/relationships/slide" Target="/ppt/slides/slide20.xml" Id="R5edefb64789e4714" /><Relationship Type="http://schemas.openxmlformats.org/officeDocument/2006/relationships/slide" Target="/ppt/slides/slide21.xml" Id="R9f3275cc7298470d" /><Relationship Type="http://schemas.openxmlformats.org/officeDocument/2006/relationships/slide" Target="/ppt/slides/slide22.xml" Id="R8fc31d6515cf4c8c" /><Relationship Type="http://schemas.openxmlformats.org/officeDocument/2006/relationships/slide" Target="/ppt/slides/slide23.xml" Id="R57cc4dd952a04765" /><Relationship Type="http://schemas.openxmlformats.org/officeDocument/2006/relationships/slide" Target="/ppt/slides/slide24.xml" Id="R8afaf252610d41f3" /><Relationship Type="http://schemas.openxmlformats.org/officeDocument/2006/relationships/slide" Target="/ppt/slides/slide25.xml" Id="R06771ac233294c81" /><Relationship Type="http://schemas.openxmlformats.org/officeDocument/2006/relationships/slide" Target="/ppt/slides/slide26.xml" Id="R27265e0147054156" /><Relationship Type="http://schemas.openxmlformats.org/officeDocument/2006/relationships/slide" Target="/ppt/slides/slide27.xml" Id="R9cd120c97151408b" /><Relationship Type="http://schemas.openxmlformats.org/officeDocument/2006/relationships/slide" Target="/ppt/slides/slide28.xml" Id="R051720e6f9034e29" /><Relationship Type="http://schemas.openxmlformats.org/officeDocument/2006/relationships/slide" Target="/ppt/slides/slide29.xml" Id="Rdcadae6087674777" /><Relationship Type="http://schemas.openxmlformats.org/officeDocument/2006/relationships/slide" Target="/ppt/slides/slide30.xml" Id="R5538c226325240b7" /><Relationship Type="http://schemas.openxmlformats.org/officeDocument/2006/relationships/slide" Target="/ppt/slides/slide31.xml" Id="R33581e750b054ec6" /><Relationship Type="http://schemas.openxmlformats.org/officeDocument/2006/relationships/slide" Target="/ppt/slides/slide32.xml" Id="Re6f982e8bd854e13" /><Relationship Type="http://schemas.openxmlformats.org/officeDocument/2006/relationships/slide" Target="/ppt/slides/slide33.xml" Id="R1f3e775a24224462" /><Relationship Type="http://schemas.openxmlformats.org/officeDocument/2006/relationships/slide" Target="/ppt/slides/slide34.xml" Id="Rdb257ac814ab47ab" /><Relationship Type="http://schemas.openxmlformats.org/officeDocument/2006/relationships/slide" Target="/ppt/slides/slide35.xml" Id="R066162238b1549c0" /><Relationship Type="http://schemas.openxmlformats.org/officeDocument/2006/relationships/slide" Target="/ppt/slides/slide36.xml" Id="Reac6665fd74844a3" /><Relationship Type="http://schemas.openxmlformats.org/officeDocument/2006/relationships/slide" Target="/ppt/slides/slide37.xml" Id="R201ad319a9f544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9e78bd9b434a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0d6654675144c8" /><Relationship Type="http://schemas.openxmlformats.org/officeDocument/2006/relationships/notesMaster" Target="/ppt/notesMasters/notesMaster1.xml" Id="R02230d92c19d41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fda917e9114b06" /><Relationship Type="http://schemas.openxmlformats.org/officeDocument/2006/relationships/notesMaster" Target="/ppt/notesMasters/notesMaster1.xml" Id="Rf22756c04d774c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b72d19b1ae40e3" /><Relationship Type="http://schemas.openxmlformats.org/officeDocument/2006/relationships/notesMaster" Target="/ppt/notesMasters/notesMaster1.xml" Id="R6ce96326a24c4a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c61de20cfe4b1f" /><Relationship Type="http://schemas.openxmlformats.org/officeDocument/2006/relationships/notesMaster" Target="/ppt/notesMasters/notesMaster1.xml" Id="R3c466fac97054a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8847c55af24e8e" /><Relationship Type="http://schemas.openxmlformats.org/officeDocument/2006/relationships/notesMaster" Target="/ppt/notesMasters/notesMaster1.xml" Id="R77bd5fbb1bee4d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de7df5253f4117" /><Relationship Type="http://schemas.openxmlformats.org/officeDocument/2006/relationships/notesMaster" Target="/ppt/notesMasters/notesMaster1.xml" Id="Rc1ec19fc38c745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251afed1304036" /><Relationship Type="http://schemas.openxmlformats.org/officeDocument/2006/relationships/notesMaster" Target="/ppt/notesMasters/notesMaster1.xml" Id="Rdab6f06920ec4c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894d3c80644183" /><Relationship Type="http://schemas.openxmlformats.org/officeDocument/2006/relationships/notesMaster" Target="/ppt/notesMasters/notesMaster1.xml" Id="Rfeb49a7af2c948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ef8c729bad4751" /><Relationship Type="http://schemas.openxmlformats.org/officeDocument/2006/relationships/notesMaster" Target="/ppt/notesMasters/notesMaster1.xml" Id="Rc8d124a4ae1942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09630c08004a64" /><Relationship Type="http://schemas.openxmlformats.org/officeDocument/2006/relationships/notesMaster" Target="/ppt/notesMasters/notesMaster1.xml" Id="Rb149cbe4878343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71d2b874520422f" /><Relationship Type="http://schemas.openxmlformats.org/officeDocument/2006/relationships/notesMaster" Target="/ppt/notesMasters/notesMaster1.xml" Id="Rc4019d5bb44541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a87490de214497" /><Relationship Type="http://schemas.openxmlformats.org/officeDocument/2006/relationships/notesMaster" Target="/ppt/notesMasters/notesMaster1.xml" Id="R1789a36257c34a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f390637c7464025" /><Relationship Type="http://schemas.openxmlformats.org/officeDocument/2006/relationships/notesMaster" Target="/ppt/notesMasters/notesMaster1.xml" Id="R5db5d742b6f44f7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0c76e59cc68439a" /><Relationship Type="http://schemas.openxmlformats.org/officeDocument/2006/relationships/notesMaster" Target="/ppt/notesMasters/notesMaster1.xml" Id="Ra5b783a61ca64e3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2aea68345064b3b" /><Relationship Type="http://schemas.openxmlformats.org/officeDocument/2006/relationships/notesMaster" Target="/ppt/notesMasters/notesMaster1.xml" Id="R59ab6450d4f64bf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dd45d20da5f4a4d" /><Relationship Type="http://schemas.openxmlformats.org/officeDocument/2006/relationships/notesMaster" Target="/ppt/notesMasters/notesMaster1.xml" Id="Ra3720486c4914b8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27933bb8d040c5" /><Relationship Type="http://schemas.openxmlformats.org/officeDocument/2006/relationships/notesMaster" Target="/ppt/notesMasters/notesMaster1.xml" Id="Rd0377f6cf5c041a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6279eeebb6e42ed" /><Relationship Type="http://schemas.openxmlformats.org/officeDocument/2006/relationships/notesMaster" Target="/ppt/notesMasters/notesMaster1.xml" Id="R896843bca5f940f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285307c425d415a" /><Relationship Type="http://schemas.openxmlformats.org/officeDocument/2006/relationships/notesMaster" Target="/ppt/notesMasters/notesMaster1.xml" Id="R4080616c0a8441c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5a593b80ea44dee" /><Relationship Type="http://schemas.openxmlformats.org/officeDocument/2006/relationships/notesMaster" Target="/ppt/notesMasters/notesMaster1.xml" Id="R0b3d33f5c54d4b4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62ae06b74db4388" /><Relationship Type="http://schemas.openxmlformats.org/officeDocument/2006/relationships/notesMaster" Target="/ppt/notesMasters/notesMaster1.xml" Id="Rbdac6f923e59418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280321dacac420e" /><Relationship Type="http://schemas.openxmlformats.org/officeDocument/2006/relationships/notesMaster" Target="/ppt/notesMasters/notesMaster1.xml" Id="Rb36d4c0074e54f7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0f51c18e438467e" /><Relationship Type="http://schemas.openxmlformats.org/officeDocument/2006/relationships/notesMaster" Target="/ppt/notesMasters/notesMaster1.xml" Id="Rf65ea2bf87554f8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67b8eeed39747af" /><Relationship Type="http://schemas.openxmlformats.org/officeDocument/2006/relationships/notesMaster" Target="/ppt/notesMasters/notesMaster1.xml" Id="R211f095ac635484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63a81ea72734c82" /><Relationship Type="http://schemas.openxmlformats.org/officeDocument/2006/relationships/notesMaster" Target="/ppt/notesMasters/notesMaster1.xml" Id="Ra377f6a84349482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18017ba45e341f2" /><Relationship Type="http://schemas.openxmlformats.org/officeDocument/2006/relationships/notesMaster" Target="/ppt/notesMasters/notesMaster1.xml" Id="R898bb6a5864040e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e755b1af31540ac" /><Relationship Type="http://schemas.openxmlformats.org/officeDocument/2006/relationships/notesMaster" Target="/ppt/notesMasters/notesMaster1.xml" Id="Rc80bbb52f80b48b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74a8955340f4da6" /><Relationship Type="http://schemas.openxmlformats.org/officeDocument/2006/relationships/notesMaster" Target="/ppt/notesMasters/notesMaster1.xml" Id="R38d8aeeffc69405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6f1e5c542134539" /><Relationship Type="http://schemas.openxmlformats.org/officeDocument/2006/relationships/notesMaster" Target="/ppt/notesMasters/notesMaster1.xml" Id="Rf4aee00fc91f438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100f428d9ea4b0a" /><Relationship Type="http://schemas.openxmlformats.org/officeDocument/2006/relationships/notesMaster" Target="/ppt/notesMasters/notesMaster1.xml" Id="R99516e1183bf423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114953822da4b91" /><Relationship Type="http://schemas.openxmlformats.org/officeDocument/2006/relationships/notesMaster" Target="/ppt/notesMasters/notesMaster1.xml" Id="R67f45245215c4bd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ba7d44697be4c15" /><Relationship Type="http://schemas.openxmlformats.org/officeDocument/2006/relationships/notesMaster" Target="/ppt/notesMasters/notesMaster1.xml" Id="R46c10a5673d74ac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667a34dc826402f" /><Relationship Type="http://schemas.openxmlformats.org/officeDocument/2006/relationships/notesMaster" Target="/ppt/notesMasters/notesMaster1.xml" Id="Rd490fd47372c47d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505fe94fdcd4d9f" /><Relationship Type="http://schemas.openxmlformats.org/officeDocument/2006/relationships/notesMaster" Target="/ppt/notesMasters/notesMaster1.xml" Id="Rbfe70e4cf3ae41a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e94b6b5bf804585" /><Relationship Type="http://schemas.openxmlformats.org/officeDocument/2006/relationships/notesMaster" Target="/ppt/notesMasters/notesMaster1.xml" Id="Rf2031da43a7d44c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7b5cd32288f4ebe" /><Relationship Type="http://schemas.openxmlformats.org/officeDocument/2006/relationships/notesMaster" Target="/ppt/notesMasters/notesMaster1.xml" Id="R873b7ca5765d4a2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a04a0869745436e" /><Relationship Type="http://schemas.openxmlformats.org/officeDocument/2006/relationships/notesMaster" Target="/ppt/notesMasters/notesMaster1.xml" Id="Rdcb0b39153714f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Open by asking: if I tell you two points are '0.000098 apart,' do you know how far apart they are? Today answers that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Foreshadow the two demonstrations coming later this deck: a distance measurement and an area measurement, both wrong in a geographic CRS, both fixed by reprojecting.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Preview that all four skills feed directly into Meeting B's studio and into Project 1 Part IV's map option -- one of two evidence-extension choices (map or Week 6's animation), not an unconditional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Tell students the whole arc builds toward one static map they will produce themselves on Wednesday.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at a plain room schedule from Week 4-6: every column there is an attribute. Nothing in it says where a room actually is in space - that is exactly what today adds.</a:t>
            </a:r>
          </a:p>
          <a:p xmlns:a="http://schemas.openxmlformats.org/drawingml/2006/main">
            <a:r>
              <a:t/>
            </a:r>
          </a:p>
          <a:p xmlns:a="http://schemas.openxmlformats.org/drawingml/2006/main">
            <a:r>
              <a:t>[Sources]</a:t>
            </a:r>
          </a:p>
          <a:p xmlns:a="http://schemas.openxmlformats.org/drawingml/2006/main">
            <a:r>
              <a:t>- https://geopandas.org/en/stable/getting_started/introduction.html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could you compute a distance between these two rows right now? Not really - x_m and y_m are still just numbers, not a geometry Python understands as a shape.</a:t>
            </a:r>
          </a:p>
          <a:p xmlns:a="http://schemas.openxmlformats.org/drawingml/2006/main">
            <a:r>
              <a:t/>
            </a:r>
          </a:p>
          <a:p xmlns:a="http://schemas.openxmlformats.org/drawingml/2006/main">
            <a:r>
              <a:t>[Sources]</a:t>
            </a:r>
          </a:p>
          <a:p xmlns:a="http://schemas.openxmlformats.org/drawingml/2006/main">
            <a:r>
              <a:t>- https://pandas.pydata.org/docs/user_guide/index.html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at the new geometry row in dtypes. This exact pattern - a plain table plus points_from_xy - is how you would turn any x/y attribute table into a spatial one.</a:t>
            </a:r>
          </a:p>
          <a:p xmlns:a="http://schemas.openxmlformats.org/drawingml/2006/main">
            <a:r>
              <a:t/>
            </a:r>
          </a:p>
          <a:p xmlns:a="http://schemas.openxmlformats.org/drawingml/2006/main">
            <a:r>
              <a:t>[Sources]</a:t>
            </a:r>
          </a:p>
          <a:p xmlns:a="http://schemas.openxmlformats.org/drawingml/2006/main">
            <a:r>
              <a:t>- https://geopandas.org/en/stable/getting_started/introduction.html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Reassure students: this is not 'yet another library,' it is pandas plus two additions. Reduces the perceived load of Week 7.</a:t>
            </a:r>
          </a:p>
          <a:p xmlns:a="http://schemas.openxmlformats.org/drawingml/2006/main">
            <a:r>
              <a:t/>
            </a:r>
          </a:p>
          <a:p xmlns:a="http://schemas.openxmlformats.org/drawingml/2006/main">
            <a:r>
              <a:t>[Sources]</a:t>
            </a:r>
          </a:p>
          <a:p xmlns:a="http://schemas.openxmlformats.org/drawingml/2006/main">
            <a:r>
              <a:t>- https://geopandas.org/en/stable/getting_started/introduction.html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students to name one geometry type for their own Project 1 site before moving on - this previews Part IV's map option, one of two evidence-extension choices alongside Week 6's animation.</a:t>
            </a:r>
          </a:p>
          <a:p xmlns:a="http://schemas.openxmlformats.org/drawingml/2006/main">
            <a:r>
              <a:t/>
            </a:r>
          </a:p>
          <a:p xmlns:a="http://schemas.openxmlformats.org/drawingml/2006/main">
            <a:r>
              <a:t>[Sources]</a:t>
            </a:r>
          </a:p>
          <a:p xmlns:a="http://schemas.openxmlformats.org/drawingml/2006/main">
            <a:r>
              <a:t>- https://geopandas.org/en/stable/getting_started/introduction.html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Confirm 240.0 m2 by hand: a 24 m x 10 m rectangle. Keep this number in mind - it reappears as Meeting B's known ground truth for the Radley Hall zone footprints.</a:t>
            </a:r>
          </a:p>
          <a:p xmlns:a="http://schemas.openxmlformats.org/drawingml/2006/main">
            <a:r>
              <a:t/>
            </a:r>
          </a:p>
          <a:p xmlns:a="http://schemas.openxmlformats.org/drawingml/2006/main">
            <a:r>
              <a:t>[Sources]</a:t>
            </a:r>
          </a:p>
          <a:p xmlns:a="http://schemas.openxmlformats.org/drawingml/2006/main">
            <a:r>
              <a:t>- https://geopandas.org/en/stable/getting_started/introduction.html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Write both codes on the board - students will see exactly these two all studio long.</a:t>
            </a:r>
          </a:p>
          <a:p xmlns:a="http://schemas.openxmlformats.org/drawingml/2006/main">
            <a:r>
              <a:t/>
            </a:r>
          </a:p>
          <a:p xmlns:a="http://schemas.openxmlformats.org/drawingml/2006/main">
            <a:r>
              <a:t>[Sources]</a:t>
            </a:r>
          </a:p>
          <a:p xmlns:a="http://schemas.openxmlformats.org/drawingml/2006/main">
            <a:r>
              <a:t>- https://geopandas.org/en/stable/docs/user_guide/projections.html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Students will see exactly these two codes all studio long - 4326 for 'what GPS gives you,' 32618 for 'what you measure with.'</a:t>
            </a:r>
          </a:p>
          <a:p xmlns:a="http://schemas.openxmlformats.org/drawingml/2006/main">
            <a:r>
              <a:t/>
            </a:r>
          </a:p>
          <a:p xmlns:a="http://schemas.openxmlformats.org/drawingml/2006/main">
            <a:r>
              <a:t>[Sources]</a:t>
            </a:r>
          </a:p>
          <a:p xmlns:a="http://schemas.openxmlformats.org/drawingml/2006/main">
            <a:r>
              <a:t>- https://geopandas.org/en/stable/docs/user_guide/projections.html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out the coordinate values themselves look like the Syracuse-area longitude/latitude students will recognize from the shared dataset README. Note North's row now has the higher-latitude coordinates - the file was corrected so the polygon plotted further north on the Northing axis is actually named North.</a:t>
            </a:r>
          </a:p>
          <a:p xmlns:a="http://schemas.openxmlformats.org/drawingml/2006/main">
            <a:r>
              <a:t/>
            </a:r>
          </a:p>
          <a:p xmlns:a="http://schemas.openxmlformats.org/drawingml/2006/main">
            <a:r>
              <a:t>[Sources]</a:t>
            </a:r>
          </a:p>
          <a:p xmlns:a="http://schemas.openxmlformats.org/drawingml/2006/main">
            <a:r>
              <a:t>- https://geopandas.org/en/stable/getting_started/introduction.html</a:t>
            </a:r>
          </a:p>
          <a:p xmlns:a="http://schemas.openxmlformats.org/drawingml/2006/main">
            <a:r>
              <a:t>- https://geopandas.org/en/stable/docs/user_guide/projections.html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Contrast set_crs (label an existing coordinate system) with to_crs, coming next (actually convert the numbers to a different system). Students confuse these two constantly - name the difference explicitly now.</a:t>
            </a:r>
          </a:p>
          <a:p xmlns:a="http://schemas.openxmlformats.org/drawingml/2006/main">
            <a:r>
              <a:t/>
            </a:r>
          </a:p>
          <a:p xmlns:a="http://schemas.openxmlformats.org/drawingml/2006/main">
            <a:r>
              <a:t>[Sources]</a:t>
            </a:r>
          </a:p>
          <a:p xmlns:a="http://schemas.openxmlformats.org/drawingml/2006/main">
            <a:r>
              <a:t>- https://geopandas.org/en/stable/docs/user_guide/projections.html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Contrast directly with the previous slide's set_crs - set_crs labels, to_crs transforms. This is the single most common Week 7 mix-up.</a:t>
            </a:r>
          </a:p>
          <a:p xmlns:a="http://schemas.openxmlformats.org/drawingml/2006/main">
            <a:r>
              <a:t/>
            </a:r>
          </a:p>
          <a:p xmlns:a="http://schemas.openxmlformats.org/drawingml/2006/main">
            <a:r>
              <a:t>[Sources]</a:t>
            </a:r>
          </a:p>
          <a:p xmlns:a="http://schemas.openxmlformats.org/drawingml/2006/main">
            <a:r>
              <a:t>- https://geopandas.org/en/stable/docs/user_guide/projections.html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Walk left to right: a new name is created, the old GeoDataFrame is read but not changed, the method does the recalculation, and the string argument names the destination CRS.</a:t>
            </a:r>
          </a:p>
          <a:p xmlns:a="http://schemas.openxmlformats.org/drawingml/2006/main">
            <a:r>
              <a:t/>
            </a:r>
          </a:p>
          <a:p xmlns:a="http://schemas.openxmlformats.org/drawingml/2006/main">
            <a:r>
              <a:t>[Sources]</a:t>
            </a:r>
          </a:p>
          <a:p xmlns:a="http://schemas.openxmlformats.org/drawingml/2006/main">
            <a:r>
              <a:t>- https://geopandas.org/en/stable/docs/user_guide/projections.html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the single most important idea in today's deck. Everything after this slide is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what a student would conclude if they only ever saw the left panel's number and did not know what unit it was in. That is the whole case for stating your EPSG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the shared, pre-verified Radley Hall CRS demonstration from data/README.md - use these exact numbers, do not recompute different ones. Let students sit with 0.000098 for a moment before revealing what it actually represents.</a:t>
            </a:r>
          </a:p>
          <a:p xmlns:a="http://schemas.openxmlformats.org/drawingml/2006/main">
            <a:r>
              <a:t/>
            </a:r>
          </a:p>
          <a:p xmlns:a="http://schemas.openxmlformats.org/drawingml/2006/main">
            <a:r>
              <a:t>[Sources]</a:t>
            </a:r>
          </a:p>
          <a:p xmlns:a="http://schemas.openxmlformats.org/drawingml/2006/main">
            <a:r>
              <a:t>- https://geopandas.org/en/stable/docs/user_guide/projections.html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Reveal this only after students have sat with how meaningless 0.000098 degrees is. Tie 8.010 m explicitly back to the known 8.000 m ground truth - the small gap is real distortion, not an error.</a:t>
            </a:r>
          </a:p>
          <a:p xmlns:a="http://schemas.openxmlformats.org/drawingml/2006/main">
            <a:r>
              <a:t/>
            </a:r>
          </a:p>
          <a:p xmlns:a="http://schemas.openxmlformats.org/drawingml/2006/main">
            <a:r>
              <a:t>[Sources]</a:t>
            </a:r>
          </a:p>
          <a:p xmlns:a="http://schemas.openxmlformats.org/drawingml/2006/main">
            <a:r>
              <a:t>- https://geopandas.org/en/stable/docs/user_guide/projections.html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Take a show of hands on every option before revealing. Many predict an error, since a value this wrong feels like it should stop the script - it does not.</a:t>
            </a:r>
          </a:p>
          <a:p xmlns:a="http://schemas.openxmlformats.org/drawingml/2006/main">
            <a:r>
              <a:t/>
            </a:r>
          </a:p>
          <a:p xmlns:a="http://schemas.openxmlformats.org/drawingml/2006/main">
            <a:r>
              <a:t>[Sources]</a:t>
            </a:r>
          </a:p>
          <a:p xmlns:a="http://schemas.openxmlformats.org/drawingml/2006/main">
            <a:r>
              <a:t>- https://geopandas.org/en/stable/docs/user_guide/projections.html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Read the real geopandas UserWarning text aloud once, unsuppressed, so students recognize it in their own console later. Tie 239.74 m2 forward explicitly - this is the exact number Meeting B's studio will reproduce.</a:t>
            </a:r>
          </a:p>
          <a:p xmlns:a="http://schemas.openxmlformats.org/drawingml/2006/main">
            <a:r>
              <a:t/>
            </a:r>
          </a:p>
          <a:p xmlns:a="http://schemas.openxmlformats.org/drawingml/2006/main">
            <a:r>
              <a:t>[Sources]</a:t>
            </a:r>
          </a:p>
          <a:p xmlns:a="http://schemas.openxmlformats.org/drawingml/2006/main">
            <a:r>
              <a:t>- https://geopandas.org/en/stable/docs/user_guide/projections.html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say out loud, for each row, which column they would actually trust and why. The projected-CRS column is always within a fraction of a percent of ground truth; the geographic-CRS column is off by many orders of magnitude.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State the choice rule plainly: use a projection whose valid area contains the site. The fourth node keeps verification attached to the conversion.</a:t>
            </a:r>
          </a:p>
          <a:p xmlns:a="http://schemas.openxmlformats.org/drawingml/2006/main">
            <a:r>
              <a:t/>
            </a:r>
          </a:p>
          <a:p xmlns:a="http://schemas.openxmlformats.org/drawingml/2006/main">
            <a:r>
              <a:t>[Sources]</a:t>
            </a:r>
          </a:p>
          <a:p xmlns:a="http://schemas.openxmlformats.org/drawingml/2006/main">
            <a:r>
              <a:t>- https://geopandas.org/en/stable/docs/user_guide/projections.html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Expected answer: the projected (meters) value is usable; the geographic value is degrees, not a distance. Reinforces DEMO 1 with a fresh, unseen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Connect directly back to the two demos: buffer is just another operation that silently uses the wrong unit if you skip reprojecting.</a:t>
            </a:r>
          </a:p>
          <a:p xmlns:a="http://schemas.openxmlformats.org/drawingml/2006/main">
            <a:r>
              <a:t/>
            </a:r>
          </a:p>
          <a:p xmlns:a="http://schemas.openxmlformats.org/drawingml/2006/main">
            <a:r>
              <a:t>[Sources]</a:t>
            </a:r>
          </a:p>
          <a:p xmlns:a="http://schemas.openxmlformats.org/drawingml/2006/main">
            <a:r>
              <a:t>- https://geopandas.org/en/stable/docs/user_guide/projections.html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Ask what would happen to that 78.41 vs 78.54 gap with a coarser or finer buffer resolution - not required to demo, just to build intuition that buffer is an approximation.</a:t>
            </a:r>
          </a:p>
          <a:p xmlns:a="http://schemas.openxmlformats.org/drawingml/2006/main">
            <a:r>
              <a:t/>
            </a:r>
          </a:p>
          <a:p xmlns:a="http://schemas.openxmlformats.org/drawingml/2006/main">
            <a:r>
              <a:t>[Sources]</a:t>
            </a:r>
          </a:p>
          <a:p xmlns:a="http://schemas.openxmlformats.org/drawingml/2006/main">
            <a:r>
              <a:t>- https://geopandas.org/en/stable/getting_started/introduction.html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Draw the parallel to Week 5 merge: a table merge matches values; a spatial join matches geometry. Both inputs must share a CRS.</a:t>
            </a:r>
          </a:p>
          <a:p xmlns:a="http://schemas.openxmlformats.org/drawingml/2006/main">
            <a:r>
              <a:t/>
            </a:r>
          </a:p>
          <a:p xmlns:a="http://schemas.openxmlformats.org/drawingml/2006/main">
            <a:r>
              <a:t>[Sources]</a:t>
            </a:r>
          </a:p>
          <a:p xmlns:a="http://schemas.openxmlformats.org/drawingml/2006/main">
            <a:r>
              <a:t>- https://geopandas.org/en/stable/docs/user_guide/mapping.html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Walk through the four boxes using the upcoming three-point/two-polygon example before students see any code - LEFT is markers, RIGHT is zones, PREDICATE picks the rule, RESULT attaches attributes.</a:t>
            </a:r>
          </a:p>
          <a:p xmlns:a="http://schemas.openxmlformats.org/drawingml/2006/main">
            <a:r>
              <a:t/>
            </a:r>
          </a:p>
          <a:p xmlns:a="http://schemas.openxmlformats.org/drawingml/2006/main">
            <a:r>
              <a:t>[Sources]</a:t>
            </a:r>
          </a:p>
          <a:p xmlns:a="http://schemas.openxmlformats.org/drawingml/2006/main">
            <a:r>
              <a:t>- https://geopandas.org/en/stable/docs/user_guide/mapping.html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Trace the three points and two boxes on the board now, before the predict slide asks students to reason about S3 -- this is the setup they need in hand.</a:t>
            </a:r>
          </a:p>
          <a:p xmlns:a="http://schemas.openxmlformats.org/drawingml/2006/main">
            <a:r>
              <a:t/>
            </a:r>
          </a:p>
          <a:p xmlns:a="http://schemas.openxmlformats.org/drawingml/2006/main">
            <a:r>
              <a:t>[Sources]</a:t>
            </a:r>
          </a:p>
          <a:p xmlns:a="http://schemas.openxmlformats.org/drawingml/2006/main">
            <a:r>
              <a:t>- https://geopandas.org/en/stable/docs/user_guide/mapping.html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Most predict 2, remembering merge's default inner-join behavior and not tracking the how='left' argument. Reveal, then run the real code on the next slide.</a:t>
            </a:r>
          </a:p>
          <a:p xmlns:a="http://schemas.openxmlformats.org/drawingml/2006/main">
            <a:r>
              <a:t/>
            </a:r>
          </a:p>
          <a:p xmlns:a="http://schemas.openxmlformats.org/drawingml/2006/main">
            <a:r>
              <a:t>[Sources]</a:t>
            </a:r>
          </a:p>
          <a:p xmlns:a="http://schemas.openxmlformats.org/drawingml/2006/main">
            <a:r>
              <a:t>- https://geopandas.org/en/stable/docs/user_guide/mapping.html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Trace all three points against the two boxes on the board before revealing the printed table - this is exactly the kind of prediction step Meeting B's studio will ask for.</a:t>
            </a:r>
          </a:p>
          <a:p xmlns:a="http://schemas.openxmlformats.org/drawingml/2006/main">
            <a:r>
              <a:t/>
            </a:r>
          </a:p>
          <a:p xmlns:a="http://schemas.openxmlformats.org/drawingml/2006/main">
            <a:r>
              <a:t>[Sources]</a:t>
            </a:r>
          </a:p>
          <a:p xmlns:a="http://schemas.openxmlformats.org/drawingml/2006/main">
            <a:r>
              <a:t>- https://geopandas.org/en/stable/docs/user_guide/mapping.html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Be explicit that this is a modeling choice driven by the data's real structure, not a limitation of spatial joins in general - the toy S1/S2/S3 example above is exactly where a row-level join DOES make sense (one row, one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The point-in-polygon join can be evaluated in a shared CRS, but any 5 m buffer or distance requires the projected CRS. A boundary point may fail within yet satisfy intersects; the team must state which predicate matches the decision. Require a visual or row-level check of unmatched entrances rather than trusting only the join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four-step order is the single procedural takeaway students should be able to recite before Wednesday's studio.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Optional horizon slide. GeoParquet and OGC APIs change delivery, not geometric truth. Rehearse the same refusal: do not measure distance or area until CRS and geometry validity are understood.</a:t>
            </a:r>
          </a:p>
          <a:p xmlns:a="http://schemas.openxmlformats.org/drawingml/2006/main">
            <a:r>
              <a:t/>
            </a:r>
          </a:p>
          <a:p xmlns:a="http://schemas.openxmlformats.org/drawingml/2006/main">
            <a:r>
              <a:t>[Sources]</a:t>
            </a:r>
          </a:p>
          <a:p xmlns:a="http://schemas.openxmlformats.org/drawingml/2006/main">
            <a:r>
              <a:t>- https://geoparquet.org/releases/v1.1.0/</a:t>
            </a:r>
          </a:p>
          <a:p xmlns:a="http://schemas.openxmlformats.org/drawingml/2006/main">
            <a:r>
              <a:t>- https://ogcapi.ogc.org/features/overview.html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Exit ticket: students write the EPSG code they will use for their own Project 1 site and one sentence justifying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8812c4b3c44e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578565d5cf4a98" /><Relationship Type="http://schemas.openxmlformats.org/officeDocument/2006/relationships/slideLayout" Target="/ppt/slideLayouts/slideLayout1.xml" Id="Re1c68d00ba5849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c68d00ba5849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c9e2c0c60144ce" /><Relationship Type="http://schemas.openxmlformats.org/officeDocument/2006/relationships/notesSlide" Target="/ppt/notesSlides/notesSlide1.xml" Id="R66a56e27199c4c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6449fbc7ee4646" /><Relationship Type="http://schemas.openxmlformats.org/officeDocument/2006/relationships/notesSlide" Target="/ppt/notesSlides/notesSlide2.xml" Id="R4b92a60f6f9c44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ff7cc4da8b4200" /><Relationship Type="http://schemas.openxmlformats.org/officeDocument/2006/relationships/notesSlide" Target="/ppt/notesSlides/notesSlide3.xml" Id="R192d2cb058bb46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2beffa870d45cc" /><Relationship Type="http://schemas.openxmlformats.org/officeDocument/2006/relationships/notesSlide" Target="/ppt/notesSlides/notesSlide4.xml" Id="Rc1ee44aea84048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414917a53649eb" /><Relationship Type="http://schemas.openxmlformats.org/officeDocument/2006/relationships/notesSlide" Target="/ppt/notesSlides/notesSlide5.xml" Id="Re6361175ffe448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0f515fc96044bc" /><Relationship Type="http://schemas.openxmlformats.org/officeDocument/2006/relationships/notesSlide" Target="/ppt/notesSlides/notesSlide6.xml" Id="R26067d540a624d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23c9d7ad1b04539" /><Relationship Type="http://schemas.openxmlformats.org/officeDocument/2006/relationships/notesSlide" Target="/ppt/notesSlides/notesSlide7.xml" Id="Rc318b252800049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256b35a202447a" /><Relationship Type="http://schemas.openxmlformats.org/officeDocument/2006/relationships/notesSlide" Target="/ppt/notesSlides/notesSlide8.xml" Id="R564d56db5c514e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6b61991f0e743e8" /><Relationship Type="http://schemas.openxmlformats.org/officeDocument/2006/relationships/notesSlide" Target="/ppt/notesSlides/notesSlide9.xml" Id="R01a900ae4ad449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cfe635fb2154e82" /><Relationship Type="http://schemas.openxmlformats.org/officeDocument/2006/relationships/notesSlide" Target="/ppt/notesSlides/notesSlide10.xml" Id="R80c99ee892354a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31d73eece834f0d" /><Relationship Type="http://schemas.openxmlformats.org/officeDocument/2006/relationships/notesSlide" Target="/ppt/notesSlides/notesSlide11.xml" Id="Rd39b5c21f9e7463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d62a3c3b55e4be5" /><Relationship Type="http://schemas.openxmlformats.org/officeDocument/2006/relationships/notesSlide" Target="/ppt/notesSlides/notesSlide12.xml" Id="Rf9aab2b1019b476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3997d47576d4bdb" /><Relationship Type="http://schemas.openxmlformats.org/officeDocument/2006/relationships/notesSlide" Target="/ppt/notesSlides/notesSlide13.xml" Id="R322d09c56e71416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19ec95ba0504188" /><Relationship Type="http://schemas.openxmlformats.org/officeDocument/2006/relationships/notesSlide" Target="/ppt/notesSlides/notesSlide14.xml" Id="Rd4801c443229497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4c4cd19fd7f4335" /><Relationship Type="http://schemas.openxmlformats.org/officeDocument/2006/relationships/notesSlide" Target="/ppt/notesSlides/notesSlide15.xml" Id="Rbb444618966c4ed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7f4619bc761451d" /><Relationship Type="http://schemas.openxmlformats.org/officeDocument/2006/relationships/notesSlide" Target="/ppt/notesSlides/notesSlide16.xml" Id="R01c0a39d04cc42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02ece2ecd104310" /><Relationship Type="http://schemas.openxmlformats.org/officeDocument/2006/relationships/notesSlide" Target="/ppt/notesSlides/notesSlide17.xml" Id="Rfb0215ae54cc44e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9f5fdf9e994496c" /><Relationship Type="http://schemas.openxmlformats.org/officeDocument/2006/relationships/image" Target="/ppt/media/image.png" Id="R76df341d9ed249a5" /><Relationship Type="http://schemas.openxmlformats.org/officeDocument/2006/relationships/notesSlide" Target="/ppt/notesSlides/notesSlide18.xml" Id="Ref9d038529af41d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5f0093f4126433f" /><Relationship Type="http://schemas.openxmlformats.org/officeDocument/2006/relationships/notesSlide" Target="/ppt/notesSlides/notesSlide19.xml" Id="Rf948956fce56483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c8adc03cb5f465f" /><Relationship Type="http://schemas.openxmlformats.org/officeDocument/2006/relationships/notesSlide" Target="/ppt/notesSlides/notesSlide20.xml" Id="R4bdffb485a18476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408b0bcf1b34ce0" /><Relationship Type="http://schemas.openxmlformats.org/officeDocument/2006/relationships/notesSlide" Target="/ppt/notesSlides/notesSlide21.xml" Id="Re2288334c04f41b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8d3cb357356421c" /><Relationship Type="http://schemas.openxmlformats.org/officeDocument/2006/relationships/notesSlide" Target="/ppt/notesSlides/notesSlide22.xml" Id="R583649d2347a4ac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e207879b8ed4f43" /><Relationship Type="http://schemas.openxmlformats.org/officeDocument/2006/relationships/notesSlide" Target="/ppt/notesSlides/notesSlide23.xml" Id="Rc0ed548a38f741a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9da52ab06eb4a3f" /><Relationship Type="http://schemas.openxmlformats.org/officeDocument/2006/relationships/notesSlide" Target="/ppt/notesSlides/notesSlide24.xml" Id="R3c82391256184bd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6c0d1bc357f41d2" /><Relationship Type="http://schemas.openxmlformats.org/officeDocument/2006/relationships/notesSlide" Target="/ppt/notesSlides/notesSlide25.xml" Id="Rca3eaea93f9d44d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e1943d20ff84226" /><Relationship Type="http://schemas.openxmlformats.org/officeDocument/2006/relationships/notesSlide" Target="/ppt/notesSlides/notesSlide26.xml" Id="R066c5641f2e1475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6ac683ce66f4123" /><Relationship Type="http://schemas.openxmlformats.org/officeDocument/2006/relationships/notesSlide" Target="/ppt/notesSlides/notesSlide27.xml" Id="Re01f6b6fefe74d2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f339d4554d44921" /><Relationship Type="http://schemas.openxmlformats.org/officeDocument/2006/relationships/notesSlide" Target="/ppt/notesSlides/notesSlide28.xml" Id="Rb8e218eb0355416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84364fb2e5b47fe" /><Relationship Type="http://schemas.openxmlformats.org/officeDocument/2006/relationships/notesSlide" Target="/ppt/notesSlides/notesSlide29.xml" Id="R73b55f83348d485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bbd63e9b3274a0a" /><Relationship Type="http://schemas.openxmlformats.org/officeDocument/2006/relationships/notesSlide" Target="/ppt/notesSlides/notesSlide30.xml" Id="Re1b43aa823fe454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08933d1eb47459e" /><Relationship Type="http://schemas.openxmlformats.org/officeDocument/2006/relationships/notesSlide" Target="/ppt/notesSlides/notesSlide31.xml" Id="R14f2a8d743a9441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5c42130c7d7480b" /><Relationship Type="http://schemas.openxmlformats.org/officeDocument/2006/relationships/notesSlide" Target="/ppt/notesSlides/notesSlide32.xml" Id="R5082ab8246184bf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ff2a263f94542f8" /><Relationship Type="http://schemas.openxmlformats.org/officeDocument/2006/relationships/notesSlide" Target="/ppt/notesSlides/notesSlide33.xml" Id="Rcaf604a1aa8d4fb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b82c8d26e6541eb" /><Relationship Type="http://schemas.openxmlformats.org/officeDocument/2006/relationships/notesSlide" Target="/ppt/notesSlides/notesSlide34.xml" Id="R46ca3f4e34224ed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00e65a4cdd74074" /><Relationship Type="http://schemas.openxmlformats.org/officeDocument/2006/relationships/notesSlide" Target="/ppt/notesSlides/notesSlide35.xml" Id="R30e559c7b937402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597b893777044c1" /><Relationship Type="http://schemas.openxmlformats.org/officeDocument/2006/relationships/notesSlide" Target="/ppt/notesSlides/notesSlide36.xml" Id="R5fd4c27431ad4dc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8888493375543a7" /><Relationship Type="http://schemas.openxmlformats.org/officeDocument/2006/relationships/notesSlide" Target="/ppt/notesSlides/notesSlide37.xml" Id="R26561f6b741246ae" /></Relationships>
</file>

<file path=ppt/slides/slide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9" name="course-mark">
            <a:extLst xmlns:a="http://schemas.openxmlformats.org/drawingml/2006/main">
              <a:ext uri="{FF2B5EF4-FFF2-40B4-BE49-F238E27FC236}">
                <a16:creationId xmlns:a16="http://schemas.microsoft.com/office/drawing/2014/main" id="{2AECFDE9-B1DB-4C1C-8096-D4933651964D}"/>
              </a:ext>
            </a:extLst>
          </p:cNvPr>
          <p:cNvSpPr>
            <a:spLocks xmlns:a="http://schemas.openxmlformats.org/drawingml/2006/main" noGrp="1"/>
          </p:cNvSpPr>
          <p:nvPr/>
        </p:nvSpPr>
        <p:spPr>
          <a:xfrm xmlns:a="http://schemas.openxmlformats.org/drawingml/2006/main">
            <a:off x="609600" y="457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FFFFFF"/>
                </a:solidFill>
                <a:latin typeface="Arial"/>
                <a:ea typeface="Arial"/>
                <a:cs typeface="Arial"/>
              </a:defRPr>
            </a:pPr>
            <a:r>
              <a:rPr sz="1800" b="1">
                <a:solidFill>
                  <a:srgbClr val="FFFFFF"/>
                </a:solidFill>
                <a:latin typeface="Arial"/>
                <a:ea typeface="Arial"/>
                <a:cs typeface="Arial"/>
              </a:rPr>
              <a:t>&lt;&gt;  ARC 500</a:t>
            </a:r>
          </a:p>
        </p:txBody>
      </p:sp>
      <p:sp>
        <p:nvSpPr>
          <p:cNvPr id="2" name="course-full-title">
            <a:extLst xmlns:a="http://schemas.openxmlformats.org/drawingml/2006/main">
              <a:ext uri="{FF2B5EF4-FFF2-40B4-BE49-F238E27FC236}">
                <a16:creationId xmlns:a16="http://schemas.microsoft.com/office/drawing/2014/main" id="{2F2A85F2-7A08-45A8-81A0-D414140327B9}"/>
              </a:ext>
            </a:extLst>
          </p:cNvPr>
          <p:cNvSpPr>
            <a:spLocks xmlns:a="http://schemas.openxmlformats.org/drawingml/2006/main" noGrp="1"/>
          </p:cNvSpPr>
          <p:nvPr/>
        </p:nvSpPr>
        <p:spPr>
          <a:xfrm xmlns:a="http://schemas.openxmlformats.org/drawingml/2006/main">
            <a:off x="609600" y="81915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9AA1AC"/>
                </a:solidFill>
                <a:latin typeface="Arial"/>
                <a:ea typeface="Arial"/>
                <a:cs typeface="Arial"/>
              </a:defRPr>
            </a:pPr>
            <a:r>
              <a:rPr sz="900" b="0">
                <a:solidFill>
                  <a:srgbClr val="9AA1AC"/>
                </a:solidFill>
                <a:latin typeface="Arial"/>
                <a:ea typeface="Arial"/>
                <a:cs typeface="Arial"/>
              </a:rPr>
              <a:t>Programming with Python and Generative AI  ·  Scripting, Data Analysis, Visualization, Problem-Solving, and Optimization</a:t>
            </a:r>
          </a:p>
        </p:txBody>
      </p:sp>
      <p:sp>
        <p:nvSpPr>
          <p:cNvPr id="3" name="accent-bar">
            <a:extLst xmlns:a="http://schemas.openxmlformats.org/drawingml/2006/main">
              <a:ext uri="{FF2B5EF4-FFF2-40B4-BE49-F238E27FC236}">
                <a16:creationId xmlns:a16="http://schemas.microsoft.com/office/drawing/2014/main" id="{E8E6B929-948C-4DF2-ADEF-5D67C0B2D513}"/>
              </a:ext>
            </a:extLst>
          </p:cNvPr>
          <p:cNvSpPr>
            <a:spLocks xmlns:a="http://schemas.openxmlformats.org/drawingml/2006/main" noGrp="1"/>
          </p:cNvSpPr>
          <p:nvPr/>
        </p:nvSpPr>
        <p:spPr>
          <a:xfrm xmlns:a="http://schemas.openxmlformats.org/drawingml/2006/main">
            <a:off x="609600" y="1333500"/>
            <a:ext cx="133350" cy="2857500"/>
          </a:xfrm>
          <a:prstGeom xmlns:a="http://schemas.openxmlformats.org/drawingml/2006/main" prst="rect">
            <a:avLst/>
          </a:prstGeom>
          <a:solidFill xmlns:a="http://schemas.openxmlformats.org/drawingml/2006/main">
            <a:srgbClr val="2E74B5"/>
          </a:solidFill>
          <a:ln xmlns:a="http://schemas.openxmlformats.org/drawingml/2006/main" w="0">
            <a:noFill/>
            <a:prstDash val="solid"/>
          </a:ln>
        </p:spPr>
      </p:sp>
      <p:sp>
        <p:nvSpPr>
          <p:cNvPr id="4" name="week-label">
            <a:extLst xmlns:a="http://schemas.openxmlformats.org/drawingml/2006/main">
              <a:ext uri="{FF2B5EF4-FFF2-40B4-BE49-F238E27FC236}">
                <a16:creationId xmlns:a16="http://schemas.microsoft.com/office/drawing/2014/main" id="{9C6E76F8-F14B-4919-9C93-5D082EFFAFFE}"/>
              </a:ext>
            </a:extLst>
          </p:cNvPr>
          <p:cNvSpPr>
            <a:spLocks xmlns:a="http://schemas.openxmlformats.org/drawingml/2006/main" noGrp="1"/>
          </p:cNvSpPr>
          <p:nvPr/>
        </p:nvSpPr>
        <p:spPr>
          <a:xfrm xmlns:a="http://schemas.openxmlformats.org/drawingml/2006/main">
            <a:off x="1028700" y="13525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7 · MEETING A · SPATIAL DATA, SCALE, AND MAPS</a:t>
            </a:r>
          </a:p>
        </p:txBody>
      </p:sp>
      <p:sp>
        <p:nvSpPr>
          <p:cNvPr id="5" name="deck-title">
            <a:extLst xmlns:a="http://schemas.openxmlformats.org/drawingml/2006/main">
              <a:ext uri="{FF2B5EF4-FFF2-40B4-BE49-F238E27FC236}">
                <a16:creationId xmlns:a16="http://schemas.microsoft.com/office/drawing/2014/main" id="{9FF80EB8-35AB-4BB5-91F9-605E0F519B6B}"/>
              </a:ext>
            </a:extLst>
          </p:cNvPr>
          <p:cNvSpPr>
            <a:spLocks xmlns:a="http://schemas.openxmlformats.org/drawingml/2006/main" noGrp="1"/>
          </p:cNvSpPr>
          <p:nvPr/>
        </p:nvSpPr>
        <p:spPr>
          <a:xfrm xmlns:a="http://schemas.openxmlformats.org/drawingml/2006/main">
            <a:off x="1028700" y="17716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00" b="1">
                <a:solidFill>
                  <a:srgbClr val="FFFFFF"/>
                </a:solidFill>
                <a:latin typeface="Arial"/>
                <a:ea typeface="Arial"/>
                <a:cs typeface="Arial"/>
              </a:defRPr>
            </a:pPr>
            <a:r>
              <a:rPr sz="4500" b="1">
                <a:solidFill>
                  <a:srgbClr val="FFFFFF"/>
                </a:solidFill>
                <a:latin typeface="Arial"/>
                <a:ea typeface="Arial"/>
                <a:cs typeface="Arial"/>
              </a:rPr>
              <a:t>Geometry needs a ruler before it means anything</a:t>
            </a:r>
          </a:p>
        </p:txBody>
      </p:sp>
      <p:sp>
        <p:nvSpPr>
          <p:cNvPr id="6" name="deck-subtitle">
            <a:extLst xmlns:a="http://schemas.openxmlformats.org/drawingml/2006/main">
              <a:ext uri="{FF2B5EF4-FFF2-40B4-BE49-F238E27FC236}">
                <a16:creationId xmlns:a16="http://schemas.microsoft.com/office/drawing/2014/main" id="{AAB2F679-CEAA-4D47-8C8C-AB5465C8DA68}"/>
              </a:ext>
            </a:extLst>
          </p:cNvPr>
          <p:cNvSpPr>
            <a:spLocks xmlns:a="http://schemas.openxmlformats.org/drawingml/2006/main" noGrp="1"/>
          </p:cNvSpPr>
          <p:nvPr/>
        </p:nvSpPr>
        <p:spPr>
          <a:xfrm xmlns:a="http://schemas.openxmlformats.org/drawingml/2006/main">
            <a:off x="1028700" y="3848100"/>
            <a:ext cx="9144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D7D9DC"/>
                </a:solidFill>
                <a:latin typeface="Arial"/>
                <a:ea typeface="Arial"/>
                <a:cs typeface="Arial"/>
              </a:defRPr>
            </a:pPr>
            <a:r>
              <a:rPr sz="2100" b="0">
                <a:solidFill>
                  <a:srgbClr val="D7D9DC"/>
                </a:solidFill>
                <a:latin typeface="Arial"/>
                <a:ea typeface="Arial"/>
                <a:cs typeface="Arial"/>
              </a:rPr>
              <a:t>Geometry vs. attributes, GeoDataFrame, CRS and EPSG codes, projected vs. geographic measurement, buffer, and spatial join</a:t>
            </a:r>
          </a:p>
        </p:txBody>
      </p:sp>
      <p:sp>
        <p:nvSpPr>
          <p:cNvPr id="7" name="">
            <a:extLst xmlns:a="http://schemas.openxmlformats.org/drawingml/2006/main">
              <a:ext uri="{FF2B5EF4-FFF2-40B4-BE49-F238E27FC236}">
                <a16:creationId xmlns:a16="http://schemas.microsoft.com/office/drawing/2014/main" id="{B0740F74-3270-41D5-9E51-AB07E3283BFE}"/>
              </a:ext>
            </a:extLst>
          </p:cNvPr>
          <p:cNvSpPr>
            <a:spLocks xmlns:a="http://schemas.openxmlformats.org/drawingml/2006/main" noGrp="1"/>
          </p:cNvSpPr>
          <p:nvPr/>
        </p:nvSpPr>
        <p:spPr>
          <a:xfrm xmlns:a="http://schemas.openxmlformats.org/drawingml/2006/main">
            <a:off x="1028700" y="5295900"/>
            <a:ext cx="2476500" cy="0"/>
          </a:xfrm>
          <a:prstGeom xmlns:a="http://schemas.openxmlformats.org/drawingml/2006/main" prst="line">
            <a:avLst/>
          </a:prstGeom>
          <a:noFill xmlns:a="http://schemas.openxmlformats.org/drawingml/2006/main"/>
          <a:ln xmlns:a="http://schemas.openxmlformats.org/drawingml/2006/main" w="9525">
            <a:solidFill>
              <a:srgbClr val="FFFFFF"/>
            </a:solidFill>
            <a:prstDash val="solid"/>
          </a:ln>
        </p:spPr>
      </p:sp>
      <p:sp>
        <p:nvSpPr>
          <p:cNvPr id="8" name="instructor">
            <a:extLst xmlns:a="http://schemas.openxmlformats.org/drawingml/2006/main">
              <a:ext uri="{FF2B5EF4-FFF2-40B4-BE49-F238E27FC236}">
                <a16:creationId xmlns:a16="http://schemas.microsoft.com/office/drawing/2014/main" id="{19B95ADB-E63F-4D1A-9BD3-4F0878027BAE}"/>
              </a:ext>
            </a:extLst>
          </p:cNvPr>
          <p:cNvSpPr>
            <a:spLocks xmlns:a="http://schemas.openxmlformats.org/drawingml/2006/main" noGrp="1"/>
          </p:cNvSpPr>
          <p:nvPr/>
        </p:nvSpPr>
        <p:spPr>
          <a:xfrm xmlns:a="http://schemas.openxmlformats.org/drawingml/2006/main">
            <a:off x="1028700" y="55245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0">
                <a:solidFill>
                  <a:srgbClr val="D7D9DC"/>
                </a:solidFill>
                <a:latin typeface="Arial"/>
                <a:ea typeface="Arial"/>
                <a:cs typeface="Arial"/>
              </a:defRPr>
            </a:pPr>
            <a:r>
              <a:rPr sz="1200" b="0">
                <a:solidFill>
                  <a:srgbClr val="D7D9DC"/>
                </a:solidFill>
                <a:latin typeface="Arial"/>
                <a:ea typeface="Arial"/>
                <a:cs typeface="Arial"/>
              </a:rPr>
              <a:t>JunHo Chun, PhD  ·  School of Architecture  ·  Syracuse University  ·  Fall 2026</a:t>
            </a:r>
          </a:p>
        </p:txBody>
      </p:sp>
    </p:spTree>
    <p:extLst>
      <p:ext uri="{BB962C8B-B14F-4D97-AF65-F5344CB8AC3E}">
        <p14:creationId xmlns:p14="http://schemas.microsoft.com/office/powerpoint/2010/main" val="17920791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6EBA78A4-E889-4DBC-8209-6B58A52804E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0E7717AE-5DB3-4FF8-B180-E03C8C7199E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map is only as trustworthy as its geometry and its CRS</a:t>
            </a:r>
          </a:p>
        </p:txBody>
      </p:sp>
      <p:sp>
        <p:nvSpPr>
          <p:cNvPr id="3" name="">
            <a:extLst xmlns:a="http://schemas.openxmlformats.org/drawingml/2006/main">
              <a:ext uri="{FF2B5EF4-FFF2-40B4-BE49-F238E27FC236}">
                <a16:creationId xmlns:a16="http://schemas.microsoft.com/office/drawing/2014/main" id="{5B14CE67-1E75-49FF-9E1E-96EFD0C34F1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9844E6E-E6A7-4450-B71B-5C87ACE28E8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F1BDB2A5-A50B-4760-AA5D-8C1E597BE60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02</a:t>
            </a:r>
          </a:p>
        </p:txBody>
      </p:sp>
      <p:sp>
        <p:nvSpPr>
          <p:cNvPr id="6" name="statement">
            <a:extLst xmlns:a="http://schemas.openxmlformats.org/drawingml/2006/main">
              <a:ext uri="{FF2B5EF4-FFF2-40B4-BE49-F238E27FC236}">
                <a16:creationId xmlns:a16="http://schemas.microsoft.com/office/drawing/2014/main" id="{C1DC74E6-8E8C-41BF-B3E0-07C7A5EF4527}"/>
              </a:ext>
            </a:extLst>
          </p:cNvPr>
          <p:cNvSpPr>
            <a:spLocks xmlns:a="http://schemas.openxmlformats.org/drawingml/2006/main" noGrp="1"/>
          </p:cNvSpPr>
          <p:nvPr/>
        </p:nvSpPr>
        <p:spPr>
          <a:xfrm xmlns:a="http://schemas.openxmlformats.org/drawingml/2006/main">
            <a:off x="609600" y="2305050"/>
            <a:ext cx="9829800" cy="15575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Where something is, and what units that 'where' is measured in, are two separate facts you must both get right.</a:t>
            </a:r>
          </a:p>
        </p:txBody>
      </p:sp>
      <p:sp>
        <p:nvSpPr>
          <p:cNvPr id="7" name="">
            <a:extLst xmlns:a="http://schemas.openxmlformats.org/drawingml/2006/main">
              <a:ext uri="{FF2B5EF4-FFF2-40B4-BE49-F238E27FC236}">
                <a16:creationId xmlns:a16="http://schemas.microsoft.com/office/drawing/2014/main" id="{E00A0B69-A7F1-4FCE-988F-EE9EC527E04A}"/>
              </a:ext>
            </a:extLst>
          </p:cNvPr>
          <p:cNvSpPr>
            <a:spLocks xmlns:a="http://schemas.openxmlformats.org/drawingml/2006/main" noGrp="1"/>
          </p:cNvSpPr>
          <p:nvPr/>
        </p:nvSpPr>
        <p:spPr>
          <a:xfrm xmlns:a="http://schemas.openxmlformats.org/drawingml/2006/main">
            <a:off x="609600" y="4072128"/>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E2FA9C51-0116-4A51-A868-B5FCF9C875E4}"/>
              </a:ext>
            </a:extLst>
          </p:cNvPr>
          <p:cNvSpPr>
            <a:spLocks xmlns:a="http://schemas.openxmlformats.org/drawingml/2006/main" noGrp="1"/>
          </p:cNvSpPr>
          <p:nvPr/>
        </p:nvSpPr>
        <p:spPr>
          <a:xfrm xmlns:a="http://schemas.openxmlformats.org/drawingml/2006/main">
            <a:off x="609600" y="4395978"/>
            <a:ext cx="9334500" cy="6065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Geopandas will happily compute an area or a distance in the wrong coordinate reference system without stopping you. It is your job to notice.</a:t>
            </a:r>
          </a:p>
        </p:txBody>
      </p:sp>
    </p:spTree>
    <p:extLst>
      <p:ext uri="{BB962C8B-B14F-4D97-AF65-F5344CB8AC3E}">
        <p14:creationId xmlns:p14="http://schemas.microsoft.com/office/powerpoint/2010/main" val="1383559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0D937C59-2D2C-420E-95DA-329AD73A4B8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LEARNING OUTCOMES</a:t>
            </a:r>
          </a:p>
        </p:txBody>
      </p:sp>
      <p:sp>
        <p:nvSpPr>
          <p:cNvPr id="2" name="title">
            <a:extLst xmlns:a="http://schemas.openxmlformats.org/drawingml/2006/main">
              <a:ext uri="{FF2B5EF4-FFF2-40B4-BE49-F238E27FC236}">
                <a16:creationId xmlns:a16="http://schemas.microsoft.com/office/drawing/2014/main" id="{82C0B71C-84F9-46BB-83E7-D2574CFA285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By the end, you should be able to…</a:t>
            </a:r>
          </a:p>
        </p:txBody>
      </p:sp>
      <p:sp>
        <p:nvSpPr>
          <p:cNvPr id="3" name="">
            <a:extLst xmlns:a="http://schemas.openxmlformats.org/drawingml/2006/main">
              <a:ext uri="{FF2B5EF4-FFF2-40B4-BE49-F238E27FC236}">
                <a16:creationId xmlns:a16="http://schemas.microsoft.com/office/drawing/2014/main" id="{240701F9-9CDB-4398-B0F2-271A2C3D648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D76B452-4760-4AD1-B7F9-08E6E5ADF9B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3D114A72-AA2E-45D4-BA4D-CBB13545B38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03</a:t>
            </a:r>
          </a:p>
        </p:txBody>
      </p:sp>
      <p:sp>
        <p:nvSpPr>
          <p:cNvPr id="6" name="outcome-number-0">
            <a:extLst xmlns:a="http://schemas.openxmlformats.org/drawingml/2006/main">
              <a:ext uri="{FF2B5EF4-FFF2-40B4-BE49-F238E27FC236}">
                <a16:creationId xmlns:a16="http://schemas.microsoft.com/office/drawing/2014/main" id="{EF499BC0-7FD4-49E4-8FA6-2CA322DF295F}"/>
              </a:ext>
            </a:extLst>
          </p:cNvPr>
          <p:cNvSpPr>
            <a:spLocks xmlns:a="http://schemas.openxmlformats.org/drawingml/2006/main" noGrp="1"/>
          </p:cNvSpPr>
          <p:nvPr/>
        </p:nvSpPr>
        <p:spPr>
          <a:xfrm xmlns:a="http://schemas.openxmlformats.org/drawingml/2006/main">
            <a:off x="6096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1</a:t>
            </a:r>
          </a:p>
        </p:txBody>
      </p:sp>
      <p:sp>
        <p:nvSpPr>
          <p:cNvPr id="7" name="outcome-head-0">
            <a:extLst xmlns:a="http://schemas.openxmlformats.org/drawingml/2006/main">
              <a:ext uri="{FF2B5EF4-FFF2-40B4-BE49-F238E27FC236}">
                <a16:creationId xmlns:a16="http://schemas.microsoft.com/office/drawing/2014/main" id="{807A50DC-EC92-4760-AEA7-CBB303602641}"/>
              </a:ext>
            </a:extLst>
          </p:cNvPr>
          <p:cNvSpPr>
            <a:spLocks xmlns:a="http://schemas.openxmlformats.org/drawingml/2006/main" noGrp="1"/>
          </p:cNvSpPr>
          <p:nvPr/>
        </p:nvSpPr>
        <p:spPr>
          <a:xfrm xmlns:a="http://schemas.openxmlformats.org/drawingml/2006/main">
            <a:off x="12001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Distinguish</a:t>
            </a:r>
          </a:p>
        </p:txBody>
      </p:sp>
      <p:sp>
        <p:nvSpPr>
          <p:cNvPr id="8" name="outcome-body-0">
            <a:extLst xmlns:a="http://schemas.openxmlformats.org/drawingml/2006/main">
              <a:ext uri="{FF2B5EF4-FFF2-40B4-BE49-F238E27FC236}">
                <a16:creationId xmlns:a16="http://schemas.microsoft.com/office/drawing/2014/main" id="{DAFF2BAA-3160-444A-8350-2B6F3A068F6F}"/>
              </a:ext>
            </a:extLst>
          </p:cNvPr>
          <p:cNvSpPr>
            <a:spLocks xmlns:a="http://schemas.openxmlformats.org/drawingml/2006/main" noGrp="1"/>
          </p:cNvSpPr>
          <p:nvPr/>
        </p:nvSpPr>
        <p:spPr>
          <a:xfrm xmlns:a="http://schemas.openxmlformats.org/drawingml/2006/main">
            <a:off x="12001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Tell geometry (shape/location) apart from attributes (everything else) in one spatial table.</a:t>
            </a:r>
          </a:p>
        </p:txBody>
      </p:sp>
      <p:sp>
        <p:nvSpPr>
          <p:cNvPr id="9" name="outcome-number-1">
            <a:extLst xmlns:a="http://schemas.openxmlformats.org/drawingml/2006/main">
              <a:ext uri="{FF2B5EF4-FFF2-40B4-BE49-F238E27FC236}">
                <a16:creationId xmlns:a16="http://schemas.microsoft.com/office/drawing/2014/main" id="{630BB1A6-4B90-4C83-B12A-A04289BCDF0A}"/>
              </a:ext>
            </a:extLst>
          </p:cNvPr>
          <p:cNvSpPr>
            <a:spLocks xmlns:a="http://schemas.openxmlformats.org/drawingml/2006/main" noGrp="1"/>
          </p:cNvSpPr>
          <p:nvPr/>
        </p:nvSpPr>
        <p:spPr>
          <a:xfrm xmlns:a="http://schemas.openxmlformats.org/drawingml/2006/main">
            <a:off x="63627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2</a:t>
            </a:r>
          </a:p>
        </p:txBody>
      </p:sp>
      <p:sp>
        <p:nvSpPr>
          <p:cNvPr id="10" name="outcome-head-1">
            <a:extLst xmlns:a="http://schemas.openxmlformats.org/drawingml/2006/main">
              <a:ext uri="{FF2B5EF4-FFF2-40B4-BE49-F238E27FC236}">
                <a16:creationId xmlns:a16="http://schemas.microsoft.com/office/drawing/2014/main" id="{020E10B6-DE4B-47BE-AD76-999663A765E2}"/>
              </a:ext>
            </a:extLst>
          </p:cNvPr>
          <p:cNvSpPr>
            <a:spLocks xmlns:a="http://schemas.openxmlformats.org/drawingml/2006/main" noGrp="1"/>
          </p:cNvSpPr>
          <p:nvPr/>
        </p:nvSpPr>
        <p:spPr>
          <a:xfrm xmlns:a="http://schemas.openxmlformats.org/drawingml/2006/main">
            <a:off x="69532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Choose</a:t>
            </a:r>
          </a:p>
        </p:txBody>
      </p:sp>
      <p:sp>
        <p:nvSpPr>
          <p:cNvPr id="11" name="outcome-body-1">
            <a:extLst xmlns:a="http://schemas.openxmlformats.org/drawingml/2006/main">
              <a:ext uri="{FF2B5EF4-FFF2-40B4-BE49-F238E27FC236}">
                <a16:creationId xmlns:a16="http://schemas.microsoft.com/office/drawing/2014/main" id="{888DFA9F-FF33-4DC4-89C4-78634BA0C294}"/>
              </a:ext>
            </a:extLst>
          </p:cNvPr>
          <p:cNvSpPr>
            <a:spLocks xmlns:a="http://schemas.openxmlformats.org/drawingml/2006/main" noGrp="1"/>
          </p:cNvSpPr>
          <p:nvPr/>
        </p:nvSpPr>
        <p:spPr>
          <a:xfrm xmlns:a="http://schemas.openxmlformats.org/drawingml/2006/main">
            <a:off x="69532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Pick point, line, or polygon geometry for a given architectural question.</a:t>
            </a:r>
          </a:p>
        </p:txBody>
      </p:sp>
      <p:sp>
        <p:nvSpPr>
          <p:cNvPr id="12" name="outcome-number-2">
            <a:extLst xmlns:a="http://schemas.openxmlformats.org/drawingml/2006/main">
              <a:ext uri="{FF2B5EF4-FFF2-40B4-BE49-F238E27FC236}">
                <a16:creationId xmlns:a16="http://schemas.microsoft.com/office/drawing/2014/main" id="{A48EA159-A501-4AC8-81CD-D327B78BD808}"/>
              </a:ext>
            </a:extLst>
          </p:cNvPr>
          <p:cNvSpPr>
            <a:spLocks xmlns:a="http://schemas.openxmlformats.org/drawingml/2006/main" noGrp="1"/>
          </p:cNvSpPr>
          <p:nvPr/>
        </p:nvSpPr>
        <p:spPr>
          <a:xfrm xmlns:a="http://schemas.openxmlformats.org/drawingml/2006/main">
            <a:off x="6096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3</a:t>
            </a:r>
          </a:p>
        </p:txBody>
      </p:sp>
      <p:sp>
        <p:nvSpPr>
          <p:cNvPr id="13" name="outcome-head-2">
            <a:extLst xmlns:a="http://schemas.openxmlformats.org/drawingml/2006/main">
              <a:ext uri="{FF2B5EF4-FFF2-40B4-BE49-F238E27FC236}">
                <a16:creationId xmlns:a16="http://schemas.microsoft.com/office/drawing/2014/main" id="{057F8017-BC0E-4C15-8716-D7588B07D10A}"/>
              </a:ext>
            </a:extLst>
          </p:cNvPr>
          <p:cNvSpPr>
            <a:spLocks xmlns:a="http://schemas.openxmlformats.org/drawingml/2006/main" noGrp="1"/>
          </p:cNvSpPr>
          <p:nvPr/>
        </p:nvSpPr>
        <p:spPr>
          <a:xfrm xmlns:a="http://schemas.openxmlformats.org/drawingml/2006/main">
            <a:off x="12001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Build</a:t>
            </a:r>
          </a:p>
        </p:txBody>
      </p:sp>
      <p:sp>
        <p:nvSpPr>
          <p:cNvPr id="14" name="outcome-body-2">
            <a:extLst xmlns:a="http://schemas.openxmlformats.org/drawingml/2006/main">
              <a:ext uri="{FF2B5EF4-FFF2-40B4-BE49-F238E27FC236}">
                <a16:creationId xmlns:a16="http://schemas.microsoft.com/office/drawing/2014/main" id="{F7E909D6-C9A6-4425-B760-83622FA85258}"/>
              </a:ext>
            </a:extLst>
          </p:cNvPr>
          <p:cNvSpPr>
            <a:spLocks xmlns:a="http://schemas.openxmlformats.org/drawingml/2006/main" noGrp="1"/>
          </p:cNvSpPr>
          <p:nvPr/>
        </p:nvSpPr>
        <p:spPr>
          <a:xfrm xmlns:a="http://schemas.openxmlformats.org/drawingml/2006/main">
            <a:off x="12001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Read or build a GeoDataFrame and identify its CRS by EPSG code.</a:t>
            </a:r>
          </a:p>
        </p:txBody>
      </p:sp>
      <p:sp>
        <p:nvSpPr>
          <p:cNvPr id="15" name="outcome-number-3">
            <a:extLst xmlns:a="http://schemas.openxmlformats.org/drawingml/2006/main">
              <a:ext uri="{FF2B5EF4-FFF2-40B4-BE49-F238E27FC236}">
                <a16:creationId xmlns:a16="http://schemas.microsoft.com/office/drawing/2014/main" id="{094469F0-137E-4123-A7C8-00E6023066BB}"/>
              </a:ext>
            </a:extLst>
          </p:cNvPr>
          <p:cNvSpPr>
            <a:spLocks xmlns:a="http://schemas.openxmlformats.org/drawingml/2006/main" noGrp="1"/>
          </p:cNvSpPr>
          <p:nvPr/>
        </p:nvSpPr>
        <p:spPr>
          <a:xfrm xmlns:a="http://schemas.openxmlformats.org/drawingml/2006/main">
            <a:off x="63627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4</a:t>
            </a:r>
          </a:p>
        </p:txBody>
      </p:sp>
      <p:sp>
        <p:nvSpPr>
          <p:cNvPr id="16" name="outcome-head-3">
            <a:extLst xmlns:a="http://schemas.openxmlformats.org/drawingml/2006/main">
              <a:ext uri="{FF2B5EF4-FFF2-40B4-BE49-F238E27FC236}">
                <a16:creationId xmlns:a16="http://schemas.microsoft.com/office/drawing/2014/main" id="{A2531F2C-506B-4069-A4D3-9EFDB4CCCD93}"/>
              </a:ext>
            </a:extLst>
          </p:cNvPr>
          <p:cNvSpPr>
            <a:spLocks xmlns:a="http://schemas.openxmlformats.org/drawingml/2006/main" noGrp="1"/>
          </p:cNvSpPr>
          <p:nvPr/>
        </p:nvSpPr>
        <p:spPr>
          <a:xfrm xmlns:a="http://schemas.openxmlformats.org/drawingml/2006/main">
            <a:off x="69532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Reproject</a:t>
            </a:r>
          </a:p>
        </p:txBody>
      </p:sp>
      <p:sp>
        <p:nvSpPr>
          <p:cNvPr id="17" name="outcome-body-3">
            <a:extLst xmlns:a="http://schemas.openxmlformats.org/drawingml/2006/main">
              <a:ext uri="{FF2B5EF4-FFF2-40B4-BE49-F238E27FC236}">
                <a16:creationId xmlns:a16="http://schemas.microsoft.com/office/drawing/2014/main" id="{F9FDBBA3-E97C-4910-8A65-03BA5FD937E1}"/>
              </a:ext>
            </a:extLst>
          </p:cNvPr>
          <p:cNvSpPr>
            <a:spLocks xmlns:a="http://schemas.openxmlformats.org/drawingml/2006/main" noGrp="1"/>
          </p:cNvSpPr>
          <p:nvPr/>
        </p:nvSpPr>
        <p:spPr>
          <a:xfrm xmlns:a="http://schemas.openxmlformats.org/drawingml/2006/main">
            <a:off x="69532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Explain why area and length calculations require a projected CRS, then use buffer and spatial join correctly.</a:t>
            </a:r>
          </a:p>
        </p:txBody>
      </p:sp>
    </p:spTree>
    <p:extLst>
      <p:ext uri="{BB962C8B-B14F-4D97-AF65-F5344CB8AC3E}">
        <p14:creationId xmlns:p14="http://schemas.microsoft.com/office/powerpoint/2010/main" val="9438371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DA262167-5A5A-496B-B9BF-121AAC2EFEF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ROAD MAP</a:t>
            </a:r>
          </a:p>
        </p:txBody>
      </p:sp>
      <p:sp>
        <p:nvSpPr>
          <p:cNvPr id="2" name="title">
            <a:extLst xmlns:a="http://schemas.openxmlformats.org/drawingml/2006/main">
              <a:ext uri="{FF2B5EF4-FFF2-40B4-BE49-F238E27FC236}">
                <a16:creationId xmlns:a16="http://schemas.microsoft.com/office/drawing/2014/main" id="{0DAC9F12-6218-4B0E-A068-584483C4EAF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Today’s learning sequence</a:t>
            </a:r>
          </a:p>
        </p:txBody>
      </p:sp>
      <p:sp>
        <p:nvSpPr>
          <p:cNvPr id="3" name="">
            <a:extLst xmlns:a="http://schemas.openxmlformats.org/drawingml/2006/main">
              <a:ext uri="{FF2B5EF4-FFF2-40B4-BE49-F238E27FC236}">
                <a16:creationId xmlns:a16="http://schemas.microsoft.com/office/drawing/2014/main" id="{6C4A1A18-F0A1-4106-97DE-A141F4F2AC7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4DFB701-DE5B-4D2E-AE14-D7E69EBB44D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A1350178-5D1C-4E81-859F-429DA45F60E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04</a:t>
            </a:r>
          </a:p>
        </p:txBody>
      </p:sp>
      <p:sp>
        <p:nvSpPr>
          <p:cNvPr id="6" name="agenda-no-0">
            <a:extLst xmlns:a="http://schemas.openxmlformats.org/drawingml/2006/main">
              <a:ext uri="{FF2B5EF4-FFF2-40B4-BE49-F238E27FC236}">
                <a16:creationId xmlns:a16="http://schemas.microsoft.com/office/drawing/2014/main" id="{5F48BBB0-1517-4B59-9CA8-D6795C8A7B49}"/>
              </a:ext>
            </a:extLst>
          </p:cNvPr>
          <p:cNvSpPr>
            <a:spLocks xmlns:a="http://schemas.openxmlformats.org/drawingml/2006/main" noGrp="1"/>
          </p:cNvSpPr>
          <p:nvPr/>
        </p:nvSpPr>
        <p:spPr>
          <a:xfrm xmlns:a="http://schemas.openxmlformats.org/drawingml/2006/main">
            <a:off x="609600" y="22002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A7ADBCA-0728-4309-B66D-520E96BC9EA0}"/>
              </a:ext>
            </a:extLst>
          </p:cNvPr>
          <p:cNvSpPr>
            <a:spLocks xmlns:a="http://schemas.openxmlformats.org/drawingml/2006/main" noGrp="1"/>
          </p:cNvSpPr>
          <p:nvPr/>
        </p:nvSpPr>
        <p:spPr>
          <a:xfrm xmlns:a="http://schemas.openxmlformats.org/drawingml/2006/main">
            <a:off x="1314450" y="2352675"/>
            <a:ext cx="7429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8" name="agenda-item-0">
            <a:extLst xmlns:a="http://schemas.openxmlformats.org/drawingml/2006/main">
              <a:ext uri="{FF2B5EF4-FFF2-40B4-BE49-F238E27FC236}">
                <a16:creationId xmlns:a16="http://schemas.microsoft.com/office/drawing/2014/main" id="{11E5E407-576E-4A00-AF79-FEB02EF68A13}"/>
              </a:ext>
            </a:extLst>
          </p:cNvPr>
          <p:cNvSpPr>
            <a:spLocks xmlns:a="http://schemas.openxmlformats.org/drawingml/2006/main" noGrp="1"/>
          </p:cNvSpPr>
          <p:nvPr/>
        </p:nvSpPr>
        <p:spPr>
          <a:xfrm xmlns:a="http://schemas.openxmlformats.org/drawingml/2006/main">
            <a:off x="2381250" y="21431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Geometry vs. attributes: two kinds of information, one table</a:t>
            </a:r>
          </a:p>
        </p:txBody>
      </p:sp>
      <p:sp>
        <p:nvSpPr>
          <p:cNvPr id="9" name="agenda-no-1">
            <a:extLst xmlns:a="http://schemas.openxmlformats.org/drawingml/2006/main">
              <a:ext uri="{FF2B5EF4-FFF2-40B4-BE49-F238E27FC236}">
                <a16:creationId xmlns:a16="http://schemas.microsoft.com/office/drawing/2014/main" id="{EBEA5AB2-902E-4ED4-9489-AD24023B9C0A}"/>
              </a:ext>
            </a:extLst>
          </p:cNvPr>
          <p:cNvSpPr>
            <a:spLocks xmlns:a="http://schemas.openxmlformats.org/drawingml/2006/main" noGrp="1"/>
          </p:cNvSpPr>
          <p:nvPr/>
        </p:nvSpPr>
        <p:spPr>
          <a:xfrm xmlns:a="http://schemas.openxmlformats.org/drawingml/2006/main">
            <a:off x="609600" y="31146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997C6AAA-DFFF-492B-B6A9-CF99D493D618}"/>
              </a:ext>
            </a:extLst>
          </p:cNvPr>
          <p:cNvSpPr>
            <a:spLocks xmlns:a="http://schemas.openxmlformats.org/drawingml/2006/main" noGrp="1"/>
          </p:cNvSpPr>
          <p:nvPr/>
        </p:nvSpPr>
        <p:spPr>
          <a:xfrm xmlns:a="http://schemas.openxmlformats.org/drawingml/2006/main">
            <a:off x="1314450" y="32670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1" name="agenda-item-1">
            <a:extLst xmlns:a="http://schemas.openxmlformats.org/drawingml/2006/main">
              <a:ext uri="{FF2B5EF4-FFF2-40B4-BE49-F238E27FC236}">
                <a16:creationId xmlns:a16="http://schemas.microsoft.com/office/drawing/2014/main" id="{425D3FEB-CCCA-426F-9417-B63466ABA5C0}"/>
              </a:ext>
            </a:extLst>
          </p:cNvPr>
          <p:cNvSpPr>
            <a:spLocks xmlns:a="http://schemas.openxmlformats.org/drawingml/2006/main" noGrp="1"/>
          </p:cNvSpPr>
          <p:nvPr/>
        </p:nvSpPr>
        <p:spPr>
          <a:xfrm xmlns:a="http://schemas.openxmlformats.org/drawingml/2006/main">
            <a:off x="2381250" y="30575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Point, line, polygon: choosing the right geometry</a:t>
            </a:r>
          </a:p>
        </p:txBody>
      </p:sp>
      <p:sp>
        <p:nvSpPr>
          <p:cNvPr id="12" name="agenda-no-2">
            <a:extLst xmlns:a="http://schemas.openxmlformats.org/drawingml/2006/main">
              <a:ext uri="{FF2B5EF4-FFF2-40B4-BE49-F238E27FC236}">
                <a16:creationId xmlns:a16="http://schemas.microsoft.com/office/drawing/2014/main" id="{198971BF-D963-4DAF-BD5E-900ACCF94D93}"/>
              </a:ext>
            </a:extLst>
          </p:cNvPr>
          <p:cNvSpPr>
            <a:spLocks xmlns:a="http://schemas.openxmlformats.org/drawingml/2006/main" noGrp="1"/>
          </p:cNvSpPr>
          <p:nvPr/>
        </p:nvSpPr>
        <p:spPr>
          <a:xfrm xmlns:a="http://schemas.openxmlformats.org/drawingml/2006/main">
            <a:off x="609600" y="40290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565ECADA-3552-409D-A836-D1F378DE251A}"/>
              </a:ext>
            </a:extLst>
          </p:cNvPr>
          <p:cNvSpPr>
            <a:spLocks xmlns:a="http://schemas.openxmlformats.org/drawingml/2006/main" noGrp="1"/>
          </p:cNvSpPr>
          <p:nvPr/>
        </p:nvSpPr>
        <p:spPr>
          <a:xfrm xmlns:a="http://schemas.openxmlformats.org/drawingml/2006/main">
            <a:off x="1314450" y="41814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4" name="agenda-item-2">
            <a:extLst xmlns:a="http://schemas.openxmlformats.org/drawingml/2006/main">
              <a:ext uri="{FF2B5EF4-FFF2-40B4-BE49-F238E27FC236}">
                <a16:creationId xmlns:a16="http://schemas.microsoft.com/office/drawing/2014/main" id="{9AC704EA-7E1F-4CF9-BE6D-752156584044}"/>
              </a:ext>
            </a:extLst>
          </p:cNvPr>
          <p:cNvSpPr>
            <a:spLocks xmlns:a="http://schemas.openxmlformats.org/drawingml/2006/main" noGrp="1"/>
          </p:cNvSpPr>
          <p:nvPr/>
        </p:nvSpPr>
        <p:spPr>
          <a:xfrm xmlns:a="http://schemas.openxmlformats.org/drawingml/2006/main">
            <a:off x="2381250" y="39719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GeoDataFrame, CRS, and EPSG codes</a:t>
            </a:r>
          </a:p>
        </p:txBody>
      </p:sp>
      <p:sp>
        <p:nvSpPr>
          <p:cNvPr id="15" name="agenda-no-3">
            <a:extLst xmlns:a="http://schemas.openxmlformats.org/drawingml/2006/main">
              <a:ext uri="{FF2B5EF4-FFF2-40B4-BE49-F238E27FC236}">
                <a16:creationId xmlns:a16="http://schemas.microsoft.com/office/drawing/2014/main" id="{0BE687DD-DC8D-4EE5-B8CC-9DF51AA4F764}"/>
              </a:ext>
            </a:extLst>
          </p:cNvPr>
          <p:cNvSpPr>
            <a:spLocks xmlns:a="http://schemas.openxmlformats.org/drawingml/2006/main" noGrp="1"/>
          </p:cNvSpPr>
          <p:nvPr/>
        </p:nvSpPr>
        <p:spPr>
          <a:xfrm xmlns:a="http://schemas.openxmlformats.org/drawingml/2006/main">
            <a:off x="609600" y="49434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CCB63D2E-4597-480D-B679-12383B0D86FE}"/>
              </a:ext>
            </a:extLst>
          </p:cNvPr>
          <p:cNvSpPr>
            <a:spLocks xmlns:a="http://schemas.openxmlformats.org/drawingml/2006/main" noGrp="1"/>
          </p:cNvSpPr>
          <p:nvPr/>
        </p:nvSpPr>
        <p:spPr>
          <a:xfrm xmlns:a="http://schemas.openxmlformats.org/drawingml/2006/main">
            <a:off x="1314450" y="50958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7" name="agenda-item-3">
            <a:extLst xmlns:a="http://schemas.openxmlformats.org/drawingml/2006/main">
              <a:ext uri="{FF2B5EF4-FFF2-40B4-BE49-F238E27FC236}">
                <a16:creationId xmlns:a16="http://schemas.microsoft.com/office/drawing/2014/main" id="{C133AF1B-0E4E-428F-979F-D92226B1D42B}"/>
              </a:ext>
            </a:extLst>
          </p:cNvPr>
          <p:cNvSpPr>
            <a:spLocks xmlns:a="http://schemas.openxmlformats.org/drawingml/2006/main" noGrp="1"/>
          </p:cNvSpPr>
          <p:nvPr/>
        </p:nvSpPr>
        <p:spPr>
          <a:xfrm xmlns:a="http://schemas.openxmlformats.org/drawingml/2006/main">
            <a:off x="2381250" y="48863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Why projection matters: buffer and spatial join</a:t>
            </a:r>
          </a:p>
        </p:txBody>
      </p:sp>
    </p:spTree>
    <p:extLst>
      <p:ext uri="{BB962C8B-B14F-4D97-AF65-F5344CB8AC3E}">
        <p14:creationId xmlns:p14="http://schemas.microsoft.com/office/powerpoint/2010/main" val="11877270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92CC8F93-80E9-45A5-87E3-50D81E1592C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146C5316-B27A-4B40-8CEE-D31C023CFA7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Geometry vs. attributes, defined</a:t>
            </a:r>
          </a:p>
        </p:txBody>
      </p:sp>
      <p:sp>
        <p:nvSpPr>
          <p:cNvPr id="3" name="">
            <a:extLst xmlns:a="http://schemas.openxmlformats.org/drawingml/2006/main">
              <a:ext uri="{FF2B5EF4-FFF2-40B4-BE49-F238E27FC236}">
                <a16:creationId xmlns:a16="http://schemas.microsoft.com/office/drawing/2014/main" id="{3415A1B9-134F-4975-B3CC-C39BBC59D3D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95A66AA-7F1D-4B2B-935C-974118962F9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AC07CF23-BD28-417A-830B-3FF768DAEB4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05</a:t>
            </a:r>
          </a:p>
        </p:txBody>
      </p:sp>
      <p:sp>
        <p:nvSpPr>
          <p:cNvPr id="6" name="left-head">
            <a:extLst xmlns:a="http://schemas.openxmlformats.org/drawingml/2006/main">
              <a:ext uri="{FF2B5EF4-FFF2-40B4-BE49-F238E27FC236}">
                <a16:creationId xmlns:a16="http://schemas.microsoft.com/office/drawing/2014/main" id="{1B7CF0F6-97E6-4B70-A1F0-6FEC227E0851}"/>
              </a:ext>
            </a:extLst>
          </p:cNvPr>
          <p:cNvSpPr>
            <a:spLocks xmlns:a="http://schemas.openxmlformats.org/drawingml/2006/main" noGrp="1"/>
          </p:cNvSpPr>
          <p:nvPr/>
        </p:nvSpPr>
        <p:spPr>
          <a:xfrm xmlns:a="http://schemas.openxmlformats.org/drawingml/2006/main">
            <a:off x="609600" y="27146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Geometry</a:t>
            </a:r>
          </a:p>
        </p:txBody>
      </p:sp>
      <p:sp>
        <p:nvSpPr>
          <p:cNvPr id="7" name="left-body">
            <a:extLst xmlns:a="http://schemas.openxmlformats.org/drawingml/2006/main">
              <a:ext uri="{FF2B5EF4-FFF2-40B4-BE49-F238E27FC236}">
                <a16:creationId xmlns:a16="http://schemas.microsoft.com/office/drawing/2014/main" id="{937F452F-9563-44A5-B8B0-0E90115200E1}"/>
              </a:ext>
            </a:extLst>
          </p:cNvPr>
          <p:cNvSpPr>
            <a:spLocks xmlns:a="http://schemas.openxmlformats.org/drawingml/2006/main" noGrp="1"/>
          </p:cNvSpPr>
          <p:nvPr/>
        </p:nvSpPr>
        <p:spPr>
          <a:xfrm xmlns:a="http://schemas.openxmlformats.org/drawingml/2006/main">
            <a:off x="609600" y="3212211"/>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The shape and location of a feature: a point, line, or polygon, stored in one special column (usually called geometry). Geometry answers 'where.'</a:t>
            </a:r>
          </a:p>
        </p:txBody>
      </p:sp>
      <p:sp>
        <p:nvSpPr>
          <p:cNvPr id="8" name="right-head">
            <a:extLst xmlns:a="http://schemas.openxmlformats.org/drawingml/2006/main">
              <a:ext uri="{FF2B5EF4-FFF2-40B4-BE49-F238E27FC236}">
                <a16:creationId xmlns:a16="http://schemas.microsoft.com/office/drawing/2014/main" id="{2DA0617B-DD2E-4FB0-A602-BAF8C2EEE3D9}"/>
              </a:ext>
            </a:extLst>
          </p:cNvPr>
          <p:cNvSpPr>
            <a:spLocks xmlns:a="http://schemas.openxmlformats.org/drawingml/2006/main" noGrp="1"/>
          </p:cNvSpPr>
          <p:nvPr/>
        </p:nvSpPr>
        <p:spPr>
          <a:xfrm xmlns:a="http://schemas.openxmlformats.org/drawingml/2006/main">
            <a:off x="6362700" y="27146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Attributes</a:t>
            </a:r>
          </a:p>
        </p:txBody>
      </p:sp>
      <p:sp>
        <p:nvSpPr>
          <p:cNvPr id="9" name="right-body">
            <a:extLst xmlns:a="http://schemas.openxmlformats.org/drawingml/2006/main">
              <a:ext uri="{FF2B5EF4-FFF2-40B4-BE49-F238E27FC236}">
                <a16:creationId xmlns:a16="http://schemas.microsoft.com/office/drawing/2014/main" id="{7240BC69-84FE-4C34-8BC9-A67C10B66EB9}"/>
              </a:ext>
            </a:extLst>
          </p:cNvPr>
          <p:cNvSpPr>
            <a:spLocks xmlns:a="http://schemas.openxmlformats.org/drawingml/2006/main" noGrp="1"/>
          </p:cNvSpPr>
          <p:nvPr/>
        </p:nvSpPr>
        <p:spPr>
          <a:xfrm xmlns:a="http://schemas.openxmlformats.org/drawingml/2006/main">
            <a:off x="6362700" y="3212211"/>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Every other column: room_type, zone, energy_kwh_m2_yr, and so on - ordinary pandas data describing 'what' about that location. A spatial table is just a regular table with one geometry column added.</a:t>
            </a:r>
          </a:p>
        </p:txBody>
      </p:sp>
    </p:spTree>
    <p:extLst>
      <p:ext uri="{BB962C8B-B14F-4D97-AF65-F5344CB8AC3E}">
        <p14:creationId xmlns:p14="http://schemas.microsoft.com/office/powerpoint/2010/main" val="115187083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1DAED299-914E-4143-AE35-F22B0133B76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96E4FBCB-925B-4023-9303-1541E6BF40C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plain pandas table has no geometry column yet</a:t>
            </a:r>
          </a:p>
        </p:txBody>
      </p:sp>
      <p:sp>
        <p:nvSpPr>
          <p:cNvPr id="3" name="">
            <a:extLst xmlns:a="http://schemas.openxmlformats.org/drawingml/2006/main">
              <a:ext uri="{FF2B5EF4-FFF2-40B4-BE49-F238E27FC236}">
                <a16:creationId xmlns:a16="http://schemas.microsoft.com/office/drawing/2014/main" id="{BF7F4400-226F-49FE-BC83-5AC6E9B683E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D22493D-EAF2-4ED6-844B-F792F932C2E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0C92F7E8-80D0-4855-B3CB-BC1941D7CAD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06</a:t>
            </a:r>
          </a:p>
        </p:txBody>
      </p:sp>
      <p:sp>
        <p:nvSpPr>
          <p:cNvPr id="6" name="code-panel">
            <a:extLst xmlns:a="http://schemas.openxmlformats.org/drawingml/2006/main">
              <a:ext uri="{FF2B5EF4-FFF2-40B4-BE49-F238E27FC236}">
                <a16:creationId xmlns:a16="http://schemas.microsoft.com/office/drawing/2014/main" id="{82447394-4734-4CD0-8647-753779115129}"/>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18934194-3E08-4DA6-9920-E75DB8370020}"/>
              </a:ext>
            </a:extLst>
          </p:cNvPr>
          <p:cNvSpPr>
            <a:spLocks xmlns:a="http://schemas.openxmlformats.org/drawingml/2006/main" noGrp="1"/>
          </p:cNvSpPr>
          <p:nvPr/>
        </p:nvSpPr>
        <p:spPr>
          <a:xfrm xmlns:a="http://schemas.openxmlformats.org/drawingml/2006/main">
            <a:off x="857250" y="2057400"/>
            <a:ext cx="6400800" cy="2446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import pandas as pd</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plain = pd.DataFrame({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'room_id': ['R101', 'R104'],</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'room_type': ['Lobby', 'Studio'],</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'x_m': [2.0, 2.0],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'y_m': [4.0, 22.0],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print(plain.dtypes)</a:t>
            </a:r>
          </a:p>
        </p:txBody>
      </p:sp>
      <p:sp>
        <p:nvSpPr>
          <p:cNvPr id="8" name="">
            <a:extLst xmlns:a="http://schemas.openxmlformats.org/drawingml/2006/main">
              <a:ext uri="{FF2B5EF4-FFF2-40B4-BE49-F238E27FC236}">
                <a16:creationId xmlns:a16="http://schemas.microsoft.com/office/drawing/2014/main" id="{03093583-C56B-423C-8D76-5195A6AA77C5}"/>
              </a:ext>
            </a:extLst>
          </p:cNvPr>
          <p:cNvSpPr>
            <a:spLocks xmlns:a="http://schemas.openxmlformats.org/drawingml/2006/main" noGrp="1"/>
          </p:cNvSpPr>
          <p:nvPr/>
        </p:nvSpPr>
        <p:spPr>
          <a:xfrm xmlns:a="http://schemas.openxmlformats.org/drawingml/2006/main">
            <a:off x="857250" y="4560570"/>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BF6AE4FB-470F-47E1-84D5-16013677DECB}"/>
              </a:ext>
            </a:extLst>
          </p:cNvPr>
          <p:cNvSpPr>
            <a:spLocks xmlns:a="http://schemas.openxmlformats.org/drawingml/2006/main" noGrp="1"/>
          </p:cNvSpPr>
          <p:nvPr/>
        </p:nvSpPr>
        <p:spPr>
          <a:xfrm xmlns:a="http://schemas.openxmlformats.org/drawingml/2006/main">
            <a:off x="857250" y="467487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22EC7A49-E09C-4FDE-8490-8C04A6367802}"/>
              </a:ext>
            </a:extLst>
          </p:cNvPr>
          <p:cNvSpPr>
            <a:spLocks xmlns:a="http://schemas.openxmlformats.org/drawingml/2006/main" noGrp="1"/>
          </p:cNvSpPr>
          <p:nvPr/>
        </p:nvSpPr>
        <p:spPr>
          <a:xfrm xmlns:a="http://schemas.openxmlformats.org/drawingml/2006/main">
            <a:off x="857250" y="4903470"/>
            <a:ext cx="6400800" cy="9258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room_id          str</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room_type        str</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x_m          float64</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y_m          float64</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dtype: object</a:t>
            </a:r>
          </a:p>
        </p:txBody>
      </p:sp>
      <p:sp>
        <p:nvSpPr>
          <p:cNvPr id="11" name="explain-head">
            <a:extLst xmlns:a="http://schemas.openxmlformats.org/drawingml/2006/main">
              <a:ext uri="{FF2B5EF4-FFF2-40B4-BE49-F238E27FC236}">
                <a16:creationId xmlns:a16="http://schemas.microsoft.com/office/drawing/2014/main" id="{29CE84DE-6274-4D78-92FA-8DB1D164193C}"/>
              </a:ext>
            </a:extLst>
          </p:cNvPr>
          <p:cNvSpPr>
            <a:spLocks xmlns:a="http://schemas.openxmlformats.org/drawingml/2006/main" noGrp="1"/>
          </p:cNvSpPr>
          <p:nvPr/>
        </p:nvSpPr>
        <p:spPr>
          <a:xfrm xmlns:a="http://schemas.openxmlformats.org/drawingml/2006/main">
            <a:off x="7886700" y="27908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Attributes only, so far</a:t>
            </a:r>
          </a:p>
        </p:txBody>
      </p:sp>
      <p:sp>
        <p:nvSpPr>
          <p:cNvPr id="12" name="explain-body">
            <a:extLst xmlns:a="http://schemas.openxmlformats.org/drawingml/2006/main">
              <a:ext uri="{FF2B5EF4-FFF2-40B4-BE49-F238E27FC236}">
                <a16:creationId xmlns:a16="http://schemas.microsoft.com/office/drawing/2014/main" id="{530D5E5E-D565-4478-A22D-057793462CF1}"/>
              </a:ext>
            </a:extLst>
          </p:cNvPr>
          <p:cNvSpPr>
            <a:spLocks xmlns:a="http://schemas.openxmlformats.org/drawingml/2006/main" noGrp="1"/>
          </p:cNvSpPr>
          <p:nvPr/>
        </p:nvSpPr>
        <p:spPr>
          <a:xfrm xmlns:a="http://schemas.openxmlformats.org/drawingml/2006/main">
            <a:off x="7886700" y="3288411"/>
            <a:ext cx="3695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x_m and y_m are just two float columns here - pandas has no idea they describe a location. Every dtype is a familiar Week 4 type: str or float64. Nothing here is 'spatial' yet.</a:t>
            </a:r>
          </a:p>
        </p:txBody>
      </p:sp>
    </p:spTree>
    <p:extLst>
      <p:ext uri="{BB962C8B-B14F-4D97-AF65-F5344CB8AC3E}">
        <p14:creationId xmlns:p14="http://schemas.microsoft.com/office/powerpoint/2010/main" val="12190470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E1937646-6221-43A5-B28A-407371A3230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FD8BCBC2-535E-48A4-B9B4-1B140594B48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points_from_xy turns coordinates into real geometry</a:t>
            </a:r>
          </a:p>
        </p:txBody>
      </p:sp>
      <p:sp>
        <p:nvSpPr>
          <p:cNvPr id="3" name="">
            <a:extLst xmlns:a="http://schemas.openxmlformats.org/drawingml/2006/main">
              <a:ext uri="{FF2B5EF4-FFF2-40B4-BE49-F238E27FC236}">
                <a16:creationId xmlns:a16="http://schemas.microsoft.com/office/drawing/2014/main" id="{B0262A4C-A9B9-4C45-AB44-58BDEEB7116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AB8E9C2-D113-4D71-A5D4-E5FF43751A5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283EFD01-BE42-424C-8E89-96A7D661998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07</a:t>
            </a:r>
          </a:p>
        </p:txBody>
      </p:sp>
      <p:sp>
        <p:nvSpPr>
          <p:cNvPr id="6" name="code-panel">
            <a:extLst xmlns:a="http://schemas.openxmlformats.org/drawingml/2006/main">
              <a:ext uri="{FF2B5EF4-FFF2-40B4-BE49-F238E27FC236}">
                <a16:creationId xmlns:a16="http://schemas.microsoft.com/office/drawing/2014/main" id="{1A03A73E-BA8C-45D4-AB3E-82211E58C538}"/>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D0904B21-308B-4673-80A5-683521794FB1}"/>
              </a:ext>
            </a:extLst>
          </p:cNvPr>
          <p:cNvSpPr>
            <a:spLocks xmlns:a="http://schemas.openxmlformats.org/drawingml/2006/main" noGrp="1"/>
          </p:cNvSpPr>
          <p:nvPr/>
        </p:nvSpPr>
        <p:spPr>
          <a:xfrm xmlns:a="http://schemas.openxmlformats.org/drawingml/2006/main">
            <a:off x="857250" y="2057400"/>
            <a:ext cx="6400800" cy="22722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import geopandas as gpd</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geom = gpd.points_from_xy(plain['x_m'], plain['y_m'])</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sites = gpd.GeoDataFrame(plain, geometry=geom, crs='EPSG:32618')</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print(sites.dtypes)</a:t>
            </a:r>
          </a:p>
        </p:txBody>
      </p:sp>
      <p:sp>
        <p:nvSpPr>
          <p:cNvPr id="8" name="">
            <a:extLst xmlns:a="http://schemas.openxmlformats.org/drawingml/2006/main">
              <a:ext uri="{FF2B5EF4-FFF2-40B4-BE49-F238E27FC236}">
                <a16:creationId xmlns:a16="http://schemas.microsoft.com/office/drawing/2014/main" id="{D4EC669A-E171-4412-B64E-B97B67982C28}"/>
              </a:ext>
            </a:extLst>
          </p:cNvPr>
          <p:cNvSpPr>
            <a:spLocks xmlns:a="http://schemas.openxmlformats.org/drawingml/2006/main" noGrp="1"/>
          </p:cNvSpPr>
          <p:nvPr/>
        </p:nvSpPr>
        <p:spPr>
          <a:xfrm xmlns:a="http://schemas.openxmlformats.org/drawingml/2006/main">
            <a:off x="857250" y="438683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3918E612-080C-43B0-914E-E034D230ECDD}"/>
              </a:ext>
            </a:extLst>
          </p:cNvPr>
          <p:cNvSpPr>
            <a:spLocks xmlns:a="http://schemas.openxmlformats.org/drawingml/2006/main" noGrp="1"/>
          </p:cNvSpPr>
          <p:nvPr/>
        </p:nvSpPr>
        <p:spPr>
          <a:xfrm xmlns:a="http://schemas.openxmlformats.org/drawingml/2006/main">
            <a:off x="857250" y="450113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12B1921D-FD39-4A33-8F94-0F1D759FBB20}"/>
              </a:ext>
            </a:extLst>
          </p:cNvPr>
          <p:cNvSpPr>
            <a:spLocks xmlns:a="http://schemas.openxmlformats.org/drawingml/2006/main" noGrp="1"/>
          </p:cNvSpPr>
          <p:nvPr/>
        </p:nvSpPr>
        <p:spPr>
          <a:xfrm xmlns:a="http://schemas.openxmlformats.org/drawingml/2006/main">
            <a:off x="857250" y="4729734"/>
            <a:ext cx="6400800" cy="10995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room_id           str</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room_type         str</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x_m           float64</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y_m           float64</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geometry     geometry</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dtype: object</a:t>
            </a:r>
          </a:p>
        </p:txBody>
      </p:sp>
      <p:sp>
        <p:nvSpPr>
          <p:cNvPr id="11" name="explain-head">
            <a:extLst xmlns:a="http://schemas.openxmlformats.org/drawingml/2006/main">
              <a:ext uri="{FF2B5EF4-FFF2-40B4-BE49-F238E27FC236}">
                <a16:creationId xmlns:a16="http://schemas.microsoft.com/office/drawing/2014/main" id="{807D7682-C6E8-48B6-8557-7FA4349AD919}"/>
              </a:ext>
            </a:extLst>
          </p:cNvPr>
          <p:cNvSpPr>
            <a:spLocks xmlns:a="http://schemas.openxmlformats.org/drawingml/2006/main" noGrp="1"/>
          </p:cNvSpPr>
          <p:nvPr/>
        </p:nvSpPr>
        <p:spPr>
          <a:xfrm xmlns:a="http://schemas.openxmlformats.org/drawingml/2006/main">
            <a:off x="7886700" y="25241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One new column, one new dtype</a:t>
            </a:r>
          </a:p>
        </p:txBody>
      </p:sp>
      <p:sp>
        <p:nvSpPr>
          <p:cNvPr id="12" name="explain-body">
            <a:extLst xmlns:a="http://schemas.openxmlformats.org/drawingml/2006/main">
              <a:ext uri="{FF2B5EF4-FFF2-40B4-BE49-F238E27FC236}">
                <a16:creationId xmlns:a16="http://schemas.microsoft.com/office/drawing/2014/main" id="{AA71BD64-0342-4DCD-ABAB-345FCA6EC436}"/>
              </a:ext>
            </a:extLst>
          </p:cNvPr>
          <p:cNvSpPr>
            <a:spLocks xmlns:a="http://schemas.openxmlformats.org/drawingml/2006/main" noGrp="1"/>
          </p:cNvSpPr>
          <p:nvPr/>
        </p:nvSpPr>
        <p:spPr>
          <a:xfrm xmlns:a="http://schemas.openxmlformats.org/drawingml/2006/main">
            <a:off x="7886700" y="3309747"/>
            <a:ext cx="36957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gpd.points_from_xy(x, y) builds a Point geometry object per row from two plain columns. The result carries a geometry dtype - geopandas now understands these rows as locations, not just numbers. crs tells it which coordinate system those x_m/y_m numbers are already in.</a:t>
            </a:r>
          </a:p>
        </p:txBody>
      </p:sp>
    </p:spTree>
    <p:extLst>
      <p:ext uri="{BB962C8B-B14F-4D97-AF65-F5344CB8AC3E}">
        <p14:creationId xmlns:p14="http://schemas.microsoft.com/office/powerpoint/2010/main" val="149700036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D74FA76D-ACAF-4338-9881-39B49511B44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366C3B48-7CB1-4883-A230-DD2A2380BBC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GeoDataFrame, defined</a:t>
            </a:r>
          </a:p>
        </p:txBody>
      </p:sp>
      <p:sp>
        <p:nvSpPr>
          <p:cNvPr id="3" name="">
            <a:extLst xmlns:a="http://schemas.openxmlformats.org/drawingml/2006/main">
              <a:ext uri="{FF2B5EF4-FFF2-40B4-BE49-F238E27FC236}">
                <a16:creationId xmlns:a16="http://schemas.microsoft.com/office/drawing/2014/main" id="{74507331-9BA5-4BB3-997E-D0F697982F0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B14EBBD-EE53-4619-8D29-65751041F40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6D7412AD-5B2E-4926-A7B9-7925C33A508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08</a:t>
            </a:r>
          </a:p>
        </p:txBody>
      </p:sp>
      <p:sp>
        <p:nvSpPr>
          <p:cNvPr id="6" name="term-label">
            <a:extLst xmlns:a="http://schemas.openxmlformats.org/drawingml/2006/main">
              <a:ext uri="{FF2B5EF4-FFF2-40B4-BE49-F238E27FC236}">
                <a16:creationId xmlns:a16="http://schemas.microsoft.com/office/drawing/2014/main" id="{A2B48F42-755B-4ED5-BDB6-566CD6F5614B}"/>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242A8BF9-8678-4AC2-AB35-E626432D2DF6}"/>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GeoDataFrame</a:t>
            </a:r>
          </a:p>
        </p:txBody>
      </p:sp>
      <p:sp>
        <p:nvSpPr>
          <p:cNvPr id="8" name="">
            <a:extLst xmlns:a="http://schemas.openxmlformats.org/drawingml/2006/main">
              <a:ext uri="{FF2B5EF4-FFF2-40B4-BE49-F238E27FC236}">
                <a16:creationId xmlns:a16="http://schemas.microsoft.com/office/drawing/2014/main" id="{048BD8D1-08AD-4446-BAEF-B1ABAA5EDD26}"/>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1BBE5364-3473-41D3-8291-690E481A9A5A}"/>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pandas DataFrame with one extra column (geometry) holding shapely geometry objects, plus a coordinate reference system recording what those coordinates mean -- defined precisely a few slides from now. Everything you already know about DataFrames -- columns, dtypes, filtering, groupby, merge -- still works.</a:t>
            </a:r>
          </a:p>
        </p:txBody>
      </p:sp>
      <p:sp>
        <p:nvSpPr>
          <p:cNvPr id="10" name="example-panel">
            <a:extLst xmlns:a="http://schemas.openxmlformats.org/drawingml/2006/main">
              <a:ext uri="{FF2B5EF4-FFF2-40B4-BE49-F238E27FC236}">
                <a16:creationId xmlns:a16="http://schemas.microsoft.com/office/drawing/2014/main" id="{EAB3E5F2-95D1-412F-BA9F-00A9EDCC2E05}"/>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16819BCB-5DAA-4E75-A766-D61817976AC4}"/>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B2ED0F93-2F00-4EFC-A554-9D9E5B5648E1}"/>
              </a:ext>
            </a:extLst>
          </p:cNvPr>
          <p:cNvSpPr>
            <a:spLocks xmlns:a="http://schemas.openxmlformats.org/drawingml/2006/main" noGrp="1"/>
          </p:cNvSpPr>
          <p:nvPr/>
        </p:nvSpPr>
        <p:spPr>
          <a:xfrm xmlns:a="http://schemas.openxmlformats.org/drawingml/2006/main">
            <a:off x="6972300" y="2286000"/>
            <a:ext cx="438150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gpd.GeoDataFrame(plain, geometry=..., crs=...)</a:t>
            </a:r>
          </a:p>
        </p:txBody>
      </p:sp>
      <p:sp>
        <p:nvSpPr>
          <p:cNvPr id="13" name="example-body">
            <a:extLst xmlns:a="http://schemas.openxmlformats.org/drawingml/2006/main">
              <a:ext uri="{FF2B5EF4-FFF2-40B4-BE49-F238E27FC236}">
                <a16:creationId xmlns:a16="http://schemas.microsoft.com/office/drawing/2014/main" id="{C5A1A9C7-FD8F-467F-873C-2AD524014BD1}"/>
              </a:ext>
            </a:extLst>
          </p:cNvPr>
          <p:cNvSpPr>
            <a:spLocks xmlns:a="http://schemas.openxmlformats.org/drawingml/2006/main" noGrp="1"/>
          </p:cNvSpPr>
          <p:nvPr/>
        </p:nvSpPr>
        <p:spPr>
          <a:xfrm xmlns:a="http://schemas.openxmlformats.org/drawingml/2006/main">
            <a:off x="6972300" y="2951226"/>
            <a:ext cx="4381500" cy="19827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Build one from a plain DataFrame plus a geometry column and a crs argument, exactly as the previous slide just did -- or load one directly with gpd.read_file(). GeoPandas adds exactly two things on top of pandas: a geometry column and a CRS.</a:t>
            </a:r>
          </a:p>
        </p:txBody>
      </p:sp>
      <p:sp>
        <p:nvSpPr>
          <p:cNvPr id="14" name="note-bar">
            <a:extLst xmlns:a="http://schemas.openxmlformats.org/drawingml/2006/main">
              <a:ext uri="{FF2B5EF4-FFF2-40B4-BE49-F238E27FC236}">
                <a16:creationId xmlns:a16="http://schemas.microsoft.com/office/drawing/2014/main" id="{5EE6DF7C-B0D6-4841-B18D-7BDDAC2FA8B6}"/>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764AEC2B-7729-4302-B0E9-3F0FA21F5E9A}"/>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D4DB1B05-E8B3-4441-9FD9-A978F2CC19A9}"/>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GeoPandas is not a new library to learn from scratch -- it is pandas plus a geometry column and a CRS. Today is about using both correctly.</a:t>
            </a:r>
          </a:p>
        </p:txBody>
      </p:sp>
    </p:spTree>
    <p:extLst>
      <p:ext uri="{BB962C8B-B14F-4D97-AF65-F5344CB8AC3E}">
        <p14:creationId xmlns:p14="http://schemas.microsoft.com/office/powerpoint/2010/main" val="10865752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kicker">
            <a:extLst xmlns:a="http://schemas.openxmlformats.org/drawingml/2006/main">
              <a:ext uri="{FF2B5EF4-FFF2-40B4-BE49-F238E27FC236}">
                <a16:creationId xmlns:a16="http://schemas.microsoft.com/office/drawing/2014/main" id="{2D68C21E-E3AF-49B7-ADCD-0B011F770A7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1C2E3E2D-8C73-4D6A-96AF-EEBA245D104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Point, line, and polygon answer different design questions</a:t>
            </a:r>
          </a:p>
        </p:txBody>
      </p:sp>
      <p:sp>
        <p:nvSpPr>
          <p:cNvPr id="3" name="">
            <a:extLst xmlns:a="http://schemas.openxmlformats.org/drawingml/2006/main">
              <a:ext uri="{FF2B5EF4-FFF2-40B4-BE49-F238E27FC236}">
                <a16:creationId xmlns:a16="http://schemas.microsoft.com/office/drawing/2014/main" id="{87109B75-6E47-4C8C-9CA1-BF35E91D7E0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C2E052B-B2F7-48F4-BBF1-9CF47C49D01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7818A74A-6E2C-4E90-A31A-FDECDD4F07D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F04F72A1-F8FB-4B15-A3E2-ACF7000DA1F8}"/>
              </a:ext>
            </a:extLst>
          </p:cNvPr>
          <p:cNvSpPr>
            <a:spLocks xmlns:a="http://schemas.openxmlformats.org/drawingml/2006/main" noGrp="1"/>
          </p:cNvSpPr>
          <p:nvPr/>
        </p:nvSpPr>
        <p:spPr>
          <a:xfrm xmlns:a="http://schemas.openxmlformats.org/drawingml/2006/main">
            <a:off x="609600" y="2695575"/>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379AA8B9-255B-4FB9-B1BF-58CC20DBEF03}"/>
              </a:ext>
            </a:extLst>
          </p:cNvPr>
          <p:cNvSpPr>
            <a:spLocks xmlns:a="http://schemas.openxmlformats.org/drawingml/2006/main" noGrp="1"/>
          </p:cNvSpPr>
          <p:nvPr/>
        </p:nvSpPr>
        <p:spPr>
          <a:xfrm xmlns:a="http://schemas.openxmlformats.org/drawingml/2006/main">
            <a:off x="723900" y="277177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geometry type</a:t>
            </a:r>
          </a:p>
        </p:txBody>
      </p:sp>
      <p:sp>
        <p:nvSpPr>
          <p:cNvPr id="8" name="">
            <a:extLst xmlns:a="http://schemas.openxmlformats.org/drawingml/2006/main">
              <a:ext uri="{FF2B5EF4-FFF2-40B4-BE49-F238E27FC236}">
                <a16:creationId xmlns:a16="http://schemas.microsoft.com/office/drawing/2014/main" id="{C1BAD79C-5150-4C63-9AEA-9D4355E987A5}"/>
              </a:ext>
            </a:extLst>
          </p:cNvPr>
          <p:cNvSpPr>
            <a:spLocks xmlns:a="http://schemas.openxmlformats.org/drawingml/2006/main" noGrp="1"/>
          </p:cNvSpPr>
          <p:nvPr/>
        </p:nvSpPr>
        <p:spPr>
          <a:xfrm xmlns:a="http://schemas.openxmlformats.org/drawingml/2006/main">
            <a:off x="3086100" y="2695575"/>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140CA2AB-8C9E-4A76-B4E5-E48257301E11}"/>
              </a:ext>
            </a:extLst>
          </p:cNvPr>
          <p:cNvSpPr>
            <a:spLocks xmlns:a="http://schemas.openxmlformats.org/drawingml/2006/main" noGrp="1"/>
          </p:cNvSpPr>
          <p:nvPr/>
        </p:nvSpPr>
        <p:spPr>
          <a:xfrm xmlns:a="http://schemas.openxmlformats.org/drawingml/2006/main">
            <a:off x="3200400" y="277177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stores</a:t>
            </a:r>
          </a:p>
        </p:txBody>
      </p:sp>
      <p:sp>
        <p:nvSpPr>
          <p:cNvPr id="10" name="">
            <a:extLst xmlns:a="http://schemas.openxmlformats.org/drawingml/2006/main">
              <a:ext uri="{FF2B5EF4-FFF2-40B4-BE49-F238E27FC236}">
                <a16:creationId xmlns:a16="http://schemas.microsoft.com/office/drawing/2014/main" id="{5C09129F-50FD-432F-8B94-B8FC3E186122}"/>
              </a:ext>
            </a:extLst>
          </p:cNvPr>
          <p:cNvSpPr>
            <a:spLocks xmlns:a="http://schemas.openxmlformats.org/drawingml/2006/main" noGrp="1"/>
          </p:cNvSpPr>
          <p:nvPr/>
        </p:nvSpPr>
        <p:spPr>
          <a:xfrm xmlns:a="http://schemas.openxmlformats.org/drawingml/2006/main">
            <a:off x="5562600" y="2695575"/>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054B4822-B328-4FE2-A76E-D4D82979A5C9}"/>
              </a:ext>
            </a:extLst>
          </p:cNvPr>
          <p:cNvSpPr>
            <a:spLocks xmlns:a="http://schemas.openxmlformats.org/drawingml/2006/main" noGrp="1"/>
          </p:cNvSpPr>
          <p:nvPr/>
        </p:nvSpPr>
        <p:spPr>
          <a:xfrm xmlns:a="http://schemas.openxmlformats.org/drawingml/2006/main">
            <a:off x="5676900" y="277177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architectural example</a:t>
            </a:r>
          </a:p>
        </p:txBody>
      </p:sp>
      <p:sp>
        <p:nvSpPr>
          <p:cNvPr id="12" name="">
            <a:extLst xmlns:a="http://schemas.openxmlformats.org/drawingml/2006/main">
              <a:ext uri="{FF2B5EF4-FFF2-40B4-BE49-F238E27FC236}">
                <a16:creationId xmlns:a16="http://schemas.microsoft.com/office/drawing/2014/main" id="{B6BB078B-C8E9-4B17-B6A0-9E37758C9751}"/>
              </a:ext>
            </a:extLst>
          </p:cNvPr>
          <p:cNvSpPr>
            <a:spLocks xmlns:a="http://schemas.openxmlformats.org/drawingml/2006/main" noGrp="1"/>
          </p:cNvSpPr>
          <p:nvPr/>
        </p:nvSpPr>
        <p:spPr>
          <a:xfrm xmlns:a="http://schemas.openxmlformats.org/drawingml/2006/main">
            <a:off x="609600" y="322897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3" name="cell-0-0">
            <a:extLst xmlns:a="http://schemas.openxmlformats.org/drawingml/2006/main">
              <a:ext uri="{FF2B5EF4-FFF2-40B4-BE49-F238E27FC236}">
                <a16:creationId xmlns:a16="http://schemas.microsoft.com/office/drawing/2014/main" id="{962B8B25-C5B5-446F-9CCC-766203A9EFC8}"/>
              </a:ext>
            </a:extLst>
          </p:cNvPr>
          <p:cNvSpPr>
            <a:spLocks xmlns:a="http://schemas.openxmlformats.org/drawingml/2006/main" noGrp="1"/>
          </p:cNvSpPr>
          <p:nvPr/>
        </p:nvSpPr>
        <p:spPr>
          <a:xfrm xmlns:a="http://schemas.openxmlformats.org/drawingml/2006/main">
            <a:off x="723900" y="330517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Point</a:t>
            </a:r>
          </a:p>
        </p:txBody>
      </p:sp>
      <p:sp>
        <p:nvSpPr>
          <p:cNvPr id="14" name="">
            <a:extLst xmlns:a="http://schemas.openxmlformats.org/drawingml/2006/main">
              <a:ext uri="{FF2B5EF4-FFF2-40B4-BE49-F238E27FC236}">
                <a16:creationId xmlns:a16="http://schemas.microsoft.com/office/drawing/2014/main" id="{71CDEA93-EBAD-4A19-8177-204913B3963E}"/>
              </a:ext>
            </a:extLst>
          </p:cNvPr>
          <p:cNvSpPr>
            <a:spLocks xmlns:a="http://schemas.openxmlformats.org/drawingml/2006/main" noGrp="1"/>
          </p:cNvSpPr>
          <p:nvPr/>
        </p:nvSpPr>
        <p:spPr>
          <a:xfrm xmlns:a="http://schemas.openxmlformats.org/drawingml/2006/main">
            <a:off x="3086100" y="322897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1">
            <a:extLst xmlns:a="http://schemas.openxmlformats.org/drawingml/2006/main">
              <a:ext uri="{FF2B5EF4-FFF2-40B4-BE49-F238E27FC236}">
                <a16:creationId xmlns:a16="http://schemas.microsoft.com/office/drawing/2014/main" id="{3D9A537F-7576-4A8D-B3CD-A47FCBB842E8}"/>
              </a:ext>
            </a:extLst>
          </p:cNvPr>
          <p:cNvSpPr>
            <a:spLocks xmlns:a="http://schemas.openxmlformats.org/drawingml/2006/main" noGrp="1"/>
          </p:cNvSpPr>
          <p:nvPr/>
        </p:nvSpPr>
        <p:spPr>
          <a:xfrm xmlns:a="http://schemas.openxmlformats.org/drawingml/2006/main">
            <a:off x="3200400" y="330517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one x, y location</a:t>
            </a:r>
          </a:p>
        </p:txBody>
      </p:sp>
      <p:sp>
        <p:nvSpPr>
          <p:cNvPr id="16" name="">
            <a:extLst xmlns:a="http://schemas.openxmlformats.org/drawingml/2006/main">
              <a:ext uri="{FF2B5EF4-FFF2-40B4-BE49-F238E27FC236}">
                <a16:creationId xmlns:a16="http://schemas.microsoft.com/office/drawing/2014/main" id="{6F5583C5-6E12-4CD7-9A40-87E5668ECB24}"/>
              </a:ext>
            </a:extLst>
          </p:cNvPr>
          <p:cNvSpPr>
            <a:spLocks xmlns:a="http://schemas.openxmlformats.org/drawingml/2006/main" noGrp="1"/>
          </p:cNvSpPr>
          <p:nvPr/>
        </p:nvSpPr>
        <p:spPr>
          <a:xfrm xmlns:a="http://schemas.openxmlformats.org/drawingml/2006/main">
            <a:off x="5562600" y="322897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2">
            <a:extLst xmlns:a="http://schemas.openxmlformats.org/drawingml/2006/main">
              <a:ext uri="{FF2B5EF4-FFF2-40B4-BE49-F238E27FC236}">
                <a16:creationId xmlns:a16="http://schemas.microsoft.com/office/drawing/2014/main" id="{6F25E316-2FC9-424E-A38C-A4168227B56A}"/>
              </a:ext>
            </a:extLst>
          </p:cNvPr>
          <p:cNvSpPr>
            <a:spLocks xmlns:a="http://schemas.openxmlformats.org/drawingml/2006/main" noGrp="1"/>
          </p:cNvSpPr>
          <p:nvPr/>
        </p:nvSpPr>
        <p:spPr>
          <a:xfrm xmlns:a="http://schemas.openxmlformats.org/drawingml/2006/main">
            <a:off x="5676900" y="330517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 site marker, a sensor, a room centroid</a:t>
            </a:r>
          </a:p>
        </p:txBody>
      </p:sp>
      <p:sp>
        <p:nvSpPr>
          <p:cNvPr id="18" name="">
            <a:extLst xmlns:a="http://schemas.openxmlformats.org/drawingml/2006/main">
              <a:ext uri="{FF2B5EF4-FFF2-40B4-BE49-F238E27FC236}">
                <a16:creationId xmlns:a16="http://schemas.microsoft.com/office/drawing/2014/main" id="{C5033AE3-C3C5-4BF3-BC55-600B09CC2B67}"/>
              </a:ext>
            </a:extLst>
          </p:cNvPr>
          <p:cNvSpPr>
            <a:spLocks xmlns:a="http://schemas.openxmlformats.org/drawingml/2006/main" noGrp="1"/>
          </p:cNvSpPr>
          <p:nvPr/>
        </p:nvSpPr>
        <p:spPr>
          <a:xfrm xmlns:a="http://schemas.openxmlformats.org/drawingml/2006/main">
            <a:off x="609600" y="3769995"/>
            <a:ext cx="2476500"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9" name="cell-1-0">
            <a:extLst xmlns:a="http://schemas.openxmlformats.org/drawingml/2006/main">
              <a:ext uri="{FF2B5EF4-FFF2-40B4-BE49-F238E27FC236}">
                <a16:creationId xmlns:a16="http://schemas.microsoft.com/office/drawing/2014/main" id="{01CCFB75-A737-4546-B6F0-B9DC37566486}"/>
              </a:ext>
            </a:extLst>
          </p:cNvPr>
          <p:cNvSpPr>
            <a:spLocks xmlns:a="http://schemas.openxmlformats.org/drawingml/2006/main" noGrp="1"/>
          </p:cNvSpPr>
          <p:nvPr/>
        </p:nvSpPr>
        <p:spPr>
          <a:xfrm xmlns:a="http://schemas.openxmlformats.org/drawingml/2006/main">
            <a:off x="723900" y="3846195"/>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LineString</a:t>
            </a:r>
          </a:p>
        </p:txBody>
      </p:sp>
      <p:sp>
        <p:nvSpPr>
          <p:cNvPr id="20" name="">
            <a:extLst xmlns:a="http://schemas.openxmlformats.org/drawingml/2006/main">
              <a:ext uri="{FF2B5EF4-FFF2-40B4-BE49-F238E27FC236}">
                <a16:creationId xmlns:a16="http://schemas.microsoft.com/office/drawing/2014/main" id="{54587E27-19D7-4E04-888F-5E0C53490E19}"/>
              </a:ext>
            </a:extLst>
          </p:cNvPr>
          <p:cNvSpPr>
            <a:spLocks xmlns:a="http://schemas.openxmlformats.org/drawingml/2006/main" noGrp="1"/>
          </p:cNvSpPr>
          <p:nvPr/>
        </p:nvSpPr>
        <p:spPr>
          <a:xfrm xmlns:a="http://schemas.openxmlformats.org/drawingml/2006/main">
            <a:off x="3086100" y="3769995"/>
            <a:ext cx="2476500"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1" name="cell-1-1">
            <a:extLst xmlns:a="http://schemas.openxmlformats.org/drawingml/2006/main">
              <a:ext uri="{FF2B5EF4-FFF2-40B4-BE49-F238E27FC236}">
                <a16:creationId xmlns:a16="http://schemas.microsoft.com/office/drawing/2014/main" id="{5671624D-13C4-439E-AFB8-D18A133EF143}"/>
              </a:ext>
            </a:extLst>
          </p:cNvPr>
          <p:cNvSpPr>
            <a:spLocks xmlns:a="http://schemas.openxmlformats.org/drawingml/2006/main" noGrp="1"/>
          </p:cNvSpPr>
          <p:nvPr/>
        </p:nvSpPr>
        <p:spPr>
          <a:xfrm xmlns:a="http://schemas.openxmlformats.org/drawingml/2006/main">
            <a:off x="3200400" y="3846195"/>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an ordered sequence of connected points</a:t>
            </a:r>
          </a:p>
        </p:txBody>
      </p:sp>
      <p:sp>
        <p:nvSpPr>
          <p:cNvPr id="22" name="">
            <a:extLst xmlns:a="http://schemas.openxmlformats.org/drawingml/2006/main">
              <a:ext uri="{FF2B5EF4-FFF2-40B4-BE49-F238E27FC236}">
                <a16:creationId xmlns:a16="http://schemas.microsoft.com/office/drawing/2014/main" id="{6BF829AE-DA6F-4076-A9DB-9C8BA6E1C084}"/>
              </a:ext>
            </a:extLst>
          </p:cNvPr>
          <p:cNvSpPr>
            <a:spLocks xmlns:a="http://schemas.openxmlformats.org/drawingml/2006/main" noGrp="1"/>
          </p:cNvSpPr>
          <p:nvPr/>
        </p:nvSpPr>
        <p:spPr>
          <a:xfrm xmlns:a="http://schemas.openxmlformats.org/drawingml/2006/main">
            <a:off x="5562600" y="3769995"/>
            <a:ext cx="2476500"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2">
            <a:extLst xmlns:a="http://schemas.openxmlformats.org/drawingml/2006/main">
              <a:ext uri="{FF2B5EF4-FFF2-40B4-BE49-F238E27FC236}">
                <a16:creationId xmlns:a16="http://schemas.microsoft.com/office/drawing/2014/main" id="{F15E0774-0FA6-477E-AD5B-A36241466398}"/>
              </a:ext>
            </a:extLst>
          </p:cNvPr>
          <p:cNvSpPr>
            <a:spLocks xmlns:a="http://schemas.openxmlformats.org/drawingml/2006/main" noGrp="1"/>
          </p:cNvSpPr>
          <p:nvPr/>
        </p:nvSpPr>
        <p:spPr>
          <a:xfrm xmlns:a="http://schemas.openxmlformats.org/drawingml/2006/main">
            <a:off x="5676900" y="3846195"/>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 circulation path, a property line, a utility run</a:t>
            </a:r>
          </a:p>
        </p:txBody>
      </p:sp>
      <p:sp>
        <p:nvSpPr>
          <p:cNvPr id="24" name="">
            <a:extLst xmlns:a="http://schemas.openxmlformats.org/drawingml/2006/main">
              <a:ext uri="{FF2B5EF4-FFF2-40B4-BE49-F238E27FC236}">
                <a16:creationId xmlns:a16="http://schemas.microsoft.com/office/drawing/2014/main" id="{C20057DA-A6BB-462A-9340-F3A479935748}"/>
              </a:ext>
            </a:extLst>
          </p:cNvPr>
          <p:cNvSpPr>
            <a:spLocks xmlns:a="http://schemas.openxmlformats.org/drawingml/2006/main" noGrp="1"/>
          </p:cNvSpPr>
          <p:nvPr/>
        </p:nvSpPr>
        <p:spPr>
          <a:xfrm xmlns:a="http://schemas.openxmlformats.org/drawingml/2006/main">
            <a:off x="609600" y="4505325"/>
            <a:ext cx="247650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5" name="cell-2-0">
            <a:extLst xmlns:a="http://schemas.openxmlformats.org/drawingml/2006/main">
              <a:ext uri="{FF2B5EF4-FFF2-40B4-BE49-F238E27FC236}">
                <a16:creationId xmlns:a16="http://schemas.microsoft.com/office/drawing/2014/main" id="{C2DB61D9-75FA-4284-A976-6826C0532123}"/>
              </a:ext>
            </a:extLst>
          </p:cNvPr>
          <p:cNvSpPr>
            <a:spLocks xmlns:a="http://schemas.openxmlformats.org/drawingml/2006/main" noGrp="1"/>
          </p:cNvSpPr>
          <p:nvPr/>
        </p:nvSpPr>
        <p:spPr>
          <a:xfrm xmlns:a="http://schemas.openxmlformats.org/drawingml/2006/main">
            <a:off x="723900" y="4581525"/>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Polygon</a:t>
            </a:r>
          </a:p>
        </p:txBody>
      </p:sp>
      <p:sp>
        <p:nvSpPr>
          <p:cNvPr id="26" name="">
            <a:extLst xmlns:a="http://schemas.openxmlformats.org/drawingml/2006/main">
              <a:ext uri="{FF2B5EF4-FFF2-40B4-BE49-F238E27FC236}">
                <a16:creationId xmlns:a16="http://schemas.microsoft.com/office/drawing/2014/main" id="{D48915C0-CD7D-4F49-BF6A-640792DC25D6}"/>
              </a:ext>
            </a:extLst>
          </p:cNvPr>
          <p:cNvSpPr>
            <a:spLocks xmlns:a="http://schemas.openxmlformats.org/drawingml/2006/main" noGrp="1"/>
          </p:cNvSpPr>
          <p:nvPr/>
        </p:nvSpPr>
        <p:spPr>
          <a:xfrm xmlns:a="http://schemas.openxmlformats.org/drawingml/2006/main">
            <a:off x="3086100" y="4505325"/>
            <a:ext cx="247650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7" name="cell-2-1">
            <a:extLst xmlns:a="http://schemas.openxmlformats.org/drawingml/2006/main">
              <a:ext uri="{FF2B5EF4-FFF2-40B4-BE49-F238E27FC236}">
                <a16:creationId xmlns:a16="http://schemas.microsoft.com/office/drawing/2014/main" id="{2F4CD015-F726-4E66-ADDD-4624678636A1}"/>
              </a:ext>
            </a:extLst>
          </p:cNvPr>
          <p:cNvSpPr>
            <a:spLocks xmlns:a="http://schemas.openxmlformats.org/drawingml/2006/main" noGrp="1"/>
          </p:cNvSpPr>
          <p:nvPr/>
        </p:nvSpPr>
        <p:spPr>
          <a:xfrm xmlns:a="http://schemas.openxmlformats.org/drawingml/2006/main">
            <a:off x="3200400" y="4581525"/>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 closed boundary enclosing an area</a:t>
            </a:r>
          </a:p>
        </p:txBody>
      </p:sp>
      <p:sp>
        <p:nvSpPr>
          <p:cNvPr id="28" name="">
            <a:extLst xmlns:a="http://schemas.openxmlformats.org/drawingml/2006/main">
              <a:ext uri="{FF2B5EF4-FFF2-40B4-BE49-F238E27FC236}">
                <a16:creationId xmlns:a16="http://schemas.microsoft.com/office/drawing/2014/main" id="{AB399C33-F52F-4756-8306-64AA023AB6CC}"/>
              </a:ext>
            </a:extLst>
          </p:cNvPr>
          <p:cNvSpPr>
            <a:spLocks xmlns:a="http://schemas.openxmlformats.org/drawingml/2006/main" noGrp="1"/>
          </p:cNvSpPr>
          <p:nvPr/>
        </p:nvSpPr>
        <p:spPr>
          <a:xfrm xmlns:a="http://schemas.openxmlformats.org/drawingml/2006/main">
            <a:off x="5562600" y="4505325"/>
            <a:ext cx="247650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9" name="cell-2-2">
            <a:extLst xmlns:a="http://schemas.openxmlformats.org/drawingml/2006/main">
              <a:ext uri="{FF2B5EF4-FFF2-40B4-BE49-F238E27FC236}">
                <a16:creationId xmlns:a16="http://schemas.microsoft.com/office/drawing/2014/main" id="{F8D9C786-8E2D-40AA-9EEA-7A404D4E4384}"/>
              </a:ext>
            </a:extLst>
          </p:cNvPr>
          <p:cNvSpPr>
            <a:spLocks xmlns:a="http://schemas.openxmlformats.org/drawingml/2006/main" noGrp="1"/>
          </p:cNvSpPr>
          <p:nvPr/>
        </p:nvSpPr>
        <p:spPr>
          <a:xfrm xmlns:a="http://schemas.openxmlformats.org/drawingml/2006/main">
            <a:off x="5676900" y="4581525"/>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 zone footprint, a building outline, a room outline</a:t>
            </a:r>
          </a:p>
        </p:txBody>
      </p:sp>
      <p:sp>
        <p:nvSpPr>
          <p:cNvPr id="30" name="callout-label">
            <a:extLst xmlns:a="http://schemas.openxmlformats.org/drawingml/2006/main">
              <a:ext uri="{FF2B5EF4-FFF2-40B4-BE49-F238E27FC236}">
                <a16:creationId xmlns:a16="http://schemas.microsoft.com/office/drawing/2014/main" id="{B5881DA4-A8C3-46C4-A6C5-E433511438C7}"/>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1" name="callout">
            <a:extLst xmlns:a="http://schemas.openxmlformats.org/drawingml/2006/main">
              <a:ext uri="{FF2B5EF4-FFF2-40B4-BE49-F238E27FC236}">
                <a16:creationId xmlns:a16="http://schemas.microsoft.com/office/drawing/2014/main" id="{E63049B6-0E41-44E3-9E3D-8BBE2227E2FD}"/>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Choose the geometry type the design question actually needs - a distance question wants a line; an area question wants a polygon.</a:t>
            </a:r>
          </a:p>
        </p:txBody>
      </p:sp>
    </p:spTree>
    <p:extLst>
      <p:ext uri="{BB962C8B-B14F-4D97-AF65-F5344CB8AC3E}">
        <p14:creationId xmlns:p14="http://schemas.microsoft.com/office/powerpoint/2010/main" val="12669213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ADE44BFB-3D71-48BF-8F97-F7B3C20B4DF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5F31C77E-668E-4154-B3D9-589069435D8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Point, line, and polygon are shapely objects with real properties</a:t>
            </a:r>
          </a:p>
        </p:txBody>
      </p:sp>
      <p:sp>
        <p:nvSpPr>
          <p:cNvPr id="3" name="">
            <a:extLst xmlns:a="http://schemas.openxmlformats.org/drawingml/2006/main">
              <a:ext uri="{FF2B5EF4-FFF2-40B4-BE49-F238E27FC236}">
                <a16:creationId xmlns:a16="http://schemas.microsoft.com/office/drawing/2014/main" id="{2882F019-451C-4005-A70F-530C3B9403A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DFE2264-34CF-45F8-81CF-1F2DD93F3D1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6938345B-AC3A-4B9A-AF63-D0C20891ED3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10</a:t>
            </a:r>
          </a:p>
        </p:txBody>
      </p:sp>
      <p:sp>
        <p:nvSpPr>
          <p:cNvPr id="6" name="code-panel">
            <a:extLst xmlns:a="http://schemas.openxmlformats.org/drawingml/2006/main">
              <a:ext uri="{FF2B5EF4-FFF2-40B4-BE49-F238E27FC236}">
                <a16:creationId xmlns:a16="http://schemas.microsoft.com/office/drawing/2014/main" id="{38974720-19EF-45AB-B65A-E8C9B6813E31}"/>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C27B45FB-B385-4012-96DC-C11A220FA1D8}"/>
              </a:ext>
            </a:extLst>
          </p:cNvPr>
          <p:cNvSpPr>
            <a:spLocks xmlns:a="http://schemas.openxmlformats.org/drawingml/2006/main" noGrp="1"/>
          </p:cNvSpPr>
          <p:nvPr/>
        </p:nvSpPr>
        <p:spPr>
          <a:xfrm xmlns:a="http://schemas.openxmlformats.org/drawingml/2006/main">
            <a:off x="857250" y="2057400"/>
            <a:ext cx="6400800" cy="27934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from shapely.geometry import Point, LineString, Polygon</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site_marker = Point(2.0, 4.0)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egress_path = LineString([(2,4), (2,22), (18,22)])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zone_footprint = Polygon([(0,0), (24,0), (24,10), (0,10)])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print(site_marker.geom_type, site_marker)</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print(egress_path.geom_type, 'length:', egress_path.length)</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print(zone_footprint.geom_type, 'area:', zone_footprint.area)</a:t>
            </a:r>
          </a:p>
        </p:txBody>
      </p:sp>
      <p:sp>
        <p:nvSpPr>
          <p:cNvPr id="8" name="">
            <a:extLst xmlns:a="http://schemas.openxmlformats.org/drawingml/2006/main">
              <a:ext uri="{FF2B5EF4-FFF2-40B4-BE49-F238E27FC236}">
                <a16:creationId xmlns:a16="http://schemas.microsoft.com/office/drawing/2014/main" id="{78E584CE-B2A8-4179-942F-01E15417C736}"/>
              </a:ext>
            </a:extLst>
          </p:cNvPr>
          <p:cNvSpPr>
            <a:spLocks xmlns:a="http://schemas.openxmlformats.org/drawingml/2006/main" noGrp="1"/>
          </p:cNvSpPr>
          <p:nvPr/>
        </p:nvSpPr>
        <p:spPr>
          <a:xfrm xmlns:a="http://schemas.openxmlformats.org/drawingml/2006/main">
            <a:off x="857250" y="4908042"/>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B6F8D5A9-6A17-40C6-8274-D69E2FECB438}"/>
              </a:ext>
            </a:extLst>
          </p:cNvPr>
          <p:cNvSpPr>
            <a:spLocks xmlns:a="http://schemas.openxmlformats.org/drawingml/2006/main" noGrp="1"/>
          </p:cNvSpPr>
          <p:nvPr/>
        </p:nvSpPr>
        <p:spPr>
          <a:xfrm xmlns:a="http://schemas.openxmlformats.org/drawingml/2006/main">
            <a:off x="857250" y="5022342"/>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1D1B5ECB-B838-46F2-8EE5-73312059295B}"/>
              </a:ext>
            </a:extLst>
          </p:cNvPr>
          <p:cNvSpPr>
            <a:spLocks xmlns:a="http://schemas.openxmlformats.org/drawingml/2006/main" noGrp="1"/>
          </p:cNvSpPr>
          <p:nvPr/>
        </p:nvSpPr>
        <p:spPr>
          <a:xfrm xmlns:a="http://schemas.openxmlformats.org/drawingml/2006/main">
            <a:off x="857250" y="5250942"/>
            <a:ext cx="6400800" cy="578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Point POINT (2 4)</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LineString length: 34.0</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Polygon area: 240.0</a:t>
            </a:r>
          </a:p>
        </p:txBody>
      </p:sp>
      <p:sp>
        <p:nvSpPr>
          <p:cNvPr id="11" name="explain-head">
            <a:extLst xmlns:a="http://schemas.openxmlformats.org/drawingml/2006/main">
              <a:ext uri="{FF2B5EF4-FFF2-40B4-BE49-F238E27FC236}">
                <a16:creationId xmlns:a16="http://schemas.microsoft.com/office/drawing/2014/main" id="{FCD1D691-583F-4ABE-BB79-D86D2C67C414}"/>
              </a:ext>
            </a:extLst>
          </p:cNvPr>
          <p:cNvSpPr>
            <a:spLocks xmlns:a="http://schemas.openxmlformats.org/drawingml/2006/main" noGrp="1"/>
          </p:cNvSpPr>
          <p:nvPr/>
        </p:nvSpPr>
        <p:spPr>
          <a:xfrm xmlns:a="http://schemas.openxmlformats.org/drawingml/2006/main">
            <a:off x="7886700" y="24479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Coordinates already in meters here</a:t>
            </a:r>
          </a:p>
        </p:txBody>
      </p:sp>
      <p:sp>
        <p:nvSpPr>
          <p:cNvPr id="12" name="explain-body">
            <a:extLst xmlns:a="http://schemas.openxmlformats.org/drawingml/2006/main">
              <a:ext uri="{FF2B5EF4-FFF2-40B4-BE49-F238E27FC236}">
                <a16:creationId xmlns:a16="http://schemas.microsoft.com/office/drawing/2014/main" id="{45F22DD5-60D1-4B9D-9F40-BDAE751AF71F}"/>
              </a:ext>
            </a:extLst>
          </p:cNvPr>
          <p:cNvSpPr>
            <a:spLocks xmlns:a="http://schemas.openxmlformats.org/drawingml/2006/main" noGrp="1"/>
          </p:cNvSpPr>
          <p:nvPr/>
        </p:nvSpPr>
        <p:spPr>
          <a:xfrm xmlns:a="http://schemas.openxmlformats.org/drawingml/2006/main">
            <a:off x="7886700" y="3233547"/>
            <a:ext cx="3695700" cy="1844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These three literals use plain x, y numbers already understood to be meters (like Radley Hall's x_m/y_m columns), so .length and .area return sensible values right away - 34.0 m and 240.0 m2. The next slides show what happens when the coordinates are degrees of latitude/longitude instead.</a:t>
            </a:r>
          </a:p>
        </p:txBody>
      </p:sp>
    </p:spTree>
    <p:extLst>
      <p:ext uri="{BB962C8B-B14F-4D97-AF65-F5344CB8AC3E}">
        <p14:creationId xmlns:p14="http://schemas.microsoft.com/office/powerpoint/2010/main" val="9949607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6141AEA7-4826-4C57-AF2C-2D86EE9E1A0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1A2063B2-01D7-4EF0-8448-3803377DBAA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CRS, defined</a:t>
            </a:r>
          </a:p>
        </p:txBody>
      </p:sp>
      <p:sp>
        <p:nvSpPr>
          <p:cNvPr id="3" name="">
            <a:extLst xmlns:a="http://schemas.openxmlformats.org/drawingml/2006/main">
              <a:ext uri="{FF2B5EF4-FFF2-40B4-BE49-F238E27FC236}">
                <a16:creationId xmlns:a16="http://schemas.microsoft.com/office/drawing/2014/main" id="{68955236-D7E9-4CD5-A634-0505D267F04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02E41FB-60D9-42AF-8AF8-2D6BCA4CEC3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D5376EA6-79E7-46FE-97E1-13DF781A5A8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11</a:t>
            </a:r>
          </a:p>
        </p:txBody>
      </p:sp>
      <p:sp>
        <p:nvSpPr>
          <p:cNvPr id="6" name="term-label">
            <a:extLst xmlns:a="http://schemas.openxmlformats.org/drawingml/2006/main">
              <a:ext uri="{FF2B5EF4-FFF2-40B4-BE49-F238E27FC236}">
                <a16:creationId xmlns:a16="http://schemas.microsoft.com/office/drawing/2014/main" id="{B3E8847C-ABC7-47D4-BA66-2864D938A68C}"/>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329A304F-B41F-44B7-BD5A-01E9ED44D5A7}"/>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CRS</a:t>
            </a:r>
          </a:p>
        </p:txBody>
      </p:sp>
      <p:sp>
        <p:nvSpPr>
          <p:cNvPr id="8" name="">
            <a:extLst xmlns:a="http://schemas.openxmlformats.org/drawingml/2006/main">
              <a:ext uri="{FF2B5EF4-FFF2-40B4-BE49-F238E27FC236}">
                <a16:creationId xmlns:a16="http://schemas.microsoft.com/office/drawing/2014/main" id="{07D74100-1B97-4218-8F85-D50D46A5A0C1}"/>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FAA32E0B-05A5-4BFB-94D3-036382D07C43}"/>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Coordinate Reference System states what a pair of numbers (x, y or lon, lat) actually means: which surface, which units, and which origin. Without a CRS, coordinates are just numbers -- geopandas cannot tell you if they are meters, degrees, or feet.</a:t>
            </a:r>
          </a:p>
        </p:txBody>
      </p:sp>
      <p:sp>
        <p:nvSpPr>
          <p:cNvPr id="10" name="example-panel">
            <a:extLst xmlns:a="http://schemas.openxmlformats.org/drawingml/2006/main">
              <a:ext uri="{FF2B5EF4-FFF2-40B4-BE49-F238E27FC236}">
                <a16:creationId xmlns:a16="http://schemas.microsoft.com/office/drawing/2014/main" id="{7346EEF5-1A70-4B69-AD5B-CD75AB3700E2}"/>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D94FFD44-9672-40AB-8E7D-ED6DFD8DE830}"/>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67D6587F-3B57-47AA-8A93-027D26798B62}"/>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zones.crs</a:t>
            </a:r>
          </a:p>
        </p:txBody>
      </p:sp>
      <p:sp>
        <p:nvSpPr>
          <p:cNvPr id="13" name="example-body">
            <a:extLst xmlns:a="http://schemas.openxmlformats.org/drawingml/2006/main">
              <a:ext uri="{FF2B5EF4-FFF2-40B4-BE49-F238E27FC236}">
                <a16:creationId xmlns:a16="http://schemas.microsoft.com/office/drawing/2014/main" id="{F31A27D1-D45B-4BB9-90D0-568095A6FB0C}"/>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Printing a GeoDataFrame's .crs attribute reports the CRS geopandas currently has on record for it -- for example EPSG:4326 or EPSG:32618. Two GeoDataFrames must share a CRS before you can safely compare or join their geometries.</a:t>
            </a:r>
          </a:p>
        </p:txBody>
      </p:sp>
      <p:sp>
        <p:nvSpPr>
          <p:cNvPr id="14" name="note-bar">
            <a:extLst xmlns:a="http://schemas.openxmlformats.org/drawingml/2006/main">
              <a:ext uri="{FF2B5EF4-FFF2-40B4-BE49-F238E27FC236}">
                <a16:creationId xmlns:a16="http://schemas.microsoft.com/office/drawing/2014/main" id="{82E84628-E056-4EA8-835C-D4C86E7D1893}"/>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D0F5882A-FE84-4AC4-8D1E-3B30F3200326}"/>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A02B85ED-E5E3-45C2-96FC-8655CF3229D4}"/>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A CRS is not a unit label typed into a column name -- it lives on the GeoDataFrame itself (gdf.crs), separate from any column, and travels with the geometry through most operations.</a:t>
            </a:r>
          </a:p>
        </p:txBody>
      </p:sp>
    </p:spTree>
    <p:extLst>
      <p:ext uri="{BB962C8B-B14F-4D97-AF65-F5344CB8AC3E}">
        <p14:creationId xmlns:p14="http://schemas.microsoft.com/office/powerpoint/2010/main" val="4491102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A8D60D3F-A500-493E-8595-EF42E520096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AA94190F-F696-413C-83A1-022CD331590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EPSG code, defined</a:t>
            </a:r>
          </a:p>
        </p:txBody>
      </p:sp>
      <p:sp>
        <p:nvSpPr>
          <p:cNvPr id="3" name="">
            <a:extLst xmlns:a="http://schemas.openxmlformats.org/drawingml/2006/main">
              <a:ext uri="{FF2B5EF4-FFF2-40B4-BE49-F238E27FC236}">
                <a16:creationId xmlns:a16="http://schemas.microsoft.com/office/drawing/2014/main" id="{33ECF88F-7237-48F0-AEB7-48BDEB4D36D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42DD2AD-F559-4605-8312-B681FF55F33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2310F604-1048-4712-B4FB-B89477C9484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12</a:t>
            </a:r>
          </a:p>
        </p:txBody>
      </p:sp>
      <p:sp>
        <p:nvSpPr>
          <p:cNvPr id="6" name="term-label">
            <a:extLst xmlns:a="http://schemas.openxmlformats.org/drawingml/2006/main">
              <a:ext uri="{FF2B5EF4-FFF2-40B4-BE49-F238E27FC236}">
                <a16:creationId xmlns:a16="http://schemas.microsoft.com/office/drawing/2014/main" id="{DD8C6B94-E56C-41FE-AC95-68914EDA1B19}"/>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E07D7275-957D-4E8A-8A0C-DB5DFADC8BB1}"/>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EPSG code</a:t>
            </a:r>
          </a:p>
        </p:txBody>
      </p:sp>
      <p:sp>
        <p:nvSpPr>
          <p:cNvPr id="8" name="">
            <a:extLst xmlns:a="http://schemas.openxmlformats.org/drawingml/2006/main">
              <a:ext uri="{FF2B5EF4-FFF2-40B4-BE49-F238E27FC236}">
                <a16:creationId xmlns:a16="http://schemas.microsoft.com/office/drawing/2014/main" id="{CE5746FF-D998-4A8D-B1EE-ABE4887206EF}"/>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DDA1C521-E149-4998-B88E-2A32174B6758}"/>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short numeric ID for one specific, standardized CRS, maintained by a public registry. Two codes recur constantly in this course: EPSG:4326 (geographic, degrees of latitude/longitude, the GPS standard) and EPSG:32618 (UTM zone 18N, meters, the correct projected choice for Syracuse, NY).</a:t>
            </a:r>
          </a:p>
        </p:txBody>
      </p:sp>
      <p:sp>
        <p:nvSpPr>
          <p:cNvPr id="10" name="example-panel">
            <a:extLst xmlns:a="http://schemas.openxmlformats.org/drawingml/2006/main">
              <a:ext uri="{FF2B5EF4-FFF2-40B4-BE49-F238E27FC236}">
                <a16:creationId xmlns:a16="http://schemas.microsoft.com/office/drawing/2014/main" id="{1BD9AAC2-611F-4730-BF7A-51D204448585}"/>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EE11A283-555F-409D-BA8C-6B3A9B005227}"/>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61D95207-B326-4125-97C0-367B826D4C6E}"/>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crs='EPSG:32618'</a:t>
            </a:r>
          </a:p>
        </p:txBody>
      </p:sp>
      <p:sp>
        <p:nvSpPr>
          <p:cNvPr id="13" name="example-body">
            <a:extLst xmlns:a="http://schemas.openxmlformats.org/drawingml/2006/main">
              <a:ext uri="{FF2B5EF4-FFF2-40B4-BE49-F238E27FC236}">
                <a16:creationId xmlns:a16="http://schemas.microsoft.com/office/drawing/2014/main" id="{3A0FBB81-F89D-4BD4-B3AD-2704A042210D}"/>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Pass the EPSG code as a crs= argument when building a GeoDataFrame, or to set_crs()/to_crs() later -- always write it as the string 'EPSG:' followed by the number.</a:t>
            </a:r>
          </a:p>
        </p:txBody>
      </p:sp>
      <p:sp>
        <p:nvSpPr>
          <p:cNvPr id="14" name="note-bar">
            <a:extLst xmlns:a="http://schemas.openxmlformats.org/drawingml/2006/main">
              <a:ext uri="{FF2B5EF4-FFF2-40B4-BE49-F238E27FC236}">
                <a16:creationId xmlns:a16="http://schemas.microsoft.com/office/drawing/2014/main" id="{4B0C977E-D68B-4F85-8CD3-8FB17C27D810}"/>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A37A620F-4141-4A26-BAA6-9BA367DF00BE}"/>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4E298E8B-625E-4370-9259-1A86D11340BD}"/>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EPSG:4326 is for storage and sharing - what GPS gives you. EPSG:32618 is for measuring - what you compute area, length, and distance with. The two are not interchangeable.</a:t>
            </a:r>
          </a:p>
        </p:txBody>
      </p:sp>
    </p:spTree>
    <p:extLst>
      <p:ext uri="{BB962C8B-B14F-4D97-AF65-F5344CB8AC3E}">
        <p14:creationId xmlns:p14="http://schemas.microsoft.com/office/powerpoint/2010/main" val="12794964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FDF31F72-ED6E-4C65-9BBF-7D8ACBE2E2C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FE3ECF18-FDBD-4160-B416-298BFDB5DF4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gpd.read_file reports the CRS it found in the file</a:t>
            </a:r>
          </a:p>
        </p:txBody>
      </p:sp>
      <p:sp>
        <p:nvSpPr>
          <p:cNvPr id="3" name="">
            <a:extLst xmlns:a="http://schemas.openxmlformats.org/drawingml/2006/main">
              <a:ext uri="{FF2B5EF4-FFF2-40B4-BE49-F238E27FC236}">
                <a16:creationId xmlns:a16="http://schemas.microsoft.com/office/drawing/2014/main" id="{8B41F94D-F99F-4A39-A380-74B81064A44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60D78F2-1BC4-44A5-91FC-07D8DBD0B7E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1354415E-9603-4BB1-8FBA-1B914F035A6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13</a:t>
            </a:r>
          </a:p>
        </p:txBody>
      </p:sp>
      <p:sp>
        <p:nvSpPr>
          <p:cNvPr id="6" name="code-panel">
            <a:extLst xmlns:a="http://schemas.openxmlformats.org/drawingml/2006/main">
              <a:ext uri="{FF2B5EF4-FFF2-40B4-BE49-F238E27FC236}">
                <a16:creationId xmlns:a16="http://schemas.microsoft.com/office/drawing/2014/main" id="{AF0F7B48-9E5A-42A3-AE55-9926456E164E}"/>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87AA1958-ABFB-469C-8C4D-DDA5E6254CFD}"/>
              </a:ext>
            </a:extLst>
          </p:cNvPr>
          <p:cNvSpPr>
            <a:spLocks xmlns:a="http://schemas.openxmlformats.org/drawingml/2006/main" noGrp="1"/>
          </p:cNvSpPr>
          <p:nvPr/>
        </p:nvSpPr>
        <p:spPr>
          <a:xfrm xmlns:a="http://schemas.openxmlformats.org/drawingml/2006/main">
            <a:off x="857250" y="2057400"/>
            <a:ext cx="6400800" cy="2446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import geopandas as gpd</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zones = gpd.read_file('zone_footprints.geojson')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print(zones)</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print('CRS:', zones.crs)</a:t>
            </a:r>
          </a:p>
        </p:txBody>
      </p:sp>
      <p:sp>
        <p:nvSpPr>
          <p:cNvPr id="8" name="">
            <a:extLst xmlns:a="http://schemas.openxmlformats.org/drawingml/2006/main">
              <a:ext uri="{FF2B5EF4-FFF2-40B4-BE49-F238E27FC236}">
                <a16:creationId xmlns:a16="http://schemas.microsoft.com/office/drawing/2014/main" id="{7919B15D-4BB1-45B3-BA95-246F80E8D353}"/>
              </a:ext>
            </a:extLst>
          </p:cNvPr>
          <p:cNvSpPr>
            <a:spLocks xmlns:a="http://schemas.openxmlformats.org/drawingml/2006/main" noGrp="1"/>
          </p:cNvSpPr>
          <p:nvPr/>
        </p:nvSpPr>
        <p:spPr>
          <a:xfrm xmlns:a="http://schemas.openxmlformats.org/drawingml/2006/main">
            <a:off x="857250" y="4560570"/>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6276AA6F-240E-49B5-8319-DC580AA862C9}"/>
              </a:ext>
            </a:extLst>
          </p:cNvPr>
          <p:cNvSpPr>
            <a:spLocks xmlns:a="http://schemas.openxmlformats.org/drawingml/2006/main" noGrp="1"/>
          </p:cNvSpPr>
          <p:nvPr/>
        </p:nvSpPr>
        <p:spPr>
          <a:xfrm xmlns:a="http://schemas.openxmlformats.org/drawingml/2006/main">
            <a:off x="857250" y="467487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9C5A8B4F-4CC7-4CFF-951E-9323BD126A3D}"/>
              </a:ext>
            </a:extLst>
          </p:cNvPr>
          <p:cNvSpPr>
            <a:spLocks xmlns:a="http://schemas.openxmlformats.org/drawingml/2006/main" noGrp="1"/>
          </p:cNvSpPr>
          <p:nvPr/>
        </p:nvSpPr>
        <p:spPr>
          <a:xfrm xmlns:a="http://schemas.openxmlformats.org/drawingml/2006/main">
            <a:off x="857250" y="4903470"/>
            <a:ext cx="6400800" cy="9258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    zone                                           geometry</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  North  POLYGON ((-76.1351 43.03936, -76.13481 43.0393...</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1  South  POLYGON ((-76.1351 43.0392, -76.13481 43.0392,...</a:t>
            </a:r>
          </a:p>
          <a:p xmlns:a="http://schemas.openxmlformats.org/drawingml/2006/main">
            <a:r>
              <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CRS: EPSG:4326</a:t>
            </a:r>
          </a:p>
        </p:txBody>
      </p:sp>
      <p:sp>
        <p:nvSpPr>
          <p:cNvPr id="11" name="explain-head">
            <a:extLst xmlns:a="http://schemas.openxmlformats.org/drawingml/2006/main">
              <a:ext uri="{FF2B5EF4-FFF2-40B4-BE49-F238E27FC236}">
                <a16:creationId xmlns:a16="http://schemas.microsoft.com/office/drawing/2014/main" id="{06B97021-3F8F-4B88-B368-A51B3E503941}"/>
              </a:ext>
            </a:extLst>
          </p:cNvPr>
          <p:cNvSpPr>
            <a:spLocks xmlns:a="http://schemas.openxmlformats.org/drawingml/2006/main" noGrp="1"/>
          </p:cNvSpPr>
          <p:nvPr/>
        </p:nvSpPr>
        <p:spPr>
          <a:xfrm xmlns:a="http://schemas.openxmlformats.org/drawingml/2006/main">
            <a:off x="7886700" y="22098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Latitude/longitude, in degrees</a:t>
            </a:r>
          </a:p>
        </p:txBody>
      </p:sp>
      <p:sp>
        <p:nvSpPr>
          <p:cNvPr id="12" name="explain-body">
            <a:extLst xmlns:a="http://schemas.openxmlformats.org/drawingml/2006/main">
              <a:ext uri="{FF2B5EF4-FFF2-40B4-BE49-F238E27FC236}">
                <a16:creationId xmlns:a16="http://schemas.microsoft.com/office/drawing/2014/main" id="{374E67D3-1D98-4EC9-A0BD-E6BBE041C0B8}"/>
              </a:ext>
            </a:extLst>
          </p:cNvPr>
          <p:cNvSpPr>
            <a:spLocks xmlns:a="http://schemas.openxmlformats.org/drawingml/2006/main" noGrp="1"/>
          </p:cNvSpPr>
          <p:nvPr/>
        </p:nvSpPr>
        <p:spPr>
          <a:xfrm xmlns:a="http://schemas.openxmlformats.org/drawingml/2006/main">
            <a:off x="7886700" y="2995422"/>
            <a:ext cx="3695700" cy="2506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This is the fictional Radley Hall zone-footprint file used in Meeting B - GeoJSON is a common text file format for storing geometry plus attributes together; gpd.read_file() reads it just like read_csv() reads a CSV. Its coordinates are longitude/latitude pairs - degrees, not meters - and geopandas correctly reports its CRS as EPSG:4326, the geographic default GPS coordinates arrive in.</a:t>
            </a:r>
          </a:p>
        </p:txBody>
      </p:sp>
    </p:spTree>
    <p:extLst>
      <p:ext uri="{BB962C8B-B14F-4D97-AF65-F5344CB8AC3E}">
        <p14:creationId xmlns:p14="http://schemas.microsoft.com/office/powerpoint/2010/main" val="166565708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2F1143AE-643E-4199-B169-8162121B6F6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BB3F2998-2FCC-4282-9547-9AEBB6395DE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geometry built without a CRS argument has none</a:t>
            </a:r>
          </a:p>
        </p:txBody>
      </p:sp>
      <p:sp>
        <p:nvSpPr>
          <p:cNvPr id="3" name="">
            <a:extLst xmlns:a="http://schemas.openxmlformats.org/drawingml/2006/main">
              <a:ext uri="{FF2B5EF4-FFF2-40B4-BE49-F238E27FC236}">
                <a16:creationId xmlns:a16="http://schemas.microsoft.com/office/drawing/2014/main" id="{07615EE3-FB39-4343-B0C3-C713565B4AC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FF4662A-AFD8-4481-A82D-A90335468D2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5F7D6187-6814-4712-A143-19D1F624930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14</a:t>
            </a:r>
          </a:p>
        </p:txBody>
      </p:sp>
      <p:sp>
        <p:nvSpPr>
          <p:cNvPr id="6" name="code-panel">
            <a:extLst xmlns:a="http://schemas.openxmlformats.org/drawingml/2006/main">
              <a:ext uri="{FF2B5EF4-FFF2-40B4-BE49-F238E27FC236}">
                <a16:creationId xmlns:a16="http://schemas.microsoft.com/office/drawing/2014/main" id="{76672EF3-B3E7-4AE6-8253-6332D7C871F0}"/>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2C8A2DD0-7FC5-4551-9CE5-EE3B6431950F}"/>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from shapely.geometry import Point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import geopandas as gpd</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gdf = gpd.GeoDataFrame({'room_id': ['R101']}, geometry=[Point(2.0, 4.0)])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print('crs before set_crs:', gdf.crs)</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gdf = gdf.set_crs('EPSG:32618')</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print('crs after set_crs:', gdf.crs)</a:t>
            </a:r>
          </a:p>
        </p:txBody>
      </p:sp>
      <p:sp>
        <p:nvSpPr>
          <p:cNvPr id="8" name="">
            <a:extLst xmlns:a="http://schemas.openxmlformats.org/drawingml/2006/main">
              <a:ext uri="{FF2B5EF4-FFF2-40B4-BE49-F238E27FC236}">
                <a16:creationId xmlns:a16="http://schemas.microsoft.com/office/drawing/2014/main" id="{774F65A8-DC1F-4B57-A0B4-C3BB6B572C68}"/>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3579E294-0952-406C-8A39-22D89E05E267}"/>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555B5C1E-F987-420B-B649-6C7BD3874654}"/>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crs before set_crs: None</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crs after set_crs: EPSG:32618</a:t>
            </a:r>
          </a:p>
        </p:txBody>
      </p:sp>
      <p:sp>
        <p:nvSpPr>
          <p:cNvPr id="11" name="explain-head">
            <a:extLst xmlns:a="http://schemas.openxmlformats.org/drawingml/2006/main">
              <a:ext uri="{FF2B5EF4-FFF2-40B4-BE49-F238E27FC236}">
                <a16:creationId xmlns:a16="http://schemas.microsoft.com/office/drawing/2014/main" id="{550DF511-AB7C-4642-BF73-47EEF3C82FE2}"/>
              </a:ext>
            </a:extLst>
          </p:cNvPr>
          <p:cNvSpPr>
            <a:spLocks xmlns:a="http://schemas.openxmlformats.org/drawingml/2006/main" noGrp="1"/>
          </p:cNvSpPr>
          <p:nvPr/>
        </p:nvSpPr>
        <p:spPr>
          <a:xfrm xmlns:a="http://schemas.openxmlformats.org/drawingml/2006/main">
            <a:off x="7886700" y="26098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None is a real, common bug source</a:t>
            </a:r>
          </a:p>
        </p:txBody>
      </p:sp>
      <p:sp>
        <p:nvSpPr>
          <p:cNvPr id="12" name="explain-body">
            <a:extLst xmlns:a="http://schemas.openxmlformats.org/drawingml/2006/main">
              <a:ext uri="{FF2B5EF4-FFF2-40B4-BE49-F238E27FC236}">
                <a16:creationId xmlns:a16="http://schemas.microsoft.com/office/drawing/2014/main" id="{B4FD7ECF-4FB4-43C8-B005-6B1E8CAE336C}"/>
              </a:ext>
            </a:extLst>
          </p:cNvPr>
          <p:cNvSpPr>
            <a:spLocks xmlns:a="http://schemas.openxmlformats.org/drawingml/2006/main" noGrp="1"/>
          </p:cNvSpPr>
          <p:nvPr/>
        </p:nvSpPr>
        <p:spPr>
          <a:xfrm xmlns:a="http://schemas.openxmlformats.org/drawingml/2006/main">
            <a:off x="7886700" y="3395472"/>
            <a:ext cx="3695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If you forget crs= when building a GeoDataFrame, gdf.crs is simply None - geopandas has no idea what the coordinates mean. set_crs() states what CRS the coordinates ALREADY are in; it does not move or change any numbers.</a:t>
            </a:r>
          </a:p>
        </p:txBody>
      </p:sp>
    </p:spTree>
    <p:extLst>
      <p:ext uri="{BB962C8B-B14F-4D97-AF65-F5344CB8AC3E}">
        <p14:creationId xmlns:p14="http://schemas.microsoft.com/office/powerpoint/2010/main" val="28398231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FA13B64A-67DA-48FF-BDDF-EB507DF5A42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3BEE76C8-E89C-4D8B-8470-969A3AEC296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Reprojection, defined</a:t>
            </a:r>
          </a:p>
        </p:txBody>
      </p:sp>
      <p:sp>
        <p:nvSpPr>
          <p:cNvPr id="3" name="">
            <a:extLst xmlns:a="http://schemas.openxmlformats.org/drawingml/2006/main">
              <a:ext uri="{FF2B5EF4-FFF2-40B4-BE49-F238E27FC236}">
                <a16:creationId xmlns:a16="http://schemas.microsoft.com/office/drawing/2014/main" id="{C83BAB29-2BEF-43A0-BAE9-1D261E88B3C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7AC92A0-F123-4C43-9675-282932E3963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3F40D9BF-992D-4AA5-83C8-29FBE766CE5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15</a:t>
            </a:r>
          </a:p>
        </p:txBody>
      </p:sp>
      <p:sp>
        <p:nvSpPr>
          <p:cNvPr id="6" name="term-label">
            <a:extLst xmlns:a="http://schemas.openxmlformats.org/drawingml/2006/main">
              <a:ext uri="{FF2B5EF4-FFF2-40B4-BE49-F238E27FC236}">
                <a16:creationId xmlns:a16="http://schemas.microsoft.com/office/drawing/2014/main" id="{3EC8FACE-B153-4058-BDFD-3472C394FB1F}"/>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E9CF3DAE-0407-404E-9DB2-6FAF5B593A35}"/>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to_crs()</a:t>
            </a:r>
          </a:p>
        </p:txBody>
      </p:sp>
      <p:sp>
        <p:nvSpPr>
          <p:cNvPr id="8" name="">
            <a:extLst xmlns:a="http://schemas.openxmlformats.org/drawingml/2006/main">
              <a:ext uri="{FF2B5EF4-FFF2-40B4-BE49-F238E27FC236}">
                <a16:creationId xmlns:a16="http://schemas.microsoft.com/office/drawing/2014/main" id="{15F0DCEF-D9B7-4DD0-A50B-24EC6196A739}"/>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C5E7FE55-D9B1-4680-99AB-EA8AB729BD8E}"/>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Reprojection converts a GeoDataFrame's coordinates from one CRS to another, recalculating every coordinate value so it still means the same real-world location under the new system. Unlike set_crs() (which only relabels and changes no numbers), to_crs() actually transforms the numbers.</a:t>
            </a:r>
          </a:p>
        </p:txBody>
      </p:sp>
      <p:sp>
        <p:nvSpPr>
          <p:cNvPr id="10" name="example-panel">
            <a:extLst xmlns:a="http://schemas.openxmlformats.org/drawingml/2006/main">
              <a:ext uri="{FF2B5EF4-FFF2-40B4-BE49-F238E27FC236}">
                <a16:creationId xmlns:a16="http://schemas.microsoft.com/office/drawing/2014/main" id="{E65C6F5F-20C7-4D49-89A9-B9C7ACF61BC1}"/>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C2242DA6-259A-4158-9C51-F0C8AB6F0CBF}"/>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2675B3A2-D0DD-4054-A77D-4A53F03B88CD}"/>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gdf_utm = gdf.to_crs('EPSG:32618')</a:t>
            </a:r>
          </a:p>
        </p:txBody>
      </p:sp>
      <p:sp>
        <p:nvSpPr>
          <p:cNvPr id="13" name="example-body">
            <a:extLst xmlns:a="http://schemas.openxmlformats.org/drawingml/2006/main">
              <a:ext uri="{FF2B5EF4-FFF2-40B4-BE49-F238E27FC236}">
                <a16:creationId xmlns:a16="http://schemas.microsoft.com/office/drawing/2014/main" id="{9ADAFA1F-341E-47C3-ADDB-9C5929D1B5AA}"/>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Every coordinate is recalculated from degrees of longitude/latitude into meters of UTM easting/northing. The location on the ground does not move -- only the numbers describing it change, and a NEW GeoDataFrame is returned.</a:t>
            </a:r>
          </a:p>
        </p:txBody>
      </p:sp>
      <p:sp>
        <p:nvSpPr>
          <p:cNvPr id="14" name="note-bar">
            <a:extLst xmlns:a="http://schemas.openxmlformats.org/drawingml/2006/main">
              <a:ext uri="{FF2B5EF4-FFF2-40B4-BE49-F238E27FC236}">
                <a16:creationId xmlns:a16="http://schemas.microsoft.com/office/drawing/2014/main" id="{E3D6A4F5-9734-47C1-8B4E-09400A4B0620}"/>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59C83AA5-092C-4A49-9219-E4C913BD9EC9}"/>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F4CFCF3C-1325-45F6-AD92-855C11487827}"/>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Calling to_crs() on a GeoDataFrame whose crs is None raises a ValueError: 'Cannot transform naive geometries. Please set a crs on the object first.' Set the CRS before you reproject.</a:t>
            </a:r>
          </a:p>
        </p:txBody>
      </p:sp>
    </p:spTree>
    <p:extLst>
      <p:ext uri="{BB962C8B-B14F-4D97-AF65-F5344CB8AC3E}">
        <p14:creationId xmlns:p14="http://schemas.microsoft.com/office/powerpoint/2010/main" val="158393020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kicker">
            <a:extLst xmlns:a="http://schemas.openxmlformats.org/drawingml/2006/main">
              <a:ext uri="{FF2B5EF4-FFF2-40B4-BE49-F238E27FC236}">
                <a16:creationId xmlns:a16="http://schemas.microsoft.com/office/drawing/2014/main" id="{C412C4E7-EC43-4C6B-83B1-EB31BCD1120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ANATOMY</a:t>
            </a:r>
          </a:p>
        </p:txBody>
      </p:sp>
      <p:sp>
        <p:nvSpPr>
          <p:cNvPr id="2" name="title">
            <a:extLst xmlns:a="http://schemas.openxmlformats.org/drawingml/2006/main">
              <a:ext uri="{FF2B5EF4-FFF2-40B4-BE49-F238E27FC236}">
                <a16:creationId xmlns:a16="http://schemas.microsoft.com/office/drawing/2014/main" id="{B5504724-5038-4337-A0AC-C24945DDE4F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Explode one reprojection call into its parts</a:t>
            </a:r>
          </a:p>
        </p:txBody>
      </p:sp>
      <p:sp>
        <p:nvSpPr>
          <p:cNvPr id="3" name="">
            <a:extLst xmlns:a="http://schemas.openxmlformats.org/drawingml/2006/main">
              <a:ext uri="{FF2B5EF4-FFF2-40B4-BE49-F238E27FC236}">
                <a16:creationId xmlns:a16="http://schemas.microsoft.com/office/drawing/2014/main" id="{E28BEBDA-3778-4C9A-9CF3-8D00C62ECFD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8DDF0C5-5EE5-4774-AFCF-CE63D221FF1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30CF16D2-56D7-4B70-9DFC-6841B3460E6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16</a:t>
            </a:r>
          </a:p>
        </p:txBody>
      </p:sp>
      <p:sp>
        <p:nvSpPr>
          <p:cNvPr id="6" name="anatomy-code-panel">
            <a:extLst xmlns:a="http://schemas.openxmlformats.org/drawingml/2006/main">
              <a:ext uri="{FF2B5EF4-FFF2-40B4-BE49-F238E27FC236}">
                <a16:creationId xmlns:a16="http://schemas.microsoft.com/office/drawing/2014/main" id="{9A92746A-D838-4A0C-90EE-AAC6CF5D05CD}"/>
              </a:ext>
            </a:extLst>
          </p:cNvPr>
          <p:cNvSpPr>
            <a:spLocks xmlns:a="http://schemas.openxmlformats.org/drawingml/2006/main" noGrp="1"/>
          </p:cNvSpPr>
          <p:nvPr/>
        </p:nvSpPr>
        <p:spPr>
          <a:xfrm xmlns:a="http://schemas.openxmlformats.org/drawingml/2006/main">
            <a:off x="609600" y="1733550"/>
            <a:ext cx="10972800" cy="876300"/>
          </a:xfrm>
          <a:prstGeom xmlns:a="http://schemas.openxmlformats.org/drawingml/2006/main" prst="roundRect">
            <a:avLst>
              <a:gd name="adj" fmla="val 8696"/>
            </a:avLst>
          </a:prstGeom>
          <a:solidFill xmlns:a="http://schemas.openxmlformats.org/drawingml/2006/main">
            <a:srgbClr val="17191C"/>
          </a:solidFill>
          <a:ln xmlns:a="http://schemas.openxmlformats.org/drawingml/2006/main" w="9525">
            <a:solidFill>
              <a:srgbClr val="17191C"/>
            </a:solidFill>
            <a:prstDash val="solid"/>
          </a:ln>
        </p:spPr>
      </p:sp>
      <p:sp>
        <p:nvSpPr>
          <p:cNvPr id="7" name="anatomy-code">
            <a:extLst xmlns:a="http://schemas.openxmlformats.org/drawingml/2006/main">
              <a:ext uri="{FF2B5EF4-FFF2-40B4-BE49-F238E27FC236}">
                <a16:creationId xmlns:a16="http://schemas.microsoft.com/office/drawing/2014/main" id="{4AB2738A-028B-492F-94A5-0FAFB28497DF}"/>
              </a:ext>
            </a:extLst>
          </p:cNvPr>
          <p:cNvSpPr>
            <a:spLocks xmlns:a="http://schemas.openxmlformats.org/drawingml/2006/main" noGrp="1"/>
          </p:cNvSpPr>
          <p:nvPr/>
        </p:nvSpPr>
        <p:spPr>
          <a:xfrm xmlns:a="http://schemas.openxmlformats.org/drawingml/2006/main">
            <a:off x="2533650" y="2057400"/>
            <a:ext cx="7505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a:solidFill>
                  <a:srgbClr val="FFFFFF"/>
                </a:solidFill>
                <a:latin typeface="Consolas"/>
                <a:ea typeface="Consolas"/>
                <a:cs typeface="Consolas"/>
              </a:defRPr>
            </a:pPr>
            <a:r>
              <a:rPr sz="3000" b="0">
                <a:solidFill>
                  <a:srgbClr val="FFFFFF"/>
                </a:solidFill>
                <a:latin typeface="Consolas"/>
                <a:ea typeface="Consolas"/>
                <a:cs typeface="Consolas"/>
              </a:rPr>
              <a:t>gdf_utm = gdf.to_crs('EPSG:32618')</a:t>
            </a:r>
          </a:p>
        </p:txBody>
      </p:sp>
      <p:sp>
        <p:nvSpPr>
          <p:cNvPr id="8" name="">
            <a:extLst xmlns:a="http://schemas.openxmlformats.org/drawingml/2006/main">
              <a:ext uri="{FF2B5EF4-FFF2-40B4-BE49-F238E27FC236}">
                <a16:creationId xmlns:a16="http://schemas.microsoft.com/office/drawing/2014/main" id="{8689C19C-8E6F-454B-8DE8-4EF62E570A9D}"/>
              </a:ext>
            </a:extLst>
          </p:cNvPr>
          <p:cNvSpPr>
            <a:spLocks xmlns:a="http://schemas.openxmlformats.org/drawingml/2006/main" noGrp="1"/>
          </p:cNvSpPr>
          <p:nvPr/>
        </p:nvSpPr>
        <p:spPr>
          <a:xfrm xmlns:a="http://schemas.openxmlformats.org/drawingml/2006/main">
            <a:off x="2533650" y="2647950"/>
            <a:ext cx="14668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9" name="part-chip-0">
            <a:extLst xmlns:a="http://schemas.openxmlformats.org/drawingml/2006/main">
              <a:ext uri="{FF2B5EF4-FFF2-40B4-BE49-F238E27FC236}">
                <a16:creationId xmlns:a16="http://schemas.microsoft.com/office/drawing/2014/main" id="{328CC259-7644-40AF-858E-05A487F25B10}"/>
              </a:ext>
            </a:extLst>
          </p:cNvPr>
          <p:cNvSpPr>
            <a:spLocks xmlns:a="http://schemas.openxmlformats.org/drawingml/2006/main" noGrp="1"/>
          </p:cNvSpPr>
          <p:nvPr/>
        </p:nvSpPr>
        <p:spPr>
          <a:xfrm xmlns:a="http://schemas.openxmlformats.org/drawingml/2006/main">
            <a:off x="314325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0" name="part-chipno-0">
            <a:extLst xmlns:a="http://schemas.openxmlformats.org/drawingml/2006/main">
              <a:ext uri="{FF2B5EF4-FFF2-40B4-BE49-F238E27FC236}">
                <a16:creationId xmlns:a16="http://schemas.microsoft.com/office/drawing/2014/main" id="{7CE55539-317B-4237-ADDA-CACAEF306AB8}"/>
              </a:ext>
            </a:extLst>
          </p:cNvPr>
          <p:cNvSpPr>
            <a:spLocks xmlns:a="http://schemas.openxmlformats.org/drawingml/2006/main" noGrp="1"/>
          </p:cNvSpPr>
          <p:nvPr/>
        </p:nvSpPr>
        <p:spPr>
          <a:xfrm xmlns:a="http://schemas.openxmlformats.org/drawingml/2006/main">
            <a:off x="314325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1" name="part-lchip-0">
            <a:extLst xmlns:a="http://schemas.openxmlformats.org/drawingml/2006/main">
              <a:ext uri="{FF2B5EF4-FFF2-40B4-BE49-F238E27FC236}">
                <a16:creationId xmlns:a16="http://schemas.microsoft.com/office/drawing/2014/main" id="{5B55CCC1-4DF7-44FA-A032-5606EBC44296}"/>
              </a:ext>
            </a:extLst>
          </p:cNvPr>
          <p:cNvSpPr>
            <a:spLocks xmlns:a="http://schemas.openxmlformats.org/drawingml/2006/main" noGrp="1"/>
          </p:cNvSpPr>
          <p:nvPr/>
        </p:nvSpPr>
        <p:spPr>
          <a:xfrm xmlns:a="http://schemas.openxmlformats.org/drawingml/2006/main">
            <a:off x="226695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2" name="part-lchipno-0">
            <a:extLst xmlns:a="http://schemas.openxmlformats.org/drawingml/2006/main">
              <a:ext uri="{FF2B5EF4-FFF2-40B4-BE49-F238E27FC236}">
                <a16:creationId xmlns:a16="http://schemas.microsoft.com/office/drawing/2014/main" id="{10EE0EB3-00CF-4951-9C09-673F8237AB65}"/>
              </a:ext>
            </a:extLst>
          </p:cNvPr>
          <p:cNvSpPr>
            <a:spLocks xmlns:a="http://schemas.openxmlformats.org/drawingml/2006/main" noGrp="1"/>
          </p:cNvSpPr>
          <p:nvPr/>
        </p:nvSpPr>
        <p:spPr>
          <a:xfrm xmlns:a="http://schemas.openxmlformats.org/drawingml/2006/main">
            <a:off x="226695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3" name="part-head-0">
            <a:extLst xmlns:a="http://schemas.openxmlformats.org/drawingml/2006/main">
              <a:ext uri="{FF2B5EF4-FFF2-40B4-BE49-F238E27FC236}">
                <a16:creationId xmlns:a16="http://schemas.microsoft.com/office/drawing/2014/main" id="{5045BD5F-7B47-4179-BC5D-F99BE1987C13}"/>
              </a:ext>
            </a:extLst>
          </p:cNvPr>
          <p:cNvSpPr>
            <a:spLocks xmlns:a="http://schemas.openxmlformats.org/drawingml/2006/main" noGrp="1"/>
          </p:cNvSpPr>
          <p:nvPr/>
        </p:nvSpPr>
        <p:spPr>
          <a:xfrm xmlns:a="http://schemas.openxmlformats.org/drawingml/2006/main">
            <a:off x="2571750" y="3009900"/>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New GeoDataFrame</a:t>
            </a:r>
          </a:p>
        </p:txBody>
      </p:sp>
      <p:sp>
        <p:nvSpPr>
          <p:cNvPr id="14" name="part-body-0">
            <a:extLst xmlns:a="http://schemas.openxmlformats.org/drawingml/2006/main">
              <a:ext uri="{FF2B5EF4-FFF2-40B4-BE49-F238E27FC236}">
                <a16:creationId xmlns:a16="http://schemas.microsoft.com/office/drawing/2014/main" id="{9C7E45AE-9CCC-49A1-A551-65ECEE21919F}"/>
              </a:ext>
            </a:extLst>
          </p:cNvPr>
          <p:cNvSpPr>
            <a:spLocks xmlns:a="http://schemas.openxmlformats.org/drawingml/2006/main" noGrp="1"/>
          </p:cNvSpPr>
          <p:nvPr/>
        </p:nvSpPr>
        <p:spPr>
          <a:xfrm xmlns:a="http://schemas.openxmlformats.org/drawingml/2006/main">
            <a:off x="2266950" y="3637026"/>
            <a:ext cx="200025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to_crs() returns a NEW object -- it never modifies gdf in place.</a:t>
            </a:r>
          </a:p>
        </p:txBody>
      </p:sp>
      <p:sp>
        <p:nvSpPr>
          <p:cNvPr id="15" name="">
            <a:extLst xmlns:a="http://schemas.openxmlformats.org/drawingml/2006/main">
              <a:ext uri="{FF2B5EF4-FFF2-40B4-BE49-F238E27FC236}">
                <a16:creationId xmlns:a16="http://schemas.microsoft.com/office/drawing/2014/main" id="{7876F13E-1D4B-484C-9B7C-566C808EB44C}"/>
              </a:ext>
            </a:extLst>
          </p:cNvPr>
          <p:cNvSpPr>
            <a:spLocks xmlns:a="http://schemas.openxmlformats.org/drawingml/2006/main" noGrp="1"/>
          </p:cNvSpPr>
          <p:nvPr/>
        </p:nvSpPr>
        <p:spPr>
          <a:xfrm xmlns:a="http://schemas.openxmlformats.org/drawingml/2006/main">
            <a:off x="4629150" y="2647950"/>
            <a:ext cx="6286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6" name="part-chip-1">
            <a:extLst xmlns:a="http://schemas.openxmlformats.org/drawingml/2006/main">
              <a:ext uri="{FF2B5EF4-FFF2-40B4-BE49-F238E27FC236}">
                <a16:creationId xmlns:a16="http://schemas.microsoft.com/office/drawing/2014/main" id="{6BE3C83B-12B4-4AE2-848B-F8081518DAE4}"/>
              </a:ext>
            </a:extLst>
          </p:cNvPr>
          <p:cNvSpPr>
            <a:spLocks xmlns:a="http://schemas.openxmlformats.org/drawingml/2006/main" noGrp="1"/>
          </p:cNvSpPr>
          <p:nvPr/>
        </p:nvSpPr>
        <p:spPr>
          <a:xfrm xmlns:a="http://schemas.openxmlformats.org/drawingml/2006/main">
            <a:off x="481965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7" name="part-chipno-1">
            <a:extLst xmlns:a="http://schemas.openxmlformats.org/drawingml/2006/main">
              <a:ext uri="{FF2B5EF4-FFF2-40B4-BE49-F238E27FC236}">
                <a16:creationId xmlns:a16="http://schemas.microsoft.com/office/drawing/2014/main" id="{F5B73747-42BB-4793-8726-A2020A9FDAF3}"/>
              </a:ext>
            </a:extLst>
          </p:cNvPr>
          <p:cNvSpPr>
            <a:spLocks xmlns:a="http://schemas.openxmlformats.org/drawingml/2006/main" noGrp="1"/>
          </p:cNvSpPr>
          <p:nvPr/>
        </p:nvSpPr>
        <p:spPr>
          <a:xfrm xmlns:a="http://schemas.openxmlformats.org/drawingml/2006/main">
            <a:off x="481965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18" name="part-lchip-1">
            <a:extLst xmlns:a="http://schemas.openxmlformats.org/drawingml/2006/main">
              <a:ext uri="{FF2B5EF4-FFF2-40B4-BE49-F238E27FC236}">
                <a16:creationId xmlns:a16="http://schemas.microsoft.com/office/drawing/2014/main" id="{9618F6F4-80F0-4C4D-A0E1-F1A7FEAB3430}"/>
              </a:ext>
            </a:extLst>
          </p:cNvPr>
          <p:cNvSpPr>
            <a:spLocks xmlns:a="http://schemas.openxmlformats.org/drawingml/2006/main" noGrp="1"/>
          </p:cNvSpPr>
          <p:nvPr/>
        </p:nvSpPr>
        <p:spPr>
          <a:xfrm xmlns:a="http://schemas.openxmlformats.org/drawingml/2006/main">
            <a:off x="3705225" y="4319778"/>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9" name="part-lchipno-1">
            <a:extLst xmlns:a="http://schemas.openxmlformats.org/drawingml/2006/main">
              <a:ext uri="{FF2B5EF4-FFF2-40B4-BE49-F238E27FC236}">
                <a16:creationId xmlns:a16="http://schemas.microsoft.com/office/drawing/2014/main" id="{328421C9-A7A4-407D-B491-475CA5A4A314}"/>
              </a:ext>
            </a:extLst>
          </p:cNvPr>
          <p:cNvSpPr>
            <a:spLocks xmlns:a="http://schemas.openxmlformats.org/drawingml/2006/main" noGrp="1"/>
          </p:cNvSpPr>
          <p:nvPr/>
        </p:nvSpPr>
        <p:spPr>
          <a:xfrm xmlns:a="http://schemas.openxmlformats.org/drawingml/2006/main">
            <a:off x="3705225" y="4357878"/>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20" name="part-head-1">
            <a:extLst xmlns:a="http://schemas.openxmlformats.org/drawingml/2006/main">
              <a:ext uri="{FF2B5EF4-FFF2-40B4-BE49-F238E27FC236}">
                <a16:creationId xmlns:a16="http://schemas.microsoft.com/office/drawing/2014/main" id="{A3581FAE-E535-4926-BCE3-43684C70DE85}"/>
              </a:ext>
            </a:extLst>
          </p:cNvPr>
          <p:cNvSpPr>
            <a:spLocks xmlns:a="http://schemas.openxmlformats.org/drawingml/2006/main" noGrp="1"/>
          </p:cNvSpPr>
          <p:nvPr/>
        </p:nvSpPr>
        <p:spPr>
          <a:xfrm xmlns:a="http://schemas.openxmlformats.org/drawingml/2006/main">
            <a:off x="4010025" y="4300728"/>
            <a:ext cx="217170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Original GeoDataFrame</a:t>
            </a:r>
          </a:p>
        </p:txBody>
      </p:sp>
      <p:sp>
        <p:nvSpPr>
          <p:cNvPr id="21" name="part-body-1">
            <a:extLst xmlns:a="http://schemas.openxmlformats.org/drawingml/2006/main">
              <a:ext uri="{FF2B5EF4-FFF2-40B4-BE49-F238E27FC236}">
                <a16:creationId xmlns:a16="http://schemas.microsoft.com/office/drawing/2014/main" id="{5DC9153C-A0CF-4FE7-A4FF-6A96738AD2F3}"/>
              </a:ext>
            </a:extLst>
          </p:cNvPr>
          <p:cNvSpPr>
            <a:spLocks xmlns:a="http://schemas.openxmlformats.org/drawingml/2006/main" noGrp="1"/>
          </p:cNvSpPr>
          <p:nvPr/>
        </p:nvSpPr>
        <p:spPr>
          <a:xfrm xmlns:a="http://schemas.openxmlformats.org/drawingml/2006/main">
            <a:off x="3705225" y="4927854"/>
            <a:ext cx="247650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Still holds its current CRS and coordinates, untouched.</a:t>
            </a:r>
          </a:p>
        </p:txBody>
      </p:sp>
      <p:sp>
        <p:nvSpPr>
          <p:cNvPr id="22" name="">
            <a:extLst xmlns:a="http://schemas.openxmlformats.org/drawingml/2006/main">
              <a:ext uri="{FF2B5EF4-FFF2-40B4-BE49-F238E27FC236}">
                <a16:creationId xmlns:a16="http://schemas.microsoft.com/office/drawing/2014/main" id="{5C9B6890-24EA-45D4-9722-AC4E47D34DC2}"/>
              </a:ext>
            </a:extLst>
          </p:cNvPr>
          <p:cNvSpPr>
            <a:spLocks xmlns:a="http://schemas.openxmlformats.org/drawingml/2006/main" noGrp="1"/>
          </p:cNvSpPr>
          <p:nvPr/>
        </p:nvSpPr>
        <p:spPr>
          <a:xfrm xmlns:a="http://schemas.openxmlformats.org/drawingml/2006/main">
            <a:off x="5257800" y="2647950"/>
            <a:ext cx="16764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23" name="part-chip-2">
            <a:extLst xmlns:a="http://schemas.openxmlformats.org/drawingml/2006/main">
              <a:ext uri="{FF2B5EF4-FFF2-40B4-BE49-F238E27FC236}">
                <a16:creationId xmlns:a16="http://schemas.microsoft.com/office/drawing/2014/main" id="{CF32E7A7-7989-412B-9CCF-B10A29DCAF7F}"/>
              </a:ext>
            </a:extLst>
          </p:cNvPr>
          <p:cNvSpPr>
            <a:spLocks xmlns:a="http://schemas.openxmlformats.org/drawingml/2006/main" noGrp="1"/>
          </p:cNvSpPr>
          <p:nvPr/>
        </p:nvSpPr>
        <p:spPr>
          <a:xfrm xmlns:a="http://schemas.openxmlformats.org/drawingml/2006/main">
            <a:off x="597217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4" name="part-chipno-2">
            <a:extLst xmlns:a="http://schemas.openxmlformats.org/drawingml/2006/main">
              <a:ext uri="{FF2B5EF4-FFF2-40B4-BE49-F238E27FC236}">
                <a16:creationId xmlns:a16="http://schemas.microsoft.com/office/drawing/2014/main" id="{DD4272B6-1ABA-48D5-8F3C-A0CE241DBC27}"/>
              </a:ext>
            </a:extLst>
          </p:cNvPr>
          <p:cNvSpPr>
            <a:spLocks xmlns:a="http://schemas.openxmlformats.org/drawingml/2006/main" noGrp="1"/>
          </p:cNvSpPr>
          <p:nvPr/>
        </p:nvSpPr>
        <p:spPr>
          <a:xfrm xmlns:a="http://schemas.openxmlformats.org/drawingml/2006/main">
            <a:off x="597217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5" name="part-lchip-2">
            <a:extLst xmlns:a="http://schemas.openxmlformats.org/drawingml/2006/main">
              <a:ext uri="{FF2B5EF4-FFF2-40B4-BE49-F238E27FC236}">
                <a16:creationId xmlns:a16="http://schemas.microsoft.com/office/drawing/2014/main" id="{A50A7A18-9A3F-4792-9E74-A2AA766D2BEA}"/>
              </a:ext>
            </a:extLst>
          </p:cNvPr>
          <p:cNvSpPr>
            <a:spLocks xmlns:a="http://schemas.openxmlformats.org/drawingml/2006/main" noGrp="1"/>
          </p:cNvSpPr>
          <p:nvPr/>
        </p:nvSpPr>
        <p:spPr>
          <a:xfrm xmlns:a="http://schemas.openxmlformats.org/drawingml/2006/main">
            <a:off x="5095875"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6" name="part-lchipno-2">
            <a:extLst xmlns:a="http://schemas.openxmlformats.org/drawingml/2006/main">
              <a:ext uri="{FF2B5EF4-FFF2-40B4-BE49-F238E27FC236}">
                <a16:creationId xmlns:a16="http://schemas.microsoft.com/office/drawing/2014/main" id="{FB0857F6-0574-4163-8FCA-40DFC18C5C7E}"/>
              </a:ext>
            </a:extLst>
          </p:cNvPr>
          <p:cNvSpPr>
            <a:spLocks xmlns:a="http://schemas.openxmlformats.org/drawingml/2006/main" noGrp="1"/>
          </p:cNvSpPr>
          <p:nvPr/>
        </p:nvSpPr>
        <p:spPr>
          <a:xfrm xmlns:a="http://schemas.openxmlformats.org/drawingml/2006/main">
            <a:off x="5095875"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7" name="part-head-2">
            <a:extLst xmlns:a="http://schemas.openxmlformats.org/drawingml/2006/main">
              <a:ext uri="{FF2B5EF4-FFF2-40B4-BE49-F238E27FC236}">
                <a16:creationId xmlns:a16="http://schemas.microsoft.com/office/drawing/2014/main" id="{CC40A442-7797-4336-B0BC-C1CAEF541183}"/>
              </a:ext>
            </a:extLst>
          </p:cNvPr>
          <p:cNvSpPr>
            <a:spLocks xmlns:a="http://schemas.openxmlformats.org/drawingml/2006/main" noGrp="1"/>
          </p:cNvSpPr>
          <p:nvPr/>
        </p:nvSpPr>
        <p:spPr>
          <a:xfrm xmlns:a="http://schemas.openxmlformats.org/drawingml/2006/main">
            <a:off x="5400675" y="3009900"/>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Reprojection</a:t>
            </a:r>
          </a:p>
        </p:txBody>
      </p:sp>
      <p:sp>
        <p:nvSpPr>
          <p:cNvPr id="28" name="part-body-2">
            <a:extLst xmlns:a="http://schemas.openxmlformats.org/drawingml/2006/main">
              <a:ext uri="{FF2B5EF4-FFF2-40B4-BE49-F238E27FC236}">
                <a16:creationId xmlns:a16="http://schemas.microsoft.com/office/drawing/2014/main" id="{848F5C1F-2285-4F82-94CB-1D5381902B65}"/>
              </a:ext>
            </a:extLst>
          </p:cNvPr>
          <p:cNvSpPr>
            <a:spLocks xmlns:a="http://schemas.openxmlformats.org/drawingml/2006/main" noGrp="1"/>
          </p:cNvSpPr>
          <p:nvPr/>
        </p:nvSpPr>
        <p:spPr>
          <a:xfrm xmlns:a="http://schemas.openxmlformats.org/drawingml/2006/main">
            <a:off x="5095875" y="3390138"/>
            <a:ext cx="200025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Recalculates every coordinate into the target CRS.</a:t>
            </a:r>
          </a:p>
        </p:txBody>
      </p:sp>
      <p:sp>
        <p:nvSpPr>
          <p:cNvPr id="29" name="">
            <a:extLst xmlns:a="http://schemas.openxmlformats.org/drawingml/2006/main">
              <a:ext uri="{FF2B5EF4-FFF2-40B4-BE49-F238E27FC236}">
                <a16:creationId xmlns:a16="http://schemas.microsoft.com/office/drawing/2014/main" id="{071A67C9-EF63-42F9-A1B9-6BAF2C263776}"/>
              </a:ext>
            </a:extLst>
          </p:cNvPr>
          <p:cNvSpPr>
            <a:spLocks xmlns:a="http://schemas.openxmlformats.org/drawingml/2006/main" noGrp="1"/>
          </p:cNvSpPr>
          <p:nvPr/>
        </p:nvSpPr>
        <p:spPr>
          <a:xfrm xmlns:a="http://schemas.openxmlformats.org/drawingml/2006/main">
            <a:off x="6934200" y="2647950"/>
            <a:ext cx="25146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30" name="part-chip-3">
            <a:extLst xmlns:a="http://schemas.openxmlformats.org/drawingml/2006/main">
              <a:ext uri="{FF2B5EF4-FFF2-40B4-BE49-F238E27FC236}">
                <a16:creationId xmlns:a16="http://schemas.microsoft.com/office/drawing/2014/main" id="{AB02A8CB-2BC0-4A8F-9672-63F4724B4F15}"/>
              </a:ext>
            </a:extLst>
          </p:cNvPr>
          <p:cNvSpPr>
            <a:spLocks xmlns:a="http://schemas.openxmlformats.org/drawingml/2006/main" noGrp="1"/>
          </p:cNvSpPr>
          <p:nvPr/>
        </p:nvSpPr>
        <p:spPr>
          <a:xfrm xmlns:a="http://schemas.openxmlformats.org/drawingml/2006/main">
            <a:off x="806767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1" name="part-chipno-3">
            <a:extLst xmlns:a="http://schemas.openxmlformats.org/drawingml/2006/main">
              <a:ext uri="{FF2B5EF4-FFF2-40B4-BE49-F238E27FC236}">
                <a16:creationId xmlns:a16="http://schemas.microsoft.com/office/drawing/2014/main" id="{6ED1B3BF-3040-47BA-8351-579B400D377C}"/>
              </a:ext>
            </a:extLst>
          </p:cNvPr>
          <p:cNvSpPr>
            <a:spLocks xmlns:a="http://schemas.openxmlformats.org/drawingml/2006/main" noGrp="1"/>
          </p:cNvSpPr>
          <p:nvPr/>
        </p:nvSpPr>
        <p:spPr>
          <a:xfrm xmlns:a="http://schemas.openxmlformats.org/drawingml/2006/main">
            <a:off x="806767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2" name="part-lchip-3">
            <a:extLst xmlns:a="http://schemas.openxmlformats.org/drawingml/2006/main">
              <a:ext uri="{FF2B5EF4-FFF2-40B4-BE49-F238E27FC236}">
                <a16:creationId xmlns:a16="http://schemas.microsoft.com/office/drawing/2014/main" id="{77CAE4D2-A272-46D8-AF9E-766D561968AF}"/>
              </a:ext>
            </a:extLst>
          </p:cNvPr>
          <p:cNvSpPr>
            <a:spLocks xmlns:a="http://schemas.openxmlformats.org/drawingml/2006/main" noGrp="1"/>
          </p:cNvSpPr>
          <p:nvPr/>
        </p:nvSpPr>
        <p:spPr>
          <a:xfrm xmlns:a="http://schemas.openxmlformats.org/drawingml/2006/main">
            <a:off x="7191375" y="4319778"/>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3" name="part-lchipno-3">
            <a:extLst xmlns:a="http://schemas.openxmlformats.org/drawingml/2006/main">
              <a:ext uri="{FF2B5EF4-FFF2-40B4-BE49-F238E27FC236}">
                <a16:creationId xmlns:a16="http://schemas.microsoft.com/office/drawing/2014/main" id="{FBD76AAA-6F02-4095-AC8B-152F112DAD1D}"/>
              </a:ext>
            </a:extLst>
          </p:cNvPr>
          <p:cNvSpPr>
            <a:spLocks xmlns:a="http://schemas.openxmlformats.org/drawingml/2006/main" noGrp="1"/>
          </p:cNvSpPr>
          <p:nvPr/>
        </p:nvSpPr>
        <p:spPr>
          <a:xfrm xmlns:a="http://schemas.openxmlformats.org/drawingml/2006/main">
            <a:off x="7191375" y="4357878"/>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4" name="part-head-3">
            <a:extLst xmlns:a="http://schemas.openxmlformats.org/drawingml/2006/main">
              <a:ext uri="{FF2B5EF4-FFF2-40B4-BE49-F238E27FC236}">
                <a16:creationId xmlns:a16="http://schemas.microsoft.com/office/drawing/2014/main" id="{C5F6336B-4EC2-4971-B139-260CDBD6BCF0}"/>
              </a:ext>
            </a:extLst>
          </p:cNvPr>
          <p:cNvSpPr>
            <a:spLocks xmlns:a="http://schemas.openxmlformats.org/drawingml/2006/main" noGrp="1"/>
          </p:cNvSpPr>
          <p:nvPr/>
        </p:nvSpPr>
        <p:spPr>
          <a:xfrm xmlns:a="http://schemas.openxmlformats.org/drawingml/2006/main">
            <a:off x="7496175" y="4300728"/>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Target CRS</a:t>
            </a:r>
          </a:p>
        </p:txBody>
      </p:sp>
      <p:sp>
        <p:nvSpPr>
          <p:cNvPr id="35" name="part-body-3">
            <a:extLst xmlns:a="http://schemas.openxmlformats.org/drawingml/2006/main">
              <a:ext uri="{FF2B5EF4-FFF2-40B4-BE49-F238E27FC236}">
                <a16:creationId xmlns:a16="http://schemas.microsoft.com/office/drawing/2014/main" id="{6CEB083C-37D1-431D-8674-CF9A67511505}"/>
              </a:ext>
            </a:extLst>
          </p:cNvPr>
          <p:cNvSpPr>
            <a:spLocks xmlns:a="http://schemas.openxmlformats.org/drawingml/2006/main" noGrp="1"/>
          </p:cNvSpPr>
          <p:nvPr/>
        </p:nvSpPr>
        <p:spPr>
          <a:xfrm xmlns:a="http://schemas.openxmlformats.org/drawingml/2006/main">
            <a:off x="7191375" y="4680966"/>
            <a:ext cx="200025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UTM zone 18N, meters -- the correct choice for Syracuse, NY.</a:t>
            </a:r>
          </a:p>
        </p:txBody>
      </p:sp>
    </p:spTree>
    <p:extLst>
      <p:ext uri="{BB962C8B-B14F-4D97-AF65-F5344CB8AC3E}">
        <p14:creationId xmlns:p14="http://schemas.microsoft.com/office/powerpoint/2010/main" val="6234434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CCAFA31C-9163-4C64-AE47-24215A8D31C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0F1AE985-08BF-46EA-807A-BDE86330BB9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Degrees of latitude/longitude are not a ruler</a:t>
            </a:r>
          </a:p>
        </p:txBody>
      </p:sp>
      <p:sp>
        <p:nvSpPr>
          <p:cNvPr id="3" name="">
            <a:extLst xmlns:a="http://schemas.openxmlformats.org/drawingml/2006/main">
              <a:ext uri="{FF2B5EF4-FFF2-40B4-BE49-F238E27FC236}">
                <a16:creationId xmlns:a16="http://schemas.microsoft.com/office/drawing/2014/main" id="{C40BAC64-6676-4340-8386-48692C20856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EE8C9D0-F87C-46A5-94FA-12C2EE68588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0B6020F0-A3E3-42D8-9EDE-B5145213DC5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17</a:t>
            </a:r>
          </a:p>
        </p:txBody>
      </p:sp>
      <p:sp>
        <p:nvSpPr>
          <p:cNvPr id="6" name="statement">
            <a:extLst xmlns:a="http://schemas.openxmlformats.org/drawingml/2006/main">
              <a:ext uri="{FF2B5EF4-FFF2-40B4-BE49-F238E27FC236}">
                <a16:creationId xmlns:a16="http://schemas.microsoft.com/office/drawing/2014/main" id="{0EE0CBF2-A078-4148-A210-3D95A0D643A7}"/>
              </a:ext>
            </a:extLst>
          </p:cNvPr>
          <p:cNvSpPr>
            <a:spLocks xmlns:a="http://schemas.openxmlformats.org/drawingml/2006/main" noGrp="1"/>
          </p:cNvSpPr>
          <p:nvPr/>
        </p:nvSpPr>
        <p:spPr>
          <a:xfrm xmlns:a="http://schemas.openxmlformats.org/drawingml/2006/main">
            <a:off x="609600" y="2152650"/>
            <a:ext cx="9829800" cy="20513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A geographic CRS (like EPSG:4326) stores angles on a sphere. A projected CRS (like EPSG:32618) stores flat, linear meters.</a:t>
            </a:r>
          </a:p>
        </p:txBody>
      </p:sp>
      <p:sp>
        <p:nvSpPr>
          <p:cNvPr id="7" name="">
            <a:extLst xmlns:a="http://schemas.openxmlformats.org/drawingml/2006/main">
              <a:ext uri="{FF2B5EF4-FFF2-40B4-BE49-F238E27FC236}">
                <a16:creationId xmlns:a16="http://schemas.microsoft.com/office/drawing/2014/main" id="{5339E119-791B-4046-805E-0EBD96C03641}"/>
              </a:ext>
            </a:extLst>
          </p:cNvPr>
          <p:cNvSpPr>
            <a:spLocks xmlns:a="http://schemas.openxmlformats.org/drawingml/2006/main" noGrp="1"/>
          </p:cNvSpPr>
          <p:nvPr/>
        </p:nvSpPr>
        <p:spPr>
          <a:xfrm xmlns:a="http://schemas.openxmlformats.org/drawingml/2006/main">
            <a:off x="609600" y="4413504"/>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F2F45FF7-958C-4F75-BB75-9B27939BB2AD}"/>
              </a:ext>
            </a:extLst>
          </p:cNvPr>
          <p:cNvSpPr>
            <a:spLocks xmlns:a="http://schemas.openxmlformats.org/drawingml/2006/main" noGrp="1"/>
          </p:cNvSpPr>
          <p:nvPr/>
        </p:nvSpPr>
        <p:spPr>
          <a:xfrm xmlns:a="http://schemas.openxmlformats.org/drawingml/2006/main">
            <a:off x="609600" y="4737354"/>
            <a:ext cx="9334500" cy="6065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Area and length calculations need a consistent linear unit. Only a projected CRS gives you one - so reproject before you measure.</a:t>
            </a:r>
          </a:p>
        </p:txBody>
      </p:sp>
    </p:spTree>
    <p:extLst>
      <p:ext uri="{BB962C8B-B14F-4D97-AF65-F5344CB8AC3E}">
        <p14:creationId xmlns:p14="http://schemas.microsoft.com/office/powerpoint/2010/main" val="67304701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icker">
            <a:extLst xmlns:a="http://schemas.openxmlformats.org/drawingml/2006/main">
              <a:ext uri="{FF2B5EF4-FFF2-40B4-BE49-F238E27FC236}">
                <a16:creationId xmlns:a16="http://schemas.microsoft.com/office/drawing/2014/main" id="{C9A812AA-214D-4C45-8B7A-39A794A8ED4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VISUAL EVIDENCE</a:t>
            </a:r>
          </a:p>
        </p:txBody>
      </p:sp>
      <p:sp>
        <p:nvSpPr>
          <p:cNvPr id="2" name="title">
            <a:extLst xmlns:a="http://schemas.openxmlformats.org/drawingml/2006/main">
              <a:ext uri="{FF2B5EF4-FFF2-40B4-BE49-F238E27FC236}">
                <a16:creationId xmlns:a16="http://schemas.microsoft.com/office/drawing/2014/main" id="{3FF28EF9-24BA-4ADF-90C6-DD0EBD8051C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same two zones, measured twice</a:t>
            </a:r>
          </a:p>
        </p:txBody>
      </p:sp>
      <p:sp>
        <p:nvSpPr>
          <p:cNvPr id="3" name="">
            <a:extLst xmlns:a="http://schemas.openxmlformats.org/drawingml/2006/main">
              <a:ext uri="{FF2B5EF4-FFF2-40B4-BE49-F238E27FC236}">
                <a16:creationId xmlns:a16="http://schemas.microsoft.com/office/drawing/2014/main" id="{47D03C3C-33A9-4F38-90BA-324A263AE99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6559383-A06D-4A5E-A65B-7A6B9A847E2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3BE99701-E615-4840-BF28-8E684DBECB2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18</a:t>
            </a:r>
          </a:p>
        </p:txBody>
      </p:sp>
      <p:sp>
        <p:nvSpPr>
          <p:cNvPr id="6" name="figure-panel">
            <a:extLst xmlns:a="http://schemas.openxmlformats.org/drawingml/2006/main">
              <a:ext uri="{FF2B5EF4-FFF2-40B4-BE49-F238E27FC236}">
                <a16:creationId xmlns:a16="http://schemas.microsoft.com/office/drawing/2014/main" id="{A2618685-CCED-4D0D-A9AC-6BA1BA7C56E9}"/>
              </a:ext>
            </a:extLst>
          </p:cNvPr>
          <p:cNvSpPr>
            <a:spLocks xmlns:a="http://schemas.openxmlformats.org/drawingml/2006/main" noGrp="1"/>
          </p:cNvSpPr>
          <p:nvPr/>
        </p:nvSpPr>
        <p:spPr>
          <a:xfrm xmlns:a="http://schemas.openxmlformats.org/drawingml/2006/main">
            <a:off x="609600" y="1809750"/>
            <a:ext cx="8572500" cy="3995166"/>
          </a:xfrm>
          <a:prstGeom xmlns:a="http://schemas.openxmlformats.org/drawingml/2006/main" prst="roundRect">
            <a:avLst>
              <a:gd name="adj" fmla="val 1907"/>
            </a:avLst>
          </a:prstGeom>
          <a:solidFill xmlns:a="http://schemas.openxmlformats.org/drawingml/2006/main">
            <a:srgbClr val="FFFFFF"/>
          </a:solidFill>
          <a:ln xmlns:a="http://schemas.openxmlformats.org/drawingml/2006/main" w="9525">
            <a:solidFill>
              <a:srgbClr val="B8BCC4"/>
            </a:solidFill>
            <a:prstDash val="solid"/>
          </a:ln>
        </p:spPr>
      </p:sp>
      <p:pic>
        <p:nvPicPr>
          <p:cNvPr id="17" name="" descr="Two panels of the same pair of zone polygons: the left in EPSG:4326 reporting an area of 2.65e-08 square degrees, the right in EPSG:32618 reporting 239.74 square meters against a known truth of 240."/>
          <p:cNvPicPr>
            <a:picLocks xmlns:a="http://schemas.openxmlformats.org/drawingml/2006/main" noChangeAspect="1"/>
          </p:cNvPicPr>
          <p:nvPr/>
        </p:nvPicPr>
        <p:blipFill>
          <a:blip xmlns:r="http://schemas.openxmlformats.org/officeDocument/2006/relationships" xmlns:a="http://schemas.openxmlformats.org/drawingml/2006/main" r:embed="R76df341d9ed249a5"/>
          <a:stretch xmlns:a="http://schemas.openxmlformats.org/drawingml/2006/main"/>
        </p:blipFill>
        <p:spPr>
          <a:xfrm xmlns:a="http://schemas.openxmlformats.org/drawingml/2006/main">
            <a:off x="1565663" y="1943100"/>
            <a:ext cx="6660374" cy="3728466"/>
          </a:xfrm>
          <a:prstGeom xmlns:a="http://schemas.openxmlformats.org/drawingml/2006/main" prst="rect">
            <a:avLst/>
          </a:prstGeom>
        </p:spPr>
      </p:pic>
      <p:sp>
        <p:nvSpPr>
          <p:cNvPr id="8" name="figure-caption">
            <a:extLst xmlns:a="http://schemas.openxmlformats.org/drawingml/2006/main">
              <a:ext uri="{FF2B5EF4-FFF2-40B4-BE49-F238E27FC236}">
                <a16:creationId xmlns:a16="http://schemas.microsoft.com/office/drawing/2014/main" id="{ADC70306-750F-4C60-970B-546497B6F165}"/>
              </a:ext>
            </a:extLst>
          </p:cNvPr>
          <p:cNvSpPr>
            <a:spLocks xmlns:a="http://schemas.openxmlformats.org/drawingml/2006/main" noGrp="1"/>
          </p:cNvSpPr>
          <p:nvPr/>
        </p:nvSpPr>
        <p:spPr>
          <a:xfrm xmlns:a="http://schemas.openxmlformats.org/drawingml/2006/main">
            <a:off x="762000" y="5881116"/>
            <a:ext cx="8267700" cy="2720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Identical geometry, two coordinate systems. Only the right-hand number is an area.</a:t>
            </a:r>
          </a:p>
        </p:txBody>
      </p:sp>
      <p:sp>
        <p:nvSpPr>
          <p:cNvPr id="9" name="figure-explain-head">
            <a:extLst xmlns:a="http://schemas.openxmlformats.org/drawingml/2006/main">
              <a:ext uri="{FF2B5EF4-FFF2-40B4-BE49-F238E27FC236}">
                <a16:creationId xmlns:a16="http://schemas.microsoft.com/office/drawing/2014/main" id="{CDA1035F-B24B-47E3-A6A2-B452230CF410}"/>
              </a:ext>
            </a:extLst>
          </p:cNvPr>
          <p:cNvSpPr>
            <a:spLocks xmlns:a="http://schemas.openxmlformats.org/drawingml/2006/main" noGrp="1"/>
          </p:cNvSpPr>
          <p:nvPr/>
        </p:nvSpPr>
        <p:spPr>
          <a:xfrm xmlns:a="http://schemas.openxmlformats.org/drawingml/2006/main">
            <a:off x="9563100" y="1866900"/>
            <a:ext cx="2019300" cy="9212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Neither call raised an error</a:t>
            </a:r>
          </a:p>
        </p:txBody>
      </p:sp>
      <p:sp>
        <p:nvSpPr>
          <p:cNvPr id="10" name="figure-explain-body">
            <a:extLst xmlns:a="http://schemas.openxmlformats.org/drawingml/2006/main">
              <a:ext uri="{FF2B5EF4-FFF2-40B4-BE49-F238E27FC236}">
                <a16:creationId xmlns:a16="http://schemas.microsoft.com/office/drawing/2014/main" id="{D019CFBD-E46B-4F24-9113-DBACDB9869E5}"/>
              </a:ext>
            </a:extLst>
          </p:cNvPr>
          <p:cNvSpPr>
            <a:spLocks xmlns:a="http://schemas.openxmlformats.org/drawingml/2006/main" noGrp="1"/>
          </p:cNvSpPr>
          <p:nvPr/>
        </p:nvSpPr>
        <p:spPr>
          <a:xfrm xmlns:a="http://schemas.openxmlformats.org/drawingml/2006/main">
            <a:off x="9563100" y="2940558"/>
            <a:ext cx="2019300" cy="3169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Both panels ran .area on the same polygons. The left returned 2.65e-08 - real arithmetic in square degrees, a unit that does not describe ground area. The right returned 239.74 m2 against a known 240. The danger is that the wrong answer looks like an answer; nothing crashed.</a:t>
            </a:r>
          </a:p>
        </p:txBody>
      </p:sp>
    </p:spTree>
    <p:extLst>
      <p:ext uri="{BB962C8B-B14F-4D97-AF65-F5344CB8AC3E}">
        <p14:creationId xmlns:p14="http://schemas.microsoft.com/office/powerpoint/2010/main" val="177747520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47AF9174-1A6B-4981-BCE0-156BD009AE1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DC675C44-57CA-4D13-A732-1F16AE0D676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DEMO 1 - measure 8.0 m apart directly in EPSG:4326</a:t>
            </a:r>
          </a:p>
        </p:txBody>
      </p:sp>
      <p:sp>
        <p:nvSpPr>
          <p:cNvPr id="3" name="">
            <a:extLst xmlns:a="http://schemas.openxmlformats.org/drawingml/2006/main">
              <a:ext uri="{FF2B5EF4-FFF2-40B4-BE49-F238E27FC236}">
                <a16:creationId xmlns:a16="http://schemas.microsoft.com/office/drawing/2014/main" id="{89B7D661-4B29-4223-A054-3BB52B39DD7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5E1AB78-CFAF-4458-9460-432C1DADF86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82EEC314-E81D-4FB0-A0EB-4E498FD35E7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19</a:t>
            </a:r>
          </a:p>
        </p:txBody>
      </p:sp>
      <p:sp>
        <p:nvSpPr>
          <p:cNvPr id="6" name="code-panel">
            <a:extLst xmlns:a="http://schemas.openxmlformats.org/drawingml/2006/main">
              <a:ext uri="{FF2B5EF4-FFF2-40B4-BE49-F238E27FC236}">
                <a16:creationId xmlns:a16="http://schemas.microsoft.com/office/drawing/2014/main" id="{66087665-D5A4-4BF5-B776-80312589FFEF}"/>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52E3601F-CF3B-4462-916C-B5AE28439193}"/>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import geopandas as gpd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from shapely.geometry import Point</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R101, R102 are 8.0 m apart on the ground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p1 = Point(-76.1350754186006, 43.03940661157025)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p2 = Point(-76.134977093003, 43.03940661157025)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gdf = gpd.GeoDataFrame({'room_id': ['R101', 'R102']}, geometry=[p1, p2], crs='EPSG:4326')</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d_geo = gdf.geometry.iloc[0].distance(gdf.geometry.iloc[1])</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print(f'distance in EPSG:4326 (degrees): {d_geo:.6f}')</a:t>
            </a:r>
          </a:p>
        </p:txBody>
      </p:sp>
      <p:sp>
        <p:nvSpPr>
          <p:cNvPr id="8" name="">
            <a:extLst xmlns:a="http://schemas.openxmlformats.org/drawingml/2006/main">
              <a:ext uri="{FF2B5EF4-FFF2-40B4-BE49-F238E27FC236}">
                <a16:creationId xmlns:a16="http://schemas.microsoft.com/office/drawing/2014/main" id="{D03292F1-6657-4D75-BC35-CBD1BB378BF3}"/>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57C2C2D2-38EE-4603-90A8-C74635CF0775}"/>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0760FD31-842D-4E16-B306-D5B8FE7EB59B}"/>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distance in EPSG:4326 (degrees): 0.000098</a:t>
            </a:r>
          </a:p>
        </p:txBody>
      </p:sp>
      <p:sp>
        <p:nvSpPr>
          <p:cNvPr id="11" name="explain-head">
            <a:extLst xmlns:a="http://schemas.openxmlformats.org/drawingml/2006/main">
              <a:ext uri="{FF2B5EF4-FFF2-40B4-BE49-F238E27FC236}">
                <a16:creationId xmlns:a16="http://schemas.microsoft.com/office/drawing/2014/main" id="{0EB1C453-ABB9-411A-8F47-B9DC9B769353}"/>
              </a:ext>
            </a:extLst>
          </p:cNvPr>
          <p:cNvSpPr>
            <a:spLocks xmlns:a="http://schemas.openxmlformats.org/drawingml/2006/main" noGrp="1"/>
          </p:cNvSpPr>
          <p:nvPr/>
        </p:nvSpPr>
        <p:spPr>
          <a:xfrm xmlns:a="http://schemas.openxmlformats.org/drawingml/2006/main">
            <a:off x="7886700" y="2628900"/>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0.000098 what?</a:t>
            </a:r>
          </a:p>
        </p:txBody>
      </p:sp>
      <p:sp>
        <p:nvSpPr>
          <p:cNvPr id="12" name="explain-body">
            <a:extLst xmlns:a="http://schemas.openxmlformats.org/drawingml/2006/main">
              <a:ext uri="{FF2B5EF4-FFF2-40B4-BE49-F238E27FC236}">
                <a16:creationId xmlns:a16="http://schemas.microsoft.com/office/drawing/2014/main" id="{951685BF-1B59-4C31-BBBB-FD19291C7D09}"/>
              </a:ext>
            </a:extLst>
          </p:cNvPr>
          <p:cNvSpPr>
            <a:spLocks xmlns:a="http://schemas.openxmlformats.org/drawingml/2006/main" noGrp="1"/>
          </p:cNvSpPr>
          <p:nvPr/>
        </p:nvSpPr>
        <p:spPr>
          <a:xfrm xmlns:a="http://schemas.openxmlformats.org/drawingml/2006/main">
            <a:off x="7886700" y="3126486"/>
            <a:ext cx="36957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Two Radley Hall rooms known to be 8.0 m apart on the ground. Measured directly in EPSG:4326 (still degrees of longitude/latitude), .distance() returns 0.000098 -- a number of DEGREES, meaningless as a physical distance. The next slide reprojects and measures again.</a:t>
            </a:r>
          </a:p>
        </p:txBody>
      </p:sp>
    </p:spTree>
    <p:extLst>
      <p:ext uri="{BB962C8B-B14F-4D97-AF65-F5344CB8AC3E}">
        <p14:creationId xmlns:p14="http://schemas.microsoft.com/office/powerpoint/2010/main" val="126767976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EB1E2C89-370A-4719-83FF-A9657DA016E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C1BB1328-BFC2-4671-9A4C-091550CBB25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DEMO 1, continued - reproject, then measure again</a:t>
            </a:r>
          </a:p>
        </p:txBody>
      </p:sp>
      <p:sp>
        <p:nvSpPr>
          <p:cNvPr id="3" name="">
            <a:extLst xmlns:a="http://schemas.openxmlformats.org/drawingml/2006/main">
              <a:ext uri="{FF2B5EF4-FFF2-40B4-BE49-F238E27FC236}">
                <a16:creationId xmlns:a16="http://schemas.microsoft.com/office/drawing/2014/main" id="{609D6DF8-5381-4423-8C69-4AF45C92F03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C80C9F6-69A0-4C36-BDE8-BCE760D4C14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340D6881-1436-43E6-A2CD-585174099A0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20</a:t>
            </a:r>
          </a:p>
        </p:txBody>
      </p:sp>
      <p:sp>
        <p:nvSpPr>
          <p:cNvPr id="6" name="code-panel">
            <a:extLst xmlns:a="http://schemas.openxmlformats.org/drawingml/2006/main">
              <a:ext uri="{FF2B5EF4-FFF2-40B4-BE49-F238E27FC236}">
                <a16:creationId xmlns:a16="http://schemas.microsoft.com/office/drawing/2014/main" id="{8B7946C5-12F3-4A01-B341-B37A1260C2F6}"/>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97C4BFE5-DB0A-4574-972C-1FF1E022A5D2}"/>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gdf is still in EPSG:4326, from the previous slide</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gdf_utm = gdf.to_crs('EPSG:32618')</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d_utm = gdf_utm.geometry.iloc[0].distance(</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gdf_utm.geometry.iloc[1]</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print(f'distance in EPSG:32618 (meters): {d_utm:.3f}')</a:t>
            </a:r>
          </a:p>
        </p:txBody>
      </p:sp>
      <p:sp>
        <p:nvSpPr>
          <p:cNvPr id="8" name="">
            <a:extLst xmlns:a="http://schemas.openxmlformats.org/drawingml/2006/main">
              <a:ext uri="{FF2B5EF4-FFF2-40B4-BE49-F238E27FC236}">
                <a16:creationId xmlns:a16="http://schemas.microsoft.com/office/drawing/2014/main" id="{A99B5D65-E394-4FCF-9C95-BE83FD6D629B}"/>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1216F08C-E4F9-4881-B5B7-5F57DA89121F}"/>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F71A8D0F-9B15-4A3B-A653-EA9C3643E1D3}"/>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distance in EPSG:32618 (meters): 8.010</a:t>
            </a:r>
          </a:p>
        </p:txBody>
      </p:sp>
      <p:sp>
        <p:nvSpPr>
          <p:cNvPr id="11" name="explain-head">
            <a:extLst xmlns:a="http://schemas.openxmlformats.org/drawingml/2006/main">
              <a:ext uri="{FF2B5EF4-FFF2-40B4-BE49-F238E27FC236}">
                <a16:creationId xmlns:a16="http://schemas.microsoft.com/office/drawing/2014/main" id="{B131C494-D6C9-47FD-B9AA-308FFC3E9B02}"/>
              </a:ext>
            </a:extLst>
          </p:cNvPr>
          <p:cNvSpPr>
            <a:spLocks xmlns:a="http://schemas.openxmlformats.org/drawingml/2006/main" noGrp="1"/>
          </p:cNvSpPr>
          <p:nvPr/>
        </p:nvSpPr>
        <p:spPr>
          <a:xfrm xmlns:a="http://schemas.openxmlformats.org/drawingml/2006/main">
            <a:off x="7886700" y="25241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8.010 m -- within 1 cm of the truth</a:t>
            </a:r>
          </a:p>
        </p:txBody>
      </p:sp>
      <p:sp>
        <p:nvSpPr>
          <p:cNvPr id="12" name="explain-body">
            <a:extLst xmlns:a="http://schemas.openxmlformats.org/drawingml/2006/main">
              <a:ext uri="{FF2B5EF4-FFF2-40B4-BE49-F238E27FC236}">
                <a16:creationId xmlns:a16="http://schemas.microsoft.com/office/drawing/2014/main" id="{BF4BDCE3-7A6F-4E2E-98AE-068E711465DF}"/>
              </a:ext>
            </a:extLst>
          </p:cNvPr>
          <p:cNvSpPr>
            <a:spLocks xmlns:a="http://schemas.openxmlformats.org/drawingml/2006/main" noGrp="1"/>
          </p:cNvSpPr>
          <p:nvPr/>
        </p:nvSpPr>
        <p:spPr>
          <a:xfrm xmlns:a="http://schemas.openxmlformats.org/drawingml/2006/main">
            <a:off x="7886700" y="3309747"/>
            <a:ext cx="36957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to_crs('EPSG:32618') reprojects gdf to UTM zone 18N (meters, the correct choice for Syracuse, NY); the same two points now measure 8.010 m -- within 0.010 m of the known 8.000 m ground truth. The small remainder is real projection distortion, not a mistake.</a:t>
            </a:r>
          </a:p>
        </p:txBody>
      </p:sp>
    </p:spTree>
    <p:extLst>
      <p:ext uri="{BB962C8B-B14F-4D97-AF65-F5344CB8AC3E}">
        <p14:creationId xmlns:p14="http://schemas.microsoft.com/office/powerpoint/2010/main" val="9561326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04C346C1-D0FF-42F7-810C-AEDF683ADE7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642B3BB9-D05C-45DA-85A5-63CCF045DF4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what happens when you call .area in EPSG:4326?</a:t>
            </a:r>
          </a:p>
        </p:txBody>
      </p:sp>
      <p:sp>
        <p:nvSpPr>
          <p:cNvPr id="3" name="">
            <a:extLst xmlns:a="http://schemas.openxmlformats.org/drawingml/2006/main">
              <a:ext uri="{FF2B5EF4-FFF2-40B4-BE49-F238E27FC236}">
                <a16:creationId xmlns:a16="http://schemas.microsoft.com/office/drawing/2014/main" id="{DC9425A0-AB75-47F8-AC7D-D0C9E21951E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4B693D0-DF8C-4C1D-8DDE-1962B73F268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4DEEC87D-26BF-485A-986D-AA140B60167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21</a:t>
            </a:r>
          </a:p>
        </p:txBody>
      </p:sp>
      <p:sp>
        <p:nvSpPr>
          <p:cNvPr id="6" name="code-panel">
            <a:extLst xmlns:a="http://schemas.openxmlformats.org/drawingml/2006/main">
              <a:ext uri="{FF2B5EF4-FFF2-40B4-BE49-F238E27FC236}">
                <a16:creationId xmlns:a16="http://schemas.microsoft.com/office/drawing/2014/main" id="{A323BD1F-DB29-4E6A-A7D4-3E1C7BDE9E55}"/>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6C802763-B8C5-4AD0-90A7-88F3AE5870B1}"/>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import geopandas as gpd</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zones = gpd.read_file('zone_footprints.geojson')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print(zones.crs)</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areas = zones.geometry.area</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print(areas)</a:t>
            </a:r>
          </a:p>
        </p:txBody>
      </p:sp>
      <p:sp>
        <p:nvSpPr>
          <p:cNvPr id="8" name="question">
            <a:extLst xmlns:a="http://schemas.openxmlformats.org/drawingml/2006/main">
              <a:ext uri="{FF2B5EF4-FFF2-40B4-BE49-F238E27FC236}">
                <a16:creationId xmlns:a16="http://schemas.microsoft.com/office/drawing/2014/main" id="{7A871092-DA7D-4195-8F4C-8214180E4F27}"/>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zones is still in EPSG:4326 (degrees). What happens next?</a:t>
            </a:r>
          </a:p>
        </p:txBody>
      </p:sp>
      <p:sp>
        <p:nvSpPr>
          <p:cNvPr id="9" name="opt-0">
            <a:extLst xmlns:a="http://schemas.openxmlformats.org/drawingml/2006/main">
              <a:ext uri="{FF2B5EF4-FFF2-40B4-BE49-F238E27FC236}">
                <a16:creationId xmlns:a16="http://schemas.microsoft.com/office/drawing/2014/main" id="{61B496DE-942E-4269-A8D9-ABFCF01A1500}"/>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F127848A-14B8-4E03-BEB3-C1327D1CAC85}"/>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B34CA99D-BA4A-4F22-84DC-779CCB0F089C}"/>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Raises an error and stops</a:t>
            </a:r>
          </a:p>
        </p:txBody>
      </p:sp>
      <p:sp>
        <p:nvSpPr>
          <p:cNvPr id="12" name="opt-1">
            <a:extLst xmlns:a="http://schemas.openxmlformats.org/drawingml/2006/main">
              <a:ext uri="{FF2B5EF4-FFF2-40B4-BE49-F238E27FC236}">
                <a16:creationId xmlns:a16="http://schemas.microsoft.com/office/drawing/2014/main" id="{FEC52D20-743A-4C0D-949E-52A5A8759C8B}"/>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FDEC67AE-C6B5-4682-874D-29BCB35EA671}"/>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5B969FDD-8CA7-4505-8625-CFE7FB7981AE}"/>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Warns, but still returns a number</a:t>
            </a:r>
          </a:p>
        </p:txBody>
      </p:sp>
      <p:sp>
        <p:nvSpPr>
          <p:cNvPr id="15" name="opt-2">
            <a:extLst xmlns:a="http://schemas.openxmlformats.org/drawingml/2006/main">
              <a:ext uri="{FF2B5EF4-FFF2-40B4-BE49-F238E27FC236}">
                <a16:creationId xmlns:a16="http://schemas.microsoft.com/office/drawing/2014/main" id="{79B96E66-A27F-4A75-835E-102491E3D77A}"/>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F3F94804-14A3-45BC-AB0E-88432954BB06}"/>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A8BE4F53-1984-40BD-9A9C-220331A12904}"/>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Reprojects automatically first</a:t>
            </a:r>
          </a:p>
        </p:txBody>
      </p:sp>
      <p:sp>
        <p:nvSpPr>
          <p:cNvPr id="18" name="opt-3">
            <a:extLst xmlns:a="http://schemas.openxmlformats.org/drawingml/2006/main">
              <a:ext uri="{FF2B5EF4-FFF2-40B4-BE49-F238E27FC236}">
                <a16:creationId xmlns:a16="http://schemas.microsoft.com/office/drawing/2014/main" id="{86988AEF-15AD-48EE-B040-6DED2A9A0467}"/>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A3C9DBE1-6DAC-4030-A6F4-A3C490A3FE1E}"/>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FE7C6D48-F894-4846-BC71-2BCA462F53EC}"/>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Returns NaN for every zone</a:t>
            </a:r>
          </a:p>
        </p:txBody>
      </p:sp>
      <p:sp>
        <p:nvSpPr>
          <p:cNvPr id="21" name="answer-panel">
            <a:extLst xmlns:a="http://schemas.openxmlformats.org/drawingml/2006/main">
              <a:ext uri="{FF2B5EF4-FFF2-40B4-BE49-F238E27FC236}">
                <a16:creationId xmlns:a16="http://schemas.microsoft.com/office/drawing/2014/main" id="{99A3350F-3C69-4828-95AF-E234A46B952D}"/>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17702569-03AD-47E3-B666-43966BDC429E}"/>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B</a:t>
            </a:r>
          </a:p>
        </p:txBody>
      </p:sp>
      <p:sp>
        <p:nvSpPr>
          <p:cNvPr id="23" name="why">
            <a:extLst xmlns:a="http://schemas.openxmlformats.org/drawingml/2006/main">
              <a:ext uri="{FF2B5EF4-FFF2-40B4-BE49-F238E27FC236}">
                <a16:creationId xmlns:a16="http://schemas.microsoft.com/office/drawing/2014/main" id="{AF99F4AA-5AA6-4FC6-9723-BFBCD6028812}"/>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GeoPandas warns but still returns a number -- a tiny, meaningless square-degree value. It never reprojects for you automatically.</a:t>
            </a:r>
          </a:p>
        </p:txBody>
      </p:sp>
    </p:spTree>
    <p:extLst>
      <p:ext uri="{BB962C8B-B14F-4D97-AF65-F5344CB8AC3E}">
        <p14:creationId xmlns:p14="http://schemas.microsoft.com/office/powerpoint/2010/main" val="143060843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31A4D2DD-5EE4-47BF-BB1A-CDB2B10A30B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32457E2E-45A0-45E7-8B68-78161DF286C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DEMO 2 - the same 240 m2 zone, measured two ways</a:t>
            </a:r>
          </a:p>
        </p:txBody>
      </p:sp>
      <p:sp>
        <p:nvSpPr>
          <p:cNvPr id="3" name="">
            <a:extLst xmlns:a="http://schemas.openxmlformats.org/drawingml/2006/main">
              <a:ext uri="{FF2B5EF4-FFF2-40B4-BE49-F238E27FC236}">
                <a16:creationId xmlns:a16="http://schemas.microsoft.com/office/drawing/2014/main" id="{201A2FF1-2866-4D05-8B88-9F0B93970F9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4664C2B-72AF-452E-81D7-DD739109A25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4D6D7B1C-0CAF-4DAC-93F5-002FA7A343D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22</a:t>
            </a:r>
          </a:p>
        </p:txBody>
      </p:sp>
      <p:sp>
        <p:nvSpPr>
          <p:cNvPr id="6" name="code-panel">
            <a:extLst xmlns:a="http://schemas.openxmlformats.org/drawingml/2006/main">
              <a:ext uri="{FF2B5EF4-FFF2-40B4-BE49-F238E27FC236}">
                <a16:creationId xmlns:a16="http://schemas.microsoft.com/office/drawing/2014/main" id="{33B6BAA2-0C11-4B9C-9144-1018506B267F}"/>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603DC7AE-846C-4919-BC9F-FC63B2195954}"/>
              </a:ext>
            </a:extLst>
          </p:cNvPr>
          <p:cNvSpPr>
            <a:spLocks xmlns:a="http://schemas.openxmlformats.org/drawingml/2006/main" noGrp="1"/>
          </p:cNvSpPr>
          <p:nvPr/>
        </p:nvSpPr>
        <p:spPr>
          <a:xfrm xmlns:a="http://schemas.openxmlformats.org/drawingml/2006/main">
            <a:off x="857250" y="2057400"/>
            <a:ext cx="6400800" cy="26197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import geopandas as gpd</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zones = gpd.read_file('zone_footprints.geojson')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for zone, a in zip(zones['zone'], zones.geometry.area):</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print(f'{zone}: {a:.2e} sq deg')</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zones_utm = zones.to_crs('EPSG:32618')</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for zone, a in zip(zones_utm['zone'], zones_utm.geometry.area):</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print(f'{zone}: {a:.2f} m2')</a:t>
            </a:r>
          </a:p>
        </p:txBody>
      </p:sp>
      <p:sp>
        <p:nvSpPr>
          <p:cNvPr id="8" name="">
            <a:extLst xmlns:a="http://schemas.openxmlformats.org/drawingml/2006/main">
              <a:ext uri="{FF2B5EF4-FFF2-40B4-BE49-F238E27FC236}">
                <a16:creationId xmlns:a16="http://schemas.microsoft.com/office/drawing/2014/main" id="{4453F237-D00E-4255-8D59-12C2B9B029AF}"/>
              </a:ext>
            </a:extLst>
          </p:cNvPr>
          <p:cNvSpPr>
            <a:spLocks xmlns:a="http://schemas.openxmlformats.org/drawingml/2006/main" noGrp="1"/>
          </p:cNvSpPr>
          <p:nvPr/>
        </p:nvSpPr>
        <p:spPr>
          <a:xfrm xmlns:a="http://schemas.openxmlformats.org/drawingml/2006/main">
            <a:off x="857250" y="4734306"/>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1E8A8636-C0B4-4234-B8CB-607218CD9712}"/>
              </a:ext>
            </a:extLst>
          </p:cNvPr>
          <p:cNvSpPr>
            <a:spLocks xmlns:a="http://schemas.openxmlformats.org/drawingml/2006/main" noGrp="1"/>
          </p:cNvSpPr>
          <p:nvPr/>
        </p:nvSpPr>
        <p:spPr>
          <a:xfrm xmlns:a="http://schemas.openxmlformats.org/drawingml/2006/main">
            <a:off x="857250" y="4848606"/>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1BA34154-EA97-49F1-AB30-0224711CCF57}"/>
              </a:ext>
            </a:extLst>
          </p:cNvPr>
          <p:cNvSpPr>
            <a:spLocks xmlns:a="http://schemas.openxmlformats.org/drawingml/2006/main" noGrp="1"/>
          </p:cNvSpPr>
          <p:nvPr/>
        </p:nvSpPr>
        <p:spPr>
          <a:xfrm xmlns:a="http://schemas.openxmlformats.org/drawingml/2006/main">
            <a:off x="857250" y="5077206"/>
            <a:ext cx="6400800" cy="752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North: 2.65e-08 sq deg</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South: 2.65e-08 sq deg</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North: 239.74 m2</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South: 239.74 m2</a:t>
            </a:r>
          </a:p>
        </p:txBody>
      </p:sp>
      <p:sp>
        <p:nvSpPr>
          <p:cNvPr id="11" name="explain-head">
            <a:extLst xmlns:a="http://schemas.openxmlformats.org/drawingml/2006/main">
              <a:ext uri="{FF2B5EF4-FFF2-40B4-BE49-F238E27FC236}">
                <a16:creationId xmlns:a16="http://schemas.microsoft.com/office/drawing/2014/main" id="{135804FE-5061-41CE-875B-D544CFF9107B}"/>
              </a:ext>
            </a:extLst>
          </p:cNvPr>
          <p:cNvSpPr>
            <a:spLocks xmlns:a="http://schemas.openxmlformats.org/drawingml/2006/main" noGrp="1"/>
          </p:cNvSpPr>
          <p:nvPr/>
        </p:nvSpPr>
        <p:spPr>
          <a:xfrm xmlns:a="http://schemas.openxmlformats.org/drawingml/2006/main">
            <a:off x="7886700" y="2228850"/>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GeoPandas even warns you</a:t>
            </a:r>
          </a:p>
        </p:txBody>
      </p:sp>
      <p:sp>
        <p:nvSpPr>
          <p:cNvPr id="12" name="explain-body">
            <a:extLst xmlns:a="http://schemas.openxmlformats.org/drawingml/2006/main">
              <a:ext uri="{FF2B5EF4-FFF2-40B4-BE49-F238E27FC236}">
                <a16:creationId xmlns:a16="http://schemas.microsoft.com/office/drawing/2014/main" id="{3CBF7534-E71D-4EBD-830C-62BF102AB9ED}"/>
              </a:ext>
            </a:extLst>
          </p:cNvPr>
          <p:cNvSpPr>
            <a:spLocks xmlns:a="http://schemas.openxmlformats.org/drawingml/2006/main" noGrp="1"/>
          </p:cNvSpPr>
          <p:nvPr/>
        </p:nvSpPr>
        <p:spPr>
          <a:xfrm xmlns:a="http://schemas.openxmlformats.org/drawingml/2006/main">
            <a:off x="7886700" y="2726436"/>
            <a:ext cx="3695700" cy="2727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Calling .area directly on EPSG:4326 geometry actually raises a UserWarning: 'Geometry is in a geographic CRS. Results from 'area' are likely incorrect.' (real, but printed to the console, not to the output panel here). Each Radley Hall zone is a 24 m x 10 m rectangle - 240 m2 by construction. Reprojected to EPSG:32618, both zones measure 239.74 m2: within about 0.1% of the known ground truth - a small, honest projection distortion, not an error.</a:t>
            </a:r>
          </a:p>
        </p:txBody>
      </p:sp>
    </p:spTree>
    <p:extLst>
      <p:ext uri="{BB962C8B-B14F-4D97-AF65-F5344CB8AC3E}">
        <p14:creationId xmlns:p14="http://schemas.microsoft.com/office/powerpoint/2010/main" val="119860407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kicker">
            <a:extLst xmlns:a="http://schemas.openxmlformats.org/drawingml/2006/main">
              <a:ext uri="{FF2B5EF4-FFF2-40B4-BE49-F238E27FC236}">
                <a16:creationId xmlns:a16="http://schemas.microsoft.com/office/drawing/2014/main" id="{1B35D93B-F07B-4DBE-BB0E-5117E6FF7BF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EFBC0BCE-C495-4C31-A509-3E6E282425F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Same pattern, both times: reproject before you measure</a:t>
            </a:r>
          </a:p>
        </p:txBody>
      </p:sp>
      <p:sp>
        <p:nvSpPr>
          <p:cNvPr id="3" name="">
            <a:extLst xmlns:a="http://schemas.openxmlformats.org/drawingml/2006/main">
              <a:ext uri="{FF2B5EF4-FFF2-40B4-BE49-F238E27FC236}">
                <a16:creationId xmlns:a16="http://schemas.microsoft.com/office/drawing/2014/main" id="{30CC0EC8-947D-4E92-9C68-F63A5D5848E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953E012-0F31-4729-B2E4-E5B49258AAD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1A45846A-5CBC-4ACF-BB1A-F9A180C4B4E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23</a:t>
            </a:r>
          </a:p>
        </p:txBody>
      </p:sp>
      <p:sp>
        <p:nvSpPr>
          <p:cNvPr id="6" name="">
            <a:extLst xmlns:a="http://schemas.openxmlformats.org/drawingml/2006/main">
              <a:ext uri="{FF2B5EF4-FFF2-40B4-BE49-F238E27FC236}">
                <a16:creationId xmlns:a16="http://schemas.microsoft.com/office/drawing/2014/main" id="{841D945D-3CAA-473E-AA58-70DBB3DC214E}"/>
              </a:ext>
            </a:extLst>
          </p:cNvPr>
          <p:cNvSpPr>
            <a:spLocks xmlns:a="http://schemas.openxmlformats.org/drawingml/2006/main" noGrp="1"/>
          </p:cNvSpPr>
          <p:nvPr/>
        </p:nvSpPr>
        <p:spPr>
          <a:xfrm xmlns:a="http://schemas.openxmlformats.org/drawingml/2006/main">
            <a:off x="609600" y="3162300"/>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0C977CF5-3C17-479E-BBF2-E36D4FBAC699}"/>
              </a:ext>
            </a:extLst>
          </p:cNvPr>
          <p:cNvSpPr>
            <a:spLocks xmlns:a="http://schemas.openxmlformats.org/drawingml/2006/main" noGrp="1"/>
          </p:cNvSpPr>
          <p:nvPr/>
        </p:nvSpPr>
        <p:spPr>
          <a:xfrm xmlns:a="http://schemas.openxmlformats.org/drawingml/2006/main">
            <a:off x="723900" y="323850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quantity</a:t>
            </a:r>
          </a:p>
        </p:txBody>
      </p:sp>
      <p:sp>
        <p:nvSpPr>
          <p:cNvPr id="8" name="">
            <a:extLst xmlns:a="http://schemas.openxmlformats.org/drawingml/2006/main">
              <a:ext uri="{FF2B5EF4-FFF2-40B4-BE49-F238E27FC236}">
                <a16:creationId xmlns:a16="http://schemas.microsoft.com/office/drawing/2014/main" id="{4FA36870-E7B9-4402-87C7-668B807E8929}"/>
              </a:ext>
            </a:extLst>
          </p:cNvPr>
          <p:cNvSpPr>
            <a:spLocks xmlns:a="http://schemas.openxmlformats.org/drawingml/2006/main" noGrp="1"/>
          </p:cNvSpPr>
          <p:nvPr/>
        </p:nvSpPr>
        <p:spPr>
          <a:xfrm xmlns:a="http://schemas.openxmlformats.org/drawingml/2006/main">
            <a:off x="2466975" y="3162300"/>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1DA1BE18-1BF5-407E-953E-E1B76CD0D53E}"/>
              </a:ext>
            </a:extLst>
          </p:cNvPr>
          <p:cNvSpPr>
            <a:spLocks xmlns:a="http://schemas.openxmlformats.org/drawingml/2006/main" noGrp="1"/>
          </p:cNvSpPr>
          <p:nvPr/>
        </p:nvSpPr>
        <p:spPr>
          <a:xfrm xmlns:a="http://schemas.openxmlformats.org/drawingml/2006/main">
            <a:off x="2581275" y="323850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measured in EPSG:4326</a:t>
            </a:r>
          </a:p>
        </p:txBody>
      </p:sp>
      <p:sp>
        <p:nvSpPr>
          <p:cNvPr id="10" name="">
            <a:extLst xmlns:a="http://schemas.openxmlformats.org/drawingml/2006/main">
              <a:ext uri="{FF2B5EF4-FFF2-40B4-BE49-F238E27FC236}">
                <a16:creationId xmlns:a16="http://schemas.microsoft.com/office/drawing/2014/main" id="{8C948075-E2CA-451F-943F-085841D8AEC8}"/>
              </a:ext>
            </a:extLst>
          </p:cNvPr>
          <p:cNvSpPr>
            <a:spLocks xmlns:a="http://schemas.openxmlformats.org/drawingml/2006/main" noGrp="1"/>
          </p:cNvSpPr>
          <p:nvPr/>
        </p:nvSpPr>
        <p:spPr>
          <a:xfrm xmlns:a="http://schemas.openxmlformats.org/drawingml/2006/main">
            <a:off x="4324350" y="3162300"/>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F5D3067E-FF07-49B7-B887-EC33B09B1047}"/>
              </a:ext>
            </a:extLst>
          </p:cNvPr>
          <p:cNvSpPr>
            <a:spLocks xmlns:a="http://schemas.openxmlformats.org/drawingml/2006/main" noGrp="1"/>
          </p:cNvSpPr>
          <p:nvPr/>
        </p:nvSpPr>
        <p:spPr>
          <a:xfrm xmlns:a="http://schemas.openxmlformats.org/drawingml/2006/main">
            <a:off x="4438650" y="323850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measured in EPSG:32618</a:t>
            </a:r>
          </a:p>
        </p:txBody>
      </p:sp>
      <p:sp>
        <p:nvSpPr>
          <p:cNvPr id="12" name="">
            <a:extLst xmlns:a="http://schemas.openxmlformats.org/drawingml/2006/main">
              <a:ext uri="{FF2B5EF4-FFF2-40B4-BE49-F238E27FC236}">
                <a16:creationId xmlns:a16="http://schemas.microsoft.com/office/drawing/2014/main" id="{D275E18B-2B1D-43BE-9D34-FADAE59DC3D2}"/>
              </a:ext>
            </a:extLst>
          </p:cNvPr>
          <p:cNvSpPr>
            <a:spLocks xmlns:a="http://schemas.openxmlformats.org/drawingml/2006/main" noGrp="1"/>
          </p:cNvSpPr>
          <p:nvPr/>
        </p:nvSpPr>
        <p:spPr>
          <a:xfrm xmlns:a="http://schemas.openxmlformats.org/drawingml/2006/main">
            <a:off x="6181725" y="3162300"/>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46AD1AF0-7D2B-4EA1-874D-6A64C69C6CE0}"/>
              </a:ext>
            </a:extLst>
          </p:cNvPr>
          <p:cNvSpPr>
            <a:spLocks xmlns:a="http://schemas.openxmlformats.org/drawingml/2006/main" noGrp="1"/>
          </p:cNvSpPr>
          <p:nvPr/>
        </p:nvSpPr>
        <p:spPr>
          <a:xfrm xmlns:a="http://schemas.openxmlformats.org/drawingml/2006/main">
            <a:off x="6296025" y="323850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known ground truth</a:t>
            </a:r>
          </a:p>
        </p:txBody>
      </p:sp>
      <p:sp>
        <p:nvSpPr>
          <p:cNvPr id="14" name="">
            <a:extLst xmlns:a="http://schemas.openxmlformats.org/drawingml/2006/main">
              <a:ext uri="{FF2B5EF4-FFF2-40B4-BE49-F238E27FC236}">
                <a16:creationId xmlns:a16="http://schemas.microsoft.com/office/drawing/2014/main" id="{5D6F88B8-DCB4-4747-8AC4-0095042FFC8D}"/>
              </a:ext>
            </a:extLst>
          </p:cNvPr>
          <p:cNvSpPr>
            <a:spLocks xmlns:a="http://schemas.openxmlformats.org/drawingml/2006/main" noGrp="1"/>
          </p:cNvSpPr>
          <p:nvPr/>
        </p:nvSpPr>
        <p:spPr>
          <a:xfrm xmlns:a="http://schemas.openxmlformats.org/drawingml/2006/main">
            <a:off x="609600" y="370332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0">
            <a:extLst xmlns:a="http://schemas.openxmlformats.org/drawingml/2006/main">
              <a:ext uri="{FF2B5EF4-FFF2-40B4-BE49-F238E27FC236}">
                <a16:creationId xmlns:a16="http://schemas.microsoft.com/office/drawing/2014/main" id="{17919FF0-58D0-404E-A738-0C2A9CC0375F}"/>
              </a:ext>
            </a:extLst>
          </p:cNvPr>
          <p:cNvSpPr>
            <a:spLocks xmlns:a="http://schemas.openxmlformats.org/drawingml/2006/main" noGrp="1"/>
          </p:cNvSpPr>
          <p:nvPr/>
        </p:nvSpPr>
        <p:spPr>
          <a:xfrm xmlns:a="http://schemas.openxmlformats.org/drawingml/2006/main">
            <a:off x="723900" y="377952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distance (R101-R102)</a:t>
            </a:r>
          </a:p>
        </p:txBody>
      </p:sp>
      <p:sp>
        <p:nvSpPr>
          <p:cNvPr id="16" name="">
            <a:extLst xmlns:a="http://schemas.openxmlformats.org/drawingml/2006/main">
              <a:ext uri="{FF2B5EF4-FFF2-40B4-BE49-F238E27FC236}">
                <a16:creationId xmlns:a16="http://schemas.microsoft.com/office/drawing/2014/main" id="{83A9EBB1-560E-41B4-94BD-04639DECC96A}"/>
              </a:ext>
            </a:extLst>
          </p:cNvPr>
          <p:cNvSpPr>
            <a:spLocks xmlns:a="http://schemas.openxmlformats.org/drawingml/2006/main" noGrp="1"/>
          </p:cNvSpPr>
          <p:nvPr/>
        </p:nvSpPr>
        <p:spPr>
          <a:xfrm xmlns:a="http://schemas.openxmlformats.org/drawingml/2006/main">
            <a:off x="2466975" y="370332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1">
            <a:extLst xmlns:a="http://schemas.openxmlformats.org/drawingml/2006/main">
              <a:ext uri="{FF2B5EF4-FFF2-40B4-BE49-F238E27FC236}">
                <a16:creationId xmlns:a16="http://schemas.microsoft.com/office/drawing/2014/main" id="{FBEB535E-3A83-40EA-9BA3-14C43F9E669B}"/>
              </a:ext>
            </a:extLst>
          </p:cNvPr>
          <p:cNvSpPr>
            <a:spLocks xmlns:a="http://schemas.openxmlformats.org/drawingml/2006/main" noGrp="1"/>
          </p:cNvSpPr>
          <p:nvPr/>
        </p:nvSpPr>
        <p:spPr>
          <a:xfrm xmlns:a="http://schemas.openxmlformats.org/drawingml/2006/main">
            <a:off x="2581275" y="377952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0.000098 (degrees)</a:t>
            </a:r>
          </a:p>
        </p:txBody>
      </p:sp>
      <p:sp>
        <p:nvSpPr>
          <p:cNvPr id="18" name="">
            <a:extLst xmlns:a="http://schemas.openxmlformats.org/drawingml/2006/main">
              <a:ext uri="{FF2B5EF4-FFF2-40B4-BE49-F238E27FC236}">
                <a16:creationId xmlns:a16="http://schemas.microsoft.com/office/drawing/2014/main" id="{4FE22BED-773D-44D5-A6D4-034C9982FB24}"/>
              </a:ext>
            </a:extLst>
          </p:cNvPr>
          <p:cNvSpPr>
            <a:spLocks xmlns:a="http://schemas.openxmlformats.org/drawingml/2006/main" noGrp="1"/>
          </p:cNvSpPr>
          <p:nvPr/>
        </p:nvSpPr>
        <p:spPr>
          <a:xfrm xmlns:a="http://schemas.openxmlformats.org/drawingml/2006/main">
            <a:off x="4324350" y="370332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0-2">
            <a:extLst xmlns:a="http://schemas.openxmlformats.org/drawingml/2006/main">
              <a:ext uri="{FF2B5EF4-FFF2-40B4-BE49-F238E27FC236}">
                <a16:creationId xmlns:a16="http://schemas.microsoft.com/office/drawing/2014/main" id="{AC8497D7-163F-4456-91C3-79BC4B218F67}"/>
              </a:ext>
            </a:extLst>
          </p:cNvPr>
          <p:cNvSpPr>
            <a:spLocks xmlns:a="http://schemas.openxmlformats.org/drawingml/2006/main" noGrp="1"/>
          </p:cNvSpPr>
          <p:nvPr/>
        </p:nvSpPr>
        <p:spPr>
          <a:xfrm xmlns:a="http://schemas.openxmlformats.org/drawingml/2006/main">
            <a:off x="4438650" y="377952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8.010 m</a:t>
            </a:r>
          </a:p>
        </p:txBody>
      </p:sp>
      <p:sp>
        <p:nvSpPr>
          <p:cNvPr id="20" name="">
            <a:extLst xmlns:a="http://schemas.openxmlformats.org/drawingml/2006/main">
              <a:ext uri="{FF2B5EF4-FFF2-40B4-BE49-F238E27FC236}">
                <a16:creationId xmlns:a16="http://schemas.microsoft.com/office/drawing/2014/main" id="{53D230B3-6A10-4106-87E9-9F833BF2D771}"/>
              </a:ext>
            </a:extLst>
          </p:cNvPr>
          <p:cNvSpPr>
            <a:spLocks xmlns:a="http://schemas.openxmlformats.org/drawingml/2006/main" noGrp="1"/>
          </p:cNvSpPr>
          <p:nvPr/>
        </p:nvSpPr>
        <p:spPr>
          <a:xfrm xmlns:a="http://schemas.openxmlformats.org/drawingml/2006/main">
            <a:off x="6181725" y="370332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3">
            <a:extLst xmlns:a="http://schemas.openxmlformats.org/drawingml/2006/main">
              <a:ext uri="{FF2B5EF4-FFF2-40B4-BE49-F238E27FC236}">
                <a16:creationId xmlns:a16="http://schemas.microsoft.com/office/drawing/2014/main" id="{41993A22-6ECD-4128-B249-E98C4E721F2C}"/>
              </a:ext>
            </a:extLst>
          </p:cNvPr>
          <p:cNvSpPr>
            <a:spLocks xmlns:a="http://schemas.openxmlformats.org/drawingml/2006/main" noGrp="1"/>
          </p:cNvSpPr>
          <p:nvPr/>
        </p:nvSpPr>
        <p:spPr>
          <a:xfrm xmlns:a="http://schemas.openxmlformats.org/drawingml/2006/main">
            <a:off x="6296025" y="377952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8.000 m</a:t>
            </a:r>
          </a:p>
        </p:txBody>
      </p:sp>
      <p:sp>
        <p:nvSpPr>
          <p:cNvPr id="22" name="">
            <a:extLst xmlns:a="http://schemas.openxmlformats.org/drawingml/2006/main">
              <a:ext uri="{FF2B5EF4-FFF2-40B4-BE49-F238E27FC236}">
                <a16:creationId xmlns:a16="http://schemas.microsoft.com/office/drawing/2014/main" id="{4C363DA8-4DCC-429A-BC4C-DFEBAD422920}"/>
              </a:ext>
            </a:extLst>
          </p:cNvPr>
          <p:cNvSpPr>
            <a:spLocks xmlns:a="http://schemas.openxmlformats.org/drawingml/2006/main" noGrp="1"/>
          </p:cNvSpPr>
          <p:nvPr/>
        </p:nvSpPr>
        <p:spPr>
          <a:xfrm xmlns:a="http://schemas.openxmlformats.org/drawingml/2006/main">
            <a:off x="609600" y="4244340"/>
            <a:ext cx="1857375"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0">
            <a:extLst xmlns:a="http://schemas.openxmlformats.org/drawingml/2006/main">
              <a:ext uri="{FF2B5EF4-FFF2-40B4-BE49-F238E27FC236}">
                <a16:creationId xmlns:a16="http://schemas.microsoft.com/office/drawing/2014/main" id="{45158D7B-B15E-442C-8FA6-706C83AC5EAE}"/>
              </a:ext>
            </a:extLst>
          </p:cNvPr>
          <p:cNvSpPr>
            <a:spLocks xmlns:a="http://schemas.openxmlformats.org/drawingml/2006/main" noGrp="1"/>
          </p:cNvSpPr>
          <p:nvPr/>
        </p:nvSpPr>
        <p:spPr>
          <a:xfrm xmlns:a="http://schemas.openxmlformats.org/drawingml/2006/main">
            <a:off x="723900" y="432054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zone footprint area</a:t>
            </a:r>
          </a:p>
        </p:txBody>
      </p:sp>
      <p:sp>
        <p:nvSpPr>
          <p:cNvPr id="24" name="">
            <a:extLst xmlns:a="http://schemas.openxmlformats.org/drawingml/2006/main">
              <a:ext uri="{FF2B5EF4-FFF2-40B4-BE49-F238E27FC236}">
                <a16:creationId xmlns:a16="http://schemas.microsoft.com/office/drawing/2014/main" id="{4B318578-16D8-4A5D-8AAB-D073D965CBC0}"/>
              </a:ext>
            </a:extLst>
          </p:cNvPr>
          <p:cNvSpPr>
            <a:spLocks xmlns:a="http://schemas.openxmlformats.org/drawingml/2006/main" noGrp="1"/>
          </p:cNvSpPr>
          <p:nvPr/>
        </p:nvSpPr>
        <p:spPr>
          <a:xfrm xmlns:a="http://schemas.openxmlformats.org/drawingml/2006/main">
            <a:off x="2466975" y="4244340"/>
            <a:ext cx="1857375"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1-1">
            <a:extLst xmlns:a="http://schemas.openxmlformats.org/drawingml/2006/main">
              <a:ext uri="{FF2B5EF4-FFF2-40B4-BE49-F238E27FC236}">
                <a16:creationId xmlns:a16="http://schemas.microsoft.com/office/drawing/2014/main" id="{EBE8C6DB-3953-419E-83AE-2DF647A9F18B}"/>
              </a:ext>
            </a:extLst>
          </p:cNvPr>
          <p:cNvSpPr>
            <a:spLocks xmlns:a="http://schemas.openxmlformats.org/drawingml/2006/main" noGrp="1"/>
          </p:cNvSpPr>
          <p:nvPr/>
        </p:nvSpPr>
        <p:spPr>
          <a:xfrm xmlns:a="http://schemas.openxmlformats.org/drawingml/2006/main">
            <a:off x="2581275" y="432054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2.65e-08 (square degrees)</a:t>
            </a:r>
          </a:p>
        </p:txBody>
      </p:sp>
      <p:sp>
        <p:nvSpPr>
          <p:cNvPr id="26" name="">
            <a:extLst xmlns:a="http://schemas.openxmlformats.org/drawingml/2006/main">
              <a:ext uri="{FF2B5EF4-FFF2-40B4-BE49-F238E27FC236}">
                <a16:creationId xmlns:a16="http://schemas.microsoft.com/office/drawing/2014/main" id="{C929B0B2-5DB9-47C9-A96A-CF30C012B23F}"/>
              </a:ext>
            </a:extLst>
          </p:cNvPr>
          <p:cNvSpPr>
            <a:spLocks xmlns:a="http://schemas.openxmlformats.org/drawingml/2006/main" noGrp="1"/>
          </p:cNvSpPr>
          <p:nvPr/>
        </p:nvSpPr>
        <p:spPr>
          <a:xfrm xmlns:a="http://schemas.openxmlformats.org/drawingml/2006/main">
            <a:off x="4324350" y="4244340"/>
            <a:ext cx="1857375"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7" name="cell-1-2">
            <a:extLst xmlns:a="http://schemas.openxmlformats.org/drawingml/2006/main">
              <a:ext uri="{FF2B5EF4-FFF2-40B4-BE49-F238E27FC236}">
                <a16:creationId xmlns:a16="http://schemas.microsoft.com/office/drawing/2014/main" id="{C4F1426A-5C7F-4030-B653-BC0AD03CDB1D}"/>
              </a:ext>
            </a:extLst>
          </p:cNvPr>
          <p:cNvSpPr>
            <a:spLocks xmlns:a="http://schemas.openxmlformats.org/drawingml/2006/main" noGrp="1"/>
          </p:cNvSpPr>
          <p:nvPr/>
        </p:nvSpPr>
        <p:spPr>
          <a:xfrm xmlns:a="http://schemas.openxmlformats.org/drawingml/2006/main">
            <a:off x="4438650" y="432054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239.74 m2</a:t>
            </a:r>
          </a:p>
        </p:txBody>
      </p:sp>
      <p:sp>
        <p:nvSpPr>
          <p:cNvPr id="28" name="">
            <a:extLst xmlns:a="http://schemas.openxmlformats.org/drawingml/2006/main">
              <a:ext uri="{FF2B5EF4-FFF2-40B4-BE49-F238E27FC236}">
                <a16:creationId xmlns:a16="http://schemas.microsoft.com/office/drawing/2014/main" id="{781B58CC-5497-42A2-BE0D-F14EDF87B5F4}"/>
              </a:ext>
            </a:extLst>
          </p:cNvPr>
          <p:cNvSpPr>
            <a:spLocks xmlns:a="http://schemas.openxmlformats.org/drawingml/2006/main" noGrp="1"/>
          </p:cNvSpPr>
          <p:nvPr/>
        </p:nvSpPr>
        <p:spPr>
          <a:xfrm xmlns:a="http://schemas.openxmlformats.org/drawingml/2006/main">
            <a:off x="6181725" y="4244340"/>
            <a:ext cx="1857375"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9" name="cell-1-3">
            <a:extLst xmlns:a="http://schemas.openxmlformats.org/drawingml/2006/main">
              <a:ext uri="{FF2B5EF4-FFF2-40B4-BE49-F238E27FC236}">
                <a16:creationId xmlns:a16="http://schemas.microsoft.com/office/drawing/2014/main" id="{F0467211-0EDB-4D77-BA3C-E912C100BCEE}"/>
              </a:ext>
            </a:extLst>
          </p:cNvPr>
          <p:cNvSpPr>
            <a:spLocks xmlns:a="http://schemas.openxmlformats.org/drawingml/2006/main" noGrp="1"/>
          </p:cNvSpPr>
          <p:nvPr/>
        </p:nvSpPr>
        <p:spPr>
          <a:xfrm xmlns:a="http://schemas.openxmlformats.org/drawingml/2006/main">
            <a:off x="6296025" y="432054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240.00 m2</a:t>
            </a:r>
          </a:p>
        </p:txBody>
      </p:sp>
      <p:sp>
        <p:nvSpPr>
          <p:cNvPr id="30" name="callout-label">
            <a:extLst xmlns:a="http://schemas.openxmlformats.org/drawingml/2006/main">
              <a:ext uri="{FF2B5EF4-FFF2-40B4-BE49-F238E27FC236}">
                <a16:creationId xmlns:a16="http://schemas.microsoft.com/office/drawing/2014/main" id="{38473A8A-A328-4BF8-B742-F3560F24B7AF}"/>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1" name="callout">
            <a:extLst xmlns:a="http://schemas.openxmlformats.org/drawingml/2006/main">
              <a:ext uri="{FF2B5EF4-FFF2-40B4-BE49-F238E27FC236}">
                <a16:creationId xmlns:a16="http://schemas.microsoft.com/office/drawing/2014/main" id="{854898BE-616B-43CC-BF7A-7B2E07BC45DB}"/>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Geographic-CRS numbers are not wrong arithmetic - they are the right math applied to the wrong unit.</a:t>
            </a:r>
          </a:p>
        </p:txBody>
      </p:sp>
    </p:spTree>
    <p:extLst>
      <p:ext uri="{BB962C8B-B14F-4D97-AF65-F5344CB8AC3E}">
        <p14:creationId xmlns:p14="http://schemas.microsoft.com/office/powerpoint/2010/main" val="24161413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64FC120F-B6A4-4E1D-B868-38AF9C9BDFE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602C6BF4-56EE-4B7D-8752-5733A17A92E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Store globally, reproject locally, then measure</a:t>
            </a:r>
          </a:p>
        </p:txBody>
      </p:sp>
      <p:sp>
        <p:nvSpPr>
          <p:cNvPr id="3" name="">
            <a:extLst xmlns:a="http://schemas.openxmlformats.org/drawingml/2006/main">
              <a:ext uri="{FF2B5EF4-FFF2-40B4-BE49-F238E27FC236}">
                <a16:creationId xmlns:a16="http://schemas.microsoft.com/office/drawing/2014/main" id="{140E2464-D277-45BF-B96A-A77B0B057DD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1388654-331E-40E0-83E1-BB9428E22AA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600501CB-093E-498F-97DB-70B40E26F68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24</a:t>
            </a:r>
          </a:p>
        </p:txBody>
      </p:sp>
      <p:sp>
        <p:nvSpPr>
          <p:cNvPr id="6" name="step-arrow-0">
            <a:extLst xmlns:a="http://schemas.openxmlformats.org/drawingml/2006/main">
              <a:ext uri="{FF2B5EF4-FFF2-40B4-BE49-F238E27FC236}">
                <a16:creationId xmlns:a16="http://schemas.microsoft.com/office/drawing/2014/main" id="{D86250E8-8675-4425-8CF2-A80A49B89179}"/>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2361C6C9-496B-4086-A2AF-7FA214475C00}"/>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CE2FDA91-76D5-404C-86AA-ADD9DE199366}"/>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CABE040E-4499-4338-8497-177113860691}"/>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CCD11BD3-34DB-474E-9EE7-F4CE142DB73C}"/>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F28E113F-E24D-4785-ADC3-C9CA83BCBB3D}"/>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EPSG:4326</a:t>
            </a:r>
          </a:p>
        </p:txBody>
      </p:sp>
      <p:sp>
        <p:nvSpPr>
          <p:cNvPr id="12" name="">
            <a:extLst xmlns:a="http://schemas.openxmlformats.org/drawingml/2006/main">
              <a:ext uri="{FF2B5EF4-FFF2-40B4-BE49-F238E27FC236}">
                <a16:creationId xmlns:a16="http://schemas.microsoft.com/office/drawing/2014/main" id="{B816F4F6-0A4B-4B57-8EBF-3EF5391D2D22}"/>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1EEB5F58-D5B1-4996-8C2D-5D8C09F90074}"/>
              </a:ext>
            </a:extLst>
          </p:cNvPr>
          <p:cNvSpPr>
            <a:spLocks xmlns:a="http://schemas.openxmlformats.org/drawingml/2006/main" noGrp="1"/>
          </p:cNvSpPr>
          <p:nvPr/>
        </p:nvSpPr>
        <p:spPr>
          <a:xfrm xmlns:a="http://schemas.openxmlformats.org/drawingml/2006/main">
            <a:off x="8001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Store location</a:t>
            </a:r>
          </a:p>
        </p:txBody>
      </p:sp>
      <p:sp>
        <p:nvSpPr>
          <p:cNvPr id="14" name="step-body-0">
            <a:extLst xmlns:a="http://schemas.openxmlformats.org/drawingml/2006/main">
              <a:ext uri="{FF2B5EF4-FFF2-40B4-BE49-F238E27FC236}">
                <a16:creationId xmlns:a16="http://schemas.microsoft.com/office/drawing/2014/main" id="{4690D78F-FC52-42B9-BC96-35F8A57E29E7}"/>
              </a:ext>
            </a:extLst>
          </p:cNvPr>
          <p:cNvSpPr>
            <a:spLocks xmlns:a="http://schemas.openxmlformats.org/drawingml/2006/main" noGrp="1"/>
          </p:cNvSpPr>
          <p:nvPr/>
        </p:nvSpPr>
        <p:spPr>
          <a:xfrm xmlns:a="http://schemas.openxmlformats.org/drawingml/2006/main">
            <a:off x="8001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Longitude and latitude describe angular position in degrees.</a:t>
            </a:r>
          </a:p>
        </p:txBody>
      </p:sp>
      <p:sp>
        <p:nvSpPr>
          <p:cNvPr id="15" name="step-node-1">
            <a:extLst xmlns:a="http://schemas.openxmlformats.org/drawingml/2006/main">
              <a:ext uri="{FF2B5EF4-FFF2-40B4-BE49-F238E27FC236}">
                <a16:creationId xmlns:a16="http://schemas.microsoft.com/office/drawing/2014/main" id="{86889732-58C4-41D3-A16A-7BDCA08BF831}"/>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47982E21-2018-497F-BB51-C6217020F3EE}"/>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315FC000-C56A-4145-9F95-701F0BC751D0}"/>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SITE</a:t>
            </a:r>
          </a:p>
        </p:txBody>
      </p:sp>
      <p:sp>
        <p:nvSpPr>
          <p:cNvPr id="18" name="">
            <a:extLst xmlns:a="http://schemas.openxmlformats.org/drawingml/2006/main">
              <a:ext uri="{FF2B5EF4-FFF2-40B4-BE49-F238E27FC236}">
                <a16:creationId xmlns:a16="http://schemas.microsoft.com/office/drawing/2014/main" id="{1764DB87-1A83-41F2-B956-3732B30BA7B6}"/>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04BA595B-785C-4C17-970B-2D0D2A5207AE}"/>
              </a:ext>
            </a:extLst>
          </p:cNvPr>
          <p:cNvSpPr>
            <a:spLocks xmlns:a="http://schemas.openxmlformats.org/drawingml/2006/main" noGrp="1"/>
          </p:cNvSpPr>
          <p:nvPr/>
        </p:nvSpPr>
        <p:spPr>
          <a:xfrm xmlns:a="http://schemas.openxmlformats.org/drawingml/2006/main">
            <a:off x="36004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Choose projection</a:t>
            </a:r>
          </a:p>
        </p:txBody>
      </p:sp>
      <p:sp>
        <p:nvSpPr>
          <p:cNvPr id="20" name="step-body-1">
            <a:extLst xmlns:a="http://schemas.openxmlformats.org/drawingml/2006/main">
              <a:ext uri="{FF2B5EF4-FFF2-40B4-BE49-F238E27FC236}">
                <a16:creationId xmlns:a16="http://schemas.microsoft.com/office/drawing/2014/main" id="{E9AA62D6-2987-487E-A601-D193AF8288B5}"/>
              </a:ext>
            </a:extLst>
          </p:cNvPr>
          <p:cNvSpPr>
            <a:spLocks xmlns:a="http://schemas.openxmlformats.org/drawingml/2006/main" noGrp="1"/>
          </p:cNvSpPr>
          <p:nvPr/>
        </p:nvSpPr>
        <p:spPr>
          <a:xfrm xmlns:a="http://schemas.openxmlformats.org/drawingml/2006/main">
            <a:off x="36004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Select a projected CRS whose valid zone contains the site.</a:t>
            </a:r>
          </a:p>
        </p:txBody>
      </p:sp>
      <p:sp>
        <p:nvSpPr>
          <p:cNvPr id="21" name="step-node-2">
            <a:extLst xmlns:a="http://schemas.openxmlformats.org/drawingml/2006/main">
              <a:ext uri="{FF2B5EF4-FFF2-40B4-BE49-F238E27FC236}">
                <a16:creationId xmlns:a16="http://schemas.microsoft.com/office/drawing/2014/main" id="{2921D925-117B-4DF1-A57D-CBC635A648D1}"/>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C284DCFF-2022-4721-84A2-D69C781F1812}"/>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02AF5990-031D-4BA6-811F-AA0866D582E8}"/>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EPSG:32618</a:t>
            </a:r>
          </a:p>
        </p:txBody>
      </p:sp>
      <p:sp>
        <p:nvSpPr>
          <p:cNvPr id="24" name="">
            <a:extLst xmlns:a="http://schemas.openxmlformats.org/drawingml/2006/main">
              <a:ext uri="{FF2B5EF4-FFF2-40B4-BE49-F238E27FC236}">
                <a16:creationId xmlns:a16="http://schemas.microsoft.com/office/drawing/2014/main" id="{0A85F68E-0B13-4652-9C63-B6361A0E4594}"/>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A33E526D-8A91-47A2-B955-DD31ACF933E2}"/>
              </a:ext>
            </a:extLst>
          </p:cNvPr>
          <p:cNvSpPr>
            <a:spLocks xmlns:a="http://schemas.openxmlformats.org/drawingml/2006/main" noGrp="1"/>
          </p:cNvSpPr>
          <p:nvPr/>
        </p:nvSpPr>
        <p:spPr>
          <a:xfrm xmlns:a="http://schemas.openxmlformats.org/drawingml/2006/main">
            <a:off x="64008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Work in meters</a:t>
            </a:r>
          </a:p>
        </p:txBody>
      </p:sp>
      <p:sp>
        <p:nvSpPr>
          <p:cNvPr id="26" name="step-body-2">
            <a:extLst xmlns:a="http://schemas.openxmlformats.org/drawingml/2006/main">
              <a:ext uri="{FF2B5EF4-FFF2-40B4-BE49-F238E27FC236}">
                <a16:creationId xmlns:a16="http://schemas.microsoft.com/office/drawing/2014/main" id="{062C6C06-4CC8-4168-968D-9ED613BB773B}"/>
              </a:ext>
            </a:extLst>
          </p:cNvPr>
          <p:cNvSpPr>
            <a:spLocks xmlns:a="http://schemas.openxmlformats.org/drawingml/2006/main" noGrp="1"/>
          </p:cNvSpPr>
          <p:nvPr/>
        </p:nvSpPr>
        <p:spPr>
          <a:xfrm xmlns:a="http://schemas.openxmlformats.org/drawingml/2006/main">
            <a:off x="64008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UTM 18N supplies linear units appropriate for the Syracuse example.</a:t>
            </a:r>
          </a:p>
        </p:txBody>
      </p:sp>
      <p:sp>
        <p:nvSpPr>
          <p:cNvPr id="27" name="step-node-3">
            <a:extLst xmlns:a="http://schemas.openxmlformats.org/drawingml/2006/main">
              <a:ext uri="{FF2B5EF4-FFF2-40B4-BE49-F238E27FC236}">
                <a16:creationId xmlns:a16="http://schemas.microsoft.com/office/drawing/2014/main" id="{A7E48733-08FE-4339-BD9E-C24EC8C00C33}"/>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5494EB02-B281-4D37-81AA-987217100B85}"/>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C94AE732-7C4F-4AF4-B1B1-7A86B398ACD8}"/>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MEASURE</a:t>
            </a:r>
          </a:p>
        </p:txBody>
      </p:sp>
      <p:sp>
        <p:nvSpPr>
          <p:cNvPr id="30" name="">
            <a:extLst xmlns:a="http://schemas.openxmlformats.org/drawingml/2006/main">
              <a:ext uri="{FF2B5EF4-FFF2-40B4-BE49-F238E27FC236}">
                <a16:creationId xmlns:a16="http://schemas.microsoft.com/office/drawing/2014/main" id="{ECEC01C5-005B-4BA9-992C-51187FD849AE}"/>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38C91926-CC94-4169-99F0-6BEE4B70B5E8}"/>
              </a:ext>
            </a:extLst>
          </p:cNvPr>
          <p:cNvSpPr>
            <a:spLocks xmlns:a="http://schemas.openxmlformats.org/drawingml/2006/main" noGrp="1"/>
          </p:cNvSpPr>
          <p:nvPr/>
        </p:nvSpPr>
        <p:spPr>
          <a:xfrm xmlns:a="http://schemas.openxmlformats.org/drawingml/2006/main">
            <a:off x="92011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Check distance/area</a:t>
            </a:r>
          </a:p>
        </p:txBody>
      </p:sp>
      <p:sp>
        <p:nvSpPr>
          <p:cNvPr id="32" name="step-body-3">
            <a:extLst xmlns:a="http://schemas.openxmlformats.org/drawingml/2006/main">
              <a:ext uri="{FF2B5EF4-FFF2-40B4-BE49-F238E27FC236}">
                <a16:creationId xmlns:a16="http://schemas.microsoft.com/office/drawing/2014/main" id="{E856C467-EAE2-4825-8DB6-3FB61C59F2D7}"/>
              </a:ext>
            </a:extLst>
          </p:cNvPr>
          <p:cNvSpPr>
            <a:spLocks xmlns:a="http://schemas.openxmlformats.org/drawingml/2006/main" noGrp="1"/>
          </p:cNvSpPr>
          <p:nvPr/>
        </p:nvSpPr>
        <p:spPr>
          <a:xfrm xmlns:a="http://schemas.openxmlformats.org/drawingml/2006/main">
            <a:off x="92011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Compute only after reprojection and compare with a known scale.</a:t>
            </a:r>
          </a:p>
        </p:txBody>
      </p:sp>
    </p:spTree>
    <p:extLst>
      <p:ext uri="{BB962C8B-B14F-4D97-AF65-F5344CB8AC3E}">
        <p14:creationId xmlns:p14="http://schemas.microsoft.com/office/powerpoint/2010/main" val="53763169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382CFB77-3D04-4FF1-98A5-A159671EA2E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7473B090-E863-4809-AE27-249CD91070A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then verify: which number would you trust?</a:t>
            </a:r>
          </a:p>
        </p:txBody>
      </p:sp>
      <p:sp>
        <p:nvSpPr>
          <p:cNvPr id="3" name="">
            <a:extLst xmlns:a="http://schemas.openxmlformats.org/drawingml/2006/main">
              <a:ext uri="{FF2B5EF4-FFF2-40B4-BE49-F238E27FC236}">
                <a16:creationId xmlns:a16="http://schemas.microsoft.com/office/drawing/2014/main" id="{82F988F6-E7B4-4A00-BE32-DF423AF5CE5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40A08EE-C1FA-40E3-8247-BC27EE3A2F8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FBF7B8FA-EC93-4C00-B2B8-A1897F614E8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25</a:t>
            </a:r>
          </a:p>
        </p:txBody>
      </p:sp>
      <p:sp>
        <p:nvSpPr>
          <p:cNvPr id="6" name="exercise-accent">
            <a:extLst xmlns:a="http://schemas.openxmlformats.org/drawingml/2006/main">
              <a:ext uri="{FF2B5EF4-FFF2-40B4-BE49-F238E27FC236}">
                <a16:creationId xmlns:a16="http://schemas.microsoft.com/office/drawing/2014/main" id="{301AD268-7583-4655-9DCE-4743B481398C}"/>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FFDB40E3-9559-47A6-BA22-2482E7D7F474}"/>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Given a distance printed as 0.000041 in one CRS and 3.9 m in another, which is usable?</a:t>
            </a:r>
          </a:p>
        </p:txBody>
      </p:sp>
      <p:sp>
        <p:nvSpPr>
          <p:cNvPr id="8" name="work-label">
            <a:extLst xmlns:a="http://schemas.openxmlformats.org/drawingml/2006/main">
              <a:ext uri="{FF2B5EF4-FFF2-40B4-BE49-F238E27FC236}">
                <a16:creationId xmlns:a16="http://schemas.microsoft.com/office/drawing/2014/main" id="{6781ABBC-2353-45F7-8FBB-058838AC8845}"/>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3D01DDBD-46C4-4F71-8FD8-25C598FF7172}"/>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A32FBF50-8929-497A-BDC8-CBB53E4ADA60}"/>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Identify which CRS is geographic and which is projected.</a:t>
            </a:r>
          </a:p>
        </p:txBody>
      </p:sp>
      <p:sp>
        <p:nvSpPr>
          <p:cNvPr id="11" name="exercise-no-1">
            <a:extLst xmlns:a="http://schemas.openxmlformats.org/drawingml/2006/main">
              <a:ext uri="{FF2B5EF4-FFF2-40B4-BE49-F238E27FC236}">
                <a16:creationId xmlns:a16="http://schemas.microsoft.com/office/drawing/2014/main" id="{4EBA6F7C-5F63-4DAA-8C3A-BEB937AA452A}"/>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F6AC4CC4-6B53-481F-A8F4-BF08661B773C}"/>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State your prediction and why, before running anything.</a:t>
            </a:r>
          </a:p>
        </p:txBody>
      </p:sp>
      <p:sp>
        <p:nvSpPr>
          <p:cNvPr id="13" name="exercise-no-2">
            <a:extLst xmlns:a="http://schemas.openxmlformats.org/drawingml/2006/main">
              <a:ext uri="{FF2B5EF4-FFF2-40B4-BE49-F238E27FC236}">
                <a16:creationId xmlns:a16="http://schemas.microsoft.com/office/drawing/2014/main" id="{B835483E-8A71-42D8-ABB1-7A75FE097FA8}"/>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5025DD85-7EF0-434D-AD7C-2D3816571C2E}"/>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Reproject the geographic version to EPSG:32618 and compare.</a:t>
            </a:r>
          </a:p>
        </p:txBody>
      </p:sp>
      <p:sp>
        <p:nvSpPr>
          <p:cNvPr id="15" name="exercise-no-3">
            <a:extLst xmlns:a="http://schemas.openxmlformats.org/drawingml/2006/main">
              <a:ext uri="{FF2B5EF4-FFF2-40B4-BE49-F238E27FC236}">
                <a16:creationId xmlns:a16="http://schemas.microsoft.com/office/drawing/2014/main" id="{B381FA03-436B-4D98-8A70-7856CD142A5E}"/>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46C2FEC4-E96E-4070-9208-D93BFFBA2F67}"/>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Write one sentence naming the correct CRS for a Syracuse, NY site.</a:t>
            </a:r>
          </a:p>
        </p:txBody>
      </p:sp>
    </p:spTree>
    <p:extLst>
      <p:ext uri="{BB962C8B-B14F-4D97-AF65-F5344CB8AC3E}">
        <p14:creationId xmlns:p14="http://schemas.microsoft.com/office/powerpoint/2010/main" val="124174228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EA04894C-A8E9-482C-9E30-43216E4B9C5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992E1514-4B03-460D-8D32-A127546BB99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Buffer, defined</a:t>
            </a:r>
          </a:p>
        </p:txBody>
      </p:sp>
      <p:sp>
        <p:nvSpPr>
          <p:cNvPr id="3" name="">
            <a:extLst xmlns:a="http://schemas.openxmlformats.org/drawingml/2006/main">
              <a:ext uri="{FF2B5EF4-FFF2-40B4-BE49-F238E27FC236}">
                <a16:creationId xmlns:a16="http://schemas.microsoft.com/office/drawing/2014/main" id="{536883B4-6334-4EE1-B007-F093F796EE5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6745F23-D3D5-4D8F-9903-68F5D058029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CF5D324E-A553-4E8D-98F0-165C3D3B81F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26</a:t>
            </a:r>
          </a:p>
        </p:txBody>
      </p:sp>
      <p:sp>
        <p:nvSpPr>
          <p:cNvPr id="6" name="term-label">
            <a:extLst xmlns:a="http://schemas.openxmlformats.org/drawingml/2006/main">
              <a:ext uri="{FF2B5EF4-FFF2-40B4-BE49-F238E27FC236}">
                <a16:creationId xmlns:a16="http://schemas.microsoft.com/office/drawing/2014/main" id="{81578D6B-06A4-416B-B7AA-77E1517801F1}"/>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8AAEDED6-5A61-43C9-AB39-4A0F4FA7896F}"/>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.buffer(distance)</a:t>
            </a:r>
          </a:p>
        </p:txBody>
      </p:sp>
      <p:sp>
        <p:nvSpPr>
          <p:cNvPr id="8" name="">
            <a:extLst xmlns:a="http://schemas.openxmlformats.org/drawingml/2006/main">
              <a:ext uri="{FF2B5EF4-FFF2-40B4-BE49-F238E27FC236}">
                <a16:creationId xmlns:a16="http://schemas.microsoft.com/office/drawing/2014/main" id="{B3C05440-B148-429C-8C3E-E8F6320E45B5}"/>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3CB59187-3E30-40C5-B22B-07D69571FA16}"/>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.buffer(distance) returns a new polygon: every point within distance of the original geometry. Call it on a point to get a disc-shaped review radius; on a line to get a corridor; on a polygon to get a setback or expansion.</a:t>
            </a:r>
          </a:p>
        </p:txBody>
      </p:sp>
      <p:sp>
        <p:nvSpPr>
          <p:cNvPr id="10" name="example-panel">
            <a:extLst xmlns:a="http://schemas.openxmlformats.org/drawingml/2006/main">
              <a:ext uri="{FF2B5EF4-FFF2-40B4-BE49-F238E27FC236}">
                <a16:creationId xmlns:a16="http://schemas.microsoft.com/office/drawing/2014/main" id="{92467A7D-3C55-4284-9F35-C1BEBA9C1320}"/>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B5D4E7E5-4230-4D1D-94D6-25208D9205EF}"/>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653FF9AF-F327-408D-82A7-A7F0BC50E7C6}"/>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site_marker.buffer(5.0)</a:t>
            </a:r>
          </a:p>
        </p:txBody>
      </p:sp>
      <p:sp>
        <p:nvSpPr>
          <p:cNvPr id="13" name="example-body">
            <a:extLst xmlns:a="http://schemas.openxmlformats.org/drawingml/2006/main">
              <a:ext uri="{FF2B5EF4-FFF2-40B4-BE49-F238E27FC236}">
                <a16:creationId xmlns:a16="http://schemas.microsoft.com/office/drawing/2014/main" id="{49F82A39-16DA-4FB0-91D8-64DD35D02926}"/>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On a GeoDataFrame already in EPSG:32618 (meters), buffer(5.0) returns a circular review zone with radius 5 m -- area near pi * 5^2 = 78.54 m2, verified on the next slide.</a:t>
            </a:r>
          </a:p>
        </p:txBody>
      </p:sp>
      <p:sp>
        <p:nvSpPr>
          <p:cNvPr id="14" name="note-bar">
            <a:extLst xmlns:a="http://schemas.openxmlformats.org/drawingml/2006/main">
              <a:ext uri="{FF2B5EF4-FFF2-40B4-BE49-F238E27FC236}">
                <a16:creationId xmlns:a16="http://schemas.microsoft.com/office/drawing/2014/main" id="{12762231-1981-4F87-906D-BA47790D578A}"/>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878D8526-9E3C-4F69-90A4-62B07C5B1E56}"/>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AEDB057A-4865-4AA6-BBD1-50FB4DF22F03}"/>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distance is read in the GeoDataFrame's CURRENT CRS units. Buffer a point still in EPSG:4326 and distance means degrees, not meters -- reproject first, exactly like DEMO 1 and DEMO 2.</a:t>
            </a:r>
          </a:p>
        </p:txBody>
      </p:sp>
    </p:spTree>
    <p:extLst>
      <p:ext uri="{BB962C8B-B14F-4D97-AF65-F5344CB8AC3E}">
        <p14:creationId xmlns:p14="http://schemas.microsoft.com/office/powerpoint/2010/main" val="204394039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1949C633-F24F-4586-A64C-683542FCF70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80C27451-BA69-435A-9210-739CDDD10AD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5 m buffer should have about pi times 5 squared area</a:t>
            </a:r>
          </a:p>
        </p:txBody>
      </p:sp>
      <p:sp>
        <p:nvSpPr>
          <p:cNvPr id="3" name="">
            <a:extLst xmlns:a="http://schemas.openxmlformats.org/drawingml/2006/main">
              <a:ext uri="{FF2B5EF4-FFF2-40B4-BE49-F238E27FC236}">
                <a16:creationId xmlns:a16="http://schemas.microsoft.com/office/drawing/2014/main" id="{AB0A7D87-409D-423E-8465-A7437139D7D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E05DE97-F269-4EB9-AACD-FDEA21646B5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A3D03929-9C7F-4881-9162-58282C9B228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27</a:t>
            </a:r>
          </a:p>
        </p:txBody>
      </p:sp>
      <p:sp>
        <p:nvSpPr>
          <p:cNvPr id="6" name="code-panel">
            <a:extLst xmlns:a="http://schemas.openxmlformats.org/drawingml/2006/main">
              <a:ext uri="{FF2B5EF4-FFF2-40B4-BE49-F238E27FC236}">
                <a16:creationId xmlns:a16="http://schemas.microsoft.com/office/drawing/2014/main" id="{794DD6D5-98A6-46F2-882D-4CD59464BA18}"/>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1F606781-AD9E-49DF-94B1-9B2792E340CE}"/>
              </a:ext>
            </a:extLst>
          </p:cNvPr>
          <p:cNvSpPr>
            <a:spLocks xmlns:a="http://schemas.openxmlformats.org/drawingml/2006/main" noGrp="1"/>
          </p:cNvSpPr>
          <p:nvPr/>
        </p:nvSpPr>
        <p:spPr>
          <a:xfrm xmlns:a="http://schemas.openxmlformats.org/drawingml/2006/main">
            <a:off x="857250" y="2057400"/>
            <a:ext cx="6400800" cy="27934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import math</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import geopandas as gpd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from shapely.geometry import Point</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site_marker = gpd.GeoDataFrame({'id': [1]}, geometry=[Point(0.0, 0.0)], crs='EPSG:32618')</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review_zone = site_marker.buffer(5.0)</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print(review_zone.geom_type.iloc[0])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print(f'area: {review_zone.area.iloc[0]:.2f} m2')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print(f'pi * r^2 check: {math.pi * 5.0**2:.2f} m2')</a:t>
            </a:r>
          </a:p>
        </p:txBody>
      </p:sp>
      <p:sp>
        <p:nvSpPr>
          <p:cNvPr id="8" name="">
            <a:extLst xmlns:a="http://schemas.openxmlformats.org/drawingml/2006/main">
              <a:ext uri="{FF2B5EF4-FFF2-40B4-BE49-F238E27FC236}">
                <a16:creationId xmlns:a16="http://schemas.microsoft.com/office/drawing/2014/main" id="{9EA6997C-F89B-46FC-B1DF-904072BD1C54}"/>
              </a:ext>
            </a:extLst>
          </p:cNvPr>
          <p:cNvSpPr>
            <a:spLocks xmlns:a="http://schemas.openxmlformats.org/drawingml/2006/main" noGrp="1"/>
          </p:cNvSpPr>
          <p:nvPr/>
        </p:nvSpPr>
        <p:spPr>
          <a:xfrm xmlns:a="http://schemas.openxmlformats.org/drawingml/2006/main">
            <a:off x="857250" y="4908042"/>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6563F917-9B9B-49A4-AE30-D46193D3BC3F}"/>
              </a:ext>
            </a:extLst>
          </p:cNvPr>
          <p:cNvSpPr>
            <a:spLocks xmlns:a="http://schemas.openxmlformats.org/drawingml/2006/main" noGrp="1"/>
          </p:cNvSpPr>
          <p:nvPr/>
        </p:nvSpPr>
        <p:spPr>
          <a:xfrm xmlns:a="http://schemas.openxmlformats.org/drawingml/2006/main">
            <a:off x="857250" y="5022342"/>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B4C81FB7-4FB9-4FA6-AF27-2EB571E40ECF}"/>
              </a:ext>
            </a:extLst>
          </p:cNvPr>
          <p:cNvSpPr>
            <a:spLocks xmlns:a="http://schemas.openxmlformats.org/drawingml/2006/main" noGrp="1"/>
          </p:cNvSpPr>
          <p:nvPr/>
        </p:nvSpPr>
        <p:spPr>
          <a:xfrm xmlns:a="http://schemas.openxmlformats.org/drawingml/2006/main">
            <a:off x="857250" y="5250942"/>
            <a:ext cx="6400800" cy="578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Polygon</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area: 78.41 m2</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pi * r^2 check: 78.54 m2</a:t>
            </a:r>
          </a:p>
        </p:txBody>
      </p:sp>
      <p:sp>
        <p:nvSpPr>
          <p:cNvPr id="11" name="explain-head">
            <a:extLst xmlns:a="http://schemas.openxmlformats.org/drawingml/2006/main">
              <a:ext uri="{FF2B5EF4-FFF2-40B4-BE49-F238E27FC236}">
                <a16:creationId xmlns:a16="http://schemas.microsoft.com/office/drawing/2014/main" id="{7D11DB6E-5678-4AC8-93CD-E96EFC8295FF}"/>
              </a:ext>
            </a:extLst>
          </p:cNvPr>
          <p:cNvSpPr>
            <a:spLocks xmlns:a="http://schemas.openxmlformats.org/drawingml/2006/main" noGrp="1"/>
          </p:cNvSpPr>
          <p:nvPr/>
        </p:nvSpPr>
        <p:spPr>
          <a:xfrm xmlns:a="http://schemas.openxmlformats.org/drawingml/2006/main">
            <a:off x="7886700" y="25241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 circle is really a many-sided polygon</a:t>
            </a:r>
          </a:p>
        </p:txBody>
      </p:sp>
      <p:sp>
        <p:nvSpPr>
          <p:cNvPr id="12" name="explain-body">
            <a:extLst xmlns:a="http://schemas.openxmlformats.org/drawingml/2006/main">
              <a:ext uri="{FF2B5EF4-FFF2-40B4-BE49-F238E27FC236}">
                <a16:creationId xmlns:a16="http://schemas.microsoft.com/office/drawing/2014/main" id="{22BE981E-0B2B-45B1-B352-4B1D403982EC}"/>
              </a:ext>
            </a:extLst>
          </p:cNvPr>
          <p:cNvSpPr>
            <a:spLocks xmlns:a="http://schemas.openxmlformats.org/drawingml/2006/main" noGrp="1"/>
          </p:cNvSpPr>
          <p:nvPr/>
        </p:nvSpPr>
        <p:spPr>
          <a:xfrm xmlns:a="http://schemas.openxmlformats.org/drawingml/2006/main">
            <a:off x="7886700" y="3309747"/>
            <a:ext cx="36957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buffer() returns a Polygon - internally, a many-sided approximation of a circle. Its area, 78.41 m2, sits just under the true circle area of 78.54 m2 (pi x 5^2) because the polygon approximation has a finite number of straight sides. This is a real, honest approximation, not a bug.</a:t>
            </a:r>
          </a:p>
        </p:txBody>
      </p:sp>
    </p:spTree>
    <p:extLst>
      <p:ext uri="{BB962C8B-B14F-4D97-AF65-F5344CB8AC3E}">
        <p14:creationId xmlns:p14="http://schemas.microsoft.com/office/powerpoint/2010/main" val="32796524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5DC31B65-AE4C-4F16-AE4A-135B4FCD231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DBB264CE-1A7D-49DC-9FA5-F1EC6B1F01A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Spatial join, defined</a:t>
            </a:r>
          </a:p>
        </p:txBody>
      </p:sp>
      <p:sp>
        <p:nvSpPr>
          <p:cNvPr id="3" name="">
            <a:extLst xmlns:a="http://schemas.openxmlformats.org/drawingml/2006/main">
              <a:ext uri="{FF2B5EF4-FFF2-40B4-BE49-F238E27FC236}">
                <a16:creationId xmlns:a16="http://schemas.microsoft.com/office/drawing/2014/main" id="{B2847A9A-107C-4D88-836F-D2587BE73AD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C2268AA-E825-4C71-9B40-A6F1FD044D4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9561B69D-F075-45FB-906B-51A95B12B97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28</a:t>
            </a:r>
          </a:p>
        </p:txBody>
      </p:sp>
      <p:sp>
        <p:nvSpPr>
          <p:cNvPr id="6" name="term-label">
            <a:extLst xmlns:a="http://schemas.openxmlformats.org/drawingml/2006/main">
              <a:ext uri="{FF2B5EF4-FFF2-40B4-BE49-F238E27FC236}">
                <a16:creationId xmlns:a16="http://schemas.microsoft.com/office/drawing/2014/main" id="{76441FDF-D4D7-4B6E-BBE8-60D1E4CC25F0}"/>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7D00BF30-38ED-410E-86C8-022369C59C45}"/>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gpd.sjoin()</a:t>
            </a:r>
          </a:p>
        </p:txBody>
      </p:sp>
      <p:sp>
        <p:nvSpPr>
          <p:cNvPr id="8" name="">
            <a:extLst xmlns:a="http://schemas.openxmlformats.org/drawingml/2006/main">
              <a:ext uri="{FF2B5EF4-FFF2-40B4-BE49-F238E27FC236}">
                <a16:creationId xmlns:a16="http://schemas.microsoft.com/office/drawing/2014/main" id="{554013D7-0D98-45C1-AE23-348351D0B7B0}"/>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48C3AFDD-6673-4A44-8712-5433F579DEDB}"/>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spatial join matches rows between two GeoDataFrames by their spatial relationship -- for example, which point falls within which polygon -- instead of by a shared column value like an ordinary merge.</a:t>
            </a:r>
          </a:p>
        </p:txBody>
      </p:sp>
      <p:sp>
        <p:nvSpPr>
          <p:cNvPr id="10" name="example-panel">
            <a:extLst xmlns:a="http://schemas.openxmlformats.org/drawingml/2006/main">
              <a:ext uri="{FF2B5EF4-FFF2-40B4-BE49-F238E27FC236}">
                <a16:creationId xmlns:a16="http://schemas.microsoft.com/office/drawing/2014/main" id="{8FF926EA-F66E-46C8-8BC3-01A71BF349F7}"/>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AD7769FE-BA21-428D-A121-E75675D58EBF}"/>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AE2CE649-41AA-4FD8-8B5E-321DFC86C989}"/>
              </a:ext>
            </a:extLst>
          </p:cNvPr>
          <p:cNvSpPr>
            <a:spLocks xmlns:a="http://schemas.openxmlformats.org/drawingml/2006/main" noGrp="1"/>
          </p:cNvSpPr>
          <p:nvPr/>
        </p:nvSpPr>
        <p:spPr>
          <a:xfrm xmlns:a="http://schemas.openxmlformats.org/drawingml/2006/main">
            <a:off x="6972300" y="2286000"/>
            <a:ext cx="438150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gpd.sjoin(markers, zones, how='left', predicate='within')</a:t>
            </a:r>
          </a:p>
        </p:txBody>
      </p:sp>
      <p:sp>
        <p:nvSpPr>
          <p:cNvPr id="13" name="example-body">
            <a:extLst xmlns:a="http://schemas.openxmlformats.org/drawingml/2006/main">
              <a:ext uri="{FF2B5EF4-FFF2-40B4-BE49-F238E27FC236}">
                <a16:creationId xmlns:a16="http://schemas.microsoft.com/office/drawing/2014/main" id="{9DEDFF03-C2A2-45C3-9058-295D28B31349}"/>
              </a:ext>
            </a:extLst>
          </p:cNvPr>
          <p:cNvSpPr>
            <a:spLocks xmlns:a="http://schemas.openxmlformats.org/drawingml/2006/main" noGrp="1"/>
          </p:cNvSpPr>
          <p:nvPr/>
        </p:nvSpPr>
        <p:spPr>
          <a:xfrm xmlns:a="http://schemas.openxmlformats.org/drawingml/2006/main">
            <a:off x="6972300" y="2951226"/>
            <a:ext cx="4381500" cy="19827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Attaches each zone's attributes to every marker point that falls within it. Both inputs must share the same CRS first, exactly as an ordinary merge needs a shared key column.</a:t>
            </a:r>
          </a:p>
        </p:txBody>
      </p:sp>
      <p:sp>
        <p:nvSpPr>
          <p:cNvPr id="14" name="note-bar">
            <a:extLst xmlns:a="http://schemas.openxmlformats.org/drawingml/2006/main">
              <a:ext uri="{FF2B5EF4-FFF2-40B4-BE49-F238E27FC236}">
                <a16:creationId xmlns:a16="http://schemas.microsoft.com/office/drawing/2014/main" id="{6DA3F77A-2D87-467F-B8E6-D5F6FBB34FD9}"/>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E4665F80-6E99-43DB-9835-319BF4C6512C}"/>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559286B7-B5BF-4BCA-9269-A2D2F8899AFF}"/>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how='left' keeps every row from markers, even a point inside no polygon (its new column becomes NaN). how='inner', the default if you omit how, would silently drop that row instead.</a:t>
            </a:r>
          </a:p>
        </p:txBody>
      </p:sp>
    </p:spTree>
    <p:extLst>
      <p:ext uri="{BB962C8B-B14F-4D97-AF65-F5344CB8AC3E}">
        <p14:creationId xmlns:p14="http://schemas.microsoft.com/office/powerpoint/2010/main" val="71958233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BB38203E-1461-4082-901D-CDEC44FF1C3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C9F4E5F8-6E50-488C-98F6-30796C2539E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spatial join uses location as the key</a:t>
            </a:r>
          </a:p>
        </p:txBody>
      </p:sp>
      <p:sp>
        <p:nvSpPr>
          <p:cNvPr id="3" name="">
            <a:extLst xmlns:a="http://schemas.openxmlformats.org/drawingml/2006/main">
              <a:ext uri="{FF2B5EF4-FFF2-40B4-BE49-F238E27FC236}">
                <a16:creationId xmlns:a16="http://schemas.microsoft.com/office/drawing/2014/main" id="{017393B6-5CEA-400D-8F82-C53E068F19D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C6A56C5-48AF-48E6-9841-FA30C85B521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3E77A618-FDA3-463A-BC81-44E79AC1D6E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29</a:t>
            </a:r>
          </a:p>
        </p:txBody>
      </p:sp>
      <p:sp>
        <p:nvSpPr>
          <p:cNvPr id="6" name="step-arrow-0">
            <a:extLst xmlns:a="http://schemas.openxmlformats.org/drawingml/2006/main">
              <a:ext uri="{FF2B5EF4-FFF2-40B4-BE49-F238E27FC236}">
                <a16:creationId xmlns:a16="http://schemas.microsoft.com/office/drawing/2014/main" id="{380D8E61-800A-43EB-9D99-006FEF49AC1E}"/>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2B9FECE4-194B-4779-B3BE-9EF1F45A633F}"/>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8F2E70E9-D60A-4EA8-8C38-127F93004A4D}"/>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75F2825A-C10B-4853-958B-22CB65CAD150}"/>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2A16E1CB-7B2B-4C84-8CED-A5C50CD164DF}"/>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8606C5A9-E699-435F-880E-50F85B273A84}"/>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LEFT</a:t>
            </a:r>
          </a:p>
        </p:txBody>
      </p:sp>
      <p:sp>
        <p:nvSpPr>
          <p:cNvPr id="12" name="">
            <a:extLst xmlns:a="http://schemas.openxmlformats.org/drawingml/2006/main">
              <a:ext uri="{FF2B5EF4-FFF2-40B4-BE49-F238E27FC236}">
                <a16:creationId xmlns:a16="http://schemas.microsoft.com/office/drawing/2014/main" id="{6E1E975C-4E4C-4B11-AE0E-EB09545D7A80}"/>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17049825-B4A3-4B30-8C13-3B3FFD62FC25}"/>
              </a:ext>
            </a:extLst>
          </p:cNvPr>
          <p:cNvSpPr>
            <a:spLocks xmlns:a="http://schemas.openxmlformats.org/drawingml/2006/main" noGrp="1"/>
          </p:cNvSpPr>
          <p:nvPr/>
        </p:nvSpPr>
        <p:spPr>
          <a:xfrm xmlns:a="http://schemas.openxmlformats.org/drawingml/2006/main">
            <a:off x="8001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Points</a:t>
            </a:r>
          </a:p>
        </p:txBody>
      </p:sp>
      <p:sp>
        <p:nvSpPr>
          <p:cNvPr id="14" name="step-body-0">
            <a:extLst xmlns:a="http://schemas.openxmlformats.org/drawingml/2006/main">
              <a:ext uri="{FF2B5EF4-FFF2-40B4-BE49-F238E27FC236}">
                <a16:creationId xmlns:a16="http://schemas.microsoft.com/office/drawing/2014/main" id="{1FC78FAB-5E79-437D-8945-5C6B3ABDF7CB}"/>
              </a:ext>
            </a:extLst>
          </p:cNvPr>
          <p:cNvSpPr>
            <a:spLocks xmlns:a="http://schemas.openxmlformats.org/drawingml/2006/main" noGrp="1"/>
          </p:cNvSpPr>
          <p:nvPr/>
        </p:nvSpPr>
        <p:spPr>
          <a:xfrm xmlns:a="http://schemas.openxmlformats.org/drawingml/2006/main">
            <a:off x="8001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Each marker keeps its identity and geometry.</a:t>
            </a:r>
          </a:p>
        </p:txBody>
      </p:sp>
      <p:sp>
        <p:nvSpPr>
          <p:cNvPr id="15" name="step-node-1">
            <a:extLst xmlns:a="http://schemas.openxmlformats.org/drawingml/2006/main">
              <a:ext uri="{FF2B5EF4-FFF2-40B4-BE49-F238E27FC236}">
                <a16:creationId xmlns:a16="http://schemas.microsoft.com/office/drawing/2014/main" id="{0C6C5DBB-4940-48EF-A782-D0F4D90B7E66}"/>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4695E936-1F9D-4E6D-811E-471AC53BC3DC}"/>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A4FAD409-BF52-4AFB-9B4F-A0C8C6BF9F6F}"/>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RIGHT</a:t>
            </a:r>
          </a:p>
        </p:txBody>
      </p:sp>
      <p:sp>
        <p:nvSpPr>
          <p:cNvPr id="18" name="">
            <a:extLst xmlns:a="http://schemas.openxmlformats.org/drawingml/2006/main">
              <a:ext uri="{FF2B5EF4-FFF2-40B4-BE49-F238E27FC236}">
                <a16:creationId xmlns:a16="http://schemas.microsoft.com/office/drawing/2014/main" id="{64FFF0FE-78A6-4DDB-8E92-348848AB9A71}"/>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399D0414-5D85-47D7-AC9E-D537EF739E2C}"/>
              </a:ext>
            </a:extLst>
          </p:cNvPr>
          <p:cNvSpPr>
            <a:spLocks xmlns:a="http://schemas.openxmlformats.org/drawingml/2006/main" noGrp="1"/>
          </p:cNvSpPr>
          <p:nvPr/>
        </p:nvSpPr>
        <p:spPr>
          <a:xfrm xmlns:a="http://schemas.openxmlformats.org/drawingml/2006/main">
            <a:off x="36004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Polygons</a:t>
            </a:r>
          </a:p>
        </p:txBody>
      </p:sp>
      <p:sp>
        <p:nvSpPr>
          <p:cNvPr id="20" name="step-body-1">
            <a:extLst xmlns:a="http://schemas.openxmlformats.org/drawingml/2006/main">
              <a:ext uri="{FF2B5EF4-FFF2-40B4-BE49-F238E27FC236}">
                <a16:creationId xmlns:a16="http://schemas.microsoft.com/office/drawing/2014/main" id="{3433EE97-74DB-4551-B94C-0E9D6D2DEEDB}"/>
              </a:ext>
            </a:extLst>
          </p:cNvPr>
          <p:cNvSpPr>
            <a:spLocks xmlns:a="http://schemas.openxmlformats.org/drawingml/2006/main" noGrp="1"/>
          </p:cNvSpPr>
          <p:nvPr/>
        </p:nvSpPr>
        <p:spPr>
          <a:xfrm xmlns:a="http://schemas.openxmlformats.org/drawingml/2006/main">
            <a:off x="36004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Each zone carries attributes such as name or category.</a:t>
            </a:r>
          </a:p>
        </p:txBody>
      </p:sp>
      <p:sp>
        <p:nvSpPr>
          <p:cNvPr id="21" name="step-node-2">
            <a:extLst xmlns:a="http://schemas.openxmlformats.org/drawingml/2006/main">
              <a:ext uri="{FF2B5EF4-FFF2-40B4-BE49-F238E27FC236}">
                <a16:creationId xmlns:a16="http://schemas.microsoft.com/office/drawing/2014/main" id="{2A891FBA-085C-4F77-BDC2-CF390D7D4F92}"/>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F7043342-2BB1-4EFC-8344-65E01F8011FD}"/>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EFD6A755-FE27-46A1-8491-E3967F60C552}"/>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PREDICATE</a:t>
            </a:r>
          </a:p>
        </p:txBody>
      </p:sp>
      <p:sp>
        <p:nvSpPr>
          <p:cNvPr id="24" name="">
            <a:extLst xmlns:a="http://schemas.openxmlformats.org/drawingml/2006/main">
              <a:ext uri="{FF2B5EF4-FFF2-40B4-BE49-F238E27FC236}">
                <a16:creationId xmlns:a16="http://schemas.microsoft.com/office/drawing/2014/main" id="{6855F816-C044-4FA3-9306-9447C7E1539B}"/>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694008F7-C7BA-4DFD-BF51-F8138EB367FF}"/>
              </a:ext>
            </a:extLst>
          </p:cNvPr>
          <p:cNvSpPr>
            <a:spLocks xmlns:a="http://schemas.openxmlformats.org/drawingml/2006/main" noGrp="1"/>
          </p:cNvSpPr>
          <p:nvPr/>
        </p:nvSpPr>
        <p:spPr>
          <a:xfrm xmlns:a="http://schemas.openxmlformats.org/drawingml/2006/main">
            <a:off x="64008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Test relation</a:t>
            </a:r>
          </a:p>
        </p:txBody>
      </p:sp>
      <p:sp>
        <p:nvSpPr>
          <p:cNvPr id="26" name="step-body-2">
            <a:extLst xmlns:a="http://schemas.openxmlformats.org/drawingml/2006/main">
              <a:ext uri="{FF2B5EF4-FFF2-40B4-BE49-F238E27FC236}">
                <a16:creationId xmlns:a16="http://schemas.microsoft.com/office/drawing/2014/main" id="{D08B3E2C-6C99-443D-9C68-E602DF01FC64}"/>
              </a:ext>
            </a:extLst>
          </p:cNvPr>
          <p:cNvSpPr>
            <a:spLocks xmlns:a="http://schemas.openxmlformats.org/drawingml/2006/main" noGrp="1"/>
          </p:cNvSpPr>
          <p:nvPr/>
        </p:nvSpPr>
        <p:spPr>
          <a:xfrm xmlns:a="http://schemas.openxmlformats.org/drawingml/2006/main">
            <a:off x="64008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within, intersects, or contains defines what counts as a match.</a:t>
            </a:r>
          </a:p>
        </p:txBody>
      </p:sp>
      <p:sp>
        <p:nvSpPr>
          <p:cNvPr id="27" name="step-node-3">
            <a:extLst xmlns:a="http://schemas.openxmlformats.org/drawingml/2006/main">
              <a:ext uri="{FF2B5EF4-FFF2-40B4-BE49-F238E27FC236}">
                <a16:creationId xmlns:a16="http://schemas.microsoft.com/office/drawing/2014/main" id="{2387013E-B8BE-417A-80F8-3672193ABE7E}"/>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74827657-B5EC-4526-BEC6-D5F6E81E7EFC}"/>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0C4FC1D8-FB6C-40BD-8169-0E6EEBEADFFB}"/>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RESULT</a:t>
            </a:r>
          </a:p>
        </p:txBody>
      </p:sp>
      <p:sp>
        <p:nvSpPr>
          <p:cNvPr id="30" name="">
            <a:extLst xmlns:a="http://schemas.openxmlformats.org/drawingml/2006/main">
              <a:ext uri="{FF2B5EF4-FFF2-40B4-BE49-F238E27FC236}">
                <a16:creationId xmlns:a16="http://schemas.microsoft.com/office/drawing/2014/main" id="{0933EF3A-F09C-456F-908E-AA5FA959DC57}"/>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F46D2568-A196-4740-9AB0-ED01C6933772}"/>
              </a:ext>
            </a:extLst>
          </p:cNvPr>
          <p:cNvSpPr>
            <a:spLocks xmlns:a="http://schemas.openxmlformats.org/drawingml/2006/main" noGrp="1"/>
          </p:cNvSpPr>
          <p:nvPr/>
        </p:nvSpPr>
        <p:spPr>
          <a:xfrm xmlns:a="http://schemas.openxmlformats.org/drawingml/2006/main">
            <a:off x="92011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Attach attributes</a:t>
            </a:r>
          </a:p>
        </p:txBody>
      </p:sp>
      <p:sp>
        <p:nvSpPr>
          <p:cNvPr id="32" name="step-body-3">
            <a:extLst xmlns:a="http://schemas.openxmlformats.org/drawingml/2006/main">
              <a:ext uri="{FF2B5EF4-FFF2-40B4-BE49-F238E27FC236}">
                <a16:creationId xmlns:a16="http://schemas.microsoft.com/office/drawing/2014/main" id="{A7878534-401F-4741-9E20-BC96F51E3F31}"/>
              </a:ext>
            </a:extLst>
          </p:cNvPr>
          <p:cNvSpPr>
            <a:spLocks xmlns:a="http://schemas.openxmlformats.org/drawingml/2006/main" noGrp="1"/>
          </p:cNvSpPr>
          <p:nvPr/>
        </p:nvSpPr>
        <p:spPr>
          <a:xfrm xmlns:a="http://schemas.openxmlformats.org/drawingml/2006/main">
            <a:off x="92011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Matched zone information is added to each point row; unmatched rows remain visible.</a:t>
            </a:r>
          </a:p>
        </p:txBody>
      </p:sp>
    </p:spTree>
    <p:extLst>
      <p:ext uri="{BB962C8B-B14F-4D97-AF65-F5344CB8AC3E}">
        <p14:creationId xmlns:p14="http://schemas.microsoft.com/office/powerpoint/2010/main" val="29186875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F726F808-B771-4C0E-9F9E-601581CE98F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B4A6B9F2-3C23-4474-A173-E9E7EE0C6AF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Three site markers, two zone polygons: set up both layers</a:t>
            </a:r>
          </a:p>
        </p:txBody>
      </p:sp>
      <p:sp>
        <p:nvSpPr>
          <p:cNvPr id="3" name="">
            <a:extLst xmlns:a="http://schemas.openxmlformats.org/drawingml/2006/main">
              <a:ext uri="{FF2B5EF4-FFF2-40B4-BE49-F238E27FC236}">
                <a16:creationId xmlns:a16="http://schemas.microsoft.com/office/drawing/2014/main" id="{9F475CDE-661B-49D2-9225-3C4BFDBD277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8FB3C71-5AB1-4749-9896-D54FF81D641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C8C4149C-5792-474E-8405-496BA191DC0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30</a:t>
            </a:r>
          </a:p>
        </p:txBody>
      </p:sp>
      <p:sp>
        <p:nvSpPr>
          <p:cNvPr id="6" name="code-panel">
            <a:extLst xmlns:a="http://schemas.openxmlformats.org/drawingml/2006/main">
              <a:ext uri="{FF2B5EF4-FFF2-40B4-BE49-F238E27FC236}">
                <a16:creationId xmlns:a16="http://schemas.microsoft.com/office/drawing/2014/main" id="{7A2A75C1-4FAF-4D80-AD33-CC1F59600F3F}"/>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72D949D8-FB67-4E0B-9645-E97256B9B3B9}"/>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import geopandas as gpd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from shapely.geometry import Point, Polygon</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markers = gpd.GeoDataFrame({'site_id': ['S1','S2','S3']}, geometry=[Point(5,5), Point(5,15), Point(30,30)], crs='EPSG:32618')</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zone_a = Polygon([(0,0), (10,0), (10,10), (0,10)])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zone_b = Polygon([(0,10), (10,10), (10,20), (0,20)])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zones = gpd.GeoDataFrame({'zone_name': ['Zone A', 'Zone B']}, geometry=[zone_a, zone_b], crs='EPSG:32618')</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print(markers.crs == zones.crs)</a:t>
            </a:r>
          </a:p>
        </p:txBody>
      </p:sp>
      <p:sp>
        <p:nvSpPr>
          <p:cNvPr id="8" name="">
            <a:extLst xmlns:a="http://schemas.openxmlformats.org/drawingml/2006/main">
              <a:ext uri="{FF2B5EF4-FFF2-40B4-BE49-F238E27FC236}">
                <a16:creationId xmlns:a16="http://schemas.microsoft.com/office/drawing/2014/main" id="{61A12B71-CDF1-4F1D-9578-9F2ED246C386}"/>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012E2CFC-4BD7-4360-8827-6FA8C8BA6D59}"/>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40A07692-4359-4B9B-8C59-1CDE4AA0D119}"/>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True</a:t>
            </a:r>
          </a:p>
        </p:txBody>
      </p:sp>
      <p:sp>
        <p:nvSpPr>
          <p:cNvPr id="11" name="explain-head">
            <a:extLst xmlns:a="http://schemas.openxmlformats.org/drawingml/2006/main">
              <a:ext uri="{FF2B5EF4-FFF2-40B4-BE49-F238E27FC236}">
                <a16:creationId xmlns:a16="http://schemas.microsoft.com/office/drawing/2014/main" id="{41F352B9-1CEE-4784-B33F-965FB7D8BB32}"/>
              </a:ext>
            </a:extLst>
          </p:cNvPr>
          <p:cNvSpPr>
            <a:spLocks xmlns:a="http://schemas.openxmlformats.org/drawingml/2006/main" noGrp="1"/>
          </p:cNvSpPr>
          <p:nvPr/>
        </p:nvSpPr>
        <p:spPr>
          <a:xfrm xmlns:a="http://schemas.openxmlformats.org/drawingml/2006/main">
            <a:off x="7886700" y="23717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Same CRS, required before any join</a:t>
            </a:r>
          </a:p>
        </p:txBody>
      </p:sp>
      <p:sp>
        <p:nvSpPr>
          <p:cNvPr id="12" name="explain-body">
            <a:extLst xmlns:a="http://schemas.openxmlformats.org/drawingml/2006/main">
              <a:ext uri="{FF2B5EF4-FFF2-40B4-BE49-F238E27FC236}">
                <a16:creationId xmlns:a16="http://schemas.microsoft.com/office/drawing/2014/main" id="{64C8AC7C-9E9C-43C9-A3F8-948D15583BB5}"/>
              </a:ext>
            </a:extLst>
          </p:cNvPr>
          <p:cNvSpPr>
            <a:spLocks xmlns:a="http://schemas.openxmlformats.org/drawingml/2006/main" noGrp="1"/>
          </p:cNvSpPr>
          <p:nvPr/>
        </p:nvSpPr>
        <p:spPr>
          <a:xfrm xmlns:a="http://schemas.openxmlformats.org/drawingml/2006/main">
            <a:off x="7886700" y="3157347"/>
            <a:ext cx="3695700" cy="2065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S1 and S2 sit inside the two zone polygons; S3 sits well outside both. Both GeoDataFrames are built directly in EPSG:32618 (meters), so the join on the next slide can safely test within/intersects using real distances, not degrees. Confirming markers.crs == zones.crs is a habit worth keeping before every spatial join.</a:t>
            </a:r>
          </a:p>
        </p:txBody>
      </p:sp>
    </p:spTree>
    <p:extLst>
      <p:ext uri="{BB962C8B-B14F-4D97-AF65-F5344CB8AC3E}">
        <p14:creationId xmlns:p14="http://schemas.microsoft.com/office/powerpoint/2010/main" val="7312012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94FA4D91-17CB-4150-9F73-7B03B1FA15F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6689E2C5-9DB8-48BD-BC16-26D13EAEEA3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what happens to the point outside every zone?</a:t>
            </a:r>
          </a:p>
        </p:txBody>
      </p:sp>
      <p:sp>
        <p:nvSpPr>
          <p:cNvPr id="3" name="">
            <a:extLst xmlns:a="http://schemas.openxmlformats.org/drawingml/2006/main">
              <a:ext uri="{FF2B5EF4-FFF2-40B4-BE49-F238E27FC236}">
                <a16:creationId xmlns:a16="http://schemas.microsoft.com/office/drawing/2014/main" id="{9A544CC8-6E6E-4972-A327-C2284DF7C85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D88D16A-FE8F-492D-89C1-3A314A74897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80CF95BE-0B5B-4E7E-BACF-3751E8C136C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31</a:t>
            </a:r>
          </a:p>
        </p:txBody>
      </p:sp>
      <p:sp>
        <p:nvSpPr>
          <p:cNvPr id="6" name="code-panel">
            <a:extLst xmlns:a="http://schemas.openxmlformats.org/drawingml/2006/main">
              <a:ext uri="{FF2B5EF4-FFF2-40B4-BE49-F238E27FC236}">
                <a16:creationId xmlns:a16="http://schemas.microsoft.com/office/drawing/2014/main" id="{780D7DFA-8A26-4192-89C6-B7C9CFCCA286}"/>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52D83ADD-203E-4C49-AE58-0EC47F06C8E8}"/>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joined = gpd.sjoin(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markers, zones,</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how='left', predicate='within',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print(len(joined))</a:t>
            </a:r>
          </a:p>
        </p:txBody>
      </p:sp>
      <p:sp>
        <p:nvSpPr>
          <p:cNvPr id="8" name="question">
            <a:extLst xmlns:a="http://schemas.openxmlformats.org/drawingml/2006/main">
              <a:ext uri="{FF2B5EF4-FFF2-40B4-BE49-F238E27FC236}">
                <a16:creationId xmlns:a16="http://schemas.microsoft.com/office/drawing/2014/main" id="{6111BF72-A219-4831-8B6D-2ADBBCEBFA04}"/>
              </a:ext>
            </a:extLst>
          </p:cNvPr>
          <p:cNvSpPr>
            <a:spLocks xmlns:a="http://schemas.openxmlformats.org/drawingml/2006/main" noGrp="1"/>
          </p:cNvSpPr>
          <p:nvPr/>
        </p:nvSpPr>
        <p:spPr>
          <a:xfrm xmlns:a="http://schemas.openxmlformats.org/drawingml/2006/main">
            <a:off x="7315200" y="1809750"/>
            <a:ext cx="4267200" cy="8641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S3 falls outside both zone polygons. What does len(joined) print?</a:t>
            </a:r>
          </a:p>
        </p:txBody>
      </p:sp>
      <p:sp>
        <p:nvSpPr>
          <p:cNvPr id="9" name="opt-0">
            <a:extLst xmlns:a="http://schemas.openxmlformats.org/drawingml/2006/main">
              <a:ext uri="{FF2B5EF4-FFF2-40B4-BE49-F238E27FC236}">
                <a16:creationId xmlns:a16="http://schemas.microsoft.com/office/drawing/2014/main" id="{32AA10CC-0501-4C10-A378-6544800F3A81}"/>
              </a:ext>
            </a:extLst>
          </p:cNvPr>
          <p:cNvSpPr>
            <a:spLocks xmlns:a="http://schemas.openxmlformats.org/drawingml/2006/main" noGrp="1"/>
          </p:cNvSpPr>
          <p:nvPr/>
        </p:nvSpPr>
        <p:spPr>
          <a:xfrm xmlns:a="http://schemas.openxmlformats.org/drawingml/2006/main">
            <a:off x="7315200" y="27881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56C60E2B-48EE-41CF-95C5-98D4D0601031}"/>
              </a:ext>
            </a:extLst>
          </p:cNvPr>
          <p:cNvSpPr>
            <a:spLocks xmlns:a="http://schemas.openxmlformats.org/drawingml/2006/main" noGrp="1"/>
          </p:cNvSpPr>
          <p:nvPr/>
        </p:nvSpPr>
        <p:spPr>
          <a:xfrm xmlns:a="http://schemas.openxmlformats.org/drawingml/2006/main">
            <a:off x="7448550" y="29310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D559F3B5-64F8-4C37-9560-EDC6402F4999}"/>
              </a:ext>
            </a:extLst>
          </p:cNvPr>
          <p:cNvSpPr>
            <a:spLocks xmlns:a="http://schemas.openxmlformats.org/drawingml/2006/main" noGrp="1"/>
          </p:cNvSpPr>
          <p:nvPr/>
        </p:nvSpPr>
        <p:spPr>
          <a:xfrm xmlns:a="http://schemas.openxmlformats.org/drawingml/2006/main">
            <a:off x="7772400" y="28262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3 -- kept, S3's zone is NaN</a:t>
            </a:r>
          </a:p>
        </p:txBody>
      </p:sp>
      <p:sp>
        <p:nvSpPr>
          <p:cNvPr id="12" name="opt-1">
            <a:extLst xmlns:a="http://schemas.openxmlformats.org/drawingml/2006/main">
              <a:ext uri="{FF2B5EF4-FFF2-40B4-BE49-F238E27FC236}">
                <a16:creationId xmlns:a16="http://schemas.microsoft.com/office/drawing/2014/main" id="{A1167383-E5AD-4A80-945A-0AA082FE17FF}"/>
              </a:ext>
            </a:extLst>
          </p:cNvPr>
          <p:cNvSpPr>
            <a:spLocks xmlns:a="http://schemas.openxmlformats.org/drawingml/2006/main" noGrp="1"/>
          </p:cNvSpPr>
          <p:nvPr/>
        </p:nvSpPr>
        <p:spPr>
          <a:xfrm xmlns:a="http://schemas.openxmlformats.org/drawingml/2006/main">
            <a:off x="7315200" y="33596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F641E21C-F504-442C-8C2A-9E99BC5D2D6E}"/>
              </a:ext>
            </a:extLst>
          </p:cNvPr>
          <p:cNvSpPr>
            <a:spLocks xmlns:a="http://schemas.openxmlformats.org/drawingml/2006/main" noGrp="1"/>
          </p:cNvSpPr>
          <p:nvPr/>
        </p:nvSpPr>
        <p:spPr>
          <a:xfrm xmlns:a="http://schemas.openxmlformats.org/drawingml/2006/main">
            <a:off x="7448550" y="35025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81C8128A-D7AA-42FD-B8CF-A81AB49ED3E0}"/>
              </a:ext>
            </a:extLst>
          </p:cNvPr>
          <p:cNvSpPr>
            <a:spLocks xmlns:a="http://schemas.openxmlformats.org/drawingml/2006/main" noGrp="1"/>
          </p:cNvSpPr>
          <p:nvPr/>
        </p:nvSpPr>
        <p:spPr>
          <a:xfrm xmlns:a="http://schemas.openxmlformats.org/drawingml/2006/main">
            <a:off x="7772400" y="33977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2 -- S3 dropped, no match</a:t>
            </a:r>
          </a:p>
        </p:txBody>
      </p:sp>
      <p:sp>
        <p:nvSpPr>
          <p:cNvPr id="15" name="opt-2">
            <a:extLst xmlns:a="http://schemas.openxmlformats.org/drawingml/2006/main">
              <a:ext uri="{FF2B5EF4-FFF2-40B4-BE49-F238E27FC236}">
                <a16:creationId xmlns:a16="http://schemas.microsoft.com/office/drawing/2014/main" id="{7483AF1A-0608-4C0B-B430-29B30379B48B}"/>
              </a:ext>
            </a:extLst>
          </p:cNvPr>
          <p:cNvSpPr>
            <a:spLocks xmlns:a="http://schemas.openxmlformats.org/drawingml/2006/main" noGrp="1"/>
          </p:cNvSpPr>
          <p:nvPr/>
        </p:nvSpPr>
        <p:spPr>
          <a:xfrm xmlns:a="http://schemas.openxmlformats.org/drawingml/2006/main">
            <a:off x="7315200" y="39311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883E9C82-82A0-4639-BBB2-892B0852C3E1}"/>
              </a:ext>
            </a:extLst>
          </p:cNvPr>
          <p:cNvSpPr>
            <a:spLocks xmlns:a="http://schemas.openxmlformats.org/drawingml/2006/main" noGrp="1"/>
          </p:cNvSpPr>
          <p:nvPr/>
        </p:nvSpPr>
        <p:spPr>
          <a:xfrm xmlns:a="http://schemas.openxmlformats.org/drawingml/2006/main">
            <a:off x="7448550" y="40740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B178CF73-F636-49EB-9250-E91CB813F087}"/>
              </a:ext>
            </a:extLst>
          </p:cNvPr>
          <p:cNvSpPr>
            <a:spLocks xmlns:a="http://schemas.openxmlformats.org/drawingml/2006/main" noGrp="1"/>
          </p:cNvSpPr>
          <p:nvPr/>
        </p:nvSpPr>
        <p:spPr>
          <a:xfrm xmlns:a="http://schemas.openxmlformats.org/drawingml/2006/main">
            <a:off x="7772400" y="39692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Raises a ValueError</a:t>
            </a:r>
          </a:p>
        </p:txBody>
      </p:sp>
      <p:sp>
        <p:nvSpPr>
          <p:cNvPr id="18" name="opt-3">
            <a:extLst xmlns:a="http://schemas.openxmlformats.org/drawingml/2006/main">
              <a:ext uri="{FF2B5EF4-FFF2-40B4-BE49-F238E27FC236}">
                <a16:creationId xmlns:a16="http://schemas.microsoft.com/office/drawing/2014/main" id="{E74535BF-54A6-4F2A-8036-A4CA057BC7BD}"/>
              </a:ext>
            </a:extLst>
          </p:cNvPr>
          <p:cNvSpPr>
            <a:spLocks xmlns:a="http://schemas.openxmlformats.org/drawingml/2006/main" noGrp="1"/>
          </p:cNvSpPr>
          <p:nvPr/>
        </p:nvSpPr>
        <p:spPr>
          <a:xfrm xmlns:a="http://schemas.openxmlformats.org/drawingml/2006/main">
            <a:off x="7315200" y="45026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442AA7BE-9376-4CCE-AD92-B499B3FF27F0}"/>
              </a:ext>
            </a:extLst>
          </p:cNvPr>
          <p:cNvSpPr>
            <a:spLocks xmlns:a="http://schemas.openxmlformats.org/drawingml/2006/main" noGrp="1"/>
          </p:cNvSpPr>
          <p:nvPr/>
        </p:nvSpPr>
        <p:spPr>
          <a:xfrm xmlns:a="http://schemas.openxmlformats.org/drawingml/2006/main">
            <a:off x="7448550" y="46455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7A49C687-FBEF-4FF3-9AB4-038AB607150C}"/>
              </a:ext>
            </a:extLst>
          </p:cNvPr>
          <p:cNvSpPr>
            <a:spLocks xmlns:a="http://schemas.openxmlformats.org/drawingml/2006/main" noGrp="1"/>
          </p:cNvSpPr>
          <p:nvPr/>
        </p:nvSpPr>
        <p:spPr>
          <a:xfrm xmlns:a="http://schemas.openxmlformats.org/drawingml/2006/main">
            <a:off x="7772400" y="45407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0 -- needs a shared column first</a:t>
            </a:r>
          </a:p>
        </p:txBody>
      </p:sp>
      <p:sp>
        <p:nvSpPr>
          <p:cNvPr id="21" name="answer-panel">
            <a:extLst xmlns:a="http://schemas.openxmlformats.org/drawingml/2006/main">
              <a:ext uri="{FF2B5EF4-FFF2-40B4-BE49-F238E27FC236}">
                <a16:creationId xmlns:a16="http://schemas.microsoft.com/office/drawing/2014/main" id="{47BCA998-10B7-4A98-8CF3-8ABEA7513A4B}"/>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C038DC48-6844-4C1E-90BC-7F027C458E63}"/>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A</a:t>
            </a:r>
          </a:p>
        </p:txBody>
      </p:sp>
      <p:sp>
        <p:nvSpPr>
          <p:cNvPr id="23" name="why">
            <a:extLst xmlns:a="http://schemas.openxmlformats.org/drawingml/2006/main">
              <a:ext uri="{FF2B5EF4-FFF2-40B4-BE49-F238E27FC236}">
                <a16:creationId xmlns:a16="http://schemas.microsoft.com/office/drawing/2014/main" id="{9CAFB188-90A9-4675-9797-58ED763CD317}"/>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how='left' keeps every row, even S3. how='inner' (the default) would drop it and print 2. A join matches by location, not a shared column.</a:t>
            </a:r>
          </a:p>
        </p:txBody>
      </p:sp>
    </p:spTree>
    <p:extLst>
      <p:ext uri="{BB962C8B-B14F-4D97-AF65-F5344CB8AC3E}">
        <p14:creationId xmlns:p14="http://schemas.microsoft.com/office/powerpoint/2010/main" val="130097835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F15E9681-0CC2-4748-AA04-2A3DD16CE49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C9EBC2CE-2695-42B8-BC14-FC99BC02700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Run the spatial join: who is where?</a:t>
            </a:r>
          </a:p>
        </p:txBody>
      </p:sp>
      <p:sp>
        <p:nvSpPr>
          <p:cNvPr id="3" name="">
            <a:extLst xmlns:a="http://schemas.openxmlformats.org/drawingml/2006/main">
              <a:ext uri="{FF2B5EF4-FFF2-40B4-BE49-F238E27FC236}">
                <a16:creationId xmlns:a16="http://schemas.microsoft.com/office/drawing/2014/main" id="{0C0FCCFE-7BA9-4188-BA8B-5FEF144FDBF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5373B3D-FE73-4675-A616-9DBB52A51523}"/>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0974330A-790E-491F-88BF-7EFB614883F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32</a:t>
            </a:r>
          </a:p>
        </p:txBody>
      </p:sp>
      <p:sp>
        <p:nvSpPr>
          <p:cNvPr id="6" name="code-panel">
            <a:extLst xmlns:a="http://schemas.openxmlformats.org/drawingml/2006/main">
              <a:ext uri="{FF2B5EF4-FFF2-40B4-BE49-F238E27FC236}">
                <a16:creationId xmlns:a16="http://schemas.microsoft.com/office/drawing/2014/main" id="{B4DDD453-6276-40B5-A6AC-F3A13382BD7F}"/>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CA65842E-C72D-4335-85A7-0F1EEF5FF903}"/>
              </a:ext>
            </a:extLst>
          </p:cNvPr>
          <p:cNvSpPr>
            <a:spLocks xmlns:a="http://schemas.openxmlformats.org/drawingml/2006/main" noGrp="1"/>
          </p:cNvSpPr>
          <p:nvPr/>
        </p:nvSpPr>
        <p:spPr>
          <a:xfrm xmlns:a="http://schemas.openxmlformats.org/drawingml/2006/main">
            <a:off x="857250" y="2057400"/>
            <a:ext cx="6400800" cy="26197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joined = gpd.sjoin(markers, zones, how='left', predicate='within')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print(joined[['site_id', 'zone_name']])</a:t>
            </a:r>
          </a:p>
        </p:txBody>
      </p:sp>
      <p:sp>
        <p:nvSpPr>
          <p:cNvPr id="8" name="">
            <a:extLst xmlns:a="http://schemas.openxmlformats.org/drawingml/2006/main">
              <a:ext uri="{FF2B5EF4-FFF2-40B4-BE49-F238E27FC236}">
                <a16:creationId xmlns:a16="http://schemas.microsoft.com/office/drawing/2014/main" id="{ACC68D2E-0445-47B5-B607-C9096CAC63CA}"/>
              </a:ext>
            </a:extLst>
          </p:cNvPr>
          <p:cNvSpPr>
            <a:spLocks xmlns:a="http://schemas.openxmlformats.org/drawingml/2006/main" noGrp="1"/>
          </p:cNvSpPr>
          <p:nvPr/>
        </p:nvSpPr>
        <p:spPr>
          <a:xfrm xmlns:a="http://schemas.openxmlformats.org/drawingml/2006/main">
            <a:off x="857250" y="4734306"/>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3A07AF8F-2216-4E90-967B-1F8A63AF6CEF}"/>
              </a:ext>
            </a:extLst>
          </p:cNvPr>
          <p:cNvSpPr>
            <a:spLocks xmlns:a="http://schemas.openxmlformats.org/drawingml/2006/main" noGrp="1"/>
          </p:cNvSpPr>
          <p:nvPr/>
        </p:nvSpPr>
        <p:spPr>
          <a:xfrm xmlns:a="http://schemas.openxmlformats.org/drawingml/2006/main">
            <a:off x="857250" y="4848606"/>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0611FE80-3823-4D5C-9851-7BACEC6D027B}"/>
              </a:ext>
            </a:extLst>
          </p:cNvPr>
          <p:cNvSpPr>
            <a:spLocks xmlns:a="http://schemas.openxmlformats.org/drawingml/2006/main" noGrp="1"/>
          </p:cNvSpPr>
          <p:nvPr/>
        </p:nvSpPr>
        <p:spPr>
          <a:xfrm xmlns:a="http://schemas.openxmlformats.org/drawingml/2006/main">
            <a:off x="857250" y="5077206"/>
            <a:ext cx="6400800" cy="752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  site_id zone_name</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      S1    Zone A</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1      S2    Zone B</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2      S3       NaN</a:t>
            </a:r>
          </a:p>
        </p:txBody>
      </p:sp>
      <p:sp>
        <p:nvSpPr>
          <p:cNvPr id="11" name="explain-head">
            <a:extLst xmlns:a="http://schemas.openxmlformats.org/drawingml/2006/main">
              <a:ext uri="{FF2B5EF4-FFF2-40B4-BE49-F238E27FC236}">
                <a16:creationId xmlns:a16="http://schemas.microsoft.com/office/drawing/2014/main" id="{75ED1E1D-C238-4EDD-8E86-A2480F520595}"/>
              </a:ext>
            </a:extLst>
          </p:cNvPr>
          <p:cNvSpPr>
            <a:spLocks xmlns:a="http://schemas.openxmlformats.org/drawingml/2006/main" noGrp="1"/>
          </p:cNvSpPr>
          <p:nvPr/>
        </p:nvSpPr>
        <p:spPr>
          <a:xfrm xmlns:a="http://schemas.openxmlformats.org/drawingml/2006/main">
            <a:off x="7886700" y="26098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NaN is honest, useful information</a:t>
            </a:r>
          </a:p>
        </p:txBody>
      </p:sp>
      <p:sp>
        <p:nvSpPr>
          <p:cNvPr id="12" name="explain-body">
            <a:extLst xmlns:a="http://schemas.openxmlformats.org/drawingml/2006/main">
              <a:ext uri="{FF2B5EF4-FFF2-40B4-BE49-F238E27FC236}">
                <a16:creationId xmlns:a16="http://schemas.microsoft.com/office/drawing/2014/main" id="{D327C1DB-20CB-4C9C-9727-F87A66614753}"/>
              </a:ext>
            </a:extLst>
          </p:cNvPr>
          <p:cNvSpPr>
            <a:spLocks xmlns:a="http://schemas.openxmlformats.org/drawingml/2006/main" noGrp="1"/>
          </p:cNvSpPr>
          <p:nvPr/>
        </p:nvSpPr>
        <p:spPr>
          <a:xfrm xmlns:a="http://schemas.openxmlformats.org/drawingml/2006/main">
            <a:off x="7886700" y="3395472"/>
            <a:ext cx="3695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S1 falls inside Zone A, S2 inside Zone B. S3 sits outside both polygons entirely, so how='left' keeps it in the result with zone_name as NaN - the point exists, it just is not inside any known zone. That NaN is real information, not a failure.</a:t>
            </a:r>
          </a:p>
        </p:txBody>
      </p:sp>
    </p:spTree>
    <p:extLst>
      <p:ext uri="{BB962C8B-B14F-4D97-AF65-F5344CB8AC3E}">
        <p14:creationId xmlns:p14="http://schemas.microsoft.com/office/powerpoint/2010/main" val="198955634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0CEB2FD9-1CAF-4049-A105-A8FEA160FEF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 DESIGN DECISION, EXPLAINED</a:t>
            </a:r>
          </a:p>
        </p:txBody>
      </p:sp>
      <p:sp>
        <p:nvSpPr>
          <p:cNvPr id="2" name="title">
            <a:extLst xmlns:a="http://schemas.openxmlformats.org/drawingml/2006/main">
              <a:ext uri="{FF2B5EF4-FFF2-40B4-BE49-F238E27FC236}">
                <a16:creationId xmlns:a16="http://schemas.microsoft.com/office/drawing/2014/main" id="{AC5F9F44-7297-4B00-9C07-EDB276B412F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Why this course does not spatial-join individual rooms</a:t>
            </a:r>
          </a:p>
        </p:txBody>
      </p:sp>
      <p:sp>
        <p:nvSpPr>
          <p:cNvPr id="3" name="">
            <a:extLst xmlns:a="http://schemas.openxmlformats.org/drawingml/2006/main">
              <a:ext uri="{FF2B5EF4-FFF2-40B4-BE49-F238E27FC236}">
                <a16:creationId xmlns:a16="http://schemas.microsoft.com/office/drawing/2014/main" id="{C0FBA9F5-960A-415A-BC1E-4BAE8E73BD9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188058E-4EF4-4D91-93A1-86BF4D1609F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C12F14E4-0A10-447D-B32B-323CC05018F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33</a:t>
            </a:r>
          </a:p>
        </p:txBody>
      </p:sp>
      <p:sp>
        <p:nvSpPr>
          <p:cNvPr id="6" name="left-head">
            <a:extLst xmlns:a="http://schemas.openxmlformats.org/drawingml/2006/main">
              <a:ext uri="{FF2B5EF4-FFF2-40B4-BE49-F238E27FC236}">
                <a16:creationId xmlns:a16="http://schemas.microsoft.com/office/drawing/2014/main" id="{CF528B66-557F-4529-AA5E-F03C97188645}"/>
              </a:ext>
            </a:extLst>
          </p:cNvPr>
          <p:cNvSpPr>
            <a:spLocks xmlns:a="http://schemas.openxmlformats.org/drawingml/2006/main" noGrp="1"/>
          </p:cNvSpPr>
          <p:nvPr/>
        </p:nvSpPr>
        <p:spPr>
          <a:xfrm xmlns:a="http://schemas.openxmlformats.org/drawingml/2006/main">
            <a:off x="609600" y="241935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pitfall</a:t>
            </a:r>
          </a:p>
        </p:txBody>
      </p:sp>
      <p:sp>
        <p:nvSpPr>
          <p:cNvPr id="7" name="left-body">
            <a:extLst xmlns:a="http://schemas.openxmlformats.org/drawingml/2006/main">
              <a:ext uri="{FF2B5EF4-FFF2-40B4-BE49-F238E27FC236}">
                <a16:creationId xmlns:a16="http://schemas.microsoft.com/office/drawing/2014/main" id="{58C709F3-24D8-4789-AA18-D8BBBBA69FD3}"/>
              </a:ext>
            </a:extLst>
          </p:cNvPr>
          <p:cNvSpPr>
            <a:spLocks xmlns:a="http://schemas.openxmlformats.org/drawingml/2006/main" noGrp="1"/>
          </p:cNvSpPr>
          <p:nvPr/>
        </p:nvSpPr>
        <p:spPr>
          <a:xfrm xmlns:a="http://schemas.openxmlformats.org/drawingml/2006/main">
            <a:off x="609600" y="2916936"/>
            <a:ext cx="5219700" cy="16672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Radley Hall's room coordinates repeat: the same x_m, y_m location holds a room on floor 1, floor 2, and floor 3 (a real multi-story footprint). A point-in-polygon join on individual rooms would match several stacked rooms to the same zone at once - confusing, not wrong.</a:t>
            </a:r>
          </a:p>
        </p:txBody>
      </p:sp>
      <p:sp>
        <p:nvSpPr>
          <p:cNvPr id="8" name="right-head">
            <a:extLst xmlns:a="http://schemas.openxmlformats.org/drawingml/2006/main">
              <a:ext uri="{FF2B5EF4-FFF2-40B4-BE49-F238E27FC236}">
                <a16:creationId xmlns:a16="http://schemas.microsoft.com/office/drawing/2014/main" id="{D4A0FF3E-E704-425A-829D-1CC59EA2529F}"/>
              </a:ext>
            </a:extLst>
          </p:cNvPr>
          <p:cNvSpPr>
            <a:spLocks xmlns:a="http://schemas.openxmlformats.org/drawingml/2006/main" noGrp="1"/>
          </p:cNvSpPr>
          <p:nvPr/>
        </p:nvSpPr>
        <p:spPr>
          <a:xfrm xmlns:a="http://schemas.openxmlformats.org/drawingml/2006/main">
            <a:off x="6362700" y="241935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fix Meeting B uses instead</a:t>
            </a:r>
          </a:p>
        </p:txBody>
      </p:sp>
      <p:sp>
        <p:nvSpPr>
          <p:cNvPr id="9" name="right-body">
            <a:extLst xmlns:a="http://schemas.openxmlformats.org/drawingml/2006/main">
              <a:ext uri="{FF2B5EF4-FFF2-40B4-BE49-F238E27FC236}">
                <a16:creationId xmlns:a16="http://schemas.microsoft.com/office/drawing/2014/main" id="{F32093FD-775A-4D59-80C3-A7DBBE5B7BF4}"/>
              </a:ext>
            </a:extLst>
          </p:cNvPr>
          <p:cNvSpPr>
            <a:spLocks xmlns:a="http://schemas.openxmlformats.org/drawingml/2006/main" noGrp="1"/>
          </p:cNvSpPr>
          <p:nvPr/>
        </p:nvSpPr>
        <p:spPr>
          <a:xfrm xmlns:a="http://schemas.openxmlformats.org/drawingml/2006/main">
            <a:off x="6362700" y="2916936"/>
            <a:ext cx="5219700" cy="21976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Summarize first (Week 5's groupby, by zone), THEN join that one summary row per zone onto the zone polygon. One row per zone avoids the stacked-floor ambiguity completely, and is exactly the workflow needed if you choose the map for Project 1 Part IV -- one of two evidence-extension choices, alongside Week 6's animation.</a:t>
            </a:r>
          </a:p>
        </p:txBody>
      </p:sp>
    </p:spTree>
    <p:extLst>
      <p:ext uri="{BB962C8B-B14F-4D97-AF65-F5344CB8AC3E}">
        <p14:creationId xmlns:p14="http://schemas.microsoft.com/office/powerpoint/2010/main" val="68585296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E73E4AD0-2304-49FD-879C-FD3A9F6F71A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9524A4B1-E736-4948-9FE3-5CFBFA1FC98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Transfer the spatial join: which entrances fall inside shaded zones?</a:t>
            </a:r>
          </a:p>
        </p:txBody>
      </p:sp>
      <p:sp>
        <p:nvSpPr>
          <p:cNvPr id="3" name="">
            <a:extLst xmlns:a="http://schemas.openxmlformats.org/drawingml/2006/main">
              <a:ext uri="{FF2B5EF4-FFF2-40B4-BE49-F238E27FC236}">
                <a16:creationId xmlns:a16="http://schemas.microsoft.com/office/drawing/2014/main" id="{DDC942D8-0EF1-4490-98B4-F6EC216F7E9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A63F2EB-A49E-44E9-860D-765A1A99BA6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9E299A06-B3BE-49A5-868D-9E1399D9366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34</a:t>
            </a:r>
          </a:p>
        </p:txBody>
      </p:sp>
      <p:sp>
        <p:nvSpPr>
          <p:cNvPr id="6" name="exercise-accent">
            <a:extLst xmlns:a="http://schemas.openxmlformats.org/drawingml/2006/main">
              <a:ext uri="{FF2B5EF4-FFF2-40B4-BE49-F238E27FC236}">
                <a16:creationId xmlns:a16="http://schemas.microsoft.com/office/drawing/2014/main" id="{28D700A7-E926-4BAD-84C7-A91066166AA5}"/>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AA30BD3B-EFAD-401C-983B-D483CF8A710B}"/>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Entrance points and shade polygons arrive in EPSG:4326; the team also needs a 5 m review radius around each entrance.</a:t>
            </a:r>
          </a:p>
        </p:txBody>
      </p:sp>
      <p:sp>
        <p:nvSpPr>
          <p:cNvPr id="8" name="work-label">
            <a:extLst xmlns:a="http://schemas.openxmlformats.org/drawingml/2006/main">
              <a:ext uri="{FF2B5EF4-FFF2-40B4-BE49-F238E27FC236}">
                <a16:creationId xmlns:a16="http://schemas.microsoft.com/office/drawing/2014/main" id="{B0A9415F-7D68-4C2F-86F0-40AFC00B4839}"/>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4B06D798-B6D3-4E8B-B472-972AD260792E}"/>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50D139EF-3345-43EE-BEC9-416567C9822C}"/>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Choose the point and polygon geometry roles and inspect both CRS values.</a:t>
            </a:r>
          </a:p>
        </p:txBody>
      </p:sp>
      <p:sp>
        <p:nvSpPr>
          <p:cNvPr id="11" name="exercise-no-1">
            <a:extLst xmlns:a="http://schemas.openxmlformats.org/drawingml/2006/main">
              <a:ext uri="{FF2B5EF4-FFF2-40B4-BE49-F238E27FC236}">
                <a16:creationId xmlns:a16="http://schemas.microsoft.com/office/drawing/2014/main" id="{CF3DCF8F-5ACA-4661-A292-CCFB0343435E}"/>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AD41860E-58E1-4FEF-A7A1-4EECE1B13D54}"/>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Reproject to EPSG:32618 before buffering or measuring distance.</a:t>
            </a:r>
          </a:p>
        </p:txBody>
      </p:sp>
      <p:sp>
        <p:nvSpPr>
          <p:cNvPr id="13" name="exercise-no-2">
            <a:extLst xmlns:a="http://schemas.openxmlformats.org/drawingml/2006/main">
              <a:ext uri="{FF2B5EF4-FFF2-40B4-BE49-F238E27FC236}">
                <a16:creationId xmlns:a16="http://schemas.microsoft.com/office/drawing/2014/main" id="{72AA5D21-F7CC-4DC8-8B80-6E0313529EEA}"/>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60D7EE2F-F81C-4047-B114-B2C69FFA7C85}"/>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Predict within versus intersects for an entrance exactly on a shade boundary.</a:t>
            </a:r>
          </a:p>
        </p:txBody>
      </p:sp>
      <p:sp>
        <p:nvSpPr>
          <p:cNvPr id="15" name="exercise-no-3">
            <a:extLst xmlns:a="http://schemas.openxmlformats.org/drawingml/2006/main">
              <a:ext uri="{FF2B5EF4-FFF2-40B4-BE49-F238E27FC236}">
                <a16:creationId xmlns:a16="http://schemas.microsoft.com/office/drawing/2014/main" id="{887C3BB8-7871-4C35-89B5-45CD75D7ED3A}"/>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A91CD9F5-9280-4C23-BF7C-5E66441C72E9}"/>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Verify matched and unmatched points, then state the boundary rule used.</a:t>
            </a:r>
          </a:p>
        </p:txBody>
      </p:sp>
    </p:spTree>
    <p:extLst>
      <p:ext uri="{BB962C8B-B14F-4D97-AF65-F5344CB8AC3E}">
        <p14:creationId xmlns:p14="http://schemas.microsoft.com/office/powerpoint/2010/main" val="208112134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40FA67A8-2ABD-44EE-84E4-555EAE648EE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6CDC2C08-1599-48CA-9B27-258DAF13AA7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correct spatial workflow, every time</a:t>
            </a:r>
          </a:p>
        </p:txBody>
      </p:sp>
      <p:sp>
        <p:nvSpPr>
          <p:cNvPr id="3" name="">
            <a:extLst xmlns:a="http://schemas.openxmlformats.org/drawingml/2006/main">
              <a:ext uri="{FF2B5EF4-FFF2-40B4-BE49-F238E27FC236}">
                <a16:creationId xmlns:a16="http://schemas.microsoft.com/office/drawing/2014/main" id="{D113F702-9005-47A8-94BE-4EFB8963478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DC418C2-BF28-4593-A0F0-99553D67307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50F8DC78-1150-4320-B3A1-0C7B79C0800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35</a:t>
            </a:r>
          </a:p>
        </p:txBody>
      </p:sp>
      <p:sp>
        <p:nvSpPr>
          <p:cNvPr id="6" name="step-arrow-0">
            <a:extLst xmlns:a="http://schemas.openxmlformats.org/drawingml/2006/main">
              <a:ext uri="{FF2B5EF4-FFF2-40B4-BE49-F238E27FC236}">
                <a16:creationId xmlns:a16="http://schemas.microsoft.com/office/drawing/2014/main" id="{12DA631C-C36E-46E3-B960-E6D6745AE4B3}"/>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364B7CBC-B9C3-44B9-BAD9-23C9556E2940}"/>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B5973533-AA78-42C8-A56E-6406219739DC}"/>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70159458-4947-4744-B353-E298A8103B74}"/>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B9C9B126-1358-4F50-B337-E7E165E71F50}"/>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A8A818C9-395E-4D5B-9841-0CF3AD930010}"/>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LOAD</a:t>
            </a:r>
          </a:p>
        </p:txBody>
      </p:sp>
      <p:sp>
        <p:nvSpPr>
          <p:cNvPr id="12" name="">
            <a:extLst xmlns:a="http://schemas.openxmlformats.org/drawingml/2006/main">
              <a:ext uri="{FF2B5EF4-FFF2-40B4-BE49-F238E27FC236}">
                <a16:creationId xmlns:a16="http://schemas.microsoft.com/office/drawing/2014/main" id="{04141D96-326A-418A-81E9-DBE21F724057}"/>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8D802479-2727-49FC-82EB-67799E368F44}"/>
              </a:ext>
            </a:extLst>
          </p:cNvPr>
          <p:cNvSpPr>
            <a:spLocks xmlns:a="http://schemas.openxmlformats.org/drawingml/2006/main" noGrp="1"/>
          </p:cNvSpPr>
          <p:nvPr/>
        </p:nvSpPr>
        <p:spPr>
          <a:xfrm xmlns:a="http://schemas.openxmlformats.org/drawingml/2006/main">
            <a:off x="8001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Read the geometry</a:t>
            </a:r>
          </a:p>
        </p:txBody>
      </p:sp>
      <p:sp>
        <p:nvSpPr>
          <p:cNvPr id="14" name="step-body-0">
            <a:extLst xmlns:a="http://schemas.openxmlformats.org/drawingml/2006/main">
              <a:ext uri="{FF2B5EF4-FFF2-40B4-BE49-F238E27FC236}">
                <a16:creationId xmlns:a16="http://schemas.microsoft.com/office/drawing/2014/main" id="{20D73EB8-F664-48F5-A491-0C2E5CBFFBC7}"/>
              </a:ext>
            </a:extLst>
          </p:cNvPr>
          <p:cNvSpPr>
            <a:spLocks xmlns:a="http://schemas.openxmlformats.org/drawingml/2006/main" noGrp="1"/>
          </p:cNvSpPr>
          <p:nvPr/>
        </p:nvSpPr>
        <p:spPr>
          <a:xfrm xmlns:a="http://schemas.openxmlformats.org/drawingml/2006/main">
            <a:off x="8001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gpd.read_file() and note its CRS immediately - do not assume.</a:t>
            </a:r>
          </a:p>
        </p:txBody>
      </p:sp>
      <p:sp>
        <p:nvSpPr>
          <p:cNvPr id="15" name="step-node-1">
            <a:extLst xmlns:a="http://schemas.openxmlformats.org/drawingml/2006/main">
              <a:ext uri="{FF2B5EF4-FFF2-40B4-BE49-F238E27FC236}">
                <a16:creationId xmlns:a16="http://schemas.microsoft.com/office/drawing/2014/main" id="{79B60389-E888-440C-AADB-B20F839586A6}"/>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87E24904-78FC-46BC-BADF-3963FB054AE6}"/>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8625F4E2-7641-4BA8-AEAF-510862259494}"/>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CHECK</a:t>
            </a:r>
          </a:p>
        </p:txBody>
      </p:sp>
      <p:sp>
        <p:nvSpPr>
          <p:cNvPr id="18" name="">
            <a:extLst xmlns:a="http://schemas.openxmlformats.org/drawingml/2006/main">
              <a:ext uri="{FF2B5EF4-FFF2-40B4-BE49-F238E27FC236}">
                <a16:creationId xmlns:a16="http://schemas.microsoft.com/office/drawing/2014/main" id="{B7385586-CDDC-4ACE-B6DE-A81535859B23}"/>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17292A90-8F48-4051-8FCD-9DD0258AE56E}"/>
              </a:ext>
            </a:extLst>
          </p:cNvPr>
          <p:cNvSpPr>
            <a:spLocks xmlns:a="http://schemas.openxmlformats.org/drawingml/2006/main" noGrp="1"/>
          </p:cNvSpPr>
          <p:nvPr/>
        </p:nvSpPr>
        <p:spPr>
          <a:xfrm xmlns:a="http://schemas.openxmlformats.org/drawingml/2006/main">
            <a:off x="36004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Confirm the CRS</a:t>
            </a:r>
          </a:p>
        </p:txBody>
      </p:sp>
      <p:sp>
        <p:nvSpPr>
          <p:cNvPr id="20" name="step-body-1">
            <a:extLst xmlns:a="http://schemas.openxmlformats.org/drawingml/2006/main">
              <a:ext uri="{FF2B5EF4-FFF2-40B4-BE49-F238E27FC236}">
                <a16:creationId xmlns:a16="http://schemas.microsoft.com/office/drawing/2014/main" id="{F8E000E7-A1E7-40AB-A874-A9586761F26B}"/>
              </a:ext>
            </a:extLst>
          </p:cNvPr>
          <p:cNvSpPr>
            <a:spLocks xmlns:a="http://schemas.openxmlformats.org/drawingml/2006/main" noGrp="1"/>
          </p:cNvSpPr>
          <p:nvPr/>
        </p:nvSpPr>
        <p:spPr>
          <a:xfrm xmlns:a="http://schemas.openxmlformats.org/drawingml/2006/main">
            <a:off x="36004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Geographic (degrees) or projected (meters)? Read the EPSG code.</a:t>
            </a:r>
          </a:p>
        </p:txBody>
      </p:sp>
      <p:sp>
        <p:nvSpPr>
          <p:cNvPr id="21" name="step-node-2">
            <a:extLst xmlns:a="http://schemas.openxmlformats.org/drawingml/2006/main">
              <a:ext uri="{FF2B5EF4-FFF2-40B4-BE49-F238E27FC236}">
                <a16:creationId xmlns:a16="http://schemas.microsoft.com/office/drawing/2014/main" id="{2307CFC8-A12B-45B1-83B8-C2895E9607BF}"/>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16E1F1DC-4118-4F3A-B5A8-36E30C316CC6}"/>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0D4C4F2F-348F-4B0C-805E-001B40420CFF}"/>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REPROJECT</a:t>
            </a:r>
          </a:p>
        </p:txBody>
      </p:sp>
      <p:sp>
        <p:nvSpPr>
          <p:cNvPr id="24" name="">
            <a:extLst xmlns:a="http://schemas.openxmlformats.org/drawingml/2006/main">
              <a:ext uri="{FF2B5EF4-FFF2-40B4-BE49-F238E27FC236}">
                <a16:creationId xmlns:a16="http://schemas.microsoft.com/office/drawing/2014/main" id="{0F679EF6-FF7A-43E8-B0E4-E0BA1A5F8154}"/>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E439028E-93C3-4DF6-9B01-2CA848712F85}"/>
              </a:ext>
            </a:extLst>
          </p:cNvPr>
          <p:cNvSpPr>
            <a:spLocks xmlns:a="http://schemas.openxmlformats.org/drawingml/2006/main" noGrp="1"/>
          </p:cNvSpPr>
          <p:nvPr/>
        </p:nvSpPr>
        <p:spPr>
          <a:xfrm xmlns:a="http://schemas.openxmlformats.org/drawingml/2006/main">
            <a:off x="64008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to_crs() before measuring</a:t>
            </a:r>
          </a:p>
        </p:txBody>
      </p:sp>
      <p:sp>
        <p:nvSpPr>
          <p:cNvPr id="26" name="step-body-2">
            <a:extLst xmlns:a="http://schemas.openxmlformats.org/drawingml/2006/main">
              <a:ext uri="{FF2B5EF4-FFF2-40B4-BE49-F238E27FC236}">
                <a16:creationId xmlns:a16="http://schemas.microsoft.com/office/drawing/2014/main" id="{F28AF0E8-00EB-40A8-9509-9971A4E1C0E9}"/>
              </a:ext>
            </a:extLst>
          </p:cNvPr>
          <p:cNvSpPr>
            <a:spLocks xmlns:a="http://schemas.openxmlformats.org/drawingml/2006/main" noGrp="1"/>
          </p:cNvSpPr>
          <p:nvPr/>
        </p:nvSpPr>
        <p:spPr>
          <a:xfrm xmlns:a="http://schemas.openxmlformats.org/drawingml/2006/main">
            <a:off x="64008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Convert to a projected CRS (EPSG:32618 for Syracuse, NY) before any area, length, buffer, or distance.</a:t>
            </a:r>
          </a:p>
        </p:txBody>
      </p:sp>
      <p:sp>
        <p:nvSpPr>
          <p:cNvPr id="27" name="step-node-3">
            <a:extLst xmlns:a="http://schemas.openxmlformats.org/drawingml/2006/main">
              <a:ext uri="{FF2B5EF4-FFF2-40B4-BE49-F238E27FC236}">
                <a16:creationId xmlns:a16="http://schemas.microsoft.com/office/drawing/2014/main" id="{58AA2015-0540-4E37-9CF5-2CEB8E2E6D9A}"/>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0E7D89BA-B4FD-47A9-8201-1D8079A1DD90}"/>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2A300AF6-015B-4BCA-A1B9-FABF4607161A}"/>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COMPUTE</a:t>
            </a:r>
          </a:p>
        </p:txBody>
      </p:sp>
      <p:sp>
        <p:nvSpPr>
          <p:cNvPr id="30" name="">
            <a:extLst xmlns:a="http://schemas.openxmlformats.org/drawingml/2006/main">
              <a:ext uri="{FF2B5EF4-FFF2-40B4-BE49-F238E27FC236}">
                <a16:creationId xmlns:a16="http://schemas.microsoft.com/office/drawing/2014/main" id="{CB115D3F-143E-4B8E-945C-6355F42E52F6}"/>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F4262E4B-6B77-424A-A369-95120D2E2131}"/>
              </a:ext>
            </a:extLst>
          </p:cNvPr>
          <p:cNvSpPr>
            <a:spLocks xmlns:a="http://schemas.openxmlformats.org/drawingml/2006/main" noGrp="1"/>
          </p:cNvSpPr>
          <p:nvPr/>
        </p:nvSpPr>
        <p:spPr>
          <a:xfrm xmlns:a="http://schemas.openxmlformats.org/drawingml/2006/main">
            <a:off x="92011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Measure or join</a:t>
            </a:r>
          </a:p>
        </p:txBody>
      </p:sp>
      <p:sp>
        <p:nvSpPr>
          <p:cNvPr id="32" name="step-body-3">
            <a:extLst xmlns:a="http://schemas.openxmlformats.org/drawingml/2006/main">
              <a:ext uri="{FF2B5EF4-FFF2-40B4-BE49-F238E27FC236}">
                <a16:creationId xmlns:a16="http://schemas.microsoft.com/office/drawing/2014/main" id="{73413723-DCE1-448E-8F62-D7FA175BC43A}"/>
              </a:ext>
            </a:extLst>
          </p:cNvPr>
          <p:cNvSpPr>
            <a:spLocks xmlns:a="http://schemas.openxmlformats.org/drawingml/2006/main" noGrp="1"/>
          </p:cNvSpPr>
          <p:nvPr/>
        </p:nvSpPr>
        <p:spPr>
          <a:xfrm xmlns:a="http://schemas.openxmlformats.org/drawingml/2006/main">
            <a:off x="92011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Now .area, .length, .buffer(), and sjoin() all return trustworthy, checkable numbers.</a:t>
            </a:r>
          </a:p>
        </p:txBody>
      </p:sp>
    </p:spTree>
    <p:extLst>
      <p:ext uri="{BB962C8B-B14F-4D97-AF65-F5344CB8AC3E}">
        <p14:creationId xmlns:p14="http://schemas.microsoft.com/office/powerpoint/2010/main" val="52863938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1C0C86C6-600D-4847-ADDF-5F13760A5B6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2026 PRACTICE HORIZON</a:t>
            </a:r>
          </a:p>
        </p:txBody>
      </p:sp>
      <p:sp>
        <p:nvSpPr>
          <p:cNvPr id="2" name="title">
            <a:extLst xmlns:a="http://schemas.openxmlformats.org/drawingml/2006/main">
              <a:ext uri="{FF2B5EF4-FFF2-40B4-BE49-F238E27FC236}">
                <a16:creationId xmlns:a16="http://schemas.microsoft.com/office/drawing/2014/main" id="{D2759140-DC5B-4994-93E3-46939624033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Spatial evidence now moves through open files and web APIs</a:t>
            </a:r>
          </a:p>
        </p:txBody>
      </p:sp>
      <p:sp>
        <p:nvSpPr>
          <p:cNvPr id="3" name="">
            <a:extLst xmlns:a="http://schemas.openxmlformats.org/drawingml/2006/main">
              <a:ext uri="{FF2B5EF4-FFF2-40B4-BE49-F238E27FC236}">
                <a16:creationId xmlns:a16="http://schemas.microsoft.com/office/drawing/2014/main" id="{771B8327-C17A-4E5B-B0D3-B5E5C91D603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0405D93-F9D9-45FD-9926-E199C856BA2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7 · Meeting A · Spatial Data, Scale, and Maps</a:t>
            </a:r>
          </a:p>
        </p:txBody>
      </p:sp>
      <p:sp>
        <p:nvSpPr>
          <p:cNvPr id="5" name="page">
            <a:extLst xmlns:a="http://schemas.openxmlformats.org/drawingml/2006/main">
              <a:ext uri="{FF2B5EF4-FFF2-40B4-BE49-F238E27FC236}">
                <a16:creationId xmlns:a16="http://schemas.microsoft.com/office/drawing/2014/main" id="{A372E39B-3F1B-4E1A-93D8-348E57D9744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36</a:t>
            </a:r>
          </a:p>
        </p:txBody>
      </p:sp>
      <p:sp>
        <p:nvSpPr>
          <p:cNvPr id="6" name="step-arrow-0">
            <a:extLst xmlns:a="http://schemas.openxmlformats.org/drawingml/2006/main">
              <a:ext uri="{FF2B5EF4-FFF2-40B4-BE49-F238E27FC236}">
                <a16:creationId xmlns:a16="http://schemas.microsoft.com/office/drawing/2014/main" id="{46B26B75-2E77-463A-B1B0-81561A283DDC}"/>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6841D6F7-56AD-4C3D-B407-1613CB7C3E04}"/>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CB90995B-C430-4E33-A31C-6E597522A9F9}"/>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848FB2D8-39A7-4DE1-9B69-A5050D5D3907}"/>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B8A7FA6C-F389-47AB-BF1D-1F4B05757B23}"/>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DD9EA1E6-1E1C-4BA8-8710-E3BF398CD464}"/>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PACKAGE</a:t>
            </a:r>
          </a:p>
        </p:txBody>
      </p:sp>
      <p:sp>
        <p:nvSpPr>
          <p:cNvPr id="12" name="">
            <a:extLst xmlns:a="http://schemas.openxmlformats.org/drawingml/2006/main">
              <a:ext uri="{FF2B5EF4-FFF2-40B4-BE49-F238E27FC236}">
                <a16:creationId xmlns:a16="http://schemas.microsoft.com/office/drawing/2014/main" id="{BF59FDEA-CBE0-4489-BCD3-29CEB4EE7AD0}"/>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EA4BDE16-6683-4B60-A644-6C3AEDE79C4C}"/>
              </a:ext>
            </a:extLst>
          </p:cNvPr>
          <p:cNvSpPr>
            <a:spLocks xmlns:a="http://schemas.openxmlformats.org/drawingml/2006/main" noGrp="1"/>
          </p:cNvSpPr>
          <p:nvPr/>
        </p:nvSpPr>
        <p:spPr>
          <a:xfrm xmlns:a="http://schemas.openxmlformats.org/drawingml/2006/main">
            <a:off x="8001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GeoParquet</a:t>
            </a:r>
          </a:p>
        </p:txBody>
      </p:sp>
      <p:sp>
        <p:nvSpPr>
          <p:cNvPr id="14" name="step-body-0">
            <a:extLst xmlns:a="http://schemas.openxmlformats.org/drawingml/2006/main">
              <a:ext uri="{FF2B5EF4-FFF2-40B4-BE49-F238E27FC236}">
                <a16:creationId xmlns:a16="http://schemas.microsoft.com/office/drawing/2014/main" id="{2C2E4FB3-E153-4820-9006-B78A0F8B0A9C}"/>
              </a:ext>
            </a:extLst>
          </p:cNvPr>
          <p:cNvSpPr>
            <a:spLocks xmlns:a="http://schemas.openxmlformats.org/drawingml/2006/main" noGrp="1"/>
          </p:cNvSpPr>
          <p:nvPr/>
        </p:nvSpPr>
        <p:spPr>
          <a:xfrm xmlns:a="http://schemas.openxmlformats.org/drawingml/2006/main">
            <a:off x="8001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Geometry columns travel with declared encoding and CRS metadata in a columnar file.</a:t>
            </a:r>
          </a:p>
        </p:txBody>
      </p:sp>
      <p:sp>
        <p:nvSpPr>
          <p:cNvPr id="15" name="step-node-1">
            <a:extLst xmlns:a="http://schemas.openxmlformats.org/drawingml/2006/main">
              <a:ext uri="{FF2B5EF4-FFF2-40B4-BE49-F238E27FC236}">
                <a16:creationId xmlns:a16="http://schemas.microsoft.com/office/drawing/2014/main" id="{5F874629-E3B4-4576-BD8D-6A635DD4EE73}"/>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53DC4EFC-74E9-46AE-B6B1-38571E1923C1}"/>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3E843050-0E8D-456A-BB1C-05CA32C9992A}"/>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DISCOVER</a:t>
            </a:r>
          </a:p>
        </p:txBody>
      </p:sp>
      <p:sp>
        <p:nvSpPr>
          <p:cNvPr id="18" name="">
            <a:extLst xmlns:a="http://schemas.openxmlformats.org/drawingml/2006/main">
              <a:ext uri="{FF2B5EF4-FFF2-40B4-BE49-F238E27FC236}">
                <a16:creationId xmlns:a16="http://schemas.microsoft.com/office/drawing/2014/main" id="{70B71334-C42C-4C0C-9C4A-F08665FFE0A8}"/>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A0E2E20E-4475-4539-8C35-BF4519B60CDE}"/>
              </a:ext>
            </a:extLst>
          </p:cNvPr>
          <p:cNvSpPr>
            <a:spLocks xmlns:a="http://schemas.openxmlformats.org/drawingml/2006/main" noGrp="1"/>
          </p:cNvSpPr>
          <p:nvPr/>
        </p:nvSpPr>
        <p:spPr>
          <a:xfrm xmlns:a="http://schemas.openxmlformats.org/drawingml/2006/main">
            <a:off x="36004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OGC API collections</a:t>
            </a:r>
          </a:p>
        </p:txBody>
      </p:sp>
      <p:sp>
        <p:nvSpPr>
          <p:cNvPr id="20" name="step-body-1">
            <a:extLst xmlns:a="http://schemas.openxmlformats.org/drawingml/2006/main">
              <a:ext uri="{FF2B5EF4-FFF2-40B4-BE49-F238E27FC236}">
                <a16:creationId xmlns:a16="http://schemas.microsoft.com/office/drawing/2014/main" id="{B9092C21-8823-44E2-9BC7-1A7AD82F0952}"/>
              </a:ext>
            </a:extLst>
          </p:cNvPr>
          <p:cNvSpPr>
            <a:spLocks xmlns:a="http://schemas.openxmlformats.org/drawingml/2006/main" noGrp="1"/>
          </p:cNvSpPr>
          <p:nvPr/>
        </p:nvSpPr>
        <p:spPr>
          <a:xfrm xmlns:a="http://schemas.openxmlformats.org/drawingml/2006/main">
            <a:off x="36004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 client can discover available feature collections, extents, and capabilities.</a:t>
            </a:r>
          </a:p>
        </p:txBody>
      </p:sp>
      <p:sp>
        <p:nvSpPr>
          <p:cNvPr id="21" name="step-node-2">
            <a:extLst xmlns:a="http://schemas.openxmlformats.org/drawingml/2006/main">
              <a:ext uri="{FF2B5EF4-FFF2-40B4-BE49-F238E27FC236}">
                <a16:creationId xmlns:a16="http://schemas.microsoft.com/office/drawing/2014/main" id="{DBD0A821-D4DA-4542-82DD-E34DAE22955F}"/>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9C01BDEF-5D6C-4943-9BB1-C55D087507A3}"/>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C2E70957-9FB0-4BAB-B8D8-069148B6D23D}"/>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QUERY</a:t>
            </a:r>
          </a:p>
        </p:txBody>
      </p:sp>
      <p:sp>
        <p:nvSpPr>
          <p:cNvPr id="24" name="">
            <a:extLst xmlns:a="http://schemas.openxmlformats.org/drawingml/2006/main">
              <a:ext uri="{FF2B5EF4-FFF2-40B4-BE49-F238E27FC236}">
                <a16:creationId xmlns:a16="http://schemas.microsoft.com/office/drawing/2014/main" id="{BE6A113A-E63F-4727-82A7-2FED820418BC}"/>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9B749545-F459-404A-99A6-33C018C51C8D}"/>
              </a:ext>
            </a:extLst>
          </p:cNvPr>
          <p:cNvSpPr>
            <a:spLocks xmlns:a="http://schemas.openxmlformats.org/drawingml/2006/main" noGrp="1"/>
          </p:cNvSpPr>
          <p:nvPr/>
        </p:nvSpPr>
        <p:spPr>
          <a:xfrm xmlns:a="http://schemas.openxmlformats.org/drawingml/2006/main">
            <a:off x="64008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Request a bounded subset</a:t>
            </a:r>
          </a:p>
        </p:txBody>
      </p:sp>
      <p:sp>
        <p:nvSpPr>
          <p:cNvPr id="26" name="step-body-2">
            <a:extLst xmlns:a="http://schemas.openxmlformats.org/drawingml/2006/main">
              <a:ext uri="{FF2B5EF4-FFF2-40B4-BE49-F238E27FC236}">
                <a16:creationId xmlns:a16="http://schemas.microsoft.com/office/drawing/2014/main" id="{5984E004-7B33-4054-A5D8-7F843E16A6EA}"/>
              </a:ext>
            </a:extLst>
          </p:cNvPr>
          <p:cNvSpPr>
            <a:spLocks xmlns:a="http://schemas.openxmlformats.org/drawingml/2006/main" noGrp="1"/>
          </p:cNvSpPr>
          <p:nvPr/>
        </p:nvSpPr>
        <p:spPr>
          <a:xfrm xmlns:a="http://schemas.openxmlformats.org/drawingml/2006/main">
            <a:off x="64008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Filter by collection, spatial or attribute criteria, and only the fields needed.</a:t>
            </a:r>
          </a:p>
        </p:txBody>
      </p:sp>
      <p:sp>
        <p:nvSpPr>
          <p:cNvPr id="27" name="step-node-3">
            <a:extLst xmlns:a="http://schemas.openxmlformats.org/drawingml/2006/main">
              <a:ext uri="{FF2B5EF4-FFF2-40B4-BE49-F238E27FC236}">
                <a16:creationId xmlns:a16="http://schemas.microsoft.com/office/drawing/2014/main" id="{B8C4E187-D6E2-41F8-A53E-4F56D1A9461C}"/>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92BF287A-CEA4-40CD-9A91-43475E93A293}"/>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C2FDD19C-0F30-40D0-ACB1-87E36D944F84}"/>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VERIFY</a:t>
            </a:r>
          </a:p>
        </p:txBody>
      </p:sp>
      <p:sp>
        <p:nvSpPr>
          <p:cNvPr id="30" name="">
            <a:extLst xmlns:a="http://schemas.openxmlformats.org/drawingml/2006/main">
              <a:ext uri="{FF2B5EF4-FFF2-40B4-BE49-F238E27FC236}">
                <a16:creationId xmlns:a16="http://schemas.microsoft.com/office/drawing/2014/main" id="{327952AB-20B3-4C84-92D8-92FE684B4137}"/>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E85ED4D2-C54F-4665-834D-23639071BB71}"/>
              </a:ext>
            </a:extLst>
          </p:cNvPr>
          <p:cNvSpPr>
            <a:spLocks xmlns:a="http://schemas.openxmlformats.org/drawingml/2006/main" noGrp="1"/>
          </p:cNvSpPr>
          <p:nvPr/>
        </p:nvSpPr>
        <p:spPr>
          <a:xfrm xmlns:a="http://schemas.openxmlformats.org/drawingml/2006/main">
            <a:off x="92011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Inspect before measuring</a:t>
            </a:r>
          </a:p>
        </p:txBody>
      </p:sp>
      <p:sp>
        <p:nvSpPr>
          <p:cNvPr id="32" name="step-body-3">
            <a:extLst xmlns:a="http://schemas.openxmlformats.org/drawingml/2006/main">
              <a:ext uri="{FF2B5EF4-FFF2-40B4-BE49-F238E27FC236}">
                <a16:creationId xmlns:a16="http://schemas.microsoft.com/office/drawing/2014/main" id="{BAC071B6-BF96-482C-9419-7C5432E8D643}"/>
              </a:ext>
            </a:extLst>
          </p:cNvPr>
          <p:cNvSpPr>
            <a:spLocks xmlns:a="http://schemas.openxmlformats.org/drawingml/2006/main" noGrp="1"/>
          </p:cNvSpPr>
          <p:nvPr/>
        </p:nvSpPr>
        <p:spPr>
          <a:xfrm xmlns:a="http://schemas.openxmlformats.org/drawingml/2006/main">
            <a:off x="92011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Check schema, CRS, axis order, extent, missing geometry, and unmatched features.</a:t>
            </a:r>
          </a:p>
        </p:txBody>
      </p:sp>
    </p:spTree>
    <p:extLst>
      <p:ext uri="{BB962C8B-B14F-4D97-AF65-F5344CB8AC3E}">
        <p14:creationId xmlns:p14="http://schemas.microsoft.com/office/powerpoint/2010/main" val="1101897795"/>
      </p:ext>
    </p:extLst>
  </p:cSld>
</p:sld>
</file>

<file path=ppt/slides/slide37.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12" name="close-week">
            <a:extLst xmlns:a="http://schemas.openxmlformats.org/drawingml/2006/main">
              <a:ext uri="{FF2B5EF4-FFF2-40B4-BE49-F238E27FC236}">
                <a16:creationId xmlns:a16="http://schemas.microsoft.com/office/drawing/2014/main" id="{03F23ECE-36A7-43FC-8313-04EE8BEB84DA}"/>
              </a:ext>
            </a:extLst>
          </p:cNvPr>
          <p:cNvSpPr>
            <a:spLocks xmlns:a="http://schemas.openxmlformats.org/drawingml/2006/main" noGrp="1"/>
          </p:cNvSpPr>
          <p:nvPr/>
        </p:nvSpPr>
        <p:spPr>
          <a:xfrm xmlns:a="http://schemas.openxmlformats.org/drawingml/2006/main">
            <a:off x="609600" y="4572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7 · MEETING A · SPATIAL DATA, SCALE, AND MAPS</a:t>
            </a:r>
          </a:p>
        </p:txBody>
      </p:sp>
      <p:sp>
        <p:nvSpPr>
          <p:cNvPr id="2" name="close-title">
            <a:extLst xmlns:a="http://schemas.openxmlformats.org/drawingml/2006/main">
              <a:ext uri="{FF2B5EF4-FFF2-40B4-BE49-F238E27FC236}">
                <a16:creationId xmlns:a16="http://schemas.microsoft.com/office/drawing/2014/main" id="{FECA9991-929D-4D1E-BB50-ABE058D6A690}"/>
              </a:ext>
            </a:extLst>
          </p:cNvPr>
          <p:cNvSpPr>
            <a:spLocks xmlns:a="http://schemas.openxmlformats.org/drawingml/2006/main" noGrp="1"/>
          </p:cNvSpPr>
          <p:nvPr/>
        </p:nvSpPr>
        <p:spPr>
          <a:xfrm xmlns:a="http://schemas.openxmlformats.org/drawingml/2006/main">
            <a:off x="609600" y="10668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FFFFFF"/>
                </a:solidFill>
                <a:latin typeface="Arial"/>
                <a:ea typeface="Arial"/>
                <a:cs typeface="Arial"/>
              </a:defRPr>
            </a:pPr>
            <a:r>
              <a:rPr sz="3600" b="1">
                <a:solidFill>
                  <a:srgbClr val="FFFFFF"/>
                </a:solidFill>
                <a:latin typeface="Arial"/>
                <a:ea typeface="Arial"/>
                <a:cs typeface="Arial"/>
              </a:rPr>
              <a:t>Geometry plus a trustworthy CRS is what makes a map true</a:t>
            </a:r>
          </a:p>
        </p:txBody>
      </p:sp>
      <p:sp>
        <p:nvSpPr>
          <p:cNvPr id="3" name="">
            <a:extLst xmlns:a="http://schemas.openxmlformats.org/drawingml/2006/main">
              <a:ext uri="{FF2B5EF4-FFF2-40B4-BE49-F238E27FC236}">
                <a16:creationId xmlns:a16="http://schemas.microsoft.com/office/drawing/2014/main" id="{F379B90F-E8D0-4AF1-9DD8-996102CCCE63}"/>
              </a:ext>
            </a:extLst>
          </p:cNvPr>
          <p:cNvSpPr>
            <a:spLocks xmlns:a="http://schemas.openxmlformats.org/drawingml/2006/main" noGrp="1"/>
          </p:cNvSpPr>
          <p:nvPr/>
        </p:nvSpPr>
        <p:spPr>
          <a:xfrm xmlns:a="http://schemas.openxmlformats.org/drawingml/2006/main">
            <a:off x="609600" y="2324100"/>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4" name="take-no-0">
            <a:extLst xmlns:a="http://schemas.openxmlformats.org/drawingml/2006/main">
              <a:ext uri="{FF2B5EF4-FFF2-40B4-BE49-F238E27FC236}">
                <a16:creationId xmlns:a16="http://schemas.microsoft.com/office/drawing/2014/main" id="{09F2190C-46FE-451D-BC9D-F19DDDFEA94D}"/>
              </a:ext>
            </a:extLst>
          </p:cNvPr>
          <p:cNvSpPr>
            <a:spLocks xmlns:a="http://schemas.openxmlformats.org/drawingml/2006/main" noGrp="1"/>
          </p:cNvSpPr>
          <p:nvPr/>
        </p:nvSpPr>
        <p:spPr>
          <a:xfrm xmlns:a="http://schemas.openxmlformats.org/drawingml/2006/main">
            <a:off x="609600" y="2743200"/>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01</a:t>
            </a:r>
          </a:p>
        </p:txBody>
      </p:sp>
      <p:sp>
        <p:nvSpPr>
          <p:cNvPr id="5" name="take-0">
            <a:extLst xmlns:a="http://schemas.openxmlformats.org/drawingml/2006/main">
              <a:ext uri="{FF2B5EF4-FFF2-40B4-BE49-F238E27FC236}">
                <a16:creationId xmlns:a16="http://schemas.microsoft.com/office/drawing/2014/main" id="{FF22DF3C-BEB4-4D7D-87CA-78CD0C75B290}"/>
              </a:ext>
            </a:extLst>
          </p:cNvPr>
          <p:cNvSpPr>
            <a:spLocks xmlns:a="http://schemas.openxmlformats.org/drawingml/2006/main" noGrp="1"/>
          </p:cNvSpPr>
          <p:nvPr/>
        </p:nvSpPr>
        <p:spPr>
          <a:xfrm xmlns:a="http://schemas.openxmlformats.org/drawingml/2006/main">
            <a:off x="1409700" y="2705100"/>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Geometry (where) and attributes (what) are separate; a GeoDataFrame just adds a geometry column and a CRS to pandas.</a:t>
            </a:r>
          </a:p>
        </p:txBody>
      </p:sp>
      <p:sp>
        <p:nvSpPr>
          <p:cNvPr id="6" name="take-no-1">
            <a:extLst xmlns:a="http://schemas.openxmlformats.org/drawingml/2006/main">
              <a:ext uri="{FF2B5EF4-FFF2-40B4-BE49-F238E27FC236}">
                <a16:creationId xmlns:a16="http://schemas.microsoft.com/office/drawing/2014/main" id="{9C4004E2-2A28-439B-A182-A3BFE8324B46}"/>
              </a:ext>
            </a:extLst>
          </p:cNvPr>
          <p:cNvSpPr>
            <a:spLocks xmlns:a="http://schemas.openxmlformats.org/drawingml/2006/main" noGrp="1"/>
          </p:cNvSpPr>
          <p:nvPr/>
        </p:nvSpPr>
        <p:spPr>
          <a:xfrm xmlns:a="http://schemas.openxmlformats.org/drawingml/2006/main">
            <a:off x="609600" y="3528822"/>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02</a:t>
            </a:r>
          </a:p>
        </p:txBody>
      </p:sp>
      <p:sp>
        <p:nvSpPr>
          <p:cNvPr id="7" name="take-1">
            <a:extLst xmlns:a="http://schemas.openxmlformats.org/drawingml/2006/main">
              <a:ext uri="{FF2B5EF4-FFF2-40B4-BE49-F238E27FC236}">
                <a16:creationId xmlns:a16="http://schemas.microsoft.com/office/drawing/2014/main" id="{81B5EA32-27EB-4A8E-B74F-8568A826CE1F}"/>
              </a:ext>
            </a:extLst>
          </p:cNvPr>
          <p:cNvSpPr>
            <a:spLocks xmlns:a="http://schemas.openxmlformats.org/drawingml/2006/main" noGrp="1"/>
          </p:cNvSpPr>
          <p:nvPr/>
        </p:nvSpPr>
        <p:spPr>
          <a:xfrm xmlns:a="http://schemas.openxmlformats.org/drawingml/2006/main">
            <a:off x="1409700" y="3490722"/>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EPSG:4326 (degrees) is for storage and sharing; EPSG:32618 (meters, UTM 18N) is for measuring at Syracuse, NY.</a:t>
            </a:r>
          </a:p>
        </p:txBody>
      </p:sp>
      <p:sp>
        <p:nvSpPr>
          <p:cNvPr id="8" name="take-no-2">
            <a:extLst xmlns:a="http://schemas.openxmlformats.org/drawingml/2006/main">
              <a:ext uri="{FF2B5EF4-FFF2-40B4-BE49-F238E27FC236}">
                <a16:creationId xmlns:a16="http://schemas.microsoft.com/office/drawing/2014/main" id="{5F3F3628-49AD-43F0-AA2C-1AF8EBAEC602}"/>
              </a:ext>
            </a:extLst>
          </p:cNvPr>
          <p:cNvSpPr>
            <a:spLocks xmlns:a="http://schemas.openxmlformats.org/drawingml/2006/main" noGrp="1"/>
          </p:cNvSpPr>
          <p:nvPr/>
        </p:nvSpPr>
        <p:spPr>
          <a:xfrm xmlns:a="http://schemas.openxmlformats.org/drawingml/2006/main">
            <a:off x="609600" y="4314444"/>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03</a:t>
            </a:r>
          </a:p>
        </p:txBody>
      </p:sp>
      <p:sp>
        <p:nvSpPr>
          <p:cNvPr id="9" name="take-2">
            <a:extLst xmlns:a="http://schemas.openxmlformats.org/drawingml/2006/main">
              <a:ext uri="{FF2B5EF4-FFF2-40B4-BE49-F238E27FC236}">
                <a16:creationId xmlns:a16="http://schemas.microsoft.com/office/drawing/2014/main" id="{FD7BC763-C8ED-4B99-906E-72DF8A664DEB}"/>
              </a:ext>
            </a:extLst>
          </p:cNvPr>
          <p:cNvSpPr>
            <a:spLocks xmlns:a="http://schemas.openxmlformats.org/drawingml/2006/main" noGrp="1"/>
          </p:cNvSpPr>
          <p:nvPr/>
        </p:nvSpPr>
        <p:spPr>
          <a:xfrm xmlns:a="http://schemas.openxmlformats.org/drawingml/2006/main">
            <a:off x="1409700" y="4276344"/>
            <a:ext cx="10172700" cy="9784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Reproject to a projected CRS before computing area, length, buffer, or distance - geographic-CRS numbers are real math applied to the wrong unit.</a:t>
            </a:r>
          </a:p>
        </p:txBody>
      </p:sp>
      <p:sp>
        <p:nvSpPr>
          <p:cNvPr id="10" name="take-no-3">
            <a:extLst xmlns:a="http://schemas.openxmlformats.org/drawingml/2006/main">
              <a:ext uri="{FF2B5EF4-FFF2-40B4-BE49-F238E27FC236}">
                <a16:creationId xmlns:a16="http://schemas.microsoft.com/office/drawing/2014/main" id="{35BA542C-DC53-44D7-8C61-CC9069FB335D}"/>
              </a:ext>
            </a:extLst>
          </p:cNvPr>
          <p:cNvSpPr>
            <a:spLocks xmlns:a="http://schemas.openxmlformats.org/drawingml/2006/main" noGrp="1"/>
          </p:cNvSpPr>
          <p:nvPr/>
        </p:nvSpPr>
        <p:spPr>
          <a:xfrm xmlns:a="http://schemas.openxmlformats.org/drawingml/2006/main">
            <a:off x="609600" y="5388102"/>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04</a:t>
            </a:r>
          </a:p>
        </p:txBody>
      </p:sp>
      <p:sp>
        <p:nvSpPr>
          <p:cNvPr id="11" name="take-3">
            <a:extLst xmlns:a="http://schemas.openxmlformats.org/drawingml/2006/main">
              <a:ext uri="{FF2B5EF4-FFF2-40B4-BE49-F238E27FC236}">
                <a16:creationId xmlns:a16="http://schemas.microsoft.com/office/drawing/2014/main" id="{E6ACB8DE-FF0E-4DE5-8528-7E55B488FA8F}"/>
              </a:ext>
            </a:extLst>
          </p:cNvPr>
          <p:cNvSpPr>
            <a:spLocks xmlns:a="http://schemas.openxmlformats.org/drawingml/2006/main" noGrp="1"/>
          </p:cNvSpPr>
          <p:nvPr/>
        </p:nvSpPr>
        <p:spPr>
          <a:xfrm xmlns:a="http://schemas.openxmlformats.org/drawingml/2006/main">
            <a:off x="1409700" y="5350002"/>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buffer() and sjoin() extend this same CRS discipline to proximity and location-based joins.</a:t>
            </a:r>
          </a:p>
        </p:txBody>
      </p:sp>
    </p:spTree>
    <p:extLst>
      <p:ext uri="{BB962C8B-B14F-4D97-AF65-F5344CB8AC3E}">
        <p14:creationId xmlns:p14="http://schemas.microsoft.com/office/powerpoint/2010/main" val="19702889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2026-08-20T17:41:57.9330000Z</dcterms:created>
  <dcterms:modified xsi:type="dcterms:W3CDTF">2026-08-20T17:41:57.9330000Z</dcterms:modified>
</coreProperties>
</file>