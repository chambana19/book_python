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401a1c97046af" /><Relationship Type="http://schemas.openxmlformats.org/officeDocument/2006/relationships/extended-properties" Target="/docProps/app.xml" Id="R9193b4b40db04853" /><Relationship Type="http://schemas.openxmlformats.org/officeDocument/2006/relationships/officeDocument" Target="/ppt/presentation.xml" Id="R1a56bceeb05c42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7e698b7c14aee"/>
  </p:sldMasterIdLst>
  <p:notesMasterIdLst>
    <p:notesMasterId xmlns:r="http://schemas.openxmlformats.org/officeDocument/2006/relationships" r:id="R634f2b7db3554fed"/>
  </p:notesMasterIdLst>
  <p:sldIdLst>
    <p:sldId xmlns:r="http://schemas.openxmlformats.org/officeDocument/2006/relationships" id="256" r:id="Re91d4980ccaa406a"/>
    <p:sldId xmlns:r="http://schemas.openxmlformats.org/officeDocument/2006/relationships" id="257" r:id="R2ad4c80603f14eb1"/>
    <p:sldId xmlns:r="http://schemas.openxmlformats.org/officeDocument/2006/relationships" id="258" r:id="R0fb2a96dffae4b93"/>
    <p:sldId xmlns:r="http://schemas.openxmlformats.org/officeDocument/2006/relationships" id="259" r:id="Rfd7cf376becc4747"/>
    <p:sldId xmlns:r="http://schemas.openxmlformats.org/officeDocument/2006/relationships" id="260" r:id="R0be8875b592f4480"/>
    <p:sldId xmlns:r="http://schemas.openxmlformats.org/officeDocument/2006/relationships" id="261" r:id="R0bbb99300cb14110"/>
    <p:sldId xmlns:r="http://schemas.openxmlformats.org/officeDocument/2006/relationships" id="262" r:id="R362b2ad8d7ce45df"/>
    <p:sldId xmlns:r="http://schemas.openxmlformats.org/officeDocument/2006/relationships" id="263" r:id="R90be68e25eb343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37ba5e8a74e5b" /><Relationship Type="http://schemas.openxmlformats.org/officeDocument/2006/relationships/slideMaster" Target="/ppt/slideMasters/slideMaster1.xml" Id="R1917e698b7c14aee" /><Relationship Type="http://schemas.openxmlformats.org/officeDocument/2006/relationships/notesMaster" Target="/ppt/notesMasters/notesMaster1.xml" Id="R634f2b7db3554fed" /><Relationship Type="http://schemas.openxmlformats.org/officeDocument/2006/relationships/presProps" Target="/ppt/presProps.xml" Id="Rb15aac904da34b71" /><Relationship Type="http://schemas.openxmlformats.org/officeDocument/2006/relationships/tableStyles" Target="/ppt/tableStyles.xml" Id="R0a7fe229d51c48b2" /><Relationship Type="http://schemas.openxmlformats.org/officeDocument/2006/relationships/slide" Target="/ppt/slides/slide1.xml" Id="Re91d4980ccaa406a" /><Relationship Type="http://schemas.openxmlformats.org/officeDocument/2006/relationships/slide" Target="/ppt/slides/slide2.xml" Id="R2ad4c80603f14eb1" /><Relationship Type="http://schemas.openxmlformats.org/officeDocument/2006/relationships/slide" Target="/ppt/slides/slide3.xml" Id="R0fb2a96dffae4b93" /><Relationship Type="http://schemas.openxmlformats.org/officeDocument/2006/relationships/slide" Target="/ppt/slides/slide4.xml" Id="Rfd7cf376becc4747" /><Relationship Type="http://schemas.openxmlformats.org/officeDocument/2006/relationships/slide" Target="/ppt/slides/slide5.xml" Id="R0be8875b592f4480" /><Relationship Type="http://schemas.openxmlformats.org/officeDocument/2006/relationships/slide" Target="/ppt/slides/slide6.xml" Id="R0bbb99300cb14110" /><Relationship Type="http://schemas.openxmlformats.org/officeDocument/2006/relationships/slide" Target="/ppt/slides/slide7.xml" Id="R362b2ad8d7ce45df" /><Relationship Type="http://schemas.openxmlformats.org/officeDocument/2006/relationships/slide" Target="/ppt/slides/slide8.xml" Id="R90be68e25eb343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db7bf4336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13e13c9b8640ff" /><Relationship Type="http://schemas.openxmlformats.org/officeDocument/2006/relationships/notesMaster" Target="/ppt/notesMasters/notesMaster1.xml" Id="R63485c03c438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e5d61bf39a4a5f" /><Relationship Type="http://schemas.openxmlformats.org/officeDocument/2006/relationships/notesMaster" Target="/ppt/notesMasters/notesMaster1.xml" Id="R7fbbe42bbad34a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41e49961ad4063" /><Relationship Type="http://schemas.openxmlformats.org/officeDocument/2006/relationships/notesMaster" Target="/ppt/notesMasters/notesMaster1.xml" Id="Rc13763a64411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77bffb07a4b89" /><Relationship Type="http://schemas.openxmlformats.org/officeDocument/2006/relationships/notesMaster" Target="/ppt/notesMasters/notesMaster1.xml" Id="R2faa07019ebe48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a5da30826746da" /><Relationship Type="http://schemas.openxmlformats.org/officeDocument/2006/relationships/notesMaster" Target="/ppt/notesMasters/notesMaster1.xml" Id="Rf4875e93dc0a4b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2e92c50684a86" /><Relationship Type="http://schemas.openxmlformats.org/officeDocument/2006/relationships/notesMaster" Target="/ppt/notesMasters/notesMaster1.xml" Id="R4793752425e64a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7c1e0c95e4b23" /><Relationship Type="http://schemas.openxmlformats.org/officeDocument/2006/relationships/notesMaster" Target="/ppt/notesMasters/notesMaster1.xml" Id="Rb45def51d5a747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618e4cffbf4f0d" /><Relationship Type="http://schemas.openxmlformats.org/officeDocument/2006/relationships/notesMaster" Target="/ppt/notesMasters/notesMaster1.xml" Id="R9e84744e17cf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Template slide. Replace every prompt; do not add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Make the decision legible before software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Do not select a feature or threshold on the final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Replace prompts with verified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Replace demonstration values; include uncertainty across heuristic seeds when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Use project-specific function names and report surrogate-versus-truth discrepancy.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Use the same units and visual scale; a bound-hitting candidate needs special scrutiny.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Teaching notes: Resolve the question without overstating 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753fc9ba7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67f532a6f34c97" /><Relationship Type="http://schemas.openxmlformats.org/officeDocument/2006/relationships/slideLayout" Target="/ppt/slideLayouts/slideLayout1.xml" Id="Rf58b2bb02bdf43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b2bb02bdf43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8fde1a1d4c93" /><Relationship Type="http://schemas.openxmlformats.org/officeDocument/2006/relationships/notesSlide" Target="/ppt/notesSlides/notesSlide1.xml" Id="Rd47635324a374c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9e9f2f734468b" /><Relationship Type="http://schemas.openxmlformats.org/officeDocument/2006/relationships/notesSlide" Target="/ppt/notesSlides/notesSlide2.xml" Id="Rd75746a4463548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5afdf8f6d4f4f" /><Relationship Type="http://schemas.openxmlformats.org/officeDocument/2006/relationships/notesSlide" Target="/ppt/notesSlides/notesSlide3.xml" Id="Re907a379caed46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ac70649054572" /><Relationship Type="http://schemas.openxmlformats.org/officeDocument/2006/relationships/notesSlide" Target="/ppt/notesSlides/notesSlide4.xml" Id="R6fd66ef8b96848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de0f82ada463e" /><Relationship Type="http://schemas.openxmlformats.org/officeDocument/2006/relationships/chart" Target="/ppt/slides/charts/chart1.xml" Id="R60f44813b69044e1" /><Relationship Type="http://schemas.openxmlformats.org/officeDocument/2006/relationships/notesSlide" Target="/ppt/notesSlides/notesSlide5.xml" Id="R70cfe3e9dd3643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d0ced0e0643e0" /><Relationship Type="http://schemas.openxmlformats.org/officeDocument/2006/relationships/notesSlide" Target="/ppt/notesSlides/notesSlide6.xml" Id="Rd96cb3aa466645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8f07f2da4416e" /><Relationship Type="http://schemas.openxmlformats.org/officeDocument/2006/relationships/notesSlide" Target="/ppt/notesSlides/notesSlide7.xml" Id="Rc33c600732ad4a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4d485dd7d4b7e" /><Relationship Type="http://schemas.openxmlformats.org/officeDocument/2006/relationships/notesSlide" Target="/ppt/notesSlides/notesSlide8.xml" Id="R58245c1b531e460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Replace with an objective-call or outcome comparison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replace metric</c:v>
          </c:tx>
          <c:cat>
            <c:strLit>
              <c:ptCount val="2"/>
              <c:pt idx="0">
                <c:v>Primary</c:v>
              </c:pt>
              <c:pt idx="1">
                <c:v>Comparison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0.8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method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metric +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DB553381-A352-4C87-9FD0-55271FE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E66C8A42-AB9D-4932-BCF2-0D07263A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16BA1910-FD6A-438D-919E-8C2EE20D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7AC0C8B3-41E2-430D-9981-E0973A2B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PROJECT 2 · PREDICT, OPTIMIZE, DECIDE · EIGHT-SLIDE TEMPLATE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5D204588-694A-4B34-B36E-16DDA307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design decision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D7D5846B-C940-4240-899F-9533644A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Student · prediction track · primary optimization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5B13B-B694-4CCC-8048-EE9F32D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DF2A8DAB-92A8-4C52-9E48-1E5E69D9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890286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18751629-64D0-485F-8AF0-47433EC1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25D16-6DBB-4735-A05A-957C7B99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 · Decision question and formulation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5C3C7-20B8-46C6-AE45-83D7069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BD1D450-3EEC-47B3-B5A4-B80D184A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2 · Predict, Optimize, Decide · Eight-Slide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DA44B7F-A36C-408F-98C0-233B33E3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C003773F-EEC0-4049-9CD7-44BD833C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8B4D1C8A-A9F8-4978-848D-51001AE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Question · baseline design · why the decision matters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C743BFCD-7BE0-4177-8C9D-CC0CD5F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FORMULATION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6D8B78BC-BCEF-4051-9FE8-1B15233B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Variables + units · objective · constraints · bounds · primary family and why</a:t>
            </a:r>
          </a:p>
        </p:txBody>
      </p:sp>
    </p:spTree>
    <p:extLst>
      <p:ext uri="{BB962C8B-B14F-4D97-AF65-F5344CB8AC3E}">
        <p14:creationId xmlns:p14="http://schemas.microsoft.com/office/powerpoint/2010/main" val="1138151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89B8338C-336D-4411-8D86-E6DAFA3A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1233B5-A5B0-4EBB-B876-B9D2563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 · Evaluated prediction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9F898-AF8A-4559-8CF2-3277391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97AE97-21D4-4358-9365-A630EA4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2 · Predict, Optimize, Decide · Eight-Slide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9F10F3-93AF-48FB-8703-3F8FB5E7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FECD43FD-CA18-408C-A959-2C40D3F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MODEL DIAGNOSTIC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63496018-4C42-4E0B-91D6-1DABA2BC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Residual plot or confusion matrix · naive baseline · validation evidence · untouched final-test metrics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73D73872-DEE7-4CD2-97D6-43070E59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MODEL BOUNDARY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3CE442D4-1A69-41BB-B2EF-639882C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Features + target/label · train/validation/test roles · domain · manual check · strongest limitation</a:t>
            </a:r>
          </a:p>
        </p:txBody>
      </p:sp>
    </p:spTree>
    <p:extLst>
      <p:ext uri="{BB962C8B-B14F-4D97-AF65-F5344CB8AC3E}">
        <p14:creationId xmlns:p14="http://schemas.microsoft.com/office/powerpoint/2010/main" val="184583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3780CD59-BAEF-4253-A478-206A516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B83F1C-C3A9-493B-9A8A-9F276337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 · Primary optimization and verified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5CEF0-A80D-4A1B-B8F1-4BFABE93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38958F1-AB46-41EB-B7D9-CC019F32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2 · Predict, Optimize, Decide · Eight-Slide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297FC71-D4F7-4E02-AB4C-43FD7854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6B3F3-83FA-46EB-843F-3B2CE933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A6C92492-0755-4A58-95DF-CA578284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273A-FDE7-4068-822F-95149B6C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27A8574-DACC-4BA1-B9A5-6B717E3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E2C42-A3A7-4A07-8061-949A6213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84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D2A156F8-6826-4BB3-B22A-6C8FF99B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74D9B-9798-4132-8652-B6DDADA9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7BC4148D-1F8B-46F5-8C7D-E7840992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status + settings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1497D-35BB-4FB1-9E05-9C7589BC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20AAD752-87F9-4E37-9CFF-470CE967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C0A30-B7BD-4B37-BAF1-A00D3244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718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861D4572-88E6-41AB-93E9-6D6F0F5E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480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8CB21-48D0-4BC0-8A6A-FC7D921B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2ADC36A2-7A85-46E5-8335-BF50CF45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7044D-6092-4DAD-87DE-F47B2FA0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EB583CA0-8FBC-403C-A18B-7ADE071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+ unit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5CF97-7B20-4F77-B6A0-E1C4766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52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A79D7DC3-1714-4FE7-8561-564E6755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814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66A9D-37D4-433B-A91B-ABB352FD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6AA7DC48-1827-4AD6-937B-AD3498D5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constraint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E0B42-4B75-44B7-BAD5-A61DC019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5246621E-9280-4912-B8F2-11A09320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/ limit / slack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6AB44-939A-449E-99AD-46AD310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0CB8A764-9580-4549-A45C-2C342BB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48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yes/no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8C18C-4453-4EF2-8783-DA660CA7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FAEB372A-15E6-4301-A366-FE282A8D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constraint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87A6C-B7EC-40D2-8694-74E08382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80DC2CF6-6591-4722-A672-862B6427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482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/ limit / slack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9E3586-5DBE-4807-BACB-8E4F36AF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20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C93104C0-533F-4193-A8C5-FD04FF1C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4822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yes/no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938E6223-5391-407C-92B0-D4B9C1F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1C5687C9-51FF-4EAA-B7AE-878853E7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Show the solver result and tolerance-aware constraint audit—not a console screenshot.</a:t>
            </a:r>
          </a:p>
        </p:txBody>
      </p:sp>
    </p:spTree>
    <p:extLst>
      <p:ext uri="{BB962C8B-B14F-4D97-AF65-F5344CB8AC3E}">
        <p14:creationId xmlns:p14="http://schemas.microsoft.com/office/powerpoint/2010/main" val="1167946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3FB9739B-D95B-45D2-844A-8C6832A4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8338D4-E483-4E73-99F1-9DFC5A8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 · Fair solver or baseline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F7E82-C205-4D6A-B8F2-D5F249E5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ECFE9D-D1DD-4935-92C3-6A90489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2 · Predict, Optimize, Decide · Eight-Slide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8F82C5-163A-4CE1-83F1-02E02F85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f44813b69044e1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961792A4-0E0E-42F9-8942-A356C34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67025"/>
            <a:ext cx="35814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FAIR COMPARISON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A36CC278-A7E6-4DF3-917F-78D7B5B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4611"/>
            <a:ext cx="35814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the same bounded sub-problem, actual instrumented objective calls, feasibility result, and what the comparison does or does not validate.</a:t>
            </a:r>
          </a:p>
        </p:txBody>
      </p:sp>
    </p:spTree>
    <p:extLst>
      <p:ext uri="{BB962C8B-B14F-4D97-AF65-F5344CB8AC3E}">
        <p14:creationId xmlns:p14="http://schemas.microsoft.com/office/powerpoint/2010/main" val="562687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FEFA61D7-DE5B-4AD0-8A9B-9C94829C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B227DB-9471-4220-AD3C-9A6E249B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 · Show the predict–optimize–verify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34DB4-818E-434C-8E7F-77BB059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BB925EF-1EA0-4434-B458-BDF59B3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2 · Predict, Optimize, Decide · Eight-Slide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66222E-3249-4940-A41E-B5DACEA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0F8C59CD-E43E-4C11-9BE0-6374984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D71DB475-D192-43B5-8882-6034B01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BFBB91EF-76A6-429F-B3DF-159451EB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C361FE89-46F2-4A18-8FB5-F96180F6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F4D5DEE6-5CE7-4516-AB7D-1F1A977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766E75D4-420C-4EC6-A81A-FB85928E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AD7A6-71D4-40AA-A1A1-A342D035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91D018F4-4AC7-4DE6-942F-A89865DE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A2E5C152-9581-4274-B073-B71264E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Variables stay inside the supported domain.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7988F70E-65C9-4103-A62C-24C40C3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5A59036-4F84-4484-B016-1D88F26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01F7FC7-3823-4A01-BFCA-A9694900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C7A7F-D1B4-42F9-9C95-58AD6060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410F5D30-F077-4836-B26B-A72D083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EB13A7F8-ACBE-480E-896B-FE53EC3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Frozen model returns performance or probability.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D8BE292A-93B9-42C4-896A-CA86FC54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B89DBC2-C7CC-455D-B8D8-AEFE54D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A627C2C-BBCC-4605-9067-2A8C41F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SOLVER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77F4E-95E5-42A9-A9D8-8F9C452F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B00BA200-95DF-4091-84B9-02B77745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D2154EB-C702-47DA-BB4F-7F014769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Prediction enters objective or modeled constraint.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9B7FB86D-2790-4E1A-BEAD-300AD70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40C6AA7B-115D-4113-8E17-6FA3467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2EB6186-13CE-437A-92A1-D78DF8A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TRUTH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FC67F-DCD7-41D5-8CD1-D05FAC3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0929BBF9-82D5-477D-952C-691B596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266A832-F7AB-4C1E-BA3A-1BC04F8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the non-surrogate simulator, measurement, or expert check.</a:t>
            </a:r>
          </a:p>
        </p:txBody>
      </p:sp>
    </p:spTree>
    <p:extLst>
      <p:ext uri="{BB962C8B-B14F-4D97-AF65-F5344CB8AC3E}">
        <p14:creationId xmlns:p14="http://schemas.microsoft.com/office/powerpoint/2010/main" val="1188929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13E6BE8A-36B4-45A3-AF8B-256DC39D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CE8B64-D622-4396-973D-A453804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 · Baseline versus recommended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9B603-B443-424F-BB64-FCDB5A2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C01A5FC-8D32-4654-966A-C8CF33B1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Project 2 · Predict, Optimize, Decide · Eight-Slide Template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B9ACD21-BDEA-4B34-90F5-236C4B47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EFA3F43E-7BFD-4A7A-A23E-550DBE2A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160228EC-F34B-4318-9C4F-8D51BCE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Comparable variables · surrogate prediction · truth-model result · one figure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AB13CC11-1AC4-44DE-8E83-9667B610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RECOMMENDED CANDIDATE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F4138559-8F7E-4A29-AB8F-D09CC009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variables and units · prediction · confirmed outcome · uncertainty and trade-off</a:t>
            </a:r>
          </a:p>
        </p:txBody>
      </p:sp>
    </p:spTree>
    <p:extLst>
      <p:ext uri="{BB962C8B-B14F-4D97-AF65-F5344CB8AC3E}">
        <p14:creationId xmlns:p14="http://schemas.microsoft.com/office/powerpoint/2010/main" val="1735702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330E3E85-3FA1-40E8-80D4-6B22C5A7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PROJECT 2 · PREDICT, OPTIMIZE, DECIDE · EIGHT-SLIDE TEMPLATE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AC3FD59-A2F7-4AD3-84FC-E362A07A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· Bounded recommendation and 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5FBA3-F65D-459A-B53A-FA0D8DE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76B06F81-B249-491A-A068-A97A9CAB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2D878E5D-F2CA-4E70-9549-F2DD4AEF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confirmed decision recommendation.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EF162549-5246-4EF8-9E81-D695C59F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078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074EB355-17AD-49D3-96E8-9F624DC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2686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largest uncertainty or limitation.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2FDBAC40-4ED0-4B5D-AB9F-9EE5D700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37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6B05A1B4-6AF6-4FDA-8D4F-BAB74F9E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0272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model/solver refusal boundary.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26D8F640-F63B-4FE4-9D82-4ADE0EC8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59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3BD7E501-3B69-4520-8AED-B4F410B8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7858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the next simulation, measurement, or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1444022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2026-08-20T16:20:58.4580000Z</dcterms:created>
  <dcterms:modified xsi:type="dcterms:W3CDTF">2026-08-20T16:20:58.4580000Z</dcterms:modified>
</coreProperties>
</file>