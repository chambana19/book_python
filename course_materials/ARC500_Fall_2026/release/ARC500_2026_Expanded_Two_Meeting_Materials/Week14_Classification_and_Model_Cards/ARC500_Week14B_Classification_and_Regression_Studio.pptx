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3b11d813d14342" /><Relationship Type="http://schemas.openxmlformats.org/officeDocument/2006/relationships/extended-properties" Target="/docProps/app.xml" Id="R802ae02163f14bc8" /><Relationship Type="http://schemas.openxmlformats.org/officeDocument/2006/relationships/officeDocument" Target="/ppt/presentation.xml" Id="Rca8557baf7a24a31" /></Relationships>
</file>

<file path=ppt/presentation.xml><?xml version="1.0" encoding="utf-8"?>
<p:presentation xmlns:p="http://schemas.openxmlformats.org/presentationml/2006/main">
  <p:sldMasterIdLst>
    <p:sldMasterId xmlns:r="http://schemas.openxmlformats.org/officeDocument/2006/relationships" id="2147483648" r:id="Rb09b79ae6a0543b9"/>
  </p:sldMasterIdLst>
  <p:notesMasterIdLst>
    <p:notesMasterId xmlns:r="http://schemas.openxmlformats.org/officeDocument/2006/relationships" r:id="R653b62956bb74b1f"/>
  </p:notesMasterIdLst>
  <p:sldIdLst>
    <p:sldId xmlns:r="http://schemas.openxmlformats.org/officeDocument/2006/relationships" id="256" r:id="R87ab9e6898594159"/>
    <p:sldId xmlns:r="http://schemas.openxmlformats.org/officeDocument/2006/relationships" id="257" r:id="Rc099c196ddb3433c"/>
    <p:sldId xmlns:r="http://schemas.openxmlformats.org/officeDocument/2006/relationships" id="258" r:id="Ra2c6e8e71fb04415"/>
    <p:sldId xmlns:r="http://schemas.openxmlformats.org/officeDocument/2006/relationships" id="259" r:id="R491d25cfb6d74afd"/>
    <p:sldId xmlns:r="http://schemas.openxmlformats.org/officeDocument/2006/relationships" id="260" r:id="R4d55746b1d0348e5"/>
    <p:sldId xmlns:r="http://schemas.openxmlformats.org/officeDocument/2006/relationships" id="261" r:id="R3c9c93c9f52d4a43"/>
    <p:sldId xmlns:r="http://schemas.openxmlformats.org/officeDocument/2006/relationships" id="262" r:id="R9923fd9fcfa0428a"/>
    <p:sldId xmlns:r="http://schemas.openxmlformats.org/officeDocument/2006/relationships" id="263" r:id="R19e44008be6d4538"/>
    <p:sldId xmlns:r="http://schemas.openxmlformats.org/officeDocument/2006/relationships" id="264" r:id="R3ae48c374c8849cb"/>
    <p:sldId xmlns:r="http://schemas.openxmlformats.org/officeDocument/2006/relationships" id="265" r:id="R0a4a493075cd446a"/>
    <p:sldId xmlns:r="http://schemas.openxmlformats.org/officeDocument/2006/relationships" id="266" r:id="R0a1774248e394bce"/>
    <p:sldId xmlns:r="http://schemas.openxmlformats.org/officeDocument/2006/relationships" id="267" r:id="R8c8de225508f4743"/>
    <p:sldId xmlns:r="http://schemas.openxmlformats.org/officeDocument/2006/relationships" id="268" r:id="R4eb2527c6efa4a63"/>
    <p:sldId xmlns:r="http://schemas.openxmlformats.org/officeDocument/2006/relationships" id="269" r:id="R313cda0c1c0c47db"/>
    <p:sldId xmlns:r="http://schemas.openxmlformats.org/officeDocument/2006/relationships" id="270" r:id="R8a8b6f6ea32447f6"/>
    <p:sldId xmlns:r="http://schemas.openxmlformats.org/officeDocument/2006/relationships" id="271" r:id="Raf0713517c0b4188"/>
    <p:sldId xmlns:r="http://schemas.openxmlformats.org/officeDocument/2006/relationships" id="272" r:id="R856b3d46f23c4034"/>
    <p:sldId xmlns:r="http://schemas.openxmlformats.org/officeDocument/2006/relationships" id="273" r:id="Rdfce8cfdae944238"/>
    <p:sldId xmlns:r="http://schemas.openxmlformats.org/officeDocument/2006/relationships" id="274" r:id="Ra8dd489b65204b65"/>
    <p:sldId xmlns:r="http://schemas.openxmlformats.org/officeDocument/2006/relationships" id="275" r:id="Rf8801fa1480c4d0c"/>
    <p:sldId xmlns:r="http://schemas.openxmlformats.org/officeDocument/2006/relationships" id="276" r:id="R63b70c3d55094386"/>
    <p:sldId xmlns:r="http://schemas.openxmlformats.org/officeDocument/2006/relationships" id="277" r:id="R5dbd6b355759486b"/>
    <p:sldId xmlns:r="http://schemas.openxmlformats.org/officeDocument/2006/relationships" id="278" r:id="Rb05834fec56549aa"/>
    <p:sldId xmlns:r="http://schemas.openxmlformats.org/officeDocument/2006/relationships" id="279" r:id="R6fa8d873a8f74f8a"/>
    <p:sldId xmlns:r="http://schemas.openxmlformats.org/officeDocument/2006/relationships" id="280" r:id="Ra725a3aeb5d443df"/>
    <p:sldId xmlns:r="http://schemas.openxmlformats.org/officeDocument/2006/relationships" id="281" r:id="Raf8ee18e5a3743f3"/>
    <p:sldId xmlns:r="http://schemas.openxmlformats.org/officeDocument/2006/relationships" id="282" r:id="R35bd4a147c7b4ec5"/>
    <p:sldId xmlns:r="http://schemas.openxmlformats.org/officeDocument/2006/relationships" id="283" r:id="R261771e641824336"/>
    <p:sldId xmlns:r="http://schemas.openxmlformats.org/officeDocument/2006/relationships" id="284" r:id="R4fcd247bec80449b"/>
    <p:sldId xmlns:r="http://schemas.openxmlformats.org/officeDocument/2006/relationships" id="285" r:id="Rcae0931b47444c3b"/>
    <p:sldId xmlns:r="http://schemas.openxmlformats.org/officeDocument/2006/relationships" id="286" r:id="R32e9595e0ed940a6"/>
    <p:sldId xmlns:r="http://schemas.openxmlformats.org/officeDocument/2006/relationships" id="287" r:id="R699bb06eaef84270"/>
    <p:sldId xmlns:r="http://schemas.openxmlformats.org/officeDocument/2006/relationships" id="288" r:id="Rbe9d9a8792124eee"/>
    <p:sldId xmlns:r="http://schemas.openxmlformats.org/officeDocument/2006/relationships" id="289" r:id="Rd26b79d17b7e48e0"/>
    <p:sldId xmlns:r="http://schemas.openxmlformats.org/officeDocument/2006/relationships" id="290" r:id="Rb1c82ba51c6f4f26"/>
    <p:sldId xmlns:r="http://schemas.openxmlformats.org/officeDocument/2006/relationships" id="291" r:id="R4b758dc9eaa54361"/>
    <p:sldId xmlns:r="http://schemas.openxmlformats.org/officeDocument/2006/relationships" id="292" r:id="R4e57346628234117"/>
    <p:sldId xmlns:r="http://schemas.openxmlformats.org/officeDocument/2006/relationships" id="293" r:id="R303718bac3254317"/>
    <p:sldId xmlns:r="http://schemas.openxmlformats.org/officeDocument/2006/relationships" id="294" r:id="R91234bc7c6cb43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f21542ec16452d" /><Relationship Type="http://schemas.openxmlformats.org/officeDocument/2006/relationships/slideMaster" Target="/ppt/slideMasters/slideMaster1.xml" Id="Rb09b79ae6a0543b9" /><Relationship Type="http://schemas.openxmlformats.org/officeDocument/2006/relationships/notesMaster" Target="/ppt/notesMasters/notesMaster1.xml" Id="R653b62956bb74b1f" /><Relationship Type="http://schemas.openxmlformats.org/officeDocument/2006/relationships/presProps" Target="/ppt/presProps.xml" Id="Rad6e81aa82aa4f4a" /><Relationship Type="http://schemas.openxmlformats.org/officeDocument/2006/relationships/tableStyles" Target="/ppt/tableStyles.xml" Id="R31e51513f93d44de" /><Relationship Type="http://schemas.openxmlformats.org/officeDocument/2006/relationships/slide" Target="/ppt/slides/slide1.xml" Id="R87ab9e6898594159" /><Relationship Type="http://schemas.openxmlformats.org/officeDocument/2006/relationships/slide" Target="/ppt/slides/slide2.xml" Id="Rc099c196ddb3433c" /><Relationship Type="http://schemas.openxmlformats.org/officeDocument/2006/relationships/slide" Target="/ppt/slides/slide3.xml" Id="Ra2c6e8e71fb04415" /><Relationship Type="http://schemas.openxmlformats.org/officeDocument/2006/relationships/slide" Target="/ppt/slides/slide4.xml" Id="R491d25cfb6d74afd" /><Relationship Type="http://schemas.openxmlformats.org/officeDocument/2006/relationships/slide" Target="/ppt/slides/slide5.xml" Id="R4d55746b1d0348e5" /><Relationship Type="http://schemas.openxmlformats.org/officeDocument/2006/relationships/slide" Target="/ppt/slides/slide6.xml" Id="R3c9c93c9f52d4a43" /><Relationship Type="http://schemas.openxmlformats.org/officeDocument/2006/relationships/slide" Target="/ppt/slides/slide7.xml" Id="R9923fd9fcfa0428a" /><Relationship Type="http://schemas.openxmlformats.org/officeDocument/2006/relationships/slide" Target="/ppt/slides/slide8.xml" Id="R19e44008be6d4538" /><Relationship Type="http://schemas.openxmlformats.org/officeDocument/2006/relationships/slide" Target="/ppt/slides/slide9.xml" Id="R3ae48c374c8849cb" /><Relationship Type="http://schemas.openxmlformats.org/officeDocument/2006/relationships/slide" Target="/ppt/slides/slide10.xml" Id="R0a4a493075cd446a" /><Relationship Type="http://schemas.openxmlformats.org/officeDocument/2006/relationships/slide" Target="/ppt/slides/slide11.xml" Id="R0a1774248e394bce" /><Relationship Type="http://schemas.openxmlformats.org/officeDocument/2006/relationships/slide" Target="/ppt/slides/slide12.xml" Id="R8c8de225508f4743" /><Relationship Type="http://schemas.openxmlformats.org/officeDocument/2006/relationships/slide" Target="/ppt/slides/slide13.xml" Id="R4eb2527c6efa4a63" /><Relationship Type="http://schemas.openxmlformats.org/officeDocument/2006/relationships/slide" Target="/ppt/slides/slide14.xml" Id="R313cda0c1c0c47db" /><Relationship Type="http://schemas.openxmlformats.org/officeDocument/2006/relationships/slide" Target="/ppt/slides/slide15.xml" Id="R8a8b6f6ea32447f6" /><Relationship Type="http://schemas.openxmlformats.org/officeDocument/2006/relationships/slide" Target="/ppt/slides/slide16.xml" Id="Raf0713517c0b4188" /><Relationship Type="http://schemas.openxmlformats.org/officeDocument/2006/relationships/slide" Target="/ppt/slides/slide17.xml" Id="R856b3d46f23c4034" /><Relationship Type="http://schemas.openxmlformats.org/officeDocument/2006/relationships/slide" Target="/ppt/slides/slide18.xml" Id="Rdfce8cfdae944238" /><Relationship Type="http://schemas.openxmlformats.org/officeDocument/2006/relationships/slide" Target="/ppt/slides/slide19.xml" Id="Ra8dd489b65204b65" /><Relationship Type="http://schemas.openxmlformats.org/officeDocument/2006/relationships/slide" Target="/ppt/slides/slide20.xml" Id="Rf8801fa1480c4d0c" /><Relationship Type="http://schemas.openxmlformats.org/officeDocument/2006/relationships/slide" Target="/ppt/slides/slide21.xml" Id="R63b70c3d55094386" /><Relationship Type="http://schemas.openxmlformats.org/officeDocument/2006/relationships/slide" Target="/ppt/slides/slide22.xml" Id="R5dbd6b355759486b" /><Relationship Type="http://schemas.openxmlformats.org/officeDocument/2006/relationships/slide" Target="/ppt/slides/slide23.xml" Id="Rb05834fec56549aa" /><Relationship Type="http://schemas.openxmlformats.org/officeDocument/2006/relationships/slide" Target="/ppt/slides/slide24.xml" Id="R6fa8d873a8f74f8a" /><Relationship Type="http://schemas.openxmlformats.org/officeDocument/2006/relationships/slide" Target="/ppt/slides/slide25.xml" Id="Ra725a3aeb5d443df" /><Relationship Type="http://schemas.openxmlformats.org/officeDocument/2006/relationships/slide" Target="/ppt/slides/slide26.xml" Id="Raf8ee18e5a3743f3" /><Relationship Type="http://schemas.openxmlformats.org/officeDocument/2006/relationships/slide" Target="/ppt/slides/slide27.xml" Id="R35bd4a147c7b4ec5" /><Relationship Type="http://schemas.openxmlformats.org/officeDocument/2006/relationships/slide" Target="/ppt/slides/slide28.xml" Id="R261771e641824336" /><Relationship Type="http://schemas.openxmlformats.org/officeDocument/2006/relationships/slide" Target="/ppt/slides/slide29.xml" Id="R4fcd247bec80449b" /><Relationship Type="http://schemas.openxmlformats.org/officeDocument/2006/relationships/slide" Target="/ppt/slides/slide30.xml" Id="Rcae0931b47444c3b" /><Relationship Type="http://schemas.openxmlformats.org/officeDocument/2006/relationships/slide" Target="/ppt/slides/slide31.xml" Id="R32e9595e0ed940a6" /><Relationship Type="http://schemas.openxmlformats.org/officeDocument/2006/relationships/slide" Target="/ppt/slides/slide32.xml" Id="R699bb06eaef84270" /><Relationship Type="http://schemas.openxmlformats.org/officeDocument/2006/relationships/slide" Target="/ppt/slides/slide33.xml" Id="Rbe9d9a8792124eee" /><Relationship Type="http://schemas.openxmlformats.org/officeDocument/2006/relationships/slide" Target="/ppt/slides/slide34.xml" Id="Rd26b79d17b7e48e0" /><Relationship Type="http://schemas.openxmlformats.org/officeDocument/2006/relationships/slide" Target="/ppt/slides/slide35.xml" Id="Rb1c82ba51c6f4f26" /><Relationship Type="http://schemas.openxmlformats.org/officeDocument/2006/relationships/slide" Target="/ppt/slides/slide36.xml" Id="R4b758dc9eaa54361" /><Relationship Type="http://schemas.openxmlformats.org/officeDocument/2006/relationships/slide" Target="/ppt/slides/slide37.xml" Id="R4e57346628234117" /><Relationship Type="http://schemas.openxmlformats.org/officeDocument/2006/relationships/slide" Target="/ppt/slides/slide38.xml" Id="R303718bac3254317" /><Relationship Type="http://schemas.openxmlformats.org/officeDocument/2006/relationships/slide" Target="/ppt/slides/slide39.xml" Id="R91234bc7c6cb43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0a91688d5143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e66fc86e6c48de" /><Relationship Type="http://schemas.openxmlformats.org/officeDocument/2006/relationships/notesMaster" Target="/ppt/notesMasters/notesMaster1.xml" Id="R61022e42070b43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74b269b8354832" /><Relationship Type="http://schemas.openxmlformats.org/officeDocument/2006/relationships/notesMaster" Target="/ppt/notesMasters/notesMaster1.xml" Id="R3983b37ce3e844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1b742174ff4565" /><Relationship Type="http://schemas.openxmlformats.org/officeDocument/2006/relationships/notesMaster" Target="/ppt/notesMasters/notesMaster1.xml" Id="R7564b1cd8bb744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9b8e56d056430a" /><Relationship Type="http://schemas.openxmlformats.org/officeDocument/2006/relationships/notesMaster" Target="/ppt/notesMasters/notesMaster1.xml" Id="R01e235ae952b4c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32d12c8a404be6" /><Relationship Type="http://schemas.openxmlformats.org/officeDocument/2006/relationships/notesMaster" Target="/ppt/notesMasters/notesMaster1.xml" Id="R73ff11422c1844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a65ad73f874af7" /><Relationship Type="http://schemas.openxmlformats.org/officeDocument/2006/relationships/notesMaster" Target="/ppt/notesMasters/notesMaster1.xml" Id="R88103a9969cd45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cca09beaf74ae4" /><Relationship Type="http://schemas.openxmlformats.org/officeDocument/2006/relationships/notesMaster" Target="/ppt/notesMasters/notesMaster1.xml" Id="R576e9a76e22b43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47098e55934338" /><Relationship Type="http://schemas.openxmlformats.org/officeDocument/2006/relationships/notesMaster" Target="/ppt/notesMasters/notesMaster1.xml" Id="Rb2b3c2d1495642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d1ebd271ce4782" /><Relationship Type="http://schemas.openxmlformats.org/officeDocument/2006/relationships/notesMaster" Target="/ppt/notesMasters/notesMaster1.xml" Id="R93be7feefe53494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de293a9fff4d3a" /><Relationship Type="http://schemas.openxmlformats.org/officeDocument/2006/relationships/notesMaster" Target="/ppt/notesMasters/notesMaster1.xml" Id="Rc087a965d7fc49b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822ebf48ed04bf0" /><Relationship Type="http://schemas.openxmlformats.org/officeDocument/2006/relationships/notesMaster" Target="/ppt/notesMasters/notesMaster1.xml" Id="R5169ec7a8d2940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ed261ed4004e1e" /><Relationship Type="http://schemas.openxmlformats.org/officeDocument/2006/relationships/notesMaster" Target="/ppt/notesMasters/notesMaster1.xml" Id="Rcf160275338b422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986812cdbd54216" /><Relationship Type="http://schemas.openxmlformats.org/officeDocument/2006/relationships/notesMaster" Target="/ppt/notesMasters/notesMaster1.xml" Id="Rb92ea850a7484ec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7df9546190450a" /><Relationship Type="http://schemas.openxmlformats.org/officeDocument/2006/relationships/notesMaster" Target="/ppt/notesMasters/notesMaster1.xml" Id="R4af185c188a24e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198953390054cae" /><Relationship Type="http://schemas.openxmlformats.org/officeDocument/2006/relationships/notesMaster" Target="/ppt/notesMasters/notesMaster1.xml" Id="Rb78c34b747ff4d0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8b32186b454965" /><Relationship Type="http://schemas.openxmlformats.org/officeDocument/2006/relationships/notesMaster" Target="/ppt/notesMasters/notesMaster1.xml" Id="Rcbbd43a48b96429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02d1f251c2f488b" /><Relationship Type="http://schemas.openxmlformats.org/officeDocument/2006/relationships/notesMaster" Target="/ppt/notesMasters/notesMaster1.xml" Id="R7174e0598a5740d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9d6d3a4972744b1" /><Relationship Type="http://schemas.openxmlformats.org/officeDocument/2006/relationships/notesMaster" Target="/ppt/notesMasters/notesMaster1.xml" Id="R31ac5e831daf434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a79141008e54287" /><Relationship Type="http://schemas.openxmlformats.org/officeDocument/2006/relationships/notesMaster" Target="/ppt/notesMasters/notesMaster1.xml" Id="R4028ab9af84a49c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ba4d14337f24a53" /><Relationship Type="http://schemas.openxmlformats.org/officeDocument/2006/relationships/notesMaster" Target="/ppt/notesMasters/notesMaster1.xml" Id="Rd7f41415e6d244e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65997b2271848f4" /><Relationship Type="http://schemas.openxmlformats.org/officeDocument/2006/relationships/notesMaster" Target="/ppt/notesMasters/notesMaster1.xml" Id="Rbcb81654fe1244d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75243f4786745b3" /><Relationship Type="http://schemas.openxmlformats.org/officeDocument/2006/relationships/notesMaster" Target="/ppt/notesMasters/notesMaster1.xml" Id="Rade9cb078c84453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a37909830c945ff" /><Relationship Type="http://schemas.openxmlformats.org/officeDocument/2006/relationships/notesMaster" Target="/ppt/notesMasters/notesMaster1.xml" Id="R6bd5ef425577478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d547c748fd74979" /><Relationship Type="http://schemas.openxmlformats.org/officeDocument/2006/relationships/notesMaster" Target="/ppt/notesMasters/notesMaster1.xml" Id="R47b1350d2ea04e2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4cf146c0f764d04" /><Relationship Type="http://schemas.openxmlformats.org/officeDocument/2006/relationships/notesMaster" Target="/ppt/notesMasters/notesMaster1.xml" Id="Rbbd82ba1f5354c5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f0c172cf1fb4757" /><Relationship Type="http://schemas.openxmlformats.org/officeDocument/2006/relationships/notesMaster" Target="/ppt/notesMasters/notesMaster1.xml" Id="Rd32ebb6014bf4fb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2fa2c84197345e6" /><Relationship Type="http://schemas.openxmlformats.org/officeDocument/2006/relationships/notesMaster" Target="/ppt/notesMasters/notesMaster1.xml" Id="R75bae47be850432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7b0e4124f2f48a3" /><Relationship Type="http://schemas.openxmlformats.org/officeDocument/2006/relationships/notesMaster" Target="/ppt/notesMasters/notesMaster1.xml" Id="R4ae585c30939451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9545143e9e7440c" /><Relationship Type="http://schemas.openxmlformats.org/officeDocument/2006/relationships/notesMaster" Target="/ppt/notesMasters/notesMaster1.xml" Id="R7ae60f2507c04d7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347a194a7f749d3" /><Relationship Type="http://schemas.openxmlformats.org/officeDocument/2006/relationships/notesMaster" Target="/ppt/notesMasters/notesMaster1.xml" Id="R68dd8379a78f443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a386c248d444e16" /><Relationship Type="http://schemas.openxmlformats.org/officeDocument/2006/relationships/notesMaster" Target="/ppt/notesMasters/notesMaster1.xml" Id="Ra7d210065d23445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90ab1a7ba2f4ffd" /><Relationship Type="http://schemas.openxmlformats.org/officeDocument/2006/relationships/notesMaster" Target="/ppt/notesMasters/notesMaster1.xml" Id="R4ff2579b43ec4fe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d50f79e4ab24d73" /><Relationship Type="http://schemas.openxmlformats.org/officeDocument/2006/relationships/notesMaster" Target="/ppt/notesMasters/notesMaster1.xml" Id="R80ac5a0ab1794f1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9ed7a295698423a" /><Relationship Type="http://schemas.openxmlformats.org/officeDocument/2006/relationships/notesMaster" Target="/ppt/notesMasters/notesMaster1.xml" Id="Re5d23dae2ac2468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3e5f6289abc4f70" /><Relationship Type="http://schemas.openxmlformats.org/officeDocument/2006/relationships/notesMaster" Target="/ppt/notesMasters/notesMaster1.xml" Id="R17f4964900af41c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bad7db0b5a94adf" /><Relationship Type="http://schemas.openxmlformats.org/officeDocument/2006/relationships/notesMaster" Target="/ppt/notesMasters/notesMaster1.xml" Id="Rd8f94f4060e2435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b9bc76bc09f40f7" /><Relationship Type="http://schemas.openxmlformats.org/officeDocument/2006/relationships/notesMaster" Target="/ppt/notesMasters/notesMaster1.xml" Id="R47df3b1294fd46a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b01e5d172f74116" /><Relationship Type="http://schemas.openxmlformats.org/officeDocument/2006/relationships/notesMaster" Target="/ppt/notesMasters/notesMaster1.xml" Id="R22c8ee9af94e475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ed66ef56ab749f2" /><Relationship Type="http://schemas.openxmlformats.org/officeDocument/2006/relationships/notesMaster" Target="/ppt/notesMasters/notesMaster1.xml" Id="Ra76c0a4e9a164b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Ask every student to name, out loud, which track matches their own Project 2 framing -- go/no-go or continuous outcome -- before anything runs today. Recall Monday's shared vocabulary: confusion matrix, precision/recall, threshold, cross_val_score, model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Connect explicitly back to Week 13's leakage lesson -- the habit of hand-verifying a suspiciously convenient number is the throughline across both weeks.</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Preview that both tracks' finished model cards feed directly into Week 15's predict-optimize-decide synthesis -- different pieces of the same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Tell students the fork happens right after the shared data-load cell -- everything before that point is identical across tracks.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Name explicitly which students are in which track before the fork, so the instructor knows where to circulate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both tracks run this exact cell before forking -- confirming (140, 9) and this class balance is common ground for the room.</a:t>
            </a:r>
          </a:p>
          <a:p xmlns:a="http://schemas.openxmlformats.org/drawingml/2006/main">
            <a:r>
              <a:t/>
            </a:r>
          </a:p>
          <a:p xmlns:a="http://schemas.openxmlformats.org/drawingml/2006/main">
            <a:r>
              <a:t>[Sources]</a:t>
            </a:r>
          </a:p>
          <a:p xmlns:a="http://schemas.openxmlformats.org/drawingml/2006/main">
            <a:r>
              <a:t>- https://scikit-learn.org/stable/getting_started.html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exact fork previews Project 2 Part IV's own track split -- have students state which side they are on before opening either handout.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out 34.3% out loud -- students need this number again at the AI-audit slide's naive-baseline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say each chip's job out loud before the next slide fits the model -- this is the exact call Track A's handout runs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Order is wwr, shade_m, glazing_shgc, compactness -- walk the four coefficient signs out loud against the physical story before moving on.</a:t>
            </a:r>
          </a:p>
          <a:p xmlns:a="http://schemas.openxmlformats.org/drawingml/2006/main">
            <a:r>
              <a:t/>
            </a:r>
          </a:p>
          <a:p xmlns:a="http://schemas.openxmlformats.org/drawingml/2006/main">
            <a:r>
              <a:t>[Sources]</a:t>
            </a:r>
          </a:p>
          <a:p xmlns:a="http://schemas.openxmlformats.org/drawingml/2006/main">
            <a:r>
              <a:t>- https://scikit-learn.org/stable/modules/generated/sklearn.linear_model.LogisticRegression.html</a:t>
            </a:r>
          </a:p>
          <a:p xmlns:a="http://schemas.openxmlformats.org/drawingml/2006/main">
            <a:r>
              <a:t>- https://scikit-learn.org/stable/modules/generated/sklearn.model_selection.train_test_split.html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Confusion matrix, defined -- rows are the actual class, columns are the predicted class. TN and TP are correct; FP and FN are the two DIFFERENT ways to be wrong -- a later slide argues they are not equally costly.</a:t>
            </a:r>
          </a:p>
          <a:p xmlns:a="http://schemas.openxmlformats.org/drawingml/2006/main">
            <a:r>
              <a:t/>
            </a:r>
          </a:p>
          <a:p xmlns:a="http://schemas.openxmlformats.org/drawingml/2006/main">
            <a:r>
              <a:t>[Sources]</a:t>
            </a:r>
          </a:p>
          <a:p xmlns:a="http://schemas.openxmlformats.org/drawingml/2006/main">
            <a:r>
              <a:t>- https://scikit-learn.org/stable/modules/generated/sklearn.metrics.confusion_matrix.html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These are validation metrics used for policy selection—not final-test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commit before revealing. A common wrong guess is 0.6 because it has zero false positives, overlooking that recall collapses to 1/9. The rule selects 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 the threshold rises, precision rises and recall falls -- the standard trade-off, made concrete on one real confusion matrix instead of an abstract curve. Confirms the predict slide's answer with the full sweep.</a:t>
            </a:r>
          </a:p>
          <a:p xmlns:a="http://schemas.openxmlformats.org/drawingml/2006/main">
            <a:r>
              <a:t/>
            </a:r>
          </a:p>
          <a:p xmlns:a="http://schemas.openxmlformats.org/drawingml/2006/main">
            <a:r>
              <a:t>[Sources]</a:t>
            </a:r>
          </a:p>
          <a:p xmlns:a="http://schemas.openxmlformats.org/drawingml/2006/main">
            <a:r>
              <a:t>- https://scikit-learn.org/stable/modules/model_evaluation.html#precision-recall-f-measure-metrics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the plan's actual point -- require students to state WHY, not just report the numbers. F1 alone does not capture which error direction is dangerous.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Verified against the pinned course environment. Have students check each formula against their own Studio A1 worksheet line by line before the next slide runs it. Note the docstring + type-hint convention is required on every function they write in Project 2.</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Keep probs_val and yc_val visible in the code so the final test cannot be confused with the tuning partition.</a:t>
            </a:r>
          </a:p>
          <a:p xmlns:a="http://schemas.openxmlformats.org/drawingml/2006/main">
            <a:r>
              <a:t/>
            </a:r>
          </a:p>
          <a:p xmlns:a="http://schemas.openxmlformats.org/drawingml/2006/main">
            <a:r>
              <a:t>[Sources]</a:t>
            </a:r>
          </a:p>
          <a:p xmlns:a="http://schemas.openxmlformats.org/drawingml/2006/main">
            <a:r>
              <a:t>- https://scikit-learn.org/stable/modules/generated/sklearn.metrics.confusion_matrix.html</a:t>
            </a:r>
          </a:p>
          <a:p xmlns:a="http://schemas.openxmlformats.org/drawingml/2006/main">
            <a:r>
              <a:t>- https://scikit-learn.org/stable/modules/model_evaluation.html#precision-recall-f-measure-metrics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Fold range is not a confidence or prediction interval.</a:t>
            </a:r>
          </a:p>
          <a:p xmlns:a="http://schemas.openxmlformats.org/drawingml/2006/main">
            <a:r>
              <a:t/>
            </a:r>
          </a:p>
          <a:p xmlns:a="http://schemas.openxmlformats.org/drawingml/2006/main">
            <a:r>
              <a:t>[Sources]</a:t>
            </a:r>
          </a:p>
          <a:p xmlns:a="http://schemas.openxmlformats.org/drawingml/2006/main">
            <a:r>
              <a:t>- https://scikit-learn.org/stable/modules/cross_validation.html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Require students to name all four defects before revealing this list -- especially #3, the naive-baseline comparison, which is easy to miss.</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Expected at 0.5: P=0.857, R=0.667, F1=0.750, FPR=0.053. At 0.6: P=1.000, R=0.111, F1=0.200, FPR=0.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the Project 2 checkpoint. Week 15 reuses the frozen threshold 0.5 as a modeled constraint, followed by a truth-model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paste in Week 13's exact fit and re-verify it against asserted numbers before touching anything new.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Same call shape as Week 13's 3-feature fit -- only X4_train's column count changed. Point that out before the next slide's real numbers.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Use the fixed 84-train / 28-validation / 28-untouched-final partition. Only the feature list changes; final-test rows remain sealed.</a:t>
            </a:r>
          </a:p>
          <a:p xmlns:a="http://schemas.openxmlformats.org/drawingml/2006/main">
            <a:r>
              <a:t/>
            </a:r>
          </a:p>
          <a:p xmlns:a="http://schemas.openxmlformats.org/drawingml/2006/main">
            <a:r>
              <a:t>[Sources]</a:t>
            </a:r>
          </a:p>
          <a:p xmlns:a="http://schemas.openxmlformats.org/drawingml/2006/main">
            <a:r>
              <a:t>- https://scikit-learn.org/stable/modules/generated/sklearn.linear_model.LinearRegression.html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Verify validation MAE=2.4733, RMSE=2.9129, R²=0.4258. Reusing the helper keeps the comparison fair.</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delta vocabulary is what the next table's 'delta' column header actually means -- name it before the table, not after.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Connect explicitly back to Week 13's leakage lesson -- a suspiciously large jump is a red flag, not a reason to celebrate.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The validation gain is modest. Treat it as selection evidence, not a final-test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The indices are fixed before comparison. Ask students to identify the only two permitted roles here: train for fitting, validation for selection.</a:t>
            </a:r>
          </a:p>
          <a:p xmlns:a="http://schemas.openxmlformats.org/drawingml/2006/main">
            <a:r>
              <a:t/>
            </a:r>
          </a:p>
          <a:p xmlns:a="http://schemas.openxmlformats.org/drawingml/2006/main">
            <a:r>
              <a:t>[Sources]</a:t>
            </a:r>
          </a:p>
          <a:p xmlns:a="http://schemas.openxmlformats.org/drawingml/2006/main">
            <a:r>
              <a:t>- https://scikit-learn.org/stable/modules/generated/sklearn.linear_model.LinearRegression.html</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Verify the validation metrics and deltas shown here; final-test rows have not influenced the comparison.</a:t>
            </a:r>
          </a:p>
          <a:p xmlns:a="http://schemas.openxmlformats.org/drawingml/2006/main">
            <a:r>
              <a:t/>
            </a:r>
          </a:p>
          <a:p xmlns:a="http://schemas.openxmlformats.org/drawingml/2006/main">
            <a:r>
              <a:t>[Sources]</a:t>
            </a:r>
          </a:p>
          <a:p xmlns:a="http://schemas.openxmlformats.org/drawingml/2006/main">
            <a:r>
              <a:t>- https://scikit-learn.org/stable/modules/generated/sklearn.linear_model.LinearRegression.html</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Let students commit to an answer before revealing -- most expect 'close, but not identical,' not a negative fold. That gap is the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confirms the predict slide's answer -- ask what a negative R2 means in plain language before moving to the interpretation slide.</a:t>
            </a:r>
          </a:p>
          <a:p xmlns:a="http://schemas.openxmlformats.org/drawingml/2006/main">
            <a:r>
              <a:t/>
            </a:r>
          </a:p>
          <a:p xmlns:a="http://schemas.openxmlformats.org/drawingml/2006/main">
            <a:r>
              <a:t>[Sources]</a:t>
            </a:r>
          </a:p>
          <a:p xmlns:a="http://schemas.openxmlformats.org/drawingml/2006/main">
            <a:r>
              <a:t>- https://scikit-learn.org/stable/modules/cross_validation.html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Compare each paired fold, then the means. The fourth feature helps on average but not in every partition; that variability belongs in the model card.</a:t>
            </a:r>
          </a:p>
          <a:p xmlns:a="http://schemas.openxmlformats.org/drawingml/2006/main">
            <a:r>
              <a:t/>
            </a:r>
          </a:p>
          <a:p xmlns:a="http://schemas.openxmlformats.org/drawingml/2006/main">
            <a:r>
              <a:t>[Sources]</a:t>
            </a:r>
          </a:p>
          <a:p xmlns:a="http://schemas.openxmlformats.org/drawingml/2006/main">
            <a:r>
              <a:t>- https://scikit-learn.org/stable/modules/cross_validation.html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This is the sentence students should be able to say from memory before Wednesday ends -- do not let anyone round this fold up to zero or call it 'basically fine.'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Require at least four named defects before revealing this list -- especially #1, which students often miss because the code 'looks like' a fresh evaluation.</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Expected prediction from the final 112-row development refit: 31.2886. Week 15 uses this exact baseline.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this week's Project 2 evaluated-prediction checkpoint for the continuous-outcome track. Week 15 reuses this exact 4-feature model as the optimization objective.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Remind both tracks: today's model card is the artifact Week 15 opens with. Also remind everyone the AI-use record and exit reflection are due Saturday, December 5, 11:59pm -- not the following Monday, since that Monday is Project 2's own due 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Exit ticket: students state which track they are on and, in one sentence, their model card's stated limit.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2647fb67684b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5c345ed3ac4acc" /><Relationship Type="http://schemas.openxmlformats.org/officeDocument/2006/relationships/slideLayout" Target="/ppt/slideLayouts/slideLayout1.xml" Id="R19fdfba5bfb14a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fdfba5bfb14a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2afe1dbc1cc42a3" /><Relationship Type="http://schemas.openxmlformats.org/officeDocument/2006/relationships/notesSlide" Target="/ppt/notesSlides/notesSlide1.xml" Id="R73b0bfebb2da45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cc2c7aca9b74196" /><Relationship Type="http://schemas.openxmlformats.org/officeDocument/2006/relationships/notesSlide" Target="/ppt/notesSlides/notesSlide2.xml" Id="Ra08548abff4849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8949f42e084ad1" /><Relationship Type="http://schemas.openxmlformats.org/officeDocument/2006/relationships/notesSlide" Target="/ppt/notesSlides/notesSlide3.xml" Id="R0a46c52e1bf34f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9a45dfbb194a7b" /><Relationship Type="http://schemas.openxmlformats.org/officeDocument/2006/relationships/notesSlide" Target="/ppt/notesSlides/notesSlide4.xml" Id="R115e1279ec9140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8da791cc7e64301" /><Relationship Type="http://schemas.openxmlformats.org/officeDocument/2006/relationships/notesSlide" Target="/ppt/notesSlides/notesSlide5.xml" Id="R1cff3a6a447d4c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e06e295566430e" /><Relationship Type="http://schemas.openxmlformats.org/officeDocument/2006/relationships/notesSlide" Target="/ppt/notesSlides/notesSlide6.xml" Id="Ra0a8f07b972345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d03cc6b5c0646a3" /><Relationship Type="http://schemas.openxmlformats.org/officeDocument/2006/relationships/notesSlide" Target="/ppt/notesSlides/notesSlide7.xml" Id="R65ae6d3e30d64b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ad47725de63473b" /><Relationship Type="http://schemas.openxmlformats.org/officeDocument/2006/relationships/notesSlide" Target="/ppt/notesSlides/notesSlide8.xml" Id="R734292766df848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6c1990019d948ca" /><Relationship Type="http://schemas.openxmlformats.org/officeDocument/2006/relationships/notesSlide" Target="/ppt/notesSlides/notesSlide9.xml" Id="R78e6456b84ca41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22647a35b6b4696" /><Relationship Type="http://schemas.openxmlformats.org/officeDocument/2006/relationships/notesSlide" Target="/ppt/notesSlides/notesSlide10.xml" Id="Ra9da7b59908d4b7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68a49c68ed440dc" /><Relationship Type="http://schemas.openxmlformats.org/officeDocument/2006/relationships/notesSlide" Target="/ppt/notesSlides/notesSlide11.xml" Id="R29fde56c6e25415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b298e2618e4463e" /><Relationship Type="http://schemas.openxmlformats.org/officeDocument/2006/relationships/notesSlide" Target="/ppt/notesSlides/notesSlide12.xml" Id="R8e60b70d1433409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cc81020119348bb" /><Relationship Type="http://schemas.openxmlformats.org/officeDocument/2006/relationships/notesSlide" Target="/ppt/notesSlides/notesSlide13.xml" Id="R286205686a164a1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be3a27838ba4941" /><Relationship Type="http://schemas.openxmlformats.org/officeDocument/2006/relationships/notesSlide" Target="/ppt/notesSlides/notesSlide14.xml" Id="Rf17a2177e82b43d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28b60e85a7a43f0" /><Relationship Type="http://schemas.openxmlformats.org/officeDocument/2006/relationships/notesSlide" Target="/ppt/notesSlides/notesSlide15.xml" Id="Rb1970f0b290a4b8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1e0a658f5ab4ee2" /><Relationship Type="http://schemas.openxmlformats.org/officeDocument/2006/relationships/notesSlide" Target="/ppt/notesSlides/notesSlide16.xml" Id="R7f774419f3df488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4215220a6744149" /><Relationship Type="http://schemas.openxmlformats.org/officeDocument/2006/relationships/notesSlide" Target="/ppt/notesSlides/notesSlide17.xml" Id="Ra28e831d18aa41d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fedaff9a7964d3f" /><Relationship Type="http://schemas.openxmlformats.org/officeDocument/2006/relationships/notesSlide" Target="/ppt/notesSlides/notesSlide18.xml" Id="R32572966863146e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0583abb174c450b" /><Relationship Type="http://schemas.openxmlformats.org/officeDocument/2006/relationships/notesSlide" Target="/ppt/notesSlides/notesSlide19.xml" Id="R304b9cafb7fb4df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1ef52784be0470b" /><Relationship Type="http://schemas.openxmlformats.org/officeDocument/2006/relationships/notesSlide" Target="/ppt/notesSlides/notesSlide20.xml" Id="Re3b26dd17afd436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450ed82074d4365" /><Relationship Type="http://schemas.openxmlformats.org/officeDocument/2006/relationships/notesSlide" Target="/ppt/notesSlides/notesSlide21.xml" Id="R55061d5f10b64b5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3f00461784b4699" /><Relationship Type="http://schemas.openxmlformats.org/officeDocument/2006/relationships/notesSlide" Target="/ppt/notesSlides/notesSlide22.xml" Id="Rdd2aa60ddcda434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6733ea363174a38" /><Relationship Type="http://schemas.openxmlformats.org/officeDocument/2006/relationships/notesSlide" Target="/ppt/notesSlides/notesSlide23.xml" Id="R4056c7a3eeae47d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0d451a469b0452e" /><Relationship Type="http://schemas.openxmlformats.org/officeDocument/2006/relationships/notesSlide" Target="/ppt/notesSlides/notesSlide24.xml" Id="Raaec566f227a4e3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8354293e4cd4471" /><Relationship Type="http://schemas.openxmlformats.org/officeDocument/2006/relationships/notesSlide" Target="/ppt/notesSlides/notesSlide25.xml" Id="Ra25d25ccc40b470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7fcf5f077164440" /><Relationship Type="http://schemas.openxmlformats.org/officeDocument/2006/relationships/notesSlide" Target="/ppt/notesSlides/notesSlide26.xml" Id="R1cb03de496e14bb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9c520847fd44343" /><Relationship Type="http://schemas.openxmlformats.org/officeDocument/2006/relationships/notesSlide" Target="/ppt/notesSlides/notesSlide27.xml" Id="R4bb9b86837c34d6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f50c2a1aea94d67" /><Relationship Type="http://schemas.openxmlformats.org/officeDocument/2006/relationships/notesSlide" Target="/ppt/notesSlides/notesSlide28.xml" Id="Rfa1beb5c5b6d4f5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9a80576b36d459e" /><Relationship Type="http://schemas.openxmlformats.org/officeDocument/2006/relationships/notesSlide" Target="/ppt/notesSlides/notesSlide29.xml" Id="Rf0bae7ecaa7b48c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362010653a34f55" /><Relationship Type="http://schemas.openxmlformats.org/officeDocument/2006/relationships/notesSlide" Target="/ppt/notesSlides/notesSlide30.xml" Id="Rd8bb5251535c439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6ab40dbf3d444d4" /><Relationship Type="http://schemas.openxmlformats.org/officeDocument/2006/relationships/notesSlide" Target="/ppt/notesSlides/notesSlide31.xml" Id="R5c586adbdc6144b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9def9f755074cf6" /><Relationship Type="http://schemas.openxmlformats.org/officeDocument/2006/relationships/notesSlide" Target="/ppt/notesSlides/notesSlide32.xml" Id="R4626abdd5c244e4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8a9d18836004947" /><Relationship Type="http://schemas.openxmlformats.org/officeDocument/2006/relationships/notesSlide" Target="/ppt/notesSlides/notesSlide33.xml" Id="Ra05b17001c1243c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2b3e1f46cce47ec" /><Relationship Type="http://schemas.openxmlformats.org/officeDocument/2006/relationships/notesSlide" Target="/ppt/notesSlides/notesSlide34.xml" Id="R4a4f796e95ba4e7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8bb2b469ad84e94" /><Relationship Type="http://schemas.openxmlformats.org/officeDocument/2006/relationships/notesSlide" Target="/ppt/notesSlides/notesSlide35.xml" Id="Rcbe6c4b999df4bd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0e0ae1a12544bab" /><Relationship Type="http://schemas.openxmlformats.org/officeDocument/2006/relationships/notesSlide" Target="/ppt/notesSlides/notesSlide36.xml" Id="R1d916a06af3b40d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9fa70ee6c884497" /><Relationship Type="http://schemas.openxmlformats.org/officeDocument/2006/relationships/notesSlide" Target="/ppt/notesSlides/notesSlide37.xml" Id="Rd9812417e6c9407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c000dafd1f354b0a" /><Relationship Type="http://schemas.openxmlformats.org/officeDocument/2006/relationships/notesSlide" Target="/ppt/notesSlides/notesSlide38.xml" Id="Rcc241bab308b4c5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7f7062b602764953" /><Relationship Type="http://schemas.openxmlformats.org/officeDocument/2006/relationships/notesSlide" Target="/ppt/notesSlides/notesSlide39.xml" Id="R19a71a9c5a61499a" /></Relationships>
</file>

<file path=ppt/slides/slide1.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9" name="course-mark">
            <a:extLst xmlns:a="http://schemas.openxmlformats.org/drawingml/2006/main">
              <a:ext uri="{FF2B5EF4-FFF2-40B4-BE49-F238E27FC236}">
                <a16:creationId xmlns:a16="http://schemas.microsoft.com/office/drawing/2014/main" id="{5B6879A5-B5DB-440C-B0BC-60CC7CFFDE05}"/>
              </a:ext>
            </a:extLst>
          </p:cNvPr>
          <p:cNvSpPr>
            <a:spLocks xmlns:a="http://schemas.openxmlformats.org/drawingml/2006/main" noGrp="1"/>
          </p:cNvSpPr>
          <p:nvPr/>
        </p:nvSpPr>
        <p:spPr>
          <a:xfrm xmlns:a="http://schemas.openxmlformats.org/drawingml/2006/main">
            <a:off x="609600" y="457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FFFFFF"/>
                </a:solidFill>
                <a:latin typeface="Arial"/>
                <a:ea typeface="Arial"/>
                <a:cs typeface="Arial"/>
              </a:defRPr>
            </a:pPr>
            <a:r>
              <a:rPr sz="1800" b="1">
                <a:solidFill>
                  <a:srgbClr val="FFFFFF"/>
                </a:solidFill>
                <a:latin typeface="Arial"/>
                <a:ea typeface="Arial"/>
                <a:cs typeface="Arial"/>
              </a:rPr>
              <a:t>&lt;&gt;  ARC 500</a:t>
            </a:r>
          </a:p>
        </p:txBody>
      </p:sp>
      <p:sp>
        <p:nvSpPr>
          <p:cNvPr id="2" name="course-full-title">
            <a:extLst xmlns:a="http://schemas.openxmlformats.org/drawingml/2006/main">
              <a:ext uri="{FF2B5EF4-FFF2-40B4-BE49-F238E27FC236}">
                <a16:creationId xmlns:a16="http://schemas.microsoft.com/office/drawing/2014/main" id="{6DB592A0-EDAB-4C30-9F90-E896AD0E63E4}"/>
              </a:ext>
            </a:extLst>
          </p:cNvPr>
          <p:cNvSpPr>
            <a:spLocks xmlns:a="http://schemas.openxmlformats.org/drawingml/2006/main" noGrp="1"/>
          </p:cNvSpPr>
          <p:nvPr/>
        </p:nvSpPr>
        <p:spPr>
          <a:xfrm xmlns:a="http://schemas.openxmlformats.org/drawingml/2006/main">
            <a:off x="609600" y="81915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9AA1AC"/>
                </a:solidFill>
                <a:latin typeface="Arial"/>
                <a:ea typeface="Arial"/>
                <a:cs typeface="Arial"/>
              </a:defRPr>
            </a:pPr>
            <a:r>
              <a:rPr sz="900" b="0">
                <a:solidFill>
                  <a:srgbClr val="9AA1AC"/>
                </a:solidFill>
                <a:latin typeface="Arial"/>
                <a:ea typeface="Arial"/>
                <a:cs typeface="Arial"/>
              </a:rPr>
              <a:t>Programming with Python and Generative AI  ·  Scripting, Data Analysis, Visualization, Problem-Solving, and Optimization</a:t>
            </a:r>
          </a:p>
        </p:txBody>
      </p:sp>
      <p:sp>
        <p:nvSpPr>
          <p:cNvPr id="3" name="accent-bar">
            <a:extLst xmlns:a="http://schemas.openxmlformats.org/drawingml/2006/main">
              <a:ext uri="{FF2B5EF4-FFF2-40B4-BE49-F238E27FC236}">
                <a16:creationId xmlns:a16="http://schemas.microsoft.com/office/drawing/2014/main" id="{3793779A-E631-4654-8A85-9DCAC97F007A}"/>
              </a:ext>
            </a:extLst>
          </p:cNvPr>
          <p:cNvSpPr>
            <a:spLocks xmlns:a="http://schemas.openxmlformats.org/drawingml/2006/main" noGrp="1"/>
          </p:cNvSpPr>
          <p:nvPr/>
        </p:nvSpPr>
        <p:spPr>
          <a:xfrm xmlns:a="http://schemas.openxmlformats.org/drawingml/2006/main">
            <a:off x="609600" y="1333500"/>
            <a:ext cx="133350" cy="2857500"/>
          </a:xfrm>
          <a:prstGeom xmlns:a="http://schemas.openxmlformats.org/drawingml/2006/main" prst="rect">
            <a:avLst/>
          </a:prstGeom>
          <a:solidFill xmlns:a="http://schemas.openxmlformats.org/drawingml/2006/main">
            <a:srgbClr val="2E74B5"/>
          </a:solidFill>
          <a:ln xmlns:a="http://schemas.openxmlformats.org/drawingml/2006/main" w="0">
            <a:noFill/>
            <a:prstDash val="solid"/>
          </a:ln>
        </p:spPr>
      </p:sp>
      <p:sp>
        <p:nvSpPr>
          <p:cNvPr id="4" name="week-label">
            <a:extLst xmlns:a="http://schemas.openxmlformats.org/drawingml/2006/main">
              <a:ext uri="{FF2B5EF4-FFF2-40B4-BE49-F238E27FC236}">
                <a16:creationId xmlns:a16="http://schemas.microsoft.com/office/drawing/2014/main" id="{0D88D3A5-A5E2-4A25-95F3-0B88A3878318}"/>
              </a:ext>
            </a:extLst>
          </p:cNvPr>
          <p:cNvSpPr>
            <a:spLocks xmlns:a="http://schemas.openxmlformats.org/drawingml/2006/main" noGrp="1"/>
          </p:cNvSpPr>
          <p:nvPr/>
        </p:nvSpPr>
        <p:spPr>
          <a:xfrm xmlns:a="http://schemas.openxmlformats.org/drawingml/2006/main">
            <a:off x="1028700" y="13525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14 · MEETING B · MACHINE LEARNING II STUDIO: CLASSIFICATION (TRACK A) AND REGRESSION REFINEMENT (TRACK B)</a:t>
            </a:r>
          </a:p>
        </p:txBody>
      </p:sp>
      <p:sp>
        <p:nvSpPr>
          <p:cNvPr id="5" name="deck-title">
            <a:extLst xmlns:a="http://schemas.openxmlformats.org/drawingml/2006/main">
              <a:ext uri="{FF2B5EF4-FFF2-40B4-BE49-F238E27FC236}">
                <a16:creationId xmlns:a16="http://schemas.microsoft.com/office/drawing/2014/main" id="{B6754FF7-CFE5-4FE2-86D1-1706EB14AA90}"/>
              </a:ext>
            </a:extLst>
          </p:cNvPr>
          <p:cNvSpPr>
            <a:spLocks xmlns:a="http://schemas.openxmlformats.org/drawingml/2006/main" noGrp="1"/>
          </p:cNvSpPr>
          <p:nvPr/>
        </p:nvSpPr>
        <p:spPr>
          <a:xfrm xmlns:a="http://schemas.openxmlformats.org/drawingml/2006/main">
            <a:off x="1028700" y="17716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00" b="1">
                <a:solidFill>
                  <a:srgbClr val="FFFFFF"/>
                </a:solidFill>
                <a:latin typeface="Arial"/>
                <a:ea typeface="Arial"/>
                <a:cs typeface="Arial"/>
              </a:defRPr>
            </a:pPr>
            <a:r>
              <a:rPr sz="4500" b="1">
                <a:solidFill>
                  <a:srgbClr val="FFFFFF"/>
                </a:solidFill>
                <a:latin typeface="Arial"/>
                <a:ea typeface="Arial"/>
                <a:cs typeface="Arial"/>
              </a:rPr>
              <a:t>Two tracks, one method: hand-compute your metric before you trust it.</a:t>
            </a:r>
          </a:p>
        </p:txBody>
      </p:sp>
      <p:sp>
        <p:nvSpPr>
          <p:cNvPr id="6" name="deck-subtitle">
            <a:extLst xmlns:a="http://schemas.openxmlformats.org/drawingml/2006/main">
              <a:ext uri="{FF2B5EF4-FFF2-40B4-BE49-F238E27FC236}">
                <a16:creationId xmlns:a16="http://schemas.microsoft.com/office/drawing/2014/main" id="{1D216C53-BD78-415E-BB25-BD6D255CC6AC}"/>
              </a:ext>
            </a:extLst>
          </p:cNvPr>
          <p:cNvSpPr>
            <a:spLocks xmlns:a="http://schemas.openxmlformats.org/drawingml/2006/main" noGrp="1"/>
          </p:cNvSpPr>
          <p:nvPr/>
        </p:nvSpPr>
        <p:spPr>
          <a:xfrm xmlns:a="http://schemas.openxmlformats.org/drawingml/2006/main">
            <a:off x="1028700" y="3848100"/>
            <a:ext cx="9144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D7D9DC"/>
                </a:solidFill>
                <a:latin typeface="Arial"/>
                <a:ea typeface="Arial"/>
                <a:cs typeface="Arial"/>
              </a:defRPr>
            </a:pPr>
            <a:r>
              <a:rPr sz="2100" b="0">
                <a:solidFill>
                  <a:srgbClr val="D7D9DC"/>
                </a:solidFill>
                <a:latin typeface="Arial"/>
                <a:ea typeface="Arial"/>
                <a:cs typeface="Arial"/>
              </a:rPr>
              <a:t>Meeting B studio -- Track A builds a go/no-go classifier; Track B deepens Week 13's regression with compactness. Same dataset, two fitted models.</a:t>
            </a:r>
          </a:p>
        </p:txBody>
      </p:sp>
      <p:sp>
        <p:nvSpPr>
          <p:cNvPr id="7" name="">
            <a:extLst xmlns:a="http://schemas.openxmlformats.org/drawingml/2006/main">
              <a:ext uri="{FF2B5EF4-FFF2-40B4-BE49-F238E27FC236}">
                <a16:creationId xmlns:a16="http://schemas.microsoft.com/office/drawing/2014/main" id="{FC7E5BD2-D8F5-4587-BD9B-C2974B8363C0}"/>
              </a:ext>
            </a:extLst>
          </p:cNvPr>
          <p:cNvSpPr>
            <a:spLocks xmlns:a="http://schemas.openxmlformats.org/drawingml/2006/main" noGrp="1"/>
          </p:cNvSpPr>
          <p:nvPr/>
        </p:nvSpPr>
        <p:spPr>
          <a:xfrm xmlns:a="http://schemas.openxmlformats.org/drawingml/2006/main">
            <a:off x="1028700" y="5295900"/>
            <a:ext cx="2476500" cy="0"/>
          </a:xfrm>
          <a:prstGeom xmlns:a="http://schemas.openxmlformats.org/drawingml/2006/main" prst="line">
            <a:avLst/>
          </a:prstGeom>
          <a:noFill xmlns:a="http://schemas.openxmlformats.org/drawingml/2006/main"/>
          <a:ln xmlns:a="http://schemas.openxmlformats.org/drawingml/2006/main" w="9525">
            <a:solidFill>
              <a:srgbClr val="FFFFFF"/>
            </a:solidFill>
            <a:prstDash val="solid"/>
          </a:ln>
        </p:spPr>
      </p:sp>
      <p:sp>
        <p:nvSpPr>
          <p:cNvPr id="8" name="instructor">
            <a:extLst xmlns:a="http://schemas.openxmlformats.org/drawingml/2006/main">
              <a:ext uri="{FF2B5EF4-FFF2-40B4-BE49-F238E27FC236}">
                <a16:creationId xmlns:a16="http://schemas.microsoft.com/office/drawing/2014/main" id="{C361A0C6-0C17-4145-B762-9BCE8AF00BDA}"/>
              </a:ext>
            </a:extLst>
          </p:cNvPr>
          <p:cNvSpPr>
            <a:spLocks xmlns:a="http://schemas.openxmlformats.org/drawingml/2006/main" noGrp="1"/>
          </p:cNvSpPr>
          <p:nvPr/>
        </p:nvSpPr>
        <p:spPr>
          <a:xfrm xmlns:a="http://schemas.openxmlformats.org/drawingml/2006/main">
            <a:off x="1028700" y="55245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0">
                <a:solidFill>
                  <a:srgbClr val="D7D9DC"/>
                </a:solidFill>
                <a:latin typeface="Arial"/>
                <a:ea typeface="Arial"/>
                <a:cs typeface="Arial"/>
              </a:defRPr>
            </a:pPr>
            <a:r>
              <a:rPr sz="1200" b="0">
                <a:solidFill>
                  <a:srgbClr val="D7D9DC"/>
                </a:solidFill>
                <a:latin typeface="Arial"/>
                <a:ea typeface="Arial"/>
                <a:cs typeface="Arial"/>
              </a:rPr>
              <a:t>JunHo Chun, PhD  ·  School of Architecture  ·  Syracuse University  ·  Fall 2026</a:t>
            </a:r>
          </a:p>
        </p:txBody>
      </p:sp>
    </p:spTree>
    <p:extLst>
      <p:ext uri="{BB962C8B-B14F-4D97-AF65-F5344CB8AC3E}">
        <p14:creationId xmlns:p14="http://schemas.microsoft.com/office/powerpoint/2010/main" val="3353004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CA5D2810-FDE7-4DA9-91A1-C0C08F37047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F5AD4C41-AF96-4B3C-AE1E-EC086B96C51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Hand-compute the metric before you trust the printed number</a:t>
            </a:r>
          </a:p>
        </p:txBody>
      </p:sp>
      <p:sp>
        <p:nvSpPr>
          <p:cNvPr id="3" name="">
            <a:extLst xmlns:a="http://schemas.openxmlformats.org/drawingml/2006/main">
              <a:ext uri="{FF2B5EF4-FFF2-40B4-BE49-F238E27FC236}">
                <a16:creationId xmlns:a16="http://schemas.microsoft.com/office/drawing/2014/main" id="{FCC86091-3776-4B0A-92FB-6CE27ACF15F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FC9EBEE-6452-41B5-8261-99AA3A795C7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59F77F5B-279A-4C38-A787-7EA28346D15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02</a:t>
            </a:r>
          </a:p>
        </p:txBody>
      </p:sp>
      <p:sp>
        <p:nvSpPr>
          <p:cNvPr id="6" name="statement">
            <a:extLst xmlns:a="http://schemas.openxmlformats.org/drawingml/2006/main">
              <a:ext uri="{FF2B5EF4-FFF2-40B4-BE49-F238E27FC236}">
                <a16:creationId xmlns:a16="http://schemas.microsoft.com/office/drawing/2014/main" id="{D6A14987-A76A-4B98-AE82-4715384E4EF1}"/>
              </a:ext>
            </a:extLst>
          </p:cNvPr>
          <p:cNvSpPr>
            <a:spLocks xmlns:a="http://schemas.openxmlformats.org/drawingml/2006/main" noGrp="1"/>
          </p:cNvSpPr>
          <p:nvPr/>
        </p:nvSpPr>
        <p:spPr>
          <a:xfrm xmlns:a="http://schemas.openxmlformats.org/drawingml/2006/main">
            <a:off x="609600" y="1809750"/>
            <a:ext cx="9829800" cy="35326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Whichever track you are on, recompute your model's headline metric directly from raw counts or raw errors -- precision/recall/F1 from a confusion matrix, or the change in MAE/RMSE from Week 13's baseline -- before accepting sklearn's own printed value.</a:t>
            </a:r>
          </a:p>
        </p:txBody>
      </p:sp>
      <p:sp>
        <p:nvSpPr>
          <p:cNvPr id="7" name="">
            <a:extLst xmlns:a="http://schemas.openxmlformats.org/drawingml/2006/main">
              <a:ext uri="{FF2B5EF4-FFF2-40B4-BE49-F238E27FC236}">
                <a16:creationId xmlns:a16="http://schemas.microsoft.com/office/drawing/2014/main" id="{E1BB9A66-C97B-4D34-8F8F-EC3F3BC5FCC7}"/>
              </a:ext>
            </a:extLst>
          </p:cNvPr>
          <p:cNvSpPr>
            <a:spLocks xmlns:a="http://schemas.openxmlformats.org/drawingml/2006/main" noGrp="1"/>
          </p:cNvSpPr>
          <p:nvPr/>
        </p:nvSpPr>
        <p:spPr>
          <a:xfrm xmlns:a="http://schemas.openxmlformats.org/drawingml/2006/main">
            <a:off x="609600" y="5551932"/>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3587BACE-F5A9-4F5A-B02D-80D9001C54B2}"/>
              </a:ext>
            </a:extLst>
          </p:cNvPr>
          <p:cNvSpPr>
            <a:spLocks xmlns:a="http://schemas.openxmlformats.org/drawingml/2006/main" noGrp="1"/>
          </p:cNvSpPr>
          <p:nvPr/>
        </p:nvSpPr>
        <p:spPr>
          <a:xfrm xmlns:a="http://schemas.openxmlformats.org/drawingml/2006/main">
            <a:off x="609600" y="5875782"/>
            <a:ext cx="9334500" cy="3413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Same Week 13 discipline: hand-check any metric you plan to trust.</a:t>
            </a:r>
          </a:p>
        </p:txBody>
      </p:sp>
    </p:spTree>
    <p:extLst>
      <p:ext uri="{BB962C8B-B14F-4D97-AF65-F5344CB8AC3E}">
        <p14:creationId xmlns:p14="http://schemas.microsoft.com/office/powerpoint/2010/main" val="5152019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30084AD1-B982-4A04-9224-3C8BF356D62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LEARNING OUTCOMES</a:t>
            </a:r>
          </a:p>
        </p:txBody>
      </p:sp>
      <p:sp>
        <p:nvSpPr>
          <p:cNvPr id="2" name="title">
            <a:extLst xmlns:a="http://schemas.openxmlformats.org/drawingml/2006/main">
              <a:ext uri="{FF2B5EF4-FFF2-40B4-BE49-F238E27FC236}">
                <a16:creationId xmlns:a16="http://schemas.microsoft.com/office/drawing/2014/main" id="{44354EA9-6C55-421E-AC9A-4C89B6ABDD7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By the end, you should be able to…</a:t>
            </a:r>
          </a:p>
        </p:txBody>
      </p:sp>
      <p:sp>
        <p:nvSpPr>
          <p:cNvPr id="3" name="">
            <a:extLst xmlns:a="http://schemas.openxmlformats.org/drawingml/2006/main">
              <a:ext uri="{FF2B5EF4-FFF2-40B4-BE49-F238E27FC236}">
                <a16:creationId xmlns:a16="http://schemas.microsoft.com/office/drawing/2014/main" id="{12DDF3C0-0297-439C-BC56-F4B53EF609A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0353EE7-88B4-42C9-AC8F-E68F12604C2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0996F11D-A372-4787-932A-0B62257E7E0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03</a:t>
            </a:r>
          </a:p>
        </p:txBody>
      </p:sp>
      <p:sp>
        <p:nvSpPr>
          <p:cNvPr id="6" name="outcome-number-0">
            <a:extLst xmlns:a="http://schemas.openxmlformats.org/drawingml/2006/main">
              <a:ext uri="{FF2B5EF4-FFF2-40B4-BE49-F238E27FC236}">
                <a16:creationId xmlns:a16="http://schemas.microsoft.com/office/drawing/2014/main" id="{03C12B60-EFD8-48AC-8BA4-7CB948574B7A}"/>
              </a:ext>
            </a:extLst>
          </p:cNvPr>
          <p:cNvSpPr>
            <a:spLocks xmlns:a="http://schemas.openxmlformats.org/drawingml/2006/main" noGrp="1"/>
          </p:cNvSpPr>
          <p:nvPr/>
        </p:nvSpPr>
        <p:spPr>
          <a:xfrm xmlns:a="http://schemas.openxmlformats.org/drawingml/2006/main">
            <a:off x="6096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1</a:t>
            </a:r>
          </a:p>
        </p:txBody>
      </p:sp>
      <p:sp>
        <p:nvSpPr>
          <p:cNvPr id="7" name="outcome-head-0">
            <a:extLst xmlns:a="http://schemas.openxmlformats.org/drawingml/2006/main">
              <a:ext uri="{FF2B5EF4-FFF2-40B4-BE49-F238E27FC236}">
                <a16:creationId xmlns:a16="http://schemas.microsoft.com/office/drawing/2014/main" id="{97A3F50E-F287-4745-9D50-A796135BD233}"/>
              </a:ext>
            </a:extLst>
          </p:cNvPr>
          <p:cNvSpPr>
            <a:spLocks xmlns:a="http://schemas.openxmlformats.org/drawingml/2006/main" noGrp="1"/>
          </p:cNvSpPr>
          <p:nvPr/>
        </p:nvSpPr>
        <p:spPr>
          <a:xfrm xmlns:a="http://schemas.openxmlformats.org/drawingml/2006/main">
            <a:off x="12001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Fork</a:t>
            </a:r>
          </a:p>
        </p:txBody>
      </p:sp>
      <p:sp>
        <p:nvSpPr>
          <p:cNvPr id="8" name="outcome-body-0">
            <a:extLst xmlns:a="http://schemas.openxmlformats.org/drawingml/2006/main">
              <a:ext uri="{FF2B5EF4-FFF2-40B4-BE49-F238E27FC236}">
                <a16:creationId xmlns:a16="http://schemas.microsoft.com/office/drawing/2014/main" id="{14CD5054-AB5C-417C-8A84-1D384EC030A9}"/>
              </a:ext>
            </a:extLst>
          </p:cNvPr>
          <p:cNvSpPr>
            <a:spLocks xmlns:a="http://schemas.openxmlformats.org/drawingml/2006/main" noGrp="1"/>
          </p:cNvSpPr>
          <p:nvPr/>
        </p:nvSpPr>
        <p:spPr>
          <a:xfrm xmlns:a="http://schemas.openxmlformats.org/drawingml/2006/main">
            <a:off x="12001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Choose your track from your own Project 2 framing -- a go/no-go decision (Track A) or a continuous-outcome prediction (Track B) -- and follow that track's cells for the rest of studio.</a:t>
            </a:r>
          </a:p>
        </p:txBody>
      </p:sp>
      <p:sp>
        <p:nvSpPr>
          <p:cNvPr id="9" name="outcome-number-1">
            <a:extLst xmlns:a="http://schemas.openxmlformats.org/drawingml/2006/main">
              <a:ext uri="{FF2B5EF4-FFF2-40B4-BE49-F238E27FC236}">
                <a16:creationId xmlns:a16="http://schemas.microsoft.com/office/drawing/2014/main" id="{39AFE677-A951-4708-A761-B56F5AFE9752}"/>
              </a:ext>
            </a:extLst>
          </p:cNvPr>
          <p:cNvSpPr>
            <a:spLocks xmlns:a="http://schemas.openxmlformats.org/drawingml/2006/main" noGrp="1"/>
          </p:cNvSpPr>
          <p:nvPr/>
        </p:nvSpPr>
        <p:spPr>
          <a:xfrm xmlns:a="http://schemas.openxmlformats.org/drawingml/2006/main">
            <a:off x="63627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2</a:t>
            </a:r>
          </a:p>
        </p:txBody>
      </p:sp>
      <p:sp>
        <p:nvSpPr>
          <p:cNvPr id="10" name="outcome-head-1">
            <a:extLst xmlns:a="http://schemas.openxmlformats.org/drawingml/2006/main">
              <a:ext uri="{FF2B5EF4-FFF2-40B4-BE49-F238E27FC236}">
                <a16:creationId xmlns:a16="http://schemas.microsoft.com/office/drawing/2014/main" id="{96231FC4-0AB2-4A8A-8DEB-B244D81F0B93}"/>
              </a:ext>
            </a:extLst>
          </p:cNvPr>
          <p:cNvSpPr>
            <a:spLocks xmlns:a="http://schemas.openxmlformats.org/drawingml/2006/main" noGrp="1"/>
          </p:cNvSpPr>
          <p:nvPr/>
        </p:nvSpPr>
        <p:spPr>
          <a:xfrm xmlns:a="http://schemas.openxmlformats.org/drawingml/2006/main">
            <a:off x="69532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Fit</a:t>
            </a:r>
          </a:p>
        </p:txBody>
      </p:sp>
      <p:sp>
        <p:nvSpPr>
          <p:cNvPr id="11" name="outcome-body-1">
            <a:extLst xmlns:a="http://schemas.openxmlformats.org/drawingml/2006/main">
              <a:ext uri="{FF2B5EF4-FFF2-40B4-BE49-F238E27FC236}">
                <a16:creationId xmlns:a16="http://schemas.microsoft.com/office/drawing/2014/main" id="{C80769C3-53D1-4089-BE49-78F6275568B3}"/>
              </a:ext>
            </a:extLst>
          </p:cNvPr>
          <p:cNvSpPr>
            <a:spLocks xmlns:a="http://schemas.openxmlformats.org/drawingml/2006/main" noGrp="1"/>
          </p:cNvSpPr>
          <p:nvPr/>
        </p:nvSpPr>
        <p:spPr>
          <a:xfrm xmlns:a="http://schemas.openxmlformats.org/drawingml/2006/main">
            <a:off x="69532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Track A: fit a LogisticRegression classifier on meets_code. Track B: refit LinearRegression on eui_kwh_m2yr with compactness added.</a:t>
            </a:r>
          </a:p>
        </p:txBody>
      </p:sp>
      <p:sp>
        <p:nvSpPr>
          <p:cNvPr id="12" name="outcome-number-2">
            <a:extLst xmlns:a="http://schemas.openxmlformats.org/drawingml/2006/main">
              <a:ext uri="{FF2B5EF4-FFF2-40B4-BE49-F238E27FC236}">
                <a16:creationId xmlns:a16="http://schemas.microsoft.com/office/drawing/2014/main" id="{C6C0DC67-39DA-40B6-BBA2-874CCA90EBC6}"/>
              </a:ext>
            </a:extLst>
          </p:cNvPr>
          <p:cNvSpPr>
            <a:spLocks xmlns:a="http://schemas.openxmlformats.org/drawingml/2006/main" noGrp="1"/>
          </p:cNvSpPr>
          <p:nvPr/>
        </p:nvSpPr>
        <p:spPr>
          <a:xfrm xmlns:a="http://schemas.openxmlformats.org/drawingml/2006/main">
            <a:off x="6096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3</a:t>
            </a:r>
          </a:p>
        </p:txBody>
      </p:sp>
      <p:sp>
        <p:nvSpPr>
          <p:cNvPr id="13" name="outcome-head-2">
            <a:extLst xmlns:a="http://schemas.openxmlformats.org/drawingml/2006/main">
              <a:ext uri="{FF2B5EF4-FFF2-40B4-BE49-F238E27FC236}">
                <a16:creationId xmlns:a16="http://schemas.microsoft.com/office/drawing/2014/main" id="{FCD84C5F-41AD-46CF-930B-FDA19EEEF4EF}"/>
              </a:ext>
            </a:extLst>
          </p:cNvPr>
          <p:cNvSpPr>
            <a:spLocks xmlns:a="http://schemas.openxmlformats.org/drawingml/2006/main" noGrp="1"/>
          </p:cNvSpPr>
          <p:nvPr/>
        </p:nvSpPr>
        <p:spPr>
          <a:xfrm xmlns:a="http://schemas.openxmlformats.org/drawingml/2006/main">
            <a:off x="12001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Hand-compute</a:t>
            </a:r>
          </a:p>
        </p:txBody>
      </p:sp>
      <p:sp>
        <p:nvSpPr>
          <p:cNvPr id="14" name="outcome-body-2">
            <a:extLst xmlns:a="http://schemas.openxmlformats.org/drawingml/2006/main">
              <a:ext uri="{FF2B5EF4-FFF2-40B4-BE49-F238E27FC236}">
                <a16:creationId xmlns:a16="http://schemas.microsoft.com/office/drawing/2014/main" id="{09088C8D-408B-413E-A743-EE20AFABAC76}"/>
              </a:ext>
            </a:extLst>
          </p:cNvPr>
          <p:cNvSpPr>
            <a:spLocks xmlns:a="http://schemas.openxmlformats.org/drawingml/2006/main" noGrp="1"/>
          </p:cNvSpPr>
          <p:nvPr/>
        </p:nvSpPr>
        <p:spPr>
          <a:xfrm xmlns:a="http://schemas.openxmlformats.org/drawingml/2006/main">
            <a:off x="12001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Recompute your track's headline metric directly from raw numbers -- precision/recall/F1, or the change in MAE/RMSE -- and confirm it matches sklearn's own output.</a:t>
            </a:r>
          </a:p>
        </p:txBody>
      </p:sp>
      <p:sp>
        <p:nvSpPr>
          <p:cNvPr id="15" name="outcome-number-3">
            <a:extLst xmlns:a="http://schemas.openxmlformats.org/drawingml/2006/main">
              <a:ext uri="{FF2B5EF4-FFF2-40B4-BE49-F238E27FC236}">
                <a16:creationId xmlns:a16="http://schemas.microsoft.com/office/drawing/2014/main" id="{146297C9-1B8B-4CC1-ACBD-313E0EC1357C}"/>
              </a:ext>
            </a:extLst>
          </p:cNvPr>
          <p:cNvSpPr>
            <a:spLocks xmlns:a="http://schemas.openxmlformats.org/drawingml/2006/main" noGrp="1"/>
          </p:cNvSpPr>
          <p:nvPr/>
        </p:nvSpPr>
        <p:spPr>
          <a:xfrm xmlns:a="http://schemas.openxmlformats.org/drawingml/2006/main">
            <a:off x="63627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4</a:t>
            </a:r>
          </a:p>
        </p:txBody>
      </p:sp>
      <p:sp>
        <p:nvSpPr>
          <p:cNvPr id="16" name="outcome-head-3">
            <a:extLst xmlns:a="http://schemas.openxmlformats.org/drawingml/2006/main">
              <a:ext uri="{FF2B5EF4-FFF2-40B4-BE49-F238E27FC236}">
                <a16:creationId xmlns:a16="http://schemas.microsoft.com/office/drawing/2014/main" id="{CE0040E3-C6C1-4A86-AACF-753813B18EB0}"/>
              </a:ext>
            </a:extLst>
          </p:cNvPr>
          <p:cNvSpPr>
            <a:spLocks xmlns:a="http://schemas.openxmlformats.org/drawingml/2006/main" noGrp="1"/>
          </p:cNvSpPr>
          <p:nvPr/>
        </p:nvSpPr>
        <p:spPr>
          <a:xfrm xmlns:a="http://schemas.openxmlformats.org/drawingml/2006/main">
            <a:off x="69532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Update</a:t>
            </a:r>
          </a:p>
        </p:txBody>
      </p:sp>
      <p:sp>
        <p:nvSpPr>
          <p:cNvPr id="17" name="outcome-body-3">
            <a:extLst xmlns:a="http://schemas.openxmlformats.org/drawingml/2006/main">
              <a:ext uri="{FF2B5EF4-FFF2-40B4-BE49-F238E27FC236}">
                <a16:creationId xmlns:a16="http://schemas.microsoft.com/office/drawing/2014/main" id="{FA2A59EF-6992-4B16-A01A-E9E7295E98CE}"/>
              </a:ext>
            </a:extLst>
          </p:cNvPr>
          <p:cNvSpPr>
            <a:spLocks xmlns:a="http://schemas.openxmlformats.org/drawingml/2006/main" noGrp="1"/>
          </p:cNvSpPr>
          <p:nvPr/>
        </p:nvSpPr>
        <p:spPr>
          <a:xfrm xmlns:a="http://schemas.openxmlformats.org/drawingml/2006/main">
            <a:off x="69532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Update a one-page model card stating your model's scope, chosen threshold or feature set, and honest limits -- this week's Project 2 checkpoint.</a:t>
            </a:r>
          </a:p>
        </p:txBody>
      </p:sp>
    </p:spTree>
    <p:extLst>
      <p:ext uri="{BB962C8B-B14F-4D97-AF65-F5344CB8AC3E}">
        <p14:creationId xmlns:p14="http://schemas.microsoft.com/office/powerpoint/2010/main" val="2718372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3CCE6490-0BC2-4C17-B0C9-67A625E2C5D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ROAD MAP</a:t>
            </a:r>
          </a:p>
        </p:txBody>
      </p:sp>
      <p:sp>
        <p:nvSpPr>
          <p:cNvPr id="2" name="title">
            <a:extLst xmlns:a="http://schemas.openxmlformats.org/drawingml/2006/main">
              <a:ext uri="{FF2B5EF4-FFF2-40B4-BE49-F238E27FC236}">
                <a16:creationId xmlns:a16="http://schemas.microsoft.com/office/drawing/2014/main" id="{AE238074-4426-44FF-8FEF-FE4C1949916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Today’s learning sequence</a:t>
            </a:r>
          </a:p>
        </p:txBody>
      </p:sp>
      <p:sp>
        <p:nvSpPr>
          <p:cNvPr id="3" name="">
            <a:extLst xmlns:a="http://schemas.openxmlformats.org/drawingml/2006/main">
              <a:ext uri="{FF2B5EF4-FFF2-40B4-BE49-F238E27FC236}">
                <a16:creationId xmlns:a16="http://schemas.microsoft.com/office/drawing/2014/main" id="{6CADFB52-1B4F-437E-A864-7168D75AD91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8382D95A-1219-4C2A-9997-21A5B7E5333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BE9F4CCA-BCB7-4DDF-AA2B-31670719D48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04</a:t>
            </a:r>
          </a:p>
        </p:txBody>
      </p:sp>
      <p:sp>
        <p:nvSpPr>
          <p:cNvPr id="6" name="agenda-no-0">
            <a:extLst xmlns:a="http://schemas.openxmlformats.org/drawingml/2006/main">
              <a:ext uri="{FF2B5EF4-FFF2-40B4-BE49-F238E27FC236}">
                <a16:creationId xmlns:a16="http://schemas.microsoft.com/office/drawing/2014/main" id="{D09B3D3B-0FD1-4DF0-BC5E-1EB7C738D0DD}"/>
              </a:ext>
            </a:extLst>
          </p:cNvPr>
          <p:cNvSpPr>
            <a:spLocks xmlns:a="http://schemas.openxmlformats.org/drawingml/2006/main" noGrp="1"/>
          </p:cNvSpPr>
          <p:nvPr/>
        </p:nvSpPr>
        <p:spPr>
          <a:xfrm xmlns:a="http://schemas.openxmlformats.org/drawingml/2006/main">
            <a:off x="609600" y="22002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12231F4D-8F0C-4856-806B-686467F9AA50}"/>
              </a:ext>
            </a:extLst>
          </p:cNvPr>
          <p:cNvSpPr>
            <a:spLocks xmlns:a="http://schemas.openxmlformats.org/drawingml/2006/main" noGrp="1"/>
          </p:cNvSpPr>
          <p:nvPr/>
        </p:nvSpPr>
        <p:spPr>
          <a:xfrm xmlns:a="http://schemas.openxmlformats.org/drawingml/2006/main">
            <a:off x="1314450" y="2352675"/>
            <a:ext cx="7429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8" name="agenda-item-0">
            <a:extLst xmlns:a="http://schemas.openxmlformats.org/drawingml/2006/main">
              <a:ext uri="{FF2B5EF4-FFF2-40B4-BE49-F238E27FC236}">
                <a16:creationId xmlns:a16="http://schemas.microsoft.com/office/drawing/2014/main" id="{013FABC0-A386-4117-8CA6-DDEA1D2527B5}"/>
              </a:ext>
            </a:extLst>
          </p:cNvPr>
          <p:cNvSpPr>
            <a:spLocks xmlns:a="http://schemas.openxmlformats.org/drawingml/2006/main" noGrp="1"/>
          </p:cNvSpPr>
          <p:nvPr/>
        </p:nvSpPr>
        <p:spPr>
          <a:xfrm xmlns:a="http://schemas.openxmlformats.org/drawingml/2006/main">
            <a:off x="2381250" y="21431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Recall Monday's shared vocabulary, load the shared dataset, then fork by track</a:t>
            </a:r>
          </a:p>
        </p:txBody>
      </p:sp>
      <p:sp>
        <p:nvSpPr>
          <p:cNvPr id="9" name="agenda-no-1">
            <a:extLst xmlns:a="http://schemas.openxmlformats.org/drawingml/2006/main">
              <a:ext uri="{FF2B5EF4-FFF2-40B4-BE49-F238E27FC236}">
                <a16:creationId xmlns:a16="http://schemas.microsoft.com/office/drawing/2014/main" id="{C9337668-FFB3-4593-934E-318BA9EF94A4}"/>
              </a:ext>
            </a:extLst>
          </p:cNvPr>
          <p:cNvSpPr>
            <a:spLocks xmlns:a="http://schemas.openxmlformats.org/drawingml/2006/main" noGrp="1"/>
          </p:cNvSpPr>
          <p:nvPr/>
        </p:nvSpPr>
        <p:spPr>
          <a:xfrm xmlns:a="http://schemas.openxmlformats.org/drawingml/2006/main">
            <a:off x="609600" y="31146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2C91CD2A-96F2-476B-85EB-CF62D6DCFA0B}"/>
              </a:ext>
            </a:extLst>
          </p:cNvPr>
          <p:cNvSpPr>
            <a:spLocks xmlns:a="http://schemas.openxmlformats.org/drawingml/2006/main" noGrp="1"/>
          </p:cNvSpPr>
          <p:nvPr/>
        </p:nvSpPr>
        <p:spPr>
          <a:xfrm xmlns:a="http://schemas.openxmlformats.org/drawingml/2006/main">
            <a:off x="1314450" y="32670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1" name="agenda-item-1">
            <a:extLst xmlns:a="http://schemas.openxmlformats.org/drawingml/2006/main">
              <a:ext uri="{FF2B5EF4-FFF2-40B4-BE49-F238E27FC236}">
                <a16:creationId xmlns:a16="http://schemas.microsoft.com/office/drawing/2014/main" id="{91DCE056-C55C-4E99-8B25-A769B74AD9DA}"/>
              </a:ext>
            </a:extLst>
          </p:cNvPr>
          <p:cNvSpPr>
            <a:spLocks xmlns:a="http://schemas.openxmlformats.org/drawingml/2006/main" noGrp="1"/>
          </p:cNvSpPr>
          <p:nvPr/>
        </p:nvSpPr>
        <p:spPr>
          <a:xfrm xmlns:a="http://schemas.openxmlformats.org/drawingml/2006/main">
            <a:off x="2381250" y="30575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Track A: confusion matrix, threshold sweep, and the consequences argument</a:t>
            </a:r>
          </a:p>
        </p:txBody>
      </p:sp>
      <p:sp>
        <p:nvSpPr>
          <p:cNvPr id="12" name="agenda-no-2">
            <a:extLst xmlns:a="http://schemas.openxmlformats.org/drawingml/2006/main">
              <a:ext uri="{FF2B5EF4-FFF2-40B4-BE49-F238E27FC236}">
                <a16:creationId xmlns:a16="http://schemas.microsoft.com/office/drawing/2014/main" id="{7B1D80C4-3A6B-45EF-BFC1-7E28E83D39D6}"/>
              </a:ext>
            </a:extLst>
          </p:cNvPr>
          <p:cNvSpPr>
            <a:spLocks xmlns:a="http://schemas.openxmlformats.org/drawingml/2006/main" noGrp="1"/>
          </p:cNvSpPr>
          <p:nvPr/>
        </p:nvSpPr>
        <p:spPr>
          <a:xfrm xmlns:a="http://schemas.openxmlformats.org/drawingml/2006/main">
            <a:off x="609600" y="40290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8E1BBE3F-3D03-4D57-AA33-25336D42571F}"/>
              </a:ext>
            </a:extLst>
          </p:cNvPr>
          <p:cNvSpPr>
            <a:spLocks xmlns:a="http://schemas.openxmlformats.org/drawingml/2006/main" noGrp="1"/>
          </p:cNvSpPr>
          <p:nvPr/>
        </p:nvSpPr>
        <p:spPr>
          <a:xfrm xmlns:a="http://schemas.openxmlformats.org/drawingml/2006/main">
            <a:off x="1314450" y="41814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4" name="agenda-item-2">
            <a:extLst xmlns:a="http://schemas.openxmlformats.org/drawingml/2006/main">
              <a:ext uri="{FF2B5EF4-FFF2-40B4-BE49-F238E27FC236}">
                <a16:creationId xmlns:a16="http://schemas.microsoft.com/office/drawing/2014/main" id="{C3D34C9E-5060-4BFE-81A2-5F65573890BF}"/>
              </a:ext>
            </a:extLst>
          </p:cNvPr>
          <p:cNvSpPr>
            <a:spLocks xmlns:a="http://schemas.openxmlformats.org/drawingml/2006/main" noGrp="1"/>
          </p:cNvSpPr>
          <p:nvPr/>
        </p:nvSpPr>
        <p:spPr>
          <a:xfrm xmlns:a="http://schemas.openxmlformats.org/drawingml/2006/main">
            <a:off x="2381250" y="39719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Track B: add compactness, re-evaluate, and confront the negative CV fold honestly</a:t>
            </a:r>
          </a:p>
        </p:txBody>
      </p:sp>
      <p:sp>
        <p:nvSpPr>
          <p:cNvPr id="15" name="agenda-no-3">
            <a:extLst xmlns:a="http://schemas.openxmlformats.org/drawingml/2006/main">
              <a:ext uri="{FF2B5EF4-FFF2-40B4-BE49-F238E27FC236}">
                <a16:creationId xmlns:a16="http://schemas.microsoft.com/office/drawing/2014/main" id="{D2C77868-F5A4-4995-965D-B4657C935A21}"/>
              </a:ext>
            </a:extLst>
          </p:cNvPr>
          <p:cNvSpPr>
            <a:spLocks xmlns:a="http://schemas.openxmlformats.org/drawingml/2006/main" noGrp="1"/>
          </p:cNvSpPr>
          <p:nvPr/>
        </p:nvSpPr>
        <p:spPr>
          <a:xfrm xmlns:a="http://schemas.openxmlformats.org/drawingml/2006/main">
            <a:off x="609600" y="49434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8E04A96E-DA7D-4DBA-AF34-97D3A15DCEFE}"/>
              </a:ext>
            </a:extLst>
          </p:cNvPr>
          <p:cNvSpPr>
            <a:spLocks xmlns:a="http://schemas.openxmlformats.org/drawingml/2006/main" noGrp="1"/>
          </p:cNvSpPr>
          <p:nvPr/>
        </p:nvSpPr>
        <p:spPr>
          <a:xfrm xmlns:a="http://schemas.openxmlformats.org/drawingml/2006/main">
            <a:off x="1314450" y="50958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7" name="agenda-item-3">
            <a:extLst xmlns:a="http://schemas.openxmlformats.org/drawingml/2006/main">
              <a:ext uri="{FF2B5EF4-FFF2-40B4-BE49-F238E27FC236}">
                <a16:creationId xmlns:a16="http://schemas.microsoft.com/office/drawing/2014/main" id="{DD25F48E-8DBA-4637-9723-EB4F5A8A1C2E}"/>
              </a:ext>
            </a:extLst>
          </p:cNvPr>
          <p:cNvSpPr>
            <a:spLocks xmlns:a="http://schemas.openxmlformats.org/drawingml/2006/main" noGrp="1"/>
          </p:cNvSpPr>
          <p:nvPr/>
        </p:nvSpPr>
        <p:spPr>
          <a:xfrm xmlns:a="http://schemas.openxmlformats.org/drawingml/2006/main">
            <a:off x="2381250" y="48863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Both tracks: update the model card, record AI use, and preview Week 15</a:t>
            </a:r>
          </a:p>
        </p:txBody>
      </p:sp>
    </p:spTree>
    <p:extLst>
      <p:ext uri="{BB962C8B-B14F-4D97-AF65-F5344CB8AC3E}">
        <p14:creationId xmlns:p14="http://schemas.microsoft.com/office/powerpoint/2010/main" val="17623989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B50194B4-FB59-4EA8-943F-C54E7DB10FB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9A6CD365-54B2-46EF-935A-A51DDBD4FC6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Today's studio splits by track</a:t>
            </a:r>
          </a:p>
        </p:txBody>
      </p:sp>
      <p:sp>
        <p:nvSpPr>
          <p:cNvPr id="3" name="">
            <a:extLst xmlns:a="http://schemas.openxmlformats.org/drawingml/2006/main">
              <a:ext uri="{FF2B5EF4-FFF2-40B4-BE49-F238E27FC236}">
                <a16:creationId xmlns:a16="http://schemas.microsoft.com/office/drawing/2014/main" id="{FE1EB28F-30EE-4EB9-9BD7-E5686D7E907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048CD6C-A106-48F4-B197-E1E6F6F4128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DACE12B0-C0C5-4BAA-8AAE-ABEFB90875B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05</a:t>
            </a:r>
          </a:p>
        </p:txBody>
      </p:sp>
      <p:sp>
        <p:nvSpPr>
          <p:cNvPr id="6" name="step-arrow-0">
            <a:extLst xmlns:a="http://schemas.openxmlformats.org/drawingml/2006/main">
              <a:ext uri="{FF2B5EF4-FFF2-40B4-BE49-F238E27FC236}">
                <a16:creationId xmlns:a16="http://schemas.microsoft.com/office/drawing/2014/main" id="{8ACCCF05-6284-4357-B8F4-FDA353D211FB}"/>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6FEDF719-D2D3-4080-904A-836F3E88C8ED}"/>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32EEAB3C-7A8C-4F81-90B9-882743DB4C53}"/>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A69614F1-EAD5-4AD6-9158-4F80AB8BE078}"/>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347C46ED-A566-4F6D-91A0-D5A0F78FE023}"/>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B8EC26C6-AFFE-4767-9E46-D3B53E2F610B}"/>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DEFINE</a:t>
            </a:r>
          </a:p>
        </p:txBody>
      </p:sp>
      <p:sp>
        <p:nvSpPr>
          <p:cNvPr id="12" name="">
            <a:extLst xmlns:a="http://schemas.openxmlformats.org/drawingml/2006/main">
              <a:ext uri="{FF2B5EF4-FFF2-40B4-BE49-F238E27FC236}">
                <a16:creationId xmlns:a16="http://schemas.microsoft.com/office/drawing/2014/main" id="{F06013A6-090B-4EF1-A3E7-F08F80426EC8}"/>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DED5759A-5A3D-4103-8673-9E6A6FCFEBD7}"/>
              </a:ext>
            </a:extLst>
          </p:cNvPr>
          <p:cNvSpPr>
            <a:spLocks xmlns:a="http://schemas.openxmlformats.org/drawingml/2006/main" noGrp="1"/>
          </p:cNvSpPr>
          <p:nvPr/>
        </p:nvSpPr>
        <p:spPr>
          <a:xfrm xmlns:a="http://schemas.openxmlformats.org/drawingml/2006/main">
            <a:off x="8001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Load the shared data</a:t>
            </a:r>
          </a:p>
        </p:txBody>
      </p:sp>
      <p:sp>
        <p:nvSpPr>
          <p:cNvPr id="14" name="step-body-0">
            <a:extLst xmlns:a="http://schemas.openxmlformats.org/drawingml/2006/main">
              <a:ext uri="{FF2B5EF4-FFF2-40B4-BE49-F238E27FC236}">
                <a16:creationId xmlns:a16="http://schemas.microsoft.com/office/drawing/2014/main" id="{65E78A5F-344C-4C7E-8D3F-FE1BB22C3693}"/>
              </a:ext>
            </a:extLst>
          </p:cNvPr>
          <p:cNvSpPr>
            <a:spLocks xmlns:a="http://schemas.openxmlformats.org/drawingml/2006/main" noGrp="1"/>
          </p:cNvSpPr>
          <p:nvPr/>
        </p:nvSpPr>
        <p:spPr>
          <a:xfrm xmlns:a="http://schemas.openxmlformats.org/drawingml/2006/main">
            <a:off x="8001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Both tracks load the exact same radley_portfolio_envelope.csv and recall Monday's four terms together.</a:t>
            </a:r>
          </a:p>
        </p:txBody>
      </p:sp>
      <p:sp>
        <p:nvSpPr>
          <p:cNvPr id="15" name="step-node-1">
            <a:extLst xmlns:a="http://schemas.openxmlformats.org/drawingml/2006/main">
              <a:ext uri="{FF2B5EF4-FFF2-40B4-BE49-F238E27FC236}">
                <a16:creationId xmlns:a16="http://schemas.microsoft.com/office/drawing/2014/main" id="{6B1C79B9-F3B3-4734-80CE-86D74E1006FC}"/>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7A5CA0C8-CEFE-4CB5-9C0E-C999F91082CD}"/>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EE0CB25B-72C4-41C2-9930-65F5C592A953}"/>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FORK</a:t>
            </a:r>
          </a:p>
        </p:txBody>
      </p:sp>
      <p:sp>
        <p:nvSpPr>
          <p:cNvPr id="18" name="">
            <a:extLst xmlns:a="http://schemas.openxmlformats.org/drawingml/2006/main">
              <a:ext uri="{FF2B5EF4-FFF2-40B4-BE49-F238E27FC236}">
                <a16:creationId xmlns:a16="http://schemas.microsoft.com/office/drawing/2014/main" id="{CE8F5732-3788-4BDB-89A3-F185481567B6}"/>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4C2CCE37-3F85-47D9-8E5D-5461CEDEB71B}"/>
              </a:ext>
            </a:extLst>
          </p:cNvPr>
          <p:cNvSpPr>
            <a:spLocks xmlns:a="http://schemas.openxmlformats.org/drawingml/2006/main" noGrp="1"/>
          </p:cNvSpPr>
          <p:nvPr/>
        </p:nvSpPr>
        <p:spPr>
          <a:xfrm xmlns:a="http://schemas.openxmlformats.org/drawingml/2006/main">
            <a:off x="36004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Pick your track</a:t>
            </a:r>
          </a:p>
        </p:txBody>
      </p:sp>
      <p:sp>
        <p:nvSpPr>
          <p:cNvPr id="20" name="step-body-1">
            <a:extLst xmlns:a="http://schemas.openxmlformats.org/drawingml/2006/main">
              <a:ext uri="{FF2B5EF4-FFF2-40B4-BE49-F238E27FC236}">
                <a16:creationId xmlns:a16="http://schemas.microsoft.com/office/drawing/2014/main" id="{232438DC-DA09-49B4-88D0-62520B25B78B}"/>
              </a:ext>
            </a:extLst>
          </p:cNvPr>
          <p:cNvSpPr>
            <a:spLocks xmlns:a="http://schemas.openxmlformats.org/drawingml/2006/main" noGrp="1"/>
          </p:cNvSpPr>
          <p:nvPr/>
        </p:nvSpPr>
        <p:spPr>
          <a:xfrm xmlns:a="http://schemas.openxmlformats.org/drawingml/2006/main">
            <a:off x="36004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Match your own Project 2 decision: yes/no -&gt; Track A; how much -&gt; Track B.</a:t>
            </a:r>
          </a:p>
        </p:txBody>
      </p:sp>
      <p:sp>
        <p:nvSpPr>
          <p:cNvPr id="21" name="step-node-2">
            <a:extLst xmlns:a="http://schemas.openxmlformats.org/drawingml/2006/main">
              <a:ext uri="{FF2B5EF4-FFF2-40B4-BE49-F238E27FC236}">
                <a16:creationId xmlns:a16="http://schemas.microsoft.com/office/drawing/2014/main" id="{CC25194E-F278-4B35-9B8C-2E881A9A4AE4}"/>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D0D2A446-3199-4060-9DBA-253889410D8A}"/>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52420B9A-5903-48BF-8E81-78B0A7E88CA0}"/>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BUILD</a:t>
            </a:r>
          </a:p>
        </p:txBody>
      </p:sp>
      <p:sp>
        <p:nvSpPr>
          <p:cNvPr id="24" name="">
            <a:extLst xmlns:a="http://schemas.openxmlformats.org/drawingml/2006/main">
              <a:ext uri="{FF2B5EF4-FFF2-40B4-BE49-F238E27FC236}">
                <a16:creationId xmlns:a16="http://schemas.microsoft.com/office/drawing/2014/main" id="{98ED235F-010B-48DF-80EE-1DF8FF2EF002}"/>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F9695CC9-30A0-45E2-BAE7-A7B9018003ED}"/>
              </a:ext>
            </a:extLst>
          </p:cNvPr>
          <p:cNvSpPr>
            <a:spLocks xmlns:a="http://schemas.openxmlformats.org/drawingml/2006/main" noGrp="1"/>
          </p:cNvSpPr>
          <p:nvPr/>
        </p:nvSpPr>
        <p:spPr>
          <a:xfrm xmlns:a="http://schemas.openxmlformats.org/drawingml/2006/main">
            <a:off x="64008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Work your track's cells</a:t>
            </a:r>
          </a:p>
        </p:txBody>
      </p:sp>
      <p:sp>
        <p:nvSpPr>
          <p:cNvPr id="26" name="step-body-2">
            <a:extLst xmlns:a="http://schemas.openxmlformats.org/drawingml/2006/main">
              <a:ext uri="{FF2B5EF4-FFF2-40B4-BE49-F238E27FC236}">
                <a16:creationId xmlns:a16="http://schemas.microsoft.com/office/drawing/2014/main" id="{93E106BC-8A9C-4624-96E9-FAB8FA92EB6C}"/>
              </a:ext>
            </a:extLst>
          </p:cNvPr>
          <p:cNvSpPr>
            <a:spLocks xmlns:a="http://schemas.openxmlformats.org/drawingml/2006/main" noGrp="1"/>
          </p:cNvSpPr>
          <p:nvPr/>
        </p:nvSpPr>
        <p:spPr>
          <a:xfrm xmlns:a="http://schemas.openxmlformats.org/drawingml/2006/main">
            <a:off x="64008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About 30 minutes of studio time; the instructor circulates between both groups in the room.</a:t>
            </a:r>
          </a:p>
        </p:txBody>
      </p:sp>
      <p:sp>
        <p:nvSpPr>
          <p:cNvPr id="27" name="step-node-3">
            <a:extLst xmlns:a="http://schemas.openxmlformats.org/drawingml/2006/main">
              <a:ext uri="{FF2B5EF4-FFF2-40B4-BE49-F238E27FC236}">
                <a16:creationId xmlns:a16="http://schemas.microsoft.com/office/drawing/2014/main" id="{855C8A94-EAE0-4E0B-A12A-82E504BE0F0B}"/>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11C5C9B5-91A5-45E3-AFE7-D89FD6ADFAFD}"/>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CED332FF-2AC6-44B5-B8BA-B58DED637A84}"/>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CLOSE</a:t>
            </a:r>
          </a:p>
        </p:txBody>
      </p:sp>
      <p:sp>
        <p:nvSpPr>
          <p:cNvPr id="30" name="">
            <a:extLst xmlns:a="http://schemas.openxmlformats.org/drawingml/2006/main">
              <a:ext uri="{FF2B5EF4-FFF2-40B4-BE49-F238E27FC236}">
                <a16:creationId xmlns:a16="http://schemas.microsoft.com/office/drawing/2014/main" id="{9F39F1C6-FE7E-4B86-8D08-A521A52CEA45}"/>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FF65C238-553D-4D1B-AA80-350C3BB2734E}"/>
              </a:ext>
            </a:extLst>
          </p:cNvPr>
          <p:cNvSpPr>
            <a:spLocks xmlns:a="http://schemas.openxmlformats.org/drawingml/2006/main" noGrp="1"/>
          </p:cNvSpPr>
          <p:nvPr/>
        </p:nvSpPr>
        <p:spPr>
          <a:xfrm xmlns:a="http://schemas.openxmlformats.org/drawingml/2006/main">
            <a:off x="92011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Model card + AI-use record</a:t>
            </a:r>
          </a:p>
        </p:txBody>
      </p:sp>
      <p:sp>
        <p:nvSpPr>
          <p:cNvPr id="32" name="step-body-3">
            <a:extLst xmlns:a="http://schemas.openxmlformats.org/drawingml/2006/main">
              <a:ext uri="{FF2B5EF4-FFF2-40B4-BE49-F238E27FC236}">
                <a16:creationId xmlns:a16="http://schemas.microsoft.com/office/drawing/2014/main" id="{3F57963B-AD2C-480B-A944-EC90920077D3}"/>
              </a:ext>
            </a:extLst>
          </p:cNvPr>
          <p:cNvSpPr>
            <a:spLocks xmlns:a="http://schemas.openxmlformats.org/drawingml/2006/main" noGrp="1"/>
          </p:cNvSpPr>
          <p:nvPr/>
        </p:nvSpPr>
        <p:spPr>
          <a:xfrm xmlns:a="http://schemas.openxmlformats.org/drawingml/2006/main">
            <a:off x="92011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Both tracks finish with the same four-heading structure: a model card, an AI-use record, and an exit reflection.</a:t>
            </a:r>
          </a:p>
        </p:txBody>
      </p:sp>
    </p:spTree>
    <p:extLst>
      <p:ext uri="{BB962C8B-B14F-4D97-AF65-F5344CB8AC3E}">
        <p14:creationId xmlns:p14="http://schemas.microsoft.com/office/powerpoint/2010/main" val="10802412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E4DBCC58-A848-4125-90DC-C69D6D9F1FF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5BAB783C-C090-4E25-8045-093B1106B6F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[Shared] Load the dataset both tracks use</a:t>
            </a:r>
          </a:p>
        </p:txBody>
      </p:sp>
      <p:sp>
        <p:nvSpPr>
          <p:cNvPr id="3" name="">
            <a:extLst xmlns:a="http://schemas.openxmlformats.org/drawingml/2006/main">
              <a:ext uri="{FF2B5EF4-FFF2-40B4-BE49-F238E27FC236}">
                <a16:creationId xmlns:a16="http://schemas.microsoft.com/office/drawing/2014/main" id="{9E2A3CEE-B491-412B-AF09-68AFAAD7ACA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2CFB23E-0872-4EB2-8854-3DE2886866B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C3BD2E56-9CCB-4575-BC22-808A304053B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06</a:t>
            </a:r>
          </a:p>
        </p:txBody>
      </p:sp>
      <p:sp>
        <p:nvSpPr>
          <p:cNvPr id="6" name="code-panel">
            <a:extLst xmlns:a="http://schemas.openxmlformats.org/drawingml/2006/main">
              <a:ext uri="{FF2B5EF4-FFF2-40B4-BE49-F238E27FC236}">
                <a16:creationId xmlns:a16="http://schemas.microsoft.com/office/drawing/2014/main" id="{204E02E5-3E16-4A2C-9A68-AD23C02A7D6C}"/>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1FB71AF1-688A-419D-B771-0F00A66B34AE}"/>
              </a:ext>
            </a:extLst>
          </p:cNvPr>
          <p:cNvSpPr>
            <a:spLocks xmlns:a="http://schemas.openxmlformats.org/drawingml/2006/main" noGrp="1"/>
          </p:cNvSpPr>
          <p:nvPr/>
        </p:nvSpPr>
        <p:spPr>
          <a:xfrm xmlns:a="http://schemas.openxmlformats.org/drawingml/2006/main">
            <a:off x="857250" y="2057400"/>
            <a:ext cx="6400800" cy="2446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import pandas as pd</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from pathlib import Path</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DATA_PATH = Path('data') / 'radley_portfolio_envelope.csv'</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df = pd.read_csv(DATA_PATH)</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print(df.shape)</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print(df['meets_code'].value_counts())</a:t>
            </a:r>
          </a:p>
        </p:txBody>
      </p:sp>
      <p:sp>
        <p:nvSpPr>
          <p:cNvPr id="8" name="">
            <a:extLst xmlns:a="http://schemas.openxmlformats.org/drawingml/2006/main">
              <a:ext uri="{FF2B5EF4-FFF2-40B4-BE49-F238E27FC236}">
                <a16:creationId xmlns:a16="http://schemas.microsoft.com/office/drawing/2014/main" id="{C224D89D-B1D8-4281-995C-33AEAFD2A6D4}"/>
              </a:ext>
            </a:extLst>
          </p:cNvPr>
          <p:cNvSpPr>
            <a:spLocks xmlns:a="http://schemas.openxmlformats.org/drawingml/2006/main" noGrp="1"/>
          </p:cNvSpPr>
          <p:nvPr/>
        </p:nvSpPr>
        <p:spPr>
          <a:xfrm xmlns:a="http://schemas.openxmlformats.org/drawingml/2006/main">
            <a:off x="857250" y="4560570"/>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E993DF9F-9C80-4A9D-AF09-2CECCB19C866}"/>
              </a:ext>
            </a:extLst>
          </p:cNvPr>
          <p:cNvSpPr>
            <a:spLocks xmlns:a="http://schemas.openxmlformats.org/drawingml/2006/main" noGrp="1"/>
          </p:cNvSpPr>
          <p:nvPr/>
        </p:nvSpPr>
        <p:spPr>
          <a:xfrm xmlns:a="http://schemas.openxmlformats.org/drawingml/2006/main">
            <a:off x="857250" y="467487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6F285639-F06D-4807-90E5-945DDC40169C}"/>
              </a:ext>
            </a:extLst>
          </p:cNvPr>
          <p:cNvSpPr>
            <a:spLocks xmlns:a="http://schemas.openxmlformats.org/drawingml/2006/main" noGrp="1"/>
          </p:cNvSpPr>
          <p:nvPr/>
        </p:nvSpPr>
        <p:spPr>
          <a:xfrm xmlns:a="http://schemas.openxmlformats.org/drawingml/2006/main">
            <a:off x="857250" y="4903470"/>
            <a:ext cx="6400800" cy="9258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(140, 9)</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meets_code</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0    92</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1    48</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Name: count, dtype: int64</a:t>
            </a:r>
          </a:p>
        </p:txBody>
      </p:sp>
      <p:sp>
        <p:nvSpPr>
          <p:cNvPr id="11" name="explain-head">
            <a:extLst xmlns:a="http://schemas.openxmlformats.org/drawingml/2006/main">
              <a:ext uri="{FF2B5EF4-FFF2-40B4-BE49-F238E27FC236}">
                <a16:creationId xmlns:a16="http://schemas.microsoft.com/office/drawing/2014/main" id="{346E096E-536B-469E-8B52-703930C61E5D}"/>
              </a:ext>
            </a:extLst>
          </p:cNvPr>
          <p:cNvSpPr>
            <a:spLocks xmlns:a="http://schemas.openxmlformats.org/drawingml/2006/main" noGrp="1"/>
          </p:cNvSpPr>
          <p:nvPr/>
        </p:nvSpPr>
        <p:spPr>
          <a:xfrm xmlns:a="http://schemas.openxmlformats.org/drawingml/2006/main">
            <a:off x="7886700" y="25241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exact same file Week 13 used</a:t>
            </a:r>
          </a:p>
        </p:txBody>
      </p:sp>
      <p:sp>
        <p:nvSpPr>
          <p:cNvPr id="12" name="explain-body">
            <a:extLst xmlns:a="http://schemas.openxmlformats.org/drawingml/2006/main">
              <a:ext uri="{FF2B5EF4-FFF2-40B4-BE49-F238E27FC236}">
                <a16:creationId xmlns:a16="http://schemas.microsoft.com/office/drawing/2014/main" id="{CE00947F-1171-42AE-B4D1-07B36040E248}"/>
              </a:ext>
            </a:extLst>
          </p:cNvPr>
          <p:cNvSpPr>
            <a:spLocks xmlns:a="http://schemas.openxmlformats.org/drawingml/2006/main" noGrp="1"/>
          </p:cNvSpPr>
          <p:nvPr/>
        </p:nvSpPr>
        <p:spPr>
          <a:xfrm xmlns:a="http://schemas.openxmlformats.org/drawingml/2006/main">
            <a:off x="7886700" y="3309747"/>
            <a:ext cx="36957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One CSV, 140 rows, drives Weeks 13, 14, and 15. Today's column of interest is meets_code -- already computed as 1 if eui_kwh_m2yr &lt;= 27.0, else 0. Track A uses it directly as its target; Track B ignores it and keeps predicting eui_kwh_m2yr itself.</a:t>
            </a:r>
          </a:p>
        </p:txBody>
      </p:sp>
    </p:spTree>
    <p:extLst>
      <p:ext uri="{BB962C8B-B14F-4D97-AF65-F5344CB8AC3E}">
        <p14:creationId xmlns:p14="http://schemas.microsoft.com/office/powerpoint/2010/main" val="102409962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FF88B6F5-237E-41F6-9FA0-625E418DF09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FORK POINT</a:t>
            </a:r>
          </a:p>
        </p:txBody>
      </p:sp>
      <p:sp>
        <p:nvSpPr>
          <p:cNvPr id="2" name="title">
            <a:extLst xmlns:a="http://schemas.openxmlformats.org/drawingml/2006/main">
              <a:ext uri="{FF2B5EF4-FFF2-40B4-BE49-F238E27FC236}">
                <a16:creationId xmlns:a16="http://schemas.microsoft.com/office/drawing/2014/main" id="{2CA9A1CD-B45C-42AD-8337-61D7908DB1E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Which track matches your own Project 2 decision?</a:t>
            </a:r>
          </a:p>
        </p:txBody>
      </p:sp>
      <p:sp>
        <p:nvSpPr>
          <p:cNvPr id="3" name="">
            <a:extLst xmlns:a="http://schemas.openxmlformats.org/drawingml/2006/main">
              <a:ext uri="{FF2B5EF4-FFF2-40B4-BE49-F238E27FC236}">
                <a16:creationId xmlns:a16="http://schemas.microsoft.com/office/drawing/2014/main" id="{F9813977-81F7-4331-B8E2-A60C69E475DF}"/>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E3504CD-8CD2-4493-AA2A-B92E6B8BBC7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5D0A7ED2-C3CC-4300-8227-B5C2CBBA207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07</a:t>
            </a:r>
          </a:p>
        </p:txBody>
      </p:sp>
      <p:sp>
        <p:nvSpPr>
          <p:cNvPr id="6" name="left-head">
            <a:extLst xmlns:a="http://schemas.openxmlformats.org/drawingml/2006/main">
              <a:ext uri="{FF2B5EF4-FFF2-40B4-BE49-F238E27FC236}">
                <a16:creationId xmlns:a16="http://schemas.microsoft.com/office/drawing/2014/main" id="{A6290C3F-B2AB-4579-820B-D451E2299AE0}"/>
              </a:ext>
            </a:extLst>
          </p:cNvPr>
          <p:cNvSpPr>
            <a:spLocks xmlns:a="http://schemas.openxmlformats.org/drawingml/2006/main" noGrp="1"/>
          </p:cNvSpPr>
          <p:nvPr/>
        </p:nvSpPr>
        <p:spPr>
          <a:xfrm xmlns:a="http://schemas.openxmlformats.org/drawingml/2006/main">
            <a:off x="609600" y="260985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Track A -- go/no-go framing</a:t>
            </a:r>
          </a:p>
        </p:txBody>
      </p:sp>
      <p:sp>
        <p:nvSpPr>
          <p:cNvPr id="7" name="left-body">
            <a:extLst xmlns:a="http://schemas.openxmlformats.org/drawingml/2006/main">
              <a:ext uri="{FF2B5EF4-FFF2-40B4-BE49-F238E27FC236}">
                <a16:creationId xmlns:a16="http://schemas.microsoft.com/office/drawing/2014/main" id="{3962FB0B-73F3-4BC4-AC8F-15CF53CAFBDD}"/>
              </a:ext>
            </a:extLst>
          </p:cNvPr>
          <p:cNvSpPr>
            <a:spLocks xmlns:a="http://schemas.openxmlformats.org/drawingml/2006/main" noGrp="1"/>
          </p:cNvSpPr>
          <p:nvPr/>
        </p:nvSpPr>
        <p:spPr>
          <a:xfrm xmlns:a="http://schemas.openxmlformats.org/drawingml/2006/main">
            <a:off x="609600" y="3107436"/>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If your Project 2 decision is a yes/no call (does this design meet a threshold, a code requirement, a target), build a classifier: confusion matrix, threshold choice from consequences, model card.</a:t>
            </a:r>
          </a:p>
        </p:txBody>
      </p:sp>
      <p:sp>
        <p:nvSpPr>
          <p:cNvPr id="8" name="right-head">
            <a:extLst xmlns:a="http://schemas.openxmlformats.org/drawingml/2006/main">
              <a:ext uri="{FF2B5EF4-FFF2-40B4-BE49-F238E27FC236}">
                <a16:creationId xmlns:a16="http://schemas.microsoft.com/office/drawing/2014/main" id="{79427439-6B3F-4DF9-AAE0-EC18452F92A6}"/>
              </a:ext>
            </a:extLst>
          </p:cNvPr>
          <p:cNvSpPr>
            <a:spLocks xmlns:a="http://schemas.openxmlformats.org/drawingml/2006/main" noGrp="1"/>
          </p:cNvSpPr>
          <p:nvPr/>
        </p:nvSpPr>
        <p:spPr>
          <a:xfrm xmlns:a="http://schemas.openxmlformats.org/drawingml/2006/main">
            <a:off x="6362700" y="2609850"/>
            <a:ext cx="5219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Track B -- continuous-outcome framing</a:t>
            </a:r>
          </a:p>
        </p:txBody>
      </p:sp>
      <p:sp>
        <p:nvSpPr>
          <p:cNvPr id="9" name="right-body">
            <a:extLst xmlns:a="http://schemas.openxmlformats.org/drawingml/2006/main">
              <a:ext uri="{FF2B5EF4-FFF2-40B4-BE49-F238E27FC236}">
                <a16:creationId xmlns:a16="http://schemas.microsoft.com/office/drawing/2014/main" id="{13D00405-C21E-4C3B-9693-DA6BEB029C9C}"/>
              </a:ext>
            </a:extLst>
          </p:cNvPr>
          <p:cNvSpPr>
            <a:spLocks xmlns:a="http://schemas.openxmlformats.org/drawingml/2006/main" noGrp="1"/>
          </p:cNvSpPr>
          <p:nvPr/>
        </p:nvSpPr>
        <p:spPr>
          <a:xfrm xmlns:a="http://schemas.openxmlformats.org/drawingml/2006/main">
            <a:off x="6362700" y="3395472"/>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If your Project 2 decision is 'how much' (predict a continuous performance number), deepen Week 13's regression: add a feature, re-evaluate honestly (including cross-validation), update the model card.</a:t>
            </a:r>
          </a:p>
        </p:txBody>
      </p:sp>
    </p:spTree>
    <p:extLst>
      <p:ext uri="{BB962C8B-B14F-4D97-AF65-F5344CB8AC3E}">
        <p14:creationId xmlns:p14="http://schemas.microsoft.com/office/powerpoint/2010/main" val="202021940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26A8A1CF-CFA0-47ED-81DE-A2A092FF0E7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 -- TRACK A</a:t>
            </a:r>
          </a:p>
        </p:txBody>
      </p:sp>
      <p:sp>
        <p:nvSpPr>
          <p:cNvPr id="2" name="title">
            <a:extLst xmlns:a="http://schemas.openxmlformats.org/drawingml/2006/main">
              <a:ext uri="{FF2B5EF4-FFF2-40B4-BE49-F238E27FC236}">
                <a16:creationId xmlns:a16="http://schemas.microsoft.com/office/drawing/2014/main" id="{7FF60BD4-BC64-4B6B-8446-A30AAD82AE5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meets_code, defined</a:t>
            </a:r>
          </a:p>
        </p:txBody>
      </p:sp>
      <p:sp>
        <p:nvSpPr>
          <p:cNvPr id="3" name="">
            <a:extLst xmlns:a="http://schemas.openxmlformats.org/drawingml/2006/main">
              <a:ext uri="{FF2B5EF4-FFF2-40B4-BE49-F238E27FC236}">
                <a16:creationId xmlns:a16="http://schemas.microsoft.com/office/drawing/2014/main" id="{B3363FF2-0F24-472C-AD53-AEEAC081D3D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8BFACAE-BCE6-4EA2-A372-29778DF4FD8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F03610AC-56CC-4A41-B8FE-E79FE585BA3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08</a:t>
            </a:r>
          </a:p>
        </p:txBody>
      </p:sp>
      <p:sp>
        <p:nvSpPr>
          <p:cNvPr id="6" name="term-label">
            <a:extLst xmlns:a="http://schemas.openxmlformats.org/drawingml/2006/main">
              <a:ext uri="{FF2B5EF4-FFF2-40B4-BE49-F238E27FC236}">
                <a16:creationId xmlns:a16="http://schemas.microsoft.com/office/drawing/2014/main" id="{18DCE0E6-C398-4AE8-8022-4010D327860E}"/>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D7E9AC7B-F603-4C25-8559-C06510E655D4}"/>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meets_code</a:t>
            </a:r>
          </a:p>
        </p:txBody>
      </p:sp>
      <p:sp>
        <p:nvSpPr>
          <p:cNvPr id="8" name="">
            <a:extLst xmlns:a="http://schemas.openxmlformats.org/drawingml/2006/main">
              <a:ext uri="{FF2B5EF4-FFF2-40B4-BE49-F238E27FC236}">
                <a16:creationId xmlns:a16="http://schemas.microsoft.com/office/drawing/2014/main" id="{B22FA688-0B48-49FF-AB46-4EE8B3B97F69}"/>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B4B777C5-F323-4847-8887-F0544D29B0E9}"/>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The Track A classification TARGET: 1 if eui_kwh_m2yr &lt;= 27.0, else 0. A design either meets this code threshold or it does not -- no partial credit, which is what makes this a CLASSIFICATION problem instead of Week 13's regression.</a:t>
            </a:r>
          </a:p>
        </p:txBody>
      </p:sp>
      <p:sp>
        <p:nvSpPr>
          <p:cNvPr id="10" name="example-panel">
            <a:extLst xmlns:a="http://schemas.openxmlformats.org/drawingml/2006/main">
              <a:ext uri="{FF2B5EF4-FFF2-40B4-BE49-F238E27FC236}">
                <a16:creationId xmlns:a16="http://schemas.microsoft.com/office/drawing/2014/main" id="{9C8BE055-BFC1-4086-B09B-6A9FB72B788B}"/>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EB6CE944-3BF3-4BA8-BE97-8BE6CC6EEEA3}"/>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CLASS BALANCE</a:t>
            </a:r>
          </a:p>
        </p:txBody>
      </p:sp>
      <p:sp>
        <p:nvSpPr>
          <p:cNvPr id="12" name="example-head">
            <a:extLst xmlns:a="http://schemas.openxmlformats.org/drawingml/2006/main">
              <a:ext uri="{FF2B5EF4-FFF2-40B4-BE49-F238E27FC236}">
                <a16:creationId xmlns:a16="http://schemas.microsoft.com/office/drawing/2014/main" id="{763555CF-E139-45F5-91AB-255A7B225AA0}"/>
              </a:ext>
            </a:extLst>
          </p:cNvPr>
          <p:cNvSpPr>
            <a:spLocks xmlns:a="http://schemas.openxmlformats.org/drawingml/2006/main" noGrp="1"/>
          </p:cNvSpPr>
          <p:nvPr/>
        </p:nvSpPr>
        <p:spPr>
          <a:xfrm xmlns:a="http://schemas.openxmlformats.org/drawingml/2006/main">
            <a:off x="6972300" y="2286000"/>
            <a:ext cx="438150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Class balance: realistic, not degenerate</a:t>
            </a:r>
          </a:p>
        </p:txBody>
      </p:sp>
      <p:sp>
        <p:nvSpPr>
          <p:cNvPr id="13" name="example-body">
            <a:extLst xmlns:a="http://schemas.openxmlformats.org/drawingml/2006/main">
              <a:ext uri="{FF2B5EF4-FFF2-40B4-BE49-F238E27FC236}">
                <a16:creationId xmlns:a16="http://schemas.microsoft.com/office/drawing/2014/main" id="{EF93962A-B7FF-4245-AB91-BC6D176AB23D}"/>
              </a:ext>
            </a:extLst>
          </p:cNvPr>
          <p:cNvSpPr>
            <a:spLocks xmlns:a="http://schemas.openxmlformats.org/drawingml/2006/main" noGrp="1"/>
          </p:cNvSpPr>
          <p:nvPr/>
        </p:nvSpPr>
        <p:spPr>
          <a:xfrm xmlns:a="http://schemas.openxmlformats.org/drawingml/2006/main">
            <a:off x="6972300" y="2951226"/>
            <a:ext cx="4381500" cy="19827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Full n=140: 92 designs do NOT meet code, 48 do (34.3%). 'Always guess no' would already be right 65.7% of the time -- imbalanced enough to be realistic, but not so extreme the confusion matrix below becomes meaningless.</a:t>
            </a:r>
          </a:p>
        </p:txBody>
      </p:sp>
      <p:sp>
        <p:nvSpPr>
          <p:cNvPr id="14" name="note-bar">
            <a:extLst xmlns:a="http://schemas.openxmlformats.org/drawingml/2006/main">
              <a:ext uri="{FF2B5EF4-FFF2-40B4-BE49-F238E27FC236}">
                <a16:creationId xmlns:a16="http://schemas.microsoft.com/office/drawing/2014/main" id="{7182E2E9-3C13-4F3F-86DA-CE8DBBA6A6CD}"/>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5F7E3A3E-353C-4DFD-BE32-0D172314279F}"/>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3E83AFD7-BE5C-4A01-B96A-64DE9890FE4C}"/>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meets_code is not a new dataset to explore -- it's a label DERIVED from eui_kwh_m2yr. Track B still predicts eui_kwh_m2yr directly; Track A predicts this yes/no label instead.</a:t>
            </a:r>
          </a:p>
        </p:txBody>
      </p:sp>
    </p:spTree>
    <p:extLst>
      <p:ext uri="{BB962C8B-B14F-4D97-AF65-F5344CB8AC3E}">
        <p14:creationId xmlns:p14="http://schemas.microsoft.com/office/powerpoint/2010/main" val="15780493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kicker">
            <a:extLst xmlns:a="http://schemas.openxmlformats.org/drawingml/2006/main">
              <a:ext uri="{FF2B5EF4-FFF2-40B4-BE49-F238E27FC236}">
                <a16:creationId xmlns:a16="http://schemas.microsoft.com/office/drawing/2014/main" id="{F13C2768-FC14-42C1-BA62-2EE214AC4C3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ANATOMY -- TRACK A</a:t>
            </a:r>
          </a:p>
        </p:txBody>
      </p:sp>
      <p:sp>
        <p:nvSpPr>
          <p:cNvPr id="2" name="title">
            <a:extLst xmlns:a="http://schemas.openxmlformats.org/drawingml/2006/main">
              <a:ext uri="{FF2B5EF4-FFF2-40B4-BE49-F238E27FC236}">
                <a16:creationId xmlns:a16="http://schemas.microsoft.com/office/drawing/2014/main" id="{97487CAC-A760-4500-8858-323F1677EB0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Anatomy: the stratified split call</a:t>
            </a:r>
          </a:p>
        </p:txBody>
      </p:sp>
      <p:sp>
        <p:nvSpPr>
          <p:cNvPr id="3" name="">
            <a:extLst xmlns:a="http://schemas.openxmlformats.org/drawingml/2006/main">
              <a:ext uri="{FF2B5EF4-FFF2-40B4-BE49-F238E27FC236}">
                <a16:creationId xmlns:a16="http://schemas.microsoft.com/office/drawing/2014/main" id="{607AC8DF-04FC-4765-9C8D-A049D7A976A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640056C-3B99-4CA6-871E-B0C7B891AFE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1A1A1BBA-F283-4F4D-B7B0-127894D0AFD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09</a:t>
            </a:r>
          </a:p>
        </p:txBody>
      </p:sp>
      <p:sp>
        <p:nvSpPr>
          <p:cNvPr id="6" name="anatomy-code-panel">
            <a:extLst xmlns:a="http://schemas.openxmlformats.org/drawingml/2006/main">
              <a:ext uri="{FF2B5EF4-FFF2-40B4-BE49-F238E27FC236}">
                <a16:creationId xmlns:a16="http://schemas.microsoft.com/office/drawing/2014/main" id="{788132B6-EDFA-4609-A5A3-8413D494A7A1}"/>
              </a:ext>
            </a:extLst>
          </p:cNvPr>
          <p:cNvSpPr>
            <a:spLocks xmlns:a="http://schemas.openxmlformats.org/drawingml/2006/main" noGrp="1"/>
          </p:cNvSpPr>
          <p:nvPr/>
        </p:nvSpPr>
        <p:spPr>
          <a:xfrm xmlns:a="http://schemas.openxmlformats.org/drawingml/2006/main">
            <a:off x="609600" y="1733550"/>
            <a:ext cx="10972800" cy="876300"/>
          </a:xfrm>
          <a:prstGeom xmlns:a="http://schemas.openxmlformats.org/drawingml/2006/main" prst="roundRect">
            <a:avLst>
              <a:gd name="adj" fmla="val 8696"/>
            </a:avLst>
          </a:prstGeom>
          <a:solidFill xmlns:a="http://schemas.openxmlformats.org/drawingml/2006/main">
            <a:srgbClr val="17191C"/>
          </a:solidFill>
          <a:ln xmlns:a="http://schemas.openxmlformats.org/drawingml/2006/main" w="9525">
            <a:solidFill>
              <a:srgbClr val="17191C"/>
            </a:solidFill>
            <a:prstDash val="solid"/>
          </a:ln>
        </p:spPr>
      </p:sp>
      <p:sp>
        <p:nvSpPr>
          <p:cNvPr id="7" name="anatomy-code">
            <a:extLst xmlns:a="http://schemas.openxmlformats.org/drawingml/2006/main">
              <a:ext uri="{FF2B5EF4-FFF2-40B4-BE49-F238E27FC236}">
                <a16:creationId xmlns:a16="http://schemas.microsoft.com/office/drawing/2014/main" id="{4E1856D2-5EB9-4FEA-B2E5-FC9AD6AA6BF6}"/>
              </a:ext>
            </a:extLst>
          </p:cNvPr>
          <p:cNvSpPr>
            <a:spLocks xmlns:a="http://schemas.openxmlformats.org/drawingml/2006/main" noGrp="1"/>
          </p:cNvSpPr>
          <p:nvPr/>
        </p:nvSpPr>
        <p:spPr>
          <a:xfrm xmlns:a="http://schemas.openxmlformats.org/drawingml/2006/main">
            <a:off x="609600" y="2057400"/>
            <a:ext cx="162020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development, test = train_test_split(..., test_size=0.20, stratify=y)</a:t>
            </a:r>
          </a:p>
          <a:p xmlns:a="http://schemas.openxmlformats.org/drawingml/2006/main">
            <a:pPr algn="l">
              <a:lnSpc>
                <a:spcPct val="102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train, validation = train_test_split(development, test_size=0.25, stratify=y_dev)</a:t>
            </a:r>
          </a:p>
        </p:txBody>
      </p:sp>
      <p:sp>
        <p:nvSpPr>
          <p:cNvPr id="8" name="">
            <a:extLst xmlns:a="http://schemas.openxmlformats.org/drawingml/2006/main">
              <a:ext uri="{FF2B5EF4-FFF2-40B4-BE49-F238E27FC236}">
                <a16:creationId xmlns:a16="http://schemas.microsoft.com/office/drawing/2014/main" id="{096A084C-91BE-4D73-AF9E-8BBC85BB6BDE}"/>
              </a:ext>
            </a:extLst>
          </p:cNvPr>
          <p:cNvSpPr>
            <a:spLocks xmlns:a="http://schemas.openxmlformats.org/drawingml/2006/main" noGrp="1"/>
          </p:cNvSpPr>
          <p:nvPr/>
        </p:nvSpPr>
        <p:spPr>
          <a:xfrm xmlns:a="http://schemas.openxmlformats.org/drawingml/2006/main">
            <a:off x="609600" y="2647950"/>
            <a:ext cx="1781175"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9" name="part-chip-0">
            <a:extLst xmlns:a="http://schemas.openxmlformats.org/drawingml/2006/main">
              <a:ext uri="{FF2B5EF4-FFF2-40B4-BE49-F238E27FC236}">
                <a16:creationId xmlns:a16="http://schemas.microsoft.com/office/drawing/2014/main" id="{EAEAD040-DF5D-4938-8BF8-A53F6EDAC8C3}"/>
              </a:ext>
            </a:extLst>
          </p:cNvPr>
          <p:cNvSpPr>
            <a:spLocks xmlns:a="http://schemas.openxmlformats.org/drawingml/2006/main" noGrp="1"/>
          </p:cNvSpPr>
          <p:nvPr/>
        </p:nvSpPr>
        <p:spPr>
          <a:xfrm xmlns:a="http://schemas.openxmlformats.org/drawingml/2006/main">
            <a:off x="1376363"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0" name="part-chipno-0">
            <a:extLst xmlns:a="http://schemas.openxmlformats.org/drawingml/2006/main">
              <a:ext uri="{FF2B5EF4-FFF2-40B4-BE49-F238E27FC236}">
                <a16:creationId xmlns:a16="http://schemas.microsoft.com/office/drawing/2014/main" id="{05B656AA-0006-444D-9BA5-1D24026114D5}"/>
              </a:ext>
            </a:extLst>
          </p:cNvPr>
          <p:cNvSpPr>
            <a:spLocks xmlns:a="http://schemas.openxmlformats.org/drawingml/2006/main" noGrp="1"/>
          </p:cNvSpPr>
          <p:nvPr/>
        </p:nvSpPr>
        <p:spPr>
          <a:xfrm xmlns:a="http://schemas.openxmlformats.org/drawingml/2006/main">
            <a:off x="1376363"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1" name="part-lchip-0">
            <a:extLst xmlns:a="http://schemas.openxmlformats.org/drawingml/2006/main">
              <a:ext uri="{FF2B5EF4-FFF2-40B4-BE49-F238E27FC236}">
                <a16:creationId xmlns:a16="http://schemas.microsoft.com/office/drawing/2014/main" id="{D5FB99B0-1689-4176-9EF0-8448C9097680}"/>
              </a:ext>
            </a:extLst>
          </p:cNvPr>
          <p:cNvSpPr>
            <a:spLocks xmlns:a="http://schemas.openxmlformats.org/drawingml/2006/main" noGrp="1"/>
          </p:cNvSpPr>
          <p:nvPr/>
        </p:nvSpPr>
        <p:spPr>
          <a:xfrm xmlns:a="http://schemas.openxmlformats.org/drawingml/2006/main">
            <a:off x="609600"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2" name="part-lchipno-0">
            <a:extLst xmlns:a="http://schemas.openxmlformats.org/drawingml/2006/main">
              <a:ext uri="{FF2B5EF4-FFF2-40B4-BE49-F238E27FC236}">
                <a16:creationId xmlns:a16="http://schemas.microsoft.com/office/drawing/2014/main" id="{747A6ADE-378F-4AAC-9798-D1EC83C8825C}"/>
              </a:ext>
            </a:extLst>
          </p:cNvPr>
          <p:cNvSpPr>
            <a:spLocks xmlns:a="http://schemas.openxmlformats.org/drawingml/2006/main" noGrp="1"/>
          </p:cNvSpPr>
          <p:nvPr/>
        </p:nvSpPr>
        <p:spPr>
          <a:xfrm xmlns:a="http://schemas.openxmlformats.org/drawingml/2006/main">
            <a:off x="609600"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3" name="part-head-0">
            <a:extLst xmlns:a="http://schemas.openxmlformats.org/drawingml/2006/main">
              <a:ext uri="{FF2B5EF4-FFF2-40B4-BE49-F238E27FC236}">
                <a16:creationId xmlns:a16="http://schemas.microsoft.com/office/drawing/2014/main" id="{D216496A-5D46-4DD4-83FD-8D8217E8D3CB}"/>
              </a:ext>
            </a:extLst>
          </p:cNvPr>
          <p:cNvSpPr>
            <a:spLocks xmlns:a="http://schemas.openxmlformats.org/drawingml/2006/main" noGrp="1"/>
          </p:cNvSpPr>
          <p:nvPr/>
        </p:nvSpPr>
        <p:spPr>
          <a:xfrm xmlns:a="http://schemas.openxmlformats.org/drawingml/2006/main">
            <a:off x="914400" y="3009900"/>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Reserve final test</a:t>
            </a:r>
          </a:p>
        </p:txBody>
      </p:sp>
      <p:sp>
        <p:nvSpPr>
          <p:cNvPr id="14" name="part-body-0">
            <a:extLst xmlns:a="http://schemas.openxmlformats.org/drawingml/2006/main">
              <a:ext uri="{FF2B5EF4-FFF2-40B4-BE49-F238E27FC236}">
                <a16:creationId xmlns:a16="http://schemas.microsoft.com/office/drawing/2014/main" id="{C2F0E546-B2C2-45BC-9F2E-C5207852C946}"/>
              </a:ext>
            </a:extLst>
          </p:cNvPr>
          <p:cNvSpPr>
            <a:spLocks xmlns:a="http://schemas.openxmlformats.org/drawingml/2006/main" noGrp="1"/>
          </p:cNvSpPr>
          <p:nvPr/>
        </p:nvSpPr>
        <p:spPr>
          <a:xfrm xmlns:a="http://schemas.openxmlformats.org/drawingml/2006/main">
            <a:off x="609600" y="3637026"/>
            <a:ext cx="200025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28 rows remain untouched until the model and threshold are frozen.</a:t>
            </a:r>
          </a:p>
        </p:txBody>
      </p:sp>
      <p:sp>
        <p:nvSpPr>
          <p:cNvPr id="15" name="">
            <a:extLst xmlns:a="http://schemas.openxmlformats.org/drawingml/2006/main">
              <a:ext uri="{FF2B5EF4-FFF2-40B4-BE49-F238E27FC236}">
                <a16:creationId xmlns:a16="http://schemas.microsoft.com/office/drawing/2014/main" id="{651421FC-08C0-42C0-B8AA-EC49F69927AE}"/>
              </a:ext>
            </a:extLst>
          </p:cNvPr>
          <p:cNvSpPr>
            <a:spLocks xmlns:a="http://schemas.openxmlformats.org/drawingml/2006/main" noGrp="1"/>
          </p:cNvSpPr>
          <p:nvPr/>
        </p:nvSpPr>
        <p:spPr>
          <a:xfrm xmlns:a="http://schemas.openxmlformats.org/drawingml/2006/main">
            <a:off x="5010150" y="2647950"/>
            <a:ext cx="14668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6" name="part-chip-1">
            <a:extLst xmlns:a="http://schemas.openxmlformats.org/drawingml/2006/main">
              <a:ext uri="{FF2B5EF4-FFF2-40B4-BE49-F238E27FC236}">
                <a16:creationId xmlns:a16="http://schemas.microsoft.com/office/drawing/2014/main" id="{C03D5CFD-1252-4E8B-B6E3-03028BCD7525}"/>
              </a:ext>
            </a:extLst>
          </p:cNvPr>
          <p:cNvSpPr>
            <a:spLocks xmlns:a="http://schemas.openxmlformats.org/drawingml/2006/main" noGrp="1"/>
          </p:cNvSpPr>
          <p:nvPr/>
        </p:nvSpPr>
        <p:spPr>
          <a:xfrm xmlns:a="http://schemas.openxmlformats.org/drawingml/2006/main">
            <a:off x="561975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7" name="part-chipno-1">
            <a:extLst xmlns:a="http://schemas.openxmlformats.org/drawingml/2006/main">
              <a:ext uri="{FF2B5EF4-FFF2-40B4-BE49-F238E27FC236}">
                <a16:creationId xmlns:a16="http://schemas.microsoft.com/office/drawing/2014/main" id="{90C0A7BE-9D09-4A0D-895F-12BE0250BB51}"/>
              </a:ext>
            </a:extLst>
          </p:cNvPr>
          <p:cNvSpPr>
            <a:spLocks xmlns:a="http://schemas.openxmlformats.org/drawingml/2006/main" noGrp="1"/>
          </p:cNvSpPr>
          <p:nvPr/>
        </p:nvSpPr>
        <p:spPr>
          <a:xfrm xmlns:a="http://schemas.openxmlformats.org/drawingml/2006/main">
            <a:off x="561975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18" name="part-lchip-1">
            <a:extLst xmlns:a="http://schemas.openxmlformats.org/drawingml/2006/main">
              <a:ext uri="{FF2B5EF4-FFF2-40B4-BE49-F238E27FC236}">
                <a16:creationId xmlns:a16="http://schemas.microsoft.com/office/drawing/2014/main" id="{155B3031-B089-426D-88D7-DC0DF613157D}"/>
              </a:ext>
            </a:extLst>
          </p:cNvPr>
          <p:cNvSpPr>
            <a:spLocks xmlns:a="http://schemas.openxmlformats.org/drawingml/2006/main" noGrp="1"/>
          </p:cNvSpPr>
          <p:nvPr/>
        </p:nvSpPr>
        <p:spPr>
          <a:xfrm xmlns:a="http://schemas.openxmlformats.org/drawingml/2006/main">
            <a:off x="4743450"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9" name="part-lchipno-1">
            <a:extLst xmlns:a="http://schemas.openxmlformats.org/drawingml/2006/main">
              <a:ext uri="{FF2B5EF4-FFF2-40B4-BE49-F238E27FC236}">
                <a16:creationId xmlns:a16="http://schemas.microsoft.com/office/drawing/2014/main" id="{4544A226-099C-4DAD-83A0-72A563AC821D}"/>
              </a:ext>
            </a:extLst>
          </p:cNvPr>
          <p:cNvSpPr>
            <a:spLocks xmlns:a="http://schemas.openxmlformats.org/drawingml/2006/main" noGrp="1"/>
          </p:cNvSpPr>
          <p:nvPr/>
        </p:nvSpPr>
        <p:spPr>
          <a:xfrm xmlns:a="http://schemas.openxmlformats.org/drawingml/2006/main">
            <a:off x="4743450"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20" name="part-head-1">
            <a:extLst xmlns:a="http://schemas.openxmlformats.org/drawingml/2006/main">
              <a:ext uri="{FF2B5EF4-FFF2-40B4-BE49-F238E27FC236}">
                <a16:creationId xmlns:a16="http://schemas.microsoft.com/office/drawing/2014/main" id="{B213A90A-E811-488A-8B05-7E2E3C6F49AB}"/>
              </a:ext>
            </a:extLst>
          </p:cNvPr>
          <p:cNvSpPr>
            <a:spLocks xmlns:a="http://schemas.openxmlformats.org/drawingml/2006/main" noGrp="1"/>
          </p:cNvSpPr>
          <p:nvPr/>
        </p:nvSpPr>
        <p:spPr>
          <a:xfrm xmlns:a="http://schemas.openxmlformats.org/drawingml/2006/main">
            <a:off x="5048250" y="3009900"/>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20% final test</a:t>
            </a:r>
          </a:p>
        </p:txBody>
      </p:sp>
      <p:sp>
        <p:nvSpPr>
          <p:cNvPr id="21" name="part-body-1">
            <a:extLst xmlns:a="http://schemas.openxmlformats.org/drawingml/2006/main">
              <a:ext uri="{FF2B5EF4-FFF2-40B4-BE49-F238E27FC236}">
                <a16:creationId xmlns:a16="http://schemas.microsoft.com/office/drawing/2014/main" id="{3DB1B397-05DE-4C6E-88CA-9E530CB15EAA}"/>
              </a:ext>
            </a:extLst>
          </p:cNvPr>
          <p:cNvSpPr>
            <a:spLocks xmlns:a="http://schemas.openxmlformats.org/drawingml/2006/main" noGrp="1"/>
          </p:cNvSpPr>
          <p:nvPr/>
        </p:nvSpPr>
        <p:spPr>
          <a:xfrm xmlns:a="http://schemas.openxmlformats.org/drawingml/2006/main">
            <a:off x="4743450" y="3637026"/>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112 development rows and 28 final-test rows.</a:t>
            </a:r>
          </a:p>
        </p:txBody>
      </p:sp>
      <p:sp>
        <p:nvSpPr>
          <p:cNvPr id="22" name="">
            <a:extLst xmlns:a="http://schemas.openxmlformats.org/drawingml/2006/main">
              <a:ext uri="{FF2B5EF4-FFF2-40B4-BE49-F238E27FC236}">
                <a16:creationId xmlns:a16="http://schemas.microsoft.com/office/drawing/2014/main" id="{D4A44D87-3E90-4481-B63B-A4E0CFD3004D}"/>
              </a:ext>
            </a:extLst>
          </p:cNvPr>
          <p:cNvSpPr>
            <a:spLocks xmlns:a="http://schemas.openxmlformats.org/drawingml/2006/main" noGrp="1"/>
          </p:cNvSpPr>
          <p:nvPr/>
        </p:nvSpPr>
        <p:spPr>
          <a:xfrm xmlns:a="http://schemas.openxmlformats.org/drawingml/2006/main">
            <a:off x="6686550" y="2647950"/>
            <a:ext cx="8382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23" name="part-chip-3">
            <a:extLst xmlns:a="http://schemas.openxmlformats.org/drawingml/2006/main">
              <a:ext uri="{FF2B5EF4-FFF2-40B4-BE49-F238E27FC236}">
                <a16:creationId xmlns:a16="http://schemas.microsoft.com/office/drawing/2014/main" id="{9E564E04-5F70-46F0-A334-7E3589815D96}"/>
              </a:ext>
            </a:extLst>
          </p:cNvPr>
          <p:cNvSpPr>
            <a:spLocks xmlns:a="http://schemas.openxmlformats.org/drawingml/2006/main" noGrp="1"/>
          </p:cNvSpPr>
          <p:nvPr/>
        </p:nvSpPr>
        <p:spPr>
          <a:xfrm xmlns:a="http://schemas.openxmlformats.org/drawingml/2006/main">
            <a:off x="698182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4" name="part-chipno-3">
            <a:extLst xmlns:a="http://schemas.openxmlformats.org/drawingml/2006/main">
              <a:ext uri="{FF2B5EF4-FFF2-40B4-BE49-F238E27FC236}">
                <a16:creationId xmlns:a16="http://schemas.microsoft.com/office/drawing/2014/main" id="{55E53BAF-AFA1-4ADF-A375-BA7C08B640D9}"/>
              </a:ext>
            </a:extLst>
          </p:cNvPr>
          <p:cNvSpPr>
            <a:spLocks xmlns:a="http://schemas.openxmlformats.org/drawingml/2006/main" noGrp="1"/>
          </p:cNvSpPr>
          <p:nvPr/>
        </p:nvSpPr>
        <p:spPr>
          <a:xfrm xmlns:a="http://schemas.openxmlformats.org/drawingml/2006/main">
            <a:off x="698182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5" name="part-lchip-3">
            <a:extLst xmlns:a="http://schemas.openxmlformats.org/drawingml/2006/main">
              <a:ext uri="{FF2B5EF4-FFF2-40B4-BE49-F238E27FC236}">
                <a16:creationId xmlns:a16="http://schemas.microsoft.com/office/drawing/2014/main" id="{2011F640-1652-4900-A9BC-AE413DBFB9EA}"/>
              </a:ext>
            </a:extLst>
          </p:cNvPr>
          <p:cNvSpPr>
            <a:spLocks xmlns:a="http://schemas.openxmlformats.org/drawingml/2006/main" noGrp="1"/>
          </p:cNvSpPr>
          <p:nvPr/>
        </p:nvSpPr>
        <p:spPr>
          <a:xfrm xmlns:a="http://schemas.openxmlformats.org/drawingml/2006/main">
            <a:off x="5867400" y="4319778"/>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6" name="part-lchipno-3">
            <a:extLst xmlns:a="http://schemas.openxmlformats.org/drawingml/2006/main">
              <a:ext uri="{FF2B5EF4-FFF2-40B4-BE49-F238E27FC236}">
                <a16:creationId xmlns:a16="http://schemas.microsoft.com/office/drawing/2014/main" id="{26D5FE71-345C-480F-A3D9-C2DD3AC41425}"/>
              </a:ext>
            </a:extLst>
          </p:cNvPr>
          <p:cNvSpPr>
            <a:spLocks xmlns:a="http://schemas.openxmlformats.org/drawingml/2006/main" noGrp="1"/>
          </p:cNvSpPr>
          <p:nvPr/>
        </p:nvSpPr>
        <p:spPr>
          <a:xfrm xmlns:a="http://schemas.openxmlformats.org/drawingml/2006/main">
            <a:off x="5867400" y="4357878"/>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7" name="part-head-3">
            <a:extLst xmlns:a="http://schemas.openxmlformats.org/drawingml/2006/main">
              <a:ext uri="{FF2B5EF4-FFF2-40B4-BE49-F238E27FC236}">
                <a16:creationId xmlns:a16="http://schemas.microsoft.com/office/drawing/2014/main" id="{AAD321EF-11E0-49B2-8AB2-17510F1554E4}"/>
              </a:ext>
            </a:extLst>
          </p:cNvPr>
          <p:cNvSpPr>
            <a:spLocks xmlns:a="http://schemas.openxmlformats.org/drawingml/2006/main" noGrp="1"/>
          </p:cNvSpPr>
          <p:nvPr/>
        </p:nvSpPr>
        <p:spPr>
          <a:xfrm xmlns:a="http://schemas.openxmlformats.org/drawingml/2006/main">
            <a:off x="6172200" y="4300728"/>
            <a:ext cx="217170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Preserve class balance</a:t>
            </a:r>
          </a:p>
        </p:txBody>
      </p:sp>
      <p:sp>
        <p:nvSpPr>
          <p:cNvPr id="28" name="part-body-3">
            <a:extLst xmlns:a="http://schemas.openxmlformats.org/drawingml/2006/main">
              <a:ext uri="{FF2B5EF4-FFF2-40B4-BE49-F238E27FC236}">
                <a16:creationId xmlns:a16="http://schemas.microsoft.com/office/drawing/2014/main" id="{70F808FE-170B-4D15-91AE-820A36DB2B1A}"/>
              </a:ext>
            </a:extLst>
          </p:cNvPr>
          <p:cNvSpPr>
            <a:spLocks xmlns:a="http://schemas.openxmlformats.org/drawingml/2006/main" noGrp="1"/>
          </p:cNvSpPr>
          <p:nvPr/>
        </p:nvSpPr>
        <p:spPr>
          <a:xfrm xmlns:a="http://schemas.openxmlformats.org/drawingml/2006/main">
            <a:off x="5867400" y="4927854"/>
            <a:ext cx="247650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Use stratification for both classification splits.</a:t>
            </a:r>
          </a:p>
        </p:txBody>
      </p:sp>
      <p:sp>
        <p:nvSpPr>
          <p:cNvPr id="29" name="">
            <a:extLst xmlns:a="http://schemas.openxmlformats.org/drawingml/2006/main">
              <a:ext uri="{FF2B5EF4-FFF2-40B4-BE49-F238E27FC236}">
                <a16:creationId xmlns:a16="http://schemas.microsoft.com/office/drawing/2014/main" id="{210058BD-F186-4D07-86C6-FEBF818B60DF}"/>
              </a:ext>
            </a:extLst>
          </p:cNvPr>
          <p:cNvSpPr>
            <a:spLocks xmlns:a="http://schemas.openxmlformats.org/drawingml/2006/main" noGrp="1"/>
          </p:cNvSpPr>
          <p:nvPr/>
        </p:nvSpPr>
        <p:spPr>
          <a:xfrm xmlns:a="http://schemas.openxmlformats.org/drawingml/2006/main">
            <a:off x="7943850" y="2647950"/>
            <a:ext cx="1781175"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30" name="part-chip-2">
            <a:extLst xmlns:a="http://schemas.openxmlformats.org/drawingml/2006/main">
              <a:ext uri="{FF2B5EF4-FFF2-40B4-BE49-F238E27FC236}">
                <a16:creationId xmlns:a16="http://schemas.microsoft.com/office/drawing/2014/main" id="{4FA49C13-CE0D-4905-A016-0C4E61E2F34B}"/>
              </a:ext>
            </a:extLst>
          </p:cNvPr>
          <p:cNvSpPr>
            <a:spLocks xmlns:a="http://schemas.openxmlformats.org/drawingml/2006/main" noGrp="1"/>
          </p:cNvSpPr>
          <p:nvPr/>
        </p:nvSpPr>
        <p:spPr>
          <a:xfrm xmlns:a="http://schemas.openxmlformats.org/drawingml/2006/main">
            <a:off x="8710613"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1" name="part-chipno-2">
            <a:extLst xmlns:a="http://schemas.openxmlformats.org/drawingml/2006/main">
              <a:ext uri="{FF2B5EF4-FFF2-40B4-BE49-F238E27FC236}">
                <a16:creationId xmlns:a16="http://schemas.microsoft.com/office/drawing/2014/main" id="{F92E2BF2-4120-4BDF-AB5D-DF937B7167ED}"/>
              </a:ext>
            </a:extLst>
          </p:cNvPr>
          <p:cNvSpPr>
            <a:spLocks xmlns:a="http://schemas.openxmlformats.org/drawingml/2006/main" noGrp="1"/>
          </p:cNvSpPr>
          <p:nvPr/>
        </p:nvSpPr>
        <p:spPr>
          <a:xfrm xmlns:a="http://schemas.openxmlformats.org/drawingml/2006/main">
            <a:off x="8710613"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2" name="part-lchip-2">
            <a:extLst xmlns:a="http://schemas.openxmlformats.org/drawingml/2006/main">
              <a:ext uri="{FF2B5EF4-FFF2-40B4-BE49-F238E27FC236}">
                <a16:creationId xmlns:a16="http://schemas.microsoft.com/office/drawing/2014/main" id="{B532662D-79DB-4E83-B58F-7D862990B17D}"/>
              </a:ext>
            </a:extLst>
          </p:cNvPr>
          <p:cNvSpPr>
            <a:spLocks xmlns:a="http://schemas.openxmlformats.org/drawingml/2006/main" noGrp="1"/>
          </p:cNvSpPr>
          <p:nvPr/>
        </p:nvSpPr>
        <p:spPr>
          <a:xfrm xmlns:a="http://schemas.openxmlformats.org/drawingml/2006/main">
            <a:off x="7834313"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3" name="part-lchipno-2">
            <a:extLst xmlns:a="http://schemas.openxmlformats.org/drawingml/2006/main">
              <a:ext uri="{FF2B5EF4-FFF2-40B4-BE49-F238E27FC236}">
                <a16:creationId xmlns:a16="http://schemas.microsoft.com/office/drawing/2014/main" id="{EBFDAE31-DB56-4C7A-A00A-6641ED26C840}"/>
              </a:ext>
            </a:extLst>
          </p:cNvPr>
          <p:cNvSpPr>
            <a:spLocks xmlns:a="http://schemas.openxmlformats.org/drawingml/2006/main" noGrp="1"/>
          </p:cNvSpPr>
          <p:nvPr/>
        </p:nvSpPr>
        <p:spPr>
          <a:xfrm xmlns:a="http://schemas.openxmlformats.org/drawingml/2006/main">
            <a:off x="7834313"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4" name="part-head-2">
            <a:extLst xmlns:a="http://schemas.openxmlformats.org/drawingml/2006/main">
              <a:ext uri="{FF2B5EF4-FFF2-40B4-BE49-F238E27FC236}">
                <a16:creationId xmlns:a16="http://schemas.microsoft.com/office/drawing/2014/main" id="{318C0601-7036-423E-BBFA-D849FCA54095}"/>
              </a:ext>
            </a:extLst>
          </p:cNvPr>
          <p:cNvSpPr>
            <a:spLocks xmlns:a="http://schemas.openxmlformats.org/drawingml/2006/main" noGrp="1"/>
          </p:cNvSpPr>
          <p:nvPr/>
        </p:nvSpPr>
        <p:spPr>
          <a:xfrm xmlns:a="http://schemas.openxmlformats.org/drawingml/2006/main">
            <a:off x="8139113" y="3009900"/>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Split development</a:t>
            </a:r>
          </a:p>
        </p:txBody>
      </p:sp>
      <p:sp>
        <p:nvSpPr>
          <p:cNvPr id="35" name="part-body-2">
            <a:extLst xmlns:a="http://schemas.openxmlformats.org/drawingml/2006/main">
              <a:ext uri="{FF2B5EF4-FFF2-40B4-BE49-F238E27FC236}">
                <a16:creationId xmlns:a16="http://schemas.microsoft.com/office/drawing/2014/main" id="{B0F94C48-E186-48E3-BFEF-76D0F3CFD5F8}"/>
              </a:ext>
            </a:extLst>
          </p:cNvPr>
          <p:cNvSpPr>
            <a:spLocks xmlns:a="http://schemas.openxmlformats.org/drawingml/2006/main" noGrp="1"/>
          </p:cNvSpPr>
          <p:nvPr/>
        </p:nvSpPr>
        <p:spPr>
          <a:xfrm xmlns:a="http://schemas.openxmlformats.org/drawingml/2006/main">
            <a:off x="7834313" y="3637026"/>
            <a:ext cx="200025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84 train rows learn coefficients; 28 validation rows select the policy.</a:t>
            </a:r>
          </a:p>
        </p:txBody>
      </p:sp>
    </p:spTree>
    <p:extLst>
      <p:ext uri="{BB962C8B-B14F-4D97-AF65-F5344CB8AC3E}">
        <p14:creationId xmlns:p14="http://schemas.microsoft.com/office/powerpoint/2010/main" val="12609036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92D2C6EA-4DE9-4CF4-BAA4-F21F2D6B523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37EF8D4F-68CF-4CB3-BD4E-E34E938720D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[A1] Fit LogisticRegression on meets_code</a:t>
            </a:r>
          </a:p>
        </p:txBody>
      </p:sp>
      <p:sp>
        <p:nvSpPr>
          <p:cNvPr id="3" name="">
            <a:extLst xmlns:a="http://schemas.openxmlformats.org/drawingml/2006/main">
              <a:ext uri="{FF2B5EF4-FFF2-40B4-BE49-F238E27FC236}">
                <a16:creationId xmlns:a16="http://schemas.microsoft.com/office/drawing/2014/main" id="{ACF59077-29B7-4D59-AAD4-C76EF6733B1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E2F5C7F-9BC9-43E0-811B-EAB6CF3D943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0F9A756A-5D90-41E9-A62A-81596293B1C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10</a:t>
            </a:r>
          </a:p>
        </p:txBody>
      </p:sp>
      <p:sp>
        <p:nvSpPr>
          <p:cNvPr id="6" name="code-panel">
            <a:extLst xmlns:a="http://schemas.openxmlformats.org/drawingml/2006/main">
              <a:ext uri="{FF2B5EF4-FFF2-40B4-BE49-F238E27FC236}">
                <a16:creationId xmlns:a16="http://schemas.microsoft.com/office/drawing/2014/main" id="{5B4991DB-ED85-4AA2-9758-584B67C0DD9D}"/>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58C7A0E8-BD8E-4B36-BEF6-69AE5310CDC1}"/>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Xc_dev, Xc_test, yc_dev, yc_test = train_test_split(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Xc, yc, test_size=0.20, random_state=42, stratify=yc)</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Xc_train, Xc_val, yc_train, yc_val = train_test_split(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Xc_dev, yc_dev, test_size=0.25, random_state=42, stratify=yc_dev)</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clf = LogisticRegression().fit(Xc_train, yc_train)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print(len(Xc_train), len(Xc_val), len(Xc_test))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print(clf.coef_.round(4))</a:t>
            </a:r>
          </a:p>
        </p:txBody>
      </p:sp>
      <p:sp>
        <p:nvSpPr>
          <p:cNvPr id="8" name="">
            <a:extLst xmlns:a="http://schemas.openxmlformats.org/drawingml/2006/main">
              <a:ext uri="{FF2B5EF4-FFF2-40B4-BE49-F238E27FC236}">
                <a16:creationId xmlns:a16="http://schemas.microsoft.com/office/drawing/2014/main" id="{FBAB76BE-708D-4E6A-84AB-173EB4E0C09D}"/>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D38384E7-3627-4607-9B8D-0C29850B8ED5}"/>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85985EC5-6B0F-4325-8EC3-D84CB1E2743E}"/>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84 28 28</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[[-1.4322  1.6772 -0.1674 -0.6965]]</a:t>
            </a:r>
          </a:p>
        </p:txBody>
      </p:sp>
      <p:sp>
        <p:nvSpPr>
          <p:cNvPr id="11" name="explain-head">
            <a:extLst xmlns:a="http://schemas.openxmlformats.org/drawingml/2006/main">
              <a:ext uri="{FF2B5EF4-FFF2-40B4-BE49-F238E27FC236}">
                <a16:creationId xmlns:a16="http://schemas.microsoft.com/office/drawing/2014/main" id="{85F7609F-E713-431D-B334-673064BEA196}"/>
              </a:ext>
            </a:extLst>
          </p:cNvPr>
          <p:cNvSpPr>
            <a:spLocks xmlns:a="http://schemas.openxmlformats.org/drawingml/2006/main" noGrp="1"/>
          </p:cNvSpPr>
          <p:nvPr/>
        </p:nvSpPr>
        <p:spPr>
          <a:xfrm xmlns:a="http://schemas.openxmlformats.org/drawingml/2006/main">
            <a:off x="7886700" y="27622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Train learns; validation chooses; test reports</a:t>
            </a:r>
          </a:p>
        </p:txBody>
      </p:sp>
      <p:sp>
        <p:nvSpPr>
          <p:cNvPr id="12" name="explain-body">
            <a:extLst xmlns:a="http://schemas.openxmlformats.org/drawingml/2006/main">
              <a:ext uri="{FF2B5EF4-FFF2-40B4-BE49-F238E27FC236}">
                <a16:creationId xmlns:a16="http://schemas.microsoft.com/office/drawing/2014/main" id="{1B26A75A-0A32-47CC-A464-1F4120D73F5A}"/>
              </a:ext>
            </a:extLst>
          </p:cNvPr>
          <p:cNvSpPr>
            <a:spLocks xmlns:a="http://schemas.openxmlformats.org/drawingml/2006/main" noGrp="1"/>
          </p:cNvSpPr>
          <p:nvPr/>
        </p:nvSpPr>
        <p:spPr>
          <a:xfrm xmlns:a="http://schemas.openxmlformats.org/drawingml/2006/main">
            <a:off x="7886700" y="3547872"/>
            <a:ext cx="369570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three partitions have non-overlapping roles. Coefficients are sample-dependent associations, not proof that changing a feature causes the outcome.</a:t>
            </a:r>
          </a:p>
        </p:txBody>
      </p:sp>
    </p:spTree>
    <p:extLst>
      <p:ext uri="{BB962C8B-B14F-4D97-AF65-F5344CB8AC3E}">
        <p14:creationId xmlns:p14="http://schemas.microsoft.com/office/powerpoint/2010/main" val="26057938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kicker">
            <a:extLst xmlns:a="http://schemas.openxmlformats.org/drawingml/2006/main">
              <a:ext uri="{FF2B5EF4-FFF2-40B4-BE49-F238E27FC236}">
                <a16:creationId xmlns:a16="http://schemas.microsoft.com/office/drawing/2014/main" id="{024E3450-774D-4D21-958A-F499DEE3EFF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CDDBB4E9-C979-4A9F-9520-D28EC3652A5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[A2] Validation matrix at candidate threshold 0.5</a:t>
            </a:r>
          </a:p>
        </p:txBody>
      </p:sp>
      <p:sp>
        <p:nvSpPr>
          <p:cNvPr id="3" name="">
            <a:extLst xmlns:a="http://schemas.openxmlformats.org/drawingml/2006/main">
              <a:ext uri="{FF2B5EF4-FFF2-40B4-BE49-F238E27FC236}">
                <a16:creationId xmlns:a16="http://schemas.microsoft.com/office/drawing/2014/main" id="{7F17EBFA-C6C8-4B54-8D3F-1B0AA429FE2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E865CE6-D026-466F-BD31-DD37BF45900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DC5E59A5-7819-4E1A-9100-6D45758D761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88B77DFC-B7A8-4EFF-81A5-7312B02D5E72}"/>
              </a:ext>
            </a:extLst>
          </p:cNvPr>
          <p:cNvSpPr>
            <a:spLocks xmlns:a="http://schemas.openxmlformats.org/drawingml/2006/main" noGrp="1"/>
          </p:cNvSpPr>
          <p:nvPr/>
        </p:nvSpPr>
        <p:spPr>
          <a:xfrm xmlns:a="http://schemas.openxmlformats.org/drawingml/2006/main">
            <a:off x="609600" y="3171825"/>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62D7582D-33E1-4512-A5F8-205DECF632BF}"/>
              </a:ext>
            </a:extLst>
          </p:cNvPr>
          <p:cNvSpPr>
            <a:spLocks xmlns:a="http://schemas.openxmlformats.org/drawingml/2006/main" noGrp="1"/>
          </p:cNvSpPr>
          <p:nvPr/>
        </p:nvSpPr>
        <p:spPr>
          <a:xfrm xmlns:a="http://schemas.openxmlformats.org/drawingml/2006/main">
            <a:off x="723900" y="32480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7894CD5A-3CFE-438D-AE11-50E4FA6D98AB}"/>
              </a:ext>
            </a:extLst>
          </p:cNvPr>
          <p:cNvSpPr>
            <a:spLocks xmlns:a="http://schemas.openxmlformats.org/drawingml/2006/main" noGrp="1"/>
          </p:cNvSpPr>
          <p:nvPr/>
        </p:nvSpPr>
        <p:spPr>
          <a:xfrm xmlns:a="http://schemas.openxmlformats.org/drawingml/2006/main">
            <a:off x="3086100" y="3171825"/>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90F73123-19CD-43AA-A14C-AF43B8E54C4D}"/>
              </a:ext>
            </a:extLst>
          </p:cNvPr>
          <p:cNvSpPr>
            <a:spLocks xmlns:a="http://schemas.openxmlformats.org/drawingml/2006/main" noGrp="1"/>
          </p:cNvSpPr>
          <p:nvPr/>
        </p:nvSpPr>
        <p:spPr>
          <a:xfrm xmlns:a="http://schemas.openxmlformats.org/drawingml/2006/main">
            <a:off x="3200400" y="32480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predicted: no</a:t>
            </a:r>
          </a:p>
        </p:txBody>
      </p:sp>
      <p:sp>
        <p:nvSpPr>
          <p:cNvPr id="10" name="">
            <a:extLst xmlns:a="http://schemas.openxmlformats.org/drawingml/2006/main">
              <a:ext uri="{FF2B5EF4-FFF2-40B4-BE49-F238E27FC236}">
                <a16:creationId xmlns:a16="http://schemas.microsoft.com/office/drawing/2014/main" id="{CB4EB435-9720-4D88-8E5F-F7A0D5F66927}"/>
              </a:ext>
            </a:extLst>
          </p:cNvPr>
          <p:cNvSpPr>
            <a:spLocks xmlns:a="http://schemas.openxmlformats.org/drawingml/2006/main" noGrp="1"/>
          </p:cNvSpPr>
          <p:nvPr/>
        </p:nvSpPr>
        <p:spPr>
          <a:xfrm xmlns:a="http://schemas.openxmlformats.org/drawingml/2006/main">
            <a:off x="5562600" y="3171825"/>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04C1741C-78AE-45F1-A6E3-C2A78DB7E75B}"/>
              </a:ext>
            </a:extLst>
          </p:cNvPr>
          <p:cNvSpPr>
            <a:spLocks xmlns:a="http://schemas.openxmlformats.org/drawingml/2006/main" noGrp="1"/>
          </p:cNvSpPr>
          <p:nvPr/>
        </p:nvSpPr>
        <p:spPr>
          <a:xfrm xmlns:a="http://schemas.openxmlformats.org/drawingml/2006/main">
            <a:off x="5676900" y="32480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predicted: yes</a:t>
            </a:r>
          </a:p>
        </p:txBody>
      </p:sp>
      <p:sp>
        <p:nvSpPr>
          <p:cNvPr id="12" name="">
            <a:extLst xmlns:a="http://schemas.openxmlformats.org/drawingml/2006/main">
              <a:ext uri="{FF2B5EF4-FFF2-40B4-BE49-F238E27FC236}">
                <a16:creationId xmlns:a16="http://schemas.microsoft.com/office/drawing/2014/main" id="{138498DB-2F96-4DB5-B75A-F187A79390D7}"/>
              </a:ext>
            </a:extLst>
          </p:cNvPr>
          <p:cNvSpPr>
            <a:spLocks xmlns:a="http://schemas.openxmlformats.org/drawingml/2006/main" noGrp="1"/>
          </p:cNvSpPr>
          <p:nvPr/>
        </p:nvSpPr>
        <p:spPr>
          <a:xfrm xmlns:a="http://schemas.openxmlformats.org/drawingml/2006/main">
            <a:off x="609600" y="370522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3" name="cell-0-0">
            <a:extLst xmlns:a="http://schemas.openxmlformats.org/drawingml/2006/main">
              <a:ext uri="{FF2B5EF4-FFF2-40B4-BE49-F238E27FC236}">
                <a16:creationId xmlns:a16="http://schemas.microsoft.com/office/drawing/2014/main" id="{2713D0AC-2DB6-4378-A2F8-8FE36A63CBC9}"/>
              </a:ext>
            </a:extLst>
          </p:cNvPr>
          <p:cNvSpPr>
            <a:spLocks xmlns:a="http://schemas.openxmlformats.org/drawingml/2006/main" noGrp="1"/>
          </p:cNvSpPr>
          <p:nvPr/>
        </p:nvSpPr>
        <p:spPr>
          <a:xfrm xmlns:a="http://schemas.openxmlformats.org/drawingml/2006/main">
            <a:off x="723900" y="37814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actual: no</a:t>
            </a:r>
          </a:p>
        </p:txBody>
      </p:sp>
      <p:sp>
        <p:nvSpPr>
          <p:cNvPr id="14" name="">
            <a:extLst xmlns:a="http://schemas.openxmlformats.org/drawingml/2006/main">
              <a:ext uri="{FF2B5EF4-FFF2-40B4-BE49-F238E27FC236}">
                <a16:creationId xmlns:a16="http://schemas.microsoft.com/office/drawing/2014/main" id="{E1BF61A3-E28E-4BAB-B549-E78D00B0F346}"/>
              </a:ext>
            </a:extLst>
          </p:cNvPr>
          <p:cNvSpPr>
            <a:spLocks xmlns:a="http://schemas.openxmlformats.org/drawingml/2006/main" noGrp="1"/>
          </p:cNvSpPr>
          <p:nvPr/>
        </p:nvSpPr>
        <p:spPr>
          <a:xfrm xmlns:a="http://schemas.openxmlformats.org/drawingml/2006/main">
            <a:off x="3086100" y="370522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1">
            <a:extLst xmlns:a="http://schemas.openxmlformats.org/drawingml/2006/main">
              <a:ext uri="{FF2B5EF4-FFF2-40B4-BE49-F238E27FC236}">
                <a16:creationId xmlns:a16="http://schemas.microsoft.com/office/drawing/2014/main" id="{AA6AFE89-FCB7-48D7-BDFB-3BA5B8DF8D3B}"/>
              </a:ext>
            </a:extLst>
          </p:cNvPr>
          <p:cNvSpPr>
            <a:spLocks xmlns:a="http://schemas.openxmlformats.org/drawingml/2006/main" noGrp="1"/>
          </p:cNvSpPr>
          <p:nvPr/>
        </p:nvSpPr>
        <p:spPr>
          <a:xfrm xmlns:a="http://schemas.openxmlformats.org/drawingml/2006/main">
            <a:off x="3200400" y="37814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18 (TN)</a:t>
            </a:r>
          </a:p>
        </p:txBody>
      </p:sp>
      <p:sp>
        <p:nvSpPr>
          <p:cNvPr id="16" name="">
            <a:extLst xmlns:a="http://schemas.openxmlformats.org/drawingml/2006/main">
              <a:ext uri="{FF2B5EF4-FFF2-40B4-BE49-F238E27FC236}">
                <a16:creationId xmlns:a16="http://schemas.microsoft.com/office/drawing/2014/main" id="{BEC2FD1D-6976-451C-B09A-41D4C6D5FF44}"/>
              </a:ext>
            </a:extLst>
          </p:cNvPr>
          <p:cNvSpPr>
            <a:spLocks xmlns:a="http://schemas.openxmlformats.org/drawingml/2006/main" noGrp="1"/>
          </p:cNvSpPr>
          <p:nvPr/>
        </p:nvSpPr>
        <p:spPr>
          <a:xfrm xmlns:a="http://schemas.openxmlformats.org/drawingml/2006/main">
            <a:off x="5562600" y="370522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2">
            <a:extLst xmlns:a="http://schemas.openxmlformats.org/drawingml/2006/main">
              <a:ext uri="{FF2B5EF4-FFF2-40B4-BE49-F238E27FC236}">
                <a16:creationId xmlns:a16="http://schemas.microsoft.com/office/drawing/2014/main" id="{38A4FF22-BAC1-44C2-AFA4-8F04EFDD0D2C}"/>
              </a:ext>
            </a:extLst>
          </p:cNvPr>
          <p:cNvSpPr>
            <a:spLocks xmlns:a="http://schemas.openxmlformats.org/drawingml/2006/main" noGrp="1"/>
          </p:cNvSpPr>
          <p:nvPr/>
        </p:nvSpPr>
        <p:spPr>
          <a:xfrm xmlns:a="http://schemas.openxmlformats.org/drawingml/2006/main">
            <a:off x="5676900" y="37814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 (FP)</a:t>
            </a:r>
          </a:p>
        </p:txBody>
      </p:sp>
      <p:sp>
        <p:nvSpPr>
          <p:cNvPr id="18" name="">
            <a:extLst xmlns:a="http://schemas.openxmlformats.org/drawingml/2006/main">
              <a:ext uri="{FF2B5EF4-FFF2-40B4-BE49-F238E27FC236}">
                <a16:creationId xmlns:a16="http://schemas.microsoft.com/office/drawing/2014/main" id="{BD457B37-474E-46CB-B190-21F1FACF4473}"/>
              </a:ext>
            </a:extLst>
          </p:cNvPr>
          <p:cNvSpPr>
            <a:spLocks xmlns:a="http://schemas.openxmlformats.org/drawingml/2006/main" noGrp="1"/>
          </p:cNvSpPr>
          <p:nvPr/>
        </p:nvSpPr>
        <p:spPr>
          <a:xfrm xmlns:a="http://schemas.openxmlformats.org/drawingml/2006/main">
            <a:off x="609600" y="4238625"/>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19" name="cell-1-0">
            <a:extLst xmlns:a="http://schemas.openxmlformats.org/drawingml/2006/main">
              <a:ext uri="{FF2B5EF4-FFF2-40B4-BE49-F238E27FC236}">
                <a16:creationId xmlns:a16="http://schemas.microsoft.com/office/drawing/2014/main" id="{D54B27EA-B1BC-4CFA-8E21-CAA693EB58D4}"/>
              </a:ext>
            </a:extLst>
          </p:cNvPr>
          <p:cNvSpPr>
            <a:spLocks xmlns:a="http://schemas.openxmlformats.org/drawingml/2006/main" noGrp="1"/>
          </p:cNvSpPr>
          <p:nvPr/>
        </p:nvSpPr>
        <p:spPr>
          <a:xfrm xmlns:a="http://schemas.openxmlformats.org/drawingml/2006/main">
            <a:off x="723900" y="43148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actual: yes</a:t>
            </a:r>
          </a:p>
        </p:txBody>
      </p:sp>
      <p:sp>
        <p:nvSpPr>
          <p:cNvPr id="20" name="">
            <a:extLst xmlns:a="http://schemas.openxmlformats.org/drawingml/2006/main">
              <a:ext uri="{FF2B5EF4-FFF2-40B4-BE49-F238E27FC236}">
                <a16:creationId xmlns:a16="http://schemas.microsoft.com/office/drawing/2014/main" id="{4A9A8FAB-E37E-462A-96A2-284B59F5564B}"/>
              </a:ext>
            </a:extLst>
          </p:cNvPr>
          <p:cNvSpPr>
            <a:spLocks xmlns:a="http://schemas.openxmlformats.org/drawingml/2006/main" noGrp="1"/>
          </p:cNvSpPr>
          <p:nvPr/>
        </p:nvSpPr>
        <p:spPr>
          <a:xfrm xmlns:a="http://schemas.openxmlformats.org/drawingml/2006/main">
            <a:off x="3086100" y="4238625"/>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1" name="cell-1-1">
            <a:extLst xmlns:a="http://schemas.openxmlformats.org/drawingml/2006/main">
              <a:ext uri="{FF2B5EF4-FFF2-40B4-BE49-F238E27FC236}">
                <a16:creationId xmlns:a16="http://schemas.microsoft.com/office/drawing/2014/main" id="{D7D0DAF5-166D-4B52-A6C0-B5B6BA611E0A}"/>
              </a:ext>
            </a:extLst>
          </p:cNvPr>
          <p:cNvSpPr>
            <a:spLocks xmlns:a="http://schemas.openxmlformats.org/drawingml/2006/main" noGrp="1"/>
          </p:cNvSpPr>
          <p:nvPr/>
        </p:nvSpPr>
        <p:spPr>
          <a:xfrm xmlns:a="http://schemas.openxmlformats.org/drawingml/2006/main">
            <a:off x="3200400" y="43148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3 (FN)</a:t>
            </a:r>
          </a:p>
        </p:txBody>
      </p:sp>
      <p:sp>
        <p:nvSpPr>
          <p:cNvPr id="22" name="">
            <a:extLst xmlns:a="http://schemas.openxmlformats.org/drawingml/2006/main">
              <a:ext uri="{FF2B5EF4-FFF2-40B4-BE49-F238E27FC236}">
                <a16:creationId xmlns:a16="http://schemas.microsoft.com/office/drawing/2014/main" id="{E68A636B-C53B-43CF-99DF-CFB2FD184F89}"/>
              </a:ext>
            </a:extLst>
          </p:cNvPr>
          <p:cNvSpPr>
            <a:spLocks xmlns:a="http://schemas.openxmlformats.org/drawingml/2006/main" noGrp="1"/>
          </p:cNvSpPr>
          <p:nvPr/>
        </p:nvSpPr>
        <p:spPr>
          <a:xfrm xmlns:a="http://schemas.openxmlformats.org/drawingml/2006/main">
            <a:off x="5562600" y="4238625"/>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2">
            <a:extLst xmlns:a="http://schemas.openxmlformats.org/drawingml/2006/main">
              <a:ext uri="{FF2B5EF4-FFF2-40B4-BE49-F238E27FC236}">
                <a16:creationId xmlns:a16="http://schemas.microsoft.com/office/drawing/2014/main" id="{D5C42A0C-1F91-4CA7-9150-0E329BE25F04}"/>
              </a:ext>
            </a:extLst>
          </p:cNvPr>
          <p:cNvSpPr>
            <a:spLocks xmlns:a="http://schemas.openxmlformats.org/drawingml/2006/main" noGrp="1"/>
          </p:cNvSpPr>
          <p:nvPr/>
        </p:nvSpPr>
        <p:spPr>
          <a:xfrm xmlns:a="http://schemas.openxmlformats.org/drawingml/2006/main">
            <a:off x="5676900" y="43148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6 (TP)</a:t>
            </a:r>
          </a:p>
        </p:txBody>
      </p:sp>
      <p:sp>
        <p:nvSpPr>
          <p:cNvPr id="24" name="callout-label">
            <a:extLst xmlns:a="http://schemas.openxmlformats.org/drawingml/2006/main">
              <a:ext uri="{FF2B5EF4-FFF2-40B4-BE49-F238E27FC236}">
                <a16:creationId xmlns:a16="http://schemas.microsoft.com/office/drawing/2014/main" id="{39A8D569-95CE-45B6-8F3F-3A8CE920F8A3}"/>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25" name="callout">
            <a:extLst xmlns:a="http://schemas.openxmlformats.org/drawingml/2006/main">
              <a:ext uri="{FF2B5EF4-FFF2-40B4-BE49-F238E27FC236}">
                <a16:creationId xmlns:a16="http://schemas.microsoft.com/office/drawing/2014/main" id="{DE3D2715-61D3-4BE8-99DF-C87A94F4B7AA}"/>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Validation precision=0.857, recall=0.667, F1=0.750. Use this partition for selection; keep the final test sealed.</a:t>
            </a:r>
          </a:p>
        </p:txBody>
      </p:sp>
    </p:spTree>
    <p:extLst>
      <p:ext uri="{BB962C8B-B14F-4D97-AF65-F5344CB8AC3E}">
        <p14:creationId xmlns:p14="http://schemas.microsoft.com/office/powerpoint/2010/main" val="7600025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0A15D36B-E449-4D06-BEF1-46EC5419E34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73B6159E-A269-4116-85A7-E800BB69D23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A1: hand-compute precision, recall, F1</a:t>
            </a:r>
          </a:p>
        </p:txBody>
      </p:sp>
      <p:sp>
        <p:nvSpPr>
          <p:cNvPr id="3" name="">
            <a:extLst xmlns:a="http://schemas.openxmlformats.org/drawingml/2006/main">
              <a:ext uri="{FF2B5EF4-FFF2-40B4-BE49-F238E27FC236}">
                <a16:creationId xmlns:a16="http://schemas.microsoft.com/office/drawing/2014/main" id="{43E0F504-14D1-4C87-9EF2-DB031CD44BE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AEA67DF-AA50-4BCE-AC06-8815D19309E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38743E04-ABF3-48CA-B454-A1C2D90DAC2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12</a:t>
            </a:r>
          </a:p>
        </p:txBody>
      </p:sp>
      <p:sp>
        <p:nvSpPr>
          <p:cNvPr id="6" name="exercise-accent">
            <a:extLst xmlns:a="http://schemas.openxmlformats.org/drawingml/2006/main">
              <a:ext uri="{FF2B5EF4-FFF2-40B4-BE49-F238E27FC236}">
                <a16:creationId xmlns:a16="http://schemas.microsoft.com/office/drawing/2014/main" id="{862FACE0-7DDD-4009-B11E-95F57800FEA1}"/>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7A8A34DA-44DE-4EAC-9AAC-CDAC54709D32}"/>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Validation matrix: TN=18, FP=1, FN=3, TP=6.</a:t>
            </a:r>
          </a:p>
        </p:txBody>
      </p:sp>
      <p:sp>
        <p:nvSpPr>
          <p:cNvPr id="8" name="work-label">
            <a:extLst xmlns:a="http://schemas.openxmlformats.org/drawingml/2006/main">
              <a:ext uri="{FF2B5EF4-FFF2-40B4-BE49-F238E27FC236}">
                <a16:creationId xmlns:a16="http://schemas.microsoft.com/office/drawing/2014/main" id="{DF364EF7-AA57-4A18-9071-17909FC31C0B}"/>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2D7DB0C9-A5EE-4638-9676-B21684AC98DD}"/>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6AE4BDDC-5ADC-4BE5-97EE-3B78AD090FBE}"/>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Compute precision=TP/(TP+FP).</a:t>
            </a:r>
          </a:p>
        </p:txBody>
      </p:sp>
      <p:sp>
        <p:nvSpPr>
          <p:cNvPr id="11" name="exercise-no-1">
            <a:extLst xmlns:a="http://schemas.openxmlformats.org/drawingml/2006/main">
              <a:ext uri="{FF2B5EF4-FFF2-40B4-BE49-F238E27FC236}">
                <a16:creationId xmlns:a16="http://schemas.microsoft.com/office/drawing/2014/main" id="{11FB6806-35D9-4C33-B3E8-2FB2A3AC23C2}"/>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79FF9EBE-D570-4FA3-BCDA-D0E619C9840D}"/>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Compute recall=TP/(TP+FN).</a:t>
            </a:r>
          </a:p>
        </p:txBody>
      </p:sp>
      <p:sp>
        <p:nvSpPr>
          <p:cNvPr id="13" name="exercise-no-2">
            <a:extLst xmlns:a="http://schemas.openxmlformats.org/drawingml/2006/main">
              <a:ext uri="{FF2B5EF4-FFF2-40B4-BE49-F238E27FC236}">
                <a16:creationId xmlns:a16="http://schemas.microsoft.com/office/drawing/2014/main" id="{9F32B111-DF84-4D11-9743-6C315672FB28}"/>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498A5889-E4F4-4157-8BA7-C5FE0DC1CDC4}"/>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Compute F1 from precision and recall.</a:t>
            </a:r>
          </a:p>
        </p:txBody>
      </p:sp>
      <p:sp>
        <p:nvSpPr>
          <p:cNvPr id="15" name="exercise-no-3">
            <a:extLst xmlns:a="http://schemas.openxmlformats.org/drawingml/2006/main">
              <a:ext uri="{FF2B5EF4-FFF2-40B4-BE49-F238E27FC236}">
                <a16:creationId xmlns:a16="http://schemas.microsoft.com/office/drawing/2014/main" id="{95BFE1DE-DB45-4F3D-AD5F-D597CBFAC20B}"/>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31FAE86E-C041-42FC-8D6C-67C62AEB61DA}"/>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Confirm 0.8571 / 0.6667 / 0.7500 with sklearn.</a:t>
            </a:r>
          </a:p>
        </p:txBody>
      </p:sp>
    </p:spTree>
    <p:extLst>
      <p:ext uri="{BB962C8B-B14F-4D97-AF65-F5344CB8AC3E}">
        <p14:creationId xmlns:p14="http://schemas.microsoft.com/office/powerpoint/2010/main" val="189601066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3F466B2C-CED3-495B-A572-C85124708B1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 -- TRACK A</a:t>
            </a:r>
          </a:p>
        </p:txBody>
      </p:sp>
      <p:sp>
        <p:nvSpPr>
          <p:cNvPr id="2" name="title">
            <a:extLst xmlns:a="http://schemas.openxmlformats.org/drawingml/2006/main">
              <a:ext uri="{FF2B5EF4-FFF2-40B4-BE49-F238E27FC236}">
                <a16:creationId xmlns:a16="http://schemas.microsoft.com/office/drawing/2014/main" id="{7709546B-8B32-4B42-83C9-705990431D6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which threshold kills false positives?</a:t>
            </a:r>
          </a:p>
        </p:txBody>
      </p:sp>
      <p:sp>
        <p:nvSpPr>
          <p:cNvPr id="3" name="">
            <a:extLst xmlns:a="http://schemas.openxmlformats.org/drawingml/2006/main">
              <a:ext uri="{FF2B5EF4-FFF2-40B4-BE49-F238E27FC236}">
                <a16:creationId xmlns:a16="http://schemas.microsoft.com/office/drawing/2014/main" id="{69B67C7A-432F-48F5-BAFE-F3A57171C08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825407AF-D3D0-4362-A209-5D6B1DEA5E0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FDE15B9F-BEA3-4B37-8909-F5FBCA4141B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13</a:t>
            </a:r>
          </a:p>
        </p:txBody>
      </p:sp>
      <p:sp>
        <p:nvSpPr>
          <p:cNvPr id="6" name="code-panel">
            <a:extLst xmlns:a="http://schemas.openxmlformats.org/drawingml/2006/main">
              <a:ext uri="{FF2B5EF4-FFF2-40B4-BE49-F238E27FC236}">
                <a16:creationId xmlns:a16="http://schemas.microsoft.com/office/drawing/2014/main" id="{E4AC948B-2723-4D57-9837-5CAC76D4E497}"/>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B9CEE10C-1573-4F3C-96EC-65A1943AC067}"/>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probs_val = clf.predict_proba(Xc_val)[:, 1]</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for t in [0.4, 0.5, 0.6]:</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tn, fp, fn, tp = confusion_matrix(</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yc_val, (probs_val &gt;= t).astype(int)).ravel()</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print(t, 'FP =', fp, 'recall =', tp/(tp+fn))</a:t>
            </a:r>
          </a:p>
        </p:txBody>
      </p:sp>
      <p:sp>
        <p:nvSpPr>
          <p:cNvPr id="8" name="question">
            <a:extLst xmlns:a="http://schemas.openxmlformats.org/drawingml/2006/main">
              <a:ext uri="{FF2B5EF4-FFF2-40B4-BE49-F238E27FC236}">
                <a16:creationId xmlns:a16="http://schemas.microsoft.com/office/drawing/2014/main" id="{2BA40682-DB78-4D56-9D8A-D6067C93D5AA}"/>
              </a:ext>
            </a:extLst>
          </p:cNvPr>
          <p:cNvSpPr>
            <a:spLocks xmlns:a="http://schemas.openxmlformats.org/drawingml/2006/main" noGrp="1"/>
          </p:cNvSpPr>
          <p:nvPr/>
        </p:nvSpPr>
        <p:spPr>
          <a:xfrm xmlns:a="http://schemas.openxmlformats.org/drawingml/2006/main">
            <a:off x="7315200" y="1809750"/>
            <a:ext cx="4267200" cy="8641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Which threshold satisfies FPR≤10% while retaining the most validation positives?</a:t>
            </a:r>
          </a:p>
        </p:txBody>
      </p:sp>
      <p:sp>
        <p:nvSpPr>
          <p:cNvPr id="9" name="opt-0">
            <a:extLst xmlns:a="http://schemas.openxmlformats.org/drawingml/2006/main">
              <a:ext uri="{FF2B5EF4-FFF2-40B4-BE49-F238E27FC236}">
                <a16:creationId xmlns:a16="http://schemas.microsoft.com/office/drawing/2014/main" id="{831354DA-DC33-4D7F-A4E0-B0070EEFE8DE}"/>
              </a:ext>
            </a:extLst>
          </p:cNvPr>
          <p:cNvSpPr>
            <a:spLocks xmlns:a="http://schemas.openxmlformats.org/drawingml/2006/main" noGrp="1"/>
          </p:cNvSpPr>
          <p:nvPr/>
        </p:nvSpPr>
        <p:spPr>
          <a:xfrm xmlns:a="http://schemas.openxmlformats.org/drawingml/2006/main">
            <a:off x="7315200" y="27881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3AFF9304-178C-4581-A998-6B948065223C}"/>
              </a:ext>
            </a:extLst>
          </p:cNvPr>
          <p:cNvSpPr>
            <a:spLocks xmlns:a="http://schemas.openxmlformats.org/drawingml/2006/main" noGrp="1"/>
          </p:cNvSpPr>
          <p:nvPr/>
        </p:nvSpPr>
        <p:spPr>
          <a:xfrm xmlns:a="http://schemas.openxmlformats.org/drawingml/2006/main">
            <a:off x="7448550" y="29310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9855ACA4-CB02-450A-A1F8-02950E2E6C88}"/>
              </a:ext>
            </a:extLst>
          </p:cNvPr>
          <p:cNvSpPr>
            <a:spLocks xmlns:a="http://schemas.openxmlformats.org/drawingml/2006/main" noGrp="1"/>
          </p:cNvSpPr>
          <p:nvPr/>
        </p:nvSpPr>
        <p:spPr>
          <a:xfrm xmlns:a="http://schemas.openxmlformats.org/drawingml/2006/main">
            <a:off x="7772400" y="28262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0.4</a:t>
            </a:r>
          </a:p>
        </p:txBody>
      </p:sp>
      <p:sp>
        <p:nvSpPr>
          <p:cNvPr id="12" name="opt-1">
            <a:extLst xmlns:a="http://schemas.openxmlformats.org/drawingml/2006/main">
              <a:ext uri="{FF2B5EF4-FFF2-40B4-BE49-F238E27FC236}">
                <a16:creationId xmlns:a16="http://schemas.microsoft.com/office/drawing/2014/main" id="{EDFD5B35-123A-4A9F-8B4E-2AFE588BC5FA}"/>
              </a:ext>
            </a:extLst>
          </p:cNvPr>
          <p:cNvSpPr>
            <a:spLocks xmlns:a="http://schemas.openxmlformats.org/drawingml/2006/main" noGrp="1"/>
          </p:cNvSpPr>
          <p:nvPr/>
        </p:nvSpPr>
        <p:spPr>
          <a:xfrm xmlns:a="http://schemas.openxmlformats.org/drawingml/2006/main">
            <a:off x="7315200" y="33596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64CBFA0D-99B7-482E-A30E-FA6BC7265B4E}"/>
              </a:ext>
            </a:extLst>
          </p:cNvPr>
          <p:cNvSpPr>
            <a:spLocks xmlns:a="http://schemas.openxmlformats.org/drawingml/2006/main" noGrp="1"/>
          </p:cNvSpPr>
          <p:nvPr/>
        </p:nvSpPr>
        <p:spPr>
          <a:xfrm xmlns:a="http://schemas.openxmlformats.org/drawingml/2006/main">
            <a:off x="7448550" y="35025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0430DF4F-BFCF-4976-876D-E513E19B6FE5}"/>
              </a:ext>
            </a:extLst>
          </p:cNvPr>
          <p:cNvSpPr>
            <a:spLocks xmlns:a="http://schemas.openxmlformats.org/drawingml/2006/main" noGrp="1"/>
          </p:cNvSpPr>
          <p:nvPr/>
        </p:nvSpPr>
        <p:spPr>
          <a:xfrm xmlns:a="http://schemas.openxmlformats.org/drawingml/2006/main">
            <a:off x="7772400" y="33977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0.5</a:t>
            </a:r>
          </a:p>
        </p:txBody>
      </p:sp>
      <p:sp>
        <p:nvSpPr>
          <p:cNvPr id="15" name="opt-2">
            <a:extLst xmlns:a="http://schemas.openxmlformats.org/drawingml/2006/main">
              <a:ext uri="{FF2B5EF4-FFF2-40B4-BE49-F238E27FC236}">
                <a16:creationId xmlns:a16="http://schemas.microsoft.com/office/drawing/2014/main" id="{E10814F5-D6A9-4827-A636-76FF6773DEB4}"/>
              </a:ext>
            </a:extLst>
          </p:cNvPr>
          <p:cNvSpPr>
            <a:spLocks xmlns:a="http://schemas.openxmlformats.org/drawingml/2006/main" noGrp="1"/>
          </p:cNvSpPr>
          <p:nvPr/>
        </p:nvSpPr>
        <p:spPr>
          <a:xfrm xmlns:a="http://schemas.openxmlformats.org/drawingml/2006/main">
            <a:off x="7315200" y="39311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F6A2D2D2-59AD-4A3C-8152-336E4801E3B3}"/>
              </a:ext>
            </a:extLst>
          </p:cNvPr>
          <p:cNvSpPr>
            <a:spLocks xmlns:a="http://schemas.openxmlformats.org/drawingml/2006/main" noGrp="1"/>
          </p:cNvSpPr>
          <p:nvPr/>
        </p:nvSpPr>
        <p:spPr>
          <a:xfrm xmlns:a="http://schemas.openxmlformats.org/drawingml/2006/main">
            <a:off x="7448550" y="40740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07EE0545-599E-4983-9E9E-B1535F5CB920}"/>
              </a:ext>
            </a:extLst>
          </p:cNvPr>
          <p:cNvSpPr>
            <a:spLocks xmlns:a="http://schemas.openxmlformats.org/drawingml/2006/main" noGrp="1"/>
          </p:cNvSpPr>
          <p:nvPr/>
        </p:nvSpPr>
        <p:spPr>
          <a:xfrm xmlns:a="http://schemas.openxmlformats.org/drawingml/2006/main">
            <a:off x="7772400" y="39692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0.6</a:t>
            </a:r>
          </a:p>
        </p:txBody>
      </p:sp>
      <p:sp>
        <p:nvSpPr>
          <p:cNvPr id="18" name="opt-3">
            <a:extLst xmlns:a="http://schemas.openxmlformats.org/drawingml/2006/main">
              <a:ext uri="{FF2B5EF4-FFF2-40B4-BE49-F238E27FC236}">
                <a16:creationId xmlns:a16="http://schemas.microsoft.com/office/drawing/2014/main" id="{DE85A8EF-72C9-44F2-ADA3-F76EADBB5E4F}"/>
              </a:ext>
            </a:extLst>
          </p:cNvPr>
          <p:cNvSpPr>
            <a:spLocks xmlns:a="http://schemas.openxmlformats.org/drawingml/2006/main" noGrp="1"/>
          </p:cNvSpPr>
          <p:nvPr/>
        </p:nvSpPr>
        <p:spPr>
          <a:xfrm xmlns:a="http://schemas.openxmlformats.org/drawingml/2006/main">
            <a:off x="7315200" y="45026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ACC560DF-19C4-46B3-B60E-47F97217445D}"/>
              </a:ext>
            </a:extLst>
          </p:cNvPr>
          <p:cNvSpPr>
            <a:spLocks xmlns:a="http://schemas.openxmlformats.org/drawingml/2006/main" noGrp="1"/>
          </p:cNvSpPr>
          <p:nvPr/>
        </p:nvSpPr>
        <p:spPr>
          <a:xfrm xmlns:a="http://schemas.openxmlformats.org/drawingml/2006/main">
            <a:off x="7448550" y="46455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58D3C423-0EF3-468C-BC56-01A41A22EA8C}"/>
              </a:ext>
            </a:extLst>
          </p:cNvPr>
          <p:cNvSpPr>
            <a:spLocks xmlns:a="http://schemas.openxmlformats.org/drawingml/2006/main" noGrp="1"/>
          </p:cNvSpPr>
          <p:nvPr/>
        </p:nvSpPr>
        <p:spPr>
          <a:xfrm xmlns:a="http://schemas.openxmlformats.org/drawingml/2006/main">
            <a:off x="7772400" y="45407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0.7</a:t>
            </a:r>
          </a:p>
        </p:txBody>
      </p:sp>
      <p:sp>
        <p:nvSpPr>
          <p:cNvPr id="21" name="answer-panel">
            <a:extLst xmlns:a="http://schemas.openxmlformats.org/drawingml/2006/main">
              <a:ext uri="{FF2B5EF4-FFF2-40B4-BE49-F238E27FC236}">
                <a16:creationId xmlns:a16="http://schemas.microsoft.com/office/drawing/2014/main" id="{076E2507-E6A5-4173-9672-09E155069577}"/>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6253BFF4-FF83-4F2E-936D-2A55EF3B59AE}"/>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B</a:t>
            </a:r>
          </a:p>
        </p:txBody>
      </p:sp>
      <p:sp>
        <p:nvSpPr>
          <p:cNvPr id="23" name="why">
            <a:extLst xmlns:a="http://schemas.openxmlformats.org/drawingml/2006/main">
              <a:ext uri="{FF2B5EF4-FFF2-40B4-BE49-F238E27FC236}">
                <a16:creationId xmlns:a16="http://schemas.microsoft.com/office/drawing/2014/main" id="{E75B0A5D-C068-42FC-BB2B-FB7A75E9B3A0}"/>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0.4 has FPR=2/19=10.5% and fails. Both 0.5 and 0.6 qualify, but 0.5 retains 6/9 positives versus 1/9 at 0.6.</a:t>
            </a:r>
          </a:p>
        </p:txBody>
      </p:sp>
    </p:spTree>
    <p:extLst>
      <p:ext uri="{BB962C8B-B14F-4D97-AF65-F5344CB8AC3E}">
        <p14:creationId xmlns:p14="http://schemas.microsoft.com/office/powerpoint/2010/main" val="727530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2" name="kicker">
            <a:extLst xmlns:a="http://schemas.openxmlformats.org/drawingml/2006/main">
              <a:ext uri="{FF2B5EF4-FFF2-40B4-BE49-F238E27FC236}">
                <a16:creationId xmlns:a16="http://schemas.microsoft.com/office/drawing/2014/main" id="{C47F0106-F78E-418E-9DCE-97135BBCF60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2EE8770D-C804-4392-A8C3-F09ED163FCB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[A3] Threshold sweep: same model, only the cutoff changes</a:t>
            </a:r>
          </a:p>
        </p:txBody>
      </p:sp>
      <p:sp>
        <p:nvSpPr>
          <p:cNvPr id="3" name="">
            <a:extLst xmlns:a="http://schemas.openxmlformats.org/drawingml/2006/main">
              <a:ext uri="{FF2B5EF4-FFF2-40B4-BE49-F238E27FC236}">
                <a16:creationId xmlns:a16="http://schemas.microsoft.com/office/drawing/2014/main" id="{888D0F1A-9F3B-4517-B5F4-E1E463705B3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E6B8F84-6CB9-4D5A-BF4A-634814CA2A4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9EC31641-89AA-4729-A3CC-D0E3BB4EEDD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8373928C-9BF8-42C8-A08A-D8F30D6CBA22}"/>
              </a:ext>
            </a:extLst>
          </p:cNvPr>
          <p:cNvSpPr>
            <a:spLocks xmlns:a="http://schemas.openxmlformats.org/drawingml/2006/main" noGrp="1"/>
          </p:cNvSpPr>
          <p:nvPr/>
        </p:nvSpPr>
        <p:spPr>
          <a:xfrm xmlns:a="http://schemas.openxmlformats.org/drawingml/2006/main">
            <a:off x="609600" y="2371725"/>
            <a:ext cx="13716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288F2789-A60C-4714-B10D-408016AF1803}"/>
              </a:ext>
            </a:extLst>
          </p:cNvPr>
          <p:cNvSpPr>
            <a:spLocks xmlns:a="http://schemas.openxmlformats.org/drawingml/2006/main" noGrp="1"/>
          </p:cNvSpPr>
          <p:nvPr/>
        </p:nvSpPr>
        <p:spPr>
          <a:xfrm xmlns:a="http://schemas.openxmlformats.org/drawingml/2006/main">
            <a:off x="723900" y="24479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threshold</a:t>
            </a:r>
          </a:p>
        </p:txBody>
      </p:sp>
      <p:sp>
        <p:nvSpPr>
          <p:cNvPr id="8" name="">
            <a:extLst xmlns:a="http://schemas.openxmlformats.org/drawingml/2006/main">
              <a:ext uri="{FF2B5EF4-FFF2-40B4-BE49-F238E27FC236}">
                <a16:creationId xmlns:a16="http://schemas.microsoft.com/office/drawing/2014/main" id="{9FEC3157-16E4-4400-BCB8-89B185534F52}"/>
              </a:ext>
            </a:extLst>
          </p:cNvPr>
          <p:cNvSpPr>
            <a:spLocks xmlns:a="http://schemas.openxmlformats.org/drawingml/2006/main" noGrp="1"/>
          </p:cNvSpPr>
          <p:nvPr/>
        </p:nvSpPr>
        <p:spPr>
          <a:xfrm xmlns:a="http://schemas.openxmlformats.org/drawingml/2006/main">
            <a:off x="1981200" y="2371725"/>
            <a:ext cx="13716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41F0058B-30E5-4BDB-82A4-B68E8EF8098F}"/>
              </a:ext>
            </a:extLst>
          </p:cNvPr>
          <p:cNvSpPr>
            <a:spLocks xmlns:a="http://schemas.openxmlformats.org/drawingml/2006/main" noGrp="1"/>
          </p:cNvSpPr>
          <p:nvPr/>
        </p:nvSpPr>
        <p:spPr>
          <a:xfrm xmlns:a="http://schemas.openxmlformats.org/drawingml/2006/main">
            <a:off x="2095500" y="24479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TN</a:t>
            </a:r>
          </a:p>
        </p:txBody>
      </p:sp>
      <p:sp>
        <p:nvSpPr>
          <p:cNvPr id="10" name="">
            <a:extLst xmlns:a="http://schemas.openxmlformats.org/drawingml/2006/main">
              <a:ext uri="{FF2B5EF4-FFF2-40B4-BE49-F238E27FC236}">
                <a16:creationId xmlns:a16="http://schemas.microsoft.com/office/drawing/2014/main" id="{8A924ABD-9478-4ED7-84A3-DAA296C0F7CE}"/>
              </a:ext>
            </a:extLst>
          </p:cNvPr>
          <p:cNvSpPr>
            <a:spLocks xmlns:a="http://schemas.openxmlformats.org/drawingml/2006/main" noGrp="1"/>
          </p:cNvSpPr>
          <p:nvPr/>
        </p:nvSpPr>
        <p:spPr>
          <a:xfrm xmlns:a="http://schemas.openxmlformats.org/drawingml/2006/main">
            <a:off x="3352800" y="2371725"/>
            <a:ext cx="13716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76ADEECC-DAD7-4F5A-A76B-9D756254206A}"/>
              </a:ext>
            </a:extLst>
          </p:cNvPr>
          <p:cNvSpPr>
            <a:spLocks xmlns:a="http://schemas.openxmlformats.org/drawingml/2006/main" noGrp="1"/>
          </p:cNvSpPr>
          <p:nvPr/>
        </p:nvSpPr>
        <p:spPr>
          <a:xfrm xmlns:a="http://schemas.openxmlformats.org/drawingml/2006/main">
            <a:off x="3467100" y="24479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FP</a:t>
            </a:r>
          </a:p>
        </p:txBody>
      </p:sp>
      <p:sp>
        <p:nvSpPr>
          <p:cNvPr id="12" name="">
            <a:extLst xmlns:a="http://schemas.openxmlformats.org/drawingml/2006/main">
              <a:ext uri="{FF2B5EF4-FFF2-40B4-BE49-F238E27FC236}">
                <a16:creationId xmlns:a16="http://schemas.microsoft.com/office/drawing/2014/main" id="{70EC315A-9A07-40CB-8CDF-D75646175514}"/>
              </a:ext>
            </a:extLst>
          </p:cNvPr>
          <p:cNvSpPr>
            <a:spLocks xmlns:a="http://schemas.openxmlformats.org/drawingml/2006/main" noGrp="1"/>
          </p:cNvSpPr>
          <p:nvPr/>
        </p:nvSpPr>
        <p:spPr>
          <a:xfrm xmlns:a="http://schemas.openxmlformats.org/drawingml/2006/main">
            <a:off x="4724400" y="2371725"/>
            <a:ext cx="13716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134309F5-4C60-4181-BBD5-2AB51A568511}"/>
              </a:ext>
            </a:extLst>
          </p:cNvPr>
          <p:cNvSpPr>
            <a:spLocks xmlns:a="http://schemas.openxmlformats.org/drawingml/2006/main" noGrp="1"/>
          </p:cNvSpPr>
          <p:nvPr/>
        </p:nvSpPr>
        <p:spPr>
          <a:xfrm xmlns:a="http://schemas.openxmlformats.org/drawingml/2006/main">
            <a:off x="4838700" y="24479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FN</a:t>
            </a:r>
          </a:p>
        </p:txBody>
      </p:sp>
      <p:sp>
        <p:nvSpPr>
          <p:cNvPr id="14" name="">
            <a:extLst xmlns:a="http://schemas.openxmlformats.org/drawingml/2006/main">
              <a:ext uri="{FF2B5EF4-FFF2-40B4-BE49-F238E27FC236}">
                <a16:creationId xmlns:a16="http://schemas.microsoft.com/office/drawing/2014/main" id="{7DAC8244-8D21-47BF-961C-74DB13590136}"/>
              </a:ext>
            </a:extLst>
          </p:cNvPr>
          <p:cNvSpPr>
            <a:spLocks xmlns:a="http://schemas.openxmlformats.org/drawingml/2006/main" noGrp="1"/>
          </p:cNvSpPr>
          <p:nvPr/>
        </p:nvSpPr>
        <p:spPr>
          <a:xfrm xmlns:a="http://schemas.openxmlformats.org/drawingml/2006/main">
            <a:off x="6096000" y="2371725"/>
            <a:ext cx="13716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5" name="header-4">
            <a:extLst xmlns:a="http://schemas.openxmlformats.org/drawingml/2006/main">
              <a:ext uri="{FF2B5EF4-FFF2-40B4-BE49-F238E27FC236}">
                <a16:creationId xmlns:a16="http://schemas.microsoft.com/office/drawing/2014/main" id="{423945C9-62A7-4AD5-89F4-7A8BCA1D77E7}"/>
              </a:ext>
            </a:extLst>
          </p:cNvPr>
          <p:cNvSpPr>
            <a:spLocks xmlns:a="http://schemas.openxmlformats.org/drawingml/2006/main" noGrp="1"/>
          </p:cNvSpPr>
          <p:nvPr/>
        </p:nvSpPr>
        <p:spPr>
          <a:xfrm xmlns:a="http://schemas.openxmlformats.org/drawingml/2006/main">
            <a:off x="6210300" y="24479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TP</a:t>
            </a:r>
          </a:p>
        </p:txBody>
      </p:sp>
      <p:sp>
        <p:nvSpPr>
          <p:cNvPr id="16" name="">
            <a:extLst xmlns:a="http://schemas.openxmlformats.org/drawingml/2006/main">
              <a:ext uri="{FF2B5EF4-FFF2-40B4-BE49-F238E27FC236}">
                <a16:creationId xmlns:a16="http://schemas.microsoft.com/office/drawing/2014/main" id="{77A65138-A936-4EFC-A0B2-EF02271BCC9F}"/>
              </a:ext>
            </a:extLst>
          </p:cNvPr>
          <p:cNvSpPr>
            <a:spLocks xmlns:a="http://schemas.openxmlformats.org/drawingml/2006/main" noGrp="1"/>
          </p:cNvSpPr>
          <p:nvPr/>
        </p:nvSpPr>
        <p:spPr>
          <a:xfrm xmlns:a="http://schemas.openxmlformats.org/drawingml/2006/main">
            <a:off x="7467600" y="2371725"/>
            <a:ext cx="13716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7" name="header-5">
            <a:extLst xmlns:a="http://schemas.openxmlformats.org/drawingml/2006/main">
              <a:ext uri="{FF2B5EF4-FFF2-40B4-BE49-F238E27FC236}">
                <a16:creationId xmlns:a16="http://schemas.microsoft.com/office/drawing/2014/main" id="{459FF86F-1F5F-443F-91F0-AEFBFFAFDA91}"/>
              </a:ext>
            </a:extLst>
          </p:cNvPr>
          <p:cNvSpPr>
            <a:spLocks xmlns:a="http://schemas.openxmlformats.org/drawingml/2006/main" noGrp="1"/>
          </p:cNvSpPr>
          <p:nvPr/>
        </p:nvSpPr>
        <p:spPr>
          <a:xfrm xmlns:a="http://schemas.openxmlformats.org/drawingml/2006/main">
            <a:off x="7581900" y="24479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precision</a:t>
            </a:r>
          </a:p>
        </p:txBody>
      </p:sp>
      <p:sp>
        <p:nvSpPr>
          <p:cNvPr id="18" name="">
            <a:extLst xmlns:a="http://schemas.openxmlformats.org/drawingml/2006/main">
              <a:ext uri="{FF2B5EF4-FFF2-40B4-BE49-F238E27FC236}">
                <a16:creationId xmlns:a16="http://schemas.microsoft.com/office/drawing/2014/main" id="{6001CAD0-392E-4515-BC2F-CD14EF12DD5B}"/>
              </a:ext>
            </a:extLst>
          </p:cNvPr>
          <p:cNvSpPr>
            <a:spLocks xmlns:a="http://schemas.openxmlformats.org/drawingml/2006/main" noGrp="1"/>
          </p:cNvSpPr>
          <p:nvPr/>
        </p:nvSpPr>
        <p:spPr>
          <a:xfrm xmlns:a="http://schemas.openxmlformats.org/drawingml/2006/main">
            <a:off x="8839200" y="2371725"/>
            <a:ext cx="13716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9" name="header-6">
            <a:extLst xmlns:a="http://schemas.openxmlformats.org/drawingml/2006/main">
              <a:ext uri="{FF2B5EF4-FFF2-40B4-BE49-F238E27FC236}">
                <a16:creationId xmlns:a16="http://schemas.microsoft.com/office/drawing/2014/main" id="{DAB34027-3D0C-4831-8CF5-84D90E1D79E6}"/>
              </a:ext>
            </a:extLst>
          </p:cNvPr>
          <p:cNvSpPr>
            <a:spLocks xmlns:a="http://schemas.openxmlformats.org/drawingml/2006/main" noGrp="1"/>
          </p:cNvSpPr>
          <p:nvPr/>
        </p:nvSpPr>
        <p:spPr>
          <a:xfrm xmlns:a="http://schemas.openxmlformats.org/drawingml/2006/main">
            <a:off x="8953500" y="24479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recall</a:t>
            </a:r>
          </a:p>
        </p:txBody>
      </p:sp>
      <p:sp>
        <p:nvSpPr>
          <p:cNvPr id="20" name="">
            <a:extLst xmlns:a="http://schemas.openxmlformats.org/drawingml/2006/main">
              <a:ext uri="{FF2B5EF4-FFF2-40B4-BE49-F238E27FC236}">
                <a16:creationId xmlns:a16="http://schemas.microsoft.com/office/drawing/2014/main" id="{879BFD14-B805-4F1E-B092-96363BCA1F3B}"/>
              </a:ext>
            </a:extLst>
          </p:cNvPr>
          <p:cNvSpPr>
            <a:spLocks xmlns:a="http://schemas.openxmlformats.org/drawingml/2006/main" noGrp="1"/>
          </p:cNvSpPr>
          <p:nvPr/>
        </p:nvSpPr>
        <p:spPr>
          <a:xfrm xmlns:a="http://schemas.openxmlformats.org/drawingml/2006/main">
            <a:off x="10210800" y="2371725"/>
            <a:ext cx="13716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21" name="header-7">
            <a:extLst xmlns:a="http://schemas.openxmlformats.org/drawingml/2006/main">
              <a:ext uri="{FF2B5EF4-FFF2-40B4-BE49-F238E27FC236}">
                <a16:creationId xmlns:a16="http://schemas.microsoft.com/office/drawing/2014/main" id="{F2447293-230D-47C9-852D-860610378856}"/>
              </a:ext>
            </a:extLst>
          </p:cNvPr>
          <p:cNvSpPr>
            <a:spLocks xmlns:a="http://schemas.openxmlformats.org/drawingml/2006/main" noGrp="1"/>
          </p:cNvSpPr>
          <p:nvPr/>
        </p:nvSpPr>
        <p:spPr>
          <a:xfrm xmlns:a="http://schemas.openxmlformats.org/drawingml/2006/main">
            <a:off x="10325100" y="24479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F1</a:t>
            </a:r>
          </a:p>
        </p:txBody>
      </p:sp>
      <p:sp>
        <p:nvSpPr>
          <p:cNvPr id="22" name="">
            <a:extLst xmlns:a="http://schemas.openxmlformats.org/drawingml/2006/main">
              <a:ext uri="{FF2B5EF4-FFF2-40B4-BE49-F238E27FC236}">
                <a16:creationId xmlns:a16="http://schemas.microsoft.com/office/drawing/2014/main" id="{BC35D51A-24C2-497B-BFD3-0643E1A98B8A}"/>
              </a:ext>
            </a:extLst>
          </p:cNvPr>
          <p:cNvSpPr>
            <a:spLocks xmlns:a="http://schemas.openxmlformats.org/drawingml/2006/main" noGrp="1"/>
          </p:cNvSpPr>
          <p:nvPr/>
        </p:nvSpPr>
        <p:spPr>
          <a:xfrm xmlns:a="http://schemas.openxmlformats.org/drawingml/2006/main">
            <a:off x="609600" y="2905125"/>
            <a:ext cx="1371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3" name="cell-0-0">
            <a:extLst xmlns:a="http://schemas.openxmlformats.org/drawingml/2006/main">
              <a:ext uri="{FF2B5EF4-FFF2-40B4-BE49-F238E27FC236}">
                <a16:creationId xmlns:a16="http://schemas.microsoft.com/office/drawing/2014/main" id="{C19F235B-D61F-4D23-A897-7D9F82B8926E}"/>
              </a:ext>
            </a:extLst>
          </p:cNvPr>
          <p:cNvSpPr>
            <a:spLocks xmlns:a="http://schemas.openxmlformats.org/drawingml/2006/main" noGrp="1"/>
          </p:cNvSpPr>
          <p:nvPr/>
        </p:nvSpPr>
        <p:spPr>
          <a:xfrm xmlns:a="http://schemas.openxmlformats.org/drawingml/2006/main">
            <a:off x="723900" y="29813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0.3</a:t>
            </a:r>
          </a:p>
        </p:txBody>
      </p:sp>
      <p:sp>
        <p:nvSpPr>
          <p:cNvPr id="24" name="">
            <a:extLst xmlns:a="http://schemas.openxmlformats.org/drawingml/2006/main">
              <a:ext uri="{FF2B5EF4-FFF2-40B4-BE49-F238E27FC236}">
                <a16:creationId xmlns:a16="http://schemas.microsoft.com/office/drawing/2014/main" id="{0EDA6CD3-4EA0-4947-B96B-67541FA79310}"/>
              </a:ext>
            </a:extLst>
          </p:cNvPr>
          <p:cNvSpPr>
            <a:spLocks xmlns:a="http://schemas.openxmlformats.org/drawingml/2006/main" noGrp="1"/>
          </p:cNvSpPr>
          <p:nvPr/>
        </p:nvSpPr>
        <p:spPr>
          <a:xfrm xmlns:a="http://schemas.openxmlformats.org/drawingml/2006/main">
            <a:off x="1981200" y="2905125"/>
            <a:ext cx="1371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5" name="cell-0-1">
            <a:extLst xmlns:a="http://schemas.openxmlformats.org/drawingml/2006/main">
              <a:ext uri="{FF2B5EF4-FFF2-40B4-BE49-F238E27FC236}">
                <a16:creationId xmlns:a16="http://schemas.microsoft.com/office/drawing/2014/main" id="{CBD160FD-C550-4D18-834D-629E87252EB3}"/>
              </a:ext>
            </a:extLst>
          </p:cNvPr>
          <p:cNvSpPr>
            <a:spLocks xmlns:a="http://schemas.openxmlformats.org/drawingml/2006/main" noGrp="1"/>
          </p:cNvSpPr>
          <p:nvPr/>
        </p:nvSpPr>
        <p:spPr>
          <a:xfrm xmlns:a="http://schemas.openxmlformats.org/drawingml/2006/main">
            <a:off x="2095500" y="29813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12</a:t>
            </a:r>
          </a:p>
        </p:txBody>
      </p:sp>
      <p:sp>
        <p:nvSpPr>
          <p:cNvPr id="26" name="">
            <a:extLst xmlns:a="http://schemas.openxmlformats.org/drawingml/2006/main">
              <a:ext uri="{FF2B5EF4-FFF2-40B4-BE49-F238E27FC236}">
                <a16:creationId xmlns:a16="http://schemas.microsoft.com/office/drawing/2014/main" id="{3671E49E-399B-4A65-9CC6-B60B39A6869A}"/>
              </a:ext>
            </a:extLst>
          </p:cNvPr>
          <p:cNvSpPr>
            <a:spLocks xmlns:a="http://schemas.openxmlformats.org/drawingml/2006/main" noGrp="1"/>
          </p:cNvSpPr>
          <p:nvPr/>
        </p:nvSpPr>
        <p:spPr>
          <a:xfrm xmlns:a="http://schemas.openxmlformats.org/drawingml/2006/main">
            <a:off x="3352800" y="2905125"/>
            <a:ext cx="1371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7" name="cell-0-2">
            <a:extLst xmlns:a="http://schemas.openxmlformats.org/drawingml/2006/main">
              <a:ext uri="{FF2B5EF4-FFF2-40B4-BE49-F238E27FC236}">
                <a16:creationId xmlns:a16="http://schemas.microsoft.com/office/drawing/2014/main" id="{8E5EE84F-35A4-4FB8-80AE-66A0FD939A59}"/>
              </a:ext>
            </a:extLst>
          </p:cNvPr>
          <p:cNvSpPr>
            <a:spLocks xmlns:a="http://schemas.openxmlformats.org/drawingml/2006/main" noGrp="1"/>
          </p:cNvSpPr>
          <p:nvPr/>
        </p:nvSpPr>
        <p:spPr>
          <a:xfrm xmlns:a="http://schemas.openxmlformats.org/drawingml/2006/main">
            <a:off x="3467100" y="29813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7</a:t>
            </a:r>
          </a:p>
        </p:txBody>
      </p:sp>
      <p:sp>
        <p:nvSpPr>
          <p:cNvPr id="28" name="">
            <a:extLst xmlns:a="http://schemas.openxmlformats.org/drawingml/2006/main">
              <a:ext uri="{FF2B5EF4-FFF2-40B4-BE49-F238E27FC236}">
                <a16:creationId xmlns:a16="http://schemas.microsoft.com/office/drawing/2014/main" id="{D1B5CB40-A335-429E-A7DC-8B22E1396E0E}"/>
              </a:ext>
            </a:extLst>
          </p:cNvPr>
          <p:cNvSpPr>
            <a:spLocks xmlns:a="http://schemas.openxmlformats.org/drawingml/2006/main" noGrp="1"/>
          </p:cNvSpPr>
          <p:nvPr/>
        </p:nvSpPr>
        <p:spPr>
          <a:xfrm xmlns:a="http://schemas.openxmlformats.org/drawingml/2006/main">
            <a:off x="4724400" y="2905125"/>
            <a:ext cx="1371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9" name="cell-0-3">
            <a:extLst xmlns:a="http://schemas.openxmlformats.org/drawingml/2006/main">
              <a:ext uri="{FF2B5EF4-FFF2-40B4-BE49-F238E27FC236}">
                <a16:creationId xmlns:a16="http://schemas.microsoft.com/office/drawing/2014/main" id="{44A28702-8BAE-4C1F-AC69-CAD610770750}"/>
              </a:ext>
            </a:extLst>
          </p:cNvPr>
          <p:cNvSpPr>
            <a:spLocks xmlns:a="http://schemas.openxmlformats.org/drawingml/2006/main" noGrp="1"/>
          </p:cNvSpPr>
          <p:nvPr/>
        </p:nvSpPr>
        <p:spPr>
          <a:xfrm xmlns:a="http://schemas.openxmlformats.org/drawingml/2006/main">
            <a:off x="4838700" y="29813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a:t>
            </a:r>
          </a:p>
        </p:txBody>
      </p:sp>
      <p:sp>
        <p:nvSpPr>
          <p:cNvPr id="30" name="">
            <a:extLst xmlns:a="http://schemas.openxmlformats.org/drawingml/2006/main">
              <a:ext uri="{FF2B5EF4-FFF2-40B4-BE49-F238E27FC236}">
                <a16:creationId xmlns:a16="http://schemas.microsoft.com/office/drawing/2014/main" id="{2CADD2E4-9435-4BDF-A18B-2C4B89630697}"/>
              </a:ext>
            </a:extLst>
          </p:cNvPr>
          <p:cNvSpPr>
            <a:spLocks xmlns:a="http://schemas.openxmlformats.org/drawingml/2006/main" noGrp="1"/>
          </p:cNvSpPr>
          <p:nvPr/>
        </p:nvSpPr>
        <p:spPr>
          <a:xfrm xmlns:a="http://schemas.openxmlformats.org/drawingml/2006/main">
            <a:off x="6096000" y="2905125"/>
            <a:ext cx="1371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1" name="cell-0-4">
            <a:extLst xmlns:a="http://schemas.openxmlformats.org/drawingml/2006/main">
              <a:ext uri="{FF2B5EF4-FFF2-40B4-BE49-F238E27FC236}">
                <a16:creationId xmlns:a16="http://schemas.microsoft.com/office/drawing/2014/main" id="{E4F41314-C212-440A-A2F5-88B8C6583772}"/>
              </a:ext>
            </a:extLst>
          </p:cNvPr>
          <p:cNvSpPr>
            <a:spLocks xmlns:a="http://schemas.openxmlformats.org/drawingml/2006/main" noGrp="1"/>
          </p:cNvSpPr>
          <p:nvPr/>
        </p:nvSpPr>
        <p:spPr>
          <a:xfrm xmlns:a="http://schemas.openxmlformats.org/drawingml/2006/main">
            <a:off x="6210300" y="29813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8</a:t>
            </a:r>
          </a:p>
        </p:txBody>
      </p:sp>
      <p:sp>
        <p:nvSpPr>
          <p:cNvPr id="32" name="">
            <a:extLst xmlns:a="http://schemas.openxmlformats.org/drawingml/2006/main">
              <a:ext uri="{FF2B5EF4-FFF2-40B4-BE49-F238E27FC236}">
                <a16:creationId xmlns:a16="http://schemas.microsoft.com/office/drawing/2014/main" id="{908DADDE-654E-4C49-88C5-EFEBC10F2B07}"/>
              </a:ext>
            </a:extLst>
          </p:cNvPr>
          <p:cNvSpPr>
            <a:spLocks xmlns:a="http://schemas.openxmlformats.org/drawingml/2006/main" noGrp="1"/>
          </p:cNvSpPr>
          <p:nvPr/>
        </p:nvSpPr>
        <p:spPr>
          <a:xfrm xmlns:a="http://schemas.openxmlformats.org/drawingml/2006/main">
            <a:off x="7467600" y="2905125"/>
            <a:ext cx="1371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3" name="cell-0-5">
            <a:extLst xmlns:a="http://schemas.openxmlformats.org/drawingml/2006/main">
              <a:ext uri="{FF2B5EF4-FFF2-40B4-BE49-F238E27FC236}">
                <a16:creationId xmlns:a16="http://schemas.microsoft.com/office/drawing/2014/main" id="{E31838FD-67A3-4987-87E2-BA394EC6C75C}"/>
              </a:ext>
            </a:extLst>
          </p:cNvPr>
          <p:cNvSpPr>
            <a:spLocks xmlns:a="http://schemas.openxmlformats.org/drawingml/2006/main" noGrp="1"/>
          </p:cNvSpPr>
          <p:nvPr/>
        </p:nvSpPr>
        <p:spPr>
          <a:xfrm xmlns:a="http://schemas.openxmlformats.org/drawingml/2006/main">
            <a:off x="7581900" y="29813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0.533</a:t>
            </a:r>
          </a:p>
        </p:txBody>
      </p:sp>
      <p:sp>
        <p:nvSpPr>
          <p:cNvPr id="34" name="">
            <a:extLst xmlns:a="http://schemas.openxmlformats.org/drawingml/2006/main">
              <a:ext uri="{FF2B5EF4-FFF2-40B4-BE49-F238E27FC236}">
                <a16:creationId xmlns:a16="http://schemas.microsoft.com/office/drawing/2014/main" id="{F6B67DF9-211B-470A-BF6B-942312DE5F5D}"/>
              </a:ext>
            </a:extLst>
          </p:cNvPr>
          <p:cNvSpPr>
            <a:spLocks xmlns:a="http://schemas.openxmlformats.org/drawingml/2006/main" noGrp="1"/>
          </p:cNvSpPr>
          <p:nvPr/>
        </p:nvSpPr>
        <p:spPr>
          <a:xfrm xmlns:a="http://schemas.openxmlformats.org/drawingml/2006/main">
            <a:off x="8839200" y="2905125"/>
            <a:ext cx="1371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5" name="cell-0-6">
            <a:extLst xmlns:a="http://schemas.openxmlformats.org/drawingml/2006/main">
              <a:ext uri="{FF2B5EF4-FFF2-40B4-BE49-F238E27FC236}">
                <a16:creationId xmlns:a16="http://schemas.microsoft.com/office/drawing/2014/main" id="{0DFE8F37-D0F8-4EA2-A143-4E528FD30C49}"/>
              </a:ext>
            </a:extLst>
          </p:cNvPr>
          <p:cNvSpPr>
            <a:spLocks xmlns:a="http://schemas.openxmlformats.org/drawingml/2006/main" noGrp="1"/>
          </p:cNvSpPr>
          <p:nvPr/>
        </p:nvSpPr>
        <p:spPr>
          <a:xfrm xmlns:a="http://schemas.openxmlformats.org/drawingml/2006/main">
            <a:off x="8953500" y="29813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0.889</a:t>
            </a:r>
          </a:p>
        </p:txBody>
      </p:sp>
      <p:sp>
        <p:nvSpPr>
          <p:cNvPr id="36" name="">
            <a:extLst xmlns:a="http://schemas.openxmlformats.org/drawingml/2006/main">
              <a:ext uri="{FF2B5EF4-FFF2-40B4-BE49-F238E27FC236}">
                <a16:creationId xmlns:a16="http://schemas.microsoft.com/office/drawing/2014/main" id="{964ECF60-6F29-4A86-92C0-76D3872C156F}"/>
              </a:ext>
            </a:extLst>
          </p:cNvPr>
          <p:cNvSpPr>
            <a:spLocks xmlns:a="http://schemas.openxmlformats.org/drawingml/2006/main" noGrp="1"/>
          </p:cNvSpPr>
          <p:nvPr/>
        </p:nvSpPr>
        <p:spPr>
          <a:xfrm xmlns:a="http://schemas.openxmlformats.org/drawingml/2006/main">
            <a:off x="10210800" y="2905125"/>
            <a:ext cx="1371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0-7">
            <a:extLst xmlns:a="http://schemas.openxmlformats.org/drawingml/2006/main">
              <a:ext uri="{FF2B5EF4-FFF2-40B4-BE49-F238E27FC236}">
                <a16:creationId xmlns:a16="http://schemas.microsoft.com/office/drawing/2014/main" id="{7C1A85B5-9019-45B8-B146-4C2BBD5E2BD7}"/>
              </a:ext>
            </a:extLst>
          </p:cNvPr>
          <p:cNvSpPr>
            <a:spLocks xmlns:a="http://schemas.openxmlformats.org/drawingml/2006/main" noGrp="1"/>
          </p:cNvSpPr>
          <p:nvPr/>
        </p:nvSpPr>
        <p:spPr>
          <a:xfrm xmlns:a="http://schemas.openxmlformats.org/drawingml/2006/main">
            <a:off x="10325100" y="29813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0.667</a:t>
            </a:r>
          </a:p>
        </p:txBody>
      </p:sp>
      <p:sp>
        <p:nvSpPr>
          <p:cNvPr id="38" name="">
            <a:extLst xmlns:a="http://schemas.openxmlformats.org/drawingml/2006/main">
              <a:ext uri="{FF2B5EF4-FFF2-40B4-BE49-F238E27FC236}">
                <a16:creationId xmlns:a16="http://schemas.microsoft.com/office/drawing/2014/main" id="{665C2317-7259-4229-9118-4C94A7FC0B43}"/>
              </a:ext>
            </a:extLst>
          </p:cNvPr>
          <p:cNvSpPr>
            <a:spLocks xmlns:a="http://schemas.openxmlformats.org/drawingml/2006/main" noGrp="1"/>
          </p:cNvSpPr>
          <p:nvPr/>
        </p:nvSpPr>
        <p:spPr>
          <a:xfrm xmlns:a="http://schemas.openxmlformats.org/drawingml/2006/main">
            <a:off x="609600" y="3438525"/>
            <a:ext cx="13716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9" name="cell-1-0">
            <a:extLst xmlns:a="http://schemas.openxmlformats.org/drawingml/2006/main">
              <a:ext uri="{FF2B5EF4-FFF2-40B4-BE49-F238E27FC236}">
                <a16:creationId xmlns:a16="http://schemas.microsoft.com/office/drawing/2014/main" id="{9470DC99-8E22-43F6-A895-C313CAF8ABDA}"/>
              </a:ext>
            </a:extLst>
          </p:cNvPr>
          <p:cNvSpPr>
            <a:spLocks xmlns:a="http://schemas.openxmlformats.org/drawingml/2006/main" noGrp="1"/>
          </p:cNvSpPr>
          <p:nvPr/>
        </p:nvSpPr>
        <p:spPr>
          <a:xfrm xmlns:a="http://schemas.openxmlformats.org/drawingml/2006/main">
            <a:off x="723900" y="35147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0.4</a:t>
            </a:r>
          </a:p>
        </p:txBody>
      </p:sp>
      <p:sp>
        <p:nvSpPr>
          <p:cNvPr id="40" name="">
            <a:extLst xmlns:a="http://schemas.openxmlformats.org/drawingml/2006/main">
              <a:ext uri="{FF2B5EF4-FFF2-40B4-BE49-F238E27FC236}">
                <a16:creationId xmlns:a16="http://schemas.microsoft.com/office/drawing/2014/main" id="{7DEC2A47-DCA2-44F0-9554-B9EE10E17117}"/>
              </a:ext>
            </a:extLst>
          </p:cNvPr>
          <p:cNvSpPr>
            <a:spLocks xmlns:a="http://schemas.openxmlformats.org/drawingml/2006/main" noGrp="1"/>
          </p:cNvSpPr>
          <p:nvPr/>
        </p:nvSpPr>
        <p:spPr>
          <a:xfrm xmlns:a="http://schemas.openxmlformats.org/drawingml/2006/main">
            <a:off x="1981200" y="3438525"/>
            <a:ext cx="13716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1" name="cell-1-1">
            <a:extLst xmlns:a="http://schemas.openxmlformats.org/drawingml/2006/main">
              <a:ext uri="{FF2B5EF4-FFF2-40B4-BE49-F238E27FC236}">
                <a16:creationId xmlns:a16="http://schemas.microsoft.com/office/drawing/2014/main" id="{F0E127CA-26C9-4BD1-BC06-70DCA7DEBCFC}"/>
              </a:ext>
            </a:extLst>
          </p:cNvPr>
          <p:cNvSpPr>
            <a:spLocks xmlns:a="http://schemas.openxmlformats.org/drawingml/2006/main" noGrp="1"/>
          </p:cNvSpPr>
          <p:nvPr/>
        </p:nvSpPr>
        <p:spPr>
          <a:xfrm xmlns:a="http://schemas.openxmlformats.org/drawingml/2006/main">
            <a:off x="2095500" y="35147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17</a:t>
            </a:r>
          </a:p>
        </p:txBody>
      </p:sp>
      <p:sp>
        <p:nvSpPr>
          <p:cNvPr id="42" name="">
            <a:extLst xmlns:a="http://schemas.openxmlformats.org/drawingml/2006/main">
              <a:ext uri="{FF2B5EF4-FFF2-40B4-BE49-F238E27FC236}">
                <a16:creationId xmlns:a16="http://schemas.microsoft.com/office/drawing/2014/main" id="{ACF20437-61C7-4706-BF5A-DB3789CCB536}"/>
              </a:ext>
            </a:extLst>
          </p:cNvPr>
          <p:cNvSpPr>
            <a:spLocks xmlns:a="http://schemas.openxmlformats.org/drawingml/2006/main" noGrp="1"/>
          </p:cNvSpPr>
          <p:nvPr/>
        </p:nvSpPr>
        <p:spPr>
          <a:xfrm xmlns:a="http://schemas.openxmlformats.org/drawingml/2006/main">
            <a:off x="3352800" y="3438525"/>
            <a:ext cx="13716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3" name="cell-1-2">
            <a:extLst xmlns:a="http://schemas.openxmlformats.org/drawingml/2006/main">
              <a:ext uri="{FF2B5EF4-FFF2-40B4-BE49-F238E27FC236}">
                <a16:creationId xmlns:a16="http://schemas.microsoft.com/office/drawing/2014/main" id="{64E16B61-8833-43F3-9A4C-D8D46087915C}"/>
              </a:ext>
            </a:extLst>
          </p:cNvPr>
          <p:cNvSpPr>
            <a:spLocks xmlns:a="http://schemas.openxmlformats.org/drawingml/2006/main" noGrp="1"/>
          </p:cNvSpPr>
          <p:nvPr/>
        </p:nvSpPr>
        <p:spPr>
          <a:xfrm xmlns:a="http://schemas.openxmlformats.org/drawingml/2006/main">
            <a:off x="3467100" y="35147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a:t>
            </a:r>
          </a:p>
        </p:txBody>
      </p:sp>
      <p:sp>
        <p:nvSpPr>
          <p:cNvPr id="44" name="">
            <a:extLst xmlns:a="http://schemas.openxmlformats.org/drawingml/2006/main">
              <a:ext uri="{FF2B5EF4-FFF2-40B4-BE49-F238E27FC236}">
                <a16:creationId xmlns:a16="http://schemas.microsoft.com/office/drawing/2014/main" id="{DC7CB1A2-B533-4FF5-9DA3-E1E1234FC361}"/>
              </a:ext>
            </a:extLst>
          </p:cNvPr>
          <p:cNvSpPr>
            <a:spLocks xmlns:a="http://schemas.openxmlformats.org/drawingml/2006/main" noGrp="1"/>
          </p:cNvSpPr>
          <p:nvPr/>
        </p:nvSpPr>
        <p:spPr>
          <a:xfrm xmlns:a="http://schemas.openxmlformats.org/drawingml/2006/main">
            <a:off x="4724400" y="3438525"/>
            <a:ext cx="13716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5" name="cell-1-3">
            <a:extLst xmlns:a="http://schemas.openxmlformats.org/drawingml/2006/main">
              <a:ext uri="{FF2B5EF4-FFF2-40B4-BE49-F238E27FC236}">
                <a16:creationId xmlns:a16="http://schemas.microsoft.com/office/drawing/2014/main" id="{D07B4F7E-CCD7-44FA-9225-E442B503FB5C}"/>
              </a:ext>
            </a:extLst>
          </p:cNvPr>
          <p:cNvSpPr>
            <a:spLocks xmlns:a="http://schemas.openxmlformats.org/drawingml/2006/main" noGrp="1"/>
          </p:cNvSpPr>
          <p:nvPr/>
        </p:nvSpPr>
        <p:spPr>
          <a:xfrm xmlns:a="http://schemas.openxmlformats.org/drawingml/2006/main">
            <a:off x="4838700" y="35147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a:t>
            </a:r>
          </a:p>
        </p:txBody>
      </p:sp>
      <p:sp>
        <p:nvSpPr>
          <p:cNvPr id="46" name="">
            <a:extLst xmlns:a="http://schemas.openxmlformats.org/drawingml/2006/main">
              <a:ext uri="{FF2B5EF4-FFF2-40B4-BE49-F238E27FC236}">
                <a16:creationId xmlns:a16="http://schemas.microsoft.com/office/drawing/2014/main" id="{1780A73E-BB2B-450D-81F1-98ABE3D43785}"/>
              </a:ext>
            </a:extLst>
          </p:cNvPr>
          <p:cNvSpPr>
            <a:spLocks xmlns:a="http://schemas.openxmlformats.org/drawingml/2006/main" noGrp="1"/>
          </p:cNvSpPr>
          <p:nvPr/>
        </p:nvSpPr>
        <p:spPr>
          <a:xfrm xmlns:a="http://schemas.openxmlformats.org/drawingml/2006/main">
            <a:off x="6096000" y="3438525"/>
            <a:ext cx="13716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7" name="cell-1-4">
            <a:extLst xmlns:a="http://schemas.openxmlformats.org/drawingml/2006/main">
              <a:ext uri="{FF2B5EF4-FFF2-40B4-BE49-F238E27FC236}">
                <a16:creationId xmlns:a16="http://schemas.microsoft.com/office/drawing/2014/main" id="{A36290FD-4EAA-4955-A911-3939EE82824D}"/>
              </a:ext>
            </a:extLst>
          </p:cNvPr>
          <p:cNvSpPr>
            <a:spLocks xmlns:a="http://schemas.openxmlformats.org/drawingml/2006/main" noGrp="1"/>
          </p:cNvSpPr>
          <p:nvPr/>
        </p:nvSpPr>
        <p:spPr>
          <a:xfrm xmlns:a="http://schemas.openxmlformats.org/drawingml/2006/main">
            <a:off x="6210300" y="35147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8</a:t>
            </a:r>
          </a:p>
        </p:txBody>
      </p:sp>
      <p:sp>
        <p:nvSpPr>
          <p:cNvPr id="48" name="">
            <a:extLst xmlns:a="http://schemas.openxmlformats.org/drawingml/2006/main">
              <a:ext uri="{FF2B5EF4-FFF2-40B4-BE49-F238E27FC236}">
                <a16:creationId xmlns:a16="http://schemas.microsoft.com/office/drawing/2014/main" id="{24B4EFEE-C76A-43C5-940A-4BAB6622F7CD}"/>
              </a:ext>
            </a:extLst>
          </p:cNvPr>
          <p:cNvSpPr>
            <a:spLocks xmlns:a="http://schemas.openxmlformats.org/drawingml/2006/main" noGrp="1"/>
          </p:cNvSpPr>
          <p:nvPr/>
        </p:nvSpPr>
        <p:spPr>
          <a:xfrm xmlns:a="http://schemas.openxmlformats.org/drawingml/2006/main">
            <a:off x="7467600" y="3438525"/>
            <a:ext cx="13716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9" name="cell-1-5">
            <a:extLst xmlns:a="http://schemas.openxmlformats.org/drawingml/2006/main">
              <a:ext uri="{FF2B5EF4-FFF2-40B4-BE49-F238E27FC236}">
                <a16:creationId xmlns:a16="http://schemas.microsoft.com/office/drawing/2014/main" id="{955CF924-5384-4376-99C1-E1CC8A133099}"/>
              </a:ext>
            </a:extLst>
          </p:cNvPr>
          <p:cNvSpPr>
            <a:spLocks xmlns:a="http://schemas.openxmlformats.org/drawingml/2006/main" noGrp="1"/>
          </p:cNvSpPr>
          <p:nvPr/>
        </p:nvSpPr>
        <p:spPr>
          <a:xfrm xmlns:a="http://schemas.openxmlformats.org/drawingml/2006/main">
            <a:off x="7581900" y="35147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0.800</a:t>
            </a:r>
          </a:p>
        </p:txBody>
      </p:sp>
      <p:sp>
        <p:nvSpPr>
          <p:cNvPr id="50" name="">
            <a:extLst xmlns:a="http://schemas.openxmlformats.org/drawingml/2006/main">
              <a:ext uri="{FF2B5EF4-FFF2-40B4-BE49-F238E27FC236}">
                <a16:creationId xmlns:a16="http://schemas.microsoft.com/office/drawing/2014/main" id="{BB98B390-03B6-473B-8767-71452C75B288}"/>
              </a:ext>
            </a:extLst>
          </p:cNvPr>
          <p:cNvSpPr>
            <a:spLocks xmlns:a="http://schemas.openxmlformats.org/drawingml/2006/main" noGrp="1"/>
          </p:cNvSpPr>
          <p:nvPr/>
        </p:nvSpPr>
        <p:spPr>
          <a:xfrm xmlns:a="http://schemas.openxmlformats.org/drawingml/2006/main">
            <a:off x="8839200" y="3438525"/>
            <a:ext cx="13716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51" name="cell-1-6">
            <a:extLst xmlns:a="http://schemas.openxmlformats.org/drawingml/2006/main">
              <a:ext uri="{FF2B5EF4-FFF2-40B4-BE49-F238E27FC236}">
                <a16:creationId xmlns:a16="http://schemas.microsoft.com/office/drawing/2014/main" id="{F15072EE-7B7E-4882-8D92-9D2ACA1C7F7F}"/>
              </a:ext>
            </a:extLst>
          </p:cNvPr>
          <p:cNvSpPr>
            <a:spLocks xmlns:a="http://schemas.openxmlformats.org/drawingml/2006/main" noGrp="1"/>
          </p:cNvSpPr>
          <p:nvPr/>
        </p:nvSpPr>
        <p:spPr>
          <a:xfrm xmlns:a="http://schemas.openxmlformats.org/drawingml/2006/main">
            <a:off x="8953500" y="35147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0.889</a:t>
            </a:r>
          </a:p>
        </p:txBody>
      </p:sp>
      <p:sp>
        <p:nvSpPr>
          <p:cNvPr id="52" name="">
            <a:extLst xmlns:a="http://schemas.openxmlformats.org/drawingml/2006/main">
              <a:ext uri="{FF2B5EF4-FFF2-40B4-BE49-F238E27FC236}">
                <a16:creationId xmlns:a16="http://schemas.microsoft.com/office/drawing/2014/main" id="{4B3200A4-8689-4478-B437-20603E901209}"/>
              </a:ext>
            </a:extLst>
          </p:cNvPr>
          <p:cNvSpPr>
            <a:spLocks xmlns:a="http://schemas.openxmlformats.org/drawingml/2006/main" noGrp="1"/>
          </p:cNvSpPr>
          <p:nvPr/>
        </p:nvSpPr>
        <p:spPr>
          <a:xfrm xmlns:a="http://schemas.openxmlformats.org/drawingml/2006/main">
            <a:off x="10210800" y="3438525"/>
            <a:ext cx="13716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53" name="cell-1-7">
            <a:extLst xmlns:a="http://schemas.openxmlformats.org/drawingml/2006/main">
              <a:ext uri="{FF2B5EF4-FFF2-40B4-BE49-F238E27FC236}">
                <a16:creationId xmlns:a16="http://schemas.microsoft.com/office/drawing/2014/main" id="{29C6CFE0-57BD-4854-AADE-C73C9102153A}"/>
              </a:ext>
            </a:extLst>
          </p:cNvPr>
          <p:cNvSpPr>
            <a:spLocks xmlns:a="http://schemas.openxmlformats.org/drawingml/2006/main" noGrp="1"/>
          </p:cNvSpPr>
          <p:nvPr/>
        </p:nvSpPr>
        <p:spPr>
          <a:xfrm xmlns:a="http://schemas.openxmlformats.org/drawingml/2006/main">
            <a:off x="10325100" y="35147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0.842</a:t>
            </a:r>
          </a:p>
        </p:txBody>
      </p:sp>
      <p:sp>
        <p:nvSpPr>
          <p:cNvPr id="54" name="">
            <a:extLst xmlns:a="http://schemas.openxmlformats.org/drawingml/2006/main">
              <a:ext uri="{FF2B5EF4-FFF2-40B4-BE49-F238E27FC236}">
                <a16:creationId xmlns:a16="http://schemas.microsoft.com/office/drawing/2014/main" id="{9650B698-D4A6-4CD8-A39C-EC31182ED227}"/>
              </a:ext>
            </a:extLst>
          </p:cNvPr>
          <p:cNvSpPr>
            <a:spLocks xmlns:a="http://schemas.openxmlformats.org/drawingml/2006/main" noGrp="1"/>
          </p:cNvSpPr>
          <p:nvPr/>
        </p:nvSpPr>
        <p:spPr>
          <a:xfrm xmlns:a="http://schemas.openxmlformats.org/drawingml/2006/main">
            <a:off x="609600" y="3971925"/>
            <a:ext cx="13716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55" name="cell-2-0">
            <a:extLst xmlns:a="http://schemas.openxmlformats.org/drawingml/2006/main">
              <a:ext uri="{FF2B5EF4-FFF2-40B4-BE49-F238E27FC236}">
                <a16:creationId xmlns:a16="http://schemas.microsoft.com/office/drawing/2014/main" id="{F6BA2F7F-DE8A-4B5E-8443-47852F7DC8B1}"/>
              </a:ext>
            </a:extLst>
          </p:cNvPr>
          <p:cNvSpPr>
            <a:spLocks xmlns:a="http://schemas.openxmlformats.org/drawingml/2006/main" noGrp="1"/>
          </p:cNvSpPr>
          <p:nvPr/>
        </p:nvSpPr>
        <p:spPr>
          <a:xfrm xmlns:a="http://schemas.openxmlformats.org/drawingml/2006/main">
            <a:off x="723900" y="4048125"/>
            <a:ext cx="11430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0.5 (selected)</a:t>
            </a:r>
          </a:p>
        </p:txBody>
      </p:sp>
      <p:sp>
        <p:nvSpPr>
          <p:cNvPr id="56" name="">
            <a:extLst xmlns:a="http://schemas.openxmlformats.org/drawingml/2006/main">
              <a:ext uri="{FF2B5EF4-FFF2-40B4-BE49-F238E27FC236}">
                <a16:creationId xmlns:a16="http://schemas.microsoft.com/office/drawing/2014/main" id="{8A4F737F-745D-4BF9-B282-91E700018901}"/>
              </a:ext>
            </a:extLst>
          </p:cNvPr>
          <p:cNvSpPr>
            <a:spLocks xmlns:a="http://schemas.openxmlformats.org/drawingml/2006/main" noGrp="1"/>
          </p:cNvSpPr>
          <p:nvPr/>
        </p:nvSpPr>
        <p:spPr>
          <a:xfrm xmlns:a="http://schemas.openxmlformats.org/drawingml/2006/main">
            <a:off x="1981200" y="3971925"/>
            <a:ext cx="13716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57" name="cell-2-1">
            <a:extLst xmlns:a="http://schemas.openxmlformats.org/drawingml/2006/main">
              <a:ext uri="{FF2B5EF4-FFF2-40B4-BE49-F238E27FC236}">
                <a16:creationId xmlns:a16="http://schemas.microsoft.com/office/drawing/2014/main" id="{7621D70F-075F-464D-895B-6CABDB333EA0}"/>
              </a:ext>
            </a:extLst>
          </p:cNvPr>
          <p:cNvSpPr>
            <a:spLocks xmlns:a="http://schemas.openxmlformats.org/drawingml/2006/main" noGrp="1"/>
          </p:cNvSpPr>
          <p:nvPr/>
        </p:nvSpPr>
        <p:spPr>
          <a:xfrm xmlns:a="http://schemas.openxmlformats.org/drawingml/2006/main">
            <a:off x="2095500" y="4048125"/>
            <a:ext cx="11430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18</a:t>
            </a:r>
          </a:p>
        </p:txBody>
      </p:sp>
      <p:sp>
        <p:nvSpPr>
          <p:cNvPr id="58" name="">
            <a:extLst xmlns:a="http://schemas.openxmlformats.org/drawingml/2006/main">
              <a:ext uri="{FF2B5EF4-FFF2-40B4-BE49-F238E27FC236}">
                <a16:creationId xmlns:a16="http://schemas.microsoft.com/office/drawing/2014/main" id="{17F5DBDA-908C-4F1D-B8C5-DDCA2EC568B0}"/>
              </a:ext>
            </a:extLst>
          </p:cNvPr>
          <p:cNvSpPr>
            <a:spLocks xmlns:a="http://schemas.openxmlformats.org/drawingml/2006/main" noGrp="1"/>
          </p:cNvSpPr>
          <p:nvPr/>
        </p:nvSpPr>
        <p:spPr>
          <a:xfrm xmlns:a="http://schemas.openxmlformats.org/drawingml/2006/main">
            <a:off x="3352800" y="3971925"/>
            <a:ext cx="13716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59" name="cell-2-2">
            <a:extLst xmlns:a="http://schemas.openxmlformats.org/drawingml/2006/main">
              <a:ext uri="{FF2B5EF4-FFF2-40B4-BE49-F238E27FC236}">
                <a16:creationId xmlns:a16="http://schemas.microsoft.com/office/drawing/2014/main" id="{34F22929-A0B6-448C-808B-A5DFA61C581B}"/>
              </a:ext>
            </a:extLst>
          </p:cNvPr>
          <p:cNvSpPr>
            <a:spLocks xmlns:a="http://schemas.openxmlformats.org/drawingml/2006/main" noGrp="1"/>
          </p:cNvSpPr>
          <p:nvPr/>
        </p:nvSpPr>
        <p:spPr>
          <a:xfrm xmlns:a="http://schemas.openxmlformats.org/drawingml/2006/main">
            <a:off x="3467100" y="4048125"/>
            <a:ext cx="11430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a:t>
            </a:r>
          </a:p>
        </p:txBody>
      </p:sp>
      <p:sp>
        <p:nvSpPr>
          <p:cNvPr id="60" name="">
            <a:extLst xmlns:a="http://schemas.openxmlformats.org/drawingml/2006/main">
              <a:ext uri="{FF2B5EF4-FFF2-40B4-BE49-F238E27FC236}">
                <a16:creationId xmlns:a16="http://schemas.microsoft.com/office/drawing/2014/main" id="{43943F8A-F4CD-4777-8E47-B4812E89A64B}"/>
              </a:ext>
            </a:extLst>
          </p:cNvPr>
          <p:cNvSpPr>
            <a:spLocks xmlns:a="http://schemas.openxmlformats.org/drawingml/2006/main" noGrp="1"/>
          </p:cNvSpPr>
          <p:nvPr/>
        </p:nvSpPr>
        <p:spPr>
          <a:xfrm xmlns:a="http://schemas.openxmlformats.org/drawingml/2006/main">
            <a:off x="4724400" y="3971925"/>
            <a:ext cx="13716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61" name="cell-2-3">
            <a:extLst xmlns:a="http://schemas.openxmlformats.org/drawingml/2006/main">
              <a:ext uri="{FF2B5EF4-FFF2-40B4-BE49-F238E27FC236}">
                <a16:creationId xmlns:a16="http://schemas.microsoft.com/office/drawing/2014/main" id="{D19C3640-6A1C-4261-9C49-F9C752DED696}"/>
              </a:ext>
            </a:extLst>
          </p:cNvPr>
          <p:cNvSpPr>
            <a:spLocks xmlns:a="http://schemas.openxmlformats.org/drawingml/2006/main" noGrp="1"/>
          </p:cNvSpPr>
          <p:nvPr/>
        </p:nvSpPr>
        <p:spPr>
          <a:xfrm xmlns:a="http://schemas.openxmlformats.org/drawingml/2006/main">
            <a:off x="4838700" y="4048125"/>
            <a:ext cx="11430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3</a:t>
            </a:r>
          </a:p>
        </p:txBody>
      </p:sp>
      <p:sp>
        <p:nvSpPr>
          <p:cNvPr id="62" name="">
            <a:extLst xmlns:a="http://schemas.openxmlformats.org/drawingml/2006/main">
              <a:ext uri="{FF2B5EF4-FFF2-40B4-BE49-F238E27FC236}">
                <a16:creationId xmlns:a16="http://schemas.microsoft.com/office/drawing/2014/main" id="{199FE381-89FA-4888-B9E2-C48E4CD96938}"/>
              </a:ext>
            </a:extLst>
          </p:cNvPr>
          <p:cNvSpPr>
            <a:spLocks xmlns:a="http://schemas.openxmlformats.org/drawingml/2006/main" noGrp="1"/>
          </p:cNvSpPr>
          <p:nvPr/>
        </p:nvSpPr>
        <p:spPr>
          <a:xfrm xmlns:a="http://schemas.openxmlformats.org/drawingml/2006/main">
            <a:off x="6096000" y="3971925"/>
            <a:ext cx="13716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63" name="cell-2-4">
            <a:extLst xmlns:a="http://schemas.openxmlformats.org/drawingml/2006/main">
              <a:ext uri="{FF2B5EF4-FFF2-40B4-BE49-F238E27FC236}">
                <a16:creationId xmlns:a16="http://schemas.microsoft.com/office/drawing/2014/main" id="{23FC8BE3-8FEC-410B-AD76-9D2279B50683}"/>
              </a:ext>
            </a:extLst>
          </p:cNvPr>
          <p:cNvSpPr>
            <a:spLocks xmlns:a="http://schemas.openxmlformats.org/drawingml/2006/main" noGrp="1"/>
          </p:cNvSpPr>
          <p:nvPr/>
        </p:nvSpPr>
        <p:spPr>
          <a:xfrm xmlns:a="http://schemas.openxmlformats.org/drawingml/2006/main">
            <a:off x="6210300" y="4048125"/>
            <a:ext cx="11430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6</a:t>
            </a:r>
          </a:p>
        </p:txBody>
      </p:sp>
      <p:sp>
        <p:nvSpPr>
          <p:cNvPr id="64" name="">
            <a:extLst xmlns:a="http://schemas.openxmlformats.org/drawingml/2006/main">
              <a:ext uri="{FF2B5EF4-FFF2-40B4-BE49-F238E27FC236}">
                <a16:creationId xmlns:a16="http://schemas.microsoft.com/office/drawing/2014/main" id="{1EFB21F8-3453-446C-A9E6-48B0DB5D1532}"/>
              </a:ext>
            </a:extLst>
          </p:cNvPr>
          <p:cNvSpPr>
            <a:spLocks xmlns:a="http://schemas.openxmlformats.org/drawingml/2006/main" noGrp="1"/>
          </p:cNvSpPr>
          <p:nvPr/>
        </p:nvSpPr>
        <p:spPr>
          <a:xfrm xmlns:a="http://schemas.openxmlformats.org/drawingml/2006/main">
            <a:off x="7467600" y="3971925"/>
            <a:ext cx="13716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65" name="cell-2-5">
            <a:extLst xmlns:a="http://schemas.openxmlformats.org/drawingml/2006/main">
              <a:ext uri="{FF2B5EF4-FFF2-40B4-BE49-F238E27FC236}">
                <a16:creationId xmlns:a16="http://schemas.microsoft.com/office/drawing/2014/main" id="{5F1E66BA-0E55-429B-A42C-78D08D6F9445}"/>
              </a:ext>
            </a:extLst>
          </p:cNvPr>
          <p:cNvSpPr>
            <a:spLocks xmlns:a="http://schemas.openxmlformats.org/drawingml/2006/main" noGrp="1"/>
          </p:cNvSpPr>
          <p:nvPr/>
        </p:nvSpPr>
        <p:spPr>
          <a:xfrm xmlns:a="http://schemas.openxmlformats.org/drawingml/2006/main">
            <a:off x="7581900" y="4048125"/>
            <a:ext cx="11430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0.857</a:t>
            </a:r>
          </a:p>
        </p:txBody>
      </p:sp>
      <p:sp>
        <p:nvSpPr>
          <p:cNvPr id="66" name="">
            <a:extLst xmlns:a="http://schemas.openxmlformats.org/drawingml/2006/main">
              <a:ext uri="{FF2B5EF4-FFF2-40B4-BE49-F238E27FC236}">
                <a16:creationId xmlns:a16="http://schemas.microsoft.com/office/drawing/2014/main" id="{0C34ADEB-D94E-4F5D-A121-0AE4FA2034CF}"/>
              </a:ext>
            </a:extLst>
          </p:cNvPr>
          <p:cNvSpPr>
            <a:spLocks xmlns:a="http://schemas.openxmlformats.org/drawingml/2006/main" noGrp="1"/>
          </p:cNvSpPr>
          <p:nvPr/>
        </p:nvSpPr>
        <p:spPr>
          <a:xfrm xmlns:a="http://schemas.openxmlformats.org/drawingml/2006/main">
            <a:off x="8839200" y="3971925"/>
            <a:ext cx="13716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67" name="cell-2-6">
            <a:extLst xmlns:a="http://schemas.openxmlformats.org/drawingml/2006/main">
              <a:ext uri="{FF2B5EF4-FFF2-40B4-BE49-F238E27FC236}">
                <a16:creationId xmlns:a16="http://schemas.microsoft.com/office/drawing/2014/main" id="{CF37CFF4-9AD5-43CA-8FAA-6173A7DECEC4}"/>
              </a:ext>
            </a:extLst>
          </p:cNvPr>
          <p:cNvSpPr>
            <a:spLocks xmlns:a="http://schemas.openxmlformats.org/drawingml/2006/main" noGrp="1"/>
          </p:cNvSpPr>
          <p:nvPr/>
        </p:nvSpPr>
        <p:spPr>
          <a:xfrm xmlns:a="http://schemas.openxmlformats.org/drawingml/2006/main">
            <a:off x="8953500" y="4048125"/>
            <a:ext cx="11430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0.667</a:t>
            </a:r>
          </a:p>
        </p:txBody>
      </p:sp>
      <p:sp>
        <p:nvSpPr>
          <p:cNvPr id="68" name="">
            <a:extLst xmlns:a="http://schemas.openxmlformats.org/drawingml/2006/main">
              <a:ext uri="{FF2B5EF4-FFF2-40B4-BE49-F238E27FC236}">
                <a16:creationId xmlns:a16="http://schemas.microsoft.com/office/drawing/2014/main" id="{64C2613C-E38D-4C47-A7F1-FBF9FF1166DC}"/>
              </a:ext>
            </a:extLst>
          </p:cNvPr>
          <p:cNvSpPr>
            <a:spLocks xmlns:a="http://schemas.openxmlformats.org/drawingml/2006/main" noGrp="1"/>
          </p:cNvSpPr>
          <p:nvPr/>
        </p:nvSpPr>
        <p:spPr>
          <a:xfrm xmlns:a="http://schemas.openxmlformats.org/drawingml/2006/main">
            <a:off x="10210800" y="3971925"/>
            <a:ext cx="13716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69" name="cell-2-7">
            <a:extLst xmlns:a="http://schemas.openxmlformats.org/drawingml/2006/main">
              <a:ext uri="{FF2B5EF4-FFF2-40B4-BE49-F238E27FC236}">
                <a16:creationId xmlns:a16="http://schemas.microsoft.com/office/drawing/2014/main" id="{7DC6A88F-4758-4E77-901D-42AEDBE5F113}"/>
              </a:ext>
            </a:extLst>
          </p:cNvPr>
          <p:cNvSpPr>
            <a:spLocks xmlns:a="http://schemas.openxmlformats.org/drawingml/2006/main" noGrp="1"/>
          </p:cNvSpPr>
          <p:nvPr/>
        </p:nvSpPr>
        <p:spPr>
          <a:xfrm xmlns:a="http://schemas.openxmlformats.org/drawingml/2006/main">
            <a:off x="10325100" y="4048125"/>
            <a:ext cx="11430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0.750</a:t>
            </a:r>
          </a:p>
        </p:txBody>
      </p:sp>
      <p:sp>
        <p:nvSpPr>
          <p:cNvPr id="70" name="">
            <a:extLst xmlns:a="http://schemas.openxmlformats.org/drawingml/2006/main">
              <a:ext uri="{FF2B5EF4-FFF2-40B4-BE49-F238E27FC236}">
                <a16:creationId xmlns:a16="http://schemas.microsoft.com/office/drawing/2014/main" id="{D5767F3E-FB05-4B9B-8DCE-95D0AD083BD8}"/>
              </a:ext>
            </a:extLst>
          </p:cNvPr>
          <p:cNvSpPr>
            <a:spLocks xmlns:a="http://schemas.openxmlformats.org/drawingml/2006/main" noGrp="1"/>
          </p:cNvSpPr>
          <p:nvPr/>
        </p:nvSpPr>
        <p:spPr>
          <a:xfrm xmlns:a="http://schemas.openxmlformats.org/drawingml/2006/main">
            <a:off x="609600" y="4512945"/>
            <a:ext cx="13716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71" name="cell-3-0">
            <a:extLst xmlns:a="http://schemas.openxmlformats.org/drawingml/2006/main">
              <a:ext uri="{FF2B5EF4-FFF2-40B4-BE49-F238E27FC236}">
                <a16:creationId xmlns:a16="http://schemas.microsoft.com/office/drawing/2014/main" id="{CB97EAA9-9EB9-4FAF-9941-54D761528384}"/>
              </a:ext>
            </a:extLst>
          </p:cNvPr>
          <p:cNvSpPr>
            <a:spLocks xmlns:a="http://schemas.openxmlformats.org/drawingml/2006/main" noGrp="1"/>
          </p:cNvSpPr>
          <p:nvPr/>
        </p:nvSpPr>
        <p:spPr>
          <a:xfrm xmlns:a="http://schemas.openxmlformats.org/drawingml/2006/main">
            <a:off x="723900" y="458914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0.6</a:t>
            </a:r>
          </a:p>
        </p:txBody>
      </p:sp>
      <p:sp>
        <p:nvSpPr>
          <p:cNvPr id="72" name="">
            <a:extLst xmlns:a="http://schemas.openxmlformats.org/drawingml/2006/main">
              <a:ext uri="{FF2B5EF4-FFF2-40B4-BE49-F238E27FC236}">
                <a16:creationId xmlns:a16="http://schemas.microsoft.com/office/drawing/2014/main" id="{ED6F471F-B81B-43A1-9BBA-6F6AAA886726}"/>
              </a:ext>
            </a:extLst>
          </p:cNvPr>
          <p:cNvSpPr>
            <a:spLocks xmlns:a="http://schemas.openxmlformats.org/drawingml/2006/main" noGrp="1"/>
          </p:cNvSpPr>
          <p:nvPr/>
        </p:nvSpPr>
        <p:spPr>
          <a:xfrm xmlns:a="http://schemas.openxmlformats.org/drawingml/2006/main">
            <a:off x="1981200" y="4512945"/>
            <a:ext cx="13716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73" name="cell-3-1">
            <a:extLst xmlns:a="http://schemas.openxmlformats.org/drawingml/2006/main">
              <a:ext uri="{FF2B5EF4-FFF2-40B4-BE49-F238E27FC236}">
                <a16:creationId xmlns:a16="http://schemas.microsoft.com/office/drawing/2014/main" id="{13D86974-EE83-4BFE-85A0-72BF34D57F53}"/>
              </a:ext>
            </a:extLst>
          </p:cNvPr>
          <p:cNvSpPr>
            <a:spLocks xmlns:a="http://schemas.openxmlformats.org/drawingml/2006/main" noGrp="1"/>
          </p:cNvSpPr>
          <p:nvPr/>
        </p:nvSpPr>
        <p:spPr>
          <a:xfrm xmlns:a="http://schemas.openxmlformats.org/drawingml/2006/main">
            <a:off x="2095500" y="458914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19</a:t>
            </a:r>
          </a:p>
        </p:txBody>
      </p:sp>
      <p:sp>
        <p:nvSpPr>
          <p:cNvPr id="74" name="">
            <a:extLst xmlns:a="http://schemas.openxmlformats.org/drawingml/2006/main">
              <a:ext uri="{FF2B5EF4-FFF2-40B4-BE49-F238E27FC236}">
                <a16:creationId xmlns:a16="http://schemas.microsoft.com/office/drawing/2014/main" id="{AD90D884-D08B-4184-A58A-2E8BD55D791A}"/>
              </a:ext>
            </a:extLst>
          </p:cNvPr>
          <p:cNvSpPr>
            <a:spLocks xmlns:a="http://schemas.openxmlformats.org/drawingml/2006/main" noGrp="1"/>
          </p:cNvSpPr>
          <p:nvPr/>
        </p:nvSpPr>
        <p:spPr>
          <a:xfrm xmlns:a="http://schemas.openxmlformats.org/drawingml/2006/main">
            <a:off x="3352800" y="4512945"/>
            <a:ext cx="13716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75" name="cell-3-2">
            <a:extLst xmlns:a="http://schemas.openxmlformats.org/drawingml/2006/main">
              <a:ext uri="{FF2B5EF4-FFF2-40B4-BE49-F238E27FC236}">
                <a16:creationId xmlns:a16="http://schemas.microsoft.com/office/drawing/2014/main" id="{FAD22FDD-5163-43A5-BB17-7AADD4E38367}"/>
              </a:ext>
            </a:extLst>
          </p:cNvPr>
          <p:cNvSpPr>
            <a:spLocks xmlns:a="http://schemas.openxmlformats.org/drawingml/2006/main" noGrp="1"/>
          </p:cNvSpPr>
          <p:nvPr/>
        </p:nvSpPr>
        <p:spPr>
          <a:xfrm xmlns:a="http://schemas.openxmlformats.org/drawingml/2006/main">
            <a:off x="3467100" y="458914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a:t>
            </a:r>
          </a:p>
        </p:txBody>
      </p:sp>
      <p:sp>
        <p:nvSpPr>
          <p:cNvPr id="76" name="">
            <a:extLst xmlns:a="http://schemas.openxmlformats.org/drawingml/2006/main">
              <a:ext uri="{FF2B5EF4-FFF2-40B4-BE49-F238E27FC236}">
                <a16:creationId xmlns:a16="http://schemas.microsoft.com/office/drawing/2014/main" id="{817B8AF6-7707-4BD6-BCE1-7828FA958651}"/>
              </a:ext>
            </a:extLst>
          </p:cNvPr>
          <p:cNvSpPr>
            <a:spLocks xmlns:a="http://schemas.openxmlformats.org/drawingml/2006/main" noGrp="1"/>
          </p:cNvSpPr>
          <p:nvPr/>
        </p:nvSpPr>
        <p:spPr>
          <a:xfrm xmlns:a="http://schemas.openxmlformats.org/drawingml/2006/main">
            <a:off x="4724400" y="4512945"/>
            <a:ext cx="13716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77" name="cell-3-3">
            <a:extLst xmlns:a="http://schemas.openxmlformats.org/drawingml/2006/main">
              <a:ext uri="{FF2B5EF4-FFF2-40B4-BE49-F238E27FC236}">
                <a16:creationId xmlns:a16="http://schemas.microsoft.com/office/drawing/2014/main" id="{7E980501-6E13-47DB-B84F-3055E0F7B65A}"/>
              </a:ext>
            </a:extLst>
          </p:cNvPr>
          <p:cNvSpPr>
            <a:spLocks xmlns:a="http://schemas.openxmlformats.org/drawingml/2006/main" noGrp="1"/>
          </p:cNvSpPr>
          <p:nvPr/>
        </p:nvSpPr>
        <p:spPr>
          <a:xfrm xmlns:a="http://schemas.openxmlformats.org/drawingml/2006/main">
            <a:off x="4838700" y="458914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8</a:t>
            </a:r>
          </a:p>
        </p:txBody>
      </p:sp>
      <p:sp>
        <p:nvSpPr>
          <p:cNvPr id="78" name="">
            <a:extLst xmlns:a="http://schemas.openxmlformats.org/drawingml/2006/main">
              <a:ext uri="{FF2B5EF4-FFF2-40B4-BE49-F238E27FC236}">
                <a16:creationId xmlns:a16="http://schemas.microsoft.com/office/drawing/2014/main" id="{556297A7-2079-46A9-A905-C10052FEF967}"/>
              </a:ext>
            </a:extLst>
          </p:cNvPr>
          <p:cNvSpPr>
            <a:spLocks xmlns:a="http://schemas.openxmlformats.org/drawingml/2006/main" noGrp="1"/>
          </p:cNvSpPr>
          <p:nvPr/>
        </p:nvSpPr>
        <p:spPr>
          <a:xfrm xmlns:a="http://schemas.openxmlformats.org/drawingml/2006/main">
            <a:off x="6096000" y="4512945"/>
            <a:ext cx="13716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79" name="cell-3-4">
            <a:extLst xmlns:a="http://schemas.openxmlformats.org/drawingml/2006/main">
              <a:ext uri="{FF2B5EF4-FFF2-40B4-BE49-F238E27FC236}">
                <a16:creationId xmlns:a16="http://schemas.microsoft.com/office/drawing/2014/main" id="{AFFBAC4C-0340-40B7-9248-3B936F1D3E27}"/>
              </a:ext>
            </a:extLst>
          </p:cNvPr>
          <p:cNvSpPr>
            <a:spLocks xmlns:a="http://schemas.openxmlformats.org/drawingml/2006/main" noGrp="1"/>
          </p:cNvSpPr>
          <p:nvPr/>
        </p:nvSpPr>
        <p:spPr>
          <a:xfrm xmlns:a="http://schemas.openxmlformats.org/drawingml/2006/main">
            <a:off x="6210300" y="458914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a:t>
            </a:r>
          </a:p>
        </p:txBody>
      </p:sp>
      <p:sp>
        <p:nvSpPr>
          <p:cNvPr id="80" name="">
            <a:extLst xmlns:a="http://schemas.openxmlformats.org/drawingml/2006/main">
              <a:ext uri="{FF2B5EF4-FFF2-40B4-BE49-F238E27FC236}">
                <a16:creationId xmlns:a16="http://schemas.microsoft.com/office/drawing/2014/main" id="{BD8C72E1-16AD-4B47-A2EE-F29935D8BCD3}"/>
              </a:ext>
            </a:extLst>
          </p:cNvPr>
          <p:cNvSpPr>
            <a:spLocks xmlns:a="http://schemas.openxmlformats.org/drawingml/2006/main" noGrp="1"/>
          </p:cNvSpPr>
          <p:nvPr/>
        </p:nvSpPr>
        <p:spPr>
          <a:xfrm xmlns:a="http://schemas.openxmlformats.org/drawingml/2006/main">
            <a:off x="7467600" y="4512945"/>
            <a:ext cx="13716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81" name="cell-3-5">
            <a:extLst xmlns:a="http://schemas.openxmlformats.org/drawingml/2006/main">
              <a:ext uri="{FF2B5EF4-FFF2-40B4-BE49-F238E27FC236}">
                <a16:creationId xmlns:a16="http://schemas.microsoft.com/office/drawing/2014/main" id="{FB8EA6BB-D11E-4AD4-BA67-9642D32DD44A}"/>
              </a:ext>
            </a:extLst>
          </p:cNvPr>
          <p:cNvSpPr>
            <a:spLocks xmlns:a="http://schemas.openxmlformats.org/drawingml/2006/main" noGrp="1"/>
          </p:cNvSpPr>
          <p:nvPr/>
        </p:nvSpPr>
        <p:spPr>
          <a:xfrm xmlns:a="http://schemas.openxmlformats.org/drawingml/2006/main">
            <a:off x="7581900" y="458914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1.000</a:t>
            </a:r>
          </a:p>
        </p:txBody>
      </p:sp>
      <p:sp>
        <p:nvSpPr>
          <p:cNvPr id="82" name="">
            <a:extLst xmlns:a="http://schemas.openxmlformats.org/drawingml/2006/main">
              <a:ext uri="{FF2B5EF4-FFF2-40B4-BE49-F238E27FC236}">
                <a16:creationId xmlns:a16="http://schemas.microsoft.com/office/drawing/2014/main" id="{7C196294-9AF8-47B5-B3D0-F78B31A0A05A}"/>
              </a:ext>
            </a:extLst>
          </p:cNvPr>
          <p:cNvSpPr>
            <a:spLocks xmlns:a="http://schemas.openxmlformats.org/drawingml/2006/main" noGrp="1"/>
          </p:cNvSpPr>
          <p:nvPr/>
        </p:nvSpPr>
        <p:spPr>
          <a:xfrm xmlns:a="http://schemas.openxmlformats.org/drawingml/2006/main">
            <a:off x="8839200" y="4512945"/>
            <a:ext cx="13716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83" name="cell-3-6">
            <a:extLst xmlns:a="http://schemas.openxmlformats.org/drawingml/2006/main">
              <a:ext uri="{FF2B5EF4-FFF2-40B4-BE49-F238E27FC236}">
                <a16:creationId xmlns:a16="http://schemas.microsoft.com/office/drawing/2014/main" id="{8FFBC7DB-3E47-42AD-91E1-B5213F5E74B0}"/>
              </a:ext>
            </a:extLst>
          </p:cNvPr>
          <p:cNvSpPr>
            <a:spLocks xmlns:a="http://schemas.openxmlformats.org/drawingml/2006/main" noGrp="1"/>
          </p:cNvSpPr>
          <p:nvPr/>
        </p:nvSpPr>
        <p:spPr>
          <a:xfrm xmlns:a="http://schemas.openxmlformats.org/drawingml/2006/main">
            <a:off x="8953500" y="458914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0.111</a:t>
            </a:r>
          </a:p>
        </p:txBody>
      </p:sp>
      <p:sp>
        <p:nvSpPr>
          <p:cNvPr id="84" name="">
            <a:extLst xmlns:a="http://schemas.openxmlformats.org/drawingml/2006/main">
              <a:ext uri="{FF2B5EF4-FFF2-40B4-BE49-F238E27FC236}">
                <a16:creationId xmlns:a16="http://schemas.microsoft.com/office/drawing/2014/main" id="{29BC5413-365D-40DA-A4C1-B543F138896A}"/>
              </a:ext>
            </a:extLst>
          </p:cNvPr>
          <p:cNvSpPr>
            <a:spLocks xmlns:a="http://schemas.openxmlformats.org/drawingml/2006/main" noGrp="1"/>
          </p:cNvSpPr>
          <p:nvPr/>
        </p:nvSpPr>
        <p:spPr>
          <a:xfrm xmlns:a="http://schemas.openxmlformats.org/drawingml/2006/main">
            <a:off x="10210800" y="4512945"/>
            <a:ext cx="13716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85" name="cell-3-7">
            <a:extLst xmlns:a="http://schemas.openxmlformats.org/drawingml/2006/main">
              <a:ext uri="{FF2B5EF4-FFF2-40B4-BE49-F238E27FC236}">
                <a16:creationId xmlns:a16="http://schemas.microsoft.com/office/drawing/2014/main" id="{4171CA9F-49FA-4BBF-A880-724C6FD48BBC}"/>
              </a:ext>
            </a:extLst>
          </p:cNvPr>
          <p:cNvSpPr>
            <a:spLocks xmlns:a="http://schemas.openxmlformats.org/drawingml/2006/main" noGrp="1"/>
          </p:cNvSpPr>
          <p:nvPr/>
        </p:nvSpPr>
        <p:spPr>
          <a:xfrm xmlns:a="http://schemas.openxmlformats.org/drawingml/2006/main">
            <a:off x="10325100" y="458914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0.200</a:t>
            </a:r>
          </a:p>
        </p:txBody>
      </p:sp>
      <p:sp>
        <p:nvSpPr>
          <p:cNvPr id="86" name="">
            <a:extLst xmlns:a="http://schemas.openxmlformats.org/drawingml/2006/main">
              <a:ext uri="{FF2B5EF4-FFF2-40B4-BE49-F238E27FC236}">
                <a16:creationId xmlns:a16="http://schemas.microsoft.com/office/drawing/2014/main" id="{F10C9C13-0E96-4C3F-8E7C-1270B1F19951}"/>
              </a:ext>
            </a:extLst>
          </p:cNvPr>
          <p:cNvSpPr>
            <a:spLocks xmlns:a="http://schemas.openxmlformats.org/drawingml/2006/main" noGrp="1"/>
          </p:cNvSpPr>
          <p:nvPr/>
        </p:nvSpPr>
        <p:spPr>
          <a:xfrm xmlns:a="http://schemas.openxmlformats.org/drawingml/2006/main">
            <a:off x="609600" y="5046345"/>
            <a:ext cx="1371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87" name="cell-4-0">
            <a:extLst xmlns:a="http://schemas.openxmlformats.org/drawingml/2006/main">
              <a:ext uri="{FF2B5EF4-FFF2-40B4-BE49-F238E27FC236}">
                <a16:creationId xmlns:a16="http://schemas.microsoft.com/office/drawing/2014/main" id="{68C2D490-9FBD-4C66-BFE9-3E922AD2ACC1}"/>
              </a:ext>
            </a:extLst>
          </p:cNvPr>
          <p:cNvSpPr>
            <a:spLocks xmlns:a="http://schemas.openxmlformats.org/drawingml/2006/main" noGrp="1"/>
          </p:cNvSpPr>
          <p:nvPr/>
        </p:nvSpPr>
        <p:spPr>
          <a:xfrm xmlns:a="http://schemas.openxmlformats.org/drawingml/2006/main">
            <a:off x="723900" y="512254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0.7</a:t>
            </a:r>
          </a:p>
        </p:txBody>
      </p:sp>
      <p:sp>
        <p:nvSpPr>
          <p:cNvPr id="88" name="">
            <a:extLst xmlns:a="http://schemas.openxmlformats.org/drawingml/2006/main">
              <a:ext uri="{FF2B5EF4-FFF2-40B4-BE49-F238E27FC236}">
                <a16:creationId xmlns:a16="http://schemas.microsoft.com/office/drawing/2014/main" id="{884843F6-0181-4FA4-A033-0EE067DA4130}"/>
              </a:ext>
            </a:extLst>
          </p:cNvPr>
          <p:cNvSpPr>
            <a:spLocks xmlns:a="http://schemas.openxmlformats.org/drawingml/2006/main" noGrp="1"/>
          </p:cNvSpPr>
          <p:nvPr/>
        </p:nvSpPr>
        <p:spPr>
          <a:xfrm xmlns:a="http://schemas.openxmlformats.org/drawingml/2006/main">
            <a:off x="1981200" y="5046345"/>
            <a:ext cx="1371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89" name="cell-4-1">
            <a:extLst xmlns:a="http://schemas.openxmlformats.org/drawingml/2006/main">
              <a:ext uri="{FF2B5EF4-FFF2-40B4-BE49-F238E27FC236}">
                <a16:creationId xmlns:a16="http://schemas.microsoft.com/office/drawing/2014/main" id="{8BB84B39-7D14-4FF4-B286-9FC8BECF2064}"/>
              </a:ext>
            </a:extLst>
          </p:cNvPr>
          <p:cNvSpPr>
            <a:spLocks xmlns:a="http://schemas.openxmlformats.org/drawingml/2006/main" noGrp="1"/>
          </p:cNvSpPr>
          <p:nvPr/>
        </p:nvSpPr>
        <p:spPr>
          <a:xfrm xmlns:a="http://schemas.openxmlformats.org/drawingml/2006/main">
            <a:off x="2095500" y="512254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19</a:t>
            </a:r>
          </a:p>
        </p:txBody>
      </p:sp>
      <p:sp>
        <p:nvSpPr>
          <p:cNvPr id="90" name="">
            <a:extLst xmlns:a="http://schemas.openxmlformats.org/drawingml/2006/main">
              <a:ext uri="{FF2B5EF4-FFF2-40B4-BE49-F238E27FC236}">
                <a16:creationId xmlns:a16="http://schemas.microsoft.com/office/drawing/2014/main" id="{3B6EC68C-D459-4F1C-BA50-698DFE99D2F6}"/>
              </a:ext>
            </a:extLst>
          </p:cNvPr>
          <p:cNvSpPr>
            <a:spLocks xmlns:a="http://schemas.openxmlformats.org/drawingml/2006/main" noGrp="1"/>
          </p:cNvSpPr>
          <p:nvPr/>
        </p:nvSpPr>
        <p:spPr>
          <a:xfrm xmlns:a="http://schemas.openxmlformats.org/drawingml/2006/main">
            <a:off x="3352800" y="5046345"/>
            <a:ext cx="1371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91" name="cell-4-2">
            <a:extLst xmlns:a="http://schemas.openxmlformats.org/drawingml/2006/main">
              <a:ext uri="{FF2B5EF4-FFF2-40B4-BE49-F238E27FC236}">
                <a16:creationId xmlns:a16="http://schemas.microsoft.com/office/drawing/2014/main" id="{4406F7D1-A44A-4339-BE3B-10D7CF9C5E4B}"/>
              </a:ext>
            </a:extLst>
          </p:cNvPr>
          <p:cNvSpPr>
            <a:spLocks xmlns:a="http://schemas.openxmlformats.org/drawingml/2006/main" noGrp="1"/>
          </p:cNvSpPr>
          <p:nvPr/>
        </p:nvSpPr>
        <p:spPr>
          <a:xfrm xmlns:a="http://schemas.openxmlformats.org/drawingml/2006/main">
            <a:off x="3467100" y="512254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a:t>
            </a:r>
          </a:p>
        </p:txBody>
      </p:sp>
      <p:sp>
        <p:nvSpPr>
          <p:cNvPr id="92" name="">
            <a:extLst xmlns:a="http://schemas.openxmlformats.org/drawingml/2006/main">
              <a:ext uri="{FF2B5EF4-FFF2-40B4-BE49-F238E27FC236}">
                <a16:creationId xmlns:a16="http://schemas.microsoft.com/office/drawing/2014/main" id="{B7CD25B9-5046-4069-AACE-D01E7721362E}"/>
              </a:ext>
            </a:extLst>
          </p:cNvPr>
          <p:cNvSpPr>
            <a:spLocks xmlns:a="http://schemas.openxmlformats.org/drawingml/2006/main" noGrp="1"/>
          </p:cNvSpPr>
          <p:nvPr/>
        </p:nvSpPr>
        <p:spPr>
          <a:xfrm xmlns:a="http://schemas.openxmlformats.org/drawingml/2006/main">
            <a:off x="4724400" y="5046345"/>
            <a:ext cx="1371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93" name="cell-4-3">
            <a:extLst xmlns:a="http://schemas.openxmlformats.org/drawingml/2006/main">
              <a:ext uri="{FF2B5EF4-FFF2-40B4-BE49-F238E27FC236}">
                <a16:creationId xmlns:a16="http://schemas.microsoft.com/office/drawing/2014/main" id="{4C0DCEBB-8CE3-40AF-94F6-93646EA62534}"/>
              </a:ext>
            </a:extLst>
          </p:cNvPr>
          <p:cNvSpPr>
            <a:spLocks xmlns:a="http://schemas.openxmlformats.org/drawingml/2006/main" noGrp="1"/>
          </p:cNvSpPr>
          <p:nvPr/>
        </p:nvSpPr>
        <p:spPr>
          <a:xfrm xmlns:a="http://schemas.openxmlformats.org/drawingml/2006/main">
            <a:off x="4838700" y="512254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9</a:t>
            </a:r>
          </a:p>
        </p:txBody>
      </p:sp>
      <p:sp>
        <p:nvSpPr>
          <p:cNvPr id="94" name="">
            <a:extLst xmlns:a="http://schemas.openxmlformats.org/drawingml/2006/main">
              <a:ext uri="{FF2B5EF4-FFF2-40B4-BE49-F238E27FC236}">
                <a16:creationId xmlns:a16="http://schemas.microsoft.com/office/drawing/2014/main" id="{A19CDE72-9AF9-42EE-9815-4D017E65A102}"/>
              </a:ext>
            </a:extLst>
          </p:cNvPr>
          <p:cNvSpPr>
            <a:spLocks xmlns:a="http://schemas.openxmlformats.org/drawingml/2006/main" noGrp="1"/>
          </p:cNvSpPr>
          <p:nvPr/>
        </p:nvSpPr>
        <p:spPr>
          <a:xfrm xmlns:a="http://schemas.openxmlformats.org/drawingml/2006/main">
            <a:off x="6096000" y="5046345"/>
            <a:ext cx="1371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95" name="cell-4-4">
            <a:extLst xmlns:a="http://schemas.openxmlformats.org/drawingml/2006/main">
              <a:ext uri="{FF2B5EF4-FFF2-40B4-BE49-F238E27FC236}">
                <a16:creationId xmlns:a16="http://schemas.microsoft.com/office/drawing/2014/main" id="{8E8F82B3-08E8-467A-B8BB-AF079606FFB8}"/>
              </a:ext>
            </a:extLst>
          </p:cNvPr>
          <p:cNvSpPr>
            <a:spLocks xmlns:a="http://schemas.openxmlformats.org/drawingml/2006/main" noGrp="1"/>
          </p:cNvSpPr>
          <p:nvPr/>
        </p:nvSpPr>
        <p:spPr>
          <a:xfrm xmlns:a="http://schemas.openxmlformats.org/drawingml/2006/main">
            <a:off x="6210300" y="512254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a:t>
            </a:r>
          </a:p>
        </p:txBody>
      </p:sp>
      <p:sp>
        <p:nvSpPr>
          <p:cNvPr id="96" name="">
            <a:extLst xmlns:a="http://schemas.openxmlformats.org/drawingml/2006/main">
              <a:ext uri="{FF2B5EF4-FFF2-40B4-BE49-F238E27FC236}">
                <a16:creationId xmlns:a16="http://schemas.microsoft.com/office/drawing/2014/main" id="{CFB40340-EE32-43C2-BF1F-065641795758}"/>
              </a:ext>
            </a:extLst>
          </p:cNvPr>
          <p:cNvSpPr>
            <a:spLocks xmlns:a="http://schemas.openxmlformats.org/drawingml/2006/main" noGrp="1"/>
          </p:cNvSpPr>
          <p:nvPr/>
        </p:nvSpPr>
        <p:spPr>
          <a:xfrm xmlns:a="http://schemas.openxmlformats.org/drawingml/2006/main">
            <a:off x="7467600" y="5046345"/>
            <a:ext cx="1371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97" name="cell-4-5">
            <a:extLst xmlns:a="http://schemas.openxmlformats.org/drawingml/2006/main">
              <a:ext uri="{FF2B5EF4-FFF2-40B4-BE49-F238E27FC236}">
                <a16:creationId xmlns:a16="http://schemas.microsoft.com/office/drawing/2014/main" id="{8E03BB13-B44B-40F7-BA20-A189BEEB236E}"/>
              </a:ext>
            </a:extLst>
          </p:cNvPr>
          <p:cNvSpPr>
            <a:spLocks xmlns:a="http://schemas.openxmlformats.org/drawingml/2006/main" noGrp="1"/>
          </p:cNvSpPr>
          <p:nvPr/>
        </p:nvSpPr>
        <p:spPr>
          <a:xfrm xmlns:a="http://schemas.openxmlformats.org/drawingml/2006/main">
            <a:off x="7581900" y="512254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0.000</a:t>
            </a:r>
          </a:p>
        </p:txBody>
      </p:sp>
      <p:sp>
        <p:nvSpPr>
          <p:cNvPr id="98" name="">
            <a:extLst xmlns:a="http://schemas.openxmlformats.org/drawingml/2006/main">
              <a:ext uri="{FF2B5EF4-FFF2-40B4-BE49-F238E27FC236}">
                <a16:creationId xmlns:a16="http://schemas.microsoft.com/office/drawing/2014/main" id="{2BC3FEAD-2F12-4C1B-A47E-45B16F63D5BF}"/>
              </a:ext>
            </a:extLst>
          </p:cNvPr>
          <p:cNvSpPr>
            <a:spLocks xmlns:a="http://schemas.openxmlformats.org/drawingml/2006/main" noGrp="1"/>
          </p:cNvSpPr>
          <p:nvPr/>
        </p:nvSpPr>
        <p:spPr>
          <a:xfrm xmlns:a="http://schemas.openxmlformats.org/drawingml/2006/main">
            <a:off x="8839200" y="5046345"/>
            <a:ext cx="1371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99" name="cell-4-6">
            <a:extLst xmlns:a="http://schemas.openxmlformats.org/drawingml/2006/main">
              <a:ext uri="{FF2B5EF4-FFF2-40B4-BE49-F238E27FC236}">
                <a16:creationId xmlns:a16="http://schemas.microsoft.com/office/drawing/2014/main" id="{1B853BEC-3F21-4FAB-9356-8E6CC29D3BBF}"/>
              </a:ext>
            </a:extLst>
          </p:cNvPr>
          <p:cNvSpPr>
            <a:spLocks xmlns:a="http://schemas.openxmlformats.org/drawingml/2006/main" noGrp="1"/>
          </p:cNvSpPr>
          <p:nvPr/>
        </p:nvSpPr>
        <p:spPr>
          <a:xfrm xmlns:a="http://schemas.openxmlformats.org/drawingml/2006/main">
            <a:off x="8953500" y="512254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0.000</a:t>
            </a:r>
          </a:p>
        </p:txBody>
      </p:sp>
      <p:sp>
        <p:nvSpPr>
          <p:cNvPr id="100" name="">
            <a:extLst xmlns:a="http://schemas.openxmlformats.org/drawingml/2006/main">
              <a:ext uri="{FF2B5EF4-FFF2-40B4-BE49-F238E27FC236}">
                <a16:creationId xmlns:a16="http://schemas.microsoft.com/office/drawing/2014/main" id="{8F0F85E7-9EF5-4A92-BC7B-ED69674F9642}"/>
              </a:ext>
            </a:extLst>
          </p:cNvPr>
          <p:cNvSpPr>
            <a:spLocks xmlns:a="http://schemas.openxmlformats.org/drawingml/2006/main" noGrp="1"/>
          </p:cNvSpPr>
          <p:nvPr/>
        </p:nvSpPr>
        <p:spPr>
          <a:xfrm xmlns:a="http://schemas.openxmlformats.org/drawingml/2006/main">
            <a:off x="10210800" y="5046345"/>
            <a:ext cx="1371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01" name="cell-4-7">
            <a:extLst xmlns:a="http://schemas.openxmlformats.org/drawingml/2006/main">
              <a:ext uri="{FF2B5EF4-FFF2-40B4-BE49-F238E27FC236}">
                <a16:creationId xmlns:a16="http://schemas.microsoft.com/office/drawing/2014/main" id="{ED011E46-3FDA-4C40-991D-7A48AF760278}"/>
              </a:ext>
            </a:extLst>
          </p:cNvPr>
          <p:cNvSpPr>
            <a:spLocks xmlns:a="http://schemas.openxmlformats.org/drawingml/2006/main" noGrp="1"/>
          </p:cNvSpPr>
          <p:nvPr/>
        </p:nvSpPr>
        <p:spPr>
          <a:xfrm xmlns:a="http://schemas.openxmlformats.org/drawingml/2006/main">
            <a:off x="10325100" y="512254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0.000</a:t>
            </a:r>
          </a:p>
        </p:txBody>
      </p:sp>
    </p:spTree>
    <p:extLst>
      <p:ext uri="{BB962C8B-B14F-4D97-AF65-F5344CB8AC3E}">
        <p14:creationId xmlns:p14="http://schemas.microsoft.com/office/powerpoint/2010/main" val="56884292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A3955065-EC6C-4312-9B94-A6C31F5D410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THE REASONING, NOT JUST THE ARITHMETIC</a:t>
            </a:r>
          </a:p>
        </p:txBody>
      </p:sp>
      <p:sp>
        <p:nvSpPr>
          <p:cNvPr id="2" name="title">
            <a:extLst xmlns:a="http://schemas.openxmlformats.org/drawingml/2006/main">
              <a:ext uri="{FF2B5EF4-FFF2-40B4-BE49-F238E27FC236}">
                <a16:creationId xmlns:a16="http://schemas.microsoft.com/office/drawing/2014/main" id="{10AD7859-8246-4CCB-8ADA-F58CD4EFAE6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Choose a threshold from consequences, not a default</a:t>
            </a:r>
          </a:p>
        </p:txBody>
      </p:sp>
      <p:sp>
        <p:nvSpPr>
          <p:cNvPr id="3" name="">
            <a:extLst xmlns:a="http://schemas.openxmlformats.org/drawingml/2006/main">
              <a:ext uri="{FF2B5EF4-FFF2-40B4-BE49-F238E27FC236}">
                <a16:creationId xmlns:a16="http://schemas.microsoft.com/office/drawing/2014/main" id="{F86E47CE-17B8-4838-99DC-C291D782501F}"/>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E7882CF-5A30-494D-AFA8-3D8B66DFF0D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8579C62F-7A04-4584-8D61-31A993E86E7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15</a:t>
            </a:r>
          </a:p>
        </p:txBody>
      </p:sp>
      <p:sp>
        <p:nvSpPr>
          <p:cNvPr id="6" name="left-head">
            <a:extLst xmlns:a="http://schemas.openxmlformats.org/drawingml/2006/main">
              <a:ext uri="{FF2B5EF4-FFF2-40B4-BE49-F238E27FC236}">
                <a16:creationId xmlns:a16="http://schemas.microsoft.com/office/drawing/2014/main" id="{6BFC59F4-43A0-43A9-A704-CE81EEF44C93}"/>
              </a:ext>
            </a:extLst>
          </p:cNvPr>
          <p:cNvSpPr>
            <a:spLocks xmlns:a="http://schemas.openxmlformats.org/drawingml/2006/main" noGrp="1"/>
          </p:cNvSpPr>
          <p:nvPr/>
        </p:nvSpPr>
        <p:spPr>
          <a:xfrm xmlns:a="http://schemas.openxmlformats.org/drawingml/2006/main">
            <a:off x="609600" y="260985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Which error is dangerous here?</a:t>
            </a:r>
          </a:p>
        </p:txBody>
      </p:sp>
      <p:sp>
        <p:nvSpPr>
          <p:cNvPr id="7" name="left-body">
            <a:extLst xmlns:a="http://schemas.openxmlformats.org/drawingml/2006/main">
              <a:ext uri="{FF2B5EF4-FFF2-40B4-BE49-F238E27FC236}">
                <a16:creationId xmlns:a16="http://schemas.microsoft.com/office/drawing/2014/main" id="{74CF81B6-7884-40FB-ADD7-060BE0A2A458}"/>
              </a:ext>
            </a:extLst>
          </p:cNvPr>
          <p:cNvSpPr>
            <a:spLocks xmlns:a="http://schemas.openxmlformats.org/drawingml/2006/main" noGrp="1"/>
          </p:cNvSpPr>
          <p:nvPr/>
        </p:nvSpPr>
        <p:spPr>
          <a:xfrm xmlns:a="http://schemas.openxmlformats.org/drawingml/2006/main">
            <a:off x="609600" y="3107436"/>
            <a:ext cx="5219700" cy="16672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 FALSE POSITIVE (model says 'meets code' when it does not) means proceeding with a design that then fails a real code review -- real rework. A FALSE NEGATIVE (model says 'no-go' when the design would have passed) just discards a viable option -- wasteful, not dangerous.</a:t>
            </a:r>
          </a:p>
        </p:txBody>
      </p:sp>
      <p:sp>
        <p:nvSpPr>
          <p:cNvPr id="8" name="right-head">
            <a:extLst xmlns:a="http://schemas.openxmlformats.org/drawingml/2006/main">
              <a:ext uri="{FF2B5EF4-FFF2-40B4-BE49-F238E27FC236}">
                <a16:creationId xmlns:a16="http://schemas.microsoft.com/office/drawing/2014/main" id="{31781303-D056-40DE-883F-B4C96CDE3182}"/>
              </a:ext>
            </a:extLst>
          </p:cNvPr>
          <p:cNvSpPr>
            <a:spLocks xmlns:a="http://schemas.openxmlformats.org/drawingml/2006/main" noGrp="1"/>
          </p:cNvSpPr>
          <p:nvPr/>
        </p:nvSpPr>
        <p:spPr>
          <a:xfrm xmlns:a="http://schemas.openxmlformats.org/drawingml/2006/main">
            <a:off x="6362700" y="2609850"/>
            <a:ext cx="5219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stated rule selects threshold 0.5</a:t>
            </a:r>
          </a:p>
        </p:txBody>
      </p:sp>
      <p:sp>
        <p:nvSpPr>
          <p:cNvPr id="9" name="right-body">
            <a:extLst xmlns:a="http://schemas.openxmlformats.org/drawingml/2006/main">
              <a:ext uri="{FF2B5EF4-FFF2-40B4-BE49-F238E27FC236}">
                <a16:creationId xmlns:a16="http://schemas.microsoft.com/office/drawing/2014/main" id="{A18418FE-567E-445C-A971-59D20465498C}"/>
              </a:ext>
            </a:extLst>
          </p:cNvPr>
          <p:cNvSpPr>
            <a:spLocks xmlns:a="http://schemas.openxmlformats.org/drawingml/2006/main" noGrp="1"/>
          </p:cNvSpPr>
          <p:nvPr/>
        </p:nvSpPr>
        <p:spPr>
          <a:xfrm xmlns:a="http://schemas.openxmlformats.org/drawingml/2006/main">
            <a:off x="6362700" y="3395472"/>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Require validation FPR≤10%, then maximize recall. Threshold 0.5 qualifies with FPR=5.3% and recall=0.667. Threshold 0.6 has zero FP but recall=0.111. The chosen value equals the default by coincidence, not by unexamined convention.</a:t>
            </a:r>
          </a:p>
        </p:txBody>
      </p:sp>
    </p:spTree>
    <p:extLst>
      <p:ext uri="{BB962C8B-B14F-4D97-AF65-F5344CB8AC3E}">
        <p14:creationId xmlns:p14="http://schemas.microsoft.com/office/powerpoint/2010/main" val="63832243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E8EAF480-C676-429F-AC60-780B93F769A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EB48FF94-9CF5-48D5-8DA0-41627360F3D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A1's arithmetic, wrapped in a function</a:t>
            </a:r>
          </a:p>
        </p:txBody>
      </p:sp>
      <p:sp>
        <p:nvSpPr>
          <p:cNvPr id="3" name="">
            <a:extLst xmlns:a="http://schemas.openxmlformats.org/drawingml/2006/main">
              <a:ext uri="{FF2B5EF4-FFF2-40B4-BE49-F238E27FC236}">
                <a16:creationId xmlns:a16="http://schemas.microsoft.com/office/drawing/2014/main" id="{5908AF78-4301-4487-9D7A-18BB33E5B5C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F49A7AE-1B43-487B-B4D7-EA416CDDED2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97BF1C4E-0AF8-48B2-935F-7EC2EEAA862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16</a:t>
            </a:r>
          </a:p>
        </p:txBody>
      </p:sp>
      <p:sp>
        <p:nvSpPr>
          <p:cNvPr id="6" name="code-panel">
            <a:extLst xmlns:a="http://schemas.openxmlformats.org/drawingml/2006/main">
              <a:ext uri="{FF2B5EF4-FFF2-40B4-BE49-F238E27FC236}">
                <a16:creationId xmlns:a16="http://schemas.microsoft.com/office/drawing/2014/main" id="{3E3ACA2F-E2D1-4D6A-81B0-A21C8D1A3C05}"/>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5859E3C5-233E-4362-A683-372D210DAA34}"/>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rates_from_counts(tn: int, fp: int, fn: int,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tp: int) -&gt; dict: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"""Print and return precision, recall and F1."""</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precision = tp / (tp + fp)</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recall = tp / (tp + fn)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f1 = 2 * precision * recall / (precision + recall)</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print("P/R/F1:", round(precision, 4),</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round(recall, 4), round(f1, 4))</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{"precision": precision, "recall": recall,</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"f1": f1}</a:t>
            </a:r>
          </a:p>
        </p:txBody>
      </p:sp>
      <p:sp>
        <p:nvSpPr>
          <p:cNvPr id="8" name="explain-head">
            <a:extLst xmlns:a="http://schemas.openxmlformats.org/drawingml/2006/main">
              <a:ext uri="{FF2B5EF4-FFF2-40B4-BE49-F238E27FC236}">
                <a16:creationId xmlns:a16="http://schemas.microsoft.com/office/drawing/2014/main" id="{D0F42BAE-DE27-4A48-953A-88842CCF8AE9}"/>
              </a:ext>
            </a:extLst>
          </p:cNvPr>
          <p:cNvSpPr>
            <a:spLocks xmlns:a="http://schemas.openxmlformats.org/drawingml/2006/main" noGrp="1"/>
          </p:cNvSpPr>
          <p:nvPr/>
        </p:nvSpPr>
        <p:spPr>
          <a:xfrm xmlns:a="http://schemas.openxmlformats.org/drawingml/2006/main">
            <a:off x="7886700" y="23717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three formulas you just did by hand</a:t>
            </a:r>
          </a:p>
        </p:txBody>
      </p:sp>
      <p:sp>
        <p:nvSpPr>
          <p:cNvPr id="9" name="explain-body">
            <a:extLst xmlns:a="http://schemas.openxmlformats.org/drawingml/2006/main">
              <a:ext uri="{FF2B5EF4-FFF2-40B4-BE49-F238E27FC236}">
                <a16:creationId xmlns:a16="http://schemas.microsoft.com/office/drawing/2014/main" id="{A3300757-55E1-44F2-8879-8887EDC707DA}"/>
              </a:ext>
            </a:extLst>
          </p:cNvPr>
          <p:cNvSpPr>
            <a:spLocks xmlns:a="http://schemas.openxmlformats.org/drawingml/2006/main" noGrp="1"/>
          </p:cNvSpPr>
          <p:nvPr/>
        </p:nvSpPr>
        <p:spPr>
          <a:xfrm xmlns:a="http://schemas.openxmlformats.org/drawingml/2006/main">
            <a:off x="7886700" y="3157347"/>
            <a:ext cx="3695700" cy="2065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Nothing new is computed here -- these are exactly the three lines from Studio A1, moved inside a function so they can be run at any threshold without retyping. tn: int, fp: int, fn: int, tp: int are the type hints on the four counts; -&gt; dict says a dictionary comes back, so the caller can reuse rates["f1"] later. Defining a function prints nothing.</a:t>
            </a:r>
          </a:p>
        </p:txBody>
      </p:sp>
    </p:spTree>
    <p:extLst>
      <p:ext uri="{BB962C8B-B14F-4D97-AF65-F5344CB8AC3E}">
        <p14:creationId xmlns:p14="http://schemas.microsoft.com/office/powerpoint/2010/main" val="209894373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8CBAB2B9-5F01-49D1-8FDA-85F8880AC15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16DB4792-46A4-4FEA-8DB5-F79891F52B1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...continued: the same function at 0.5 and at 0.6</a:t>
            </a:r>
          </a:p>
        </p:txBody>
      </p:sp>
      <p:sp>
        <p:nvSpPr>
          <p:cNvPr id="3" name="">
            <a:extLst xmlns:a="http://schemas.openxmlformats.org/drawingml/2006/main">
              <a:ext uri="{FF2B5EF4-FFF2-40B4-BE49-F238E27FC236}">
                <a16:creationId xmlns:a16="http://schemas.microsoft.com/office/drawing/2014/main" id="{C0944DFA-D49A-43A2-B230-E87D7EB586E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760DDD8-345D-4DF3-8C26-FC3E73DE7963}"/>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40B48B63-6FFC-4D2D-A71B-A2AF90DA519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17</a:t>
            </a:r>
          </a:p>
        </p:txBody>
      </p:sp>
      <p:sp>
        <p:nvSpPr>
          <p:cNvPr id="6" name="code-panel">
            <a:extLst xmlns:a="http://schemas.openxmlformats.org/drawingml/2006/main">
              <a:ext uri="{FF2B5EF4-FFF2-40B4-BE49-F238E27FC236}">
                <a16:creationId xmlns:a16="http://schemas.microsoft.com/office/drawing/2014/main" id="{67D8BB4A-02F5-400E-90D4-A7B44FB71A97}"/>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A00D9A39-1D94-4AA9-A0FB-6A7EC981D9AE}"/>
              </a:ext>
            </a:extLst>
          </p:cNvPr>
          <p:cNvSpPr>
            <a:spLocks xmlns:a="http://schemas.openxmlformats.org/drawingml/2006/main" noGrp="1"/>
          </p:cNvSpPr>
          <p:nvPr/>
        </p:nvSpPr>
        <p:spPr>
          <a:xfrm xmlns:a="http://schemas.openxmlformats.org/drawingml/2006/main">
            <a:off x="857250" y="2057400"/>
            <a:ext cx="6400800" cy="26197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for t in [0.5, 0.6]:</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pred_t = (probs_val &gt;= t).astype(int)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tn, fp, fn, tp = confusion_matrix(yc_val, pred_t).ravel()</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print('t =', t, tn, fp, fn, tp)</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rates_from_counts(tn, fp, fn, tp)</a:t>
            </a:r>
          </a:p>
        </p:txBody>
      </p:sp>
      <p:sp>
        <p:nvSpPr>
          <p:cNvPr id="8" name="">
            <a:extLst xmlns:a="http://schemas.openxmlformats.org/drawingml/2006/main">
              <a:ext uri="{FF2B5EF4-FFF2-40B4-BE49-F238E27FC236}">
                <a16:creationId xmlns:a16="http://schemas.microsoft.com/office/drawing/2014/main" id="{4251F0B4-701D-4774-99BB-9ACDB7FB8D10}"/>
              </a:ext>
            </a:extLst>
          </p:cNvPr>
          <p:cNvSpPr>
            <a:spLocks xmlns:a="http://schemas.openxmlformats.org/drawingml/2006/main" noGrp="1"/>
          </p:cNvSpPr>
          <p:nvPr/>
        </p:nvSpPr>
        <p:spPr>
          <a:xfrm xmlns:a="http://schemas.openxmlformats.org/drawingml/2006/main">
            <a:off x="857250" y="4734306"/>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D54DD908-6943-44B3-9CF1-DA7CA39B0FB6}"/>
              </a:ext>
            </a:extLst>
          </p:cNvPr>
          <p:cNvSpPr>
            <a:spLocks xmlns:a="http://schemas.openxmlformats.org/drawingml/2006/main" noGrp="1"/>
          </p:cNvSpPr>
          <p:nvPr/>
        </p:nvSpPr>
        <p:spPr>
          <a:xfrm xmlns:a="http://schemas.openxmlformats.org/drawingml/2006/main">
            <a:off x="857250" y="4848606"/>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38311E34-A242-4F94-92CB-14ABAE8CC69B}"/>
              </a:ext>
            </a:extLst>
          </p:cNvPr>
          <p:cNvSpPr>
            <a:spLocks xmlns:a="http://schemas.openxmlformats.org/drawingml/2006/main" noGrp="1"/>
          </p:cNvSpPr>
          <p:nvPr/>
        </p:nvSpPr>
        <p:spPr>
          <a:xfrm xmlns:a="http://schemas.openxmlformats.org/drawingml/2006/main">
            <a:off x="857250" y="5077206"/>
            <a:ext cx="6400800" cy="752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t = 0.5 18 1 3 6</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P/R/F1: 0.8571 0.6667 0.7500</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t = 0.6 19 0 8 1</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P/R/F1: 1.0000 0.1111 0.2000</a:t>
            </a:r>
          </a:p>
        </p:txBody>
      </p:sp>
      <p:sp>
        <p:nvSpPr>
          <p:cNvPr id="11" name="explain-head">
            <a:extLst xmlns:a="http://schemas.openxmlformats.org/drawingml/2006/main">
              <a:ext uri="{FF2B5EF4-FFF2-40B4-BE49-F238E27FC236}">
                <a16:creationId xmlns:a16="http://schemas.microsoft.com/office/drawing/2014/main" id="{49C7FFA0-A131-4C7F-AA4D-BC1BB7E64214}"/>
              </a:ext>
            </a:extLst>
          </p:cNvPr>
          <p:cNvSpPr>
            <a:spLocks xmlns:a="http://schemas.openxmlformats.org/drawingml/2006/main" noGrp="1"/>
          </p:cNvSpPr>
          <p:nvPr/>
        </p:nvSpPr>
        <p:spPr>
          <a:xfrm xmlns:a="http://schemas.openxmlformats.org/drawingml/2006/main">
            <a:off x="7886700" y="2867025"/>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Zero FP is not free</a:t>
            </a:r>
          </a:p>
        </p:txBody>
      </p:sp>
      <p:sp>
        <p:nvSpPr>
          <p:cNvPr id="12" name="explain-body">
            <a:extLst xmlns:a="http://schemas.openxmlformats.org/drawingml/2006/main">
              <a:ext uri="{FF2B5EF4-FFF2-40B4-BE49-F238E27FC236}">
                <a16:creationId xmlns:a16="http://schemas.microsoft.com/office/drawing/2014/main" id="{91BE502E-D411-4325-B942-96D09F69269A}"/>
              </a:ext>
            </a:extLst>
          </p:cNvPr>
          <p:cNvSpPr>
            <a:spLocks xmlns:a="http://schemas.openxmlformats.org/drawingml/2006/main" noGrp="1"/>
          </p:cNvSpPr>
          <p:nvPr/>
        </p:nvSpPr>
        <p:spPr>
          <a:xfrm xmlns:a="http://schemas.openxmlformats.org/drawingml/2006/main">
            <a:off x="7886700" y="3364611"/>
            <a:ext cx="369570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Both thresholds meet the FPR limit, but 0.5 retains 6 of 9 positives while 0.6 retains only 1. The predeclared rule therefore selects 0.5 on validation data.</a:t>
            </a:r>
          </a:p>
        </p:txBody>
      </p:sp>
    </p:spTree>
    <p:extLst>
      <p:ext uri="{BB962C8B-B14F-4D97-AF65-F5344CB8AC3E}">
        <p14:creationId xmlns:p14="http://schemas.microsoft.com/office/powerpoint/2010/main" val="214154221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8B775FEC-8958-41BF-AAAB-842E6DDE604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463FEFCB-1135-411A-BA16-C7030B71B8F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[A4] cross_val_score: does this hold up on unseen data?</a:t>
            </a:r>
          </a:p>
        </p:txBody>
      </p:sp>
      <p:sp>
        <p:nvSpPr>
          <p:cNvPr id="3" name="">
            <a:extLst xmlns:a="http://schemas.openxmlformats.org/drawingml/2006/main">
              <a:ext uri="{FF2B5EF4-FFF2-40B4-BE49-F238E27FC236}">
                <a16:creationId xmlns:a16="http://schemas.microsoft.com/office/drawing/2014/main" id="{7EFA1837-5209-463E-89E1-C16B8973A61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548F4EB-A4BC-454B-8701-DA8B519C0CE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CE1D1659-862B-4E8D-9569-CE12C4CBBC1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18</a:t>
            </a:r>
          </a:p>
        </p:txBody>
      </p:sp>
      <p:sp>
        <p:nvSpPr>
          <p:cNvPr id="6" name="code-panel">
            <a:extLst xmlns:a="http://schemas.openxmlformats.org/drawingml/2006/main">
              <a:ext uri="{FF2B5EF4-FFF2-40B4-BE49-F238E27FC236}">
                <a16:creationId xmlns:a16="http://schemas.microsoft.com/office/drawing/2014/main" id="{2790B95A-5E2C-4FD2-89E3-31BDEC2D6BCE}"/>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8A67A8B8-6433-478D-A469-EE3ACF8CC181}"/>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from sklearn.model_selection import StratifiedKFold, cross_val_score</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cv = StratifiedKFold(5, shuffle=True, random_state=42)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scores = cross_val_score(LogisticRegression(), Xc_dev, yc_dev,</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cv=cv, scoring='accuracy')</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print(scores.round(4), round(scores.mean(), 4))</a:t>
            </a:r>
          </a:p>
        </p:txBody>
      </p:sp>
      <p:sp>
        <p:nvSpPr>
          <p:cNvPr id="8" name="">
            <a:extLst xmlns:a="http://schemas.openxmlformats.org/drawingml/2006/main">
              <a:ext uri="{FF2B5EF4-FFF2-40B4-BE49-F238E27FC236}">
                <a16:creationId xmlns:a16="http://schemas.microsoft.com/office/drawing/2014/main" id="{15F185A9-6749-4B68-B9B3-BCAA0DD8639F}"/>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E1EABB86-89CF-4D44-8904-5780EDC250B4}"/>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7A559C4C-EFCE-44F7-90B5-C0E4D3556141}"/>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[0.7826 0.6957 0.8636 0.6364 0.8182] 0.7593</a:t>
            </a:r>
          </a:p>
        </p:txBody>
      </p:sp>
      <p:sp>
        <p:nvSpPr>
          <p:cNvPr id="11" name="explain-head">
            <a:extLst xmlns:a="http://schemas.openxmlformats.org/drawingml/2006/main">
              <a:ext uri="{FF2B5EF4-FFF2-40B4-BE49-F238E27FC236}">
                <a16:creationId xmlns:a16="http://schemas.microsoft.com/office/drawing/2014/main" id="{D5FD2EE4-8C2A-4317-B60C-DB05FD542559}"/>
              </a:ext>
            </a:extLst>
          </p:cNvPr>
          <p:cNvSpPr>
            <a:spLocks xmlns:a="http://schemas.openxmlformats.org/drawingml/2006/main" noGrp="1"/>
          </p:cNvSpPr>
          <p:nvPr/>
        </p:nvSpPr>
        <p:spPr>
          <a:xfrm xmlns:a="http://schemas.openxmlformats.org/drawingml/2006/main">
            <a:off x="7886700" y="26860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 development-only variability check</a:t>
            </a:r>
          </a:p>
        </p:txBody>
      </p:sp>
      <p:sp>
        <p:nvSpPr>
          <p:cNvPr id="12" name="explain-body">
            <a:extLst xmlns:a="http://schemas.openxmlformats.org/drawingml/2006/main">
              <a:ext uri="{FF2B5EF4-FFF2-40B4-BE49-F238E27FC236}">
                <a16:creationId xmlns:a16="http://schemas.microsoft.com/office/drawing/2014/main" id="{041F8B3A-0C7F-42F0-9512-AC8A8612ED38}"/>
              </a:ext>
            </a:extLst>
          </p:cNvPr>
          <p:cNvSpPr>
            <a:spLocks xmlns:a="http://schemas.openxmlformats.org/drawingml/2006/main" noGrp="1"/>
          </p:cNvSpPr>
          <p:nvPr/>
        </p:nvSpPr>
        <p:spPr>
          <a:xfrm xmlns:a="http://schemas.openxmlformats.org/drawingml/2006/main">
            <a:off x="7886700" y="3471672"/>
            <a:ext cx="3695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112 development rows are refit across paired folds. This checks default-0.5 accuracy variability; it does not validate the consequence-selected policy or touch final-test rows.</a:t>
            </a:r>
          </a:p>
        </p:txBody>
      </p:sp>
    </p:spTree>
    <p:extLst>
      <p:ext uri="{BB962C8B-B14F-4D97-AF65-F5344CB8AC3E}">
        <p14:creationId xmlns:p14="http://schemas.microsoft.com/office/powerpoint/2010/main" val="110471335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DFF98DE8-84E4-4382-ABD8-18263096542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96796DD9-F93F-4906-A562-3B214D4EEB1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[A5] AI-audit: 'ready to use!'</a:t>
            </a:r>
          </a:p>
        </p:txBody>
      </p:sp>
      <p:sp>
        <p:nvSpPr>
          <p:cNvPr id="3" name="">
            <a:extLst xmlns:a="http://schemas.openxmlformats.org/drawingml/2006/main">
              <a:ext uri="{FF2B5EF4-FFF2-40B4-BE49-F238E27FC236}">
                <a16:creationId xmlns:a16="http://schemas.microsoft.com/office/drawing/2014/main" id="{C8F1339B-5372-4AFC-90A7-7085BDC15F7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14D6D6E-2C19-4087-A3A1-4B8CECD8CCA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E6B0D668-33B7-4E6E-9055-C55436C15A4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19</a:t>
            </a:r>
          </a:p>
        </p:txBody>
      </p:sp>
      <p:sp>
        <p:nvSpPr>
          <p:cNvPr id="6" name="code-panel">
            <a:extLst xmlns:a="http://schemas.openxmlformats.org/drawingml/2006/main">
              <a:ext uri="{FF2B5EF4-FFF2-40B4-BE49-F238E27FC236}">
                <a16:creationId xmlns:a16="http://schemas.microsoft.com/office/drawing/2014/main" id="{5B06D1EC-A660-44A9-A94A-82AF26A31FC4}"/>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8C4D3B3B-ED70-4903-945A-0870C235F49F}"/>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def ai_evaluate_classifier(clf, X_val, y_val):</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preds = clf.predict(X_val)</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acc = (preds == y_val).mean()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print(f'Model is {acc:.1%} accurate -- ready to use!')</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return acc</a:t>
            </a:r>
          </a:p>
        </p:txBody>
      </p:sp>
      <p:sp>
        <p:nvSpPr>
          <p:cNvPr id="8" name="">
            <a:extLst xmlns:a="http://schemas.openxmlformats.org/drawingml/2006/main">
              <a:ext uri="{FF2B5EF4-FFF2-40B4-BE49-F238E27FC236}">
                <a16:creationId xmlns:a16="http://schemas.microsoft.com/office/drawing/2014/main" id="{D3969E15-6C99-4BC1-9086-19C10EC7BBBB}"/>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355513A5-A077-4EED-9956-75B88B03BFCB}"/>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5F932359-835B-472A-BFA7-4A3EF77F141D}"/>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Model is 85.7% accurate -- ready to use!</a:t>
            </a:r>
          </a:p>
        </p:txBody>
      </p:sp>
      <p:sp>
        <p:nvSpPr>
          <p:cNvPr id="11" name="explain-head">
            <a:extLst xmlns:a="http://schemas.openxmlformats.org/drawingml/2006/main">
              <a:ext uri="{FF2B5EF4-FFF2-40B4-BE49-F238E27FC236}">
                <a16:creationId xmlns:a16="http://schemas.microsoft.com/office/drawing/2014/main" id="{97C3992C-DBB6-434E-B38E-66BE6E6AA0BD}"/>
              </a:ext>
            </a:extLst>
          </p:cNvPr>
          <p:cNvSpPr>
            <a:spLocks xmlns:a="http://schemas.openxmlformats.org/drawingml/2006/main" noGrp="1"/>
          </p:cNvSpPr>
          <p:nvPr/>
        </p:nvSpPr>
        <p:spPr>
          <a:xfrm xmlns:a="http://schemas.openxmlformats.org/drawingml/2006/main">
            <a:off x="7886700" y="26098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Four defects in five lines</a:t>
            </a:r>
          </a:p>
        </p:txBody>
      </p:sp>
      <p:sp>
        <p:nvSpPr>
          <p:cNvPr id="12" name="explain-body">
            <a:extLst xmlns:a="http://schemas.openxmlformats.org/drawingml/2006/main">
              <a:ext uri="{FF2B5EF4-FFF2-40B4-BE49-F238E27FC236}">
                <a16:creationId xmlns:a16="http://schemas.microsoft.com/office/drawing/2014/main" id="{C2E2F1D8-1756-4755-AF0A-B8398FBBE0F9}"/>
              </a:ext>
            </a:extLst>
          </p:cNvPr>
          <p:cNvSpPr>
            <a:spLocks xmlns:a="http://schemas.openxmlformats.org/drawingml/2006/main" noGrp="1"/>
          </p:cNvSpPr>
          <p:nvPr/>
        </p:nvSpPr>
        <p:spPr>
          <a:xfrm xmlns:a="http://schemas.openxmlformats.org/drawingml/2006/main">
            <a:off x="7886700" y="3395472"/>
            <a:ext cx="3695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(1) One validation score is mislabeled as deployment readiness. (2) Accuracy hides the asymmetric errors. (3) No threshold rule is documented. (4) The final test has not been opened—and must remain untouched until selection is frozen.</a:t>
            </a:r>
          </a:p>
        </p:txBody>
      </p:sp>
    </p:spTree>
    <p:extLst>
      <p:ext uri="{BB962C8B-B14F-4D97-AF65-F5344CB8AC3E}">
        <p14:creationId xmlns:p14="http://schemas.microsoft.com/office/powerpoint/2010/main" val="71088771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68854E50-A501-4C61-B852-82E271B9DBB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8FB0C609-C465-48FE-B204-F01EFBD54DB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A2: transfer check -- a different threshold</a:t>
            </a:r>
          </a:p>
        </p:txBody>
      </p:sp>
      <p:sp>
        <p:nvSpPr>
          <p:cNvPr id="3" name="">
            <a:extLst xmlns:a="http://schemas.openxmlformats.org/drawingml/2006/main">
              <a:ext uri="{FF2B5EF4-FFF2-40B4-BE49-F238E27FC236}">
                <a16:creationId xmlns:a16="http://schemas.microsoft.com/office/drawing/2014/main" id="{E9A11F7F-A2E0-40BB-9C2B-9B58F7454F9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82365BD-003B-4CA8-8C6C-B27711F5642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E3043286-E60E-4FB1-A30C-E9EAE996E65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20</a:t>
            </a:r>
          </a:p>
        </p:txBody>
      </p:sp>
      <p:sp>
        <p:nvSpPr>
          <p:cNvPr id="6" name="exercise-accent">
            <a:extLst xmlns:a="http://schemas.openxmlformats.org/drawingml/2006/main">
              <a:ext uri="{FF2B5EF4-FFF2-40B4-BE49-F238E27FC236}">
                <a16:creationId xmlns:a16="http://schemas.microsoft.com/office/drawing/2014/main" id="{C412139D-AF65-4C42-82D5-8AA32738522A}"/>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E28A4E10-2716-4456-BDDB-D1007C2D1A58}"/>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Compare validation thresholds 0.5 and 0.6, then explain why zero false positives alone is not enough.</a:t>
            </a:r>
          </a:p>
        </p:txBody>
      </p:sp>
      <p:sp>
        <p:nvSpPr>
          <p:cNvPr id="8" name="work-label">
            <a:extLst xmlns:a="http://schemas.openxmlformats.org/drawingml/2006/main">
              <a:ext uri="{FF2B5EF4-FFF2-40B4-BE49-F238E27FC236}">
                <a16:creationId xmlns:a16="http://schemas.microsoft.com/office/drawing/2014/main" id="{9223EA84-50EF-4431-A711-66CED5FCAA44}"/>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B09675BA-8718-4D37-A4C3-24A517DB435C}"/>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38F66B75-26CE-4127-A7FB-3ADA4456BCAC}"/>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At 0.5: TN=18, FP=1, FN=3, TP=6.</a:t>
            </a:r>
          </a:p>
        </p:txBody>
      </p:sp>
      <p:sp>
        <p:nvSpPr>
          <p:cNvPr id="11" name="exercise-no-1">
            <a:extLst xmlns:a="http://schemas.openxmlformats.org/drawingml/2006/main">
              <a:ext uri="{FF2B5EF4-FFF2-40B4-BE49-F238E27FC236}">
                <a16:creationId xmlns:a16="http://schemas.microsoft.com/office/drawing/2014/main" id="{9A7579F5-8BCF-4B49-97EB-37BCC0A902F1}"/>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CF67950C-4D7D-49F7-A7D8-2F988836E342}"/>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At 0.6: TN=19, FP=0, FN=8, TP=1.</a:t>
            </a:r>
          </a:p>
        </p:txBody>
      </p:sp>
      <p:sp>
        <p:nvSpPr>
          <p:cNvPr id="13" name="exercise-no-2">
            <a:extLst xmlns:a="http://schemas.openxmlformats.org/drawingml/2006/main">
              <a:ext uri="{FF2B5EF4-FFF2-40B4-BE49-F238E27FC236}">
                <a16:creationId xmlns:a16="http://schemas.microsoft.com/office/drawing/2014/main" id="{4BBBA49D-4665-42C6-BF12-19680BE02139}"/>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5F50F7BD-07D9-43E2-B0EC-D7FC650F015E}"/>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Hand-compute precision, recall, F1, and FPR for both.</a:t>
            </a:r>
          </a:p>
        </p:txBody>
      </p:sp>
      <p:sp>
        <p:nvSpPr>
          <p:cNvPr id="15" name="exercise-no-3">
            <a:extLst xmlns:a="http://schemas.openxmlformats.org/drawingml/2006/main">
              <a:ext uri="{FF2B5EF4-FFF2-40B4-BE49-F238E27FC236}">
                <a16:creationId xmlns:a16="http://schemas.microsoft.com/office/drawing/2014/main" id="{2A556BF2-7B4D-46A8-A51A-18B721096AC2}"/>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DF1F7761-9330-4AD5-AC7E-95453140B807}"/>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Apply the predeclared rule FPR≤10%, then maximize recall; freeze the selected threshold before final testing.</a:t>
            </a:r>
          </a:p>
        </p:txBody>
      </p:sp>
    </p:spTree>
    <p:extLst>
      <p:ext uri="{BB962C8B-B14F-4D97-AF65-F5344CB8AC3E}">
        <p14:creationId xmlns:p14="http://schemas.microsoft.com/office/powerpoint/2010/main" val="184973594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kicker">
            <a:extLst xmlns:a="http://schemas.openxmlformats.org/drawingml/2006/main">
              <a:ext uri="{FF2B5EF4-FFF2-40B4-BE49-F238E27FC236}">
                <a16:creationId xmlns:a16="http://schemas.microsoft.com/office/drawing/2014/main" id="{DDF3AFB4-0455-4CC3-9FDF-7C22264674E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79ED2C0F-A66B-4246-89B6-2EBF1B38CAB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Track A model card</a:t>
            </a:r>
          </a:p>
        </p:txBody>
      </p:sp>
      <p:sp>
        <p:nvSpPr>
          <p:cNvPr id="3" name="">
            <a:extLst xmlns:a="http://schemas.openxmlformats.org/drawingml/2006/main">
              <a:ext uri="{FF2B5EF4-FFF2-40B4-BE49-F238E27FC236}">
                <a16:creationId xmlns:a16="http://schemas.microsoft.com/office/drawing/2014/main" id="{24CDE0AE-B432-451E-9260-B8BEC93C5A4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DC68D66-8601-4364-A823-E536257FDAD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AF907B43-7F6A-4386-A5F4-A4FE8430CA5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21</a:t>
            </a:r>
          </a:p>
        </p:txBody>
      </p:sp>
      <p:sp>
        <p:nvSpPr>
          <p:cNvPr id="6" name="">
            <a:extLst xmlns:a="http://schemas.openxmlformats.org/drawingml/2006/main">
              <a:ext uri="{FF2B5EF4-FFF2-40B4-BE49-F238E27FC236}">
                <a16:creationId xmlns:a16="http://schemas.microsoft.com/office/drawing/2014/main" id="{88B94BAA-BE33-4F96-96A0-3831F1A36AE2}"/>
              </a:ext>
            </a:extLst>
          </p:cNvPr>
          <p:cNvSpPr>
            <a:spLocks xmlns:a="http://schemas.openxmlformats.org/drawingml/2006/main" noGrp="1"/>
          </p:cNvSpPr>
          <p:nvPr/>
        </p:nvSpPr>
        <p:spPr>
          <a:xfrm xmlns:a="http://schemas.openxmlformats.org/drawingml/2006/main">
            <a:off x="609600" y="2362200"/>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4335617D-5E03-4049-87FC-1206109D2679}"/>
              </a:ext>
            </a:extLst>
          </p:cNvPr>
          <p:cNvSpPr>
            <a:spLocks xmlns:a="http://schemas.openxmlformats.org/drawingml/2006/main" noGrp="1"/>
          </p:cNvSpPr>
          <p:nvPr/>
        </p:nvSpPr>
        <p:spPr>
          <a:xfrm xmlns:a="http://schemas.openxmlformats.org/drawingml/2006/main">
            <a:off x="723900" y="243840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field</a:t>
            </a:r>
          </a:p>
        </p:txBody>
      </p:sp>
      <p:sp>
        <p:nvSpPr>
          <p:cNvPr id="8" name="">
            <a:extLst xmlns:a="http://schemas.openxmlformats.org/drawingml/2006/main">
              <a:ext uri="{FF2B5EF4-FFF2-40B4-BE49-F238E27FC236}">
                <a16:creationId xmlns:a16="http://schemas.microsoft.com/office/drawing/2014/main" id="{A4E8673C-2A6E-435D-85C2-59C47545B63B}"/>
              </a:ext>
            </a:extLst>
          </p:cNvPr>
          <p:cNvSpPr>
            <a:spLocks xmlns:a="http://schemas.openxmlformats.org/drawingml/2006/main" noGrp="1"/>
          </p:cNvSpPr>
          <p:nvPr/>
        </p:nvSpPr>
        <p:spPr>
          <a:xfrm xmlns:a="http://schemas.openxmlformats.org/drawingml/2006/main">
            <a:off x="3086100" y="2362200"/>
            <a:ext cx="49530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71860760-9B95-4E5B-B076-825CF31B0ECA}"/>
              </a:ext>
            </a:extLst>
          </p:cNvPr>
          <p:cNvSpPr>
            <a:spLocks xmlns:a="http://schemas.openxmlformats.org/drawingml/2006/main" noGrp="1"/>
          </p:cNvSpPr>
          <p:nvPr/>
        </p:nvSpPr>
        <p:spPr>
          <a:xfrm xmlns:a="http://schemas.openxmlformats.org/drawingml/2006/main">
            <a:off x="3200400" y="2438400"/>
            <a:ext cx="4724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entry</a:t>
            </a:r>
          </a:p>
        </p:txBody>
      </p:sp>
      <p:sp>
        <p:nvSpPr>
          <p:cNvPr id="10" name="">
            <a:extLst xmlns:a="http://schemas.openxmlformats.org/drawingml/2006/main">
              <a:ext uri="{FF2B5EF4-FFF2-40B4-BE49-F238E27FC236}">
                <a16:creationId xmlns:a16="http://schemas.microsoft.com/office/drawing/2014/main" id="{ADB053C9-006A-4957-9281-4EF6080E2693}"/>
              </a:ext>
            </a:extLst>
          </p:cNvPr>
          <p:cNvSpPr>
            <a:spLocks xmlns:a="http://schemas.openxmlformats.org/drawingml/2006/main" noGrp="1"/>
          </p:cNvSpPr>
          <p:nvPr/>
        </p:nvSpPr>
        <p:spPr>
          <a:xfrm xmlns:a="http://schemas.openxmlformats.org/drawingml/2006/main">
            <a:off x="609600" y="2895600"/>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1" name="cell-0-0">
            <a:extLst xmlns:a="http://schemas.openxmlformats.org/drawingml/2006/main">
              <a:ext uri="{FF2B5EF4-FFF2-40B4-BE49-F238E27FC236}">
                <a16:creationId xmlns:a16="http://schemas.microsoft.com/office/drawing/2014/main" id="{30EE4D9B-9FED-4185-BB62-BABA9E0F21AC}"/>
              </a:ext>
            </a:extLst>
          </p:cNvPr>
          <p:cNvSpPr>
            <a:spLocks xmlns:a="http://schemas.openxmlformats.org/drawingml/2006/main" noGrp="1"/>
          </p:cNvSpPr>
          <p:nvPr/>
        </p:nvSpPr>
        <p:spPr>
          <a:xfrm xmlns:a="http://schemas.openxmlformats.org/drawingml/2006/main">
            <a:off x="723900" y="297180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data roles</a:t>
            </a:r>
          </a:p>
        </p:txBody>
      </p:sp>
      <p:sp>
        <p:nvSpPr>
          <p:cNvPr id="12" name="">
            <a:extLst xmlns:a="http://schemas.openxmlformats.org/drawingml/2006/main">
              <a:ext uri="{FF2B5EF4-FFF2-40B4-BE49-F238E27FC236}">
                <a16:creationId xmlns:a16="http://schemas.microsoft.com/office/drawing/2014/main" id="{345A9901-3DA6-4C05-BEF3-9229849296F2}"/>
              </a:ext>
            </a:extLst>
          </p:cNvPr>
          <p:cNvSpPr>
            <a:spLocks xmlns:a="http://schemas.openxmlformats.org/drawingml/2006/main" noGrp="1"/>
          </p:cNvSpPr>
          <p:nvPr/>
        </p:nvSpPr>
        <p:spPr>
          <a:xfrm xmlns:a="http://schemas.openxmlformats.org/drawingml/2006/main">
            <a:off x="3086100" y="2895600"/>
            <a:ext cx="4953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3" name="cell-0-1">
            <a:extLst xmlns:a="http://schemas.openxmlformats.org/drawingml/2006/main">
              <a:ext uri="{FF2B5EF4-FFF2-40B4-BE49-F238E27FC236}">
                <a16:creationId xmlns:a16="http://schemas.microsoft.com/office/drawing/2014/main" id="{5D334513-C499-4666-A598-8B1567BB68C8}"/>
              </a:ext>
            </a:extLst>
          </p:cNvPr>
          <p:cNvSpPr>
            <a:spLocks xmlns:a="http://schemas.openxmlformats.org/drawingml/2006/main" noGrp="1"/>
          </p:cNvSpPr>
          <p:nvPr/>
        </p:nvSpPr>
        <p:spPr>
          <a:xfrm xmlns:a="http://schemas.openxmlformats.org/drawingml/2006/main">
            <a:off x="3200400" y="2971800"/>
            <a:ext cx="4724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84 train / 28 validation / 28 untouched test</a:t>
            </a:r>
          </a:p>
        </p:txBody>
      </p:sp>
      <p:sp>
        <p:nvSpPr>
          <p:cNvPr id="14" name="">
            <a:extLst xmlns:a="http://schemas.openxmlformats.org/drawingml/2006/main">
              <a:ext uri="{FF2B5EF4-FFF2-40B4-BE49-F238E27FC236}">
                <a16:creationId xmlns:a16="http://schemas.microsoft.com/office/drawing/2014/main" id="{48A85929-1BC3-43D8-9590-7BC28E3008D4}"/>
              </a:ext>
            </a:extLst>
          </p:cNvPr>
          <p:cNvSpPr>
            <a:spLocks xmlns:a="http://schemas.openxmlformats.org/drawingml/2006/main" noGrp="1"/>
          </p:cNvSpPr>
          <p:nvPr/>
        </p:nvSpPr>
        <p:spPr>
          <a:xfrm xmlns:a="http://schemas.openxmlformats.org/drawingml/2006/main">
            <a:off x="609600" y="3429000"/>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15" name="cell-1-0">
            <a:extLst xmlns:a="http://schemas.openxmlformats.org/drawingml/2006/main">
              <a:ext uri="{FF2B5EF4-FFF2-40B4-BE49-F238E27FC236}">
                <a16:creationId xmlns:a16="http://schemas.microsoft.com/office/drawing/2014/main" id="{438D3DAC-EE04-4E55-9652-C18977C1ED0C}"/>
              </a:ext>
            </a:extLst>
          </p:cNvPr>
          <p:cNvSpPr>
            <a:spLocks xmlns:a="http://schemas.openxmlformats.org/drawingml/2006/main" noGrp="1"/>
          </p:cNvSpPr>
          <p:nvPr/>
        </p:nvSpPr>
        <p:spPr>
          <a:xfrm xmlns:a="http://schemas.openxmlformats.org/drawingml/2006/main">
            <a:off x="723900" y="3505200"/>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operating threshold</a:t>
            </a:r>
          </a:p>
        </p:txBody>
      </p:sp>
      <p:sp>
        <p:nvSpPr>
          <p:cNvPr id="16" name="">
            <a:extLst xmlns:a="http://schemas.openxmlformats.org/drawingml/2006/main">
              <a:ext uri="{FF2B5EF4-FFF2-40B4-BE49-F238E27FC236}">
                <a16:creationId xmlns:a16="http://schemas.microsoft.com/office/drawing/2014/main" id="{F30EAAA4-AF02-4968-A8B5-A0C9D663BD92}"/>
              </a:ext>
            </a:extLst>
          </p:cNvPr>
          <p:cNvSpPr>
            <a:spLocks xmlns:a="http://schemas.openxmlformats.org/drawingml/2006/main" noGrp="1"/>
          </p:cNvSpPr>
          <p:nvPr/>
        </p:nvSpPr>
        <p:spPr>
          <a:xfrm xmlns:a="http://schemas.openxmlformats.org/drawingml/2006/main">
            <a:off x="3086100" y="3429000"/>
            <a:ext cx="49530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17" name="cell-1-1">
            <a:extLst xmlns:a="http://schemas.openxmlformats.org/drawingml/2006/main">
              <a:ext uri="{FF2B5EF4-FFF2-40B4-BE49-F238E27FC236}">
                <a16:creationId xmlns:a16="http://schemas.microsoft.com/office/drawing/2014/main" id="{D91CA622-4ED2-449D-9B80-D3270BFAC074}"/>
              </a:ext>
            </a:extLst>
          </p:cNvPr>
          <p:cNvSpPr>
            <a:spLocks xmlns:a="http://schemas.openxmlformats.org/drawingml/2006/main" noGrp="1"/>
          </p:cNvSpPr>
          <p:nvPr/>
        </p:nvSpPr>
        <p:spPr>
          <a:xfrm xmlns:a="http://schemas.openxmlformats.org/drawingml/2006/main">
            <a:off x="3200400" y="3505200"/>
            <a:ext cx="47244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0.5, selected on validation by FPR≤10%, then maximize recall</a:t>
            </a:r>
          </a:p>
        </p:txBody>
      </p:sp>
      <p:sp>
        <p:nvSpPr>
          <p:cNvPr id="18" name="">
            <a:extLst xmlns:a="http://schemas.openxmlformats.org/drawingml/2006/main">
              <a:ext uri="{FF2B5EF4-FFF2-40B4-BE49-F238E27FC236}">
                <a16:creationId xmlns:a16="http://schemas.microsoft.com/office/drawing/2014/main" id="{A7486BA7-2AF3-4F5C-84FB-3887F3148777}"/>
              </a:ext>
            </a:extLst>
          </p:cNvPr>
          <p:cNvSpPr>
            <a:spLocks xmlns:a="http://schemas.openxmlformats.org/drawingml/2006/main" noGrp="1"/>
          </p:cNvSpPr>
          <p:nvPr/>
        </p:nvSpPr>
        <p:spPr>
          <a:xfrm xmlns:a="http://schemas.openxmlformats.org/drawingml/2006/main">
            <a:off x="609600" y="3970020"/>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2-0">
            <a:extLst xmlns:a="http://schemas.openxmlformats.org/drawingml/2006/main">
              <a:ext uri="{FF2B5EF4-FFF2-40B4-BE49-F238E27FC236}">
                <a16:creationId xmlns:a16="http://schemas.microsoft.com/office/drawing/2014/main" id="{B50E0411-9256-4408-9227-ECCCF3FC2192}"/>
              </a:ext>
            </a:extLst>
          </p:cNvPr>
          <p:cNvSpPr>
            <a:spLocks xmlns:a="http://schemas.openxmlformats.org/drawingml/2006/main" noGrp="1"/>
          </p:cNvSpPr>
          <p:nvPr/>
        </p:nvSpPr>
        <p:spPr>
          <a:xfrm xmlns:a="http://schemas.openxmlformats.org/drawingml/2006/main">
            <a:off x="723900" y="404622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validation</a:t>
            </a:r>
          </a:p>
        </p:txBody>
      </p:sp>
      <p:sp>
        <p:nvSpPr>
          <p:cNvPr id="20" name="">
            <a:extLst xmlns:a="http://schemas.openxmlformats.org/drawingml/2006/main">
              <a:ext uri="{FF2B5EF4-FFF2-40B4-BE49-F238E27FC236}">
                <a16:creationId xmlns:a16="http://schemas.microsoft.com/office/drawing/2014/main" id="{6106CBD8-86ED-473B-9B7D-1FB7E295E543}"/>
              </a:ext>
            </a:extLst>
          </p:cNvPr>
          <p:cNvSpPr>
            <a:spLocks xmlns:a="http://schemas.openxmlformats.org/drawingml/2006/main" noGrp="1"/>
          </p:cNvSpPr>
          <p:nvPr/>
        </p:nvSpPr>
        <p:spPr>
          <a:xfrm xmlns:a="http://schemas.openxmlformats.org/drawingml/2006/main">
            <a:off x="3086100" y="3970020"/>
            <a:ext cx="4953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2-1">
            <a:extLst xmlns:a="http://schemas.openxmlformats.org/drawingml/2006/main">
              <a:ext uri="{FF2B5EF4-FFF2-40B4-BE49-F238E27FC236}">
                <a16:creationId xmlns:a16="http://schemas.microsoft.com/office/drawing/2014/main" id="{36F37B3E-5F1C-4BFC-92AD-74A6C7D84FC3}"/>
              </a:ext>
            </a:extLst>
          </p:cNvPr>
          <p:cNvSpPr>
            <a:spLocks xmlns:a="http://schemas.openxmlformats.org/drawingml/2006/main" noGrp="1"/>
          </p:cNvSpPr>
          <p:nvPr/>
        </p:nvSpPr>
        <p:spPr>
          <a:xfrm xmlns:a="http://schemas.openxmlformats.org/drawingml/2006/main">
            <a:off x="3200400" y="4046220"/>
            <a:ext cx="4724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precision=0.857, recall=0.667, F1=0.750</a:t>
            </a:r>
          </a:p>
        </p:txBody>
      </p:sp>
      <p:sp>
        <p:nvSpPr>
          <p:cNvPr id="22" name="">
            <a:extLst xmlns:a="http://schemas.openxmlformats.org/drawingml/2006/main">
              <a:ext uri="{FF2B5EF4-FFF2-40B4-BE49-F238E27FC236}">
                <a16:creationId xmlns:a16="http://schemas.microsoft.com/office/drawing/2014/main" id="{AD475551-3F2E-475C-B07F-36EAA9C9F299}"/>
              </a:ext>
            </a:extLst>
          </p:cNvPr>
          <p:cNvSpPr>
            <a:spLocks xmlns:a="http://schemas.openxmlformats.org/drawingml/2006/main" noGrp="1"/>
          </p:cNvSpPr>
          <p:nvPr/>
        </p:nvSpPr>
        <p:spPr>
          <a:xfrm xmlns:a="http://schemas.openxmlformats.org/drawingml/2006/main">
            <a:off x="609600" y="4503420"/>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3-0">
            <a:extLst xmlns:a="http://schemas.openxmlformats.org/drawingml/2006/main">
              <a:ext uri="{FF2B5EF4-FFF2-40B4-BE49-F238E27FC236}">
                <a16:creationId xmlns:a16="http://schemas.microsoft.com/office/drawing/2014/main" id="{64EBC21C-1971-4A14-A22A-0021B9BED125}"/>
              </a:ext>
            </a:extLst>
          </p:cNvPr>
          <p:cNvSpPr>
            <a:spLocks xmlns:a="http://schemas.openxmlformats.org/drawingml/2006/main" noGrp="1"/>
          </p:cNvSpPr>
          <p:nvPr/>
        </p:nvSpPr>
        <p:spPr>
          <a:xfrm xmlns:a="http://schemas.openxmlformats.org/drawingml/2006/main">
            <a:off x="723900" y="457962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final test once</a:t>
            </a:r>
          </a:p>
        </p:txBody>
      </p:sp>
      <p:sp>
        <p:nvSpPr>
          <p:cNvPr id="24" name="">
            <a:extLst xmlns:a="http://schemas.openxmlformats.org/drawingml/2006/main">
              <a:ext uri="{FF2B5EF4-FFF2-40B4-BE49-F238E27FC236}">
                <a16:creationId xmlns:a16="http://schemas.microsoft.com/office/drawing/2014/main" id="{7822670B-C58A-4CD1-AEE7-4D380A3885D2}"/>
              </a:ext>
            </a:extLst>
          </p:cNvPr>
          <p:cNvSpPr>
            <a:spLocks xmlns:a="http://schemas.openxmlformats.org/drawingml/2006/main" noGrp="1"/>
          </p:cNvSpPr>
          <p:nvPr/>
        </p:nvSpPr>
        <p:spPr>
          <a:xfrm xmlns:a="http://schemas.openxmlformats.org/drawingml/2006/main">
            <a:off x="3086100" y="4503420"/>
            <a:ext cx="49530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3-1">
            <a:extLst xmlns:a="http://schemas.openxmlformats.org/drawingml/2006/main">
              <a:ext uri="{FF2B5EF4-FFF2-40B4-BE49-F238E27FC236}">
                <a16:creationId xmlns:a16="http://schemas.microsoft.com/office/drawing/2014/main" id="{61D6F059-02A3-49F6-9739-633141CAF3C6}"/>
              </a:ext>
            </a:extLst>
          </p:cNvPr>
          <p:cNvSpPr>
            <a:spLocks xmlns:a="http://schemas.openxmlformats.org/drawingml/2006/main" noGrp="1"/>
          </p:cNvSpPr>
          <p:nvPr/>
        </p:nvSpPr>
        <p:spPr>
          <a:xfrm xmlns:a="http://schemas.openxmlformats.org/drawingml/2006/main">
            <a:off x="3200400" y="4579620"/>
            <a:ext cx="4724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TN=16, FP=2, FN=8, TP=2; P=0.500, R=0.200, F1=0.286</a:t>
            </a:r>
          </a:p>
        </p:txBody>
      </p:sp>
      <p:sp>
        <p:nvSpPr>
          <p:cNvPr id="26" name="">
            <a:extLst xmlns:a="http://schemas.openxmlformats.org/drawingml/2006/main">
              <a:ext uri="{FF2B5EF4-FFF2-40B4-BE49-F238E27FC236}">
                <a16:creationId xmlns:a16="http://schemas.microsoft.com/office/drawing/2014/main" id="{F7AF6B0C-375F-4F38-8954-819F06DB96BF}"/>
              </a:ext>
            </a:extLst>
          </p:cNvPr>
          <p:cNvSpPr>
            <a:spLocks xmlns:a="http://schemas.openxmlformats.org/drawingml/2006/main" noGrp="1"/>
          </p:cNvSpPr>
          <p:nvPr/>
        </p:nvSpPr>
        <p:spPr>
          <a:xfrm xmlns:a="http://schemas.openxmlformats.org/drawingml/2006/main">
            <a:off x="609600" y="5036820"/>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7" name="cell-4-0">
            <a:extLst xmlns:a="http://schemas.openxmlformats.org/drawingml/2006/main">
              <a:ext uri="{FF2B5EF4-FFF2-40B4-BE49-F238E27FC236}">
                <a16:creationId xmlns:a16="http://schemas.microsoft.com/office/drawing/2014/main" id="{5EA07EF2-5B1E-4D09-956F-7C62F0173178}"/>
              </a:ext>
            </a:extLst>
          </p:cNvPr>
          <p:cNvSpPr>
            <a:spLocks xmlns:a="http://schemas.openxmlformats.org/drawingml/2006/main" noGrp="1"/>
          </p:cNvSpPr>
          <p:nvPr/>
        </p:nvSpPr>
        <p:spPr>
          <a:xfrm xmlns:a="http://schemas.openxmlformats.org/drawingml/2006/main">
            <a:off x="723900" y="5113020"/>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limit</a:t>
            </a:r>
          </a:p>
        </p:txBody>
      </p:sp>
      <p:sp>
        <p:nvSpPr>
          <p:cNvPr id="28" name="">
            <a:extLst xmlns:a="http://schemas.openxmlformats.org/drawingml/2006/main">
              <a:ext uri="{FF2B5EF4-FFF2-40B4-BE49-F238E27FC236}">
                <a16:creationId xmlns:a16="http://schemas.microsoft.com/office/drawing/2014/main" id="{A198F8BF-FDAE-4F45-A17D-286FE6D9162E}"/>
              </a:ext>
            </a:extLst>
          </p:cNvPr>
          <p:cNvSpPr>
            <a:spLocks xmlns:a="http://schemas.openxmlformats.org/drawingml/2006/main" noGrp="1"/>
          </p:cNvSpPr>
          <p:nvPr/>
        </p:nvSpPr>
        <p:spPr>
          <a:xfrm xmlns:a="http://schemas.openxmlformats.org/drawingml/2006/main">
            <a:off x="3086100" y="5036820"/>
            <a:ext cx="49530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9" name="cell-4-1">
            <a:extLst xmlns:a="http://schemas.openxmlformats.org/drawingml/2006/main">
              <a:ext uri="{FF2B5EF4-FFF2-40B4-BE49-F238E27FC236}">
                <a16:creationId xmlns:a16="http://schemas.microsoft.com/office/drawing/2014/main" id="{C2065E48-709A-4F18-8CED-32126FED87F5}"/>
              </a:ext>
            </a:extLst>
          </p:cNvPr>
          <p:cNvSpPr>
            <a:spLocks xmlns:a="http://schemas.openxmlformats.org/drawingml/2006/main" noGrp="1"/>
          </p:cNvSpPr>
          <p:nvPr/>
        </p:nvSpPr>
        <p:spPr>
          <a:xfrm xmlns:a="http://schemas.openxmlformats.org/drawingml/2006/main">
            <a:off x="3200400" y="5113020"/>
            <a:ext cx="47244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synthetic data; no causal claim; no extrapolation beyond feature ranges</a:t>
            </a:r>
          </a:p>
        </p:txBody>
      </p:sp>
      <p:sp>
        <p:nvSpPr>
          <p:cNvPr id="30" name="callout-label">
            <a:extLst xmlns:a="http://schemas.openxmlformats.org/drawingml/2006/main">
              <a:ext uri="{FF2B5EF4-FFF2-40B4-BE49-F238E27FC236}">
                <a16:creationId xmlns:a16="http://schemas.microsoft.com/office/drawing/2014/main" id="{7130DCAF-8680-43F3-A405-6B6EF550FC71}"/>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31" name="callout">
            <a:extLst xmlns:a="http://schemas.openxmlformats.org/drawingml/2006/main">
              <a:ext uri="{FF2B5EF4-FFF2-40B4-BE49-F238E27FC236}">
                <a16:creationId xmlns:a16="http://schemas.microsoft.com/office/drawing/2014/main" id="{3789A21C-F311-4417-919F-C0AC558F51A5}"/>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Model card, defined: a one-page statement of a model's scope and limits -- required for every fitted model in Project 2.</a:t>
            </a:r>
          </a:p>
        </p:txBody>
      </p:sp>
    </p:spTree>
    <p:extLst>
      <p:ext uri="{BB962C8B-B14F-4D97-AF65-F5344CB8AC3E}">
        <p14:creationId xmlns:p14="http://schemas.microsoft.com/office/powerpoint/2010/main" val="126676483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5DEC3E2A-E6CF-4225-AB6E-CB6AE28F51E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RECALL MONDAY + WEEK 13 -- TRACK B</a:t>
            </a:r>
          </a:p>
        </p:txBody>
      </p:sp>
      <p:sp>
        <p:nvSpPr>
          <p:cNvPr id="2" name="title">
            <a:extLst xmlns:a="http://schemas.openxmlformats.org/drawingml/2006/main">
              <a:ext uri="{FF2B5EF4-FFF2-40B4-BE49-F238E27FC236}">
                <a16:creationId xmlns:a16="http://schemas.microsoft.com/office/drawing/2014/main" id="{1258CAA4-7760-4988-B759-B24C2B95696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Week 13's 3-feature model, recalled</a:t>
            </a:r>
          </a:p>
        </p:txBody>
      </p:sp>
      <p:sp>
        <p:nvSpPr>
          <p:cNvPr id="3" name="">
            <a:extLst xmlns:a="http://schemas.openxmlformats.org/drawingml/2006/main">
              <a:ext uri="{FF2B5EF4-FFF2-40B4-BE49-F238E27FC236}">
                <a16:creationId xmlns:a16="http://schemas.microsoft.com/office/drawing/2014/main" id="{98162045-2A81-4E3B-9992-B0C187A1F1C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F2D59C9-49B4-40BE-952E-B08B13AFAF1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8120E2B2-F603-4D64-8EED-872081D0725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22</a:t>
            </a:r>
          </a:p>
        </p:txBody>
      </p:sp>
      <p:sp>
        <p:nvSpPr>
          <p:cNvPr id="6" name="left-head">
            <a:extLst xmlns:a="http://schemas.openxmlformats.org/drawingml/2006/main">
              <a:ext uri="{FF2B5EF4-FFF2-40B4-BE49-F238E27FC236}">
                <a16:creationId xmlns:a16="http://schemas.microsoft.com/office/drawing/2014/main" id="{C7F76606-21AB-4799-AD88-6BB4C8A48AEF}"/>
              </a:ext>
            </a:extLst>
          </p:cNvPr>
          <p:cNvSpPr>
            <a:spLocks xmlns:a="http://schemas.openxmlformats.org/drawingml/2006/main" noGrp="1"/>
          </p:cNvSpPr>
          <p:nvPr/>
        </p:nvSpPr>
        <p:spPr>
          <a:xfrm xmlns:a="http://schemas.openxmlformats.org/drawingml/2006/main">
            <a:off x="609600" y="270510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What Week 13 verified</a:t>
            </a:r>
          </a:p>
        </p:txBody>
      </p:sp>
      <p:sp>
        <p:nvSpPr>
          <p:cNvPr id="7" name="left-body">
            <a:extLst xmlns:a="http://schemas.openxmlformats.org/drawingml/2006/main">
              <a:ext uri="{FF2B5EF4-FFF2-40B4-BE49-F238E27FC236}">
                <a16:creationId xmlns:a16="http://schemas.microsoft.com/office/drawing/2014/main" id="{C387C2DB-BCF6-4D7E-82E5-C5709FBA4355}"/>
              </a:ext>
            </a:extLst>
          </p:cNvPr>
          <p:cNvSpPr>
            <a:spLocks xmlns:a="http://schemas.openxmlformats.org/drawingml/2006/main" noGrp="1"/>
          </p:cNvSpPr>
          <p:nvPr/>
        </p:nvSpPr>
        <p:spPr>
          <a:xfrm xmlns:a="http://schemas.openxmlformats.org/drawingml/2006/main">
            <a:off x="609600" y="3202686"/>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Refit the same 3-feature specification on 84 training rows and evaluate it on the shared 28-row validation set: MAE=2.5583, RMSE=3.0016, R²=0.3903.</a:t>
            </a:r>
          </a:p>
        </p:txBody>
      </p:sp>
      <p:sp>
        <p:nvSpPr>
          <p:cNvPr id="8" name="right-head">
            <a:extLst xmlns:a="http://schemas.openxmlformats.org/drawingml/2006/main">
              <a:ext uri="{FF2B5EF4-FFF2-40B4-BE49-F238E27FC236}">
                <a16:creationId xmlns:a16="http://schemas.microsoft.com/office/drawing/2014/main" id="{297F99FA-EC75-46FF-B70F-06955956012B}"/>
              </a:ext>
            </a:extLst>
          </p:cNvPr>
          <p:cNvSpPr>
            <a:spLocks xmlns:a="http://schemas.openxmlformats.org/drawingml/2006/main" noGrp="1"/>
          </p:cNvSpPr>
          <p:nvPr/>
        </p:nvSpPr>
        <p:spPr>
          <a:xfrm xmlns:a="http://schemas.openxmlformats.org/drawingml/2006/main">
            <a:off x="6362700" y="2705100"/>
            <a:ext cx="5219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An honest, not manufactured, reason for the leftover error</a:t>
            </a:r>
          </a:p>
        </p:txBody>
      </p:sp>
      <p:sp>
        <p:nvSpPr>
          <p:cNvPr id="9" name="right-body">
            <a:extLst xmlns:a="http://schemas.openxmlformats.org/drawingml/2006/main">
              <a:ext uri="{FF2B5EF4-FFF2-40B4-BE49-F238E27FC236}">
                <a16:creationId xmlns:a16="http://schemas.microsoft.com/office/drawing/2014/main" id="{525CC342-EE92-4697-BD69-659F8847CFC1}"/>
              </a:ext>
            </a:extLst>
          </p:cNvPr>
          <p:cNvSpPr>
            <a:spLocks xmlns:a="http://schemas.openxmlformats.org/drawingml/2006/main" noGrp="1"/>
          </p:cNvSpPr>
          <p:nvPr/>
        </p:nvSpPr>
        <p:spPr>
          <a:xfrm xmlns:a="http://schemas.openxmlformats.org/drawingml/2006/main">
            <a:off x="6362700" y="3490722"/>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Add compactness as a candidate fourth feature, compare on the same validation rows and paired development folds, then freeze the specification before final testing.</a:t>
            </a:r>
          </a:p>
        </p:txBody>
      </p:sp>
    </p:spTree>
    <p:extLst>
      <p:ext uri="{BB962C8B-B14F-4D97-AF65-F5344CB8AC3E}">
        <p14:creationId xmlns:p14="http://schemas.microsoft.com/office/powerpoint/2010/main" val="163057472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kicker">
            <a:extLst xmlns:a="http://schemas.openxmlformats.org/drawingml/2006/main">
              <a:ext uri="{FF2B5EF4-FFF2-40B4-BE49-F238E27FC236}">
                <a16:creationId xmlns:a16="http://schemas.microsoft.com/office/drawing/2014/main" id="{7CA8DD25-95DF-420E-8F38-050AEA4847C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ANATOMY -- TRACK B</a:t>
            </a:r>
          </a:p>
        </p:txBody>
      </p:sp>
      <p:sp>
        <p:nvSpPr>
          <p:cNvPr id="2" name="title">
            <a:extLst xmlns:a="http://schemas.openxmlformats.org/drawingml/2006/main">
              <a:ext uri="{FF2B5EF4-FFF2-40B4-BE49-F238E27FC236}">
                <a16:creationId xmlns:a16="http://schemas.microsoft.com/office/drawing/2014/main" id="{B3EE38C1-E155-46BD-8B43-01CA503852D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Anatomy: fitting the 4-feature regressor</a:t>
            </a:r>
          </a:p>
        </p:txBody>
      </p:sp>
      <p:sp>
        <p:nvSpPr>
          <p:cNvPr id="3" name="">
            <a:extLst xmlns:a="http://schemas.openxmlformats.org/drawingml/2006/main">
              <a:ext uri="{FF2B5EF4-FFF2-40B4-BE49-F238E27FC236}">
                <a16:creationId xmlns:a16="http://schemas.microsoft.com/office/drawing/2014/main" id="{B62116D7-1F2F-4BCE-B5AF-66F97FF7C61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6984925-B678-4576-8BD6-EBD70937F42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86007C74-94F9-4AFB-9B8B-476D11ECDD7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23</a:t>
            </a:r>
          </a:p>
        </p:txBody>
      </p:sp>
      <p:sp>
        <p:nvSpPr>
          <p:cNvPr id="6" name="anatomy-code-panel">
            <a:extLst xmlns:a="http://schemas.openxmlformats.org/drawingml/2006/main">
              <a:ext uri="{FF2B5EF4-FFF2-40B4-BE49-F238E27FC236}">
                <a16:creationId xmlns:a16="http://schemas.microsoft.com/office/drawing/2014/main" id="{C98EDD17-A7EF-4CD3-B89C-FFD67621FDFA}"/>
              </a:ext>
            </a:extLst>
          </p:cNvPr>
          <p:cNvSpPr>
            <a:spLocks xmlns:a="http://schemas.openxmlformats.org/drawingml/2006/main" noGrp="1"/>
          </p:cNvSpPr>
          <p:nvPr/>
        </p:nvSpPr>
        <p:spPr>
          <a:xfrm xmlns:a="http://schemas.openxmlformats.org/drawingml/2006/main">
            <a:off x="609600" y="1733550"/>
            <a:ext cx="10972800" cy="876300"/>
          </a:xfrm>
          <a:prstGeom xmlns:a="http://schemas.openxmlformats.org/drawingml/2006/main" prst="roundRect">
            <a:avLst>
              <a:gd name="adj" fmla="val 8696"/>
            </a:avLst>
          </a:prstGeom>
          <a:solidFill xmlns:a="http://schemas.openxmlformats.org/drawingml/2006/main">
            <a:srgbClr val="17191C"/>
          </a:solidFill>
          <a:ln xmlns:a="http://schemas.openxmlformats.org/drawingml/2006/main" w="9525">
            <a:solidFill>
              <a:srgbClr val="17191C"/>
            </a:solidFill>
            <a:prstDash val="solid"/>
          </a:ln>
        </p:spPr>
      </p:sp>
      <p:sp>
        <p:nvSpPr>
          <p:cNvPr id="7" name="anatomy-code">
            <a:extLst xmlns:a="http://schemas.openxmlformats.org/drawingml/2006/main">
              <a:ext uri="{FF2B5EF4-FFF2-40B4-BE49-F238E27FC236}">
                <a16:creationId xmlns:a16="http://schemas.microsoft.com/office/drawing/2014/main" id="{E8C1BE78-C843-450B-9336-193A4737B283}"/>
              </a:ext>
            </a:extLst>
          </p:cNvPr>
          <p:cNvSpPr>
            <a:spLocks xmlns:a="http://schemas.openxmlformats.org/drawingml/2006/main" noGrp="1"/>
          </p:cNvSpPr>
          <p:nvPr/>
        </p:nvSpPr>
        <p:spPr>
          <a:xfrm xmlns:a="http://schemas.openxmlformats.org/drawingml/2006/main">
            <a:off x="3019425" y="2057400"/>
            <a:ext cx="654177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0">
                <a:solidFill>
                  <a:srgbClr val="FFFFFF"/>
                </a:solidFill>
                <a:latin typeface="Consolas"/>
                <a:ea typeface="Consolas"/>
                <a:cs typeface="Consolas"/>
              </a:defRPr>
            </a:pPr>
            <a:r>
              <a:rPr sz="2100" b="0">
                <a:solidFill>
                  <a:srgbClr val="FFFFFF"/>
                </a:solidFill>
                <a:latin typeface="Consolas"/>
                <a:ea typeface="Consolas"/>
                <a:cs typeface="Consolas"/>
              </a:rPr>
              <a:t>LinearRegression().fit(X4_train, y_train4)</a:t>
            </a:r>
          </a:p>
        </p:txBody>
      </p:sp>
      <p:sp>
        <p:nvSpPr>
          <p:cNvPr id="8" name="">
            <a:extLst xmlns:a="http://schemas.openxmlformats.org/drawingml/2006/main">
              <a:ext uri="{FF2B5EF4-FFF2-40B4-BE49-F238E27FC236}">
                <a16:creationId xmlns:a16="http://schemas.microsoft.com/office/drawing/2014/main" id="{77874A4C-F65B-417E-AA01-F531EF01FE05}"/>
              </a:ext>
            </a:extLst>
          </p:cNvPr>
          <p:cNvSpPr>
            <a:spLocks xmlns:a="http://schemas.openxmlformats.org/drawingml/2006/main" noGrp="1"/>
          </p:cNvSpPr>
          <p:nvPr/>
        </p:nvSpPr>
        <p:spPr>
          <a:xfrm xmlns:a="http://schemas.openxmlformats.org/drawingml/2006/main">
            <a:off x="3019425" y="2647950"/>
            <a:ext cx="264033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9" name="part-chip-0">
            <a:extLst xmlns:a="http://schemas.openxmlformats.org/drawingml/2006/main">
              <a:ext uri="{FF2B5EF4-FFF2-40B4-BE49-F238E27FC236}">
                <a16:creationId xmlns:a16="http://schemas.microsoft.com/office/drawing/2014/main" id="{64F6C501-BE52-4849-B80C-AD36A27FECD0}"/>
              </a:ext>
            </a:extLst>
          </p:cNvPr>
          <p:cNvSpPr>
            <a:spLocks xmlns:a="http://schemas.openxmlformats.org/drawingml/2006/main" noGrp="1"/>
          </p:cNvSpPr>
          <p:nvPr/>
        </p:nvSpPr>
        <p:spPr>
          <a:xfrm xmlns:a="http://schemas.openxmlformats.org/drawingml/2006/main">
            <a:off x="421576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0" name="part-chipno-0">
            <a:extLst xmlns:a="http://schemas.openxmlformats.org/drawingml/2006/main">
              <a:ext uri="{FF2B5EF4-FFF2-40B4-BE49-F238E27FC236}">
                <a16:creationId xmlns:a16="http://schemas.microsoft.com/office/drawing/2014/main" id="{E27523BA-A051-48CC-BC89-6CD5ECA90754}"/>
              </a:ext>
            </a:extLst>
          </p:cNvPr>
          <p:cNvSpPr>
            <a:spLocks xmlns:a="http://schemas.openxmlformats.org/drawingml/2006/main" noGrp="1"/>
          </p:cNvSpPr>
          <p:nvPr/>
        </p:nvSpPr>
        <p:spPr>
          <a:xfrm xmlns:a="http://schemas.openxmlformats.org/drawingml/2006/main">
            <a:off x="421576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1" name="part-lchip-0">
            <a:extLst xmlns:a="http://schemas.openxmlformats.org/drawingml/2006/main">
              <a:ext uri="{FF2B5EF4-FFF2-40B4-BE49-F238E27FC236}">
                <a16:creationId xmlns:a16="http://schemas.microsoft.com/office/drawing/2014/main" id="{3786E718-C7EA-4C37-89A7-F076304C5F86}"/>
              </a:ext>
            </a:extLst>
          </p:cNvPr>
          <p:cNvSpPr>
            <a:spLocks xmlns:a="http://schemas.openxmlformats.org/drawingml/2006/main" noGrp="1"/>
          </p:cNvSpPr>
          <p:nvPr/>
        </p:nvSpPr>
        <p:spPr>
          <a:xfrm xmlns:a="http://schemas.openxmlformats.org/drawingml/2006/main">
            <a:off x="3339465"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2" name="part-lchipno-0">
            <a:extLst xmlns:a="http://schemas.openxmlformats.org/drawingml/2006/main">
              <a:ext uri="{FF2B5EF4-FFF2-40B4-BE49-F238E27FC236}">
                <a16:creationId xmlns:a16="http://schemas.microsoft.com/office/drawing/2014/main" id="{7DA993C2-0EE6-4AB6-AB14-5136E45F7B66}"/>
              </a:ext>
            </a:extLst>
          </p:cNvPr>
          <p:cNvSpPr>
            <a:spLocks xmlns:a="http://schemas.openxmlformats.org/drawingml/2006/main" noGrp="1"/>
          </p:cNvSpPr>
          <p:nvPr/>
        </p:nvSpPr>
        <p:spPr>
          <a:xfrm xmlns:a="http://schemas.openxmlformats.org/drawingml/2006/main">
            <a:off x="3339465"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3" name="part-head-0">
            <a:extLst xmlns:a="http://schemas.openxmlformats.org/drawingml/2006/main">
              <a:ext uri="{FF2B5EF4-FFF2-40B4-BE49-F238E27FC236}">
                <a16:creationId xmlns:a16="http://schemas.microsoft.com/office/drawing/2014/main" id="{76B31F4F-1F56-4EF2-B725-9D3C8C4709B8}"/>
              </a:ext>
            </a:extLst>
          </p:cNvPr>
          <p:cNvSpPr>
            <a:spLocks xmlns:a="http://schemas.openxmlformats.org/drawingml/2006/main" noGrp="1"/>
          </p:cNvSpPr>
          <p:nvPr/>
        </p:nvSpPr>
        <p:spPr>
          <a:xfrm xmlns:a="http://schemas.openxmlformats.org/drawingml/2006/main">
            <a:off x="3644265" y="3009900"/>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Create model</a:t>
            </a:r>
          </a:p>
        </p:txBody>
      </p:sp>
      <p:sp>
        <p:nvSpPr>
          <p:cNvPr id="14" name="part-body-0">
            <a:extLst xmlns:a="http://schemas.openxmlformats.org/drawingml/2006/main">
              <a:ext uri="{FF2B5EF4-FFF2-40B4-BE49-F238E27FC236}">
                <a16:creationId xmlns:a16="http://schemas.microsoft.com/office/drawing/2014/main" id="{4369849E-C2DF-4F9C-B007-FF2698AC9434}"/>
              </a:ext>
            </a:extLst>
          </p:cNvPr>
          <p:cNvSpPr>
            <a:spLocks xmlns:a="http://schemas.openxmlformats.org/drawingml/2006/main" noGrp="1"/>
          </p:cNvSpPr>
          <p:nvPr/>
        </p:nvSpPr>
        <p:spPr>
          <a:xfrm xmlns:a="http://schemas.openxmlformats.org/drawingml/2006/main">
            <a:off x="3339465" y="3390138"/>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An unfitted linear regressor, same as Week 13.</a:t>
            </a:r>
          </a:p>
        </p:txBody>
      </p:sp>
      <p:sp>
        <p:nvSpPr>
          <p:cNvPr id="15" name="">
            <a:extLst xmlns:a="http://schemas.openxmlformats.org/drawingml/2006/main">
              <a:ext uri="{FF2B5EF4-FFF2-40B4-BE49-F238E27FC236}">
                <a16:creationId xmlns:a16="http://schemas.microsoft.com/office/drawing/2014/main" id="{2F418A1B-1C63-43C0-AC7B-36AA7CF6BF0A}"/>
              </a:ext>
            </a:extLst>
          </p:cNvPr>
          <p:cNvSpPr>
            <a:spLocks xmlns:a="http://schemas.openxmlformats.org/drawingml/2006/main" noGrp="1"/>
          </p:cNvSpPr>
          <p:nvPr/>
        </p:nvSpPr>
        <p:spPr>
          <a:xfrm xmlns:a="http://schemas.openxmlformats.org/drawingml/2006/main">
            <a:off x="5659755" y="2647950"/>
            <a:ext cx="733425"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6" name="part-chip-1">
            <a:extLst xmlns:a="http://schemas.openxmlformats.org/drawingml/2006/main">
              <a:ext uri="{FF2B5EF4-FFF2-40B4-BE49-F238E27FC236}">
                <a16:creationId xmlns:a16="http://schemas.microsoft.com/office/drawing/2014/main" id="{9C7A93A5-0860-4785-BD24-36452C9262EC}"/>
              </a:ext>
            </a:extLst>
          </p:cNvPr>
          <p:cNvSpPr>
            <a:spLocks xmlns:a="http://schemas.openxmlformats.org/drawingml/2006/main" noGrp="1"/>
          </p:cNvSpPr>
          <p:nvPr/>
        </p:nvSpPr>
        <p:spPr>
          <a:xfrm xmlns:a="http://schemas.openxmlformats.org/drawingml/2006/main">
            <a:off x="5902643"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7" name="part-chipno-1">
            <a:extLst xmlns:a="http://schemas.openxmlformats.org/drawingml/2006/main">
              <a:ext uri="{FF2B5EF4-FFF2-40B4-BE49-F238E27FC236}">
                <a16:creationId xmlns:a16="http://schemas.microsoft.com/office/drawing/2014/main" id="{78328660-A09C-4AD1-9AF8-1555FACEF665}"/>
              </a:ext>
            </a:extLst>
          </p:cNvPr>
          <p:cNvSpPr>
            <a:spLocks xmlns:a="http://schemas.openxmlformats.org/drawingml/2006/main" noGrp="1"/>
          </p:cNvSpPr>
          <p:nvPr/>
        </p:nvSpPr>
        <p:spPr>
          <a:xfrm xmlns:a="http://schemas.openxmlformats.org/drawingml/2006/main">
            <a:off x="5902643"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18" name="part-lchip-1">
            <a:extLst xmlns:a="http://schemas.openxmlformats.org/drawingml/2006/main">
              <a:ext uri="{FF2B5EF4-FFF2-40B4-BE49-F238E27FC236}">
                <a16:creationId xmlns:a16="http://schemas.microsoft.com/office/drawing/2014/main" id="{20809E33-AB59-4483-9D86-22A195C48DC6}"/>
              </a:ext>
            </a:extLst>
          </p:cNvPr>
          <p:cNvSpPr>
            <a:spLocks xmlns:a="http://schemas.openxmlformats.org/drawingml/2006/main" noGrp="1"/>
          </p:cNvSpPr>
          <p:nvPr/>
        </p:nvSpPr>
        <p:spPr>
          <a:xfrm xmlns:a="http://schemas.openxmlformats.org/drawingml/2006/main">
            <a:off x="5026343" y="4319778"/>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9" name="part-lchipno-1">
            <a:extLst xmlns:a="http://schemas.openxmlformats.org/drawingml/2006/main">
              <a:ext uri="{FF2B5EF4-FFF2-40B4-BE49-F238E27FC236}">
                <a16:creationId xmlns:a16="http://schemas.microsoft.com/office/drawing/2014/main" id="{3EA72B3D-0D2F-4614-8E17-543346729901}"/>
              </a:ext>
            </a:extLst>
          </p:cNvPr>
          <p:cNvSpPr>
            <a:spLocks xmlns:a="http://schemas.openxmlformats.org/drawingml/2006/main" noGrp="1"/>
          </p:cNvSpPr>
          <p:nvPr/>
        </p:nvSpPr>
        <p:spPr>
          <a:xfrm xmlns:a="http://schemas.openxmlformats.org/drawingml/2006/main">
            <a:off x="5026343" y="4357878"/>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20" name="part-head-1">
            <a:extLst xmlns:a="http://schemas.openxmlformats.org/drawingml/2006/main">
              <a:ext uri="{FF2B5EF4-FFF2-40B4-BE49-F238E27FC236}">
                <a16:creationId xmlns:a16="http://schemas.microsoft.com/office/drawing/2014/main" id="{87CD2F73-2CE5-43C5-8B6F-DC3BD6E1D55B}"/>
              </a:ext>
            </a:extLst>
          </p:cNvPr>
          <p:cNvSpPr>
            <a:spLocks xmlns:a="http://schemas.openxmlformats.org/drawingml/2006/main" noGrp="1"/>
          </p:cNvSpPr>
          <p:nvPr/>
        </p:nvSpPr>
        <p:spPr>
          <a:xfrm xmlns:a="http://schemas.openxmlformats.org/drawingml/2006/main">
            <a:off x="5331143" y="4300728"/>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Fit method</a:t>
            </a:r>
          </a:p>
        </p:txBody>
      </p:sp>
      <p:sp>
        <p:nvSpPr>
          <p:cNvPr id="21" name="part-body-1">
            <a:extLst xmlns:a="http://schemas.openxmlformats.org/drawingml/2006/main">
              <a:ext uri="{FF2B5EF4-FFF2-40B4-BE49-F238E27FC236}">
                <a16:creationId xmlns:a16="http://schemas.microsoft.com/office/drawing/2014/main" id="{745B3139-3B47-4503-A105-9BB65538E770}"/>
              </a:ext>
            </a:extLst>
          </p:cNvPr>
          <p:cNvSpPr>
            <a:spLocks xmlns:a="http://schemas.openxmlformats.org/drawingml/2006/main" noGrp="1"/>
          </p:cNvSpPr>
          <p:nvPr/>
        </p:nvSpPr>
        <p:spPr>
          <a:xfrm xmlns:a="http://schemas.openxmlformats.org/drawingml/2006/main">
            <a:off x="5026343" y="4680966"/>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Learns four coefficients plus an intercept.</a:t>
            </a:r>
          </a:p>
        </p:txBody>
      </p:sp>
      <p:sp>
        <p:nvSpPr>
          <p:cNvPr id="22" name="">
            <a:extLst xmlns:a="http://schemas.openxmlformats.org/drawingml/2006/main">
              <a:ext uri="{FF2B5EF4-FFF2-40B4-BE49-F238E27FC236}">
                <a16:creationId xmlns:a16="http://schemas.microsoft.com/office/drawing/2014/main" id="{563F92E1-6F6D-4419-BF86-038A65C2CBE9}"/>
              </a:ext>
            </a:extLst>
          </p:cNvPr>
          <p:cNvSpPr>
            <a:spLocks xmlns:a="http://schemas.openxmlformats.org/drawingml/2006/main" noGrp="1"/>
          </p:cNvSpPr>
          <p:nvPr/>
        </p:nvSpPr>
        <p:spPr>
          <a:xfrm xmlns:a="http://schemas.openxmlformats.org/drawingml/2006/main">
            <a:off x="6393180" y="2647950"/>
            <a:ext cx="264033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23" name="part-chip-2">
            <a:extLst xmlns:a="http://schemas.openxmlformats.org/drawingml/2006/main">
              <a:ext uri="{FF2B5EF4-FFF2-40B4-BE49-F238E27FC236}">
                <a16:creationId xmlns:a16="http://schemas.microsoft.com/office/drawing/2014/main" id="{6B8A08A3-1E3E-4DB9-A1A9-6ED520CB9B14}"/>
              </a:ext>
            </a:extLst>
          </p:cNvPr>
          <p:cNvSpPr>
            <a:spLocks xmlns:a="http://schemas.openxmlformats.org/drawingml/2006/main" noGrp="1"/>
          </p:cNvSpPr>
          <p:nvPr/>
        </p:nvSpPr>
        <p:spPr>
          <a:xfrm xmlns:a="http://schemas.openxmlformats.org/drawingml/2006/main">
            <a:off x="758952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4" name="part-chipno-2">
            <a:extLst xmlns:a="http://schemas.openxmlformats.org/drawingml/2006/main">
              <a:ext uri="{FF2B5EF4-FFF2-40B4-BE49-F238E27FC236}">
                <a16:creationId xmlns:a16="http://schemas.microsoft.com/office/drawing/2014/main" id="{96D50436-3293-476A-8251-452A9FC72CC8}"/>
              </a:ext>
            </a:extLst>
          </p:cNvPr>
          <p:cNvSpPr>
            <a:spLocks xmlns:a="http://schemas.openxmlformats.org/drawingml/2006/main" noGrp="1"/>
          </p:cNvSpPr>
          <p:nvPr/>
        </p:nvSpPr>
        <p:spPr>
          <a:xfrm xmlns:a="http://schemas.openxmlformats.org/drawingml/2006/main">
            <a:off x="758952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5" name="part-lchip-2">
            <a:extLst xmlns:a="http://schemas.openxmlformats.org/drawingml/2006/main">
              <a:ext uri="{FF2B5EF4-FFF2-40B4-BE49-F238E27FC236}">
                <a16:creationId xmlns:a16="http://schemas.microsoft.com/office/drawing/2014/main" id="{76B56A3C-FE46-48A6-8BFD-CCE7D1C91395}"/>
              </a:ext>
            </a:extLst>
          </p:cNvPr>
          <p:cNvSpPr>
            <a:spLocks xmlns:a="http://schemas.openxmlformats.org/drawingml/2006/main" noGrp="1"/>
          </p:cNvSpPr>
          <p:nvPr/>
        </p:nvSpPr>
        <p:spPr>
          <a:xfrm xmlns:a="http://schemas.openxmlformats.org/drawingml/2006/main">
            <a:off x="6475095"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6" name="part-lchipno-2">
            <a:extLst xmlns:a="http://schemas.openxmlformats.org/drawingml/2006/main">
              <a:ext uri="{FF2B5EF4-FFF2-40B4-BE49-F238E27FC236}">
                <a16:creationId xmlns:a16="http://schemas.microsoft.com/office/drawing/2014/main" id="{BE3A075A-5DA7-4948-9E6C-59AD5E475C8B}"/>
              </a:ext>
            </a:extLst>
          </p:cNvPr>
          <p:cNvSpPr>
            <a:spLocks xmlns:a="http://schemas.openxmlformats.org/drawingml/2006/main" noGrp="1"/>
          </p:cNvSpPr>
          <p:nvPr/>
        </p:nvSpPr>
        <p:spPr>
          <a:xfrm xmlns:a="http://schemas.openxmlformats.org/drawingml/2006/main">
            <a:off x="6475095"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7" name="part-head-2">
            <a:extLst xmlns:a="http://schemas.openxmlformats.org/drawingml/2006/main">
              <a:ext uri="{FF2B5EF4-FFF2-40B4-BE49-F238E27FC236}">
                <a16:creationId xmlns:a16="http://schemas.microsoft.com/office/drawing/2014/main" id="{789356BF-1289-4061-A394-4E04F4FC9EA0}"/>
              </a:ext>
            </a:extLst>
          </p:cNvPr>
          <p:cNvSpPr>
            <a:spLocks xmlns:a="http://schemas.openxmlformats.org/drawingml/2006/main" noGrp="1"/>
          </p:cNvSpPr>
          <p:nvPr/>
        </p:nvSpPr>
        <p:spPr>
          <a:xfrm xmlns:a="http://schemas.openxmlformats.org/drawingml/2006/main">
            <a:off x="6779895" y="3009900"/>
            <a:ext cx="217170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Train features + target</a:t>
            </a:r>
          </a:p>
        </p:txBody>
      </p:sp>
      <p:sp>
        <p:nvSpPr>
          <p:cNvPr id="28" name="part-body-2">
            <a:extLst xmlns:a="http://schemas.openxmlformats.org/drawingml/2006/main">
              <a:ext uri="{FF2B5EF4-FFF2-40B4-BE49-F238E27FC236}">
                <a16:creationId xmlns:a16="http://schemas.microsoft.com/office/drawing/2014/main" id="{9A7D97D9-36DD-4829-8D24-6E82282EA3B5}"/>
              </a:ext>
            </a:extLst>
          </p:cNvPr>
          <p:cNvSpPr>
            <a:spLocks xmlns:a="http://schemas.openxmlformats.org/drawingml/2006/main" noGrp="1"/>
          </p:cNvSpPr>
          <p:nvPr/>
        </p:nvSpPr>
        <p:spPr>
          <a:xfrm xmlns:a="http://schemas.openxmlformats.org/drawingml/2006/main">
            <a:off x="6475095" y="3637026"/>
            <a:ext cx="247650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84 training rows fit coefficients; 28 validation rows compare specifications.</a:t>
            </a:r>
          </a:p>
        </p:txBody>
      </p:sp>
    </p:spTree>
    <p:extLst>
      <p:ext uri="{BB962C8B-B14F-4D97-AF65-F5344CB8AC3E}">
        <p14:creationId xmlns:p14="http://schemas.microsoft.com/office/powerpoint/2010/main" val="61349225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C0B775A8-160A-4602-804B-DB39108266B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4416D678-0E6D-4E39-B790-6AD6B789C26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[B1] Refit with compactness added</a:t>
            </a:r>
          </a:p>
        </p:txBody>
      </p:sp>
      <p:sp>
        <p:nvSpPr>
          <p:cNvPr id="3" name="">
            <a:extLst xmlns:a="http://schemas.openxmlformats.org/drawingml/2006/main">
              <a:ext uri="{FF2B5EF4-FFF2-40B4-BE49-F238E27FC236}">
                <a16:creationId xmlns:a16="http://schemas.microsoft.com/office/drawing/2014/main" id="{2DF076BC-A990-478E-8B0A-413E640152A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06D44E9-0D4E-4CBA-905F-9B52998AB47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7B73F24D-EBF1-4942-8A19-B4542199427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24</a:t>
            </a:r>
          </a:p>
        </p:txBody>
      </p:sp>
      <p:sp>
        <p:nvSpPr>
          <p:cNvPr id="6" name="code-panel">
            <a:extLst xmlns:a="http://schemas.openxmlformats.org/drawingml/2006/main">
              <a:ext uri="{FF2B5EF4-FFF2-40B4-BE49-F238E27FC236}">
                <a16:creationId xmlns:a16="http://schemas.microsoft.com/office/drawing/2014/main" id="{3AB10AF4-0403-4891-9355-70FDF10B9EC3}"/>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8591DDDE-491E-42FD-981F-CB8DD5C84E00}"/>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X_dev, X_test, y_dev, y_test = train_test_split(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df, df['eui_kwh_m2yr'], test_size=0.20, random_state=42)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X_train, X_val, y_train, y_val = train_test_split(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X_dev, y_dev, test_size=0.25, random_state=42)</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lr4 = LinearRegression().fit(X_train[FEATURES4], y_train)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pred4_val = lr4.predict(X_val[FEATURES4])</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print(lr4.coef_.round(4))</a:t>
            </a:r>
          </a:p>
        </p:txBody>
      </p:sp>
      <p:sp>
        <p:nvSpPr>
          <p:cNvPr id="8" name="">
            <a:extLst xmlns:a="http://schemas.openxmlformats.org/drawingml/2006/main">
              <a:ext uri="{FF2B5EF4-FFF2-40B4-BE49-F238E27FC236}">
                <a16:creationId xmlns:a16="http://schemas.microsoft.com/office/drawing/2014/main" id="{1A61362E-F918-44CE-8D58-A02D5237B6B4}"/>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2EF9589E-9B5E-4942-A691-99620503C026}"/>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68F3CC4A-FC03-4756-B8C9-626DADCB73FC}"/>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[16.0322 -3.9372  1.6609  5.5919]</a:t>
            </a:r>
          </a:p>
        </p:txBody>
      </p:sp>
      <p:sp>
        <p:nvSpPr>
          <p:cNvPr id="11" name="explain-head">
            <a:extLst xmlns:a="http://schemas.openxmlformats.org/drawingml/2006/main">
              <a:ext uri="{FF2B5EF4-FFF2-40B4-BE49-F238E27FC236}">
                <a16:creationId xmlns:a16="http://schemas.microsoft.com/office/drawing/2014/main" id="{ECEC4617-81A8-4FD8-BA4C-BBCBBC9108F9}"/>
              </a:ext>
            </a:extLst>
          </p:cNvPr>
          <p:cNvSpPr>
            <a:spLocks xmlns:a="http://schemas.openxmlformats.org/drawingml/2006/main" noGrp="1"/>
          </p:cNvSpPr>
          <p:nvPr/>
        </p:nvSpPr>
        <p:spPr>
          <a:xfrm xmlns:a="http://schemas.openxmlformats.org/drawingml/2006/main">
            <a:off x="7886700" y="2657475"/>
            <a:ext cx="3695700" cy="9212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Fit on train; compare specifications on validation</a:t>
            </a:r>
          </a:p>
        </p:txBody>
      </p:sp>
      <p:sp>
        <p:nvSpPr>
          <p:cNvPr id="12" name="explain-body">
            <a:extLst xmlns:a="http://schemas.openxmlformats.org/drawingml/2006/main">
              <a:ext uri="{FF2B5EF4-FFF2-40B4-BE49-F238E27FC236}">
                <a16:creationId xmlns:a16="http://schemas.microsoft.com/office/drawing/2014/main" id="{35AFFA33-976F-4109-B92A-E8F927E5EB1A}"/>
              </a:ext>
            </a:extLst>
          </p:cNvPr>
          <p:cNvSpPr>
            <a:spLocks xmlns:a="http://schemas.openxmlformats.org/drawingml/2006/main" noGrp="1"/>
          </p:cNvSpPr>
          <p:nvPr/>
        </p:nvSpPr>
        <p:spPr>
          <a:xfrm xmlns:a="http://schemas.openxmlformats.org/drawingml/2006/main">
            <a:off x="7886700" y="3731133"/>
            <a:ext cx="369570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Compactness is the candidate addition. Its fitted coefficient is an association conditional on these units and features—not a causal effect.</a:t>
            </a:r>
          </a:p>
        </p:txBody>
      </p:sp>
    </p:spTree>
    <p:extLst>
      <p:ext uri="{BB962C8B-B14F-4D97-AF65-F5344CB8AC3E}">
        <p14:creationId xmlns:p14="http://schemas.microsoft.com/office/powerpoint/2010/main" val="150699653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38CE2645-6A89-4532-AE59-2C4F7C8086D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C11DC05D-CE1E-46F4-9346-D7D82E23F8F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[B1] continued: Week 13's helper, reused unchanged</a:t>
            </a:r>
          </a:p>
        </p:txBody>
      </p:sp>
      <p:sp>
        <p:nvSpPr>
          <p:cNvPr id="3" name="">
            <a:extLst xmlns:a="http://schemas.openxmlformats.org/drawingml/2006/main">
              <a:ext uri="{FF2B5EF4-FFF2-40B4-BE49-F238E27FC236}">
                <a16:creationId xmlns:a16="http://schemas.microsoft.com/office/drawing/2014/main" id="{C879A52A-26D2-479D-A9CF-2455464E31B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E583591-BE81-4524-9C7C-B79D8A8A0F6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BA21FADA-95E1-4770-9A15-313FBAAC5BE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25</a:t>
            </a:r>
          </a:p>
        </p:txBody>
      </p:sp>
      <p:sp>
        <p:nvSpPr>
          <p:cNvPr id="6" name="code-panel">
            <a:extLst xmlns:a="http://schemas.openxmlformats.org/drawingml/2006/main">
              <a:ext uri="{FF2B5EF4-FFF2-40B4-BE49-F238E27FC236}">
                <a16:creationId xmlns:a16="http://schemas.microsoft.com/office/drawing/2014/main" id="{351EE23E-33F2-4728-8B89-5DDB4F6EB1DC}"/>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8E8EEAC1-822A-4A18-AAC8-143DF80395EF}"/>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wk14 = report_metrics(y_val, pred4_val, '4-feature validation')</a:t>
            </a:r>
          </a:p>
        </p:txBody>
      </p:sp>
      <p:sp>
        <p:nvSpPr>
          <p:cNvPr id="8" name="">
            <a:extLst xmlns:a="http://schemas.openxmlformats.org/drawingml/2006/main">
              <a:ext uri="{FF2B5EF4-FFF2-40B4-BE49-F238E27FC236}">
                <a16:creationId xmlns:a16="http://schemas.microsoft.com/office/drawing/2014/main" id="{9646C3A1-85BB-4660-9710-F44E6F5072BA}"/>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23B5F9C1-C6EE-4876-BF5A-ECDB834E0FF1}"/>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5597F59C-1193-4ACA-829B-FACF508C9BE3}"/>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4-feature validation: MAE=2.4733 RMSE=2.9129 R2=0.42582</a:t>
            </a:r>
          </a:p>
        </p:txBody>
      </p:sp>
      <p:sp>
        <p:nvSpPr>
          <p:cNvPr id="11" name="explain-head">
            <a:extLst xmlns:a="http://schemas.openxmlformats.org/drawingml/2006/main">
              <a:ext uri="{FF2B5EF4-FFF2-40B4-BE49-F238E27FC236}">
                <a16:creationId xmlns:a16="http://schemas.microsoft.com/office/drawing/2014/main" id="{F26E2A5B-2349-414F-9DDE-81F9881415BA}"/>
              </a:ext>
            </a:extLst>
          </p:cNvPr>
          <p:cNvSpPr>
            <a:spLocks xmlns:a="http://schemas.openxmlformats.org/drawingml/2006/main" noGrp="1"/>
          </p:cNvSpPr>
          <p:nvPr/>
        </p:nvSpPr>
        <p:spPr>
          <a:xfrm xmlns:a="http://schemas.openxmlformats.org/drawingml/2006/main">
            <a:off x="7886700" y="2657475"/>
            <a:ext cx="3695700" cy="9212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Same function as Week 13, so the comparison is exact</a:t>
            </a:r>
          </a:p>
        </p:txBody>
      </p:sp>
      <p:sp>
        <p:nvSpPr>
          <p:cNvPr id="12" name="explain-body">
            <a:extLst xmlns:a="http://schemas.openxmlformats.org/drawingml/2006/main">
              <a:ext uri="{FF2B5EF4-FFF2-40B4-BE49-F238E27FC236}">
                <a16:creationId xmlns:a16="http://schemas.microsoft.com/office/drawing/2014/main" id="{5F1B21BE-2354-4799-A6B2-8B4B34F82947}"/>
              </a:ext>
            </a:extLst>
          </p:cNvPr>
          <p:cNvSpPr>
            <a:spLocks xmlns:a="http://schemas.openxmlformats.org/drawingml/2006/main" noGrp="1"/>
          </p:cNvSpPr>
          <p:nvPr/>
        </p:nvSpPr>
        <p:spPr>
          <a:xfrm xmlns:a="http://schemas.openxmlformats.org/drawingml/2006/main">
            <a:off x="7886700" y="3731133"/>
            <a:ext cx="369570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helper is unchanged, but the role is explicit: this is validation evidence used to select between 3 and 4 features. It is not final-test performance.</a:t>
            </a:r>
          </a:p>
        </p:txBody>
      </p:sp>
    </p:spTree>
    <p:extLst>
      <p:ext uri="{BB962C8B-B14F-4D97-AF65-F5344CB8AC3E}">
        <p14:creationId xmlns:p14="http://schemas.microsoft.com/office/powerpoint/2010/main" val="48631648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977E8C88-1C20-40CD-B18F-2E4CCB09B65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 -- TRACK B</a:t>
            </a:r>
          </a:p>
        </p:txBody>
      </p:sp>
      <p:sp>
        <p:nvSpPr>
          <p:cNvPr id="2" name="title">
            <a:extLst xmlns:a="http://schemas.openxmlformats.org/drawingml/2006/main">
              <a:ext uri="{FF2B5EF4-FFF2-40B4-BE49-F238E27FC236}">
                <a16:creationId xmlns:a16="http://schemas.microsoft.com/office/drawing/2014/main" id="{D2B57B5D-B27A-4892-A196-704EECB5D3F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delta (the change), defined</a:t>
            </a:r>
          </a:p>
        </p:txBody>
      </p:sp>
      <p:sp>
        <p:nvSpPr>
          <p:cNvPr id="3" name="">
            <a:extLst xmlns:a="http://schemas.openxmlformats.org/drawingml/2006/main">
              <a:ext uri="{FF2B5EF4-FFF2-40B4-BE49-F238E27FC236}">
                <a16:creationId xmlns:a16="http://schemas.microsoft.com/office/drawing/2014/main" id="{76FDFACD-9470-4367-8033-24C542E05E9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E7B4ED3-4A63-4373-B7AA-1C5184BB3E8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6E87C5F5-EE39-4EC9-A202-A08E66FAED2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26</a:t>
            </a:r>
          </a:p>
        </p:txBody>
      </p:sp>
      <p:sp>
        <p:nvSpPr>
          <p:cNvPr id="6" name="term-label">
            <a:extLst xmlns:a="http://schemas.openxmlformats.org/drawingml/2006/main">
              <a:ext uri="{FF2B5EF4-FFF2-40B4-BE49-F238E27FC236}">
                <a16:creationId xmlns:a16="http://schemas.microsoft.com/office/drawing/2014/main" id="{C7F1A99F-6E80-4ECF-A319-F1794DDA1B34}"/>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E03DB789-46AC-49C6-9FF1-4430742F54E5}"/>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delta (Δ)</a:t>
            </a:r>
          </a:p>
        </p:txBody>
      </p:sp>
      <p:sp>
        <p:nvSpPr>
          <p:cNvPr id="8" name="">
            <a:extLst xmlns:a="http://schemas.openxmlformats.org/drawingml/2006/main">
              <a:ext uri="{FF2B5EF4-FFF2-40B4-BE49-F238E27FC236}">
                <a16:creationId xmlns:a16="http://schemas.microsoft.com/office/drawing/2014/main" id="{96BCBBF6-BF1A-46BE-9070-A9022EBE6064}"/>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918CD09E-ED34-4A90-B2FB-AAA23DCA0FAC}"/>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The CHANGE in a metric between two model versions -- new value minus old value. Used here as delta MAE, delta RMSE, delta R2, so an improvement is stated as a number, not just a feeling that the new model is 'better.'</a:t>
            </a:r>
          </a:p>
        </p:txBody>
      </p:sp>
      <p:sp>
        <p:nvSpPr>
          <p:cNvPr id="10" name="example-panel">
            <a:extLst xmlns:a="http://schemas.openxmlformats.org/drawingml/2006/main">
              <a:ext uri="{FF2B5EF4-FFF2-40B4-BE49-F238E27FC236}">
                <a16:creationId xmlns:a16="http://schemas.microsoft.com/office/drawing/2014/main" id="{78763D0F-4798-4A23-AC03-2A00369D8A44}"/>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F5D260D4-455A-41A2-9C85-F0218AA4ADE7}"/>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WORKED THIS WEEK</a:t>
            </a:r>
          </a:p>
        </p:txBody>
      </p:sp>
      <p:sp>
        <p:nvSpPr>
          <p:cNvPr id="12" name="example-head">
            <a:extLst xmlns:a="http://schemas.openxmlformats.org/drawingml/2006/main">
              <a:ext uri="{FF2B5EF4-FFF2-40B4-BE49-F238E27FC236}">
                <a16:creationId xmlns:a16="http://schemas.microsoft.com/office/drawing/2014/main" id="{CFE74510-9EEA-46A1-90BF-3DF39CFE06AF}"/>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Track B's delta, this week</a:t>
            </a:r>
          </a:p>
        </p:txBody>
      </p:sp>
      <p:sp>
        <p:nvSpPr>
          <p:cNvPr id="13" name="example-body">
            <a:extLst xmlns:a="http://schemas.openxmlformats.org/drawingml/2006/main">
              <a:ext uri="{FF2B5EF4-FFF2-40B4-BE49-F238E27FC236}">
                <a16:creationId xmlns:a16="http://schemas.microsoft.com/office/drawing/2014/main" id="{F9B950D0-A416-49E4-A809-E01BADDE56F2}"/>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On the shared validation set: MAE falls 2.5583→2.4733 (improvement 0.0850); RMSE falls 3.0016→2.9129 (0.0888); R² rises 0.3903→0.4258 (+0.0355).</a:t>
            </a:r>
          </a:p>
        </p:txBody>
      </p:sp>
      <p:sp>
        <p:nvSpPr>
          <p:cNvPr id="14" name="note-bar">
            <a:extLst xmlns:a="http://schemas.openxmlformats.org/drawingml/2006/main">
              <a:ext uri="{FF2B5EF4-FFF2-40B4-BE49-F238E27FC236}">
                <a16:creationId xmlns:a16="http://schemas.microsoft.com/office/drawing/2014/main" id="{9EA8D90A-06DB-4E0E-B0EC-22B8573118D7}"/>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9A9A1C84-2031-4C87-8E34-F802BDB74CDC}"/>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30F6843E-39F5-4D49-B7A4-59C70FB74E2E}"/>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State the subtraction convention explicitly. Here the table reports error reduction as a positive amount and R² gain as a positive amount.</a:t>
            </a:r>
          </a:p>
        </p:txBody>
      </p:sp>
    </p:spTree>
    <p:extLst>
      <p:ext uri="{BB962C8B-B14F-4D97-AF65-F5344CB8AC3E}">
        <p14:creationId xmlns:p14="http://schemas.microsoft.com/office/powerpoint/2010/main" val="24999490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kicker">
            <a:extLst xmlns:a="http://schemas.openxmlformats.org/drawingml/2006/main">
              <a:ext uri="{FF2B5EF4-FFF2-40B4-BE49-F238E27FC236}">
                <a16:creationId xmlns:a16="http://schemas.microsoft.com/office/drawing/2014/main" id="{D1A4D890-0FE1-4B0D-A85F-D906EF6850D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77615CED-6589-4C43-914C-344A8D3A59C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[B2] Baseline vs. refined: the honest improvement</a:t>
            </a:r>
          </a:p>
        </p:txBody>
      </p:sp>
      <p:sp>
        <p:nvSpPr>
          <p:cNvPr id="3" name="">
            <a:extLst xmlns:a="http://schemas.openxmlformats.org/drawingml/2006/main">
              <a:ext uri="{FF2B5EF4-FFF2-40B4-BE49-F238E27FC236}">
                <a16:creationId xmlns:a16="http://schemas.microsoft.com/office/drawing/2014/main" id="{5F778493-95D2-4265-833F-2F82B2AA192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45D11C3-296A-4A0A-81CC-EEA83EAF970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2A170E7F-D402-4576-B822-CBB543E9E09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27</a:t>
            </a:r>
          </a:p>
        </p:txBody>
      </p:sp>
      <p:sp>
        <p:nvSpPr>
          <p:cNvPr id="6" name="">
            <a:extLst xmlns:a="http://schemas.openxmlformats.org/drawingml/2006/main">
              <a:ext uri="{FF2B5EF4-FFF2-40B4-BE49-F238E27FC236}">
                <a16:creationId xmlns:a16="http://schemas.microsoft.com/office/drawing/2014/main" id="{E323A670-F0AF-4D87-A21C-82303AC592D6}"/>
              </a:ext>
            </a:extLst>
          </p:cNvPr>
          <p:cNvSpPr>
            <a:spLocks xmlns:a="http://schemas.openxmlformats.org/drawingml/2006/main" noGrp="1"/>
          </p:cNvSpPr>
          <p:nvPr/>
        </p:nvSpPr>
        <p:spPr>
          <a:xfrm xmlns:a="http://schemas.openxmlformats.org/drawingml/2006/main">
            <a:off x="609600" y="29051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215878D7-F86D-42B6-A8E8-DBE98CE7796B}"/>
              </a:ext>
            </a:extLst>
          </p:cNvPr>
          <p:cNvSpPr>
            <a:spLocks xmlns:a="http://schemas.openxmlformats.org/drawingml/2006/main" noGrp="1"/>
          </p:cNvSpPr>
          <p:nvPr/>
        </p:nvSpPr>
        <p:spPr>
          <a:xfrm xmlns:a="http://schemas.openxmlformats.org/drawingml/2006/main">
            <a:off x="723900" y="29813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metric</a:t>
            </a:r>
          </a:p>
        </p:txBody>
      </p:sp>
      <p:sp>
        <p:nvSpPr>
          <p:cNvPr id="8" name="">
            <a:extLst xmlns:a="http://schemas.openxmlformats.org/drawingml/2006/main">
              <a:ext uri="{FF2B5EF4-FFF2-40B4-BE49-F238E27FC236}">
                <a16:creationId xmlns:a16="http://schemas.microsoft.com/office/drawing/2014/main" id="{14D0F29C-76F3-42B4-9341-E341D430EDDC}"/>
              </a:ext>
            </a:extLst>
          </p:cNvPr>
          <p:cNvSpPr>
            <a:spLocks xmlns:a="http://schemas.openxmlformats.org/drawingml/2006/main" noGrp="1"/>
          </p:cNvSpPr>
          <p:nvPr/>
        </p:nvSpPr>
        <p:spPr>
          <a:xfrm xmlns:a="http://schemas.openxmlformats.org/drawingml/2006/main">
            <a:off x="2466975" y="29051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8D7CF1F7-A343-44EC-AF74-16382857F0F3}"/>
              </a:ext>
            </a:extLst>
          </p:cNvPr>
          <p:cNvSpPr>
            <a:spLocks xmlns:a="http://schemas.openxmlformats.org/drawingml/2006/main" noGrp="1"/>
          </p:cNvSpPr>
          <p:nvPr/>
        </p:nvSpPr>
        <p:spPr>
          <a:xfrm xmlns:a="http://schemas.openxmlformats.org/drawingml/2006/main">
            <a:off x="2581275" y="29813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Week 13 (3-feature)</a:t>
            </a:r>
          </a:p>
        </p:txBody>
      </p:sp>
      <p:sp>
        <p:nvSpPr>
          <p:cNvPr id="10" name="">
            <a:extLst xmlns:a="http://schemas.openxmlformats.org/drawingml/2006/main">
              <a:ext uri="{FF2B5EF4-FFF2-40B4-BE49-F238E27FC236}">
                <a16:creationId xmlns:a16="http://schemas.microsoft.com/office/drawing/2014/main" id="{AA94A6FE-4DB8-4FD9-BC25-42F9ADB07394}"/>
              </a:ext>
            </a:extLst>
          </p:cNvPr>
          <p:cNvSpPr>
            <a:spLocks xmlns:a="http://schemas.openxmlformats.org/drawingml/2006/main" noGrp="1"/>
          </p:cNvSpPr>
          <p:nvPr/>
        </p:nvSpPr>
        <p:spPr>
          <a:xfrm xmlns:a="http://schemas.openxmlformats.org/drawingml/2006/main">
            <a:off x="4324350" y="29051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B9B86C08-5B16-4200-BBB5-2C93DC4795F4}"/>
              </a:ext>
            </a:extLst>
          </p:cNvPr>
          <p:cNvSpPr>
            <a:spLocks xmlns:a="http://schemas.openxmlformats.org/drawingml/2006/main" noGrp="1"/>
          </p:cNvSpPr>
          <p:nvPr/>
        </p:nvSpPr>
        <p:spPr>
          <a:xfrm xmlns:a="http://schemas.openxmlformats.org/drawingml/2006/main">
            <a:off x="4438650" y="29813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Week 14 (4-feature)</a:t>
            </a:r>
          </a:p>
        </p:txBody>
      </p:sp>
      <p:sp>
        <p:nvSpPr>
          <p:cNvPr id="12" name="">
            <a:extLst xmlns:a="http://schemas.openxmlformats.org/drawingml/2006/main">
              <a:ext uri="{FF2B5EF4-FFF2-40B4-BE49-F238E27FC236}">
                <a16:creationId xmlns:a16="http://schemas.microsoft.com/office/drawing/2014/main" id="{D6C2C874-68E4-4D8B-B615-1CFDA6405780}"/>
              </a:ext>
            </a:extLst>
          </p:cNvPr>
          <p:cNvSpPr>
            <a:spLocks xmlns:a="http://schemas.openxmlformats.org/drawingml/2006/main" noGrp="1"/>
          </p:cNvSpPr>
          <p:nvPr/>
        </p:nvSpPr>
        <p:spPr>
          <a:xfrm xmlns:a="http://schemas.openxmlformats.org/drawingml/2006/main">
            <a:off x="6181725" y="290512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2F2FE88E-EF11-45C4-AE29-3E16F005233C}"/>
              </a:ext>
            </a:extLst>
          </p:cNvPr>
          <p:cNvSpPr>
            <a:spLocks xmlns:a="http://schemas.openxmlformats.org/drawingml/2006/main" noGrp="1"/>
          </p:cNvSpPr>
          <p:nvPr/>
        </p:nvSpPr>
        <p:spPr>
          <a:xfrm xmlns:a="http://schemas.openxmlformats.org/drawingml/2006/main">
            <a:off x="6296025" y="298132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delta</a:t>
            </a:r>
          </a:p>
        </p:txBody>
      </p:sp>
      <p:sp>
        <p:nvSpPr>
          <p:cNvPr id="14" name="">
            <a:extLst xmlns:a="http://schemas.openxmlformats.org/drawingml/2006/main">
              <a:ext uri="{FF2B5EF4-FFF2-40B4-BE49-F238E27FC236}">
                <a16:creationId xmlns:a16="http://schemas.microsoft.com/office/drawing/2014/main" id="{E78F75FE-C3AD-4E76-ACD7-FC9E78C7FC24}"/>
              </a:ext>
            </a:extLst>
          </p:cNvPr>
          <p:cNvSpPr>
            <a:spLocks xmlns:a="http://schemas.openxmlformats.org/drawingml/2006/main" noGrp="1"/>
          </p:cNvSpPr>
          <p:nvPr/>
        </p:nvSpPr>
        <p:spPr>
          <a:xfrm xmlns:a="http://schemas.openxmlformats.org/drawingml/2006/main">
            <a:off x="609600" y="34461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0">
            <a:extLst xmlns:a="http://schemas.openxmlformats.org/drawingml/2006/main">
              <a:ext uri="{FF2B5EF4-FFF2-40B4-BE49-F238E27FC236}">
                <a16:creationId xmlns:a16="http://schemas.microsoft.com/office/drawing/2014/main" id="{F7FBD28E-9B26-4A8B-B234-9334E87BFB36}"/>
              </a:ext>
            </a:extLst>
          </p:cNvPr>
          <p:cNvSpPr>
            <a:spLocks xmlns:a="http://schemas.openxmlformats.org/drawingml/2006/main" noGrp="1"/>
          </p:cNvSpPr>
          <p:nvPr/>
        </p:nvSpPr>
        <p:spPr>
          <a:xfrm xmlns:a="http://schemas.openxmlformats.org/drawingml/2006/main">
            <a:off x="723900" y="35223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MAE</a:t>
            </a:r>
          </a:p>
        </p:txBody>
      </p:sp>
      <p:sp>
        <p:nvSpPr>
          <p:cNvPr id="16" name="">
            <a:extLst xmlns:a="http://schemas.openxmlformats.org/drawingml/2006/main">
              <a:ext uri="{FF2B5EF4-FFF2-40B4-BE49-F238E27FC236}">
                <a16:creationId xmlns:a16="http://schemas.microsoft.com/office/drawing/2014/main" id="{FA0BABFE-4B55-4BF5-8DB8-80A7275FEC83}"/>
              </a:ext>
            </a:extLst>
          </p:cNvPr>
          <p:cNvSpPr>
            <a:spLocks xmlns:a="http://schemas.openxmlformats.org/drawingml/2006/main" noGrp="1"/>
          </p:cNvSpPr>
          <p:nvPr/>
        </p:nvSpPr>
        <p:spPr>
          <a:xfrm xmlns:a="http://schemas.openxmlformats.org/drawingml/2006/main">
            <a:off x="2466975" y="34461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1">
            <a:extLst xmlns:a="http://schemas.openxmlformats.org/drawingml/2006/main">
              <a:ext uri="{FF2B5EF4-FFF2-40B4-BE49-F238E27FC236}">
                <a16:creationId xmlns:a16="http://schemas.microsoft.com/office/drawing/2014/main" id="{255BDA70-7386-4F37-A98D-7EBADEBC9506}"/>
              </a:ext>
            </a:extLst>
          </p:cNvPr>
          <p:cNvSpPr>
            <a:spLocks xmlns:a="http://schemas.openxmlformats.org/drawingml/2006/main" noGrp="1"/>
          </p:cNvSpPr>
          <p:nvPr/>
        </p:nvSpPr>
        <p:spPr>
          <a:xfrm xmlns:a="http://schemas.openxmlformats.org/drawingml/2006/main">
            <a:off x="2581275" y="35223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2.5583</a:t>
            </a:r>
          </a:p>
        </p:txBody>
      </p:sp>
      <p:sp>
        <p:nvSpPr>
          <p:cNvPr id="18" name="">
            <a:extLst xmlns:a="http://schemas.openxmlformats.org/drawingml/2006/main">
              <a:ext uri="{FF2B5EF4-FFF2-40B4-BE49-F238E27FC236}">
                <a16:creationId xmlns:a16="http://schemas.microsoft.com/office/drawing/2014/main" id="{46D37796-4C0D-44B0-A7EF-E89A89B812AA}"/>
              </a:ext>
            </a:extLst>
          </p:cNvPr>
          <p:cNvSpPr>
            <a:spLocks xmlns:a="http://schemas.openxmlformats.org/drawingml/2006/main" noGrp="1"/>
          </p:cNvSpPr>
          <p:nvPr/>
        </p:nvSpPr>
        <p:spPr>
          <a:xfrm xmlns:a="http://schemas.openxmlformats.org/drawingml/2006/main">
            <a:off x="4324350" y="34461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0-2">
            <a:extLst xmlns:a="http://schemas.openxmlformats.org/drawingml/2006/main">
              <a:ext uri="{FF2B5EF4-FFF2-40B4-BE49-F238E27FC236}">
                <a16:creationId xmlns:a16="http://schemas.microsoft.com/office/drawing/2014/main" id="{A70EFF9E-D856-431B-9F74-4B86EAE84E06}"/>
              </a:ext>
            </a:extLst>
          </p:cNvPr>
          <p:cNvSpPr>
            <a:spLocks xmlns:a="http://schemas.openxmlformats.org/drawingml/2006/main" noGrp="1"/>
          </p:cNvSpPr>
          <p:nvPr/>
        </p:nvSpPr>
        <p:spPr>
          <a:xfrm xmlns:a="http://schemas.openxmlformats.org/drawingml/2006/main">
            <a:off x="4438650" y="35223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2.4733</a:t>
            </a:r>
          </a:p>
        </p:txBody>
      </p:sp>
      <p:sp>
        <p:nvSpPr>
          <p:cNvPr id="20" name="">
            <a:extLst xmlns:a="http://schemas.openxmlformats.org/drawingml/2006/main">
              <a:ext uri="{FF2B5EF4-FFF2-40B4-BE49-F238E27FC236}">
                <a16:creationId xmlns:a16="http://schemas.microsoft.com/office/drawing/2014/main" id="{1316D5EF-A283-46AC-9D46-779AD2D58832}"/>
              </a:ext>
            </a:extLst>
          </p:cNvPr>
          <p:cNvSpPr>
            <a:spLocks xmlns:a="http://schemas.openxmlformats.org/drawingml/2006/main" noGrp="1"/>
          </p:cNvSpPr>
          <p:nvPr/>
        </p:nvSpPr>
        <p:spPr>
          <a:xfrm xmlns:a="http://schemas.openxmlformats.org/drawingml/2006/main">
            <a:off x="6181725" y="34461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3">
            <a:extLst xmlns:a="http://schemas.openxmlformats.org/drawingml/2006/main">
              <a:ext uri="{FF2B5EF4-FFF2-40B4-BE49-F238E27FC236}">
                <a16:creationId xmlns:a16="http://schemas.microsoft.com/office/drawing/2014/main" id="{F3BFEA6D-CCB2-4684-8242-A398EC6F20A2}"/>
              </a:ext>
            </a:extLst>
          </p:cNvPr>
          <p:cNvSpPr>
            <a:spLocks xmlns:a="http://schemas.openxmlformats.org/drawingml/2006/main" noGrp="1"/>
          </p:cNvSpPr>
          <p:nvPr/>
        </p:nvSpPr>
        <p:spPr>
          <a:xfrm xmlns:a="http://schemas.openxmlformats.org/drawingml/2006/main">
            <a:off x="6296025" y="35223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0.0850 lower</a:t>
            </a:r>
          </a:p>
        </p:txBody>
      </p:sp>
      <p:sp>
        <p:nvSpPr>
          <p:cNvPr id="22" name="">
            <a:extLst xmlns:a="http://schemas.openxmlformats.org/drawingml/2006/main">
              <a:ext uri="{FF2B5EF4-FFF2-40B4-BE49-F238E27FC236}">
                <a16:creationId xmlns:a16="http://schemas.microsoft.com/office/drawing/2014/main" id="{CE897EA8-DDF4-4927-9E7B-84D626C3733F}"/>
              </a:ext>
            </a:extLst>
          </p:cNvPr>
          <p:cNvSpPr>
            <a:spLocks xmlns:a="http://schemas.openxmlformats.org/drawingml/2006/main" noGrp="1"/>
          </p:cNvSpPr>
          <p:nvPr/>
        </p:nvSpPr>
        <p:spPr>
          <a:xfrm xmlns:a="http://schemas.openxmlformats.org/drawingml/2006/main">
            <a:off x="609600" y="39795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0">
            <a:extLst xmlns:a="http://schemas.openxmlformats.org/drawingml/2006/main">
              <a:ext uri="{FF2B5EF4-FFF2-40B4-BE49-F238E27FC236}">
                <a16:creationId xmlns:a16="http://schemas.microsoft.com/office/drawing/2014/main" id="{B8B887AC-2371-42D4-ADB9-FD21A7BD0334}"/>
              </a:ext>
            </a:extLst>
          </p:cNvPr>
          <p:cNvSpPr>
            <a:spLocks xmlns:a="http://schemas.openxmlformats.org/drawingml/2006/main" noGrp="1"/>
          </p:cNvSpPr>
          <p:nvPr/>
        </p:nvSpPr>
        <p:spPr>
          <a:xfrm xmlns:a="http://schemas.openxmlformats.org/drawingml/2006/main">
            <a:off x="723900" y="40557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RMSE</a:t>
            </a:r>
          </a:p>
        </p:txBody>
      </p:sp>
      <p:sp>
        <p:nvSpPr>
          <p:cNvPr id="24" name="">
            <a:extLst xmlns:a="http://schemas.openxmlformats.org/drawingml/2006/main">
              <a:ext uri="{FF2B5EF4-FFF2-40B4-BE49-F238E27FC236}">
                <a16:creationId xmlns:a16="http://schemas.microsoft.com/office/drawing/2014/main" id="{CF1803A2-86D8-406E-B370-3266BD294FD4}"/>
              </a:ext>
            </a:extLst>
          </p:cNvPr>
          <p:cNvSpPr>
            <a:spLocks xmlns:a="http://schemas.openxmlformats.org/drawingml/2006/main" noGrp="1"/>
          </p:cNvSpPr>
          <p:nvPr/>
        </p:nvSpPr>
        <p:spPr>
          <a:xfrm xmlns:a="http://schemas.openxmlformats.org/drawingml/2006/main">
            <a:off x="2466975" y="39795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1-1">
            <a:extLst xmlns:a="http://schemas.openxmlformats.org/drawingml/2006/main">
              <a:ext uri="{FF2B5EF4-FFF2-40B4-BE49-F238E27FC236}">
                <a16:creationId xmlns:a16="http://schemas.microsoft.com/office/drawing/2014/main" id="{E5C04B5F-5974-4A7D-B5B5-792C1F50DFDB}"/>
              </a:ext>
            </a:extLst>
          </p:cNvPr>
          <p:cNvSpPr>
            <a:spLocks xmlns:a="http://schemas.openxmlformats.org/drawingml/2006/main" noGrp="1"/>
          </p:cNvSpPr>
          <p:nvPr/>
        </p:nvSpPr>
        <p:spPr>
          <a:xfrm xmlns:a="http://schemas.openxmlformats.org/drawingml/2006/main">
            <a:off x="2581275" y="40557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3.0016</a:t>
            </a:r>
          </a:p>
        </p:txBody>
      </p:sp>
      <p:sp>
        <p:nvSpPr>
          <p:cNvPr id="26" name="">
            <a:extLst xmlns:a="http://schemas.openxmlformats.org/drawingml/2006/main">
              <a:ext uri="{FF2B5EF4-FFF2-40B4-BE49-F238E27FC236}">
                <a16:creationId xmlns:a16="http://schemas.microsoft.com/office/drawing/2014/main" id="{74AE9BA5-7347-4E09-AB80-2E4DD27DADD4}"/>
              </a:ext>
            </a:extLst>
          </p:cNvPr>
          <p:cNvSpPr>
            <a:spLocks xmlns:a="http://schemas.openxmlformats.org/drawingml/2006/main" noGrp="1"/>
          </p:cNvSpPr>
          <p:nvPr/>
        </p:nvSpPr>
        <p:spPr>
          <a:xfrm xmlns:a="http://schemas.openxmlformats.org/drawingml/2006/main">
            <a:off x="4324350" y="39795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7" name="cell-1-2">
            <a:extLst xmlns:a="http://schemas.openxmlformats.org/drawingml/2006/main">
              <a:ext uri="{FF2B5EF4-FFF2-40B4-BE49-F238E27FC236}">
                <a16:creationId xmlns:a16="http://schemas.microsoft.com/office/drawing/2014/main" id="{65EED347-75AB-4B4B-BA21-3D6D986FCEFD}"/>
              </a:ext>
            </a:extLst>
          </p:cNvPr>
          <p:cNvSpPr>
            <a:spLocks xmlns:a="http://schemas.openxmlformats.org/drawingml/2006/main" noGrp="1"/>
          </p:cNvSpPr>
          <p:nvPr/>
        </p:nvSpPr>
        <p:spPr>
          <a:xfrm xmlns:a="http://schemas.openxmlformats.org/drawingml/2006/main">
            <a:off x="4438650" y="40557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2.9129</a:t>
            </a:r>
          </a:p>
        </p:txBody>
      </p:sp>
      <p:sp>
        <p:nvSpPr>
          <p:cNvPr id="28" name="">
            <a:extLst xmlns:a="http://schemas.openxmlformats.org/drawingml/2006/main">
              <a:ext uri="{FF2B5EF4-FFF2-40B4-BE49-F238E27FC236}">
                <a16:creationId xmlns:a16="http://schemas.microsoft.com/office/drawing/2014/main" id="{B72000DF-109B-46BB-84BD-2EE28B40653F}"/>
              </a:ext>
            </a:extLst>
          </p:cNvPr>
          <p:cNvSpPr>
            <a:spLocks xmlns:a="http://schemas.openxmlformats.org/drawingml/2006/main" noGrp="1"/>
          </p:cNvSpPr>
          <p:nvPr/>
        </p:nvSpPr>
        <p:spPr>
          <a:xfrm xmlns:a="http://schemas.openxmlformats.org/drawingml/2006/main">
            <a:off x="6181725" y="3979545"/>
            <a:ext cx="185737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9" name="cell-1-3">
            <a:extLst xmlns:a="http://schemas.openxmlformats.org/drawingml/2006/main">
              <a:ext uri="{FF2B5EF4-FFF2-40B4-BE49-F238E27FC236}">
                <a16:creationId xmlns:a16="http://schemas.microsoft.com/office/drawing/2014/main" id="{F9F1E06E-64AD-49E2-A7ED-8C48D68FD426}"/>
              </a:ext>
            </a:extLst>
          </p:cNvPr>
          <p:cNvSpPr>
            <a:spLocks xmlns:a="http://schemas.openxmlformats.org/drawingml/2006/main" noGrp="1"/>
          </p:cNvSpPr>
          <p:nvPr/>
        </p:nvSpPr>
        <p:spPr>
          <a:xfrm xmlns:a="http://schemas.openxmlformats.org/drawingml/2006/main">
            <a:off x="6296025" y="40557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0.0888 lower</a:t>
            </a:r>
          </a:p>
        </p:txBody>
      </p:sp>
      <p:sp>
        <p:nvSpPr>
          <p:cNvPr id="30" name="">
            <a:extLst xmlns:a="http://schemas.openxmlformats.org/drawingml/2006/main">
              <a:ext uri="{FF2B5EF4-FFF2-40B4-BE49-F238E27FC236}">
                <a16:creationId xmlns:a16="http://schemas.microsoft.com/office/drawing/2014/main" id="{C15FFED9-B583-4403-8512-9F77C19520C8}"/>
              </a:ext>
            </a:extLst>
          </p:cNvPr>
          <p:cNvSpPr>
            <a:spLocks xmlns:a="http://schemas.openxmlformats.org/drawingml/2006/main" noGrp="1"/>
          </p:cNvSpPr>
          <p:nvPr/>
        </p:nvSpPr>
        <p:spPr>
          <a:xfrm xmlns:a="http://schemas.openxmlformats.org/drawingml/2006/main">
            <a:off x="609600" y="45129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1" name="cell-2-0">
            <a:extLst xmlns:a="http://schemas.openxmlformats.org/drawingml/2006/main">
              <a:ext uri="{FF2B5EF4-FFF2-40B4-BE49-F238E27FC236}">
                <a16:creationId xmlns:a16="http://schemas.microsoft.com/office/drawing/2014/main" id="{4439D886-CA67-4D26-9C08-C0779D1B5F49}"/>
              </a:ext>
            </a:extLst>
          </p:cNvPr>
          <p:cNvSpPr>
            <a:spLocks xmlns:a="http://schemas.openxmlformats.org/drawingml/2006/main" noGrp="1"/>
          </p:cNvSpPr>
          <p:nvPr/>
        </p:nvSpPr>
        <p:spPr>
          <a:xfrm xmlns:a="http://schemas.openxmlformats.org/drawingml/2006/main">
            <a:off x="723900" y="45891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R2</a:t>
            </a:r>
          </a:p>
        </p:txBody>
      </p:sp>
      <p:sp>
        <p:nvSpPr>
          <p:cNvPr id="32" name="">
            <a:extLst xmlns:a="http://schemas.openxmlformats.org/drawingml/2006/main">
              <a:ext uri="{FF2B5EF4-FFF2-40B4-BE49-F238E27FC236}">
                <a16:creationId xmlns:a16="http://schemas.microsoft.com/office/drawing/2014/main" id="{97E5CB5C-AA8D-41BB-858C-ABB66E8EA680}"/>
              </a:ext>
            </a:extLst>
          </p:cNvPr>
          <p:cNvSpPr>
            <a:spLocks xmlns:a="http://schemas.openxmlformats.org/drawingml/2006/main" noGrp="1"/>
          </p:cNvSpPr>
          <p:nvPr/>
        </p:nvSpPr>
        <p:spPr>
          <a:xfrm xmlns:a="http://schemas.openxmlformats.org/drawingml/2006/main">
            <a:off x="2466975" y="45129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3" name="cell-2-1">
            <a:extLst xmlns:a="http://schemas.openxmlformats.org/drawingml/2006/main">
              <a:ext uri="{FF2B5EF4-FFF2-40B4-BE49-F238E27FC236}">
                <a16:creationId xmlns:a16="http://schemas.microsoft.com/office/drawing/2014/main" id="{C3C242A8-3B13-42F9-96C4-CA4CFEAF123C}"/>
              </a:ext>
            </a:extLst>
          </p:cNvPr>
          <p:cNvSpPr>
            <a:spLocks xmlns:a="http://schemas.openxmlformats.org/drawingml/2006/main" noGrp="1"/>
          </p:cNvSpPr>
          <p:nvPr/>
        </p:nvSpPr>
        <p:spPr>
          <a:xfrm xmlns:a="http://schemas.openxmlformats.org/drawingml/2006/main">
            <a:off x="2581275" y="45891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0.3903</a:t>
            </a:r>
          </a:p>
        </p:txBody>
      </p:sp>
      <p:sp>
        <p:nvSpPr>
          <p:cNvPr id="34" name="">
            <a:extLst xmlns:a="http://schemas.openxmlformats.org/drawingml/2006/main">
              <a:ext uri="{FF2B5EF4-FFF2-40B4-BE49-F238E27FC236}">
                <a16:creationId xmlns:a16="http://schemas.microsoft.com/office/drawing/2014/main" id="{D62E6407-443C-4A1B-B89A-FAE6437EFD19}"/>
              </a:ext>
            </a:extLst>
          </p:cNvPr>
          <p:cNvSpPr>
            <a:spLocks xmlns:a="http://schemas.openxmlformats.org/drawingml/2006/main" noGrp="1"/>
          </p:cNvSpPr>
          <p:nvPr/>
        </p:nvSpPr>
        <p:spPr>
          <a:xfrm xmlns:a="http://schemas.openxmlformats.org/drawingml/2006/main">
            <a:off x="4324350" y="45129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5" name="cell-2-2">
            <a:extLst xmlns:a="http://schemas.openxmlformats.org/drawingml/2006/main">
              <a:ext uri="{FF2B5EF4-FFF2-40B4-BE49-F238E27FC236}">
                <a16:creationId xmlns:a16="http://schemas.microsoft.com/office/drawing/2014/main" id="{B601A16E-3A54-4233-A2CA-00C4B2302326}"/>
              </a:ext>
            </a:extLst>
          </p:cNvPr>
          <p:cNvSpPr>
            <a:spLocks xmlns:a="http://schemas.openxmlformats.org/drawingml/2006/main" noGrp="1"/>
          </p:cNvSpPr>
          <p:nvPr/>
        </p:nvSpPr>
        <p:spPr>
          <a:xfrm xmlns:a="http://schemas.openxmlformats.org/drawingml/2006/main">
            <a:off x="4438650" y="45891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0.4258</a:t>
            </a:r>
          </a:p>
        </p:txBody>
      </p:sp>
      <p:sp>
        <p:nvSpPr>
          <p:cNvPr id="36" name="">
            <a:extLst xmlns:a="http://schemas.openxmlformats.org/drawingml/2006/main">
              <a:ext uri="{FF2B5EF4-FFF2-40B4-BE49-F238E27FC236}">
                <a16:creationId xmlns:a16="http://schemas.microsoft.com/office/drawing/2014/main" id="{4F732829-25A3-4912-9B33-4DA5A1DB0C7C}"/>
              </a:ext>
            </a:extLst>
          </p:cNvPr>
          <p:cNvSpPr>
            <a:spLocks xmlns:a="http://schemas.openxmlformats.org/drawingml/2006/main" noGrp="1"/>
          </p:cNvSpPr>
          <p:nvPr/>
        </p:nvSpPr>
        <p:spPr>
          <a:xfrm xmlns:a="http://schemas.openxmlformats.org/drawingml/2006/main">
            <a:off x="6181725" y="4512945"/>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2-3">
            <a:extLst xmlns:a="http://schemas.openxmlformats.org/drawingml/2006/main">
              <a:ext uri="{FF2B5EF4-FFF2-40B4-BE49-F238E27FC236}">
                <a16:creationId xmlns:a16="http://schemas.microsoft.com/office/drawing/2014/main" id="{F4072C5D-16B7-4D05-84EC-1F7809858119}"/>
              </a:ext>
            </a:extLst>
          </p:cNvPr>
          <p:cNvSpPr>
            <a:spLocks xmlns:a="http://schemas.openxmlformats.org/drawingml/2006/main" noGrp="1"/>
          </p:cNvSpPr>
          <p:nvPr/>
        </p:nvSpPr>
        <p:spPr>
          <a:xfrm xmlns:a="http://schemas.openxmlformats.org/drawingml/2006/main">
            <a:off x="6296025" y="4589145"/>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+0.0355</a:t>
            </a:r>
          </a:p>
        </p:txBody>
      </p:sp>
      <p:sp>
        <p:nvSpPr>
          <p:cNvPr id="38" name="callout-label">
            <a:extLst xmlns:a="http://schemas.openxmlformats.org/drawingml/2006/main">
              <a:ext uri="{FF2B5EF4-FFF2-40B4-BE49-F238E27FC236}">
                <a16:creationId xmlns:a16="http://schemas.microsoft.com/office/drawing/2014/main" id="{3F70D0B7-8787-4517-B930-3C8251AA79BE}"/>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39" name="callout">
            <a:extLst xmlns:a="http://schemas.openxmlformats.org/drawingml/2006/main">
              <a:ext uri="{FF2B5EF4-FFF2-40B4-BE49-F238E27FC236}">
                <a16:creationId xmlns:a16="http://schemas.microsoft.com/office/drawing/2014/main" id="{08D8CA6E-6059-4663-BB51-04828379E5D4}"/>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A modest validation gain. Confirm its direction with paired development-only folds before selecting the 4-feature specification.</a:t>
            </a:r>
          </a:p>
        </p:txBody>
      </p:sp>
    </p:spTree>
    <p:extLst>
      <p:ext uri="{BB962C8B-B14F-4D97-AF65-F5344CB8AC3E}">
        <p14:creationId xmlns:p14="http://schemas.microsoft.com/office/powerpoint/2010/main" val="124718686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8FB3BC18-EE9A-4289-A43F-D694BDD2939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8A8B9604-86AF-4AA3-8DEC-BE94170079D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B1: hand-compute the improvement</a:t>
            </a:r>
          </a:p>
        </p:txBody>
      </p:sp>
      <p:sp>
        <p:nvSpPr>
          <p:cNvPr id="3" name="">
            <a:extLst xmlns:a="http://schemas.openxmlformats.org/drawingml/2006/main">
              <a:ext uri="{FF2B5EF4-FFF2-40B4-BE49-F238E27FC236}">
                <a16:creationId xmlns:a16="http://schemas.microsoft.com/office/drawing/2014/main" id="{37061AB1-AA8B-43E5-9B0E-A159DA2327F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B5E76D0-882A-4FBA-88E4-7905EA4EF0D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C55781AC-AB3E-472F-974C-1F70C68702C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28</a:t>
            </a:r>
          </a:p>
        </p:txBody>
      </p:sp>
      <p:sp>
        <p:nvSpPr>
          <p:cNvPr id="6" name="exercise-accent">
            <a:extLst xmlns:a="http://schemas.openxmlformats.org/drawingml/2006/main">
              <a:ext uri="{FF2B5EF4-FFF2-40B4-BE49-F238E27FC236}">
                <a16:creationId xmlns:a16="http://schemas.microsoft.com/office/drawing/2014/main" id="{56A2AF4E-26E3-4A60-ACDB-A2AEB066F96E}"/>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A43A7D4B-2E64-4562-8C2F-B31CF6458119}"/>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Validation: 3-feature MAE=2.5583; 4-feature MAE=2.4733.</a:t>
            </a:r>
          </a:p>
        </p:txBody>
      </p:sp>
      <p:sp>
        <p:nvSpPr>
          <p:cNvPr id="8" name="work-label">
            <a:extLst xmlns:a="http://schemas.openxmlformats.org/drawingml/2006/main">
              <a:ext uri="{FF2B5EF4-FFF2-40B4-BE49-F238E27FC236}">
                <a16:creationId xmlns:a16="http://schemas.microsoft.com/office/drawing/2014/main" id="{1EDDD17F-35DD-4574-86A0-35924D77D7FC}"/>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1EEC22FB-5F1F-4317-B59D-870B81F931B1}"/>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45FF70B1-6198-45CE-8958-C743894C6AE1}"/>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Compute the MAE reduction.</a:t>
            </a:r>
          </a:p>
        </p:txBody>
      </p:sp>
      <p:sp>
        <p:nvSpPr>
          <p:cNvPr id="11" name="exercise-no-1">
            <a:extLst xmlns:a="http://schemas.openxmlformats.org/drawingml/2006/main">
              <a:ext uri="{FF2B5EF4-FFF2-40B4-BE49-F238E27FC236}">
                <a16:creationId xmlns:a16="http://schemas.microsoft.com/office/drawing/2014/main" id="{67F2DF8F-EC3D-4233-B8B9-3404DED8F17E}"/>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A1A708AE-D48E-4DF6-889E-5561CBD5557B}"/>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Confirm 0.0850 after rounding.</a:t>
            </a:r>
          </a:p>
        </p:txBody>
      </p:sp>
      <p:sp>
        <p:nvSpPr>
          <p:cNvPr id="13" name="exercise-no-2">
            <a:extLst xmlns:a="http://schemas.openxmlformats.org/drawingml/2006/main">
              <a:ext uri="{FF2B5EF4-FFF2-40B4-BE49-F238E27FC236}">
                <a16:creationId xmlns:a16="http://schemas.microsoft.com/office/drawing/2014/main" id="{4663579F-29E7-4039-8008-1D1F7A1D798D}"/>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14305F51-FA3E-414D-B987-59FBB6480450}"/>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Repeat for RMSE (0.0888) and R² (+0.0355).</a:t>
            </a:r>
          </a:p>
        </p:txBody>
      </p:sp>
      <p:sp>
        <p:nvSpPr>
          <p:cNvPr id="15" name="exercise-no-3">
            <a:extLst xmlns:a="http://schemas.openxmlformats.org/drawingml/2006/main">
              <a:ext uri="{FF2B5EF4-FFF2-40B4-BE49-F238E27FC236}">
                <a16:creationId xmlns:a16="http://schemas.microsoft.com/office/drawing/2014/main" id="{515719C0-7B6F-4644-A2E9-8ABB945F7A51}"/>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A78AB17B-CFB2-4569-B1DF-BFAE0ADBBEA2}"/>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Explain why paired development folds are still needed before selection.</a:t>
            </a:r>
          </a:p>
        </p:txBody>
      </p:sp>
    </p:spTree>
    <p:extLst>
      <p:ext uri="{BB962C8B-B14F-4D97-AF65-F5344CB8AC3E}">
        <p14:creationId xmlns:p14="http://schemas.microsoft.com/office/powerpoint/2010/main" val="84735921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891E977B-DBD7-4F9C-B12D-A255027D8DD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F873ED63-F2F8-441A-B6F5-E3810128056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One function, fixed train and validation rows</a:t>
            </a:r>
          </a:p>
        </p:txBody>
      </p:sp>
      <p:sp>
        <p:nvSpPr>
          <p:cNvPr id="3" name="">
            <a:extLst xmlns:a="http://schemas.openxmlformats.org/drawingml/2006/main">
              <a:ext uri="{FF2B5EF4-FFF2-40B4-BE49-F238E27FC236}">
                <a16:creationId xmlns:a16="http://schemas.microsoft.com/office/drawing/2014/main" id="{2FED4217-09C1-4470-838A-3C55842C2FE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CF39C94-2348-4260-8467-6E83172CD513}"/>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8B53D1BD-9846-43DC-B9F0-6768476E2E7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29</a:t>
            </a:r>
          </a:p>
        </p:txBody>
      </p:sp>
      <p:sp>
        <p:nvSpPr>
          <p:cNvPr id="6" name="code-panel">
            <a:extLst xmlns:a="http://schemas.openxmlformats.org/drawingml/2006/main">
              <a:ext uri="{FF2B5EF4-FFF2-40B4-BE49-F238E27FC236}">
                <a16:creationId xmlns:a16="http://schemas.microsoft.com/office/drawing/2014/main" id="{CD2F6824-33F3-4176-BC0E-D63445088489}"/>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61305D78-A4FE-4866-A685-AFC79DB71069}"/>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def refit_report(features: list, label: str) -&gt; dict: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"""Fit on fixed training rows; score fixed validation rows."""</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fitted = LinearRegression().fit(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df.loc[train_idx, features], y.loc[train_idx])</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pred = fitted.predict(df.loc[validation_idx, features])</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return report_metrics(</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y.loc[validation_idx], pred, label)</a:t>
            </a:r>
          </a:p>
        </p:txBody>
      </p:sp>
      <p:sp>
        <p:nvSpPr>
          <p:cNvPr id="8" name="explain-head">
            <a:extLst xmlns:a="http://schemas.openxmlformats.org/drawingml/2006/main">
              <a:ext uri="{FF2B5EF4-FFF2-40B4-BE49-F238E27FC236}">
                <a16:creationId xmlns:a16="http://schemas.microsoft.com/office/drawing/2014/main" id="{42F4E8FE-0E9E-4417-9BEB-2D57B1476F31}"/>
              </a:ext>
            </a:extLst>
          </p:cNvPr>
          <p:cNvSpPr>
            <a:spLocks xmlns:a="http://schemas.openxmlformats.org/drawingml/2006/main" noGrp="1"/>
          </p:cNvSpPr>
          <p:nvPr/>
        </p:nvSpPr>
        <p:spPr>
          <a:xfrm xmlns:a="http://schemas.openxmlformats.org/drawingml/2006/main">
            <a:off x="7886700" y="26860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Explicit row roles prevent silent test reuse</a:t>
            </a:r>
          </a:p>
        </p:txBody>
      </p:sp>
      <p:sp>
        <p:nvSpPr>
          <p:cNvPr id="9" name="explain-body">
            <a:extLst xmlns:a="http://schemas.openxmlformats.org/drawingml/2006/main">
              <a:ext uri="{FF2B5EF4-FFF2-40B4-BE49-F238E27FC236}">
                <a16:creationId xmlns:a16="http://schemas.microsoft.com/office/drawing/2014/main" id="{8427A444-F3F4-4C5E-9268-1F722FFCF679}"/>
              </a:ext>
            </a:extLst>
          </p:cNvPr>
          <p:cNvSpPr>
            <a:spLocks xmlns:a="http://schemas.openxmlformats.org/drawingml/2006/main" noGrp="1"/>
          </p:cNvSpPr>
          <p:nvPr/>
        </p:nvSpPr>
        <p:spPr>
          <a:xfrm xmlns:a="http://schemas.openxmlformats.org/drawingml/2006/main">
            <a:off x="7886700" y="3471672"/>
            <a:ext cx="3695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Every feature set is fit on the same 84 training rows and scored on the same 28 validation rows. The reserved 28-row final test never enters this selection helper.</a:t>
            </a:r>
          </a:p>
        </p:txBody>
      </p:sp>
    </p:spTree>
    <p:extLst>
      <p:ext uri="{BB962C8B-B14F-4D97-AF65-F5344CB8AC3E}">
        <p14:creationId xmlns:p14="http://schemas.microsoft.com/office/powerpoint/2010/main" val="169169567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B2E0D80A-1752-4600-B612-DFB89C758E9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C1A85C7D-ADEB-42EF-A805-34B514B4154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...continued: both models, both deltas, one run</a:t>
            </a:r>
          </a:p>
        </p:txBody>
      </p:sp>
      <p:sp>
        <p:nvSpPr>
          <p:cNvPr id="3" name="">
            <a:extLst xmlns:a="http://schemas.openxmlformats.org/drawingml/2006/main">
              <a:ext uri="{FF2B5EF4-FFF2-40B4-BE49-F238E27FC236}">
                <a16:creationId xmlns:a16="http://schemas.microsoft.com/office/drawing/2014/main" id="{59096F32-91D1-4369-8C74-EC65BB03CC3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C1446F8-2DC3-4559-8A39-6168062DD11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192D8D8C-1E2F-4942-9DF9-2BBC0E74315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30</a:t>
            </a:r>
          </a:p>
        </p:txBody>
      </p:sp>
      <p:sp>
        <p:nvSpPr>
          <p:cNvPr id="6" name="code-panel">
            <a:extLst xmlns:a="http://schemas.openxmlformats.org/drawingml/2006/main">
              <a:ext uri="{FF2B5EF4-FFF2-40B4-BE49-F238E27FC236}">
                <a16:creationId xmlns:a16="http://schemas.microsoft.com/office/drawing/2014/main" id="{E50F7919-B5B5-4494-8CFF-C5A9128203B1}"/>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955FBE9B-58A8-4DAE-AE87-321A22E2F687}"/>
              </a:ext>
            </a:extLst>
          </p:cNvPr>
          <p:cNvSpPr>
            <a:spLocks xmlns:a="http://schemas.openxmlformats.org/drawingml/2006/main" noGrp="1"/>
          </p:cNvSpPr>
          <p:nvPr/>
        </p:nvSpPr>
        <p:spPr>
          <a:xfrm xmlns:a="http://schemas.openxmlformats.org/drawingml/2006/main">
            <a:off x="857250" y="2057400"/>
            <a:ext cx="6400800" cy="26197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FEATURES3 = ["wwr", "shade_m", "glazing_shgc"]</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wk13 = refit_report(FEATURES3, "3-feature")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wk14 = refit_report(FEATURES4, "4-feature")</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d_mae = wk13["MAE"] - wk14["MAE"]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d_r2 = wk14["R2"] - wk13["R2"]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print("delta MAE:", round(d_mae, 4))</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print("delta R2:", round(d_r2, 4))</a:t>
            </a:r>
          </a:p>
        </p:txBody>
      </p:sp>
      <p:sp>
        <p:nvSpPr>
          <p:cNvPr id="8" name="">
            <a:extLst xmlns:a="http://schemas.openxmlformats.org/drawingml/2006/main">
              <a:ext uri="{FF2B5EF4-FFF2-40B4-BE49-F238E27FC236}">
                <a16:creationId xmlns:a16="http://schemas.microsoft.com/office/drawing/2014/main" id="{3924793A-007B-4036-AB51-4F8D9128DB28}"/>
              </a:ext>
            </a:extLst>
          </p:cNvPr>
          <p:cNvSpPr>
            <a:spLocks xmlns:a="http://schemas.openxmlformats.org/drawingml/2006/main" noGrp="1"/>
          </p:cNvSpPr>
          <p:nvPr/>
        </p:nvSpPr>
        <p:spPr>
          <a:xfrm xmlns:a="http://schemas.openxmlformats.org/drawingml/2006/main">
            <a:off x="857250" y="4734306"/>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8AB865AE-9D9F-40FF-86B4-C268EF9BB061}"/>
              </a:ext>
            </a:extLst>
          </p:cNvPr>
          <p:cNvSpPr>
            <a:spLocks xmlns:a="http://schemas.openxmlformats.org/drawingml/2006/main" noGrp="1"/>
          </p:cNvSpPr>
          <p:nvPr/>
        </p:nvSpPr>
        <p:spPr>
          <a:xfrm xmlns:a="http://schemas.openxmlformats.org/drawingml/2006/main">
            <a:off x="857250" y="4848606"/>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8E0E4245-9683-4C5E-B75B-3A62E9D4B594}"/>
              </a:ext>
            </a:extLst>
          </p:cNvPr>
          <p:cNvSpPr>
            <a:spLocks xmlns:a="http://schemas.openxmlformats.org/drawingml/2006/main" noGrp="1"/>
          </p:cNvSpPr>
          <p:nvPr/>
        </p:nvSpPr>
        <p:spPr>
          <a:xfrm xmlns:a="http://schemas.openxmlformats.org/drawingml/2006/main">
            <a:off x="857250" y="5077206"/>
            <a:ext cx="6400800" cy="752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3-feature validation: MAE=2.5583 RMSE=3.0016 R2=0.39029</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4-feature validation: MAE=2.4733 RMSE=2.9129 R2=0.42582</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delta MAE: 0.0850</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delta R2: 0.0355</a:t>
            </a:r>
          </a:p>
        </p:txBody>
      </p:sp>
      <p:sp>
        <p:nvSpPr>
          <p:cNvPr id="11" name="explain-head">
            <a:extLst xmlns:a="http://schemas.openxmlformats.org/drawingml/2006/main">
              <a:ext uri="{FF2B5EF4-FFF2-40B4-BE49-F238E27FC236}">
                <a16:creationId xmlns:a16="http://schemas.microsoft.com/office/drawing/2014/main" id="{85A98AF6-C363-439C-B657-723FAF4FDAEC}"/>
              </a:ext>
            </a:extLst>
          </p:cNvPr>
          <p:cNvSpPr>
            <a:spLocks xmlns:a="http://schemas.openxmlformats.org/drawingml/2006/main" noGrp="1"/>
          </p:cNvSpPr>
          <p:nvPr/>
        </p:nvSpPr>
        <p:spPr>
          <a:xfrm xmlns:a="http://schemas.openxmlformats.org/drawingml/2006/main">
            <a:off x="7886700" y="26860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Real, modest, and honestly reported</a:t>
            </a:r>
          </a:p>
        </p:txBody>
      </p:sp>
      <p:sp>
        <p:nvSpPr>
          <p:cNvPr id="12" name="explain-body">
            <a:extLst xmlns:a="http://schemas.openxmlformats.org/drawingml/2006/main">
              <a:ext uri="{FF2B5EF4-FFF2-40B4-BE49-F238E27FC236}">
                <a16:creationId xmlns:a16="http://schemas.microsoft.com/office/drawing/2014/main" id="{96257815-55BB-48A6-9AA5-1D9ECC5EE8E8}"/>
              </a:ext>
            </a:extLst>
          </p:cNvPr>
          <p:cNvSpPr>
            <a:spLocks xmlns:a="http://schemas.openxmlformats.org/drawingml/2006/main" noGrp="1"/>
          </p:cNvSpPr>
          <p:nvPr/>
        </p:nvSpPr>
        <p:spPr>
          <a:xfrm xmlns:a="http://schemas.openxmlformats.org/drawingml/2006/main">
            <a:off x="7886700" y="3471672"/>
            <a:ext cx="3695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validation improvement is small. The next paired cross-validation compares both feature sets on the same development folds; the untouched test still plays no role in selection.</a:t>
            </a:r>
          </a:p>
        </p:txBody>
      </p:sp>
    </p:spTree>
    <p:extLst>
      <p:ext uri="{BB962C8B-B14F-4D97-AF65-F5344CB8AC3E}">
        <p14:creationId xmlns:p14="http://schemas.microsoft.com/office/powerpoint/2010/main" val="65120508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E5E6FD5E-ABE7-41DF-8672-F7621052B04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 -- TRACK B</a:t>
            </a:r>
          </a:p>
        </p:txBody>
      </p:sp>
      <p:sp>
        <p:nvSpPr>
          <p:cNvPr id="2" name="title">
            <a:extLst xmlns:a="http://schemas.openxmlformats.org/drawingml/2006/main">
              <a:ext uri="{FF2B5EF4-FFF2-40B4-BE49-F238E27FC236}">
                <a16:creationId xmlns:a16="http://schemas.microsoft.com/office/drawing/2014/main" id="{3F9EA645-A1D2-406C-8876-2940889883C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does cross-validation agree with the single split?</a:t>
            </a:r>
          </a:p>
        </p:txBody>
      </p:sp>
      <p:sp>
        <p:nvSpPr>
          <p:cNvPr id="3" name="">
            <a:extLst xmlns:a="http://schemas.openxmlformats.org/drawingml/2006/main">
              <a:ext uri="{FF2B5EF4-FFF2-40B4-BE49-F238E27FC236}">
                <a16:creationId xmlns:a16="http://schemas.microsoft.com/office/drawing/2014/main" id="{8393D3B7-F115-4C13-9B34-577FBE939ECF}"/>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81F214B6-76FE-4556-BEE9-9158038F229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8046D562-30B5-4A93-86B8-C0C9EC084AD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31</a:t>
            </a:r>
          </a:p>
        </p:txBody>
      </p:sp>
      <p:sp>
        <p:nvSpPr>
          <p:cNvPr id="6" name="code-panel">
            <a:extLst xmlns:a="http://schemas.openxmlformats.org/drawingml/2006/main">
              <a:ext uri="{FF2B5EF4-FFF2-40B4-BE49-F238E27FC236}">
                <a16:creationId xmlns:a16="http://schemas.microsoft.com/office/drawing/2014/main" id="{F61BC7AD-D091-4347-96B8-AA07EF627597}"/>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8A569686-338C-427A-A0A3-D6C2734359B9}"/>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cv = KFold(5, shuffle=True, random_state=42)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s3 = cross_val_score(LinearRegression(), X_dev[F3], y_dev, cv=cv, scoring='r2')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s4 = cross_val_score(LinearRegression(), X_dev[F4], y_dev, cv=cv, scoring='r2')</a:t>
            </a:r>
          </a:p>
        </p:txBody>
      </p:sp>
      <p:sp>
        <p:nvSpPr>
          <p:cNvPr id="8" name="question">
            <a:extLst xmlns:a="http://schemas.openxmlformats.org/drawingml/2006/main">
              <a:ext uri="{FF2B5EF4-FFF2-40B4-BE49-F238E27FC236}">
                <a16:creationId xmlns:a16="http://schemas.microsoft.com/office/drawing/2014/main" id="{C0F7E925-F84A-4940-8C5A-414B9A9F6767}"/>
              </a:ext>
            </a:extLst>
          </p:cNvPr>
          <p:cNvSpPr>
            <a:spLocks xmlns:a="http://schemas.openxmlformats.org/drawingml/2006/main" noGrp="1"/>
          </p:cNvSpPr>
          <p:nvPr/>
        </p:nvSpPr>
        <p:spPr>
          <a:xfrm xmlns:a="http://schemas.openxmlformats.org/drawingml/2006/main">
            <a:off x="7315200" y="1809750"/>
            <a:ext cx="4267200" cy="8641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Does the 4-feature gain recur on average across paired development folds?</a:t>
            </a:r>
          </a:p>
        </p:txBody>
      </p:sp>
      <p:sp>
        <p:nvSpPr>
          <p:cNvPr id="9" name="opt-0">
            <a:extLst xmlns:a="http://schemas.openxmlformats.org/drawingml/2006/main">
              <a:ext uri="{FF2B5EF4-FFF2-40B4-BE49-F238E27FC236}">
                <a16:creationId xmlns:a16="http://schemas.microsoft.com/office/drawing/2014/main" id="{78189F14-66C2-43BA-AC57-A81A65E44A0A}"/>
              </a:ext>
            </a:extLst>
          </p:cNvPr>
          <p:cNvSpPr>
            <a:spLocks xmlns:a="http://schemas.openxmlformats.org/drawingml/2006/main" noGrp="1"/>
          </p:cNvSpPr>
          <p:nvPr/>
        </p:nvSpPr>
        <p:spPr>
          <a:xfrm xmlns:a="http://schemas.openxmlformats.org/drawingml/2006/main">
            <a:off x="7315200" y="27881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895FEBB8-7F42-4871-BB45-7299E3F2E721}"/>
              </a:ext>
            </a:extLst>
          </p:cNvPr>
          <p:cNvSpPr>
            <a:spLocks xmlns:a="http://schemas.openxmlformats.org/drawingml/2006/main" noGrp="1"/>
          </p:cNvSpPr>
          <p:nvPr/>
        </p:nvSpPr>
        <p:spPr>
          <a:xfrm xmlns:a="http://schemas.openxmlformats.org/drawingml/2006/main">
            <a:off x="7448550" y="29310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8866F53A-9514-4DDF-BD68-0832D8A635F3}"/>
              </a:ext>
            </a:extLst>
          </p:cNvPr>
          <p:cNvSpPr>
            <a:spLocks xmlns:a="http://schemas.openxmlformats.org/drawingml/2006/main" noGrp="1"/>
          </p:cNvSpPr>
          <p:nvPr/>
        </p:nvSpPr>
        <p:spPr>
          <a:xfrm xmlns:a="http://schemas.openxmlformats.org/drawingml/2006/main">
            <a:off x="7772400" y="28262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No—3 features win every fold</a:t>
            </a:r>
          </a:p>
        </p:txBody>
      </p:sp>
      <p:sp>
        <p:nvSpPr>
          <p:cNvPr id="12" name="opt-1">
            <a:extLst xmlns:a="http://schemas.openxmlformats.org/drawingml/2006/main">
              <a:ext uri="{FF2B5EF4-FFF2-40B4-BE49-F238E27FC236}">
                <a16:creationId xmlns:a16="http://schemas.microsoft.com/office/drawing/2014/main" id="{97166F25-C290-4FD8-85DE-1D3E1496BD6B}"/>
              </a:ext>
            </a:extLst>
          </p:cNvPr>
          <p:cNvSpPr>
            <a:spLocks xmlns:a="http://schemas.openxmlformats.org/drawingml/2006/main" noGrp="1"/>
          </p:cNvSpPr>
          <p:nvPr/>
        </p:nvSpPr>
        <p:spPr>
          <a:xfrm xmlns:a="http://schemas.openxmlformats.org/drawingml/2006/main">
            <a:off x="7315200" y="33596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CF640861-6E5B-4E3A-A047-672006A67367}"/>
              </a:ext>
            </a:extLst>
          </p:cNvPr>
          <p:cNvSpPr>
            <a:spLocks xmlns:a="http://schemas.openxmlformats.org/drawingml/2006/main" noGrp="1"/>
          </p:cNvSpPr>
          <p:nvPr/>
        </p:nvSpPr>
        <p:spPr>
          <a:xfrm xmlns:a="http://schemas.openxmlformats.org/drawingml/2006/main">
            <a:off x="7448550" y="35025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D29D0EE9-361C-4671-80D6-8557E2BFD074}"/>
              </a:ext>
            </a:extLst>
          </p:cNvPr>
          <p:cNvSpPr>
            <a:spLocks xmlns:a="http://schemas.openxmlformats.org/drawingml/2006/main" noGrp="1"/>
          </p:cNvSpPr>
          <p:nvPr/>
        </p:nvSpPr>
        <p:spPr>
          <a:xfrm xmlns:a="http://schemas.openxmlformats.org/drawingml/2006/main">
            <a:off x="7772400" y="33977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Yes—mean R² rises from 0.2313 to 0.3225</a:t>
            </a:r>
          </a:p>
        </p:txBody>
      </p:sp>
      <p:sp>
        <p:nvSpPr>
          <p:cNvPr id="15" name="opt-2">
            <a:extLst xmlns:a="http://schemas.openxmlformats.org/drawingml/2006/main">
              <a:ext uri="{FF2B5EF4-FFF2-40B4-BE49-F238E27FC236}">
                <a16:creationId xmlns:a16="http://schemas.microsoft.com/office/drawing/2014/main" id="{2A451FCE-49B0-4ACA-96EC-DDAF8734FC90}"/>
              </a:ext>
            </a:extLst>
          </p:cNvPr>
          <p:cNvSpPr>
            <a:spLocks xmlns:a="http://schemas.openxmlformats.org/drawingml/2006/main" noGrp="1"/>
          </p:cNvSpPr>
          <p:nvPr/>
        </p:nvSpPr>
        <p:spPr>
          <a:xfrm xmlns:a="http://schemas.openxmlformats.org/drawingml/2006/main">
            <a:off x="7315200" y="39311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762647E3-9C6E-46E1-9284-AC9B7B1B8A60}"/>
              </a:ext>
            </a:extLst>
          </p:cNvPr>
          <p:cNvSpPr>
            <a:spLocks xmlns:a="http://schemas.openxmlformats.org/drawingml/2006/main" noGrp="1"/>
          </p:cNvSpPr>
          <p:nvPr/>
        </p:nvSpPr>
        <p:spPr>
          <a:xfrm xmlns:a="http://schemas.openxmlformats.org/drawingml/2006/main">
            <a:off x="7448550" y="40740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AFB6F9B4-D580-405A-9B6C-9D039296623C}"/>
              </a:ext>
            </a:extLst>
          </p:cNvPr>
          <p:cNvSpPr>
            <a:spLocks xmlns:a="http://schemas.openxmlformats.org/drawingml/2006/main" noGrp="1"/>
          </p:cNvSpPr>
          <p:nvPr/>
        </p:nvSpPr>
        <p:spPr>
          <a:xfrm xmlns:a="http://schemas.openxmlformats.org/drawingml/2006/main">
            <a:off x="7772400" y="39692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Yes—every 4-feature fold exceeds 0.5</a:t>
            </a:r>
          </a:p>
        </p:txBody>
      </p:sp>
      <p:sp>
        <p:nvSpPr>
          <p:cNvPr id="18" name="opt-3">
            <a:extLst xmlns:a="http://schemas.openxmlformats.org/drawingml/2006/main">
              <a:ext uri="{FF2B5EF4-FFF2-40B4-BE49-F238E27FC236}">
                <a16:creationId xmlns:a16="http://schemas.microsoft.com/office/drawing/2014/main" id="{AF6B0135-912B-4B24-9D17-BF9887A3E398}"/>
              </a:ext>
            </a:extLst>
          </p:cNvPr>
          <p:cNvSpPr>
            <a:spLocks xmlns:a="http://schemas.openxmlformats.org/drawingml/2006/main" noGrp="1"/>
          </p:cNvSpPr>
          <p:nvPr/>
        </p:nvSpPr>
        <p:spPr>
          <a:xfrm xmlns:a="http://schemas.openxmlformats.org/drawingml/2006/main">
            <a:off x="7315200" y="4502658"/>
            <a:ext cx="4267200" cy="514350"/>
          </a:xfrm>
          <a:prstGeom xmlns:a="http://schemas.openxmlformats.org/drawingml/2006/main" prst="roundRect">
            <a:avLst>
              <a:gd name="adj" fmla="val 11111"/>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3C72176F-4BAC-44BC-B62C-FCA7C346C32C}"/>
              </a:ext>
            </a:extLst>
          </p:cNvPr>
          <p:cNvSpPr>
            <a:spLocks xmlns:a="http://schemas.openxmlformats.org/drawingml/2006/main" noGrp="1"/>
          </p:cNvSpPr>
          <p:nvPr/>
        </p:nvSpPr>
        <p:spPr>
          <a:xfrm xmlns:a="http://schemas.openxmlformats.org/drawingml/2006/main">
            <a:off x="7448550" y="464553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F6218FE5-F761-4635-B974-A7D358DC2805}"/>
              </a:ext>
            </a:extLst>
          </p:cNvPr>
          <p:cNvSpPr>
            <a:spLocks xmlns:a="http://schemas.openxmlformats.org/drawingml/2006/main" noGrp="1"/>
          </p:cNvSpPr>
          <p:nvPr/>
        </p:nvSpPr>
        <p:spPr>
          <a:xfrm xmlns:a="http://schemas.openxmlformats.org/drawingml/2006/main">
            <a:off x="7772400" y="4540758"/>
            <a:ext cx="3676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The final test is required to answer</a:t>
            </a:r>
          </a:p>
        </p:txBody>
      </p:sp>
      <p:sp>
        <p:nvSpPr>
          <p:cNvPr id="21" name="answer-panel">
            <a:extLst xmlns:a="http://schemas.openxmlformats.org/drawingml/2006/main">
              <a:ext uri="{FF2B5EF4-FFF2-40B4-BE49-F238E27FC236}">
                <a16:creationId xmlns:a16="http://schemas.microsoft.com/office/drawing/2014/main" id="{3D028E5E-4CA1-45BA-9301-341E2CA43FA4}"/>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65977BEA-B6F6-46B7-9DC8-B9C10805E6E7}"/>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B</a:t>
            </a:r>
          </a:p>
        </p:txBody>
      </p:sp>
      <p:sp>
        <p:nvSpPr>
          <p:cNvPr id="23" name="why">
            <a:extLst xmlns:a="http://schemas.openxmlformats.org/drawingml/2006/main">
              <a:ext uri="{FF2B5EF4-FFF2-40B4-BE49-F238E27FC236}">
                <a16:creationId xmlns:a16="http://schemas.microsoft.com/office/drawing/2014/main" id="{12D9EB7F-C777-48D1-814A-E870BAF4F691}"/>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Paired development folds support the direction on average: 0.2313 → 0.3225. Fold-to-fold variation remains substantial.</a:t>
            </a:r>
          </a:p>
        </p:txBody>
      </p:sp>
    </p:spTree>
    <p:extLst>
      <p:ext uri="{BB962C8B-B14F-4D97-AF65-F5344CB8AC3E}">
        <p14:creationId xmlns:p14="http://schemas.microsoft.com/office/powerpoint/2010/main" val="202863525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818FED4B-08E2-44A6-A05A-22504C24005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BCBE0364-C129-4804-BCF0-D26606DD89A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[B3] cross_val_score: does the improvement hold up?</a:t>
            </a:r>
          </a:p>
        </p:txBody>
      </p:sp>
      <p:sp>
        <p:nvSpPr>
          <p:cNvPr id="3" name="">
            <a:extLst xmlns:a="http://schemas.openxmlformats.org/drawingml/2006/main">
              <a:ext uri="{FF2B5EF4-FFF2-40B4-BE49-F238E27FC236}">
                <a16:creationId xmlns:a16="http://schemas.microsoft.com/office/drawing/2014/main" id="{CAADFBB4-4886-477C-A971-4D0903D567C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8FC1349-95EE-4BCB-8845-A2FFC4853F7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2988DBD2-4C67-4719-9523-35384FAE8B2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32</a:t>
            </a:r>
          </a:p>
        </p:txBody>
      </p:sp>
      <p:sp>
        <p:nvSpPr>
          <p:cNvPr id="6" name="code-panel">
            <a:extLst xmlns:a="http://schemas.openxmlformats.org/drawingml/2006/main">
              <a:ext uri="{FF2B5EF4-FFF2-40B4-BE49-F238E27FC236}">
                <a16:creationId xmlns:a16="http://schemas.microsoft.com/office/drawing/2014/main" id="{2609AAB5-B14A-400F-9F61-D2C4FE81953D}"/>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D3CFC7D2-7580-48F1-9BC7-D7977DC5E07B}"/>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cv = KFold(n_splits=5, shuffle=True, random_state=42)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scores3 = cross_val_score(LinearRegression(), X_dev[F3], y_dev, cv=cv, scoring='r2')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scores4 = cross_val_score(LinearRegression(), X_dev[F4], y_dev, cv=cv, scoring='r2')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print(scores3.round(4), scores3.mean().round(4))</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print(scores4.round(4), scores4.mean().round(4))</a:t>
            </a:r>
          </a:p>
        </p:txBody>
      </p:sp>
      <p:sp>
        <p:nvSpPr>
          <p:cNvPr id="8" name="">
            <a:extLst xmlns:a="http://schemas.openxmlformats.org/drawingml/2006/main">
              <a:ext uri="{FF2B5EF4-FFF2-40B4-BE49-F238E27FC236}">
                <a16:creationId xmlns:a16="http://schemas.microsoft.com/office/drawing/2014/main" id="{92A61236-2E52-43FF-8C41-F58AA7739E7D}"/>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D81D7571-F739-4661-9D31-21D050A28D32}"/>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A2814352-5CE4-4C35-BA61-5075557BE33B}"/>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[0.4305 0.3783 0.0515 0.0858 0.2103] 0.2313</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[0.4663 0.4500 0.2198 0.3142 0.1625] 0.3225</a:t>
            </a:r>
          </a:p>
        </p:txBody>
      </p:sp>
      <p:sp>
        <p:nvSpPr>
          <p:cNvPr id="11" name="explain-head">
            <a:extLst xmlns:a="http://schemas.openxmlformats.org/drawingml/2006/main">
              <a:ext uri="{FF2B5EF4-FFF2-40B4-BE49-F238E27FC236}">
                <a16:creationId xmlns:a16="http://schemas.microsoft.com/office/drawing/2014/main" id="{869F423B-A1DF-44EA-ACC4-4EF3D844F5A2}"/>
              </a:ext>
            </a:extLst>
          </p:cNvPr>
          <p:cNvSpPr>
            <a:spLocks xmlns:a="http://schemas.openxmlformats.org/drawingml/2006/main" noGrp="1"/>
          </p:cNvSpPr>
          <p:nvPr/>
        </p:nvSpPr>
        <p:spPr>
          <a:xfrm xmlns:a="http://schemas.openxmlformats.org/drawingml/2006/main">
            <a:off x="7886700" y="2657475"/>
            <a:ext cx="3695700" cy="9212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Paired folds support the feature choice, with variability</a:t>
            </a:r>
          </a:p>
        </p:txBody>
      </p:sp>
      <p:sp>
        <p:nvSpPr>
          <p:cNvPr id="12" name="explain-body">
            <a:extLst xmlns:a="http://schemas.openxmlformats.org/drawingml/2006/main">
              <a:ext uri="{FF2B5EF4-FFF2-40B4-BE49-F238E27FC236}">
                <a16:creationId xmlns:a16="http://schemas.microsoft.com/office/drawing/2014/main" id="{BDD04860-403E-4D0C-92F5-7F9177FCBEDA}"/>
              </a:ext>
            </a:extLst>
          </p:cNvPr>
          <p:cNvSpPr>
            <a:spLocks xmlns:a="http://schemas.openxmlformats.org/drawingml/2006/main" noGrp="1"/>
          </p:cNvSpPr>
          <p:nvPr/>
        </p:nvSpPr>
        <p:spPr>
          <a:xfrm xmlns:a="http://schemas.openxmlformats.org/drawingml/2006/main">
            <a:off x="7886700" y="3731133"/>
            <a:ext cx="369570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4-feature mean is higher, but scores vary across partitions. This range is not a confidence interval or an individual prediction interval.</a:t>
            </a:r>
          </a:p>
        </p:txBody>
      </p:sp>
    </p:spTree>
    <p:extLst>
      <p:ext uri="{BB962C8B-B14F-4D97-AF65-F5344CB8AC3E}">
        <p14:creationId xmlns:p14="http://schemas.microsoft.com/office/powerpoint/2010/main" val="209669459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kicker">
            <a:extLst xmlns:a="http://schemas.openxmlformats.org/drawingml/2006/main">
              <a:ext uri="{FF2B5EF4-FFF2-40B4-BE49-F238E27FC236}">
                <a16:creationId xmlns:a16="http://schemas.microsoft.com/office/drawing/2014/main" id="{DD4741BD-F03C-4CE8-957B-019D8A3262E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A34E0FAE-8627-4817-BDBD-D4258423251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Paired development-fold R²</a:t>
            </a:r>
          </a:p>
        </p:txBody>
      </p:sp>
      <p:sp>
        <p:nvSpPr>
          <p:cNvPr id="3" name="">
            <a:extLst xmlns:a="http://schemas.openxmlformats.org/drawingml/2006/main">
              <a:ext uri="{FF2B5EF4-FFF2-40B4-BE49-F238E27FC236}">
                <a16:creationId xmlns:a16="http://schemas.microsoft.com/office/drawing/2014/main" id="{B7D8C144-9AFD-4465-A205-EC8940933A8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8992EEA6-26FF-4794-A08B-3A4CF1F583F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BD39318C-3DCB-4416-9660-9E47B1EFD41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33</a:t>
            </a:r>
          </a:p>
        </p:txBody>
      </p:sp>
      <p:sp>
        <p:nvSpPr>
          <p:cNvPr id="6" name="">
            <a:extLst xmlns:a="http://schemas.openxmlformats.org/drawingml/2006/main">
              <a:ext uri="{FF2B5EF4-FFF2-40B4-BE49-F238E27FC236}">
                <a16:creationId xmlns:a16="http://schemas.microsoft.com/office/drawing/2014/main" id="{D412A6AD-3BBC-44CC-9940-F2BC00524D2E}"/>
              </a:ext>
            </a:extLst>
          </p:cNvPr>
          <p:cNvSpPr>
            <a:spLocks xmlns:a="http://schemas.openxmlformats.org/drawingml/2006/main" noGrp="1"/>
          </p:cNvSpPr>
          <p:nvPr/>
        </p:nvSpPr>
        <p:spPr>
          <a:xfrm xmlns:a="http://schemas.openxmlformats.org/drawingml/2006/main">
            <a:off x="609600" y="3171825"/>
            <a:ext cx="1061357"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717B824B-115D-4A9F-8DEB-61BDF01C40B8}"/>
              </a:ext>
            </a:extLst>
          </p:cNvPr>
          <p:cNvSpPr>
            <a:spLocks xmlns:a="http://schemas.openxmlformats.org/drawingml/2006/main" noGrp="1"/>
          </p:cNvSpPr>
          <p:nvPr/>
        </p:nvSpPr>
        <p:spPr>
          <a:xfrm xmlns:a="http://schemas.openxmlformats.org/drawingml/2006/main">
            <a:off x="723900" y="32480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model</a:t>
            </a:r>
          </a:p>
        </p:txBody>
      </p:sp>
      <p:sp>
        <p:nvSpPr>
          <p:cNvPr id="8" name="">
            <a:extLst xmlns:a="http://schemas.openxmlformats.org/drawingml/2006/main">
              <a:ext uri="{FF2B5EF4-FFF2-40B4-BE49-F238E27FC236}">
                <a16:creationId xmlns:a16="http://schemas.microsoft.com/office/drawing/2014/main" id="{E4C43301-0C11-47D1-93FD-DBA6E5404A0D}"/>
              </a:ext>
            </a:extLst>
          </p:cNvPr>
          <p:cNvSpPr>
            <a:spLocks xmlns:a="http://schemas.openxmlformats.org/drawingml/2006/main" noGrp="1"/>
          </p:cNvSpPr>
          <p:nvPr/>
        </p:nvSpPr>
        <p:spPr>
          <a:xfrm xmlns:a="http://schemas.openxmlformats.org/drawingml/2006/main">
            <a:off x="1670957" y="3171825"/>
            <a:ext cx="1061357"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E5122F3E-472E-4056-B4B9-650CCAB19C62}"/>
              </a:ext>
            </a:extLst>
          </p:cNvPr>
          <p:cNvSpPr>
            <a:spLocks xmlns:a="http://schemas.openxmlformats.org/drawingml/2006/main" noGrp="1"/>
          </p:cNvSpPr>
          <p:nvPr/>
        </p:nvSpPr>
        <p:spPr>
          <a:xfrm xmlns:a="http://schemas.openxmlformats.org/drawingml/2006/main">
            <a:off x="1785257" y="32480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F1</a:t>
            </a:r>
          </a:p>
        </p:txBody>
      </p:sp>
      <p:sp>
        <p:nvSpPr>
          <p:cNvPr id="10" name="">
            <a:extLst xmlns:a="http://schemas.openxmlformats.org/drawingml/2006/main">
              <a:ext uri="{FF2B5EF4-FFF2-40B4-BE49-F238E27FC236}">
                <a16:creationId xmlns:a16="http://schemas.microsoft.com/office/drawing/2014/main" id="{9F42EF17-F500-49AD-85B5-B87B51FD42AB}"/>
              </a:ext>
            </a:extLst>
          </p:cNvPr>
          <p:cNvSpPr>
            <a:spLocks xmlns:a="http://schemas.openxmlformats.org/drawingml/2006/main" noGrp="1"/>
          </p:cNvSpPr>
          <p:nvPr/>
        </p:nvSpPr>
        <p:spPr>
          <a:xfrm xmlns:a="http://schemas.openxmlformats.org/drawingml/2006/main">
            <a:off x="2732314" y="3171825"/>
            <a:ext cx="1061357"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22A8C05C-A6A2-49BA-87F8-C2AF7FDD081A}"/>
              </a:ext>
            </a:extLst>
          </p:cNvPr>
          <p:cNvSpPr>
            <a:spLocks xmlns:a="http://schemas.openxmlformats.org/drawingml/2006/main" noGrp="1"/>
          </p:cNvSpPr>
          <p:nvPr/>
        </p:nvSpPr>
        <p:spPr>
          <a:xfrm xmlns:a="http://schemas.openxmlformats.org/drawingml/2006/main">
            <a:off x="2846614" y="32480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F2</a:t>
            </a:r>
          </a:p>
        </p:txBody>
      </p:sp>
      <p:sp>
        <p:nvSpPr>
          <p:cNvPr id="12" name="">
            <a:extLst xmlns:a="http://schemas.openxmlformats.org/drawingml/2006/main">
              <a:ext uri="{FF2B5EF4-FFF2-40B4-BE49-F238E27FC236}">
                <a16:creationId xmlns:a16="http://schemas.microsoft.com/office/drawing/2014/main" id="{A47BF9F8-F6AD-4603-AD2C-0639E69AD055}"/>
              </a:ext>
            </a:extLst>
          </p:cNvPr>
          <p:cNvSpPr>
            <a:spLocks xmlns:a="http://schemas.openxmlformats.org/drawingml/2006/main" noGrp="1"/>
          </p:cNvSpPr>
          <p:nvPr/>
        </p:nvSpPr>
        <p:spPr>
          <a:xfrm xmlns:a="http://schemas.openxmlformats.org/drawingml/2006/main">
            <a:off x="3793671" y="3171825"/>
            <a:ext cx="1061357"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11F54E4A-A5E1-4B94-AEC7-C2BEDED100E3}"/>
              </a:ext>
            </a:extLst>
          </p:cNvPr>
          <p:cNvSpPr>
            <a:spLocks xmlns:a="http://schemas.openxmlformats.org/drawingml/2006/main" noGrp="1"/>
          </p:cNvSpPr>
          <p:nvPr/>
        </p:nvSpPr>
        <p:spPr>
          <a:xfrm xmlns:a="http://schemas.openxmlformats.org/drawingml/2006/main">
            <a:off x="3907971" y="32480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F3</a:t>
            </a:r>
          </a:p>
        </p:txBody>
      </p:sp>
      <p:sp>
        <p:nvSpPr>
          <p:cNvPr id="14" name="">
            <a:extLst xmlns:a="http://schemas.openxmlformats.org/drawingml/2006/main">
              <a:ext uri="{FF2B5EF4-FFF2-40B4-BE49-F238E27FC236}">
                <a16:creationId xmlns:a16="http://schemas.microsoft.com/office/drawing/2014/main" id="{09DD29E8-FD2B-4ABC-9E9F-A8F7E8E3A4EE}"/>
              </a:ext>
            </a:extLst>
          </p:cNvPr>
          <p:cNvSpPr>
            <a:spLocks xmlns:a="http://schemas.openxmlformats.org/drawingml/2006/main" noGrp="1"/>
          </p:cNvSpPr>
          <p:nvPr/>
        </p:nvSpPr>
        <p:spPr>
          <a:xfrm xmlns:a="http://schemas.openxmlformats.org/drawingml/2006/main">
            <a:off x="4855029" y="3171825"/>
            <a:ext cx="1061357"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5" name="header-4">
            <a:extLst xmlns:a="http://schemas.openxmlformats.org/drawingml/2006/main">
              <a:ext uri="{FF2B5EF4-FFF2-40B4-BE49-F238E27FC236}">
                <a16:creationId xmlns:a16="http://schemas.microsoft.com/office/drawing/2014/main" id="{067385A3-2F23-41F3-A309-0254FA1340A2}"/>
              </a:ext>
            </a:extLst>
          </p:cNvPr>
          <p:cNvSpPr>
            <a:spLocks xmlns:a="http://schemas.openxmlformats.org/drawingml/2006/main" noGrp="1"/>
          </p:cNvSpPr>
          <p:nvPr/>
        </p:nvSpPr>
        <p:spPr>
          <a:xfrm xmlns:a="http://schemas.openxmlformats.org/drawingml/2006/main">
            <a:off x="4969329" y="32480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F4</a:t>
            </a:r>
          </a:p>
        </p:txBody>
      </p:sp>
      <p:sp>
        <p:nvSpPr>
          <p:cNvPr id="16" name="">
            <a:extLst xmlns:a="http://schemas.openxmlformats.org/drawingml/2006/main">
              <a:ext uri="{FF2B5EF4-FFF2-40B4-BE49-F238E27FC236}">
                <a16:creationId xmlns:a16="http://schemas.microsoft.com/office/drawing/2014/main" id="{5D864A5A-D4A8-4E4D-B17F-E24D85AB6964}"/>
              </a:ext>
            </a:extLst>
          </p:cNvPr>
          <p:cNvSpPr>
            <a:spLocks xmlns:a="http://schemas.openxmlformats.org/drawingml/2006/main" noGrp="1"/>
          </p:cNvSpPr>
          <p:nvPr/>
        </p:nvSpPr>
        <p:spPr>
          <a:xfrm xmlns:a="http://schemas.openxmlformats.org/drawingml/2006/main">
            <a:off x="5916386" y="3171825"/>
            <a:ext cx="1061357"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7" name="header-5">
            <a:extLst xmlns:a="http://schemas.openxmlformats.org/drawingml/2006/main">
              <a:ext uri="{FF2B5EF4-FFF2-40B4-BE49-F238E27FC236}">
                <a16:creationId xmlns:a16="http://schemas.microsoft.com/office/drawing/2014/main" id="{BC01E62E-E5DA-42A8-97C2-EF9C6EECCC8A}"/>
              </a:ext>
            </a:extLst>
          </p:cNvPr>
          <p:cNvSpPr>
            <a:spLocks xmlns:a="http://schemas.openxmlformats.org/drawingml/2006/main" noGrp="1"/>
          </p:cNvSpPr>
          <p:nvPr/>
        </p:nvSpPr>
        <p:spPr>
          <a:xfrm xmlns:a="http://schemas.openxmlformats.org/drawingml/2006/main">
            <a:off x="6030686" y="32480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F5</a:t>
            </a:r>
          </a:p>
        </p:txBody>
      </p:sp>
      <p:sp>
        <p:nvSpPr>
          <p:cNvPr id="18" name="">
            <a:extLst xmlns:a="http://schemas.openxmlformats.org/drawingml/2006/main">
              <a:ext uri="{FF2B5EF4-FFF2-40B4-BE49-F238E27FC236}">
                <a16:creationId xmlns:a16="http://schemas.microsoft.com/office/drawing/2014/main" id="{8952A590-9912-4F87-9E96-3061F81875FB}"/>
              </a:ext>
            </a:extLst>
          </p:cNvPr>
          <p:cNvSpPr>
            <a:spLocks xmlns:a="http://schemas.openxmlformats.org/drawingml/2006/main" noGrp="1"/>
          </p:cNvSpPr>
          <p:nvPr/>
        </p:nvSpPr>
        <p:spPr>
          <a:xfrm xmlns:a="http://schemas.openxmlformats.org/drawingml/2006/main">
            <a:off x="6977743" y="3171825"/>
            <a:ext cx="1061357"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9" name="header-6">
            <a:extLst xmlns:a="http://schemas.openxmlformats.org/drawingml/2006/main">
              <a:ext uri="{FF2B5EF4-FFF2-40B4-BE49-F238E27FC236}">
                <a16:creationId xmlns:a16="http://schemas.microsoft.com/office/drawing/2014/main" id="{6D6859F6-548B-4E96-8FDA-BFBEEB2018C7}"/>
              </a:ext>
            </a:extLst>
          </p:cNvPr>
          <p:cNvSpPr>
            <a:spLocks xmlns:a="http://schemas.openxmlformats.org/drawingml/2006/main" noGrp="1"/>
          </p:cNvSpPr>
          <p:nvPr/>
        </p:nvSpPr>
        <p:spPr>
          <a:xfrm xmlns:a="http://schemas.openxmlformats.org/drawingml/2006/main">
            <a:off x="7092043" y="32480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mean</a:t>
            </a:r>
          </a:p>
        </p:txBody>
      </p:sp>
      <p:sp>
        <p:nvSpPr>
          <p:cNvPr id="20" name="">
            <a:extLst xmlns:a="http://schemas.openxmlformats.org/drawingml/2006/main">
              <a:ext uri="{FF2B5EF4-FFF2-40B4-BE49-F238E27FC236}">
                <a16:creationId xmlns:a16="http://schemas.microsoft.com/office/drawing/2014/main" id="{B3F3D59F-AC18-44E6-A853-17DBAB1C5125}"/>
              </a:ext>
            </a:extLst>
          </p:cNvPr>
          <p:cNvSpPr>
            <a:spLocks xmlns:a="http://schemas.openxmlformats.org/drawingml/2006/main" noGrp="1"/>
          </p:cNvSpPr>
          <p:nvPr/>
        </p:nvSpPr>
        <p:spPr>
          <a:xfrm xmlns:a="http://schemas.openxmlformats.org/drawingml/2006/main">
            <a:off x="609600" y="3705225"/>
            <a:ext cx="1061357"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0">
            <a:extLst xmlns:a="http://schemas.openxmlformats.org/drawingml/2006/main">
              <a:ext uri="{FF2B5EF4-FFF2-40B4-BE49-F238E27FC236}">
                <a16:creationId xmlns:a16="http://schemas.microsoft.com/office/drawing/2014/main" id="{576DCC12-4CF1-4FC2-A0C8-26AAE9D1A2C1}"/>
              </a:ext>
            </a:extLst>
          </p:cNvPr>
          <p:cNvSpPr>
            <a:spLocks xmlns:a="http://schemas.openxmlformats.org/drawingml/2006/main" noGrp="1"/>
          </p:cNvSpPr>
          <p:nvPr/>
        </p:nvSpPr>
        <p:spPr>
          <a:xfrm xmlns:a="http://schemas.openxmlformats.org/drawingml/2006/main">
            <a:off x="723900" y="37814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3-feature</a:t>
            </a:r>
          </a:p>
        </p:txBody>
      </p:sp>
      <p:sp>
        <p:nvSpPr>
          <p:cNvPr id="22" name="">
            <a:extLst xmlns:a="http://schemas.openxmlformats.org/drawingml/2006/main">
              <a:ext uri="{FF2B5EF4-FFF2-40B4-BE49-F238E27FC236}">
                <a16:creationId xmlns:a16="http://schemas.microsoft.com/office/drawing/2014/main" id="{E3A2E292-52C0-48C6-8651-1DE06C787BBC}"/>
              </a:ext>
            </a:extLst>
          </p:cNvPr>
          <p:cNvSpPr>
            <a:spLocks xmlns:a="http://schemas.openxmlformats.org/drawingml/2006/main" noGrp="1"/>
          </p:cNvSpPr>
          <p:nvPr/>
        </p:nvSpPr>
        <p:spPr>
          <a:xfrm xmlns:a="http://schemas.openxmlformats.org/drawingml/2006/main">
            <a:off x="1670957" y="3705225"/>
            <a:ext cx="1061357"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3" name="cell-0-1">
            <a:extLst xmlns:a="http://schemas.openxmlformats.org/drawingml/2006/main">
              <a:ext uri="{FF2B5EF4-FFF2-40B4-BE49-F238E27FC236}">
                <a16:creationId xmlns:a16="http://schemas.microsoft.com/office/drawing/2014/main" id="{C57BFE17-33CB-4D1E-AFAC-CB3161EC440C}"/>
              </a:ext>
            </a:extLst>
          </p:cNvPr>
          <p:cNvSpPr>
            <a:spLocks xmlns:a="http://schemas.openxmlformats.org/drawingml/2006/main" noGrp="1"/>
          </p:cNvSpPr>
          <p:nvPr/>
        </p:nvSpPr>
        <p:spPr>
          <a:xfrm xmlns:a="http://schemas.openxmlformats.org/drawingml/2006/main">
            <a:off x="1785257" y="37814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0.4305</a:t>
            </a:r>
          </a:p>
        </p:txBody>
      </p:sp>
      <p:sp>
        <p:nvSpPr>
          <p:cNvPr id="24" name="">
            <a:extLst xmlns:a="http://schemas.openxmlformats.org/drawingml/2006/main">
              <a:ext uri="{FF2B5EF4-FFF2-40B4-BE49-F238E27FC236}">
                <a16:creationId xmlns:a16="http://schemas.microsoft.com/office/drawing/2014/main" id="{57C97301-1F54-4C45-B29A-55B3B6CCE398}"/>
              </a:ext>
            </a:extLst>
          </p:cNvPr>
          <p:cNvSpPr>
            <a:spLocks xmlns:a="http://schemas.openxmlformats.org/drawingml/2006/main" noGrp="1"/>
          </p:cNvSpPr>
          <p:nvPr/>
        </p:nvSpPr>
        <p:spPr>
          <a:xfrm xmlns:a="http://schemas.openxmlformats.org/drawingml/2006/main">
            <a:off x="2732314" y="3705225"/>
            <a:ext cx="1061357"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5" name="cell-0-2">
            <a:extLst xmlns:a="http://schemas.openxmlformats.org/drawingml/2006/main">
              <a:ext uri="{FF2B5EF4-FFF2-40B4-BE49-F238E27FC236}">
                <a16:creationId xmlns:a16="http://schemas.microsoft.com/office/drawing/2014/main" id="{A34E6787-3F19-45C2-8B95-E1B56A846101}"/>
              </a:ext>
            </a:extLst>
          </p:cNvPr>
          <p:cNvSpPr>
            <a:spLocks xmlns:a="http://schemas.openxmlformats.org/drawingml/2006/main" noGrp="1"/>
          </p:cNvSpPr>
          <p:nvPr/>
        </p:nvSpPr>
        <p:spPr>
          <a:xfrm xmlns:a="http://schemas.openxmlformats.org/drawingml/2006/main">
            <a:off x="2846614" y="37814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0.3783</a:t>
            </a:r>
          </a:p>
        </p:txBody>
      </p:sp>
      <p:sp>
        <p:nvSpPr>
          <p:cNvPr id="26" name="">
            <a:extLst xmlns:a="http://schemas.openxmlformats.org/drawingml/2006/main">
              <a:ext uri="{FF2B5EF4-FFF2-40B4-BE49-F238E27FC236}">
                <a16:creationId xmlns:a16="http://schemas.microsoft.com/office/drawing/2014/main" id="{51478B36-B46E-44CD-A6D8-61B063F0DCFB}"/>
              </a:ext>
            </a:extLst>
          </p:cNvPr>
          <p:cNvSpPr>
            <a:spLocks xmlns:a="http://schemas.openxmlformats.org/drawingml/2006/main" noGrp="1"/>
          </p:cNvSpPr>
          <p:nvPr/>
        </p:nvSpPr>
        <p:spPr>
          <a:xfrm xmlns:a="http://schemas.openxmlformats.org/drawingml/2006/main">
            <a:off x="3793671" y="3705225"/>
            <a:ext cx="1061357"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7" name="cell-0-3">
            <a:extLst xmlns:a="http://schemas.openxmlformats.org/drawingml/2006/main">
              <a:ext uri="{FF2B5EF4-FFF2-40B4-BE49-F238E27FC236}">
                <a16:creationId xmlns:a16="http://schemas.microsoft.com/office/drawing/2014/main" id="{295E5E83-91AF-4B33-A363-F1F91A8A425B}"/>
              </a:ext>
            </a:extLst>
          </p:cNvPr>
          <p:cNvSpPr>
            <a:spLocks xmlns:a="http://schemas.openxmlformats.org/drawingml/2006/main" noGrp="1"/>
          </p:cNvSpPr>
          <p:nvPr/>
        </p:nvSpPr>
        <p:spPr>
          <a:xfrm xmlns:a="http://schemas.openxmlformats.org/drawingml/2006/main">
            <a:off x="3907971" y="37814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0.0515</a:t>
            </a:r>
          </a:p>
        </p:txBody>
      </p:sp>
      <p:sp>
        <p:nvSpPr>
          <p:cNvPr id="28" name="">
            <a:extLst xmlns:a="http://schemas.openxmlformats.org/drawingml/2006/main">
              <a:ext uri="{FF2B5EF4-FFF2-40B4-BE49-F238E27FC236}">
                <a16:creationId xmlns:a16="http://schemas.microsoft.com/office/drawing/2014/main" id="{EADF1E56-B921-40C0-AEE3-EFEF9E1E6190}"/>
              </a:ext>
            </a:extLst>
          </p:cNvPr>
          <p:cNvSpPr>
            <a:spLocks xmlns:a="http://schemas.openxmlformats.org/drawingml/2006/main" noGrp="1"/>
          </p:cNvSpPr>
          <p:nvPr/>
        </p:nvSpPr>
        <p:spPr>
          <a:xfrm xmlns:a="http://schemas.openxmlformats.org/drawingml/2006/main">
            <a:off x="4855029" y="3705225"/>
            <a:ext cx="1061357"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9" name="cell-0-4">
            <a:extLst xmlns:a="http://schemas.openxmlformats.org/drawingml/2006/main">
              <a:ext uri="{FF2B5EF4-FFF2-40B4-BE49-F238E27FC236}">
                <a16:creationId xmlns:a16="http://schemas.microsoft.com/office/drawing/2014/main" id="{A6BCB171-AE45-48A7-A61F-45B4C354B4A9}"/>
              </a:ext>
            </a:extLst>
          </p:cNvPr>
          <p:cNvSpPr>
            <a:spLocks xmlns:a="http://schemas.openxmlformats.org/drawingml/2006/main" noGrp="1"/>
          </p:cNvSpPr>
          <p:nvPr/>
        </p:nvSpPr>
        <p:spPr>
          <a:xfrm xmlns:a="http://schemas.openxmlformats.org/drawingml/2006/main">
            <a:off x="4969329" y="37814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0.0858</a:t>
            </a:r>
          </a:p>
        </p:txBody>
      </p:sp>
      <p:sp>
        <p:nvSpPr>
          <p:cNvPr id="30" name="">
            <a:extLst xmlns:a="http://schemas.openxmlformats.org/drawingml/2006/main">
              <a:ext uri="{FF2B5EF4-FFF2-40B4-BE49-F238E27FC236}">
                <a16:creationId xmlns:a16="http://schemas.microsoft.com/office/drawing/2014/main" id="{33598EE7-F426-41E0-9A21-DFB247FF9E76}"/>
              </a:ext>
            </a:extLst>
          </p:cNvPr>
          <p:cNvSpPr>
            <a:spLocks xmlns:a="http://schemas.openxmlformats.org/drawingml/2006/main" noGrp="1"/>
          </p:cNvSpPr>
          <p:nvPr/>
        </p:nvSpPr>
        <p:spPr>
          <a:xfrm xmlns:a="http://schemas.openxmlformats.org/drawingml/2006/main">
            <a:off x="5916386" y="3705225"/>
            <a:ext cx="1061357"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1" name="cell-0-5">
            <a:extLst xmlns:a="http://schemas.openxmlformats.org/drawingml/2006/main">
              <a:ext uri="{FF2B5EF4-FFF2-40B4-BE49-F238E27FC236}">
                <a16:creationId xmlns:a16="http://schemas.microsoft.com/office/drawing/2014/main" id="{3C1798D4-836D-4D47-937B-303575AC4188}"/>
              </a:ext>
            </a:extLst>
          </p:cNvPr>
          <p:cNvSpPr>
            <a:spLocks xmlns:a="http://schemas.openxmlformats.org/drawingml/2006/main" noGrp="1"/>
          </p:cNvSpPr>
          <p:nvPr/>
        </p:nvSpPr>
        <p:spPr>
          <a:xfrm xmlns:a="http://schemas.openxmlformats.org/drawingml/2006/main">
            <a:off x="6030686" y="37814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0.2103</a:t>
            </a:r>
          </a:p>
        </p:txBody>
      </p:sp>
      <p:sp>
        <p:nvSpPr>
          <p:cNvPr id="32" name="">
            <a:extLst xmlns:a="http://schemas.openxmlformats.org/drawingml/2006/main">
              <a:ext uri="{FF2B5EF4-FFF2-40B4-BE49-F238E27FC236}">
                <a16:creationId xmlns:a16="http://schemas.microsoft.com/office/drawing/2014/main" id="{676EE307-7682-4E41-8E7C-18E0C25F22CF}"/>
              </a:ext>
            </a:extLst>
          </p:cNvPr>
          <p:cNvSpPr>
            <a:spLocks xmlns:a="http://schemas.openxmlformats.org/drawingml/2006/main" noGrp="1"/>
          </p:cNvSpPr>
          <p:nvPr/>
        </p:nvSpPr>
        <p:spPr>
          <a:xfrm xmlns:a="http://schemas.openxmlformats.org/drawingml/2006/main">
            <a:off x="6977743" y="3705225"/>
            <a:ext cx="1061357"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3" name="cell-0-6">
            <a:extLst xmlns:a="http://schemas.openxmlformats.org/drawingml/2006/main">
              <a:ext uri="{FF2B5EF4-FFF2-40B4-BE49-F238E27FC236}">
                <a16:creationId xmlns:a16="http://schemas.microsoft.com/office/drawing/2014/main" id="{0B969AE9-BEBF-4160-BE93-3520A25ED566}"/>
              </a:ext>
            </a:extLst>
          </p:cNvPr>
          <p:cNvSpPr>
            <a:spLocks xmlns:a="http://schemas.openxmlformats.org/drawingml/2006/main" noGrp="1"/>
          </p:cNvSpPr>
          <p:nvPr/>
        </p:nvSpPr>
        <p:spPr>
          <a:xfrm xmlns:a="http://schemas.openxmlformats.org/drawingml/2006/main">
            <a:off x="7092043" y="37814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0.2313</a:t>
            </a:r>
          </a:p>
        </p:txBody>
      </p:sp>
      <p:sp>
        <p:nvSpPr>
          <p:cNvPr id="34" name="">
            <a:extLst xmlns:a="http://schemas.openxmlformats.org/drawingml/2006/main">
              <a:ext uri="{FF2B5EF4-FFF2-40B4-BE49-F238E27FC236}">
                <a16:creationId xmlns:a16="http://schemas.microsoft.com/office/drawing/2014/main" id="{A9EB90ED-C547-4873-8838-BCB7C48166D0}"/>
              </a:ext>
            </a:extLst>
          </p:cNvPr>
          <p:cNvSpPr>
            <a:spLocks xmlns:a="http://schemas.openxmlformats.org/drawingml/2006/main" noGrp="1"/>
          </p:cNvSpPr>
          <p:nvPr/>
        </p:nvSpPr>
        <p:spPr>
          <a:xfrm xmlns:a="http://schemas.openxmlformats.org/drawingml/2006/main">
            <a:off x="609600" y="4238625"/>
            <a:ext cx="1061357"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5" name="cell-1-0">
            <a:extLst xmlns:a="http://schemas.openxmlformats.org/drawingml/2006/main">
              <a:ext uri="{FF2B5EF4-FFF2-40B4-BE49-F238E27FC236}">
                <a16:creationId xmlns:a16="http://schemas.microsoft.com/office/drawing/2014/main" id="{1F218C42-994A-4AE7-B63A-F35FC4D47FEC}"/>
              </a:ext>
            </a:extLst>
          </p:cNvPr>
          <p:cNvSpPr>
            <a:spLocks xmlns:a="http://schemas.openxmlformats.org/drawingml/2006/main" noGrp="1"/>
          </p:cNvSpPr>
          <p:nvPr/>
        </p:nvSpPr>
        <p:spPr>
          <a:xfrm xmlns:a="http://schemas.openxmlformats.org/drawingml/2006/main">
            <a:off x="723900" y="43148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4-feature</a:t>
            </a:r>
          </a:p>
        </p:txBody>
      </p:sp>
      <p:sp>
        <p:nvSpPr>
          <p:cNvPr id="36" name="">
            <a:extLst xmlns:a="http://schemas.openxmlformats.org/drawingml/2006/main">
              <a:ext uri="{FF2B5EF4-FFF2-40B4-BE49-F238E27FC236}">
                <a16:creationId xmlns:a16="http://schemas.microsoft.com/office/drawing/2014/main" id="{40C0A871-1473-4C66-AC43-F35DB764AB11}"/>
              </a:ext>
            </a:extLst>
          </p:cNvPr>
          <p:cNvSpPr>
            <a:spLocks xmlns:a="http://schemas.openxmlformats.org/drawingml/2006/main" noGrp="1"/>
          </p:cNvSpPr>
          <p:nvPr/>
        </p:nvSpPr>
        <p:spPr>
          <a:xfrm xmlns:a="http://schemas.openxmlformats.org/drawingml/2006/main">
            <a:off x="1670957" y="4238625"/>
            <a:ext cx="1061357"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7" name="cell-1-1">
            <a:extLst xmlns:a="http://schemas.openxmlformats.org/drawingml/2006/main">
              <a:ext uri="{FF2B5EF4-FFF2-40B4-BE49-F238E27FC236}">
                <a16:creationId xmlns:a16="http://schemas.microsoft.com/office/drawing/2014/main" id="{94D9BC33-DEE0-4C7D-BA8A-F0C4D59E03B1}"/>
              </a:ext>
            </a:extLst>
          </p:cNvPr>
          <p:cNvSpPr>
            <a:spLocks xmlns:a="http://schemas.openxmlformats.org/drawingml/2006/main" noGrp="1"/>
          </p:cNvSpPr>
          <p:nvPr/>
        </p:nvSpPr>
        <p:spPr>
          <a:xfrm xmlns:a="http://schemas.openxmlformats.org/drawingml/2006/main">
            <a:off x="1785257" y="43148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0.4663</a:t>
            </a:r>
          </a:p>
        </p:txBody>
      </p:sp>
      <p:sp>
        <p:nvSpPr>
          <p:cNvPr id="38" name="">
            <a:extLst xmlns:a="http://schemas.openxmlformats.org/drawingml/2006/main">
              <a:ext uri="{FF2B5EF4-FFF2-40B4-BE49-F238E27FC236}">
                <a16:creationId xmlns:a16="http://schemas.microsoft.com/office/drawing/2014/main" id="{E1B13D40-D501-459B-A2A7-50CF27B39AE0}"/>
              </a:ext>
            </a:extLst>
          </p:cNvPr>
          <p:cNvSpPr>
            <a:spLocks xmlns:a="http://schemas.openxmlformats.org/drawingml/2006/main" noGrp="1"/>
          </p:cNvSpPr>
          <p:nvPr/>
        </p:nvSpPr>
        <p:spPr>
          <a:xfrm xmlns:a="http://schemas.openxmlformats.org/drawingml/2006/main">
            <a:off x="2732314" y="4238625"/>
            <a:ext cx="1061357"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9" name="cell-1-2">
            <a:extLst xmlns:a="http://schemas.openxmlformats.org/drawingml/2006/main">
              <a:ext uri="{FF2B5EF4-FFF2-40B4-BE49-F238E27FC236}">
                <a16:creationId xmlns:a16="http://schemas.microsoft.com/office/drawing/2014/main" id="{460144C6-BCCC-4B59-9966-BB2BAE545824}"/>
              </a:ext>
            </a:extLst>
          </p:cNvPr>
          <p:cNvSpPr>
            <a:spLocks xmlns:a="http://schemas.openxmlformats.org/drawingml/2006/main" noGrp="1"/>
          </p:cNvSpPr>
          <p:nvPr/>
        </p:nvSpPr>
        <p:spPr>
          <a:xfrm xmlns:a="http://schemas.openxmlformats.org/drawingml/2006/main">
            <a:off x="2846614" y="43148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0.4500</a:t>
            </a:r>
          </a:p>
        </p:txBody>
      </p:sp>
      <p:sp>
        <p:nvSpPr>
          <p:cNvPr id="40" name="">
            <a:extLst xmlns:a="http://schemas.openxmlformats.org/drawingml/2006/main">
              <a:ext uri="{FF2B5EF4-FFF2-40B4-BE49-F238E27FC236}">
                <a16:creationId xmlns:a16="http://schemas.microsoft.com/office/drawing/2014/main" id="{00EBC83C-B0C2-4303-A43E-C308E728CCA5}"/>
              </a:ext>
            </a:extLst>
          </p:cNvPr>
          <p:cNvSpPr>
            <a:spLocks xmlns:a="http://schemas.openxmlformats.org/drawingml/2006/main" noGrp="1"/>
          </p:cNvSpPr>
          <p:nvPr/>
        </p:nvSpPr>
        <p:spPr>
          <a:xfrm xmlns:a="http://schemas.openxmlformats.org/drawingml/2006/main">
            <a:off x="3793671" y="4238625"/>
            <a:ext cx="1061357"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1" name="cell-1-3">
            <a:extLst xmlns:a="http://schemas.openxmlformats.org/drawingml/2006/main">
              <a:ext uri="{FF2B5EF4-FFF2-40B4-BE49-F238E27FC236}">
                <a16:creationId xmlns:a16="http://schemas.microsoft.com/office/drawing/2014/main" id="{41E11509-4B81-4F69-A2AD-2FF7E545DA9B}"/>
              </a:ext>
            </a:extLst>
          </p:cNvPr>
          <p:cNvSpPr>
            <a:spLocks xmlns:a="http://schemas.openxmlformats.org/drawingml/2006/main" noGrp="1"/>
          </p:cNvSpPr>
          <p:nvPr/>
        </p:nvSpPr>
        <p:spPr>
          <a:xfrm xmlns:a="http://schemas.openxmlformats.org/drawingml/2006/main">
            <a:off x="3907971" y="43148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0.2198</a:t>
            </a:r>
          </a:p>
        </p:txBody>
      </p:sp>
      <p:sp>
        <p:nvSpPr>
          <p:cNvPr id="42" name="">
            <a:extLst xmlns:a="http://schemas.openxmlformats.org/drawingml/2006/main">
              <a:ext uri="{FF2B5EF4-FFF2-40B4-BE49-F238E27FC236}">
                <a16:creationId xmlns:a16="http://schemas.microsoft.com/office/drawing/2014/main" id="{6E2EEB4E-9EC1-41A7-A143-E2AB04F4C310}"/>
              </a:ext>
            </a:extLst>
          </p:cNvPr>
          <p:cNvSpPr>
            <a:spLocks xmlns:a="http://schemas.openxmlformats.org/drawingml/2006/main" noGrp="1"/>
          </p:cNvSpPr>
          <p:nvPr/>
        </p:nvSpPr>
        <p:spPr>
          <a:xfrm xmlns:a="http://schemas.openxmlformats.org/drawingml/2006/main">
            <a:off x="4855029" y="4238625"/>
            <a:ext cx="1061357"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3" name="cell-1-4">
            <a:extLst xmlns:a="http://schemas.openxmlformats.org/drawingml/2006/main">
              <a:ext uri="{FF2B5EF4-FFF2-40B4-BE49-F238E27FC236}">
                <a16:creationId xmlns:a16="http://schemas.microsoft.com/office/drawing/2014/main" id="{7074E5B5-DB91-4506-A56B-1D23279C04A1}"/>
              </a:ext>
            </a:extLst>
          </p:cNvPr>
          <p:cNvSpPr>
            <a:spLocks xmlns:a="http://schemas.openxmlformats.org/drawingml/2006/main" noGrp="1"/>
          </p:cNvSpPr>
          <p:nvPr/>
        </p:nvSpPr>
        <p:spPr>
          <a:xfrm xmlns:a="http://schemas.openxmlformats.org/drawingml/2006/main">
            <a:off x="4969329" y="43148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0.3142</a:t>
            </a:r>
          </a:p>
        </p:txBody>
      </p:sp>
      <p:sp>
        <p:nvSpPr>
          <p:cNvPr id="44" name="">
            <a:extLst xmlns:a="http://schemas.openxmlformats.org/drawingml/2006/main">
              <a:ext uri="{FF2B5EF4-FFF2-40B4-BE49-F238E27FC236}">
                <a16:creationId xmlns:a16="http://schemas.microsoft.com/office/drawing/2014/main" id="{2052C930-8289-4C86-A695-1C34FB8A3F78}"/>
              </a:ext>
            </a:extLst>
          </p:cNvPr>
          <p:cNvSpPr>
            <a:spLocks xmlns:a="http://schemas.openxmlformats.org/drawingml/2006/main" noGrp="1"/>
          </p:cNvSpPr>
          <p:nvPr/>
        </p:nvSpPr>
        <p:spPr>
          <a:xfrm xmlns:a="http://schemas.openxmlformats.org/drawingml/2006/main">
            <a:off x="5916386" y="4238625"/>
            <a:ext cx="1061357"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5" name="cell-1-5">
            <a:extLst xmlns:a="http://schemas.openxmlformats.org/drawingml/2006/main">
              <a:ext uri="{FF2B5EF4-FFF2-40B4-BE49-F238E27FC236}">
                <a16:creationId xmlns:a16="http://schemas.microsoft.com/office/drawing/2014/main" id="{9C8C52BA-6108-49CE-AEC1-DB471905C965}"/>
              </a:ext>
            </a:extLst>
          </p:cNvPr>
          <p:cNvSpPr>
            <a:spLocks xmlns:a="http://schemas.openxmlformats.org/drawingml/2006/main" noGrp="1"/>
          </p:cNvSpPr>
          <p:nvPr/>
        </p:nvSpPr>
        <p:spPr>
          <a:xfrm xmlns:a="http://schemas.openxmlformats.org/drawingml/2006/main">
            <a:off x="6030686" y="43148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0.1625</a:t>
            </a:r>
          </a:p>
        </p:txBody>
      </p:sp>
      <p:sp>
        <p:nvSpPr>
          <p:cNvPr id="46" name="">
            <a:extLst xmlns:a="http://schemas.openxmlformats.org/drawingml/2006/main">
              <a:ext uri="{FF2B5EF4-FFF2-40B4-BE49-F238E27FC236}">
                <a16:creationId xmlns:a16="http://schemas.microsoft.com/office/drawing/2014/main" id="{CEF29E52-5865-459F-AE45-F29B419A4B19}"/>
              </a:ext>
            </a:extLst>
          </p:cNvPr>
          <p:cNvSpPr>
            <a:spLocks xmlns:a="http://schemas.openxmlformats.org/drawingml/2006/main" noGrp="1"/>
          </p:cNvSpPr>
          <p:nvPr/>
        </p:nvSpPr>
        <p:spPr>
          <a:xfrm xmlns:a="http://schemas.openxmlformats.org/drawingml/2006/main">
            <a:off x="6977743" y="4238625"/>
            <a:ext cx="1061357"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7" name="cell-1-6">
            <a:extLst xmlns:a="http://schemas.openxmlformats.org/drawingml/2006/main">
              <a:ext uri="{FF2B5EF4-FFF2-40B4-BE49-F238E27FC236}">
                <a16:creationId xmlns:a16="http://schemas.microsoft.com/office/drawing/2014/main" id="{D495038D-857E-4414-BF90-4E658ED1A26D}"/>
              </a:ext>
            </a:extLst>
          </p:cNvPr>
          <p:cNvSpPr>
            <a:spLocks xmlns:a="http://schemas.openxmlformats.org/drawingml/2006/main" noGrp="1"/>
          </p:cNvSpPr>
          <p:nvPr/>
        </p:nvSpPr>
        <p:spPr>
          <a:xfrm xmlns:a="http://schemas.openxmlformats.org/drawingml/2006/main">
            <a:off x="7092043" y="4314825"/>
            <a:ext cx="8327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0.3225</a:t>
            </a:r>
          </a:p>
        </p:txBody>
      </p:sp>
      <p:sp>
        <p:nvSpPr>
          <p:cNvPr id="48" name="callout-label">
            <a:extLst xmlns:a="http://schemas.openxmlformats.org/drawingml/2006/main">
              <a:ext uri="{FF2B5EF4-FFF2-40B4-BE49-F238E27FC236}">
                <a16:creationId xmlns:a16="http://schemas.microsoft.com/office/drawing/2014/main" id="{02D10A5C-894F-4CE8-BBF5-D7107F05A6D6}"/>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49" name="callout">
            <a:extLst xmlns:a="http://schemas.openxmlformats.org/drawingml/2006/main">
              <a:ext uri="{FF2B5EF4-FFF2-40B4-BE49-F238E27FC236}">
                <a16:creationId xmlns:a16="http://schemas.microsoft.com/office/drawing/2014/main" id="{539590A9-83DD-4DA3-BA85-02623E0C5646}"/>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Select the 4-feature specification using validation plus paired development CV; then refit on all 112 development rows and open the 28-row final test once.</a:t>
            </a:r>
          </a:p>
        </p:txBody>
      </p:sp>
    </p:spTree>
    <p:extLst>
      <p:ext uri="{BB962C8B-B14F-4D97-AF65-F5344CB8AC3E}">
        <p14:creationId xmlns:p14="http://schemas.microsoft.com/office/powerpoint/2010/main" val="75526843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F5E2F0E0-B2F7-419A-9197-B66ABDAD1ED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THE STRONGEST ARGUMENT IN THIS BLOCK</a:t>
            </a:r>
          </a:p>
        </p:txBody>
      </p:sp>
      <p:sp>
        <p:nvSpPr>
          <p:cNvPr id="2" name="title">
            <a:extLst xmlns:a="http://schemas.openxmlformats.org/drawingml/2006/main">
              <a:ext uri="{FF2B5EF4-FFF2-40B4-BE49-F238E27FC236}">
                <a16:creationId xmlns:a16="http://schemas.microsoft.com/office/drawing/2014/main" id="{6C47C970-F6C2-4B26-B46A-D60BE90BAB0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Freeze the specification before final testing</a:t>
            </a:r>
          </a:p>
        </p:txBody>
      </p:sp>
      <p:sp>
        <p:nvSpPr>
          <p:cNvPr id="3" name="">
            <a:extLst xmlns:a="http://schemas.openxmlformats.org/drawingml/2006/main">
              <a:ext uri="{FF2B5EF4-FFF2-40B4-BE49-F238E27FC236}">
                <a16:creationId xmlns:a16="http://schemas.microsoft.com/office/drawing/2014/main" id="{D03BC41F-6D74-442F-8E23-21B5D6C7463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CFBDC12-94BF-4B0F-8A63-B12FC2E83EF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FCED88AD-41D1-456A-9B8E-F00BAB9C871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34</a:t>
            </a:r>
          </a:p>
        </p:txBody>
      </p:sp>
      <p:sp>
        <p:nvSpPr>
          <p:cNvPr id="6" name="left-head">
            <a:extLst xmlns:a="http://schemas.openxmlformats.org/drawingml/2006/main">
              <a:ext uri="{FF2B5EF4-FFF2-40B4-BE49-F238E27FC236}">
                <a16:creationId xmlns:a16="http://schemas.microsoft.com/office/drawing/2014/main" id="{ECBF2FF3-835C-4034-958C-CFBC781A6320}"/>
              </a:ext>
            </a:extLst>
          </p:cNvPr>
          <p:cNvSpPr>
            <a:spLocks xmlns:a="http://schemas.openxmlformats.org/drawingml/2006/main" noGrp="1"/>
          </p:cNvSpPr>
          <p:nvPr/>
        </p:nvSpPr>
        <p:spPr>
          <a:xfrm xmlns:a="http://schemas.openxmlformats.org/drawingml/2006/main">
            <a:off x="609600" y="29051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Selection evidence</a:t>
            </a:r>
          </a:p>
        </p:txBody>
      </p:sp>
      <p:sp>
        <p:nvSpPr>
          <p:cNvPr id="7" name="left-body">
            <a:extLst xmlns:a="http://schemas.openxmlformats.org/drawingml/2006/main">
              <a:ext uri="{FF2B5EF4-FFF2-40B4-BE49-F238E27FC236}">
                <a16:creationId xmlns:a16="http://schemas.microsoft.com/office/drawing/2014/main" id="{5C4324C3-744C-4D47-849D-2DF6DE145952}"/>
              </a:ext>
            </a:extLst>
          </p:cNvPr>
          <p:cNvSpPr>
            <a:spLocks xmlns:a="http://schemas.openxmlformats.org/drawingml/2006/main" noGrp="1"/>
          </p:cNvSpPr>
          <p:nvPr/>
        </p:nvSpPr>
        <p:spPr>
          <a:xfrm xmlns:a="http://schemas.openxmlformats.org/drawingml/2006/main">
            <a:off x="609600" y="3402711"/>
            <a:ext cx="5219700" cy="8717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Validation R² rises 0.3903 → 0.4258; paired development-CV mean rises 0.2313 → 0.3225. Together they support the 4-feature model.</a:t>
            </a:r>
          </a:p>
        </p:txBody>
      </p:sp>
      <p:sp>
        <p:nvSpPr>
          <p:cNvPr id="8" name="right-head">
            <a:extLst xmlns:a="http://schemas.openxmlformats.org/drawingml/2006/main">
              <a:ext uri="{FF2B5EF4-FFF2-40B4-BE49-F238E27FC236}">
                <a16:creationId xmlns:a16="http://schemas.microsoft.com/office/drawing/2014/main" id="{F0E78D44-A8A3-4F68-9F54-8002084D43F2}"/>
              </a:ext>
            </a:extLst>
          </p:cNvPr>
          <p:cNvSpPr>
            <a:spLocks xmlns:a="http://schemas.openxmlformats.org/drawingml/2006/main" noGrp="1"/>
          </p:cNvSpPr>
          <p:nvPr/>
        </p:nvSpPr>
        <p:spPr>
          <a:xfrm xmlns:a="http://schemas.openxmlformats.org/drawingml/2006/main">
            <a:off x="6362700" y="29051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Final evidence</a:t>
            </a:r>
          </a:p>
        </p:txBody>
      </p:sp>
      <p:sp>
        <p:nvSpPr>
          <p:cNvPr id="9" name="right-body">
            <a:extLst xmlns:a="http://schemas.openxmlformats.org/drawingml/2006/main">
              <a:ext uri="{FF2B5EF4-FFF2-40B4-BE49-F238E27FC236}">
                <a16:creationId xmlns:a16="http://schemas.microsoft.com/office/drawing/2014/main" id="{301C38B8-4A49-4AD9-9396-295FB093309F}"/>
              </a:ext>
            </a:extLst>
          </p:cNvPr>
          <p:cNvSpPr>
            <a:spLocks xmlns:a="http://schemas.openxmlformats.org/drawingml/2006/main" noGrp="1"/>
          </p:cNvSpPr>
          <p:nvPr/>
        </p:nvSpPr>
        <p:spPr>
          <a:xfrm xmlns:a="http://schemas.openxmlformats.org/drawingml/2006/main">
            <a:off x="6362700" y="3402711"/>
            <a:ext cx="5219700" cy="8717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Refit on 112 development rows, then evaluate the untouched 28-row test once: MAE=1.9881, RMSE=2.5210, R²=0.5167.</a:t>
            </a:r>
          </a:p>
        </p:txBody>
      </p:sp>
    </p:spTree>
    <p:extLst>
      <p:ext uri="{BB962C8B-B14F-4D97-AF65-F5344CB8AC3E}">
        <p14:creationId xmlns:p14="http://schemas.microsoft.com/office/powerpoint/2010/main" val="25149817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F3E183F9-822F-4E4B-853A-2249947447E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91F3B948-F3A3-4024-8D50-342311F21B1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[B4] AI-audit: 'validated and ready!'</a:t>
            </a:r>
          </a:p>
        </p:txBody>
      </p:sp>
      <p:sp>
        <p:nvSpPr>
          <p:cNvPr id="3" name="">
            <a:extLst xmlns:a="http://schemas.openxmlformats.org/drawingml/2006/main">
              <a:ext uri="{FF2B5EF4-FFF2-40B4-BE49-F238E27FC236}">
                <a16:creationId xmlns:a16="http://schemas.microsoft.com/office/drawing/2014/main" id="{F90E9442-F299-4091-AFB3-894B64BE31E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5CA07B9-42F4-4DD8-9045-872097ABEF0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45758014-A38D-4DC0-9997-8E6EBA3DF68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35</a:t>
            </a:r>
          </a:p>
        </p:txBody>
      </p:sp>
      <p:sp>
        <p:nvSpPr>
          <p:cNvPr id="6" name="code-panel">
            <a:extLst xmlns:a="http://schemas.openxmlformats.org/drawingml/2006/main">
              <a:ext uri="{FF2B5EF4-FFF2-40B4-BE49-F238E27FC236}">
                <a16:creationId xmlns:a16="http://schemas.microsoft.com/office/drawing/2014/main" id="{A9B26008-8F8E-40F2-A2DF-75802FD17F6F}"/>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564B083E-43DF-47DE-ADC8-2356A7B0B79F}"/>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def ai_evaluate_regressor(model, X_test, y_test):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r2 = model.score(X_test, y_test)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print(f'Model explains {r2:.1%} of variance -- validated and ready!')</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return r2</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ai_evaluate_regressor(lr4, X4_test, y_test4)</a:t>
            </a:r>
          </a:p>
        </p:txBody>
      </p:sp>
      <p:sp>
        <p:nvSpPr>
          <p:cNvPr id="8" name="">
            <a:extLst xmlns:a="http://schemas.openxmlformats.org/drawingml/2006/main">
              <a:ext uri="{FF2B5EF4-FFF2-40B4-BE49-F238E27FC236}">
                <a16:creationId xmlns:a16="http://schemas.microsoft.com/office/drawing/2014/main" id="{BF7AA392-EF6E-4049-8679-4CF2E0127A89}"/>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5E6C4691-688A-4506-AABA-B35650EBC4D6}"/>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C0A8F769-2B91-412E-9671-AF010118F382}"/>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Model explains 42.6% of validation variance -- validated and ready!</a:t>
            </a:r>
          </a:p>
        </p:txBody>
      </p:sp>
      <p:sp>
        <p:nvSpPr>
          <p:cNvPr id="11" name="explain-head">
            <a:extLst xmlns:a="http://schemas.openxmlformats.org/drawingml/2006/main">
              <a:ext uri="{FF2B5EF4-FFF2-40B4-BE49-F238E27FC236}">
                <a16:creationId xmlns:a16="http://schemas.microsoft.com/office/drawing/2014/main" id="{7676FE6E-5A2D-48D2-92B4-0E0BDCB7C7B4}"/>
              </a:ext>
            </a:extLst>
          </p:cNvPr>
          <p:cNvSpPr>
            <a:spLocks xmlns:a="http://schemas.openxmlformats.org/drawingml/2006/main" noGrp="1"/>
          </p:cNvSpPr>
          <p:nvPr/>
        </p:nvSpPr>
        <p:spPr>
          <a:xfrm xmlns:a="http://schemas.openxmlformats.org/drawingml/2006/main">
            <a:off x="7886700" y="26098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'Validated' is doing unearned work</a:t>
            </a:r>
          </a:p>
        </p:txBody>
      </p:sp>
      <p:sp>
        <p:nvSpPr>
          <p:cNvPr id="12" name="explain-body">
            <a:extLst xmlns:a="http://schemas.openxmlformats.org/drawingml/2006/main">
              <a:ext uri="{FF2B5EF4-FFF2-40B4-BE49-F238E27FC236}">
                <a16:creationId xmlns:a16="http://schemas.microsoft.com/office/drawing/2014/main" id="{98A284AE-F48B-4644-B37E-C20B3370F56C}"/>
              </a:ext>
            </a:extLst>
          </p:cNvPr>
          <p:cNvSpPr>
            <a:spLocks xmlns:a="http://schemas.openxmlformats.org/drawingml/2006/main" noGrp="1"/>
          </p:cNvSpPr>
          <p:nvPr/>
        </p:nvSpPr>
        <p:spPr>
          <a:xfrm xmlns:a="http://schemas.openxmlformats.org/drawingml/2006/main">
            <a:off x="7886700" y="3395472"/>
            <a:ext cx="3695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(1) model.score reruns the same validation split. (2) No paired model comparison. (3) No untouched final test. (4) No MAE/RMSE in physical units. (5) 'Ready' ignores extrapolation and individual uncertainty.</a:t>
            </a:r>
          </a:p>
        </p:txBody>
      </p:sp>
    </p:spTree>
    <p:extLst>
      <p:ext uri="{BB962C8B-B14F-4D97-AF65-F5344CB8AC3E}">
        <p14:creationId xmlns:p14="http://schemas.microsoft.com/office/powerpoint/2010/main" val="96732395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7C4E492F-EF4D-4B6C-ACC0-C96DB15578F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606092DE-37FF-42E4-A14B-B3FD1632812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B2: transfer check -- predict a NEW design by hand</a:t>
            </a:r>
          </a:p>
        </p:txBody>
      </p:sp>
      <p:sp>
        <p:nvSpPr>
          <p:cNvPr id="3" name="">
            <a:extLst xmlns:a="http://schemas.openxmlformats.org/drawingml/2006/main">
              <a:ext uri="{FF2B5EF4-FFF2-40B4-BE49-F238E27FC236}">
                <a16:creationId xmlns:a16="http://schemas.microsoft.com/office/drawing/2014/main" id="{66F5F400-495C-44B9-AE83-D90E9A1020B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A80C83F-A5B7-4C2D-A308-B2CC8EC7EB03}"/>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A03D1AC0-201A-47BA-A279-B1BD35BAC77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36</a:t>
            </a:r>
          </a:p>
        </p:txBody>
      </p:sp>
      <p:sp>
        <p:nvSpPr>
          <p:cNvPr id="6" name="exercise-accent">
            <a:extLst xmlns:a="http://schemas.openxmlformats.org/drawingml/2006/main">
              <a:ext uri="{FF2B5EF4-FFF2-40B4-BE49-F238E27FC236}">
                <a16:creationId xmlns:a16="http://schemas.microsoft.com/office/drawing/2014/main" id="{293265F4-EF79-4C2B-B018-DE1F7877BA8E}"/>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F94ABB5F-5C0F-41D3-ABE4-B9FA5ABF0D6D}"/>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wwr=0.50, shade_m=0.20, glazing_shgc=0.45, compactness=1.10 -- none of these values appear in the worked test-set rows above.</a:t>
            </a:r>
          </a:p>
        </p:txBody>
      </p:sp>
      <p:sp>
        <p:nvSpPr>
          <p:cNvPr id="8" name="work-label">
            <a:extLst xmlns:a="http://schemas.openxmlformats.org/drawingml/2006/main">
              <a:ext uri="{FF2B5EF4-FFF2-40B4-BE49-F238E27FC236}">
                <a16:creationId xmlns:a16="http://schemas.microsoft.com/office/drawing/2014/main" id="{0D441D55-1E0C-4954-8235-1DEAF14B85C5}"/>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3674CCB7-5B12-456D-BCCC-51B4C930DBF1}"/>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928B6976-C2A4-4240-B539-343295784D61}"/>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Hand-compute predicted EUI = intercept_ + sum(coef_i * value_i).</a:t>
            </a:r>
          </a:p>
        </p:txBody>
      </p:sp>
      <p:sp>
        <p:nvSpPr>
          <p:cNvPr id="11" name="exercise-no-1">
            <a:extLst xmlns:a="http://schemas.openxmlformats.org/drawingml/2006/main">
              <a:ext uri="{FF2B5EF4-FFF2-40B4-BE49-F238E27FC236}">
                <a16:creationId xmlns:a16="http://schemas.microsoft.com/office/drawing/2014/main" id="{B537ACD7-D859-492F-A588-D63002DAEDD6}"/>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02921A8F-88C4-4386-ABBA-189E845F7CD3}"/>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Confirm your hand value matches lr4.predict(...) to 4 decimals.</a:t>
            </a:r>
          </a:p>
        </p:txBody>
      </p:sp>
      <p:sp>
        <p:nvSpPr>
          <p:cNvPr id="13" name="exercise-no-2">
            <a:extLst xmlns:a="http://schemas.openxmlformats.org/drawingml/2006/main">
              <a:ext uri="{FF2B5EF4-FFF2-40B4-BE49-F238E27FC236}">
                <a16:creationId xmlns:a16="http://schemas.microsoft.com/office/drawing/2014/main" id="{0D07A945-37C1-47A2-B3FA-08E23C508640}"/>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6A416970-E596-440B-AC1A-1DC3D9B54DE9}"/>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Write 2-4 assert statements confirming the match.</a:t>
            </a:r>
          </a:p>
        </p:txBody>
      </p:sp>
      <p:sp>
        <p:nvSpPr>
          <p:cNvPr id="15" name="exercise-no-3">
            <a:extLst xmlns:a="http://schemas.openxmlformats.org/drawingml/2006/main">
              <a:ext uri="{FF2B5EF4-FFF2-40B4-BE49-F238E27FC236}">
                <a16:creationId xmlns:a16="http://schemas.microsoft.com/office/drawing/2014/main" id="{4C7FF4BC-C8D0-4EB6-9D0B-1657739AE56B}"/>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DFF82779-A72A-451C-8278-B112F6947A4D}"/>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Keep this exact design in mind -- Week 15 uses it as the 'baseline design' fed into an optimizer.</a:t>
            </a:r>
          </a:p>
        </p:txBody>
      </p:sp>
    </p:spTree>
    <p:extLst>
      <p:ext uri="{BB962C8B-B14F-4D97-AF65-F5344CB8AC3E}">
        <p14:creationId xmlns:p14="http://schemas.microsoft.com/office/powerpoint/2010/main" val="130152984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kicker">
            <a:extLst xmlns:a="http://schemas.openxmlformats.org/drawingml/2006/main">
              <a:ext uri="{FF2B5EF4-FFF2-40B4-BE49-F238E27FC236}">
                <a16:creationId xmlns:a16="http://schemas.microsoft.com/office/drawing/2014/main" id="{395800D8-7D18-44F2-8677-CED7A7970A5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90CADA64-6EDB-41C2-AB9A-BD09D93EE26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Track B model card</a:t>
            </a:r>
          </a:p>
        </p:txBody>
      </p:sp>
      <p:sp>
        <p:nvSpPr>
          <p:cNvPr id="3" name="">
            <a:extLst xmlns:a="http://schemas.openxmlformats.org/drawingml/2006/main">
              <a:ext uri="{FF2B5EF4-FFF2-40B4-BE49-F238E27FC236}">
                <a16:creationId xmlns:a16="http://schemas.microsoft.com/office/drawing/2014/main" id="{4517D21E-40A6-4644-95EF-CA6CBB0772C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89AB532-39D3-4E50-BAF5-7621A2DD6BD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1135496A-0CBE-459F-A513-0FBB1CD1E03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37</a:t>
            </a:r>
          </a:p>
        </p:txBody>
      </p:sp>
      <p:sp>
        <p:nvSpPr>
          <p:cNvPr id="6" name="">
            <a:extLst xmlns:a="http://schemas.openxmlformats.org/drawingml/2006/main">
              <a:ext uri="{FF2B5EF4-FFF2-40B4-BE49-F238E27FC236}">
                <a16:creationId xmlns:a16="http://schemas.microsoft.com/office/drawing/2014/main" id="{273D23D6-7843-4489-800F-0E7AEB2A0CC5}"/>
              </a:ext>
            </a:extLst>
          </p:cNvPr>
          <p:cNvSpPr>
            <a:spLocks xmlns:a="http://schemas.openxmlformats.org/drawingml/2006/main" noGrp="1"/>
          </p:cNvSpPr>
          <p:nvPr/>
        </p:nvSpPr>
        <p:spPr>
          <a:xfrm xmlns:a="http://schemas.openxmlformats.org/drawingml/2006/main">
            <a:off x="609600" y="2352675"/>
            <a:ext cx="371475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234E547F-C577-431D-BD6A-FA4D0CC18324}"/>
              </a:ext>
            </a:extLst>
          </p:cNvPr>
          <p:cNvSpPr>
            <a:spLocks xmlns:a="http://schemas.openxmlformats.org/drawingml/2006/main" noGrp="1"/>
          </p:cNvSpPr>
          <p:nvPr/>
        </p:nvSpPr>
        <p:spPr>
          <a:xfrm xmlns:a="http://schemas.openxmlformats.org/drawingml/2006/main">
            <a:off x="723900" y="2428875"/>
            <a:ext cx="3486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field</a:t>
            </a:r>
          </a:p>
        </p:txBody>
      </p:sp>
      <p:sp>
        <p:nvSpPr>
          <p:cNvPr id="8" name="">
            <a:extLst xmlns:a="http://schemas.openxmlformats.org/drawingml/2006/main">
              <a:ext uri="{FF2B5EF4-FFF2-40B4-BE49-F238E27FC236}">
                <a16:creationId xmlns:a16="http://schemas.microsoft.com/office/drawing/2014/main" id="{138914C9-B0CD-4ED0-AC4F-81A4054EFE96}"/>
              </a:ext>
            </a:extLst>
          </p:cNvPr>
          <p:cNvSpPr>
            <a:spLocks xmlns:a="http://schemas.openxmlformats.org/drawingml/2006/main" noGrp="1"/>
          </p:cNvSpPr>
          <p:nvPr/>
        </p:nvSpPr>
        <p:spPr>
          <a:xfrm xmlns:a="http://schemas.openxmlformats.org/drawingml/2006/main">
            <a:off x="4324350" y="2352675"/>
            <a:ext cx="371475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D01AA2A4-A38D-4898-8075-4A021C41EFBB}"/>
              </a:ext>
            </a:extLst>
          </p:cNvPr>
          <p:cNvSpPr>
            <a:spLocks xmlns:a="http://schemas.openxmlformats.org/drawingml/2006/main" noGrp="1"/>
          </p:cNvSpPr>
          <p:nvPr/>
        </p:nvSpPr>
        <p:spPr>
          <a:xfrm xmlns:a="http://schemas.openxmlformats.org/drawingml/2006/main">
            <a:off x="4438650" y="2428875"/>
            <a:ext cx="3486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entry</a:t>
            </a:r>
          </a:p>
        </p:txBody>
      </p:sp>
      <p:sp>
        <p:nvSpPr>
          <p:cNvPr id="10" name="">
            <a:extLst xmlns:a="http://schemas.openxmlformats.org/drawingml/2006/main">
              <a:ext uri="{FF2B5EF4-FFF2-40B4-BE49-F238E27FC236}">
                <a16:creationId xmlns:a16="http://schemas.microsoft.com/office/drawing/2014/main" id="{6E6EDC40-2D5A-4E03-B195-801E35AC0E5D}"/>
              </a:ext>
            </a:extLst>
          </p:cNvPr>
          <p:cNvSpPr>
            <a:spLocks xmlns:a="http://schemas.openxmlformats.org/drawingml/2006/main" noGrp="1"/>
          </p:cNvSpPr>
          <p:nvPr/>
        </p:nvSpPr>
        <p:spPr>
          <a:xfrm xmlns:a="http://schemas.openxmlformats.org/drawingml/2006/main">
            <a:off x="609600" y="2886075"/>
            <a:ext cx="371475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1" name="cell-0-0">
            <a:extLst xmlns:a="http://schemas.openxmlformats.org/drawingml/2006/main">
              <a:ext uri="{FF2B5EF4-FFF2-40B4-BE49-F238E27FC236}">
                <a16:creationId xmlns:a16="http://schemas.microsoft.com/office/drawing/2014/main" id="{D401E7BE-634B-4C2E-8811-078BB3E2375C}"/>
              </a:ext>
            </a:extLst>
          </p:cNvPr>
          <p:cNvSpPr>
            <a:spLocks xmlns:a="http://schemas.openxmlformats.org/drawingml/2006/main" noGrp="1"/>
          </p:cNvSpPr>
          <p:nvPr/>
        </p:nvSpPr>
        <p:spPr>
          <a:xfrm xmlns:a="http://schemas.openxmlformats.org/drawingml/2006/main">
            <a:off x="723900" y="2962275"/>
            <a:ext cx="34861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scope</a:t>
            </a:r>
          </a:p>
        </p:txBody>
      </p:sp>
      <p:sp>
        <p:nvSpPr>
          <p:cNvPr id="12" name="">
            <a:extLst xmlns:a="http://schemas.openxmlformats.org/drawingml/2006/main">
              <a:ext uri="{FF2B5EF4-FFF2-40B4-BE49-F238E27FC236}">
                <a16:creationId xmlns:a16="http://schemas.microsoft.com/office/drawing/2014/main" id="{AF31199B-900C-4E9D-BABD-06DC40422EC7}"/>
              </a:ext>
            </a:extLst>
          </p:cNvPr>
          <p:cNvSpPr>
            <a:spLocks xmlns:a="http://schemas.openxmlformats.org/drawingml/2006/main" noGrp="1"/>
          </p:cNvSpPr>
          <p:nvPr/>
        </p:nvSpPr>
        <p:spPr>
          <a:xfrm xmlns:a="http://schemas.openxmlformats.org/drawingml/2006/main">
            <a:off x="4324350" y="2886075"/>
            <a:ext cx="371475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3" name="cell-0-1">
            <a:extLst xmlns:a="http://schemas.openxmlformats.org/drawingml/2006/main">
              <a:ext uri="{FF2B5EF4-FFF2-40B4-BE49-F238E27FC236}">
                <a16:creationId xmlns:a16="http://schemas.microsoft.com/office/drawing/2014/main" id="{96E8FDAD-03B4-43FA-92A2-71DC52704F54}"/>
              </a:ext>
            </a:extLst>
          </p:cNvPr>
          <p:cNvSpPr>
            <a:spLocks xmlns:a="http://schemas.openxmlformats.org/drawingml/2006/main" noGrp="1"/>
          </p:cNvSpPr>
          <p:nvPr/>
        </p:nvSpPr>
        <p:spPr>
          <a:xfrm xmlns:a="http://schemas.openxmlformats.org/drawingml/2006/main">
            <a:off x="4438650" y="2962275"/>
            <a:ext cx="34861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n=140 synthetic variants; 112 development / 28 untouched final test</a:t>
            </a:r>
          </a:p>
        </p:txBody>
      </p:sp>
      <p:sp>
        <p:nvSpPr>
          <p:cNvPr id="14" name="">
            <a:extLst xmlns:a="http://schemas.openxmlformats.org/drawingml/2006/main">
              <a:ext uri="{FF2B5EF4-FFF2-40B4-BE49-F238E27FC236}">
                <a16:creationId xmlns:a16="http://schemas.microsoft.com/office/drawing/2014/main" id="{F16653F8-D8E9-468F-ADB9-DF8527186E23}"/>
              </a:ext>
            </a:extLst>
          </p:cNvPr>
          <p:cNvSpPr>
            <a:spLocks xmlns:a="http://schemas.openxmlformats.org/drawingml/2006/main" noGrp="1"/>
          </p:cNvSpPr>
          <p:nvPr/>
        </p:nvSpPr>
        <p:spPr>
          <a:xfrm xmlns:a="http://schemas.openxmlformats.org/drawingml/2006/main">
            <a:off x="609600" y="3427095"/>
            <a:ext cx="371475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15" name="cell-1-0">
            <a:extLst xmlns:a="http://schemas.openxmlformats.org/drawingml/2006/main">
              <a:ext uri="{FF2B5EF4-FFF2-40B4-BE49-F238E27FC236}">
                <a16:creationId xmlns:a16="http://schemas.microsoft.com/office/drawing/2014/main" id="{A91E8D52-E300-4D3B-866C-20F6519B2726}"/>
              </a:ext>
            </a:extLst>
          </p:cNvPr>
          <p:cNvSpPr>
            <a:spLocks xmlns:a="http://schemas.openxmlformats.org/drawingml/2006/main" noGrp="1"/>
          </p:cNvSpPr>
          <p:nvPr/>
        </p:nvSpPr>
        <p:spPr>
          <a:xfrm xmlns:a="http://schemas.openxmlformats.org/drawingml/2006/main">
            <a:off x="723900" y="3503295"/>
            <a:ext cx="34861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selection</a:t>
            </a:r>
          </a:p>
        </p:txBody>
      </p:sp>
      <p:sp>
        <p:nvSpPr>
          <p:cNvPr id="16" name="">
            <a:extLst xmlns:a="http://schemas.openxmlformats.org/drawingml/2006/main">
              <a:ext uri="{FF2B5EF4-FFF2-40B4-BE49-F238E27FC236}">
                <a16:creationId xmlns:a16="http://schemas.microsoft.com/office/drawing/2014/main" id="{1D0DF859-21FF-4BC4-988D-AE32397A4C60}"/>
              </a:ext>
            </a:extLst>
          </p:cNvPr>
          <p:cNvSpPr>
            <a:spLocks xmlns:a="http://schemas.openxmlformats.org/drawingml/2006/main" noGrp="1"/>
          </p:cNvSpPr>
          <p:nvPr/>
        </p:nvSpPr>
        <p:spPr>
          <a:xfrm xmlns:a="http://schemas.openxmlformats.org/drawingml/2006/main">
            <a:off x="4324350" y="3427095"/>
            <a:ext cx="371475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17" name="cell-1-1">
            <a:extLst xmlns:a="http://schemas.openxmlformats.org/drawingml/2006/main">
              <a:ext uri="{FF2B5EF4-FFF2-40B4-BE49-F238E27FC236}">
                <a16:creationId xmlns:a16="http://schemas.microsoft.com/office/drawing/2014/main" id="{F8EA836C-2955-4EB3-9320-D40BCA552D89}"/>
              </a:ext>
            </a:extLst>
          </p:cNvPr>
          <p:cNvSpPr>
            <a:spLocks xmlns:a="http://schemas.openxmlformats.org/drawingml/2006/main" noGrp="1"/>
          </p:cNvSpPr>
          <p:nvPr/>
        </p:nvSpPr>
        <p:spPr>
          <a:xfrm xmlns:a="http://schemas.openxmlformats.org/drawingml/2006/main">
            <a:off x="4438650" y="3503295"/>
            <a:ext cx="34861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validation R² 0.3903→0.4258; paired CV mean 0.2313→0.3225</a:t>
            </a:r>
          </a:p>
        </p:txBody>
      </p:sp>
      <p:sp>
        <p:nvSpPr>
          <p:cNvPr id="18" name="">
            <a:extLst xmlns:a="http://schemas.openxmlformats.org/drawingml/2006/main">
              <a:ext uri="{FF2B5EF4-FFF2-40B4-BE49-F238E27FC236}">
                <a16:creationId xmlns:a16="http://schemas.microsoft.com/office/drawing/2014/main" id="{5C50EC53-7731-480E-BF24-AD9B528BF97F}"/>
              </a:ext>
            </a:extLst>
          </p:cNvPr>
          <p:cNvSpPr>
            <a:spLocks xmlns:a="http://schemas.openxmlformats.org/drawingml/2006/main" noGrp="1"/>
          </p:cNvSpPr>
          <p:nvPr/>
        </p:nvSpPr>
        <p:spPr>
          <a:xfrm xmlns:a="http://schemas.openxmlformats.org/drawingml/2006/main">
            <a:off x="609600" y="3968115"/>
            <a:ext cx="37147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2-0">
            <a:extLst xmlns:a="http://schemas.openxmlformats.org/drawingml/2006/main">
              <a:ext uri="{FF2B5EF4-FFF2-40B4-BE49-F238E27FC236}">
                <a16:creationId xmlns:a16="http://schemas.microsoft.com/office/drawing/2014/main" id="{B6AE621E-C549-4E35-8B69-7BE64111C71A}"/>
              </a:ext>
            </a:extLst>
          </p:cNvPr>
          <p:cNvSpPr>
            <a:spLocks xmlns:a="http://schemas.openxmlformats.org/drawingml/2006/main" noGrp="1"/>
          </p:cNvSpPr>
          <p:nvPr/>
        </p:nvSpPr>
        <p:spPr>
          <a:xfrm xmlns:a="http://schemas.openxmlformats.org/drawingml/2006/main">
            <a:off x="723900" y="4044315"/>
            <a:ext cx="3486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final test once</a:t>
            </a:r>
          </a:p>
        </p:txBody>
      </p:sp>
      <p:sp>
        <p:nvSpPr>
          <p:cNvPr id="20" name="">
            <a:extLst xmlns:a="http://schemas.openxmlformats.org/drawingml/2006/main">
              <a:ext uri="{FF2B5EF4-FFF2-40B4-BE49-F238E27FC236}">
                <a16:creationId xmlns:a16="http://schemas.microsoft.com/office/drawing/2014/main" id="{58BF2655-68AC-4448-A5E0-CE8EFC9B564B}"/>
              </a:ext>
            </a:extLst>
          </p:cNvPr>
          <p:cNvSpPr>
            <a:spLocks xmlns:a="http://schemas.openxmlformats.org/drawingml/2006/main" noGrp="1"/>
          </p:cNvSpPr>
          <p:nvPr/>
        </p:nvSpPr>
        <p:spPr>
          <a:xfrm xmlns:a="http://schemas.openxmlformats.org/drawingml/2006/main">
            <a:off x="4324350" y="3968115"/>
            <a:ext cx="37147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2-1">
            <a:extLst xmlns:a="http://schemas.openxmlformats.org/drawingml/2006/main">
              <a:ext uri="{FF2B5EF4-FFF2-40B4-BE49-F238E27FC236}">
                <a16:creationId xmlns:a16="http://schemas.microsoft.com/office/drawing/2014/main" id="{DEEE8ACA-9495-4D61-BB7D-03D679B20548}"/>
              </a:ext>
            </a:extLst>
          </p:cNvPr>
          <p:cNvSpPr>
            <a:spLocks xmlns:a="http://schemas.openxmlformats.org/drawingml/2006/main" noGrp="1"/>
          </p:cNvSpPr>
          <p:nvPr/>
        </p:nvSpPr>
        <p:spPr>
          <a:xfrm xmlns:a="http://schemas.openxmlformats.org/drawingml/2006/main">
            <a:off x="4438650" y="4044315"/>
            <a:ext cx="3486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MAE=1.9881, RMSE=2.5210, R²=0.5167</a:t>
            </a:r>
          </a:p>
        </p:txBody>
      </p:sp>
      <p:sp>
        <p:nvSpPr>
          <p:cNvPr id="22" name="">
            <a:extLst xmlns:a="http://schemas.openxmlformats.org/drawingml/2006/main">
              <a:ext uri="{FF2B5EF4-FFF2-40B4-BE49-F238E27FC236}">
                <a16:creationId xmlns:a16="http://schemas.microsoft.com/office/drawing/2014/main" id="{0DDF28C6-1728-4D7F-B597-E07CF7FE85F7}"/>
              </a:ext>
            </a:extLst>
          </p:cNvPr>
          <p:cNvSpPr>
            <a:spLocks xmlns:a="http://schemas.openxmlformats.org/drawingml/2006/main" noGrp="1"/>
          </p:cNvSpPr>
          <p:nvPr/>
        </p:nvSpPr>
        <p:spPr>
          <a:xfrm xmlns:a="http://schemas.openxmlformats.org/drawingml/2006/main">
            <a:off x="609600" y="4501515"/>
            <a:ext cx="371475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3-0">
            <a:extLst xmlns:a="http://schemas.openxmlformats.org/drawingml/2006/main">
              <a:ext uri="{FF2B5EF4-FFF2-40B4-BE49-F238E27FC236}">
                <a16:creationId xmlns:a16="http://schemas.microsoft.com/office/drawing/2014/main" id="{785BB110-B0C6-485D-8E9A-D43AF5C2F81F}"/>
              </a:ext>
            </a:extLst>
          </p:cNvPr>
          <p:cNvSpPr>
            <a:spLocks xmlns:a="http://schemas.openxmlformats.org/drawingml/2006/main" noGrp="1"/>
          </p:cNvSpPr>
          <p:nvPr/>
        </p:nvSpPr>
        <p:spPr>
          <a:xfrm xmlns:a="http://schemas.openxmlformats.org/drawingml/2006/main">
            <a:off x="723900" y="4577715"/>
            <a:ext cx="34861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uncertainty</a:t>
            </a:r>
          </a:p>
        </p:txBody>
      </p:sp>
      <p:sp>
        <p:nvSpPr>
          <p:cNvPr id="24" name="">
            <a:extLst xmlns:a="http://schemas.openxmlformats.org/drawingml/2006/main">
              <a:ext uri="{FF2B5EF4-FFF2-40B4-BE49-F238E27FC236}">
                <a16:creationId xmlns:a16="http://schemas.microsoft.com/office/drawing/2014/main" id="{70C16584-1484-40FA-828B-EE37E622FF14}"/>
              </a:ext>
            </a:extLst>
          </p:cNvPr>
          <p:cNvSpPr>
            <a:spLocks xmlns:a="http://schemas.openxmlformats.org/drawingml/2006/main" noGrp="1"/>
          </p:cNvSpPr>
          <p:nvPr/>
        </p:nvSpPr>
        <p:spPr>
          <a:xfrm xmlns:a="http://schemas.openxmlformats.org/drawingml/2006/main">
            <a:off x="4324350" y="4501515"/>
            <a:ext cx="371475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3-1">
            <a:extLst xmlns:a="http://schemas.openxmlformats.org/drawingml/2006/main">
              <a:ext uri="{FF2B5EF4-FFF2-40B4-BE49-F238E27FC236}">
                <a16:creationId xmlns:a16="http://schemas.microsoft.com/office/drawing/2014/main" id="{3B914FD4-77FF-4D44-8413-9434E69BA217}"/>
              </a:ext>
            </a:extLst>
          </p:cNvPr>
          <p:cNvSpPr>
            <a:spLocks xmlns:a="http://schemas.openxmlformats.org/drawingml/2006/main" noGrp="1"/>
          </p:cNvSpPr>
          <p:nvPr/>
        </p:nvSpPr>
        <p:spPr>
          <a:xfrm xmlns:a="http://schemas.openxmlformats.org/drawingml/2006/main">
            <a:off x="4438650" y="4577715"/>
            <a:ext cx="34861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fold variation and test RMSE are not individual prediction intervals</a:t>
            </a:r>
          </a:p>
        </p:txBody>
      </p:sp>
      <p:sp>
        <p:nvSpPr>
          <p:cNvPr id="26" name="">
            <a:extLst xmlns:a="http://schemas.openxmlformats.org/drawingml/2006/main">
              <a:ext uri="{FF2B5EF4-FFF2-40B4-BE49-F238E27FC236}">
                <a16:creationId xmlns:a16="http://schemas.microsoft.com/office/drawing/2014/main" id="{FBDC0A7B-9459-4F95-AA9C-EB0D643C38CC}"/>
              </a:ext>
            </a:extLst>
          </p:cNvPr>
          <p:cNvSpPr>
            <a:spLocks xmlns:a="http://schemas.openxmlformats.org/drawingml/2006/main" noGrp="1"/>
          </p:cNvSpPr>
          <p:nvPr/>
        </p:nvSpPr>
        <p:spPr>
          <a:xfrm xmlns:a="http://schemas.openxmlformats.org/drawingml/2006/main">
            <a:off x="609600" y="5042535"/>
            <a:ext cx="371475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7" name="cell-4-0">
            <a:extLst xmlns:a="http://schemas.openxmlformats.org/drawingml/2006/main">
              <a:ext uri="{FF2B5EF4-FFF2-40B4-BE49-F238E27FC236}">
                <a16:creationId xmlns:a16="http://schemas.microsoft.com/office/drawing/2014/main" id="{26952E8E-66E6-425E-8990-EB17D2971138}"/>
              </a:ext>
            </a:extLst>
          </p:cNvPr>
          <p:cNvSpPr>
            <a:spLocks xmlns:a="http://schemas.openxmlformats.org/drawingml/2006/main" noGrp="1"/>
          </p:cNvSpPr>
          <p:nvPr/>
        </p:nvSpPr>
        <p:spPr>
          <a:xfrm xmlns:a="http://schemas.openxmlformats.org/drawingml/2006/main">
            <a:off x="723900" y="5118735"/>
            <a:ext cx="34861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do not trust</a:t>
            </a:r>
          </a:p>
        </p:txBody>
      </p:sp>
      <p:sp>
        <p:nvSpPr>
          <p:cNvPr id="28" name="">
            <a:extLst xmlns:a="http://schemas.openxmlformats.org/drawingml/2006/main">
              <a:ext uri="{FF2B5EF4-FFF2-40B4-BE49-F238E27FC236}">
                <a16:creationId xmlns:a16="http://schemas.microsoft.com/office/drawing/2014/main" id="{708A6F37-B9B2-4741-9C4E-90D66B6ED044}"/>
              </a:ext>
            </a:extLst>
          </p:cNvPr>
          <p:cNvSpPr>
            <a:spLocks xmlns:a="http://schemas.openxmlformats.org/drawingml/2006/main" noGrp="1"/>
          </p:cNvSpPr>
          <p:nvPr/>
        </p:nvSpPr>
        <p:spPr>
          <a:xfrm xmlns:a="http://schemas.openxmlformats.org/drawingml/2006/main">
            <a:off x="4324350" y="5042535"/>
            <a:ext cx="371475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9" name="cell-4-1">
            <a:extLst xmlns:a="http://schemas.openxmlformats.org/drawingml/2006/main">
              <a:ext uri="{FF2B5EF4-FFF2-40B4-BE49-F238E27FC236}">
                <a16:creationId xmlns:a16="http://schemas.microsoft.com/office/drawing/2014/main" id="{96C754E2-5483-4D4B-8453-0E7FDF3BD330}"/>
              </a:ext>
            </a:extLst>
          </p:cNvPr>
          <p:cNvSpPr>
            <a:spLocks xmlns:a="http://schemas.openxmlformats.org/drawingml/2006/main" noGrp="1"/>
          </p:cNvSpPr>
          <p:nvPr/>
        </p:nvSpPr>
        <p:spPr>
          <a:xfrm xmlns:a="http://schemas.openxmlformats.org/drawingml/2006/main">
            <a:off x="4438650" y="5118735"/>
            <a:ext cx="348615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extrapolation beyond feature ranges or causal interpretations</a:t>
            </a:r>
          </a:p>
        </p:txBody>
      </p:sp>
      <p:sp>
        <p:nvSpPr>
          <p:cNvPr id="30" name="callout-label">
            <a:extLst xmlns:a="http://schemas.openxmlformats.org/drawingml/2006/main">
              <a:ext uri="{FF2B5EF4-FFF2-40B4-BE49-F238E27FC236}">
                <a16:creationId xmlns:a16="http://schemas.microsoft.com/office/drawing/2014/main" id="{14E8E72E-433C-4F41-890F-25DDE9927A78}"/>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31" name="callout">
            <a:extLst xmlns:a="http://schemas.openxmlformats.org/drawingml/2006/main">
              <a:ext uri="{FF2B5EF4-FFF2-40B4-BE49-F238E27FC236}">
                <a16:creationId xmlns:a16="http://schemas.microsoft.com/office/drawing/2014/main" id="{F9E9BDDC-129F-439F-B16F-0F7F79161A4B}"/>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Model card, defined: a one-page statement of a model's scope and limits -- required for every fitted model in Project 2.</a:t>
            </a:r>
          </a:p>
        </p:txBody>
      </p:sp>
    </p:spTree>
    <p:extLst>
      <p:ext uri="{BB962C8B-B14F-4D97-AF65-F5344CB8AC3E}">
        <p14:creationId xmlns:p14="http://schemas.microsoft.com/office/powerpoint/2010/main" val="146077728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02CD6D45-63D3-4A76-AE21-0CAE9846F75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LOOKING AHEAD</a:t>
            </a:r>
          </a:p>
        </p:txBody>
      </p:sp>
      <p:sp>
        <p:nvSpPr>
          <p:cNvPr id="2" name="title">
            <a:extLst xmlns:a="http://schemas.openxmlformats.org/drawingml/2006/main">
              <a:ext uri="{FF2B5EF4-FFF2-40B4-BE49-F238E27FC236}">
                <a16:creationId xmlns:a16="http://schemas.microsoft.com/office/drawing/2014/main" id="{6BC3A5CF-B476-46A0-8873-5D730038155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Both tracks feed the same Week 15 demo</a:t>
            </a:r>
          </a:p>
        </p:txBody>
      </p:sp>
      <p:sp>
        <p:nvSpPr>
          <p:cNvPr id="3" name="">
            <a:extLst xmlns:a="http://schemas.openxmlformats.org/drawingml/2006/main">
              <a:ext uri="{FF2B5EF4-FFF2-40B4-BE49-F238E27FC236}">
                <a16:creationId xmlns:a16="http://schemas.microsoft.com/office/drawing/2014/main" id="{A3A41CDD-2194-4EE1-AE89-D672DA25CD9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F3B53F6-7BCF-4D9E-B128-B49E343B5A0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14 · Meeting B · Machine Learning II Studio: Classification (Track A) and Regression Refinement (Track B)</a:t>
            </a:r>
          </a:p>
        </p:txBody>
      </p:sp>
      <p:sp>
        <p:nvSpPr>
          <p:cNvPr id="5" name="page">
            <a:extLst xmlns:a="http://schemas.openxmlformats.org/drawingml/2006/main">
              <a:ext uri="{FF2B5EF4-FFF2-40B4-BE49-F238E27FC236}">
                <a16:creationId xmlns:a16="http://schemas.microsoft.com/office/drawing/2014/main" id="{8CC044B1-52F6-443A-A476-F3AC6D6485F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38</a:t>
            </a:r>
          </a:p>
        </p:txBody>
      </p:sp>
      <p:sp>
        <p:nvSpPr>
          <p:cNvPr id="6" name="left-head">
            <a:extLst xmlns:a="http://schemas.openxmlformats.org/drawingml/2006/main">
              <a:ext uri="{FF2B5EF4-FFF2-40B4-BE49-F238E27FC236}">
                <a16:creationId xmlns:a16="http://schemas.microsoft.com/office/drawing/2014/main" id="{2C0480EA-1849-4898-A661-867CFE84AF3F}"/>
              </a:ext>
            </a:extLst>
          </p:cNvPr>
          <p:cNvSpPr>
            <a:spLocks xmlns:a="http://schemas.openxmlformats.org/drawingml/2006/main" noGrp="1"/>
          </p:cNvSpPr>
          <p:nvPr/>
        </p:nvSpPr>
        <p:spPr>
          <a:xfrm xmlns:a="http://schemas.openxmlformats.org/drawingml/2006/main">
            <a:off x="609600" y="27146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Track B's regressor: the objective</a:t>
            </a:r>
          </a:p>
        </p:txBody>
      </p:sp>
      <p:sp>
        <p:nvSpPr>
          <p:cNvPr id="7" name="left-body">
            <a:extLst xmlns:a="http://schemas.openxmlformats.org/drawingml/2006/main">
              <a:ext uri="{FF2B5EF4-FFF2-40B4-BE49-F238E27FC236}">
                <a16:creationId xmlns:a16="http://schemas.microsoft.com/office/drawing/2014/main" id="{222882F0-4CD5-481D-9446-FF973426B090}"/>
              </a:ext>
            </a:extLst>
          </p:cNvPr>
          <p:cNvSpPr>
            <a:spLocks xmlns:a="http://schemas.openxmlformats.org/drawingml/2006/main" noGrp="1"/>
          </p:cNvSpPr>
          <p:nvPr/>
        </p:nvSpPr>
        <p:spPr>
          <a:xfrm xmlns:a="http://schemas.openxmlformats.org/drawingml/2006/main">
            <a:off x="609600" y="3212211"/>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Week 15 refits the selected 4-feature model on all 112 development rows and uses .predict() inside minimize. The final test stays an evaluation record, not an optimization tuning resource.</a:t>
            </a:r>
          </a:p>
        </p:txBody>
      </p:sp>
      <p:sp>
        <p:nvSpPr>
          <p:cNvPr id="8" name="right-head">
            <a:extLst xmlns:a="http://schemas.openxmlformats.org/drawingml/2006/main">
              <a:ext uri="{FF2B5EF4-FFF2-40B4-BE49-F238E27FC236}">
                <a16:creationId xmlns:a16="http://schemas.microsoft.com/office/drawing/2014/main" id="{DC9A0A6F-C686-479A-80A6-47573F9A527E}"/>
              </a:ext>
            </a:extLst>
          </p:cNvPr>
          <p:cNvSpPr>
            <a:spLocks xmlns:a="http://schemas.openxmlformats.org/drawingml/2006/main" noGrp="1"/>
          </p:cNvSpPr>
          <p:nvPr/>
        </p:nvSpPr>
        <p:spPr>
          <a:xfrm xmlns:a="http://schemas.openxmlformats.org/drawingml/2006/main">
            <a:off x="6362700" y="27146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Track A's classifier: a constraint</a:t>
            </a:r>
          </a:p>
        </p:txBody>
      </p:sp>
      <p:sp>
        <p:nvSpPr>
          <p:cNvPr id="9" name="right-body">
            <a:extLst xmlns:a="http://schemas.openxmlformats.org/drawingml/2006/main">
              <a:ext uri="{FF2B5EF4-FFF2-40B4-BE49-F238E27FC236}">
                <a16:creationId xmlns:a16="http://schemas.microsoft.com/office/drawing/2014/main" id="{FB5C6C0D-3551-4F45-809F-D5BE12BFB74D}"/>
              </a:ext>
            </a:extLst>
          </p:cNvPr>
          <p:cNvSpPr>
            <a:spLocks xmlns:a="http://schemas.openxmlformats.org/drawingml/2006/main" noGrp="1"/>
          </p:cNvSpPr>
          <p:nvPr/>
        </p:nvSpPr>
        <p:spPr>
          <a:xfrm xmlns:a="http://schemas.openxmlformats.org/drawingml/2006/main">
            <a:off x="6362700" y="3212211"/>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Track A freezes the validation-selected threshold 0.5. A future search may use P(meets code)≥0.5 as a modeled constraint, then confirm the candidate with the non-surrogate truth check.</a:t>
            </a:r>
          </a:p>
        </p:txBody>
      </p:sp>
    </p:spTree>
    <p:extLst>
      <p:ext uri="{BB962C8B-B14F-4D97-AF65-F5344CB8AC3E}">
        <p14:creationId xmlns:p14="http://schemas.microsoft.com/office/powerpoint/2010/main" val="809789781"/>
      </p:ext>
    </p:extLst>
  </p:cSld>
</p:sld>
</file>

<file path=ppt/slides/slide39.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12" name="close-week">
            <a:extLst xmlns:a="http://schemas.openxmlformats.org/drawingml/2006/main">
              <a:ext uri="{FF2B5EF4-FFF2-40B4-BE49-F238E27FC236}">
                <a16:creationId xmlns:a16="http://schemas.microsoft.com/office/drawing/2014/main" id="{A5A91FAA-5A18-4A52-9EF0-758D856AAD9C}"/>
              </a:ext>
            </a:extLst>
          </p:cNvPr>
          <p:cNvSpPr>
            <a:spLocks xmlns:a="http://schemas.openxmlformats.org/drawingml/2006/main" noGrp="1"/>
          </p:cNvSpPr>
          <p:nvPr/>
        </p:nvSpPr>
        <p:spPr>
          <a:xfrm xmlns:a="http://schemas.openxmlformats.org/drawingml/2006/main">
            <a:off x="609600" y="4572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14 · MEETING B · MACHINE LEARNING II STUDIO: CLASSIFICATION (TRACK A) AND REGRESSION REFINEMENT (TRACK B)</a:t>
            </a:r>
          </a:p>
        </p:txBody>
      </p:sp>
      <p:sp>
        <p:nvSpPr>
          <p:cNvPr id="2" name="close-title">
            <a:extLst xmlns:a="http://schemas.openxmlformats.org/drawingml/2006/main">
              <a:ext uri="{FF2B5EF4-FFF2-40B4-BE49-F238E27FC236}">
                <a16:creationId xmlns:a16="http://schemas.microsoft.com/office/drawing/2014/main" id="{D2B78F66-A029-47A0-8B47-AE728132D4B0}"/>
              </a:ext>
            </a:extLst>
          </p:cNvPr>
          <p:cNvSpPr>
            <a:spLocks xmlns:a="http://schemas.openxmlformats.org/drawingml/2006/main" noGrp="1"/>
          </p:cNvSpPr>
          <p:nvPr/>
        </p:nvSpPr>
        <p:spPr>
          <a:xfrm xmlns:a="http://schemas.openxmlformats.org/drawingml/2006/main">
            <a:off x="609600" y="10668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FFFFFF"/>
                </a:solidFill>
                <a:latin typeface="Arial"/>
                <a:ea typeface="Arial"/>
                <a:cs typeface="Arial"/>
              </a:defRPr>
            </a:pPr>
            <a:r>
              <a:rPr sz="3600" b="1">
                <a:solidFill>
                  <a:srgbClr val="FFFFFF"/>
                </a:solidFill>
                <a:latin typeface="Arial"/>
                <a:ea typeface="Arial"/>
                <a:cs typeface="Arial"/>
              </a:rPr>
              <a:t>Hand-computed metrics, honestly reported</a:t>
            </a:r>
          </a:p>
        </p:txBody>
      </p:sp>
      <p:sp>
        <p:nvSpPr>
          <p:cNvPr id="3" name="">
            <a:extLst xmlns:a="http://schemas.openxmlformats.org/drawingml/2006/main">
              <a:ext uri="{FF2B5EF4-FFF2-40B4-BE49-F238E27FC236}">
                <a16:creationId xmlns:a16="http://schemas.microsoft.com/office/drawing/2014/main" id="{443497A4-B356-40F7-AC9B-5588F0132359}"/>
              </a:ext>
            </a:extLst>
          </p:cNvPr>
          <p:cNvSpPr>
            <a:spLocks xmlns:a="http://schemas.openxmlformats.org/drawingml/2006/main" noGrp="1"/>
          </p:cNvSpPr>
          <p:nvPr/>
        </p:nvSpPr>
        <p:spPr>
          <a:xfrm xmlns:a="http://schemas.openxmlformats.org/drawingml/2006/main">
            <a:off x="609600" y="2324100"/>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4" name="take-no-0">
            <a:extLst xmlns:a="http://schemas.openxmlformats.org/drawingml/2006/main">
              <a:ext uri="{FF2B5EF4-FFF2-40B4-BE49-F238E27FC236}">
                <a16:creationId xmlns:a16="http://schemas.microsoft.com/office/drawing/2014/main" id="{32634AE2-8992-4899-AE48-9E18AF2DB075}"/>
              </a:ext>
            </a:extLst>
          </p:cNvPr>
          <p:cNvSpPr>
            <a:spLocks xmlns:a="http://schemas.openxmlformats.org/drawingml/2006/main" noGrp="1"/>
          </p:cNvSpPr>
          <p:nvPr/>
        </p:nvSpPr>
        <p:spPr>
          <a:xfrm xmlns:a="http://schemas.openxmlformats.org/drawingml/2006/main">
            <a:off x="609600" y="2743200"/>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01</a:t>
            </a:r>
          </a:p>
        </p:txBody>
      </p:sp>
      <p:sp>
        <p:nvSpPr>
          <p:cNvPr id="5" name="take-0">
            <a:extLst xmlns:a="http://schemas.openxmlformats.org/drawingml/2006/main">
              <a:ext uri="{FF2B5EF4-FFF2-40B4-BE49-F238E27FC236}">
                <a16:creationId xmlns:a16="http://schemas.microsoft.com/office/drawing/2014/main" id="{5EA1BAB3-AA3A-4A98-915C-4E9D713991AD}"/>
              </a:ext>
            </a:extLst>
          </p:cNvPr>
          <p:cNvSpPr>
            <a:spLocks xmlns:a="http://schemas.openxmlformats.org/drawingml/2006/main" noGrp="1"/>
          </p:cNvSpPr>
          <p:nvPr/>
        </p:nvSpPr>
        <p:spPr>
          <a:xfrm xmlns:a="http://schemas.openxmlformats.org/drawingml/2006/main">
            <a:off x="1409700" y="2705100"/>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Train, validation, and final test have different roles; do not reuse the final test for threshold or feature selection.</a:t>
            </a:r>
          </a:p>
        </p:txBody>
      </p:sp>
      <p:sp>
        <p:nvSpPr>
          <p:cNvPr id="6" name="take-no-1">
            <a:extLst xmlns:a="http://schemas.openxmlformats.org/drawingml/2006/main">
              <a:ext uri="{FF2B5EF4-FFF2-40B4-BE49-F238E27FC236}">
                <a16:creationId xmlns:a16="http://schemas.microsoft.com/office/drawing/2014/main" id="{67A10054-EB23-4082-B7E1-596AC7D1AA0A}"/>
              </a:ext>
            </a:extLst>
          </p:cNvPr>
          <p:cNvSpPr>
            <a:spLocks xmlns:a="http://schemas.openxmlformats.org/drawingml/2006/main" noGrp="1"/>
          </p:cNvSpPr>
          <p:nvPr/>
        </p:nvSpPr>
        <p:spPr>
          <a:xfrm xmlns:a="http://schemas.openxmlformats.org/drawingml/2006/main">
            <a:off x="609600" y="3528822"/>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02</a:t>
            </a:r>
          </a:p>
        </p:txBody>
      </p:sp>
      <p:sp>
        <p:nvSpPr>
          <p:cNvPr id="7" name="take-1">
            <a:extLst xmlns:a="http://schemas.openxmlformats.org/drawingml/2006/main">
              <a:ext uri="{FF2B5EF4-FFF2-40B4-BE49-F238E27FC236}">
                <a16:creationId xmlns:a16="http://schemas.microsoft.com/office/drawing/2014/main" id="{92C40B54-7E47-4858-AA04-9840E7B12280}"/>
              </a:ext>
            </a:extLst>
          </p:cNvPr>
          <p:cNvSpPr>
            <a:spLocks xmlns:a="http://schemas.openxmlformats.org/drawingml/2006/main" noGrp="1"/>
          </p:cNvSpPr>
          <p:nvPr/>
        </p:nvSpPr>
        <p:spPr>
          <a:xfrm xmlns:a="http://schemas.openxmlformats.org/drawingml/2006/main">
            <a:off x="1409700" y="3490722"/>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A predeclared consequence rule—not a software default—selects Track A's threshold 0.5.</a:t>
            </a:r>
          </a:p>
        </p:txBody>
      </p:sp>
      <p:sp>
        <p:nvSpPr>
          <p:cNvPr id="8" name="take-no-2">
            <a:extLst xmlns:a="http://schemas.openxmlformats.org/drawingml/2006/main">
              <a:ext uri="{FF2B5EF4-FFF2-40B4-BE49-F238E27FC236}">
                <a16:creationId xmlns:a16="http://schemas.microsoft.com/office/drawing/2014/main" id="{E495660A-7F9F-4451-A8C6-275831F60DCE}"/>
              </a:ext>
            </a:extLst>
          </p:cNvPr>
          <p:cNvSpPr>
            <a:spLocks xmlns:a="http://schemas.openxmlformats.org/drawingml/2006/main" noGrp="1"/>
          </p:cNvSpPr>
          <p:nvPr/>
        </p:nvSpPr>
        <p:spPr>
          <a:xfrm xmlns:a="http://schemas.openxmlformats.org/drawingml/2006/main">
            <a:off x="609600" y="4314444"/>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03</a:t>
            </a:r>
          </a:p>
        </p:txBody>
      </p:sp>
      <p:sp>
        <p:nvSpPr>
          <p:cNvPr id="9" name="take-2">
            <a:extLst xmlns:a="http://schemas.openxmlformats.org/drawingml/2006/main">
              <a:ext uri="{FF2B5EF4-FFF2-40B4-BE49-F238E27FC236}">
                <a16:creationId xmlns:a16="http://schemas.microsoft.com/office/drawing/2014/main" id="{3FD8961B-49E5-4707-A7F0-DCA9166C7F98}"/>
              </a:ext>
            </a:extLst>
          </p:cNvPr>
          <p:cNvSpPr>
            <a:spLocks xmlns:a="http://schemas.openxmlformats.org/drawingml/2006/main" noGrp="1"/>
          </p:cNvSpPr>
          <p:nvPr/>
        </p:nvSpPr>
        <p:spPr>
          <a:xfrm xmlns:a="http://schemas.openxmlformats.org/drawingml/2006/main">
            <a:off x="1409700" y="4276344"/>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Paired development folds support Track B's 4-feature choice; final test is evaluated once after refitting.</a:t>
            </a:r>
          </a:p>
        </p:txBody>
      </p:sp>
      <p:sp>
        <p:nvSpPr>
          <p:cNvPr id="10" name="take-no-3">
            <a:extLst xmlns:a="http://schemas.openxmlformats.org/drawingml/2006/main">
              <a:ext uri="{FF2B5EF4-FFF2-40B4-BE49-F238E27FC236}">
                <a16:creationId xmlns:a16="http://schemas.microsoft.com/office/drawing/2014/main" id="{8AB42EB1-0C99-4998-8EF8-210EC8534C20}"/>
              </a:ext>
            </a:extLst>
          </p:cNvPr>
          <p:cNvSpPr>
            <a:spLocks xmlns:a="http://schemas.openxmlformats.org/drawingml/2006/main" noGrp="1"/>
          </p:cNvSpPr>
          <p:nvPr/>
        </p:nvSpPr>
        <p:spPr>
          <a:xfrm xmlns:a="http://schemas.openxmlformats.org/drawingml/2006/main">
            <a:off x="609600" y="5100066"/>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04</a:t>
            </a:r>
          </a:p>
        </p:txBody>
      </p:sp>
      <p:sp>
        <p:nvSpPr>
          <p:cNvPr id="11" name="take-3">
            <a:extLst xmlns:a="http://schemas.openxmlformats.org/drawingml/2006/main">
              <a:ext uri="{FF2B5EF4-FFF2-40B4-BE49-F238E27FC236}">
                <a16:creationId xmlns:a16="http://schemas.microsoft.com/office/drawing/2014/main" id="{17C4E720-2FB6-42D9-B93C-56096D1CAD82}"/>
              </a:ext>
            </a:extLst>
          </p:cNvPr>
          <p:cNvSpPr>
            <a:spLocks xmlns:a="http://schemas.openxmlformats.org/drawingml/2006/main" noGrp="1"/>
          </p:cNvSpPr>
          <p:nvPr/>
        </p:nvSpPr>
        <p:spPr>
          <a:xfrm xmlns:a="http://schemas.openxmlformats.org/drawingml/2006/main">
            <a:off x="1409700" y="5061966"/>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Fold variability and test RMSE are not individual prediction intervals; state that limitation in the model card.</a:t>
            </a:r>
          </a:p>
        </p:txBody>
      </p:sp>
    </p:spTree>
    <p:extLst>
      <p:ext uri="{BB962C8B-B14F-4D97-AF65-F5344CB8AC3E}">
        <p14:creationId xmlns:p14="http://schemas.microsoft.com/office/powerpoint/2010/main" val="3142218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2026-08-20T17:40:52.1440000Z</dcterms:created>
  <dcterms:modified xsi:type="dcterms:W3CDTF">2026-08-20T17:40:52.1440000Z</dcterms:modified>
</coreProperties>
</file>