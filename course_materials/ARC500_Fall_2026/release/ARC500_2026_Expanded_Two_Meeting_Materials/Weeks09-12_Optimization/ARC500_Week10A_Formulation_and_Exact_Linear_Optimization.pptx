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2.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d3b971eb72411a" /><Relationship Type="http://schemas.openxmlformats.org/officeDocument/2006/relationships/extended-properties" Target="/docProps/app.xml" Id="R977c521723824655" /><Relationship Type="http://schemas.openxmlformats.org/officeDocument/2006/relationships/officeDocument" Target="/ppt/presentation.xml" Id="Rffa56783afe24c96" /></Relationships>
</file>

<file path=ppt/presentation.xml><?xml version="1.0" encoding="utf-8"?>
<p:presentation xmlns:p="http://schemas.openxmlformats.org/presentationml/2006/main">
  <p:sldMasterIdLst>
    <p:sldMasterId xmlns:r="http://schemas.openxmlformats.org/officeDocument/2006/relationships" id="2147483648" r:id="R285fd46beab74303"/>
  </p:sldMasterIdLst>
  <p:notesMasterIdLst>
    <p:notesMasterId xmlns:r="http://schemas.openxmlformats.org/officeDocument/2006/relationships" r:id="R7144870f05264fa4"/>
  </p:notesMasterIdLst>
  <p:sldIdLst>
    <p:sldId xmlns:r="http://schemas.openxmlformats.org/officeDocument/2006/relationships" id="256" r:id="R6a29bd02e89f4a1e"/>
    <p:sldId xmlns:r="http://schemas.openxmlformats.org/officeDocument/2006/relationships" id="257" r:id="Re1972c1b11794b76"/>
    <p:sldId xmlns:r="http://schemas.openxmlformats.org/officeDocument/2006/relationships" id="258" r:id="R6417d1eb02f64c0a"/>
    <p:sldId xmlns:r="http://schemas.openxmlformats.org/officeDocument/2006/relationships" id="259" r:id="R7330b9c0ad3b49a7"/>
    <p:sldId xmlns:r="http://schemas.openxmlformats.org/officeDocument/2006/relationships" id="260" r:id="R0b6fba42ad514fb3"/>
    <p:sldId xmlns:r="http://schemas.openxmlformats.org/officeDocument/2006/relationships" id="261" r:id="R82c2c64b158b462f"/>
    <p:sldId xmlns:r="http://schemas.openxmlformats.org/officeDocument/2006/relationships" id="262" r:id="R7f5417fc460c461b"/>
    <p:sldId xmlns:r="http://schemas.openxmlformats.org/officeDocument/2006/relationships" id="263" r:id="R851144f806314040"/>
    <p:sldId xmlns:r="http://schemas.openxmlformats.org/officeDocument/2006/relationships" id="264" r:id="R1c0f9dcdcd484f8a"/>
    <p:sldId xmlns:r="http://schemas.openxmlformats.org/officeDocument/2006/relationships" id="265" r:id="Rde6c7af5a5fb4f67"/>
    <p:sldId xmlns:r="http://schemas.openxmlformats.org/officeDocument/2006/relationships" id="266" r:id="Rc65b9e6e755d483b"/>
    <p:sldId xmlns:r="http://schemas.openxmlformats.org/officeDocument/2006/relationships" id="267" r:id="R50d9ca45df1f4861"/>
    <p:sldId xmlns:r="http://schemas.openxmlformats.org/officeDocument/2006/relationships" id="268" r:id="R891af2d84e694de8"/>
    <p:sldId xmlns:r="http://schemas.openxmlformats.org/officeDocument/2006/relationships" id="269" r:id="R06413c74b0bd41e8"/>
    <p:sldId xmlns:r="http://schemas.openxmlformats.org/officeDocument/2006/relationships" id="270" r:id="R99fcebb5cc874733"/>
    <p:sldId xmlns:r="http://schemas.openxmlformats.org/officeDocument/2006/relationships" id="271" r:id="Re4b6abe77f2e4b0b"/>
    <p:sldId xmlns:r="http://schemas.openxmlformats.org/officeDocument/2006/relationships" id="272" r:id="R6ce5a3fbb33a4fab"/>
    <p:sldId xmlns:r="http://schemas.openxmlformats.org/officeDocument/2006/relationships" id="273" r:id="Rbdbdc28d58794f67"/>
    <p:sldId xmlns:r="http://schemas.openxmlformats.org/officeDocument/2006/relationships" id="274" r:id="R573a99f835a54d58"/>
    <p:sldId xmlns:r="http://schemas.openxmlformats.org/officeDocument/2006/relationships" id="275" r:id="R56d3027a1e22406a"/>
    <p:sldId xmlns:r="http://schemas.openxmlformats.org/officeDocument/2006/relationships" id="276" r:id="R17133254bf2f467d"/>
    <p:sldId xmlns:r="http://schemas.openxmlformats.org/officeDocument/2006/relationships" id="277" r:id="Rd62e4a2dcc274f15"/>
    <p:sldId xmlns:r="http://schemas.openxmlformats.org/officeDocument/2006/relationships" id="278" r:id="R986de8570b0f4dd4"/>
    <p:sldId xmlns:r="http://schemas.openxmlformats.org/officeDocument/2006/relationships" id="279" r:id="R3b222d4315cc422d"/>
    <p:sldId xmlns:r="http://schemas.openxmlformats.org/officeDocument/2006/relationships" id="280" r:id="Rf5997f2706734dfc"/>
    <p:sldId xmlns:r="http://schemas.openxmlformats.org/officeDocument/2006/relationships" id="281" r:id="R985829019b0742ac"/>
    <p:sldId xmlns:r="http://schemas.openxmlformats.org/officeDocument/2006/relationships" id="282" r:id="R12c7576f1fb94240"/>
    <p:sldId xmlns:r="http://schemas.openxmlformats.org/officeDocument/2006/relationships" id="283" r:id="R53fde1d04a094b5c"/>
    <p:sldId xmlns:r="http://schemas.openxmlformats.org/officeDocument/2006/relationships" id="284" r:id="R4968378c313d4feb"/>
    <p:sldId xmlns:r="http://schemas.openxmlformats.org/officeDocument/2006/relationships" id="285" r:id="R9ea594ca34f84540"/>
    <p:sldId xmlns:r="http://schemas.openxmlformats.org/officeDocument/2006/relationships" id="286" r:id="R11883bc90ca3496e"/>
    <p:sldId xmlns:r="http://schemas.openxmlformats.org/officeDocument/2006/relationships" id="287" r:id="R32242d97601a4e20"/>
    <p:sldId xmlns:r="http://schemas.openxmlformats.org/officeDocument/2006/relationships" id="288" r:id="Re061a6525ca3415e"/>
    <p:sldId xmlns:r="http://schemas.openxmlformats.org/officeDocument/2006/relationships" id="289" r:id="R92bcbbb3c5b44dd9"/>
    <p:sldId xmlns:r="http://schemas.openxmlformats.org/officeDocument/2006/relationships" id="290" r:id="Rc2e48437a5364d8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27706be82f4ea3" /><Relationship Type="http://schemas.openxmlformats.org/officeDocument/2006/relationships/slideMaster" Target="/ppt/slideMasters/slideMaster1.xml" Id="R285fd46beab74303" /><Relationship Type="http://schemas.openxmlformats.org/officeDocument/2006/relationships/notesMaster" Target="/ppt/notesMasters/notesMaster1.xml" Id="R7144870f05264fa4" /><Relationship Type="http://schemas.openxmlformats.org/officeDocument/2006/relationships/presProps" Target="/ppt/presProps.xml" Id="R077b41b49d1f4afc" /><Relationship Type="http://schemas.openxmlformats.org/officeDocument/2006/relationships/tableStyles" Target="/ppt/tableStyles.xml" Id="R30fcdacd8291471f" /><Relationship Type="http://schemas.openxmlformats.org/officeDocument/2006/relationships/slide" Target="/ppt/slides/slide1.xml" Id="R6a29bd02e89f4a1e" /><Relationship Type="http://schemas.openxmlformats.org/officeDocument/2006/relationships/slide" Target="/ppt/slides/slide2.xml" Id="Re1972c1b11794b76" /><Relationship Type="http://schemas.openxmlformats.org/officeDocument/2006/relationships/slide" Target="/ppt/slides/slide3.xml" Id="R6417d1eb02f64c0a" /><Relationship Type="http://schemas.openxmlformats.org/officeDocument/2006/relationships/slide" Target="/ppt/slides/slide4.xml" Id="R7330b9c0ad3b49a7" /><Relationship Type="http://schemas.openxmlformats.org/officeDocument/2006/relationships/slide" Target="/ppt/slides/slide5.xml" Id="R0b6fba42ad514fb3" /><Relationship Type="http://schemas.openxmlformats.org/officeDocument/2006/relationships/slide" Target="/ppt/slides/slide6.xml" Id="R82c2c64b158b462f" /><Relationship Type="http://schemas.openxmlformats.org/officeDocument/2006/relationships/slide" Target="/ppt/slides/slide7.xml" Id="R7f5417fc460c461b" /><Relationship Type="http://schemas.openxmlformats.org/officeDocument/2006/relationships/slide" Target="/ppt/slides/slide8.xml" Id="R851144f806314040" /><Relationship Type="http://schemas.openxmlformats.org/officeDocument/2006/relationships/slide" Target="/ppt/slides/slide9.xml" Id="R1c0f9dcdcd484f8a" /><Relationship Type="http://schemas.openxmlformats.org/officeDocument/2006/relationships/slide" Target="/ppt/slides/slide10.xml" Id="Rde6c7af5a5fb4f67" /><Relationship Type="http://schemas.openxmlformats.org/officeDocument/2006/relationships/slide" Target="/ppt/slides/slide11.xml" Id="Rc65b9e6e755d483b" /><Relationship Type="http://schemas.openxmlformats.org/officeDocument/2006/relationships/slide" Target="/ppt/slides/slide12.xml" Id="R50d9ca45df1f4861" /><Relationship Type="http://schemas.openxmlformats.org/officeDocument/2006/relationships/slide" Target="/ppt/slides/slide13.xml" Id="R891af2d84e694de8" /><Relationship Type="http://schemas.openxmlformats.org/officeDocument/2006/relationships/slide" Target="/ppt/slides/slide14.xml" Id="R06413c74b0bd41e8" /><Relationship Type="http://schemas.openxmlformats.org/officeDocument/2006/relationships/slide" Target="/ppt/slides/slide15.xml" Id="R99fcebb5cc874733" /><Relationship Type="http://schemas.openxmlformats.org/officeDocument/2006/relationships/slide" Target="/ppt/slides/slide16.xml" Id="Re4b6abe77f2e4b0b" /><Relationship Type="http://schemas.openxmlformats.org/officeDocument/2006/relationships/slide" Target="/ppt/slides/slide17.xml" Id="R6ce5a3fbb33a4fab" /><Relationship Type="http://schemas.openxmlformats.org/officeDocument/2006/relationships/slide" Target="/ppt/slides/slide18.xml" Id="Rbdbdc28d58794f67" /><Relationship Type="http://schemas.openxmlformats.org/officeDocument/2006/relationships/slide" Target="/ppt/slides/slide19.xml" Id="R573a99f835a54d58" /><Relationship Type="http://schemas.openxmlformats.org/officeDocument/2006/relationships/slide" Target="/ppt/slides/slide20.xml" Id="R56d3027a1e22406a" /><Relationship Type="http://schemas.openxmlformats.org/officeDocument/2006/relationships/slide" Target="/ppt/slides/slide21.xml" Id="R17133254bf2f467d" /><Relationship Type="http://schemas.openxmlformats.org/officeDocument/2006/relationships/slide" Target="/ppt/slides/slide22.xml" Id="Rd62e4a2dcc274f15" /><Relationship Type="http://schemas.openxmlformats.org/officeDocument/2006/relationships/slide" Target="/ppt/slides/slide23.xml" Id="R986de8570b0f4dd4" /><Relationship Type="http://schemas.openxmlformats.org/officeDocument/2006/relationships/slide" Target="/ppt/slides/slide24.xml" Id="R3b222d4315cc422d" /><Relationship Type="http://schemas.openxmlformats.org/officeDocument/2006/relationships/slide" Target="/ppt/slides/slide25.xml" Id="Rf5997f2706734dfc" /><Relationship Type="http://schemas.openxmlformats.org/officeDocument/2006/relationships/slide" Target="/ppt/slides/slide26.xml" Id="R985829019b0742ac" /><Relationship Type="http://schemas.openxmlformats.org/officeDocument/2006/relationships/slide" Target="/ppt/slides/slide27.xml" Id="R12c7576f1fb94240" /><Relationship Type="http://schemas.openxmlformats.org/officeDocument/2006/relationships/slide" Target="/ppt/slides/slide28.xml" Id="R53fde1d04a094b5c" /><Relationship Type="http://schemas.openxmlformats.org/officeDocument/2006/relationships/slide" Target="/ppt/slides/slide29.xml" Id="R4968378c313d4feb" /><Relationship Type="http://schemas.openxmlformats.org/officeDocument/2006/relationships/slide" Target="/ppt/slides/slide30.xml" Id="R9ea594ca34f84540" /><Relationship Type="http://schemas.openxmlformats.org/officeDocument/2006/relationships/slide" Target="/ppt/slides/slide31.xml" Id="R11883bc90ca3496e" /><Relationship Type="http://schemas.openxmlformats.org/officeDocument/2006/relationships/slide" Target="/ppt/slides/slide32.xml" Id="R32242d97601a4e20" /><Relationship Type="http://schemas.openxmlformats.org/officeDocument/2006/relationships/slide" Target="/ppt/slides/slide33.xml" Id="Re061a6525ca3415e" /><Relationship Type="http://schemas.openxmlformats.org/officeDocument/2006/relationships/slide" Target="/ppt/slides/slide34.xml" Id="R92bcbbb3c5b44dd9" /><Relationship Type="http://schemas.openxmlformats.org/officeDocument/2006/relationships/slide" Target="/ppt/slides/slide35.xml" Id="Rc2e48437a5364d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084dd2aa9c4b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6e18175b294358" /><Relationship Type="http://schemas.openxmlformats.org/officeDocument/2006/relationships/notesMaster" Target="/ppt/notesMasters/notesMaster1.xml" Id="R841be5ad9e314b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19a9af539e4079" /><Relationship Type="http://schemas.openxmlformats.org/officeDocument/2006/relationships/notesMaster" Target="/ppt/notesMasters/notesMaster1.xml" Id="R544a10f8305148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77ab1b9b49648a5" /><Relationship Type="http://schemas.openxmlformats.org/officeDocument/2006/relationships/notesMaster" Target="/ppt/notesMasters/notesMaster1.xml" Id="Ra1b7476bea494d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41d24182c94155" /><Relationship Type="http://schemas.openxmlformats.org/officeDocument/2006/relationships/notesMaster" Target="/ppt/notesMasters/notesMaster1.xml" Id="Rab5ccc49ae1b4f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5a9ee82f674f48" /><Relationship Type="http://schemas.openxmlformats.org/officeDocument/2006/relationships/notesMaster" Target="/ppt/notesMasters/notesMaster1.xml" Id="R7c44da15809d48a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cab1a8af1b4f8b" /><Relationship Type="http://schemas.openxmlformats.org/officeDocument/2006/relationships/notesMaster" Target="/ppt/notesMasters/notesMaster1.xml" Id="R03a8a8f70a2d435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ad9b706ff84760" /><Relationship Type="http://schemas.openxmlformats.org/officeDocument/2006/relationships/notesMaster" Target="/ppt/notesMasters/notesMaster1.xml" Id="Rc12dfeab2b104b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79c18a5bc748f1" /><Relationship Type="http://schemas.openxmlformats.org/officeDocument/2006/relationships/notesMaster" Target="/ppt/notesMasters/notesMaster1.xml" Id="R15f2bbea059d4c5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11071403a884345" /><Relationship Type="http://schemas.openxmlformats.org/officeDocument/2006/relationships/notesMaster" Target="/ppt/notesMasters/notesMaster1.xml" Id="Rc4a4424faf55491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4aedd9b943645b6" /><Relationship Type="http://schemas.openxmlformats.org/officeDocument/2006/relationships/notesMaster" Target="/ppt/notesMasters/notesMaster1.xml" Id="Rfd47ee07da7449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02a6badafe4b80" /><Relationship Type="http://schemas.openxmlformats.org/officeDocument/2006/relationships/notesMaster" Target="/ppt/notesMasters/notesMaster1.xml" Id="R6c171899153c4f2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5800f98b28b4f52" /><Relationship Type="http://schemas.openxmlformats.org/officeDocument/2006/relationships/notesMaster" Target="/ppt/notesMasters/notesMaster1.xml" Id="Rde7ae478868d41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23e1ba020eb4058" /><Relationship Type="http://schemas.openxmlformats.org/officeDocument/2006/relationships/notesMaster" Target="/ppt/notesMasters/notesMaster1.xml" Id="R14f23ea1169d45c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98fb06ca08347cb" /><Relationship Type="http://schemas.openxmlformats.org/officeDocument/2006/relationships/notesMaster" Target="/ppt/notesMasters/notesMaster1.xml" Id="R52bf13335dde491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db5996cec6848c9" /><Relationship Type="http://schemas.openxmlformats.org/officeDocument/2006/relationships/notesMaster" Target="/ppt/notesMasters/notesMaster1.xml" Id="R4091e3fc2f844b1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4d1d9b5605343d7" /><Relationship Type="http://schemas.openxmlformats.org/officeDocument/2006/relationships/notesMaster" Target="/ppt/notesMasters/notesMaster1.xml" Id="Ra45f48a2cf95488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5c97df6b9c24a8c" /><Relationship Type="http://schemas.openxmlformats.org/officeDocument/2006/relationships/notesMaster" Target="/ppt/notesMasters/notesMaster1.xml" Id="Rf959befe6d0d436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579b8960f5243ca" /><Relationship Type="http://schemas.openxmlformats.org/officeDocument/2006/relationships/notesMaster" Target="/ppt/notesMasters/notesMaster1.xml" Id="R0dce2a3143474f9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6caefb987214700" /><Relationship Type="http://schemas.openxmlformats.org/officeDocument/2006/relationships/notesMaster" Target="/ppt/notesMasters/notesMaster1.xml" Id="R81d3fcbc7e664f0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4edaa78a00c4eaa" /><Relationship Type="http://schemas.openxmlformats.org/officeDocument/2006/relationships/notesMaster" Target="/ppt/notesMasters/notesMaster1.xml" Id="R100d6532348248b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33170aba0bf4185" /><Relationship Type="http://schemas.openxmlformats.org/officeDocument/2006/relationships/notesMaster" Target="/ppt/notesMasters/notesMaster1.xml" Id="R412517ed723044d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924b222dd744d69" /><Relationship Type="http://schemas.openxmlformats.org/officeDocument/2006/relationships/notesMaster" Target="/ppt/notesMasters/notesMaster1.xml" Id="R6ccc3b6f33cb413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21a0b5698804240" /><Relationship Type="http://schemas.openxmlformats.org/officeDocument/2006/relationships/notesMaster" Target="/ppt/notesMasters/notesMaster1.xml" Id="R216f7286d99c48e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95d720859824324" /><Relationship Type="http://schemas.openxmlformats.org/officeDocument/2006/relationships/notesMaster" Target="/ppt/notesMasters/notesMaster1.xml" Id="R9f379f572d1547d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67755eb971f48c3" /><Relationship Type="http://schemas.openxmlformats.org/officeDocument/2006/relationships/notesMaster" Target="/ppt/notesMasters/notesMaster1.xml" Id="Rdc64bb268bee489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343bb34a3a94aa9" /><Relationship Type="http://schemas.openxmlformats.org/officeDocument/2006/relationships/notesMaster" Target="/ppt/notesMasters/notesMaster1.xml" Id="R157369abd2324d8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3f0265927554d9e" /><Relationship Type="http://schemas.openxmlformats.org/officeDocument/2006/relationships/notesMaster" Target="/ppt/notesMasters/notesMaster1.xml" Id="R471857bac5ea4c5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6f597dc648d427d" /><Relationship Type="http://schemas.openxmlformats.org/officeDocument/2006/relationships/notesMaster" Target="/ppt/notesMasters/notesMaster1.xml" Id="R55e768863c764d8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33a72774aee4711" /><Relationship Type="http://schemas.openxmlformats.org/officeDocument/2006/relationships/notesMaster" Target="/ppt/notesMasters/notesMaster1.xml" Id="Ree5de020107f4be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95445b2a34d4b3d" /><Relationship Type="http://schemas.openxmlformats.org/officeDocument/2006/relationships/notesMaster" Target="/ppt/notesMasters/notesMaster1.xml" Id="R0aaa60940b7d46d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c87ce4d43034eb1" /><Relationship Type="http://schemas.openxmlformats.org/officeDocument/2006/relationships/notesMaster" Target="/ppt/notesMasters/notesMaster1.xml" Id="R7a76bb866c1a497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c5ace44f573419a" /><Relationship Type="http://schemas.openxmlformats.org/officeDocument/2006/relationships/notesMaster" Target="/ppt/notesMasters/notesMaster1.xml" Id="R59c18bb3977547e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3467cd408f547b7" /><Relationship Type="http://schemas.openxmlformats.org/officeDocument/2006/relationships/notesMaster" Target="/ppt/notesMasters/notesMaster1.xml" Id="R26dbaad926d4416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d3a765c5ddc4b42" /><Relationship Type="http://schemas.openxmlformats.org/officeDocument/2006/relationships/notesMaster" Target="/ppt/notesMasters/notesMaster1.xml" Id="Ra044d993cc464f3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52798f95ef641ca" /><Relationship Type="http://schemas.openxmlformats.org/officeDocument/2006/relationships/notesMaster" Target="/ppt/notesMasters/notesMaster1.xml" Id="Rac8b36afc66640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whether a solver's success flag is enough. Today separates the mathematical LP guarantee from the finite tolerances used by numerical software.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Do not reveal the winning mix yet — just the three numbers. Let students sit with the fact that neither pure guess wins.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Name this explicitly as algorithm family #1 of three the course teaches — Week 11 (gradient search) and Week 12 (heuristic search) are the other two.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Tell students the whole arc ends with the identical roof problem solved twice, by two different exact algorithms, with the identical answer — that repetition is deliberate.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Write all three method names on the board now — students will see linprog today, minimize in two weeks, and a genetic algorithm the week after that.</a:t>
            </a:r>
          </a:p>
          <a:p xmlns:a="http://schemas.openxmlformats.org/drawingml/2006/main">
            <a:r>
              <a:t/>
            </a:r>
          </a:p>
          <a:p xmlns:a="http://schemas.openxmlformats.org/drawingml/2006/main">
            <a:r>
              <a:t>[Sources]</a:t>
            </a:r>
          </a:p>
          <a:p xmlns:a="http://schemas.openxmlformats.org/drawingml/2006/main">
            <a:r>
              <a:t>- https://docs.scipy.org/doc/scipy/tutorial/optimize.html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Use the diagram as the overview; the following slides define each piece. Ask which node would change if a skylight became a third choice.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Name x1 and x2 explicitly before the objective/constraint/bounds slides that follow — every one of them is written only in terms of these two 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Let the 60 vs. 25 per-m2 gap sit visibly for a moment — it is exactly the trap the naive 'all-solar' strategy falls into.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out both constraints are straight lines (linear) in x1, x2 — that fact is what makes today's problem solvable exactly, foreshadowed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why a negative area would be meaningless before revealing x &gt;= 0 — ties bounds back to real-world sense-checking, not arbitrary math.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students to name one (x1,x2) pair they are confident is OUTSIDE the feasible region before the chart reveals its shape (e.g., (150,100) breaks both area and the solar bound).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Have students check each candidate against BOTH constraints by hand before revealing the feasible? column — (100,100) is the one most students miss, since it looks 'reasonable' but breaks the 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Trace each of the four edges with a finger while naming which constraint or bound drew it. This flat-sided shape is the direct geometric consequence of every constraint being linear.</a:t>
            </a:r>
          </a:p>
          <a:p xmlns:a="http://schemas.openxmlformats.org/drawingml/2006/main">
            <a:r>
              <a:t/>
            </a:r>
          </a:p>
          <a:p xmlns:a="http://schemas.openxmlformats.org/drawingml/2006/main">
            <a:r>
              <a:t>[Sources]</a:t>
            </a:r>
          </a:p>
          <a:p xmlns:a="http://schemas.openxmlformats.org/drawingml/2006/main">
            <a:r>
              <a:t>- https://docs.scipy.org/doc/scipy/reference/generated/scipy.optimize.linprog.html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back at the candidate-check table: (50,50) was feasible but is NOT a vertex — only the five corners qualify.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Take a vote on all five options before revealing — the structural-cap distractor is the one most students pick, since it was introduced early and sounds important; it turns out not to bind at 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Have students compute at least one row's benefit by hand (e.g., 60*120 = 7200) before revealing the printed value. This table IS the fundamental theorem of linear programming, shown as five arithmetic facts instead of a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Connect back to the vertex table: five corners were enough to find the guaranteed-best point of the entire continuous (x1, x2) plane, which has infinitely many 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Write the general standard-form template on the board, then immediately fill in Radley Hall's numbers next to it — the mapping from words to arrays is today's real skill.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Underline 'no starting guess required' — this is the single biggest procedural difference from Week 11's minimize, worth flagging now so it lands harder in two weeks.</a:t>
            </a:r>
          </a:p>
          <a:p xmlns:a="http://schemas.openxmlformats.org/drawingml/2006/main">
            <a:r>
              <a:t/>
            </a:r>
          </a:p>
          <a:p xmlns:a="http://schemas.openxmlformats.org/drawingml/2006/main">
            <a:r>
              <a:t>[Sources]</a:t>
            </a:r>
          </a:p>
          <a:p xmlns:a="http://schemas.openxmlformats.org/drawingml/2006/main">
            <a:r>
              <a:t>- https://docs.scipy.org/doc/scipy/reference/generated/scipy.optimize.linprog.html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Point at each array and name which formulation piece (objective, constraints, bounds) it holds. The next slide zooms into the actual solver call before it is run.</a:t>
            </a:r>
          </a:p>
          <a:p xmlns:a="http://schemas.openxmlformats.org/drawingml/2006/main">
            <a:r>
              <a:t/>
            </a:r>
          </a:p>
          <a:p xmlns:a="http://schemas.openxmlformats.org/drawingml/2006/main">
            <a:r>
              <a:t>[Sources]</a:t>
            </a:r>
          </a:p>
          <a:p xmlns:a="http://schemas.openxmlformats.org/drawingml/2006/main">
            <a:r>
              <a:t>- https://docs.scipy.org/doc/scipy/reference/generated/scipy.optimize.linprog.html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Walk left to right: c is what to minimize, A_ub/b_ub are the two &lt;= constraints as arrays, bounds are the per-variable limits. Predict the answer next, before the following slide reveals it.</a:t>
            </a:r>
          </a:p>
          <a:p xmlns:a="http://schemas.openxmlformats.org/drawingml/2006/main">
            <a:r>
              <a:t/>
            </a:r>
          </a:p>
          <a:p xmlns:a="http://schemas.openxmlformats.org/drawingml/2006/main">
            <a:r>
              <a:t>[Sources]</a:t>
            </a:r>
          </a:p>
          <a:p xmlns:a="http://schemas.openxmlformats.org/drawingml/2006/main">
            <a:r>
              <a:t>- https://docs.scipy.org/doc/scipy/reference/generated/scipy.optimize.linprog.html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Take a vote before revealing — most students can already reason this out from the vertex table two slides back. This is a genuine prediction, not a blind guess: they have every number needed already.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Run this live if possible. Confirm it matches your prediction from the last slide before revealing -res.fun. Verified against real scipy 1.17.1.</a:t>
            </a:r>
          </a:p>
          <a:p xmlns:a="http://schemas.openxmlformats.org/drawingml/2006/main">
            <a:r>
              <a:t/>
            </a:r>
          </a:p>
          <a:p xmlns:a="http://schemas.openxmlformats.org/drawingml/2006/main">
            <a:r>
              <a:t>[Sources]</a:t>
            </a:r>
          </a:p>
          <a:p xmlns:a="http://schemas.openxmlformats.org/drawingml/2006/main">
            <a:r>
              <a:t>- https://docs.scipy.org/doc/scipy/reference/generated/scipy.optimize.linprog.html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Ask which naive strategy students would have picked before seeing this table — most guess all-solar, since it has the higher per-m2 return. The mixed answer is the whole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Sketch the walk on the feasible-region chart: (0,0) -&gt; (120,0) -&gt; (120,13.3) -&gt; (80,120), improving at every step, stopping because (0,200) is worse.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Reassure students they do not need to choose a method by default — 'highs' picks one — but that method='highs-ds' or 'highs-ipm' exist if they want to force a specific one, shown next.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Trace this as an illustrative corner path, naming the benefit at each visited vertex; do not claim HiGHS exposes or must follow this exact internal route. Interior-point methods instead approach an optimum through the feasible region's interior.</a:t>
            </a:r>
          </a:p>
          <a:p xmlns:a="http://schemas.openxmlformats.org/drawingml/2006/main">
            <a:r>
              <a:t/>
            </a:r>
          </a:p>
          <a:p xmlns:a="http://schemas.openxmlformats.org/drawingml/2006/main">
            <a:r>
              <a:t>[Sources]</a:t>
            </a:r>
          </a:p>
          <a:p xmlns:a="http://schemas.openxmlformats.org/drawingml/2006/main">
            <a:r>
              <a:t>- https://docs.scipy.org/doc/scipy/tutorial/optimize.html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This is the sharpest possible contrast to set up for Week 11: there, changing the starting guess changes the answer. Here, changing the entire algorithm changes nothing.</a:t>
            </a:r>
          </a:p>
          <a:p xmlns:a="http://schemas.openxmlformats.org/drawingml/2006/main">
            <a:r>
              <a:t/>
            </a:r>
          </a:p>
          <a:p xmlns:a="http://schemas.openxmlformats.org/drawingml/2006/main">
            <a:r>
              <a:t>[Sources]</a:t>
            </a:r>
          </a:p>
          <a:p xmlns:a="http://schemas.openxmlformats.org/drawingml/2006/main">
            <a:r>
              <a:t>- https://docs.scipy.org/doc/scipy/reference/generated/scipy.optimize.linprog.html</a:t>
            </a:r>
          </a:p>
          <a:p xmlns:a="http://schemas.openxmlformats.org/drawingml/2006/main">
            <a:r>
              <a:t>- https://docs.scipy.org/doc/scipy/tutorial/optimize.html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Point at each line and name which earlier slide it came from: c and A_ub/b_ub/bounds from the standard-form slide, linprog from the solve slide, area_used and cost_used from the vertex table's own arithmetic. Then ask why the $400/m2 install cost is NOT a parameter — because nothing in this problem ever changes it, while the approved budget plainly does.</a:t>
            </a:r>
          </a:p>
          <a:p xmlns:a="http://schemas.openxmlformats.org/drawingml/2006/main">
            <a:r>
              <a:t/>
            </a:r>
          </a:p>
          <a:p xmlns:a="http://schemas.openxmlformats.org/drawingml/2006/main">
            <a:r>
              <a:t>[Sources]</a:t>
            </a:r>
          </a:p>
          <a:p xmlns:a="http://schemas.openxmlformats.org/drawingml/2006/main">
            <a:r>
              <a:t>- https://docs.scipy.org/doc/scipy/reference/generated/scipy.optimize.linprog.html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Ask what would have to change to test a third budget — one more number in the list on the for line. That is the whole payoff: the formulation was written once and audited once, then reused. Verified against real scipy 1.17.1.</a:t>
            </a:r>
          </a:p>
          <a:p xmlns:a="http://schemas.openxmlformats.org/drawingml/2006/main">
            <a:r>
              <a:t/>
            </a:r>
          </a:p>
          <a:p xmlns:a="http://schemas.openxmlformats.org/drawingml/2006/main">
            <a:r>
              <a:t>[Sources]</a:t>
            </a:r>
          </a:p>
          <a:p xmlns:a="http://schemas.openxmlformats.org/drawingml/2006/main">
            <a:r>
              <a:t>- https://docs.scipy.org/doc/scipy/reference/generated/scipy.optimize.linprog.html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Name Week 11 explicitly here — students should leave today knowing exactly which problems get this shortcut and which do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Name Project 2 Part II explicitly — both linprog (today) and minimize (Week 11) are required components of that assignment, not optional alternatives to pick between.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Most students guess (120,0) or (120,13.3), since solar has the higher per-m2 return — use the miss to reinforce that per-unit return alone cannot decide a constrained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Expected formulation: x_wall and x_roof in m²; maximize 9x_wall + 7x_roof; x_wall + x_roof &lt;= 400; 120x_wall + 80x_roof &lt;= 50000; x&gt;=0. Verified optimum (not required here): (400,0), $3,600/yr; surface binds and budget has slack. The hand-check makes formulation errors visible before linprog is allowed to declare success.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Exit ticket: students name, in one sentence, which two constraints bind at Radley Hall's optimal roof split, with the numbers.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f6c5f9ba954e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0eeb51d660446c" /><Relationship Type="http://schemas.openxmlformats.org/officeDocument/2006/relationships/slideLayout" Target="/ppt/slideLayouts/slideLayout1.xml" Id="R43fa1708bc1c4f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fa1708bc1c4f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5d03f80bf14c8e" /><Relationship Type="http://schemas.openxmlformats.org/officeDocument/2006/relationships/notesSlide" Target="/ppt/notesSlides/notesSlide1.xml" Id="R65b3821b2b6145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19753bbba1d4a30" /><Relationship Type="http://schemas.openxmlformats.org/officeDocument/2006/relationships/notesSlide" Target="/ppt/notesSlides/notesSlide2.xml" Id="R3c6eee3db08a4c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0a17ffc69344b1" /><Relationship Type="http://schemas.openxmlformats.org/officeDocument/2006/relationships/notesSlide" Target="/ppt/notesSlides/notesSlide3.xml" Id="R25afec71cea348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20aa0c0b2934f6b" /><Relationship Type="http://schemas.openxmlformats.org/officeDocument/2006/relationships/notesSlide" Target="/ppt/notesSlides/notesSlide4.xml" Id="R8f4c1b3ceaa943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2b34f123cb74e6e" /><Relationship Type="http://schemas.openxmlformats.org/officeDocument/2006/relationships/notesSlide" Target="/ppt/notesSlides/notesSlide5.xml" Id="Rf930b5fbbea842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189a71ad1bf4fef" /><Relationship Type="http://schemas.openxmlformats.org/officeDocument/2006/relationships/notesSlide" Target="/ppt/notesSlides/notesSlide6.xml" Id="R118929285d544e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b8ee71a9ca64975" /><Relationship Type="http://schemas.openxmlformats.org/officeDocument/2006/relationships/notesSlide" Target="/ppt/notesSlides/notesSlide7.xml" Id="R2b9675d6df624e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9c9339dfb0f4153" /><Relationship Type="http://schemas.openxmlformats.org/officeDocument/2006/relationships/notesSlide" Target="/ppt/notesSlides/notesSlide8.xml" Id="Rdfbb45801e274b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6c455c3136b4cd4" /><Relationship Type="http://schemas.openxmlformats.org/officeDocument/2006/relationships/notesSlide" Target="/ppt/notesSlides/notesSlide9.xml" Id="R31a1f7500d7948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3170b84ea474f45" /><Relationship Type="http://schemas.openxmlformats.org/officeDocument/2006/relationships/notesSlide" Target="/ppt/notesSlides/notesSlide10.xml" Id="Rf66a942f42b440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29d242d19644b57" /><Relationship Type="http://schemas.openxmlformats.org/officeDocument/2006/relationships/notesSlide" Target="/ppt/notesSlides/notesSlide11.xml" Id="Rad7748c4e3144e7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6592b96ff22478e" /><Relationship Type="http://schemas.openxmlformats.org/officeDocument/2006/relationships/notesSlide" Target="/ppt/notesSlides/notesSlide12.xml" Id="Rc9267100679b4eb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5041bf695624561" /><Relationship Type="http://schemas.openxmlformats.org/officeDocument/2006/relationships/chart" Target="/ppt/slides/charts/chart1.xml" Id="Re4034bc1da1e4798" /><Relationship Type="http://schemas.openxmlformats.org/officeDocument/2006/relationships/notesSlide" Target="/ppt/notesSlides/notesSlide13.xml" Id="Rf0bf85cdf315488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4c75355bbb54832" /><Relationship Type="http://schemas.openxmlformats.org/officeDocument/2006/relationships/notesSlide" Target="/ppt/notesSlides/notesSlide14.xml" Id="R3adfc8749a424c8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e156731cd8a4807" /><Relationship Type="http://schemas.openxmlformats.org/officeDocument/2006/relationships/notesSlide" Target="/ppt/notesSlides/notesSlide15.xml" Id="R9e7e2fdb459849e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9574994ca254a31" /><Relationship Type="http://schemas.openxmlformats.org/officeDocument/2006/relationships/notesSlide" Target="/ppt/notesSlides/notesSlide16.xml" Id="R7bb31b87b4f24ad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f025ea932614e50" /><Relationship Type="http://schemas.openxmlformats.org/officeDocument/2006/relationships/notesSlide" Target="/ppt/notesSlides/notesSlide17.xml" Id="R98a0359a5ca4409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384a5a38fec4b09" /><Relationship Type="http://schemas.openxmlformats.org/officeDocument/2006/relationships/notesSlide" Target="/ppt/notesSlides/notesSlide18.xml" Id="R52dfb09530aa4e3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332ec6a94e345e4" /><Relationship Type="http://schemas.openxmlformats.org/officeDocument/2006/relationships/notesSlide" Target="/ppt/notesSlides/notesSlide19.xml" Id="R6c6b8393414d4a1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5c255e92dbc4a8c" /><Relationship Type="http://schemas.openxmlformats.org/officeDocument/2006/relationships/notesSlide" Target="/ppt/notesSlides/notesSlide20.xml" Id="Re25184300be8489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42547611f0c41dd" /><Relationship Type="http://schemas.openxmlformats.org/officeDocument/2006/relationships/notesSlide" Target="/ppt/notesSlides/notesSlide21.xml" Id="R9970cb61571948c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5a71d4c93364112" /><Relationship Type="http://schemas.openxmlformats.org/officeDocument/2006/relationships/notesSlide" Target="/ppt/notesSlides/notesSlide22.xml" Id="R78ae11f6e84d411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1b8b297ac534cdc" /><Relationship Type="http://schemas.openxmlformats.org/officeDocument/2006/relationships/notesSlide" Target="/ppt/notesSlides/notesSlide23.xml" Id="R3d1ebbb41003447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83a5f2e423d4ff5" /><Relationship Type="http://schemas.openxmlformats.org/officeDocument/2006/relationships/notesSlide" Target="/ppt/notesSlides/notesSlide24.xml" Id="Rf64ae6d5cc8f482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cba971fa0bb42d3" /><Relationship Type="http://schemas.openxmlformats.org/officeDocument/2006/relationships/notesSlide" Target="/ppt/notesSlides/notesSlide25.xml" Id="Rb3b8e917d15c434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c42ccfd8bfd47e0" /><Relationship Type="http://schemas.openxmlformats.org/officeDocument/2006/relationships/notesSlide" Target="/ppt/notesSlides/notesSlide26.xml" Id="R557691c687194e8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601667e6eb54be0" /><Relationship Type="http://schemas.openxmlformats.org/officeDocument/2006/relationships/chart" Target="/ppt/slides/charts/chart2.xml" Id="Ra13d940464bb4e64" /><Relationship Type="http://schemas.openxmlformats.org/officeDocument/2006/relationships/notesSlide" Target="/ppt/notesSlides/notesSlide27.xml" Id="R6df67386c5d74ef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86ad7106fce4309" /><Relationship Type="http://schemas.openxmlformats.org/officeDocument/2006/relationships/notesSlide" Target="/ppt/notesSlides/notesSlide28.xml" Id="R3aa9cce3ff3d4d1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fc65b9c65e548b6" /><Relationship Type="http://schemas.openxmlformats.org/officeDocument/2006/relationships/notesSlide" Target="/ppt/notesSlides/notesSlide29.xml" Id="R47c21ea8850d44a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f18b9234ebe449a" /><Relationship Type="http://schemas.openxmlformats.org/officeDocument/2006/relationships/notesSlide" Target="/ppt/notesSlides/notesSlide30.xml" Id="R6ae4fbd8d1a847f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00769fed88e4ba5" /><Relationship Type="http://schemas.openxmlformats.org/officeDocument/2006/relationships/notesSlide" Target="/ppt/notesSlides/notesSlide31.xml" Id="R2f929c445af7454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d031131f580489b" /><Relationship Type="http://schemas.openxmlformats.org/officeDocument/2006/relationships/notesSlide" Target="/ppt/notesSlides/notesSlide32.xml" Id="R3e28256411274c7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41e36f556c74a50" /><Relationship Type="http://schemas.openxmlformats.org/officeDocument/2006/relationships/notesSlide" Target="/ppt/notesSlides/notesSlide33.xml" Id="R475167a17056413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b908f9a0fe742d1" /><Relationship Type="http://schemas.openxmlformats.org/officeDocument/2006/relationships/notesSlide" Target="/ppt/notesSlides/notesSlide34.xml" Id="R4427dde5443c4a2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656303151a84491" /><Relationship Type="http://schemas.openxmlformats.org/officeDocument/2006/relationships/notesSlide" Target="/ppt/notesSlides/notesSlide35.xml" Id="R243f6ae5708b4509"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200" b="1">
                <a:solidFill>
                  <a:srgbClr val="111316"/>
                </a:solidFill>
              </a:rPr>
              <a:t>Radley Hall roof: feasible (x1, x2) region</a:t>
            </a:r>
          </a:p>
        </c:rich>
      </c:tx>
      <c:overlay val="0"/>
      <c:txPr>
        <a:bodyPr xmlns:a="http://schemas.openxmlformats.org/drawingml/2006/main" anchorCtr="1"/>
        <a:lstStyle xmlns:a="http://schemas.openxmlformats.org/drawingml/2006/main"/>
        <a:p xmlns:a="http://schemas.openxmlformats.org/drawingml/2006/main">
          <a:pPr>
            <a:defRPr sz="1200" b="1">
              <a:solidFill>
                <a:srgbClr val="111316"/>
              </a:solidFill>
            </a:defRPr>
          </a:pPr>
        </a:p>
      </c:txPr>
    </c:title>
    <c:plotArea>
      <c:scatterChart>
        <c:scatterStyle val="line"/>
        <c:ser>
          <c:idx val="0"/>
          <c:order val="0"/>
          <c:tx>
            <c:v>Feasible region boundary</c:v>
          </c:tx>
          <c:xVal>
            <c:numLit>
              <c:formatCode>General</c:formatCode>
              <c:ptCount val="6"/>
              <c:pt idx="0">
                <c:v>0</c:v>
              </c:pt>
              <c:pt idx="1">
                <c:v>120</c:v>
              </c:pt>
              <c:pt idx="2">
                <c:v>120</c:v>
              </c:pt>
              <c:pt idx="3">
                <c:v>80</c:v>
              </c:pt>
              <c:pt idx="4">
                <c:v>0</c:v>
              </c:pt>
              <c:pt idx="5">
                <c:v>0</c:v>
              </c:pt>
            </c:numLit>
          </c:xVal>
          <c:yVal>
            <c:numLit>
              <c:formatCode>General</c:formatCode>
              <c:ptCount val="6"/>
              <c:pt idx="0">
                <c:v>0</c:v>
              </c:pt>
              <c:pt idx="1">
                <c:v>0</c:v>
              </c:pt>
              <c:pt idx="2">
                <c:v>13.33</c:v>
              </c:pt>
              <c:pt idx="3">
                <c:v>120</c:v>
              </c:pt>
              <c:pt idx="4">
                <c:v>200</c:v>
              </c:pt>
              <c:pt idx="5">
                <c:v>0</c:v>
              </c:pt>
            </c:numLit>
          </c:yVal>
        </c:ser>
        <c:axId val="48650112"/>
        <c:axId val="48672768"/>
      </c:scatterChart>
      <c:valAx>
        <c:axId val="48672768"/>
        <c:scaling>
          <c:orientation val="minMax"/>
          <c:max val="220"/>
          <c:min val="0"/>
        </c:scaling>
        <c:delete val="0"/>
        <c:axPos val="l"/>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x2 — green roof area (m2)</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50112"/>
      </c:valAx>
      <c:valAx>
        <c:axId val="48650112"/>
        <c:scaling>
          <c:orientation val="minMax"/>
          <c:max val="140"/>
          <c:min val="0"/>
        </c:scaling>
        <c:delete val="0"/>
        <c:axPos val="b"/>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x1 — solar area (m2)</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72768"/>
      </c:valAx>
      <c:spPr>
        <a:solidFill xmlns:a="http://schemas.openxmlformats.org/drawingml/2006/main">
          <a:srgbClr val="FFFFFF"/>
        </a:solidFill>
        <a:ln xmlns:a="http://schemas.openxmlformats.org/drawingml/2006/main" w="9525">
          <a:solidFill>
            <a:srgbClr val="B8BCC4"/>
          </a:solidFill>
          <a:prstDash val="solid"/>
        </a:ln>
      </c:spPr>
    </c:plotArea>
    <c:plotVisOnly val="1"/>
  </c:chart>
  <c:spPr>
    <a:solidFill xmlns:a="http://schemas.openxmlformats.org/drawingml/2006/main">
      <a:srgbClr val="FFFFFF"/>
    </a:solidFill>
    <a:ln xmlns:a="http://schemas.openxmlformats.org/drawingml/2006/main" w="9525">
      <a:solidFill>
        <a:srgbClr val="B8BCC4"/>
      </a:solidFill>
      <a:prstDash val="solid"/>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200" b="1">
                <a:solidFill>
                  <a:srgbClr val="111316"/>
                </a:solidFill>
              </a:rPr>
              <a:t>Radley Hall roof: an illustrative simplex path across the feasible region</a:t>
            </a:r>
          </a:p>
        </c:rich>
      </c:tx>
      <c:overlay val="0"/>
      <c:txPr>
        <a:bodyPr xmlns:a="http://schemas.openxmlformats.org/drawingml/2006/main" anchorCtr="1"/>
        <a:lstStyle xmlns:a="http://schemas.openxmlformats.org/drawingml/2006/main"/>
        <a:p xmlns:a="http://schemas.openxmlformats.org/drawingml/2006/main">
          <a:pPr>
            <a:defRPr sz="1200" b="1">
              <a:solidFill>
                <a:srgbClr val="111316"/>
              </a:solidFill>
            </a:defRPr>
          </a:pPr>
        </a:p>
      </c:txPr>
    </c:title>
    <c:plotArea>
      <c:scatterChart>
        <c:scatterStyle val="line"/>
        <c:ser>
          <c:idx val="0"/>
          <c:order val="0"/>
          <c:tx>
            <c:v>Feasible region boundary</c:v>
          </c:tx>
          <c:xVal>
            <c:numLit>
              <c:formatCode>General</c:formatCode>
              <c:ptCount val="6"/>
              <c:pt idx="0">
                <c:v>0</c:v>
              </c:pt>
              <c:pt idx="1">
                <c:v>120</c:v>
              </c:pt>
              <c:pt idx="2">
                <c:v>120</c:v>
              </c:pt>
              <c:pt idx="3">
                <c:v>80</c:v>
              </c:pt>
              <c:pt idx="4">
                <c:v>0</c:v>
              </c:pt>
              <c:pt idx="5">
                <c:v>0</c:v>
              </c:pt>
            </c:numLit>
          </c:xVal>
          <c:yVal>
            <c:numLit>
              <c:formatCode>General</c:formatCode>
              <c:ptCount val="6"/>
              <c:pt idx="0">
                <c:v>0</c:v>
              </c:pt>
              <c:pt idx="1">
                <c:v>0</c:v>
              </c:pt>
              <c:pt idx="2">
                <c:v>13.33</c:v>
              </c:pt>
              <c:pt idx="3">
                <c:v>120</c:v>
              </c:pt>
              <c:pt idx="4">
                <c:v>200</c:v>
              </c:pt>
              <c:pt idx="5">
                <c:v>0</c:v>
              </c:pt>
            </c:numLit>
          </c:yVal>
        </c:ser>
        <c:ser>
          <c:idx val="1"/>
          <c:order val="1"/>
          <c:tx>
            <c:v>Illustrative simplex path</c:v>
          </c:tx>
          <c:xVal>
            <c:numLit>
              <c:formatCode>General</c:formatCode>
              <c:ptCount val="4"/>
              <c:pt idx="0">
                <c:v>0</c:v>
              </c:pt>
              <c:pt idx="1">
                <c:v>120</c:v>
              </c:pt>
              <c:pt idx="2">
                <c:v>120</c:v>
              </c:pt>
              <c:pt idx="3">
                <c:v>80</c:v>
              </c:pt>
            </c:numLit>
          </c:xVal>
          <c:yVal>
            <c:numLit>
              <c:formatCode>General</c:formatCode>
              <c:ptCount val="4"/>
              <c:pt idx="0">
                <c:v>0</c:v>
              </c:pt>
              <c:pt idx="1">
                <c:v>0</c:v>
              </c:pt>
              <c:pt idx="2">
                <c:v>13.33</c:v>
              </c:pt>
              <c:pt idx="3">
                <c:v>120</c:v>
              </c:pt>
            </c:numLit>
          </c:yVal>
        </c:ser>
        <c:axId val="48650112"/>
        <c:axId val="48672768"/>
      </c:scatterChart>
      <c:valAx>
        <c:axId val="48672768"/>
        <c:scaling>
          <c:orientation val="minMax"/>
          <c:max val="220"/>
          <c:min val="0"/>
        </c:scaling>
        <c:delete val="0"/>
        <c:axPos val="l"/>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x2 — green roof area (m2)</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50112"/>
      </c:valAx>
      <c:valAx>
        <c:axId val="48650112"/>
        <c:scaling>
          <c:orientation val="minMax"/>
          <c:max val="140"/>
          <c:min val="0"/>
        </c:scaling>
        <c:delete val="0"/>
        <c:axPos val="b"/>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x1 — solar area (m2)</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72768"/>
      </c:valAx>
      <c:spPr>
        <a:solidFill xmlns:a="http://schemas.openxmlformats.org/drawingml/2006/main">
          <a:srgbClr val="FFFFFF"/>
        </a:solidFill>
        <a:ln xmlns:a="http://schemas.openxmlformats.org/drawingml/2006/main" w="9525">
          <a:solidFill>
            <a:srgbClr val="B8BCC4"/>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legend>
    <c:plotVisOnly val="1"/>
  </c:chart>
  <c:spPr>
    <a:solidFill xmlns:a="http://schemas.openxmlformats.org/drawingml/2006/main">
      <a:srgbClr val="FFFFFF"/>
    </a:solidFill>
    <a:ln xmlns:a="http://schemas.openxmlformats.org/drawingml/2006/main" w="9525">
      <a:solidFill>
        <a:srgbClr val="B8BCC4"/>
      </a:solidFill>
      <a:prstDash val="solid"/>
    </a:ln>
  </c:spPr>
</c:chartSpace>
</file>

<file path=ppt/slides/slide1.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9" name="course-mark">
            <a:extLst xmlns:a="http://schemas.openxmlformats.org/drawingml/2006/main">
              <a:ext uri="{FF2B5EF4-FFF2-40B4-BE49-F238E27FC236}">
                <a16:creationId xmlns:a16="http://schemas.microsoft.com/office/drawing/2014/main" id="{3993BF5C-F0D2-42D5-9156-63DC002BC573}"/>
              </a:ext>
            </a:extLst>
          </p:cNvPr>
          <p:cNvSpPr>
            <a:spLocks xmlns:a="http://schemas.openxmlformats.org/drawingml/2006/main" noGrp="1"/>
          </p:cNvSpPr>
          <p:nvPr/>
        </p:nvSpPr>
        <p:spPr>
          <a:xfrm xmlns:a="http://schemas.openxmlformats.org/drawingml/2006/main">
            <a:off x="609600" y="457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FFFFFF"/>
                </a:solidFill>
                <a:latin typeface="Arial"/>
                <a:ea typeface="Arial"/>
                <a:cs typeface="Arial"/>
              </a:defRPr>
            </a:pPr>
            <a:r>
              <a:rPr sz="1800" b="1">
                <a:solidFill>
                  <a:srgbClr val="FFFFFF"/>
                </a:solidFill>
                <a:latin typeface="Arial"/>
                <a:ea typeface="Arial"/>
                <a:cs typeface="Arial"/>
              </a:rPr>
              <a:t>&lt;&gt;  ARC 500</a:t>
            </a:r>
          </a:p>
        </p:txBody>
      </p:sp>
      <p:sp>
        <p:nvSpPr>
          <p:cNvPr id="2" name="course-full-title">
            <a:extLst xmlns:a="http://schemas.openxmlformats.org/drawingml/2006/main">
              <a:ext uri="{FF2B5EF4-FFF2-40B4-BE49-F238E27FC236}">
                <a16:creationId xmlns:a16="http://schemas.microsoft.com/office/drawing/2014/main" id="{09AD54E9-2456-4FBC-91B7-D591BE063CAC}"/>
              </a:ext>
            </a:extLst>
          </p:cNvPr>
          <p:cNvSpPr>
            <a:spLocks xmlns:a="http://schemas.openxmlformats.org/drawingml/2006/main" noGrp="1"/>
          </p:cNvSpPr>
          <p:nvPr/>
        </p:nvSpPr>
        <p:spPr>
          <a:xfrm xmlns:a="http://schemas.openxmlformats.org/drawingml/2006/main">
            <a:off x="609600" y="81915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9AA1AC"/>
                </a:solidFill>
                <a:latin typeface="Arial"/>
                <a:ea typeface="Arial"/>
                <a:cs typeface="Arial"/>
              </a:defRPr>
            </a:pPr>
            <a:r>
              <a:rPr sz="900" b="0">
                <a:solidFill>
                  <a:srgbClr val="9AA1AC"/>
                </a:solidFill>
                <a:latin typeface="Arial"/>
                <a:ea typeface="Arial"/>
                <a:cs typeface="Arial"/>
              </a:rPr>
              <a:t>Programming with Python and Generative AI  ·  Scripting, Data Analysis, Visualization, Problem-Solving, and Optimization</a:t>
            </a:r>
          </a:p>
        </p:txBody>
      </p:sp>
      <p:sp>
        <p:nvSpPr>
          <p:cNvPr id="3" name="accent-bar">
            <a:extLst xmlns:a="http://schemas.openxmlformats.org/drawingml/2006/main">
              <a:ext uri="{FF2B5EF4-FFF2-40B4-BE49-F238E27FC236}">
                <a16:creationId xmlns:a16="http://schemas.microsoft.com/office/drawing/2014/main" id="{BD5D04EE-AD96-414A-83B7-688079D06C4F}"/>
              </a:ext>
            </a:extLst>
          </p:cNvPr>
          <p:cNvSpPr>
            <a:spLocks xmlns:a="http://schemas.openxmlformats.org/drawingml/2006/main" noGrp="1"/>
          </p:cNvSpPr>
          <p:nvPr/>
        </p:nvSpPr>
        <p:spPr>
          <a:xfrm xmlns:a="http://schemas.openxmlformats.org/drawingml/2006/main">
            <a:off x="609600" y="1333500"/>
            <a:ext cx="133350" cy="2857500"/>
          </a:xfrm>
          <a:prstGeom xmlns:a="http://schemas.openxmlformats.org/drawingml/2006/main" prst="rect">
            <a:avLst/>
          </a:prstGeom>
          <a:solidFill xmlns:a="http://schemas.openxmlformats.org/drawingml/2006/main">
            <a:srgbClr val="2E74B5"/>
          </a:solidFill>
          <a:ln xmlns:a="http://schemas.openxmlformats.org/drawingml/2006/main" w="0">
            <a:noFill/>
            <a:prstDash val="solid"/>
          </a:ln>
        </p:spPr>
      </p:sp>
      <p:sp>
        <p:nvSpPr>
          <p:cNvPr id="4" name="week-label">
            <a:extLst xmlns:a="http://schemas.openxmlformats.org/drawingml/2006/main">
              <a:ext uri="{FF2B5EF4-FFF2-40B4-BE49-F238E27FC236}">
                <a16:creationId xmlns:a16="http://schemas.microsoft.com/office/drawing/2014/main" id="{6B09A19D-FB8F-4844-8974-0207FA14C501}"/>
              </a:ext>
            </a:extLst>
          </p:cNvPr>
          <p:cNvSpPr>
            <a:spLocks xmlns:a="http://schemas.openxmlformats.org/drawingml/2006/main" noGrp="1"/>
          </p:cNvSpPr>
          <p:nvPr/>
        </p:nvSpPr>
        <p:spPr>
          <a:xfrm xmlns:a="http://schemas.openxmlformats.org/drawingml/2006/main">
            <a:off x="1028700" y="13525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10 · MEETING A · OPTIMIZATION I: FORMULATION AND LINEAR SOLVERS</a:t>
            </a:r>
          </a:p>
        </p:txBody>
      </p:sp>
      <p:sp>
        <p:nvSpPr>
          <p:cNvPr id="5" name="deck-title">
            <a:extLst xmlns:a="http://schemas.openxmlformats.org/drawingml/2006/main">
              <a:ext uri="{FF2B5EF4-FFF2-40B4-BE49-F238E27FC236}">
                <a16:creationId xmlns:a16="http://schemas.microsoft.com/office/drawing/2014/main" id="{35B19455-8FD5-498F-8F39-610DBD9E9D46}"/>
              </a:ext>
            </a:extLst>
          </p:cNvPr>
          <p:cNvSpPr>
            <a:spLocks xmlns:a="http://schemas.openxmlformats.org/drawingml/2006/main" noGrp="1"/>
          </p:cNvSpPr>
          <p:nvPr/>
        </p:nvSpPr>
        <p:spPr>
          <a:xfrm xmlns:a="http://schemas.openxmlformats.org/drawingml/2006/main">
            <a:off x="1028700" y="17716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500" b="1">
                <a:solidFill>
                  <a:srgbClr val="FFFFFF"/>
                </a:solidFill>
                <a:latin typeface="Arial"/>
                <a:ea typeface="Arial"/>
                <a:cs typeface="Arial"/>
              </a:defRPr>
            </a:pPr>
            <a:r>
              <a:rPr sz="4500" b="1">
                <a:solidFill>
                  <a:srgbClr val="FFFFFF"/>
                </a:solidFill>
                <a:latin typeface="Arial"/>
                <a:ea typeface="Arial"/>
                <a:cs typeface="Arial"/>
              </a:rPr>
              <a:t>Formulate a linear model, then solve it with a global guarantee</a:t>
            </a:r>
          </a:p>
        </p:txBody>
      </p:sp>
      <p:sp>
        <p:nvSpPr>
          <p:cNvPr id="6" name="deck-subtitle">
            <a:extLst xmlns:a="http://schemas.openxmlformats.org/drawingml/2006/main">
              <a:ext uri="{FF2B5EF4-FFF2-40B4-BE49-F238E27FC236}">
                <a16:creationId xmlns:a16="http://schemas.microsoft.com/office/drawing/2014/main" id="{873AF646-B5D3-4D2F-8865-434A4FCC5AA1}"/>
              </a:ext>
            </a:extLst>
          </p:cNvPr>
          <p:cNvSpPr>
            <a:spLocks xmlns:a="http://schemas.openxmlformats.org/drawingml/2006/main" noGrp="1"/>
          </p:cNvSpPr>
          <p:nvPr/>
        </p:nvSpPr>
        <p:spPr>
          <a:xfrm xmlns:a="http://schemas.openxmlformats.org/drawingml/2006/main">
            <a:off x="1028700" y="3848100"/>
            <a:ext cx="9144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D7D9DC"/>
                </a:solidFill>
                <a:latin typeface="Arial"/>
                <a:ea typeface="Arial"/>
                <a:cs typeface="Arial"/>
              </a:defRPr>
            </a:pPr>
            <a:r>
              <a:rPr sz="2100" b="0">
                <a:solidFill>
                  <a:srgbClr val="D7D9DC"/>
                </a:solidFill>
                <a:latin typeface="Arial"/>
                <a:ea typeface="Arial"/>
                <a:cs typeface="Arial"/>
              </a:rPr>
              <a:t>Design variables, objectives, constraints, bounds, feasible regions, and numerical tolerances</a:t>
            </a:r>
          </a:p>
        </p:txBody>
      </p:sp>
      <p:sp>
        <p:nvSpPr>
          <p:cNvPr id="7" name="">
            <a:extLst xmlns:a="http://schemas.openxmlformats.org/drawingml/2006/main">
              <a:ext uri="{FF2B5EF4-FFF2-40B4-BE49-F238E27FC236}">
                <a16:creationId xmlns:a16="http://schemas.microsoft.com/office/drawing/2014/main" id="{B04E74B8-C770-4A33-9DC7-DA96E0F01B50}"/>
              </a:ext>
            </a:extLst>
          </p:cNvPr>
          <p:cNvSpPr>
            <a:spLocks xmlns:a="http://schemas.openxmlformats.org/drawingml/2006/main" noGrp="1"/>
          </p:cNvSpPr>
          <p:nvPr/>
        </p:nvSpPr>
        <p:spPr>
          <a:xfrm xmlns:a="http://schemas.openxmlformats.org/drawingml/2006/main">
            <a:off x="1028700" y="5295900"/>
            <a:ext cx="2476500" cy="0"/>
          </a:xfrm>
          <a:prstGeom xmlns:a="http://schemas.openxmlformats.org/drawingml/2006/main" prst="line">
            <a:avLst/>
          </a:prstGeom>
          <a:noFill xmlns:a="http://schemas.openxmlformats.org/drawingml/2006/main"/>
          <a:ln xmlns:a="http://schemas.openxmlformats.org/drawingml/2006/main" w="9525">
            <a:solidFill>
              <a:srgbClr val="FFFFFF"/>
            </a:solidFill>
            <a:prstDash val="solid"/>
          </a:ln>
        </p:spPr>
      </p:sp>
      <p:sp>
        <p:nvSpPr>
          <p:cNvPr id="8" name="instructor">
            <a:extLst xmlns:a="http://schemas.openxmlformats.org/drawingml/2006/main">
              <a:ext uri="{FF2B5EF4-FFF2-40B4-BE49-F238E27FC236}">
                <a16:creationId xmlns:a16="http://schemas.microsoft.com/office/drawing/2014/main" id="{AE81B00E-D472-4F87-90C9-75979A8025A8}"/>
              </a:ext>
            </a:extLst>
          </p:cNvPr>
          <p:cNvSpPr>
            <a:spLocks xmlns:a="http://schemas.openxmlformats.org/drawingml/2006/main" noGrp="1"/>
          </p:cNvSpPr>
          <p:nvPr/>
        </p:nvSpPr>
        <p:spPr>
          <a:xfrm xmlns:a="http://schemas.openxmlformats.org/drawingml/2006/main">
            <a:off x="1028700" y="55245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0">
                <a:solidFill>
                  <a:srgbClr val="D7D9DC"/>
                </a:solidFill>
                <a:latin typeface="Arial"/>
                <a:ea typeface="Arial"/>
                <a:cs typeface="Arial"/>
              </a:defRPr>
            </a:pPr>
            <a:r>
              <a:rPr sz="1200" b="0">
                <a:solidFill>
                  <a:srgbClr val="D7D9DC"/>
                </a:solidFill>
                <a:latin typeface="Arial"/>
                <a:ea typeface="Arial"/>
                <a:cs typeface="Arial"/>
              </a:rPr>
              <a:t>JunHo Chun, PhD  ·  School of Architecture  ·  Syracuse University  ·  Fall 2026</a:t>
            </a:r>
          </a:p>
        </p:txBody>
      </p:sp>
    </p:spTree>
    <p:extLst>
      <p:ext uri="{BB962C8B-B14F-4D97-AF65-F5344CB8AC3E}">
        <p14:creationId xmlns:p14="http://schemas.microsoft.com/office/powerpoint/2010/main" val="39610909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E29BA177-2FF4-4960-A484-C83F6C67BA9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PRINCIPLE</a:t>
            </a:r>
          </a:p>
        </p:txBody>
      </p:sp>
      <p:sp>
        <p:nvSpPr>
          <p:cNvPr id="2" name="title">
            <a:extLst xmlns:a="http://schemas.openxmlformats.org/drawingml/2006/main">
              <a:ext uri="{FF2B5EF4-FFF2-40B4-BE49-F238E27FC236}">
                <a16:creationId xmlns:a16="http://schemas.microsoft.com/office/drawing/2014/main" id="{4AC79D02-5D16-4975-BD1F-1099E512A3E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Formulate before you decide</a:t>
            </a:r>
          </a:p>
        </p:txBody>
      </p:sp>
      <p:sp>
        <p:nvSpPr>
          <p:cNvPr id="3" name="">
            <a:extLst xmlns:a="http://schemas.openxmlformats.org/drawingml/2006/main">
              <a:ext uri="{FF2B5EF4-FFF2-40B4-BE49-F238E27FC236}">
                <a16:creationId xmlns:a16="http://schemas.microsoft.com/office/drawing/2014/main" id="{A9B28C9B-3BE7-43DF-BB80-6AAC54958ED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5F5B355-BF5E-479F-92A3-AE76BAFF3AA5}"/>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F461F6FA-61EE-4FEC-A71A-8469FDF7430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02</a:t>
            </a:r>
          </a:p>
        </p:txBody>
      </p:sp>
      <p:sp>
        <p:nvSpPr>
          <p:cNvPr id="6" name="statement">
            <a:extLst xmlns:a="http://schemas.openxmlformats.org/drawingml/2006/main">
              <a:ext uri="{FF2B5EF4-FFF2-40B4-BE49-F238E27FC236}">
                <a16:creationId xmlns:a16="http://schemas.microsoft.com/office/drawing/2014/main" id="{B06265B0-2FD3-48CF-AE61-A6F808E9F339}"/>
              </a:ext>
            </a:extLst>
          </p:cNvPr>
          <p:cNvSpPr>
            <a:spLocks xmlns:a="http://schemas.openxmlformats.org/drawingml/2006/main" noGrp="1"/>
          </p:cNvSpPr>
          <p:nvPr/>
        </p:nvSpPr>
        <p:spPr>
          <a:xfrm xmlns:a="http://schemas.openxmlformats.org/drawingml/2006/main">
            <a:off x="609600" y="2076450"/>
            <a:ext cx="9829800" cy="20513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11316"/>
                </a:solidFill>
                <a:latin typeface="Arial"/>
                <a:ea typeface="Arial"/>
                <a:cs typeface="Arial"/>
              </a:defRPr>
            </a:pPr>
            <a:r>
              <a:rPr sz="3600" b="1">
                <a:solidFill>
                  <a:srgbClr val="111316"/>
                </a:solidFill>
                <a:latin typeface="Arial"/>
                <a:ea typeface="Arial"/>
                <a:cs typeface="Arial"/>
              </a:rPr>
              <a:t>A real optimization problem is stated in variables, an objective, and constraints — not chosen by gut feeling.</a:t>
            </a:r>
          </a:p>
        </p:txBody>
      </p:sp>
      <p:sp>
        <p:nvSpPr>
          <p:cNvPr id="7" name="">
            <a:extLst xmlns:a="http://schemas.openxmlformats.org/drawingml/2006/main">
              <a:ext uri="{FF2B5EF4-FFF2-40B4-BE49-F238E27FC236}">
                <a16:creationId xmlns:a16="http://schemas.microsoft.com/office/drawing/2014/main" id="{B636697B-70B4-4D61-A475-53F0E103D99E}"/>
              </a:ext>
            </a:extLst>
          </p:cNvPr>
          <p:cNvSpPr>
            <a:spLocks xmlns:a="http://schemas.openxmlformats.org/drawingml/2006/main" noGrp="1"/>
          </p:cNvSpPr>
          <p:nvPr/>
        </p:nvSpPr>
        <p:spPr>
          <a:xfrm xmlns:a="http://schemas.openxmlformats.org/drawingml/2006/main">
            <a:off x="609600" y="4337304"/>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8" name="supporting">
            <a:extLst xmlns:a="http://schemas.openxmlformats.org/drawingml/2006/main">
              <a:ext uri="{FF2B5EF4-FFF2-40B4-BE49-F238E27FC236}">
                <a16:creationId xmlns:a16="http://schemas.microsoft.com/office/drawing/2014/main" id="{F8F87D97-3848-4103-AE4F-EC0176B23CC1}"/>
              </a:ext>
            </a:extLst>
          </p:cNvPr>
          <p:cNvSpPr>
            <a:spLocks xmlns:a="http://schemas.openxmlformats.org/drawingml/2006/main" noGrp="1"/>
          </p:cNvSpPr>
          <p:nvPr/>
        </p:nvSpPr>
        <p:spPr>
          <a:xfrm xmlns:a="http://schemas.openxmlformats.org/drawingml/2006/main">
            <a:off x="609600" y="4661154"/>
            <a:ext cx="9334500" cy="8717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Radley Hall's roof: an 'obvious' all-solar strategy earns $7,200/yr; an 'obvious' all-green strategy earns $5,000/yr. Today's formulated-and-solved answer earns $7,800/yr — beating both.</a:t>
            </a:r>
          </a:p>
        </p:txBody>
      </p:sp>
    </p:spTree>
    <p:extLst>
      <p:ext uri="{BB962C8B-B14F-4D97-AF65-F5344CB8AC3E}">
        <p14:creationId xmlns:p14="http://schemas.microsoft.com/office/powerpoint/2010/main" val="751008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6021BA09-F020-4712-A4A8-990F2A8516E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LEARNING OUTCOMES</a:t>
            </a:r>
          </a:p>
        </p:txBody>
      </p:sp>
      <p:sp>
        <p:nvSpPr>
          <p:cNvPr id="2" name="title">
            <a:extLst xmlns:a="http://schemas.openxmlformats.org/drawingml/2006/main">
              <a:ext uri="{FF2B5EF4-FFF2-40B4-BE49-F238E27FC236}">
                <a16:creationId xmlns:a16="http://schemas.microsoft.com/office/drawing/2014/main" id="{63324FF1-748C-4418-996E-C711205C45B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By the end, you should be able to…</a:t>
            </a:r>
          </a:p>
        </p:txBody>
      </p:sp>
      <p:sp>
        <p:nvSpPr>
          <p:cNvPr id="3" name="">
            <a:extLst xmlns:a="http://schemas.openxmlformats.org/drawingml/2006/main">
              <a:ext uri="{FF2B5EF4-FFF2-40B4-BE49-F238E27FC236}">
                <a16:creationId xmlns:a16="http://schemas.microsoft.com/office/drawing/2014/main" id="{8E8DF1E9-7A1F-4F16-8EC1-0D6C7BF8FAE6}"/>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673EF51-EFA4-4B9D-94E4-884BE55F71A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FE012BCB-5464-48D7-ABC1-9369A95AA0B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03</a:t>
            </a:r>
          </a:p>
        </p:txBody>
      </p:sp>
      <p:sp>
        <p:nvSpPr>
          <p:cNvPr id="6" name="outcome-number-0">
            <a:extLst xmlns:a="http://schemas.openxmlformats.org/drawingml/2006/main">
              <a:ext uri="{FF2B5EF4-FFF2-40B4-BE49-F238E27FC236}">
                <a16:creationId xmlns:a16="http://schemas.microsoft.com/office/drawing/2014/main" id="{C906FD3C-5FD0-4F74-B4B2-540ADC797A9F}"/>
              </a:ext>
            </a:extLst>
          </p:cNvPr>
          <p:cNvSpPr>
            <a:spLocks xmlns:a="http://schemas.openxmlformats.org/drawingml/2006/main" noGrp="1"/>
          </p:cNvSpPr>
          <p:nvPr/>
        </p:nvSpPr>
        <p:spPr>
          <a:xfrm xmlns:a="http://schemas.openxmlformats.org/drawingml/2006/main">
            <a:off x="6096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1</a:t>
            </a:r>
          </a:p>
        </p:txBody>
      </p:sp>
      <p:sp>
        <p:nvSpPr>
          <p:cNvPr id="7" name="outcome-head-0">
            <a:extLst xmlns:a="http://schemas.openxmlformats.org/drawingml/2006/main">
              <a:ext uri="{FF2B5EF4-FFF2-40B4-BE49-F238E27FC236}">
                <a16:creationId xmlns:a16="http://schemas.microsoft.com/office/drawing/2014/main" id="{5C813F6F-ED8C-4565-8953-01BB6F2F1229}"/>
              </a:ext>
            </a:extLst>
          </p:cNvPr>
          <p:cNvSpPr>
            <a:spLocks xmlns:a="http://schemas.openxmlformats.org/drawingml/2006/main" noGrp="1"/>
          </p:cNvSpPr>
          <p:nvPr/>
        </p:nvSpPr>
        <p:spPr>
          <a:xfrm xmlns:a="http://schemas.openxmlformats.org/drawingml/2006/main">
            <a:off x="12001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Define</a:t>
            </a:r>
          </a:p>
        </p:txBody>
      </p:sp>
      <p:sp>
        <p:nvSpPr>
          <p:cNvPr id="8" name="outcome-body-0">
            <a:extLst xmlns:a="http://schemas.openxmlformats.org/drawingml/2006/main">
              <a:ext uri="{FF2B5EF4-FFF2-40B4-BE49-F238E27FC236}">
                <a16:creationId xmlns:a16="http://schemas.microsoft.com/office/drawing/2014/main" id="{7DDABF06-E418-4973-A08A-D6AB27E3B054}"/>
              </a:ext>
            </a:extLst>
          </p:cNvPr>
          <p:cNvSpPr>
            <a:spLocks xmlns:a="http://schemas.openxmlformats.org/drawingml/2006/main" noGrp="1"/>
          </p:cNvSpPr>
          <p:nvPr/>
        </p:nvSpPr>
        <p:spPr>
          <a:xfrm xmlns:a="http://schemas.openxmlformats.org/drawingml/2006/main">
            <a:off x="12001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Name the design variables, objective function, constraints, and bounds for a real design decision.</a:t>
            </a:r>
          </a:p>
        </p:txBody>
      </p:sp>
      <p:sp>
        <p:nvSpPr>
          <p:cNvPr id="9" name="outcome-number-1">
            <a:extLst xmlns:a="http://schemas.openxmlformats.org/drawingml/2006/main">
              <a:ext uri="{FF2B5EF4-FFF2-40B4-BE49-F238E27FC236}">
                <a16:creationId xmlns:a16="http://schemas.microsoft.com/office/drawing/2014/main" id="{B8544C1D-1C64-4CB7-9E9E-FE005F7DA44B}"/>
              </a:ext>
            </a:extLst>
          </p:cNvPr>
          <p:cNvSpPr>
            <a:spLocks xmlns:a="http://schemas.openxmlformats.org/drawingml/2006/main" noGrp="1"/>
          </p:cNvSpPr>
          <p:nvPr/>
        </p:nvSpPr>
        <p:spPr>
          <a:xfrm xmlns:a="http://schemas.openxmlformats.org/drawingml/2006/main">
            <a:off x="63627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2</a:t>
            </a:r>
          </a:p>
        </p:txBody>
      </p:sp>
      <p:sp>
        <p:nvSpPr>
          <p:cNvPr id="10" name="outcome-head-1">
            <a:extLst xmlns:a="http://schemas.openxmlformats.org/drawingml/2006/main">
              <a:ext uri="{FF2B5EF4-FFF2-40B4-BE49-F238E27FC236}">
                <a16:creationId xmlns:a16="http://schemas.microsoft.com/office/drawing/2014/main" id="{FD3BA661-5223-4AC9-9002-96C03187EFA1}"/>
              </a:ext>
            </a:extLst>
          </p:cNvPr>
          <p:cNvSpPr>
            <a:spLocks xmlns:a="http://schemas.openxmlformats.org/drawingml/2006/main" noGrp="1"/>
          </p:cNvSpPr>
          <p:nvPr/>
        </p:nvSpPr>
        <p:spPr>
          <a:xfrm xmlns:a="http://schemas.openxmlformats.org/drawingml/2006/main">
            <a:off x="69532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Formulate</a:t>
            </a:r>
          </a:p>
        </p:txBody>
      </p:sp>
      <p:sp>
        <p:nvSpPr>
          <p:cNvPr id="11" name="outcome-body-1">
            <a:extLst xmlns:a="http://schemas.openxmlformats.org/drawingml/2006/main">
              <a:ext uri="{FF2B5EF4-FFF2-40B4-BE49-F238E27FC236}">
                <a16:creationId xmlns:a16="http://schemas.microsoft.com/office/drawing/2014/main" id="{6C053DC2-45E9-4761-A7A4-6B8E6B7D8C44}"/>
              </a:ext>
            </a:extLst>
          </p:cNvPr>
          <p:cNvSpPr>
            <a:spLocks xmlns:a="http://schemas.openxmlformats.org/drawingml/2006/main" noGrp="1"/>
          </p:cNvSpPr>
          <p:nvPr/>
        </p:nvSpPr>
        <p:spPr>
          <a:xfrm xmlns:a="http://schemas.openxmlformats.org/drawingml/2006/main">
            <a:off x="69532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Write a linear program in the standard form every solver expects.</a:t>
            </a:r>
          </a:p>
        </p:txBody>
      </p:sp>
      <p:sp>
        <p:nvSpPr>
          <p:cNvPr id="12" name="outcome-number-2">
            <a:extLst xmlns:a="http://schemas.openxmlformats.org/drawingml/2006/main">
              <a:ext uri="{FF2B5EF4-FFF2-40B4-BE49-F238E27FC236}">
                <a16:creationId xmlns:a16="http://schemas.microsoft.com/office/drawing/2014/main" id="{1D571065-23F1-4BFD-B5CF-8D96E9CF703E}"/>
              </a:ext>
            </a:extLst>
          </p:cNvPr>
          <p:cNvSpPr>
            <a:spLocks xmlns:a="http://schemas.openxmlformats.org/drawingml/2006/main" noGrp="1"/>
          </p:cNvSpPr>
          <p:nvPr/>
        </p:nvSpPr>
        <p:spPr>
          <a:xfrm xmlns:a="http://schemas.openxmlformats.org/drawingml/2006/main">
            <a:off x="6096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3</a:t>
            </a:r>
          </a:p>
        </p:txBody>
      </p:sp>
      <p:sp>
        <p:nvSpPr>
          <p:cNvPr id="13" name="outcome-head-2">
            <a:extLst xmlns:a="http://schemas.openxmlformats.org/drawingml/2006/main">
              <a:ext uri="{FF2B5EF4-FFF2-40B4-BE49-F238E27FC236}">
                <a16:creationId xmlns:a16="http://schemas.microsoft.com/office/drawing/2014/main" id="{19152778-3696-4FD3-AF20-217A19823459}"/>
              </a:ext>
            </a:extLst>
          </p:cNvPr>
          <p:cNvSpPr>
            <a:spLocks xmlns:a="http://schemas.openxmlformats.org/drawingml/2006/main" noGrp="1"/>
          </p:cNvSpPr>
          <p:nvPr/>
        </p:nvSpPr>
        <p:spPr>
          <a:xfrm xmlns:a="http://schemas.openxmlformats.org/drawingml/2006/main">
            <a:off x="12001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Explain</a:t>
            </a:r>
          </a:p>
        </p:txBody>
      </p:sp>
      <p:sp>
        <p:nvSpPr>
          <p:cNvPr id="14" name="outcome-body-2">
            <a:extLst xmlns:a="http://schemas.openxmlformats.org/drawingml/2006/main">
              <a:ext uri="{FF2B5EF4-FFF2-40B4-BE49-F238E27FC236}">
                <a16:creationId xmlns:a16="http://schemas.microsoft.com/office/drawing/2014/main" id="{CB6071B9-7F05-489E-B6BD-A63469C494C1}"/>
              </a:ext>
            </a:extLst>
          </p:cNvPr>
          <p:cNvSpPr>
            <a:spLocks xmlns:a="http://schemas.openxmlformats.org/drawingml/2006/main" noGrp="1"/>
          </p:cNvSpPr>
          <p:nvPr/>
        </p:nvSpPr>
        <p:spPr>
          <a:xfrm xmlns:a="http://schemas.openxmlformats.org/drawingml/2006/main">
            <a:off x="12001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State the LP theorem correctly: if a finite optimum exists, at least one optimal extreme point exists; an entire edge or face can also be optimal.</a:t>
            </a:r>
          </a:p>
        </p:txBody>
      </p:sp>
      <p:sp>
        <p:nvSpPr>
          <p:cNvPr id="15" name="outcome-number-3">
            <a:extLst xmlns:a="http://schemas.openxmlformats.org/drawingml/2006/main">
              <a:ext uri="{FF2B5EF4-FFF2-40B4-BE49-F238E27FC236}">
                <a16:creationId xmlns:a16="http://schemas.microsoft.com/office/drawing/2014/main" id="{43A3C964-43D9-4140-B75A-D21DA9127CCB}"/>
              </a:ext>
            </a:extLst>
          </p:cNvPr>
          <p:cNvSpPr>
            <a:spLocks xmlns:a="http://schemas.openxmlformats.org/drawingml/2006/main" noGrp="1"/>
          </p:cNvSpPr>
          <p:nvPr/>
        </p:nvSpPr>
        <p:spPr>
          <a:xfrm xmlns:a="http://schemas.openxmlformats.org/drawingml/2006/main">
            <a:off x="63627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4</a:t>
            </a:r>
          </a:p>
        </p:txBody>
      </p:sp>
      <p:sp>
        <p:nvSpPr>
          <p:cNvPr id="16" name="outcome-head-3">
            <a:extLst xmlns:a="http://schemas.openxmlformats.org/drawingml/2006/main">
              <a:ext uri="{FF2B5EF4-FFF2-40B4-BE49-F238E27FC236}">
                <a16:creationId xmlns:a16="http://schemas.microsoft.com/office/drawing/2014/main" id="{E5E28B98-F730-411C-933C-465326261E2A}"/>
              </a:ext>
            </a:extLst>
          </p:cNvPr>
          <p:cNvSpPr>
            <a:spLocks xmlns:a="http://schemas.openxmlformats.org/drawingml/2006/main" noGrp="1"/>
          </p:cNvSpPr>
          <p:nvPr/>
        </p:nvSpPr>
        <p:spPr>
          <a:xfrm xmlns:a="http://schemas.openxmlformats.org/drawingml/2006/main">
            <a:off x="69532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Compare</a:t>
            </a:r>
          </a:p>
        </p:txBody>
      </p:sp>
      <p:sp>
        <p:nvSpPr>
          <p:cNvPr id="17" name="outcome-body-3">
            <a:extLst xmlns:a="http://schemas.openxmlformats.org/drawingml/2006/main">
              <a:ext uri="{FF2B5EF4-FFF2-40B4-BE49-F238E27FC236}">
                <a16:creationId xmlns:a16="http://schemas.microsoft.com/office/drawing/2014/main" id="{661EE090-3B70-493E-BA12-D414ECAE1896}"/>
              </a:ext>
            </a:extLst>
          </p:cNvPr>
          <p:cNvSpPr>
            <a:spLocks xmlns:a="http://schemas.openxmlformats.org/drawingml/2006/main" noGrp="1"/>
          </p:cNvSpPr>
          <p:nvPr/>
        </p:nvSpPr>
        <p:spPr>
          <a:xfrm xmlns:a="http://schemas.openxmlformats.org/drawingml/2006/main">
            <a:off x="69532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Show a formulated-and-solved answer beating both 'obvious' naive strategies, with every constraint hand-verified.</a:t>
            </a:r>
          </a:p>
        </p:txBody>
      </p:sp>
    </p:spTree>
    <p:extLst>
      <p:ext uri="{BB962C8B-B14F-4D97-AF65-F5344CB8AC3E}">
        <p14:creationId xmlns:p14="http://schemas.microsoft.com/office/powerpoint/2010/main" val="16762733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3D418703-C33F-4101-AB5D-90C3A1CCC56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ROAD MAP</a:t>
            </a:r>
          </a:p>
        </p:txBody>
      </p:sp>
      <p:sp>
        <p:nvSpPr>
          <p:cNvPr id="2" name="title">
            <a:extLst xmlns:a="http://schemas.openxmlformats.org/drawingml/2006/main">
              <a:ext uri="{FF2B5EF4-FFF2-40B4-BE49-F238E27FC236}">
                <a16:creationId xmlns:a16="http://schemas.microsoft.com/office/drawing/2014/main" id="{0AE212C2-03E0-4C62-A1D3-A25AF893B60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Today’s learning sequence</a:t>
            </a:r>
          </a:p>
        </p:txBody>
      </p:sp>
      <p:sp>
        <p:nvSpPr>
          <p:cNvPr id="3" name="">
            <a:extLst xmlns:a="http://schemas.openxmlformats.org/drawingml/2006/main">
              <a:ext uri="{FF2B5EF4-FFF2-40B4-BE49-F238E27FC236}">
                <a16:creationId xmlns:a16="http://schemas.microsoft.com/office/drawing/2014/main" id="{FFEC23F7-312B-40DF-9BE1-A63769809C1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030797F-D20C-45C2-97D0-831468CA731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835F6444-747C-4FDC-9E15-0AA36E88013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04</a:t>
            </a:r>
          </a:p>
        </p:txBody>
      </p:sp>
      <p:sp>
        <p:nvSpPr>
          <p:cNvPr id="6" name="agenda-no-0">
            <a:extLst xmlns:a="http://schemas.openxmlformats.org/drawingml/2006/main">
              <a:ext uri="{FF2B5EF4-FFF2-40B4-BE49-F238E27FC236}">
                <a16:creationId xmlns:a16="http://schemas.microsoft.com/office/drawing/2014/main" id="{2915CDA3-AB8F-4AF0-8E41-5DBD41BE90A9}"/>
              </a:ext>
            </a:extLst>
          </p:cNvPr>
          <p:cNvSpPr>
            <a:spLocks xmlns:a="http://schemas.openxmlformats.org/drawingml/2006/main" noGrp="1"/>
          </p:cNvSpPr>
          <p:nvPr/>
        </p:nvSpPr>
        <p:spPr>
          <a:xfrm xmlns:a="http://schemas.openxmlformats.org/drawingml/2006/main">
            <a:off x="609600" y="22002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13003497-F0DF-429B-A3DE-442BCBB6A873}"/>
              </a:ext>
            </a:extLst>
          </p:cNvPr>
          <p:cNvSpPr>
            <a:spLocks xmlns:a="http://schemas.openxmlformats.org/drawingml/2006/main" noGrp="1"/>
          </p:cNvSpPr>
          <p:nvPr/>
        </p:nvSpPr>
        <p:spPr>
          <a:xfrm xmlns:a="http://schemas.openxmlformats.org/drawingml/2006/main">
            <a:off x="1314450" y="2352675"/>
            <a:ext cx="7429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8" name="agenda-item-0">
            <a:extLst xmlns:a="http://schemas.openxmlformats.org/drawingml/2006/main">
              <a:ext uri="{FF2B5EF4-FFF2-40B4-BE49-F238E27FC236}">
                <a16:creationId xmlns:a16="http://schemas.microsoft.com/office/drawing/2014/main" id="{D9166C29-1CD6-4E91-9485-793515661401}"/>
              </a:ext>
            </a:extLst>
          </p:cNvPr>
          <p:cNvSpPr>
            <a:spLocks xmlns:a="http://schemas.openxmlformats.org/drawingml/2006/main" noGrp="1"/>
          </p:cNvSpPr>
          <p:nvPr/>
        </p:nvSpPr>
        <p:spPr>
          <a:xfrm xmlns:a="http://schemas.openxmlformats.org/drawingml/2006/main">
            <a:off x="2381250" y="21431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Optimization has three algorithm families - today starts with the exact one</a:t>
            </a:r>
          </a:p>
        </p:txBody>
      </p:sp>
      <p:sp>
        <p:nvSpPr>
          <p:cNvPr id="9" name="agenda-no-1">
            <a:extLst xmlns:a="http://schemas.openxmlformats.org/drawingml/2006/main">
              <a:ext uri="{FF2B5EF4-FFF2-40B4-BE49-F238E27FC236}">
                <a16:creationId xmlns:a16="http://schemas.microsoft.com/office/drawing/2014/main" id="{6A65DEAD-C84E-4F49-8532-402D1933116E}"/>
              </a:ext>
            </a:extLst>
          </p:cNvPr>
          <p:cNvSpPr>
            <a:spLocks xmlns:a="http://schemas.openxmlformats.org/drawingml/2006/main" noGrp="1"/>
          </p:cNvSpPr>
          <p:nvPr/>
        </p:nvSpPr>
        <p:spPr>
          <a:xfrm xmlns:a="http://schemas.openxmlformats.org/drawingml/2006/main">
            <a:off x="609600" y="31146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7B337F15-92FD-4F19-8BE3-2CD5F15D29F4}"/>
              </a:ext>
            </a:extLst>
          </p:cNvPr>
          <p:cNvSpPr>
            <a:spLocks xmlns:a="http://schemas.openxmlformats.org/drawingml/2006/main" noGrp="1"/>
          </p:cNvSpPr>
          <p:nvPr/>
        </p:nvSpPr>
        <p:spPr>
          <a:xfrm xmlns:a="http://schemas.openxmlformats.org/drawingml/2006/main">
            <a:off x="1314450" y="32670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1" name="agenda-item-1">
            <a:extLst xmlns:a="http://schemas.openxmlformats.org/drawingml/2006/main">
              <a:ext uri="{FF2B5EF4-FFF2-40B4-BE49-F238E27FC236}">
                <a16:creationId xmlns:a16="http://schemas.microsoft.com/office/drawing/2014/main" id="{2B83AE8E-6B05-4FD1-B6CC-ADD32E39FF3E}"/>
              </a:ext>
            </a:extLst>
          </p:cNvPr>
          <p:cNvSpPr>
            <a:spLocks xmlns:a="http://schemas.openxmlformats.org/drawingml/2006/main" noGrp="1"/>
          </p:cNvSpPr>
          <p:nvPr/>
        </p:nvSpPr>
        <p:spPr>
          <a:xfrm xmlns:a="http://schemas.openxmlformats.org/drawingml/2006/main">
            <a:off x="2381250" y="30575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Vocabulary: design variables, objective function, constraints, bounds</a:t>
            </a:r>
          </a:p>
        </p:txBody>
      </p:sp>
      <p:sp>
        <p:nvSpPr>
          <p:cNvPr id="12" name="agenda-no-2">
            <a:extLst xmlns:a="http://schemas.openxmlformats.org/drawingml/2006/main">
              <a:ext uri="{FF2B5EF4-FFF2-40B4-BE49-F238E27FC236}">
                <a16:creationId xmlns:a16="http://schemas.microsoft.com/office/drawing/2014/main" id="{89C6A58A-2D35-4EE2-AF57-23A15577CF03}"/>
              </a:ext>
            </a:extLst>
          </p:cNvPr>
          <p:cNvSpPr>
            <a:spLocks xmlns:a="http://schemas.openxmlformats.org/drawingml/2006/main" noGrp="1"/>
          </p:cNvSpPr>
          <p:nvPr/>
        </p:nvSpPr>
        <p:spPr>
          <a:xfrm xmlns:a="http://schemas.openxmlformats.org/drawingml/2006/main">
            <a:off x="609600" y="40290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69026726-3992-4A26-AB70-2E8FADDFD86A}"/>
              </a:ext>
            </a:extLst>
          </p:cNvPr>
          <p:cNvSpPr>
            <a:spLocks xmlns:a="http://schemas.openxmlformats.org/drawingml/2006/main" noGrp="1"/>
          </p:cNvSpPr>
          <p:nvPr/>
        </p:nvSpPr>
        <p:spPr>
          <a:xfrm xmlns:a="http://schemas.openxmlformats.org/drawingml/2006/main">
            <a:off x="1314450" y="41814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4" name="agenda-item-2">
            <a:extLst xmlns:a="http://schemas.openxmlformats.org/drawingml/2006/main">
              <a:ext uri="{FF2B5EF4-FFF2-40B4-BE49-F238E27FC236}">
                <a16:creationId xmlns:a16="http://schemas.microsoft.com/office/drawing/2014/main" id="{F50DB4E1-B715-4060-A565-27B6B33C671B}"/>
              </a:ext>
            </a:extLst>
          </p:cNvPr>
          <p:cNvSpPr>
            <a:spLocks xmlns:a="http://schemas.openxmlformats.org/drawingml/2006/main" noGrp="1"/>
          </p:cNvSpPr>
          <p:nvPr/>
        </p:nvSpPr>
        <p:spPr>
          <a:xfrm xmlns:a="http://schemas.openxmlformats.org/drawingml/2006/main">
            <a:off x="2381250" y="39719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The feasible region and standard form, made geometric</a:t>
            </a:r>
          </a:p>
        </p:txBody>
      </p:sp>
      <p:sp>
        <p:nvSpPr>
          <p:cNvPr id="15" name="agenda-no-3">
            <a:extLst xmlns:a="http://schemas.openxmlformats.org/drawingml/2006/main">
              <a:ext uri="{FF2B5EF4-FFF2-40B4-BE49-F238E27FC236}">
                <a16:creationId xmlns:a16="http://schemas.microsoft.com/office/drawing/2014/main" id="{57B77477-5D90-4DF7-ACD4-A0BBAD2D526A}"/>
              </a:ext>
            </a:extLst>
          </p:cNvPr>
          <p:cNvSpPr>
            <a:spLocks xmlns:a="http://schemas.openxmlformats.org/drawingml/2006/main" noGrp="1"/>
          </p:cNvSpPr>
          <p:nvPr/>
        </p:nvSpPr>
        <p:spPr>
          <a:xfrm xmlns:a="http://schemas.openxmlformats.org/drawingml/2006/main">
            <a:off x="609600" y="49434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58779CAB-4345-4242-A0EE-964BAB7ECB48}"/>
              </a:ext>
            </a:extLst>
          </p:cNvPr>
          <p:cNvSpPr>
            <a:spLocks xmlns:a="http://schemas.openxmlformats.org/drawingml/2006/main" noGrp="1"/>
          </p:cNvSpPr>
          <p:nvPr/>
        </p:nvSpPr>
        <p:spPr>
          <a:xfrm xmlns:a="http://schemas.openxmlformats.org/drawingml/2006/main">
            <a:off x="1314450" y="50958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7" name="agenda-item-3">
            <a:extLst xmlns:a="http://schemas.openxmlformats.org/drawingml/2006/main">
              <a:ext uri="{FF2B5EF4-FFF2-40B4-BE49-F238E27FC236}">
                <a16:creationId xmlns:a16="http://schemas.microsoft.com/office/drawing/2014/main" id="{19A01B51-83C0-48A4-93F3-830A94A52A72}"/>
              </a:ext>
            </a:extLst>
          </p:cNvPr>
          <p:cNvSpPr>
            <a:spLocks xmlns:a="http://schemas.openxmlformats.org/drawingml/2006/main" noGrp="1"/>
          </p:cNvSpPr>
          <p:nvPr/>
        </p:nvSpPr>
        <p:spPr>
          <a:xfrm xmlns:a="http://schemas.openxmlformats.org/drawingml/2006/main">
            <a:off x="2381250" y="48863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Why linear = exact: simplex and interior-point, solved live on Radley Hall's roof</a:t>
            </a:r>
          </a:p>
        </p:txBody>
      </p:sp>
    </p:spTree>
    <p:extLst>
      <p:ext uri="{BB962C8B-B14F-4D97-AF65-F5344CB8AC3E}">
        <p14:creationId xmlns:p14="http://schemas.microsoft.com/office/powerpoint/2010/main" val="17821332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kicker">
            <a:extLst xmlns:a="http://schemas.openxmlformats.org/drawingml/2006/main">
              <a:ext uri="{FF2B5EF4-FFF2-40B4-BE49-F238E27FC236}">
                <a16:creationId xmlns:a16="http://schemas.microsoft.com/office/drawing/2014/main" id="{8C211A9D-128D-4EDD-AB33-1E248479443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F859CCCD-BF90-4550-8FEB-1E1A4F332BF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Optimization has three algorithm families — this course teaches all three</a:t>
            </a:r>
          </a:p>
        </p:txBody>
      </p:sp>
      <p:sp>
        <p:nvSpPr>
          <p:cNvPr id="3" name="">
            <a:extLst xmlns:a="http://schemas.openxmlformats.org/drawingml/2006/main">
              <a:ext uri="{FF2B5EF4-FFF2-40B4-BE49-F238E27FC236}">
                <a16:creationId xmlns:a16="http://schemas.microsoft.com/office/drawing/2014/main" id="{FBE423F8-7F5F-49E0-B7C0-FFB16B25F0B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F280B00-66B7-4634-8DAC-5C2CB46583B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051DF5E3-FF4A-433C-8BB0-0304AE63E06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1CA0A57E-4245-4AA7-906A-9B0ED2C109D7}"/>
              </a:ext>
            </a:extLst>
          </p:cNvPr>
          <p:cNvSpPr>
            <a:spLocks xmlns:a="http://schemas.openxmlformats.org/drawingml/2006/main" noGrp="1"/>
          </p:cNvSpPr>
          <p:nvPr/>
        </p:nvSpPr>
        <p:spPr>
          <a:xfrm xmlns:a="http://schemas.openxmlformats.org/drawingml/2006/main">
            <a:off x="609600" y="250507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52956B0B-2AB8-4C40-8645-2D2A8B4CDC00}"/>
              </a:ext>
            </a:extLst>
          </p:cNvPr>
          <p:cNvSpPr>
            <a:spLocks xmlns:a="http://schemas.openxmlformats.org/drawingml/2006/main" noGrp="1"/>
          </p:cNvSpPr>
          <p:nvPr/>
        </p:nvSpPr>
        <p:spPr>
          <a:xfrm xmlns:a="http://schemas.openxmlformats.org/drawingml/2006/main">
            <a:off x="723900" y="258127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family</a:t>
            </a:r>
          </a:p>
        </p:txBody>
      </p:sp>
      <p:sp>
        <p:nvSpPr>
          <p:cNvPr id="8" name="">
            <a:extLst xmlns:a="http://schemas.openxmlformats.org/drawingml/2006/main">
              <a:ext uri="{FF2B5EF4-FFF2-40B4-BE49-F238E27FC236}">
                <a16:creationId xmlns:a16="http://schemas.microsoft.com/office/drawing/2014/main" id="{7D6473D4-5047-41A7-B7EF-DDA86E253F51}"/>
              </a:ext>
            </a:extLst>
          </p:cNvPr>
          <p:cNvSpPr>
            <a:spLocks xmlns:a="http://schemas.openxmlformats.org/drawingml/2006/main" noGrp="1"/>
          </p:cNvSpPr>
          <p:nvPr/>
        </p:nvSpPr>
        <p:spPr>
          <a:xfrm xmlns:a="http://schemas.openxmlformats.org/drawingml/2006/main">
            <a:off x="2466975" y="250507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5D6D1A9C-541C-463A-B16A-3FBD213C58EA}"/>
              </a:ext>
            </a:extLst>
          </p:cNvPr>
          <p:cNvSpPr>
            <a:spLocks xmlns:a="http://schemas.openxmlformats.org/drawingml/2006/main" noGrp="1"/>
          </p:cNvSpPr>
          <p:nvPr/>
        </p:nvSpPr>
        <p:spPr>
          <a:xfrm xmlns:a="http://schemas.openxmlformats.org/drawingml/2006/main">
            <a:off x="2581275" y="258127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method (scipy)</a:t>
            </a:r>
          </a:p>
        </p:txBody>
      </p:sp>
      <p:sp>
        <p:nvSpPr>
          <p:cNvPr id="10" name="">
            <a:extLst xmlns:a="http://schemas.openxmlformats.org/drawingml/2006/main">
              <a:ext uri="{FF2B5EF4-FFF2-40B4-BE49-F238E27FC236}">
                <a16:creationId xmlns:a16="http://schemas.microsoft.com/office/drawing/2014/main" id="{05123D1B-39DF-476F-8B0F-CC6B3628E599}"/>
              </a:ext>
            </a:extLst>
          </p:cNvPr>
          <p:cNvSpPr>
            <a:spLocks xmlns:a="http://schemas.openxmlformats.org/drawingml/2006/main" noGrp="1"/>
          </p:cNvSpPr>
          <p:nvPr/>
        </p:nvSpPr>
        <p:spPr>
          <a:xfrm xmlns:a="http://schemas.openxmlformats.org/drawingml/2006/main">
            <a:off x="4324350" y="250507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CC99FF5D-0679-4936-9AF5-4967E0EB8970}"/>
              </a:ext>
            </a:extLst>
          </p:cNvPr>
          <p:cNvSpPr>
            <a:spLocks xmlns:a="http://schemas.openxmlformats.org/drawingml/2006/main" noGrp="1"/>
          </p:cNvSpPr>
          <p:nvPr/>
        </p:nvSpPr>
        <p:spPr>
          <a:xfrm xmlns:a="http://schemas.openxmlformats.org/drawingml/2006/main">
            <a:off x="4438650" y="258127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what it can establish</a:t>
            </a:r>
          </a:p>
        </p:txBody>
      </p:sp>
      <p:sp>
        <p:nvSpPr>
          <p:cNvPr id="12" name="">
            <a:extLst xmlns:a="http://schemas.openxmlformats.org/drawingml/2006/main">
              <a:ext uri="{FF2B5EF4-FFF2-40B4-BE49-F238E27FC236}">
                <a16:creationId xmlns:a16="http://schemas.microsoft.com/office/drawing/2014/main" id="{F336658A-786B-49E3-B256-7F6CCE87840D}"/>
              </a:ext>
            </a:extLst>
          </p:cNvPr>
          <p:cNvSpPr>
            <a:spLocks xmlns:a="http://schemas.openxmlformats.org/drawingml/2006/main" noGrp="1"/>
          </p:cNvSpPr>
          <p:nvPr/>
        </p:nvSpPr>
        <p:spPr>
          <a:xfrm xmlns:a="http://schemas.openxmlformats.org/drawingml/2006/main">
            <a:off x="6181725" y="250507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3" name="header-3">
            <a:extLst xmlns:a="http://schemas.openxmlformats.org/drawingml/2006/main">
              <a:ext uri="{FF2B5EF4-FFF2-40B4-BE49-F238E27FC236}">
                <a16:creationId xmlns:a16="http://schemas.microsoft.com/office/drawing/2014/main" id="{AAAAE300-9EBE-4663-AE19-5EA3107F0FF2}"/>
              </a:ext>
            </a:extLst>
          </p:cNvPr>
          <p:cNvSpPr>
            <a:spLocks xmlns:a="http://schemas.openxmlformats.org/drawingml/2006/main" noGrp="1"/>
          </p:cNvSpPr>
          <p:nvPr/>
        </p:nvSpPr>
        <p:spPr>
          <a:xfrm xmlns:a="http://schemas.openxmlformats.org/drawingml/2006/main">
            <a:off x="6296025" y="258127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this course's week</a:t>
            </a:r>
          </a:p>
        </p:txBody>
      </p:sp>
      <p:sp>
        <p:nvSpPr>
          <p:cNvPr id="14" name="">
            <a:extLst xmlns:a="http://schemas.openxmlformats.org/drawingml/2006/main">
              <a:ext uri="{FF2B5EF4-FFF2-40B4-BE49-F238E27FC236}">
                <a16:creationId xmlns:a16="http://schemas.microsoft.com/office/drawing/2014/main" id="{0F9E6DE5-554B-44D6-9082-FCEEED4152F0}"/>
              </a:ext>
            </a:extLst>
          </p:cNvPr>
          <p:cNvSpPr>
            <a:spLocks xmlns:a="http://schemas.openxmlformats.org/drawingml/2006/main" noGrp="1"/>
          </p:cNvSpPr>
          <p:nvPr/>
        </p:nvSpPr>
        <p:spPr>
          <a:xfrm xmlns:a="http://schemas.openxmlformats.org/drawingml/2006/main">
            <a:off x="609600" y="3046095"/>
            <a:ext cx="1857375"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0">
            <a:extLst xmlns:a="http://schemas.openxmlformats.org/drawingml/2006/main">
              <a:ext uri="{FF2B5EF4-FFF2-40B4-BE49-F238E27FC236}">
                <a16:creationId xmlns:a16="http://schemas.microsoft.com/office/drawing/2014/main" id="{6B049488-7C8A-4A5A-A348-7F9B16D1EBB0}"/>
              </a:ext>
            </a:extLst>
          </p:cNvPr>
          <p:cNvSpPr>
            <a:spLocks xmlns:a="http://schemas.openxmlformats.org/drawingml/2006/main" noGrp="1"/>
          </p:cNvSpPr>
          <p:nvPr/>
        </p:nvSpPr>
        <p:spPr>
          <a:xfrm xmlns:a="http://schemas.openxmlformats.org/drawingml/2006/main">
            <a:off x="723900" y="3122295"/>
            <a:ext cx="16287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Linear programming</a:t>
            </a:r>
          </a:p>
        </p:txBody>
      </p:sp>
      <p:sp>
        <p:nvSpPr>
          <p:cNvPr id="16" name="">
            <a:extLst xmlns:a="http://schemas.openxmlformats.org/drawingml/2006/main">
              <a:ext uri="{FF2B5EF4-FFF2-40B4-BE49-F238E27FC236}">
                <a16:creationId xmlns:a16="http://schemas.microsoft.com/office/drawing/2014/main" id="{9F8F2BB5-F6C2-4D03-8140-731C51033073}"/>
              </a:ext>
            </a:extLst>
          </p:cNvPr>
          <p:cNvSpPr>
            <a:spLocks xmlns:a="http://schemas.openxmlformats.org/drawingml/2006/main" noGrp="1"/>
          </p:cNvSpPr>
          <p:nvPr/>
        </p:nvSpPr>
        <p:spPr>
          <a:xfrm xmlns:a="http://schemas.openxmlformats.org/drawingml/2006/main">
            <a:off x="2466975" y="3046095"/>
            <a:ext cx="1857375"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1">
            <a:extLst xmlns:a="http://schemas.openxmlformats.org/drawingml/2006/main">
              <a:ext uri="{FF2B5EF4-FFF2-40B4-BE49-F238E27FC236}">
                <a16:creationId xmlns:a16="http://schemas.microsoft.com/office/drawing/2014/main" id="{C0160893-00C8-4AA3-AFA5-D240FCA3E3C0}"/>
              </a:ext>
            </a:extLst>
          </p:cNvPr>
          <p:cNvSpPr>
            <a:spLocks xmlns:a="http://schemas.openxmlformats.org/drawingml/2006/main" noGrp="1"/>
          </p:cNvSpPr>
          <p:nvPr/>
        </p:nvSpPr>
        <p:spPr>
          <a:xfrm xmlns:a="http://schemas.openxmlformats.org/drawingml/2006/main">
            <a:off x="2581275" y="3122295"/>
            <a:ext cx="16287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linprog</a:t>
            </a:r>
          </a:p>
        </p:txBody>
      </p:sp>
      <p:sp>
        <p:nvSpPr>
          <p:cNvPr id="18" name="">
            <a:extLst xmlns:a="http://schemas.openxmlformats.org/drawingml/2006/main">
              <a:ext uri="{FF2B5EF4-FFF2-40B4-BE49-F238E27FC236}">
                <a16:creationId xmlns:a16="http://schemas.microsoft.com/office/drawing/2014/main" id="{6448A8BB-0CA2-4864-8C5A-CD01A8839B10}"/>
              </a:ext>
            </a:extLst>
          </p:cNvPr>
          <p:cNvSpPr>
            <a:spLocks xmlns:a="http://schemas.openxmlformats.org/drawingml/2006/main" noGrp="1"/>
          </p:cNvSpPr>
          <p:nvPr/>
        </p:nvSpPr>
        <p:spPr>
          <a:xfrm xmlns:a="http://schemas.openxmlformats.org/drawingml/2006/main">
            <a:off x="4324350" y="3046095"/>
            <a:ext cx="1857375"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9" name="cell-0-2">
            <a:extLst xmlns:a="http://schemas.openxmlformats.org/drawingml/2006/main">
              <a:ext uri="{FF2B5EF4-FFF2-40B4-BE49-F238E27FC236}">
                <a16:creationId xmlns:a16="http://schemas.microsoft.com/office/drawing/2014/main" id="{99541103-EF13-4110-B004-0CCE709DFAD2}"/>
              </a:ext>
            </a:extLst>
          </p:cNvPr>
          <p:cNvSpPr>
            <a:spLocks xmlns:a="http://schemas.openxmlformats.org/drawingml/2006/main" noGrp="1"/>
          </p:cNvSpPr>
          <p:nvPr/>
        </p:nvSpPr>
        <p:spPr>
          <a:xfrm xmlns:a="http://schemas.openxmlformats.org/drawingml/2006/main">
            <a:off x="4438650" y="3122295"/>
            <a:ext cx="16287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 global LP optimum, subject to feasibility, boundedness, and tolerances</a:t>
            </a:r>
          </a:p>
        </p:txBody>
      </p:sp>
      <p:sp>
        <p:nvSpPr>
          <p:cNvPr id="20" name="">
            <a:extLst xmlns:a="http://schemas.openxmlformats.org/drawingml/2006/main">
              <a:ext uri="{FF2B5EF4-FFF2-40B4-BE49-F238E27FC236}">
                <a16:creationId xmlns:a16="http://schemas.microsoft.com/office/drawing/2014/main" id="{8B6D7CD4-BEB6-4424-824E-52D5EAA6A730}"/>
              </a:ext>
            </a:extLst>
          </p:cNvPr>
          <p:cNvSpPr>
            <a:spLocks xmlns:a="http://schemas.openxmlformats.org/drawingml/2006/main" noGrp="1"/>
          </p:cNvSpPr>
          <p:nvPr/>
        </p:nvSpPr>
        <p:spPr>
          <a:xfrm xmlns:a="http://schemas.openxmlformats.org/drawingml/2006/main">
            <a:off x="6181725" y="3046095"/>
            <a:ext cx="1857375"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1" name="cell-0-3">
            <a:extLst xmlns:a="http://schemas.openxmlformats.org/drawingml/2006/main">
              <a:ext uri="{FF2B5EF4-FFF2-40B4-BE49-F238E27FC236}">
                <a16:creationId xmlns:a16="http://schemas.microsoft.com/office/drawing/2014/main" id="{5F806A6C-5BF2-46C5-8065-45365D95CB62}"/>
              </a:ext>
            </a:extLst>
          </p:cNvPr>
          <p:cNvSpPr>
            <a:spLocks xmlns:a="http://schemas.openxmlformats.org/drawingml/2006/main" noGrp="1"/>
          </p:cNvSpPr>
          <p:nvPr/>
        </p:nvSpPr>
        <p:spPr>
          <a:xfrm xmlns:a="http://schemas.openxmlformats.org/drawingml/2006/main">
            <a:off x="6296025" y="3122295"/>
            <a:ext cx="16287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Week 10 (today)</a:t>
            </a:r>
          </a:p>
        </p:txBody>
      </p:sp>
      <p:sp>
        <p:nvSpPr>
          <p:cNvPr id="22" name="">
            <a:extLst xmlns:a="http://schemas.openxmlformats.org/drawingml/2006/main">
              <a:ext uri="{FF2B5EF4-FFF2-40B4-BE49-F238E27FC236}">
                <a16:creationId xmlns:a16="http://schemas.microsoft.com/office/drawing/2014/main" id="{B6B5D91D-7381-41F7-B6B0-403A811BA097}"/>
              </a:ext>
            </a:extLst>
          </p:cNvPr>
          <p:cNvSpPr>
            <a:spLocks xmlns:a="http://schemas.openxmlformats.org/drawingml/2006/main" noGrp="1"/>
          </p:cNvSpPr>
          <p:nvPr/>
        </p:nvSpPr>
        <p:spPr>
          <a:xfrm xmlns:a="http://schemas.openxmlformats.org/drawingml/2006/main">
            <a:off x="609600" y="4170045"/>
            <a:ext cx="1857375"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0">
            <a:extLst xmlns:a="http://schemas.openxmlformats.org/drawingml/2006/main">
              <a:ext uri="{FF2B5EF4-FFF2-40B4-BE49-F238E27FC236}">
                <a16:creationId xmlns:a16="http://schemas.microsoft.com/office/drawing/2014/main" id="{D18BDAF6-2923-4719-B725-012FB3C26664}"/>
              </a:ext>
            </a:extLst>
          </p:cNvPr>
          <p:cNvSpPr>
            <a:spLocks xmlns:a="http://schemas.openxmlformats.org/drawingml/2006/main" noGrp="1"/>
          </p:cNvSpPr>
          <p:nvPr/>
        </p:nvSpPr>
        <p:spPr>
          <a:xfrm xmlns:a="http://schemas.openxmlformats.org/drawingml/2006/main">
            <a:off x="723900" y="424624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Gradient-based / nonlinear</a:t>
            </a:r>
          </a:p>
        </p:txBody>
      </p:sp>
      <p:sp>
        <p:nvSpPr>
          <p:cNvPr id="24" name="">
            <a:extLst xmlns:a="http://schemas.openxmlformats.org/drawingml/2006/main">
              <a:ext uri="{FF2B5EF4-FFF2-40B4-BE49-F238E27FC236}">
                <a16:creationId xmlns:a16="http://schemas.microsoft.com/office/drawing/2014/main" id="{012417FF-C52A-48F1-BA18-F4ECE29913EF}"/>
              </a:ext>
            </a:extLst>
          </p:cNvPr>
          <p:cNvSpPr>
            <a:spLocks xmlns:a="http://schemas.openxmlformats.org/drawingml/2006/main" noGrp="1"/>
          </p:cNvSpPr>
          <p:nvPr/>
        </p:nvSpPr>
        <p:spPr>
          <a:xfrm xmlns:a="http://schemas.openxmlformats.org/drawingml/2006/main">
            <a:off x="2466975" y="4170045"/>
            <a:ext cx="1857375"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5" name="cell-1-1">
            <a:extLst xmlns:a="http://schemas.openxmlformats.org/drawingml/2006/main">
              <a:ext uri="{FF2B5EF4-FFF2-40B4-BE49-F238E27FC236}">
                <a16:creationId xmlns:a16="http://schemas.microsoft.com/office/drawing/2014/main" id="{2BDB2198-47CB-4ABE-8779-2BEA2D1C5228}"/>
              </a:ext>
            </a:extLst>
          </p:cNvPr>
          <p:cNvSpPr>
            <a:spLocks xmlns:a="http://schemas.openxmlformats.org/drawingml/2006/main" noGrp="1"/>
          </p:cNvSpPr>
          <p:nvPr/>
        </p:nvSpPr>
        <p:spPr>
          <a:xfrm xmlns:a="http://schemas.openxmlformats.org/drawingml/2006/main">
            <a:off x="2581275" y="424624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minimize</a:t>
            </a:r>
          </a:p>
        </p:txBody>
      </p:sp>
      <p:sp>
        <p:nvSpPr>
          <p:cNvPr id="26" name="">
            <a:extLst xmlns:a="http://schemas.openxmlformats.org/drawingml/2006/main">
              <a:ext uri="{FF2B5EF4-FFF2-40B4-BE49-F238E27FC236}">
                <a16:creationId xmlns:a16="http://schemas.microsoft.com/office/drawing/2014/main" id="{723BD95B-AEF9-447E-AF60-01B49F224014}"/>
              </a:ext>
            </a:extLst>
          </p:cNvPr>
          <p:cNvSpPr>
            <a:spLocks xmlns:a="http://schemas.openxmlformats.org/drawingml/2006/main" noGrp="1"/>
          </p:cNvSpPr>
          <p:nvPr/>
        </p:nvSpPr>
        <p:spPr>
          <a:xfrm xmlns:a="http://schemas.openxmlformats.org/drawingml/2006/main">
            <a:off x="4324350" y="4170045"/>
            <a:ext cx="1857375"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7" name="cell-1-2">
            <a:extLst xmlns:a="http://schemas.openxmlformats.org/drawingml/2006/main">
              <a:ext uri="{FF2B5EF4-FFF2-40B4-BE49-F238E27FC236}">
                <a16:creationId xmlns:a16="http://schemas.microsoft.com/office/drawing/2014/main" id="{09ABB0FA-A973-4F1D-ABCF-69AD501062FB}"/>
              </a:ext>
            </a:extLst>
          </p:cNvPr>
          <p:cNvSpPr>
            <a:spLocks xmlns:a="http://schemas.openxmlformats.org/drawingml/2006/main" noGrp="1"/>
          </p:cNvSpPr>
          <p:nvPr/>
        </p:nvSpPr>
        <p:spPr>
          <a:xfrm xmlns:a="http://schemas.openxmlformats.org/drawingml/2006/main">
            <a:off x="4438650" y="424624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the objective curves smoothly</a:t>
            </a:r>
          </a:p>
        </p:txBody>
      </p:sp>
      <p:sp>
        <p:nvSpPr>
          <p:cNvPr id="28" name="">
            <a:extLst xmlns:a="http://schemas.openxmlformats.org/drawingml/2006/main">
              <a:ext uri="{FF2B5EF4-FFF2-40B4-BE49-F238E27FC236}">
                <a16:creationId xmlns:a16="http://schemas.microsoft.com/office/drawing/2014/main" id="{4808D2AB-91BF-4DBE-A617-6B91B2093403}"/>
              </a:ext>
            </a:extLst>
          </p:cNvPr>
          <p:cNvSpPr>
            <a:spLocks xmlns:a="http://schemas.openxmlformats.org/drawingml/2006/main" noGrp="1"/>
          </p:cNvSpPr>
          <p:nvPr/>
        </p:nvSpPr>
        <p:spPr>
          <a:xfrm xmlns:a="http://schemas.openxmlformats.org/drawingml/2006/main">
            <a:off x="6181725" y="4170045"/>
            <a:ext cx="1857375"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9" name="cell-1-3">
            <a:extLst xmlns:a="http://schemas.openxmlformats.org/drawingml/2006/main">
              <a:ext uri="{FF2B5EF4-FFF2-40B4-BE49-F238E27FC236}">
                <a16:creationId xmlns:a16="http://schemas.microsoft.com/office/drawing/2014/main" id="{F82BF705-5A63-4115-AD6F-3F9DF93D6D72}"/>
              </a:ext>
            </a:extLst>
          </p:cNvPr>
          <p:cNvSpPr>
            <a:spLocks xmlns:a="http://schemas.openxmlformats.org/drawingml/2006/main" noGrp="1"/>
          </p:cNvSpPr>
          <p:nvPr/>
        </p:nvSpPr>
        <p:spPr>
          <a:xfrm xmlns:a="http://schemas.openxmlformats.org/drawingml/2006/main">
            <a:off x="6296025" y="424624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Week 11</a:t>
            </a:r>
          </a:p>
        </p:txBody>
      </p:sp>
      <p:sp>
        <p:nvSpPr>
          <p:cNvPr id="30" name="">
            <a:extLst xmlns:a="http://schemas.openxmlformats.org/drawingml/2006/main">
              <a:ext uri="{FF2B5EF4-FFF2-40B4-BE49-F238E27FC236}">
                <a16:creationId xmlns:a16="http://schemas.microsoft.com/office/drawing/2014/main" id="{7FC19590-1481-4DDF-842D-06CC1E05BD82}"/>
              </a:ext>
            </a:extLst>
          </p:cNvPr>
          <p:cNvSpPr>
            <a:spLocks xmlns:a="http://schemas.openxmlformats.org/drawingml/2006/main" noGrp="1"/>
          </p:cNvSpPr>
          <p:nvPr/>
        </p:nvSpPr>
        <p:spPr>
          <a:xfrm xmlns:a="http://schemas.openxmlformats.org/drawingml/2006/main">
            <a:off x="609600" y="4711065"/>
            <a:ext cx="1857375"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1" name="cell-2-0">
            <a:extLst xmlns:a="http://schemas.openxmlformats.org/drawingml/2006/main">
              <a:ext uri="{FF2B5EF4-FFF2-40B4-BE49-F238E27FC236}">
                <a16:creationId xmlns:a16="http://schemas.microsoft.com/office/drawing/2014/main" id="{EEDAF6E6-4BA6-490E-A62A-06CCEC234437}"/>
              </a:ext>
            </a:extLst>
          </p:cNvPr>
          <p:cNvSpPr>
            <a:spLocks xmlns:a="http://schemas.openxmlformats.org/drawingml/2006/main" noGrp="1"/>
          </p:cNvSpPr>
          <p:nvPr/>
        </p:nvSpPr>
        <p:spPr>
          <a:xfrm xmlns:a="http://schemas.openxmlformats.org/drawingml/2006/main">
            <a:off x="723900" y="4787265"/>
            <a:ext cx="1628775"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Heuristic / metaheuristic</a:t>
            </a:r>
          </a:p>
        </p:txBody>
      </p:sp>
      <p:sp>
        <p:nvSpPr>
          <p:cNvPr id="32" name="">
            <a:extLst xmlns:a="http://schemas.openxmlformats.org/drawingml/2006/main">
              <a:ext uri="{FF2B5EF4-FFF2-40B4-BE49-F238E27FC236}">
                <a16:creationId xmlns:a16="http://schemas.microsoft.com/office/drawing/2014/main" id="{F201F23B-95FD-483B-B915-8261FD1C6778}"/>
              </a:ext>
            </a:extLst>
          </p:cNvPr>
          <p:cNvSpPr>
            <a:spLocks xmlns:a="http://schemas.openxmlformats.org/drawingml/2006/main" noGrp="1"/>
          </p:cNvSpPr>
          <p:nvPr/>
        </p:nvSpPr>
        <p:spPr>
          <a:xfrm xmlns:a="http://schemas.openxmlformats.org/drawingml/2006/main">
            <a:off x="2466975" y="4711065"/>
            <a:ext cx="1857375"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3" name="cell-2-1">
            <a:extLst xmlns:a="http://schemas.openxmlformats.org/drawingml/2006/main">
              <a:ext uri="{FF2B5EF4-FFF2-40B4-BE49-F238E27FC236}">
                <a16:creationId xmlns:a16="http://schemas.microsoft.com/office/drawing/2014/main" id="{B8E02355-C559-40B4-9C0C-C9FEBCA07C85}"/>
              </a:ext>
            </a:extLst>
          </p:cNvPr>
          <p:cNvSpPr>
            <a:spLocks xmlns:a="http://schemas.openxmlformats.org/drawingml/2006/main" noGrp="1"/>
          </p:cNvSpPr>
          <p:nvPr/>
        </p:nvSpPr>
        <p:spPr>
          <a:xfrm xmlns:a="http://schemas.openxmlformats.org/drawingml/2006/main">
            <a:off x="2581275" y="4787265"/>
            <a:ext cx="1628775"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genetic algorithm, simulated annealing</a:t>
            </a:r>
          </a:p>
        </p:txBody>
      </p:sp>
      <p:sp>
        <p:nvSpPr>
          <p:cNvPr id="34" name="">
            <a:extLst xmlns:a="http://schemas.openxmlformats.org/drawingml/2006/main">
              <a:ext uri="{FF2B5EF4-FFF2-40B4-BE49-F238E27FC236}">
                <a16:creationId xmlns:a16="http://schemas.microsoft.com/office/drawing/2014/main" id="{FAF2EC6D-C519-41DA-A31C-AFF4D68F0E12}"/>
              </a:ext>
            </a:extLst>
          </p:cNvPr>
          <p:cNvSpPr>
            <a:spLocks xmlns:a="http://schemas.openxmlformats.org/drawingml/2006/main" noGrp="1"/>
          </p:cNvSpPr>
          <p:nvPr/>
        </p:nvSpPr>
        <p:spPr>
          <a:xfrm xmlns:a="http://schemas.openxmlformats.org/drawingml/2006/main">
            <a:off x="4324350" y="4711065"/>
            <a:ext cx="1857375"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5" name="cell-2-2">
            <a:extLst xmlns:a="http://schemas.openxmlformats.org/drawingml/2006/main">
              <a:ext uri="{FF2B5EF4-FFF2-40B4-BE49-F238E27FC236}">
                <a16:creationId xmlns:a16="http://schemas.microsoft.com/office/drawing/2014/main" id="{7C7813A9-BFE2-4645-BEE0-511C56CE64B9}"/>
              </a:ext>
            </a:extLst>
          </p:cNvPr>
          <p:cNvSpPr>
            <a:spLocks xmlns:a="http://schemas.openxmlformats.org/drawingml/2006/main" noGrp="1"/>
          </p:cNvSpPr>
          <p:nvPr/>
        </p:nvSpPr>
        <p:spPr>
          <a:xfrm xmlns:a="http://schemas.openxmlformats.org/drawingml/2006/main">
            <a:off x="4438650" y="4787265"/>
            <a:ext cx="1628775"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the decision is discrete/combinatorial</a:t>
            </a:r>
          </a:p>
        </p:txBody>
      </p:sp>
      <p:sp>
        <p:nvSpPr>
          <p:cNvPr id="36" name="">
            <a:extLst xmlns:a="http://schemas.openxmlformats.org/drawingml/2006/main">
              <a:ext uri="{FF2B5EF4-FFF2-40B4-BE49-F238E27FC236}">
                <a16:creationId xmlns:a16="http://schemas.microsoft.com/office/drawing/2014/main" id="{433758E2-C0CE-408D-A320-242F7BA6EE4F}"/>
              </a:ext>
            </a:extLst>
          </p:cNvPr>
          <p:cNvSpPr>
            <a:spLocks xmlns:a="http://schemas.openxmlformats.org/drawingml/2006/main" noGrp="1"/>
          </p:cNvSpPr>
          <p:nvPr/>
        </p:nvSpPr>
        <p:spPr>
          <a:xfrm xmlns:a="http://schemas.openxmlformats.org/drawingml/2006/main">
            <a:off x="6181725" y="4711065"/>
            <a:ext cx="1857375"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7" name="cell-2-3">
            <a:extLst xmlns:a="http://schemas.openxmlformats.org/drawingml/2006/main">
              <a:ext uri="{FF2B5EF4-FFF2-40B4-BE49-F238E27FC236}">
                <a16:creationId xmlns:a16="http://schemas.microsoft.com/office/drawing/2014/main" id="{19286C72-7924-441A-A876-F01807173089}"/>
              </a:ext>
            </a:extLst>
          </p:cNvPr>
          <p:cNvSpPr>
            <a:spLocks xmlns:a="http://schemas.openxmlformats.org/drawingml/2006/main" noGrp="1"/>
          </p:cNvSpPr>
          <p:nvPr/>
        </p:nvSpPr>
        <p:spPr>
          <a:xfrm xmlns:a="http://schemas.openxmlformats.org/drawingml/2006/main">
            <a:off x="6296025" y="4787265"/>
            <a:ext cx="1628775"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Week 12</a:t>
            </a:r>
          </a:p>
        </p:txBody>
      </p:sp>
      <p:sp>
        <p:nvSpPr>
          <p:cNvPr id="38" name="callout-label">
            <a:extLst xmlns:a="http://schemas.openxmlformats.org/drawingml/2006/main">
              <a:ext uri="{FF2B5EF4-FFF2-40B4-BE49-F238E27FC236}">
                <a16:creationId xmlns:a16="http://schemas.microsoft.com/office/drawing/2014/main" id="{1E999F28-2538-4B40-9FC9-1071410779C9}"/>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39" name="callout">
            <a:extLst xmlns:a="http://schemas.openxmlformats.org/drawingml/2006/main">
              <a:ext uri="{FF2B5EF4-FFF2-40B4-BE49-F238E27FC236}">
                <a16:creationId xmlns:a16="http://schemas.microsoft.com/office/drawing/2014/main" id="{BFE1571A-9B65-4354-A7BB-07E09A1CBB0D}"/>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Linear programming has the strongest guarantee in this sequence, but a solver still reports a numerical solution to stated feasibility and optimality tolerances.</a:t>
            </a:r>
          </a:p>
        </p:txBody>
      </p:sp>
    </p:spTree>
    <p:extLst>
      <p:ext uri="{BB962C8B-B14F-4D97-AF65-F5344CB8AC3E}">
        <p14:creationId xmlns:p14="http://schemas.microsoft.com/office/powerpoint/2010/main" val="2827697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A39CD1AA-44E6-45A7-92C4-8FD08F9B1A8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21CB2E4A-3486-4F2D-B3F9-8E7D30083EB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Formulation connects four different kinds of information</a:t>
            </a:r>
          </a:p>
        </p:txBody>
      </p:sp>
      <p:sp>
        <p:nvSpPr>
          <p:cNvPr id="3" name="">
            <a:extLst xmlns:a="http://schemas.openxmlformats.org/drawingml/2006/main">
              <a:ext uri="{FF2B5EF4-FFF2-40B4-BE49-F238E27FC236}">
                <a16:creationId xmlns:a16="http://schemas.microsoft.com/office/drawing/2014/main" id="{70E0849D-62DE-4BE9-8FBB-11927002083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E68F527-1D89-4456-8F72-7E00ED4BEBF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06AA7B91-1B9A-4594-912C-09125C85086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06</a:t>
            </a:r>
          </a:p>
        </p:txBody>
      </p:sp>
      <p:sp>
        <p:nvSpPr>
          <p:cNvPr id="6" name="step-arrow-0">
            <a:extLst xmlns:a="http://schemas.openxmlformats.org/drawingml/2006/main">
              <a:ext uri="{FF2B5EF4-FFF2-40B4-BE49-F238E27FC236}">
                <a16:creationId xmlns:a16="http://schemas.microsoft.com/office/drawing/2014/main" id="{584C32D3-82A9-4990-96E9-DFD28CB91030}"/>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75356EBD-58E9-41A7-853A-C2C59E7C1385}"/>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DB9FFDC9-399D-448B-BF7C-86BEA43D03AC}"/>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0DA48B78-BAA3-45CC-AB18-F250920FC49F}"/>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AAFE3FF2-51C3-4FBD-B8A4-635CF7611BE4}"/>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ABEB1E74-8640-43D6-8437-E289CEE7A521}"/>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VARIABLES</a:t>
            </a:r>
          </a:p>
        </p:txBody>
      </p:sp>
      <p:sp>
        <p:nvSpPr>
          <p:cNvPr id="12" name="">
            <a:extLst xmlns:a="http://schemas.openxmlformats.org/drawingml/2006/main">
              <a:ext uri="{FF2B5EF4-FFF2-40B4-BE49-F238E27FC236}">
                <a16:creationId xmlns:a16="http://schemas.microsoft.com/office/drawing/2014/main" id="{C2064AF9-4EBD-489A-9FE0-8076175B659D}"/>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D402B60F-32AB-4DC2-8DFB-0F4BFAAA6CAA}"/>
              </a:ext>
            </a:extLst>
          </p:cNvPr>
          <p:cNvSpPr>
            <a:spLocks xmlns:a="http://schemas.openxmlformats.org/drawingml/2006/main" noGrp="1"/>
          </p:cNvSpPr>
          <p:nvPr/>
        </p:nvSpPr>
        <p:spPr>
          <a:xfrm xmlns:a="http://schemas.openxmlformats.org/drawingml/2006/main">
            <a:off x="8001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What may change?</a:t>
            </a:r>
          </a:p>
        </p:txBody>
      </p:sp>
      <p:sp>
        <p:nvSpPr>
          <p:cNvPr id="14" name="step-body-0">
            <a:extLst xmlns:a="http://schemas.openxmlformats.org/drawingml/2006/main">
              <a:ext uri="{FF2B5EF4-FFF2-40B4-BE49-F238E27FC236}">
                <a16:creationId xmlns:a16="http://schemas.microsoft.com/office/drawing/2014/main" id="{BB9A2C2F-22CB-41E3-A837-3A2E6A270E53}"/>
              </a:ext>
            </a:extLst>
          </p:cNvPr>
          <p:cNvSpPr>
            <a:spLocks xmlns:a="http://schemas.openxmlformats.org/drawingml/2006/main" noGrp="1"/>
          </p:cNvSpPr>
          <p:nvPr/>
        </p:nvSpPr>
        <p:spPr>
          <a:xfrm xmlns:a="http://schemas.openxmlformats.org/drawingml/2006/main">
            <a:off x="8001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x1 = solar area and x2 = green-roof area, both in m².</a:t>
            </a:r>
          </a:p>
        </p:txBody>
      </p:sp>
      <p:sp>
        <p:nvSpPr>
          <p:cNvPr id="15" name="step-node-1">
            <a:extLst xmlns:a="http://schemas.openxmlformats.org/drawingml/2006/main">
              <a:ext uri="{FF2B5EF4-FFF2-40B4-BE49-F238E27FC236}">
                <a16:creationId xmlns:a16="http://schemas.microsoft.com/office/drawing/2014/main" id="{CB3C3DED-4925-407C-9338-76374CF2E503}"/>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6652A425-38D3-4175-894B-D0B539EA7C02}"/>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48F86B74-BDB9-4976-86A3-6A8EC0357739}"/>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OBJECTIVE</a:t>
            </a:r>
          </a:p>
        </p:txBody>
      </p:sp>
      <p:sp>
        <p:nvSpPr>
          <p:cNvPr id="18" name="">
            <a:extLst xmlns:a="http://schemas.openxmlformats.org/drawingml/2006/main">
              <a:ext uri="{FF2B5EF4-FFF2-40B4-BE49-F238E27FC236}">
                <a16:creationId xmlns:a16="http://schemas.microsoft.com/office/drawing/2014/main" id="{D909514E-D525-4060-865E-922423886540}"/>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7BDCF01B-4D40-4810-ABD6-43BCB8101532}"/>
              </a:ext>
            </a:extLst>
          </p:cNvPr>
          <p:cNvSpPr>
            <a:spLocks xmlns:a="http://schemas.openxmlformats.org/drawingml/2006/main" noGrp="1"/>
          </p:cNvSpPr>
          <p:nvPr/>
        </p:nvSpPr>
        <p:spPr>
          <a:xfrm xmlns:a="http://schemas.openxmlformats.org/drawingml/2006/main">
            <a:off x="36004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What ranks designs?</a:t>
            </a:r>
          </a:p>
        </p:txBody>
      </p:sp>
      <p:sp>
        <p:nvSpPr>
          <p:cNvPr id="20" name="step-body-1">
            <a:extLst xmlns:a="http://schemas.openxmlformats.org/drawingml/2006/main">
              <a:ext uri="{FF2B5EF4-FFF2-40B4-BE49-F238E27FC236}">
                <a16:creationId xmlns:a16="http://schemas.microsoft.com/office/drawing/2014/main" id="{0F44E50A-5BE2-4C63-97FE-8A4C51CBB336}"/>
              </a:ext>
            </a:extLst>
          </p:cNvPr>
          <p:cNvSpPr>
            <a:spLocks xmlns:a="http://schemas.openxmlformats.org/drawingml/2006/main" noGrp="1"/>
          </p:cNvSpPr>
          <p:nvPr/>
        </p:nvSpPr>
        <p:spPr>
          <a:xfrm xmlns:a="http://schemas.openxmlformats.org/drawingml/2006/main">
            <a:off x="36004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Annual benefit combines 60x1 + 25x2 into one quantity.</a:t>
            </a:r>
          </a:p>
        </p:txBody>
      </p:sp>
      <p:sp>
        <p:nvSpPr>
          <p:cNvPr id="21" name="step-node-2">
            <a:extLst xmlns:a="http://schemas.openxmlformats.org/drawingml/2006/main">
              <a:ext uri="{FF2B5EF4-FFF2-40B4-BE49-F238E27FC236}">
                <a16:creationId xmlns:a16="http://schemas.microsoft.com/office/drawing/2014/main" id="{8F843779-A757-45E8-8E40-C6DF5114153F}"/>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BF172A95-9A0E-4745-802D-056C81AD3952}"/>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70646CA6-E667-4BD7-8542-81D609C95C8C}"/>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CONSTRAINTS</a:t>
            </a:r>
          </a:p>
        </p:txBody>
      </p:sp>
      <p:sp>
        <p:nvSpPr>
          <p:cNvPr id="24" name="">
            <a:extLst xmlns:a="http://schemas.openxmlformats.org/drawingml/2006/main">
              <a:ext uri="{FF2B5EF4-FFF2-40B4-BE49-F238E27FC236}">
                <a16:creationId xmlns:a16="http://schemas.microsoft.com/office/drawing/2014/main" id="{3F0E1A0F-CEB1-4D9D-91B7-AF6C9C3913C4}"/>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158D7E7F-F022-477E-B1D2-8EFBB2E980CD}"/>
              </a:ext>
            </a:extLst>
          </p:cNvPr>
          <p:cNvSpPr>
            <a:spLocks xmlns:a="http://schemas.openxmlformats.org/drawingml/2006/main" noGrp="1"/>
          </p:cNvSpPr>
          <p:nvPr/>
        </p:nvSpPr>
        <p:spPr>
          <a:xfrm xmlns:a="http://schemas.openxmlformats.org/drawingml/2006/main">
            <a:off x="64008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What must hold?</a:t>
            </a:r>
          </a:p>
        </p:txBody>
      </p:sp>
      <p:sp>
        <p:nvSpPr>
          <p:cNvPr id="26" name="step-body-2">
            <a:extLst xmlns:a="http://schemas.openxmlformats.org/drawingml/2006/main">
              <a:ext uri="{FF2B5EF4-FFF2-40B4-BE49-F238E27FC236}">
                <a16:creationId xmlns:a16="http://schemas.microsoft.com/office/drawing/2014/main" id="{CF010F7E-CECE-46D2-BD38-44C8E349B89B}"/>
              </a:ext>
            </a:extLst>
          </p:cNvPr>
          <p:cNvSpPr>
            <a:spLocks xmlns:a="http://schemas.openxmlformats.org/drawingml/2006/main" noGrp="1"/>
          </p:cNvSpPr>
          <p:nvPr/>
        </p:nvSpPr>
        <p:spPr>
          <a:xfrm xmlns:a="http://schemas.openxmlformats.org/drawingml/2006/main">
            <a:off x="64008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Total area and installed cost limit the candidate set.</a:t>
            </a:r>
          </a:p>
        </p:txBody>
      </p:sp>
      <p:sp>
        <p:nvSpPr>
          <p:cNvPr id="27" name="step-node-3">
            <a:extLst xmlns:a="http://schemas.openxmlformats.org/drawingml/2006/main">
              <a:ext uri="{FF2B5EF4-FFF2-40B4-BE49-F238E27FC236}">
                <a16:creationId xmlns:a16="http://schemas.microsoft.com/office/drawing/2014/main" id="{EF705779-A28F-47AC-9473-DC9664E78ED6}"/>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D4A21022-9417-4F89-9DD5-B80E9D1F8FDD}"/>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342B1594-EAC5-4DB7-8878-66EFE333A039}"/>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BOUNDS</a:t>
            </a:r>
          </a:p>
        </p:txBody>
      </p:sp>
      <p:sp>
        <p:nvSpPr>
          <p:cNvPr id="30" name="">
            <a:extLst xmlns:a="http://schemas.openxmlformats.org/drawingml/2006/main">
              <a:ext uri="{FF2B5EF4-FFF2-40B4-BE49-F238E27FC236}">
                <a16:creationId xmlns:a16="http://schemas.microsoft.com/office/drawing/2014/main" id="{84AEF393-A9F2-4FB7-B3DD-7102DC3C6591}"/>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7615222C-C230-4A69-B7A7-7D0169227746}"/>
              </a:ext>
            </a:extLst>
          </p:cNvPr>
          <p:cNvSpPr>
            <a:spLocks xmlns:a="http://schemas.openxmlformats.org/drawingml/2006/main" noGrp="1"/>
          </p:cNvSpPr>
          <p:nvPr/>
        </p:nvSpPr>
        <p:spPr>
          <a:xfrm xmlns:a="http://schemas.openxmlformats.org/drawingml/2006/main">
            <a:off x="92011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What is meaningful?</a:t>
            </a:r>
          </a:p>
        </p:txBody>
      </p:sp>
      <p:sp>
        <p:nvSpPr>
          <p:cNvPr id="32" name="step-body-3">
            <a:extLst xmlns:a="http://schemas.openxmlformats.org/drawingml/2006/main">
              <a:ext uri="{FF2B5EF4-FFF2-40B4-BE49-F238E27FC236}">
                <a16:creationId xmlns:a16="http://schemas.microsoft.com/office/drawing/2014/main" id="{CD0C19E9-23EF-4BCE-988A-40ABECD44488}"/>
              </a:ext>
            </a:extLst>
          </p:cNvPr>
          <p:cNvSpPr>
            <a:spLocks xmlns:a="http://schemas.openxmlformats.org/drawingml/2006/main" noGrp="1"/>
          </p:cNvSpPr>
          <p:nvPr/>
        </p:nvSpPr>
        <p:spPr>
          <a:xfrm xmlns:a="http://schemas.openxmlformats.org/drawingml/2006/main">
            <a:off x="92011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Nonnegative areas and the solar structural cap define variable limits.</a:t>
            </a:r>
          </a:p>
        </p:txBody>
      </p:sp>
    </p:spTree>
    <p:extLst>
      <p:ext uri="{BB962C8B-B14F-4D97-AF65-F5344CB8AC3E}">
        <p14:creationId xmlns:p14="http://schemas.microsoft.com/office/powerpoint/2010/main" val="796454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C48AD95C-6883-4135-9FC7-0B3F3700D8E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BE4B7134-00BE-4FE6-BC15-E9A56048D18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Design variable, defined</a:t>
            </a:r>
          </a:p>
        </p:txBody>
      </p:sp>
      <p:sp>
        <p:nvSpPr>
          <p:cNvPr id="3" name="">
            <a:extLst xmlns:a="http://schemas.openxmlformats.org/drawingml/2006/main">
              <a:ext uri="{FF2B5EF4-FFF2-40B4-BE49-F238E27FC236}">
                <a16:creationId xmlns:a16="http://schemas.microsoft.com/office/drawing/2014/main" id="{E4AAFF8F-EDB2-4C21-A3A0-BF05A78D658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BFFFFC7-6811-4C7A-818F-0207AD6D017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42D749B0-CA04-4406-BD47-769F6681772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07</a:t>
            </a:r>
          </a:p>
        </p:txBody>
      </p:sp>
      <p:sp>
        <p:nvSpPr>
          <p:cNvPr id="6" name="term-label">
            <a:extLst xmlns:a="http://schemas.openxmlformats.org/drawingml/2006/main">
              <a:ext uri="{FF2B5EF4-FFF2-40B4-BE49-F238E27FC236}">
                <a16:creationId xmlns:a16="http://schemas.microsoft.com/office/drawing/2014/main" id="{216E1DF5-9DD3-4FBB-AE62-1CF7D74628C2}"/>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0AC4A21C-9BD2-478D-B725-3F730B9F4C8B}"/>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design variable</a:t>
            </a:r>
          </a:p>
        </p:txBody>
      </p:sp>
      <p:sp>
        <p:nvSpPr>
          <p:cNvPr id="8" name="">
            <a:extLst xmlns:a="http://schemas.openxmlformats.org/drawingml/2006/main">
              <a:ext uri="{FF2B5EF4-FFF2-40B4-BE49-F238E27FC236}">
                <a16:creationId xmlns:a16="http://schemas.microsoft.com/office/drawing/2014/main" id="{72B22E74-FFA8-4FE5-8A75-9A3A16D5D037}"/>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A6484ABE-D6CC-4378-A188-1AB235EA517C}"/>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 design variable is a quantity your formulation is free to choose — the 'moving part' the solver adjusts to search for the best answer. Every other piece (objective, constraints, bounds) is written IN TERMS OF the design variables, so naming them, with units, is always step one.</a:t>
            </a:r>
          </a:p>
        </p:txBody>
      </p:sp>
      <p:sp>
        <p:nvSpPr>
          <p:cNvPr id="10" name="example-panel">
            <a:extLst xmlns:a="http://schemas.openxmlformats.org/drawingml/2006/main">
              <a:ext uri="{FF2B5EF4-FFF2-40B4-BE49-F238E27FC236}">
                <a16:creationId xmlns:a16="http://schemas.microsoft.com/office/drawing/2014/main" id="{D41CFC20-DFCF-46CA-A6DA-D55C1A99D343}"/>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79655D53-81DE-47D9-89BD-E29156EAB710}"/>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89917F8F-8890-4AC6-9D23-CACE8980D918}"/>
              </a:ext>
            </a:extLst>
          </p:cNvPr>
          <p:cNvSpPr>
            <a:spLocks xmlns:a="http://schemas.openxmlformats.org/drawingml/2006/main" noGrp="1"/>
          </p:cNvSpPr>
          <p:nvPr/>
        </p:nvSpPr>
        <p:spPr>
          <a:xfrm xmlns:a="http://schemas.openxmlformats.org/drawingml/2006/main">
            <a:off x="6972300" y="2286000"/>
            <a:ext cx="438150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x1 = solar area (m2), x2 = green roof area (m2)</a:t>
            </a:r>
          </a:p>
        </p:txBody>
      </p:sp>
      <p:sp>
        <p:nvSpPr>
          <p:cNvPr id="13" name="example-body">
            <a:extLst xmlns:a="http://schemas.openxmlformats.org/drawingml/2006/main">
              <a:ext uri="{FF2B5EF4-FFF2-40B4-BE49-F238E27FC236}">
                <a16:creationId xmlns:a16="http://schemas.microsoft.com/office/drawing/2014/main" id="{27204D94-F866-498A-925D-1B604A0B3BD1}"/>
              </a:ext>
            </a:extLst>
          </p:cNvPr>
          <p:cNvSpPr>
            <a:spLocks xmlns:a="http://schemas.openxmlformats.org/drawingml/2006/main" noGrp="1"/>
          </p:cNvSpPr>
          <p:nvPr/>
        </p:nvSpPr>
        <p:spPr>
          <a:xfrm xmlns:a="http://schemas.openxmlformats.org/drawingml/2006/main">
            <a:off x="6972300" y="2951226"/>
            <a:ext cx="4381500" cy="19827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Radley Hall's roof allocation has exactly two design variables. Every formula that follows — the objective, both constraints, and the bounds — is written only in terms of x1 and x2; nothing else is allowed to vary.</a:t>
            </a:r>
          </a:p>
        </p:txBody>
      </p:sp>
      <p:sp>
        <p:nvSpPr>
          <p:cNvPr id="14" name="note-bar">
            <a:extLst xmlns:a="http://schemas.openxmlformats.org/drawingml/2006/main">
              <a:ext uri="{FF2B5EF4-FFF2-40B4-BE49-F238E27FC236}">
                <a16:creationId xmlns:a16="http://schemas.microsoft.com/office/drawing/2014/main" id="{B3552422-1665-4A4C-A4AA-43FA66D0454D}"/>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6A14068B-3D9A-43CD-B353-E27000AFC501}"/>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7C70EAE3-0095-4AD0-B766-DB7F988206E7}"/>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A design variable is not the same as a fixed input like the $60/m2 benefit rate — that is a parameter, a number you plug in. A design variable is a number the solver itself is free to change.</a:t>
            </a:r>
          </a:p>
        </p:txBody>
      </p:sp>
    </p:spTree>
    <p:extLst>
      <p:ext uri="{BB962C8B-B14F-4D97-AF65-F5344CB8AC3E}">
        <p14:creationId xmlns:p14="http://schemas.microsoft.com/office/powerpoint/2010/main" val="65462128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0514EFB2-57BC-4025-928F-7C3F1561FB7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C60D83C1-8E18-4856-97E6-8E15736DF9F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Objective function, defined</a:t>
            </a:r>
          </a:p>
        </p:txBody>
      </p:sp>
      <p:sp>
        <p:nvSpPr>
          <p:cNvPr id="3" name="">
            <a:extLst xmlns:a="http://schemas.openxmlformats.org/drawingml/2006/main">
              <a:ext uri="{FF2B5EF4-FFF2-40B4-BE49-F238E27FC236}">
                <a16:creationId xmlns:a16="http://schemas.microsoft.com/office/drawing/2014/main" id="{6CAF645B-5247-407F-A60E-8CA1B6C508B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B001F6C-20CC-4B79-93B6-7843CDFA553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35CC4A89-7854-41BD-A459-7A4A476C764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08</a:t>
            </a:r>
          </a:p>
        </p:txBody>
      </p:sp>
      <p:sp>
        <p:nvSpPr>
          <p:cNvPr id="6" name="term-label">
            <a:extLst xmlns:a="http://schemas.openxmlformats.org/drawingml/2006/main">
              <a:ext uri="{FF2B5EF4-FFF2-40B4-BE49-F238E27FC236}">
                <a16:creationId xmlns:a16="http://schemas.microsoft.com/office/drawing/2014/main" id="{91CDD2BD-6840-4931-907D-5CCA1A781CCD}"/>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CC07B1AF-406D-4007-9AB3-B1C19C2C06E7}"/>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objective function</a:t>
            </a:r>
          </a:p>
        </p:txBody>
      </p:sp>
      <p:sp>
        <p:nvSpPr>
          <p:cNvPr id="8" name="">
            <a:extLst xmlns:a="http://schemas.openxmlformats.org/drawingml/2006/main">
              <a:ext uri="{FF2B5EF4-FFF2-40B4-BE49-F238E27FC236}">
                <a16:creationId xmlns:a16="http://schemas.microsoft.com/office/drawing/2014/main" id="{A3BF3287-B4AB-4AB8-A838-F0B0515E1E52}"/>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127707F7-5C7B-4832-AFB0-77D5FD84EA25}"/>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The single number you are trying to maximize or minimize, written as a formula in the design variables. Optimization always needs exactly one objective — one number to rank every candidate design by.</a:t>
            </a:r>
          </a:p>
        </p:txBody>
      </p:sp>
      <p:sp>
        <p:nvSpPr>
          <p:cNvPr id="10" name="example-panel">
            <a:extLst xmlns:a="http://schemas.openxmlformats.org/drawingml/2006/main">
              <a:ext uri="{FF2B5EF4-FFF2-40B4-BE49-F238E27FC236}">
                <a16:creationId xmlns:a16="http://schemas.microsoft.com/office/drawing/2014/main" id="{07F868E9-ABD7-4213-89E2-EE14B69C5CC5}"/>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D3C8FFBC-238F-4C38-A81F-612EE7D3485D}"/>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5E665949-5459-4588-B046-09592B740BF0}"/>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maximize 60x1 + 25x2</a:t>
            </a:r>
          </a:p>
        </p:txBody>
      </p:sp>
      <p:sp>
        <p:nvSpPr>
          <p:cNvPr id="13" name="example-body">
            <a:extLst xmlns:a="http://schemas.openxmlformats.org/drawingml/2006/main">
              <a:ext uri="{FF2B5EF4-FFF2-40B4-BE49-F238E27FC236}">
                <a16:creationId xmlns:a16="http://schemas.microsoft.com/office/drawing/2014/main" id="{12F883F2-F32B-4E52-82C9-3059C43DE20A}"/>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Solar returns $60/m2/yr; green roof returns $25/m2/yr. Solar earns more per m2 — so why not go all-solar? Constraints, next, are why.</a:t>
            </a:r>
          </a:p>
        </p:txBody>
      </p:sp>
      <p:sp>
        <p:nvSpPr>
          <p:cNvPr id="14" name="note-bar">
            <a:extLst xmlns:a="http://schemas.openxmlformats.org/drawingml/2006/main">
              <a:ext uri="{FF2B5EF4-FFF2-40B4-BE49-F238E27FC236}">
                <a16:creationId xmlns:a16="http://schemas.microsoft.com/office/drawing/2014/main" id="{C1BC7323-15E3-49DF-AA10-14B1EEDEFB61}"/>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C04221D0-A4C6-4E8B-B633-9507F23255AD}"/>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3CA979BC-EE51-4E6E-ACFE-033703585C95}"/>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Real projects often care about cost AND daylight AND embodied carbon at once — but linprog needs those combined into ONE formula (or solved as separate scenarios), never several objectives at the same time.</a:t>
            </a:r>
          </a:p>
        </p:txBody>
      </p:sp>
    </p:spTree>
    <p:extLst>
      <p:ext uri="{BB962C8B-B14F-4D97-AF65-F5344CB8AC3E}">
        <p14:creationId xmlns:p14="http://schemas.microsoft.com/office/powerpoint/2010/main" val="19877956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A8E34FC6-47F3-49A5-9451-5D5B06BAE3A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4EFEF459-1A5A-4836-8EE2-20AFAC3711F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Constraint, defined</a:t>
            </a:r>
          </a:p>
        </p:txBody>
      </p:sp>
      <p:sp>
        <p:nvSpPr>
          <p:cNvPr id="3" name="">
            <a:extLst xmlns:a="http://schemas.openxmlformats.org/drawingml/2006/main">
              <a:ext uri="{FF2B5EF4-FFF2-40B4-BE49-F238E27FC236}">
                <a16:creationId xmlns:a16="http://schemas.microsoft.com/office/drawing/2014/main" id="{6F030FE6-44EA-4812-A477-7710EAE3F2A6}"/>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45F9632-4E98-4A4B-BE38-4395BC74221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70961DF7-570B-48CC-B664-DEE0D5EC903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09</a:t>
            </a:r>
          </a:p>
        </p:txBody>
      </p:sp>
      <p:sp>
        <p:nvSpPr>
          <p:cNvPr id="6" name="term-label">
            <a:extLst xmlns:a="http://schemas.openxmlformats.org/drawingml/2006/main">
              <a:ext uri="{FF2B5EF4-FFF2-40B4-BE49-F238E27FC236}">
                <a16:creationId xmlns:a16="http://schemas.microsoft.com/office/drawing/2014/main" id="{9FBAD262-BDDB-48E0-BC67-DEDE81ECD465}"/>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9D7AE2E7-9AE2-4B56-82FD-13FCDE6D7571}"/>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constraint</a:t>
            </a:r>
          </a:p>
        </p:txBody>
      </p:sp>
      <p:sp>
        <p:nvSpPr>
          <p:cNvPr id="8" name="">
            <a:extLst xmlns:a="http://schemas.openxmlformats.org/drawingml/2006/main">
              <a:ext uri="{FF2B5EF4-FFF2-40B4-BE49-F238E27FC236}">
                <a16:creationId xmlns:a16="http://schemas.microsoft.com/office/drawing/2014/main" id="{BE048502-0611-4D24-92D2-6A1552BA6EB3}"/>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45A8A4EC-15D8-40A6-A903-CB8C0157A003}"/>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 hard limit the design must satisfy, written as an inequality (&lt;=, &gt;=) or an equality (=) in the design variables. A design that violates even one constraint is not a candidate design at all.</a:t>
            </a:r>
          </a:p>
        </p:txBody>
      </p:sp>
      <p:sp>
        <p:nvSpPr>
          <p:cNvPr id="10" name="example-panel">
            <a:extLst xmlns:a="http://schemas.openxmlformats.org/drawingml/2006/main">
              <a:ext uri="{FF2B5EF4-FFF2-40B4-BE49-F238E27FC236}">
                <a16:creationId xmlns:a16="http://schemas.microsoft.com/office/drawing/2014/main" id="{F69C8B7E-DB78-486F-BD6F-5BBAF89E9E16}"/>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24ACC97E-E2F1-4E8B-B495-F6B7527E999F}"/>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F7577DA2-5B70-4542-97B1-A4F0472C6315}"/>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x1 + x2 &lt;= 200</a:t>
            </a:r>
          </a:p>
        </p:txBody>
      </p:sp>
      <p:sp>
        <p:nvSpPr>
          <p:cNvPr id="13" name="example-body">
            <a:extLst xmlns:a="http://schemas.openxmlformats.org/drawingml/2006/main">
              <a:ext uri="{FF2B5EF4-FFF2-40B4-BE49-F238E27FC236}">
                <a16:creationId xmlns:a16="http://schemas.microsoft.com/office/drawing/2014/main" id="{BE0124C0-07C9-45A9-9CE4-4C30642084C4}"/>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Area: x1 + x2 &lt;= 200 (only 200 m2 of roof exists). Budget: 400x1 + 150x2 &lt;= 50,000 (solar installs at $400/m2, green roof at $150/m2; the board approved $50,000).</a:t>
            </a:r>
          </a:p>
        </p:txBody>
      </p:sp>
      <p:sp>
        <p:nvSpPr>
          <p:cNvPr id="14" name="note-bar">
            <a:extLst xmlns:a="http://schemas.openxmlformats.org/drawingml/2006/main">
              <a:ext uri="{FF2B5EF4-FFF2-40B4-BE49-F238E27FC236}">
                <a16:creationId xmlns:a16="http://schemas.microsoft.com/office/drawing/2014/main" id="{98A01FBD-9784-49B3-9E07-68201859D746}"/>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2ED7F84F-4F37-497F-A7B7-BC57808F5989}"/>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D0598C6A-D4EA-4EB0-B639-47DCEB5B644D}"/>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A constraint links TWO OR MORE variables together (like x1 + x2 &lt;= 200). A bound, next slide, limits only ONE variable by itself — that difference is why linprog asks for them as separate arguments.</a:t>
            </a:r>
          </a:p>
        </p:txBody>
      </p:sp>
    </p:spTree>
    <p:extLst>
      <p:ext uri="{BB962C8B-B14F-4D97-AF65-F5344CB8AC3E}">
        <p14:creationId xmlns:p14="http://schemas.microsoft.com/office/powerpoint/2010/main" val="33992717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73BDF6D4-8B72-4061-9BCC-BD813BEFBB4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A0517468-DE90-4091-9A05-B96DF92DA28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Bounds, defined</a:t>
            </a:r>
          </a:p>
        </p:txBody>
      </p:sp>
      <p:sp>
        <p:nvSpPr>
          <p:cNvPr id="3" name="">
            <a:extLst xmlns:a="http://schemas.openxmlformats.org/drawingml/2006/main">
              <a:ext uri="{FF2B5EF4-FFF2-40B4-BE49-F238E27FC236}">
                <a16:creationId xmlns:a16="http://schemas.microsoft.com/office/drawing/2014/main" id="{B7757FA9-1B73-49F2-B296-3C0407EAFD1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58537F8-D9BC-42DD-B3AA-77411739816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3D2FB87C-3471-44A3-A213-E762D11A820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10</a:t>
            </a:r>
          </a:p>
        </p:txBody>
      </p:sp>
      <p:sp>
        <p:nvSpPr>
          <p:cNvPr id="6" name="term-label">
            <a:extLst xmlns:a="http://schemas.openxmlformats.org/drawingml/2006/main">
              <a:ext uri="{FF2B5EF4-FFF2-40B4-BE49-F238E27FC236}">
                <a16:creationId xmlns:a16="http://schemas.microsoft.com/office/drawing/2014/main" id="{E6DB64A5-59EB-4792-9851-C8C3045E27E5}"/>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227706F3-1E82-4B0B-9A98-759443E3E4E2}"/>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bounds</a:t>
            </a:r>
          </a:p>
        </p:txBody>
      </p:sp>
      <p:sp>
        <p:nvSpPr>
          <p:cNvPr id="8" name="">
            <a:extLst xmlns:a="http://schemas.openxmlformats.org/drawingml/2006/main">
              <a:ext uri="{FF2B5EF4-FFF2-40B4-BE49-F238E27FC236}">
                <a16:creationId xmlns:a16="http://schemas.microsoft.com/office/drawing/2014/main" id="{2239B485-F412-4AAF-A460-78301FD08089}"/>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3170BBDF-012B-40B1-8A48-C2E21E58E2FE}"/>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Bounds are simple lower/upper limits on ONE variable at a time, written lb &lt;= x &lt;= ub. Bounds are technically a special case of constraints, but scipy.optimize.linprog asks for them separately because they are so common.</a:t>
            </a:r>
          </a:p>
        </p:txBody>
      </p:sp>
      <p:sp>
        <p:nvSpPr>
          <p:cNvPr id="10" name="example-panel">
            <a:extLst xmlns:a="http://schemas.openxmlformats.org/drawingml/2006/main">
              <a:ext uri="{FF2B5EF4-FFF2-40B4-BE49-F238E27FC236}">
                <a16:creationId xmlns:a16="http://schemas.microsoft.com/office/drawing/2014/main" id="{20C688B3-E4D7-49F3-A033-3B70594755D7}"/>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09260B39-DDA0-4232-9372-AD0FC480B6FC}"/>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D682AFA2-7509-44FB-9B44-FF643EE29DB9}"/>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bounds = [(0, 120), (0, None)]</a:t>
            </a:r>
          </a:p>
        </p:txBody>
      </p:sp>
      <p:sp>
        <p:nvSpPr>
          <p:cNvPr id="13" name="example-body">
            <a:extLst xmlns:a="http://schemas.openxmlformats.org/drawingml/2006/main">
              <a:ext uri="{FF2B5EF4-FFF2-40B4-BE49-F238E27FC236}">
                <a16:creationId xmlns:a16="http://schemas.microsoft.com/office/drawing/2014/main" id="{84640004-6981-4C89-891F-64F2129E9BD9}"/>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Solar is structurally capped at 120 m2 — the existing roof structure cannot support panels everywhere: 0 &lt;= x1 &lt;= 120. Green roof has no extra upper bound beyond what area and budget already limit: x2 &gt;= 0.</a:t>
            </a:r>
          </a:p>
        </p:txBody>
      </p:sp>
      <p:sp>
        <p:nvSpPr>
          <p:cNvPr id="14" name="note-bar">
            <a:extLst xmlns:a="http://schemas.openxmlformats.org/drawingml/2006/main">
              <a:ext uri="{FF2B5EF4-FFF2-40B4-BE49-F238E27FC236}">
                <a16:creationId xmlns:a16="http://schemas.microsoft.com/office/drawing/2014/main" id="{6E10B423-ADFD-4215-BCBA-E49AB14DAD58}"/>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3FE05490-B323-435E-B5E5-486C656441A7}"/>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F44770EF-2363-49D9-85B0-5A561CAC13DA}"/>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'None' as an upper bound means 'no extra limit here' — not zero and not infinity as a number. x2 is still limited indirectly by the area and budget constraints.</a:t>
            </a:r>
          </a:p>
        </p:txBody>
      </p:sp>
    </p:spTree>
    <p:extLst>
      <p:ext uri="{BB962C8B-B14F-4D97-AF65-F5344CB8AC3E}">
        <p14:creationId xmlns:p14="http://schemas.microsoft.com/office/powerpoint/2010/main" val="193023440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3F88AB27-70F9-4469-8001-D1C41F676F9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BE6B3D47-941A-4E49-BDC5-51A835C4C97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Feasible region, defined</a:t>
            </a:r>
          </a:p>
        </p:txBody>
      </p:sp>
      <p:sp>
        <p:nvSpPr>
          <p:cNvPr id="3" name="">
            <a:extLst xmlns:a="http://schemas.openxmlformats.org/drawingml/2006/main">
              <a:ext uri="{FF2B5EF4-FFF2-40B4-BE49-F238E27FC236}">
                <a16:creationId xmlns:a16="http://schemas.microsoft.com/office/drawing/2014/main" id="{5744CDAF-E3C1-47F9-ADFA-C27ED68FE24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671F213-BE7C-4635-8C69-1B26AF9B8BD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93F7DCF6-6FC5-4E81-A434-67B9BF486AD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11</a:t>
            </a:r>
          </a:p>
        </p:txBody>
      </p:sp>
      <p:sp>
        <p:nvSpPr>
          <p:cNvPr id="6" name="term-label">
            <a:extLst xmlns:a="http://schemas.openxmlformats.org/drawingml/2006/main">
              <a:ext uri="{FF2B5EF4-FFF2-40B4-BE49-F238E27FC236}">
                <a16:creationId xmlns:a16="http://schemas.microsoft.com/office/drawing/2014/main" id="{9C3DFC89-7EF9-4B9B-96B9-0A41CACEDB77}"/>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9463B8EF-0C96-4B07-BB8E-0DBE820F0809}"/>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feasible region</a:t>
            </a:r>
          </a:p>
        </p:txBody>
      </p:sp>
      <p:sp>
        <p:nvSpPr>
          <p:cNvPr id="8" name="">
            <a:extLst xmlns:a="http://schemas.openxmlformats.org/drawingml/2006/main">
              <a:ext uri="{FF2B5EF4-FFF2-40B4-BE49-F238E27FC236}">
                <a16:creationId xmlns:a16="http://schemas.microsoft.com/office/drawing/2014/main" id="{16F0BC0E-F352-4D92-98EB-BECD37261023}"/>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F5B09B0D-48AB-4B91-8A01-52EFAAF3EEDB}"/>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The feasible region is the set of every (x1, x2) pair that satisfies ALL constraints and bounds at once. Optimizing means searching only inside this region for the best objective value — never outside it.</a:t>
            </a:r>
          </a:p>
        </p:txBody>
      </p:sp>
      <p:sp>
        <p:nvSpPr>
          <p:cNvPr id="10" name="example-panel">
            <a:extLst xmlns:a="http://schemas.openxmlformats.org/drawingml/2006/main">
              <a:ext uri="{FF2B5EF4-FFF2-40B4-BE49-F238E27FC236}">
                <a16:creationId xmlns:a16="http://schemas.microsoft.com/office/drawing/2014/main" id="{39CAA3FD-C795-41A3-948C-5E73572BB557}"/>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EE629F71-CD7D-4843-BE74-93E915379F73}"/>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A9894C38-DC82-46E5-80ED-4BAF81F730C2}"/>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A five-sided flat polygon</a:t>
            </a:r>
          </a:p>
        </p:txBody>
      </p:sp>
      <p:sp>
        <p:nvSpPr>
          <p:cNvPr id="13" name="example-body">
            <a:extLst xmlns:a="http://schemas.openxmlformats.org/drawingml/2006/main">
              <a:ext uri="{FF2B5EF4-FFF2-40B4-BE49-F238E27FC236}">
                <a16:creationId xmlns:a16="http://schemas.microsoft.com/office/drawing/2014/main" id="{3F5D6EB4-ABC3-443B-A868-791F8D897704}"/>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Radley Hall's feasible region, shown on the next chart: every point inside or on its edge is a legal roof design; every point outside breaks the area limit, the budget, or the structural cap.</a:t>
            </a:r>
          </a:p>
        </p:txBody>
      </p:sp>
      <p:sp>
        <p:nvSpPr>
          <p:cNvPr id="14" name="note-bar">
            <a:extLst xmlns:a="http://schemas.openxmlformats.org/drawingml/2006/main">
              <a:ext uri="{FF2B5EF4-FFF2-40B4-BE49-F238E27FC236}">
                <a16:creationId xmlns:a16="http://schemas.microsoft.com/office/drawing/2014/main" id="{B11CECD0-E050-457B-8655-FBFBB3ADB012}"/>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D48A5FD4-5E90-46E9-B8A5-BAA13469C825}"/>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9D794AB5-47E5-4FE1-B4F7-5C594D66084B}"/>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The region's EDGE counts as feasible, not just its interior — a design using the roof's full 200 m2 exactly (on the boundary) is just as legal as one using only 150 m2 (inside).</a:t>
            </a:r>
          </a:p>
        </p:txBody>
      </p:sp>
    </p:spTree>
    <p:extLst>
      <p:ext uri="{BB962C8B-B14F-4D97-AF65-F5344CB8AC3E}">
        <p14:creationId xmlns:p14="http://schemas.microsoft.com/office/powerpoint/2010/main" val="14243730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kicker">
            <a:extLst xmlns:a="http://schemas.openxmlformats.org/drawingml/2006/main">
              <a:ext uri="{FF2B5EF4-FFF2-40B4-BE49-F238E27FC236}">
                <a16:creationId xmlns:a16="http://schemas.microsoft.com/office/drawing/2014/main" id="{F34D3775-F472-4221-90EE-4F7529AD847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464FEF11-E3F7-49C1-9E8A-AACA023794A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Checking a candidate point against every constraint</a:t>
            </a:r>
          </a:p>
        </p:txBody>
      </p:sp>
      <p:sp>
        <p:nvSpPr>
          <p:cNvPr id="3" name="">
            <a:extLst xmlns:a="http://schemas.openxmlformats.org/drawingml/2006/main">
              <a:ext uri="{FF2B5EF4-FFF2-40B4-BE49-F238E27FC236}">
                <a16:creationId xmlns:a16="http://schemas.microsoft.com/office/drawing/2014/main" id="{8557A811-453A-4BBC-BF44-DC62025FDD9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914F5AD-8BA6-4BC3-98CE-46F82226EE82}"/>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92E54B8E-8E0B-4902-8C9F-A07C57FC4CC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703B7658-B1AD-4152-989E-57BA3F40C100}"/>
              </a:ext>
            </a:extLst>
          </p:cNvPr>
          <p:cNvSpPr>
            <a:spLocks xmlns:a="http://schemas.openxmlformats.org/drawingml/2006/main" noGrp="1"/>
          </p:cNvSpPr>
          <p:nvPr/>
        </p:nvSpPr>
        <p:spPr>
          <a:xfrm xmlns:a="http://schemas.openxmlformats.org/drawingml/2006/main">
            <a:off x="609600" y="263842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F3835A69-C07E-46A5-9AB4-919479AD5C9E}"/>
              </a:ext>
            </a:extLst>
          </p:cNvPr>
          <p:cNvSpPr>
            <a:spLocks xmlns:a="http://schemas.openxmlformats.org/drawingml/2006/main" noGrp="1"/>
          </p:cNvSpPr>
          <p:nvPr/>
        </p:nvSpPr>
        <p:spPr>
          <a:xfrm xmlns:a="http://schemas.openxmlformats.org/drawingml/2006/main">
            <a:off x="723900" y="271462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candidate (x1, x2)</a:t>
            </a:r>
          </a:p>
        </p:txBody>
      </p:sp>
      <p:sp>
        <p:nvSpPr>
          <p:cNvPr id="8" name="">
            <a:extLst xmlns:a="http://schemas.openxmlformats.org/drawingml/2006/main">
              <a:ext uri="{FF2B5EF4-FFF2-40B4-BE49-F238E27FC236}">
                <a16:creationId xmlns:a16="http://schemas.microsoft.com/office/drawing/2014/main" id="{6DC21EB2-68FA-41D8-9467-336242FE1B47}"/>
              </a:ext>
            </a:extLst>
          </p:cNvPr>
          <p:cNvSpPr>
            <a:spLocks xmlns:a="http://schemas.openxmlformats.org/drawingml/2006/main" noGrp="1"/>
          </p:cNvSpPr>
          <p:nvPr/>
        </p:nvSpPr>
        <p:spPr>
          <a:xfrm xmlns:a="http://schemas.openxmlformats.org/drawingml/2006/main">
            <a:off x="2466975" y="263842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3A683117-70E0-4F1F-A77C-A0B6D1EC5EA8}"/>
              </a:ext>
            </a:extLst>
          </p:cNvPr>
          <p:cNvSpPr>
            <a:spLocks xmlns:a="http://schemas.openxmlformats.org/drawingml/2006/main" noGrp="1"/>
          </p:cNvSpPr>
          <p:nvPr/>
        </p:nvSpPr>
        <p:spPr>
          <a:xfrm xmlns:a="http://schemas.openxmlformats.org/drawingml/2006/main">
            <a:off x="2581275" y="271462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area used</a:t>
            </a:r>
          </a:p>
        </p:txBody>
      </p:sp>
      <p:sp>
        <p:nvSpPr>
          <p:cNvPr id="10" name="">
            <a:extLst xmlns:a="http://schemas.openxmlformats.org/drawingml/2006/main">
              <a:ext uri="{FF2B5EF4-FFF2-40B4-BE49-F238E27FC236}">
                <a16:creationId xmlns:a16="http://schemas.microsoft.com/office/drawing/2014/main" id="{B2287B4E-7E93-421E-8180-F376DC5AF1AB}"/>
              </a:ext>
            </a:extLst>
          </p:cNvPr>
          <p:cNvSpPr>
            <a:spLocks xmlns:a="http://schemas.openxmlformats.org/drawingml/2006/main" noGrp="1"/>
          </p:cNvSpPr>
          <p:nvPr/>
        </p:nvSpPr>
        <p:spPr>
          <a:xfrm xmlns:a="http://schemas.openxmlformats.org/drawingml/2006/main">
            <a:off x="4324350" y="263842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DF795BE9-8A30-4C69-A40F-EA36FF3E46F7}"/>
              </a:ext>
            </a:extLst>
          </p:cNvPr>
          <p:cNvSpPr>
            <a:spLocks xmlns:a="http://schemas.openxmlformats.org/drawingml/2006/main" noGrp="1"/>
          </p:cNvSpPr>
          <p:nvPr/>
        </p:nvSpPr>
        <p:spPr>
          <a:xfrm xmlns:a="http://schemas.openxmlformats.org/drawingml/2006/main">
            <a:off x="4438650" y="271462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budget used</a:t>
            </a:r>
          </a:p>
        </p:txBody>
      </p:sp>
      <p:sp>
        <p:nvSpPr>
          <p:cNvPr id="12" name="">
            <a:extLst xmlns:a="http://schemas.openxmlformats.org/drawingml/2006/main">
              <a:ext uri="{FF2B5EF4-FFF2-40B4-BE49-F238E27FC236}">
                <a16:creationId xmlns:a16="http://schemas.microsoft.com/office/drawing/2014/main" id="{AF347B6E-450C-424A-BA87-7807B2C6F40E}"/>
              </a:ext>
            </a:extLst>
          </p:cNvPr>
          <p:cNvSpPr>
            <a:spLocks xmlns:a="http://schemas.openxmlformats.org/drawingml/2006/main" noGrp="1"/>
          </p:cNvSpPr>
          <p:nvPr/>
        </p:nvSpPr>
        <p:spPr>
          <a:xfrm xmlns:a="http://schemas.openxmlformats.org/drawingml/2006/main">
            <a:off x="6181725" y="263842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3" name="header-3">
            <a:extLst xmlns:a="http://schemas.openxmlformats.org/drawingml/2006/main">
              <a:ext uri="{FF2B5EF4-FFF2-40B4-BE49-F238E27FC236}">
                <a16:creationId xmlns:a16="http://schemas.microsoft.com/office/drawing/2014/main" id="{4C9AF45E-A3BA-4ADF-B652-492C56579B8F}"/>
              </a:ext>
            </a:extLst>
          </p:cNvPr>
          <p:cNvSpPr>
            <a:spLocks xmlns:a="http://schemas.openxmlformats.org/drawingml/2006/main" noGrp="1"/>
          </p:cNvSpPr>
          <p:nvPr/>
        </p:nvSpPr>
        <p:spPr>
          <a:xfrm xmlns:a="http://schemas.openxmlformats.org/drawingml/2006/main">
            <a:off x="6296025" y="271462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feasible?</a:t>
            </a:r>
          </a:p>
        </p:txBody>
      </p:sp>
      <p:sp>
        <p:nvSpPr>
          <p:cNvPr id="14" name="">
            <a:extLst xmlns:a="http://schemas.openxmlformats.org/drawingml/2006/main">
              <a:ext uri="{FF2B5EF4-FFF2-40B4-BE49-F238E27FC236}">
                <a16:creationId xmlns:a16="http://schemas.microsoft.com/office/drawing/2014/main" id="{316EB00C-81CF-47C9-9E62-E75CB8FE6EA6}"/>
              </a:ext>
            </a:extLst>
          </p:cNvPr>
          <p:cNvSpPr>
            <a:spLocks xmlns:a="http://schemas.openxmlformats.org/drawingml/2006/main" noGrp="1"/>
          </p:cNvSpPr>
          <p:nvPr/>
        </p:nvSpPr>
        <p:spPr>
          <a:xfrm xmlns:a="http://schemas.openxmlformats.org/drawingml/2006/main">
            <a:off x="609600" y="31794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0">
            <a:extLst xmlns:a="http://schemas.openxmlformats.org/drawingml/2006/main">
              <a:ext uri="{FF2B5EF4-FFF2-40B4-BE49-F238E27FC236}">
                <a16:creationId xmlns:a16="http://schemas.microsoft.com/office/drawing/2014/main" id="{BA0EC232-DCFA-43C1-B0D1-0BC6B67BC82B}"/>
              </a:ext>
            </a:extLst>
          </p:cNvPr>
          <p:cNvSpPr>
            <a:spLocks xmlns:a="http://schemas.openxmlformats.org/drawingml/2006/main" noGrp="1"/>
          </p:cNvSpPr>
          <p:nvPr/>
        </p:nvSpPr>
        <p:spPr>
          <a:xfrm xmlns:a="http://schemas.openxmlformats.org/drawingml/2006/main">
            <a:off x="723900" y="32556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(80, 120)</a:t>
            </a:r>
          </a:p>
        </p:txBody>
      </p:sp>
      <p:sp>
        <p:nvSpPr>
          <p:cNvPr id="16" name="">
            <a:extLst xmlns:a="http://schemas.openxmlformats.org/drawingml/2006/main">
              <a:ext uri="{FF2B5EF4-FFF2-40B4-BE49-F238E27FC236}">
                <a16:creationId xmlns:a16="http://schemas.microsoft.com/office/drawing/2014/main" id="{784EDB1D-E5CB-4CDB-9A5E-9514C84B8034}"/>
              </a:ext>
            </a:extLst>
          </p:cNvPr>
          <p:cNvSpPr>
            <a:spLocks xmlns:a="http://schemas.openxmlformats.org/drawingml/2006/main" noGrp="1"/>
          </p:cNvSpPr>
          <p:nvPr/>
        </p:nvSpPr>
        <p:spPr>
          <a:xfrm xmlns:a="http://schemas.openxmlformats.org/drawingml/2006/main">
            <a:off x="2466975" y="31794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1">
            <a:extLst xmlns:a="http://schemas.openxmlformats.org/drawingml/2006/main">
              <a:ext uri="{FF2B5EF4-FFF2-40B4-BE49-F238E27FC236}">
                <a16:creationId xmlns:a16="http://schemas.microsoft.com/office/drawing/2014/main" id="{46C4E02C-D0EC-4115-BE57-3CB8B45C72FC}"/>
              </a:ext>
            </a:extLst>
          </p:cNvPr>
          <p:cNvSpPr>
            <a:spLocks xmlns:a="http://schemas.openxmlformats.org/drawingml/2006/main" noGrp="1"/>
          </p:cNvSpPr>
          <p:nvPr/>
        </p:nvSpPr>
        <p:spPr>
          <a:xfrm xmlns:a="http://schemas.openxmlformats.org/drawingml/2006/main">
            <a:off x="2581275" y="32556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200</a:t>
            </a:r>
          </a:p>
        </p:txBody>
      </p:sp>
      <p:sp>
        <p:nvSpPr>
          <p:cNvPr id="18" name="">
            <a:extLst xmlns:a="http://schemas.openxmlformats.org/drawingml/2006/main">
              <a:ext uri="{FF2B5EF4-FFF2-40B4-BE49-F238E27FC236}">
                <a16:creationId xmlns:a16="http://schemas.microsoft.com/office/drawing/2014/main" id="{0847DD8C-6D6B-4F62-8288-A05A22C528C7}"/>
              </a:ext>
            </a:extLst>
          </p:cNvPr>
          <p:cNvSpPr>
            <a:spLocks xmlns:a="http://schemas.openxmlformats.org/drawingml/2006/main" noGrp="1"/>
          </p:cNvSpPr>
          <p:nvPr/>
        </p:nvSpPr>
        <p:spPr>
          <a:xfrm xmlns:a="http://schemas.openxmlformats.org/drawingml/2006/main">
            <a:off x="4324350" y="31794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9" name="cell-0-2">
            <a:extLst xmlns:a="http://schemas.openxmlformats.org/drawingml/2006/main">
              <a:ext uri="{FF2B5EF4-FFF2-40B4-BE49-F238E27FC236}">
                <a16:creationId xmlns:a16="http://schemas.microsoft.com/office/drawing/2014/main" id="{A3DB2468-9EBB-41C2-885C-961749ED9AA4}"/>
              </a:ext>
            </a:extLst>
          </p:cNvPr>
          <p:cNvSpPr>
            <a:spLocks xmlns:a="http://schemas.openxmlformats.org/drawingml/2006/main" noGrp="1"/>
          </p:cNvSpPr>
          <p:nvPr/>
        </p:nvSpPr>
        <p:spPr>
          <a:xfrm xmlns:a="http://schemas.openxmlformats.org/drawingml/2006/main">
            <a:off x="4438650" y="32556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$50,000</a:t>
            </a:r>
          </a:p>
        </p:txBody>
      </p:sp>
      <p:sp>
        <p:nvSpPr>
          <p:cNvPr id="20" name="">
            <a:extLst xmlns:a="http://schemas.openxmlformats.org/drawingml/2006/main">
              <a:ext uri="{FF2B5EF4-FFF2-40B4-BE49-F238E27FC236}">
                <a16:creationId xmlns:a16="http://schemas.microsoft.com/office/drawing/2014/main" id="{33451DB3-664C-49AC-B971-04FB4F04D7F8}"/>
              </a:ext>
            </a:extLst>
          </p:cNvPr>
          <p:cNvSpPr>
            <a:spLocks xmlns:a="http://schemas.openxmlformats.org/drawingml/2006/main" noGrp="1"/>
          </p:cNvSpPr>
          <p:nvPr/>
        </p:nvSpPr>
        <p:spPr>
          <a:xfrm xmlns:a="http://schemas.openxmlformats.org/drawingml/2006/main">
            <a:off x="6181725" y="31794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1" name="cell-0-3">
            <a:extLst xmlns:a="http://schemas.openxmlformats.org/drawingml/2006/main">
              <a:ext uri="{FF2B5EF4-FFF2-40B4-BE49-F238E27FC236}">
                <a16:creationId xmlns:a16="http://schemas.microsoft.com/office/drawing/2014/main" id="{C1CFE7AA-B9FE-4626-9D86-449370368747}"/>
              </a:ext>
            </a:extLst>
          </p:cNvPr>
          <p:cNvSpPr>
            <a:spLocks xmlns:a="http://schemas.openxmlformats.org/drawingml/2006/main" noGrp="1"/>
          </p:cNvSpPr>
          <p:nvPr/>
        </p:nvSpPr>
        <p:spPr>
          <a:xfrm xmlns:a="http://schemas.openxmlformats.org/drawingml/2006/main">
            <a:off x="6296025" y="32556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Yes - a corner</a:t>
            </a:r>
          </a:p>
        </p:txBody>
      </p:sp>
      <p:sp>
        <p:nvSpPr>
          <p:cNvPr id="22" name="">
            <a:extLst xmlns:a="http://schemas.openxmlformats.org/drawingml/2006/main">
              <a:ext uri="{FF2B5EF4-FFF2-40B4-BE49-F238E27FC236}">
                <a16:creationId xmlns:a16="http://schemas.microsoft.com/office/drawing/2014/main" id="{2E10DA42-BBB8-481E-B087-EDB34E2CA8E9}"/>
              </a:ext>
            </a:extLst>
          </p:cNvPr>
          <p:cNvSpPr>
            <a:spLocks xmlns:a="http://schemas.openxmlformats.org/drawingml/2006/main" noGrp="1"/>
          </p:cNvSpPr>
          <p:nvPr/>
        </p:nvSpPr>
        <p:spPr>
          <a:xfrm xmlns:a="http://schemas.openxmlformats.org/drawingml/2006/main">
            <a:off x="609600" y="37128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0">
            <a:extLst xmlns:a="http://schemas.openxmlformats.org/drawingml/2006/main">
              <a:ext uri="{FF2B5EF4-FFF2-40B4-BE49-F238E27FC236}">
                <a16:creationId xmlns:a16="http://schemas.microsoft.com/office/drawing/2014/main" id="{7CE079BD-87D0-4522-A1A6-61587114583B}"/>
              </a:ext>
            </a:extLst>
          </p:cNvPr>
          <p:cNvSpPr>
            <a:spLocks xmlns:a="http://schemas.openxmlformats.org/drawingml/2006/main" noGrp="1"/>
          </p:cNvSpPr>
          <p:nvPr/>
        </p:nvSpPr>
        <p:spPr>
          <a:xfrm xmlns:a="http://schemas.openxmlformats.org/drawingml/2006/main">
            <a:off x="723900" y="37890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(100, 100)</a:t>
            </a:r>
          </a:p>
        </p:txBody>
      </p:sp>
      <p:sp>
        <p:nvSpPr>
          <p:cNvPr id="24" name="">
            <a:extLst xmlns:a="http://schemas.openxmlformats.org/drawingml/2006/main">
              <a:ext uri="{FF2B5EF4-FFF2-40B4-BE49-F238E27FC236}">
                <a16:creationId xmlns:a16="http://schemas.microsoft.com/office/drawing/2014/main" id="{3F1BC0E1-F785-4931-8C47-5006CC47A258}"/>
              </a:ext>
            </a:extLst>
          </p:cNvPr>
          <p:cNvSpPr>
            <a:spLocks xmlns:a="http://schemas.openxmlformats.org/drawingml/2006/main" noGrp="1"/>
          </p:cNvSpPr>
          <p:nvPr/>
        </p:nvSpPr>
        <p:spPr>
          <a:xfrm xmlns:a="http://schemas.openxmlformats.org/drawingml/2006/main">
            <a:off x="2466975" y="37128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5" name="cell-1-1">
            <a:extLst xmlns:a="http://schemas.openxmlformats.org/drawingml/2006/main">
              <a:ext uri="{FF2B5EF4-FFF2-40B4-BE49-F238E27FC236}">
                <a16:creationId xmlns:a16="http://schemas.microsoft.com/office/drawing/2014/main" id="{D3036A9A-EA5D-4EE8-9B3B-0DB1B642ED9F}"/>
              </a:ext>
            </a:extLst>
          </p:cNvPr>
          <p:cNvSpPr>
            <a:spLocks xmlns:a="http://schemas.openxmlformats.org/drawingml/2006/main" noGrp="1"/>
          </p:cNvSpPr>
          <p:nvPr/>
        </p:nvSpPr>
        <p:spPr>
          <a:xfrm xmlns:a="http://schemas.openxmlformats.org/drawingml/2006/main">
            <a:off x="2581275" y="37890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200</a:t>
            </a:r>
          </a:p>
        </p:txBody>
      </p:sp>
      <p:sp>
        <p:nvSpPr>
          <p:cNvPr id="26" name="">
            <a:extLst xmlns:a="http://schemas.openxmlformats.org/drawingml/2006/main">
              <a:ext uri="{FF2B5EF4-FFF2-40B4-BE49-F238E27FC236}">
                <a16:creationId xmlns:a16="http://schemas.microsoft.com/office/drawing/2014/main" id="{CCF905DD-784A-44A9-8FDF-DF1D3F9FE83D}"/>
              </a:ext>
            </a:extLst>
          </p:cNvPr>
          <p:cNvSpPr>
            <a:spLocks xmlns:a="http://schemas.openxmlformats.org/drawingml/2006/main" noGrp="1"/>
          </p:cNvSpPr>
          <p:nvPr/>
        </p:nvSpPr>
        <p:spPr>
          <a:xfrm xmlns:a="http://schemas.openxmlformats.org/drawingml/2006/main">
            <a:off x="4324350" y="37128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7" name="cell-1-2">
            <a:extLst xmlns:a="http://schemas.openxmlformats.org/drawingml/2006/main">
              <a:ext uri="{FF2B5EF4-FFF2-40B4-BE49-F238E27FC236}">
                <a16:creationId xmlns:a16="http://schemas.microsoft.com/office/drawing/2014/main" id="{EBB3DBF1-CB23-48B0-9177-E50A1181A049}"/>
              </a:ext>
            </a:extLst>
          </p:cNvPr>
          <p:cNvSpPr>
            <a:spLocks xmlns:a="http://schemas.openxmlformats.org/drawingml/2006/main" noGrp="1"/>
          </p:cNvSpPr>
          <p:nvPr/>
        </p:nvSpPr>
        <p:spPr>
          <a:xfrm xmlns:a="http://schemas.openxmlformats.org/drawingml/2006/main">
            <a:off x="4438650" y="37890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$55,000</a:t>
            </a:r>
          </a:p>
        </p:txBody>
      </p:sp>
      <p:sp>
        <p:nvSpPr>
          <p:cNvPr id="28" name="">
            <a:extLst xmlns:a="http://schemas.openxmlformats.org/drawingml/2006/main">
              <a:ext uri="{FF2B5EF4-FFF2-40B4-BE49-F238E27FC236}">
                <a16:creationId xmlns:a16="http://schemas.microsoft.com/office/drawing/2014/main" id="{5F0BAB86-2367-41B4-A7CC-6853BA346F3A}"/>
              </a:ext>
            </a:extLst>
          </p:cNvPr>
          <p:cNvSpPr>
            <a:spLocks xmlns:a="http://schemas.openxmlformats.org/drawingml/2006/main" noGrp="1"/>
          </p:cNvSpPr>
          <p:nvPr/>
        </p:nvSpPr>
        <p:spPr>
          <a:xfrm xmlns:a="http://schemas.openxmlformats.org/drawingml/2006/main">
            <a:off x="6181725" y="37128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9" name="cell-1-3">
            <a:extLst xmlns:a="http://schemas.openxmlformats.org/drawingml/2006/main">
              <a:ext uri="{FF2B5EF4-FFF2-40B4-BE49-F238E27FC236}">
                <a16:creationId xmlns:a16="http://schemas.microsoft.com/office/drawing/2014/main" id="{A2704BC8-455E-4349-92E3-926796D9D24D}"/>
              </a:ext>
            </a:extLst>
          </p:cNvPr>
          <p:cNvSpPr>
            <a:spLocks xmlns:a="http://schemas.openxmlformats.org/drawingml/2006/main" noGrp="1"/>
          </p:cNvSpPr>
          <p:nvPr/>
        </p:nvSpPr>
        <p:spPr>
          <a:xfrm xmlns:a="http://schemas.openxmlformats.org/drawingml/2006/main">
            <a:off x="6296025" y="37890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No - over budget</a:t>
            </a:r>
          </a:p>
        </p:txBody>
      </p:sp>
      <p:sp>
        <p:nvSpPr>
          <p:cNvPr id="30" name="">
            <a:extLst xmlns:a="http://schemas.openxmlformats.org/drawingml/2006/main">
              <a:ext uri="{FF2B5EF4-FFF2-40B4-BE49-F238E27FC236}">
                <a16:creationId xmlns:a16="http://schemas.microsoft.com/office/drawing/2014/main" id="{10F8EBEC-2645-4B80-835D-ED49C4DCF16A}"/>
              </a:ext>
            </a:extLst>
          </p:cNvPr>
          <p:cNvSpPr>
            <a:spLocks xmlns:a="http://schemas.openxmlformats.org/drawingml/2006/main" noGrp="1"/>
          </p:cNvSpPr>
          <p:nvPr/>
        </p:nvSpPr>
        <p:spPr>
          <a:xfrm xmlns:a="http://schemas.openxmlformats.org/drawingml/2006/main">
            <a:off x="609600" y="42462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1" name="cell-2-0">
            <a:extLst xmlns:a="http://schemas.openxmlformats.org/drawingml/2006/main">
              <a:ext uri="{FF2B5EF4-FFF2-40B4-BE49-F238E27FC236}">
                <a16:creationId xmlns:a16="http://schemas.microsoft.com/office/drawing/2014/main" id="{940086D4-1DBF-48BF-815B-EF42134E890E}"/>
              </a:ext>
            </a:extLst>
          </p:cNvPr>
          <p:cNvSpPr>
            <a:spLocks xmlns:a="http://schemas.openxmlformats.org/drawingml/2006/main" noGrp="1"/>
          </p:cNvSpPr>
          <p:nvPr/>
        </p:nvSpPr>
        <p:spPr>
          <a:xfrm xmlns:a="http://schemas.openxmlformats.org/drawingml/2006/main">
            <a:off x="723900" y="43224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(150, 100)</a:t>
            </a:r>
          </a:p>
        </p:txBody>
      </p:sp>
      <p:sp>
        <p:nvSpPr>
          <p:cNvPr id="32" name="">
            <a:extLst xmlns:a="http://schemas.openxmlformats.org/drawingml/2006/main">
              <a:ext uri="{FF2B5EF4-FFF2-40B4-BE49-F238E27FC236}">
                <a16:creationId xmlns:a16="http://schemas.microsoft.com/office/drawing/2014/main" id="{0AD5DD6D-3C8F-4F59-9BE1-E425DAD169A4}"/>
              </a:ext>
            </a:extLst>
          </p:cNvPr>
          <p:cNvSpPr>
            <a:spLocks xmlns:a="http://schemas.openxmlformats.org/drawingml/2006/main" noGrp="1"/>
          </p:cNvSpPr>
          <p:nvPr/>
        </p:nvSpPr>
        <p:spPr>
          <a:xfrm xmlns:a="http://schemas.openxmlformats.org/drawingml/2006/main">
            <a:off x="2466975" y="42462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3" name="cell-2-1">
            <a:extLst xmlns:a="http://schemas.openxmlformats.org/drawingml/2006/main">
              <a:ext uri="{FF2B5EF4-FFF2-40B4-BE49-F238E27FC236}">
                <a16:creationId xmlns:a16="http://schemas.microsoft.com/office/drawing/2014/main" id="{C2775BEB-FEED-4593-A50F-7E9321BAE443}"/>
              </a:ext>
            </a:extLst>
          </p:cNvPr>
          <p:cNvSpPr>
            <a:spLocks xmlns:a="http://schemas.openxmlformats.org/drawingml/2006/main" noGrp="1"/>
          </p:cNvSpPr>
          <p:nvPr/>
        </p:nvSpPr>
        <p:spPr>
          <a:xfrm xmlns:a="http://schemas.openxmlformats.org/drawingml/2006/main">
            <a:off x="2581275" y="43224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250</a:t>
            </a:r>
          </a:p>
        </p:txBody>
      </p:sp>
      <p:sp>
        <p:nvSpPr>
          <p:cNvPr id="34" name="">
            <a:extLst xmlns:a="http://schemas.openxmlformats.org/drawingml/2006/main">
              <a:ext uri="{FF2B5EF4-FFF2-40B4-BE49-F238E27FC236}">
                <a16:creationId xmlns:a16="http://schemas.microsoft.com/office/drawing/2014/main" id="{DE0C19C2-7ADF-40FB-A760-7266B8F59D5A}"/>
              </a:ext>
            </a:extLst>
          </p:cNvPr>
          <p:cNvSpPr>
            <a:spLocks xmlns:a="http://schemas.openxmlformats.org/drawingml/2006/main" noGrp="1"/>
          </p:cNvSpPr>
          <p:nvPr/>
        </p:nvSpPr>
        <p:spPr>
          <a:xfrm xmlns:a="http://schemas.openxmlformats.org/drawingml/2006/main">
            <a:off x="4324350" y="42462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5" name="cell-2-2">
            <a:extLst xmlns:a="http://schemas.openxmlformats.org/drawingml/2006/main">
              <a:ext uri="{FF2B5EF4-FFF2-40B4-BE49-F238E27FC236}">
                <a16:creationId xmlns:a16="http://schemas.microsoft.com/office/drawing/2014/main" id="{BDF090BC-CF29-4CA5-98BB-211F73777AE4}"/>
              </a:ext>
            </a:extLst>
          </p:cNvPr>
          <p:cNvSpPr>
            <a:spLocks xmlns:a="http://schemas.openxmlformats.org/drawingml/2006/main" noGrp="1"/>
          </p:cNvSpPr>
          <p:nvPr/>
        </p:nvSpPr>
        <p:spPr>
          <a:xfrm xmlns:a="http://schemas.openxmlformats.org/drawingml/2006/main">
            <a:off x="4438650" y="43224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$75,000</a:t>
            </a:r>
          </a:p>
        </p:txBody>
      </p:sp>
      <p:sp>
        <p:nvSpPr>
          <p:cNvPr id="36" name="">
            <a:extLst xmlns:a="http://schemas.openxmlformats.org/drawingml/2006/main">
              <a:ext uri="{FF2B5EF4-FFF2-40B4-BE49-F238E27FC236}">
                <a16:creationId xmlns:a16="http://schemas.microsoft.com/office/drawing/2014/main" id="{CCA5277F-5BD0-497D-B4B2-4DE19A9A7A53}"/>
              </a:ext>
            </a:extLst>
          </p:cNvPr>
          <p:cNvSpPr>
            <a:spLocks xmlns:a="http://schemas.openxmlformats.org/drawingml/2006/main" noGrp="1"/>
          </p:cNvSpPr>
          <p:nvPr/>
        </p:nvSpPr>
        <p:spPr>
          <a:xfrm xmlns:a="http://schemas.openxmlformats.org/drawingml/2006/main">
            <a:off x="6181725" y="42462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7" name="cell-2-3">
            <a:extLst xmlns:a="http://schemas.openxmlformats.org/drawingml/2006/main">
              <a:ext uri="{FF2B5EF4-FFF2-40B4-BE49-F238E27FC236}">
                <a16:creationId xmlns:a16="http://schemas.microsoft.com/office/drawing/2014/main" id="{8EED2154-2A86-4AF4-BF6F-F115CA98BD62}"/>
              </a:ext>
            </a:extLst>
          </p:cNvPr>
          <p:cNvSpPr>
            <a:spLocks xmlns:a="http://schemas.openxmlformats.org/drawingml/2006/main" noGrp="1"/>
          </p:cNvSpPr>
          <p:nvPr/>
        </p:nvSpPr>
        <p:spPr>
          <a:xfrm xmlns:a="http://schemas.openxmlformats.org/drawingml/2006/main">
            <a:off x="6296025" y="43224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No - over both</a:t>
            </a:r>
          </a:p>
        </p:txBody>
      </p:sp>
      <p:sp>
        <p:nvSpPr>
          <p:cNvPr id="38" name="">
            <a:extLst xmlns:a="http://schemas.openxmlformats.org/drawingml/2006/main">
              <a:ext uri="{FF2B5EF4-FFF2-40B4-BE49-F238E27FC236}">
                <a16:creationId xmlns:a16="http://schemas.microsoft.com/office/drawing/2014/main" id="{673A1215-8A5C-4D67-9C2C-F92A607D82B4}"/>
              </a:ext>
            </a:extLst>
          </p:cNvPr>
          <p:cNvSpPr>
            <a:spLocks xmlns:a="http://schemas.openxmlformats.org/drawingml/2006/main" noGrp="1"/>
          </p:cNvSpPr>
          <p:nvPr/>
        </p:nvSpPr>
        <p:spPr>
          <a:xfrm xmlns:a="http://schemas.openxmlformats.org/drawingml/2006/main">
            <a:off x="609600" y="47796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9" name="cell-3-0">
            <a:extLst xmlns:a="http://schemas.openxmlformats.org/drawingml/2006/main">
              <a:ext uri="{FF2B5EF4-FFF2-40B4-BE49-F238E27FC236}">
                <a16:creationId xmlns:a16="http://schemas.microsoft.com/office/drawing/2014/main" id="{7199A1B0-A46E-4C6D-BACD-08D6D56A0707}"/>
              </a:ext>
            </a:extLst>
          </p:cNvPr>
          <p:cNvSpPr>
            <a:spLocks xmlns:a="http://schemas.openxmlformats.org/drawingml/2006/main" noGrp="1"/>
          </p:cNvSpPr>
          <p:nvPr/>
        </p:nvSpPr>
        <p:spPr>
          <a:xfrm xmlns:a="http://schemas.openxmlformats.org/drawingml/2006/main">
            <a:off x="723900" y="48558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(50, 50)</a:t>
            </a:r>
          </a:p>
        </p:txBody>
      </p:sp>
      <p:sp>
        <p:nvSpPr>
          <p:cNvPr id="40" name="">
            <a:extLst xmlns:a="http://schemas.openxmlformats.org/drawingml/2006/main">
              <a:ext uri="{FF2B5EF4-FFF2-40B4-BE49-F238E27FC236}">
                <a16:creationId xmlns:a16="http://schemas.microsoft.com/office/drawing/2014/main" id="{68B19937-374B-40C8-920F-9D93E58296DB}"/>
              </a:ext>
            </a:extLst>
          </p:cNvPr>
          <p:cNvSpPr>
            <a:spLocks xmlns:a="http://schemas.openxmlformats.org/drawingml/2006/main" noGrp="1"/>
          </p:cNvSpPr>
          <p:nvPr/>
        </p:nvSpPr>
        <p:spPr>
          <a:xfrm xmlns:a="http://schemas.openxmlformats.org/drawingml/2006/main">
            <a:off x="2466975" y="47796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1" name="cell-3-1">
            <a:extLst xmlns:a="http://schemas.openxmlformats.org/drawingml/2006/main">
              <a:ext uri="{FF2B5EF4-FFF2-40B4-BE49-F238E27FC236}">
                <a16:creationId xmlns:a16="http://schemas.microsoft.com/office/drawing/2014/main" id="{0EFE6DD0-33A9-4579-877C-D833E7FE69A1}"/>
              </a:ext>
            </a:extLst>
          </p:cNvPr>
          <p:cNvSpPr>
            <a:spLocks xmlns:a="http://schemas.openxmlformats.org/drawingml/2006/main" noGrp="1"/>
          </p:cNvSpPr>
          <p:nvPr/>
        </p:nvSpPr>
        <p:spPr>
          <a:xfrm xmlns:a="http://schemas.openxmlformats.org/drawingml/2006/main">
            <a:off x="2581275" y="48558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100</a:t>
            </a:r>
          </a:p>
        </p:txBody>
      </p:sp>
      <p:sp>
        <p:nvSpPr>
          <p:cNvPr id="42" name="">
            <a:extLst xmlns:a="http://schemas.openxmlformats.org/drawingml/2006/main">
              <a:ext uri="{FF2B5EF4-FFF2-40B4-BE49-F238E27FC236}">
                <a16:creationId xmlns:a16="http://schemas.microsoft.com/office/drawing/2014/main" id="{D26D932A-48C8-4F3E-B3D5-19804CBA41D7}"/>
              </a:ext>
            </a:extLst>
          </p:cNvPr>
          <p:cNvSpPr>
            <a:spLocks xmlns:a="http://schemas.openxmlformats.org/drawingml/2006/main" noGrp="1"/>
          </p:cNvSpPr>
          <p:nvPr/>
        </p:nvSpPr>
        <p:spPr>
          <a:xfrm xmlns:a="http://schemas.openxmlformats.org/drawingml/2006/main">
            <a:off x="4324350" y="47796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3" name="cell-3-2">
            <a:extLst xmlns:a="http://schemas.openxmlformats.org/drawingml/2006/main">
              <a:ext uri="{FF2B5EF4-FFF2-40B4-BE49-F238E27FC236}">
                <a16:creationId xmlns:a16="http://schemas.microsoft.com/office/drawing/2014/main" id="{4B21D5BF-7564-41EF-A300-746058984D02}"/>
              </a:ext>
            </a:extLst>
          </p:cNvPr>
          <p:cNvSpPr>
            <a:spLocks xmlns:a="http://schemas.openxmlformats.org/drawingml/2006/main" noGrp="1"/>
          </p:cNvSpPr>
          <p:nvPr/>
        </p:nvSpPr>
        <p:spPr>
          <a:xfrm xmlns:a="http://schemas.openxmlformats.org/drawingml/2006/main">
            <a:off x="4438650" y="48558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$27,500</a:t>
            </a:r>
          </a:p>
        </p:txBody>
      </p:sp>
      <p:sp>
        <p:nvSpPr>
          <p:cNvPr id="44" name="">
            <a:extLst xmlns:a="http://schemas.openxmlformats.org/drawingml/2006/main">
              <a:ext uri="{FF2B5EF4-FFF2-40B4-BE49-F238E27FC236}">
                <a16:creationId xmlns:a16="http://schemas.microsoft.com/office/drawing/2014/main" id="{292A0274-453B-4D31-94F9-6C5DBF843D70}"/>
              </a:ext>
            </a:extLst>
          </p:cNvPr>
          <p:cNvSpPr>
            <a:spLocks xmlns:a="http://schemas.openxmlformats.org/drawingml/2006/main" noGrp="1"/>
          </p:cNvSpPr>
          <p:nvPr/>
        </p:nvSpPr>
        <p:spPr>
          <a:xfrm xmlns:a="http://schemas.openxmlformats.org/drawingml/2006/main">
            <a:off x="6181725" y="47796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5" name="cell-3-3">
            <a:extLst xmlns:a="http://schemas.openxmlformats.org/drawingml/2006/main">
              <a:ext uri="{FF2B5EF4-FFF2-40B4-BE49-F238E27FC236}">
                <a16:creationId xmlns:a16="http://schemas.microsoft.com/office/drawing/2014/main" id="{FA592E91-0C03-4E05-97B6-E28FE8944D2C}"/>
              </a:ext>
            </a:extLst>
          </p:cNvPr>
          <p:cNvSpPr>
            <a:spLocks xmlns:a="http://schemas.openxmlformats.org/drawingml/2006/main" noGrp="1"/>
          </p:cNvSpPr>
          <p:nvPr/>
        </p:nvSpPr>
        <p:spPr>
          <a:xfrm xmlns:a="http://schemas.openxmlformats.org/drawingml/2006/main">
            <a:off x="6296025" y="48558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Yes - interior</a:t>
            </a:r>
          </a:p>
        </p:txBody>
      </p:sp>
      <p:sp>
        <p:nvSpPr>
          <p:cNvPr id="46" name="callout-label">
            <a:extLst xmlns:a="http://schemas.openxmlformats.org/drawingml/2006/main">
              <a:ext uri="{FF2B5EF4-FFF2-40B4-BE49-F238E27FC236}">
                <a16:creationId xmlns:a16="http://schemas.microsoft.com/office/drawing/2014/main" id="{5D7E6022-0888-4BDC-BEB7-5E857971BBF4}"/>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CHECK EVERY CONSTRAINT</a:t>
            </a:r>
          </a:p>
        </p:txBody>
      </p:sp>
      <p:sp>
        <p:nvSpPr>
          <p:cNvPr id="47" name="callout">
            <a:extLst xmlns:a="http://schemas.openxmlformats.org/drawingml/2006/main">
              <a:ext uri="{FF2B5EF4-FFF2-40B4-BE49-F238E27FC236}">
                <a16:creationId xmlns:a16="http://schemas.microsoft.com/office/drawing/2014/main" id="{74AD1A78-B1C4-4176-B4D2-AEFA1C5B0A3D}"/>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Limits: area &lt;= 200 m2 total; budget &lt;= $50,000. Only two of these four candidates satisfy both — the true optimum (found later) sits at exactly one of the feasible corners.</a:t>
            </a:r>
          </a:p>
        </p:txBody>
      </p:sp>
    </p:spTree>
    <p:extLst>
      <p:ext uri="{BB962C8B-B14F-4D97-AF65-F5344CB8AC3E}">
        <p14:creationId xmlns:p14="http://schemas.microsoft.com/office/powerpoint/2010/main" val="65221785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13225CD4-B887-43AC-82CF-A09FF65DEC3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VISUAL EVIDENCE</a:t>
            </a:r>
          </a:p>
        </p:txBody>
      </p:sp>
      <p:sp>
        <p:nvSpPr>
          <p:cNvPr id="2" name="title">
            <a:extLst xmlns:a="http://schemas.openxmlformats.org/drawingml/2006/main">
              <a:ext uri="{FF2B5EF4-FFF2-40B4-BE49-F238E27FC236}">
                <a16:creationId xmlns:a16="http://schemas.microsoft.com/office/drawing/2014/main" id="{4BCE9DE1-ED5A-4F5D-85E3-B8EC8CF6A1B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feasible region is a flat-sided polygon</a:t>
            </a:r>
          </a:p>
        </p:txBody>
      </p:sp>
      <p:sp>
        <p:nvSpPr>
          <p:cNvPr id="3" name="">
            <a:extLst xmlns:a="http://schemas.openxmlformats.org/drawingml/2006/main">
              <a:ext uri="{FF2B5EF4-FFF2-40B4-BE49-F238E27FC236}">
                <a16:creationId xmlns:a16="http://schemas.microsoft.com/office/drawing/2014/main" id="{38489FF9-9842-4A38-89C0-A8B0EF43FF8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3E91330-E857-4516-854C-C3D7B5A701B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3B7338AC-9FA8-48F2-A441-D832BC71062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13</a:t>
            </a:r>
          </a:p>
        </p:txBody>
      </p:sp>
      <p:graphicFrame>
        <p:nvGraphicFramePr>
          <p:cNvPr id="14" name="Chart"/>
          <p:cNvGraphicFramePr/>
          <p:nvPr/>
        </p:nvGraphicFramePr>
        <p:xfrm>
          <a:off xmlns:a="http://schemas.openxmlformats.org/drawingml/2006/main" x="609600" y="1809750"/>
          <a:ext xmlns:a="http://schemas.openxmlformats.org/drawingml/2006/main" cx="7010400" cy="4248150"/>
        </p:xfrm>
        <a:graphic xmlns:a="http://schemas.openxmlformats.org/drawingml/2006/main">
          <a:graphicData uri="http://schemas.openxmlformats.org/drawingml/2006/chart">
            <c:chart xmlns:r="http://schemas.openxmlformats.org/officeDocument/2006/relationships" xmlns:c="http://schemas.openxmlformats.org/drawingml/2006/chart" r:id="Re4034bc1da1e4798"/>
          </a:graphicData>
        </a:graphic>
      </p:graphicFrame>
      <p:sp>
        <p:nvSpPr>
          <p:cNvPr id="7" name="chart-explain-head">
            <a:extLst xmlns:a="http://schemas.openxmlformats.org/drawingml/2006/main">
              <a:ext uri="{FF2B5EF4-FFF2-40B4-BE49-F238E27FC236}">
                <a16:creationId xmlns:a16="http://schemas.microsoft.com/office/drawing/2014/main" id="{D1CDE750-60B1-49D6-B691-3E4F9F5C2A9A}"/>
              </a:ext>
            </a:extLst>
          </p:cNvPr>
          <p:cNvSpPr>
            <a:spLocks xmlns:a="http://schemas.openxmlformats.org/drawingml/2006/main" noGrp="1"/>
          </p:cNvSpPr>
          <p:nvPr/>
        </p:nvSpPr>
        <p:spPr>
          <a:xfrm xmlns:a="http://schemas.openxmlformats.org/drawingml/2006/main">
            <a:off x="8001000" y="2447925"/>
            <a:ext cx="35814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Every straight edge is one constraint</a:t>
            </a:r>
          </a:p>
        </p:txBody>
      </p:sp>
      <p:sp>
        <p:nvSpPr>
          <p:cNvPr id="8" name="chart-explain-body">
            <a:extLst xmlns:a="http://schemas.openxmlformats.org/drawingml/2006/main">
              <a:ext uri="{FF2B5EF4-FFF2-40B4-BE49-F238E27FC236}">
                <a16:creationId xmlns:a16="http://schemas.microsoft.com/office/drawing/2014/main" id="{0C6D743E-8D98-4E43-9ABB-BB2801695DEA}"/>
              </a:ext>
            </a:extLst>
          </p:cNvPr>
          <p:cNvSpPr>
            <a:spLocks xmlns:a="http://schemas.openxmlformats.org/drawingml/2006/main" noGrp="1"/>
          </p:cNvSpPr>
          <p:nvPr/>
        </p:nvSpPr>
        <p:spPr>
          <a:xfrm xmlns:a="http://schemas.openxmlformats.org/drawingml/2006/main">
            <a:off x="8001000" y="3233547"/>
            <a:ext cx="3581400" cy="1844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Bottom edge: x2 = 0. Right edge: x1 = 120 (the structural bound). Upper-right edge: the $50,000 budget line. Upper-left edge: the 200 m2 area line. Every edge of this polygon is exactly one constraint or bound holding with equality — that is what makes it flat-sided, not curved.</a:t>
            </a:r>
          </a:p>
        </p:txBody>
      </p:sp>
    </p:spTree>
    <p:extLst>
      <p:ext uri="{BB962C8B-B14F-4D97-AF65-F5344CB8AC3E}">
        <p14:creationId xmlns:p14="http://schemas.microsoft.com/office/powerpoint/2010/main" val="86783347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00B5DF1B-1105-445D-8477-F35AC99A099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7F7B0770-9344-4D76-B462-D0BD722E64F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Vertex, defined</a:t>
            </a:r>
          </a:p>
        </p:txBody>
      </p:sp>
      <p:sp>
        <p:nvSpPr>
          <p:cNvPr id="3" name="">
            <a:extLst xmlns:a="http://schemas.openxmlformats.org/drawingml/2006/main">
              <a:ext uri="{FF2B5EF4-FFF2-40B4-BE49-F238E27FC236}">
                <a16:creationId xmlns:a16="http://schemas.microsoft.com/office/drawing/2014/main" id="{C4A1F8C9-B6CF-4B85-8E26-F8E3F1D5A798}"/>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D398693-61B6-4A85-B72B-8582BFB08BF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D562A914-836A-4439-B710-A10AE434684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14</a:t>
            </a:r>
          </a:p>
        </p:txBody>
      </p:sp>
      <p:sp>
        <p:nvSpPr>
          <p:cNvPr id="6" name="term-label">
            <a:extLst xmlns:a="http://schemas.openxmlformats.org/drawingml/2006/main">
              <a:ext uri="{FF2B5EF4-FFF2-40B4-BE49-F238E27FC236}">
                <a16:creationId xmlns:a16="http://schemas.microsoft.com/office/drawing/2014/main" id="{98574857-A22F-4AB6-A395-0778DB68A8CB}"/>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02149BD6-EA9E-452A-BE42-C9F48606FC9B}"/>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vertex</a:t>
            </a:r>
          </a:p>
        </p:txBody>
      </p:sp>
      <p:sp>
        <p:nvSpPr>
          <p:cNvPr id="8" name="">
            <a:extLst xmlns:a="http://schemas.openxmlformats.org/drawingml/2006/main">
              <a:ext uri="{FF2B5EF4-FFF2-40B4-BE49-F238E27FC236}">
                <a16:creationId xmlns:a16="http://schemas.microsoft.com/office/drawing/2014/main" id="{06A23C39-0DC4-4C9C-A88F-2FEACFD4A5FF}"/>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F23D3E63-C435-4371-B572-3B6F83DF1697}"/>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 vertex (extreme point) is where feasible-region edges meet. If a linear program has a finite optimum, at least one optimal solution occurs at an extreme point. The optimum need not be unique: a whole edge or face can share the same objective value.</a:t>
            </a:r>
          </a:p>
        </p:txBody>
      </p:sp>
      <p:sp>
        <p:nvSpPr>
          <p:cNvPr id="10" name="example-panel">
            <a:extLst xmlns:a="http://schemas.openxmlformats.org/drawingml/2006/main">
              <a:ext uri="{FF2B5EF4-FFF2-40B4-BE49-F238E27FC236}">
                <a16:creationId xmlns:a16="http://schemas.microsoft.com/office/drawing/2014/main" id="{13C112CF-E9C4-45E4-9A74-2145907D8473}"/>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A3B50110-8EFC-4F56-ADA0-BF9728C5ED33}"/>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66E4267E-66DB-4AFD-BB29-CA0777C25306}"/>
              </a:ext>
            </a:extLst>
          </p:cNvPr>
          <p:cNvSpPr>
            <a:spLocks xmlns:a="http://schemas.openxmlformats.org/drawingml/2006/main" noGrp="1"/>
          </p:cNvSpPr>
          <p:nvPr/>
        </p:nvSpPr>
        <p:spPr>
          <a:xfrm xmlns:a="http://schemas.openxmlformats.org/drawingml/2006/main">
            <a:off x="6972300" y="2286000"/>
            <a:ext cx="438150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Five vertices in this worked instance</a:t>
            </a:r>
          </a:p>
        </p:txBody>
      </p:sp>
      <p:sp>
        <p:nvSpPr>
          <p:cNvPr id="13" name="example-body">
            <a:extLst xmlns:a="http://schemas.openxmlformats.org/drawingml/2006/main">
              <a:ext uri="{FF2B5EF4-FFF2-40B4-BE49-F238E27FC236}">
                <a16:creationId xmlns:a16="http://schemas.microsoft.com/office/drawing/2014/main" id="{D328316E-5D43-45E2-A6BD-9D2A9F67581B}"/>
              </a:ext>
            </a:extLst>
          </p:cNvPr>
          <p:cNvSpPr>
            <a:spLocks xmlns:a="http://schemas.openxmlformats.org/drawingml/2006/main" noGrp="1"/>
          </p:cNvSpPr>
          <p:nvPr/>
        </p:nvSpPr>
        <p:spPr>
          <a:xfrm xmlns:a="http://schemas.openxmlformats.org/drawingml/2006/main">
            <a:off x="6972300" y="2951226"/>
            <a:ext cx="4381500" cy="19827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Checking the five vertices reveals one unique winner here. In a different LP, parallel objective contours can make every point on an edge optimal.</a:t>
            </a:r>
          </a:p>
        </p:txBody>
      </p:sp>
      <p:sp>
        <p:nvSpPr>
          <p:cNvPr id="14" name="note-bar">
            <a:extLst xmlns:a="http://schemas.openxmlformats.org/drawingml/2006/main">
              <a:ext uri="{FF2B5EF4-FFF2-40B4-BE49-F238E27FC236}">
                <a16:creationId xmlns:a16="http://schemas.microsoft.com/office/drawing/2014/main" id="{900001BB-37CF-45EB-A1FE-A6D7C3AE2CE5}"/>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5B38E5FF-3484-403F-ACC0-3B0CA1AC1D4C}"/>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EF750255-702B-414A-B921-E846043AEA5C}"/>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Do not reverse the theorem: it guarantees that at least one optimal vertex exists, not that every optimum is a vertex or that every LP has a unique solution.</a:t>
            </a:r>
          </a:p>
        </p:txBody>
      </p:sp>
    </p:spTree>
    <p:extLst>
      <p:ext uri="{BB962C8B-B14F-4D97-AF65-F5344CB8AC3E}">
        <p14:creationId xmlns:p14="http://schemas.microsoft.com/office/powerpoint/2010/main" val="150298178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kicker">
            <a:extLst xmlns:a="http://schemas.openxmlformats.org/drawingml/2006/main">
              <a:ext uri="{FF2B5EF4-FFF2-40B4-BE49-F238E27FC236}">
                <a16:creationId xmlns:a16="http://schemas.microsoft.com/office/drawing/2014/main" id="{AB812EFE-F05F-40B5-A26F-3450C18BC0D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79E21AB2-EB29-49C9-A3AB-67A25C18DDE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which limits bind, which have slack</a:t>
            </a:r>
          </a:p>
        </p:txBody>
      </p:sp>
      <p:sp>
        <p:nvSpPr>
          <p:cNvPr id="3" name="">
            <a:extLst xmlns:a="http://schemas.openxmlformats.org/drawingml/2006/main">
              <a:ext uri="{FF2B5EF4-FFF2-40B4-BE49-F238E27FC236}">
                <a16:creationId xmlns:a16="http://schemas.microsoft.com/office/drawing/2014/main" id="{4CC12D62-C536-45D9-B982-99E04E7D071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8CA1A22-8A00-4917-939E-33DE9D96EA5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E3613E20-82FF-490D-A252-31ACFC20411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15</a:t>
            </a:r>
          </a:p>
        </p:txBody>
      </p:sp>
      <p:sp>
        <p:nvSpPr>
          <p:cNvPr id="6" name="code-panel">
            <a:extLst xmlns:a="http://schemas.openxmlformats.org/drawingml/2006/main">
              <a:ext uri="{FF2B5EF4-FFF2-40B4-BE49-F238E27FC236}">
                <a16:creationId xmlns:a16="http://schemas.microsoft.com/office/drawing/2014/main" id="{50DE1E5A-5C65-40F8-86E6-73DAA37583B3}"/>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5E09D60A-FCE4-447B-900E-BB1739202F48}"/>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A_ub = [[1, 1],       # area &lt;= 200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[400, 150]]   # budget &lt;= 50000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b_ub = [200, 50000]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bounds = [(0, 120), (0, None)]  # structural cap on x1</a:t>
            </a:r>
          </a:p>
        </p:txBody>
      </p:sp>
      <p:sp>
        <p:nvSpPr>
          <p:cNvPr id="8" name="question">
            <a:extLst xmlns:a="http://schemas.openxmlformats.org/drawingml/2006/main">
              <a:ext uri="{FF2B5EF4-FFF2-40B4-BE49-F238E27FC236}">
                <a16:creationId xmlns:a16="http://schemas.microsoft.com/office/drawing/2014/main" id="{5C428EC0-F815-4878-8866-223BF37C80B2}"/>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Which limits bind exactly, and which have slack?</a:t>
            </a:r>
          </a:p>
        </p:txBody>
      </p:sp>
      <p:sp>
        <p:nvSpPr>
          <p:cNvPr id="9" name="opt-0">
            <a:extLst xmlns:a="http://schemas.openxmlformats.org/drawingml/2006/main">
              <a:ext uri="{FF2B5EF4-FFF2-40B4-BE49-F238E27FC236}">
                <a16:creationId xmlns:a16="http://schemas.microsoft.com/office/drawing/2014/main" id="{CD11E566-5963-4FB0-8CA1-E09607FCFE47}"/>
              </a:ext>
            </a:extLst>
          </p:cNvPr>
          <p:cNvSpPr>
            <a:spLocks xmlns:a="http://schemas.openxmlformats.org/drawingml/2006/main" noGrp="1"/>
          </p:cNvSpPr>
          <p:nvPr/>
        </p:nvSpPr>
        <p:spPr>
          <a:xfrm xmlns:a="http://schemas.openxmlformats.org/drawingml/2006/main">
            <a:off x="7315200" y="2571750"/>
            <a:ext cx="4267200" cy="447675"/>
          </a:xfrm>
          <a:prstGeom xmlns:a="http://schemas.openxmlformats.org/drawingml/2006/main" prst="roundRect">
            <a:avLst>
              <a:gd name="adj" fmla="val 12766"/>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1D9EAEBF-7DAB-4338-9F09-F0435B02553F}"/>
              </a:ext>
            </a:extLst>
          </p:cNvPr>
          <p:cNvSpPr>
            <a:spLocks xmlns:a="http://schemas.openxmlformats.org/drawingml/2006/main" noGrp="1"/>
          </p:cNvSpPr>
          <p:nvPr/>
        </p:nvSpPr>
        <p:spPr>
          <a:xfrm xmlns:a="http://schemas.openxmlformats.org/drawingml/2006/main">
            <a:off x="7448550" y="26860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7EC9C0D3-8711-44E1-9D8F-6D960DC64D51}"/>
              </a:ext>
            </a:extLst>
          </p:cNvPr>
          <p:cNvSpPr>
            <a:spLocks xmlns:a="http://schemas.openxmlformats.org/drawingml/2006/main" noGrp="1"/>
          </p:cNvSpPr>
          <p:nvPr/>
        </p:nvSpPr>
        <p:spPr>
          <a:xfrm xmlns:a="http://schemas.openxmlformats.org/drawingml/2006/main">
            <a:off x="7772400" y="2609850"/>
            <a:ext cx="3676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Area only binds</a:t>
            </a:r>
          </a:p>
        </p:txBody>
      </p:sp>
      <p:sp>
        <p:nvSpPr>
          <p:cNvPr id="12" name="opt-1">
            <a:extLst xmlns:a="http://schemas.openxmlformats.org/drawingml/2006/main">
              <a:ext uri="{FF2B5EF4-FFF2-40B4-BE49-F238E27FC236}">
                <a16:creationId xmlns:a16="http://schemas.microsoft.com/office/drawing/2014/main" id="{24B815A6-9979-4257-A321-1A029CCA1830}"/>
              </a:ext>
            </a:extLst>
          </p:cNvPr>
          <p:cNvSpPr>
            <a:spLocks xmlns:a="http://schemas.openxmlformats.org/drawingml/2006/main" noGrp="1"/>
          </p:cNvSpPr>
          <p:nvPr/>
        </p:nvSpPr>
        <p:spPr>
          <a:xfrm xmlns:a="http://schemas.openxmlformats.org/drawingml/2006/main">
            <a:off x="7315200" y="3076575"/>
            <a:ext cx="4267200" cy="447675"/>
          </a:xfrm>
          <a:prstGeom xmlns:a="http://schemas.openxmlformats.org/drawingml/2006/main" prst="roundRect">
            <a:avLst>
              <a:gd name="adj" fmla="val 12766"/>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5B2A5AC6-A2EE-4113-9D91-4D0503D26CC2}"/>
              </a:ext>
            </a:extLst>
          </p:cNvPr>
          <p:cNvSpPr>
            <a:spLocks xmlns:a="http://schemas.openxmlformats.org/drawingml/2006/main" noGrp="1"/>
          </p:cNvSpPr>
          <p:nvPr/>
        </p:nvSpPr>
        <p:spPr>
          <a:xfrm xmlns:a="http://schemas.openxmlformats.org/drawingml/2006/main">
            <a:off x="7448550" y="3190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1D2202E1-EAE0-42D3-9F1C-67E4C568BBBB}"/>
              </a:ext>
            </a:extLst>
          </p:cNvPr>
          <p:cNvSpPr>
            <a:spLocks xmlns:a="http://schemas.openxmlformats.org/drawingml/2006/main" noGrp="1"/>
          </p:cNvSpPr>
          <p:nvPr/>
        </p:nvSpPr>
        <p:spPr>
          <a:xfrm xmlns:a="http://schemas.openxmlformats.org/drawingml/2006/main">
            <a:off x="7772400" y="3114675"/>
            <a:ext cx="3676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Budget only binds</a:t>
            </a:r>
          </a:p>
        </p:txBody>
      </p:sp>
      <p:sp>
        <p:nvSpPr>
          <p:cNvPr id="15" name="opt-2">
            <a:extLst xmlns:a="http://schemas.openxmlformats.org/drawingml/2006/main">
              <a:ext uri="{FF2B5EF4-FFF2-40B4-BE49-F238E27FC236}">
                <a16:creationId xmlns:a16="http://schemas.microsoft.com/office/drawing/2014/main" id="{B9D2413D-4A20-46D4-88EF-5B52EF2D33F9}"/>
              </a:ext>
            </a:extLst>
          </p:cNvPr>
          <p:cNvSpPr>
            <a:spLocks xmlns:a="http://schemas.openxmlformats.org/drawingml/2006/main" noGrp="1"/>
          </p:cNvSpPr>
          <p:nvPr/>
        </p:nvSpPr>
        <p:spPr>
          <a:xfrm xmlns:a="http://schemas.openxmlformats.org/drawingml/2006/main">
            <a:off x="7315200" y="3581400"/>
            <a:ext cx="4267200" cy="447675"/>
          </a:xfrm>
          <a:prstGeom xmlns:a="http://schemas.openxmlformats.org/drawingml/2006/main" prst="roundRect">
            <a:avLst>
              <a:gd name="adj" fmla="val 12766"/>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F29592D4-1E15-4F25-B71A-FE76AE5D24CA}"/>
              </a:ext>
            </a:extLst>
          </p:cNvPr>
          <p:cNvSpPr>
            <a:spLocks xmlns:a="http://schemas.openxmlformats.org/drawingml/2006/main" noGrp="1"/>
          </p:cNvSpPr>
          <p:nvPr/>
        </p:nvSpPr>
        <p:spPr>
          <a:xfrm xmlns:a="http://schemas.openxmlformats.org/drawingml/2006/main">
            <a:off x="7448550" y="36957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E4042982-7FCC-4815-B9D7-5CFFF01D7EBB}"/>
              </a:ext>
            </a:extLst>
          </p:cNvPr>
          <p:cNvSpPr>
            <a:spLocks xmlns:a="http://schemas.openxmlformats.org/drawingml/2006/main" noGrp="1"/>
          </p:cNvSpPr>
          <p:nvPr/>
        </p:nvSpPr>
        <p:spPr>
          <a:xfrm xmlns:a="http://schemas.openxmlformats.org/drawingml/2006/main">
            <a:off x="7772400" y="3619500"/>
            <a:ext cx="3676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Both area and budget bind</a:t>
            </a:r>
          </a:p>
        </p:txBody>
      </p:sp>
      <p:sp>
        <p:nvSpPr>
          <p:cNvPr id="18" name="opt-3">
            <a:extLst xmlns:a="http://schemas.openxmlformats.org/drawingml/2006/main">
              <a:ext uri="{FF2B5EF4-FFF2-40B4-BE49-F238E27FC236}">
                <a16:creationId xmlns:a16="http://schemas.microsoft.com/office/drawing/2014/main" id="{AA2DF5E9-DF2F-4EDE-9444-79D0901E80E5}"/>
              </a:ext>
            </a:extLst>
          </p:cNvPr>
          <p:cNvSpPr>
            <a:spLocks xmlns:a="http://schemas.openxmlformats.org/drawingml/2006/main" noGrp="1"/>
          </p:cNvSpPr>
          <p:nvPr/>
        </p:nvSpPr>
        <p:spPr>
          <a:xfrm xmlns:a="http://schemas.openxmlformats.org/drawingml/2006/main">
            <a:off x="7315200" y="4086225"/>
            <a:ext cx="4267200" cy="447675"/>
          </a:xfrm>
          <a:prstGeom xmlns:a="http://schemas.openxmlformats.org/drawingml/2006/main" prst="roundRect">
            <a:avLst>
              <a:gd name="adj" fmla="val 12766"/>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06737DCE-6CAA-4083-B016-F5E04BC6B353}"/>
              </a:ext>
            </a:extLst>
          </p:cNvPr>
          <p:cNvSpPr>
            <a:spLocks xmlns:a="http://schemas.openxmlformats.org/drawingml/2006/main" noGrp="1"/>
          </p:cNvSpPr>
          <p:nvPr/>
        </p:nvSpPr>
        <p:spPr>
          <a:xfrm xmlns:a="http://schemas.openxmlformats.org/drawingml/2006/main">
            <a:off x="7448550" y="420052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D58BB30D-CCFC-4004-BC06-3E1C16B3313E}"/>
              </a:ext>
            </a:extLst>
          </p:cNvPr>
          <p:cNvSpPr>
            <a:spLocks xmlns:a="http://schemas.openxmlformats.org/drawingml/2006/main" noGrp="1"/>
          </p:cNvSpPr>
          <p:nvPr/>
        </p:nvSpPr>
        <p:spPr>
          <a:xfrm xmlns:a="http://schemas.openxmlformats.org/drawingml/2006/main">
            <a:off x="7772400" y="4124325"/>
            <a:ext cx="3676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Only the structural cap (bound) binds</a:t>
            </a:r>
          </a:p>
        </p:txBody>
      </p:sp>
      <p:sp>
        <p:nvSpPr>
          <p:cNvPr id="21" name="opt-4">
            <a:extLst xmlns:a="http://schemas.openxmlformats.org/drawingml/2006/main">
              <a:ext uri="{FF2B5EF4-FFF2-40B4-BE49-F238E27FC236}">
                <a16:creationId xmlns:a16="http://schemas.microsoft.com/office/drawing/2014/main" id="{743DB65E-BF6A-47C5-BFFE-CF15CDD0F98B}"/>
              </a:ext>
            </a:extLst>
          </p:cNvPr>
          <p:cNvSpPr>
            <a:spLocks xmlns:a="http://schemas.openxmlformats.org/drawingml/2006/main" noGrp="1"/>
          </p:cNvSpPr>
          <p:nvPr/>
        </p:nvSpPr>
        <p:spPr>
          <a:xfrm xmlns:a="http://schemas.openxmlformats.org/drawingml/2006/main">
            <a:off x="7315200" y="4591050"/>
            <a:ext cx="4267200" cy="447675"/>
          </a:xfrm>
          <a:prstGeom xmlns:a="http://schemas.openxmlformats.org/drawingml/2006/main" prst="roundRect">
            <a:avLst>
              <a:gd name="adj" fmla="val 12766"/>
            </a:avLst>
          </a:prstGeom>
          <a:solidFill xmlns:a="http://schemas.openxmlformats.org/drawingml/2006/main">
            <a:srgbClr val="F6F7F9"/>
          </a:solidFill>
          <a:ln xmlns:a="http://schemas.openxmlformats.org/drawingml/2006/main" w="9525">
            <a:solidFill>
              <a:srgbClr val="DDE0E5"/>
            </a:solidFill>
            <a:prstDash val="solid"/>
          </a:ln>
        </p:spPr>
      </p:sp>
      <p:sp>
        <p:nvSpPr>
          <p:cNvPr id="22" name="opt-letter-4">
            <a:extLst xmlns:a="http://schemas.openxmlformats.org/drawingml/2006/main">
              <a:ext uri="{FF2B5EF4-FFF2-40B4-BE49-F238E27FC236}">
                <a16:creationId xmlns:a16="http://schemas.microsoft.com/office/drawing/2014/main" id="{1077AC4F-4AA4-486A-AA29-80F8EF6CFCC4}"/>
              </a:ext>
            </a:extLst>
          </p:cNvPr>
          <p:cNvSpPr>
            <a:spLocks xmlns:a="http://schemas.openxmlformats.org/drawingml/2006/main" noGrp="1"/>
          </p:cNvSpPr>
          <p:nvPr/>
        </p:nvSpPr>
        <p:spPr>
          <a:xfrm xmlns:a="http://schemas.openxmlformats.org/drawingml/2006/main">
            <a:off x="7448550" y="47053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E</a:t>
            </a:r>
          </a:p>
        </p:txBody>
      </p:sp>
      <p:sp>
        <p:nvSpPr>
          <p:cNvPr id="23" name="opt-text-4">
            <a:extLst xmlns:a="http://schemas.openxmlformats.org/drawingml/2006/main">
              <a:ext uri="{FF2B5EF4-FFF2-40B4-BE49-F238E27FC236}">
                <a16:creationId xmlns:a16="http://schemas.microsoft.com/office/drawing/2014/main" id="{BACC4FC8-FC9A-4997-BDB4-B86A9B6C666A}"/>
              </a:ext>
            </a:extLst>
          </p:cNvPr>
          <p:cNvSpPr>
            <a:spLocks xmlns:a="http://schemas.openxmlformats.org/drawingml/2006/main" noGrp="1"/>
          </p:cNvSpPr>
          <p:nvPr/>
        </p:nvSpPr>
        <p:spPr>
          <a:xfrm xmlns:a="http://schemas.openxmlformats.org/drawingml/2006/main">
            <a:off x="7772400" y="4629150"/>
            <a:ext cx="3676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None bind - optimum is interior</a:t>
            </a:r>
          </a:p>
        </p:txBody>
      </p:sp>
      <p:sp>
        <p:nvSpPr>
          <p:cNvPr id="24" name="answer-panel">
            <a:extLst xmlns:a="http://schemas.openxmlformats.org/drawingml/2006/main">
              <a:ext uri="{FF2B5EF4-FFF2-40B4-BE49-F238E27FC236}">
                <a16:creationId xmlns:a16="http://schemas.microsoft.com/office/drawing/2014/main" id="{84648FFE-4401-46AC-8C41-B5AFA3D6F4E3}"/>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5" name="answer-label">
            <a:extLst xmlns:a="http://schemas.openxmlformats.org/drawingml/2006/main">
              <a:ext uri="{FF2B5EF4-FFF2-40B4-BE49-F238E27FC236}">
                <a16:creationId xmlns:a16="http://schemas.microsoft.com/office/drawing/2014/main" id="{B882F3E0-217B-411C-AC6B-45E63D0A140F}"/>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C</a:t>
            </a:r>
          </a:p>
        </p:txBody>
      </p:sp>
      <p:sp>
        <p:nvSpPr>
          <p:cNvPr id="26" name="why">
            <a:extLst xmlns:a="http://schemas.openxmlformats.org/drawingml/2006/main">
              <a:ext uri="{FF2B5EF4-FFF2-40B4-BE49-F238E27FC236}">
                <a16:creationId xmlns:a16="http://schemas.microsoft.com/office/drawing/2014/main" id="{473A423B-8828-403A-8982-A20B10644625}"/>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Area used = 200 and budget used = $50,000 — both at their limits, so both bind. The structural cap has slack: solar stays under 120 m2.</a:t>
            </a:r>
          </a:p>
        </p:txBody>
      </p:sp>
    </p:spTree>
    <p:extLst>
      <p:ext uri="{BB962C8B-B14F-4D97-AF65-F5344CB8AC3E}">
        <p14:creationId xmlns:p14="http://schemas.microsoft.com/office/powerpoint/2010/main" val="128004666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kicker">
            <a:extLst xmlns:a="http://schemas.openxmlformats.org/drawingml/2006/main">
              <a:ext uri="{FF2B5EF4-FFF2-40B4-BE49-F238E27FC236}">
                <a16:creationId xmlns:a16="http://schemas.microsoft.com/office/drawing/2014/main" id="{3B56DAF2-1CD6-4961-B95A-68313FEB573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1AFCF99A-A082-4427-BC4A-30792D88CFB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This worked LP has a unique optimal corner</a:t>
            </a:r>
          </a:p>
        </p:txBody>
      </p:sp>
      <p:sp>
        <p:nvSpPr>
          <p:cNvPr id="3" name="">
            <a:extLst xmlns:a="http://schemas.openxmlformats.org/drawingml/2006/main">
              <a:ext uri="{FF2B5EF4-FFF2-40B4-BE49-F238E27FC236}">
                <a16:creationId xmlns:a16="http://schemas.microsoft.com/office/drawing/2014/main" id="{DBACAAAE-3D21-430C-BB7D-60FCCDEC530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B906D3B-62D1-49B7-AAF0-4D23390C389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28373E11-4057-4309-9D5E-3A301EF0901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16</a:t>
            </a:r>
          </a:p>
        </p:txBody>
      </p:sp>
      <p:sp>
        <p:nvSpPr>
          <p:cNvPr id="6" name="">
            <a:extLst xmlns:a="http://schemas.openxmlformats.org/drawingml/2006/main">
              <a:ext uri="{FF2B5EF4-FFF2-40B4-BE49-F238E27FC236}">
                <a16:creationId xmlns:a16="http://schemas.microsoft.com/office/drawing/2014/main" id="{52DA711D-44A5-4C34-A85D-212FBF241B9B}"/>
              </a:ext>
            </a:extLst>
          </p:cNvPr>
          <p:cNvSpPr>
            <a:spLocks xmlns:a="http://schemas.openxmlformats.org/drawingml/2006/main" noGrp="1"/>
          </p:cNvSpPr>
          <p:nvPr/>
        </p:nvSpPr>
        <p:spPr>
          <a:xfrm xmlns:a="http://schemas.openxmlformats.org/drawingml/2006/main">
            <a:off x="609600" y="237172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98873ACA-C534-46EB-B30D-33104C9A9884}"/>
              </a:ext>
            </a:extLst>
          </p:cNvPr>
          <p:cNvSpPr>
            <a:spLocks xmlns:a="http://schemas.openxmlformats.org/drawingml/2006/main" noGrp="1"/>
          </p:cNvSpPr>
          <p:nvPr/>
        </p:nvSpPr>
        <p:spPr>
          <a:xfrm xmlns:a="http://schemas.openxmlformats.org/drawingml/2006/main">
            <a:off x="723900" y="244792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vertex (x1, x2)</a:t>
            </a:r>
          </a:p>
        </p:txBody>
      </p:sp>
      <p:sp>
        <p:nvSpPr>
          <p:cNvPr id="8" name="">
            <a:extLst xmlns:a="http://schemas.openxmlformats.org/drawingml/2006/main">
              <a:ext uri="{FF2B5EF4-FFF2-40B4-BE49-F238E27FC236}">
                <a16:creationId xmlns:a16="http://schemas.microsoft.com/office/drawing/2014/main" id="{BCA4C37D-206F-4B09-B9D8-E9928E92FB72}"/>
              </a:ext>
            </a:extLst>
          </p:cNvPr>
          <p:cNvSpPr>
            <a:spLocks xmlns:a="http://schemas.openxmlformats.org/drawingml/2006/main" noGrp="1"/>
          </p:cNvSpPr>
          <p:nvPr/>
        </p:nvSpPr>
        <p:spPr>
          <a:xfrm xmlns:a="http://schemas.openxmlformats.org/drawingml/2006/main">
            <a:off x="2466975" y="237172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2425D9F9-2EB6-48C7-83A4-179FD8BF8330}"/>
              </a:ext>
            </a:extLst>
          </p:cNvPr>
          <p:cNvSpPr>
            <a:spLocks xmlns:a="http://schemas.openxmlformats.org/drawingml/2006/main" noGrp="1"/>
          </p:cNvSpPr>
          <p:nvPr/>
        </p:nvSpPr>
        <p:spPr>
          <a:xfrm xmlns:a="http://schemas.openxmlformats.org/drawingml/2006/main">
            <a:off x="2581275" y="244792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area used (&lt;=200)</a:t>
            </a:r>
          </a:p>
        </p:txBody>
      </p:sp>
      <p:sp>
        <p:nvSpPr>
          <p:cNvPr id="10" name="">
            <a:extLst xmlns:a="http://schemas.openxmlformats.org/drawingml/2006/main">
              <a:ext uri="{FF2B5EF4-FFF2-40B4-BE49-F238E27FC236}">
                <a16:creationId xmlns:a16="http://schemas.microsoft.com/office/drawing/2014/main" id="{AC4C5910-ABBC-4D5E-BE43-F0353CD5BC51}"/>
              </a:ext>
            </a:extLst>
          </p:cNvPr>
          <p:cNvSpPr>
            <a:spLocks xmlns:a="http://schemas.openxmlformats.org/drawingml/2006/main" noGrp="1"/>
          </p:cNvSpPr>
          <p:nvPr/>
        </p:nvSpPr>
        <p:spPr>
          <a:xfrm xmlns:a="http://schemas.openxmlformats.org/drawingml/2006/main">
            <a:off x="4324350" y="237172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BA57F1DC-0BD2-48AB-B7F1-AE9000F3D1B5}"/>
              </a:ext>
            </a:extLst>
          </p:cNvPr>
          <p:cNvSpPr>
            <a:spLocks xmlns:a="http://schemas.openxmlformats.org/drawingml/2006/main" noGrp="1"/>
          </p:cNvSpPr>
          <p:nvPr/>
        </p:nvSpPr>
        <p:spPr>
          <a:xfrm xmlns:a="http://schemas.openxmlformats.org/drawingml/2006/main">
            <a:off x="4438650" y="244792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budget used (&lt;=50,000)</a:t>
            </a:r>
          </a:p>
        </p:txBody>
      </p:sp>
      <p:sp>
        <p:nvSpPr>
          <p:cNvPr id="12" name="">
            <a:extLst xmlns:a="http://schemas.openxmlformats.org/drawingml/2006/main">
              <a:ext uri="{FF2B5EF4-FFF2-40B4-BE49-F238E27FC236}">
                <a16:creationId xmlns:a16="http://schemas.microsoft.com/office/drawing/2014/main" id="{8CAC4E0C-A7DB-49D1-B615-BAD59C430EAA}"/>
              </a:ext>
            </a:extLst>
          </p:cNvPr>
          <p:cNvSpPr>
            <a:spLocks xmlns:a="http://schemas.openxmlformats.org/drawingml/2006/main" noGrp="1"/>
          </p:cNvSpPr>
          <p:nvPr/>
        </p:nvSpPr>
        <p:spPr>
          <a:xfrm xmlns:a="http://schemas.openxmlformats.org/drawingml/2006/main">
            <a:off x="6181725" y="237172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3" name="header-3">
            <a:extLst xmlns:a="http://schemas.openxmlformats.org/drawingml/2006/main">
              <a:ext uri="{FF2B5EF4-FFF2-40B4-BE49-F238E27FC236}">
                <a16:creationId xmlns:a16="http://schemas.microsoft.com/office/drawing/2014/main" id="{D5B6AD72-E6BA-4F0F-A8AD-02CCCF0745C6}"/>
              </a:ext>
            </a:extLst>
          </p:cNvPr>
          <p:cNvSpPr>
            <a:spLocks xmlns:a="http://schemas.openxmlformats.org/drawingml/2006/main" noGrp="1"/>
          </p:cNvSpPr>
          <p:nvPr/>
        </p:nvSpPr>
        <p:spPr>
          <a:xfrm xmlns:a="http://schemas.openxmlformats.org/drawingml/2006/main">
            <a:off x="6296025" y="244792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annual benefit</a:t>
            </a:r>
          </a:p>
        </p:txBody>
      </p:sp>
      <p:sp>
        <p:nvSpPr>
          <p:cNvPr id="14" name="">
            <a:extLst xmlns:a="http://schemas.openxmlformats.org/drawingml/2006/main">
              <a:ext uri="{FF2B5EF4-FFF2-40B4-BE49-F238E27FC236}">
                <a16:creationId xmlns:a16="http://schemas.microsoft.com/office/drawing/2014/main" id="{B5156DEF-76D2-418B-81E7-0DB54041C309}"/>
              </a:ext>
            </a:extLst>
          </p:cNvPr>
          <p:cNvSpPr>
            <a:spLocks xmlns:a="http://schemas.openxmlformats.org/drawingml/2006/main" noGrp="1"/>
          </p:cNvSpPr>
          <p:nvPr/>
        </p:nvSpPr>
        <p:spPr>
          <a:xfrm xmlns:a="http://schemas.openxmlformats.org/drawingml/2006/main">
            <a:off x="609600" y="29127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0">
            <a:extLst xmlns:a="http://schemas.openxmlformats.org/drawingml/2006/main">
              <a:ext uri="{FF2B5EF4-FFF2-40B4-BE49-F238E27FC236}">
                <a16:creationId xmlns:a16="http://schemas.microsoft.com/office/drawing/2014/main" id="{248CA7E5-D2F8-46CE-A2B7-C1C325ECC04A}"/>
              </a:ext>
            </a:extLst>
          </p:cNvPr>
          <p:cNvSpPr>
            <a:spLocks xmlns:a="http://schemas.openxmlformats.org/drawingml/2006/main" noGrp="1"/>
          </p:cNvSpPr>
          <p:nvPr/>
        </p:nvSpPr>
        <p:spPr>
          <a:xfrm xmlns:a="http://schemas.openxmlformats.org/drawingml/2006/main">
            <a:off x="723900" y="29889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(0, 0)</a:t>
            </a:r>
          </a:p>
        </p:txBody>
      </p:sp>
      <p:sp>
        <p:nvSpPr>
          <p:cNvPr id="16" name="">
            <a:extLst xmlns:a="http://schemas.openxmlformats.org/drawingml/2006/main">
              <a:ext uri="{FF2B5EF4-FFF2-40B4-BE49-F238E27FC236}">
                <a16:creationId xmlns:a16="http://schemas.microsoft.com/office/drawing/2014/main" id="{A0B74AC3-9923-40CC-9C39-DFE9E62074F5}"/>
              </a:ext>
            </a:extLst>
          </p:cNvPr>
          <p:cNvSpPr>
            <a:spLocks xmlns:a="http://schemas.openxmlformats.org/drawingml/2006/main" noGrp="1"/>
          </p:cNvSpPr>
          <p:nvPr/>
        </p:nvSpPr>
        <p:spPr>
          <a:xfrm xmlns:a="http://schemas.openxmlformats.org/drawingml/2006/main">
            <a:off x="2466975" y="29127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1">
            <a:extLst xmlns:a="http://schemas.openxmlformats.org/drawingml/2006/main">
              <a:ext uri="{FF2B5EF4-FFF2-40B4-BE49-F238E27FC236}">
                <a16:creationId xmlns:a16="http://schemas.microsoft.com/office/drawing/2014/main" id="{66B5B38F-596B-4E2F-A02E-BFA8177223EF}"/>
              </a:ext>
            </a:extLst>
          </p:cNvPr>
          <p:cNvSpPr>
            <a:spLocks xmlns:a="http://schemas.openxmlformats.org/drawingml/2006/main" noGrp="1"/>
          </p:cNvSpPr>
          <p:nvPr/>
        </p:nvSpPr>
        <p:spPr>
          <a:xfrm xmlns:a="http://schemas.openxmlformats.org/drawingml/2006/main">
            <a:off x="2581275" y="29889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a:t>
            </a:r>
          </a:p>
        </p:txBody>
      </p:sp>
      <p:sp>
        <p:nvSpPr>
          <p:cNvPr id="18" name="">
            <a:extLst xmlns:a="http://schemas.openxmlformats.org/drawingml/2006/main">
              <a:ext uri="{FF2B5EF4-FFF2-40B4-BE49-F238E27FC236}">
                <a16:creationId xmlns:a16="http://schemas.microsoft.com/office/drawing/2014/main" id="{4E558154-07B9-4DF8-A447-7211A35980F2}"/>
              </a:ext>
            </a:extLst>
          </p:cNvPr>
          <p:cNvSpPr>
            <a:spLocks xmlns:a="http://schemas.openxmlformats.org/drawingml/2006/main" noGrp="1"/>
          </p:cNvSpPr>
          <p:nvPr/>
        </p:nvSpPr>
        <p:spPr>
          <a:xfrm xmlns:a="http://schemas.openxmlformats.org/drawingml/2006/main">
            <a:off x="4324350" y="29127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9" name="cell-0-2">
            <a:extLst xmlns:a="http://schemas.openxmlformats.org/drawingml/2006/main">
              <a:ext uri="{FF2B5EF4-FFF2-40B4-BE49-F238E27FC236}">
                <a16:creationId xmlns:a16="http://schemas.microsoft.com/office/drawing/2014/main" id="{A6047AE5-789B-4F12-AC05-8FAA68D2C748}"/>
              </a:ext>
            </a:extLst>
          </p:cNvPr>
          <p:cNvSpPr>
            <a:spLocks xmlns:a="http://schemas.openxmlformats.org/drawingml/2006/main" noGrp="1"/>
          </p:cNvSpPr>
          <p:nvPr/>
        </p:nvSpPr>
        <p:spPr>
          <a:xfrm xmlns:a="http://schemas.openxmlformats.org/drawingml/2006/main">
            <a:off x="4438650" y="29889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a:t>
            </a:r>
          </a:p>
        </p:txBody>
      </p:sp>
      <p:sp>
        <p:nvSpPr>
          <p:cNvPr id="20" name="">
            <a:extLst xmlns:a="http://schemas.openxmlformats.org/drawingml/2006/main">
              <a:ext uri="{FF2B5EF4-FFF2-40B4-BE49-F238E27FC236}">
                <a16:creationId xmlns:a16="http://schemas.microsoft.com/office/drawing/2014/main" id="{66FD5D8B-5EC6-47A6-9BC9-666C3883CE1E}"/>
              </a:ext>
            </a:extLst>
          </p:cNvPr>
          <p:cNvSpPr>
            <a:spLocks xmlns:a="http://schemas.openxmlformats.org/drawingml/2006/main" noGrp="1"/>
          </p:cNvSpPr>
          <p:nvPr/>
        </p:nvSpPr>
        <p:spPr>
          <a:xfrm xmlns:a="http://schemas.openxmlformats.org/drawingml/2006/main">
            <a:off x="6181725" y="29127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1" name="cell-0-3">
            <a:extLst xmlns:a="http://schemas.openxmlformats.org/drawingml/2006/main">
              <a:ext uri="{FF2B5EF4-FFF2-40B4-BE49-F238E27FC236}">
                <a16:creationId xmlns:a16="http://schemas.microsoft.com/office/drawing/2014/main" id="{461B0544-C91E-48D9-BF46-690F83FA48BA}"/>
              </a:ext>
            </a:extLst>
          </p:cNvPr>
          <p:cNvSpPr>
            <a:spLocks xmlns:a="http://schemas.openxmlformats.org/drawingml/2006/main" noGrp="1"/>
          </p:cNvSpPr>
          <p:nvPr/>
        </p:nvSpPr>
        <p:spPr>
          <a:xfrm xmlns:a="http://schemas.openxmlformats.org/drawingml/2006/main">
            <a:off x="6296025" y="29889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a:t>
            </a:r>
          </a:p>
        </p:txBody>
      </p:sp>
      <p:sp>
        <p:nvSpPr>
          <p:cNvPr id="22" name="">
            <a:extLst xmlns:a="http://schemas.openxmlformats.org/drawingml/2006/main">
              <a:ext uri="{FF2B5EF4-FFF2-40B4-BE49-F238E27FC236}">
                <a16:creationId xmlns:a16="http://schemas.microsoft.com/office/drawing/2014/main" id="{AB4D728E-2F2A-4B38-A655-B3FA0D67F318}"/>
              </a:ext>
            </a:extLst>
          </p:cNvPr>
          <p:cNvSpPr>
            <a:spLocks xmlns:a="http://schemas.openxmlformats.org/drawingml/2006/main" noGrp="1"/>
          </p:cNvSpPr>
          <p:nvPr/>
        </p:nvSpPr>
        <p:spPr>
          <a:xfrm xmlns:a="http://schemas.openxmlformats.org/drawingml/2006/main">
            <a:off x="609600" y="34461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0">
            <a:extLst xmlns:a="http://schemas.openxmlformats.org/drawingml/2006/main">
              <a:ext uri="{FF2B5EF4-FFF2-40B4-BE49-F238E27FC236}">
                <a16:creationId xmlns:a16="http://schemas.microsoft.com/office/drawing/2014/main" id="{03AF1C26-AD9A-48EF-9BA2-82378CCBED32}"/>
              </a:ext>
            </a:extLst>
          </p:cNvPr>
          <p:cNvSpPr>
            <a:spLocks xmlns:a="http://schemas.openxmlformats.org/drawingml/2006/main" noGrp="1"/>
          </p:cNvSpPr>
          <p:nvPr/>
        </p:nvSpPr>
        <p:spPr>
          <a:xfrm xmlns:a="http://schemas.openxmlformats.org/drawingml/2006/main">
            <a:off x="723900" y="35223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(120, 0)</a:t>
            </a:r>
          </a:p>
        </p:txBody>
      </p:sp>
      <p:sp>
        <p:nvSpPr>
          <p:cNvPr id="24" name="">
            <a:extLst xmlns:a="http://schemas.openxmlformats.org/drawingml/2006/main">
              <a:ext uri="{FF2B5EF4-FFF2-40B4-BE49-F238E27FC236}">
                <a16:creationId xmlns:a16="http://schemas.microsoft.com/office/drawing/2014/main" id="{8B10FF75-34CC-492C-96B7-02D841F1B0CA}"/>
              </a:ext>
            </a:extLst>
          </p:cNvPr>
          <p:cNvSpPr>
            <a:spLocks xmlns:a="http://schemas.openxmlformats.org/drawingml/2006/main" noGrp="1"/>
          </p:cNvSpPr>
          <p:nvPr/>
        </p:nvSpPr>
        <p:spPr>
          <a:xfrm xmlns:a="http://schemas.openxmlformats.org/drawingml/2006/main">
            <a:off x="2466975" y="34461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5" name="cell-1-1">
            <a:extLst xmlns:a="http://schemas.openxmlformats.org/drawingml/2006/main">
              <a:ext uri="{FF2B5EF4-FFF2-40B4-BE49-F238E27FC236}">
                <a16:creationId xmlns:a16="http://schemas.microsoft.com/office/drawing/2014/main" id="{BDFDC5E0-D63E-4E61-8309-558E532C0E91}"/>
              </a:ext>
            </a:extLst>
          </p:cNvPr>
          <p:cNvSpPr>
            <a:spLocks xmlns:a="http://schemas.openxmlformats.org/drawingml/2006/main" noGrp="1"/>
          </p:cNvSpPr>
          <p:nvPr/>
        </p:nvSpPr>
        <p:spPr>
          <a:xfrm xmlns:a="http://schemas.openxmlformats.org/drawingml/2006/main">
            <a:off x="2581275" y="35223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120</a:t>
            </a:r>
          </a:p>
        </p:txBody>
      </p:sp>
      <p:sp>
        <p:nvSpPr>
          <p:cNvPr id="26" name="">
            <a:extLst xmlns:a="http://schemas.openxmlformats.org/drawingml/2006/main">
              <a:ext uri="{FF2B5EF4-FFF2-40B4-BE49-F238E27FC236}">
                <a16:creationId xmlns:a16="http://schemas.microsoft.com/office/drawing/2014/main" id="{B6BAE0AF-2524-4A9F-B9F5-9830245008B9}"/>
              </a:ext>
            </a:extLst>
          </p:cNvPr>
          <p:cNvSpPr>
            <a:spLocks xmlns:a="http://schemas.openxmlformats.org/drawingml/2006/main" noGrp="1"/>
          </p:cNvSpPr>
          <p:nvPr/>
        </p:nvSpPr>
        <p:spPr>
          <a:xfrm xmlns:a="http://schemas.openxmlformats.org/drawingml/2006/main">
            <a:off x="4324350" y="34461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7" name="cell-1-2">
            <a:extLst xmlns:a="http://schemas.openxmlformats.org/drawingml/2006/main">
              <a:ext uri="{FF2B5EF4-FFF2-40B4-BE49-F238E27FC236}">
                <a16:creationId xmlns:a16="http://schemas.microsoft.com/office/drawing/2014/main" id="{274C5945-7BA9-427D-A385-9D966ADE7A30}"/>
              </a:ext>
            </a:extLst>
          </p:cNvPr>
          <p:cNvSpPr>
            <a:spLocks xmlns:a="http://schemas.openxmlformats.org/drawingml/2006/main" noGrp="1"/>
          </p:cNvSpPr>
          <p:nvPr/>
        </p:nvSpPr>
        <p:spPr>
          <a:xfrm xmlns:a="http://schemas.openxmlformats.org/drawingml/2006/main">
            <a:off x="4438650" y="35223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$48,000</a:t>
            </a:r>
          </a:p>
        </p:txBody>
      </p:sp>
      <p:sp>
        <p:nvSpPr>
          <p:cNvPr id="28" name="">
            <a:extLst xmlns:a="http://schemas.openxmlformats.org/drawingml/2006/main">
              <a:ext uri="{FF2B5EF4-FFF2-40B4-BE49-F238E27FC236}">
                <a16:creationId xmlns:a16="http://schemas.microsoft.com/office/drawing/2014/main" id="{09023FA7-F2AC-4E63-A6F0-AB7B1520E4B9}"/>
              </a:ext>
            </a:extLst>
          </p:cNvPr>
          <p:cNvSpPr>
            <a:spLocks xmlns:a="http://schemas.openxmlformats.org/drawingml/2006/main" noGrp="1"/>
          </p:cNvSpPr>
          <p:nvPr/>
        </p:nvSpPr>
        <p:spPr>
          <a:xfrm xmlns:a="http://schemas.openxmlformats.org/drawingml/2006/main">
            <a:off x="6181725" y="34461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9" name="cell-1-3">
            <a:extLst xmlns:a="http://schemas.openxmlformats.org/drawingml/2006/main">
              <a:ext uri="{FF2B5EF4-FFF2-40B4-BE49-F238E27FC236}">
                <a16:creationId xmlns:a16="http://schemas.microsoft.com/office/drawing/2014/main" id="{9080B5F8-C0BB-4BE9-BB3C-C6B6BB5A2D50}"/>
              </a:ext>
            </a:extLst>
          </p:cNvPr>
          <p:cNvSpPr>
            <a:spLocks xmlns:a="http://schemas.openxmlformats.org/drawingml/2006/main" noGrp="1"/>
          </p:cNvSpPr>
          <p:nvPr/>
        </p:nvSpPr>
        <p:spPr>
          <a:xfrm xmlns:a="http://schemas.openxmlformats.org/drawingml/2006/main">
            <a:off x="6296025" y="35223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$7,200</a:t>
            </a:r>
          </a:p>
        </p:txBody>
      </p:sp>
      <p:sp>
        <p:nvSpPr>
          <p:cNvPr id="30" name="">
            <a:extLst xmlns:a="http://schemas.openxmlformats.org/drawingml/2006/main">
              <a:ext uri="{FF2B5EF4-FFF2-40B4-BE49-F238E27FC236}">
                <a16:creationId xmlns:a16="http://schemas.microsoft.com/office/drawing/2014/main" id="{16BC0244-FE25-4D25-A0A8-DB9656F9CD61}"/>
              </a:ext>
            </a:extLst>
          </p:cNvPr>
          <p:cNvSpPr>
            <a:spLocks xmlns:a="http://schemas.openxmlformats.org/drawingml/2006/main" noGrp="1"/>
          </p:cNvSpPr>
          <p:nvPr/>
        </p:nvSpPr>
        <p:spPr>
          <a:xfrm xmlns:a="http://schemas.openxmlformats.org/drawingml/2006/main">
            <a:off x="609600" y="39795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1" name="cell-2-0">
            <a:extLst xmlns:a="http://schemas.openxmlformats.org/drawingml/2006/main">
              <a:ext uri="{FF2B5EF4-FFF2-40B4-BE49-F238E27FC236}">
                <a16:creationId xmlns:a16="http://schemas.microsoft.com/office/drawing/2014/main" id="{2DD33DCF-DD31-446E-8F02-A1D3ACDCCD23}"/>
              </a:ext>
            </a:extLst>
          </p:cNvPr>
          <p:cNvSpPr>
            <a:spLocks xmlns:a="http://schemas.openxmlformats.org/drawingml/2006/main" noGrp="1"/>
          </p:cNvSpPr>
          <p:nvPr/>
        </p:nvSpPr>
        <p:spPr>
          <a:xfrm xmlns:a="http://schemas.openxmlformats.org/drawingml/2006/main">
            <a:off x="723900" y="40557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(120, 13.3)</a:t>
            </a:r>
          </a:p>
        </p:txBody>
      </p:sp>
      <p:sp>
        <p:nvSpPr>
          <p:cNvPr id="32" name="">
            <a:extLst xmlns:a="http://schemas.openxmlformats.org/drawingml/2006/main">
              <a:ext uri="{FF2B5EF4-FFF2-40B4-BE49-F238E27FC236}">
                <a16:creationId xmlns:a16="http://schemas.microsoft.com/office/drawing/2014/main" id="{0DEAB743-BC58-4E64-AFDD-A0CDB9993DEF}"/>
              </a:ext>
            </a:extLst>
          </p:cNvPr>
          <p:cNvSpPr>
            <a:spLocks xmlns:a="http://schemas.openxmlformats.org/drawingml/2006/main" noGrp="1"/>
          </p:cNvSpPr>
          <p:nvPr/>
        </p:nvSpPr>
        <p:spPr>
          <a:xfrm xmlns:a="http://schemas.openxmlformats.org/drawingml/2006/main">
            <a:off x="2466975" y="39795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3" name="cell-2-1">
            <a:extLst xmlns:a="http://schemas.openxmlformats.org/drawingml/2006/main">
              <a:ext uri="{FF2B5EF4-FFF2-40B4-BE49-F238E27FC236}">
                <a16:creationId xmlns:a16="http://schemas.microsoft.com/office/drawing/2014/main" id="{7679E273-162A-4EC2-904D-DA5F81F406F3}"/>
              </a:ext>
            </a:extLst>
          </p:cNvPr>
          <p:cNvSpPr>
            <a:spLocks xmlns:a="http://schemas.openxmlformats.org/drawingml/2006/main" noGrp="1"/>
          </p:cNvSpPr>
          <p:nvPr/>
        </p:nvSpPr>
        <p:spPr>
          <a:xfrm xmlns:a="http://schemas.openxmlformats.org/drawingml/2006/main">
            <a:off x="2581275" y="40557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133.3</a:t>
            </a:r>
          </a:p>
        </p:txBody>
      </p:sp>
      <p:sp>
        <p:nvSpPr>
          <p:cNvPr id="34" name="">
            <a:extLst xmlns:a="http://schemas.openxmlformats.org/drawingml/2006/main">
              <a:ext uri="{FF2B5EF4-FFF2-40B4-BE49-F238E27FC236}">
                <a16:creationId xmlns:a16="http://schemas.microsoft.com/office/drawing/2014/main" id="{9436D4C1-AFFC-42DE-8E76-CB383CA9B522}"/>
              </a:ext>
            </a:extLst>
          </p:cNvPr>
          <p:cNvSpPr>
            <a:spLocks xmlns:a="http://schemas.openxmlformats.org/drawingml/2006/main" noGrp="1"/>
          </p:cNvSpPr>
          <p:nvPr/>
        </p:nvSpPr>
        <p:spPr>
          <a:xfrm xmlns:a="http://schemas.openxmlformats.org/drawingml/2006/main">
            <a:off x="4324350" y="39795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5" name="cell-2-2">
            <a:extLst xmlns:a="http://schemas.openxmlformats.org/drawingml/2006/main">
              <a:ext uri="{FF2B5EF4-FFF2-40B4-BE49-F238E27FC236}">
                <a16:creationId xmlns:a16="http://schemas.microsoft.com/office/drawing/2014/main" id="{CBDC1A1C-0B75-4EB5-AC86-B50C3946BFEE}"/>
              </a:ext>
            </a:extLst>
          </p:cNvPr>
          <p:cNvSpPr>
            <a:spLocks xmlns:a="http://schemas.openxmlformats.org/drawingml/2006/main" noGrp="1"/>
          </p:cNvSpPr>
          <p:nvPr/>
        </p:nvSpPr>
        <p:spPr>
          <a:xfrm xmlns:a="http://schemas.openxmlformats.org/drawingml/2006/main">
            <a:off x="4438650" y="40557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$50,000</a:t>
            </a:r>
          </a:p>
        </p:txBody>
      </p:sp>
      <p:sp>
        <p:nvSpPr>
          <p:cNvPr id="36" name="">
            <a:extLst xmlns:a="http://schemas.openxmlformats.org/drawingml/2006/main">
              <a:ext uri="{FF2B5EF4-FFF2-40B4-BE49-F238E27FC236}">
                <a16:creationId xmlns:a16="http://schemas.microsoft.com/office/drawing/2014/main" id="{2714D1FF-7ECA-4CD3-AC56-D5690DB7AB48}"/>
              </a:ext>
            </a:extLst>
          </p:cNvPr>
          <p:cNvSpPr>
            <a:spLocks xmlns:a="http://schemas.openxmlformats.org/drawingml/2006/main" noGrp="1"/>
          </p:cNvSpPr>
          <p:nvPr/>
        </p:nvSpPr>
        <p:spPr>
          <a:xfrm xmlns:a="http://schemas.openxmlformats.org/drawingml/2006/main">
            <a:off x="6181725" y="39795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7" name="cell-2-3">
            <a:extLst xmlns:a="http://schemas.openxmlformats.org/drawingml/2006/main">
              <a:ext uri="{FF2B5EF4-FFF2-40B4-BE49-F238E27FC236}">
                <a16:creationId xmlns:a16="http://schemas.microsoft.com/office/drawing/2014/main" id="{0D0AFCB0-5A33-447C-8D42-94FF97D163F0}"/>
              </a:ext>
            </a:extLst>
          </p:cNvPr>
          <p:cNvSpPr>
            <a:spLocks xmlns:a="http://schemas.openxmlformats.org/drawingml/2006/main" noGrp="1"/>
          </p:cNvSpPr>
          <p:nvPr/>
        </p:nvSpPr>
        <p:spPr>
          <a:xfrm xmlns:a="http://schemas.openxmlformats.org/drawingml/2006/main">
            <a:off x="6296025" y="40557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$7,533</a:t>
            </a:r>
          </a:p>
        </p:txBody>
      </p:sp>
      <p:sp>
        <p:nvSpPr>
          <p:cNvPr id="38" name="">
            <a:extLst xmlns:a="http://schemas.openxmlformats.org/drawingml/2006/main">
              <a:ext uri="{FF2B5EF4-FFF2-40B4-BE49-F238E27FC236}">
                <a16:creationId xmlns:a16="http://schemas.microsoft.com/office/drawing/2014/main" id="{569737FB-E0DE-4388-B453-1A0A5517B744}"/>
              </a:ext>
            </a:extLst>
          </p:cNvPr>
          <p:cNvSpPr>
            <a:spLocks xmlns:a="http://schemas.openxmlformats.org/drawingml/2006/main" noGrp="1"/>
          </p:cNvSpPr>
          <p:nvPr/>
        </p:nvSpPr>
        <p:spPr>
          <a:xfrm xmlns:a="http://schemas.openxmlformats.org/drawingml/2006/main">
            <a:off x="609600" y="45129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9" name="cell-3-0">
            <a:extLst xmlns:a="http://schemas.openxmlformats.org/drawingml/2006/main">
              <a:ext uri="{FF2B5EF4-FFF2-40B4-BE49-F238E27FC236}">
                <a16:creationId xmlns:a16="http://schemas.microsoft.com/office/drawing/2014/main" id="{E42A2BA0-1051-43FF-8613-8C281E72636E}"/>
              </a:ext>
            </a:extLst>
          </p:cNvPr>
          <p:cNvSpPr>
            <a:spLocks xmlns:a="http://schemas.openxmlformats.org/drawingml/2006/main" noGrp="1"/>
          </p:cNvSpPr>
          <p:nvPr/>
        </p:nvSpPr>
        <p:spPr>
          <a:xfrm xmlns:a="http://schemas.openxmlformats.org/drawingml/2006/main">
            <a:off x="723900" y="45891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(80, 120)</a:t>
            </a:r>
          </a:p>
        </p:txBody>
      </p:sp>
      <p:sp>
        <p:nvSpPr>
          <p:cNvPr id="40" name="">
            <a:extLst xmlns:a="http://schemas.openxmlformats.org/drawingml/2006/main">
              <a:ext uri="{FF2B5EF4-FFF2-40B4-BE49-F238E27FC236}">
                <a16:creationId xmlns:a16="http://schemas.microsoft.com/office/drawing/2014/main" id="{86EE6CCE-1834-4FB7-B5A0-4904404FF009}"/>
              </a:ext>
            </a:extLst>
          </p:cNvPr>
          <p:cNvSpPr>
            <a:spLocks xmlns:a="http://schemas.openxmlformats.org/drawingml/2006/main" noGrp="1"/>
          </p:cNvSpPr>
          <p:nvPr/>
        </p:nvSpPr>
        <p:spPr>
          <a:xfrm xmlns:a="http://schemas.openxmlformats.org/drawingml/2006/main">
            <a:off x="2466975" y="45129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1" name="cell-3-1">
            <a:extLst xmlns:a="http://schemas.openxmlformats.org/drawingml/2006/main">
              <a:ext uri="{FF2B5EF4-FFF2-40B4-BE49-F238E27FC236}">
                <a16:creationId xmlns:a16="http://schemas.microsoft.com/office/drawing/2014/main" id="{A6A14177-59F4-4739-9666-3884445F36E4}"/>
              </a:ext>
            </a:extLst>
          </p:cNvPr>
          <p:cNvSpPr>
            <a:spLocks xmlns:a="http://schemas.openxmlformats.org/drawingml/2006/main" noGrp="1"/>
          </p:cNvSpPr>
          <p:nvPr/>
        </p:nvSpPr>
        <p:spPr>
          <a:xfrm xmlns:a="http://schemas.openxmlformats.org/drawingml/2006/main">
            <a:off x="2581275" y="45891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200</a:t>
            </a:r>
          </a:p>
        </p:txBody>
      </p:sp>
      <p:sp>
        <p:nvSpPr>
          <p:cNvPr id="42" name="">
            <a:extLst xmlns:a="http://schemas.openxmlformats.org/drawingml/2006/main">
              <a:ext uri="{FF2B5EF4-FFF2-40B4-BE49-F238E27FC236}">
                <a16:creationId xmlns:a16="http://schemas.microsoft.com/office/drawing/2014/main" id="{7B62D7F1-63BD-4455-B8C7-614D314C538F}"/>
              </a:ext>
            </a:extLst>
          </p:cNvPr>
          <p:cNvSpPr>
            <a:spLocks xmlns:a="http://schemas.openxmlformats.org/drawingml/2006/main" noGrp="1"/>
          </p:cNvSpPr>
          <p:nvPr/>
        </p:nvSpPr>
        <p:spPr>
          <a:xfrm xmlns:a="http://schemas.openxmlformats.org/drawingml/2006/main">
            <a:off x="4324350" y="45129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3" name="cell-3-2">
            <a:extLst xmlns:a="http://schemas.openxmlformats.org/drawingml/2006/main">
              <a:ext uri="{FF2B5EF4-FFF2-40B4-BE49-F238E27FC236}">
                <a16:creationId xmlns:a16="http://schemas.microsoft.com/office/drawing/2014/main" id="{983FDBB4-0FE0-48EB-A46A-A2097194777B}"/>
              </a:ext>
            </a:extLst>
          </p:cNvPr>
          <p:cNvSpPr>
            <a:spLocks xmlns:a="http://schemas.openxmlformats.org/drawingml/2006/main" noGrp="1"/>
          </p:cNvSpPr>
          <p:nvPr/>
        </p:nvSpPr>
        <p:spPr>
          <a:xfrm xmlns:a="http://schemas.openxmlformats.org/drawingml/2006/main">
            <a:off x="4438650" y="45891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$50,000</a:t>
            </a:r>
          </a:p>
        </p:txBody>
      </p:sp>
      <p:sp>
        <p:nvSpPr>
          <p:cNvPr id="44" name="">
            <a:extLst xmlns:a="http://schemas.openxmlformats.org/drawingml/2006/main">
              <a:ext uri="{FF2B5EF4-FFF2-40B4-BE49-F238E27FC236}">
                <a16:creationId xmlns:a16="http://schemas.microsoft.com/office/drawing/2014/main" id="{961E2272-C32D-47C0-B0CE-9ABA51E7D575}"/>
              </a:ext>
            </a:extLst>
          </p:cNvPr>
          <p:cNvSpPr>
            <a:spLocks xmlns:a="http://schemas.openxmlformats.org/drawingml/2006/main" noGrp="1"/>
          </p:cNvSpPr>
          <p:nvPr/>
        </p:nvSpPr>
        <p:spPr>
          <a:xfrm xmlns:a="http://schemas.openxmlformats.org/drawingml/2006/main">
            <a:off x="6181725" y="45129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5" name="cell-3-3">
            <a:extLst xmlns:a="http://schemas.openxmlformats.org/drawingml/2006/main">
              <a:ext uri="{FF2B5EF4-FFF2-40B4-BE49-F238E27FC236}">
                <a16:creationId xmlns:a16="http://schemas.microsoft.com/office/drawing/2014/main" id="{D7AD21BF-E724-4BE5-9FFB-379A9D7FA2A0}"/>
              </a:ext>
            </a:extLst>
          </p:cNvPr>
          <p:cNvSpPr>
            <a:spLocks xmlns:a="http://schemas.openxmlformats.org/drawingml/2006/main" noGrp="1"/>
          </p:cNvSpPr>
          <p:nvPr/>
        </p:nvSpPr>
        <p:spPr>
          <a:xfrm xmlns:a="http://schemas.openxmlformats.org/drawingml/2006/main">
            <a:off x="6296025" y="45891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$7,800</a:t>
            </a:r>
          </a:p>
        </p:txBody>
      </p:sp>
      <p:sp>
        <p:nvSpPr>
          <p:cNvPr id="46" name="">
            <a:extLst xmlns:a="http://schemas.openxmlformats.org/drawingml/2006/main">
              <a:ext uri="{FF2B5EF4-FFF2-40B4-BE49-F238E27FC236}">
                <a16:creationId xmlns:a16="http://schemas.microsoft.com/office/drawing/2014/main" id="{7337895A-C311-4F9B-8C53-A537D327D7D8}"/>
              </a:ext>
            </a:extLst>
          </p:cNvPr>
          <p:cNvSpPr>
            <a:spLocks xmlns:a="http://schemas.openxmlformats.org/drawingml/2006/main" noGrp="1"/>
          </p:cNvSpPr>
          <p:nvPr/>
        </p:nvSpPr>
        <p:spPr>
          <a:xfrm xmlns:a="http://schemas.openxmlformats.org/drawingml/2006/main">
            <a:off x="609600" y="50463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47" name="cell-4-0">
            <a:extLst xmlns:a="http://schemas.openxmlformats.org/drawingml/2006/main">
              <a:ext uri="{FF2B5EF4-FFF2-40B4-BE49-F238E27FC236}">
                <a16:creationId xmlns:a16="http://schemas.microsoft.com/office/drawing/2014/main" id="{63C91A36-56F5-4528-8C4D-075C3F87693A}"/>
              </a:ext>
            </a:extLst>
          </p:cNvPr>
          <p:cNvSpPr>
            <a:spLocks xmlns:a="http://schemas.openxmlformats.org/drawingml/2006/main" noGrp="1"/>
          </p:cNvSpPr>
          <p:nvPr/>
        </p:nvSpPr>
        <p:spPr>
          <a:xfrm xmlns:a="http://schemas.openxmlformats.org/drawingml/2006/main">
            <a:off x="723900" y="51225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(0, 200)</a:t>
            </a:r>
          </a:p>
        </p:txBody>
      </p:sp>
      <p:sp>
        <p:nvSpPr>
          <p:cNvPr id="48" name="">
            <a:extLst xmlns:a="http://schemas.openxmlformats.org/drawingml/2006/main">
              <a:ext uri="{FF2B5EF4-FFF2-40B4-BE49-F238E27FC236}">
                <a16:creationId xmlns:a16="http://schemas.microsoft.com/office/drawing/2014/main" id="{B660C6C5-AB90-4AF0-92FB-DD0B56A43787}"/>
              </a:ext>
            </a:extLst>
          </p:cNvPr>
          <p:cNvSpPr>
            <a:spLocks xmlns:a="http://schemas.openxmlformats.org/drawingml/2006/main" noGrp="1"/>
          </p:cNvSpPr>
          <p:nvPr/>
        </p:nvSpPr>
        <p:spPr>
          <a:xfrm xmlns:a="http://schemas.openxmlformats.org/drawingml/2006/main">
            <a:off x="2466975" y="50463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49" name="cell-4-1">
            <a:extLst xmlns:a="http://schemas.openxmlformats.org/drawingml/2006/main">
              <a:ext uri="{FF2B5EF4-FFF2-40B4-BE49-F238E27FC236}">
                <a16:creationId xmlns:a16="http://schemas.microsoft.com/office/drawing/2014/main" id="{2317F389-FB6C-489B-80F3-3B277133B46D}"/>
              </a:ext>
            </a:extLst>
          </p:cNvPr>
          <p:cNvSpPr>
            <a:spLocks xmlns:a="http://schemas.openxmlformats.org/drawingml/2006/main" noGrp="1"/>
          </p:cNvSpPr>
          <p:nvPr/>
        </p:nvSpPr>
        <p:spPr>
          <a:xfrm xmlns:a="http://schemas.openxmlformats.org/drawingml/2006/main">
            <a:off x="2581275" y="51225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200</a:t>
            </a:r>
          </a:p>
        </p:txBody>
      </p:sp>
      <p:sp>
        <p:nvSpPr>
          <p:cNvPr id="50" name="">
            <a:extLst xmlns:a="http://schemas.openxmlformats.org/drawingml/2006/main">
              <a:ext uri="{FF2B5EF4-FFF2-40B4-BE49-F238E27FC236}">
                <a16:creationId xmlns:a16="http://schemas.microsoft.com/office/drawing/2014/main" id="{CE5AC053-5F75-4BD7-B7DB-86C26065337D}"/>
              </a:ext>
            </a:extLst>
          </p:cNvPr>
          <p:cNvSpPr>
            <a:spLocks xmlns:a="http://schemas.openxmlformats.org/drawingml/2006/main" noGrp="1"/>
          </p:cNvSpPr>
          <p:nvPr/>
        </p:nvSpPr>
        <p:spPr>
          <a:xfrm xmlns:a="http://schemas.openxmlformats.org/drawingml/2006/main">
            <a:off x="4324350" y="50463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51" name="cell-4-2">
            <a:extLst xmlns:a="http://schemas.openxmlformats.org/drawingml/2006/main">
              <a:ext uri="{FF2B5EF4-FFF2-40B4-BE49-F238E27FC236}">
                <a16:creationId xmlns:a16="http://schemas.microsoft.com/office/drawing/2014/main" id="{6EA76457-D328-42D8-9435-942DDD7E5D97}"/>
              </a:ext>
            </a:extLst>
          </p:cNvPr>
          <p:cNvSpPr>
            <a:spLocks xmlns:a="http://schemas.openxmlformats.org/drawingml/2006/main" noGrp="1"/>
          </p:cNvSpPr>
          <p:nvPr/>
        </p:nvSpPr>
        <p:spPr>
          <a:xfrm xmlns:a="http://schemas.openxmlformats.org/drawingml/2006/main">
            <a:off x="4438650" y="51225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$30,000</a:t>
            </a:r>
          </a:p>
        </p:txBody>
      </p:sp>
      <p:sp>
        <p:nvSpPr>
          <p:cNvPr id="52" name="">
            <a:extLst xmlns:a="http://schemas.openxmlformats.org/drawingml/2006/main">
              <a:ext uri="{FF2B5EF4-FFF2-40B4-BE49-F238E27FC236}">
                <a16:creationId xmlns:a16="http://schemas.microsoft.com/office/drawing/2014/main" id="{29EA2134-67F8-45D5-9BAD-B699640D4F30}"/>
              </a:ext>
            </a:extLst>
          </p:cNvPr>
          <p:cNvSpPr>
            <a:spLocks xmlns:a="http://schemas.openxmlformats.org/drawingml/2006/main" noGrp="1"/>
          </p:cNvSpPr>
          <p:nvPr/>
        </p:nvSpPr>
        <p:spPr>
          <a:xfrm xmlns:a="http://schemas.openxmlformats.org/drawingml/2006/main">
            <a:off x="6181725" y="50463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53" name="cell-4-3">
            <a:extLst xmlns:a="http://schemas.openxmlformats.org/drawingml/2006/main">
              <a:ext uri="{FF2B5EF4-FFF2-40B4-BE49-F238E27FC236}">
                <a16:creationId xmlns:a16="http://schemas.microsoft.com/office/drawing/2014/main" id="{AD7A5867-1322-4AD3-A485-F305BCA09C5D}"/>
              </a:ext>
            </a:extLst>
          </p:cNvPr>
          <p:cNvSpPr>
            <a:spLocks xmlns:a="http://schemas.openxmlformats.org/drawingml/2006/main" noGrp="1"/>
          </p:cNvSpPr>
          <p:nvPr/>
        </p:nvSpPr>
        <p:spPr>
          <a:xfrm xmlns:a="http://schemas.openxmlformats.org/drawingml/2006/main">
            <a:off x="6296025" y="51225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$5,000</a:t>
            </a:r>
          </a:p>
        </p:txBody>
      </p:sp>
      <p:sp>
        <p:nvSpPr>
          <p:cNvPr id="54" name="callout-label">
            <a:extLst xmlns:a="http://schemas.openxmlformats.org/drawingml/2006/main">
              <a:ext uri="{FF2B5EF4-FFF2-40B4-BE49-F238E27FC236}">
                <a16:creationId xmlns:a16="http://schemas.microsoft.com/office/drawing/2014/main" id="{FDBED494-3CD1-428A-AFBA-30AD16A29888}"/>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55" name="callout">
            <a:extLst xmlns:a="http://schemas.openxmlformats.org/drawingml/2006/main">
              <a:ext uri="{FF2B5EF4-FFF2-40B4-BE49-F238E27FC236}">
                <a16:creationId xmlns:a16="http://schemas.microsoft.com/office/drawing/2014/main" id="{35819CF9-F013-4338-B480-CB4540023607}"/>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Five corners, one winner in this instance: (80, 120) at $7,800/yr. If the objective were parallel to a binding edge, multiple points on that edge could tie.</a:t>
            </a:r>
          </a:p>
        </p:txBody>
      </p:sp>
    </p:spTree>
    <p:extLst>
      <p:ext uri="{BB962C8B-B14F-4D97-AF65-F5344CB8AC3E}">
        <p14:creationId xmlns:p14="http://schemas.microsoft.com/office/powerpoint/2010/main" val="106360046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BA1BC652-EA81-47CB-81BF-F75BAC99577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PRINCIPLE</a:t>
            </a:r>
          </a:p>
        </p:txBody>
      </p:sp>
      <p:sp>
        <p:nvSpPr>
          <p:cNvPr id="2" name="title">
            <a:extLst xmlns:a="http://schemas.openxmlformats.org/drawingml/2006/main">
              <a:ext uri="{FF2B5EF4-FFF2-40B4-BE49-F238E27FC236}">
                <a16:creationId xmlns:a16="http://schemas.microsoft.com/office/drawing/2014/main" id="{9B4DC76F-78DA-40B3-A6C4-91523157605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What the LP theorem guarantees</a:t>
            </a:r>
          </a:p>
        </p:txBody>
      </p:sp>
      <p:sp>
        <p:nvSpPr>
          <p:cNvPr id="3" name="">
            <a:extLst xmlns:a="http://schemas.openxmlformats.org/drawingml/2006/main">
              <a:ext uri="{FF2B5EF4-FFF2-40B4-BE49-F238E27FC236}">
                <a16:creationId xmlns:a16="http://schemas.microsoft.com/office/drawing/2014/main" id="{2A9FC2BC-6070-425C-8209-8EB84580A66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848D7C3-48C6-4C58-B1FC-C66CD7E530B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EE09D7EF-D138-450B-A8D7-C895D903D786}"/>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17</a:t>
            </a:r>
          </a:p>
        </p:txBody>
      </p:sp>
      <p:sp>
        <p:nvSpPr>
          <p:cNvPr id="6" name="statement">
            <a:extLst xmlns:a="http://schemas.openxmlformats.org/drawingml/2006/main">
              <a:ext uri="{FF2B5EF4-FFF2-40B4-BE49-F238E27FC236}">
                <a16:creationId xmlns:a16="http://schemas.microsoft.com/office/drawing/2014/main" id="{AA543A82-6AEA-497C-B4DF-3012C3338797}"/>
              </a:ext>
            </a:extLst>
          </p:cNvPr>
          <p:cNvSpPr>
            <a:spLocks xmlns:a="http://schemas.openxmlformats.org/drawingml/2006/main" noGrp="1"/>
          </p:cNvSpPr>
          <p:nvPr/>
        </p:nvSpPr>
        <p:spPr>
          <a:xfrm xmlns:a="http://schemas.openxmlformats.org/drawingml/2006/main">
            <a:off x="609600" y="2076450"/>
            <a:ext cx="9829800" cy="20513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11316"/>
                </a:solidFill>
                <a:latin typeface="Arial"/>
                <a:ea typeface="Arial"/>
                <a:cs typeface="Arial"/>
              </a:defRPr>
            </a:pPr>
            <a:r>
              <a:rPr sz="3600" b="1">
                <a:solidFill>
                  <a:srgbClr val="111316"/>
                </a:solidFill>
                <a:latin typeface="Arial"/>
                <a:ea typeface="Arial"/>
                <a:cs typeface="Arial"/>
              </a:rPr>
              <a:t>If a linear program has a finite optimum, at least one optimal solution is an extreme point of the feasible region.</a:t>
            </a:r>
          </a:p>
        </p:txBody>
      </p:sp>
      <p:sp>
        <p:nvSpPr>
          <p:cNvPr id="7" name="">
            <a:extLst xmlns:a="http://schemas.openxmlformats.org/drawingml/2006/main">
              <a:ext uri="{FF2B5EF4-FFF2-40B4-BE49-F238E27FC236}">
                <a16:creationId xmlns:a16="http://schemas.microsoft.com/office/drawing/2014/main" id="{4C76CAA5-D394-45B1-A3B9-0F854BA4EEAC}"/>
              </a:ext>
            </a:extLst>
          </p:cNvPr>
          <p:cNvSpPr>
            <a:spLocks xmlns:a="http://schemas.openxmlformats.org/drawingml/2006/main" noGrp="1"/>
          </p:cNvSpPr>
          <p:nvPr/>
        </p:nvSpPr>
        <p:spPr>
          <a:xfrm xmlns:a="http://schemas.openxmlformats.org/drawingml/2006/main">
            <a:off x="609600" y="4337304"/>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8" name="supporting">
            <a:extLst xmlns:a="http://schemas.openxmlformats.org/drawingml/2006/main">
              <a:ext uri="{FF2B5EF4-FFF2-40B4-BE49-F238E27FC236}">
                <a16:creationId xmlns:a16="http://schemas.microsoft.com/office/drawing/2014/main" id="{DDEF49D4-3CF5-4F8B-81A7-82B6B6050ECF}"/>
              </a:ext>
            </a:extLst>
          </p:cNvPr>
          <p:cNvSpPr>
            <a:spLocks xmlns:a="http://schemas.openxmlformats.org/drawingml/2006/main" noGrp="1"/>
          </p:cNvSpPr>
          <p:nvPr/>
        </p:nvSpPr>
        <p:spPr>
          <a:xfrm xmlns:a="http://schemas.openxmlformats.org/drawingml/2006/main">
            <a:off x="609600" y="4661154"/>
            <a:ext cx="9334500" cy="8717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That supports a global guarantee for the mathematical model. A software solver still decides feasibility and optimality with numerical tolerances, and more than one solution may be optimal.</a:t>
            </a:r>
          </a:p>
        </p:txBody>
      </p:sp>
    </p:spTree>
    <p:extLst>
      <p:ext uri="{BB962C8B-B14F-4D97-AF65-F5344CB8AC3E}">
        <p14:creationId xmlns:p14="http://schemas.microsoft.com/office/powerpoint/2010/main" val="38971360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82412815-2E24-4A66-9D6D-43AD68B4E52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A2044C2C-017F-4E9F-9DB5-9C28531ED30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Standard form, defined</a:t>
            </a:r>
          </a:p>
        </p:txBody>
      </p:sp>
      <p:sp>
        <p:nvSpPr>
          <p:cNvPr id="3" name="">
            <a:extLst xmlns:a="http://schemas.openxmlformats.org/drawingml/2006/main">
              <a:ext uri="{FF2B5EF4-FFF2-40B4-BE49-F238E27FC236}">
                <a16:creationId xmlns:a16="http://schemas.microsoft.com/office/drawing/2014/main" id="{45F35257-DFCF-4AE9-9446-B7069E012EB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2D38F4C-83BE-434F-88A1-4E3695124C49}"/>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B9367559-EB6F-4957-B359-A10F36A2ADD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18</a:t>
            </a:r>
          </a:p>
        </p:txBody>
      </p:sp>
      <p:sp>
        <p:nvSpPr>
          <p:cNvPr id="6" name="left-head">
            <a:extLst xmlns:a="http://schemas.openxmlformats.org/drawingml/2006/main">
              <a:ext uri="{FF2B5EF4-FFF2-40B4-BE49-F238E27FC236}">
                <a16:creationId xmlns:a16="http://schemas.microsoft.com/office/drawing/2014/main" id="{EAC6E1DB-4FA9-4B44-BCDD-8942501186C2}"/>
              </a:ext>
            </a:extLst>
          </p:cNvPr>
          <p:cNvSpPr>
            <a:spLocks xmlns:a="http://schemas.openxmlformats.org/drawingml/2006/main" noGrp="1"/>
          </p:cNvSpPr>
          <p:nvPr/>
        </p:nvSpPr>
        <p:spPr>
          <a:xfrm xmlns:a="http://schemas.openxmlformats.org/drawingml/2006/main">
            <a:off x="609600" y="241935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Definition</a:t>
            </a:r>
          </a:p>
        </p:txBody>
      </p:sp>
      <p:sp>
        <p:nvSpPr>
          <p:cNvPr id="7" name="left-body">
            <a:extLst xmlns:a="http://schemas.openxmlformats.org/drawingml/2006/main">
              <a:ext uri="{FF2B5EF4-FFF2-40B4-BE49-F238E27FC236}">
                <a16:creationId xmlns:a16="http://schemas.microsoft.com/office/drawing/2014/main" id="{C1418319-0754-41CD-AB1D-A73E86E64B67}"/>
              </a:ext>
            </a:extLst>
          </p:cNvPr>
          <p:cNvSpPr>
            <a:spLocks xmlns:a="http://schemas.openxmlformats.org/drawingml/2006/main" noGrp="1"/>
          </p:cNvSpPr>
          <p:nvPr/>
        </p:nvSpPr>
        <p:spPr>
          <a:xfrm xmlns:a="http://schemas.openxmlformats.org/drawingml/2006/main">
            <a:off x="609600" y="2916936"/>
            <a:ext cx="5219700" cy="21976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Standard form restates any linear program the same fixed way every solver expects:</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minimize c^T x</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subject to A_ub x &lt;= b_ub</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and lb &lt;= x &lt;= ub</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c, A_ub, b_ub, lb, ub are just numbers arranged as vectors/matrices — no new math, just a fixed shape to fill in.</a:t>
            </a:r>
          </a:p>
        </p:txBody>
      </p:sp>
      <p:sp>
        <p:nvSpPr>
          <p:cNvPr id="8" name="right-head">
            <a:extLst xmlns:a="http://schemas.openxmlformats.org/drawingml/2006/main">
              <a:ext uri="{FF2B5EF4-FFF2-40B4-BE49-F238E27FC236}">
                <a16:creationId xmlns:a16="http://schemas.microsoft.com/office/drawing/2014/main" id="{C146C72E-BA66-4EFB-BB4A-CDDC637ED85C}"/>
              </a:ext>
            </a:extLst>
          </p:cNvPr>
          <p:cNvSpPr>
            <a:spLocks xmlns:a="http://schemas.openxmlformats.org/drawingml/2006/main" noGrp="1"/>
          </p:cNvSpPr>
          <p:nvPr/>
        </p:nvSpPr>
        <p:spPr>
          <a:xfrm xmlns:a="http://schemas.openxmlformats.org/drawingml/2006/main">
            <a:off x="6362700" y="241935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Why 'minimize', not 'maximize'</a:t>
            </a:r>
          </a:p>
        </p:txBody>
      </p:sp>
      <p:sp>
        <p:nvSpPr>
          <p:cNvPr id="9" name="right-body">
            <a:extLst xmlns:a="http://schemas.openxmlformats.org/drawingml/2006/main">
              <a:ext uri="{FF2B5EF4-FFF2-40B4-BE49-F238E27FC236}">
                <a16:creationId xmlns:a16="http://schemas.microsoft.com/office/drawing/2014/main" id="{FC6E5742-1508-4AD3-9F51-C568F8D791B5}"/>
              </a:ext>
            </a:extLst>
          </p:cNvPr>
          <p:cNvSpPr>
            <a:spLocks xmlns:a="http://schemas.openxmlformats.org/drawingml/2006/main" noGrp="1"/>
          </p:cNvSpPr>
          <p:nvPr/>
        </p:nvSpPr>
        <p:spPr>
          <a:xfrm xmlns:a="http://schemas.openxmlformats.org/drawingml/2006/main">
            <a:off x="6362700" y="2916936"/>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scipy.optimize.linprog only minimizes. To maximize 60x1 + 25x2, minimize its NEGATIVE, -60x1 — 25x2, instead — so c = [-60, -25]. Whatever x minimizes -f(x) also maximizes f(x).</a:t>
            </a:r>
          </a:p>
        </p:txBody>
      </p:sp>
    </p:spTree>
    <p:extLst>
      <p:ext uri="{BB962C8B-B14F-4D97-AF65-F5344CB8AC3E}">
        <p14:creationId xmlns:p14="http://schemas.microsoft.com/office/powerpoint/2010/main" val="178267456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33618414-191B-4971-9379-7F7193EC5AB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8298D400-8714-4441-A599-7E605269811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linprog, defined</a:t>
            </a:r>
          </a:p>
        </p:txBody>
      </p:sp>
      <p:sp>
        <p:nvSpPr>
          <p:cNvPr id="3" name="">
            <a:extLst xmlns:a="http://schemas.openxmlformats.org/drawingml/2006/main">
              <a:ext uri="{FF2B5EF4-FFF2-40B4-BE49-F238E27FC236}">
                <a16:creationId xmlns:a16="http://schemas.microsoft.com/office/drawing/2014/main" id="{3611A0BA-D637-44E8-98AB-C34ACC00218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41E369A-B880-4440-A463-E79BEB5E0C93}"/>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B016AAEB-3F0D-44C4-B883-0C174E63580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19</a:t>
            </a:r>
          </a:p>
        </p:txBody>
      </p:sp>
      <p:sp>
        <p:nvSpPr>
          <p:cNvPr id="6" name="left-head">
            <a:extLst xmlns:a="http://schemas.openxmlformats.org/drawingml/2006/main">
              <a:ext uri="{FF2B5EF4-FFF2-40B4-BE49-F238E27FC236}">
                <a16:creationId xmlns:a16="http://schemas.microsoft.com/office/drawing/2014/main" id="{EA5C4769-E878-4F6B-AD9E-C0B4E91610D1}"/>
              </a:ext>
            </a:extLst>
          </p:cNvPr>
          <p:cNvSpPr>
            <a:spLocks xmlns:a="http://schemas.openxmlformats.org/drawingml/2006/main" noGrp="1"/>
          </p:cNvSpPr>
          <p:nvPr/>
        </p:nvSpPr>
        <p:spPr>
          <a:xfrm xmlns:a="http://schemas.openxmlformats.org/drawingml/2006/main">
            <a:off x="609600" y="260985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Definition</a:t>
            </a:r>
          </a:p>
        </p:txBody>
      </p:sp>
      <p:sp>
        <p:nvSpPr>
          <p:cNvPr id="7" name="left-body">
            <a:extLst xmlns:a="http://schemas.openxmlformats.org/drawingml/2006/main">
              <a:ext uri="{FF2B5EF4-FFF2-40B4-BE49-F238E27FC236}">
                <a16:creationId xmlns:a16="http://schemas.microsoft.com/office/drawing/2014/main" id="{3CD6FB00-D992-4396-9F0C-3AFD42F95B8E}"/>
              </a:ext>
            </a:extLst>
          </p:cNvPr>
          <p:cNvSpPr>
            <a:spLocks xmlns:a="http://schemas.openxmlformats.org/drawingml/2006/main" noGrp="1"/>
          </p:cNvSpPr>
          <p:nvPr/>
        </p:nvSpPr>
        <p:spPr>
          <a:xfrm xmlns:a="http://schemas.openxmlformats.org/drawingml/2006/main">
            <a:off x="609600" y="3107436"/>
            <a:ext cx="5219700" cy="16672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scipy.optimize.linprog(c, A_ub, b_ub, bounds) solves a linear program and returns a globally optimal numerical solution when the model is feasible and bounded, subject to solver tolerances. Unlike Week 11's minimize, no user-supplied starting guess is required.</a:t>
            </a:r>
          </a:p>
        </p:txBody>
      </p:sp>
      <p:sp>
        <p:nvSpPr>
          <p:cNvPr id="8" name="right-head">
            <a:extLst xmlns:a="http://schemas.openxmlformats.org/drawingml/2006/main">
              <a:ext uri="{FF2B5EF4-FFF2-40B4-BE49-F238E27FC236}">
                <a16:creationId xmlns:a16="http://schemas.microsoft.com/office/drawing/2014/main" id="{EAD585C3-7612-4CFB-A29B-D1A2D2B0F810}"/>
              </a:ext>
            </a:extLst>
          </p:cNvPr>
          <p:cNvSpPr>
            <a:spLocks xmlns:a="http://schemas.openxmlformats.org/drawingml/2006/main" noGrp="1"/>
          </p:cNvSpPr>
          <p:nvPr/>
        </p:nvSpPr>
        <p:spPr>
          <a:xfrm xmlns:a="http://schemas.openxmlformats.org/drawingml/2006/main">
            <a:off x="6362700" y="260985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What it returns</a:t>
            </a:r>
          </a:p>
        </p:txBody>
      </p:sp>
      <p:sp>
        <p:nvSpPr>
          <p:cNvPr id="9" name="right-body">
            <a:extLst xmlns:a="http://schemas.openxmlformats.org/drawingml/2006/main">
              <a:ext uri="{FF2B5EF4-FFF2-40B4-BE49-F238E27FC236}">
                <a16:creationId xmlns:a16="http://schemas.microsoft.com/office/drawing/2014/main" id="{ECF912EC-DF91-49C3-9280-C101EE8445A3}"/>
              </a:ext>
            </a:extLst>
          </p:cNvPr>
          <p:cNvSpPr>
            <a:spLocks xmlns:a="http://schemas.openxmlformats.org/drawingml/2006/main" noGrp="1"/>
          </p:cNvSpPr>
          <p:nvPr/>
        </p:nvSpPr>
        <p:spPr>
          <a:xfrm xmlns:a="http://schemas.openxmlformats.org/drawingml/2006/main">
            <a:off x="6362700" y="3107436"/>
            <a:ext cx="5219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res.x — the optimal design variables</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res.fun — the minimized objective (negate it back for a maximize problem)</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res.success / res.message — whether a feasible optimum was actually found</a:t>
            </a:r>
          </a:p>
        </p:txBody>
      </p:sp>
    </p:spTree>
    <p:extLst>
      <p:ext uri="{BB962C8B-B14F-4D97-AF65-F5344CB8AC3E}">
        <p14:creationId xmlns:p14="http://schemas.microsoft.com/office/powerpoint/2010/main" val="28948066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158A863E-FB6E-4927-98B5-7988F8CBC15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749903D6-8421-4805-84CC-48FDCE73C0C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Translate the formulation into standard-form arrays</a:t>
            </a:r>
          </a:p>
        </p:txBody>
      </p:sp>
      <p:sp>
        <p:nvSpPr>
          <p:cNvPr id="3" name="">
            <a:extLst xmlns:a="http://schemas.openxmlformats.org/drawingml/2006/main">
              <a:ext uri="{FF2B5EF4-FFF2-40B4-BE49-F238E27FC236}">
                <a16:creationId xmlns:a16="http://schemas.microsoft.com/office/drawing/2014/main" id="{01ADA8BF-BE93-4405-9A25-EE306A94A01F}"/>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D308385-6910-478D-88DA-6CD732636F2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A078B475-64CF-4A33-9E71-D1BA57FF098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20</a:t>
            </a:r>
          </a:p>
        </p:txBody>
      </p:sp>
      <p:sp>
        <p:nvSpPr>
          <p:cNvPr id="6" name="code-panel">
            <a:extLst xmlns:a="http://schemas.openxmlformats.org/drawingml/2006/main">
              <a:ext uri="{FF2B5EF4-FFF2-40B4-BE49-F238E27FC236}">
                <a16:creationId xmlns:a16="http://schemas.microsoft.com/office/drawing/2014/main" id="{1A86EC37-EE2C-43EB-AD4D-1C3552649AB3}"/>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7496B4A3-2774-4BD7-A8B9-14C920BAB078}"/>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from scipy.optimize import linprog</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maximize 60*x1 + 25*x2  -&gt;  minimize the negative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c = [-60, -25]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A_ub = [[1, 1],       # area:   x1 + x2 &lt;= 200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[400, 150]]   # budget: 400x1 + 150x2 &lt;= 50000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b_ub = [200, 50000]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bounds = [(0, 120),   # solar: structural cap</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(0, None)]  # green roof: no extra bound</a:t>
            </a:r>
          </a:p>
        </p:txBody>
      </p:sp>
      <p:sp>
        <p:nvSpPr>
          <p:cNvPr id="8" name="explain-head">
            <a:extLst xmlns:a="http://schemas.openxmlformats.org/drawingml/2006/main">
              <a:ext uri="{FF2B5EF4-FFF2-40B4-BE49-F238E27FC236}">
                <a16:creationId xmlns:a16="http://schemas.microsoft.com/office/drawing/2014/main" id="{BAEB543B-0C92-4C85-9E06-E5C941EFA757}"/>
              </a:ext>
            </a:extLst>
          </p:cNvPr>
          <p:cNvSpPr>
            <a:spLocks xmlns:a="http://schemas.openxmlformats.org/drawingml/2006/main" noGrp="1"/>
          </p:cNvSpPr>
          <p:nvPr/>
        </p:nvSpPr>
        <p:spPr>
          <a:xfrm xmlns:a="http://schemas.openxmlformats.org/drawingml/2006/main">
            <a:off x="7886700" y="25241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Four arrays, one per formulation piece</a:t>
            </a:r>
          </a:p>
        </p:txBody>
      </p:sp>
      <p:sp>
        <p:nvSpPr>
          <p:cNvPr id="9" name="explain-body">
            <a:extLst xmlns:a="http://schemas.openxmlformats.org/drawingml/2006/main">
              <a:ext uri="{FF2B5EF4-FFF2-40B4-BE49-F238E27FC236}">
                <a16:creationId xmlns:a16="http://schemas.microsoft.com/office/drawing/2014/main" id="{82A1F9D0-D84D-4321-82BF-D29970302EA6}"/>
              </a:ext>
            </a:extLst>
          </p:cNvPr>
          <p:cNvSpPr>
            <a:spLocks xmlns:a="http://schemas.openxmlformats.org/drawingml/2006/main" noGrp="1"/>
          </p:cNvSpPr>
          <p:nvPr/>
        </p:nvSpPr>
        <p:spPr>
          <a:xfrm xmlns:a="http://schemas.openxmlformats.org/drawingml/2006/main">
            <a:off x="7886700" y="3309747"/>
            <a:ext cx="3695700" cy="16230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 holds the (negated) objective coefficients; A_ub/b_ub together encode both &lt;= constraints as one matrix and one limit vector; bounds holds the per-variable limits. Nothing has been solved yet — this cell only reshapes the formulation into what linprog expects.</a:t>
            </a:r>
          </a:p>
        </p:txBody>
      </p:sp>
    </p:spTree>
    <p:extLst>
      <p:ext uri="{BB962C8B-B14F-4D97-AF65-F5344CB8AC3E}">
        <p14:creationId xmlns:p14="http://schemas.microsoft.com/office/powerpoint/2010/main" val="182556855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kicker">
            <a:extLst xmlns:a="http://schemas.openxmlformats.org/drawingml/2006/main">
              <a:ext uri="{FF2B5EF4-FFF2-40B4-BE49-F238E27FC236}">
                <a16:creationId xmlns:a16="http://schemas.microsoft.com/office/drawing/2014/main" id="{F9A59997-EBFC-430E-9350-42598DD45CE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ANATOMY</a:t>
            </a:r>
          </a:p>
        </p:txBody>
      </p:sp>
      <p:sp>
        <p:nvSpPr>
          <p:cNvPr id="2" name="title">
            <a:extLst xmlns:a="http://schemas.openxmlformats.org/drawingml/2006/main">
              <a:ext uri="{FF2B5EF4-FFF2-40B4-BE49-F238E27FC236}">
                <a16:creationId xmlns:a16="http://schemas.microsoft.com/office/drawing/2014/main" id="{CDE8AFA3-A436-45BC-A7C8-4EC43C3101C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linprog's call, argument by argument</a:t>
            </a:r>
          </a:p>
        </p:txBody>
      </p:sp>
      <p:sp>
        <p:nvSpPr>
          <p:cNvPr id="3" name="">
            <a:extLst xmlns:a="http://schemas.openxmlformats.org/drawingml/2006/main">
              <a:ext uri="{FF2B5EF4-FFF2-40B4-BE49-F238E27FC236}">
                <a16:creationId xmlns:a16="http://schemas.microsoft.com/office/drawing/2014/main" id="{6CA9D1B9-3C33-489C-8740-8D70C53FF45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092B144-42E9-4554-98CB-8F68B990190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C80D11F9-5265-4AF5-A5E4-0C7EC75D8B3F}"/>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21</a:t>
            </a:r>
          </a:p>
        </p:txBody>
      </p:sp>
      <p:sp>
        <p:nvSpPr>
          <p:cNvPr id="6" name="anatomy-code-panel">
            <a:extLst xmlns:a="http://schemas.openxmlformats.org/drawingml/2006/main">
              <a:ext uri="{FF2B5EF4-FFF2-40B4-BE49-F238E27FC236}">
                <a16:creationId xmlns:a16="http://schemas.microsoft.com/office/drawing/2014/main" id="{BFA26788-5FF7-473C-B213-FD0E98B2EAF8}"/>
              </a:ext>
            </a:extLst>
          </p:cNvPr>
          <p:cNvSpPr>
            <a:spLocks xmlns:a="http://schemas.openxmlformats.org/drawingml/2006/main" noGrp="1"/>
          </p:cNvSpPr>
          <p:nvPr/>
        </p:nvSpPr>
        <p:spPr>
          <a:xfrm xmlns:a="http://schemas.openxmlformats.org/drawingml/2006/main">
            <a:off x="609600" y="1733550"/>
            <a:ext cx="10972800" cy="876300"/>
          </a:xfrm>
          <a:prstGeom xmlns:a="http://schemas.openxmlformats.org/drawingml/2006/main" prst="roundRect">
            <a:avLst>
              <a:gd name="adj" fmla="val 8696"/>
            </a:avLst>
          </a:prstGeom>
          <a:solidFill xmlns:a="http://schemas.openxmlformats.org/drawingml/2006/main">
            <a:srgbClr val="17191C"/>
          </a:solidFill>
          <a:ln xmlns:a="http://schemas.openxmlformats.org/drawingml/2006/main" w="9525">
            <a:solidFill>
              <a:srgbClr val="17191C"/>
            </a:solidFill>
            <a:prstDash val="solid"/>
          </a:ln>
        </p:spPr>
      </p:sp>
      <p:sp>
        <p:nvSpPr>
          <p:cNvPr id="7" name="anatomy-code">
            <a:extLst xmlns:a="http://schemas.openxmlformats.org/drawingml/2006/main">
              <a:ext uri="{FF2B5EF4-FFF2-40B4-BE49-F238E27FC236}">
                <a16:creationId xmlns:a16="http://schemas.microsoft.com/office/drawing/2014/main" id="{7658BE72-6B89-48CB-9263-F2709EC04E6B}"/>
              </a:ext>
            </a:extLst>
          </p:cNvPr>
          <p:cNvSpPr>
            <a:spLocks xmlns:a="http://schemas.openxmlformats.org/drawingml/2006/main" noGrp="1"/>
          </p:cNvSpPr>
          <p:nvPr/>
        </p:nvSpPr>
        <p:spPr>
          <a:xfrm xmlns:a="http://schemas.openxmlformats.org/drawingml/2006/main">
            <a:off x="1171575" y="2057400"/>
            <a:ext cx="10229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a:solidFill>
                  <a:srgbClr val="FFFFFF"/>
                </a:solidFill>
                <a:latin typeface="Consolas"/>
                <a:ea typeface="Consolas"/>
                <a:cs typeface="Consolas"/>
              </a:defRPr>
            </a:pPr>
            <a:r>
              <a:rPr sz="3000" b="0">
                <a:solidFill>
                  <a:srgbClr val="FFFFFF"/>
                </a:solidFill>
                <a:latin typeface="Consolas"/>
                <a:ea typeface="Consolas"/>
                <a:cs typeface="Consolas"/>
              </a:rPr>
              <a:t>linprog(c, A_ub=A_ub, b_ub=b_ub, bounds=bounds)</a:t>
            </a:r>
          </a:p>
        </p:txBody>
      </p:sp>
      <p:sp>
        <p:nvSpPr>
          <p:cNvPr id="8" name="">
            <a:extLst xmlns:a="http://schemas.openxmlformats.org/drawingml/2006/main">
              <a:ext uri="{FF2B5EF4-FFF2-40B4-BE49-F238E27FC236}">
                <a16:creationId xmlns:a16="http://schemas.microsoft.com/office/drawing/2014/main" id="{3D80A0A5-2ABA-4255-8FA4-2B2DD9ED3B43}"/>
              </a:ext>
            </a:extLst>
          </p:cNvPr>
          <p:cNvSpPr>
            <a:spLocks xmlns:a="http://schemas.openxmlformats.org/drawingml/2006/main" noGrp="1"/>
          </p:cNvSpPr>
          <p:nvPr/>
        </p:nvSpPr>
        <p:spPr>
          <a:xfrm xmlns:a="http://schemas.openxmlformats.org/drawingml/2006/main">
            <a:off x="2847975" y="2647950"/>
            <a:ext cx="2095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9" name="part-chip-0">
            <a:extLst xmlns:a="http://schemas.openxmlformats.org/drawingml/2006/main">
              <a:ext uri="{FF2B5EF4-FFF2-40B4-BE49-F238E27FC236}">
                <a16:creationId xmlns:a16="http://schemas.microsoft.com/office/drawing/2014/main" id="{EF340DD5-C093-47D4-A39C-B5C9E17DFD08}"/>
              </a:ext>
            </a:extLst>
          </p:cNvPr>
          <p:cNvSpPr>
            <a:spLocks xmlns:a="http://schemas.openxmlformats.org/drawingml/2006/main" noGrp="1"/>
          </p:cNvSpPr>
          <p:nvPr/>
        </p:nvSpPr>
        <p:spPr>
          <a:xfrm xmlns:a="http://schemas.openxmlformats.org/drawingml/2006/main">
            <a:off x="282892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0" name="part-chipno-0">
            <a:extLst xmlns:a="http://schemas.openxmlformats.org/drawingml/2006/main">
              <a:ext uri="{FF2B5EF4-FFF2-40B4-BE49-F238E27FC236}">
                <a16:creationId xmlns:a16="http://schemas.microsoft.com/office/drawing/2014/main" id="{B3C534D9-C408-468A-AC96-809BFA3F9C9B}"/>
              </a:ext>
            </a:extLst>
          </p:cNvPr>
          <p:cNvSpPr>
            <a:spLocks xmlns:a="http://schemas.openxmlformats.org/drawingml/2006/main" noGrp="1"/>
          </p:cNvSpPr>
          <p:nvPr/>
        </p:nvSpPr>
        <p:spPr>
          <a:xfrm xmlns:a="http://schemas.openxmlformats.org/drawingml/2006/main">
            <a:off x="282892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1" name="part-lchip-0">
            <a:extLst xmlns:a="http://schemas.openxmlformats.org/drawingml/2006/main">
              <a:ext uri="{FF2B5EF4-FFF2-40B4-BE49-F238E27FC236}">
                <a16:creationId xmlns:a16="http://schemas.microsoft.com/office/drawing/2014/main" id="{F192E11C-995A-4A18-B24B-B74597064377}"/>
              </a:ext>
            </a:extLst>
          </p:cNvPr>
          <p:cNvSpPr>
            <a:spLocks xmlns:a="http://schemas.openxmlformats.org/drawingml/2006/main" noGrp="1"/>
          </p:cNvSpPr>
          <p:nvPr/>
        </p:nvSpPr>
        <p:spPr>
          <a:xfrm xmlns:a="http://schemas.openxmlformats.org/drawingml/2006/main">
            <a:off x="1714500"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2" name="part-lchipno-0">
            <a:extLst xmlns:a="http://schemas.openxmlformats.org/drawingml/2006/main">
              <a:ext uri="{FF2B5EF4-FFF2-40B4-BE49-F238E27FC236}">
                <a16:creationId xmlns:a16="http://schemas.microsoft.com/office/drawing/2014/main" id="{920EA5C9-2661-402C-8318-5ED9FA83BEB5}"/>
              </a:ext>
            </a:extLst>
          </p:cNvPr>
          <p:cNvSpPr>
            <a:spLocks xmlns:a="http://schemas.openxmlformats.org/drawingml/2006/main" noGrp="1"/>
          </p:cNvSpPr>
          <p:nvPr/>
        </p:nvSpPr>
        <p:spPr>
          <a:xfrm xmlns:a="http://schemas.openxmlformats.org/drawingml/2006/main">
            <a:off x="1714500"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3" name="part-head-0">
            <a:extLst xmlns:a="http://schemas.openxmlformats.org/drawingml/2006/main">
              <a:ext uri="{FF2B5EF4-FFF2-40B4-BE49-F238E27FC236}">
                <a16:creationId xmlns:a16="http://schemas.microsoft.com/office/drawing/2014/main" id="{3262BC24-7D73-41B5-8E2E-9C963249CCF0}"/>
              </a:ext>
            </a:extLst>
          </p:cNvPr>
          <p:cNvSpPr>
            <a:spLocks xmlns:a="http://schemas.openxmlformats.org/drawingml/2006/main" noGrp="1"/>
          </p:cNvSpPr>
          <p:nvPr/>
        </p:nvSpPr>
        <p:spPr>
          <a:xfrm xmlns:a="http://schemas.openxmlformats.org/drawingml/2006/main">
            <a:off x="2019300" y="3009900"/>
            <a:ext cx="217170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Objective coefficients</a:t>
            </a:r>
          </a:p>
        </p:txBody>
      </p:sp>
      <p:sp>
        <p:nvSpPr>
          <p:cNvPr id="14" name="part-body-0">
            <a:extLst xmlns:a="http://schemas.openxmlformats.org/drawingml/2006/main">
              <a:ext uri="{FF2B5EF4-FFF2-40B4-BE49-F238E27FC236}">
                <a16:creationId xmlns:a16="http://schemas.microsoft.com/office/drawing/2014/main" id="{7C2CFCFC-844C-4297-A662-8F66D2D0DED2}"/>
              </a:ext>
            </a:extLst>
          </p:cNvPr>
          <p:cNvSpPr>
            <a:spLocks xmlns:a="http://schemas.openxmlformats.org/drawingml/2006/main" noGrp="1"/>
          </p:cNvSpPr>
          <p:nvPr/>
        </p:nvSpPr>
        <p:spPr>
          <a:xfrm xmlns:a="http://schemas.openxmlformats.org/drawingml/2006/main">
            <a:off x="1714500" y="3637026"/>
            <a:ext cx="247650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The (already-negated) per-unit values to minimize: [-60, -25].</a:t>
            </a:r>
          </a:p>
        </p:txBody>
      </p:sp>
      <p:sp>
        <p:nvSpPr>
          <p:cNvPr id="15" name="">
            <a:extLst xmlns:a="http://schemas.openxmlformats.org/drawingml/2006/main">
              <a:ext uri="{FF2B5EF4-FFF2-40B4-BE49-F238E27FC236}">
                <a16:creationId xmlns:a16="http://schemas.microsoft.com/office/drawing/2014/main" id="{10D459A3-1017-4857-8B22-050EB612D5B6}"/>
              </a:ext>
            </a:extLst>
          </p:cNvPr>
          <p:cNvSpPr>
            <a:spLocks xmlns:a="http://schemas.openxmlformats.org/drawingml/2006/main" noGrp="1"/>
          </p:cNvSpPr>
          <p:nvPr/>
        </p:nvSpPr>
        <p:spPr>
          <a:xfrm xmlns:a="http://schemas.openxmlformats.org/drawingml/2006/main">
            <a:off x="3476625" y="2647950"/>
            <a:ext cx="18859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6" name="part-chip-1">
            <a:extLst xmlns:a="http://schemas.openxmlformats.org/drawingml/2006/main">
              <a:ext uri="{FF2B5EF4-FFF2-40B4-BE49-F238E27FC236}">
                <a16:creationId xmlns:a16="http://schemas.microsoft.com/office/drawing/2014/main" id="{EF42D186-2465-4376-848B-AE54CE19CE61}"/>
              </a:ext>
            </a:extLst>
          </p:cNvPr>
          <p:cNvSpPr>
            <a:spLocks xmlns:a="http://schemas.openxmlformats.org/drawingml/2006/main" noGrp="1"/>
          </p:cNvSpPr>
          <p:nvPr/>
        </p:nvSpPr>
        <p:spPr>
          <a:xfrm xmlns:a="http://schemas.openxmlformats.org/drawingml/2006/main">
            <a:off x="429577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7" name="part-chipno-1">
            <a:extLst xmlns:a="http://schemas.openxmlformats.org/drawingml/2006/main">
              <a:ext uri="{FF2B5EF4-FFF2-40B4-BE49-F238E27FC236}">
                <a16:creationId xmlns:a16="http://schemas.microsoft.com/office/drawing/2014/main" id="{AFDD4A1A-C7D7-4216-9035-D9F7F0754140}"/>
              </a:ext>
            </a:extLst>
          </p:cNvPr>
          <p:cNvSpPr>
            <a:spLocks xmlns:a="http://schemas.openxmlformats.org/drawingml/2006/main" noGrp="1"/>
          </p:cNvSpPr>
          <p:nvPr/>
        </p:nvSpPr>
        <p:spPr>
          <a:xfrm xmlns:a="http://schemas.openxmlformats.org/drawingml/2006/main">
            <a:off x="429577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18" name="part-lchip-1">
            <a:extLst xmlns:a="http://schemas.openxmlformats.org/drawingml/2006/main">
              <a:ext uri="{FF2B5EF4-FFF2-40B4-BE49-F238E27FC236}">
                <a16:creationId xmlns:a16="http://schemas.microsoft.com/office/drawing/2014/main" id="{460B53DC-B5A9-43A3-A987-BD87AA5F2CB0}"/>
              </a:ext>
            </a:extLst>
          </p:cNvPr>
          <p:cNvSpPr>
            <a:spLocks xmlns:a="http://schemas.openxmlformats.org/drawingml/2006/main" noGrp="1"/>
          </p:cNvSpPr>
          <p:nvPr/>
        </p:nvSpPr>
        <p:spPr>
          <a:xfrm xmlns:a="http://schemas.openxmlformats.org/drawingml/2006/main">
            <a:off x="3181350" y="4142994"/>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9" name="part-lchipno-1">
            <a:extLst xmlns:a="http://schemas.openxmlformats.org/drawingml/2006/main">
              <a:ext uri="{FF2B5EF4-FFF2-40B4-BE49-F238E27FC236}">
                <a16:creationId xmlns:a16="http://schemas.microsoft.com/office/drawing/2014/main" id="{A0E935E1-129D-465A-BE89-0898708F6407}"/>
              </a:ext>
            </a:extLst>
          </p:cNvPr>
          <p:cNvSpPr>
            <a:spLocks xmlns:a="http://schemas.openxmlformats.org/drawingml/2006/main" noGrp="1"/>
          </p:cNvSpPr>
          <p:nvPr/>
        </p:nvSpPr>
        <p:spPr>
          <a:xfrm xmlns:a="http://schemas.openxmlformats.org/drawingml/2006/main">
            <a:off x="3181350" y="4181094"/>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20" name="part-head-1">
            <a:extLst xmlns:a="http://schemas.openxmlformats.org/drawingml/2006/main">
              <a:ext uri="{FF2B5EF4-FFF2-40B4-BE49-F238E27FC236}">
                <a16:creationId xmlns:a16="http://schemas.microsoft.com/office/drawing/2014/main" id="{4109FE5D-F4A7-4051-B1C7-61EFDF4BC448}"/>
              </a:ext>
            </a:extLst>
          </p:cNvPr>
          <p:cNvSpPr>
            <a:spLocks xmlns:a="http://schemas.openxmlformats.org/drawingml/2006/main" noGrp="1"/>
          </p:cNvSpPr>
          <p:nvPr/>
        </p:nvSpPr>
        <p:spPr>
          <a:xfrm xmlns:a="http://schemas.openxmlformats.org/drawingml/2006/main">
            <a:off x="3486150" y="4123944"/>
            <a:ext cx="217170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Inequality coefficients</a:t>
            </a:r>
          </a:p>
        </p:txBody>
      </p:sp>
      <p:sp>
        <p:nvSpPr>
          <p:cNvPr id="21" name="part-body-1">
            <a:extLst xmlns:a="http://schemas.openxmlformats.org/drawingml/2006/main">
              <a:ext uri="{FF2B5EF4-FFF2-40B4-BE49-F238E27FC236}">
                <a16:creationId xmlns:a16="http://schemas.microsoft.com/office/drawing/2014/main" id="{176D42DE-67BE-495D-B9BA-1F1CA8521C87}"/>
              </a:ext>
            </a:extLst>
          </p:cNvPr>
          <p:cNvSpPr>
            <a:spLocks xmlns:a="http://schemas.openxmlformats.org/drawingml/2006/main" noGrp="1"/>
          </p:cNvSpPr>
          <p:nvPr/>
        </p:nvSpPr>
        <p:spPr>
          <a:xfrm xmlns:a="http://schemas.openxmlformats.org/drawingml/2006/main">
            <a:off x="3181350" y="4751070"/>
            <a:ext cx="247650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Left-hand-side numbers of every &lt;= constraint, one row each.</a:t>
            </a:r>
          </a:p>
        </p:txBody>
      </p:sp>
      <p:sp>
        <p:nvSpPr>
          <p:cNvPr id="22" name="">
            <a:extLst xmlns:a="http://schemas.openxmlformats.org/drawingml/2006/main">
              <a:ext uri="{FF2B5EF4-FFF2-40B4-BE49-F238E27FC236}">
                <a16:creationId xmlns:a16="http://schemas.microsoft.com/office/drawing/2014/main" id="{997389CC-0130-4E50-AEAF-3AB9D74108A0}"/>
              </a:ext>
            </a:extLst>
          </p:cNvPr>
          <p:cNvSpPr>
            <a:spLocks xmlns:a="http://schemas.openxmlformats.org/drawingml/2006/main" noGrp="1"/>
          </p:cNvSpPr>
          <p:nvPr/>
        </p:nvSpPr>
        <p:spPr>
          <a:xfrm xmlns:a="http://schemas.openxmlformats.org/drawingml/2006/main">
            <a:off x="5781675" y="2647950"/>
            <a:ext cx="18859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23" name="part-chip-2">
            <a:extLst xmlns:a="http://schemas.openxmlformats.org/drawingml/2006/main">
              <a:ext uri="{FF2B5EF4-FFF2-40B4-BE49-F238E27FC236}">
                <a16:creationId xmlns:a16="http://schemas.microsoft.com/office/drawing/2014/main" id="{2126BF1E-F912-4E28-9EE2-F12CD131E57A}"/>
              </a:ext>
            </a:extLst>
          </p:cNvPr>
          <p:cNvSpPr>
            <a:spLocks xmlns:a="http://schemas.openxmlformats.org/drawingml/2006/main" noGrp="1"/>
          </p:cNvSpPr>
          <p:nvPr/>
        </p:nvSpPr>
        <p:spPr>
          <a:xfrm xmlns:a="http://schemas.openxmlformats.org/drawingml/2006/main">
            <a:off x="660082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4" name="part-chipno-2">
            <a:extLst xmlns:a="http://schemas.openxmlformats.org/drawingml/2006/main">
              <a:ext uri="{FF2B5EF4-FFF2-40B4-BE49-F238E27FC236}">
                <a16:creationId xmlns:a16="http://schemas.microsoft.com/office/drawing/2014/main" id="{56CF09D9-7516-4206-B44A-1F3E9790AC80}"/>
              </a:ext>
            </a:extLst>
          </p:cNvPr>
          <p:cNvSpPr>
            <a:spLocks xmlns:a="http://schemas.openxmlformats.org/drawingml/2006/main" noGrp="1"/>
          </p:cNvSpPr>
          <p:nvPr/>
        </p:nvSpPr>
        <p:spPr>
          <a:xfrm xmlns:a="http://schemas.openxmlformats.org/drawingml/2006/main">
            <a:off x="660082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5" name="part-lchip-2">
            <a:extLst xmlns:a="http://schemas.openxmlformats.org/drawingml/2006/main">
              <a:ext uri="{FF2B5EF4-FFF2-40B4-BE49-F238E27FC236}">
                <a16:creationId xmlns:a16="http://schemas.microsoft.com/office/drawing/2014/main" id="{0681F1BB-19B2-4277-919D-EE1A85F6C1F5}"/>
              </a:ext>
            </a:extLst>
          </p:cNvPr>
          <p:cNvSpPr>
            <a:spLocks xmlns:a="http://schemas.openxmlformats.org/drawingml/2006/main" noGrp="1"/>
          </p:cNvSpPr>
          <p:nvPr/>
        </p:nvSpPr>
        <p:spPr>
          <a:xfrm xmlns:a="http://schemas.openxmlformats.org/drawingml/2006/main">
            <a:off x="5724525"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6" name="part-lchipno-2">
            <a:extLst xmlns:a="http://schemas.openxmlformats.org/drawingml/2006/main">
              <a:ext uri="{FF2B5EF4-FFF2-40B4-BE49-F238E27FC236}">
                <a16:creationId xmlns:a16="http://schemas.microsoft.com/office/drawing/2014/main" id="{2FA074A3-0043-476F-8D73-A93A48E20423}"/>
              </a:ext>
            </a:extLst>
          </p:cNvPr>
          <p:cNvSpPr>
            <a:spLocks xmlns:a="http://schemas.openxmlformats.org/drawingml/2006/main" noGrp="1"/>
          </p:cNvSpPr>
          <p:nvPr/>
        </p:nvSpPr>
        <p:spPr>
          <a:xfrm xmlns:a="http://schemas.openxmlformats.org/drawingml/2006/main">
            <a:off x="5724525"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7" name="part-head-2">
            <a:extLst xmlns:a="http://schemas.openxmlformats.org/drawingml/2006/main">
              <a:ext uri="{FF2B5EF4-FFF2-40B4-BE49-F238E27FC236}">
                <a16:creationId xmlns:a16="http://schemas.microsoft.com/office/drawing/2014/main" id="{8F69757C-E0A1-4C3B-8849-E29AB39F7AAB}"/>
              </a:ext>
            </a:extLst>
          </p:cNvPr>
          <p:cNvSpPr>
            <a:spLocks xmlns:a="http://schemas.openxmlformats.org/drawingml/2006/main" noGrp="1"/>
          </p:cNvSpPr>
          <p:nvPr/>
        </p:nvSpPr>
        <p:spPr>
          <a:xfrm xmlns:a="http://schemas.openxmlformats.org/drawingml/2006/main">
            <a:off x="6029325" y="3009900"/>
            <a:ext cx="169545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Inequality limits</a:t>
            </a:r>
          </a:p>
        </p:txBody>
      </p:sp>
      <p:sp>
        <p:nvSpPr>
          <p:cNvPr id="28" name="part-body-2">
            <a:extLst xmlns:a="http://schemas.openxmlformats.org/drawingml/2006/main">
              <a:ext uri="{FF2B5EF4-FFF2-40B4-BE49-F238E27FC236}">
                <a16:creationId xmlns:a16="http://schemas.microsoft.com/office/drawing/2014/main" id="{8DDB968F-C995-40E4-8E89-534A28C06570}"/>
              </a:ext>
            </a:extLst>
          </p:cNvPr>
          <p:cNvSpPr>
            <a:spLocks xmlns:a="http://schemas.openxmlformats.org/drawingml/2006/main" noGrp="1"/>
          </p:cNvSpPr>
          <p:nvPr/>
        </p:nvSpPr>
        <p:spPr>
          <a:xfrm xmlns:a="http://schemas.openxmlformats.org/drawingml/2006/main">
            <a:off x="5724525" y="3637026"/>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Right-hand-side limit of each row: [200, 50000].</a:t>
            </a:r>
          </a:p>
        </p:txBody>
      </p:sp>
      <p:sp>
        <p:nvSpPr>
          <p:cNvPr id="29" name="">
            <a:extLst xmlns:a="http://schemas.openxmlformats.org/drawingml/2006/main">
              <a:ext uri="{FF2B5EF4-FFF2-40B4-BE49-F238E27FC236}">
                <a16:creationId xmlns:a16="http://schemas.microsoft.com/office/drawing/2014/main" id="{A32AC634-0DE1-44BD-A76C-71A66475E4A4}"/>
              </a:ext>
            </a:extLst>
          </p:cNvPr>
          <p:cNvSpPr>
            <a:spLocks xmlns:a="http://schemas.openxmlformats.org/drawingml/2006/main" noGrp="1"/>
          </p:cNvSpPr>
          <p:nvPr/>
        </p:nvSpPr>
        <p:spPr>
          <a:xfrm xmlns:a="http://schemas.openxmlformats.org/drawingml/2006/main">
            <a:off x="8086725" y="2647950"/>
            <a:ext cx="27241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30" name="part-chip-3">
            <a:extLst xmlns:a="http://schemas.openxmlformats.org/drawingml/2006/main">
              <a:ext uri="{FF2B5EF4-FFF2-40B4-BE49-F238E27FC236}">
                <a16:creationId xmlns:a16="http://schemas.microsoft.com/office/drawing/2014/main" id="{CEFDDF05-E534-43B5-871D-2669D188E030}"/>
              </a:ext>
            </a:extLst>
          </p:cNvPr>
          <p:cNvSpPr>
            <a:spLocks xmlns:a="http://schemas.openxmlformats.org/drawingml/2006/main" noGrp="1"/>
          </p:cNvSpPr>
          <p:nvPr/>
        </p:nvSpPr>
        <p:spPr>
          <a:xfrm xmlns:a="http://schemas.openxmlformats.org/drawingml/2006/main">
            <a:off x="932497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1" name="part-chipno-3">
            <a:extLst xmlns:a="http://schemas.openxmlformats.org/drawingml/2006/main">
              <a:ext uri="{FF2B5EF4-FFF2-40B4-BE49-F238E27FC236}">
                <a16:creationId xmlns:a16="http://schemas.microsoft.com/office/drawing/2014/main" id="{A129598D-2717-467F-AFD2-A8D3F9F3B71E}"/>
              </a:ext>
            </a:extLst>
          </p:cNvPr>
          <p:cNvSpPr>
            <a:spLocks xmlns:a="http://schemas.openxmlformats.org/drawingml/2006/main" noGrp="1"/>
          </p:cNvSpPr>
          <p:nvPr/>
        </p:nvSpPr>
        <p:spPr>
          <a:xfrm xmlns:a="http://schemas.openxmlformats.org/drawingml/2006/main">
            <a:off x="932497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2" name="part-lchip-3">
            <a:extLst xmlns:a="http://schemas.openxmlformats.org/drawingml/2006/main">
              <a:ext uri="{FF2B5EF4-FFF2-40B4-BE49-F238E27FC236}">
                <a16:creationId xmlns:a16="http://schemas.microsoft.com/office/drawing/2014/main" id="{393FF896-B534-454A-A8F9-00BBF77F23B6}"/>
              </a:ext>
            </a:extLst>
          </p:cNvPr>
          <p:cNvSpPr>
            <a:spLocks xmlns:a="http://schemas.openxmlformats.org/drawingml/2006/main" noGrp="1"/>
          </p:cNvSpPr>
          <p:nvPr/>
        </p:nvSpPr>
        <p:spPr>
          <a:xfrm xmlns:a="http://schemas.openxmlformats.org/drawingml/2006/main">
            <a:off x="8210550"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3" name="part-lchipno-3">
            <a:extLst xmlns:a="http://schemas.openxmlformats.org/drawingml/2006/main">
              <a:ext uri="{FF2B5EF4-FFF2-40B4-BE49-F238E27FC236}">
                <a16:creationId xmlns:a16="http://schemas.microsoft.com/office/drawing/2014/main" id="{2C20A8C9-110A-4FA0-AC18-34D213E4CFDD}"/>
              </a:ext>
            </a:extLst>
          </p:cNvPr>
          <p:cNvSpPr>
            <a:spLocks xmlns:a="http://schemas.openxmlformats.org/drawingml/2006/main" noGrp="1"/>
          </p:cNvSpPr>
          <p:nvPr/>
        </p:nvSpPr>
        <p:spPr>
          <a:xfrm xmlns:a="http://schemas.openxmlformats.org/drawingml/2006/main">
            <a:off x="8210550"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4" name="part-head-3">
            <a:extLst xmlns:a="http://schemas.openxmlformats.org/drawingml/2006/main">
              <a:ext uri="{FF2B5EF4-FFF2-40B4-BE49-F238E27FC236}">
                <a16:creationId xmlns:a16="http://schemas.microsoft.com/office/drawing/2014/main" id="{032C937E-7BE5-4931-A0B0-D42E10387EE6}"/>
              </a:ext>
            </a:extLst>
          </p:cNvPr>
          <p:cNvSpPr>
            <a:spLocks xmlns:a="http://schemas.openxmlformats.org/drawingml/2006/main" noGrp="1"/>
          </p:cNvSpPr>
          <p:nvPr/>
        </p:nvSpPr>
        <p:spPr>
          <a:xfrm xmlns:a="http://schemas.openxmlformats.org/drawingml/2006/main">
            <a:off x="8515350" y="3009900"/>
            <a:ext cx="217170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Per-variable limits</a:t>
            </a:r>
          </a:p>
        </p:txBody>
      </p:sp>
      <p:sp>
        <p:nvSpPr>
          <p:cNvPr id="35" name="part-body-3">
            <a:extLst xmlns:a="http://schemas.openxmlformats.org/drawingml/2006/main">
              <a:ext uri="{FF2B5EF4-FFF2-40B4-BE49-F238E27FC236}">
                <a16:creationId xmlns:a16="http://schemas.microsoft.com/office/drawing/2014/main" id="{BCCFB912-73E5-40E2-BA8E-DB6096F62A2E}"/>
              </a:ext>
            </a:extLst>
          </p:cNvPr>
          <p:cNvSpPr>
            <a:spLocks xmlns:a="http://schemas.openxmlformats.org/drawingml/2006/main" noGrp="1"/>
          </p:cNvSpPr>
          <p:nvPr/>
        </p:nvSpPr>
        <p:spPr>
          <a:xfrm xmlns:a="http://schemas.openxmlformats.org/drawingml/2006/main">
            <a:off x="8210550" y="3637026"/>
            <a:ext cx="247650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Simple lb &lt;= x &lt;= ub pairs, one per design variable.</a:t>
            </a:r>
          </a:p>
        </p:txBody>
      </p:sp>
    </p:spTree>
    <p:extLst>
      <p:ext uri="{BB962C8B-B14F-4D97-AF65-F5344CB8AC3E}">
        <p14:creationId xmlns:p14="http://schemas.microsoft.com/office/powerpoint/2010/main" val="24659376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kicker">
            <a:extLst xmlns:a="http://schemas.openxmlformats.org/drawingml/2006/main">
              <a:ext uri="{FF2B5EF4-FFF2-40B4-BE49-F238E27FC236}">
                <a16:creationId xmlns:a16="http://schemas.microsoft.com/office/drawing/2014/main" id="{3C2E047A-6B64-428C-A469-197A651809B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DCCF4B69-70F1-4CD2-8C59-5612AFFE3E7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Which corner will linprog actually return?</a:t>
            </a:r>
          </a:p>
        </p:txBody>
      </p:sp>
      <p:sp>
        <p:nvSpPr>
          <p:cNvPr id="3" name="">
            <a:extLst xmlns:a="http://schemas.openxmlformats.org/drawingml/2006/main">
              <a:ext uri="{FF2B5EF4-FFF2-40B4-BE49-F238E27FC236}">
                <a16:creationId xmlns:a16="http://schemas.microsoft.com/office/drawing/2014/main" id="{69AD6FF1-085A-4A2F-8F3E-ADED7964B44F}"/>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6DE4E74-F679-4BD5-A6C1-587C7AB7A8A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33608998-9866-4B5C-9E16-EA0C30508CA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22</a:t>
            </a:r>
          </a:p>
        </p:txBody>
      </p:sp>
      <p:sp>
        <p:nvSpPr>
          <p:cNvPr id="6" name="code-panel">
            <a:extLst xmlns:a="http://schemas.openxmlformats.org/drawingml/2006/main">
              <a:ext uri="{FF2B5EF4-FFF2-40B4-BE49-F238E27FC236}">
                <a16:creationId xmlns:a16="http://schemas.microsoft.com/office/drawing/2014/main" id="{65EDFF1D-49A6-44D3-8C3E-5BD904F22D07}"/>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F661D903-70B9-4F2F-B766-7F1EF48AEFAA}"/>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res = linprog(c, A_ub=A_ub, b_ub=b_ub,</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bounds=bounds, method='highs')</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print(res.x)</a:t>
            </a:r>
          </a:p>
        </p:txBody>
      </p:sp>
      <p:sp>
        <p:nvSpPr>
          <p:cNvPr id="8" name="question">
            <a:extLst xmlns:a="http://schemas.openxmlformats.org/drawingml/2006/main">
              <a:ext uri="{FF2B5EF4-FFF2-40B4-BE49-F238E27FC236}">
                <a16:creationId xmlns:a16="http://schemas.microsoft.com/office/drawing/2014/main" id="{189DEFC3-1CDC-43F2-ABB2-88ADA98FF9BD}"/>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Which vertex will res.x land on?</a:t>
            </a:r>
          </a:p>
        </p:txBody>
      </p:sp>
      <p:sp>
        <p:nvSpPr>
          <p:cNvPr id="9" name="opt-0">
            <a:extLst xmlns:a="http://schemas.openxmlformats.org/drawingml/2006/main">
              <a:ext uri="{FF2B5EF4-FFF2-40B4-BE49-F238E27FC236}">
                <a16:creationId xmlns:a16="http://schemas.microsoft.com/office/drawing/2014/main" id="{514BDCBE-28AA-4A44-B168-B4E0DCC62134}"/>
              </a:ext>
            </a:extLst>
          </p:cNvPr>
          <p:cNvSpPr>
            <a:spLocks xmlns:a="http://schemas.openxmlformats.org/drawingml/2006/main" noGrp="1"/>
          </p:cNvSpPr>
          <p:nvPr/>
        </p:nvSpPr>
        <p:spPr>
          <a:xfrm xmlns:a="http://schemas.openxmlformats.org/drawingml/2006/main">
            <a:off x="7315200" y="2571750"/>
            <a:ext cx="4267200" cy="447675"/>
          </a:xfrm>
          <a:prstGeom xmlns:a="http://schemas.openxmlformats.org/drawingml/2006/main" prst="roundRect">
            <a:avLst>
              <a:gd name="adj" fmla="val 12766"/>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2A0A195D-D722-47FD-80A3-5A93B4913B94}"/>
              </a:ext>
            </a:extLst>
          </p:cNvPr>
          <p:cNvSpPr>
            <a:spLocks xmlns:a="http://schemas.openxmlformats.org/drawingml/2006/main" noGrp="1"/>
          </p:cNvSpPr>
          <p:nvPr/>
        </p:nvSpPr>
        <p:spPr>
          <a:xfrm xmlns:a="http://schemas.openxmlformats.org/drawingml/2006/main">
            <a:off x="7448550" y="26860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2296EC66-E606-45FE-B41F-10FFF4291C29}"/>
              </a:ext>
            </a:extLst>
          </p:cNvPr>
          <p:cNvSpPr>
            <a:spLocks xmlns:a="http://schemas.openxmlformats.org/drawingml/2006/main" noGrp="1"/>
          </p:cNvSpPr>
          <p:nvPr/>
        </p:nvSpPr>
        <p:spPr>
          <a:xfrm xmlns:a="http://schemas.openxmlformats.org/drawingml/2006/main">
            <a:off x="7772400" y="2609850"/>
            <a:ext cx="3676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(0, 0)</a:t>
            </a:r>
          </a:p>
        </p:txBody>
      </p:sp>
      <p:sp>
        <p:nvSpPr>
          <p:cNvPr id="12" name="opt-1">
            <a:extLst xmlns:a="http://schemas.openxmlformats.org/drawingml/2006/main">
              <a:ext uri="{FF2B5EF4-FFF2-40B4-BE49-F238E27FC236}">
                <a16:creationId xmlns:a16="http://schemas.microsoft.com/office/drawing/2014/main" id="{F61F9E12-1E60-485E-B10F-04110805062B}"/>
              </a:ext>
            </a:extLst>
          </p:cNvPr>
          <p:cNvSpPr>
            <a:spLocks xmlns:a="http://schemas.openxmlformats.org/drawingml/2006/main" noGrp="1"/>
          </p:cNvSpPr>
          <p:nvPr/>
        </p:nvSpPr>
        <p:spPr>
          <a:xfrm xmlns:a="http://schemas.openxmlformats.org/drawingml/2006/main">
            <a:off x="7315200" y="3076575"/>
            <a:ext cx="4267200" cy="447675"/>
          </a:xfrm>
          <a:prstGeom xmlns:a="http://schemas.openxmlformats.org/drawingml/2006/main" prst="roundRect">
            <a:avLst>
              <a:gd name="adj" fmla="val 12766"/>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F3818E4A-BA4C-4B87-8740-883FF6088549}"/>
              </a:ext>
            </a:extLst>
          </p:cNvPr>
          <p:cNvSpPr>
            <a:spLocks xmlns:a="http://schemas.openxmlformats.org/drawingml/2006/main" noGrp="1"/>
          </p:cNvSpPr>
          <p:nvPr/>
        </p:nvSpPr>
        <p:spPr>
          <a:xfrm xmlns:a="http://schemas.openxmlformats.org/drawingml/2006/main">
            <a:off x="7448550" y="3190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873617A3-DB4F-4871-B469-413F3E57EF9B}"/>
              </a:ext>
            </a:extLst>
          </p:cNvPr>
          <p:cNvSpPr>
            <a:spLocks xmlns:a="http://schemas.openxmlformats.org/drawingml/2006/main" noGrp="1"/>
          </p:cNvSpPr>
          <p:nvPr/>
        </p:nvSpPr>
        <p:spPr>
          <a:xfrm xmlns:a="http://schemas.openxmlformats.org/drawingml/2006/main">
            <a:off x="7772400" y="3114675"/>
            <a:ext cx="3676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(120, 0)</a:t>
            </a:r>
          </a:p>
        </p:txBody>
      </p:sp>
      <p:sp>
        <p:nvSpPr>
          <p:cNvPr id="15" name="opt-2">
            <a:extLst xmlns:a="http://schemas.openxmlformats.org/drawingml/2006/main">
              <a:ext uri="{FF2B5EF4-FFF2-40B4-BE49-F238E27FC236}">
                <a16:creationId xmlns:a16="http://schemas.microsoft.com/office/drawing/2014/main" id="{4BD88B8A-189D-4434-AFCA-ACFCF43D01A5}"/>
              </a:ext>
            </a:extLst>
          </p:cNvPr>
          <p:cNvSpPr>
            <a:spLocks xmlns:a="http://schemas.openxmlformats.org/drawingml/2006/main" noGrp="1"/>
          </p:cNvSpPr>
          <p:nvPr/>
        </p:nvSpPr>
        <p:spPr>
          <a:xfrm xmlns:a="http://schemas.openxmlformats.org/drawingml/2006/main">
            <a:off x="7315200" y="3581400"/>
            <a:ext cx="4267200" cy="447675"/>
          </a:xfrm>
          <a:prstGeom xmlns:a="http://schemas.openxmlformats.org/drawingml/2006/main" prst="roundRect">
            <a:avLst>
              <a:gd name="adj" fmla="val 12766"/>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D03380DB-6CCA-40CF-9B8E-9BE6ED09E772}"/>
              </a:ext>
            </a:extLst>
          </p:cNvPr>
          <p:cNvSpPr>
            <a:spLocks xmlns:a="http://schemas.openxmlformats.org/drawingml/2006/main" noGrp="1"/>
          </p:cNvSpPr>
          <p:nvPr/>
        </p:nvSpPr>
        <p:spPr>
          <a:xfrm xmlns:a="http://schemas.openxmlformats.org/drawingml/2006/main">
            <a:off x="7448550" y="36957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7E742A66-9BB4-42A9-ABA3-30E8E179E131}"/>
              </a:ext>
            </a:extLst>
          </p:cNvPr>
          <p:cNvSpPr>
            <a:spLocks xmlns:a="http://schemas.openxmlformats.org/drawingml/2006/main" noGrp="1"/>
          </p:cNvSpPr>
          <p:nvPr/>
        </p:nvSpPr>
        <p:spPr>
          <a:xfrm xmlns:a="http://schemas.openxmlformats.org/drawingml/2006/main">
            <a:off x="7772400" y="3619500"/>
            <a:ext cx="3676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(120, 13.3)</a:t>
            </a:r>
          </a:p>
        </p:txBody>
      </p:sp>
      <p:sp>
        <p:nvSpPr>
          <p:cNvPr id="18" name="opt-3">
            <a:extLst xmlns:a="http://schemas.openxmlformats.org/drawingml/2006/main">
              <a:ext uri="{FF2B5EF4-FFF2-40B4-BE49-F238E27FC236}">
                <a16:creationId xmlns:a16="http://schemas.microsoft.com/office/drawing/2014/main" id="{3D907488-7561-4E6A-9B53-8CA9975C0C14}"/>
              </a:ext>
            </a:extLst>
          </p:cNvPr>
          <p:cNvSpPr>
            <a:spLocks xmlns:a="http://schemas.openxmlformats.org/drawingml/2006/main" noGrp="1"/>
          </p:cNvSpPr>
          <p:nvPr/>
        </p:nvSpPr>
        <p:spPr>
          <a:xfrm xmlns:a="http://schemas.openxmlformats.org/drawingml/2006/main">
            <a:off x="7315200" y="4086225"/>
            <a:ext cx="4267200" cy="447675"/>
          </a:xfrm>
          <a:prstGeom xmlns:a="http://schemas.openxmlformats.org/drawingml/2006/main" prst="roundRect">
            <a:avLst>
              <a:gd name="adj" fmla="val 12766"/>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7CE2C606-CAF5-4C7C-9E82-B1BED492DC25}"/>
              </a:ext>
            </a:extLst>
          </p:cNvPr>
          <p:cNvSpPr>
            <a:spLocks xmlns:a="http://schemas.openxmlformats.org/drawingml/2006/main" noGrp="1"/>
          </p:cNvSpPr>
          <p:nvPr/>
        </p:nvSpPr>
        <p:spPr>
          <a:xfrm xmlns:a="http://schemas.openxmlformats.org/drawingml/2006/main">
            <a:off x="7448550" y="420052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6EA58828-A72E-406C-92FA-44F6B0589748}"/>
              </a:ext>
            </a:extLst>
          </p:cNvPr>
          <p:cNvSpPr>
            <a:spLocks xmlns:a="http://schemas.openxmlformats.org/drawingml/2006/main" noGrp="1"/>
          </p:cNvSpPr>
          <p:nvPr/>
        </p:nvSpPr>
        <p:spPr>
          <a:xfrm xmlns:a="http://schemas.openxmlformats.org/drawingml/2006/main">
            <a:off x="7772400" y="4124325"/>
            <a:ext cx="3676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(80, 120)</a:t>
            </a:r>
          </a:p>
        </p:txBody>
      </p:sp>
      <p:sp>
        <p:nvSpPr>
          <p:cNvPr id="21" name="opt-4">
            <a:extLst xmlns:a="http://schemas.openxmlformats.org/drawingml/2006/main">
              <a:ext uri="{FF2B5EF4-FFF2-40B4-BE49-F238E27FC236}">
                <a16:creationId xmlns:a16="http://schemas.microsoft.com/office/drawing/2014/main" id="{795F0138-CB2E-4CB6-BB4F-E64560A732EC}"/>
              </a:ext>
            </a:extLst>
          </p:cNvPr>
          <p:cNvSpPr>
            <a:spLocks xmlns:a="http://schemas.openxmlformats.org/drawingml/2006/main" noGrp="1"/>
          </p:cNvSpPr>
          <p:nvPr/>
        </p:nvSpPr>
        <p:spPr>
          <a:xfrm xmlns:a="http://schemas.openxmlformats.org/drawingml/2006/main">
            <a:off x="7315200" y="4591050"/>
            <a:ext cx="4267200" cy="447675"/>
          </a:xfrm>
          <a:prstGeom xmlns:a="http://schemas.openxmlformats.org/drawingml/2006/main" prst="roundRect">
            <a:avLst>
              <a:gd name="adj" fmla="val 12766"/>
            </a:avLst>
          </a:prstGeom>
          <a:solidFill xmlns:a="http://schemas.openxmlformats.org/drawingml/2006/main">
            <a:srgbClr val="F6F7F9"/>
          </a:solidFill>
          <a:ln xmlns:a="http://schemas.openxmlformats.org/drawingml/2006/main" w="9525">
            <a:solidFill>
              <a:srgbClr val="DDE0E5"/>
            </a:solidFill>
            <a:prstDash val="solid"/>
          </a:ln>
        </p:spPr>
      </p:sp>
      <p:sp>
        <p:nvSpPr>
          <p:cNvPr id="22" name="opt-letter-4">
            <a:extLst xmlns:a="http://schemas.openxmlformats.org/drawingml/2006/main">
              <a:ext uri="{FF2B5EF4-FFF2-40B4-BE49-F238E27FC236}">
                <a16:creationId xmlns:a16="http://schemas.microsoft.com/office/drawing/2014/main" id="{814183D2-C2E0-4DFD-BEB3-8C07C61AA9CB}"/>
              </a:ext>
            </a:extLst>
          </p:cNvPr>
          <p:cNvSpPr>
            <a:spLocks xmlns:a="http://schemas.openxmlformats.org/drawingml/2006/main" noGrp="1"/>
          </p:cNvSpPr>
          <p:nvPr/>
        </p:nvSpPr>
        <p:spPr>
          <a:xfrm xmlns:a="http://schemas.openxmlformats.org/drawingml/2006/main">
            <a:off x="7448550" y="47053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E</a:t>
            </a:r>
          </a:p>
        </p:txBody>
      </p:sp>
      <p:sp>
        <p:nvSpPr>
          <p:cNvPr id="23" name="opt-text-4">
            <a:extLst xmlns:a="http://schemas.openxmlformats.org/drawingml/2006/main">
              <a:ext uri="{FF2B5EF4-FFF2-40B4-BE49-F238E27FC236}">
                <a16:creationId xmlns:a16="http://schemas.microsoft.com/office/drawing/2014/main" id="{0696D638-7F77-4BD2-8EB7-A93568763933}"/>
              </a:ext>
            </a:extLst>
          </p:cNvPr>
          <p:cNvSpPr>
            <a:spLocks xmlns:a="http://schemas.openxmlformats.org/drawingml/2006/main" noGrp="1"/>
          </p:cNvSpPr>
          <p:nvPr/>
        </p:nvSpPr>
        <p:spPr>
          <a:xfrm xmlns:a="http://schemas.openxmlformats.org/drawingml/2006/main">
            <a:off x="7772400" y="4629150"/>
            <a:ext cx="3676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(0, 200)</a:t>
            </a:r>
          </a:p>
        </p:txBody>
      </p:sp>
      <p:sp>
        <p:nvSpPr>
          <p:cNvPr id="24" name="answer-panel">
            <a:extLst xmlns:a="http://schemas.openxmlformats.org/drawingml/2006/main">
              <a:ext uri="{FF2B5EF4-FFF2-40B4-BE49-F238E27FC236}">
                <a16:creationId xmlns:a16="http://schemas.microsoft.com/office/drawing/2014/main" id="{97992BF5-295C-4A8B-AA31-F2A1580D6F6E}"/>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5" name="answer-label">
            <a:extLst xmlns:a="http://schemas.openxmlformats.org/drawingml/2006/main">
              <a:ext uri="{FF2B5EF4-FFF2-40B4-BE49-F238E27FC236}">
                <a16:creationId xmlns:a16="http://schemas.microsoft.com/office/drawing/2014/main" id="{51485876-79CE-4C09-88B3-58488CEEE771}"/>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D</a:t>
            </a:r>
          </a:p>
        </p:txBody>
      </p:sp>
      <p:sp>
        <p:nvSpPr>
          <p:cNvPr id="26" name="why">
            <a:extLst xmlns:a="http://schemas.openxmlformats.org/drawingml/2006/main">
              <a:ext uri="{FF2B5EF4-FFF2-40B4-BE49-F238E27FC236}">
                <a16:creationId xmlns:a16="http://schemas.microsoft.com/office/drawing/2014/main" id="{F69626E0-C4FC-4444-B321-217FE26DFE1B}"/>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(80, 120) earns $7,800/yr, the highest of the five vertices — and the theorem guarantees the optimum sits at one of them.</a:t>
            </a:r>
          </a:p>
        </p:txBody>
      </p:sp>
    </p:spTree>
    <p:extLst>
      <p:ext uri="{BB962C8B-B14F-4D97-AF65-F5344CB8AC3E}">
        <p14:creationId xmlns:p14="http://schemas.microsoft.com/office/powerpoint/2010/main" val="36665649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510A3A40-52D1-447C-ABA3-8ED37C691B8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F2AB69E2-7708-48A7-9653-5C32F735B4A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Solved to tolerance, then verified</a:t>
            </a:r>
          </a:p>
        </p:txBody>
      </p:sp>
      <p:sp>
        <p:nvSpPr>
          <p:cNvPr id="3" name="">
            <a:extLst xmlns:a="http://schemas.openxmlformats.org/drawingml/2006/main">
              <a:ext uri="{FF2B5EF4-FFF2-40B4-BE49-F238E27FC236}">
                <a16:creationId xmlns:a16="http://schemas.microsoft.com/office/drawing/2014/main" id="{3CCCE224-341F-44BB-9747-4097DB70216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7D2426D-F7F2-44F2-830B-E324E75C1F5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150B6E2E-A9A9-4AAE-BD0D-EA1A95F8500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23</a:t>
            </a:r>
          </a:p>
        </p:txBody>
      </p:sp>
      <p:sp>
        <p:nvSpPr>
          <p:cNvPr id="6" name="code-panel">
            <a:extLst xmlns:a="http://schemas.openxmlformats.org/drawingml/2006/main">
              <a:ext uri="{FF2B5EF4-FFF2-40B4-BE49-F238E27FC236}">
                <a16:creationId xmlns:a16="http://schemas.microsoft.com/office/drawing/2014/main" id="{C6481E9E-492A-4943-8F00-3E88076748AA}"/>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EB0D77B5-C3EC-41F3-8334-9FE32C7D030A}"/>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res = linprog(c, A_ub=A_ub, b_ub=b_ub,</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bounds=bounds, method='highs')</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'highs' = scipy's default exact solver, explained next</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print(res.x)</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print(-res.fun)</a:t>
            </a:r>
          </a:p>
        </p:txBody>
      </p:sp>
      <p:sp>
        <p:nvSpPr>
          <p:cNvPr id="8" name="">
            <a:extLst xmlns:a="http://schemas.openxmlformats.org/drawingml/2006/main">
              <a:ext uri="{FF2B5EF4-FFF2-40B4-BE49-F238E27FC236}">
                <a16:creationId xmlns:a16="http://schemas.microsoft.com/office/drawing/2014/main" id="{E28B87F0-16E6-4FB3-9865-5F672B26D70F}"/>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888C696C-6885-4368-BF4C-6E2A9A1A6F1B}"/>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464297E7-D411-46F6-91BE-410A21453A0A}"/>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[ 80. 120.]</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7800.0</a:t>
            </a:r>
          </a:p>
        </p:txBody>
      </p:sp>
      <p:sp>
        <p:nvSpPr>
          <p:cNvPr id="11" name="explain-head">
            <a:extLst xmlns:a="http://schemas.openxmlformats.org/drawingml/2006/main">
              <a:ext uri="{FF2B5EF4-FFF2-40B4-BE49-F238E27FC236}">
                <a16:creationId xmlns:a16="http://schemas.microsoft.com/office/drawing/2014/main" id="{C47CD1B9-C661-4B5D-B74B-03AD268B6B08}"/>
              </a:ext>
            </a:extLst>
          </p:cNvPr>
          <p:cNvSpPr>
            <a:spLocks xmlns:a="http://schemas.openxmlformats.org/drawingml/2006/main" noGrp="1"/>
          </p:cNvSpPr>
          <p:nvPr/>
        </p:nvSpPr>
        <p:spPr>
          <a:xfrm xmlns:a="http://schemas.openxmlformats.org/drawingml/2006/main">
            <a:off x="7886700" y="26098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One call, a globally optimal LP solution</a:t>
            </a:r>
          </a:p>
        </p:txBody>
      </p:sp>
      <p:sp>
        <p:nvSpPr>
          <p:cNvPr id="12" name="explain-body">
            <a:extLst xmlns:a="http://schemas.openxmlformats.org/drawingml/2006/main">
              <a:ext uri="{FF2B5EF4-FFF2-40B4-BE49-F238E27FC236}">
                <a16:creationId xmlns:a16="http://schemas.microsoft.com/office/drawing/2014/main" id="{94C97795-E556-4287-82B3-E27E2C083D0B}"/>
              </a:ext>
            </a:extLst>
          </p:cNvPr>
          <p:cNvSpPr>
            <a:spLocks xmlns:a="http://schemas.openxmlformats.org/drawingml/2006/main" noGrp="1"/>
          </p:cNvSpPr>
          <p:nvPr/>
        </p:nvSpPr>
        <p:spPr>
          <a:xfrm xmlns:a="http://schemas.openxmlformats.org/drawingml/2006/main">
            <a:off x="7886700" y="3395472"/>
            <a:ext cx="3695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solver reports 80 m² solar, 120 m² green roof, and $7,800/yr. Treat the printed decimals as a numerical result: check res.success, residuals, and constraints with a tolerance before communicating the design.</a:t>
            </a:r>
          </a:p>
        </p:txBody>
      </p:sp>
    </p:spTree>
    <p:extLst>
      <p:ext uri="{BB962C8B-B14F-4D97-AF65-F5344CB8AC3E}">
        <p14:creationId xmlns:p14="http://schemas.microsoft.com/office/powerpoint/2010/main" val="44168704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kicker">
            <a:extLst xmlns:a="http://schemas.openxmlformats.org/drawingml/2006/main">
              <a:ext uri="{FF2B5EF4-FFF2-40B4-BE49-F238E27FC236}">
                <a16:creationId xmlns:a16="http://schemas.microsoft.com/office/drawing/2014/main" id="{E9195F05-456B-4B32-A385-A657391CC54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CA680D2F-47D2-4508-82EF-9F9C307C8E9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Formulating and solving beats the two 'obvious' strategies</a:t>
            </a:r>
          </a:p>
        </p:txBody>
      </p:sp>
      <p:sp>
        <p:nvSpPr>
          <p:cNvPr id="3" name="">
            <a:extLst xmlns:a="http://schemas.openxmlformats.org/drawingml/2006/main">
              <a:ext uri="{FF2B5EF4-FFF2-40B4-BE49-F238E27FC236}">
                <a16:creationId xmlns:a16="http://schemas.microsoft.com/office/drawing/2014/main" id="{90E9C49E-3AA8-4736-9708-9FFA6E018F6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324379C-5130-49D1-958B-95B73A35940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D1E822E5-281A-4620-8F90-07AF3CB8079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24</a:t>
            </a:r>
          </a:p>
        </p:txBody>
      </p:sp>
      <p:sp>
        <p:nvSpPr>
          <p:cNvPr id="6" name="">
            <a:extLst xmlns:a="http://schemas.openxmlformats.org/drawingml/2006/main">
              <a:ext uri="{FF2B5EF4-FFF2-40B4-BE49-F238E27FC236}">
                <a16:creationId xmlns:a16="http://schemas.microsoft.com/office/drawing/2014/main" id="{6922A9A6-AAF1-40C2-9389-29DFBDCA8561}"/>
              </a:ext>
            </a:extLst>
          </p:cNvPr>
          <p:cNvSpPr>
            <a:spLocks xmlns:a="http://schemas.openxmlformats.org/drawingml/2006/main" noGrp="1"/>
          </p:cNvSpPr>
          <p:nvPr/>
        </p:nvSpPr>
        <p:spPr>
          <a:xfrm xmlns:a="http://schemas.openxmlformats.org/drawingml/2006/main">
            <a:off x="609600" y="2895600"/>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E92D19EB-ADF4-4462-8394-A7E439AD2BD0}"/>
              </a:ext>
            </a:extLst>
          </p:cNvPr>
          <p:cNvSpPr>
            <a:spLocks xmlns:a="http://schemas.openxmlformats.org/drawingml/2006/main" noGrp="1"/>
          </p:cNvSpPr>
          <p:nvPr/>
        </p:nvSpPr>
        <p:spPr>
          <a:xfrm xmlns:a="http://schemas.openxmlformats.org/drawingml/2006/main">
            <a:off x="723900" y="297180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strategy</a:t>
            </a:r>
          </a:p>
        </p:txBody>
      </p:sp>
      <p:sp>
        <p:nvSpPr>
          <p:cNvPr id="8" name="">
            <a:extLst xmlns:a="http://schemas.openxmlformats.org/drawingml/2006/main">
              <a:ext uri="{FF2B5EF4-FFF2-40B4-BE49-F238E27FC236}">
                <a16:creationId xmlns:a16="http://schemas.microsoft.com/office/drawing/2014/main" id="{4CA301B2-F2A9-4F3A-B359-7115A0AB16B4}"/>
              </a:ext>
            </a:extLst>
          </p:cNvPr>
          <p:cNvSpPr>
            <a:spLocks xmlns:a="http://schemas.openxmlformats.org/drawingml/2006/main" noGrp="1"/>
          </p:cNvSpPr>
          <p:nvPr/>
        </p:nvSpPr>
        <p:spPr>
          <a:xfrm xmlns:a="http://schemas.openxmlformats.org/drawingml/2006/main">
            <a:off x="2466975" y="2895600"/>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CD6C2C11-1664-441D-A772-23FB66042C90}"/>
              </a:ext>
            </a:extLst>
          </p:cNvPr>
          <p:cNvSpPr>
            <a:spLocks xmlns:a="http://schemas.openxmlformats.org/drawingml/2006/main" noGrp="1"/>
          </p:cNvSpPr>
          <p:nvPr/>
        </p:nvSpPr>
        <p:spPr>
          <a:xfrm xmlns:a="http://schemas.openxmlformats.org/drawingml/2006/main">
            <a:off x="2581275" y="297180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x1 - solar (m2)</a:t>
            </a:r>
          </a:p>
        </p:txBody>
      </p:sp>
      <p:sp>
        <p:nvSpPr>
          <p:cNvPr id="10" name="">
            <a:extLst xmlns:a="http://schemas.openxmlformats.org/drawingml/2006/main">
              <a:ext uri="{FF2B5EF4-FFF2-40B4-BE49-F238E27FC236}">
                <a16:creationId xmlns:a16="http://schemas.microsoft.com/office/drawing/2014/main" id="{D94CA437-806F-4AD6-97A3-0FCFD5CADCE5}"/>
              </a:ext>
            </a:extLst>
          </p:cNvPr>
          <p:cNvSpPr>
            <a:spLocks xmlns:a="http://schemas.openxmlformats.org/drawingml/2006/main" noGrp="1"/>
          </p:cNvSpPr>
          <p:nvPr/>
        </p:nvSpPr>
        <p:spPr>
          <a:xfrm xmlns:a="http://schemas.openxmlformats.org/drawingml/2006/main">
            <a:off x="4324350" y="2895600"/>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96288B18-BC88-458E-A9F7-D7AF30783CBE}"/>
              </a:ext>
            </a:extLst>
          </p:cNvPr>
          <p:cNvSpPr>
            <a:spLocks xmlns:a="http://schemas.openxmlformats.org/drawingml/2006/main" noGrp="1"/>
          </p:cNvSpPr>
          <p:nvPr/>
        </p:nvSpPr>
        <p:spPr>
          <a:xfrm xmlns:a="http://schemas.openxmlformats.org/drawingml/2006/main">
            <a:off x="4438650" y="297180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x2 - green roof (m2)</a:t>
            </a:r>
          </a:p>
        </p:txBody>
      </p:sp>
      <p:sp>
        <p:nvSpPr>
          <p:cNvPr id="12" name="">
            <a:extLst xmlns:a="http://schemas.openxmlformats.org/drawingml/2006/main">
              <a:ext uri="{FF2B5EF4-FFF2-40B4-BE49-F238E27FC236}">
                <a16:creationId xmlns:a16="http://schemas.microsoft.com/office/drawing/2014/main" id="{F26E9BA5-7CEA-419F-AEB0-295FC3DE7713}"/>
              </a:ext>
            </a:extLst>
          </p:cNvPr>
          <p:cNvSpPr>
            <a:spLocks xmlns:a="http://schemas.openxmlformats.org/drawingml/2006/main" noGrp="1"/>
          </p:cNvSpPr>
          <p:nvPr/>
        </p:nvSpPr>
        <p:spPr>
          <a:xfrm xmlns:a="http://schemas.openxmlformats.org/drawingml/2006/main">
            <a:off x="6181725" y="2895600"/>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3" name="header-3">
            <a:extLst xmlns:a="http://schemas.openxmlformats.org/drawingml/2006/main">
              <a:ext uri="{FF2B5EF4-FFF2-40B4-BE49-F238E27FC236}">
                <a16:creationId xmlns:a16="http://schemas.microsoft.com/office/drawing/2014/main" id="{F8EA4E57-6CC7-470E-A6D1-813F730EED66}"/>
              </a:ext>
            </a:extLst>
          </p:cNvPr>
          <p:cNvSpPr>
            <a:spLocks xmlns:a="http://schemas.openxmlformats.org/drawingml/2006/main" noGrp="1"/>
          </p:cNvSpPr>
          <p:nvPr/>
        </p:nvSpPr>
        <p:spPr>
          <a:xfrm xmlns:a="http://schemas.openxmlformats.org/drawingml/2006/main">
            <a:off x="6296025" y="297180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annual benefit</a:t>
            </a:r>
          </a:p>
        </p:txBody>
      </p:sp>
      <p:sp>
        <p:nvSpPr>
          <p:cNvPr id="14" name="">
            <a:extLst xmlns:a="http://schemas.openxmlformats.org/drawingml/2006/main">
              <a:ext uri="{FF2B5EF4-FFF2-40B4-BE49-F238E27FC236}">
                <a16:creationId xmlns:a16="http://schemas.microsoft.com/office/drawing/2014/main" id="{EECCD00F-A4CE-4EF0-822E-E7B0E292401C}"/>
              </a:ext>
            </a:extLst>
          </p:cNvPr>
          <p:cNvSpPr>
            <a:spLocks xmlns:a="http://schemas.openxmlformats.org/drawingml/2006/main" noGrp="1"/>
          </p:cNvSpPr>
          <p:nvPr/>
        </p:nvSpPr>
        <p:spPr>
          <a:xfrm xmlns:a="http://schemas.openxmlformats.org/drawingml/2006/main">
            <a:off x="609600" y="343662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0">
            <a:extLst xmlns:a="http://schemas.openxmlformats.org/drawingml/2006/main">
              <a:ext uri="{FF2B5EF4-FFF2-40B4-BE49-F238E27FC236}">
                <a16:creationId xmlns:a16="http://schemas.microsoft.com/office/drawing/2014/main" id="{C7B3E9E6-8CFB-45B9-AB9C-3763B64D50E7}"/>
              </a:ext>
            </a:extLst>
          </p:cNvPr>
          <p:cNvSpPr>
            <a:spLocks xmlns:a="http://schemas.openxmlformats.org/drawingml/2006/main" noGrp="1"/>
          </p:cNvSpPr>
          <p:nvPr/>
        </p:nvSpPr>
        <p:spPr>
          <a:xfrm xmlns:a="http://schemas.openxmlformats.org/drawingml/2006/main">
            <a:off x="723900" y="351282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All-solar (structural cap)</a:t>
            </a:r>
          </a:p>
        </p:txBody>
      </p:sp>
      <p:sp>
        <p:nvSpPr>
          <p:cNvPr id="16" name="">
            <a:extLst xmlns:a="http://schemas.openxmlformats.org/drawingml/2006/main">
              <a:ext uri="{FF2B5EF4-FFF2-40B4-BE49-F238E27FC236}">
                <a16:creationId xmlns:a16="http://schemas.microsoft.com/office/drawing/2014/main" id="{1C1A850F-CF90-4725-8BBB-6EDF9104C0AC}"/>
              </a:ext>
            </a:extLst>
          </p:cNvPr>
          <p:cNvSpPr>
            <a:spLocks xmlns:a="http://schemas.openxmlformats.org/drawingml/2006/main" noGrp="1"/>
          </p:cNvSpPr>
          <p:nvPr/>
        </p:nvSpPr>
        <p:spPr>
          <a:xfrm xmlns:a="http://schemas.openxmlformats.org/drawingml/2006/main">
            <a:off x="2466975" y="343662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1">
            <a:extLst xmlns:a="http://schemas.openxmlformats.org/drawingml/2006/main">
              <a:ext uri="{FF2B5EF4-FFF2-40B4-BE49-F238E27FC236}">
                <a16:creationId xmlns:a16="http://schemas.microsoft.com/office/drawing/2014/main" id="{ED0EB970-945B-4619-B9E1-2AD471F97D4A}"/>
              </a:ext>
            </a:extLst>
          </p:cNvPr>
          <p:cNvSpPr>
            <a:spLocks xmlns:a="http://schemas.openxmlformats.org/drawingml/2006/main" noGrp="1"/>
          </p:cNvSpPr>
          <p:nvPr/>
        </p:nvSpPr>
        <p:spPr>
          <a:xfrm xmlns:a="http://schemas.openxmlformats.org/drawingml/2006/main">
            <a:off x="2581275" y="351282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120</a:t>
            </a:r>
          </a:p>
        </p:txBody>
      </p:sp>
      <p:sp>
        <p:nvSpPr>
          <p:cNvPr id="18" name="">
            <a:extLst xmlns:a="http://schemas.openxmlformats.org/drawingml/2006/main">
              <a:ext uri="{FF2B5EF4-FFF2-40B4-BE49-F238E27FC236}">
                <a16:creationId xmlns:a16="http://schemas.microsoft.com/office/drawing/2014/main" id="{5B19067D-64BA-40FD-9D48-448EB2971F57}"/>
              </a:ext>
            </a:extLst>
          </p:cNvPr>
          <p:cNvSpPr>
            <a:spLocks xmlns:a="http://schemas.openxmlformats.org/drawingml/2006/main" noGrp="1"/>
          </p:cNvSpPr>
          <p:nvPr/>
        </p:nvSpPr>
        <p:spPr>
          <a:xfrm xmlns:a="http://schemas.openxmlformats.org/drawingml/2006/main">
            <a:off x="4324350" y="343662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9" name="cell-0-2">
            <a:extLst xmlns:a="http://schemas.openxmlformats.org/drawingml/2006/main">
              <a:ext uri="{FF2B5EF4-FFF2-40B4-BE49-F238E27FC236}">
                <a16:creationId xmlns:a16="http://schemas.microsoft.com/office/drawing/2014/main" id="{A818B40B-7B34-499A-996D-2B6C914A7EC9}"/>
              </a:ext>
            </a:extLst>
          </p:cNvPr>
          <p:cNvSpPr>
            <a:spLocks xmlns:a="http://schemas.openxmlformats.org/drawingml/2006/main" noGrp="1"/>
          </p:cNvSpPr>
          <p:nvPr/>
        </p:nvSpPr>
        <p:spPr>
          <a:xfrm xmlns:a="http://schemas.openxmlformats.org/drawingml/2006/main">
            <a:off x="4438650" y="351282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 (80 m2 unused)</a:t>
            </a:r>
          </a:p>
        </p:txBody>
      </p:sp>
      <p:sp>
        <p:nvSpPr>
          <p:cNvPr id="20" name="">
            <a:extLst xmlns:a="http://schemas.openxmlformats.org/drawingml/2006/main">
              <a:ext uri="{FF2B5EF4-FFF2-40B4-BE49-F238E27FC236}">
                <a16:creationId xmlns:a16="http://schemas.microsoft.com/office/drawing/2014/main" id="{C4E2BB39-9B07-4334-9F94-C8870094E21E}"/>
              </a:ext>
            </a:extLst>
          </p:cNvPr>
          <p:cNvSpPr>
            <a:spLocks xmlns:a="http://schemas.openxmlformats.org/drawingml/2006/main" noGrp="1"/>
          </p:cNvSpPr>
          <p:nvPr/>
        </p:nvSpPr>
        <p:spPr>
          <a:xfrm xmlns:a="http://schemas.openxmlformats.org/drawingml/2006/main">
            <a:off x="6181725" y="343662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1" name="cell-0-3">
            <a:extLst xmlns:a="http://schemas.openxmlformats.org/drawingml/2006/main">
              <a:ext uri="{FF2B5EF4-FFF2-40B4-BE49-F238E27FC236}">
                <a16:creationId xmlns:a16="http://schemas.microsoft.com/office/drawing/2014/main" id="{8AE10C69-3663-4307-9173-CBEC8B2E31B8}"/>
              </a:ext>
            </a:extLst>
          </p:cNvPr>
          <p:cNvSpPr>
            <a:spLocks xmlns:a="http://schemas.openxmlformats.org/drawingml/2006/main" noGrp="1"/>
          </p:cNvSpPr>
          <p:nvPr/>
        </p:nvSpPr>
        <p:spPr>
          <a:xfrm xmlns:a="http://schemas.openxmlformats.org/drawingml/2006/main">
            <a:off x="6296025" y="351282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$7,200</a:t>
            </a:r>
          </a:p>
        </p:txBody>
      </p:sp>
      <p:sp>
        <p:nvSpPr>
          <p:cNvPr id="22" name="">
            <a:extLst xmlns:a="http://schemas.openxmlformats.org/drawingml/2006/main">
              <a:ext uri="{FF2B5EF4-FFF2-40B4-BE49-F238E27FC236}">
                <a16:creationId xmlns:a16="http://schemas.microsoft.com/office/drawing/2014/main" id="{7428E061-93FD-414D-BF8E-B9EEA85DED56}"/>
              </a:ext>
            </a:extLst>
          </p:cNvPr>
          <p:cNvSpPr>
            <a:spLocks xmlns:a="http://schemas.openxmlformats.org/drawingml/2006/main" noGrp="1"/>
          </p:cNvSpPr>
          <p:nvPr/>
        </p:nvSpPr>
        <p:spPr>
          <a:xfrm xmlns:a="http://schemas.openxmlformats.org/drawingml/2006/main">
            <a:off x="609600" y="3977640"/>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0">
            <a:extLst xmlns:a="http://schemas.openxmlformats.org/drawingml/2006/main">
              <a:ext uri="{FF2B5EF4-FFF2-40B4-BE49-F238E27FC236}">
                <a16:creationId xmlns:a16="http://schemas.microsoft.com/office/drawing/2014/main" id="{C1DBA742-98A7-4E94-919B-62124FA84281}"/>
              </a:ext>
            </a:extLst>
          </p:cNvPr>
          <p:cNvSpPr>
            <a:spLocks xmlns:a="http://schemas.openxmlformats.org/drawingml/2006/main" noGrp="1"/>
          </p:cNvSpPr>
          <p:nvPr/>
        </p:nvSpPr>
        <p:spPr>
          <a:xfrm xmlns:a="http://schemas.openxmlformats.org/drawingml/2006/main">
            <a:off x="723900" y="4053840"/>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All-green roof</a:t>
            </a:r>
          </a:p>
        </p:txBody>
      </p:sp>
      <p:sp>
        <p:nvSpPr>
          <p:cNvPr id="24" name="">
            <a:extLst xmlns:a="http://schemas.openxmlformats.org/drawingml/2006/main">
              <a:ext uri="{FF2B5EF4-FFF2-40B4-BE49-F238E27FC236}">
                <a16:creationId xmlns:a16="http://schemas.microsoft.com/office/drawing/2014/main" id="{1F835004-1E0A-44EB-90CE-59272F8D29A2}"/>
              </a:ext>
            </a:extLst>
          </p:cNvPr>
          <p:cNvSpPr>
            <a:spLocks xmlns:a="http://schemas.openxmlformats.org/drawingml/2006/main" noGrp="1"/>
          </p:cNvSpPr>
          <p:nvPr/>
        </p:nvSpPr>
        <p:spPr>
          <a:xfrm xmlns:a="http://schemas.openxmlformats.org/drawingml/2006/main">
            <a:off x="2466975" y="3977640"/>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5" name="cell-1-1">
            <a:extLst xmlns:a="http://schemas.openxmlformats.org/drawingml/2006/main">
              <a:ext uri="{FF2B5EF4-FFF2-40B4-BE49-F238E27FC236}">
                <a16:creationId xmlns:a16="http://schemas.microsoft.com/office/drawing/2014/main" id="{2C5F1AA6-8074-40DE-9526-B380A0E96EC8}"/>
              </a:ext>
            </a:extLst>
          </p:cNvPr>
          <p:cNvSpPr>
            <a:spLocks xmlns:a="http://schemas.openxmlformats.org/drawingml/2006/main" noGrp="1"/>
          </p:cNvSpPr>
          <p:nvPr/>
        </p:nvSpPr>
        <p:spPr>
          <a:xfrm xmlns:a="http://schemas.openxmlformats.org/drawingml/2006/main">
            <a:off x="2581275" y="4053840"/>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a:t>
            </a:r>
          </a:p>
        </p:txBody>
      </p:sp>
      <p:sp>
        <p:nvSpPr>
          <p:cNvPr id="26" name="">
            <a:extLst xmlns:a="http://schemas.openxmlformats.org/drawingml/2006/main">
              <a:ext uri="{FF2B5EF4-FFF2-40B4-BE49-F238E27FC236}">
                <a16:creationId xmlns:a16="http://schemas.microsoft.com/office/drawing/2014/main" id="{4B6D0896-8B76-46F1-88BD-0BD2ED12BDF7}"/>
              </a:ext>
            </a:extLst>
          </p:cNvPr>
          <p:cNvSpPr>
            <a:spLocks xmlns:a="http://schemas.openxmlformats.org/drawingml/2006/main" noGrp="1"/>
          </p:cNvSpPr>
          <p:nvPr/>
        </p:nvSpPr>
        <p:spPr>
          <a:xfrm xmlns:a="http://schemas.openxmlformats.org/drawingml/2006/main">
            <a:off x="4324350" y="3977640"/>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7" name="cell-1-2">
            <a:extLst xmlns:a="http://schemas.openxmlformats.org/drawingml/2006/main">
              <a:ext uri="{FF2B5EF4-FFF2-40B4-BE49-F238E27FC236}">
                <a16:creationId xmlns:a16="http://schemas.microsoft.com/office/drawing/2014/main" id="{C9DF7A57-64D2-4949-B9F7-D3B0ABE85661}"/>
              </a:ext>
            </a:extLst>
          </p:cNvPr>
          <p:cNvSpPr>
            <a:spLocks xmlns:a="http://schemas.openxmlformats.org/drawingml/2006/main" noGrp="1"/>
          </p:cNvSpPr>
          <p:nvPr/>
        </p:nvSpPr>
        <p:spPr>
          <a:xfrm xmlns:a="http://schemas.openxmlformats.org/drawingml/2006/main">
            <a:off x="4438650" y="4053840"/>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200</a:t>
            </a:r>
          </a:p>
        </p:txBody>
      </p:sp>
      <p:sp>
        <p:nvSpPr>
          <p:cNvPr id="28" name="">
            <a:extLst xmlns:a="http://schemas.openxmlformats.org/drawingml/2006/main">
              <a:ext uri="{FF2B5EF4-FFF2-40B4-BE49-F238E27FC236}">
                <a16:creationId xmlns:a16="http://schemas.microsoft.com/office/drawing/2014/main" id="{AFF3200C-0632-4CDB-9191-567E79CFF58B}"/>
              </a:ext>
            </a:extLst>
          </p:cNvPr>
          <p:cNvSpPr>
            <a:spLocks xmlns:a="http://schemas.openxmlformats.org/drawingml/2006/main" noGrp="1"/>
          </p:cNvSpPr>
          <p:nvPr/>
        </p:nvSpPr>
        <p:spPr>
          <a:xfrm xmlns:a="http://schemas.openxmlformats.org/drawingml/2006/main">
            <a:off x="6181725" y="3977640"/>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9" name="cell-1-3">
            <a:extLst xmlns:a="http://schemas.openxmlformats.org/drawingml/2006/main">
              <a:ext uri="{FF2B5EF4-FFF2-40B4-BE49-F238E27FC236}">
                <a16:creationId xmlns:a16="http://schemas.microsoft.com/office/drawing/2014/main" id="{E8F3BF01-905C-4298-B77C-45515251DCDA}"/>
              </a:ext>
            </a:extLst>
          </p:cNvPr>
          <p:cNvSpPr>
            <a:spLocks xmlns:a="http://schemas.openxmlformats.org/drawingml/2006/main" noGrp="1"/>
          </p:cNvSpPr>
          <p:nvPr/>
        </p:nvSpPr>
        <p:spPr>
          <a:xfrm xmlns:a="http://schemas.openxmlformats.org/drawingml/2006/main">
            <a:off x="6296025" y="4053840"/>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$5,000</a:t>
            </a:r>
          </a:p>
        </p:txBody>
      </p:sp>
      <p:sp>
        <p:nvSpPr>
          <p:cNvPr id="30" name="">
            <a:extLst xmlns:a="http://schemas.openxmlformats.org/drawingml/2006/main">
              <a:ext uri="{FF2B5EF4-FFF2-40B4-BE49-F238E27FC236}">
                <a16:creationId xmlns:a16="http://schemas.microsoft.com/office/drawing/2014/main" id="{368856E5-F38F-40ED-A715-F23CCD2572F6}"/>
              </a:ext>
            </a:extLst>
          </p:cNvPr>
          <p:cNvSpPr>
            <a:spLocks xmlns:a="http://schemas.openxmlformats.org/drawingml/2006/main" noGrp="1"/>
          </p:cNvSpPr>
          <p:nvPr/>
        </p:nvSpPr>
        <p:spPr>
          <a:xfrm xmlns:a="http://schemas.openxmlformats.org/drawingml/2006/main">
            <a:off x="609600" y="451104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1" name="cell-2-0">
            <a:extLst xmlns:a="http://schemas.openxmlformats.org/drawingml/2006/main">
              <a:ext uri="{FF2B5EF4-FFF2-40B4-BE49-F238E27FC236}">
                <a16:creationId xmlns:a16="http://schemas.microsoft.com/office/drawing/2014/main" id="{FA4BD1DC-0778-48A7-AE77-36A21D3E4426}"/>
              </a:ext>
            </a:extLst>
          </p:cNvPr>
          <p:cNvSpPr>
            <a:spLocks xmlns:a="http://schemas.openxmlformats.org/drawingml/2006/main" noGrp="1"/>
          </p:cNvSpPr>
          <p:nvPr/>
        </p:nvSpPr>
        <p:spPr>
          <a:xfrm xmlns:a="http://schemas.openxmlformats.org/drawingml/2006/main">
            <a:off x="723900" y="458724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Formulated &amp; solved (optimal)</a:t>
            </a:r>
          </a:p>
        </p:txBody>
      </p:sp>
      <p:sp>
        <p:nvSpPr>
          <p:cNvPr id="32" name="">
            <a:extLst xmlns:a="http://schemas.openxmlformats.org/drawingml/2006/main">
              <a:ext uri="{FF2B5EF4-FFF2-40B4-BE49-F238E27FC236}">
                <a16:creationId xmlns:a16="http://schemas.microsoft.com/office/drawing/2014/main" id="{ED4D375D-CD03-4864-946B-CA3463485732}"/>
              </a:ext>
            </a:extLst>
          </p:cNvPr>
          <p:cNvSpPr>
            <a:spLocks xmlns:a="http://schemas.openxmlformats.org/drawingml/2006/main" noGrp="1"/>
          </p:cNvSpPr>
          <p:nvPr/>
        </p:nvSpPr>
        <p:spPr>
          <a:xfrm xmlns:a="http://schemas.openxmlformats.org/drawingml/2006/main">
            <a:off x="2466975" y="451104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3" name="cell-2-1">
            <a:extLst xmlns:a="http://schemas.openxmlformats.org/drawingml/2006/main">
              <a:ext uri="{FF2B5EF4-FFF2-40B4-BE49-F238E27FC236}">
                <a16:creationId xmlns:a16="http://schemas.microsoft.com/office/drawing/2014/main" id="{227ABCC1-CE3D-49E4-AA0B-C7541FDCCD5E}"/>
              </a:ext>
            </a:extLst>
          </p:cNvPr>
          <p:cNvSpPr>
            <a:spLocks xmlns:a="http://schemas.openxmlformats.org/drawingml/2006/main" noGrp="1"/>
          </p:cNvSpPr>
          <p:nvPr/>
        </p:nvSpPr>
        <p:spPr>
          <a:xfrm xmlns:a="http://schemas.openxmlformats.org/drawingml/2006/main">
            <a:off x="2581275" y="458724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80</a:t>
            </a:r>
          </a:p>
        </p:txBody>
      </p:sp>
      <p:sp>
        <p:nvSpPr>
          <p:cNvPr id="34" name="">
            <a:extLst xmlns:a="http://schemas.openxmlformats.org/drawingml/2006/main">
              <a:ext uri="{FF2B5EF4-FFF2-40B4-BE49-F238E27FC236}">
                <a16:creationId xmlns:a16="http://schemas.microsoft.com/office/drawing/2014/main" id="{4FAF0FA8-98BB-41AD-8429-4493DD27421F}"/>
              </a:ext>
            </a:extLst>
          </p:cNvPr>
          <p:cNvSpPr>
            <a:spLocks xmlns:a="http://schemas.openxmlformats.org/drawingml/2006/main" noGrp="1"/>
          </p:cNvSpPr>
          <p:nvPr/>
        </p:nvSpPr>
        <p:spPr>
          <a:xfrm xmlns:a="http://schemas.openxmlformats.org/drawingml/2006/main">
            <a:off x="4324350" y="451104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5" name="cell-2-2">
            <a:extLst xmlns:a="http://schemas.openxmlformats.org/drawingml/2006/main">
              <a:ext uri="{FF2B5EF4-FFF2-40B4-BE49-F238E27FC236}">
                <a16:creationId xmlns:a16="http://schemas.microsoft.com/office/drawing/2014/main" id="{253AF532-0D56-4F5C-8A4F-400B67D27E3E}"/>
              </a:ext>
            </a:extLst>
          </p:cNvPr>
          <p:cNvSpPr>
            <a:spLocks xmlns:a="http://schemas.openxmlformats.org/drawingml/2006/main" noGrp="1"/>
          </p:cNvSpPr>
          <p:nvPr/>
        </p:nvSpPr>
        <p:spPr>
          <a:xfrm xmlns:a="http://schemas.openxmlformats.org/drawingml/2006/main">
            <a:off x="4438650" y="458724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120</a:t>
            </a:r>
          </a:p>
        </p:txBody>
      </p:sp>
      <p:sp>
        <p:nvSpPr>
          <p:cNvPr id="36" name="">
            <a:extLst xmlns:a="http://schemas.openxmlformats.org/drawingml/2006/main">
              <a:ext uri="{FF2B5EF4-FFF2-40B4-BE49-F238E27FC236}">
                <a16:creationId xmlns:a16="http://schemas.microsoft.com/office/drawing/2014/main" id="{44BB6CF1-1202-43E7-8BC3-1363697C5748}"/>
              </a:ext>
            </a:extLst>
          </p:cNvPr>
          <p:cNvSpPr>
            <a:spLocks xmlns:a="http://schemas.openxmlformats.org/drawingml/2006/main" noGrp="1"/>
          </p:cNvSpPr>
          <p:nvPr/>
        </p:nvSpPr>
        <p:spPr>
          <a:xfrm xmlns:a="http://schemas.openxmlformats.org/drawingml/2006/main">
            <a:off x="6181725" y="451104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7" name="cell-2-3">
            <a:extLst xmlns:a="http://schemas.openxmlformats.org/drawingml/2006/main">
              <a:ext uri="{FF2B5EF4-FFF2-40B4-BE49-F238E27FC236}">
                <a16:creationId xmlns:a16="http://schemas.microsoft.com/office/drawing/2014/main" id="{120084C8-D966-42BF-A05E-5D7009DE6D71}"/>
              </a:ext>
            </a:extLst>
          </p:cNvPr>
          <p:cNvSpPr>
            <a:spLocks xmlns:a="http://schemas.openxmlformats.org/drawingml/2006/main" noGrp="1"/>
          </p:cNvSpPr>
          <p:nvPr/>
        </p:nvSpPr>
        <p:spPr>
          <a:xfrm xmlns:a="http://schemas.openxmlformats.org/drawingml/2006/main">
            <a:off x="6296025" y="458724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$7,800</a:t>
            </a:r>
          </a:p>
        </p:txBody>
      </p:sp>
      <p:sp>
        <p:nvSpPr>
          <p:cNvPr id="38" name="callout-label">
            <a:extLst xmlns:a="http://schemas.openxmlformats.org/drawingml/2006/main">
              <a:ext uri="{FF2B5EF4-FFF2-40B4-BE49-F238E27FC236}">
                <a16:creationId xmlns:a16="http://schemas.microsoft.com/office/drawing/2014/main" id="{7D11A111-0420-43EA-B25F-2C5B2C62EFEA}"/>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39" name="callout">
            <a:extLst xmlns:a="http://schemas.openxmlformats.org/drawingml/2006/main">
              <a:ext uri="{FF2B5EF4-FFF2-40B4-BE49-F238E27FC236}">
                <a16:creationId xmlns:a16="http://schemas.microsoft.com/office/drawing/2014/main" id="{AF17446F-8499-43D9-8A86-9D484090D635}"/>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Neither pure strategy wins. $7,800/yr beats the better naive guess by $600/yr, and beats the other by $2,800/yr — purely from formulating and solving instead of guessing.</a:t>
            </a:r>
          </a:p>
        </p:txBody>
      </p:sp>
    </p:spTree>
    <p:extLst>
      <p:ext uri="{BB962C8B-B14F-4D97-AF65-F5344CB8AC3E}">
        <p14:creationId xmlns:p14="http://schemas.microsoft.com/office/powerpoint/2010/main" val="187057350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DEE85531-4EB2-4F95-AFE3-786AA274450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E455E180-6967-4D3B-9572-30C824F901A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Simplex, defined</a:t>
            </a:r>
          </a:p>
        </p:txBody>
      </p:sp>
      <p:sp>
        <p:nvSpPr>
          <p:cNvPr id="3" name="">
            <a:extLst xmlns:a="http://schemas.openxmlformats.org/drawingml/2006/main">
              <a:ext uri="{FF2B5EF4-FFF2-40B4-BE49-F238E27FC236}">
                <a16:creationId xmlns:a16="http://schemas.microsoft.com/office/drawing/2014/main" id="{A33CFC48-7C51-4ECB-8D15-7DEA5877080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80FF31C-2DEC-4DF7-907D-8BCEAAD302F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A265F380-DC6B-466E-A24B-1C6884E26D86}"/>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25</a:t>
            </a:r>
          </a:p>
        </p:txBody>
      </p:sp>
      <p:sp>
        <p:nvSpPr>
          <p:cNvPr id="6" name="left-head">
            <a:extLst xmlns:a="http://schemas.openxmlformats.org/drawingml/2006/main">
              <a:ext uri="{FF2B5EF4-FFF2-40B4-BE49-F238E27FC236}">
                <a16:creationId xmlns:a16="http://schemas.microsoft.com/office/drawing/2014/main" id="{954387BC-3A20-4E50-85E1-03F1B8638305}"/>
              </a:ext>
            </a:extLst>
          </p:cNvPr>
          <p:cNvSpPr>
            <a:spLocks xmlns:a="http://schemas.openxmlformats.org/drawingml/2006/main" noGrp="1"/>
          </p:cNvSpPr>
          <p:nvPr/>
        </p:nvSpPr>
        <p:spPr>
          <a:xfrm xmlns:a="http://schemas.openxmlformats.org/drawingml/2006/main">
            <a:off x="609600" y="280987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Definition</a:t>
            </a:r>
          </a:p>
        </p:txBody>
      </p:sp>
      <p:sp>
        <p:nvSpPr>
          <p:cNvPr id="7" name="left-body">
            <a:extLst xmlns:a="http://schemas.openxmlformats.org/drawingml/2006/main">
              <a:ext uri="{FF2B5EF4-FFF2-40B4-BE49-F238E27FC236}">
                <a16:creationId xmlns:a16="http://schemas.microsoft.com/office/drawing/2014/main" id="{58CC9220-B9AA-4E94-B7A3-08D4A4B6CC8D}"/>
              </a:ext>
            </a:extLst>
          </p:cNvPr>
          <p:cNvSpPr>
            <a:spLocks xmlns:a="http://schemas.openxmlformats.org/drawingml/2006/main" noGrp="1"/>
          </p:cNvSpPr>
          <p:nvPr/>
        </p:nvSpPr>
        <p:spPr>
          <a:xfrm xmlns:a="http://schemas.openxmlformats.org/drawingml/2006/main">
            <a:off x="609600" y="3307461"/>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The simplex family moves among basic feasible solutions (geometric corners) while improving the objective, using termination tests rather than literal exact arithmetic.</a:t>
            </a:r>
          </a:p>
        </p:txBody>
      </p:sp>
      <p:sp>
        <p:nvSpPr>
          <p:cNvPr id="8" name="right-head">
            <a:extLst xmlns:a="http://schemas.openxmlformats.org/drawingml/2006/main">
              <a:ext uri="{FF2B5EF4-FFF2-40B4-BE49-F238E27FC236}">
                <a16:creationId xmlns:a16="http://schemas.microsoft.com/office/drawing/2014/main" id="{EC8248F1-3C7E-4911-AF45-E811ACA9EAF5}"/>
              </a:ext>
            </a:extLst>
          </p:cNvPr>
          <p:cNvSpPr>
            <a:spLocks xmlns:a="http://schemas.openxmlformats.org/drawingml/2006/main" noGrp="1"/>
          </p:cNvSpPr>
          <p:nvPr/>
        </p:nvSpPr>
        <p:spPr>
          <a:xfrm xmlns:a="http://schemas.openxmlformats.org/drawingml/2006/main">
            <a:off x="6362700" y="280987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Why that is enough</a:t>
            </a:r>
          </a:p>
        </p:txBody>
      </p:sp>
      <p:sp>
        <p:nvSpPr>
          <p:cNvPr id="9" name="right-body">
            <a:extLst xmlns:a="http://schemas.openxmlformats.org/drawingml/2006/main">
              <a:ext uri="{FF2B5EF4-FFF2-40B4-BE49-F238E27FC236}">
                <a16:creationId xmlns:a16="http://schemas.microsoft.com/office/drawing/2014/main" id="{A621A880-4C2D-4D88-B362-7114DFCE04A7}"/>
              </a:ext>
            </a:extLst>
          </p:cNvPr>
          <p:cNvSpPr>
            <a:spLocks xmlns:a="http://schemas.openxmlformats.org/drawingml/2006/main" noGrp="1"/>
          </p:cNvSpPr>
          <p:nvPr/>
        </p:nvSpPr>
        <p:spPr>
          <a:xfrm xmlns:a="http://schemas.openxmlformats.org/drawingml/2006/main">
            <a:off x="6362700" y="3307461"/>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For a feasible, bounded LP, simplex can establish a global optimum to numerical tolerances. Degeneracy and multiple optima mean the path and returned optimal point need not be unique.</a:t>
            </a:r>
          </a:p>
        </p:txBody>
      </p:sp>
    </p:spTree>
    <p:extLst>
      <p:ext uri="{BB962C8B-B14F-4D97-AF65-F5344CB8AC3E}">
        <p14:creationId xmlns:p14="http://schemas.microsoft.com/office/powerpoint/2010/main" val="154807969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3620236F-1F97-4C9D-918B-C177B2CC348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DB4006C9-86E8-4986-9ABC-0CE694C3C05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Interior-point, defined</a:t>
            </a:r>
          </a:p>
        </p:txBody>
      </p:sp>
      <p:sp>
        <p:nvSpPr>
          <p:cNvPr id="3" name="">
            <a:extLst xmlns:a="http://schemas.openxmlformats.org/drawingml/2006/main">
              <a:ext uri="{FF2B5EF4-FFF2-40B4-BE49-F238E27FC236}">
                <a16:creationId xmlns:a16="http://schemas.microsoft.com/office/drawing/2014/main" id="{4050F08D-896C-4092-B7AA-88DE6B188A2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7E4F638-706D-4F45-94AA-6D01C98F200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0FD75DE4-A9E2-4C13-8861-16302413DB1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26</a:t>
            </a:r>
          </a:p>
        </p:txBody>
      </p:sp>
      <p:sp>
        <p:nvSpPr>
          <p:cNvPr id="6" name="left-head">
            <a:extLst xmlns:a="http://schemas.openxmlformats.org/drawingml/2006/main">
              <a:ext uri="{FF2B5EF4-FFF2-40B4-BE49-F238E27FC236}">
                <a16:creationId xmlns:a16="http://schemas.microsoft.com/office/drawing/2014/main" id="{5AF0095A-C839-48FC-953E-556F399A948F}"/>
              </a:ext>
            </a:extLst>
          </p:cNvPr>
          <p:cNvSpPr>
            <a:spLocks xmlns:a="http://schemas.openxmlformats.org/drawingml/2006/main" noGrp="1"/>
          </p:cNvSpPr>
          <p:nvPr/>
        </p:nvSpPr>
        <p:spPr>
          <a:xfrm xmlns:a="http://schemas.openxmlformats.org/drawingml/2006/main">
            <a:off x="609600" y="271462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Definition</a:t>
            </a:r>
          </a:p>
        </p:txBody>
      </p:sp>
      <p:sp>
        <p:nvSpPr>
          <p:cNvPr id="7" name="left-body">
            <a:extLst xmlns:a="http://schemas.openxmlformats.org/drawingml/2006/main">
              <a:ext uri="{FF2B5EF4-FFF2-40B4-BE49-F238E27FC236}">
                <a16:creationId xmlns:a16="http://schemas.microsoft.com/office/drawing/2014/main" id="{3ECA14EB-D8A1-4116-93AD-2EB05C7405B2}"/>
              </a:ext>
            </a:extLst>
          </p:cNvPr>
          <p:cNvSpPr>
            <a:spLocks xmlns:a="http://schemas.openxmlformats.org/drawingml/2006/main" noGrp="1"/>
          </p:cNvSpPr>
          <p:nvPr/>
        </p:nvSpPr>
        <p:spPr>
          <a:xfrm xmlns:a="http://schemas.openxmlformats.org/drawingml/2006/main">
            <a:off x="609600" y="3212211"/>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An interior-point method moves through the feasible region toward optimality; production solvers may then use crossover to return a basic solution.</a:t>
            </a:r>
          </a:p>
        </p:txBody>
      </p:sp>
      <p:sp>
        <p:nvSpPr>
          <p:cNvPr id="8" name="right-head">
            <a:extLst xmlns:a="http://schemas.openxmlformats.org/drawingml/2006/main">
              <a:ext uri="{FF2B5EF4-FFF2-40B4-BE49-F238E27FC236}">
                <a16:creationId xmlns:a16="http://schemas.microsoft.com/office/drawing/2014/main" id="{9CF05562-17DD-4932-B66F-D37BB3162777}"/>
              </a:ext>
            </a:extLst>
          </p:cNvPr>
          <p:cNvSpPr>
            <a:spLocks xmlns:a="http://schemas.openxmlformats.org/drawingml/2006/main" noGrp="1"/>
          </p:cNvSpPr>
          <p:nvPr/>
        </p:nvSpPr>
        <p:spPr>
          <a:xfrm xmlns:a="http://schemas.openxmlformats.org/drawingml/2006/main">
            <a:off x="6362700" y="271462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Same guarantee, different path</a:t>
            </a:r>
          </a:p>
        </p:txBody>
      </p:sp>
      <p:sp>
        <p:nvSpPr>
          <p:cNvPr id="9" name="right-body">
            <a:extLst xmlns:a="http://schemas.openxmlformats.org/drawingml/2006/main">
              <a:ext uri="{FF2B5EF4-FFF2-40B4-BE49-F238E27FC236}">
                <a16:creationId xmlns:a16="http://schemas.microsoft.com/office/drawing/2014/main" id="{7C316749-A21A-4D0E-8F05-5BD78F038E1A}"/>
              </a:ext>
            </a:extLst>
          </p:cNvPr>
          <p:cNvSpPr>
            <a:spLocks xmlns:a="http://schemas.openxmlformats.org/drawingml/2006/main" noGrp="1"/>
          </p:cNvSpPr>
          <p:nvPr/>
        </p:nvSpPr>
        <p:spPr>
          <a:xfrm xmlns:a="http://schemas.openxmlformats.org/drawingml/2006/main">
            <a:off x="6362700" y="3212211"/>
            <a:ext cx="5219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HiGHS provides deterministic LP algorithms with global guarantees for the model, reported to feasibility and optimality tolerances. Different algorithms may return different points on the same optimal face.</a:t>
            </a:r>
          </a:p>
        </p:txBody>
      </p:sp>
    </p:spTree>
    <p:extLst>
      <p:ext uri="{BB962C8B-B14F-4D97-AF65-F5344CB8AC3E}">
        <p14:creationId xmlns:p14="http://schemas.microsoft.com/office/powerpoint/2010/main" val="134232800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68B2A861-C4F1-459A-9FBD-FAB9A11AC7A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VISUAL EVIDENCE</a:t>
            </a:r>
          </a:p>
        </p:txBody>
      </p:sp>
      <p:sp>
        <p:nvSpPr>
          <p:cNvPr id="2" name="title">
            <a:extLst xmlns:a="http://schemas.openxmlformats.org/drawingml/2006/main">
              <a:ext uri="{FF2B5EF4-FFF2-40B4-BE49-F238E27FC236}">
                <a16:creationId xmlns:a16="http://schemas.microsoft.com/office/drawing/2014/main" id="{EA336F91-00E0-4F0F-A4EA-78DF6C04C7B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Simplex pivots are non-decreasing — not always strict</a:t>
            </a:r>
          </a:p>
        </p:txBody>
      </p:sp>
      <p:sp>
        <p:nvSpPr>
          <p:cNvPr id="3" name="">
            <a:extLst xmlns:a="http://schemas.openxmlformats.org/drawingml/2006/main">
              <a:ext uri="{FF2B5EF4-FFF2-40B4-BE49-F238E27FC236}">
                <a16:creationId xmlns:a16="http://schemas.microsoft.com/office/drawing/2014/main" id="{2A76E2B2-F31B-4308-BCD1-57C49A2EBEE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AF3221D-044D-4EFE-B5C5-8960D7696505}"/>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AB77D0AE-4551-454A-AEDA-CE6D930B334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27</a:t>
            </a:r>
          </a:p>
        </p:txBody>
      </p:sp>
      <p:graphicFrame>
        <p:nvGraphicFramePr>
          <p:cNvPr id="14" name="Chart"/>
          <p:cNvGraphicFramePr/>
          <p:nvPr/>
        </p:nvGraphicFramePr>
        <p:xfrm>
          <a:off xmlns:a="http://schemas.openxmlformats.org/drawingml/2006/main" x="609600" y="1809750"/>
          <a:ext xmlns:a="http://schemas.openxmlformats.org/drawingml/2006/main" cx="7010400" cy="4248150"/>
        </p:xfrm>
        <a:graphic xmlns:a="http://schemas.openxmlformats.org/drawingml/2006/main">
          <a:graphicData uri="http://schemas.openxmlformats.org/drawingml/2006/chart">
            <c:chart xmlns:r="http://schemas.openxmlformats.org/officeDocument/2006/relationships" xmlns:c="http://schemas.openxmlformats.org/drawingml/2006/chart" r:id="Ra13d940464bb4e64"/>
          </a:graphicData>
        </a:graphic>
      </p:graphicFrame>
      <p:sp>
        <p:nvSpPr>
          <p:cNvPr id="7" name="chart-explain-head">
            <a:extLst xmlns:a="http://schemas.openxmlformats.org/drawingml/2006/main">
              <a:ext uri="{FF2B5EF4-FFF2-40B4-BE49-F238E27FC236}">
                <a16:creationId xmlns:a16="http://schemas.microsoft.com/office/drawing/2014/main" id="{E0261304-EC7D-4D80-A949-8BF27AF1B7FC}"/>
              </a:ext>
            </a:extLst>
          </p:cNvPr>
          <p:cNvSpPr>
            <a:spLocks xmlns:a="http://schemas.openxmlformats.org/drawingml/2006/main" noGrp="1"/>
          </p:cNvSpPr>
          <p:nvPr/>
        </p:nvSpPr>
        <p:spPr>
          <a:xfrm xmlns:a="http://schemas.openxmlformats.org/drawingml/2006/main">
            <a:off x="8001000" y="2447925"/>
            <a:ext cx="35814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Three moves across four vertices</a:t>
            </a:r>
          </a:p>
        </p:txBody>
      </p:sp>
      <p:sp>
        <p:nvSpPr>
          <p:cNvPr id="8" name="chart-explain-body">
            <a:extLst xmlns:a="http://schemas.openxmlformats.org/drawingml/2006/main">
              <a:ext uri="{FF2B5EF4-FFF2-40B4-BE49-F238E27FC236}">
                <a16:creationId xmlns:a16="http://schemas.microsoft.com/office/drawing/2014/main" id="{8C5ABF4D-B81A-4598-B3E2-8FFDA68929B9}"/>
              </a:ext>
            </a:extLst>
          </p:cNvPr>
          <p:cNvSpPr>
            <a:spLocks xmlns:a="http://schemas.openxmlformats.org/drawingml/2006/main" noGrp="1"/>
          </p:cNvSpPr>
          <p:nvPr/>
        </p:nvSpPr>
        <p:spPr>
          <a:xfrm xmlns:a="http://schemas.openxmlformats.org/drawingml/2006/main">
            <a:off x="8001000" y="3233547"/>
            <a:ext cx="3581400" cy="1844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shown path visits the origin, (120,0), (120,13.33), and (80,120): three moves across four vertices. Benefit is non-decreasing here: $0 -&gt; $7,200 -&gt; $7,533 -&gt; $7,800. In general, a degenerate simplex pivot can be flat, so 'strictly improves at every pivot' is too strong.</a:t>
            </a:r>
          </a:p>
        </p:txBody>
      </p:sp>
    </p:spTree>
    <p:extLst>
      <p:ext uri="{BB962C8B-B14F-4D97-AF65-F5344CB8AC3E}">
        <p14:creationId xmlns:p14="http://schemas.microsoft.com/office/powerpoint/2010/main" val="49578243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3F8ED8DC-2863-49D5-BD3F-51BAFE3A617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F821D2E8-4AD0-4202-BB4D-C3FB3319545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Two algorithms agree on this instance</a:t>
            </a:r>
          </a:p>
        </p:txBody>
      </p:sp>
      <p:sp>
        <p:nvSpPr>
          <p:cNvPr id="3" name="">
            <a:extLst xmlns:a="http://schemas.openxmlformats.org/drawingml/2006/main">
              <a:ext uri="{FF2B5EF4-FFF2-40B4-BE49-F238E27FC236}">
                <a16:creationId xmlns:a16="http://schemas.microsoft.com/office/drawing/2014/main" id="{9A90E10A-DDF9-47EF-A6F1-B099721AF97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68D5046-DA08-4D79-9F7D-1CC3C3F750C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09B1177D-9A26-4BCC-BF50-7327E62B606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28</a:t>
            </a:r>
          </a:p>
        </p:txBody>
      </p:sp>
      <p:sp>
        <p:nvSpPr>
          <p:cNvPr id="6" name="code-panel">
            <a:extLst xmlns:a="http://schemas.openxmlformats.org/drawingml/2006/main">
              <a:ext uri="{FF2B5EF4-FFF2-40B4-BE49-F238E27FC236}">
                <a16:creationId xmlns:a16="http://schemas.microsoft.com/office/drawing/2014/main" id="{1147DCB1-7D98-4DFA-AD64-67F5953E59F2}"/>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0922F43C-EC82-492A-A1D0-09B1A24CE1F6}"/>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for method in ['highs-ds', 'highs-ipm']:</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res = linprog(c, A_ub=A_ub, b_ub=b_ub,</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bounds=bounds, method=method)</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print(method, res.x, -res.fun)</a:t>
            </a:r>
          </a:p>
        </p:txBody>
      </p:sp>
      <p:sp>
        <p:nvSpPr>
          <p:cNvPr id="8" name="">
            <a:extLst xmlns:a="http://schemas.openxmlformats.org/drawingml/2006/main">
              <a:ext uri="{FF2B5EF4-FFF2-40B4-BE49-F238E27FC236}">
                <a16:creationId xmlns:a16="http://schemas.microsoft.com/office/drawing/2014/main" id="{63A96AAC-D0B0-420D-85EE-EBDDDBAAD0DF}"/>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423C598C-81DA-46A6-AEFC-04A5FCC80E70}"/>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9E9F855D-398F-4BDE-A1D8-1F2A447DA211}"/>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highs-ds [ 80. 120.] 7800.0</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highs-ipm [ 80. 120.] 7800.0</a:t>
            </a:r>
          </a:p>
        </p:txBody>
      </p:sp>
      <p:sp>
        <p:nvSpPr>
          <p:cNvPr id="11" name="explain-head">
            <a:extLst xmlns:a="http://schemas.openxmlformats.org/drawingml/2006/main">
              <a:ext uri="{FF2B5EF4-FFF2-40B4-BE49-F238E27FC236}">
                <a16:creationId xmlns:a16="http://schemas.microsoft.com/office/drawing/2014/main" id="{2DC3F749-2EA1-4298-BF65-2FAF564535A5}"/>
              </a:ext>
            </a:extLst>
          </p:cNvPr>
          <p:cNvSpPr>
            <a:spLocks xmlns:a="http://schemas.openxmlformats.org/drawingml/2006/main" noGrp="1"/>
          </p:cNvSpPr>
          <p:nvPr/>
        </p:nvSpPr>
        <p:spPr>
          <a:xfrm xmlns:a="http://schemas.openxmlformats.org/drawingml/2006/main">
            <a:off x="7886700" y="26098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Agreement is evidence, not a uniqueness theorem</a:t>
            </a:r>
          </a:p>
        </p:txBody>
      </p:sp>
      <p:sp>
        <p:nvSpPr>
          <p:cNvPr id="12" name="explain-body">
            <a:extLst xmlns:a="http://schemas.openxmlformats.org/drawingml/2006/main">
              <a:ext uri="{FF2B5EF4-FFF2-40B4-BE49-F238E27FC236}">
                <a16:creationId xmlns:a16="http://schemas.microsoft.com/office/drawing/2014/main" id="{AD678BA9-CA19-4AAB-969E-E0E091A89ED7}"/>
              </a:ext>
            </a:extLst>
          </p:cNvPr>
          <p:cNvSpPr>
            <a:spLocks xmlns:a="http://schemas.openxmlformats.org/drawingml/2006/main" noGrp="1"/>
          </p:cNvSpPr>
          <p:nvPr/>
        </p:nvSpPr>
        <p:spPr>
          <a:xfrm xmlns:a="http://schemas.openxmlformats.org/drawingml/2006/main">
            <a:off x="7886700" y="3395472"/>
            <a:ext cx="3695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Dual simplex and the interior-point method both return (80, 120), $7,800 for this LP. Other valid LPs can have multiple optimal points, and different algorithms may return different members of the same optimal edge or face.</a:t>
            </a:r>
          </a:p>
        </p:txBody>
      </p:sp>
    </p:spTree>
    <p:extLst>
      <p:ext uri="{BB962C8B-B14F-4D97-AF65-F5344CB8AC3E}">
        <p14:creationId xmlns:p14="http://schemas.microsoft.com/office/powerpoint/2010/main" val="194841457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F2F2CBDA-A784-4FEC-BC5E-F0E90B3C126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6ADAF229-2779-4AC9-969B-2D15354C31F8}"/>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Package the whole workflow in one documented function</a:t>
            </a:r>
          </a:p>
        </p:txBody>
      </p:sp>
      <p:sp>
        <p:nvSpPr>
          <p:cNvPr id="3" name="">
            <a:extLst xmlns:a="http://schemas.openxmlformats.org/drawingml/2006/main">
              <a:ext uri="{FF2B5EF4-FFF2-40B4-BE49-F238E27FC236}">
                <a16:creationId xmlns:a16="http://schemas.microsoft.com/office/drawing/2014/main" id="{0A41DE52-2EDB-48D4-8DC3-9EBDB1AEBED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0005B41-2A14-4FE2-AB24-9C7EA7076472}"/>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4AE7F4D1-2D86-4E2C-B1DC-FE94CEF97576}"/>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29</a:t>
            </a:r>
          </a:p>
        </p:txBody>
      </p:sp>
      <p:sp>
        <p:nvSpPr>
          <p:cNvPr id="6" name="code-panel">
            <a:extLst xmlns:a="http://schemas.openxmlformats.org/drawingml/2006/main">
              <a:ext uri="{FF2B5EF4-FFF2-40B4-BE49-F238E27FC236}">
                <a16:creationId xmlns:a16="http://schemas.microsoft.com/office/drawing/2014/main" id="{B155BA6B-2CCC-4A8B-96FE-80699AC9A723}"/>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79C56652-2849-45D5-9AB7-9A4F8674F003}"/>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from scipy.optimize import linprog</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solve_roof_allocation(area_limit_m2: float,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budget_usd: float) -&gt; dict: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"""Solve one roof scenario; check both limits."""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 = [-60, -25]  # maximize -&gt; minimize -60x1-25x2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A_ub = [[1, 1], [400, 150]]  # area row, cost row</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b_ub = [area_limit_m2, budget_usd]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bounds = [(0, 120), (0, None)]  # solar cap 120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res = linprog(c, A_ub=A_ub, b_ub=b_ub,</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bounds=bounds, method='highs')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x1, x2 = res.x</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area_used = x1 + x2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cost_used = 400 * x1 + 150 * x2</a:t>
            </a:r>
          </a:p>
        </p:txBody>
      </p:sp>
      <p:sp>
        <p:nvSpPr>
          <p:cNvPr id="8" name="explain-head">
            <a:extLst xmlns:a="http://schemas.openxmlformats.org/drawingml/2006/main">
              <a:ext uri="{FF2B5EF4-FFF2-40B4-BE49-F238E27FC236}">
                <a16:creationId xmlns:a16="http://schemas.microsoft.com/office/drawing/2014/main" id="{A3AFE302-D3F9-4966-89E1-DA16FEB476A8}"/>
              </a:ext>
            </a:extLst>
          </p:cNvPr>
          <p:cNvSpPr>
            <a:spLocks xmlns:a="http://schemas.openxmlformats.org/drawingml/2006/main" noGrp="1"/>
          </p:cNvSpPr>
          <p:nvPr/>
        </p:nvSpPr>
        <p:spPr>
          <a:xfrm xmlns:a="http://schemas.openxmlformats.org/drawingml/2006/main">
            <a:off x="7886700" y="213360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Formulate, solve, and verify — in one place</a:t>
            </a:r>
          </a:p>
        </p:txBody>
      </p:sp>
      <p:sp>
        <p:nvSpPr>
          <p:cNvPr id="9" name="explain-body">
            <a:extLst xmlns:a="http://schemas.openxmlformats.org/drawingml/2006/main">
              <a:ext uri="{FF2B5EF4-FFF2-40B4-BE49-F238E27FC236}">
                <a16:creationId xmlns:a16="http://schemas.microsoft.com/office/drawing/2014/main" id="{6B81F2F8-8462-412A-96B7-55267D6FBBF2}"/>
              </a:ext>
            </a:extLst>
          </p:cNvPr>
          <p:cNvSpPr>
            <a:spLocks xmlns:a="http://schemas.openxmlformats.org/drawingml/2006/main" noGrp="1"/>
          </p:cNvSpPr>
          <p:nvPr/>
        </p:nvSpPr>
        <p:spPr>
          <a:xfrm xmlns:a="http://schemas.openxmlformats.org/drawingml/2006/main">
            <a:off x="7886700" y="2919222"/>
            <a:ext cx="3695700" cy="2727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Everything from the last several slides now lives inside one function, in order: the four standard-form arrays, the linprog call, and the two quantities you would otherwise hand-check. Only what changes between scenarios becomes a parameter — area_limit_m2 and budget_usd; the $400/$150 install costs and the 120 m2 structural cap stay fixed inside. The docstring and type hints are the Week 4 convention: a reader learns what goes in and what comes back without running it.</a:t>
            </a:r>
          </a:p>
        </p:txBody>
      </p:sp>
    </p:spTree>
    <p:extLst>
      <p:ext uri="{BB962C8B-B14F-4D97-AF65-F5344CB8AC3E}">
        <p14:creationId xmlns:p14="http://schemas.microsoft.com/office/powerpoint/2010/main" val="61826780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F477AC4B-9E52-4DE9-AEA8-DC59F60043C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5EE46342-5301-49A8-BC2F-1CA71EEFB2D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...continued: return the answer and both constraint checks</a:t>
            </a:r>
          </a:p>
        </p:txBody>
      </p:sp>
      <p:sp>
        <p:nvSpPr>
          <p:cNvPr id="3" name="">
            <a:extLst xmlns:a="http://schemas.openxmlformats.org/drawingml/2006/main">
              <a:ext uri="{FF2B5EF4-FFF2-40B4-BE49-F238E27FC236}">
                <a16:creationId xmlns:a16="http://schemas.microsoft.com/office/drawing/2014/main" id="{4C63DDDA-69E6-4B47-9AD0-26E1E747C75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8BECD6CA-5BD0-4792-A806-3C18807230E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71B05258-D8D7-4C33-AD98-55DE664AB196}"/>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30</a:t>
            </a:r>
          </a:p>
        </p:txBody>
      </p:sp>
      <p:sp>
        <p:nvSpPr>
          <p:cNvPr id="6" name="code-panel">
            <a:extLst xmlns:a="http://schemas.openxmlformats.org/drawingml/2006/main">
              <a:ext uri="{FF2B5EF4-FFF2-40B4-BE49-F238E27FC236}">
                <a16:creationId xmlns:a16="http://schemas.microsoft.com/office/drawing/2014/main" id="{3738A2E2-1731-420E-80A2-BA05F0962753}"/>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033CBBEB-83BF-47D1-9EC0-FBA08A5AE958}"/>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{'solar_m2': round(x1, 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'green_m2': round(x2, 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'benefit_usd': round(-res.fun, 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'area_binds': area_used == area_limit_m2,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'budget_binds': cost_used == budget_usd}</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for budget in [50000.0, 40000.0]: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 = solve_roof_allocation(200.0, budget)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print(budget, r['solar_m2'], r['green_m2'],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r['benefit_usd'], r['area_binds'],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r['budget_binds'])</a:t>
            </a:r>
          </a:p>
        </p:txBody>
      </p:sp>
      <p:sp>
        <p:nvSpPr>
          <p:cNvPr id="8" name="">
            <a:extLst xmlns:a="http://schemas.openxmlformats.org/drawingml/2006/main">
              <a:ext uri="{FF2B5EF4-FFF2-40B4-BE49-F238E27FC236}">
                <a16:creationId xmlns:a16="http://schemas.microsoft.com/office/drawing/2014/main" id="{487FE700-8913-4E25-A98D-16CD609CD99E}"/>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00AEBF05-77EE-4FD9-B229-02FBE3DE52FE}"/>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E85A8761-15F5-4306-A25E-4F5B31E78E29}"/>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50000.0 80.0 120.0 7800.0 True True</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40000.0 40.0 160.0 6400.0 True True</a:t>
            </a:r>
          </a:p>
        </p:txBody>
      </p:sp>
      <p:sp>
        <p:nvSpPr>
          <p:cNvPr id="11" name="explain-head">
            <a:extLst xmlns:a="http://schemas.openxmlformats.org/drawingml/2006/main">
              <a:ext uri="{FF2B5EF4-FFF2-40B4-BE49-F238E27FC236}">
                <a16:creationId xmlns:a16="http://schemas.microsoft.com/office/drawing/2014/main" id="{8D4D9AA5-D36B-4444-AAA0-0D092280F18D}"/>
              </a:ext>
            </a:extLst>
          </p:cNvPr>
          <p:cNvSpPr>
            <a:spLocks xmlns:a="http://schemas.openxmlformats.org/drawingml/2006/main" noGrp="1"/>
          </p:cNvSpPr>
          <p:nvPr/>
        </p:nvSpPr>
        <p:spPr>
          <a:xfrm xmlns:a="http://schemas.openxmlformats.org/drawingml/2006/main">
            <a:off x="7886700" y="204787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 dict carries the answer AND its proof</a:t>
            </a:r>
          </a:p>
        </p:txBody>
      </p:sp>
      <p:sp>
        <p:nvSpPr>
          <p:cNvPr id="12" name="explain-body">
            <a:extLst xmlns:a="http://schemas.openxmlformats.org/drawingml/2006/main">
              <a:ext uri="{FF2B5EF4-FFF2-40B4-BE49-F238E27FC236}">
                <a16:creationId xmlns:a16="http://schemas.microsoft.com/office/drawing/2014/main" id="{26361076-E6DA-4BB1-8AC0-655E86E3C263}"/>
              </a:ext>
            </a:extLst>
          </p:cNvPr>
          <p:cNvSpPr>
            <a:spLocks xmlns:a="http://schemas.openxmlformats.org/drawingml/2006/main" noGrp="1"/>
          </p:cNvSpPr>
          <p:nvPr/>
        </p:nvSpPr>
        <p:spPr>
          <a:xfrm xmlns:a="http://schemas.openxmlformats.org/drawingml/2006/main">
            <a:off x="7886700" y="2833497"/>
            <a:ext cx="3695700" cy="29489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returned dict holds five facts, not one: both areas, the annual benefit (already negated back into a positive dollar figure), and whether each of the two constraints binds exactly. Because the checks travel with the answer, no caller can read solar_m2 without also seeing area_binds. Two scenarios, two lines of output, one function: at the approved $50,000 the split is 80/120 for $7,800/yr, and at $40,000 it shifts to 40/160 for $6,400/yr — both times spending every m2 and every dollar.</a:t>
            </a:r>
          </a:p>
        </p:txBody>
      </p:sp>
    </p:spTree>
    <p:extLst>
      <p:ext uri="{BB962C8B-B14F-4D97-AF65-F5344CB8AC3E}">
        <p14:creationId xmlns:p14="http://schemas.microsoft.com/office/powerpoint/2010/main" val="176786725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4AEBEFC2-E793-4832-B812-55CD6EEA828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PRINCIPLE</a:t>
            </a:r>
          </a:p>
        </p:txBody>
      </p:sp>
      <p:sp>
        <p:nvSpPr>
          <p:cNvPr id="2" name="title">
            <a:extLst xmlns:a="http://schemas.openxmlformats.org/drawingml/2006/main">
              <a:ext uri="{FF2B5EF4-FFF2-40B4-BE49-F238E27FC236}">
                <a16:creationId xmlns:a16="http://schemas.microsoft.com/office/drawing/2014/main" id="{387E66D5-FB4D-4219-BFFB-A6EFCFB63DC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Exact today; searched starting next week</a:t>
            </a:r>
          </a:p>
        </p:txBody>
      </p:sp>
      <p:sp>
        <p:nvSpPr>
          <p:cNvPr id="3" name="">
            <a:extLst xmlns:a="http://schemas.openxmlformats.org/drawingml/2006/main">
              <a:ext uri="{FF2B5EF4-FFF2-40B4-BE49-F238E27FC236}">
                <a16:creationId xmlns:a16="http://schemas.microsoft.com/office/drawing/2014/main" id="{951FFDE9-D332-4E5A-B991-662AD41DA27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A48F5F1-7BBF-4CBD-BA69-FA382FE6A85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A9072AD5-C028-4513-B4FA-22E282DAE8F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31</a:t>
            </a:r>
          </a:p>
        </p:txBody>
      </p:sp>
      <p:sp>
        <p:nvSpPr>
          <p:cNvPr id="6" name="statement">
            <a:extLst xmlns:a="http://schemas.openxmlformats.org/drawingml/2006/main">
              <a:ext uri="{FF2B5EF4-FFF2-40B4-BE49-F238E27FC236}">
                <a16:creationId xmlns:a16="http://schemas.microsoft.com/office/drawing/2014/main" id="{24372B6B-437E-4BEF-ACFF-2FE72F1E70AC}"/>
              </a:ext>
            </a:extLst>
          </p:cNvPr>
          <p:cNvSpPr>
            <a:spLocks xmlns:a="http://schemas.openxmlformats.org/drawingml/2006/main" noGrp="1"/>
          </p:cNvSpPr>
          <p:nvPr/>
        </p:nvSpPr>
        <p:spPr>
          <a:xfrm xmlns:a="http://schemas.openxmlformats.org/drawingml/2006/main">
            <a:off x="609600" y="2219325"/>
            <a:ext cx="9829800" cy="15575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11316"/>
                </a:solidFill>
                <a:latin typeface="Arial"/>
                <a:ea typeface="Arial"/>
                <a:cs typeface="Arial"/>
              </a:defRPr>
            </a:pPr>
            <a:r>
              <a:rPr sz="3600" b="1">
                <a:solidFill>
                  <a:srgbClr val="111316"/>
                </a:solidFill>
                <a:latin typeface="Arial"/>
                <a:ea typeface="Arial"/>
                <a:cs typeface="Arial"/>
              </a:rPr>
              <a:t>A linear objective and linear constraints are what make an exact answer possible.</a:t>
            </a:r>
          </a:p>
        </p:txBody>
      </p:sp>
      <p:sp>
        <p:nvSpPr>
          <p:cNvPr id="7" name="">
            <a:extLst xmlns:a="http://schemas.openxmlformats.org/drawingml/2006/main">
              <a:ext uri="{FF2B5EF4-FFF2-40B4-BE49-F238E27FC236}">
                <a16:creationId xmlns:a16="http://schemas.microsoft.com/office/drawing/2014/main" id="{B8073E12-AB1E-4585-AD5D-CC8736EBC710}"/>
              </a:ext>
            </a:extLst>
          </p:cNvPr>
          <p:cNvSpPr>
            <a:spLocks xmlns:a="http://schemas.openxmlformats.org/drawingml/2006/main" noGrp="1"/>
          </p:cNvSpPr>
          <p:nvPr/>
        </p:nvSpPr>
        <p:spPr>
          <a:xfrm xmlns:a="http://schemas.openxmlformats.org/drawingml/2006/main">
            <a:off x="609600" y="3986403"/>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8" name="supporting">
            <a:extLst xmlns:a="http://schemas.openxmlformats.org/drawingml/2006/main">
              <a:ext uri="{FF2B5EF4-FFF2-40B4-BE49-F238E27FC236}">
                <a16:creationId xmlns:a16="http://schemas.microsoft.com/office/drawing/2014/main" id="{FD4E5F1E-7317-4E6F-8F08-310D1055B53C}"/>
              </a:ext>
            </a:extLst>
          </p:cNvPr>
          <p:cNvSpPr>
            <a:spLocks xmlns:a="http://schemas.openxmlformats.org/drawingml/2006/main" noGrp="1"/>
          </p:cNvSpPr>
          <p:nvPr/>
        </p:nvSpPr>
        <p:spPr>
          <a:xfrm xmlns:a="http://schemas.openxmlformats.org/drawingml/2006/main">
            <a:off x="609600" y="4310253"/>
            <a:ext cx="9334500" cy="8717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The moment either the objective or a constraint curves — Week 11's territory — the corner guarantee disappears, and the computer must search from a starting guess instead.</a:t>
            </a:r>
          </a:p>
        </p:txBody>
      </p:sp>
    </p:spTree>
    <p:extLst>
      <p:ext uri="{BB962C8B-B14F-4D97-AF65-F5344CB8AC3E}">
        <p14:creationId xmlns:p14="http://schemas.microsoft.com/office/powerpoint/2010/main" val="83655295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A853447D-EBCE-4034-A9C8-90A2B1E3B6B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PRINCIPLE</a:t>
            </a:r>
          </a:p>
        </p:txBody>
      </p:sp>
      <p:sp>
        <p:nvSpPr>
          <p:cNvPr id="2" name="title">
            <a:extLst xmlns:a="http://schemas.openxmlformats.org/drawingml/2006/main">
              <a:ext uri="{FF2B5EF4-FFF2-40B4-BE49-F238E27FC236}">
                <a16:creationId xmlns:a16="http://schemas.microsoft.com/office/drawing/2014/main" id="{3D37E330-9854-4D5D-B18B-EE0015FC78B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Project 2 needs this, not just today's lesson</a:t>
            </a:r>
          </a:p>
        </p:txBody>
      </p:sp>
      <p:sp>
        <p:nvSpPr>
          <p:cNvPr id="3" name="">
            <a:extLst xmlns:a="http://schemas.openxmlformats.org/drawingml/2006/main">
              <a:ext uri="{FF2B5EF4-FFF2-40B4-BE49-F238E27FC236}">
                <a16:creationId xmlns:a16="http://schemas.microsoft.com/office/drawing/2014/main" id="{54FCD399-3F42-477E-947A-C793852A6C1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98A9C37-8CA0-47A6-8B3E-CC4A5CC2445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1EA0B171-E163-4AC2-885B-DC73768BDA9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32</a:t>
            </a:r>
          </a:p>
        </p:txBody>
      </p:sp>
      <p:sp>
        <p:nvSpPr>
          <p:cNvPr id="6" name="statement">
            <a:extLst xmlns:a="http://schemas.openxmlformats.org/drawingml/2006/main">
              <a:ext uri="{FF2B5EF4-FFF2-40B4-BE49-F238E27FC236}">
                <a16:creationId xmlns:a16="http://schemas.microsoft.com/office/drawing/2014/main" id="{BB93513E-38BC-4AC5-9684-7CDD5CD148E3}"/>
              </a:ext>
            </a:extLst>
          </p:cNvPr>
          <p:cNvSpPr>
            <a:spLocks xmlns:a="http://schemas.openxmlformats.org/drawingml/2006/main" noGrp="1"/>
          </p:cNvSpPr>
          <p:nvPr/>
        </p:nvSpPr>
        <p:spPr>
          <a:xfrm xmlns:a="http://schemas.openxmlformats.org/drawingml/2006/main">
            <a:off x="609600" y="2143125"/>
            <a:ext cx="9829800" cy="15575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11316"/>
                </a:solidFill>
                <a:latin typeface="Arial"/>
                <a:ea typeface="Arial"/>
                <a:cs typeface="Arial"/>
              </a:defRPr>
            </a:pPr>
            <a:r>
              <a:rPr sz="3600" b="1">
                <a:solidFill>
                  <a:srgbClr val="111316"/>
                </a:solidFill>
                <a:latin typeface="Arial"/>
                <a:ea typeface="Arial"/>
                <a:cs typeface="Arial"/>
              </a:rPr>
              <a:t>linprog is one of two REQUIRED solvers for Project 2 Part II — the other, minimize, is Week 11's lesson.</a:t>
            </a:r>
          </a:p>
        </p:txBody>
      </p:sp>
      <p:sp>
        <p:nvSpPr>
          <p:cNvPr id="7" name="">
            <a:extLst xmlns:a="http://schemas.openxmlformats.org/drawingml/2006/main">
              <a:ext uri="{FF2B5EF4-FFF2-40B4-BE49-F238E27FC236}">
                <a16:creationId xmlns:a16="http://schemas.microsoft.com/office/drawing/2014/main" id="{D919A366-8D62-4315-B969-B9342BF6A3A3}"/>
              </a:ext>
            </a:extLst>
          </p:cNvPr>
          <p:cNvSpPr>
            <a:spLocks xmlns:a="http://schemas.openxmlformats.org/drawingml/2006/main" noGrp="1"/>
          </p:cNvSpPr>
          <p:nvPr/>
        </p:nvSpPr>
        <p:spPr>
          <a:xfrm xmlns:a="http://schemas.openxmlformats.org/drawingml/2006/main">
            <a:off x="609600" y="3910203"/>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8" name="supporting">
            <a:extLst xmlns:a="http://schemas.openxmlformats.org/drawingml/2006/main">
              <a:ext uri="{FF2B5EF4-FFF2-40B4-BE49-F238E27FC236}">
                <a16:creationId xmlns:a16="http://schemas.microsoft.com/office/drawing/2014/main" id="{ADA9993B-A55C-4A5C-A5D5-FDAB2D4D0668}"/>
              </a:ext>
            </a:extLst>
          </p:cNvPr>
          <p:cNvSpPr>
            <a:spLocks xmlns:a="http://schemas.openxmlformats.org/drawingml/2006/main" noGrp="1"/>
          </p:cNvSpPr>
          <p:nvPr/>
        </p:nvSpPr>
        <p:spPr>
          <a:xfrm xmlns:a="http://schemas.openxmlformats.org/drawingml/2006/main">
            <a:off x="609600" y="4234053"/>
            <a:ext cx="93345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Whatever your own Project 2 problem is, if any part of it is linear in its design variables, formulate and solve that part with linprog exactly as done here — naming variables, writing the objective and constraints, and hand-verifying every constraint, exactly as Meeting B's studio requires.</a:t>
            </a:r>
          </a:p>
        </p:txBody>
      </p:sp>
    </p:spTree>
    <p:extLst>
      <p:ext uri="{BB962C8B-B14F-4D97-AF65-F5344CB8AC3E}">
        <p14:creationId xmlns:p14="http://schemas.microsoft.com/office/powerpoint/2010/main" val="161222539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4FFFBDE3-756B-4E3A-8513-AF047058C37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5BE6C177-D9E0-4278-9416-136786536E9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then check, from the vertex table</a:t>
            </a:r>
          </a:p>
        </p:txBody>
      </p:sp>
      <p:sp>
        <p:nvSpPr>
          <p:cNvPr id="3" name="">
            <a:extLst xmlns:a="http://schemas.openxmlformats.org/drawingml/2006/main">
              <a:ext uri="{FF2B5EF4-FFF2-40B4-BE49-F238E27FC236}">
                <a16:creationId xmlns:a16="http://schemas.microsoft.com/office/drawing/2014/main" id="{A173B5D2-63D7-44C7-A5F4-11BF5DDF1A1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1BD111B-7FBE-430E-B48E-E0C91241B30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0EC6F236-72B9-40E7-8D38-70187FCD87FF}"/>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33</a:t>
            </a:r>
          </a:p>
        </p:txBody>
      </p:sp>
      <p:sp>
        <p:nvSpPr>
          <p:cNvPr id="6" name="exercise-accent">
            <a:extLst xmlns:a="http://schemas.openxmlformats.org/drawingml/2006/main">
              <a:ext uri="{FF2B5EF4-FFF2-40B4-BE49-F238E27FC236}">
                <a16:creationId xmlns:a16="http://schemas.microsoft.com/office/drawing/2014/main" id="{4906B412-4C96-475E-A4F4-CC8E6AF3F8CB}"/>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274D3989-5EB0-4A41-A0F8-2C9B3994C5DE}"/>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Before looking back, which of the five corners do you predict gives the highest annual benefit?</a:t>
            </a:r>
          </a:p>
        </p:txBody>
      </p:sp>
      <p:sp>
        <p:nvSpPr>
          <p:cNvPr id="8" name="work-label">
            <a:extLst xmlns:a="http://schemas.openxmlformats.org/drawingml/2006/main">
              <a:ext uri="{FF2B5EF4-FFF2-40B4-BE49-F238E27FC236}">
                <a16:creationId xmlns:a16="http://schemas.microsoft.com/office/drawing/2014/main" id="{9E325525-6972-42F0-AA72-4956CFE4C084}"/>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32CADCBE-3EB0-498F-94D7-CA3AAB34CE39}"/>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7C608497-767E-4ACD-B2DA-672A190611C2}"/>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State your predicted corner and why, out loud, before checking.</a:t>
            </a:r>
          </a:p>
        </p:txBody>
      </p:sp>
      <p:sp>
        <p:nvSpPr>
          <p:cNvPr id="11" name="exercise-no-1">
            <a:extLst xmlns:a="http://schemas.openxmlformats.org/drawingml/2006/main">
              <a:ext uri="{FF2B5EF4-FFF2-40B4-BE49-F238E27FC236}">
                <a16:creationId xmlns:a16="http://schemas.microsoft.com/office/drawing/2014/main" id="{400A44CA-8CD1-4040-8ABC-30F2650E30DA}"/>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01E95231-8668-4E4A-B8D4-56DC8110C65E}"/>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Look back at the vertex table shown earlier this deck.</a:t>
            </a:r>
          </a:p>
        </p:txBody>
      </p:sp>
      <p:sp>
        <p:nvSpPr>
          <p:cNvPr id="13" name="exercise-no-2">
            <a:extLst xmlns:a="http://schemas.openxmlformats.org/drawingml/2006/main">
              <a:ext uri="{FF2B5EF4-FFF2-40B4-BE49-F238E27FC236}">
                <a16:creationId xmlns:a16="http://schemas.microsoft.com/office/drawing/2014/main" id="{468753AE-322C-4488-AD2E-B5CDEAAAD856}"/>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83E00B3C-476D-4D80-8454-EDC1A2B3ED22}"/>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Name the exact benefit at your predicted corner vs. the true best.</a:t>
            </a:r>
          </a:p>
        </p:txBody>
      </p:sp>
      <p:sp>
        <p:nvSpPr>
          <p:cNvPr id="15" name="exercise-no-3">
            <a:extLst xmlns:a="http://schemas.openxmlformats.org/drawingml/2006/main">
              <a:ext uri="{FF2B5EF4-FFF2-40B4-BE49-F238E27FC236}">
                <a16:creationId xmlns:a16="http://schemas.microsoft.com/office/drawing/2014/main" id="{044D7781-F2C1-4959-95FE-22B3F82629AA}"/>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6BEF0DFF-B552-4FC9-B8B4-0070F9F12B12}"/>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Name the TWO constraints that bind exactly at (80, 120).</a:t>
            </a:r>
          </a:p>
        </p:txBody>
      </p:sp>
    </p:spTree>
    <p:extLst>
      <p:ext uri="{BB962C8B-B14F-4D97-AF65-F5344CB8AC3E}">
        <p14:creationId xmlns:p14="http://schemas.microsoft.com/office/powerpoint/2010/main" val="39541185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E4280190-4330-4EA6-803C-828722811BC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C04EAD18-7885-444C-B2F9-638141AF7F0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Transfer the formulation: allocate an insulation budget</a:t>
            </a:r>
          </a:p>
        </p:txBody>
      </p:sp>
      <p:sp>
        <p:nvSpPr>
          <p:cNvPr id="3" name="">
            <a:extLst xmlns:a="http://schemas.openxmlformats.org/drawingml/2006/main">
              <a:ext uri="{FF2B5EF4-FFF2-40B4-BE49-F238E27FC236}">
                <a16:creationId xmlns:a16="http://schemas.microsoft.com/office/drawing/2014/main" id="{E4AC1C75-3BB0-49CC-A1BB-560742145AA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C0D1E5C-3AC3-4D51-AF4A-1AEEDC93E15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A · Optimization I: Formulation and Linear Solvers</a:t>
            </a:r>
          </a:p>
        </p:txBody>
      </p:sp>
      <p:sp>
        <p:nvSpPr>
          <p:cNvPr id="5" name="page">
            <a:extLst xmlns:a="http://schemas.openxmlformats.org/drawingml/2006/main">
              <a:ext uri="{FF2B5EF4-FFF2-40B4-BE49-F238E27FC236}">
                <a16:creationId xmlns:a16="http://schemas.microsoft.com/office/drawing/2014/main" id="{60959031-33DE-4120-88B7-E2BFAA0CD12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34</a:t>
            </a:r>
          </a:p>
        </p:txBody>
      </p:sp>
      <p:sp>
        <p:nvSpPr>
          <p:cNvPr id="6" name="exercise-accent">
            <a:extLst xmlns:a="http://schemas.openxmlformats.org/drawingml/2006/main">
              <a:ext uri="{FF2B5EF4-FFF2-40B4-BE49-F238E27FC236}">
                <a16:creationId xmlns:a16="http://schemas.microsoft.com/office/drawing/2014/main" id="{D70E2DAE-401D-4C78-A1FC-B68E2D34F731}"/>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041F6362-AA2A-4841-A25E-EDC57ADBFBFF}"/>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Radley Hall has $50,000 and 400 m² of exterior surface for wall insulation ($120/m²; $9/m²/yr savings) or roof insulation ($80/m²; $7/m²/yr savings).</a:t>
            </a:r>
          </a:p>
        </p:txBody>
      </p:sp>
      <p:sp>
        <p:nvSpPr>
          <p:cNvPr id="8" name="work-label">
            <a:extLst xmlns:a="http://schemas.openxmlformats.org/drawingml/2006/main">
              <a:ext uri="{FF2B5EF4-FFF2-40B4-BE49-F238E27FC236}">
                <a16:creationId xmlns:a16="http://schemas.microsoft.com/office/drawing/2014/main" id="{A0FC4E51-BB7D-4273-9A62-4D212966C78D}"/>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37BBC1CF-76AA-4073-94E7-186E718FEEE7}"/>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8E3FDAFD-1F4E-41E4-9863-2C5C8B832A52}"/>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Name the two design variables and units before writing coefficients.</a:t>
            </a:r>
          </a:p>
        </p:txBody>
      </p:sp>
      <p:sp>
        <p:nvSpPr>
          <p:cNvPr id="11" name="exercise-no-1">
            <a:extLst xmlns:a="http://schemas.openxmlformats.org/drawingml/2006/main">
              <a:ext uri="{FF2B5EF4-FFF2-40B4-BE49-F238E27FC236}">
                <a16:creationId xmlns:a16="http://schemas.microsoft.com/office/drawing/2014/main" id="{AC67327A-F616-4008-88FE-B45579E3EF2D}"/>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D5101D06-0704-43D1-9202-1D88BB4B6ECB}"/>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Write the objective, both ≤ constraints, and nonnegative bounds.</a:t>
            </a:r>
          </a:p>
        </p:txBody>
      </p:sp>
      <p:sp>
        <p:nvSpPr>
          <p:cNvPr id="13" name="exercise-no-2">
            <a:extLst xmlns:a="http://schemas.openxmlformats.org/drawingml/2006/main">
              <a:ext uri="{FF2B5EF4-FFF2-40B4-BE49-F238E27FC236}">
                <a16:creationId xmlns:a16="http://schemas.microsoft.com/office/drawing/2014/main" id="{7B98977B-4624-4D88-A8B4-99E2B34D2AC4}"/>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63B90698-B984-479A-AA2B-F41E906C229D}"/>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Hand-check one feasible and one infeasible candidate against every constraint.</a:t>
            </a:r>
          </a:p>
        </p:txBody>
      </p:sp>
      <p:sp>
        <p:nvSpPr>
          <p:cNvPr id="15" name="exercise-no-3">
            <a:extLst xmlns:a="http://schemas.openxmlformats.org/drawingml/2006/main">
              <a:ext uri="{FF2B5EF4-FFF2-40B4-BE49-F238E27FC236}">
                <a16:creationId xmlns:a16="http://schemas.microsoft.com/office/drawing/2014/main" id="{5581BE62-832C-4444-A889-83CC1FD802C4}"/>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7F20B3C5-1D4D-409D-9B30-A62655C403B3}"/>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Predict the binding constraint(s); solve later and compare with that prediction.</a:t>
            </a:r>
          </a:p>
        </p:txBody>
      </p:sp>
    </p:spTree>
    <p:extLst>
      <p:ext uri="{BB962C8B-B14F-4D97-AF65-F5344CB8AC3E}">
        <p14:creationId xmlns:p14="http://schemas.microsoft.com/office/powerpoint/2010/main" val="1210333310"/>
      </p:ext>
    </p:extLst>
  </p:cSld>
</p:sld>
</file>

<file path=ppt/slides/slide35.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12" name="close-week">
            <a:extLst xmlns:a="http://schemas.openxmlformats.org/drawingml/2006/main">
              <a:ext uri="{FF2B5EF4-FFF2-40B4-BE49-F238E27FC236}">
                <a16:creationId xmlns:a16="http://schemas.microsoft.com/office/drawing/2014/main" id="{0B109319-5C1A-45E3-819F-BAF3EE4EB4AF}"/>
              </a:ext>
            </a:extLst>
          </p:cNvPr>
          <p:cNvSpPr>
            <a:spLocks xmlns:a="http://schemas.openxmlformats.org/drawingml/2006/main" noGrp="1"/>
          </p:cNvSpPr>
          <p:nvPr/>
        </p:nvSpPr>
        <p:spPr>
          <a:xfrm xmlns:a="http://schemas.openxmlformats.org/drawingml/2006/main">
            <a:off x="609600" y="4572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10 · MEETING A · OPTIMIZATION I: FORMULATION AND LINEAR SOLVERS</a:t>
            </a:r>
          </a:p>
        </p:txBody>
      </p:sp>
      <p:sp>
        <p:nvSpPr>
          <p:cNvPr id="2" name="close-title">
            <a:extLst xmlns:a="http://schemas.openxmlformats.org/drawingml/2006/main">
              <a:ext uri="{FF2B5EF4-FFF2-40B4-BE49-F238E27FC236}">
                <a16:creationId xmlns:a16="http://schemas.microsoft.com/office/drawing/2014/main" id="{AD998274-202C-4170-BE85-B1982D26D312}"/>
              </a:ext>
            </a:extLst>
          </p:cNvPr>
          <p:cNvSpPr>
            <a:spLocks xmlns:a="http://schemas.openxmlformats.org/drawingml/2006/main" noGrp="1"/>
          </p:cNvSpPr>
          <p:nvPr/>
        </p:nvSpPr>
        <p:spPr>
          <a:xfrm xmlns:a="http://schemas.openxmlformats.org/drawingml/2006/main">
            <a:off x="609600" y="1066800"/>
            <a:ext cx="10972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FFFFFF"/>
                </a:solidFill>
                <a:latin typeface="Arial"/>
                <a:ea typeface="Arial"/>
                <a:cs typeface="Arial"/>
              </a:defRPr>
            </a:pPr>
            <a:r>
              <a:rPr sz="3600" b="1">
                <a:solidFill>
                  <a:srgbClr val="FFFFFF"/>
                </a:solidFill>
                <a:latin typeface="Arial"/>
                <a:ea typeface="Arial"/>
                <a:cs typeface="Arial"/>
              </a:rPr>
              <a:t>Formulate first; solve and verify second</a:t>
            </a:r>
          </a:p>
        </p:txBody>
      </p:sp>
      <p:sp>
        <p:nvSpPr>
          <p:cNvPr id="3" name="">
            <a:extLst xmlns:a="http://schemas.openxmlformats.org/drawingml/2006/main">
              <a:ext uri="{FF2B5EF4-FFF2-40B4-BE49-F238E27FC236}">
                <a16:creationId xmlns:a16="http://schemas.microsoft.com/office/drawing/2014/main" id="{7827BC0B-3530-45BA-8D8E-88B8A875FF58}"/>
              </a:ext>
            </a:extLst>
          </p:cNvPr>
          <p:cNvSpPr>
            <a:spLocks xmlns:a="http://schemas.openxmlformats.org/drawingml/2006/main" noGrp="1"/>
          </p:cNvSpPr>
          <p:nvPr/>
        </p:nvSpPr>
        <p:spPr>
          <a:xfrm xmlns:a="http://schemas.openxmlformats.org/drawingml/2006/main">
            <a:off x="609600" y="2324100"/>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4" name="take-no-0">
            <a:extLst xmlns:a="http://schemas.openxmlformats.org/drawingml/2006/main">
              <a:ext uri="{FF2B5EF4-FFF2-40B4-BE49-F238E27FC236}">
                <a16:creationId xmlns:a16="http://schemas.microsoft.com/office/drawing/2014/main" id="{4ACFB020-24DB-436C-9861-247A154F7B69}"/>
              </a:ext>
            </a:extLst>
          </p:cNvPr>
          <p:cNvSpPr>
            <a:spLocks xmlns:a="http://schemas.openxmlformats.org/drawingml/2006/main" noGrp="1"/>
          </p:cNvSpPr>
          <p:nvPr/>
        </p:nvSpPr>
        <p:spPr>
          <a:xfrm xmlns:a="http://schemas.openxmlformats.org/drawingml/2006/main">
            <a:off x="609600" y="2743200"/>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01</a:t>
            </a:r>
          </a:p>
        </p:txBody>
      </p:sp>
      <p:sp>
        <p:nvSpPr>
          <p:cNvPr id="5" name="take-0">
            <a:extLst xmlns:a="http://schemas.openxmlformats.org/drawingml/2006/main">
              <a:ext uri="{FF2B5EF4-FFF2-40B4-BE49-F238E27FC236}">
                <a16:creationId xmlns:a16="http://schemas.microsoft.com/office/drawing/2014/main" id="{E1124E7E-4372-4DE7-9EFF-70FE2BA92EA7}"/>
              </a:ext>
            </a:extLst>
          </p:cNvPr>
          <p:cNvSpPr>
            <a:spLocks xmlns:a="http://schemas.openxmlformats.org/drawingml/2006/main" noGrp="1"/>
          </p:cNvSpPr>
          <p:nvPr/>
        </p:nvSpPr>
        <p:spPr>
          <a:xfrm xmlns:a="http://schemas.openxmlformats.org/drawingml/2006/main">
            <a:off x="1409700" y="2705100"/>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Name variables, objective, constraints, and bounds—with units—before writing arrays.</a:t>
            </a:r>
          </a:p>
        </p:txBody>
      </p:sp>
      <p:sp>
        <p:nvSpPr>
          <p:cNvPr id="6" name="take-no-1">
            <a:extLst xmlns:a="http://schemas.openxmlformats.org/drawingml/2006/main">
              <a:ext uri="{FF2B5EF4-FFF2-40B4-BE49-F238E27FC236}">
                <a16:creationId xmlns:a16="http://schemas.microsoft.com/office/drawing/2014/main" id="{F234EDB2-8B4B-4588-B932-88B012C82003}"/>
              </a:ext>
            </a:extLst>
          </p:cNvPr>
          <p:cNvSpPr>
            <a:spLocks xmlns:a="http://schemas.openxmlformats.org/drawingml/2006/main" noGrp="1"/>
          </p:cNvSpPr>
          <p:nvPr/>
        </p:nvSpPr>
        <p:spPr>
          <a:xfrm xmlns:a="http://schemas.openxmlformats.org/drawingml/2006/main">
            <a:off x="609600" y="3528822"/>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02</a:t>
            </a:r>
          </a:p>
        </p:txBody>
      </p:sp>
      <p:sp>
        <p:nvSpPr>
          <p:cNvPr id="7" name="take-1">
            <a:extLst xmlns:a="http://schemas.openxmlformats.org/drawingml/2006/main">
              <a:ext uri="{FF2B5EF4-FFF2-40B4-BE49-F238E27FC236}">
                <a16:creationId xmlns:a16="http://schemas.microsoft.com/office/drawing/2014/main" id="{97ECE1C4-7E20-4171-8100-F2B130D50709}"/>
              </a:ext>
            </a:extLst>
          </p:cNvPr>
          <p:cNvSpPr>
            <a:spLocks xmlns:a="http://schemas.openxmlformats.org/drawingml/2006/main" noGrp="1"/>
          </p:cNvSpPr>
          <p:nvPr/>
        </p:nvSpPr>
        <p:spPr>
          <a:xfrm xmlns:a="http://schemas.openxmlformats.org/drawingml/2006/main">
            <a:off x="1409700" y="3490722"/>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If a finite LP optimum exists, at least one optimal extreme point exists; uniqueness is not guaranteed.</a:t>
            </a:r>
          </a:p>
        </p:txBody>
      </p:sp>
      <p:sp>
        <p:nvSpPr>
          <p:cNvPr id="8" name="take-no-2">
            <a:extLst xmlns:a="http://schemas.openxmlformats.org/drawingml/2006/main">
              <a:ext uri="{FF2B5EF4-FFF2-40B4-BE49-F238E27FC236}">
                <a16:creationId xmlns:a16="http://schemas.microsoft.com/office/drawing/2014/main" id="{B8D112D0-AB44-4C94-BCBF-5D72F4798CD4}"/>
              </a:ext>
            </a:extLst>
          </p:cNvPr>
          <p:cNvSpPr>
            <a:spLocks xmlns:a="http://schemas.openxmlformats.org/drawingml/2006/main" noGrp="1"/>
          </p:cNvSpPr>
          <p:nvPr/>
        </p:nvSpPr>
        <p:spPr>
          <a:xfrm xmlns:a="http://schemas.openxmlformats.org/drawingml/2006/main">
            <a:off x="609600" y="4314444"/>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03</a:t>
            </a:r>
          </a:p>
        </p:txBody>
      </p:sp>
      <p:sp>
        <p:nvSpPr>
          <p:cNvPr id="9" name="take-2">
            <a:extLst xmlns:a="http://schemas.openxmlformats.org/drawingml/2006/main">
              <a:ext uri="{FF2B5EF4-FFF2-40B4-BE49-F238E27FC236}">
                <a16:creationId xmlns:a16="http://schemas.microsoft.com/office/drawing/2014/main" id="{FD568677-ADD4-4D6B-A757-057F870FA806}"/>
              </a:ext>
            </a:extLst>
          </p:cNvPr>
          <p:cNvSpPr>
            <a:spLocks xmlns:a="http://schemas.openxmlformats.org/drawingml/2006/main" noGrp="1"/>
          </p:cNvSpPr>
          <p:nvPr/>
        </p:nvSpPr>
        <p:spPr>
          <a:xfrm xmlns:a="http://schemas.openxmlformats.org/drawingml/2006/main">
            <a:off x="1409700" y="4276344"/>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linprog reports a globally optimal numerical solution subject to feasibility and optimality tolerances.</a:t>
            </a:r>
          </a:p>
        </p:txBody>
      </p:sp>
      <p:sp>
        <p:nvSpPr>
          <p:cNvPr id="10" name="take-no-3">
            <a:extLst xmlns:a="http://schemas.openxmlformats.org/drawingml/2006/main">
              <a:ext uri="{FF2B5EF4-FFF2-40B4-BE49-F238E27FC236}">
                <a16:creationId xmlns:a16="http://schemas.microsoft.com/office/drawing/2014/main" id="{F779CCEE-2F53-41AF-9495-F401F366042E}"/>
              </a:ext>
            </a:extLst>
          </p:cNvPr>
          <p:cNvSpPr>
            <a:spLocks xmlns:a="http://schemas.openxmlformats.org/drawingml/2006/main" noGrp="1"/>
          </p:cNvSpPr>
          <p:nvPr/>
        </p:nvSpPr>
        <p:spPr>
          <a:xfrm xmlns:a="http://schemas.openxmlformats.org/drawingml/2006/main">
            <a:off x="609600" y="5100066"/>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04</a:t>
            </a:r>
          </a:p>
        </p:txBody>
      </p:sp>
      <p:sp>
        <p:nvSpPr>
          <p:cNvPr id="11" name="take-3">
            <a:extLst xmlns:a="http://schemas.openxmlformats.org/drawingml/2006/main">
              <a:ext uri="{FF2B5EF4-FFF2-40B4-BE49-F238E27FC236}">
                <a16:creationId xmlns:a16="http://schemas.microsoft.com/office/drawing/2014/main" id="{340A9B13-1B95-4606-9CC9-3E2B3CF063BA}"/>
              </a:ext>
            </a:extLst>
          </p:cNvPr>
          <p:cNvSpPr>
            <a:spLocks xmlns:a="http://schemas.openxmlformats.org/drawingml/2006/main" noGrp="1"/>
          </p:cNvSpPr>
          <p:nvPr/>
        </p:nvSpPr>
        <p:spPr>
          <a:xfrm xmlns:a="http://schemas.openxmlformats.org/drawingml/2006/main">
            <a:off x="1409700" y="5061966"/>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Check success, residuals, constraints, and the real-world formulation before trusting the result.</a:t>
            </a:r>
          </a:p>
        </p:txBody>
      </p:sp>
    </p:spTree>
    <p:extLst>
      <p:ext uri="{BB962C8B-B14F-4D97-AF65-F5344CB8AC3E}">
        <p14:creationId xmlns:p14="http://schemas.microsoft.com/office/powerpoint/2010/main" val="21129206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2026-08-20T17:30:43.3310000Z</dcterms:created>
  <dcterms:modified xsi:type="dcterms:W3CDTF">2026-08-20T17:30:43.3310000Z</dcterms:modified>
</coreProperties>
</file>