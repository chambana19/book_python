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slides/charts/chart1.xml" ContentType="application/vnd.openxmlformats-officedocument.drawingml.chart+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slides/charts/chart2.xml" ContentType="application/vnd.openxmlformats-officedocument.drawingml.chart+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75618ab98c9c497b" /><Relationship Type="http://schemas.openxmlformats.org/officeDocument/2006/relationships/extended-properties" Target="/docProps/app.xml" Id="Rea5ba3fce6474c3d" /><Relationship Type="http://schemas.openxmlformats.org/officeDocument/2006/relationships/officeDocument" Target="/ppt/presentation.xml" Id="Rd17768fe937b47a5" /></Relationships>
</file>

<file path=ppt/presentation.xml><?xml version="1.0" encoding="utf-8"?>
<p:presentation xmlns:p="http://schemas.openxmlformats.org/presentationml/2006/main">
  <p:sldMasterIdLst>
    <p:sldMasterId xmlns:r="http://schemas.openxmlformats.org/officeDocument/2006/relationships" id="2147483648" r:id="R3eaab42bef5042bd"/>
  </p:sldMasterIdLst>
  <p:notesMasterIdLst>
    <p:notesMasterId xmlns:r="http://schemas.openxmlformats.org/officeDocument/2006/relationships" r:id="Ra2363ce2e8da4138"/>
  </p:notesMasterIdLst>
  <p:sldIdLst>
    <p:sldId xmlns:r="http://schemas.openxmlformats.org/officeDocument/2006/relationships" id="256" r:id="R10204dc7e3a843ca"/>
    <p:sldId xmlns:r="http://schemas.openxmlformats.org/officeDocument/2006/relationships" id="257" r:id="R31c4dcd25bd9447a"/>
    <p:sldId xmlns:r="http://schemas.openxmlformats.org/officeDocument/2006/relationships" id="258" r:id="R14134b9df68643d1"/>
    <p:sldId xmlns:r="http://schemas.openxmlformats.org/officeDocument/2006/relationships" id="259" r:id="R435ee2ebb3e149a3"/>
    <p:sldId xmlns:r="http://schemas.openxmlformats.org/officeDocument/2006/relationships" id="260" r:id="R3aae0e52d0a04398"/>
    <p:sldId xmlns:r="http://schemas.openxmlformats.org/officeDocument/2006/relationships" id="261" r:id="R3e65ec8ca3d74f20"/>
    <p:sldId xmlns:r="http://schemas.openxmlformats.org/officeDocument/2006/relationships" id="262" r:id="R30964e0c23024adf"/>
    <p:sldId xmlns:r="http://schemas.openxmlformats.org/officeDocument/2006/relationships" id="263" r:id="R68c55b1445ed49b5"/>
    <p:sldId xmlns:r="http://schemas.openxmlformats.org/officeDocument/2006/relationships" id="264" r:id="R821d930782fd4f19"/>
    <p:sldId xmlns:r="http://schemas.openxmlformats.org/officeDocument/2006/relationships" id="265" r:id="Rd5c8138ec60e40cc"/>
    <p:sldId xmlns:r="http://schemas.openxmlformats.org/officeDocument/2006/relationships" id="266" r:id="Rd92e126714e7422f"/>
    <p:sldId xmlns:r="http://schemas.openxmlformats.org/officeDocument/2006/relationships" id="267" r:id="R53b5c8b5d38f4a2a"/>
    <p:sldId xmlns:r="http://schemas.openxmlformats.org/officeDocument/2006/relationships" id="268" r:id="R45804786d5a94212"/>
    <p:sldId xmlns:r="http://schemas.openxmlformats.org/officeDocument/2006/relationships" id="269" r:id="Rb0d405d28a0b489b"/>
    <p:sldId xmlns:r="http://schemas.openxmlformats.org/officeDocument/2006/relationships" id="270" r:id="Rf106590bf1394279"/>
    <p:sldId xmlns:r="http://schemas.openxmlformats.org/officeDocument/2006/relationships" id="271" r:id="R593458919536497b"/>
    <p:sldId xmlns:r="http://schemas.openxmlformats.org/officeDocument/2006/relationships" id="272" r:id="Rdce83bfe7b634779"/>
    <p:sldId xmlns:r="http://schemas.openxmlformats.org/officeDocument/2006/relationships" id="273" r:id="R26a39968e7524fd8"/>
    <p:sldId xmlns:r="http://schemas.openxmlformats.org/officeDocument/2006/relationships" id="274" r:id="Rdcd6b37d34c84d1b"/>
    <p:sldId xmlns:r="http://schemas.openxmlformats.org/officeDocument/2006/relationships" id="275" r:id="Rae59ddfcd70b4c1c"/>
    <p:sldId xmlns:r="http://schemas.openxmlformats.org/officeDocument/2006/relationships" id="276" r:id="Rf630ab80addf45de"/>
    <p:sldId xmlns:r="http://schemas.openxmlformats.org/officeDocument/2006/relationships" id="277" r:id="Rd61b01c0ef0c430f"/>
    <p:sldId xmlns:r="http://schemas.openxmlformats.org/officeDocument/2006/relationships" id="278" r:id="R20f86712690f4daf"/>
    <p:sldId xmlns:r="http://schemas.openxmlformats.org/officeDocument/2006/relationships" id="279" r:id="R635038ab972c4dd0"/>
    <p:sldId xmlns:r="http://schemas.openxmlformats.org/officeDocument/2006/relationships" id="280" r:id="R9f3e8c8a770b4126"/>
    <p:sldId xmlns:r="http://schemas.openxmlformats.org/officeDocument/2006/relationships" id="281" r:id="R8de02bb0bf7a4b37"/>
    <p:sldId xmlns:r="http://schemas.openxmlformats.org/officeDocument/2006/relationships" id="282" r:id="Rcbc895447ab04303"/>
    <p:sldId xmlns:r="http://schemas.openxmlformats.org/officeDocument/2006/relationships" id="283" r:id="Rbf0e092964164a2b"/>
    <p:sldId xmlns:r="http://schemas.openxmlformats.org/officeDocument/2006/relationships" id="284" r:id="Rbb98af8051724e9e"/>
    <p:sldId xmlns:r="http://schemas.openxmlformats.org/officeDocument/2006/relationships" id="285" r:id="Rc717242bd6dc4356"/>
    <p:sldId xmlns:r="http://schemas.openxmlformats.org/officeDocument/2006/relationships" id="286" r:id="Rf0dccbd1a3f04fb6"/>
    <p:sldId xmlns:r="http://schemas.openxmlformats.org/officeDocument/2006/relationships" id="287" r:id="R155b0f4807464029"/>
    <p:sldId xmlns:r="http://schemas.openxmlformats.org/officeDocument/2006/relationships" id="288" r:id="R543d1176259f40eb"/>
    <p:sldId xmlns:r="http://schemas.openxmlformats.org/officeDocument/2006/relationships" id="289" r:id="Rfdac2a9cdbf74a91"/>
    <p:sldId xmlns:r="http://schemas.openxmlformats.org/officeDocument/2006/relationships" id="290" r:id="R4dd0d326660e44c3"/>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3ef57493de42452c" /><Relationship Type="http://schemas.openxmlformats.org/officeDocument/2006/relationships/slideMaster" Target="/ppt/slideMasters/slideMaster1.xml" Id="R3eaab42bef5042bd" /><Relationship Type="http://schemas.openxmlformats.org/officeDocument/2006/relationships/notesMaster" Target="/ppt/notesMasters/notesMaster1.xml" Id="Ra2363ce2e8da4138" /><Relationship Type="http://schemas.openxmlformats.org/officeDocument/2006/relationships/presProps" Target="/ppt/presProps.xml" Id="Ra0e9f615698f4fc5" /><Relationship Type="http://schemas.openxmlformats.org/officeDocument/2006/relationships/tableStyles" Target="/ppt/tableStyles.xml" Id="Re545bfc2ee984da6" /><Relationship Type="http://schemas.openxmlformats.org/officeDocument/2006/relationships/slide" Target="/ppt/slides/slide1.xml" Id="R10204dc7e3a843ca" /><Relationship Type="http://schemas.openxmlformats.org/officeDocument/2006/relationships/slide" Target="/ppt/slides/slide2.xml" Id="R31c4dcd25bd9447a" /><Relationship Type="http://schemas.openxmlformats.org/officeDocument/2006/relationships/slide" Target="/ppt/slides/slide3.xml" Id="R14134b9df68643d1" /><Relationship Type="http://schemas.openxmlformats.org/officeDocument/2006/relationships/slide" Target="/ppt/slides/slide4.xml" Id="R435ee2ebb3e149a3" /><Relationship Type="http://schemas.openxmlformats.org/officeDocument/2006/relationships/slide" Target="/ppt/slides/slide5.xml" Id="R3aae0e52d0a04398" /><Relationship Type="http://schemas.openxmlformats.org/officeDocument/2006/relationships/slide" Target="/ppt/slides/slide6.xml" Id="R3e65ec8ca3d74f20" /><Relationship Type="http://schemas.openxmlformats.org/officeDocument/2006/relationships/slide" Target="/ppt/slides/slide7.xml" Id="R30964e0c23024adf" /><Relationship Type="http://schemas.openxmlformats.org/officeDocument/2006/relationships/slide" Target="/ppt/slides/slide8.xml" Id="R68c55b1445ed49b5" /><Relationship Type="http://schemas.openxmlformats.org/officeDocument/2006/relationships/slide" Target="/ppt/slides/slide9.xml" Id="R821d930782fd4f19" /><Relationship Type="http://schemas.openxmlformats.org/officeDocument/2006/relationships/slide" Target="/ppt/slides/slide10.xml" Id="Rd5c8138ec60e40cc" /><Relationship Type="http://schemas.openxmlformats.org/officeDocument/2006/relationships/slide" Target="/ppt/slides/slide11.xml" Id="Rd92e126714e7422f" /><Relationship Type="http://schemas.openxmlformats.org/officeDocument/2006/relationships/slide" Target="/ppt/slides/slide12.xml" Id="R53b5c8b5d38f4a2a" /><Relationship Type="http://schemas.openxmlformats.org/officeDocument/2006/relationships/slide" Target="/ppt/slides/slide13.xml" Id="R45804786d5a94212" /><Relationship Type="http://schemas.openxmlformats.org/officeDocument/2006/relationships/slide" Target="/ppt/slides/slide14.xml" Id="Rb0d405d28a0b489b" /><Relationship Type="http://schemas.openxmlformats.org/officeDocument/2006/relationships/slide" Target="/ppt/slides/slide15.xml" Id="Rf106590bf1394279" /><Relationship Type="http://schemas.openxmlformats.org/officeDocument/2006/relationships/slide" Target="/ppt/slides/slide16.xml" Id="R593458919536497b" /><Relationship Type="http://schemas.openxmlformats.org/officeDocument/2006/relationships/slide" Target="/ppt/slides/slide17.xml" Id="Rdce83bfe7b634779" /><Relationship Type="http://schemas.openxmlformats.org/officeDocument/2006/relationships/slide" Target="/ppt/slides/slide18.xml" Id="R26a39968e7524fd8" /><Relationship Type="http://schemas.openxmlformats.org/officeDocument/2006/relationships/slide" Target="/ppt/slides/slide19.xml" Id="Rdcd6b37d34c84d1b" /><Relationship Type="http://schemas.openxmlformats.org/officeDocument/2006/relationships/slide" Target="/ppt/slides/slide20.xml" Id="Rae59ddfcd70b4c1c" /><Relationship Type="http://schemas.openxmlformats.org/officeDocument/2006/relationships/slide" Target="/ppt/slides/slide21.xml" Id="Rf630ab80addf45de" /><Relationship Type="http://schemas.openxmlformats.org/officeDocument/2006/relationships/slide" Target="/ppt/slides/slide22.xml" Id="Rd61b01c0ef0c430f" /><Relationship Type="http://schemas.openxmlformats.org/officeDocument/2006/relationships/slide" Target="/ppt/slides/slide23.xml" Id="R20f86712690f4daf" /><Relationship Type="http://schemas.openxmlformats.org/officeDocument/2006/relationships/slide" Target="/ppt/slides/slide24.xml" Id="R635038ab972c4dd0" /><Relationship Type="http://schemas.openxmlformats.org/officeDocument/2006/relationships/slide" Target="/ppt/slides/slide25.xml" Id="R9f3e8c8a770b4126" /><Relationship Type="http://schemas.openxmlformats.org/officeDocument/2006/relationships/slide" Target="/ppt/slides/slide26.xml" Id="R8de02bb0bf7a4b37" /><Relationship Type="http://schemas.openxmlformats.org/officeDocument/2006/relationships/slide" Target="/ppt/slides/slide27.xml" Id="Rcbc895447ab04303" /><Relationship Type="http://schemas.openxmlformats.org/officeDocument/2006/relationships/slide" Target="/ppt/slides/slide28.xml" Id="Rbf0e092964164a2b" /><Relationship Type="http://schemas.openxmlformats.org/officeDocument/2006/relationships/slide" Target="/ppt/slides/slide29.xml" Id="Rbb98af8051724e9e" /><Relationship Type="http://schemas.openxmlformats.org/officeDocument/2006/relationships/slide" Target="/ppt/slides/slide30.xml" Id="Rc717242bd6dc4356" /><Relationship Type="http://schemas.openxmlformats.org/officeDocument/2006/relationships/slide" Target="/ppt/slides/slide31.xml" Id="Rf0dccbd1a3f04fb6" /><Relationship Type="http://schemas.openxmlformats.org/officeDocument/2006/relationships/slide" Target="/ppt/slides/slide32.xml" Id="R155b0f4807464029" /><Relationship Type="http://schemas.openxmlformats.org/officeDocument/2006/relationships/slide" Target="/ppt/slides/slide33.xml" Id="R543d1176259f40eb" /><Relationship Type="http://schemas.openxmlformats.org/officeDocument/2006/relationships/slide" Target="/ppt/slides/slide34.xml" Id="Rfdac2a9cdbf74a91" /><Relationship Type="http://schemas.openxmlformats.org/officeDocument/2006/relationships/slide" Target="/ppt/slides/slide35.xml" Id="R4dd0d326660e44c3"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bf8cbb329ee345e3"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797ea421cc8b4f65" /><Relationship Type="http://schemas.openxmlformats.org/officeDocument/2006/relationships/notesMaster" Target="/ppt/notesMasters/notesMaster1.xml" Id="Rb738b936d1fd471c" /></Relationships>
</file>

<file path=ppt/notesSlides/_rels/notesSlide2.xml.rels>&#65279;<?xml version="1.0" encoding="utf-8"?><Relationships xmlns="http://schemas.openxmlformats.org/package/2006/relationships"><Relationship Type="http://schemas.openxmlformats.org/officeDocument/2006/relationships/slide" Target="/ppt/slides/slide2.xml" Id="Rb792ccd623e84ee4" /><Relationship Type="http://schemas.openxmlformats.org/officeDocument/2006/relationships/notesMaster" Target="/ppt/notesMasters/notesMaster1.xml" Id="R39e0543dfeec47c1" /></Relationships>
</file>

<file path=ppt/notesSlides/_rels/notesSlide3.xml.rels>&#65279;<?xml version="1.0" encoding="utf-8"?><Relationships xmlns="http://schemas.openxmlformats.org/package/2006/relationships"><Relationship Type="http://schemas.openxmlformats.org/officeDocument/2006/relationships/slide" Target="/ppt/slides/slide3.xml" Id="R90d82dc19b144567" /><Relationship Type="http://schemas.openxmlformats.org/officeDocument/2006/relationships/notesMaster" Target="/ppt/notesMasters/notesMaster1.xml" Id="R816234d914724108" /></Relationships>
</file>

<file path=ppt/notesSlides/_rels/notesSlide4.xml.rels>&#65279;<?xml version="1.0" encoding="utf-8"?><Relationships xmlns="http://schemas.openxmlformats.org/package/2006/relationships"><Relationship Type="http://schemas.openxmlformats.org/officeDocument/2006/relationships/slide" Target="/ppt/slides/slide4.xml" Id="Rdda5237ef6ad4683" /><Relationship Type="http://schemas.openxmlformats.org/officeDocument/2006/relationships/notesMaster" Target="/ppt/notesMasters/notesMaster1.xml" Id="Rf23115245ee54bd6" /></Relationships>
</file>

<file path=ppt/notesSlides/_rels/notesSlide5.xml.rels>&#65279;<?xml version="1.0" encoding="utf-8"?><Relationships xmlns="http://schemas.openxmlformats.org/package/2006/relationships"><Relationship Type="http://schemas.openxmlformats.org/officeDocument/2006/relationships/slide" Target="/ppt/slides/slide5.xml" Id="Rbb9da653b6094119" /><Relationship Type="http://schemas.openxmlformats.org/officeDocument/2006/relationships/notesMaster" Target="/ppt/notesMasters/notesMaster1.xml" Id="R3e76570b5902417f" /></Relationships>
</file>

<file path=ppt/notesSlides/_rels/notesSlide6.xml.rels>&#65279;<?xml version="1.0" encoding="utf-8"?><Relationships xmlns="http://schemas.openxmlformats.org/package/2006/relationships"><Relationship Type="http://schemas.openxmlformats.org/officeDocument/2006/relationships/slide" Target="/ppt/slides/slide6.xml" Id="Ra415a9d55de54db5" /><Relationship Type="http://schemas.openxmlformats.org/officeDocument/2006/relationships/notesMaster" Target="/ppt/notesMasters/notesMaster1.xml" Id="R366584240ac44ea5" /></Relationships>
</file>

<file path=ppt/notesSlides/_rels/notesSlide7.xml.rels>&#65279;<?xml version="1.0" encoding="utf-8"?><Relationships xmlns="http://schemas.openxmlformats.org/package/2006/relationships"><Relationship Type="http://schemas.openxmlformats.org/officeDocument/2006/relationships/slide" Target="/ppt/slides/slide7.xml" Id="R9dbf9a2abb8045e2" /><Relationship Type="http://schemas.openxmlformats.org/officeDocument/2006/relationships/notesMaster" Target="/ppt/notesMasters/notesMaster1.xml" Id="R9c8850569d384afc" /></Relationships>
</file>

<file path=ppt/notesSlides/_rels/notesSlide8.xml.rels>&#65279;<?xml version="1.0" encoding="utf-8"?><Relationships xmlns="http://schemas.openxmlformats.org/package/2006/relationships"><Relationship Type="http://schemas.openxmlformats.org/officeDocument/2006/relationships/slide" Target="/ppt/slides/slide8.xml" Id="Rd8a545c1ceb24188" /><Relationship Type="http://schemas.openxmlformats.org/officeDocument/2006/relationships/notesMaster" Target="/ppt/notesMasters/notesMaster1.xml" Id="Rfe1dfb5069a54b39" /></Relationships>
</file>

<file path=ppt/notesSlides/_rels/notesSlide9.xml.rels>&#65279;<?xml version="1.0" encoding="utf-8"?><Relationships xmlns="http://schemas.openxmlformats.org/package/2006/relationships"><Relationship Type="http://schemas.openxmlformats.org/officeDocument/2006/relationships/slide" Target="/ppt/slides/slide9.xml" Id="R4b0d87b255ef4ebd" /><Relationship Type="http://schemas.openxmlformats.org/officeDocument/2006/relationships/notesMaster" Target="/ppt/notesMasters/notesMaster1.xml" Id="R39b3db239d63445f"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90d47bce54f64971" /><Relationship Type="http://schemas.openxmlformats.org/officeDocument/2006/relationships/notesMaster" Target="/ppt/notesMasters/notesMaster1.xml" Id="Rb02f8ff968aa4473"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5985a45860db477c" /><Relationship Type="http://schemas.openxmlformats.org/officeDocument/2006/relationships/notesMaster" Target="/ppt/notesMasters/notesMaster1.xml" Id="R22cf46fa2c8a48be"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54cc7f3bb33a4c83" /><Relationship Type="http://schemas.openxmlformats.org/officeDocument/2006/relationships/notesMaster" Target="/ppt/notesMasters/notesMaster1.xml" Id="R69c7708a266b4c82"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2fae68371d8c4c01" /><Relationship Type="http://schemas.openxmlformats.org/officeDocument/2006/relationships/notesMaster" Target="/ppt/notesMasters/notesMaster1.xml" Id="Rba3ec5b77b7348df"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2f8dec1436124e4a" /><Relationship Type="http://schemas.openxmlformats.org/officeDocument/2006/relationships/notesMaster" Target="/ppt/notesMasters/notesMaster1.xml" Id="R72820af9ecda4774"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c657591832c84e9b" /><Relationship Type="http://schemas.openxmlformats.org/officeDocument/2006/relationships/notesMaster" Target="/ppt/notesMasters/notesMaster1.xml" Id="Rfa6c9cee0e074a6e"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7668a6be3e8249cb" /><Relationship Type="http://schemas.openxmlformats.org/officeDocument/2006/relationships/notesMaster" Target="/ppt/notesMasters/notesMaster1.xml" Id="R59728b532cba47df"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787f8966199841df" /><Relationship Type="http://schemas.openxmlformats.org/officeDocument/2006/relationships/notesMaster" Target="/ppt/notesMasters/notesMaster1.xml" Id="R569f1feeae564db7"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836b4264e5f442c4" /><Relationship Type="http://schemas.openxmlformats.org/officeDocument/2006/relationships/notesMaster" Target="/ppt/notesMasters/notesMaster1.xml" Id="R05cedb47e3b449da"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8040e087856d40e2" /><Relationship Type="http://schemas.openxmlformats.org/officeDocument/2006/relationships/notesMaster" Target="/ppt/notesMasters/notesMaster1.xml" Id="R7e31fa1536c04527"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7db43cb91e474242" /><Relationship Type="http://schemas.openxmlformats.org/officeDocument/2006/relationships/notesMaster" Target="/ppt/notesMasters/notesMaster1.xml" Id="Reeeb81f12ad54cad"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dad5d83e8abc47f9" /><Relationship Type="http://schemas.openxmlformats.org/officeDocument/2006/relationships/notesMaster" Target="/ppt/notesMasters/notesMaster1.xml" Id="R3fcdf8acbdf749c8"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8aa4ab34338c48a2" /><Relationship Type="http://schemas.openxmlformats.org/officeDocument/2006/relationships/notesMaster" Target="/ppt/notesMasters/notesMaster1.xml" Id="Rce2f49beb5854d43"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54dc8c7c26de4592" /><Relationship Type="http://schemas.openxmlformats.org/officeDocument/2006/relationships/notesMaster" Target="/ppt/notesMasters/notesMaster1.xml" Id="Rf5633980d6124644"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c8876b39c5bb4702" /><Relationship Type="http://schemas.openxmlformats.org/officeDocument/2006/relationships/notesMaster" Target="/ppt/notesMasters/notesMaster1.xml" Id="R690d9596c6da4640"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97eeb5c5b75e4742" /><Relationship Type="http://schemas.openxmlformats.org/officeDocument/2006/relationships/notesMaster" Target="/ppt/notesMasters/notesMaster1.xml" Id="R541fa2e7895743f6"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8d353b7ed1784634" /><Relationship Type="http://schemas.openxmlformats.org/officeDocument/2006/relationships/notesMaster" Target="/ppt/notesMasters/notesMaster1.xml" Id="Re4f6cd0de0494b8a"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e2f286cf354b4b50" /><Relationship Type="http://schemas.openxmlformats.org/officeDocument/2006/relationships/notesMaster" Target="/ppt/notesMasters/notesMaster1.xml" Id="R137a46640f5c47b4"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cc354a60e14343db" /><Relationship Type="http://schemas.openxmlformats.org/officeDocument/2006/relationships/notesMaster" Target="/ppt/notesMasters/notesMaster1.xml" Id="R3c1817251f734a24"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27b8eb1dd6e14271" /><Relationship Type="http://schemas.openxmlformats.org/officeDocument/2006/relationships/notesMaster" Target="/ppt/notesMasters/notesMaster1.xml" Id="R2c3815bbcd124e37"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0534f2612c434a9a" /><Relationship Type="http://schemas.openxmlformats.org/officeDocument/2006/relationships/notesMaster" Target="/ppt/notesMasters/notesMaster1.xml" Id="Rcc4f90ff26724f86"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8c77dd4ca3234f92" /><Relationship Type="http://schemas.openxmlformats.org/officeDocument/2006/relationships/notesMaster" Target="/ppt/notesMasters/notesMaster1.xml" Id="R1ca6c76daf334be9"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28243926f72f42f7" /><Relationship Type="http://schemas.openxmlformats.org/officeDocument/2006/relationships/notesMaster" Target="/ppt/notesMasters/notesMaster1.xml" Id="R137551c0880649bd"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52b804abb87f4a74" /><Relationship Type="http://schemas.openxmlformats.org/officeDocument/2006/relationships/notesMaster" Target="/ppt/notesMasters/notesMaster1.xml" Id="R3cad311531dd4cdf"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72b477a7e75a4c39" /><Relationship Type="http://schemas.openxmlformats.org/officeDocument/2006/relationships/notesMaster" Target="/ppt/notesMasters/notesMaster1.xml" Id="R6be6d1949848419c"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d917e1e6eba34f19" /><Relationship Type="http://schemas.openxmlformats.org/officeDocument/2006/relationships/notesMaster" Target="/ppt/notesMasters/notesMaster1.xml" Id="R7a30304d85254a75"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 minutes.</a:t>
            </a:r>
          </a:p>
          <a:p xmlns:a="http://schemas.openxmlformats.org/drawingml/2006/main">
            <a:r>
              <a:t>Teaching notes: Open the Week 10 handout. Ask students to predict, before running anything, which two of the roof's three limits (area, budget, structural cap) will bind exactly.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1 minutes.</a:t>
            </a:r>
          </a:p>
          <a:p xmlns:a="http://schemas.openxmlformats.org/drawingml/2006/main">
            <a:r>
              <a:t>Teaching notes: Name the fourth outcome explicitly as the Project 2 topic/dataset/pairing milestone, not a separate task.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 minutes.</a:t>
            </a:r>
          </a:p>
          <a:p xmlns:a="http://schemas.openxmlformats.org/drawingml/2006/main">
            <a:r>
              <a:t>Teaching notes: Preview that step 4 is graded as this week's studio assignment and doubles as the Project 2 milestone.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 minutes.</a:t>
            </a:r>
          </a:p>
          <a:p xmlns:a="http://schemas.openxmlformats.org/drawingml/2006/main">
            <a:r>
              <a:t>Teaching notes: Ask students to find each term already printed in their handout before running cell [1].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 minutes.</a:t>
            </a:r>
          </a:p>
          <a:p xmlns:a="http://schemas.openxmlformats.org/drawingml/2006/main">
            <a:r>
              <a:t>Teaching notes: Point at each chip in order before running cell [1] — this is the exact same four-array pattern every linprog call in today's script reuses. Name linprog itself as scipy's exact linear-program solver (already defined in the vocabulary table, previous slide).</a:t>
            </a:r>
          </a:p>
          <a:p xmlns:a="http://schemas.openxmlformats.org/drawingml/2006/main">
            <a:r>
              <a:t/>
            </a:r>
          </a:p>
          <a:p xmlns:a="http://schemas.openxmlformats.org/drawingml/2006/main">
            <a:r>
              <a:t>[Sources]</a:t>
            </a:r>
          </a:p>
          <a:p xmlns:a="http://schemas.openxmlformats.org/drawingml/2006/main">
            <a:r>
              <a:t>- https://docs.scipy.org/doc/scipy/reference/generated/scipy.optimize.linprog.html</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 minutes.</a:t>
            </a:r>
          </a:p>
          <a:p xmlns:a="http://schemas.openxmlformats.org/drawingml/2006/main">
            <a:r>
              <a:t>Teaching notes: Preview that today's core exercise (Studio 2) is exactly this check, done by hand on Radley Hall's real numbers.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 minutes.</a:t>
            </a:r>
          </a:p>
          <a:p xmlns:a="http://schemas.openxmlformats.org/drawingml/2006/main">
            <a:r>
              <a:t>Teaching notes: This slide is the map of the whole studio — point back to it before each new cell.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1 minutes.</a:t>
            </a:r>
          </a:p>
          <a:p xmlns:a="http://schemas.openxmlformats.org/drawingml/2006/main">
            <a:r>
              <a:t>Teaching notes: Do not reveal the answer until cell [1] actually runs — most students pick (120,0) because solar's per-m2 return is higher.</a:t>
            </a:r>
          </a:p>
          <a:p xmlns:a="http://schemas.openxmlformats.org/drawingml/2006/main">
            <a:r>
              <a:t/>
            </a:r>
          </a:p>
          <a:p xmlns:a="http://schemas.openxmlformats.org/drawingml/2006/main">
            <a:r>
              <a:t>[Sources]</a:t>
            </a:r>
          </a:p>
          <a:p xmlns:a="http://schemas.openxmlformats.org/drawingml/2006/main">
            <a:r>
              <a:t>- https://docs.scipy.org/doc/scipy/reference/generated/scipy.optimize.linprog.html</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 minutes.</a:t>
            </a:r>
          </a:p>
          <a:p xmlns:a="http://schemas.openxmlformats.org/drawingml/2006/main">
            <a:r>
              <a:t>Teaching notes: Ask students to predict res.x from memory (Meeting A's answer) before running — by now they should say [80, 120] without checking.</a:t>
            </a:r>
          </a:p>
          <a:p xmlns:a="http://schemas.openxmlformats.org/drawingml/2006/main">
            <a:r>
              <a:t/>
            </a:r>
          </a:p>
          <a:p xmlns:a="http://schemas.openxmlformats.org/drawingml/2006/main">
            <a:r>
              <a:t>[Sources]</a:t>
            </a:r>
          </a:p>
          <a:p xmlns:a="http://schemas.openxmlformats.org/drawingml/2006/main">
            <a:r>
              <a:t>- https://docs.scipy.org/doc/scipy/reference/generated/scipy.optimize.linprog.html</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3 minutes.</a:t>
            </a:r>
          </a:p>
          <a:p xmlns:a="http://schemas.openxmlformats.org/drawingml/2006/main">
            <a:r>
              <a:t>Teaching notes: Expected answer to the last step: for this feasible bounded LP, the successful solver status supports a globally optimal solution to solver tolerances for whatever model was actually typed in — not that the typed-in formulation itself is correct. The AI-audit cell later makes this concrete.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 minutes.</a:t>
            </a:r>
          </a:p>
          <a:p xmlns:a="http://schemas.openxmlformats.org/drawingml/2006/main">
            <a:r>
              <a:t>Teaching notes: This is the exact question Studio 2 requires students to answer by hand next — do not reveal it until both cells run.</a:t>
            </a:r>
          </a:p>
          <a:p xmlns:a="http://schemas.openxmlformats.org/drawingml/2006/main">
            <a:r>
              <a:t/>
            </a:r>
          </a:p>
          <a:p xmlns:a="http://schemas.openxmlformats.org/drawingml/2006/main">
            <a:r>
              <a:t>[Sources]</a:t>
            </a:r>
          </a:p>
          <a:p xmlns:a="http://schemas.openxmlformats.org/drawingml/2006/main">
            <a:r>
              <a:t>- https://docs.scipy.org/doc/scipy/reference/generated/scipy.optimize.linprog.html</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 minutes.</a:t>
            </a:r>
          </a:p>
          <a:p xmlns:a="http://schemas.openxmlformats.org/drawingml/2006/main">
            <a:r>
              <a:t>Teaching notes: Have students compute 80 + 120 on paper before the cell runs — this is half of the studio's required core exercise.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 minutes.</a:t>
            </a:r>
          </a:p>
          <a:p xmlns:a="http://schemas.openxmlformats.org/drawingml/2006/main">
            <a:r>
              <a:t>Teaching notes: Have students compute 400*80 + 150*120 on paper before the cell runs — the other half of the required core exercise.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 minutes.</a:t>
            </a:r>
          </a:p>
          <a:p xmlns:a="http://schemas.openxmlformats.org/drawingml/2006/main">
            <a:r>
              <a:t>Teaching notes: Contrast with just trusting res.success — assert checks the ANSWER against the real-world limits, not just that the solver ran without error.</a:t>
            </a:r>
          </a:p>
          <a:p xmlns:a="http://schemas.openxmlformats.org/drawingml/2006/main">
            <a:r>
              <a:t/>
            </a:r>
          </a:p>
          <a:p xmlns:a="http://schemas.openxmlformats.org/drawingml/2006/main">
            <a:r>
              <a:t>[Sources]</a:t>
            </a:r>
          </a:p>
          <a:p xmlns:a="http://schemas.openxmlformats.org/drawingml/2006/main">
            <a:r>
              <a:t>- https://numpy.org/doc/stable/user/quickstart.html</a:t>
            </a:r>
          </a:p>
          <a:p xmlns:a="http://schemas.openxmlformats.org/drawingml/2006/main">
            <a:r>
              <a:t>- https://docs.scipy.org/doc/scipy/reference/generated/scipy.optimize.linprog.html</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5 minutes.</a:t>
            </a:r>
          </a:p>
          <a:p xmlns:a="http://schemas.openxmlformats.org/drawingml/2006/main">
            <a:r>
              <a:t>Teaching notes: This is the studio's required core exercise, named explicitly in the course plan. Every student must produce both hand-computations on paper, not just read the assert output.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 minutes.</a:t>
            </a:r>
          </a:p>
          <a:p xmlns:a="http://schemas.openxmlformats.org/drawingml/2006/main">
            <a:r>
              <a:t>Teaching notes: Ask which strategy students would have picked before this course — most say all-solar, since it has the higher per-m2 return.</a:t>
            </a:r>
          </a:p>
          <a:p xmlns:a="http://schemas.openxmlformats.org/drawingml/2006/main">
            <a:r>
              <a:t/>
            </a:r>
          </a:p>
          <a:p xmlns:a="http://schemas.openxmlformats.org/drawingml/2006/main">
            <a:r>
              <a:t>[Sources]</a:t>
            </a:r>
          </a:p>
          <a:p xmlns:a="http://schemas.openxmlformats.org/drawingml/2006/main">
            <a:r>
              <a:t>- https://docs.scipy.org/doc/scipy/reference/generated/scipy.optimize.linprog.html</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 minutes.</a:t>
            </a:r>
          </a:p>
          <a:p xmlns:a="http://schemas.openxmlformats.org/drawingml/2006/main">
            <a:r>
              <a:t>Teaching notes: Ask what a reader would wrongly assume about 'more solar is always better' if only the all-solar and all-green bars were shown, with the optimal bar left out.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3 minutes.</a:t>
            </a:r>
          </a:p>
          <a:p xmlns:a="http://schemas.openxmlformats.org/drawingml/2006/main">
            <a:r>
              <a:t>Teaching notes: Expected defense: solar earns more per m2, but its install cost ($400/m2) also eats the budget faster — spending the whole budget on solar leaves 80 m2 of roof and cheaper green-roof benefit unused.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 minutes.</a:t>
            </a:r>
          </a:p>
          <a:p xmlns:a="http://schemas.openxmlformats.org/drawingml/2006/main">
            <a:r>
              <a:t>Teaching notes: Widen the lesson beyond the one bug in cell [6] — these four are the errors most often seen in AI-drafted formulations across student Project 2 drafts.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 minutes.</a:t>
            </a:r>
          </a:p>
          <a:p xmlns:a="http://schemas.openxmlformats.org/drawingml/2006/main">
            <a:r>
              <a:t>Teaching notes: Do not reveal the fix yet — require students to name the defect from this prediction alone before cell [6] runs.</a:t>
            </a:r>
          </a:p>
          <a:p xmlns:a="http://schemas.openxmlformats.org/drawingml/2006/main">
            <a:r>
              <a:t/>
            </a:r>
          </a:p>
          <a:p xmlns:a="http://schemas.openxmlformats.org/drawingml/2006/main">
            <a:r>
              <a:t>[Sources]</a:t>
            </a:r>
          </a:p>
          <a:p xmlns:a="http://schemas.openxmlformats.org/drawingml/2006/main">
            <a:r>
              <a:t>- https://docs.scipy.org/doc/scipy/reference/generated/scipy.optimize.linprog.html</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 minutes.</a:t>
            </a:r>
          </a:p>
          <a:p xmlns:a="http://schemas.openxmlformats.org/drawingml/2006/main">
            <a:r>
              <a:t>Teaching notes: Give students this exact code and output. Require them to name the defect before showing the fix — do not reveal the corrected c_ai yet.</a:t>
            </a:r>
          </a:p>
          <a:p xmlns:a="http://schemas.openxmlformats.org/drawingml/2006/main">
            <a:r>
              <a:t/>
            </a:r>
          </a:p>
          <a:p xmlns:a="http://schemas.openxmlformats.org/drawingml/2006/main">
            <a:r>
              <a:t>[Sources]</a:t>
            </a:r>
          </a:p>
          <a:p xmlns:a="http://schemas.openxmlformats.org/drawingml/2006/main">
            <a:r>
              <a:t>- https://docs.scipy.org/doc/scipy/reference/generated/scipy.optimize.linprog.html</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4 minutes.</a:t>
            </a:r>
          </a:p>
          <a:p xmlns:a="http://schemas.openxmlformats.org/drawingml/2006/main">
            <a:r>
              <a:t>Teaching notes: Require students to state the general rule, not just this one instance: linprog ALWAYS minimizes; a maximize objective must be negated before it is handed to c.</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 minutes.</a:t>
            </a:r>
          </a:p>
          <a:p xmlns:a="http://schemas.openxmlformats.org/drawingml/2006/main">
            <a:r>
              <a:t>Teaching notes: Point out the budget WAS binding at $50,000 (cell [3]) — so it cannot possibly stay unchanged once the budget shrinks. Some students still guess (80,120) out of habit.</a:t>
            </a:r>
          </a:p>
          <a:p xmlns:a="http://schemas.openxmlformats.org/drawingml/2006/main">
            <a:r>
              <a:t/>
            </a:r>
          </a:p>
          <a:p xmlns:a="http://schemas.openxmlformats.org/drawingml/2006/main">
            <a:r>
              <a:t>[Sources]</a:t>
            </a:r>
          </a:p>
          <a:p xmlns:a="http://schemas.openxmlformats.org/drawingml/2006/main">
            <a:r>
              <a:t>- https://docs.scipy.org/doc/scipy/reference/generated/scipy.optimize.linprog.html</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 minutes.</a:t>
            </a:r>
          </a:p>
          <a:p xmlns:a="http://schemas.openxmlformats.org/drawingml/2006/main">
            <a:r>
              <a:t>Teaching notes: This is the exact 'different input' the course's transfer safeguard requires — name it as such to students.</a:t>
            </a:r>
          </a:p>
          <a:p xmlns:a="http://schemas.openxmlformats.org/drawingml/2006/main">
            <a:r>
              <a:t/>
            </a:r>
          </a:p>
          <a:p xmlns:a="http://schemas.openxmlformats.org/drawingml/2006/main">
            <a:r>
              <a:t>[Sources]</a:t>
            </a:r>
          </a:p>
          <a:p xmlns:a="http://schemas.openxmlformats.org/drawingml/2006/main">
            <a:r>
              <a:t>- https://docs.scipy.org/doc/scipy/reference/generated/scipy.optimize.linprog.html</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 minutes.</a:t>
            </a:r>
          </a:p>
          <a:p xmlns:a="http://schemas.openxmlformats.org/drawingml/2006/main">
            <a:r>
              <a:t>Teaching notes: Tie this directly to Studio 5's required transfer asserts, next — the pattern (both area and budget bind) is what those asserts actually check on the new numbers.</a:t>
            </a:r>
          </a:p>
          <a:p xmlns:a="http://schemas.openxmlformats.org/drawingml/2006/main">
            <a:r>
              <a:t/>
            </a:r>
          </a:p>
          <a:p xmlns:a="http://schemas.openxmlformats.org/drawingml/2006/main">
            <a:r>
              <a:t>[Sources]</a:t>
            </a:r>
          </a:p>
          <a:p xmlns:a="http://schemas.openxmlformats.org/drawingml/2006/main">
            <a:r>
              <a:t>- https://docs.scipy.org/doc/scipy/reference/generated/scipy.optimize.linprog.html</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4 minutes.</a:t>
            </a:r>
          </a:p>
          <a:p xmlns:a="http://schemas.openxmlformats.org/drawingml/2006/main">
            <a:r>
              <a:t>Teaching notes: Required, graded transfer-safeguard element — a different budget number than the one worked through live, with the student's own asserts, not optional polish.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3 minutes.</a:t>
            </a:r>
          </a:p>
          <a:p xmlns:a="http://schemas.openxmlformats.org/drawingml/2006/main">
            <a:r>
              <a:t>Teaching notes: Put cell [1] and cell [7] side by side and ask what actually differs — only b_ub's second entry. That is exactly the signal a parameter belongs there. Then ask why the 120 m2 structural cap is NOT a parameter: nothing in this studio ever changes it.</a:t>
            </a:r>
          </a:p>
          <a:p xmlns:a="http://schemas.openxmlformats.org/drawingml/2006/main">
            <a:r>
              <a:t/>
            </a:r>
          </a:p>
          <a:p xmlns:a="http://schemas.openxmlformats.org/drawingml/2006/main">
            <a:r>
              <a:t>[Sources]</a:t>
            </a:r>
          </a:p>
          <a:p xmlns:a="http://schemas.openxmlformats.org/drawingml/2006/main">
            <a:r>
              <a:t>- https://docs.scipy.org/doc/scipy/reference/generated/scipy.optimize.linprog.html</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 minutes.</a:t>
            </a:r>
          </a:p>
          <a:p xmlns:a="http://schemas.openxmlformats.org/drawingml/2006/main">
            <a:r>
              <a:t>Teaching notes: Ask what it takes to test a fourth budget: one more number in the list on the for line. Note the assert sits INSIDE the loop, so a scenario that ever stopped binding would halt the script on that scenario and name it. Verified against real scipy 1.17.1.</a:t>
            </a:r>
          </a:p>
          <a:p xmlns:a="http://schemas.openxmlformats.org/drawingml/2006/main">
            <a:r>
              <a:t/>
            </a:r>
          </a:p>
          <a:p xmlns:a="http://schemas.openxmlformats.org/drawingml/2006/main">
            <a:r>
              <a:t>[Sources]</a:t>
            </a:r>
          </a:p>
          <a:p xmlns:a="http://schemas.openxmlformats.org/drawingml/2006/main">
            <a:r>
              <a:t>- https://docs.scipy.org/doc/scipy/reference/generated/scipy.optimize.linprog.html</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 minutes.</a:t>
            </a:r>
          </a:p>
          <a:p xmlns:a="http://schemas.openxmlformats.org/drawingml/2006/main">
            <a:r>
              <a:t>Teaching notes: State plainly that a simplified linear relaxation is fully acceptable and expected if a student's real problem is not naturally linear — the point is demonstrating the formulate-solve-verify skill, not forcing every real problem into a linear shape.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 minutes.</a:t>
            </a:r>
          </a:p>
          <a:p xmlns:a="http://schemas.openxmlformats.org/drawingml/2006/main">
            <a:r>
              <a:t>Teaching notes: A genuinely different problem (window retrofit, not the roof) — the pattern of two constraints binding and one slack repeats, which is the actual lesson, not the specific numbers.</a:t>
            </a:r>
          </a:p>
          <a:p xmlns:a="http://schemas.openxmlformats.org/drawingml/2006/main">
            <a:r>
              <a:t/>
            </a:r>
          </a:p>
          <a:p xmlns:a="http://schemas.openxmlformats.org/drawingml/2006/main">
            <a:r>
              <a:t>[Sources]</a:t>
            </a:r>
          </a:p>
          <a:p xmlns:a="http://schemas.openxmlformats.org/drawingml/2006/main">
            <a:r>
              <a:t>- https://docs.scipy.org/doc/scipy/reference/generated/scipy.optimize.linprog.html</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 minutes.</a:t>
            </a:r>
          </a:p>
          <a:p xmlns:a="http://schemas.openxmlformats.org/drawingml/2006/main">
            <a:r>
              <a:t>Teaching notes: Point out this is a genuinely different problem, not a relabeled roof — the lesson is the PATTERN (name variables, write objective, write constraints as A_ub rows, set bounds, solve, verify), not this specific numbers.</a:t>
            </a:r>
          </a:p>
          <a:p xmlns:a="http://schemas.openxmlformats.org/drawingml/2006/main">
            <a:r>
              <a:t/>
            </a:r>
          </a:p>
          <a:p xmlns:a="http://schemas.openxmlformats.org/drawingml/2006/main">
            <a:r>
              <a:t>[Sources]</a:t>
            </a:r>
          </a:p>
          <a:p xmlns:a="http://schemas.openxmlformats.org/drawingml/2006/main">
            <a:r>
              <a:t>- https://docs.scipy.org/doc/scipy/reference/generated/scipy.optimize.linprog.html</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4 minutes.</a:t>
            </a:r>
          </a:p>
          <a:p xmlns:a="http://schemas.openxmlformats.org/drawingml/2006/main">
            <a:r>
              <a:t>Teaching notes: This IS the graded weekly assignment and the Project 2 milestone — a simplified linear relaxation is fully acceptable if a student's real problem is not naturally linear, per course policy.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 minutes.</a:t>
            </a:r>
          </a:p>
          <a:p xmlns:a="http://schemas.openxmlformats.org/drawingml/2006/main">
            <a:r>
              <a:t>Teaching notes: Remind students this IS the Week 10 milestone and studio assignment together — nothing additional layered on top.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 minutes.</a:t>
            </a:r>
          </a:p>
          <a:p xmlns:a="http://schemas.openxmlformats.org/drawingml/2006/main">
            <a:r>
              <a:t>Teaching notes: Bridge explicitly to Week 11: name minimize, initial guess, and local vs. global optimum as next week's new vocabulary, without defining them yet — just flag that the guarantee students relied on all of today disappears.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 minutes.</a:t>
            </a:r>
          </a:p>
          <a:p xmlns:a="http://schemas.openxmlformats.org/drawingml/2006/main">
            <a:r>
              <a:t>Teaching notes: Exit ticket: students state, in one sentence, which optimization family (linear, gradient-based, or heuristic) their own Project 2 sub-problem uses today, and why.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f434bd9e04b74563"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87d22a8060634fb7" /><Relationship Type="http://schemas.openxmlformats.org/officeDocument/2006/relationships/slideLayout" Target="/ppt/slideLayouts/slideLayout1.xml" Id="Rf7fddeb4b93e434b"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f7fddeb4b93e434b"/>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0f6d0045816b49b8" /><Relationship Type="http://schemas.openxmlformats.org/officeDocument/2006/relationships/notesSlide" Target="/ppt/notesSlides/notesSlide1.xml" Id="Rab798928dbe14b12"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419bd8eb5a784b7a" /><Relationship Type="http://schemas.openxmlformats.org/officeDocument/2006/relationships/notesSlide" Target="/ppt/notesSlides/notesSlide2.xml" Id="R9e28be45732b4a15"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f6297d471fa04d3a" /><Relationship Type="http://schemas.openxmlformats.org/officeDocument/2006/relationships/notesSlide" Target="/ppt/notesSlides/notesSlide3.xml" Id="R0145829bca7043ba"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3e0abd258fb547b4" /><Relationship Type="http://schemas.openxmlformats.org/officeDocument/2006/relationships/notesSlide" Target="/ppt/notesSlides/notesSlide4.xml" Id="Re76a3b958825483c"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712e7b519a434c49" /><Relationship Type="http://schemas.openxmlformats.org/officeDocument/2006/relationships/notesSlide" Target="/ppt/notesSlides/notesSlide5.xml" Id="Rff0c6e6d85a54a6c"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cbb9ea1460b04b3f" /><Relationship Type="http://schemas.openxmlformats.org/officeDocument/2006/relationships/notesSlide" Target="/ppt/notesSlides/notesSlide6.xml" Id="Raa71b62591684b25"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80390baeb36b44fa" /><Relationship Type="http://schemas.openxmlformats.org/officeDocument/2006/relationships/notesSlide" Target="/ppt/notesSlides/notesSlide7.xml" Id="Recaa52cf5b924181"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a2dc4878a4624f96" /><Relationship Type="http://schemas.openxmlformats.org/officeDocument/2006/relationships/notesSlide" Target="/ppt/notesSlides/notesSlide8.xml" Id="R1f31b25ea5ae4a6f"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fccc1d500fa44499" /><Relationship Type="http://schemas.openxmlformats.org/officeDocument/2006/relationships/notesSlide" Target="/ppt/notesSlides/notesSlide9.xml" Id="R2cd2547d2d484657"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f582a060d4c34244" /><Relationship Type="http://schemas.openxmlformats.org/officeDocument/2006/relationships/notesSlide" Target="/ppt/notesSlides/notesSlide10.xml" Id="R912e59a727854926"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068f18f2e5924f71" /><Relationship Type="http://schemas.openxmlformats.org/officeDocument/2006/relationships/notesSlide" Target="/ppt/notesSlides/notesSlide11.xml" Id="Ra92a7d28a26f4e19"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6eb2996157e8489c" /><Relationship Type="http://schemas.openxmlformats.org/officeDocument/2006/relationships/notesSlide" Target="/ppt/notesSlides/notesSlide12.xml" Id="R8051bbe2785441f9"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786d3ce08f3d4ecc" /><Relationship Type="http://schemas.openxmlformats.org/officeDocument/2006/relationships/notesSlide" Target="/ppt/notesSlides/notesSlide13.xml" Id="R6f4615ed2da64a76"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dcb542de92634b58" /><Relationship Type="http://schemas.openxmlformats.org/officeDocument/2006/relationships/notesSlide" Target="/ppt/notesSlides/notesSlide14.xml" Id="R1413b76cc4ed4395"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70a4dcca4d3d4b0c" /><Relationship Type="http://schemas.openxmlformats.org/officeDocument/2006/relationships/notesSlide" Target="/ppt/notesSlides/notesSlide15.xml" Id="Re315e49eebd2497c"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e5d4b9a2ea0140af" /><Relationship Type="http://schemas.openxmlformats.org/officeDocument/2006/relationships/notesSlide" Target="/ppt/notesSlides/notesSlide16.xml" Id="R8f09580da0e944b2"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cbbb835ffa6c403d" /><Relationship Type="http://schemas.openxmlformats.org/officeDocument/2006/relationships/chart" Target="/ppt/slides/charts/chart1.xml" Id="Rfb238693e3d043e2" /><Relationship Type="http://schemas.openxmlformats.org/officeDocument/2006/relationships/notesSlide" Target="/ppt/notesSlides/notesSlide17.xml" Id="Rcee8f8afa1964d08"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2e804fac4e6944bf" /><Relationship Type="http://schemas.openxmlformats.org/officeDocument/2006/relationships/notesSlide" Target="/ppt/notesSlides/notesSlide18.xml" Id="Re145be98aab64d8d"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23e12c6664744bec" /><Relationship Type="http://schemas.openxmlformats.org/officeDocument/2006/relationships/notesSlide" Target="/ppt/notesSlides/notesSlide19.xml" Id="R79f3b7ba9c124033"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34a805d1457c464e" /><Relationship Type="http://schemas.openxmlformats.org/officeDocument/2006/relationships/notesSlide" Target="/ppt/notesSlides/notesSlide20.xml" Id="Rc9cd580722104095"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2b1f202eb75f4c98" /><Relationship Type="http://schemas.openxmlformats.org/officeDocument/2006/relationships/notesSlide" Target="/ppt/notesSlides/notesSlide21.xml" Id="Rfc5f513f79844548"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6064f91ca56245f9" /><Relationship Type="http://schemas.openxmlformats.org/officeDocument/2006/relationships/notesSlide" Target="/ppt/notesSlides/notesSlide22.xml" Id="Rc0a67c65da774379"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f3dd7f7f1d184686" /><Relationship Type="http://schemas.openxmlformats.org/officeDocument/2006/relationships/notesSlide" Target="/ppt/notesSlides/notesSlide23.xml" Id="Rc5a1d22848034c1b"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xml" Id="Rc3922b44fd98447d" /><Relationship Type="http://schemas.openxmlformats.org/officeDocument/2006/relationships/notesSlide" Target="/ppt/notesSlides/notesSlide24.xml" Id="R0a2ac6220da24b81" /></Relationships>
</file>

<file path=ppt/slides/_rels/slide25.xml.rels>&#65279;<?xml version="1.0" encoding="utf-8"?><Relationships xmlns="http://schemas.openxmlformats.org/package/2006/relationships"><Relationship Type="http://schemas.openxmlformats.org/officeDocument/2006/relationships/slideLayout" Target="/ppt/slideLayouts/slideLayout1.xml" Id="Rb918d28a337e4728" /><Relationship Type="http://schemas.openxmlformats.org/officeDocument/2006/relationships/chart" Target="/ppt/slides/charts/chart2.xml" Id="Re7d5f83013cd4b2a" /><Relationship Type="http://schemas.openxmlformats.org/officeDocument/2006/relationships/notesSlide" Target="/ppt/notesSlides/notesSlide25.xml" Id="R2c7f6869a61b41ca" /></Relationships>
</file>

<file path=ppt/slides/_rels/slide26.xml.rels>&#65279;<?xml version="1.0" encoding="utf-8"?><Relationships xmlns="http://schemas.openxmlformats.org/package/2006/relationships"><Relationship Type="http://schemas.openxmlformats.org/officeDocument/2006/relationships/slideLayout" Target="/ppt/slideLayouts/slideLayout1.xml" Id="Ra5d11cf99e0444f8" /><Relationship Type="http://schemas.openxmlformats.org/officeDocument/2006/relationships/notesSlide" Target="/ppt/notesSlides/notesSlide26.xml" Id="Re1b2861cfe554df7" /></Relationships>
</file>

<file path=ppt/slides/_rels/slide27.xml.rels>&#65279;<?xml version="1.0" encoding="utf-8"?><Relationships xmlns="http://schemas.openxmlformats.org/package/2006/relationships"><Relationship Type="http://schemas.openxmlformats.org/officeDocument/2006/relationships/slideLayout" Target="/ppt/slideLayouts/slideLayout1.xml" Id="Rd9959a7a5d3b4e12" /><Relationship Type="http://schemas.openxmlformats.org/officeDocument/2006/relationships/notesSlide" Target="/ppt/notesSlides/notesSlide27.xml" Id="R36eec25629b74702" /></Relationships>
</file>

<file path=ppt/slides/_rels/slide28.xml.rels>&#65279;<?xml version="1.0" encoding="utf-8"?><Relationships xmlns="http://schemas.openxmlformats.org/package/2006/relationships"><Relationship Type="http://schemas.openxmlformats.org/officeDocument/2006/relationships/slideLayout" Target="/ppt/slideLayouts/slideLayout1.xml" Id="Rd923dd842cec4d24" /><Relationship Type="http://schemas.openxmlformats.org/officeDocument/2006/relationships/notesSlide" Target="/ppt/notesSlides/notesSlide28.xml" Id="R89d3bd12f67b43ab" /></Relationships>
</file>

<file path=ppt/slides/_rels/slide29.xml.rels>&#65279;<?xml version="1.0" encoding="utf-8"?><Relationships xmlns="http://schemas.openxmlformats.org/package/2006/relationships"><Relationship Type="http://schemas.openxmlformats.org/officeDocument/2006/relationships/slideLayout" Target="/ppt/slideLayouts/slideLayout1.xml" Id="R5b820b8246824a2d" /><Relationship Type="http://schemas.openxmlformats.org/officeDocument/2006/relationships/notesSlide" Target="/ppt/notesSlides/notesSlide29.xml" Id="R957c78120cd34b94" /></Relationships>
</file>

<file path=ppt/slides/_rels/slide30.xml.rels>&#65279;<?xml version="1.0" encoding="utf-8"?><Relationships xmlns="http://schemas.openxmlformats.org/package/2006/relationships"><Relationship Type="http://schemas.openxmlformats.org/officeDocument/2006/relationships/slideLayout" Target="/ppt/slideLayouts/slideLayout1.xml" Id="R211cd926f7c74e55" /><Relationship Type="http://schemas.openxmlformats.org/officeDocument/2006/relationships/notesSlide" Target="/ppt/notesSlides/notesSlide30.xml" Id="Rbd7f1d6475c4430c" /></Relationships>
</file>

<file path=ppt/slides/_rels/slide31.xml.rels>&#65279;<?xml version="1.0" encoding="utf-8"?><Relationships xmlns="http://schemas.openxmlformats.org/package/2006/relationships"><Relationship Type="http://schemas.openxmlformats.org/officeDocument/2006/relationships/slideLayout" Target="/ppt/slideLayouts/slideLayout1.xml" Id="R6366738793d94919" /><Relationship Type="http://schemas.openxmlformats.org/officeDocument/2006/relationships/notesSlide" Target="/ppt/notesSlides/notesSlide31.xml" Id="Rf340cfd2eb034a3c" /></Relationships>
</file>

<file path=ppt/slides/_rels/slide32.xml.rels>&#65279;<?xml version="1.0" encoding="utf-8"?><Relationships xmlns="http://schemas.openxmlformats.org/package/2006/relationships"><Relationship Type="http://schemas.openxmlformats.org/officeDocument/2006/relationships/slideLayout" Target="/ppt/slideLayouts/slideLayout1.xml" Id="R269f61e13c8c46da" /><Relationship Type="http://schemas.openxmlformats.org/officeDocument/2006/relationships/notesSlide" Target="/ppt/notesSlides/notesSlide32.xml" Id="Ra895ff1404c14808" /></Relationships>
</file>

<file path=ppt/slides/_rels/slide33.xml.rels>&#65279;<?xml version="1.0" encoding="utf-8"?><Relationships xmlns="http://schemas.openxmlformats.org/package/2006/relationships"><Relationship Type="http://schemas.openxmlformats.org/officeDocument/2006/relationships/slideLayout" Target="/ppt/slideLayouts/slideLayout1.xml" Id="R9e7e5d5265c94e35" /><Relationship Type="http://schemas.openxmlformats.org/officeDocument/2006/relationships/notesSlide" Target="/ppt/notesSlides/notesSlide33.xml" Id="Rf684ef492f384067" /></Relationships>
</file>

<file path=ppt/slides/_rels/slide34.xml.rels>&#65279;<?xml version="1.0" encoding="utf-8"?><Relationships xmlns="http://schemas.openxmlformats.org/package/2006/relationships"><Relationship Type="http://schemas.openxmlformats.org/officeDocument/2006/relationships/slideLayout" Target="/ppt/slideLayouts/slideLayout1.xml" Id="Rc5821051f8b54c6e" /><Relationship Type="http://schemas.openxmlformats.org/officeDocument/2006/relationships/notesSlide" Target="/ppt/notesSlides/notesSlide34.xml" Id="R1a67ed566a4542c8" /></Relationships>
</file>

<file path=ppt/slides/_rels/slide35.xml.rels>&#65279;<?xml version="1.0" encoding="utf-8"?><Relationships xmlns="http://schemas.openxmlformats.org/package/2006/relationships"><Relationship Type="http://schemas.openxmlformats.org/officeDocument/2006/relationships/slideLayout" Target="/ppt/slideLayouts/slideLayout1.xml" Id="R0c3cc4a51bbd41a3" /><Relationship Type="http://schemas.openxmlformats.org/officeDocument/2006/relationships/notesSlide" Target="/ppt/notesSlides/notesSlide35.xml" Id="R77d50e4da4814a8a" /></Relationships>
</file>

<file path=ppt/slides/charts/chart1.xml><?xml version="1.0" encoding="utf-8"?>
<c:chartSpace xmlns:c="http://schemas.openxmlformats.org/drawingml/2006/chart">
  <c:lang val="en-US"/>
  <c:chart>
    <c:title>
      <c:tx>
        <c:rich>
          <a:bodyPr xmlns:a="http://schemas.openxmlformats.org/drawingml/2006/main"/>
          <a:lstStyle xmlns:a="http://schemas.openxmlformats.org/drawingml/2006/main"/>
          <a:p xmlns:a="http://schemas.openxmlformats.org/drawingml/2006/main">
            <a:r>
              <a:rPr sz="1200" b="1">
                <a:solidFill>
                  <a:srgbClr val="111316"/>
                </a:solidFill>
              </a:rPr>
              <a:t>Radley Hall roof: annual benefit by strategy</a:t>
            </a:r>
          </a:p>
        </c:rich>
      </c:tx>
      <c:overlay val="0"/>
      <c:txPr>
        <a:bodyPr xmlns:a="http://schemas.openxmlformats.org/drawingml/2006/main" anchorCtr="1"/>
        <a:lstStyle xmlns:a="http://schemas.openxmlformats.org/drawingml/2006/main"/>
        <a:p xmlns:a="http://schemas.openxmlformats.org/drawingml/2006/main">
          <a:pPr>
            <a:defRPr sz="1200" b="1">
              <a:solidFill>
                <a:srgbClr val="111316"/>
              </a:solidFill>
            </a:defRPr>
          </a:pPr>
        </a:p>
      </c:txPr>
    </c:title>
    <c:plotArea>
      <c:barChart>
        <c:barDir val="col"/>
        <c:varyColors val="0"/>
        <c:ser>
          <c:idx val="0"/>
          <c:order val="0"/>
          <c:tx>
            <c:v>Annual benefit ($/yr)</c:v>
          </c:tx>
          <c:cat>
            <c:strLit>
              <c:ptCount val="3"/>
              <c:pt idx="0">
                <c:v>All-solar</c:v>
              </c:pt>
              <c:pt idx="1">
                <c:v>All-green</c:v>
              </c:pt>
              <c:pt idx="2">
                <c:v>Optimal (solved)</c:v>
              </c:pt>
            </c:strLit>
          </c:cat>
          <c:val>
            <c:numLit>
              <c:formatCode>General</c:formatCode>
              <c:ptCount val="3"/>
              <c:pt idx="0">
                <c:v>7200</c:v>
              </c:pt>
              <c:pt idx="1">
                <c:v>5000</c:v>
              </c:pt>
              <c:pt idx="2">
                <c:v>7800</c:v>
              </c:pt>
            </c:numLit>
          </c:val>
        </c:ser>
        <c:axId val="48650112"/>
        <c:axId val="48672768"/>
      </c:barChart>
      <c:catAx>
        <c:axId val="48650112"/>
        <c:scaling>
          <c:orientation val="minMax"/>
        </c:scaling>
        <c:delete val="0"/>
        <c:axPos val="b"/>
        <c:majorGridlines>
          <c:spPr>
            <a:ln xmlns:a="http://schemas.openxmlformats.org/drawingml/2006/main" w="9525">
              <a:solidFill>
                <a:srgbClr val="E1E3E7"/>
              </a:solidFill>
              <a:prstDash val="solid"/>
            </a:ln>
          </c:spPr>
        </c:majorGridlines>
        <c:title>
          <c:tx>
            <c:rich>
              <a:bodyPr xmlns:a="http://schemas.openxmlformats.org/drawingml/2006/main"/>
              <a:lstStyle xmlns:a="http://schemas.openxmlformats.org/drawingml/2006/main"/>
              <a:p xmlns:a="http://schemas.openxmlformats.org/drawingml/2006/main">
                <a:r>
                  <a:rPr sz="900">
                    <a:solidFill>
                      <a:srgbClr val="5A5F66"/>
                    </a:solidFill>
                  </a:rPr>
                  <a:t>Strategy</a:t>
                </a:r>
              </a:p>
            </c:rich>
          </c:tx>
          <c:overlay val="0"/>
          <c:txPr>
            <a:bodyPr xmlns:a="http://schemas.openxmlformats.org/drawingml/2006/main" anchorCtr="1"/>
            <a:lstStyle xmlns:a="http://schemas.openxmlformats.org/drawingml/2006/main"/>
            <a:p xmlns:a="http://schemas.openxmlformats.org/drawingml/2006/main">
              <a:pPr>
                <a:defRPr sz="900">
                  <a:solidFill>
                    <a:srgbClr val="5A5F66"/>
                  </a:solidFill>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900">
                <a:solidFill>
                  <a:srgbClr val="5A5F66"/>
                </a:solidFill>
              </a:defRPr>
            </a:pPr>
          </a:p>
        </c:txPr>
        <c:crossAx val="48672768"/>
      </c:catAx>
      <c:valAx>
        <c:axId val="48672768"/>
        <c:scaling>
          <c:orientation val="minMax"/>
        </c:scaling>
        <c:delete val="0"/>
        <c:axPos val="l"/>
        <c:majorGridlines>
          <c:spPr>
            <a:ln xmlns:a="http://schemas.openxmlformats.org/drawingml/2006/main" w="9525">
              <a:solidFill>
                <a:srgbClr val="E1E3E7"/>
              </a:solidFill>
              <a:prstDash val="solid"/>
            </a:ln>
          </c:spPr>
        </c:majorGridlines>
        <c:title>
          <c:tx>
            <c:rich>
              <a:bodyPr xmlns:a="http://schemas.openxmlformats.org/drawingml/2006/main"/>
              <a:lstStyle xmlns:a="http://schemas.openxmlformats.org/drawingml/2006/main"/>
              <a:p xmlns:a="http://schemas.openxmlformats.org/drawingml/2006/main">
                <a:r>
                  <a:rPr sz="900">
                    <a:solidFill>
                      <a:srgbClr val="5A5F66"/>
                    </a:solidFill>
                  </a:rPr>
                  <a:t>Annual benefit ($/yr)</a:t>
                </a:r>
              </a:p>
            </c:rich>
          </c:tx>
          <c:overlay val="0"/>
          <c:txPr>
            <a:bodyPr xmlns:a="http://schemas.openxmlformats.org/drawingml/2006/main" anchorCtr="1"/>
            <a:lstStyle xmlns:a="http://schemas.openxmlformats.org/drawingml/2006/main"/>
            <a:p xmlns:a="http://schemas.openxmlformats.org/drawingml/2006/main">
              <a:pPr>
                <a:defRPr sz="900">
                  <a:solidFill>
                    <a:srgbClr val="5A5F66"/>
                  </a:solidFill>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900">
                <a:solidFill>
                  <a:srgbClr val="5A5F66"/>
                </a:solidFill>
              </a:defRPr>
            </a:pPr>
          </a:p>
        </c:txPr>
        <c:crossAx val="48650112"/>
        <c:crossBetween val="between"/>
      </c:valAx>
      <c:spPr>
        <a:solidFill xmlns:a="http://schemas.openxmlformats.org/drawingml/2006/main">
          <a:srgbClr val="FFFFFF"/>
        </a:solidFill>
        <a:ln xmlns:a="http://schemas.openxmlformats.org/drawingml/2006/main" w="9525">
          <a:solidFill>
            <a:srgbClr val="B8BCC4"/>
          </a:solidFill>
          <a:prstDash val="solid"/>
        </a:ln>
      </c:spPr>
    </c:plotArea>
    <c:plotVisOnly val="1"/>
  </c:chart>
  <c:spPr>
    <a:solidFill xmlns:a="http://schemas.openxmlformats.org/drawingml/2006/main">
      <a:srgbClr val="FFFFFF"/>
    </a:solidFill>
    <a:ln xmlns:a="http://schemas.openxmlformats.org/drawingml/2006/main" w="9525">
      <a:solidFill>
        <a:srgbClr val="B8BCC4"/>
      </a:solidFill>
      <a:prstDash val="solid"/>
    </a:ln>
  </c:spPr>
</c:chartSpace>
</file>

<file path=ppt/slides/charts/chart2.xml><?xml version="1.0" encoding="utf-8"?>
<c:chartSpace xmlns:c="http://schemas.openxmlformats.org/drawingml/2006/chart">
  <c:lang val="en-US"/>
  <c:chart>
    <c:title>
      <c:tx>
        <c:rich>
          <a:bodyPr xmlns:a="http://schemas.openxmlformats.org/drawingml/2006/main"/>
          <a:lstStyle xmlns:a="http://schemas.openxmlformats.org/drawingml/2006/main"/>
          <a:p xmlns:a="http://schemas.openxmlformats.org/drawingml/2006/main">
            <a:r>
              <a:rPr sz="1200" b="1">
                <a:solidFill>
                  <a:srgbClr val="111316"/>
                </a:solidFill>
              </a:rPr>
              <a:t>Optimal allocation at two approved budgets</a:t>
            </a:r>
          </a:p>
        </c:rich>
      </c:tx>
      <c:overlay val="0"/>
      <c:txPr>
        <a:bodyPr xmlns:a="http://schemas.openxmlformats.org/drawingml/2006/main" anchorCtr="1"/>
        <a:lstStyle xmlns:a="http://schemas.openxmlformats.org/drawingml/2006/main"/>
        <a:p xmlns:a="http://schemas.openxmlformats.org/drawingml/2006/main">
          <a:pPr>
            <a:defRPr sz="1200" b="1">
              <a:solidFill>
                <a:srgbClr val="111316"/>
              </a:solidFill>
            </a:defRPr>
          </a:pPr>
        </a:p>
      </c:txPr>
    </c:title>
    <c:plotArea>
      <c:barChart>
        <c:barDir val="col"/>
        <c:varyColors val="0"/>
        <c:ser>
          <c:idx val="0"/>
          <c:order val="0"/>
          <c:tx>
            <c:v>Solar x1 (m2)</c:v>
          </c:tx>
          <c:cat>
            <c:strLit>
              <c:ptCount val="2"/>
              <c:pt idx="0">
                <c:v>$40,000 budget</c:v>
              </c:pt>
              <c:pt idx="1">
                <c:v>$50,000 budget</c:v>
              </c:pt>
            </c:strLit>
          </c:cat>
          <c:val>
            <c:numLit>
              <c:formatCode>General</c:formatCode>
              <c:ptCount val="2"/>
              <c:pt idx="0">
                <c:v>40</c:v>
              </c:pt>
              <c:pt idx="1">
                <c:v>80</c:v>
              </c:pt>
            </c:numLit>
          </c:val>
        </c:ser>
        <c:ser>
          <c:idx val="1"/>
          <c:order val="1"/>
          <c:tx>
            <c:v>Green roof x2 (m2)</c:v>
          </c:tx>
          <c:cat>
            <c:strLit>
              <c:ptCount val="2"/>
              <c:pt idx="0">
                <c:v>$40,000 budget</c:v>
              </c:pt>
              <c:pt idx="1">
                <c:v>$50,000 budget</c:v>
              </c:pt>
            </c:strLit>
          </c:cat>
          <c:val>
            <c:numLit>
              <c:formatCode>General</c:formatCode>
              <c:ptCount val="2"/>
              <c:pt idx="0">
                <c:v>160</c:v>
              </c:pt>
              <c:pt idx="1">
                <c:v>120</c:v>
              </c:pt>
            </c:numLit>
          </c:val>
        </c:ser>
        <c:axId val="48650112"/>
        <c:axId val="48672768"/>
      </c:barChart>
      <c:catAx>
        <c:axId val="48650112"/>
        <c:scaling>
          <c:orientation val="minMax"/>
        </c:scaling>
        <c:delete val="0"/>
        <c:axPos val="b"/>
        <c:majorGridlines>
          <c:spPr>
            <a:ln xmlns:a="http://schemas.openxmlformats.org/drawingml/2006/main" w="9525">
              <a:solidFill>
                <a:srgbClr val="E1E3E7"/>
              </a:solidFill>
              <a:prstDash val="solid"/>
            </a:ln>
          </c:spPr>
        </c:majorGridlines>
        <c:title>
          <c:tx>
            <c:rich>
              <a:bodyPr xmlns:a="http://schemas.openxmlformats.org/drawingml/2006/main"/>
              <a:lstStyle xmlns:a="http://schemas.openxmlformats.org/drawingml/2006/main"/>
              <a:p xmlns:a="http://schemas.openxmlformats.org/drawingml/2006/main">
                <a:r>
                  <a:rPr sz="900">
                    <a:solidFill>
                      <a:srgbClr val="5A5F66"/>
                    </a:solidFill>
                  </a:rPr>
                  <a:t>Approved budget</a:t>
                </a:r>
              </a:p>
            </c:rich>
          </c:tx>
          <c:overlay val="0"/>
          <c:txPr>
            <a:bodyPr xmlns:a="http://schemas.openxmlformats.org/drawingml/2006/main" anchorCtr="1"/>
            <a:lstStyle xmlns:a="http://schemas.openxmlformats.org/drawingml/2006/main"/>
            <a:p xmlns:a="http://schemas.openxmlformats.org/drawingml/2006/main">
              <a:pPr>
                <a:defRPr sz="900">
                  <a:solidFill>
                    <a:srgbClr val="5A5F66"/>
                  </a:solidFill>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900">
                <a:solidFill>
                  <a:srgbClr val="5A5F66"/>
                </a:solidFill>
              </a:defRPr>
            </a:pPr>
          </a:p>
        </c:txPr>
        <c:crossAx val="48672768"/>
      </c:catAx>
      <c:valAx>
        <c:axId val="48672768"/>
        <c:scaling>
          <c:orientation val="minMax"/>
        </c:scaling>
        <c:delete val="0"/>
        <c:axPos val="l"/>
        <c:majorGridlines>
          <c:spPr>
            <a:ln xmlns:a="http://schemas.openxmlformats.org/drawingml/2006/main" w="9525">
              <a:solidFill>
                <a:srgbClr val="E1E3E7"/>
              </a:solidFill>
              <a:prstDash val="solid"/>
            </a:ln>
          </c:spPr>
        </c:majorGridlines>
        <c:title>
          <c:tx>
            <c:rich>
              <a:bodyPr xmlns:a="http://schemas.openxmlformats.org/drawingml/2006/main"/>
              <a:lstStyle xmlns:a="http://schemas.openxmlformats.org/drawingml/2006/main"/>
              <a:p xmlns:a="http://schemas.openxmlformats.org/drawingml/2006/main">
                <a:r>
                  <a:rPr sz="900">
                    <a:solidFill>
                      <a:srgbClr val="5A5F66"/>
                    </a:solidFill>
                  </a:rPr>
                  <a:t>Area allocated (m2)</a:t>
                </a:r>
              </a:p>
            </c:rich>
          </c:tx>
          <c:overlay val="0"/>
          <c:txPr>
            <a:bodyPr xmlns:a="http://schemas.openxmlformats.org/drawingml/2006/main" anchorCtr="1"/>
            <a:lstStyle xmlns:a="http://schemas.openxmlformats.org/drawingml/2006/main"/>
            <a:p xmlns:a="http://schemas.openxmlformats.org/drawingml/2006/main">
              <a:pPr>
                <a:defRPr sz="900">
                  <a:solidFill>
                    <a:srgbClr val="5A5F66"/>
                  </a:solidFill>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900">
                <a:solidFill>
                  <a:srgbClr val="5A5F66"/>
                </a:solidFill>
              </a:defRPr>
            </a:pPr>
          </a:p>
        </c:txPr>
        <c:crossAx val="48650112"/>
        <c:crossBetween val="between"/>
      </c:valAx>
      <c:spPr>
        <a:solidFill xmlns:a="http://schemas.openxmlformats.org/drawingml/2006/main">
          <a:srgbClr val="FFFFFF"/>
        </a:solidFill>
        <a:ln xmlns:a="http://schemas.openxmlformats.org/drawingml/2006/main" w="9525">
          <a:solidFill>
            <a:srgbClr val="B8BCC4"/>
          </a:solidFill>
          <a:prstDash val="solid"/>
        </a:ln>
      </c:spPr>
    </c:plotArea>
    <c:legend>
      <c:legendPos val="b"/>
      <c:overlay val="0"/>
      <c:txPr>
        <a:bodyPr xmlns:a="http://schemas.openxmlformats.org/drawingml/2006/main" anchorCtr="1"/>
        <a:lstStyle xmlns:a="http://schemas.openxmlformats.org/drawingml/2006/main"/>
        <a:p xmlns:a="http://schemas.openxmlformats.org/drawingml/2006/main">
          <a:pPr>
            <a:defRPr sz="900">
              <a:solidFill>
                <a:srgbClr val="5A5F66"/>
              </a:solidFill>
            </a:defRPr>
          </a:pPr>
        </a:p>
      </c:txPr>
    </c:legend>
    <c:plotVisOnly val="1"/>
  </c:chart>
  <c:spPr>
    <a:solidFill xmlns:a="http://schemas.openxmlformats.org/drawingml/2006/main">
      <a:srgbClr val="FFFFFF"/>
    </a:solidFill>
    <a:ln xmlns:a="http://schemas.openxmlformats.org/drawingml/2006/main" w="9525">
      <a:solidFill>
        <a:srgbClr val="B8BCC4"/>
      </a:solidFill>
      <a:prstDash val="solid"/>
    </a:ln>
  </c:spPr>
</c:chartSpace>
</file>

<file path=ppt/slides/slide1.xml><?xml version="1.0" encoding="utf-8"?>
<p:sld xmlns:p="http://schemas.openxmlformats.org/presentationml/2006/main">
  <p:cSld>
    <p:bg>
      <p:bgPr>
        <a:solidFill xmlns:a="http://schemas.openxmlformats.org/drawingml/2006/main">
          <a:srgbClr val="17191C"/>
        </a:solidFill>
      </p:bgPr>
    </p:bg>
    <p:spTree>
      <p:nvGrpSpPr>
        <p:cNvPr id="1" name=""/>
        <p:cNvGrpSpPr/>
        <p:nvPr/>
      </p:nvGrpSpPr>
      <p:grpSpPr>
        <a:xfrm xmlns:a="http://schemas.openxmlformats.org/drawingml/2006/main"/>
      </p:grpSpPr>
      <p:sp>
        <p:nvSpPr>
          <p:cNvPr id="9" name="course-mark">
            <a:extLst xmlns:a="http://schemas.openxmlformats.org/drawingml/2006/main">
              <a:ext uri="{FF2B5EF4-FFF2-40B4-BE49-F238E27FC236}">
                <a16:creationId xmlns:a16="http://schemas.microsoft.com/office/drawing/2014/main" id="{9BCE4037-53EB-4459-966E-3AD56A949C14}"/>
              </a:ext>
            </a:extLst>
          </p:cNvPr>
          <p:cNvSpPr>
            <a:spLocks xmlns:a="http://schemas.openxmlformats.org/drawingml/2006/main" noGrp="1"/>
          </p:cNvSpPr>
          <p:nvPr/>
        </p:nvSpPr>
        <p:spPr>
          <a:xfrm xmlns:a="http://schemas.openxmlformats.org/drawingml/2006/main">
            <a:off x="609600" y="457200"/>
            <a:ext cx="3048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1800" b="1">
                <a:solidFill>
                  <a:srgbClr val="FFFFFF"/>
                </a:solidFill>
                <a:latin typeface="Arial"/>
                <a:ea typeface="Arial"/>
                <a:cs typeface="Arial"/>
              </a:defRPr>
            </a:pPr>
            <a:r>
              <a:rPr sz="1800" b="1">
                <a:solidFill>
                  <a:srgbClr val="FFFFFF"/>
                </a:solidFill>
                <a:latin typeface="Arial"/>
                <a:ea typeface="Arial"/>
                <a:cs typeface="Arial"/>
              </a:rPr>
              <a:t>&lt;&gt;  ARC 500</a:t>
            </a:r>
          </a:p>
        </p:txBody>
      </p:sp>
      <p:sp>
        <p:nvSpPr>
          <p:cNvPr id="2" name="course-full-title">
            <a:extLst xmlns:a="http://schemas.openxmlformats.org/drawingml/2006/main">
              <a:ext uri="{FF2B5EF4-FFF2-40B4-BE49-F238E27FC236}">
                <a16:creationId xmlns:a16="http://schemas.microsoft.com/office/drawing/2014/main" id="{AF3CAEAA-2CF2-4F15-B8D4-E3EA73B0A162}"/>
              </a:ext>
            </a:extLst>
          </p:cNvPr>
          <p:cNvSpPr>
            <a:spLocks xmlns:a="http://schemas.openxmlformats.org/drawingml/2006/main" noGrp="1"/>
          </p:cNvSpPr>
          <p:nvPr/>
        </p:nvSpPr>
        <p:spPr>
          <a:xfrm xmlns:a="http://schemas.openxmlformats.org/drawingml/2006/main">
            <a:off x="609600" y="819150"/>
            <a:ext cx="10096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0">
                <a:solidFill>
                  <a:srgbClr val="9AA1AC"/>
                </a:solidFill>
                <a:latin typeface="Arial"/>
                <a:ea typeface="Arial"/>
                <a:cs typeface="Arial"/>
              </a:defRPr>
            </a:pPr>
            <a:r>
              <a:rPr sz="900" b="0">
                <a:solidFill>
                  <a:srgbClr val="9AA1AC"/>
                </a:solidFill>
                <a:latin typeface="Arial"/>
                <a:ea typeface="Arial"/>
                <a:cs typeface="Arial"/>
              </a:rPr>
              <a:t>Programming with Python and Generative AI  ·  Scripting, Data Analysis, Visualization, Problem-Solving, and Optimization</a:t>
            </a:r>
          </a:p>
        </p:txBody>
      </p:sp>
      <p:sp>
        <p:nvSpPr>
          <p:cNvPr id="3" name="accent-bar">
            <a:extLst xmlns:a="http://schemas.openxmlformats.org/drawingml/2006/main">
              <a:ext uri="{FF2B5EF4-FFF2-40B4-BE49-F238E27FC236}">
                <a16:creationId xmlns:a16="http://schemas.microsoft.com/office/drawing/2014/main" id="{3E5C3128-508C-4DF2-B195-E5EC8C298531}"/>
              </a:ext>
            </a:extLst>
          </p:cNvPr>
          <p:cNvSpPr>
            <a:spLocks xmlns:a="http://schemas.openxmlformats.org/drawingml/2006/main" noGrp="1"/>
          </p:cNvSpPr>
          <p:nvPr/>
        </p:nvSpPr>
        <p:spPr>
          <a:xfrm xmlns:a="http://schemas.openxmlformats.org/drawingml/2006/main">
            <a:off x="609600" y="1333500"/>
            <a:ext cx="133350" cy="2857500"/>
          </a:xfrm>
          <a:prstGeom xmlns:a="http://schemas.openxmlformats.org/drawingml/2006/main" prst="rect">
            <a:avLst/>
          </a:prstGeom>
          <a:solidFill xmlns:a="http://schemas.openxmlformats.org/drawingml/2006/main">
            <a:srgbClr val="2E74B5"/>
          </a:solidFill>
          <a:ln xmlns:a="http://schemas.openxmlformats.org/drawingml/2006/main" w="0">
            <a:noFill/>
            <a:prstDash val="solid"/>
          </a:ln>
        </p:spPr>
      </p:sp>
      <p:sp>
        <p:nvSpPr>
          <p:cNvPr id="4" name="week-label">
            <a:extLst xmlns:a="http://schemas.openxmlformats.org/drawingml/2006/main">
              <a:ext uri="{FF2B5EF4-FFF2-40B4-BE49-F238E27FC236}">
                <a16:creationId xmlns:a16="http://schemas.microsoft.com/office/drawing/2014/main" id="{FA2BCC88-2479-4E06-B98A-1E59A7A5D653}"/>
              </a:ext>
            </a:extLst>
          </p:cNvPr>
          <p:cNvSpPr>
            <a:spLocks xmlns:a="http://schemas.openxmlformats.org/drawingml/2006/main" noGrp="1"/>
          </p:cNvSpPr>
          <p:nvPr/>
        </p:nvSpPr>
        <p:spPr>
          <a:xfrm xmlns:a="http://schemas.openxmlformats.org/drawingml/2006/main">
            <a:off x="1028700" y="1352550"/>
            <a:ext cx="7239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1200" b="1">
                <a:solidFill>
                  <a:srgbClr val="E8EEF5"/>
                </a:solidFill>
                <a:latin typeface="Arial"/>
                <a:ea typeface="Arial"/>
                <a:cs typeface="Arial"/>
              </a:defRPr>
            </a:pPr>
            <a:r>
              <a:rPr sz="1200" b="1">
                <a:solidFill>
                  <a:srgbClr val="E8EEF5"/>
                </a:solidFill>
                <a:latin typeface="Arial"/>
                <a:ea typeface="Arial"/>
                <a:cs typeface="Arial"/>
              </a:rPr>
              <a:t>WEEK 10 · MEETING B · LINEAR PROGRAMMING STUDIO</a:t>
            </a:r>
          </a:p>
        </p:txBody>
      </p:sp>
      <p:sp>
        <p:nvSpPr>
          <p:cNvPr id="5" name="deck-title">
            <a:extLst xmlns:a="http://schemas.openxmlformats.org/drawingml/2006/main">
              <a:ext uri="{FF2B5EF4-FFF2-40B4-BE49-F238E27FC236}">
                <a16:creationId xmlns:a16="http://schemas.microsoft.com/office/drawing/2014/main" id="{B23D59C6-97C3-4738-99CF-09F150F614BB}"/>
              </a:ext>
            </a:extLst>
          </p:cNvPr>
          <p:cNvSpPr>
            <a:spLocks xmlns:a="http://schemas.openxmlformats.org/drawingml/2006/main" noGrp="1"/>
          </p:cNvSpPr>
          <p:nvPr/>
        </p:nvSpPr>
        <p:spPr>
          <a:xfrm xmlns:a="http://schemas.openxmlformats.org/drawingml/2006/main">
            <a:off x="1028700" y="1771650"/>
            <a:ext cx="9906000" cy="1905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4500" b="1">
                <a:solidFill>
                  <a:srgbClr val="FFFFFF"/>
                </a:solidFill>
                <a:latin typeface="Arial"/>
                <a:ea typeface="Arial"/>
                <a:cs typeface="Arial"/>
              </a:defRPr>
            </a:pPr>
            <a:r>
              <a:rPr sz="4500" b="1">
                <a:solidFill>
                  <a:srgbClr val="FFFFFF"/>
                </a:solidFill>
                <a:latin typeface="Arial"/>
                <a:ea typeface="Arial"/>
                <a:cs typeface="Arial"/>
              </a:rPr>
              <a:t>Solve, then hand-verify, before you trust it</a:t>
            </a:r>
          </a:p>
        </p:txBody>
      </p:sp>
      <p:sp>
        <p:nvSpPr>
          <p:cNvPr id="6" name="deck-subtitle">
            <a:extLst xmlns:a="http://schemas.openxmlformats.org/drawingml/2006/main">
              <a:ext uri="{FF2B5EF4-FFF2-40B4-BE49-F238E27FC236}">
                <a16:creationId xmlns:a16="http://schemas.microsoft.com/office/drawing/2014/main" id="{D2790965-67F0-489F-9804-A5B32F8B3DAC}"/>
              </a:ext>
            </a:extLst>
          </p:cNvPr>
          <p:cNvSpPr>
            <a:spLocks xmlns:a="http://schemas.openxmlformats.org/drawingml/2006/main" noGrp="1"/>
          </p:cNvSpPr>
          <p:nvPr/>
        </p:nvSpPr>
        <p:spPr>
          <a:xfrm xmlns:a="http://schemas.openxmlformats.org/drawingml/2006/main">
            <a:off x="1028700" y="3848100"/>
            <a:ext cx="91440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100" b="0">
                <a:solidFill>
                  <a:srgbClr val="D7D9DC"/>
                </a:solidFill>
                <a:latin typeface="Arial"/>
                <a:ea typeface="Arial"/>
                <a:cs typeface="Arial"/>
              </a:defRPr>
            </a:pPr>
            <a:r>
              <a:rPr sz="2100" b="0">
                <a:solidFill>
                  <a:srgbClr val="D7D9DC"/>
                </a:solidFill>
                <a:latin typeface="Arial"/>
                <a:ea typeface="Arial"/>
                <a:cs typeface="Arial"/>
              </a:rPr>
              <a:t>Meeting B — solve the roof allocation with linprog, hand-verify both binding constraints, then formulate your own</a:t>
            </a:r>
          </a:p>
        </p:txBody>
      </p:sp>
      <p:sp>
        <p:nvSpPr>
          <p:cNvPr id="7" name="">
            <a:extLst xmlns:a="http://schemas.openxmlformats.org/drawingml/2006/main">
              <a:ext uri="{FF2B5EF4-FFF2-40B4-BE49-F238E27FC236}">
                <a16:creationId xmlns:a16="http://schemas.microsoft.com/office/drawing/2014/main" id="{2E372CC7-C382-4737-81C3-A8DFDCD3DA70}"/>
              </a:ext>
            </a:extLst>
          </p:cNvPr>
          <p:cNvSpPr>
            <a:spLocks xmlns:a="http://schemas.openxmlformats.org/drawingml/2006/main" noGrp="1"/>
          </p:cNvSpPr>
          <p:nvPr/>
        </p:nvSpPr>
        <p:spPr>
          <a:xfrm xmlns:a="http://schemas.openxmlformats.org/drawingml/2006/main">
            <a:off x="1028700" y="5295900"/>
            <a:ext cx="2476500" cy="0"/>
          </a:xfrm>
          <a:prstGeom xmlns:a="http://schemas.openxmlformats.org/drawingml/2006/main" prst="line">
            <a:avLst/>
          </a:prstGeom>
          <a:noFill xmlns:a="http://schemas.openxmlformats.org/drawingml/2006/main"/>
          <a:ln xmlns:a="http://schemas.openxmlformats.org/drawingml/2006/main" w="9525">
            <a:solidFill>
              <a:srgbClr val="FFFFFF"/>
            </a:solidFill>
            <a:prstDash val="solid"/>
          </a:ln>
        </p:spPr>
      </p:sp>
      <p:sp>
        <p:nvSpPr>
          <p:cNvPr id="8" name="instructor">
            <a:extLst xmlns:a="http://schemas.openxmlformats.org/drawingml/2006/main">
              <a:ext uri="{FF2B5EF4-FFF2-40B4-BE49-F238E27FC236}">
                <a16:creationId xmlns:a16="http://schemas.microsoft.com/office/drawing/2014/main" id="{334B89A4-64D4-4358-87C8-4C809A4533D0}"/>
              </a:ext>
            </a:extLst>
          </p:cNvPr>
          <p:cNvSpPr>
            <a:spLocks xmlns:a="http://schemas.openxmlformats.org/drawingml/2006/main" noGrp="1"/>
          </p:cNvSpPr>
          <p:nvPr/>
        </p:nvSpPr>
        <p:spPr>
          <a:xfrm xmlns:a="http://schemas.openxmlformats.org/drawingml/2006/main">
            <a:off x="1028700" y="5524500"/>
            <a:ext cx="7810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1200" b="0">
                <a:solidFill>
                  <a:srgbClr val="D7D9DC"/>
                </a:solidFill>
                <a:latin typeface="Arial"/>
                <a:ea typeface="Arial"/>
                <a:cs typeface="Arial"/>
              </a:defRPr>
            </a:pPr>
            <a:r>
              <a:rPr sz="1200" b="0">
                <a:solidFill>
                  <a:srgbClr val="D7D9DC"/>
                </a:solidFill>
                <a:latin typeface="Arial"/>
                <a:ea typeface="Arial"/>
                <a:cs typeface="Arial"/>
              </a:rPr>
              <a:t>JunHo Chun, PhD  ·  School of Architecture  ·  Syracuse University  ·  Fall 2026</a:t>
            </a:r>
          </a:p>
        </p:txBody>
      </p:sp>
    </p:spTree>
    <p:extLst>
      <p:ext uri="{BB962C8B-B14F-4D97-AF65-F5344CB8AC3E}">
        <p14:creationId xmlns:p14="http://schemas.microsoft.com/office/powerpoint/2010/main" val="1452076486"/>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 name="kicker">
            <a:extLst xmlns:a="http://schemas.openxmlformats.org/drawingml/2006/main">
              <a:ext uri="{FF2B5EF4-FFF2-40B4-BE49-F238E27FC236}">
                <a16:creationId xmlns:a16="http://schemas.microsoft.com/office/drawing/2014/main" id="{6F1D04A7-F01B-4522-AA38-B4D4343504E8}"/>
              </a:ext>
            </a:extLst>
          </p:cNvPr>
          <p:cNvSpPr>
            <a:spLocks xmlns:a="http://schemas.openxmlformats.org/drawingml/2006/main" noGrp="1"/>
          </p:cNvSpPr>
          <p:nvPr/>
        </p:nvSpPr>
        <p:spPr>
          <a:xfrm xmlns:a="http://schemas.openxmlformats.org/drawingml/2006/main">
            <a:off x="609600" y="342900"/>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2E74B5"/>
                </a:solidFill>
                <a:latin typeface="Arial"/>
                <a:ea typeface="Arial"/>
                <a:cs typeface="Arial"/>
              </a:defRPr>
            </a:pPr>
            <a:r>
              <a:rPr sz="900" b="1">
                <a:solidFill>
                  <a:srgbClr val="2E74B5"/>
                </a:solidFill>
                <a:latin typeface="Arial"/>
                <a:ea typeface="Arial"/>
                <a:cs typeface="Arial"/>
              </a:rPr>
              <a:t>LEARNING OUTCOMES</a:t>
            </a:r>
          </a:p>
        </p:txBody>
      </p:sp>
      <p:sp>
        <p:nvSpPr>
          <p:cNvPr id="2" name="title">
            <a:extLst xmlns:a="http://schemas.openxmlformats.org/drawingml/2006/main">
              <a:ext uri="{FF2B5EF4-FFF2-40B4-BE49-F238E27FC236}">
                <a16:creationId xmlns:a16="http://schemas.microsoft.com/office/drawing/2014/main" id="{CAE67B81-D45E-4E29-AA63-74E24F96203D}"/>
              </a:ext>
            </a:extLst>
          </p:cNvPr>
          <p:cNvSpPr>
            <a:spLocks xmlns:a="http://schemas.openxmlformats.org/drawingml/2006/main" noGrp="1"/>
          </p:cNvSpPr>
          <p:nvPr/>
        </p:nvSpPr>
        <p:spPr>
          <a:xfrm xmlns:a="http://schemas.openxmlformats.org/drawingml/2006/main">
            <a:off x="609600" y="60960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3000" b="0">
                <a:solidFill>
                  <a:srgbClr val="111316"/>
                </a:solidFill>
                <a:latin typeface="Arial"/>
                <a:ea typeface="Arial"/>
                <a:cs typeface="Arial"/>
              </a:defRPr>
            </a:pPr>
            <a:r>
              <a:rPr sz="3000" b="0">
                <a:solidFill>
                  <a:srgbClr val="111316"/>
                </a:solidFill>
                <a:latin typeface="Arial"/>
                <a:ea typeface="Arial"/>
                <a:cs typeface="Arial"/>
              </a:rPr>
              <a:t>By the end, you should be able to…</a:t>
            </a:r>
          </a:p>
        </p:txBody>
      </p:sp>
      <p:sp>
        <p:nvSpPr>
          <p:cNvPr id="3" name="">
            <a:extLst xmlns:a="http://schemas.openxmlformats.org/drawingml/2006/main">
              <a:ext uri="{FF2B5EF4-FFF2-40B4-BE49-F238E27FC236}">
                <a16:creationId xmlns:a16="http://schemas.microsoft.com/office/drawing/2014/main" id="{C83761AA-3C14-47C4-9052-5DCB285E4425}"/>
              </a:ext>
            </a:extLst>
          </p:cNvPr>
          <p:cNvSpPr>
            <a:spLocks xmlns:a="http://schemas.openxmlformats.org/drawingml/2006/main" noGrp="1"/>
          </p:cNvSpPr>
          <p:nvPr/>
        </p:nvSpPr>
        <p:spPr>
          <a:xfrm xmlns:a="http://schemas.openxmlformats.org/drawingml/2006/main">
            <a:off x="609600" y="6343650"/>
            <a:ext cx="10972800" cy="0"/>
          </a:xfrm>
          <a:prstGeom xmlns:a="http://schemas.openxmlformats.org/drawingml/2006/main" prst="line">
            <a:avLst/>
          </a:prstGeom>
          <a:noFill xmlns:a="http://schemas.openxmlformats.org/drawingml/2006/main"/>
          <a:ln xmlns:a="http://schemas.openxmlformats.org/drawingml/2006/main" w="9525">
            <a:solidFill>
              <a:srgbClr val="DDE0E5"/>
            </a:solidFill>
            <a:prstDash val="solid"/>
          </a:ln>
        </p:spPr>
      </p:sp>
      <p:sp>
        <p:nvSpPr>
          <p:cNvPr id="4" name="footer">
            <a:extLst xmlns:a="http://schemas.openxmlformats.org/drawingml/2006/main">
              <a:ext uri="{FF2B5EF4-FFF2-40B4-BE49-F238E27FC236}">
                <a16:creationId xmlns:a16="http://schemas.microsoft.com/office/drawing/2014/main" id="{F7915B90-1BA5-48EC-AF36-63BE74F5C393}"/>
              </a:ext>
            </a:extLst>
          </p:cNvPr>
          <p:cNvSpPr>
            <a:spLocks xmlns:a="http://schemas.openxmlformats.org/drawingml/2006/main" noGrp="1"/>
          </p:cNvSpPr>
          <p:nvPr/>
        </p:nvSpPr>
        <p:spPr>
          <a:xfrm xmlns:a="http://schemas.openxmlformats.org/drawingml/2006/main">
            <a:off x="609600" y="6429375"/>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ARC 500  ·  Week 10 · Meeting B · Linear Programming Studio</a:t>
            </a:r>
          </a:p>
        </p:txBody>
      </p:sp>
      <p:sp>
        <p:nvSpPr>
          <p:cNvPr id="5" name="page">
            <a:extLst xmlns:a="http://schemas.openxmlformats.org/drawingml/2006/main">
              <a:ext uri="{FF2B5EF4-FFF2-40B4-BE49-F238E27FC236}">
                <a16:creationId xmlns:a16="http://schemas.microsoft.com/office/drawing/2014/main" id="{6674ED34-EE20-45AB-A2A6-49CB7F2D0682}"/>
              </a:ext>
            </a:extLst>
          </p:cNvPr>
          <p:cNvSpPr>
            <a:spLocks xmlns:a="http://schemas.openxmlformats.org/drawingml/2006/main" noGrp="1"/>
          </p:cNvSpPr>
          <p:nvPr/>
        </p:nvSpPr>
        <p:spPr>
          <a:xfrm xmlns:a="http://schemas.openxmlformats.org/drawingml/2006/main">
            <a:off x="10896600" y="6429375"/>
            <a:ext cx="685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02</a:t>
            </a:r>
          </a:p>
        </p:txBody>
      </p:sp>
      <p:sp>
        <p:nvSpPr>
          <p:cNvPr id="6" name="outcome-number-0">
            <a:extLst xmlns:a="http://schemas.openxmlformats.org/drawingml/2006/main">
              <a:ext uri="{FF2B5EF4-FFF2-40B4-BE49-F238E27FC236}">
                <a16:creationId xmlns:a16="http://schemas.microsoft.com/office/drawing/2014/main" id="{E9A9EE96-7235-4AD1-B63C-7EEFF63F080E}"/>
              </a:ext>
            </a:extLst>
          </p:cNvPr>
          <p:cNvSpPr>
            <a:spLocks xmlns:a="http://schemas.openxmlformats.org/drawingml/2006/main" noGrp="1"/>
          </p:cNvSpPr>
          <p:nvPr/>
        </p:nvSpPr>
        <p:spPr>
          <a:xfrm xmlns:a="http://schemas.openxmlformats.org/drawingml/2006/main">
            <a:off x="609600" y="1885950"/>
            <a:ext cx="4953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3000" b="1">
                <a:solidFill>
                  <a:srgbClr val="2E74B5"/>
                </a:solidFill>
                <a:latin typeface="Arial"/>
                <a:ea typeface="Arial"/>
                <a:cs typeface="Arial"/>
              </a:defRPr>
            </a:pPr>
            <a:r>
              <a:rPr sz="3000" b="1">
                <a:solidFill>
                  <a:srgbClr val="2E74B5"/>
                </a:solidFill>
                <a:latin typeface="Arial"/>
                <a:ea typeface="Arial"/>
                <a:cs typeface="Arial"/>
              </a:rPr>
              <a:t>1</a:t>
            </a:r>
          </a:p>
        </p:txBody>
      </p:sp>
      <p:sp>
        <p:nvSpPr>
          <p:cNvPr id="7" name="outcome-head-0">
            <a:extLst xmlns:a="http://schemas.openxmlformats.org/drawingml/2006/main">
              <a:ext uri="{FF2B5EF4-FFF2-40B4-BE49-F238E27FC236}">
                <a16:creationId xmlns:a16="http://schemas.microsoft.com/office/drawing/2014/main" id="{99583AEF-AECA-4A11-9CB3-80CFCB2F5EED}"/>
              </a:ext>
            </a:extLst>
          </p:cNvPr>
          <p:cNvSpPr>
            <a:spLocks xmlns:a="http://schemas.openxmlformats.org/drawingml/2006/main" noGrp="1"/>
          </p:cNvSpPr>
          <p:nvPr/>
        </p:nvSpPr>
        <p:spPr>
          <a:xfrm xmlns:a="http://schemas.openxmlformats.org/drawingml/2006/main">
            <a:off x="1200150" y="1905000"/>
            <a:ext cx="44958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00" b="1">
                <a:solidFill>
                  <a:srgbClr val="111316"/>
                </a:solidFill>
                <a:latin typeface="Arial"/>
                <a:ea typeface="Arial"/>
                <a:cs typeface="Arial"/>
              </a:defRPr>
            </a:pPr>
            <a:r>
              <a:rPr sz="1800" b="1">
                <a:solidFill>
                  <a:srgbClr val="111316"/>
                </a:solidFill>
                <a:latin typeface="Arial"/>
                <a:ea typeface="Arial"/>
                <a:cs typeface="Arial"/>
              </a:rPr>
              <a:t>Solve</a:t>
            </a:r>
          </a:p>
        </p:txBody>
      </p:sp>
      <p:sp>
        <p:nvSpPr>
          <p:cNvPr id="8" name="outcome-body-0">
            <a:extLst xmlns:a="http://schemas.openxmlformats.org/drawingml/2006/main">
              <a:ext uri="{FF2B5EF4-FFF2-40B4-BE49-F238E27FC236}">
                <a16:creationId xmlns:a16="http://schemas.microsoft.com/office/drawing/2014/main" id="{73572792-455E-4F27-8BFC-EF29E4185490}"/>
              </a:ext>
            </a:extLst>
          </p:cNvPr>
          <p:cNvSpPr>
            <a:spLocks xmlns:a="http://schemas.openxmlformats.org/drawingml/2006/main" noGrp="1"/>
          </p:cNvSpPr>
          <p:nvPr/>
        </p:nvSpPr>
        <p:spPr>
          <a:xfrm xmlns:a="http://schemas.openxmlformats.org/drawingml/2006/main">
            <a:off x="1200150" y="2400300"/>
            <a:ext cx="4629150" cy="1428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500" b="0">
                <a:solidFill>
                  <a:srgbClr val="5A5F66"/>
                </a:solidFill>
                <a:latin typeface="Arial"/>
                <a:ea typeface="Arial"/>
                <a:cs typeface="Arial"/>
              </a:defRPr>
            </a:pPr>
            <a:r>
              <a:rPr sz="1500" b="0">
                <a:solidFill>
                  <a:srgbClr val="5A5F66"/>
                </a:solidFill>
                <a:latin typeface="Arial"/>
                <a:ea typeface="Arial"/>
                <a:cs typeface="Arial"/>
              </a:rPr>
              <a:t>Run linprog on Radley Hall's roof allocation and correctly read res.x, res.fun, and res.success.</a:t>
            </a:r>
          </a:p>
        </p:txBody>
      </p:sp>
      <p:sp>
        <p:nvSpPr>
          <p:cNvPr id="9" name="outcome-number-1">
            <a:extLst xmlns:a="http://schemas.openxmlformats.org/drawingml/2006/main">
              <a:ext uri="{FF2B5EF4-FFF2-40B4-BE49-F238E27FC236}">
                <a16:creationId xmlns:a16="http://schemas.microsoft.com/office/drawing/2014/main" id="{EFF94265-4CCC-4A66-BD67-C004B8ACF6FF}"/>
              </a:ext>
            </a:extLst>
          </p:cNvPr>
          <p:cNvSpPr>
            <a:spLocks xmlns:a="http://schemas.openxmlformats.org/drawingml/2006/main" noGrp="1"/>
          </p:cNvSpPr>
          <p:nvPr/>
        </p:nvSpPr>
        <p:spPr>
          <a:xfrm xmlns:a="http://schemas.openxmlformats.org/drawingml/2006/main">
            <a:off x="6362700" y="1885950"/>
            <a:ext cx="4953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3000" b="1">
                <a:solidFill>
                  <a:srgbClr val="2E74B5"/>
                </a:solidFill>
                <a:latin typeface="Arial"/>
                <a:ea typeface="Arial"/>
                <a:cs typeface="Arial"/>
              </a:defRPr>
            </a:pPr>
            <a:r>
              <a:rPr sz="3000" b="1">
                <a:solidFill>
                  <a:srgbClr val="2E74B5"/>
                </a:solidFill>
                <a:latin typeface="Arial"/>
                <a:ea typeface="Arial"/>
                <a:cs typeface="Arial"/>
              </a:rPr>
              <a:t>2</a:t>
            </a:r>
          </a:p>
        </p:txBody>
      </p:sp>
      <p:sp>
        <p:nvSpPr>
          <p:cNvPr id="10" name="outcome-head-1">
            <a:extLst xmlns:a="http://schemas.openxmlformats.org/drawingml/2006/main">
              <a:ext uri="{FF2B5EF4-FFF2-40B4-BE49-F238E27FC236}">
                <a16:creationId xmlns:a16="http://schemas.microsoft.com/office/drawing/2014/main" id="{43A09FDA-64A7-476F-A617-97DEC907B884}"/>
              </a:ext>
            </a:extLst>
          </p:cNvPr>
          <p:cNvSpPr>
            <a:spLocks xmlns:a="http://schemas.openxmlformats.org/drawingml/2006/main" noGrp="1"/>
          </p:cNvSpPr>
          <p:nvPr/>
        </p:nvSpPr>
        <p:spPr>
          <a:xfrm xmlns:a="http://schemas.openxmlformats.org/drawingml/2006/main">
            <a:off x="6953250" y="1905000"/>
            <a:ext cx="44958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00" b="1">
                <a:solidFill>
                  <a:srgbClr val="111316"/>
                </a:solidFill>
                <a:latin typeface="Arial"/>
                <a:ea typeface="Arial"/>
                <a:cs typeface="Arial"/>
              </a:defRPr>
            </a:pPr>
            <a:r>
              <a:rPr sz="1800" b="1">
                <a:solidFill>
                  <a:srgbClr val="111316"/>
                </a:solidFill>
                <a:latin typeface="Arial"/>
                <a:ea typeface="Arial"/>
                <a:cs typeface="Arial"/>
              </a:rPr>
              <a:t>Verify</a:t>
            </a:r>
          </a:p>
        </p:txBody>
      </p:sp>
      <p:sp>
        <p:nvSpPr>
          <p:cNvPr id="11" name="outcome-body-1">
            <a:extLst xmlns:a="http://schemas.openxmlformats.org/drawingml/2006/main">
              <a:ext uri="{FF2B5EF4-FFF2-40B4-BE49-F238E27FC236}">
                <a16:creationId xmlns:a16="http://schemas.microsoft.com/office/drawing/2014/main" id="{81CD14E1-F1EE-4218-A274-D65D233EBA16}"/>
              </a:ext>
            </a:extLst>
          </p:cNvPr>
          <p:cNvSpPr>
            <a:spLocks xmlns:a="http://schemas.openxmlformats.org/drawingml/2006/main" noGrp="1"/>
          </p:cNvSpPr>
          <p:nvPr/>
        </p:nvSpPr>
        <p:spPr>
          <a:xfrm xmlns:a="http://schemas.openxmlformats.org/drawingml/2006/main">
            <a:off x="6953250" y="2400300"/>
            <a:ext cx="4629150" cy="1428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500" b="0">
                <a:solidFill>
                  <a:srgbClr val="5A5F66"/>
                </a:solidFill>
                <a:latin typeface="Arial"/>
                <a:ea typeface="Arial"/>
                <a:cs typeface="Arial"/>
              </a:defRPr>
            </a:pPr>
            <a:r>
              <a:rPr sz="1500" b="0">
                <a:solidFill>
                  <a:srgbClr val="5A5F66"/>
                </a:solidFill>
                <a:latin typeface="Arial"/>
                <a:ea typeface="Arial"/>
                <a:cs typeface="Arial"/>
              </a:rPr>
              <a:t>Hand-compute both binding constraints and confirm them with assert — never trust solver success alone.</a:t>
            </a:r>
          </a:p>
        </p:txBody>
      </p:sp>
      <p:sp>
        <p:nvSpPr>
          <p:cNvPr id="12" name="outcome-number-2">
            <a:extLst xmlns:a="http://schemas.openxmlformats.org/drawingml/2006/main">
              <a:ext uri="{FF2B5EF4-FFF2-40B4-BE49-F238E27FC236}">
                <a16:creationId xmlns:a16="http://schemas.microsoft.com/office/drawing/2014/main" id="{9C3EEA43-24BD-43FF-99C3-2A257FFF3236}"/>
              </a:ext>
            </a:extLst>
          </p:cNvPr>
          <p:cNvSpPr>
            <a:spLocks xmlns:a="http://schemas.openxmlformats.org/drawingml/2006/main" noGrp="1"/>
          </p:cNvSpPr>
          <p:nvPr/>
        </p:nvSpPr>
        <p:spPr>
          <a:xfrm xmlns:a="http://schemas.openxmlformats.org/drawingml/2006/main">
            <a:off x="609600" y="4095750"/>
            <a:ext cx="4953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3000" b="1">
                <a:solidFill>
                  <a:srgbClr val="2E74B5"/>
                </a:solidFill>
                <a:latin typeface="Arial"/>
                <a:ea typeface="Arial"/>
                <a:cs typeface="Arial"/>
              </a:defRPr>
            </a:pPr>
            <a:r>
              <a:rPr sz="3000" b="1">
                <a:solidFill>
                  <a:srgbClr val="2E74B5"/>
                </a:solidFill>
                <a:latin typeface="Arial"/>
                <a:ea typeface="Arial"/>
                <a:cs typeface="Arial"/>
              </a:rPr>
              <a:t>3</a:t>
            </a:r>
          </a:p>
        </p:txBody>
      </p:sp>
      <p:sp>
        <p:nvSpPr>
          <p:cNvPr id="13" name="outcome-head-2">
            <a:extLst xmlns:a="http://schemas.openxmlformats.org/drawingml/2006/main">
              <a:ext uri="{FF2B5EF4-FFF2-40B4-BE49-F238E27FC236}">
                <a16:creationId xmlns:a16="http://schemas.microsoft.com/office/drawing/2014/main" id="{6DCAEDFF-1434-4C30-8856-C605B8481687}"/>
              </a:ext>
            </a:extLst>
          </p:cNvPr>
          <p:cNvSpPr>
            <a:spLocks xmlns:a="http://schemas.openxmlformats.org/drawingml/2006/main" noGrp="1"/>
          </p:cNvSpPr>
          <p:nvPr/>
        </p:nvSpPr>
        <p:spPr>
          <a:xfrm xmlns:a="http://schemas.openxmlformats.org/drawingml/2006/main">
            <a:off x="1200150" y="4114800"/>
            <a:ext cx="44958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00" b="1">
                <a:solidFill>
                  <a:srgbClr val="111316"/>
                </a:solidFill>
                <a:latin typeface="Arial"/>
                <a:ea typeface="Arial"/>
                <a:cs typeface="Arial"/>
              </a:defRPr>
            </a:pPr>
            <a:r>
              <a:rPr sz="1800" b="1">
                <a:solidFill>
                  <a:srgbClr val="111316"/>
                </a:solidFill>
                <a:latin typeface="Arial"/>
                <a:ea typeface="Arial"/>
                <a:cs typeface="Arial"/>
              </a:rPr>
              <a:t>Audit</a:t>
            </a:r>
          </a:p>
        </p:txBody>
      </p:sp>
      <p:sp>
        <p:nvSpPr>
          <p:cNvPr id="14" name="outcome-body-2">
            <a:extLst xmlns:a="http://schemas.openxmlformats.org/drawingml/2006/main">
              <a:ext uri="{FF2B5EF4-FFF2-40B4-BE49-F238E27FC236}">
                <a16:creationId xmlns:a16="http://schemas.microsoft.com/office/drawing/2014/main" id="{FE8935D3-C6BD-471D-B5F2-B77C7AAEFD2B}"/>
              </a:ext>
            </a:extLst>
          </p:cNvPr>
          <p:cNvSpPr>
            <a:spLocks xmlns:a="http://schemas.openxmlformats.org/drawingml/2006/main" noGrp="1"/>
          </p:cNvSpPr>
          <p:nvPr/>
        </p:nvSpPr>
        <p:spPr>
          <a:xfrm xmlns:a="http://schemas.openxmlformats.org/drawingml/2006/main">
            <a:off x="1200150" y="4610100"/>
            <a:ext cx="4629150" cy="1428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500" b="0">
                <a:solidFill>
                  <a:srgbClr val="5A5F66"/>
                </a:solidFill>
                <a:latin typeface="Arial"/>
                <a:ea typeface="Arial"/>
                <a:cs typeface="Arial"/>
              </a:defRPr>
            </a:pPr>
            <a:r>
              <a:rPr sz="1500" b="0">
                <a:solidFill>
                  <a:srgbClr val="5A5F66"/>
                </a:solidFill>
                <a:latin typeface="Arial"/>
                <a:ea typeface="Arial"/>
                <a:cs typeface="Arial"/>
              </a:rPr>
              <a:t>Diagnose a plausible AI-drafted formulation that quietly gets the maximize/minimize sign wrong.</a:t>
            </a:r>
          </a:p>
        </p:txBody>
      </p:sp>
      <p:sp>
        <p:nvSpPr>
          <p:cNvPr id="15" name="outcome-number-3">
            <a:extLst xmlns:a="http://schemas.openxmlformats.org/drawingml/2006/main">
              <a:ext uri="{FF2B5EF4-FFF2-40B4-BE49-F238E27FC236}">
                <a16:creationId xmlns:a16="http://schemas.microsoft.com/office/drawing/2014/main" id="{774B54E2-BC71-4EB8-860C-A93F3B9DA4E1}"/>
              </a:ext>
            </a:extLst>
          </p:cNvPr>
          <p:cNvSpPr>
            <a:spLocks xmlns:a="http://schemas.openxmlformats.org/drawingml/2006/main" noGrp="1"/>
          </p:cNvSpPr>
          <p:nvPr/>
        </p:nvSpPr>
        <p:spPr>
          <a:xfrm xmlns:a="http://schemas.openxmlformats.org/drawingml/2006/main">
            <a:off x="6362700" y="4095750"/>
            <a:ext cx="4953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3000" b="1">
                <a:solidFill>
                  <a:srgbClr val="2E74B5"/>
                </a:solidFill>
                <a:latin typeface="Arial"/>
                <a:ea typeface="Arial"/>
                <a:cs typeface="Arial"/>
              </a:defRPr>
            </a:pPr>
            <a:r>
              <a:rPr sz="3000" b="1">
                <a:solidFill>
                  <a:srgbClr val="2E74B5"/>
                </a:solidFill>
                <a:latin typeface="Arial"/>
                <a:ea typeface="Arial"/>
                <a:cs typeface="Arial"/>
              </a:rPr>
              <a:t>4</a:t>
            </a:r>
          </a:p>
        </p:txBody>
      </p:sp>
      <p:sp>
        <p:nvSpPr>
          <p:cNvPr id="16" name="outcome-head-3">
            <a:extLst xmlns:a="http://schemas.openxmlformats.org/drawingml/2006/main">
              <a:ext uri="{FF2B5EF4-FFF2-40B4-BE49-F238E27FC236}">
                <a16:creationId xmlns:a16="http://schemas.microsoft.com/office/drawing/2014/main" id="{3C325FB5-C06C-4785-A86F-CF2481C69132}"/>
              </a:ext>
            </a:extLst>
          </p:cNvPr>
          <p:cNvSpPr>
            <a:spLocks xmlns:a="http://schemas.openxmlformats.org/drawingml/2006/main" noGrp="1"/>
          </p:cNvSpPr>
          <p:nvPr/>
        </p:nvSpPr>
        <p:spPr>
          <a:xfrm xmlns:a="http://schemas.openxmlformats.org/drawingml/2006/main">
            <a:off x="6953250" y="4114800"/>
            <a:ext cx="44958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00" b="1">
                <a:solidFill>
                  <a:srgbClr val="111316"/>
                </a:solidFill>
                <a:latin typeface="Arial"/>
                <a:ea typeface="Arial"/>
                <a:cs typeface="Arial"/>
              </a:defRPr>
            </a:pPr>
            <a:r>
              <a:rPr sz="1800" b="1">
                <a:solidFill>
                  <a:srgbClr val="111316"/>
                </a:solidFill>
                <a:latin typeface="Arial"/>
                <a:ea typeface="Arial"/>
                <a:cs typeface="Arial"/>
              </a:rPr>
              <a:t>Formulate</a:t>
            </a:r>
          </a:p>
        </p:txBody>
      </p:sp>
      <p:sp>
        <p:nvSpPr>
          <p:cNvPr id="17" name="outcome-body-3">
            <a:extLst xmlns:a="http://schemas.openxmlformats.org/drawingml/2006/main">
              <a:ext uri="{FF2B5EF4-FFF2-40B4-BE49-F238E27FC236}">
                <a16:creationId xmlns:a16="http://schemas.microsoft.com/office/drawing/2014/main" id="{43EC3963-4411-4C16-B790-FED4E1B161C3}"/>
              </a:ext>
            </a:extLst>
          </p:cNvPr>
          <p:cNvSpPr>
            <a:spLocks xmlns:a="http://schemas.openxmlformats.org/drawingml/2006/main" noGrp="1"/>
          </p:cNvSpPr>
          <p:nvPr/>
        </p:nvSpPr>
        <p:spPr>
          <a:xfrm xmlns:a="http://schemas.openxmlformats.org/drawingml/2006/main">
            <a:off x="6953250" y="4610100"/>
            <a:ext cx="4629150" cy="1428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500" b="0">
                <a:solidFill>
                  <a:srgbClr val="5A5F66"/>
                </a:solidFill>
                <a:latin typeface="Arial"/>
                <a:ea typeface="Arial"/>
                <a:cs typeface="Arial"/>
              </a:defRPr>
            </a:pPr>
            <a:r>
              <a:rPr sz="1500" b="0">
                <a:solidFill>
                  <a:srgbClr val="5A5F66"/>
                </a:solidFill>
                <a:latin typeface="Arial"/>
                <a:ea typeface="Arial"/>
                <a:cs typeface="Arial"/>
              </a:rPr>
              <a:t>Write and solve the linear sub-component of YOUR OWN Project 2 problem — this week's milestone.</a:t>
            </a:r>
          </a:p>
        </p:txBody>
      </p:sp>
    </p:spTree>
    <p:extLst>
      <p:ext uri="{BB962C8B-B14F-4D97-AF65-F5344CB8AC3E}">
        <p14:creationId xmlns:p14="http://schemas.microsoft.com/office/powerpoint/2010/main" val="1833699979"/>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 name="kicker">
            <a:extLst xmlns:a="http://schemas.openxmlformats.org/drawingml/2006/main">
              <a:ext uri="{FF2B5EF4-FFF2-40B4-BE49-F238E27FC236}">
                <a16:creationId xmlns:a16="http://schemas.microsoft.com/office/drawing/2014/main" id="{4BB9DFDB-AE5A-4D13-9A6A-893ADAB36D94}"/>
              </a:ext>
            </a:extLst>
          </p:cNvPr>
          <p:cNvSpPr>
            <a:spLocks xmlns:a="http://schemas.openxmlformats.org/drawingml/2006/main" noGrp="1"/>
          </p:cNvSpPr>
          <p:nvPr/>
        </p:nvSpPr>
        <p:spPr>
          <a:xfrm xmlns:a="http://schemas.openxmlformats.org/drawingml/2006/main">
            <a:off x="609600" y="342900"/>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2E74B5"/>
                </a:solidFill>
                <a:latin typeface="Arial"/>
                <a:ea typeface="Arial"/>
                <a:cs typeface="Arial"/>
              </a:defRPr>
            </a:pPr>
            <a:r>
              <a:rPr sz="900" b="1">
                <a:solidFill>
                  <a:srgbClr val="2E74B5"/>
                </a:solidFill>
                <a:latin typeface="Arial"/>
                <a:ea typeface="Arial"/>
                <a:cs typeface="Arial"/>
              </a:rPr>
              <a:t>ROAD MAP</a:t>
            </a:r>
          </a:p>
        </p:txBody>
      </p:sp>
      <p:sp>
        <p:nvSpPr>
          <p:cNvPr id="2" name="title">
            <a:extLst xmlns:a="http://schemas.openxmlformats.org/drawingml/2006/main">
              <a:ext uri="{FF2B5EF4-FFF2-40B4-BE49-F238E27FC236}">
                <a16:creationId xmlns:a16="http://schemas.microsoft.com/office/drawing/2014/main" id="{3C5DEBCF-F76A-4F72-AE13-6EA40294B134}"/>
              </a:ext>
            </a:extLst>
          </p:cNvPr>
          <p:cNvSpPr>
            <a:spLocks xmlns:a="http://schemas.openxmlformats.org/drawingml/2006/main" noGrp="1"/>
          </p:cNvSpPr>
          <p:nvPr/>
        </p:nvSpPr>
        <p:spPr>
          <a:xfrm xmlns:a="http://schemas.openxmlformats.org/drawingml/2006/main">
            <a:off x="609600" y="60960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3000" b="0">
                <a:solidFill>
                  <a:srgbClr val="111316"/>
                </a:solidFill>
                <a:latin typeface="Arial"/>
                <a:ea typeface="Arial"/>
                <a:cs typeface="Arial"/>
              </a:defRPr>
            </a:pPr>
            <a:r>
              <a:rPr sz="3000" b="0">
                <a:solidFill>
                  <a:srgbClr val="111316"/>
                </a:solidFill>
                <a:latin typeface="Arial"/>
                <a:ea typeface="Arial"/>
                <a:cs typeface="Arial"/>
              </a:rPr>
              <a:t>Today’s learning sequence</a:t>
            </a:r>
          </a:p>
        </p:txBody>
      </p:sp>
      <p:sp>
        <p:nvSpPr>
          <p:cNvPr id="3" name="">
            <a:extLst xmlns:a="http://schemas.openxmlformats.org/drawingml/2006/main">
              <a:ext uri="{FF2B5EF4-FFF2-40B4-BE49-F238E27FC236}">
                <a16:creationId xmlns:a16="http://schemas.microsoft.com/office/drawing/2014/main" id="{013EF86C-28B9-4DD2-A640-F6261B5E9681}"/>
              </a:ext>
            </a:extLst>
          </p:cNvPr>
          <p:cNvSpPr>
            <a:spLocks xmlns:a="http://schemas.openxmlformats.org/drawingml/2006/main" noGrp="1"/>
          </p:cNvSpPr>
          <p:nvPr/>
        </p:nvSpPr>
        <p:spPr>
          <a:xfrm xmlns:a="http://schemas.openxmlformats.org/drawingml/2006/main">
            <a:off x="609600" y="6343650"/>
            <a:ext cx="10972800" cy="0"/>
          </a:xfrm>
          <a:prstGeom xmlns:a="http://schemas.openxmlformats.org/drawingml/2006/main" prst="line">
            <a:avLst/>
          </a:prstGeom>
          <a:noFill xmlns:a="http://schemas.openxmlformats.org/drawingml/2006/main"/>
          <a:ln xmlns:a="http://schemas.openxmlformats.org/drawingml/2006/main" w="9525">
            <a:solidFill>
              <a:srgbClr val="DDE0E5"/>
            </a:solidFill>
            <a:prstDash val="solid"/>
          </a:ln>
        </p:spPr>
      </p:sp>
      <p:sp>
        <p:nvSpPr>
          <p:cNvPr id="4" name="footer">
            <a:extLst xmlns:a="http://schemas.openxmlformats.org/drawingml/2006/main">
              <a:ext uri="{FF2B5EF4-FFF2-40B4-BE49-F238E27FC236}">
                <a16:creationId xmlns:a16="http://schemas.microsoft.com/office/drawing/2014/main" id="{AD2811C5-CD4A-460D-8B10-4B2BB0246533}"/>
              </a:ext>
            </a:extLst>
          </p:cNvPr>
          <p:cNvSpPr>
            <a:spLocks xmlns:a="http://schemas.openxmlformats.org/drawingml/2006/main" noGrp="1"/>
          </p:cNvSpPr>
          <p:nvPr/>
        </p:nvSpPr>
        <p:spPr>
          <a:xfrm xmlns:a="http://schemas.openxmlformats.org/drawingml/2006/main">
            <a:off x="609600" y="6429375"/>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ARC 500  ·  Week 10 · Meeting B · Linear Programming Studio</a:t>
            </a:r>
          </a:p>
        </p:txBody>
      </p:sp>
      <p:sp>
        <p:nvSpPr>
          <p:cNvPr id="5" name="page">
            <a:extLst xmlns:a="http://schemas.openxmlformats.org/drawingml/2006/main">
              <a:ext uri="{FF2B5EF4-FFF2-40B4-BE49-F238E27FC236}">
                <a16:creationId xmlns:a16="http://schemas.microsoft.com/office/drawing/2014/main" id="{E0235E22-C72B-41B1-994C-EA31FF7571FC}"/>
              </a:ext>
            </a:extLst>
          </p:cNvPr>
          <p:cNvSpPr>
            <a:spLocks xmlns:a="http://schemas.openxmlformats.org/drawingml/2006/main" noGrp="1"/>
          </p:cNvSpPr>
          <p:nvPr/>
        </p:nvSpPr>
        <p:spPr>
          <a:xfrm xmlns:a="http://schemas.openxmlformats.org/drawingml/2006/main">
            <a:off x="10896600" y="6429375"/>
            <a:ext cx="685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03</a:t>
            </a:r>
          </a:p>
        </p:txBody>
      </p:sp>
      <p:sp>
        <p:nvSpPr>
          <p:cNvPr id="6" name="agenda-no-0">
            <a:extLst xmlns:a="http://schemas.openxmlformats.org/drawingml/2006/main">
              <a:ext uri="{FF2B5EF4-FFF2-40B4-BE49-F238E27FC236}">
                <a16:creationId xmlns:a16="http://schemas.microsoft.com/office/drawing/2014/main" id="{38E1C98C-CB01-4907-8B50-6FB16D774CF7}"/>
              </a:ext>
            </a:extLst>
          </p:cNvPr>
          <p:cNvSpPr>
            <a:spLocks xmlns:a="http://schemas.openxmlformats.org/drawingml/2006/main" noGrp="1"/>
          </p:cNvSpPr>
          <p:nvPr/>
        </p:nvSpPr>
        <p:spPr>
          <a:xfrm xmlns:a="http://schemas.openxmlformats.org/drawingml/2006/main">
            <a:off x="609600" y="2200275"/>
            <a:ext cx="5905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1200" b="1">
                <a:solidFill>
                  <a:srgbClr val="2E74B5"/>
                </a:solidFill>
                <a:latin typeface="Arial"/>
                <a:ea typeface="Arial"/>
                <a:cs typeface="Arial"/>
              </a:defRPr>
            </a:pPr>
            <a:r>
              <a:rPr sz="1200" b="1">
                <a:solidFill>
                  <a:srgbClr val="2E74B5"/>
                </a:solidFill>
                <a:latin typeface="Arial"/>
                <a:ea typeface="Arial"/>
                <a:cs typeface="Arial"/>
              </a:rPr>
              <a:t>01</a:t>
            </a:r>
          </a:p>
        </p:txBody>
      </p:sp>
      <p:sp>
        <p:nvSpPr>
          <p:cNvPr id="7" name="">
            <a:extLst xmlns:a="http://schemas.openxmlformats.org/drawingml/2006/main">
              <a:ext uri="{FF2B5EF4-FFF2-40B4-BE49-F238E27FC236}">
                <a16:creationId xmlns:a16="http://schemas.microsoft.com/office/drawing/2014/main" id="{D6FCC731-D324-4A36-8AF2-3232CAA4AC05}"/>
              </a:ext>
            </a:extLst>
          </p:cNvPr>
          <p:cNvSpPr>
            <a:spLocks xmlns:a="http://schemas.openxmlformats.org/drawingml/2006/main" noGrp="1"/>
          </p:cNvSpPr>
          <p:nvPr/>
        </p:nvSpPr>
        <p:spPr>
          <a:xfrm xmlns:a="http://schemas.openxmlformats.org/drawingml/2006/main">
            <a:off x="1314450" y="2352675"/>
            <a:ext cx="742950" cy="0"/>
          </a:xfrm>
          <a:prstGeom xmlns:a="http://schemas.openxmlformats.org/drawingml/2006/main" prst="line">
            <a:avLst/>
          </a:prstGeom>
          <a:noFill xmlns:a="http://schemas.openxmlformats.org/drawingml/2006/main"/>
          <a:ln xmlns:a="http://schemas.openxmlformats.org/drawingml/2006/main" w="28575">
            <a:solidFill>
              <a:srgbClr val="2E74B5"/>
            </a:solidFill>
            <a:prstDash val="solid"/>
          </a:ln>
        </p:spPr>
      </p:sp>
      <p:sp>
        <p:nvSpPr>
          <p:cNvPr id="8" name="agenda-item-0">
            <a:extLst xmlns:a="http://schemas.openxmlformats.org/drawingml/2006/main">
              <a:ext uri="{FF2B5EF4-FFF2-40B4-BE49-F238E27FC236}">
                <a16:creationId xmlns:a16="http://schemas.microsoft.com/office/drawing/2014/main" id="{FE573D88-4392-4C86-969F-BA22366C7796}"/>
              </a:ext>
            </a:extLst>
          </p:cNvPr>
          <p:cNvSpPr>
            <a:spLocks xmlns:a="http://schemas.openxmlformats.org/drawingml/2006/main" noGrp="1"/>
          </p:cNvSpPr>
          <p:nvPr/>
        </p:nvSpPr>
        <p:spPr>
          <a:xfrm xmlns:a="http://schemas.openxmlformats.org/drawingml/2006/main">
            <a:off x="2381250" y="2143125"/>
            <a:ext cx="920115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100" b="0">
                <a:solidFill>
                  <a:srgbClr val="111316"/>
                </a:solidFill>
                <a:latin typeface="Arial"/>
                <a:ea typeface="Arial"/>
                <a:cs typeface="Arial"/>
              </a:defRPr>
            </a:pPr>
            <a:r>
              <a:rPr sz="2100" b="0">
                <a:solidFill>
                  <a:srgbClr val="111316"/>
                </a:solidFill>
                <a:latin typeface="Arial"/>
                <a:ea typeface="Arial"/>
                <a:cs typeface="Arial"/>
              </a:rPr>
              <a:t>Recall today's formulation vocabulary and standard form</a:t>
            </a:r>
          </a:p>
        </p:txBody>
      </p:sp>
      <p:sp>
        <p:nvSpPr>
          <p:cNvPr id="9" name="agenda-no-1">
            <a:extLst xmlns:a="http://schemas.openxmlformats.org/drawingml/2006/main">
              <a:ext uri="{FF2B5EF4-FFF2-40B4-BE49-F238E27FC236}">
                <a16:creationId xmlns:a16="http://schemas.microsoft.com/office/drawing/2014/main" id="{6027FCCE-4550-4344-80CA-76A1D2943AF6}"/>
              </a:ext>
            </a:extLst>
          </p:cNvPr>
          <p:cNvSpPr>
            <a:spLocks xmlns:a="http://schemas.openxmlformats.org/drawingml/2006/main" noGrp="1"/>
          </p:cNvSpPr>
          <p:nvPr/>
        </p:nvSpPr>
        <p:spPr>
          <a:xfrm xmlns:a="http://schemas.openxmlformats.org/drawingml/2006/main">
            <a:off x="609600" y="3114675"/>
            <a:ext cx="5905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1200" b="1">
                <a:solidFill>
                  <a:srgbClr val="2E74B5"/>
                </a:solidFill>
                <a:latin typeface="Arial"/>
                <a:ea typeface="Arial"/>
                <a:cs typeface="Arial"/>
              </a:defRPr>
            </a:pPr>
            <a:r>
              <a:rPr sz="1200" b="1">
                <a:solidFill>
                  <a:srgbClr val="2E74B5"/>
                </a:solidFill>
                <a:latin typeface="Arial"/>
                <a:ea typeface="Arial"/>
                <a:cs typeface="Arial"/>
              </a:rPr>
              <a:t>02</a:t>
            </a:r>
          </a:p>
        </p:txBody>
      </p:sp>
      <p:sp>
        <p:nvSpPr>
          <p:cNvPr id="10" name="">
            <a:extLst xmlns:a="http://schemas.openxmlformats.org/drawingml/2006/main">
              <a:ext uri="{FF2B5EF4-FFF2-40B4-BE49-F238E27FC236}">
                <a16:creationId xmlns:a16="http://schemas.microsoft.com/office/drawing/2014/main" id="{8870B93A-BBE8-4FB9-8DD9-591CFBEEA582}"/>
              </a:ext>
            </a:extLst>
          </p:cNvPr>
          <p:cNvSpPr>
            <a:spLocks xmlns:a="http://schemas.openxmlformats.org/drawingml/2006/main" noGrp="1"/>
          </p:cNvSpPr>
          <p:nvPr/>
        </p:nvSpPr>
        <p:spPr>
          <a:xfrm xmlns:a="http://schemas.openxmlformats.org/drawingml/2006/main">
            <a:off x="1314450" y="3267075"/>
            <a:ext cx="742950" cy="0"/>
          </a:xfrm>
          <a:prstGeom xmlns:a="http://schemas.openxmlformats.org/drawingml/2006/main" prst="line">
            <a:avLst/>
          </a:prstGeom>
          <a:noFill xmlns:a="http://schemas.openxmlformats.org/drawingml/2006/main"/>
          <a:ln xmlns:a="http://schemas.openxmlformats.org/drawingml/2006/main" w="9525">
            <a:solidFill>
              <a:srgbClr val="DDE0E5"/>
            </a:solidFill>
            <a:prstDash val="solid"/>
          </a:ln>
        </p:spPr>
      </p:sp>
      <p:sp>
        <p:nvSpPr>
          <p:cNvPr id="11" name="agenda-item-1">
            <a:extLst xmlns:a="http://schemas.openxmlformats.org/drawingml/2006/main">
              <a:ext uri="{FF2B5EF4-FFF2-40B4-BE49-F238E27FC236}">
                <a16:creationId xmlns:a16="http://schemas.microsoft.com/office/drawing/2014/main" id="{FD441ADB-8E53-425B-9A85-D7E851E76494}"/>
              </a:ext>
            </a:extLst>
          </p:cNvPr>
          <p:cNvSpPr>
            <a:spLocks xmlns:a="http://schemas.openxmlformats.org/drawingml/2006/main" noGrp="1"/>
          </p:cNvSpPr>
          <p:nvPr/>
        </p:nvSpPr>
        <p:spPr>
          <a:xfrm xmlns:a="http://schemas.openxmlformats.org/drawingml/2006/main">
            <a:off x="2381250" y="3057525"/>
            <a:ext cx="920115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100" b="0">
                <a:solidFill>
                  <a:srgbClr val="111316"/>
                </a:solidFill>
                <a:latin typeface="Arial"/>
                <a:ea typeface="Arial"/>
                <a:cs typeface="Arial"/>
              </a:defRPr>
            </a:pPr>
            <a:r>
              <a:rPr sz="2100" b="0">
                <a:solidFill>
                  <a:srgbClr val="111316"/>
                </a:solidFill>
                <a:latin typeface="Arial"/>
                <a:ea typeface="Arial"/>
                <a:cs typeface="Arial"/>
              </a:rPr>
              <a:t>Solve with linprog, then hand-verify every constraint yourself</a:t>
            </a:r>
          </a:p>
        </p:txBody>
      </p:sp>
      <p:sp>
        <p:nvSpPr>
          <p:cNvPr id="12" name="agenda-no-2">
            <a:extLst xmlns:a="http://schemas.openxmlformats.org/drawingml/2006/main">
              <a:ext uri="{FF2B5EF4-FFF2-40B4-BE49-F238E27FC236}">
                <a16:creationId xmlns:a16="http://schemas.microsoft.com/office/drawing/2014/main" id="{B412F8C7-FC3B-48E9-80F4-27E91D7B145E}"/>
              </a:ext>
            </a:extLst>
          </p:cNvPr>
          <p:cNvSpPr>
            <a:spLocks xmlns:a="http://schemas.openxmlformats.org/drawingml/2006/main" noGrp="1"/>
          </p:cNvSpPr>
          <p:nvPr/>
        </p:nvSpPr>
        <p:spPr>
          <a:xfrm xmlns:a="http://schemas.openxmlformats.org/drawingml/2006/main">
            <a:off x="609600" y="4029075"/>
            <a:ext cx="5905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1200" b="1">
                <a:solidFill>
                  <a:srgbClr val="2E74B5"/>
                </a:solidFill>
                <a:latin typeface="Arial"/>
                <a:ea typeface="Arial"/>
                <a:cs typeface="Arial"/>
              </a:defRPr>
            </a:pPr>
            <a:r>
              <a:rPr sz="1200" b="1">
                <a:solidFill>
                  <a:srgbClr val="2E74B5"/>
                </a:solidFill>
                <a:latin typeface="Arial"/>
                <a:ea typeface="Arial"/>
                <a:cs typeface="Arial"/>
              </a:rPr>
              <a:t>03</a:t>
            </a:r>
          </a:p>
        </p:txBody>
      </p:sp>
      <p:sp>
        <p:nvSpPr>
          <p:cNvPr id="13" name="">
            <a:extLst xmlns:a="http://schemas.openxmlformats.org/drawingml/2006/main">
              <a:ext uri="{FF2B5EF4-FFF2-40B4-BE49-F238E27FC236}">
                <a16:creationId xmlns:a16="http://schemas.microsoft.com/office/drawing/2014/main" id="{E00B7CD7-9EFD-4CF8-ACF9-D95BFE02724B}"/>
              </a:ext>
            </a:extLst>
          </p:cNvPr>
          <p:cNvSpPr>
            <a:spLocks xmlns:a="http://schemas.openxmlformats.org/drawingml/2006/main" noGrp="1"/>
          </p:cNvSpPr>
          <p:nvPr/>
        </p:nvSpPr>
        <p:spPr>
          <a:xfrm xmlns:a="http://schemas.openxmlformats.org/drawingml/2006/main">
            <a:off x="1314450" y="4181475"/>
            <a:ext cx="742950" cy="0"/>
          </a:xfrm>
          <a:prstGeom xmlns:a="http://schemas.openxmlformats.org/drawingml/2006/main" prst="line">
            <a:avLst/>
          </a:prstGeom>
          <a:noFill xmlns:a="http://schemas.openxmlformats.org/drawingml/2006/main"/>
          <a:ln xmlns:a="http://schemas.openxmlformats.org/drawingml/2006/main" w="9525">
            <a:solidFill>
              <a:srgbClr val="DDE0E5"/>
            </a:solidFill>
            <a:prstDash val="solid"/>
          </a:ln>
        </p:spPr>
      </p:sp>
      <p:sp>
        <p:nvSpPr>
          <p:cNvPr id="14" name="agenda-item-2">
            <a:extLst xmlns:a="http://schemas.openxmlformats.org/drawingml/2006/main">
              <a:ext uri="{FF2B5EF4-FFF2-40B4-BE49-F238E27FC236}">
                <a16:creationId xmlns:a16="http://schemas.microsoft.com/office/drawing/2014/main" id="{71E4AEFF-103A-4E0E-BE85-E1ECD3149FB0}"/>
              </a:ext>
            </a:extLst>
          </p:cNvPr>
          <p:cNvSpPr>
            <a:spLocks xmlns:a="http://schemas.openxmlformats.org/drawingml/2006/main" noGrp="1"/>
          </p:cNvSpPr>
          <p:nvPr/>
        </p:nvSpPr>
        <p:spPr>
          <a:xfrm xmlns:a="http://schemas.openxmlformats.org/drawingml/2006/main">
            <a:off x="2381250" y="3971925"/>
            <a:ext cx="920115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100" b="0">
                <a:solidFill>
                  <a:srgbClr val="111316"/>
                </a:solidFill>
                <a:latin typeface="Arial"/>
                <a:ea typeface="Arial"/>
                <a:cs typeface="Arial"/>
              </a:defRPr>
            </a:pPr>
            <a:r>
              <a:rPr sz="2100" b="0">
                <a:solidFill>
                  <a:srgbClr val="111316"/>
                </a:solidFill>
                <a:latin typeface="Arial"/>
                <a:ea typeface="Arial"/>
                <a:cs typeface="Arial"/>
              </a:rPr>
              <a:t>Compare to naive strategies and audit an AI-drafted formulation</a:t>
            </a:r>
          </a:p>
        </p:txBody>
      </p:sp>
      <p:sp>
        <p:nvSpPr>
          <p:cNvPr id="15" name="agenda-no-3">
            <a:extLst xmlns:a="http://schemas.openxmlformats.org/drawingml/2006/main">
              <a:ext uri="{FF2B5EF4-FFF2-40B4-BE49-F238E27FC236}">
                <a16:creationId xmlns:a16="http://schemas.microsoft.com/office/drawing/2014/main" id="{35B5C73A-9AB8-45C7-B54B-E10F3F90C964}"/>
              </a:ext>
            </a:extLst>
          </p:cNvPr>
          <p:cNvSpPr>
            <a:spLocks xmlns:a="http://schemas.openxmlformats.org/drawingml/2006/main" noGrp="1"/>
          </p:cNvSpPr>
          <p:nvPr/>
        </p:nvSpPr>
        <p:spPr>
          <a:xfrm xmlns:a="http://schemas.openxmlformats.org/drawingml/2006/main">
            <a:off x="609600" y="4943475"/>
            <a:ext cx="5905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1200" b="1">
                <a:solidFill>
                  <a:srgbClr val="2E74B5"/>
                </a:solidFill>
                <a:latin typeface="Arial"/>
                <a:ea typeface="Arial"/>
                <a:cs typeface="Arial"/>
              </a:defRPr>
            </a:pPr>
            <a:r>
              <a:rPr sz="1200" b="1">
                <a:solidFill>
                  <a:srgbClr val="2E74B5"/>
                </a:solidFill>
                <a:latin typeface="Arial"/>
                <a:ea typeface="Arial"/>
                <a:cs typeface="Arial"/>
              </a:rPr>
              <a:t>04</a:t>
            </a:r>
          </a:p>
        </p:txBody>
      </p:sp>
      <p:sp>
        <p:nvSpPr>
          <p:cNvPr id="16" name="">
            <a:extLst xmlns:a="http://schemas.openxmlformats.org/drawingml/2006/main">
              <a:ext uri="{FF2B5EF4-FFF2-40B4-BE49-F238E27FC236}">
                <a16:creationId xmlns:a16="http://schemas.microsoft.com/office/drawing/2014/main" id="{4F025CD8-4B38-4B51-9A3A-4BB7E16F92BB}"/>
              </a:ext>
            </a:extLst>
          </p:cNvPr>
          <p:cNvSpPr>
            <a:spLocks xmlns:a="http://schemas.openxmlformats.org/drawingml/2006/main" noGrp="1"/>
          </p:cNvSpPr>
          <p:nvPr/>
        </p:nvSpPr>
        <p:spPr>
          <a:xfrm xmlns:a="http://schemas.openxmlformats.org/drawingml/2006/main">
            <a:off x="1314450" y="5095875"/>
            <a:ext cx="742950" cy="0"/>
          </a:xfrm>
          <a:prstGeom xmlns:a="http://schemas.openxmlformats.org/drawingml/2006/main" prst="line">
            <a:avLst/>
          </a:prstGeom>
          <a:noFill xmlns:a="http://schemas.openxmlformats.org/drawingml/2006/main"/>
          <a:ln xmlns:a="http://schemas.openxmlformats.org/drawingml/2006/main" w="9525">
            <a:solidFill>
              <a:srgbClr val="DDE0E5"/>
            </a:solidFill>
            <a:prstDash val="solid"/>
          </a:ln>
        </p:spPr>
      </p:sp>
      <p:sp>
        <p:nvSpPr>
          <p:cNvPr id="17" name="agenda-item-3">
            <a:extLst xmlns:a="http://schemas.openxmlformats.org/drawingml/2006/main">
              <a:ext uri="{FF2B5EF4-FFF2-40B4-BE49-F238E27FC236}">
                <a16:creationId xmlns:a16="http://schemas.microsoft.com/office/drawing/2014/main" id="{B6F28DC4-B357-407D-A403-CEB1C74EF853}"/>
              </a:ext>
            </a:extLst>
          </p:cNvPr>
          <p:cNvSpPr>
            <a:spLocks xmlns:a="http://schemas.openxmlformats.org/drawingml/2006/main" noGrp="1"/>
          </p:cNvSpPr>
          <p:nvPr/>
        </p:nvSpPr>
        <p:spPr>
          <a:xfrm xmlns:a="http://schemas.openxmlformats.org/drawingml/2006/main">
            <a:off x="2381250" y="4886325"/>
            <a:ext cx="920115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100" b="0">
                <a:solidFill>
                  <a:srgbClr val="111316"/>
                </a:solidFill>
                <a:latin typeface="Arial"/>
                <a:ea typeface="Arial"/>
                <a:cs typeface="Arial"/>
              </a:defRPr>
            </a:pPr>
            <a:r>
              <a:rPr sz="2100" b="0">
                <a:solidFill>
                  <a:srgbClr val="111316"/>
                </a:solidFill>
                <a:latin typeface="Arial"/>
                <a:ea typeface="Arial"/>
                <a:cs typeface="Arial"/>
              </a:rPr>
              <a:t>Transfer: formulate and solve your own Project 2 linear sub-problem</a:t>
            </a:r>
          </a:p>
        </p:txBody>
      </p:sp>
    </p:spTree>
    <p:extLst>
      <p:ext uri="{BB962C8B-B14F-4D97-AF65-F5344CB8AC3E}">
        <p14:creationId xmlns:p14="http://schemas.microsoft.com/office/powerpoint/2010/main" val="586779186"/>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4" name="kicker">
            <a:extLst xmlns:a="http://schemas.openxmlformats.org/drawingml/2006/main">
              <a:ext uri="{FF2B5EF4-FFF2-40B4-BE49-F238E27FC236}">
                <a16:creationId xmlns:a16="http://schemas.microsoft.com/office/drawing/2014/main" id="{1F4E4C58-6446-4FA5-95D8-A2475A2AAFE8}"/>
              </a:ext>
            </a:extLst>
          </p:cNvPr>
          <p:cNvSpPr>
            <a:spLocks xmlns:a="http://schemas.openxmlformats.org/drawingml/2006/main" noGrp="1"/>
          </p:cNvSpPr>
          <p:nvPr/>
        </p:nvSpPr>
        <p:spPr>
          <a:xfrm xmlns:a="http://schemas.openxmlformats.org/drawingml/2006/main">
            <a:off x="609600" y="342900"/>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2E74B5"/>
                </a:solidFill>
                <a:latin typeface="Arial"/>
                <a:ea typeface="Arial"/>
                <a:cs typeface="Arial"/>
              </a:defRPr>
            </a:pPr>
            <a:r>
              <a:rPr sz="900" b="1">
                <a:solidFill>
                  <a:srgbClr val="2E74B5"/>
                </a:solidFill>
                <a:latin typeface="Arial"/>
                <a:ea typeface="Arial"/>
                <a:cs typeface="Arial"/>
              </a:rPr>
              <a:t>READ THE DATA</a:t>
            </a:r>
          </a:p>
        </p:txBody>
      </p:sp>
      <p:sp>
        <p:nvSpPr>
          <p:cNvPr id="2" name="title">
            <a:extLst xmlns:a="http://schemas.openxmlformats.org/drawingml/2006/main">
              <a:ext uri="{FF2B5EF4-FFF2-40B4-BE49-F238E27FC236}">
                <a16:creationId xmlns:a16="http://schemas.microsoft.com/office/drawing/2014/main" id="{3EBF7F68-EC65-47F2-9DD5-615C46943761}"/>
              </a:ext>
            </a:extLst>
          </p:cNvPr>
          <p:cNvSpPr>
            <a:spLocks xmlns:a="http://schemas.openxmlformats.org/drawingml/2006/main" noGrp="1"/>
          </p:cNvSpPr>
          <p:nvPr/>
        </p:nvSpPr>
        <p:spPr>
          <a:xfrm xmlns:a="http://schemas.openxmlformats.org/drawingml/2006/main">
            <a:off x="609600" y="60960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3000" b="0">
                <a:solidFill>
                  <a:srgbClr val="111316"/>
                </a:solidFill>
                <a:latin typeface="Arial"/>
                <a:ea typeface="Arial"/>
                <a:cs typeface="Arial"/>
              </a:defRPr>
            </a:pPr>
            <a:r>
              <a:rPr sz="3000" b="0">
                <a:solidFill>
                  <a:srgbClr val="111316"/>
                </a:solidFill>
                <a:latin typeface="Arial"/>
                <a:ea typeface="Arial"/>
                <a:cs typeface="Arial"/>
              </a:rPr>
              <a:t>Recall five terms from Meeting A</a:t>
            </a:r>
          </a:p>
        </p:txBody>
      </p:sp>
      <p:sp>
        <p:nvSpPr>
          <p:cNvPr id="3" name="">
            <a:extLst xmlns:a="http://schemas.openxmlformats.org/drawingml/2006/main">
              <a:ext uri="{FF2B5EF4-FFF2-40B4-BE49-F238E27FC236}">
                <a16:creationId xmlns:a16="http://schemas.microsoft.com/office/drawing/2014/main" id="{3DFC2F5F-68AC-4E96-B73E-710DB479F7E7}"/>
              </a:ext>
            </a:extLst>
          </p:cNvPr>
          <p:cNvSpPr>
            <a:spLocks xmlns:a="http://schemas.openxmlformats.org/drawingml/2006/main" noGrp="1"/>
          </p:cNvSpPr>
          <p:nvPr/>
        </p:nvSpPr>
        <p:spPr>
          <a:xfrm xmlns:a="http://schemas.openxmlformats.org/drawingml/2006/main">
            <a:off x="609600" y="6343650"/>
            <a:ext cx="10972800" cy="0"/>
          </a:xfrm>
          <a:prstGeom xmlns:a="http://schemas.openxmlformats.org/drawingml/2006/main" prst="line">
            <a:avLst/>
          </a:prstGeom>
          <a:noFill xmlns:a="http://schemas.openxmlformats.org/drawingml/2006/main"/>
          <a:ln xmlns:a="http://schemas.openxmlformats.org/drawingml/2006/main" w="9525">
            <a:solidFill>
              <a:srgbClr val="DDE0E5"/>
            </a:solidFill>
            <a:prstDash val="solid"/>
          </a:ln>
        </p:spPr>
      </p:sp>
      <p:sp>
        <p:nvSpPr>
          <p:cNvPr id="4" name="footer">
            <a:extLst xmlns:a="http://schemas.openxmlformats.org/drawingml/2006/main">
              <a:ext uri="{FF2B5EF4-FFF2-40B4-BE49-F238E27FC236}">
                <a16:creationId xmlns:a16="http://schemas.microsoft.com/office/drawing/2014/main" id="{0EB900CC-0D9D-4CF0-8E0C-67F5F9339FD0}"/>
              </a:ext>
            </a:extLst>
          </p:cNvPr>
          <p:cNvSpPr>
            <a:spLocks xmlns:a="http://schemas.openxmlformats.org/drawingml/2006/main" noGrp="1"/>
          </p:cNvSpPr>
          <p:nvPr/>
        </p:nvSpPr>
        <p:spPr>
          <a:xfrm xmlns:a="http://schemas.openxmlformats.org/drawingml/2006/main">
            <a:off x="609600" y="6429375"/>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ARC 500  ·  Week 10 · Meeting B · Linear Programming Studio</a:t>
            </a:r>
          </a:p>
        </p:txBody>
      </p:sp>
      <p:sp>
        <p:nvSpPr>
          <p:cNvPr id="5" name="page">
            <a:extLst xmlns:a="http://schemas.openxmlformats.org/drawingml/2006/main">
              <a:ext uri="{FF2B5EF4-FFF2-40B4-BE49-F238E27FC236}">
                <a16:creationId xmlns:a16="http://schemas.microsoft.com/office/drawing/2014/main" id="{BB924275-8C73-4C72-AA83-13735B49CC1F}"/>
              </a:ext>
            </a:extLst>
          </p:cNvPr>
          <p:cNvSpPr>
            <a:spLocks xmlns:a="http://schemas.openxmlformats.org/drawingml/2006/main" noGrp="1"/>
          </p:cNvSpPr>
          <p:nvPr/>
        </p:nvSpPr>
        <p:spPr>
          <a:xfrm xmlns:a="http://schemas.openxmlformats.org/drawingml/2006/main">
            <a:off x="10896600" y="6429375"/>
            <a:ext cx="685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04</a:t>
            </a:r>
          </a:p>
        </p:txBody>
      </p:sp>
      <p:sp>
        <p:nvSpPr>
          <p:cNvPr id="6" name="">
            <a:extLst xmlns:a="http://schemas.openxmlformats.org/drawingml/2006/main">
              <a:ext uri="{FF2B5EF4-FFF2-40B4-BE49-F238E27FC236}">
                <a16:creationId xmlns:a16="http://schemas.microsoft.com/office/drawing/2014/main" id="{4FF1FC9E-CC2F-4A77-8CE0-78ECF7769886}"/>
              </a:ext>
            </a:extLst>
          </p:cNvPr>
          <p:cNvSpPr>
            <a:spLocks xmlns:a="http://schemas.openxmlformats.org/drawingml/2006/main" noGrp="1"/>
          </p:cNvSpPr>
          <p:nvPr/>
        </p:nvSpPr>
        <p:spPr>
          <a:xfrm xmlns:a="http://schemas.openxmlformats.org/drawingml/2006/main">
            <a:off x="609600" y="2352675"/>
            <a:ext cx="2476500" cy="533400"/>
          </a:xfrm>
          <a:prstGeom xmlns:a="http://schemas.openxmlformats.org/drawingml/2006/main" prst="rect">
            <a:avLst/>
          </a:prstGeom>
          <a:solidFill xmlns:a="http://schemas.openxmlformats.org/drawingml/2006/main">
            <a:srgbClr val="17191C"/>
          </a:solidFill>
          <a:ln xmlns:a="http://schemas.openxmlformats.org/drawingml/2006/main" w="9525">
            <a:solidFill>
              <a:srgbClr val="FFFFFF"/>
            </a:solidFill>
            <a:prstDash val="solid"/>
          </a:ln>
        </p:spPr>
      </p:sp>
      <p:sp>
        <p:nvSpPr>
          <p:cNvPr id="7" name="header-0">
            <a:extLst xmlns:a="http://schemas.openxmlformats.org/drawingml/2006/main">
              <a:ext uri="{FF2B5EF4-FFF2-40B4-BE49-F238E27FC236}">
                <a16:creationId xmlns:a16="http://schemas.microsoft.com/office/drawing/2014/main" id="{0245BE8F-EBC8-4E14-B2C1-D5BC2AD05C7C}"/>
              </a:ext>
            </a:extLst>
          </p:cNvPr>
          <p:cNvSpPr>
            <a:spLocks xmlns:a="http://schemas.openxmlformats.org/drawingml/2006/main" noGrp="1"/>
          </p:cNvSpPr>
          <p:nvPr/>
        </p:nvSpPr>
        <p:spPr>
          <a:xfrm xmlns:a="http://schemas.openxmlformats.org/drawingml/2006/main">
            <a:off x="723900" y="2428875"/>
            <a:ext cx="22479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2000"/>
              </a:lnSpc>
              <a:buNone/>
              <a:defRPr sz="1500" b="1">
                <a:solidFill>
                  <a:srgbClr val="FFFFFF"/>
                </a:solidFill>
                <a:latin typeface="Arial"/>
                <a:ea typeface="Arial"/>
                <a:cs typeface="Arial"/>
              </a:defRPr>
            </a:pPr>
            <a:r>
              <a:rPr sz="1500" b="1">
                <a:solidFill>
                  <a:srgbClr val="FFFFFF"/>
                </a:solidFill>
                <a:latin typeface="Arial"/>
                <a:ea typeface="Arial"/>
                <a:cs typeface="Arial"/>
              </a:rPr>
              <a:t>term</a:t>
            </a:r>
          </a:p>
        </p:txBody>
      </p:sp>
      <p:sp>
        <p:nvSpPr>
          <p:cNvPr id="8" name="">
            <a:extLst xmlns:a="http://schemas.openxmlformats.org/drawingml/2006/main">
              <a:ext uri="{FF2B5EF4-FFF2-40B4-BE49-F238E27FC236}">
                <a16:creationId xmlns:a16="http://schemas.microsoft.com/office/drawing/2014/main" id="{BFC5D7AA-B6FD-43DD-80E8-0ADDB0E7F796}"/>
              </a:ext>
            </a:extLst>
          </p:cNvPr>
          <p:cNvSpPr>
            <a:spLocks xmlns:a="http://schemas.openxmlformats.org/drawingml/2006/main" noGrp="1"/>
          </p:cNvSpPr>
          <p:nvPr/>
        </p:nvSpPr>
        <p:spPr>
          <a:xfrm xmlns:a="http://schemas.openxmlformats.org/drawingml/2006/main">
            <a:off x="3086100" y="2352675"/>
            <a:ext cx="2476500" cy="533400"/>
          </a:xfrm>
          <a:prstGeom xmlns:a="http://schemas.openxmlformats.org/drawingml/2006/main" prst="rect">
            <a:avLst/>
          </a:prstGeom>
          <a:solidFill xmlns:a="http://schemas.openxmlformats.org/drawingml/2006/main">
            <a:srgbClr val="17191C"/>
          </a:solidFill>
          <a:ln xmlns:a="http://schemas.openxmlformats.org/drawingml/2006/main" w="9525">
            <a:solidFill>
              <a:srgbClr val="FFFFFF"/>
            </a:solidFill>
            <a:prstDash val="solid"/>
          </a:ln>
        </p:spPr>
      </p:sp>
      <p:sp>
        <p:nvSpPr>
          <p:cNvPr id="9" name="header-1">
            <a:extLst xmlns:a="http://schemas.openxmlformats.org/drawingml/2006/main">
              <a:ext uri="{FF2B5EF4-FFF2-40B4-BE49-F238E27FC236}">
                <a16:creationId xmlns:a16="http://schemas.microsoft.com/office/drawing/2014/main" id="{313DD625-BFC1-4117-9B26-5E95FDF1751B}"/>
              </a:ext>
            </a:extLst>
          </p:cNvPr>
          <p:cNvSpPr>
            <a:spLocks xmlns:a="http://schemas.openxmlformats.org/drawingml/2006/main" noGrp="1"/>
          </p:cNvSpPr>
          <p:nvPr/>
        </p:nvSpPr>
        <p:spPr>
          <a:xfrm xmlns:a="http://schemas.openxmlformats.org/drawingml/2006/main">
            <a:off x="3200400" y="2428875"/>
            <a:ext cx="22479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2000"/>
              </a:lnSpc>
              <a:buNone/>
              <a:defRPr sz="1500" b="1">
                <a:solidFill>
                  <a:srgbClr val="FFFFFF"/>
                </a:solidFill>
                <a:latin typeface="Arial"/>
                <a:ea typeface="Arial"/>
                <a:cs typeface="Arial"/>
              </a:defRPr>
            </a:pPr>
            <a:r>
              <a:rPr sz="1500" b="1">
                <a:solidFill>
                  <a:srgbClr val="FFFFFF"/>
                </a:solidFill>
                <a:latin typeface="Arial"/>
                <a:ea typeface="Arial"/>
                <a:cs typeface="Arial"/>
              </a:rPr>
              <a:t>definition</a:t>
            </a:r>
          </a:p>
        </p:txBody>
      </p:sp>
      <p:sp>
        <p:nvSpPr>
          <p:cNvPr id="10" name="">
            <a:extLst xmlns:a="http://schemas.openxmlformats.org/drawingml/2006/main">
              <a:ext uri="{FF2B5EF4-FFF2-40B4-BE49-F238E27FC236}">
                <a16:creationId xmlns:a16="http://schemas.microsoft.com/office/drawing/2014/main" id="{AC85A123-FE5B-48E3-A707-F68CADEA8526}"/>
              </a:ext>
            </a:extLst>
          </p:cNvPr>
          <p:cNvSpPr>
            <a:spLocks xmlns:a="http://schemas.openxmlformats.org/drawingml/2006/main" noGrp="1"/>
          </p:cNvSpPr>
          <p:nvPr/>
        </p:nvSpPr>
        <p:spPr>
          <a:xfrm xmlns:a="http://schemas.openxmlformats.org/drawingml/2006/main">
            <a:off x="5562600" y="2352675"/>
            <a:ext cx="2476500" cy="533400"/>
          </a:xfrm>
          <a:prstGeom xmlns:a="http://schemas.openxmlformats.org/drawingml/2006/main" prst="rect">
            <a:avLst/>
          </a:prstGeom>
          <a:solidFill xmlns:a="http://schemas.openxmlformats.org/drawingml/2006/main">
            <a:srgbClr val="17191C"/>
          </a:solidFill>
          <a:ln xmlns:a="http://schemas.openxmlformats.org/drawingml/2006/main" w="9525">
            <a:solidFill>
              <a:srgbClr val="FFFFFF"/>
            </a:solidFill>
            <a:prstDash val="solid"/>
          </a:ln>
        </p:spPr>
      </p:sp>
      <p:sp>
        <p:nvSpPr>
          <p:cNvPr id="11" name="header-2">
            <a:extLst xmlns:a="http://schemas.openxmlformats.org/drawingml/2006/main">
              <a:ext uri="{FF2B5EF4-FFF2-40B4-BE49-F238E27FC236}">
                <a16:creationId xmlns:a16="http://schemas.microsoft.com/office/drawing/2014/main" id="{6172CD86-6570-4B9C-905F-BB0508E5E24B}"/>
              </a:ext>
            </a:extLst>
          </p:cNvPr>
          <p:cNvSpPr>
            <a:spLocks xmlns:a="http://schemas.openxmlformats.org/drawingml/2006/main" noGrp="1"/>
          </p:cNvSpPr>
          <p:nvPr/>
        </p:nvSpPr>
        <p:spPr>
          <a:xfrm xmlns:a="http://schemas.openxmlformats.org/drawingml/2006/main">
            <a:off x="5676900" y="2428875"/>
            <a:ext cx="22479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2000"/>
              </a:lnSpc>
              <a:buNone/>
              <a:defRPr sz="1500" b="1">
                <a:solidFill>
                  <a:srgbClr val="FFFFFF"/>
                </a:solidFill>
                <a:latin typeface="Arial"/>
                <a:ea typeface="Arial"/>
                <a:cs typeface="Arial"/>
              </a:defRPr>
            </a:pPr>
            <a:r>
              <a:rPr sz="1500" b="1">
                <a:solidFill>
                  <a:srgbClr val="FFFFFF"/>
                </a:solidFill>
                <a:latin typeface="Arial"/>
                <a:ea typeface="Arial"/>
                <a:cs typeface="Arial"/>
              </a:rPr>
              <a:t>today's use</a:t>
            </a:r>
          </a:p>
        </p:txBody>
      </p:sp>
      <p:sp>
        <p:nvSpPr>
          <p:cNvPr id="12" name="">
            <a:extLst xmlns:a="http://schemas.openxmlformats.org/drawingml/2006/main">
              <a:ext uri="{FF2B5EF4-FFF2-40B4-BE49-F238E27FC236}">
                <a16:creationId xmlns:a16="http://schemas.microsoft.com/office/drawing/2014/main" id="{46C9FD61-EC30-4A6D-80B0-642B13ECEAF2}"/>
              </a:ext>
            </a:extLst>
          </p:cNvPr>
          <p:cNvSpPr>
            <a:spLocks xmlns:a="http://schemas.openxmlformats.org/drawingml/2006/main" noGrp="1"/>
          </p:cNvSpPr>
          <p:nvPr/>
        </p:nvSpPr>
        <p:spPr>
          <a:xfrm xmlns:a="http://schemas.openxmlformats.org/drawingml/2006/main">
            <a:off x="609600" y="2886075"/>
            <a:ext cx="2476500" cy="541020"/>
          </a:xfrm>
          <a:prstGeom xmlns:a="http://schemas.openxmlformats.org/drawingml/2006/main" prst="rect">
            <a:avLst/>
          </a:prstGeom>
          <a:solidFill xmlns:a="http://schemas.openxmlformats.org/drawingml/2006/main">
            <a:srgbClr val="FFFFFF"/>
          </a:solidFill>
          <a:ln xmlns:a="http://schemas.openxmlformats.org/drawingml/2006/main" w="9525">
            <a:solidFill>
              <a:srgbClr val="DDE0E5"/>
            </a:solidFill>
            <a:prstDash val="solid"/>
          </a:ln>
        </p:spPr>
      </p:sp>
      <p:sp>
        <p:nvSpPr>
          <p:cNvPr id="13" name="cell-0-0">
            <a:extLst xmlns:a="http://schemas.openxmlformats.org/drawingml/2006/main">
              <a:ext uri="{FF2B5EF4-FFF2-40B4-BE49-F238E27FC236}">
                <a16:creationId xmlns:a16="http://schemas.microsoft.com/office/drawing/2014/main" id="{29F6FA98-F511-47A9-B439-15F180415104}"/>
              </a:ext>
            </a:extLst>
          </p:cNvPr>
          <p:cNvSpPr>
            <a:spLocks xmlns:a="http://schemas.openxmlformats.org/drawingml/2006/main" noGrp="1"/>
          </p:cNvSpPr>
          <p:nvPr/>
        </p:nvSpPr>
        <p:spPr>
          <a:xfrm xmlns:a="http://schemas.openxmlformats.org/drawingml/2006/main">
            <a:off x="723900" y="2962275"/>
            <a:ext cx="2247900" cy="38862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2000"/>
              </a:lnSpc>
              <a:buNone/>
              <a:defRPr sz="1500" b="0">
                <a:solidFill>
                  <a:srgbClr val="111316"/>
                </a:solidFill>
                <a:latin typeface="Arial"/>
                <a:ea typeface="Arial"/>
                <a:cs typeface="Arial"/>
              </a:defRPr>
            </a:pPr>
            <a:r>
              <a:rPr sz="1500" b="0">
                <a:solidFill>
                  <a:srgbClr val="111316"/>
                </a:solidFill>
                <a:latin typeface="Arial"/>
                <a:ea typeface="Arial"/>
                <a:cs typeface="Arial"/>
              </a:rPr>
              <a:t>design variable</a:t>
            </a:r>
          </a:p>
        </p:txBody>
      </p:sp>
      <p:sp>
        <p:nvSpPr>
          <p:cNvPr id="14" name="">
            <a:extLst xmlns:a="http://schemas.openxmlformats.org/drawingml/2006/main">
              <a:ext uri="{FF2B5EF4-FFF2-40B4-BE49-F238E27FC236}">
                <a16:creationId xmlns:a16="http://schemas.microsoft.com/office/drawing/2014/main" id="{6E42284B-6DA3-4689-A18E-7266587A05A3}"/>
              </a:ext>
            </a:extLst>
          </p:cNvPr>
          <p:cNvSpPr>
            <a:spLocks xmlns:a="http://schemas.openxmlformats.org/drawingml/2006/main" noGrp="1"/>
          </p:cNvSpPr>
          <p:nvPr/>
        </p:nvSpPr>
        <p:spPr>
          <a:xfrm xmlns:a="http://schemas.openxmlformats.org/drawingml/2006/main">
            <a:off x="3086100" y="2886075"/>
            <a:ext cx="2476500" cy="541020"/>
          </a:xfrm>
          <a:prstGeom xmlns:a="http://schemas.openxmlformats.org/drawingml/2006/main" prst="rect">
            <a:avLst/>
          </a:prstGeom>
          <a:solidFill xmlns:a="http://schemas.openxmlformats.org/drawingml/2006/main">
            <a:srgbClr val="FFFFFF"/>
          </a:solidFill>
          <a:ln xmlns:a="http://schemas.openxmlformats.org/drawingml/2006/main" w="9525">
            <a:solidFill>
              <a:srgbClr val="DDE0E5"/>
            </a:solidFill>
            <a:prstDash val="solid"/>
          </a:ln>
        </p:spPr>
      </p:sp>
      <p:sp>
        <p:nvSpPr>
          <p:cNvPr id="15" name="cell-0-1">
            <a:extLst xmlns:a="http://schemas.openxmlformats.org/drawingml/2006/main">
              <a:ext uri="{FF2B5EF4-FFF2-40B4-BE49-F238E27FC236}">
                <a16:creationId xmlns:a16="http://schemas.microsoft.com/office/drawing/2014/main" id="{239B03BF-B683-4FBB-82BB-C51F22CB1FB9}"/>
              </a:ext>
            </a:extLst>
          </p:cNvPr>
          <p:cNvSpPr>
            <a:spLocks xmlns:a="http://schemas.openxmlformats.org/drawingml/2006/main" noGrp="1"/>
          </p:cNvSpPr>
          <p:nvPr/>
        </p:nvSpPr>
        <p:spPr>
          <a:xfrm xmlns:a="http://schemas.openxmlformats.org/drawingml/2006/main">
            <a:off x="3200400" y="2962275"/>
            <a:ext cx="2247900" cy="38862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2000"/>
              </a:lnSpc>
              <a:buNone/>
              <a:defRPr sz="1500" b="0">
                <a:solidFill>
                  <a:srgbClr val="111316"/>
                </a:solidFill>
                <a:latin typeface="Arial"/>
                <a:ea typeface="Arial"/>
                <a:cs typeface="Arial"/>
              </a:defRPr>
            </a:pPr>
            <a:r>
              <a:rPr sz="1500" b="0">
                <a:solidFill>
                  <a:srgbClr val="111316"/>
                </a:solidFill>
                <a:latin typeface="Arial"/>
                <a:ea typeface="Arial"/>
                <a:cs typeface="Arial"/>
              </a:rPr>
              <a:t>a quantity you are free to choose</a:t>
            </a:r>
          </a:p>
        </p:txBody>
      </p:sp>
      <p:sp>
        <p:nvSpPr>
          <p:cNvPr id="16" name="">
            <a:extLst xmlns:a="http://schemas.openxmlformats.org/drawingml/2006/main">
              <a:ext uri="{FF2B5EF4-FFF2-40B4-BE49-F238E27FC236}">
                <a16:creationId xmlns:a16="http://schemas.microsoft.com/office/drawing/2014/main" id="{D69AA7F7-A5C4-4FEF-BBB5-E29FF43BBEB8}"/>
              </a:ext>
            </a:extLst>
          </p:cNvPr>
          <p:cNvSpPr>
            <a:spLocks xmlns:a="http://schemas.openxmlformats.org/drawingml/2006/main" noGrp="1"/>
          </p:cNvSpPr>
          <p:nvPr/>
        </p:nvSpPr>
        <p:spPr>
          <a:xfrm xmlns:a="http://schemas.openxmlformats.org/drawingml/2006/main">
            <a:off x="5562600" y="2886075"/>
            <a:ext cx="2476500" cy="541020"/>
          </a:xfrm>
          <a:prstGeom xmlns:a="http://schemas.openxmlformats.org/drawingml/2006/main" prst="rect">
            <a:avLst/>
          </a:prstGeom>
          <a:solidFill xmlns:a="http://schemas.openxmlformats.org/drawingml/2006/main">
            <a:srgbClr val="FFFFFF"/>
          </a:solidFill>
          <a:ln xmlns:a="http://schemas.openxmlformats.org/drawingml/2006/main" w="9525">
            <a:solidFill>
              <a:srgbClr val="DDE0E5"/>
            </a:solidFill>
            <a:prstDash val="solid"/>
          </a:ln>
        </p:spPr>
      </p:sp>
      <p:sp>
        <p:nvSpPr>
          <p:cNvPr id="17" name="cell-0-2">
            <a:extLst xmlns:a="http://schemas.openxmlformats.org/drawingml/2006/main">
              <a:ext uri="{FF2B5EF4-FFF2-40B4-BE49-F238E27FC236}">
                <a16:creationId xmlns:a16="http://schemas.microsoft.com/office/drawing/2014/main" id="{6B23842E-4AD6-4054-B4E1-E082FF0D2F8F}"/>
              </a:ext>
            </a:extLst>
          </p:cNvPr>
          <p:cNvSpPr>
            <a:spLocks xmlns:a="http://schemas.openxmlformats.org/drawingml/2006/main" noGrp="1"/>
          </p:cNvSpPr>
          <p:nvPr/>
        </p:nvSpPr>
        <p:spPr>
          <a:xfrm xmlns:a="http://schemas.openxmlformats.org/drawingml/2006/main">
            <a:off x="5676900" y="2962275"/>
            <a:ext cx="2247900" cy="38862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2000"/>
              </a:lnSpc>
              <a:buNone/>
              <a:defRPr sz="1500" b="0">
                <a:solidFill>
                  <a:srgbClr val="111316"/>
                </a:solidFill>
                <a:latin typeface="Arial"/>
                <a:ea typeface="Arial"/>
                <a:cs typeface="Arial"/>
              </a:defRPr>
            </a:pPr>
            <a:r>
              <a:rPr sz="1500" b="0">
                <a:solidFill>
                  <a:srgbClr val="111316"/>
                </a:solidFill>
                <a:latin typeface="Arial"/>
                <a:ea typeface="Arial"/>
                <a:cs typeface="Arial"/>
              </a:rPr>
              <a:t>x1 = solar m2, x2 = green roof m2</a:t>
            </a:r>
          </a:p>
        </p:txBody>
      </p:sp>
      <p:sp>
        <p:nvSpPr>
          <p:cNvPr id="18" name="">
            <a:extLst xmlns:a="http://schemas.openxmlformats.org/drawingml/2006/main">
              <a:ext uri="{FF2B5EF4-FFF2-40B4-BE49-F238E27FC236}">
                <a16:creationId xmlns:a16="http://schemas.microsoft.com/office/drawing/2014/main" id="{B5B301CB-BB6F-4705-B8DA-1E798B0F0243}"/>
              </a:ext>
            </a:extLst>
          </p:cNvPr>
          <p:cNvSpPr>
            <a:spLocks xmlns:a="http://schemas.openxmlformats.org/drawingml/2006/main" noGrp="1"/>
          </p:cNvSpPr>
          <p:nvPr/>
        </p:nvSpPr>
        <p:spPr>
          <a:xfrm xmlns:a="http://schemas.openxmlformats.org/drawingml/2006/main">
            <a:off x="609600" y="3427095"/>
            <a:ext cx="2476500" cy="541020"/>
          </a:xfrm>
          <a:prstGeom xmlns:a="http://schemas.openxmlformats.org/drawingml/2006/main" prst="rect">
            <a:avLst/>
          </a:prstGeom>
          <a:solidFill xmlns:a="http://schemas.openxmlformats.org/drawingml/2006/main">
            <a:srgbClr val="F6F7F9"/>
          </a:solidFill>
          <a:ln xmlns:a="http://schemas.openxmlformats.org/drawingml/2006/main" w="9525">
            <a:solidFill>
              <a:srgbClr val="DDE0E5"/>
            </a:solidFill>
            <a:prstDash val="solid"/>
          </a:ln>
        </p:spPr>
      </p:sp>
      <p:sp>
        <p:nvSpPr>
          <p:cNvPr id="19" name="cell-1-0">
            <a:extLst xmlns:a="http://schemas.openxmlformats.org/drawingml/2006/main">
              <a:ext uri="{FF2B5EF4-FFF2-40B4-BE49-F238E27FC236}">
                <a16:creationId xmlns:a16="http://schemas.microsoft.com/office/drawing/2014/main" id="{258E738C-6D35-4FA4-A48C-F05AD2FD20A5}"/>
              </a:ext>
            </a:extLst>
          </p:cNvPr>
          <p:cNvSpPr>
            <a:spLocks xmlns:a="http://schemas.openxmlformats.org/drawingml/2006/main" noGrp="1"/>
          </p:cNvSpPr>
          <p:nvPr/>
        </p:nvSpPr>
        <p:spPr>
          <a:xfrm xmlns:a="http://schemas.openxmlformats.org/drawingml/2006/main">
            <a:off x="723900" y="3503295"/>
            <a:ext cx="2247900" cy="38862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2000"/>
              </a:lnSpc>
              <a:buNone/>
              <a:defRPr sz="1500" b="0">
                <a:solidFill>
                  <a:srgbClr val="111316"/>
                </a:solidFill>
                <a:latin typeface="Arial"/>
                <a:ea typeface="Arial"/>
                <a:cs typeface="Arial"/>
              </a:defRPr>
            </a:pPr>
            <a:r>
              <a:rPr sz="1500" b="0">
                <a:solidFill>
                  <a:srgbClr val="111316"/>
                </a:solidFill>
                <a:latin typeface="Arial"/>
                <a:ea typeface="Arial"/>
                <a:cs typeface="Arial"/>
              </a:rPr>
              <a:t>objective function</a:t>
            </a:r>
          </a:p>
        </p:txBody>
      </p:sp>
      <p:sp>
        <p:nvSpPr>
          <p:cNvPr id="20" name="">
            <a:extLst xmlns:a="http://schemas.openxmlformats.org/drawingml/2006/main">
              <a:ext uri="{FF2B5EF4-FFF2-40B4-BE49-F238E27FC236}">
                <a16:creationId xmlns:a16="http://schemas.microsoft.com/office/drawing/2014/main" id="{34AA06AF-EFA1-4350-A972-4A76229E0D86}"/>
              </a:ext>
            </a:extLst>
          </p:cNvPr>
          <p:cNvSpPr>
            <a:spLocks xmlns:a="http://schemas.openxmlformats.org/drawingml/2006/main" noGrp="1"/>
          </p:cNvSpPr>
          <p:nvPr/>
        </p:nvSpPr>
        <p:spPr>
          <a:xfrm xmlns:a="http://schemas.openxmlformats.org/drawingml/2006/main">
            <a:off x="3086100" y="3427095"/>
            <a:ext cx="2476500" cy="541020"/>
          </a:xfrm>
          <a:prstGeom xmlns:a="http://schemas.openxmlformats.org/drawingml/2006/main" prst="rect">
            <a:avLst/>
          </a:prstGeom>
          <a:solidFill xmlns:a="http://schemas.openxmlformats.org/drawingml/2006/main">
            <a:srgbClr val="F6F7F9"/>
          </a:solidFill>
          <a:ln xmlns:a="http://schemas.openxmlformats.org/drawingml/2006/main" w="9525">
            <a:solidFill>
              <a:srgbClr val="DDE0E5"/>
            </a:solidFill>
            <a:prstDash val="solid"/>
          </a:ln>
        </p:spPr>
      </p:sp>
      <p:sp>
        <p:nvSpPr>
          <p:cNvPr id="21" name="cell-1-1">
            <a:extLst xmlns:a="http://schemas.openxmlformats.org/drawingml/2006/main">
              <a:ext uri="{FF2B5EF4-FFF2-40B4-BE49-F238E27FC236}">
                <a16:creationId xmlns:a16="http://schemas.microsoft.com/office/drawing/2014/main" id="{5D0CBD2D-2396-485B-B215-B8E1A124DC4D}"/>
              </a:ext>
            </a:extLst>
          </p:cNvPr>
          <p:cNvSpPr>
            <a:spLocks xmlns:a="http://schemas.openxmlformats.org/drawingml/2006/main" noGrp="1"/>
          </p:cNvSpPr>
          <p:nvPr/>
        </p:nvSpPr>
        <p:spPr>
          <a:xfrm xmlns:a="http://schemas.openxmlformats.org/drawingml/2006/main">
            <a:off x="3200400" y="3503295"/>
            <a:ext cx="2247900" cy="38862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2000"/>
              </a:lnSpc>
              <a:buNone/>
              <a:defRPr sz="1500" b="0">
                <a:solidFill>
                  <a:srgbClr val="111316"/>
                </a:solidFill>
                <a:latin typeface="Arial"/>
                <a:ea typeface="Arial"/>
                <a:cs typeface="Arial"/>
              </a:defRPr>
            </a:pPr>
            <a:r>
              <a:rPr sz="1500" b="0">
                <a:solidFill>
                  <a:srgbClr val="111316"/>
                </a:solidFill>
                <a:latin typeface="Arial"/>
                <a:ea typeface="Arial"/>
                <a:cs typeface="Arial"/>
              </a:rPr>
              <a:t>the one number you maximize or minimize</a:t>
            </a:r>
          </a:p>
        </p:txBody>
      </p:sp>
      <p:sp>
        <p:nvSpPr>
          <p:cNvPr id="22" name="">
            <a:extLst xmlns:a="http://schemas.openxmlformats.org/drawingml/2006/main">
              <a:ext uri="{FF2B5EF4-FFF2-40B4-BE49-F238E27FC236}">
                <a16:creationId xmlns:a16="http://schemas.microsoft.com/office/drawing/2014/main" id="{1134371B-4A8D-4FC7-A066-129224C37086}"/>
              </a:ext>
            </a:extLst>
          </p:cNvPr>
          <p:cNvSpPr>
            <a:spLocks xmlns:a="http://schemas.openxmlformats.org/drawingml/2006/main" noGrp="1"/>
          </p:cNvSpPr>
          <p:nvPr/>
        </p:nvSpPr>
        <p:spPr>
          <a:xfrm xmlns:a="http://schemas.openxmlformats.org/drawingml/2006/main">
            <a:off x="5562600" y="3427095"/>
            <a:ext cx="2476500" cy="541020"/>
          </a:xfrm>
          <a:prstGeom xmlns:a="http://schemas.openxmlformats.org/drawingml/2006/main" prst="rect">
            <a:avLst/>
          </a:prstGeom>
          <a:solidFill xmlns:a="http://schemas.openxmlformats.org/drawingml/2006/main">
            <a:srgbClr val="F6F7F9"/>
          </a:solidFill>
          <a:ln xmlns:a="http://schemas.openxmlformats.org/drawingml/2006/main" w="9525">
            <a:solidFill>
              <a:srgbClr val="DDE0E5"/>
            </a:solidFill>
            <a:prstDash val="solid"/>
          </a:ln>
        </p:spPr>
      </p:sp>
      <p:sp>
        <p:nvSpPr>
          <p:cNvPr id="23" name="cell-1-2">
            <a:extLst xmlns:a="http://schemas.openxmlformats.org/drawingml/2006/main">
              <a:ext uri="{FF2B5EF4-FFF2-40B4-BE49-F238E27FC236}">
                <a16:creationId xmlns:a16="http://schemas.microsoft.com/office/drawing/2014/main" id="{13816B7E-6FB4-4948-93EB-08406B52D68A}"/>
              </a:ext>
            </a:extLst>
          </p:cNvPr>
          <p:cNvSpPr>
            <a:spLocks xmlns:a="http://schemas.openxmlformats.org/drawingml/2006/main" noGrp="1"/>
          </p:cNvSpPr>
          <p:nvPr/>
        </p:nvSpPr>
        <p:spPr>
          <a:xfrm xmlns:a="http://schemas.openxmlformats.org/drawingml/2006/main">
            <a:off x="5676900" y="3503295"/>
            <a:ext cx="2247900" cy="38862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2000"/>
              </a:lnSpc>
              <a:buNone/>
              <a:defRPr sz="1500" b="0">
                <a:solidFill>
                  <a:srgbClr val="111316"/>
                </a:solidFill>
                <a:latin typeface="Arial"/>
                <a:ea typeface="Arial"/>
                <a:cs typeface="Arial"/>
              </a:defRPr>
            </a:pPr>
            <a:r>
              <a:rPr sz="1500" b="0">
                <a:solidFill>
                  <a:srgbClr val="111316"/>
                </a:solidFill>
                <a:latin typeface="Arial"/>
                <a:ea typeface="Arial"/>
                <a:cs typeface="Arial"/>
              </a:rPr>
              <a:t>maximize 60x1 + 25x2</a:t>
            </a:r>
          </a:p>
        </p:txBody>
      </p:sp>
      <p:sp>
        <p:nvSpPr>
          <p:cNvPr id="24" name="">
            <a:extLst xmlns:a="http://schemas.openxmlformats.org/drawingml/2006/main">
              <a:ext uri="{FF2B5EF4-FFF2-40B4-BE49-F238E27FC236}">
                <a16:creationId xmlns:a16="http://schemas.microsoft.com/office/drawing/2014/main" id="{DC703B47-B4A7-4CB6-8436-57C1242FEE3D}"/>
              </a:ext>
            </a:extLst>
          </p:cNvPr>
          <p:cNvSpPr>
            <a:spLocks xmlns:a="http://schemas.openxmlformats.org/drawingml/2006/main" noGrp="1"/>
          </p:cNvSpPr>
          <p:nvPr/>
        </p:nvSpPr>
        <p:spPr>
          <a:xfrm xmlns:a="http://schemas.openxmlformats.org/drawingml/2006/main">
            <a:off x="609600" y="3968115"/>
            <a:ext cx="2476500" cy="541020"/>
          </a:xfrm>
          <a:prstGeom xmlns:a="http://schemas.openxmlformats.org/drawingml/2006/main" prst="rect">
            <a:avLst/>
          </a:prstGeom>
          <a:solidFill xmlns:a="http://schemas.openxmlformats.org/drawingml/2006/main">
            <a:srgbClr val="FFFFFF"/>
          </a:solidFill>
          <a:ln xmlns:a="http://schemas.openxmlformats.org/drawingml/2006/main" w="9525">
            <a:solidFill>
              <a:srgbClr val="DDE0E5"/>
            </a:solidFill>
            <a:prstDash val="solid"/>
          </a:ln>
        </p:spPr>
      </p:sp>
      <p:sp>
        <p:nvSpPr>
          <p:cNvPr id="25" name="cell-2-0">
            <a:extLst xmlns:a="http://schemas.openxmlformats.org/drawingml/2006/main">
              <a:ext uri="{FF2B5EF4-FFF2-40B4-BE49-F238E27FC236}">
                <a16:creationId xmlns:a16="http://schemas.microsoft.com/office/drawing/2014/main" id="{A2691F03-5C8E-4A7F-8DE2-DBCC74B02D42}"/>
              </a:ext>
            </a:extLst>
          </p:cNvPr>
          <p:cNvSpPr>
            <a:spLocks xmlns:a="http://schemas.openxmlformats.org/drawingml/2006/main" noGrp="1"/>
          </p:cNvSpPr>
          <p:nvPr/>
        </p:nvSpPr>
        <p:spPr>
          <a:xfrm xmlns:a="http://schemas.openxmlformats.org/drawingml/2006/main">
            <a:off x="723900" y="4044315"/>
            <a:ext cx="2247900" cy="38862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2000"/>
              </a:lnSpc>
              <a:buNone/>
              <a:defRPr sz="1500" b="0">
                <a:solidFill>
                  <a:srgbClr val="111316"/>
                </a:solidFill>
                <a:latin typeface="Arial"/>
                <a:ea typeface="Arial"/>
                <a:cs typeface="Arial"/>
              </a:defRPr>
            </a:pPr>
            <a:r>
              <a:rPr sz="1500" b="0">
                <a:solidFill>
                  <a:srgbClr val="111316"/>
                </a:solidFill>
                <a:latin typeface="Arial"/>
                <a:ea typeface="Arial"/>
                <a:cs typeface="Arial"/>
              </a:rPr>
              <a:t>constraint / bounds</a:t>
            </a:r>
          </a:p>
        </p:txBody>
      </p:sp>
      <p:sp>
        <p:nvSpPr>
          <p:cNvPr id="26" name="">
            <a:extLst xmlns:a="http://schemas.openxmlformats.org/drawingml/2006/main">
              <a:ext uri="{FF2B5EF4-FFF2-40B4-BE49-F238E27FC236}">
                <a16:creationId xmlns:a16="http://schemas.microsoft.com/office/drawing/2014/main" id="{52E77BE9-62E2-4518-A568-6314DBD91510}"/>
              </a:ext>
            </a:extLst>
          </p:cNvPr>
          <p:cNvSpPr>
            <a:spLocks xmlns:a="http://schemas.openxmlformats.org/drawingml/2006/main" noGrp="1"/>
          </p:cNvSpPr>
          <p:nvPr/>
        </p:nvSpPr>
        <p:spPr>
          <a:xfrm xmlns:a="http://schemas.openxmlformats.org/drawingml/2006/main">
            <a:off x="3086100" y="3968115"/>
            <a:ext cx="2476500" cy="541020"/>
          </a:xfrm>
          <a:prstGeom xmlns:a="http://schemas.openxmlformats.org/drawingml/2006/main" prst="rect">
            <a:avLst/>
          </a:prstGeom>
          <a:solidFill xmlns:a="http://schemas.openxmlformats.org/drawingml/2006/main">
            <a:srgbClr val="FFFFFF"/>
          </a:solidFill>
          <a:ln xmlns:a="http://schemas.openxmlformats.org/drawingml/2006/main" w="9525">
            <a:solidFill>
              <a:srgbClr val="DDE0E5"/>
            </a:solidFill>
            <a:prstDash val="solid"/>
          </a:ln>
        </p:spPr>
      </p:sp>
      <p:sp>
        <p:nvSpPr>
          <p:cNvPr id="27" name="cell-2-1">
            <a:extLst xmlns:a="http://schemas.openxmlformats.org/drawingml/2006/main">
              <a:ext uri="{FF2B5EF4-FFF2-40B4-BE49-F238E27FC236}">
                <a16:creationId xmlns:a16="http://schemas.microsoft.com/office/drawing/2014/main" id="{77D19F9F-91E7-4BF4-9EB6-B6D7CF1C284B}"/>
              </a:ext>
            </a:extLst>
          </p:cNvPr>
          <p:cNvSpPr>
            <a:spLocks xmlns:a="http://schemas.openxmlformats.org/drawingml/2006/main" noGrp="1"/>
          </p:cNvSpPr>
          <p:nvPr/>
        </p:nvSpPr>
        <p:spPr>
          <a:xfrm xmlns:a="http://schemas.openxmlformats.org/drawingml/2006/main">
            <a:off x="3200400" y="4044315"/>
            <a:ext cx="2247900" cy="38862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2000"/>
              </a:lnSpc>
              <a:buNone/>
              <a:defRPr sz="1500" b="0">
                <a:solidFill>
                  <a:srgbClr val="111316"/>
                </a:solidFill>
                <a:latin typeface="Arial"/>
                <a:ea typeface="Arial"/>
                <a:cs typeface="Arial"/>
              </a:defRPr>
            </a:pPr>
            <a:r>
              <a:rPr sz="1500" b="0">
                <a:solidFill>
                  <a:srgbClr val="111316"/>
                </a:solidFill>
                <a:latin typeface="Arial"/>
                <a:ea typeface="Arial"/>
                <a:cs typeface="Arial"/>
              </a:rPr>
              <a:t>hard limits the design must satisfy</a:t>
            </a:r>
          </a:p>
        </p:txBody>
      </p:sp>
      <p:sp>
        <p:nvSpPr>
          <p:cNvPr id="28" name="">
            <a:extLst xmlns:a="http://schemas.openxmlformats.org/drawingml/2006/main">
              <a:ext uri="{FF2B5EF4-FFF2-40B4-BE49-F238E27FC236}">
                <a16:creationId xmlns:a16="http://schemas.microsoft.com/office/drawing/2014/main" id="{D4F63923-182C-44A3-8CE1-BDBE3910E359}"/>
              </a:ext>
            </a:extLst>
          </p:cNvPr>
          <p:cNvSpPr>
            <a:spLocks xmlns:a="http://schemas.openxmlformats.org/drawingml/2006/main" noGrp="1"/>
          </p:cNvSpPr>
          <p:nvPr/>
        </p:nvSpPr>
        <p:spPr>
          <a:xfrm xmlns:a="http://schemas.openxmlformats.org/drawingml/2006/main">
            <a:off x="5562600" y="3968115"/>
            <a:ext cx="2476500" cy="541020"/>
          </a:xfrm>
          <a:prstGeom xmlns:a="http://schemas.openxmlformats.org/drawingml/2006/main" prst="rect">
            <a:avLst/>
          </a:prstGeom>
          <a:solidFill xmlns:a="http://schemas.openxmlformats.org/drawingml/2006/main">
            <a:srgbClr val="FFFFFF"/>
          </a:solidFill>
          <a:ln xmlns:a="http://schemas.openxmlformats.org/drawingml/2006/main" w="9525">
            <a:solidFill>
              <a:srgbClr val="DDE0E5"/>
            </a:solidFill>
            <a:prstDash val="solid"/>
          </a:ln>
        </p:spPr>
      </p:sp>
      <p:sp>
        <p:nvSpPr>
          <p:cNvPr id="29" name="cell-2-2">
            <a:extLst xmlns:a="http://schemas.openxmlformats.org/drawingml/2006/main">
              <a:ext uri="{FF2B5EF4-FFF2-40B4-BE49-F238E27FC236}">
                <a16:creationId xmlns:a16="http://schemas.microsoft.com/office/drawing/2014/main" id="{0D122CB3-53B0-462B-B2C2-D70C7B7E6172}"/>
              </a:ext>
            </a:extLst>
          </p:cNvPr>
          <p:cNvSpPr>
            <a:spLocks xmlns:a="http://schemas.openxmlformats.org/drawingml/2006/main" noGrp="1"/>
          </p:cNvSpPr>
          <p:nvPr/>
        </p:nvSpPr>
        <p:spPr>
          <a:xfrm xmlns:a="http://schemas.openxmlformats.org/drawingml/2006/main">
            <a:off x="5676900" y="4044315"/>
            <a:ext cx="2247900" cy="38862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2000"/>
              </a:lnSpc>
              <a:buNone/>
              <a:defRPr sz="1500" b="0">
                <a:solidFill>
                  <a:srgbClr val="111316"/>
                </a:solidFill>
                <a:latin typeface="Arial"/>
                <a:ea typeface="Arial"/>
                <a:cs typeface="Arial"/>
              </a:defRPr>
            </a:pPr>
            <a:r>
              <a:rPr sz="1500" b="0">
                <a:solidFill>
                  <a:srgbClr val="111316"/>
                </a:solidFill>
                <a:latin typeface="Arial"/>
                <a:ea typeface="Arial"/>
                <a:cs typeface="Arial"/>
              </a:rPr>
              <a:t>area &lt;= 200, budget &lt;= 50000, 0 &lt;= x1 &lt;= 120</a:t>
            </a:r>
          </a:p>
        </p:txBody>
      </p:sp>
      <p:sp>
        <p:nvSpPr>
          <p:cNvPr id="30" name="">
            <a:extLst xmlns:a="http://schemas.openxmlformats.org/drawingml/2006/main">
              <a:ext uri="{FF2B5EF4-FFF2-40B4-BE49-F238E27FC236}">
                <a16:creationId xmlns:a16="http://schemas.microsoft.com/office/drawing/2014/main" id="{F586533E-FB91-4EBC-A110-CE5ABFBB1AB3}"/>
              </a:ext>
            </a:extLst>
          </p:cNvPr>
          <p:cNvSpPr>
            <a:spLocks xmlns:a="http://schemas.openxmlformats.org/drawingml/2006/main" noGrp="1"/>
          </p:cNvSpPr>
          <p:nvPr/>
        </p:nvSpPr>
        <p:spPr>
          <a:xfrm xmlns:a="http://schemas.openxmlformats.org/drawingml/2006/main">
            <a:off x="609600" y="4509135"/>
            <a:ext cx="2476500" cy="541020"/>
          </a:xfrm>
          <a:prstGeom xmlns:a="http://schemas.openxmlformats.org/drawingml/2006/main" prst="rect">
            <a:avLst/>
          </a:prstGeom>
          <a:solidFill xmlns:a="http://schemas.openxmlformats.org/drawingml/2006/main">
            <a:srgbClr val="F6F7F9"/>
          </a:solidFill>
          <a:ln xmlns:a="http://schemas.openxmlformats.org/drawingml/2006/main" w="9525">
            <a:solidFill>
              <a:srgbClr val="DDE0E5"/>
            </a:solidFill>
            <a:prstDash val="solid"/>
          </a:ln>
        </p:spPr>
      </p:sp>
      <p:sp>
        <p:nvSpPr>
          <p:cNvPr id="31" name="cell-3-0">
            <a:extLst xmlns:a="http://schemas.openxmlformats.org/drawingml/2006/main">
              <a:ext uri="{FF2B5EF4-FFF2-40B4-BE49-F238E27FC236}">
                <a16:creationId xmlns:a16="http://schemas.microsoft.com/office/drawing/2014/main" id="{64896CC2-B418-477E-80F9-68B2EA0260B0}"/>
              </a:ext>
            </a:extLst>
          </p:cNvPr>
          <p:cNvSpPr>
            <a:spLocks xmlns:a="http://schemas.openxmlformats.org/drawingml/2006/main" noGrp="1"/>
          </p:cNvSpPr>
          <p:nvPr/>
        </p:nvSpPr>
        <p:spPr>
          <a:xfrm xmlns:a="http://schemas.openxmlformats.org/drawingml/2006/main">
            <a:off x="723900" y="4585335"/>
            <a:ext cx="2247900" cy="38862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2000"/>
              </a:lnSpc>
              <a:buNone/>
              <a:defRPr sz="1500" b="0">
                <a:solidFill>
                  <a:srgbClr val="111316"/>
                </a:solidFill>
                <a:latin typeface="Arial"/>
                <a:ea typeface="Arial"/>
                <a:cs typeface="Arial"/>
              </a:defRPr>
            </a:pPr>
            <a:r>
              <a:rPr sz="1500" b="0">
                <a:solidFill>
                  <a:srgbClr val="111316"/>
                </a:solidFill>
                <a:latin typeface="Arial"/>
                <a:ea typeface="Arial"/>
                <a:cs typeface="Arial"/>
              </a:rPr>
              <a:t>feasible region</a:t>
            </a:r>
          </a:p>
        </p:txBody>
      </p:sp>
      <p:sp>
        <p:nvSpPr>
          <p:cNvPr id="32" name="">
            <a:extLst xmlns:a="http://schemas.openxmlformats.org/drawingml/2006/main">
              <a:ext uri="{FF2B5EF4-FFF2-40B4-BE49-F238E27FC236}">
                <a16:creationId xmlns:a16="http://schemas.microsoft.com/office/drawing/2014/main" id="{A9B5D918-2CC8-43C4-B7F0-10077485AA33}"/>
              </a:ext>
            </a:extLst>
          </p:cNvPr>
          <p:cNvSpPr>
            <a:spLocks xmlns:a="http://schemas.openxmlformats.org/drawingml/2006/main" noGrp="1"/>
          </p:cNvSpPr>
          <p:nvPr/>
        </p:nvSpPr>
        <p:spPr>
          <a:xfrm xmlns:a="http://schemas.openxmlformats.org/drawingml/2006/main">
            <a:off x="3086100" y="4509135"/>
            <a:ext cx="2476500" cy="541020"/>
          </a:xfrm>
          <a:prstGeom xmlns:a="http://schemas.openxmlformats.org/drawingml/2006/main" prst="rect">
            <a:avLst/>
          </a:prstGeom>
          <a:solidFill xmlns:a="http://schemas.openxmlformats.org/drawingml/2006/main">
            <a:srgbClr val="F6F7F9"/>
          </a:solidFill>
          <a:ln xmlns:a="http://schemas.openxmlformats.org/drawingml/2006/main" w="9525">
            <a:solidFill>
              <a:srgbClr val="DDE0E5"/>
            </a:solidFill>
            <a:prstDash val="solid"/>
          </a:ln>
        </p:spPr>
      </p:sp>
      <p:sp>
        <p:nvSpPr>
          <p:cNvPr id="33" name="cell-3-1">
            <a:extLst xmlns:a="http://schemas.openxmlformats.org/drawingml/2006/main">
              <a:ext uri="{FF2B5EF4-FFF2-40B4-BE49-F238E27FC236}">
                <a16:creationId xmlns:a16="http://schemas.microsoft.com/office/drawing/2014/main" id="{91A2224F-2BFF-4487-AA7D-5291302E255C}"/>
              </a:ext>
            </a:extLst>
          </p:cNvPr>
          <p:cNvSpPr>
            <a:spLocks xmlns:a="http://schemas.openxmlformats.org/drawingml/2006/main" noGrp="1"/>
          </p:cNvSpPr>
          <p:nvPr/>
        </p:nvSpPr>
        <p:spPr>
          <a:xfrm xmlns:a="http://schemas.openxmlformats.org/drawingml/2006/main">
            <a:off x="3200400" y="4585335"/>
            <a:ext cx="2247900" cy="38862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2000"/>
              </a:lnSpc>
              <a:buNone/>
              <a:defRPr sz="1500" b="0">
                <a:solidFill>
                  <a:srgbClr val="111316"/>
                </a:solidFill>
                <a:latin typeface="Arial"/>
                <a:ea typeface="Arial"/>
                <a:cs typeface="Arial"/>
              </a:defRPr>
            </a:pPr>
            <a:r>
              <a:rPr sz="1500" b="0">
                <a:solidFill>
                  <a:srgbClr val="111316"/>
                </a:solidFill>
                <a:latin typeface="Arial"/>
                <a:ea typeface="Arial"/>
                <a:cs typeface="Arial"/>
              </a:rPr>
              <a:t>every (x1, x2) satisfying all constraints at once</a:t>
            </a:r>
          </a:p>
        </p:txBody>
      </p:sp>
      <p:sp>
        <p:nvSpPr>
          <p:cNvPr id="34" name="">
            <a:extLst xmlns:a="http://schemas.openxmlformats.org/drawingml/2006/main">
              <a:ext uri="{FF2B5EF4-FFF2-40B4-BE49-F238E27FC236}">
                <a16:creationId xmlns:a16="http://schemas.microsoft.com/office/drawing/2014/main" id="{05A50D6E-DA13-45AC-8FC0-1EB3E8B872EF}"/>
              </a:ext>
            </a:extLst>
          </p:cNvPr>
          <p:cNvSpPr>
            <a:spLocks xmlns:a="http://schemas.openxmlformats.org/drawingml/2006/main" noGrp="1"/>
          </p:cNvSpPr>
          <p:nvPr/>
        </p:nvSpPr>
        <p:spPr>
          <a:xfrm xmlns:a="http://schemas.openxmlformats.org/drawingml/2006/main">
            <a:off x="5562600" y="4509135"/>
            <a:ext cx="2476500" cy="541020"/>
          </a:xfrm>
          <a:prstGeom xmlns:a="http://schemas.openxmlformats.org/drawingml/2006/main" prst="rect">
            <a:avLst/>
          </a:prstGeom>
          <a:solidFill xmlns:a="http://schemas.openxmlformats.org/drawingml/2006/main">
            <a:srgbClr val="F6F7F9"/>
          </a:solidFill>
          <a:ln xmlns:a="http://schemas.openxmlformats.org/drawingml/2006/main" w="9525">
            <a:solidFill>
              <a:srgbClr val="DDE0E5"/>
            </a:solidFill>
            <a:prstDash val="solid"/>
          </a:ln>
        </p:spPr>
      </p:sp>
      <p:sp>
        <p:nvSpPr>
          <p:cNvPr id="35" name="cell-3-2">
            <a:extLst xmlns:a="http://schemas.openxmlformats.org/drawingml/2006/main">
              <a:ext uri="{FF2B5EF4-FFF2-40B4-BE49-F238E27FC236}">
                <a16:creationId xmlns:a16="http://schemas.microsoft.com/office/drawing/2014/main" id="{D126FE4C-0197-4765-88B1-7FEEDE4AA51C}"/>
              </a:ext>
            </a:extLst>
          </p:cNvPr>
          <p:cNvSpPr>
            <a:spLocks xmlns:a="http://schemas.openxmlformats.org/drawingml/2006/main" noGrp="1"/>
          </p:cNvSpPr>
          <p:nvPr/>
        </p:nvSpPr>
        <p:spPr>
          <a:xfrm xmlns:a="http://schemas.openxmlformats.org/drawingml/2006/main">
            <a:off x="5676900" y="4585335"/>
            <a:ext cx="2247900" cy="38862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2000"/>
              </a:lnSpc>
              <a:buNone/>
              <a:defRPr sz="1500" b="0">
                <a:solidFill>
                  <a:srgbClr val="111316"/>
                </a:solidFill>
                <a:latin typeface="Arial"/>
                <a:ea typeface="Arial"/>
                <a:cs typeface="Arial"/>
              </a:defRPr>
            </a:pPr>
            <a:r>
              <a:rPr sz="1500" b="0">
                <a:solidFill>
                  <a:srgbClr val="111316"/>
                </a:solidFill>
                <a:latin typeface="Arial"/>
                <a:ea typeface="Arial"/>
                <a:cs typeface="Arial"/>
              </a:rPr>
              <a:t>a five-sided polygon, solved today</a:t>
            </a:r>
          </a:p>
        </p:txBody>
      </p:sp>
      <p:sp>
        <p:nvSpPr>
          <p:cNvPr id="36" name="">
            <a:extLst xmlns:a="http://schemas.openxmlformats.org/drawingml/2006/main">
              <a:ext uri="{FF2B5EF4-FFF2-40B4-BE49-F238E27FC236}">
                <a16:creationId xmlns:a16="http://schemas.microsoft.com/office/drawing/2014/main" id="{27847DD0-281D-46A1-8487-1240CD4090DB}"/>
              </a:ext>
            </a:extLst>
          </p:cNvPr>
          <p:cNvSpPr>
            <a:spLocks xmlns:a="http://schemas.openxmlformats.org/drawingml/2006/main" noGrp="1"/>
          </p:cNvSpPr>
          <p:nvPr/>
        </p:nvSpPr>
        <p:spPr>
          <a:xfrm xmlns:a="http://schemas.openxmlformats.org/drawingml/2006/main">
            <a:off x="609600" y="5050155"/>
            <a:ext cx="2476500" cy="541020"/>
          </a:xfrm>
          <a:prstGeom xmlns:a="http://schemas.openxmlformats.org/drawingml/2006/main" prst="rect">
            <a:avLst/>
          </a:prstGeom>
          <a:solidFill xmlns:a="http://schemas.openxmlformats.org/drawingml/2006/main">
            <a:srgbClr val="FFFFFF"/>
          </a:solidFill>
          <a:ln xmlns:a="http://schemas.openxmlformats.org/drawingml/2006/main" w="9525">
            <a:solidFill>
              <a:srgbClr val="DDE0E5"/>
            </a:solidFill>
            <a:prstDash val="solid"/>
          </a:ln>
        </p:spPr>
      </p:sp>
      <p:sp>
        <p:nvSpPr>
          <p:cNvPr id="37" name="cell-4-0">
            <a:extLst xmlns:a="http://schemas.openxmlformats.org/drawingml/2006/main">
              <a:ext uri="{FF2B5EF4-FFF2-40B4-BE49-F238E27FC236}">
                <a16:creationId xmlns:a16="http://schemas.microsoft.com/office/drawing/2014/main" id="{7D86B09B-9A2F-40C8-9821-9EA977273B4A}"/>
              </a:ext>
            </a:extLst>
          </p:cNvPr>
          <p:cNvSpPr>
            <a:spLocks xmlns:a="http://schemas.openxmlformats.org/drawingml/2006/main" noGrp="1"/>
          </p:cNvSpPr>
          <p:nvPr/>
        </p:nvSpPr>
        <p:spPr>
          <a:xfrm xmlns:a="http://schemas.openxmlformats.org/drawingml/2006/main">
            <a:off x="723900" y="5126355"/>
            <a:ext cx="2247900" cy="38862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2000"/>
              </a:lnSpc>
              <a:buNone/>
              <a:defRPr sz="1500" b="0">
                <a:solidFill>
                  <a:srgbClr val="111316"/>
                </a:solidFill>
                <a:latin typeface="Arial"/>
                <a:ea typeface="Arial"/>
                <a:cs typeface="Arial"/>
              </a:defRPr>
            </a:pPr>
            <a:r>
              <a:rPr sz="1500" b="0">
                <a:solidFill>
                  <a:srgbClr val="111316"/>
                </a:solidFill>
                <a:latin typeface="Arial"/>
                <a:ea typeface="Arial"/>
                <a:cs typeface="Arial"/>
              </a:rPr>
              <a:t>linprog</a:t>
            </a:r>
          </a:p>
        </p:txBody>
      </p:sp>
      <p:sp>
        <p:nvSpPr>
          <p:cNvPr id="38" name="">
            <a:extLst xmlns:a="http://schemas.openxmlformats.org/drawingml/2006/main">
              <a:ext uri="{FF2B5EF4-FFF2-40B4-BE49-F238E27FC236}">
                <a16:creationId xmlns:a16="http://schemas.microsoft.com/office/drawing/2014/main" id="{4263C57C-5A77-4E5F-B786-820F22D87D70}"/>
              </a:ext>
            </a:extLst>
          </p:cNvPr>
          <p:cNvSpPr>
            <a:spLocks xmlns:a="http://schemas.openxmlformats.org/drawingml/2006/main" noGrp="1"/>
          </p:cNvSpPr>
          <p:nvPr/>
        </p:nvSpPr>
        <p:spPr>
          <a:xfrm xmlns:a="http://schemas.openxmlformats.org/drawingml/2006/main">
            <a:off x="3086100" y="5050155"/>
            <a:ext cx="2476500" cy="541020"/>
          </a:xfrm>
          <a:prstGeom xmlns:a="http://schemas.openxmlformats.org/drawingml/2006/main" prst="rect">
            <a:avLst/>
          </a:prstGeom>
          <a:solidFill xmlns:a="http://schemas.openxmlformats.org/drawingml/2006/main">
            <a:srgbClr val="FFFFFF"/>
          </a:solidFill>
          <a:ln xmlns:a="http://schemas.openxmlformats.org/drawingml/2006/main" w="9525">
            <a:solidFill>
              <a:srgbClr val="DDE0E5"/>
            </a:solidFill>
            <a:prstDash val="solid"/>
          </a:ln>
        </p:spPr>
      </p:sp>
      <p:sp>
        <p:nvSpPr>
          <p:cNvPr id="39" name="cell-4-1">
            <a:extLst xmlns:a="http://schemas.openxmlformats.org/drawingml/2006/main">
              <a:ext uri="{FF2B5EF4-FFF2-40B4-BE49-F238E27FC236}">
                <a16:creationId xmlns:a16="http://schemas.microsoft.com/office/drawing/2014/main" id="{DE195293-A526-4719-B0B3-894397492450}"/>
              </a:ext>
            </a:extLst>
          </p:cNvPr>
          <p:cNvSpPr>
            <a:spLocks xmlns:a="http://schemas.openxmlformats.org/drawingml/2006/main" noGrp="1"/>
          </p:cNvSpPr>
          <p:nvPr/>
        </p:nvSpPr>
        <p:spPr>
          <a:xfrm xmlns:a="http://schemas.openxmlformats.org/drawingml/2006/main">
            <a:off x="3200400" y="5126355"/>
            <a:ext cx="2247900" cy="38862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2000"/>
              </a:lnSpc>
              <a:buNone/>
              <a:defRPr sz="1500" b="0">
                <a:solidFill>
                  <a:srgbClr val="111316"/>
                </a:solidFill>
                <a:latin typeface="Arial"/>
                <a:ea typeface="Arial"/>
                <a:cs typeface="Arial"/>
              </a:defRPr>
            </a:pPr>
            <a:r>
              <a:rPr sz="1500" b="0">
                <a:solidFill>
                  <a:srgbClr val="111316"/>
                </a:solidFill>
                <a:latin typeface="Arial"/>
                <a:ea typeface="Arial"/>
                <a:cs typeface="Arial"/>
              </a:rPr>
              <a:t>scipy's exact linear-program solver</a:t>
            </a:r>
          </a:p>
        </p:txBody>
      </p:sp>
      <p:sp>
        <p:nvSpPr>
          <p:cNvPr id="40" name="">
            <a:extLst xmlns:a="http://schemas.openxmlformats.org/drawingml/2006/main">
              <a:ext uri="{FF2B5EF4-FFF2-40B4-BE49-F238E27FC236}">
                <a16:creationId xmlns:a16="http://schemas.microsoft.com/office/drawing/2014/main" id="{3B2FF08B-8C09-47E1-8A15-B0919137697A}"/>
              </a:ext>
            </a:extLst>
          </p:cNvPr>
          <p:cNvSpPr>
            <a:spLocks xmlns:a="http://schemas.openxmlformats.org/drawingml/2006/main" noGrp="1"/>
          </p:cNvSpPr>
          <p:nvPr/>
        </p:nvSpPr>
        <p:spPr>
          <a:xfrm xmlns:a="http://schemas.openxmlformats.org/drawingml/2006/main">
            <a:off x="5562600" y="5050155"/>
            <a:ext cx="2476500" cy="541020"/>
          </a:xfrm>
          <a:prstGeom xmlns:a="http://schemas.openxmlformats.org/drawingml/2006/main" prst="rect">
            <a:avLst/>
          </a:prstGeom>
          <a:solidFill xmlns:a="http://schemas.openxmlformats.org/drawingml/2006/main">
            <a:srgbClr val="FFFFFF"/>
          </a:solidFill>
          <a:ln xmlns:a="http://schemas.openxmlformats.org/drawingml/2006/main" w="9525">
            <a:solidFill>
              <a:srgbClr val="DDE0E5"/>
            </a:solidFill>
            <a:prstDash val="solid"/>
          </a:ln>
        </p:spPr>
      </p:sp>
      <p:sp>
        <p:nvSpPr>
          <p:cNvPr id="41" name="cell-4-2">
            <a:extLst xmlns:a="http://schemas.openxmlformats.org/drawingml/2006/main">
              <a:ext uri="{FF2B5EF4-FFF2-40B4-BE49-F238E27FC236}">
                <a16:creationId xmlns:a16="http://schemas.microsoft.com/office/drawing/2014/main" id="{7E5706ED-2148-4AF3-938B-EE80586D8060}"/>
              </a:ext>
            </a:extLst>
          </p:cNvPr>
          <p:cNvSpPr>
            <a:spLocks xmlns:a="http://schemas.openxmlformats.org/drawingml/2006/main" noGrp="1"/>
          </p:cNvSpPr>
          <p:nvPr/>
        </p:nvSpPr>
        <p:spPr>
          <a:xfrm xmlns:a="http://schemas.openxmlformats.org/drawingml/2006/main">
            <a:off x="5676900" y="5126355"/>
            <a:ext cx="2247900" cy="38862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2000"/>
              </a:lnSpc>
              <a:buNone/>
              <a:defRPr sz="1500" b="0">
                <a:solidFill>
                  <a:srgbClr val="111316"/>
                </a:solidFill>
                <a:latin typeface="Arial"/>
                <a:ea typeface="Arial"/>
                <a:cs typeface="Arial"/>
              </a:defRPr>
            </a:pPr>
            <a:r>
              <a:rPr sz="1500" b="0">
                <a:solidFill>
                  <a:srgbClr val="111316"/>
                </a:solidFill>
                <a:latin typeface="Arial"/>
                <a:ea typeface="Arial"/>
                <a:cs typeface="Arial"/>
              </a:rPr>
              <a:t>c, A_ub, b_ub, bounds -&gt; res.x, res.fun</a:t>
            </a:r>
          </a:p>
        </p:txBody>
      </p:sp>
      <p:sp>
        <p:nvSpPr>
          <p:cNvPr id="42" name="callout-label">
            <a:extLst xmlns:a="http://schemas.openxmlformats.org/drawingml/2006/main">
              <a:ext uri="{FF2B5EF4-FFF2-40B4-BE49-F238E27FC236}">
                <a16:creationId xmlns:a16="http://schemas.microsoft.com/office/drawing/2014/main" id="{B1C89FC3-3644-4D63-9E9A-493B6BF38111}"/>
              </a:ext>
            </a:extLst>
          </p:cNvPr>
          <p:cNvSpPr>
            <a:spLocks xmlns:a="http://schemas.openxmlformats.org/drawingml/2006/main" noGrp="1"/>
          </p:cNvSpPr>
          <p:nvPr/>
        </p:nvSpPr>
        <p:spPr>
          <a:xfrm xmlns:a="http://schemas.openxmlformats.org/drawingml/2006/main">
            <a:off x="8420100" y="1866900"/>
            <a:ext cx="3162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2E74B5"/>
                </a:solidFill>
                <a:latin typeface="Arial"/>
                <a:ea typeface="Arial"/>
                <a:cs typeface="Arial"/>
              </a:defRPr>
            </a:pPr>
            <a:r>
              <a:rPr sz="900" b="1">
                <a:solidFill>
                  <a:srgbClr val="2E74B5"/>
                </a:solidFill>
                <a:latin typeface="Arial"/>
                <a:ea typeface="Arial"/>
                <a:cs typeface="Arial"/>
              </a:rPr>
              <a:t>ARCHITECTURAL LENS</a:t>
            </a:r>
          </a:p>
        </p:txBody>
      </p:sp>
      <p:sp>
        <p:nvSpPr>
          <p:cNvPr id="43" name="callout">
            <a:extLst xmlns:a="http://schemas.openxmlformats.org/drawingml/2006/main">
              <a:ext uri="{FF2B5EF4-FFF2-40B4-BE49-F238E27FC236}">
                <a16:creationId xmlns:a16="http://schemas.microsoft.com/office/drawing/2014/main" id="{F1583496-2558-4602-A5DA-20C33B38D0A1}"/>
              </a:ext>
            </a:extLst>
          </p:cNvPr>
          <p:cNvSpPr>
            <a:spLocks xmlns:a="http://schemas.openxmlformats.org/drawingml/2006/main" noGrp="1"/>
          </p:cNvSpPr>
          <p:nvPr/>
        </p:nvSpPr>
        <p:spPr>
          <a:xfrm xmlns:a="http://schemas.openxmlformats.org/drawingml/2006/main">
            <a:off x="8420100" y="2190750"/>
            <a:ext cx="3162300" cy="3790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800" b="1">
                <a:solidFill>
                  <a:srgbClr val="111316"/>
                </a:solidFill>
                <a:latin typeface="Arial"/>
                <a:ea typeface="Arial"/>
                <a:cs typeface="Arial"/>
              </a:defRPr>
            </a:pPr>
            <a:r>
              <a:rPr sz="1800" b="1">
                <a:solidFill>
                  <a:srgbClr val="111316"/>
                </a:solidFill>
                <a:latin typeface="Arial"/>
                <a:ea typeface="Arial"/>
                <a:cs typeface="Arial"/>
              </a:rPr>
              <a:t>Every term above appears at least once in today's script.</a:t>
            </a:r>
          </a:p>
        </p:txBody>
      </p:sp>
    </p:spTree>
    <p:extLst>
      <p:ext uri="{BB962C8B-B14F-4D97-AF65-F5344CB8AC3E}">
        <p14:creationId xmlns:p14="http://schemas.microsoft.com/office/powerpoint/2010/main" val="1181987602"/>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6" name="kicker">
            <a:extLst xmlns:a="http://schemas.openxmlformats.org/drawingml/2006/main">
              <a:ext uri="{FF2B5EF4-FFF2-40B4-BE49-F238E27FC236}">
                <a16:creationId xmlns:a16="http://schemas.microsoft.com/office/drawing/2014/main" id="{81595C9E-2A86-466A-9BAA-8D1FC560D2ED}"/>
              </a:ext>
            </a:extLst>
          </p:cNvPr>
          <p:cNvSpPr>
            <a:spLocks xmlns:a="http://schemas.openxmlformats.org/drawingml/2006/main" noGrp="1"/>
          </p:cNvSpPr>
          <p:nvPr/>
        </p:nvSpPr>
        <p:spPr>
          <a:xfrm xmlns:a="http://schemas.openxmlformats.org/drawingml/2006/main">
            <a:off x="609600" y="342900"/>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2E74B5"/>
                </a:solidFill>
                <a:latin typeface="Arial"/>
                <a:ea typeface="Arial"/>
                <a:cs typeface="Arial"/>
              </a:defRPr>
            </a:pPr>
            <a:r>
              <a:rPr sz="900" b="1">
                <a:solidFill>
                  <a:srgbClr val="2E74B5"/>
                </a:solidFill>
                <a:latin typeface="Arial"/>
                <a:ea typeface="Arial"/>
                <a:cs typeface="Arial"/>
              </a:rPr>
              <a:t>SYNTAX ANATOMY</a:t>
            </a:r>
          </a:p>
        </p:txBody>
      </p:sp>
      <p:sp>
        <p:nvSpPr>
          <p:cNvPr id="2" name="title">
            <a:extLst xmlns:a="http://schemas.openxmlformats.org/drawingml/2006/main">
              <a:ext uri="{FF2B5EF4-FFF2-40B4-BE49-F238E27FC236}">
                <a16:creationId xmlns:a16="http://schemas.microsoft.com/office/drawing/2014/main" id="{16DDC838-F8AA-40F9-96ED-597D4F6AF206}"/>
              </a:ext>
            </a:extLst>
          </p:cNvPr>
          <p:cNvSpPr>
            <a:spLocks xmlns:a="http://schemas.openxmlformats.org/drawingml/2006/main" noGrp="1"/>
          </p:cNvSpPr>
          <p:nvPr/>
        </p:nvSpPr>
        <p:spPr>
          <a:xfrm xmlns:a="http://schemas.openxmlformats.org/drawingml/2006/main">
            <a:off x="609600" y="60960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3000" b="0">
                <a:solidFill>
                  <a:srgbClr val="111316"/>
                </a:solidFill>
                <a:latin typeface="Arial"/>
                <a:ea typeface="Arial"/>
                <a:cs typeface="Arial"/>
              </a:defRPr>
            </a:pPr>
            <a:r>
              <a:rPr sz="3000" b="0">
                <a:solidFill>
                  <a:srgbClr val="111316"/>
                </a:solidFill>
                <a:latin typeface="Arial"/>
                <a:ea typeface="Arial"/>
                <a:cs typeface="Arial"/>
              </a:rPr>
              <a:t>Read the call before you run it</a:t>
            </a:r>
          </a:p>
        </p:txBody>
      </p:sp>
      <p:sp>
        <p:nvSpPr>
          <p:cNvPr id="3" name="">
            <a:extLst xmlns:a="http://schemas.openxmlformats.org/drawingml/2006/main">
              <a:ext uri="{FF2B5EF4-FFF2-40B4-BE49-F238E27FC236}">
                <a16:creationId xmlns:a16="http://schemas.microsoft.com/office/drawing/2014/main" id="{F644DAC3-12FA-4A28-A1F8-27FBA4A8C9CA}"/>
              </a:ext>
            </a:extLst>
          </p:cNvPr>
          <p:cNvSpPr>
            <a:spLocks xmlns:a="http://schemas.openxmlformats.org/drawingml/2006/main" noGrp="1"/>
          </p:cNvSpPr>
          <p:nvPr/>
        </p:nvSpPr>
        <p:spPr>
          <a:xfrm xmlns:a="http://schemas.openxmlformats.org/drawingml/2006/main">
            <a:off x="609600" y="6343650"/>
            <a:ext cx="10972800" cy="0"/>
          </a:xfrm>
          <a:prstGeom xmlns:a="http://schemas.openxmlformats.org/drawingml/2006/main" prst="line">
            <a:avLst/>
          </a:prstGeom>
          <a:noFill xmlns:a="http://schemas.openxmlformats.org/drawingml/2006/main"/>
          <a:ln xmlns:a="http://schemas.openxmlformats.org/drawingml/2006/main" w="9525">
            <a:solidFill>
              <a:srgbClr val="DDE0E5"/>
            </a:solidFill>
            <a:prstDash val="solid"/>
          </a:ln>
        </p:spPr>
      </p:sp>
      <p:sp>
        <p:nvSpPr>
          <p:cNvPr id="4" name="footer">
            <a:extLst xmlns:a="http://schemas.openxmlformats.org/drawingml/2006/main">
              <a:ext uri="{FF2B5EF4-FFF2-40B4-BE49-F238E27FC236}">
                <a16:creationId xmlns:a16="http://schemas.microsoft.com/office/drawing/2014/main" id="{8D66A86B-9FCC-44CD-94E5-E3768207092C}"/>
              </a:ext>
            </a:extLst>
          </p:cNvPr>
          <p:cNvSpPr>
            <a:spLocks xmlns:a="http://schemas.openxmlformats.org/drawingml/2006/main" noGrp="1"/>
          </p:cNvSpPr>
          <p:nvPr/>
        </p:nvSpPr>
        <p:spPr>
          <a:xfrm xmlns:a="http://schemas.openxmlformats.org/drawingml/2006/main">
            <a:off x="609600" y="6429375"/>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ARC 500  ·  Week 10 · Meeting B · Linear Programming Studio</a:t>
            </a:r>
          </a:p>
        </p:txBody>
      </p:sp>
      <p:sp>
        <p:nvSpPr>
          <p:cNvPr id="5" name="page">
            <a:extLst xmlns:a="http://schemas.openxmlformats.org/drawingml/2006/main">
              <a:ext uri="{FF2B5EF4-FFF2-40B4-BE49-F238E27FC236}">
                <a16:creationId xmlns:a16="http://schemas.microsoft.com/office/drawing/2014/main" id="{BCFC9F70-CB1C-4CD7-B211-8C074EF48F43}"/>
              </a:ext>
            </a:extLst>
          </p:cNvPr>
          <p:cNvSpPr>
            <a:spLocks xmlns:a="http://schemas.openxmlformats.org/drawingml/2006/main" noGrp="1"/>
          </p:cNvSpPr>
          <p:nvPr/>
        </p:nvSpPr>
        <p:spPr>
          <a:xfrm xmlns:a="http://schemas.openxmlformats.org/drawingml/2006/main">
            <a:off x="10896600" y="6429375"/>
            <a:ext cx="685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05</a:t>
            </a:r>
          </a:p>
        </p:txBody>
      </p:sp>
      <p:sp>
        <p:nvSpPr>
          <p:cNvPr id="6" name="anatomy-code-panel">
            <a:extLst xmlns:a="http://schemas.openxmlformats.org/drawingml/2006/main">
              <a:ext uri="{FF2B5EF4-FFF2-40B4-BE49-F238E27FC236}">
                <a16:creationId xmlns:a16="http://schemas.microsoft.com/office/drawing/2014/main" id="{DE2EC3D3-FE85-440D-B564-98FBFD3897BB}"/>
              </a:ext>
            </a:extLst>
          </p:cNvPr>
          <p:cNvSpPr>
            <a:spLocks xmlns:a="http://schemas.openxmlformats.org/drawingml/2006/main" noGrp="1"/>
          </p:cNvSpPr>
          <p:nvPr/>
        </p:nvSpPr>
        <p:spPr>
          <a:xfrm xmlns:a="http://schemas.openxmlformats.org/drawingml/2006/main">
            <a:off x="609600" y="1733550"/>
            <a:ext cx="10972800" cy="876300"/>
          </a:xfrm>
          <a:prstGeom xmlns:a="http://schemas.openxmlformats.org/drawingml/2006/main" prst="roundRect">
            <a:avLst>
              <a:gd name="adj" fmla="val 8696"/>
            </a:avLst>
          </a:prstGeom>
          <a:solidFill xmlns:a="http://schemas.openxmlformats.org/drawingml/2006/main">
            <a:srgbClr val="17191C"/>
          </a:solidFill>
          <a:ln xmlns:a="http://schemas.openxmlformats.org/drawingml/2006/main" w="9525">
            <a:solidFill>
              <a:srgbClr val="17191C"/>
            </a:solidFill>
            <a:prstDash val="solid"/>
          </a:ln>
        </p:spPr>
      </p:sp>
      <p:sp>
        <p:nvSpPr>
          <p:cNvPr id="7" name="anatomy-code">
            <a:extLst xmlns:a="http://schemas.openxmlformats.org/drawingml/2006/main">
              <a:ext uri="{FF2B5EF4-FFF2-40B4-BE49-F238E27FC236}">
                <a16:creationId xmlns:a16="http://schemas.microsoft.com/office/drawing/2014/main" id="{0B028C97-DE3B-4854-B32D-765FB27B9FAB}"/>
              </a:ext>
            </a:extLst>
          </p:cNvPr>
          <p:cNvSpPr>
            <a:spLocks xmlns:a="http://schemas.openxmlformats.org/drawingml/2006/main" noGrp="1"/>
          </p:cNvSpPr>
          <p:nvPr/>
        </p:nvSpPr>
        <p:spPr>
          <a:xfrm xmlns:a="http://schemas.openxmlformats.org/drawingml/2006/main">
            <a:off x="2952750" y="2057400"/>
            <a:ext cx="6667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3000" b="0">
                <a:solidFill>
                  <a:srgbClr val="FFFFFF"/>
                </a:solidFill>
                <a:latin typeface="Consolas"/>
                <a:ea typeface="Consolas"/>
                <a:cs typeface="Consolas"/>
              </a:defRPr>
            </a:pPr>
            <a:r>
              <a:rPr sz="3000" b="0">
                <a:solidFill>
                  <a:srgbClr val="FFFFFF"/>
                </a:solidFill>
                <a:latin typeface="Consolas"/>
                <a:ea typeface="Consolas"/>
                <a:cs typeface="Consolas"/>
              </a:rPr>
              <a:t>linprog(c, A_ub, b_ub, bounds)</a:t>
            </a:r>
          </a:p>
        </p:txBody>
      </p:sp>
      <p:sp>
        <p:nvSpPr>
          <p:cNvPr id="8" name="">
            <a:extLst xmlns:a="http://schemas.openxmlformats.org/drawingml/2006/main">
              <a:ext uri="{FF2B5EF4-FFF2-40B4-BE49-F238E27FC236}">
                <a16:creationId xmlns:a16="http://schemas.microsoft.com/office/drawing/2014/main" id="{6A4AFADB-05D2-4506-92DC-F0F3D4C533D9}"/>
              </a:ext>
            </a:extLst>
          </p:cNvPr>
          <p:cNvSpPr>
            <a:spLocks xmlns:a="http://schemas.openxmlformats.org/drawingml/2006/main" noGrp="1"/>
          </p:cNvSpPr>
          <p:nvPr/>
        </p:nvSpPr>
        <p:spPr>
          <a:xfrm xmlns:a="http://schemas.openxmlformats.org/drawingml/2006/main">
            <a:off x="4629150" y="2647950"/>
            <a:ext cx="209550" cy="0"/>
          </a:xfrm>
          <a:prstGeom xmlns:a="http://schemas.openxmlformats.org/drawingml/2006/main" prst="line">
            <a:avLst/>
          </a:prstGeom>
          <a:noFill xmlns:a="http://schemas.openxmlformats.org/drawingml/2006/main"/>
          <a:ln xmlns:a="http://schemas.openxmlformats.org/drawingml/2006/main" w="28575">
            <a:solidFill>
              <a:srgbClr val="2E74B5"/>
            </a:solidFill>
            <a:prstDash val="solid"/>
          </a:ln>
        </p:spPr>
      </p:sp>
      <p:sp>
        <p:nvSpPr>
          <p:cNvPr id="9" name="part-chip-0">
            <a:extLst xmlns:a="http://schemas.openxmlformats.org/drawingml/2006/main">
              <a:ext uri="{FF2B5EF4-FFF2-40B4-BE49-F238E27FC236}">
                <a16:creationId xmlns:a16="http://schemas.microsoft.com/office/drawing/2014/main" id="{0B56FA80-97CC-4AD5-94B0-488653006209}"/>
              </a:ext>
            </a:extLst>
          </p:cNvPr>
          <p:cNvSpPr>
            <a:spLocks xmlns:a="http://schemas.openxmlformats.org/drawingml/2006/main" noGrp="1"/>
          </p:cNvSpPr>
          <p:nvPr/>
        </p:nvSpPr>
        <p:spPr>
          <a:xfrm xmlns:a="http://schemas.openxmlformats.org/drawingml/2006/main">
            <a:off x="4610100" y="2724150"/>
            <a:ext cx="247650" cy="247650"/>
          </a:xfrm>
          <a:prstGeom xmlns:a="http://schemas.openxmlformats.org/drawingml/2006/main" prst="roundRect">
            <a:avLst>
              <a:gd name="adj" fmla="val 50000"/>
            </a:avLst>
          </a:prstGeom>
          <a:solidFill xmlns:a="http://schemas.openxmlformats.org/drawingml/2006/main">
            <a:srgbClr val="2E74B5"/>
          </a:solidFill>
          <a:ln xmlns:a="http://schemas.openxmlformats.org/drawingml/2006/main" w="0">
            <a:noFill/>
            <a:prstDash val="solid"/>
          </a:ln>
        </p:spPr>
      </p:sp>
      <p:sp>
        <p:nvSpPr>
          <p:cNvPr id="10" name="part-chipno-0">
            <a:extLst xmlns:a="http://schemas.openxmlformats.org/drawingml/2006/main">
              <a:ext uri="{FF2B5EF4-FFF2-40B4-BE49-F238E27FC236}">
                <a16:creationId xmlns:a16="http://schemas.microsoft.com/office/drawing/2014/main" id="{50A3F9AF-6DB1-4580-A552-95E4E1CE39E5}"/>
              </a:ext>
            </a:extLst>
          </p:cNvPr>
          <p:cNvSpPr>
            <a:spLocks xmlns:a="http://schemas.openxmlformats.org/drawingml/2006/main" noGrp="1"/>
          </p:cNvSpPr>
          <p:nvPr/>
        </p:nvSpPr>
        <p:spPr>
          <a:xfrm xmlns:a="http://schemas.openxmlformats.org/drawingml/2006/main">
            <a:off x="4610100" y="2771775"/>
            <a:ext cx="2476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2000"/>
              </a:lnSpc>
              <a:buNone/>
              <a:defRPr sz="900" b="1">
                <a:solidFill>
                  <a:srgbClr val="FFFFFF"/>
                </a:solidFill>
                <a:latin typeface="Arial"/>
                <a:ea typeface="Arial"/>
                <a:cs typeface="Arial"/>
              </a:defRPr>
            </a:pPr>
            <a:r>
              <a:rPr sz="900" b="1">
                <a:solidFill>
                  <a:srgbClr val="FFFFFF"/>
                </a:solidFill>
                <a:latin typeface="Arial"/>
                <a:ea typeface="Arial"/>
                <a:cs typeface="Arial"/>
              </a:rPr>
              <a:t>1</a:t>
            </a:r>
          </a:p>
        </p:txBody>
      </p:sp>
      <p:sp>
        <p:nvSpPr>
          <p:cNvPr id="11" name="part-lchip-0">
            <a:extLst xmlns:a="http://schemas.openxmlformats.org/drawingml/2006/main">
              <a:ext uri="{FF2B5EF4-FFF2-40B4-BE49-F238E27FC236}">
                <a16:creationId xmlns:a16="http://schemas.microsoft.com/office/drawing/2014/main" id="{5E3B7F18-8AE4-440E-ABB5-8108F6E9BEEB}"/>
              </a:ext>
            </a:extLst>
          </p:cNvPr>
          <p:cNvSpPr>
            <a:spLocks xmlns:a="http://schemas.openxmlformats.org/drawingml/2006/main" noGrp="1"/>
          </p:cNvSpPr>
          <p:nvPr/>
        </p:nvSpPr>
        <p:spPr>
          <a:xfrm xmlns:a="http://schemas.openxmlformats.org/drawingml/2006/main">
            <a:off x="3733800" y="3028950"/>
            <a:ext cx="209550" cy="209550"/>
          </a:xfrm>
          <a:prstGeom xmlns:a="http://schemas.openxmlformats.org/drawingml/2006/main" prst="roundRect">
            <a:avLst>
              <a:gd name="adj" fmla="val 50000"/>
            </a:avLst>
          </a:prstGeom>
          <a:solidFill xmlns:a="http://schemas.openxmlformats.org/drawingml/2006/main">
            <a:srgbClr val="2E74B5"/>
          </a:solidFill>
          <a:ln xmlns:a="http://schemas.openxmlformats.org/drawingml/2006/main" w="0">
            <a:noFill/>
            <a:prstDash val="solid"/>
          </a:ln>
        </p:spPr>
      </p:sp>
      <p:sp>
        <p:nvSpPr>
          <p:cNvPr id="12" name="part-lchipno-0">
            <a:extLst xmlns:a="http://schemas.openxmlformats.org/drawingml/2006/main">
              <a:ext uri="{FF2B5EF4-FFF2-40B4-BE49-F238E27FC236}">
                <a16:creationId xmlns:a16="http://schemas.microsoft.com/office/drawing/2014/main" id="{C40D6869-64F8-443F-B2F2-CFA18813F357}"/>
              </a:ext>
            </a:extLst>
          </p:cNvPr>
          <p:cNvSpPr>
            <a:spLocks xmlns:a="http://schemas.openxmlformats.org/drawingml/2006/main" noGrp="1"/>
          </p:cNvSpPr>
          <p:nvPr/>
        </p:nvSpPr>
        <p:spPr>
          <a:xfrm xmlns:a="http://schemas.openxmlformats.org/drawingml/2006/main">
            <a:off x="3733800" y="3067050"/>
            <a:ext cx="2095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2000"/>
              </a:lnSpc>
              <a:buNone/>
              <a:defRPr sz="900" b="1">
                <a:solidFill>
                  <a:srgbClr val="FFFFFF"/>
                </a:solidFill>
                <a:latin typeface="Arial"/>
                <a:ea typeface="Arial"/>
                <a:cs typeface="Arial"/>
              </a:defRPr>
            </a:pPr>
            <a:r>
              <a:rPr sz="900" b="1">
                <a:solidFill>
                  <a:srgbClr val="FFFFFF"/>
                </a:solidFill>
                <a:latin typeface="Arial"/>
                <a:ea typeface="Arial"/>
                <a:cs typeface="Arial"/>
              </a:rPr>
              <a:t>1</a:t>
            </a:r>
          </a:p>
        </p:txBody>
      </p:sp>
      <p:sp>
        <p:nvSpPr>
          <p:cNvPr id="13" name="part-head-0">
            <a:extLst xmlns:a="http://schemas.openxmlformats.org/drawingml/2006/main">
              <a:ext uri="{FF2B5EF4-FFF2-40B4-BE49-F238E27FC236}">
                <a16:creationId xmlns:a16="http://schemas.microsoft.com/office/drawing/2014/main" id="{679E915C-217D-44F6-A055-86010FAC28C5}"/>
              </a:ext>
            </a:extLst>
          </p:cNvPr>
          <p:cNvSpPr>
            <a:spLocks xmlns:a="http://schemas.openxmlformats.org/drawingml/2006/main" noGrp="1"/>
          </p:cNvSpPr>
          <p:nvPr/>
        </p:nvSpPr>
        <p:spPr>
          <a:xfrm xmlns:a="http://schemas.openxmlformats.org/drawingml/2006/main">
            <a:off x="4038600" y="3009900"/>
            <a:ext cx="1695450" cy="53187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00" b="1">
                <a:solidFill>
                  <a:srgbClr val="111316"/>
                </a:solidFill>
                <a:latin typeface="Arial"/>
                <a:ea typeface="Arial"/>
                <a:cs typeface="Arial"/>
              </a:defRPr>
            </a:pPr>
            <a:r>
              <a:rPr sz="1800" b="1">
                <a:solidFill>
                  <a:srgbClr val="111316"/>
                </a:solidFill>
                <a:latin typeface="Arial"/>
                <a:ea typeface="Arial"/>
                <a:cs typeface="Arial"/>
              </a:rPr>
              <a:t>c — objective coefficients</a:t>
            </a:r>
          </a:p>
        </p:txBody>
      </p:sp>
      <p:sp>
        <p:nvSpPr>
          <p:cNvPr id="14" name="part-body-0">
            <a:extLst xmlns:a="http://schemas.openxmlformats.org/drawingml/2006/main">
              <a:ext uri="{FF2B5EF4-FFF2-40B4-BE49-F238E27FC236}">
                <a16:creationId xmlns:a16="http://schemas.microsoft.com/office/drawing/2014/main" id="{AF90B3A8-6E67-483E-B241-CDEC5C93CEB8}"/>
              </a:ext>
            </a:extLst>
          </p:cNvPr>
          <p:cNvSpPr>
            <a:spLocks xmlns:a="http://schemas.openxmlformats.org/drawingml/2006/main" noGrp="1"/>
          </p:cNvSpPr>
          <p:nvPr/>
        </p:nvSpPr>
        <p:spPr>
          <a:xfrm xmlns:a="http://schemas.openxmlformats.org/drawingml/2006/main">
            <a:off x="3733800" y="3637026"/>
            <a:ext cx="2000250" cy="41071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200" b="0">
                <a:solidFill>
                  <a:srgbClr val="5A5F66"/>
                </a:solidFill>
                <a:latin typeface="Arial"/>
                <a:ea typeface="Arial"/>
                <a:cs typeface="Arial"/>
              </a:defRPr>
            </a:pPr>
            <a:r>
              <a:rPr sz="1200" b="0">
                <a:solidFill>
                  <a:srgbClr val="5A5F66"/>
                </a:solidFill>
                <a:latin typeface="Arial"/>
                <a:ea typeface="Arial"/>
                <a:cs typeface="Arial"/>
              </a:rPr>
              <a:t>Negated for a maximize problem: [-60, -25].</a:t>
            </a:r>
          </a:p>
        </p:txBody>
      </p:sp>
      <p:sp>
        <p:nvSpPr>
          <p:cNvPr id="15" name="">
            <a:extLst xmlns:a="http://schemas.openxmlformats.org/drawingml/2006/main">
              <a:ext uri="{FF2B5EF4-FFF2-40B4-BE49-F238E27FC236}">
                <a16:creationId xmlns:a16="http://schemas.microsoft.com/office/drawing/2014/main" id="{F29D7823-8974-44AA-ACC1-D96E5EC77AC0}"/>
              </a:ext>
            </a:extLst>
          </p:cNvPr>
          <p:cNvSpPr>
            <a:spLocks xmlns:a="http://schemas.openxmlformats.org/drawingml/2006/main" noGrp="1"/>
          </p:cNvSpPr>
          <p:nvPr/>
        </p:nvSpPr>
        <p:spPr>
          <a:xfrm xmlns:a="http://schemas.openxmlformats.org/drawingml/2006/main">
            <a:off x="5257800" y="2647950"/>
            <a:ext cx="838200" cy="0"/>
          </a:xfrm>
          <a:prstGeom xmlns:a="http://schemas.openxmlformats.org/drawingml/2006/main" prst="line">
            <a:avLst/>
          </a:prstGeom>
          <a:noFill xmlns:a="http://schemas.openxmlformats.org/drawingml/2006/main"/>
          <a:ln xmlns:a="http://schemas.openxmlformats.org/drawingml/2006/main" w="28575">
            <a:solidFill>
              <a:srgbClr val="2E74B5"/>
            </a:solidFill>
            <a:prstDash val="solid"/>
          </a:ln>
        </p:spPr>
      </p:sp>
      <p:sp>
        <p:nvSpPr>
          <p:cNvPr id="16" name="part-chip-1">
            <a:extLst xmlns:a="http://schemas.openxmlformats.org/drawingml/2006/main">
              <a:ext uri="{FF2B5EF4-FFF2-40B4-BE49-F238E27FC236}">
                <a16:creationId xmlns:a16="http://schemas.microsoft.com/office/drawing/2014/main" id="{A1E52C61-6511-4FC3-BEA5-B39BC18CB1CF}"/>
              </a:ext>
            </a:extLst>
          </p:cNvPr>
          <p:cNvSpPr>
            <a:spLocks xmlns:a="http://schemas.openxmlformats.org/drawingml/2006/main" noGrp="1"/>
          </p:cNvSpPr>
          <p:nvPr/>
        </p:nvSpPr>
        <p:spPr>
          <a:xfrm xmlns:a="http://schemas.openxmlformats.org/drawingml/2006/main">
            <a:off x="5553075" y="2724150"/>
            <a:ext cx="247650" cy="247650"/>
          </a:xfrm>
          <a:prstGeom xmlns:a="http://schemas.openxmlformats.org/drawingml/2006/main" prst="roundRect">
            <a:avLst>
              <a:gd name="adj" fmla="val 50000"/>
            </a:avLst>
          </a:prstGeom>
          <a:solidFill xmlns:a="http://schemas.openxmlformats.org/drawingml/2006/main">
            <a:srgbClr val="2E74B5"/>
          </a:solidFill>
          <a:ln xmlns:a="http://schemas.openxmlformats.org/drawingml/2006/main" w="0">
            <a:noFill/>
            <a:prstDash val="solid"/>
          </a:ln>
        </p:spPr>
      </p:sp>
      <p:sp>
        <p:nvSpPr>
          <p:cNvPr id="17" name="part-chipno-1">
            <a:extLst xmlns:a="http://schemas.openxmlformats.org/drawingml/2006/main">
              <a:ext uri="{FF2B5EF4-FFF2-40B4-BE49-F238E27FC236}">
                <a16:creationId xmlns:a16="http://schemas.microsoft.com/office/drawing/2014/main" id="{1144B1EE-B8E7-4443-A12F-FA4EB39B59D6}"/>
              </a:ext>
            </a:extLst>
          </p:cNvPr>
          <p:cNvSpPr>
            <a:spLocks xmlns:a="http://schemas.openxmlformats.org/drawingml/2006/main" noGrp="1"/>
          </p:cNvSpPr>
          <p:nvPr/>
        </p:nvSpPr>
        <p:spPr>
          <a:xfrm xmlns:a="http://schemas.openxmlformats.org/drawingml/2006/main">
            <a:off x="5553075" y="2771775"/>
            <a:ext cx="2476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2000"/>
              </a:lnSpc>
              <a:buNone/>
              <a:defRPr sz="900" b="1">
                <a:solidFill>
                  <a:srgbClr val="FFFFFF"/>
                </a:solidFill>
                <a:latin typeface="Arial"/>
                <a:ea typeface="Arial"/>
                <a:cs typeface="Arial"/>
              </a:defRPr>
            </a:pPr>
            <a:r>
              <a:rPr sz="900" b="1">
                <a:solidFill>
                  <a:srgbClr val="FFFFFF"/>
                </a:solidFill>
                <a:latin typeface="Arial"/>
                <a:ea typeface="Arial"/>
                <a:cs typeface="Arial"/>
              </a:rPr>
              <a:t>2</a:t>
            </a:r>
          </a:p>
        </p:txBody>
      </p:sp>
      <p:sp>
        <p:nvSpPr>
          <p:cNvPr id="18" name="part-lchip-1">
            <a:extLst xmlns:a="http://schemas.openxmlformats.org/drawingml/2006/main">
              <a:ext uri="{FF2B5EF4-FFF2-40B4-BE49-F238E27FC236}">
                <a16:creationId xmlns:a16="http://schemas.microsoft.com/office/drawing/2014/main" id="{DF98F5F3-0ADD-4EB9-8FDF-B5693185295F}"/>
              </a:ext>
            </a:extLst>
          </p:cNvPr>
          <p:cNvSpPr>
            <a:spLocks xmlns:a="http://schemas.openxmlformats.org/drawingml/2006/main" noGrp="1"/>
          </p:cNvSpPr>
          <p:nvPr/>
        </p:nvSpPr>
        <p:spPr>
          <a:xfrm xmlns:a="http://schemas.openxmlformats.org/drawingml/2006/main">
            <a:off x="4676775" y="4389882"/>
            <a:ext cx="209550" cy="209550"/>
          </a:xfrm>
          <a:prstGeom xmlns:a="http://schemas.openxmlformats.org/drawingml/2006/main" prst="roundRect">
            <a:avLst>
              <a:gd name="adj" fmla="val 50000"/>
            </a:avLst>
          </a:prstGeom>
          <a:solidFill xmlns:a="http://schemas.openxmlformats.org/drawingml/2006/main">
            <a:srgbClr val="2E74B5"/>
          </a:solidFill>
          <a:ln xmlns:a="http://schemas.openxmlformats.org/drawingml/2006/main" w="0">
            <a:noFill/>
            <a:prstDash val="solid"/>
          </a:ln>
        </p:spPr>
      </p:sp>
      <p:sp>
        <p:nvSpPr>
          <p:cNvPr id="19" name="part-lchipno-1">
            <a:extLst xmlns:a="http://schemas.openxmlformats.org/drawingml/2006/main">
              <a:ext uri="{FF2B5EF4-FFF2-40B4-BE49-F238E27FC236}">
                <a16:creationId xmlns:a16="http://schemas.microsoft.com/office/drawing/2014/main" id="{EE31DFEB-6762-4912-87F9-589679EC8C31}"/>
              </a:ext>
            </a:extLst>
          </p:cNvPr>
          <p:cNvSpPr>
            <a:spLocks xmlns:a="http://schemas.openxmlformats.org/drawingml/2006/main" noGrp="1"/>
          </p:cNvSpPr>
          <p:nvPr/>
        </p:nvSpPr>
        <p:spPr>
          <a:xfrm xmlns:a="http://schemas.openxmlformats.org/drawingml/2006/main">
            <a:off x="4676775" y="4427982"/>
            <a:ext cx="2095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2000"/>
              </a:lnSpc>
              <a:buNone/>
              <a:defRPr sz="900" b="1">
                <a:solidFill>
                  <a:srgbClr val="FFFFFF"/>
                </a:solidFill>
                <a:latin typeface="Arial"/>
                <a:ea typeface="Arial"/>
                <a:cs typeface="Arial"/>
              </a:defRPr>
            </a:pPr>
            <a:r>
              <a:rPr sz="900" b="1">
                <a:solidFill>
                  <a:srgbClr val="FFFFFF"/>
                </a:solidFill>
                <a:latin typeface="Arial"/>
                <a:ea typeface="Arial"/>
                <a:cs typeface="Arial"/>
              </a:rPr>
              <a:t>2</a:t>
            </a:r>
          </a:p>
        </p:txBody>
      </p:sp>
      <p:sp>
        <p:nvSpPr>
          <p:cNvPr id="20" name="part-head-1">
            <a:extLst xmlns:a="http://schemas.openxmlformats.org/drawingml/2006/main">
              <a:ext uri="{FF2B5EF4-FFF2-40B4-BE49-F238E27FC236}">
                <a16:creationId xmlns:a16="http://schemas.microsoft.com/office/drawing/2014/main" id="{97D4E1C4-E1B2-4E3C-8859-A4F7DE02B7FD}"/>
              </a:ext>
            </a:extLst>
          </p:cNvPr>
          <p:cNvSpPr>
            <a:spLocks xmlns:a="http://schemas.openxmlformats.org/drawingml/2006/main" noGrp="1"/>
          </p:cNvSpPr>
          <p:nvPr/>
        </p:nvSpPr>
        <p:spPr>
          <a:xfrm xmlns:a="http://schemas.openxmlformats.org/drawingml/2006/main">
            <a:off x="4981575" y="4370832"/>
            <a:ext cx="1695450" cy="77876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00" b="1">
                <a:solidFill>
                  <a:srgbClr val="111316"/>
                </a:solidFill>
                <a:latin typeface="Arial"/>
                <a:ea typeface="Arial"/>
                <a:cs typeface="Arial"/>
              </a:defRPr>
            </a:pPr>
            <a:r>
              <a:rPr sz="1800" b="1">
                <a:solidFill>
                  <a:srgbClr val="111316"/>
                </a:solidFill>
                <a:latin typeface="Arial"/>
                <a:ea typeface="Arial"/>
                <a:cs typeface="Arial"/>
              </a:rPr>
              <a:t>A_ub — inequality coefficients</a:t>
            </a:r>
          </a:p>
        </p:txBody>
      </p:sp>
      <p:sp>
        <p:nvSpPr>
          <p:cNvPr id="21" name="part-body-1">
            <a:extLst xmlns:a="http://schemas.openxmlformats.org/drawingml/2006/main">
              <a:ext uri="{FF2B5EF4-FFF2-40B4-BE49-F238E27FC236}">
                <a16:creationId xmlns:a16="http://schemas.microsoft.com/office/drawing/2014/main" id="{34AF09F2-9730-4DE3-BC11-F02AC58CC9F0}"/>
              </a:ext>
            </a:extLst>
          </p:cNvPr>
          <p:cNvSpPr>
            <a:spLocks xmlns:a="http://schemas.openxmlformats.org/drawingml/2006/main" noGrp="1"/>
          </p:cNvSpPr>
          <p:nvPr/>
        </p:nvSpPr>
        <p:spPr>
          <a:xfrm xmlns:a="http://schemas.openxmlformats.org/drawingml/2006/main">
            <a:off x="4676775" y="5244846"/>
            <a:ext cx="2000250" cy="41071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200" b="0">
                <a:solidFill>
                  <a:srgbClr val="5A5F66"/>
                </a:solidFill>
                <a:latin typeface="Arial"/>
                <a:ea typeface="Arial"/>
                <a:cs typeface="Arial"/>
              </a:defRPr>
            </a:pPr>
            <a:r>
              <a:rPr sz="1200" b="0">
                <a:solidFill>
                  <a:srgbClr val="5A5F66"/>
                </a:solidFill>
                <a:latin typeface="Arial"/>
                <a:ea typeface="Arial"/>
                <a:cs typeface="Arial"/>
              </a:rPr>
              <a:t>One row per &lt;= constraint: [[1,1],[400,150]].</a:t>
            </a:r>
          </a:p>
        </p:txBody>
      </p:sp>
      <p:sp>
        <p:nvSpPr>
          <p:cNvPr id="22" name="">
            <a:extLst xmlns:a="http://schemas.openxmlformats.org/drawingml/2006/main">
              <a:ext uri="{FF2B5EF4-FFF2-40B4-BE49-F238E27FC236}">
                <a16:creationId xmlns:a16="http://schemas.microsoft.com/office/drawing/2014/main" id="{B02B7865-E7C7-443D-8F12-2B9BD6EEF83E}"/>
              </a:ext>
            </a:extLst>
          </p:cNvPr>
          <p:cNvSpPr>
            <a:spLocks xmlns:a="http://schemas.openxmlformats.org/drawingml/2006/main" noGrp="1"/>
          </p:cNvSpPr>
          <p:nvPr/>
        </p:nvSpPr>
        <p:spPr>
          <a:xfrm xmlns:a="http://schemas.openxmlformats.org/drawingml/2006/main">
            <a:off x="6515100" y="2647950"/>
            <a:ext cx="838200" cy="0"/>
          </a:xfrm>
          <a:prstGeom xmlns:a="http://schemas.openxmlformats.org/drawingml/2006/main" prst="line">
            <a:avLst/>
          </a:prstGeom>
          <a:noFill xmlns:a="http://schemas.openxmlformats.org/drawingml/2006/main"/>
          <a:ln xmlns:a="http://schemas.openxmlformats.org/drawingml/2006/main" w="28575">
            <a:solidFill>
              <a:srgbClr val="2E74B5"/>
            </a:solidFill>
            <a:prstDash val="solid"/>
          </a:ln>
        </p:spPr>
      </p:sp>
      <p:sp>
        <p:nvSpPr>
          <p:cNvPr id="23" name="part-chip-2">
            <a:extLst xmlns:a="http://schemas.openxmlformats.org/drawingml/2006/main">
              <a:ext uri="{FF2B5EF4-FFF2-40B4-BE49-F238E27FC236}">
                <a16:creationId xmlns:a16="http://schemas.microsoft.com/office/drawing/2014/main" id="{196F30B6-698E-4BA9-A4AC-864DF819CC2B}"/>
              </a:ext>
            </a:extLst>
          </p:cNvPr>
          <p:cNvSpPr>
            <a:spLocks xmlns:a="http://schemas.openxmlformats.org/drawingml/2006/main" noGrp="1"/>
          </p:cNvSpPr>
          <p:nvPr/>
        </p:nvSpPr>
        <p:spPr>
          <a:xfrm xmlns:a="http://schemas.openxmlformats.org/drawingml/2006/main">
            <a:off x="6810375" y="2724150"/>
            <a:ext cx="247650" cy="247650"/>
          </a:xfrm>
          <a:prstGeom xmlns:a="http://schemas.openxmlformats.org/drawingml/2006/main" prst="roundRect">
            <a:avLst>
              <a:gd name="adj" fmla="val 50000"/>
            </a:avLst>
          </a:prstGeom>
          <a:solidFill xmlns:a="http://schemas.openxmlformats.org/drawingml/2006/main">
            <a:srgbClr val="2E74B5"/>
          </a:solidFill>
          <a:ln xmlns:a="http://schemas.openxmlformats.org/drawingml/2006/main" w="0">
            <a:noFill/>
            <a:prstDash val="solid"/>
          </a:ln>
        </p:spPr>
      </p:sp>
      <p:sp>
        <p:nvSpPr>
          <p:cNvPr id="24" name="part-chipno-2">
            <a:extLst xmlns:a="http://schemas.openxmlformats.org/drawingml/2006/main">
              <a:ext uri="{FF2B5EF4-FFF2-40B4-BE49-F238E27FC236}">
                <a16:creationId xmlns:a16="http://schemas.microsoft.com/office/drawing/2014/main" id="{05669F19-9D14-423F-A01A-170A0B222924}"/>
              </a:ext>
            </a:extLst>
          </p:cNvPr>
          <p:cNvSpPr>
            <a:spLocks xmlns:a="http://schemas.openxmlformats.org/drawingml/2006/main" noGrp="1"/>
          </p:cNvSpPr>
          <p:nvPr/>
        </p:nvSpPr>
        <p:spPr>
          <a:xfrm xmlns:a="http://schemas.openxmlformats.org/drawingml/2006/main">
            <a:off x="6810375" y="2771775"/>
            <a:ext cx="2476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2000"/>
              </a:lnSpc>
              <a:buNone/>
              <a:defRPr sz="900" b="1">
                <a:solidFill>
                  <a:srgbClr val="FFFFFF"/>
                </a:solidFill>
                <a:latin typeface="Arial"/>
                <a:ea typeface="Arial"/>
                <a:cs typeface="Arial"/>
              </a:defRPr>
            </a:pPr>
            <a:r>
              <a:rPr sz="900" b="1">
                <a:solidFill>
                  <a:srgbClr val="FFFFFF"/>
                </a:solidFill>
                <a:latin typeface="Arial"/>
                <a:ea typeface="Arial"/>
                <a:cs typeface="Arial"/>
              </a:rPr>
              <a:t>3</a:t>
            </a:r>
          </a:p>
        </p:txBody>
      </p:sp>
      <p:sp>
        <p:nvSpPr>
          <p:cNvPr id="25" name="part-lchip-2">
            <a:extLst xmlns:a="http://schemas.openxmlformats.org/drawingml/2006/main">
              <a:ext uri="{FF2B5EF4-FFF2-40B4-BE49-F238E27FC236}">
                <a16:creationId xmlns:a16="http://schemas.microsoft.com/office/drawing/2014/main" id="{0CF24F6F-E900-4BB7-8BB6-F8C346DA48B1}"/>
              </a:ext>
            </a:extLst>
          </p:cNvPr>
          <p:cNvSpPr>
            <a:spLocks xmlns:a="http://schemas.openxmlformats.org/drawingml/2006/main" noGrp="1"/>
          </p:cNvSpPr>
          <p:nvPr/>
        </p:nvSpPr>
        <p:spPr>
          <a:xfrm xmlns:a="http://schemas.openxmlformats.org/drawingml/2006/main">
            <a:off x="5934075" y="3028950"/>
            <a:ext cx="209550" cy="209550"/>
          </a:xfrm>
          <a:prstGeom xmlns:a="http://schemas.openxmlformats.org/drawingml/2006/main" prst="roundRect">
            <a:avLst>
              <a:gd name="adj" fmla="val 50000"/>
            </a:avLst>
          </a:prstGeom>
          <a:solidFill xmlns:a="http://schemas.openxmlformats.org/drawingml/2006/main">
            <a:srgbClr val="2E74B5"/>
          </a:solidFill>
          <a:ln xmlns:a="http://schemas.openxmlformats.org/drawingml/2006/main" w="0">
            <a:noFill/>
            <a:prstDash val="solid"/>
          </a:ln>
        </p:spPr>
      </p:sp>
      <p:sp>
        <p:nvSpPr>
          <p:cNvPr id="26" name="part-lchipno-2">
            <a:extLst xmlns:a="http://schemas.openxmlformats.org/drawingml/2006/main">
              <a:ext uri="{FF2B5EF4-FFF2-40B4-BE49-F238E27FC236}">
                <a16:creationId xmlns:a16="http://schemas.microsoft.com/office/drawing/2014/main" id="{0A0EF198-8F03-4604-8022-93602B65F270}"/>
              </a:ext>
            </a:extLst>
          </p:cNvPr>
          <p:cNvSpPr>
            <a:spLocks xmlns:a="http://schemas.openxmlformats.org/drawingml/2006/main" noGrp="1"/>
          </p:cNvSpPr>
          <p:nvPr/>
        </p:nvSpPr>
        <p:spPr>
          <a:xfrm xmlns:a="http://schemas.openxmlformats.org/drawingml/2006/main">
            <a:off x="5934075" y="3067050"/>
            <a:ext cx="2095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2000"/>
              </a:lnSpc>
              <a:buNone/>
              <a:defRPr sz="900" b="1">
                <a:solidFill>
                  <a:srgbClr val="FFFFFF"/>
                </a:solidFill>
                <a:latin typeface="Arial"/>
                <a:ea typeface="Arial"/>
                <a:cs typeface="Arial"/>
              </a:defRPr>
            </a:pPr>
            <a:r>
              <a:rPr sz="900" b="1">
                <a:solidFill>
                  <a:srgbClr val="FFFFFF"/>
                </a:solidFill>
                <a:latin typeface="Arial"/>
                <a:ea typeface="Arial"/>
                <a:cs typeface="Arial"/>
              </a:rPr>
              <a:t>3</a:t>
            </a:r>
          </a:p>
        </p:txBody>
      </p:sp>
      <p:sp>
        <p:nvSpPr>
          <p:cNvPr id="27" name="part-head-2">
            <a:extLst xmlns:a="http://schemas.openxmlformats.org/drawingml/2006/main">
              <a:ext uri="{FF2B5EF4-FFF2-40B4-BE49-F238E27FC236}">
                <a16:creationId xmlns:a16="http://schemas.microsoft.com/office/drawing/2014/main" id="{D42BF84C-00AC-4DDA-9B38-AB0A1964817A}"/>
              </a:ext>
            </a:extLst>
          </p:cNvPr>
          <p:cNvSpPr>
            <a:spLocks xmlns:a="http://schemas.openxmlformats.org/drawingml/2006/main" noGrp="1"/>
          </p:cNvSpPr>
          <p:nvPr/>
        </p:nvSpPr>
        <p:spPr>
          <a:xfrm xmlns:a="http://schemas.openxmlformats.org/drawingml/2006/main">
            <a:off x="6238875" y="3009900"/>
            <a:ext cx="1695450" cy="77876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00" b="1">
                <a:solidFill>
                  <a:srgbClr val="111316"/>
                </a:solidFill>
                <a:latin typeface="Arial"/>
                <a:ea typeface="Arial"/>
                <a:cs typeface="Arial"/>
              </a:defRPr>
            </a:pPr>
            <a:r>
              <a:rPr sz="1800" b="1">
                <a:solidFill>
                  <a:srgbClr val="111316"/>
                </a:solidFill>
                <a:latin typeface="Arial"/>
                <a:ea typeface="Arial"/>
                <a:cs typeface="Arial"/>
              </a:rPr>
              <a:t>b_ub — inequality limits</a:t>
            </a:r>
          </a:p>
        </p:txBody>
      </p:sp>
      <p:sp>
        <p:nvSpPr>
          <p:cNvPr id="28" name="part-body-2">
            <a:extLst xmlns:a="http://schemas.openxmlformats.org/drawingml/2006/main">
              <a:ext uri="{FF2B5EF4-FFF2-40B4-BE49-F238E27FC236}">
                <a16:creationId xmlns:a16="http://schemas.microsoft.com/office/drawing/2014/main" id="{4C71A09D-A05B-4A54-AF60-ED120C5A4EA2}"/>
              </a:ext>
            </a:extLst>
          </p:cNvPr>
          <p:cNvSpPr>
            <a:spLocks xmlns:a="http://schemas.openxmlformats.org/drawingml/2006/main" noGrp="1"/>
          </p:cNvSpPr>
          <p:nvPr/>
        </p:nvSpPr>
        <p:spPr>
          <a:xfrm xmlns:a="http://schemas.openxmlformats.org/drawingml/2006/main">
            <a:off x="5934075" y="3883914"/>
            <a:ext cx="2000250" cy="41071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200" b="0">
                <a:solidFill>
                  <a:srgbClr val="5A5F66"/>
                </a:solidFill>
                <a:latin typeface="Arial"/>
                <a:ea typeface="Arial"/>
                <a:cs typeface="Arial"/>
              </a:defRPr>
            </a:pPr>
            <a:r>
              <a:rPr sz="1200" b="0">
                <a:solidFill>
                  <a:srgbClr val="5A5F66"/>
                </a:solidFill>
                <a:latin typeface="Arial"/>
                <a:ea typeface="Arial"/>
                <a:cs typeface="Arial"/>
              </a:rPr>
              <a:t>Right-hand limit of each row: [200, 50000].</a:t>
            </a:r>
          </a:p>
        </p:txBody>
      </p:sp>
      <p:sp>
        <p:nvSpPr>
          <p:cNvPr id="29" name="">
            <a:extLst xmlns:a="http://schemas.openxmlformats.org/drawingml/2006/main">
              <a:ext uri="{FF2B5EF4-FFF2-40B4-BE49-F238E27FC236}">
                <a16:creationId xmlns:a16="http://schemas.microsoft.com/office/drawing/2014/main" id="{596B258C-2548-43E5-9964-AD39E74FCF42}"/>
              </a:ext>
            </a:extLst>
          </p:cNvPr>
          <p:cNvSpPr>
            <a:spLocks xmlns:a="http://schemas.openxmlformats.org/drawingml/2006/main" noGrp="1"/>
          </p:cNvSpPr>
          <p:nvPr/>
        </p:nvSpPr>
        <p:spPr>
          <a:xfrm xmlns:a="http://schemas.openxmlformats.org/drawingml/2006/main">
            <a:off x="7772400" y="2647950"/>
            <a:ext cx="1257300" cy="0"/>
          </a:xfrm>
          <a:prstGeom xmlns:a="http://schemas.openxmlformats.org/drawingml/2006/main" prst="line">
            <a:avLst/>
          </a:prstGeom>
          <a:noFill xmlns:a="http://schemas.openxmlformats.org/drawingml/2006/main"/>
          <a:ln xmlns:a="http://schemas.openxmlformats.org/drawingml/2006/main" w="28575">
            <a:solidFill>
              <a:srgbClr val="2E74B5"/>
            </a:solidFill>
            <a:prstDash val="solid"/>
          </a:ln>
        </p:spPr>
      </p:sp>
      <p:sp>
        <p:nvSpPr>
          <p:cNvPr id="30" name="part-chip-3">
            <a:extLst xmlns:a="http://schemas.openxmlformats.org/drawingml/2006/main">
              <a:ext uri="{FF2B5EF4-FFF2-40B4-BE49-F238E27FC236}">
                <a16:creationId xmlns:a16="http://schemas.microsoft.com/office/drawing/2014/main" id="{C2A57D7A-8036-48FB-AA4C-3B36A5BE0C28}"/>
              </a:ext>
            </a:extLst>
          </p:cNvPr>
          <p:cNvSpPr>
            <a:spLocks xmlns:a="http://schemas.openxmlformats.org/drawingml/2006/main" noGrp="1"/>
          </p:cNvSpPr>
          <p:nvPr/>
        </p:nvSpPr>
        <p:spPr>
          <a:xfrm xmlns:a="http://schemas.openxmlformats.org/drawingml/2006/main">
            <a:off x="8277225" y="2724150"/>
            <a:ext cx="247650" cy="247650"/>
          </a:xfrm>
          <a:prstGeom xmlns:a="http://schemas.openxmlformats.org/drawingml/2006/main" prst="roundRect">
            <a:avLst>
              <a:gd name="adj" fmla="val 50000"/>
            </a:avLst>
          </a:prstGeom>
          <a:solidFill xmlns:a="http://schemas.openxmlformats.org/drawingml/2006/main">
            <a:srgbClr val="2E74B5"/>
          </a:solidFill>
          <a:ln xmlns:a="http://schemas.openxmlformats.org/drawingml/2006/main" w="0">
            <a:noFill/>
            <a:prstDash val="solid"/>
          </a:ln>
        </p:spPr>
      </p:sp>
      <p:sp>
        <p:nvSpPr>
          <p:cNvPr id="31" name="part-chipno-3">
            <a:extLst xmlns:a="http://schemas.openxmlformats.org/drawingml/2006/main">
              <a:ext uri="{FF2B5EF4-FFF2-40B4-BE49-F238E27FC236}">
                <a16:creationId xmlns:a16="http://schemas.microsoft.com/office/drawing/2014/main" id="{F6428379-0926-458E-A546-EEE69415C4B9}"/>
              </a:ext>
            </a:extLst>
          </p:cNvPr>
          <p:cNvSpPr>
            <a:spLocks xmlns:a="http://schemas.openxmlformats.org/drawingml/2006/main" noGrp="1"/>
          </p:cNvSpPr>
          <p:nvPr/>
        </p:nvSpPr>
        <p:spPr>
          <a:xfrm xmlns:a="http://schemas.openxmlformats.org/drawingml/2006/main">
            <a:off x="8277225" y="2771775"/>
            <a:ext cx="2476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2000"/>
              </a:lnSpc>
              <a:buNone/>
              <a:defRPr sz="900" b="1">
                <a:solidFill>
                  <a:srgbClr val="FFFFFF"/>
                </a:solidFill>
                <a:latin typeface="Arial"/>
                <a:ea typeface="Arial"/>
                <a:cs typeface="Arial"/>
              </a:defRPr>
            </a:pPr>
            <a:r>
              <a:rPr sz="900" b="1">
                <a:solidFill>
                  <a:srgbClr val="FFFFFF"/>
                </a:solidFill>
                <a:latin typeface="Arial"/>
                <a:ea typeface="Arial"/>
                <a:cs typeface="Arial"/>
              </a:rPr>
              <a:t>4</a:t>
            </a:r>
          </a:p>
        </p:txBody>
      </p:sp>
      <p:sp>
        <p:nvSpPr>
          <p:cNvPr id="32" name="part-lchip-3">
            <a:extLst xmlns:a="http://schemas.openxmlformats.org/drawingml/2006/main">
              <a:ext uri="{FF2B5EF4-FFF2-40B4-BE49-F238E27FC236}">
                <a16:creationId xmlns:a16="http://schemas.microsoft.com/office/drawing/2014/main" id="{C6302D50-84B1-4AC4-BE61-6430B48ABCDC}"/>
              </a:ext>
            </a:extLst>
          </p:cNvPr>
          <p:cNvSpPr>
            <a:spLocks xmlns:a="http://schemas.openxmlformats.org/drawingml/2006/main" noGrp="1"/>
          </p:cNvSpPr>
          <p:nvPr/>
        </p:nvSpPr>
        <p:spPr>
          <a:xfrm xmlns:a="http://schemas.openxmlformats.org/drawingml/2006/main">
            <a:off x="7400925" y="4389882"/>
            <a:ext cx="209550" cy="209550"/>
          </a:xfrm>
          <a:prstGeom xmlns:a="http://schemas.openxmlformats.org/drawingml/2006/main" prst="roundRect">
            <a:avLst>
              <a:gd name="adj" fmla="val 50000"/>
            </a:avLst>
          </a:prstGeom>
          <a:solidFill xmlns:a="http://schemas.openxmlformats.org/drawingml/2006/main">
            <a:srgbClr val="2E74B5"/>
          </a:solidFill>
          <a:ln xmlns:a="http://schemas.openxmlformats.org/drawingml/2006/main" w="0">
            <a:noFill/>
            <a:prstDash val="solid"/>
          </a:ln>
        </p:spPr>
      </p:sp>
      <p:sp>
        <p:nvSpPr>
          <p:cNvPr id="33" name="part-lchipno-3">
            <a:extLst xmlns:a="http://schemas.openxmlformats.org/drawingml/2006/main">
              <a:ext uri="{FF2B5EF4-FFF2-40B4-BE49-F238E27FC236}">
                <a16:creationId xmlns:a16="http://schemas.microsoft.com/office/drawing/2014/main" id="{0A408120-3696-4389-A59A-B248ABA3279E}"/>
              </a:ext>
            </a:extLst>
          </p:cNvPr>
          <p:cNvSpPr>
            <a:spLocks xmlns:a="http://schemas.openxmlformats.org/drawingml/2006/main" noGrp="1"/>
          </p:cNvSpPr>
          <p:nvPr/>
        </p:nvSpPr>
        <p:spPr>
          <a:xfrm xmlns:a="http://schemas.openxmlformats.org/drawingml/2006/main">
            <a:off x="7400925" y="4427982"/>
            <a:ext cx="2095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2000"/>
              </a:lnSpc>
              <a:buNone/>
              <a:defRPr sz="900" b="1">
                <a:solidFill>
                  <a:srgbClr val="FFFFFF"/>
                </a:solidFill>
                <a:latin typeface="Arial"/>
                <a:ea typeface="Arial"/>
                <a:cs typeface="Arial"/>
              </a:defRPr>
            </a:pPr>
            <a:r>
              <a:rPr sz="900" b="1">
                <a:solidFill>
                  <a:srgbClr val="FFFFFF"/>
                </a:solidFill>
                <a:latin typeface="Arial"/>
                <a:ea typeface="Arial"/>
                <a:cs typeface="Arial"/>
              </a:rPr>
              <a:t>4</a:t>
            </a:r>
          </a:p>
        </p:txBody>
      </p:sp>
      <p:sp>
        <p:nvSpPr>
          <p:cNvPr id="34" name="part-head-3">
            <a:extLst xmlns:a="http://schemas.openxmlformats.org/drawingml/2006/main">
              <a:ext uri="{FF2B5EF4-FFF2-40B4-BE49-F238E27FC236}">
                <a16:creationId xmlns:a16="http://schemas.microsoft.com/office/drawing/2014/main" id="{86FE51E6-C6B4-46D9-BCBB-C31FDB9D6E1E}"/>
              </a:ext>
            </a:extLst>
          </p:cNvPr>
          <p:cNvSpPr>
            <a:spLocks xmlns:a="http://schemas.openxmlformats.org/drawingml/2006/main" noGrp="1"/>
          </p:cNvSpPr>
          <p:nvPr/>
        </p:nvSpPr>
        <p:spPr>
          <a:xfrm xmlns:a="http://schemas.openxmlformats.org/drawingml/2006/main">
            <a:off x="7705725" y="4370832"/>
            <a:ext cx="1695450" cy="77876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00" b="1">
                <a:solidFill>
                  <a:srgbClr val="111316"/>
                </a:solidFill>
                <a:latin typeface="Arial"/>
                <a:ea typeface="Arial"/>
                <a:cs typeface="Arial"/>
              </a:defRPr>
            </a:pPr>
            <a:r>
              <a:rPr sz="1800" b="1">
                <a:solidFill>
                  <a:srgbClr val="111316"/>
                </a:solidFill>
                <a:latin typeface="Arial"/>
                <a:ea typeface="Arial"/>
                <a:cs typeface="Arial"/>
              </a:rPr>
              <a:t>bounds — per-variable limits</a:t>
            </a:r>
          </a:p>
        </p:txBody>
      </p:sp>
      <p:sp>
        <p:nvSpPr>
          <p:cNvPr id="35" name="part-body-3">
            <a:extLst xmlns:a="http://schemas.openxmlformats.org/drawingml/2006/main">
              <a:ext uri="{FF2B5EF4-FFF2-40B4-BE49-F238E27FC236}">
                <a16:creationId xmlns:a16="http://schemas.microsoft.com/office/drawing/2014/main" id="{A54C42EC-3185-4C98-B4C5-62B8E18079D6}"/>
              </a:ext>
            </a:extLst>
          </p:cNvPr>
          <p:cNvSpPr>
            <a:spLocks xmlns:a="http://schemas.openxmlformats.org/drawingml/2006/main" noGrp="1"/>
          </p:cNvSpPr>
          <p:nvPr/>
        </p:nvSpPr>
        <p:spPr>
          <a:xfrm xmlns:a="http://schemas.openxmlformats.org/drawingml/2006/main">
            <a:off x="7400925" y="5244846"/>
            <a:ext cx="2000250" cy="41071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200" b="0">
                <a:solidFill>
                  <a:srgbClr val="5A5F66"/>
                </a:solidFill>
                <a:latin typeface="Arial"/>
                <a:ea typeface="Arial"/>
                <a:cs typeface="Arial"/>
              </a:defRPr>
            </a:pPr>
            <a:r>
              <a:rPr sz="1200" b="0">
                <a:solidFill>
                  <a:srgbClr val="5A5F66"/>
                </a:solidFill>
                <a:latin typeface="Arial"/>
                <a:ea typeface="Arial"/>
                <a:cs typeface="Arial"/>
              </a:rPr>
              <a:t>One (min, max) pair per variable.</a:t>
            </a:r>
          </a:p>
        </p:txBody>
      </p:sp>
    </p:spTree>
    <p:extLst>
      <p:ext uri="{BB962C8B-B14F-4D97-AF65-F5344CB8AC3E}">
        <p14:creationId xmlns:p14="http://schemas.microsoft.com/office/powerpoint/2010/main" val="1036870834"/>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kicker">
            <a:extLst xmlns:a="http://schemas.openxmlformats.org/drawingml/2006/main">
              <a:ext uri="{FF2B5EF4-FFF2-40B4-BE49-F238E27FC236}">
                <a16:creationId xmlns:a16="http://schemas.microsoft.com/office/drawing/2014/main" id="{C90EBCFE-9217-4E2B-9927-418EBE18C2C1}"/>
              </a:ext>
            </a:extLst>
          </p:cNvPr>
          <p:cNvSpPr>
            <a:spLocks xmlns:a="http://schemas.openxmlformats.org/drawingml/2006/main" noGrp="1"/>
          </p:cNvSpPr>
          <p:nvPr/>
        </p:nvSpPr>
        <p:spPr>
          <a:xfrm xmlns:a="http://schemas.openxmlformats.org/drawingml/2006/main">
            <a:off x="609600" y="342900"/>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2E74B5"/>
                </a:solidFill>
                <a:latin typeface="Arial"/>
                <a:ea typeface="Arial"/>
                <a:cs typeface="Arial"/>
              </a:defRPr>
            </a:pPr>
            <a:r>
              <a:rPr sz="900" b="1">
                <a:solidFill>
                  <a:srgbClr val="2E74B5"/>
                </a:solidFill>
                <a:latin typeface="Arial"/>
                <a:ea typeface="Arial"/>
                <a:cs typeface="Arial"/>
              </a:rPr>
              <a:t>NEW VOCABULARY</a:t>
            </a:r>
          </a:p>
        </p:txBody>
      </p:sp>
      <p:sp>
        <p:nvSpPr>
          <p:cNvPr id="2" name="title">
            <a:extLst xmlns:a="http://schemas.openxmlformats.org/drawingml/2006/main">
              <a:ext uri="{FF2B5EF4-FFF2-40B4-BE49-F238E27FC236}">
                <a16:creationId xmlns:a16="http://schemas.microsoft.com/office/drawing/2014/main" id="{A93933AA-908F-4FB9-87EC-CBEDAFCD4C98}"/>
              </a:ext>
            </a:extLst>
          </p:cNvPr>
          <p:cNvSpPr>
            <a:spLocks xmlns:a="http://schemas.openxmlformats.org/drawingml/2006/main" noGrp="1"/>
          </p:cNvSpPr>
          <p:nvPr/>
        </p:nvSpPr>
        <p:spPr>
          <a:xfrm xmlns:a="http://schemas.openxmlformats.org/drawingml/2006/main">
            <a:off x="609600" y="60960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3000" b="0">
                <a:solidFill>
                  <a:srgbClr val="111316"/>
                </a:solidFill>
                <a:latin typeface="Arial"/>
                <a:ea typeface="Arial"/>
                <a:cs typeface="Arial"/>
              </a:defRPr>
            </a:pPr>
            <a:r>
              <a:rPr sz="3000" b="0">
                <a:solidFill>
                  <a:srgbClr val="111316"/>
                </a:solidFill>
                <a:latin typeface="Arial"/>
                <a:ea typeface="Arial"/>
                <a:cs typeface="Arial"/>
              </a:rPr>
              <a:t>Binding vs. slack constraint</a:t>
            </a:r>
          </a:p>
        </p:txBody>
      </p:sp>
      <p:sp>
        <p:nvSpPr>
          <p:cNvPr id="3" name="">
            <a:extLst xmlns:a="http://schemas.openxmlformats.org/drawingml/2006/main">
              <a:ext uri="{FF2B5EF4-FFF2-40B4-BE49-F238E27FC236}">
                <a16:creationId xmlns:a16="http://schemas.microsoft.com/office/drawing/2014/main" id="{83F719D2-EE80-406A-AB53-FFCCD2FC1CFA}"/>
              </a:ext>
            </a:extLst>
          </p:cNvPr>
          <p:cNvSpPr>
            <a:spLocks xmlns:a="http://schemas.openxmlformats.org/drawingml/2006/main" noGrp="1"/>
          </p:cNvSpPr>
          <p:nvPr/>
        </p:nvSpPr>
        <p:spPr>
          <a:xfrm xmlns:a="http://schemas.openxmlformats.org/drawingml/2006/main">
            <a:off x="609600" y="6343650"/>
            <a:ext cx="10972800" cy="0"/>
          </a:xfrm>
          <a:prstGeom xmlns:a="http://schemas.openxmlformats.org/drawingml/2006/main" prst="line">
            <a:avLst/>
          </a:prstGeom>
          <a:noFill xmlns:a="http://schemas.openxmlformats.org/drawingml/2006/main"/>
          <a:ln xmlns:a="http://schemas.openxmlformats.org/drawingml/2006/main" w="9525">
            <a:solidFill>
              <a:srgbClr val="DDE0E5"/>
            </a:solidFill>
            <a:prstDash val="solid"/>
          </a:ln>
        </p:spPr>
      </p:sp>
      <p:sp>
        <p:nvSpPr>
          <p:cNvPr id="4" name="footer">
            <a:extLst xmlns:a="http://schemas.openxmlformats.org/drawingml/2006/main">
              <a:ext uri="{FF2B5EF4-FFF2-40B4-BE49-F238E27FC236}">
                <a16:creationId xmlns:a16="http://schemas.microsoft.com/office/drawing/2014/main" id="{E4FBB5B3-39F5-4C5A-A945-354EF61B096B}"/>
              </a:ext>
            </a:extLst>
          </p:cNvPr>
          <p:cNvSpPr>
            <a:spLocks xmlns:a="http://schemas.openxmlformats.org/drawingml/2006/main" noGrp="1"/>
          </p:cNvSpPr>
          <p:nvPr/>
        </p:nvSpPr>
        <p:spPr>
          <a:xfrm xmlns:a="http://schemas.openxmlformats.org/drawingml/2006/main">
            <a:off x="609600" y="6429375"/>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ARC 500  ·  Week 10 · Meeting B · Linear Programming Studio</a:t>
            </a:r>
          </a:p>
        </p:txBody>
      </p:sp>
      <p:sp>
        <p:nvSpPr>
          <p:cNvPr id="5" name="page">
            <a:extLst xmlns:a="http://schemas.openxmlformats.org/drawingml/2006/main">
              <a:ext uri="{FF2B5EF4-FFF2-40B4-BE49-F238E27FC236}">
                <a16:creationId xmlns:a16="http://schemas.microsoft.com/office/drawing/2014/main" id="{87397A8D-40FA-4D08-89EC-1E17D46087CB}"/>
              </a:ext>
            </a:extLst>
          </p:cNvPr>
          <p:cNvSpPr>
            <a:spLocks xmlns:a="http://schemas.openxmlformats.org/drawingml/2006/main" noGrp="1"/>
          </p:cNvSpPr>
          <p:nvPr/>
        </p:nvSpPr>
        <p:spPr>
          <a:xfrm xmlns:a="http://schemas.openxmlformats.org/drawingml/2006/main">
            <a:off x="10896600" y="6429375"/>
            <a:ext cx="685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06</a:t>
            </a:r>
          </a:p>
        </p:txBody>
      </p:sp>
      <p:sp>
        <p:nvSpPr>
          <p:cNvPr id="6" name="term-label">
            <a:extLst xmlns:a="http://schemas.openxmlformats.org/drawingml/2006/main">
              <a:ext uri="{FF2B5EF4-FFF2-40B4-BE49-F238E27FC236}">
                <a16:creationId xmlns:a16="http://schemas.microsoft.com/office/drawing/2014/main" id="{A7B980FF-CC30-42DE-B0F8-142601FE3A39}"/>
              </a:ext>
            </a:extLst>
          </p:cNvPr>
          <p:cNvSpPr>
            <a:spLocks xmlns:a="http://schemas.openxmlformats.org/drawingml/2006/main" noGrp="1"/>
          </p:cNvSpPr>
          <p:nvPr/>
        </p:nvSpPr>
        <p:spPr>
          <a:xfrm xmlns:a="http://schemas.openxmlformats.org/drawingml/2006/main">
            <a:off x="609600" y="1809750"/>
            <a:ext cx="190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2E74B5"/>
                </a:solidFill>
                <a:latin typeface="Arial"/>
                <a:ea typeface="Arial"/>
                <a:cs typeface="Arial"/>
              </a:defRPr>
            </a:pPr>
            <a:r>
              <a:rPr sz="900" b="1">
                <a:solidFill>
                  <a:srgbClr val="2E74B5"/>
                </a:solidFill>
                <a:latin typeface="Arial"/>
                <a:ea typeface="Arial"/>
                <a:cs typeface="Arial"/>
              </a:rPr>
              <a:t>TERM</a:t>
            </a:r>
          </a:p>
        </p:txBody>
      </p:sp>
      <p:sp>
        <p:nvSpPr>
          <p:cNvPr id="7" name="term">
            <a:extLst xmlns:a="http://schemas.openxmlformats.org/drawingml/2006/main">
              <a:ext uri="{FF2B5EF4-FFF2-40B4-BE49-F238E27FC236}">
                <a16:creationId xmlns:a16="http://schemas.microsoft.com/office/drawing/2014/main" id="{BE2BFA59-EC56-404E-B288-4BB1F136BF4F}"/>
              </a:ext>
            </a:extLst>
          </p:cNvPr>
          <p:cNvSpPr>
            <a:spLocks xmlns:a="http://schemas.openxmlformats.org/drawingml/2006/main" noGrp="1"/>
          </p:cNvSpPr>
          <p:nvPr/>
        </p:nvSpPr>
        <p:spPr>
          <a:xfrm xmlns:a="http://schemas.openxmlformats.org/drawingml/2006/main">
            <a:off x="609600" y="2057400"/>
            <a:ext cx="59055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3000" b="1">
                <a:solidFill>
                  <a:srgbClr val="111316"/>
                </a:solidFill>
                <a:latin typeface="Arial"/>
                <a:ea typeface="Arial"/>
                <a:cs typeface="Arial"/>
              </a:defRPr>
            </a:pPr>
            <a:r>
              <a:rPr sz="3000" b="1">
                <a:solidFill>
                  <a:srgbClr val="111316"/>
                </a:solidFill>
                <a:latin typeface="Arial"/>
                <a:ea typeface="Arial"/>
                <a:cs typeface="Arial"/>
              </a:rPr>
              <a:t>Binding constraint</a:t>
            </a:r>
          </a:p>
        </p:txBody>
      </p:sp>
      <p:sp>
        <p:nvSpPr>
          <p:cNvPr id="8" name="">
            <a:extLst xmlns:a="http://schemas.openxmlformats.org/drawingml/2006/main">
              <a:ext uri="{FF2B5EF4-FFF2-40B4-BE49-F238E27FC236}">
                <a16:creationId xmlns:a16="http://schemas.microsoft.com/office/drawing/2014/main" id="{6D333EB8-A18A-458E-B1AC-72B1ABCFA46B}"/>
              </a:ext>
            </a:extLst>
          </p:cNvPr>
          <p:cNvSpPr>
            <a:spLocks xmlns:a="http://schemas.openxmlformats.org/drawingml/2006/main" noGrp="1"/>
          </p:cNvSpPr>
          <p:nvPr/>
        </p:nvSpPr>
        <p:spPr>
          <a:xfrm xmlns:a="http://schemas.openxmlformats.org/drawingml/2006/main">
            <a:off x="609600" y="2724150"/>
            <a:ext cx="1143000" cy="0"/>
          </a:xfrm>
          <a:prstGeom xmlns:a="http://schemas.openxmlformats.org/drawingml/2006/main" prst="line">
            <a:avLst/>
          </a:prstGeom>
          <a:noFill xmlns:a="http://schemas.openxmlformats.org/drawingml/2006/main"/>
          <a:ln xmlns:a="http://schemas.openxmlformats.org/drawingml/2006/main" w="38100">
            <a:solidFill>
              <a:srgbClr val="2E74B5"/>
            </a:solidFill>
            <a:prstDash val="solid"/>
          </a:ln>
        </p:spPr>
      </p:sp>
      <p:sp>
        <p:nvSpPr>
          <p:cNvPr id="9" name="definition">
            <a:extLst xmlns:a="http://schemas.openxmlformats.org/drawingml/2006/main">
              <a:ext uri="{FF2B5EF4-FFF2-40B4-BE49-F238E27FC236}">
                <a16:creationId xmlns:a16="http://schemas.microsoft.com/office/drawing/2014/main" id="{9C51C1D5-5C84-453A-A11C-95F9208E398E}"/>
              </a:ext>
            </a:extLst>
          </p:cNvPr>
          <p:cNvSpPr>
            <a:spLocks xmlns:a="http://schemas.openxmlformats.org/drawingml/2006/main" noGrp="1"/>
          </p:cNvSpPr>
          <p:nvPr/>
        </p:nvSpPr>
        <p:spPr>
          <a:xfrm xmlns:a="http://schemas.openxmlformats.org/drawingml/2006/main">
            <a:off x="609600" y="2971800"/>
            <a:ext cx="5905500" cy="2076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800" b="0">
                <a:solidFill>
                  <a:srgbClr val="111316"/>
                </a:solidFill>
                <a:latin typeface="Arial"/>
                <a:ea typeface="Arial"/>
                <a:cs typeface="Arial"/>
              </a:defRPr>
            </a:pPr>
            <a:r>
              <a:rPr sz="1800" b="0">
                <a:solidFill>
                  <a:srgbClr val="111316"/>
                </a:solidFill>
                <a:latin typeface="Arial"/>
                <a:ea typeface="Arial"/>
                <a:cs typeface="Arial"/>
              </a:rPr>
              <a:t>A constraint is BINDING when the optimum uses it up exactly (used = limit). A constraint is SLACK when the optimum satisfies it with room to spare. res.success is True either way — only hand-verification tells you which is which.</a:t>
            </a:r>
          </a:p>
        </p:txBody>
      </p:sp>
      <p:sp>
        <p:nvSpPr>
          <p:cNvPr id="10" name="example-panel">
            <a:extLst xmlns:a="http://schemas.openxmlformats.org/drawingml/2006/main">
              <a:ext uri="{FF2B5EF4-FFF2-40B4-BE49-F238E27FC236}">
                <a16:creationId xmlns:a16="http://schemas.microsoft.com/office/drawing/2014/main" id="{B8FC1FE1-35F8-447D-B81C-5ED37A65A543}"/>
              </a:ext>
            </a:extLst>
          </p:cNvPr>
          <p:cNvSpPr>
            <a:spLocks xmlns:a="http://schemas.openxmlformats.org/drawingml/2006/main" noGrp="1"/>
          </p:cNvSpPr>
          <p:nvPr/>
        </p:nvSpPr>
        <p:spPr>
          <a:xfrm xmlns:a="http://schemas.openxmlformats.org/drawingml/2006/main">
            <a:off x="6762750" y="1809750"/>
            <a:ext cx="4819650" cy="3257550"/>
          </a:xfrm>
          <a:prstGeom xmlns:a="http://schemas.openxmlformats.org/drawingml/2006/main" prst="roundRect">
            <a:avLst>
              <a:gd name="adj" fmla="val 2339"/>
            </a:avLst>
          </a:prstGeom>
          <a:solidFill xmlns:a="http://schemas.openxmlformats.org/drawingml/2006/main">
            <a:srgbClr val="F3F7FB"/>
          </a:solidFill>
          <a:ln xmlns:a="http://schemas.openxmlformats.org/drawingml/2006/main" w="9525">
            <a:solidFill>
              <a:srgbClr val="DDE0E5"/>
            </a:solidFill>
            <a:prstDash val="solid"/>
          </a:ln>
        </p:spPr>
      </p:sp>
      <p:sp>
        <p:nvSpPr>
          <p:cNvPr id="11" name="example-label">
            <a:extLst xmlns:a="http://schemas.openxmlformats.org/drawingml/2006/main">
              <a:ext uri="{FF2B5EF4-FFF2-40B4-BE49-F238E27FC236}">
                <a16:creationId xmlns:a16="http://schemas.microsoft.com/office/drawing/2014/main" id="{58955C68-98CA-4D00-BF3A-0EE5B8037579}"/>
              </a:ext>
            </a:extLst>
          </p:cNvPr>
          <p:cNvSpPr>
            <a:spLocks xmlns:a="http://schemas.openxmlformats.org/drawingml/2006/main" noGrp="1"/>
          </p:cNvSpPr>
          <p:nvPr/>
        </p:nvSpPr>
        <p:spPr>
          <a:xfrm xmlns:a="http://schemas.openxmlformats.org/drawingml/2006/main">
            <a:off x="6972300" y="2019300"/>
            <a:ext cx="4381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1F4D78"/>
                </a:solidFill>
                <a:latin typeface="Arial"/>
                <a:ea typeface="Arial"/>
                <a:cs typeface="Arial"/>
              </a:defRPr>
            </a:pPr>
            <a:r>
              <a:rPr sz="900" b="1">
                <a:solidFill>
                  <a:srgbClr val="1F4D78"/>
                </a:solidFill>
                <a:latin typeface="Arial"/>
                <a:ea typeface="Arial"/>
                <a:cs typeface="Arial"/>
              </a:rPr>
              <a:t>IN PRACTICE</a:t>
            </a:r>
          </a:p>
        </p:txBody>
      </p:sp>
      <p:sp>
        <p:nvSpPr>
          <p:cNvPr id="12" name="example-head">
            <a:extLst xmlns:a="http://schemas.openxmlformats.org/drawingml/2006/main">
              <a:ext uri="{FF2B5EF4-FFF2-40B4-BE49-F238E27FC236}">
                <a16:creationId xmlns:a16="http://schemas.microsoft.com/office/drawing/2014/main" id="{492FAC69-E587-4910-9322-5940662D2425}"/>
              </a:ext>
            </a:extLst>
          </p:cNvPr>
          <p:cNvSpPr>
            <a:spLocks xmlns:a="http://schemas.openxmlformats.org/drawingml/2006/main" noGrp="1"/>
          </p:cNvSpPr>
          <p:nvPr/>
        </p:nvSpPr>
        <p:spPr>
          <a:xfrm xmlns:a="http://schemas.openxmlformats.org/drawingml/2006/main">
            <a:off x="6972300" y="2286000"/>
            <a:ext cx="4381500" cy="55092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00" b="1">
                <a:solidFill>
                  <a:srgbClr val="111316"/>
                </a:solidFill>
                <a:latin typeface="Arial"/>
                <a:ea typeface="Arial"/>
                <a:cs typeface="Arial"/>
              </a:defRPr>
            </a:pPr>
            <a:r>
              <a:rPr sz="1800" b="1">
                <a:solidFill>
                  <a:srgbClr val="111316"/>
                </a:solidFill>
                <a:latin typeface="Arial"/>
                <a:ea typeface="Arial"/>
                <a:cs typeface="Arial"/>
              </a:rPr>
              <a:t>Radley Hall's roof (cells [2]-[4], next)</a:t>
            </a:r>
          </a:p>
        </p:txBody>
      </p:sp>
      <p:sp>
        <p:nvSpPr>
          <p:cNvPr id="13" name="example-body">
            <a:extLst xmlns:a="http://schemas.openxmlformats.org/drawingml/2006/main">
              <a:ext uri="{FF2B5EF4-FFF2-40B4-BE49-F238E27FC236}">
                <a16:creationId xmlns:a16="http://schemas.microsoft.com/office/drawing/2014/main" id="{FE272EAE-D9B5-4593-B7F6-7B9F394E6D8E}"/>
              </a:ext>
            </a:extLst>
          </p:cNvPr>
          <p:cNvSpPr>
            <a:spLocks xmlns:a="http://schemas.openxmlformats.org/drawingml/2006/main" noGrp="1"/>
          </p:cNvSpPr>
          <p:nvPr/>
        </p:nvSpPr>
        <p:spPr>
          <a:xfrm xmlns:a="http://schemas.openxmlformats.org/drawingml/2006/main">
            <a:off x="6972300" y="2951226"/>
            <a:ext cx="4381500" cy="198272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500" b="0">
                <a:solidFill>
                  <a:srgbClr val="5A5F66"/>
                </a:solidFill>
                <a:latin typeface="Arial"/>
                <a:ea typeface="Arial"/>
                <a:cs typeface="Arial"/>
              </a:defRPr>
            </a:pPr>
            <a:r>
              <a:rPr sz="1500" b="0">
                <a:solidFill>
                  <a:srgbClr val="5A5F66"/>
                </a:solidFill>
                <a:latin typeface="Arial"/>
                <a:ea typeface="Arial"/>
                <a:cs typeface="Arial"/>
              </a:rPr>
              <a:t>Area (200 m2) and budget ($50,000) both bind exactly at the optimum. The 120 m2 solar structural cap does not — only 80 m2 is used, 40 m2 of slack remains.</a:t>
            </a:r>
          </a:p>
        </p:txBody>
      </p:sp>
      <p:sp>
        <p:nvSpPr>
          <p:cNvPr id="14" name="note-bar">
            <a:extLst xmlns:a="http://schemas.openxmlformats.org/drawingml/2006/main">
              <a:ext uri="{FF2B5EF4-FFF2-40B4-BE49-F238E27FC236}">
                <a16:creationId xmlns:a16="http://schemas.microsoft.com/office/drawing/2014/main" id="{23566C33-1D25-4FF9-A7CD-685425E22CF2}"/>
              </a:ext>
            </a:extLst>
          </p:cNvPr>
          <p:cNvSpPr>
            <a:spLocks xmlns:a="http://schemas.openxmlformats.org/drawingml/2006/main" noGrp="1"/>
          </p:cNvSpPr>
          <p:nvPr/>
        </p:nvSpPr>
        <p:spPr>
          <a:xfrm xmlns:a="http://schemas.openxmlformats.org/drawingml/2006/main">
            <a:off x="609600" y="5334000"/>
            <a:ext cx="57150" cy="723900"/>
          </a:xfrm>
          <a:prstGeom xmlns:a="http://schemas.openxmlformats.org/drawingml/2006/main" prst="rect">
            <a:avLst/>
          </a:prstGeom>
          <a:solidFill xmlns:a="http://schemas.openxmlformats.org/drawingml/2006/main">
            <a:srgbClr val="B5731A"/>
          </a:solidFill>
          <a:ln xmlns:a="http://schemas.openxmlformats.org/drawingml/2006/main" w="0">
            <a:noFill/>
            <a:prstDash val="solid"/>
          </a:ln>
        </p:spPr>
      </p:sp>
      <p:sp>
        <p:nvSpPr>
          <p:cNvPr id="15" name="note-label">
            <a:extLst xmlns:a="http://schemas.openxmlformats.org/drawingml/2006/main">
              <a:ext uri="{FF2B5EF4-FFF2-40B4-BE49-F238E27FC236}">
                <a16:creationId xmlns:a16="http://schemas.microsoft.com/office/drawing/2014/main" id="{6360A349-C123-43A3-B66E-B6A38B0170A3}"/>
              </a:ext>
            </a:extLst>
          </p:cNvPr>
          <p:cNvSpPr>
            <a:spLocks xmlns:a="http://schemas.openxmlformats.org/drawingml/2006/main" noGrp="1"/>
          </p:cNvSpPr>
          <p:nvPr/>
        </p:nvSpPr>
        <p:spPr>
          <a:xfrm xmlns:a="http://schemas.openxmlformats.org/drawingml/2006/main">
            <a:off x="819150" y="5353050"/>
            <a:ext cx="4000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B5731A"/>
                </a:solidFill>
                <a:latin typeface="Arial"/>
                <a:ea typeface="Arial"/>
                <a:cs typeface="Arial"/>
              </a:defRPr>
            </a:pPr>
            <a:r>
              <a:rPr sz="900" b="1">
                <a:solidFill>
                  <a:srgbClr val="B5731A"/>
                </a:solidFill>
                <a:latin typeface="Arial"/>
                <a:ea typeface="Arial"/>
                <a:cs typeface="Arial"/>
              </a:rPr>
              <a:t>COMMON CONFUSION</a:t>
            </a:r>
          </a:p>
        </p:txBody>
      </p:sp>
      <p:sp>
        <p:nvSpPr>
          <p:cNvPr id="16" name="note">
            <a:extLst xmlns:a="http://schemas.openxmlformats.org/drawingml/2006/main">
              <a:ext uri="{FF2B5EF4-FFF2-40B4-BE49-F238E27FC236}">
                <a16:creationId xmlns:a16="http://schemas.microsoft.com/office/drawing/2014/main" id="{E581A72C-C290-40A9-9C6D-344BC7B7AD9C}"/>
              </a:ext>
            </a:extLst>
          </p:cNvPr>
          <p:cNvSpPr>
            <a:spLocks xmlns:a="http://schemas.openxmlformats.org/drawingml/2006/main" noGrp="1"/>
          </p:cNvSpPr>
          <p:nvPr/>
        </p:nvSpPr>
        <p:spPr>
          <a:xfrm xmlns:a="http://schemas.openxmlformats.org/drawingml/2006/main">
            <a:off x="819150" y="5562600"/>
            <a:ext cx="107632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500" b="0">
                <a:solidFill>
                  <a:srgbClr val="111316"/>
                </a:solidFill>
                <a:latin typeface="Arial"/>
                <a:ea typeface="Arial"/>
                <a:cs typeface="Arial"/>
              </a:defRPr>
            </a:pPr>
            <a:r>
              <a:rPr sz="1500" b="0">
                <a:solidFill>
                  <a:srgbClr val="111316"/>
                </a:solidFill>
                <a:latin typeface="Arial"/>
                <a:ea typeface="Arial"/>
                <a:cs typeface="Arial"/>
              </a:rPr>
              <a:t>res.success does not tell you which constraints bind — only Studio 2's hand-verification does.</a:t>
            </a:r>
          </a:p>
        </p:txBody>
      </p:sp>
    </p:spTree>
    <p:extLst>
      <p:ext uri="{BB962C8B-B14F-4D97-AF65-F5344CB8AC3E}">
        <p14:creationId xmlns:p14="http://schemas.microsoft.com/office/powerpoint/2010/main" val="1955315997"/>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3" name="kicker">
            <a:extLst xmlns:a="http://schemas.openxmlformats.org/drawingml/2006/main">
              <a:ext uri="{FF2B5EF4-FFF2-40B4-BE49-F238E27FC236}">
                <a16:creationId xmlns:a16="http://schemas.microsoft.com/office/drawing/2014/main" id="{9F382EBE-7E0A-4906-88E0-26CA66D97A80}"/>
              </a:ext>
            </a:extLst>
          </p:cNvPr>
          <p:cNvSpPr>
            <a:spLocks xmlns:a="http://schemas.openxmlformats.org/drawingml/2006/main" noGrp="1"/>
          </p:cNvSpPr>
          <p:nvPr/>
        </p:nvSpPr>
        <p:spPr>
          <a:xfrm xmlns:a="http://schemas.openxmlformats.org/drawingml/2006/main">
            <a:off x="609600" y="342900"/>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2E74B5"/>
                </a:solidFill>
                <a:latin typeface="Arial"/>
                <a:ea typeface="Arial"/>
                <a:cs typeface="Arial"/>
              </a:defRPr>
            </a:pPr>
            <a:r>
              <a:rPr sz="900" b="1">
                <a:solidFill>
                  <a:srgbClr val="2E74B5"/>
                </a:solidFill>
                <a:latin typeface="Arial"/>
                <a:ea typeface="Arial"/>
                <a:cs typeface="Arial"/>
              </a:rPr>
              <a:t>METHOD</a:t>
            </a:r>
          </a:p>
        </p:txBody>
      </p:sp>
      <p:sp>
        <p:nvSpPr>
          <p:cNvPr id="2" name="title">
            <a:extLst xmlns:a="http://schemas.openxmlformats.org/drawingml/2006/main">
              <a:ext uri="{FF2B5EF4-FFF2-40B4-BE49-F238E27FC236}">
                <a16:creationId xmlns:a16="http://schemas.microsoft.com/office/drawing/2014/main" id="{AF3C8B01-405D-4710-948F-192414811F9E}"/>
              </a:ext>
            </a:extLst>
          </p:cNvPr>
          <p:cNvSpPr>
            <a:spLocks xmlns:a="http://schemas.openxmlformats.org/drawingml/2006/main" noGrp="1"/>
          </p:cNvSpPr>
          <p:nvPr/>
        </p:nvSpPr>
        <p:spPr>
          <a:xfrm xmlns:a="http://schemas.openxmlformats.org/drawingml/2006/main">
            <a:off x="609600" y="60960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3000" b="0">
                <a:solidFill>
                  <a:srgbClr val="111316"/>
                </a:solidFill>
                <a:latin typeface="Arial"/>
                <a:ea typeface="Arial"/>
                <a:cs typeface="Arial"/>
              </a:defRPr>
            </a:pPr>
            <a:r>
              <a:rPr sz="3000" b="0">
                <a:solidFill>
                  <a:srgbClr val="111316"/>
                </a:solidFill>
                <a:latin typeface="Arial"/>
                <a:ea typeface="Arial"/>
                <a:cs typeface="Arial"/>
              </a:rPr>
              <a:t>Today's pipeline is four ordered steps</a:t>
            </a:r>
          </a:p>
        </p:txBody>
      </p:sp>
      <p:sp>
        <p:nvSpPr>
          <p:cNvPr id="3" name="">
            <a:extLst xmlns:a="http://schemas.openxmlformats.org/drawingml/2006/main">
              <a:ext uri="{FF2B5EF4-FFF2-40B4-BE49-F238E27FC236}">
                <a16:creationId xmlns:a16="http://schemas.microsoft.com/office/drawing/2014/main" id="{E2DC40F5-DDDA-4E96-B903-86C3292E041D}"/>
              </a:ext>
            </a:extLst>
          </p:cNvPr>
          <p:cNvSpPr>
            <a:spLocks xmlns:a="http://schemas.openxmlformats.org/drawingml/2006/main" noGrp="1"/>
          </p:cNvSpPr>
          <p:nvPr/>
        </p:nvSpPr>
        <p:spPr>
          <a:xfrm xmlns:a="http://schemas.openxmlformats.org/drawingml/2006/main">
            <a:off x="609600" y="6343650"/>
            <a:ext cx="10972800" cy="0"/>
          </a:xfrm>
          <a:prstGeom xmlns:a="http://schemas.openxmlformats.org/drawingml/2006/main" prst="line">
            <a:avLst/>
          </a:prstGeom>
          <a:noFill xmlns:a="http://schemas.openxmlformats.org/drawingml/2006/main"/>
          <a:ln xmlns:a="http://schemas.openxmlformats.org/drawingml/2006/main" w="9525">
            <a:solidFill>
              <a:srgbClr val="DDE0E5"/>
            </a:solidFill>
            <a:prstDash val="solid"/>
          </a:ln>
        </p:spPr>
      </p:sp>
      <p:sp>
        <p:nvSpPr>
          <p:cNvPr id="4" name="footer">
            <a:extLst xmlns:a="http://schemas.openxmlformats.org/drawingml/2006/main">
              <a:ext uri="{FF2B5EF4-FFF2-40B4-BE49-F238E27FC236}">
                <a16:creationId xmlns:a16="http://schemas.microsoft.com/office/drawing/2014/main" id="{931F5435-9C8B-4AA0-A7C3-C189E14E89E9}"/>
              </a:ext>
            </a:extLst>
          </p:cNvPr>
          <p:cNvSpPr>
            <a:spLocks xmlns:a="http://schemas.openxmlformats.org/drawingml/2006/main" noGrp="1"/>
          </p:cNvSpPr>
          <p:nvPr/>
        </p:nvSpPr>
        <p:spPr>
          <a:xfrm xmlns:a="http://schemas.openxmlformats.org/drawingml/2006/main">
            <a:off x="609600" y="6429375"/>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ARC 500  ·  Week 10 · Meeting B · Linear Programming Studio</a:t>
            </a:r>
          </a:p>
        </p:txBody>
      </p:sp>
      <p:sp>
        <p:nvSpPr>
          <p:cNvPr id="5" name="page">
            <a:extLst xmlns:a="http://schemas.openxmlformats.org/drawingml/2006/main">
              <a:ext uri="{FF2B5EF4-FFF2-40B4-BE49-F238E27FC236}">
                <a16:creationId xmlns:a16="http://schemas.microsoft.com/office/drawing/2014/main" id="{A52F2C19-E7A8-45DC-8DC6-6993BDF26EF1}"/>
              </a:ext>
            </a:extLst>
          </p:cNvPr>
          <p:cNvSpPr>
            <a:spLocks xmlns:a="http://schemas.openxmlformats.org/drawingml/2006/main" noGrp="1"/>
          </p:cNvSpPr>
          <p:nvPr/>
        </p:nvSpPr>
        <p:spPr>
          <a:xfrm xmlns:a="http://schemas.openxmlformats.org/drawingml/2006/main">
            <a:off x="10896600" y="6429375"/>
            <a:ext cx="685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07</a:t>
            </a:r>
          </a:p>
        </p:txBody>
      </p:sp>
      <p:sp>
        <p:nvSpPr>
          <p:cNvPr id="6" name="step-arrow-0">
            <a:extLst xmlns:a="http://schemas.openxmlformats.org/drawingml/2006/main">
              <a:ext uri="{FF2B5EF4-FFF2-40B4-BE49-F238E27FC236}">
                <a16:creationId xmlns:a16="http://schemas.microsoft.com/office/drawing/2014/main" id="{C91316C2-EFBD-4CA4-BEF7-054395575C99}"/>
              </a:ext>
            </a:extLst>
          </p:cNvPr>
          <p:cNvSpPr>
            <a:spLocks xmlns:a="http://schemas.openxmlformats.org/drawingml/2006/main" noGrp="1"/>
          </p:cNvSpPr>
          <p:nvPr/>
        </p:nvSpPr>
        <p:spPr>
          <a:xfrm xmlns:a="http://schemas.openxmlformats.org/drawingml/2006/main">
            <a:off x="3219450" y="3686175"/>
            <a:ext cx="152400" cy="495300"/>
          </a:xfrm>
          <a:prstGeom xmlns:a="http://schemas.openxmlformats.org/drawingml/2006/main" prst="chevron">
            <a:avLst/>
          </a:prstGeom>
          <a:solidFill xmlns:a="http://schemas.openxmlformats.org/drawingml/2006/main">
            <a:srgbClr val="E8EEF5"/>
          </a:solidFill>
          <a:ln xmlns:a="http://schemas.openxmlformats.org/drawingml/2006/main" w="0">
            <a:solidFill>
              <a:srgbClr val="E8EEF5"/>
            </a:solidFill>
            <a:prstDash val="solid"/>
          </a:ln>
        </p:spPr>
      </p:sp>
      <p:sp>
        <p:nvSpPr>
          <p:cNvPr id="7" name="step-arrow-1">
            <a:extLst xmlns:a="http://schemas.openxmlformats.org/drawingml/2006/main">
              <a:ext uri="{FF2B5EF4-FFF2-40B4-BE49-F238E27FC236}">
                <a16:creationId xmlns:a16="http://schemas.microsoft.com/office/drawing/2014/main" id="{BCAAA3CE-9A71-43CF-BAE8-BABE9EF05664}"/>
              </a:ext>
            </a:extLst>
          </p:cNvPr>
          <p:cNvSpPr>
            <a:spLocks xmlns:a="http://schemas.openxmlformats.org/drawingml/2006/main" noGrp="1"/>
          </p:cNvSpPr>
          <p:nvPr/>
        </p:nvSpPr>
        <p:spPr>
          <a:xfrm xmlns:a="http://schemas.openxmlformats.org/drawingml/2006/main">
            <a:off x="6019800" y="3686175"/>
            <a:ext cx="152400" cy="495300"/>
          </a:xfrm>
          <a:prstGeom xmlns:a="http://schemas.openxmlformats.org/drawingml/2006/main" prst="chevron">
            <a:avLst/>
          </a:prstGeom>
          <a:solidFill xmlns:a="http://schemas.openxmlformats.org/drawingml/2006/main">
            <a:srgbClr val="E8EEF5"/>
          </a:solidFill>
          <a:ln xmlns:a="http://schemas.openxmlformats.org/drawingml/2006/main" w="0">
            <a:solidFill>
              <a:srgbClr val="E8EEF5"/>
            </a:solidFill>
            <a:prstDash val="solid"/>
          </a:ln>
        </p:spPr>
      </p:sp>
      <p:sp>
        <p:nvSpPr>
          <p:cNvPr id="8" name="step-arrow-2">
            <a:extLst xmlns:a="http://schemas.openxmlformats.org/drawingml/2006/main">
              <a:ext uri="{FF2B5EF4-FFF2-40B4-BE49-F238E27FC236}">
                <a16:creationId xmlns:a16="http://schemas.microsoft.com/office/drawing/2014/main" id="{C98661D1-42A9-4DDF-8A6D-2E48BC9A2E86}"/>
              </a:ext>
            </a:extLst>
          </p:cNvPr>
          <p:cNvSpPr>
            <a:spLocks xmlns:a="http://schemas.openxmlformats.org/drawingml/2006/main" noGrp="1"/>
          </p:cNvSpPr>
          <p:nvPr/>
        </p:nvSpPr>
        <p:spPr>
          <a:xfrm xmlns:a="http://schemas.openxmlformats.org/drawingml/2006/main">
            <a:off x="8820150" y="3686175"/>
            <a:ext cx="152400" cy="495300"/>
          </a:xfrm>
          <a:prstGeom xmlns:a="http://schemas.openxmlformats.org/drawingml/2006/main" prst="chevron">
            <a:avLst/>
          </a:prstGeom>
          <a:solidFill xmlns:a="http://schemas.openxmlformats.org/drawingml/2006/main">
            <a:srgbClr val="E8EEF5"/>
          </a:solidFill>
          <a:ln xmlns:a="http://schemas.openxmlformats.org/drawingml/2006/main" w="0">
            <a:solidFill>
              <a:srgbClr val="E8EEF5"/>
            </a:solidFill>
            <a:prstDash val="solid"/>
          </a:ln>
        </p:spPr>
      </p:sp>
      <p:sp>
        <p:nvSpPr>
          <p:cNvPr id="9" name="step-node-0">
            <a:extLst xmlns:a="http://schemas.openxmlformats.org/drawingml/2006/main">
              <a:ext uri="{FF2B5EF4-FFF2-40B4-BE49-F238E27FC236}">
                <a16:creationId xmlns:a16="http://schemas.microsoft.com/office/drawing/2014/main" id="{008E565C-613D-4138-B5B3-C0A7EBFBAFC8}"/>
              </a:ext>
            </a:extLst>
          </p:cNvPr>
          <p:cNvSpPr>
            <a:spLocks xmlns:a="http://schemas.openxmlformats.org/drawingml/2006/main" noGrp="1"/>
          </p:cNvSpPr>
          <p:nvPr/>
        </p:nvSpPr>
        <p:spPr>
          <a:xfrm xmlns:a="http://schemas.openxmlformats.org/drawingml/2006/main">
            <a:off x="609600" y="1847850"/>
            <a:ext cx="2571750" cy="4171950"/>
          </a:xfrm>
          <a:prstGeom xmlns:a="http://schemas.openxmlformats.org/drawingml/2006/main" prst="roundRect">
            <a:avLst>
              <a:gd name="adj" fmla="val 3704"/>
            </a:avLst>
          </a:prstGeom>
          <a:solidFill xmlns:a="http://schemas.openxmlformats.org/drawingml/2006/main">
            <a:srgbClr val="F3F7FB"/>
          </a:solidFill>
          <a:ln xmlns:a="http://schemas.openxmlformats.org/drawingml/2006/main" w="9525">
            <a:solidFill>
              <a:srgbClr val="2E74B5"/>
            </a:solidFill>
            <a:prstDash val="solid"/>
          </a:ln>
        </p:spPr>
      </p:sp>
      <p:sp>
        <p:nvSpPr>
          <p:cNvPr id="10" name="step-number-0">
            <a:extLst xmlns:a="http://schemas.openxmlformats.org/drawingml/2006/main">
              <a:ext uri="{FF2B5EF4-FFF2-40B4-BE49-F238E27FC236}">
                <a16:creationId xmlns:a16="http://schemas.microsoft.com/office/drawing/2014/main" id="{F59C559B-AA5C-48A2-8CF1-91B7850E7A1F}"/>
              </a:ext>
            </a:extLst>
          </p:cNvPr>
          <p:cNvSpPr>
            <a:spLocks xmlns:a="http://schemas.openxmlformats.org/drawingml/2006/main" noGrp="1"/>
          </p:cNvSpPr>
          <p:nvPr/>
        </p:nvSpPr>
        <p:spPr>
          <a:xfrm xmlns:a="http://schemas.openxmlformats.org/drawingml/2006/main">
            <a:off x="800100" y="2038350"/>
            <a:ext cx="4381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1200" b="1">
                <a:solidFill>
                  <a:srgbClr val="2E74B5"/>
                </a:solidFill>
                <a:latin typeface="Arial"/>
                <a:ea typeface="Arial"/>
                <a:cs typeface="Arial"/>
              </a:defRPr>
            </a:pPr>
            <a:r>
              <a:rPr sz="1200" b="1">
                <a:solidFill>
                  <a:srgbClr val="2E74B5"/>
                </a:solidFill>
                <a:latin typeface="Arial"/>
                <a:ea typeface="Arial"/>
                <a:cs typeface="Arial"/>
              </a:rPr>
              <a:t>01</a:t>
            </a:r>
          </a:p>
        </p:txBody>
      </p:sp>
      <p:sp>
        <p:nvSpPr>
          <p:cNvPr id="11" name="step-label-0">
            <a:extLst xmlns:a="http://schemas.openxmlformats.org/drawingml/2006/main">
              <a:ext uri="{FF2B5EF4-FFF2-40B4-BE49-F238E27FC236}">
                <a16:creationId xmlns:a16="http://schemas.microsoft.com/office/drawing/2014/main" id="{05E010AB-FE9F-4AAC-A695-BB8095D9AD7F}"/>
              </a:ext>
            </a:extLst>
          </p:cNvPr>
          <p:cNvSpPr>
            <a:spLocks xmlns:a="http://schemas.openxmlformats.org/drawingml/2006/main" noGrp="1"/>
          </p:cNvSpPr>
          <p:nvPr/>
        </p:nvSpPr>
        <p:spPr>
          <a:xfrm xmlns:a="http://schemas.openxmlformats.org/drawingml/2006/main">
            <a:off x="1295400" y="2057400"/>
            <a:ext cx="16954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2E74B5"/>
                </a:solidFill>
                <a:latin typeface="Arial"/>
                <a:ea typeface="Arial"/>
                <a:cs typeface="Arial"/>
              </a:defRPr>
            </a:pPr>
            <a:r>
              <a:rPr sz="900" b="1">
                <a:solidFill>
                  <a:srgbClr val="2E74B5"/>
                </a:solidFill>
                <a:latin typeface="Arial"/>
                <a:ea typeface="Arial"/>
                <a:cs typeface="Arial"/>
              </a:rPr>
              <a:t>FORMULATE</a:t>
            </a:r>
          </a:p>
        </p:txBody>
      </p:sp>
      <p:sp>
        <p:nvSpPr>
          <p:cNvPr id="12" name="">
            <a:extLst xmlns:a="http://schemas.openxmlformats.org/drawingml/2006/main">
              <a:ext uri="{FF2B5EF4-FFF2-40B4-BE49-F238E27FC236}">
                <a16:creationId xmlns:a16="http://schemas.microsoft.com/office/drawing/2014/main" id="{C7878234-E1E2-40E9-9272-5C4A3DCCE703}"/>
              </a:ext>
            </a:extLst>
          </p:cNvPr>
          <p:cNvSpPr>
            <a:spLocks xmlns:a="http://schemas.openxmlformats.org/drawingml/2006/main" noGrp="1"/>
          </p:cNvSpPr>
          <p:nvPr/>
        </p:nvSpPr>
        <p:spPr>
          <a:xfrm xmlns:a="http://schemas.openxmlformats.org/drawingml/2006/main">
            <a:off x="800100" y="2476500"/>
            <a:ext cx="2190750" cy="0"/>
          </a:xfrm>
          <a:prstGeom xmlns:a="http://schemas.openxmlformats.org/drawingml/2006/main" prst="line">
            <a:avLst/>
          </a:prstGeom>
          <a:noFill xmlns:a="http://schemas.openxmlformats.org/drawingml/2006/main"/>
          <a:ln xmlns:a="http://schemas.openxmlformats.org/drawingml/2006/main" w="28575">
            <a:solidFill>
              <a:srgbClr val="2E74B5"/>
            </a:solidFill>
            <a:prstDash val="solid"/>
          </a:ln>
        </p:spPr>
      </p:sp>
      <p:sp>
        <p:nvSpPr>
          <p:cNvPr id="13" name="step-head-0">
            <a:extLst xmlns:a="http://schemas.openxmlformats.org/drawingml/2006/main">
              <a:ext uri="{FF2B5EF4-FFF2-40B4-BE49-F238E27FC236}">
                <a16:creationId xmlns:a16="http://schemas.microsoft.com/office/drawing/2014/main" id="{48A13772-12F8-4604-9296-01A4D2552AA4}"/>
              </a:ext>
            </a:extLst>
          </p:cNvPr>
          <p:cNvSpPr>
            <a:spLocks xmlns:a="http://schemas.openxmlformats.org/drawingml/2006/main" noGrp="1"/>
          </p:cNvSpPr>
          <p:nvPr/>
        </p:nvSpPr>
        <p:spPr>
          <a:xfrm xmlns:a="http://schemas.openxmlformats.org/drawingml/2006/main">
            <a:off x="800100" y="2667000"/>
            <a:ext cx="21907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00" b="1">
                <a:solidFill>
                  <a:srgbClr val="111316"/>
                </a:solidFill>
                <a:latin typeface="Arial"/>
                <a:ea typeface="Arial"/>
                <a:cs typeface="Arial"/>
              </a:defRPr>
            </a:pPr>
            <a:r>
              <a:rPr sz="1800" b="1">
                <a:solidFill>
                  <a:srgbClr val="111316"/>
                </a:solidFill>
                <a:latin typeface="Arial"/>
                <a:ea typeface="Arial"/>
                <a:cs typeface="Arial"/>
              </a:rPr>
              <a:t>Name the pieces</a:t>
            </a:r>
          </a:p>
        </p:txBody>
      </p:sp>
      <p:sp>
        <p:nvSpPr>
          <p:cNvPr id="14" name="step-body-0">
            <a:extLst xmlns:a="http://schemas.openxmlformats.org/drawingml/2006/main">
              <a:ext uri="{FF2B5EF4-FFF2-40B4-BE49-F238E27FC236}">
                <a16:creationId xmlns:a16="http://schemas.microsoft.com/office/drawing/2014/main" id="{AEFBCA43-41B7-4C25-87BB-D96FC5401F70}"/>
              </a:ext>
            </a:extLst>
          </p:cNvPr>
          <p:cNvSpPr>
            <a:spLocks xmlns:a="http://schemas.openxmlformats.org/drawingml/2006/main" noGrp="1"/>
          </p:cNvSpPr>
          <p:nvPr/>
        </p:nvSpPr>
        <p:spPr>
          <a:xfrm xmlns:a="http://schemas.openxmlformats.org/drawingml/2006/main">
            <a:off x="800100" y="3352800"/>
            <a:ext cx="2190750" cy="2495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500" b="0">
                <a:solidFill>
                  <a:srgbClr val="5A5F66"/>
                </a:solidFill>
                <a:latin typeface="Arial"/>
                <a:ea typeface="Arial"/>
                <a:cs typeface="Arial"/>
              </a:defRPr>
            </a:pPr>
            <a:r>
              <a:rPr sz="1500" b="0">
                <a:solidFill>
                  <a:srgbClr val="5A5F66"/>
                </a:solidFill>
                <a:latin typeface="Arial"/>
                <a:ea typeface="Arial"/>
                <a:cs typeface="Arial"/>
              </a:rPr>
              <a:t>Design variables, objective, constraints, and bounds — in words first, on paper.</a:t>
            </a:r>
          </a:p>
        </p:txBody>
      </p:sp>
      <p:sp>
        <p:nvSpPr>
          <p:cNvPr id="15" name="step-node-1">
            <a:extLst xmlns:a="http://schemas.openxmlformats.org/drawingml/2006/main">
              <a:ext uri="{FF2B5EF4-FFF2-40B4-BE49-F238E27FC236}">
                <a16:creationId xmlns:a16="http://schemas.microsoft.com/office/drawing/2014/main" id="{CF46DAFC-4F17-4917-BEAD-3B9B04745D7E}"/>
              </a:ext>
            </a:extLst>
          </p:cNvPr>
          <p:cNvSpPr>
            <a:spLocks xmlns:a="http://schemas.openxmlformats.org/drawingml/2006/main" noGrp="1"/>
          </p:cNvSpPr>
          <p:nvPr/>
        </p:nvSpPr>
        <p:spPr>
          <a:xfrm xmlns:a="http://schemas.openxmlformats.org/drawingml/2006/main">
            <a:off x="3409950" y="1847850"/>
            <a:ext cx="2571750" cy="4171950"/>
          </a:xfrm>
          <a:prstGeom xmlns:a="http://schemas.openxmlformats.org/drawingml/2006/main" prst="roundRect">
            <a:avLst>
              <a:gd name="adj" fmla="val 3704"/>
            </a:avLst>
          </a:prstGeom>
          <a:solidFill xmlns:a="http://schemas.openxmlformats.org/drawingml/2006/main">
            <a:srgbClr val="F6F7F9"/>
          </a:solidFill>
          <a:ln xmlns:a="http://schemas.openxmlformats.org/drawingml/2006/main" w="9525">
            <a:solidFill>
              <a:srgbClr val="DDE0E5"/>
            </a:solidFill>
            <a:prstDash val="solid"/>
          </a:ln>
        </p:spPr>
      </p:sp>
      <p:sp>
        <p:nvSpPr>
          <p:cNvPr id="16" name="step-number-1">
            <a:extLst xmlns:a="http://schemas.openxmlformats.org/drawingml/2006/main">
              <a:ext uri="{FF2B5EF4-FFF2-40B4-BE49-F238E27FC236}">
                <a16:creationId xmlns:a16="http://schemas.microsoft.com/office/drawing/2014/main" id="{0F4B497B-D29C-426D-8897-DD3031082423}"/>
              </a:ext>
            </a:extLst>
          </p:cNvPr>
          <p:cNvSpPr>
            <a:spLocks xmlns:a="http://schemas.openxmlformats.org/drawingml/2006/main" noGrp="1"/>
          </p:cNvSpPr>
          <p:nvPr/>
        </p:nvSpPr>
        <p:spPr>
          <a:xfrm xmlns:a="http://schemas.openxmlformats.org/drawingml/2006/main">
            <a:off x="3600450" y="2038350"/>
            <a:ext cx="4381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1200" b="1">
                <a:solidFill>
                  <a:srgbClr val="2E74B5"/>
                </a:solidFill>
                <a:latin typeface="Arial"/>
                <a:ea typeface="Arial"/>
                <a:cs typeface="Arial"/>
              </a:defRPr>
            </a:pPr>
            <a:r>
              <a:rPr sz="1200" b="1">
                <a:solidFill>
                  <a:srgbClr val="2E74B5"/>
                </a:solidFill>
                <a:latin typeface="Arial"/>
                <a:ea typeface="Arial"/>
                <a:cs typeface="Arial"/>
              </a:rPr>
              <a:t>02</a:t>
            </a:r>
          </a:p>
        </p:txBody>
      </p:sp>
      <p:sp>
        <p:nvSpPr>
          <p:cNvPr id="17" name="step-label-1">
            <a:extLst xmlns:a="http://schemas.openxmlformats.org/drawingml/2006/main">
              <a:ext uri="{FF2B5EF4-FFF2-40B4-BE49-F238E27FC236}">
                <a16:creationId xmlns:a16="http://schemas.microsoft.com/office/drawing/2014/main" id="{43CCB56D-FD03-44E4-8129-8AD8E3D58B69}"/>
              </a:ext>
            </a:extLst>
          </p:cNvPr>
          <p:cNvSpPr>
            <a:spLocks xmlns:a="http://schemas.openxmlformats.org/drawingml/2006/main" noGrp="1"/>
          </p:cNvSpPr>
          <p:nvPr/>
        </p:nvSpPr>
        <p:spPr>
          <a:xfrm xmlns:a="http://schemas.openxmlformats.org/drawingml/2006/main">
            <a:off x="4095750" y="2057400"/>
            <a:ext cx="16954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2E74B5"/>
                </a:solidFill>
                <a:latin typeface="Arial"/>
                <a:ea typeface="Arial"/>
                <a:cs typeface="Arial"/>
              </a:defRPr>
            </a:pPr>
            <a:r>
              <a:rPr sz="900" b="1">
                <a:solidFill>
                  <a:srgbClr val="2E74B5"/>
                </a:solidFill>
                <a:latin typeface="Arial"/>
                <a:ea typeface="Arial"/>
                <a:cs typeface="Arial"/>
              </a:rPr>
              <a:t>STANDARD FORM</a:t>
            </a:r>
          </a:p>
        </p:txBody>
      </p:sp>
      <p:sp>
        <p:nvSpPr>
          <p:cNvPr id="18" name="">
            <a:extLst xmlns:a="http://schemas.openxmlformats.org/drawingml/2006/main">
              <a:ext uri="{FF2B5EF4-FFF2-40B4-BE49-F238E27FC236}">
                <a16:creationId xmlns:a16="http://schemas.microsoft.com/office/drawing/2014/main" id="{7131FBBA-1F59-47AB-B287-E2C4B326FB51}"/>
              </a:ext>
            </a:extLst>
          </p:cNvPr>
          <p:cNvSpPr>
            <a:spLocks xmlns:a="http://schemas.openxmlformats.org/drawingml/2006/main" noGrp="1"/>
          </p:cNvSpPr>
          <p:nvPr/>
        </p:nvSpPr>
        <p:spPr>
          <a:xfrm xmlns:a="http://schemas.openxmlformats.org/drawingml/2006/main">
            <a:off x="3600450" y="2476500"/>
            <a:ext cx="2190750" cy="0"/>
          </a:xfrm>
          <a:prstGeom xmlns:a="http://schemas.openxmlformats.org/drawingml/2006/main" prst="line">
            <a:avLst/>
          </a:prstGeom>
          <a:noFill xmlns:a="http://schemas.openxmlformats.org/drawingml/2006/main"/>
          <a:ln xmlns:a="http://schemas.openxmlformats.org/drawingml/2006/main" w="19050">
            <a:solidFill>
              <a:srgbClr val="111316"/>
            </a:solidFill>
            <a:prstDash val="solid"/>
          </a:ln>
        </p:spPr>
      </p:sp>
      <p:sp>
        <p:nvSpPr>
          <p:cNvPr id="19" name="step-head-1">
            <a:extLst xmlns:a="http://schemas.openxmlformats.org/drawingml/2006/main">
              <a:ext uri="{FF2B5EF4-FFF2-40B4-BE49-F238E27FC236}">
                <a16:creationId xmlns:a16="http://schemas.microsoft.com/office/drawing/2014/main" id="{C3ED8388-5D9C-473D-8AD2-844A9BC65EE2}"/>
              </a:ext>
            </a:extLst>
          </p:cNvPr>
          <p:cNvSpPr>
            <a:spLocks xmlns:a="http://schemas.openxmlformats.org/drawingml/2006/main" noGrp="1"/>
          </p:cNvSpPr>
          <p:nvPr/>
        </p:nvSpPr>
        <p:spPr>
          <a:xfrm xmlns:a="http://schemas.openxmlformats.org/drawingml/2006/main">
            <a:off x="3600450" y="2667000"/>
            <a:ext cx="2190750" cy="55092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00" b="1">
                <a:solidFill>
                  <a:srgbClr val="111316"/>
                </a:solidFill>
                <a:latin typeface="Arial"/>
                <a:ea typeface="Arial"/>
                <a:cs typeface="Arial"/>
              </a:defRPr>
            </a:pPr>
            <a:r>
              <a:rPr sz="1800" b="1">
                <a:solidFill>
                  <a:srgbClr val="111316"/>
                </a:solidFill>
                <a:latin typeface="Arial"/>
                <a:ea typeface="Arial"/>
                <a:cs typeface="Arial"/>
              </a:rPr>
              <a:t>Translate to arrays</a:t>
            </a:r>
          </a:p>
        </p:txBody>
      </p:sp>
      <p:sp>
        <p:nvSpPr>
          <p:cNvPr id="20" name="step-body-1">
            <a:extLst xmlns:a="http://schemas.openxmlformats.org/drawingml/2006/main">
              <a:ext uri="{FF2B5EF4-FFF2-40B4-BE49-F238E27FC236}">
                <a16:creationId xmlns:a16="http://schemas.microsoft.com/office/drawing/2014/main" id="{D52565D8-2901-4246-911E-6AE771E79DD6}"/>
              </a:ext>
            </a:extLst>
          </p:cNvPr>
          <p:cNvSpPr>
            <a:spLocks xmlns:a="http://schemas.openxmlformats.org/drawingml/2006/main" noGrp="1"/>
          </p:cNvSpPr>
          <p:nvPr/>
        </p:nvSpPr>
        <p:spPr>
          <a:xfrm xmlns:a="http://schemas.openxmlformats.org/drawingml/2006/main">
            <a:off x="3600450" y="3370326"/>
            <a:ext cx="2190750" cy="247802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500" b="0">
                <a:solidFill>
                  <a:srgbClr val="5A5F66"/>
                </a:solidFill>
                <a:latin typeface="Arial"/>
                <a:ea typeface="Arial"/>
                <a:cs typeface="Arial"/>
              </a:defRPr>
            </a:pPr>
            <a:r>
              <a:rPr sz="1500" b="0">
                <a:solidFill>
                  <a:srgbClr val="5A5F66"/>
                </a:solidFill>
                <a:latin typeface="Arial"/>
                <a:ea typeface="Arial"/>
                <a:cs typeface="Arial"/>
              </a:rPr>
              <a:t>c, A_ub, b_ub, bounds — the exact shape linprog expects.</a:t>
            </a:r>
          </a:p>
        </p:txBody>
      </p:sp>
      <p:sp>
        <p:nvSpPr>
          <p:cNvPr id="21" name="step-node-2">
            <a:extLst xmlns:a="http://schemas.openxmlformats.org/drawingml/2006/main">
              <a:ext uri="{FF2B5EF4-FFF2-40B4-BE49-F238E27FC236}">
                <a16:creationId xmlns:a16="http://schemas.microsoft.com/office/drawing/2014/main" id="{C3EAB27F-2FB6-4841-AEA3-91AEF536BA59}"/>
              </a:ext>
            </a:extLst>
          </p:cNvPr>
          <p:cNvSpPr>
            <a:spLocks xmlns:a="http://schemas.openxmlformats.org/drawingml/2006/main" noGrp="1"/>
          </p:cNvSpPr>
          <p:nvPr/>
        </p:nvSpPr>
        <p:spPr>
          <a:xfrm xmlns:a="http://schemas.openxmlformats.org/drawingml/2006/main">
            <a:off x="6210300" y="1847850"/>
            <a:ext cx="2571750" cy="4171950"/>
          </a:xfrm>
          <a:prstGeom xmlns:a="http://schemas.openxmlformats.org/drawingml/2006/main" prst="roundRect">
            <a:avLst>
              <a:gd name="adj" fmla="val 3704"/>
            </a:avLst>
          </a:prstGeom>
          <a:solidFill xmlns:a="http://schemas.openxmlformats.org/drawingml/2006/main">
            <a:srgbClr val="F6F7F9"/>
          </a:solidFill>
          <a:ln xmlns:a="http://schemas.openxmlformats.org/drawingml/2006/main" w="9525">
            <a:solidFill>
              <a:srgbClr val="DDE0E5"/>
            </a:solidFill>
            <a:prstDash val="solid"/>
          </a:ln>
        </p:spPr>
      </p:sp>
      <p:sp>
        <p:nvSpPr>
          <p:cNvPr id="22" name="step-number-2">
            <a:extLst xmlns:a="http://schemas.openxmlformats.org/drawingml/2006/main">
              <a:ext uri="{FF2B5EF4-FFF2-40B4-BE49-F238E27FC236}">
                <a16:creationId xmlns:a16="http://schemas.microsoft.com/office/drawing/2014/main" id="{C5781676-25DB-474F-9C84-73EACC3DA9EF}"/>
              </a:ext>
            </a:extLst>
          </p:cNvPr>
          <p:cNvSpPr>
            <a:spLocks xmlns:a="http://schemas.openxmlformats.org/drawingml/2006/main" noGrp="1"/>
          </p:cNvSpPr>
          <p:nvPr/>
        </p:nvSpPr>
        <p:spPr>
          <a:xfrm xmlns:a="http://schemas.openxmlformats.org/drawingml/2006/main">
            <a:off x="6400800" y="2038350"/>
            <a:ext cx="4381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1200" b="1">
                <a:solidFill>
                  <a:srgbClr val="2E74B5"/>
                </a:solidFill>
                <a:latin typeface="Arial"/>
                <a:ea typeface="Arial"/>
                <a:cs typeface="Arial"/>
              </a:defRPr>
            </a:pPr>
            <a:r>
              <a:rPr sz="1200" b="1">
                <a:solidFill>
                  <a:srgbClr val="2E74B5"/>
                </a:solidFill>
                <a:latin typeface="Arial"/>
                <a:ea typeface="Arial"/>
                <a:cs typeface="Arial"/>
              </a:rPr>
              <a:t>03</a:t>
            </a:r>
          </a:p>
        </p:txBody>
      </p:sp>
      <p:sp>
        <p:nvSpPr>
          <p:cNvPr id="23" name="step-label-2">
            <a:extLst xmlns:a="http://schemas.openxmlformats.org/drawingml/2006/main">
              <a:ext uri="{FF2B5EF4-FFF2-40B4-BE49-F238E27FC236}">
                <a16:creationId xmlns:a16="http://schemas.microsoft.com/office/drawing/2014/main" id="{28DA0240-0824-42F6-AFDF-DCC81FA48D9D}"/>
              </a:ext>
            </a:extLst>
          </p:cNvPr>
          <p:cNvSpPr>
            <a:spLocks xmlns:a="http://schemas.openxmlformats.org/drawingml/2006/main" noGrp="1"/>
          </p:cNvSpPr>
          <p:nvPr/>
        </p:nvSpPr>
        <p:spPr>
          <a:xfrm xmlns:a="http://schemas.openxmlformats.org/drawingml/2006/main">
            <a:off x="6896100" y="2057400"/>
            <a:ext cx="16954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2E74B5"/>
                </a:solidFill>
                <a:latin typeface="Arial"/>
                <a:ea typeface="Arial"/>
                <a:cs typeface="Arial"/>
              </a:defRPr>
            </a:pPr>
            <a:r>
              <a:rPr sz="900" b="1">
                <a:solidFill>
                  <a:srgbClr val="2E74B5"/>
                </a:solidFill>
                <a:latin typeface="Arial"/>
                <a:ea typeface="Arial"/>
                <a:cs typeface="Arial"/>
              </a:rPr>
              <a:t>SOLVE + VERIFY</a:t>
            </a:r>
          </a:p>
        </p:txBody>
      </p:sp>
      <p:sp>
        <p:nvSpPr>
          <p:cNvPr id="24" name="">
            <a:extLst xmlns:a="http://schemas.openxmlformats.org/drawingml/2006/main">
              <a:ext uri="{FF2B5EF4-FFF2-40B4-BE49-F238E27FC236}">
                <a16:creationId xmlns:a16="http://schemas.microsoft.com/office/drawing/2014/main" id="{73968373-B49C-4D5C-8462-5F82C81C7CAA}"/>
              </a:ext>
            </a:extLst>
          </p:cNvPr>
          <p:cNvSpPr>
            <a:spLocks xmlns:a="http://schemas.openxmlformats.org/drawingml/2006/main" noGrp="1"/>
          </p:cNvSpPr>
          <p:nvPr/>
        </p:nvSpPr>
        <p:spPr>
          <a:xfrm xmlns:a="http://schemas.openxmlformats.org/drawingml/2006/main">
            <a:off x="6400800" y="2476500"/>
            <a:ext cx="2190750" cy="0"/>
          </a:xfrm>
          <a:prstGeom xmlns:a="http://schemas.openxmlformats.org/drawingml/2006/main" prst="line">
            <a:avLst/>
          </a:prstGeom>
          <a:noFill xmlns:a="http://schemas.openxmlformats.org/drawingml/2006/main"/>
          <a:ln xmlns:a="http://schemas.openxmlformats.org/drawingml/2006/main" w="19050">
            <a:solidFill>
              <a:srgbClr val="111316"/>
            </a:solidFill>
            <a:prstDash val="solid"/>
          </a:ln>
        </p:spPr>
      </p:sp>
      <p:sp>
        <p:nvSpPr>
          <p:cNvPr id="25" name="step-head-2">
            <a:extLst xmlns:a="http://schemas.openxmlformats.org/drawingml/2006/main">
              <a:ext uri="{FF2B5EF4-FFF2-40B4-BE49-F238E27FC236}">
                <a16:creationId xmlns:a16="http://schemas.microsoft.com/office/drawing/2014/main" id="{DF3E9F71-A786-4D4F-AE6B-B52D76CCFD01}"/>
              </a:ext>
            </a:extLst>
          </p:cNvPr>
          <p:cNvSpPr>
            <a:spLocks xmlns:a="http://schemas.openxmlformats.org/drawingml/2006/main" noGrp="1"/>
          </p:cNvSpPr>
          <p:nvPr/>
        </p:nvSpPr>
        <p:spPr>
          <a:xfrm xmlns:a="http://schemas.openxmlformats.org/drawingml/2006/main">
            <a:off x="6400800" y="2667000"/>
            <a:ext cx="2190750" cy="55092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00" b="1">
                <a:solidFill>
                  <a:srgbClr val="111316"/>
                </a:solidFill>
                <a:latin typeface="Arial"/>
                <a:ea typeface="Arial"/>
                <a:cs typeface="Arial"/>
              </a:defRPr>
            </a:pPr>
            <a:r>
              <a:rPr sz="1800" b="1">
                <a:solidFill>
                  <a:srgbClr val="111316"/>
                </a:solidFill>
                <a:latin typeface="Arial"/>
                <a:ea typeface="Arial"/>
                <a:cs typeface="Arial"/>
              </a:rPr>
              <a:t>Run, then hand-check</a:t>
            </a:r>
          </a:p>
        </p:txBody>
      </p:sp>
      <p:sp>
        <p:nvSpPr>
          <p:cNvPr id="26" name="step-body-2">
            <a:extLst xmlns:a="http://schemas.openxmlformats.org/drawingml/2006/main">
              <a:ext uri="{FF2B5EF4-FFF2-40B4-BE49-F238E27FC236}">
                <a16:creationId xmlns:a16="http://schemas.microsoft.com/office/drawing/2014/main" id="{4156BB59-DEE9-41BE-8B63-53351747CC0A}"/>
              </a:ext>
            </a:extLst>
          </p:cNvPr>
          <p:cNvSpPr>
            <a:spLocks xmlns:a="http://schemas.openxmlformats.org/drawingml/2006/main" noGrp="1"/>
          </p:cNvSpPr>
          <p:nvPr/>
        </p:nvSpPr>
        <p:spPr>
          <a:xfrm xmlns:a="http://schemas.openxmlformats.org/drawingml/2006/main">
            <a:off x="6400800" y="3370326"/>
            <a:ext cx="2190750" cy="247802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500" b="0">
                <a:solidFill>
                  <a:srgbClr val="5A5F66"/>
                </a:solidFill>
                <a:latin typeface="Arial"/>
                <a:ea typeface="Arial"/>
                <a:cs typeface="Arial"/>
              </a:defRPr>
            </a:pPr>
            <a:r>
              <a:rPr sz="1500" b="0">
                <a:solidFill>
                  <a:srgbClr val="5A5F66"/>
                </a:solidFill>
                <a:latin typeface="Arial"/>
                <a:ea typeface="Arial"/>
                <a:cs typeface="Arial"/>
              </a:rPr>
              <a:t>linprog returns res.x; you confirm every constraint by hand before trusting it.</a:t>
            </a:r>
          </a:p>
        </p:txBody>
      </p:sp>
      <p:sp>
        <p:nvSpPr>
          <p:cNvPr id="27" name="step-node-3">
            <a:extLst xmlns:a="http://schemas.openxmlformats.org/drawingml/2006/main">
              <a:ext uri="{FF2B5EF4-FFF2-40B4-BE49-F238E27FC236}">
                <a16:creationId xmlns:a16="http://schemas.microsoft.com/office/drawing/2014/main" id="{C6C42C93-B00B-4EFB-B9E8-CEE8AA40A62B}"/>
              </a:ext>
            </a:extLst>
          </p:cNvPr>
          <p:cNvSpPr>
            <a:spLocks xmlns:a="http://schemas.openxmlformats.org/drawingml/2006/main" noGrp="1"/>
          </p:cNvSpPr>
          <p:nvPr/>
        </p:nvSpPr>
        <p:spPr>
          <a:xfrm xmlns:a="http://schemas.openxmlformats.org/drawingml/2006/main">
            <a:off x="9010650" y="1847850"/>
            <a:ext cx="2571750" cy="4171950"/>
          </a:xfrm>
          <a:prstGeom xmlns:a="http://schemas.openxmlformats.org/drawingml/2006/main" prst="roundRect">
            <a:avLst>
              <a:gd name="adj" fmla="val 3704"/>
            </a:avLst>
          </a:prstGeom>
          <a:solidFill xmlns:a="http://schemas.openxmlformats.org/drawingml/2006/main">
            <a:srgbClr val="F6F7F9"/>
          </a:solidFill>
          <a:ln xmlns:a="http://schemas.openxmlformats.org/drawingml/2006/main" w="9525">
            <a:solidFill>
              <a:srgbClr val="DDE0E5"/>
            </a:solidFill>
            <a:prstDash val="solid"/>
          </a:ln>
        </p:spPr>
      </p:sp>
      <p:sp>
        <p:nvSpPr>
          <p:cNvPr id="28" name="step-number-3">
            <a:extLst xmlns:a="http://schemas.openxmlformats.org/drawingml/2006/main">
              <a:ext uri="{FF2B5EF4-FFF2-40B4-BE49-F238E27FC236}">
                <a16:creationId xmlns:a16="http://schemas.microsoft.com/office/drawing/2014/main" id="{15E9DBA3-E2A0-406B-85A0-8567F8D9B2CC}"/>
              </a:ext>
            </a:extLst>
          </p:cNvPr>
          <p:cNvSpPr>
            <a:spLocks xmlns:a="http://schemas.openxmlformats.org/drawingml/2006/main" noGrp="1"/>
          </p:cNvSpPr>
          <p:nvPr/>
        </p:nvSpPr>
        <p:spPr>
          <a:xfrm xmlns:a="http://schemas.openxmlformats.org/drawingml/2006/main">
            <a:off x="9201150" y="2038350"/>
            <a:ext cx="4381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1200" b="1">
                <a:solidFill>
                  <a:srgbClr val="2E74B5"/>
                </a:solidFill>
                <a:latin typeface="Arial"/>
                <a:ea typeface="Arial"/>
                <a:cs typeface="Arial"/>
              </a:defRPr>
            </a:pPr>
            <a:r>
              <a:rPr sz="1200" b="1">
                <a:solidFill>
                  <a:srgbClr val="2E74B5"/>
                </a:solidFill>
                <a:latin typeface="Arial"/>
                <a:ea typeface="Arial"/>
                <a:cs typeface="Arial"/>
              </a:rPr>
              <a:t>04</a:t>
            </a:r>
          </a:p>
        </p:txBody>
      </p:sp>
      <p:sp>
        <p:nvSpPr>
          <p:cNvPr id="29" name="step-label-3">
            <a:extLst xmlns:a="http://schemas.openxmlformats.org/drawingml/2006/main">
              <a:ext uri="{FF2B5EF4-FFF2-40B4-BE49-F238E27FC236}">
                <a16:creationId xmlns:a16="http://schemas.microsoft.com/office/drawing/2014/main" id="{D7F77769-2831-42B5-9F14-E35E90392F66}"/>
              </a:ext>
            </a:extLst>
          </p:cNvPr>
          <p:cNvSpPr>
            <a:spLocks xmlns:a="http://schemas.openxmlformats.org/drawingml/2006/main" noGrp="1"/>
          </p:cNvSpPr>
          <p:nvPr/>
        </p:nvSpPr>
        <p:spPr>
          <a:xfrm xmlns:a="http://schemas.openxmlformats.org/drawingml/2006/main">
            <a:off x="9696450" y="2057400"/>
            <a:ext cx="16954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2E74B5"/>
                </a:solidFill>
                <a:latin typeface="Arial"/>
                <a:ea typeface="Arial"/>
                <a:cs typeface="Arial"/>
              </a:defRPr>
            </a:pPr>
            <a:r>
              <a:rPr sz="900" b="1">
                <a:solidFill>
                  <a:srgbClr val="2E74B5"/>
                </a:solidFill>
                <a:latin typeface="Arial"/>
                <a:ea typeface="Arial"/>
                <a:cs typeface="Arial"/>
              </a:rPr>
              <a:t>TRANSFER</a:t>
            </a:r>
          </a:p>
        </p:txBody>
      </p:sp>
      <p:sp>
        <p:nvSpPr>
          <p:cNvPr id="30" name="">
            <a:extLst xmlns:a="http://schemas.openxmlformats.org/drawingml/2006/main">
              <a:ext uri="{FF2B5EF4-FFF2-40B4-BE49-F238E27FC236}">
                <a16:creationId xmlns:a16="http://schemas.microsoft.com/office/drawing/2014/main" id="{EA306B1D-2D19-4ACE-AC74-E6288A3A6F43}"/>
              </a:ext>
            </a:extLst>
          </p:cNvPr>
          <p:cNvSpPr>
            <a:spLocks xmlns:a="http://schemas.openxmlformats.org/drawingml/2006/main" noGrp="1"/>
          </p:cNvSpPr>
          <p:nvPr/>
        </p:nvSpPr>
        <p:spPr>
          <a:xfrm xmlns:a="http://schemas.openxmlformats.org/drawingml/2006/main">
            <a:off x="9201150" y="2476500"/>
            <a:ext cx="2190750" cy="0"/>
          </a:xfrm>
          <a:prstGeom xmlns:a="http://schemas.openxmlformats.org/drawingml/2006/main" prst="line">
            <a:avLst/>
          </a:prstGeom>
          <a:noFill xmlns:a="http://schemas.openxmlformats.org/drawingml/2006/main"/>
          <a:ln xmlns:a="http://schemas.openxmlformats.org/drawingml/2006/main" w="19050">
            <a:solidFill>
              <a:srgbClr val="111316"/>
            </a:solidFill>
            <a:prstDash val="solid"/>
          </a:ln>
        </p:spPr>
      </p:sp>
      <p:sp>
        <p:nvSpPr>
          <p:cNvPr id="31" name="step-head-3">
            <a:extLst xmlns:a="http://schemas.openxmlformats.org/drawingml/2006/main">
              <a:ext uri="{FF2B5EF4-FFF2-40B4-BE49-F238E27FC236}">
                <a16:creationId xmlns:a16="http://schemas.microsoft.com/office/drawing/2014/main" id="{58814ABF-A87D-46CC-8CCD-4F60E8D5DA9C}"/>
              </a:ext>
            </a:extLst>
          </p:cNvPr>
          <p:cNvSpPr>
            <a:spLocks xmlns:a="http://schemas.openxmlformats.org/drawingml/2006/main" noGrp="1"/>
          </p:cNvSpPr>
          <p:nvPr/>
        </p:nvSpPr>
        <p:spPr>
          <a:xfrm xmlns:a="http://schemas.openxmlformats.org/drawingml/2006/main">
            <a:off x="9201150" y="2667000"/>
            <a:ext cx="21907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00" b="1">
                <a:solidFill>
                  <a:srgbClr val="111316"/>
                </a:solidFill>
                <a:latin typeface="Arial"/>
                <a:ea typeface="Arial"/>
                <a:cs typeface="Arial"/>
              </a:defRPr>
            </a:pPr>
            <a:r>
              <a:rPr sz="1800" b="1">
                <a:solidFill>
                  <a:srgbClr val="111316"/>
                </a:solidFill>
                <a:latin typeface="Arial"/>
                <a:ea typeface="Arial"/>
                <a:cs typeface="Arial"/>
              </a:rPr>
              <a:t>Your own problem</a:t>
            </a:r>
          </a:p>
        </p:txBody>
      </p:sp>
      <p:sp>
        <p:nvSpPr>
          <p:cNvPr id="32" name="step-body-3">
            <a:extLst xmlns:a="http://schemas.openxmlformats.org/drawingml/2006/main">
              <a:ext uri="{FF2B5EF4-FFF2-40B4-BE49-F238E27FC236}">
                <a16:creationId xmlns:a16="http://schemas.microsoft.com/office/drawing/2014/main" id="{00181F95-A1BE-4037-A02E-6C1BFDBD2DBD}"/>
              </a:ext>
            </a:extLst>
          </p:cNvPr>
          <p:cNvSpPr>
            <a:spLocks xmlns:a="http://schemas.openxmlformats.org/drawingml/2006/main" noGrp="1"/>
          </p:cNvSpPr>
          <p:nvPr/>
        </p:nvSpPr>
        <p:spPr>
          <a:xfrm xmlns:a="http://schemas.openxmlformats.org/drawingml/2006/main">
            <a:off x="9201150" y="3352800"/>
            <a:ext cx="2190750" cy="2495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500" b="0">
                <a:solidFill>
                  <a:srgbClr val="5A5F66"/>
                </a:solidFill>
                <a:latin typeface="Arial"/>
                <a:ea typeface="Arial"/>
                <a:cs typeface="Arial"/>
              </a:defRPr>
            </a:pPr>
            <a:r>
              <a:rPr sz="1500" b="0">
                <a:solidFill>
                  <a:srgbClr val="5A5F66"/>
                </a:solidFill>
                <a:latin typeface="Arial"/>
                <a:ea typeface="Arial"/>
                <a:cs typeface="Arial"/>
              </a:rPr>
              <a:t>Repeat the same four steps on your own Project 2 linear sub-problem.</a:t>
            </a:r>
          </a:p>
        </p:txBody>
      </p:sp>
    </p:spTree>
    <p:extLst>
      <p:ext uri="{BB962C8B-B14F-4D97-AF65-F5344CB8AC3E}">
        <p14:creationId xmlns:p14="http://schemas.microsoft.com/office/powerpoint/2010/main" val="1434360119"/>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4" name="kicker">
            <a:extLst xmlns:a="http://schemas.openxmlformats.org/drawingml/2006/main">
              <a:ext uri="{FF2B5EF4-FFF2-40B4-BE49-F238E27FC236}">
                <a16:creationId xmlns:a16="http://schemas.microsoft.com/office/drawing/2014/main" id="{6962DF3A-61F6-4776-BB69-169EE28EA6E7}"/>
              </a:ext>
            </a:extLst>
          </p:cNvPr>
          <p:cNvSpPr>
            <a:spLocks xmlns:a="http://schemas.openxmlformats.org/drawingml/2006/main" noGrp="1"/>
          </p:cNvSpPr>
          <p:nvPr/>
        </p:nvSpPr>
        <p:spPr>
          <a:xfrm xmlns:a="http://schemas.openxmlformats.org/drawingml/2006/main">
            <a:off x="609600" y="342900"/>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2E74B5"/>
                </a:solidFill>
                <a:latin typeface="Arial"/>
                <a:ea typeface="Arial"/>
                <a:cs typeface="Arial"/>
              </a:defRPr>
            </a:pPr>
            <a:r>
              <a:rPr sz="900" b="1">
                <a:solidFill>
                  <a:srgbClr val="2E74B5"/>
                </a:solidFill>
                <a:latin typeface="Arial"/>
                <a:ea typeface="Arial"/>
                <a:cs typeface="Arial"/>
              </a:rPr>
              <a:t>PREDICT BEFORE YOU RUN</a:t>
            </a:r>
          </a:p>
        </p:txBody>
      </p:sp>
      <p:sp>
        <p:nvSpPr>
          <p:cNvPr id="2" name="title">
            <a:extLst xmlns:a="http://schemas.openxmlformats.org/drawingml/2006/main">
              <a:ext uri="{FF2B5EF4-FFF2-40B4-BE49-F238E27FC236}">
                <a16:creationId xmlns:a16="http://schemas.microsoft.com/office/drawing/2014/main" id="{E75C7658-3C49-4572-9F17-DA38F4559C68}"/>
              </a:ext>
            </a:extLst>
          </p:cNvPr>
          <p:cNvSpPr>
            <a:spLocks xmlns:a="http://schemas.openxmlformats.org/drawingml/2006/main" noGrp="1"/>
          </p:cNvSpPr>
          <p:nvPr/>
        </p:nvSpPr>
        <p:spPr>
          <a:xfrm xmlns:a="http://schemas.openxmlformats.org/drawingml/2006/main">
            <a:off x="609600" y="60960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3000" b="0">
                <a:solidFill>
                  <a:srgbClr val="111316"/>
                </a:solidFill>
                <a:latin typeface="Arial"/>
                <a:ea typeface="Arial"/>
                <a:cs typeface="Arial"/>
              </a:defRPr>
            </a:pPr>
            <a:r>
              <a:rPr sz="3000" b="0">
                <a:solidFill>
                  <a:srgbClr val="111316"/>
                </a:solidFill>
                <a:latin typeface="Arial"/>
                <a:ea typeface="Arial"/>
                <a:cs typeface="Arial"/>
              </a:rPr>
              <a:t>Predict before cell [1] runs</a:t>
            </a:r>
          </a:p>
        </p:txBody>
      </p:sp>
      <p:sp>
        <p:nvSpPr>
          <p:cNvPr id="3" name="">
            <a:extLst xmlns:a="http://schemas.openxmlformats.org/drawingml/2006/main">
              <a:ext uri="{FF2B5EF4-FFF2-40B4-BE49-F238E27FC236}">
                <a16:creationId xmlns:a16="http://schemas.microsoft.com/office/drawing/2014/main" id="{38EABFF3-65EE-4BBE-BC54-583A1A8646CB}"/>
              </a:ext>
            </a:extLst>
          </p:cNvPr>
          <p:cNvSpPr>
            <a:spLocks xmlns:a="http://schemas.openxmlformats.org/drawingml/2006/main" noGrp="1"/>
          </p:cNvSpPr>
          <p:nvPr/>
        </p:nvSpPr>
        <p:spPr>
          <a:xfrm xmlns:a="http://schemas.openxmlformats.org/drawingml/2006/main">
            <a:off x="609600" y="6343650"/>
            <a:ext cx="10972800" cy="0"/>
          </a:xfrm>
          <a:prstGeom xmlns:a="http://schemas.openxmlformats.org/drawingml/2006/main" prst="line">
            <a:avLst/>
          </a:prstGeom>
          <a:noFill xmlns:a="http://schemas.openxmlformats.org/drawingml/2006/main"/>
          <a:ln xmlns:a="http://schemas.openxmlformats.org/drawingml/2006/main" w="9525">
            <a:solidFill>
              <a:srgbClr val="DDE0E5"/>
            </a:solidFill>
            <a:prstDash val="solid"/>
          </a:ln>
        </p:spPr>
      </p:sp>
      <p:sp>
        <p:nvSpPr>
          <p:cNvPr id="4" name="footer">
            <a:extLst xmlns:a="http://schemas.openxmlformats.org/drawingml/2006/main">
              <a:ext uri="{FF2B5EF4-FFF2-40B4-BE49-F238E27FC236}">
                <a16:creationId xmlns:a16="http://schemas.microsoft.com/office/drawing/2014/main" id="{6E36E1E5-4E6E-4BC5-AED8-903E23BD74FD}"/>
              </a:ext>
            </a:extLst>
          </p:cNvPr>
          <p:cNvSpPr>
            <a:spLocks xmlns:a="http://schemas.openxmlformats.org/drawingml/2006/main" noGrp="1"/>
          </p:cNvSpPr>
          <p:nvPr/>
        </p:nvSpPr>
        <p:spPr>
          <a:xfrm xmlns:a="http://schemas.openxmlformats.org/drawingml/2006/main">
            <a:off x="609600" y="6429375"/>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ARC 500  ·  Week 10 · Meeting B · Linear Programming Studio</a:t>
            </a:r>
          </a:p>
        </p:txBody>
      </p:sp>
      <p:sp>
        <p:nvSpPr>
          <p:cNvPr id="5" name="page">
            <a:extLst xmlns:a="http://schemas.openxmlformats.org/drawingml/2006/main">
              <a:ext uri="{FF2B5EF4-FFF2-40B4-BE49-F238E27FC236}">
                <a16:creationId xmlns:a16="http://schemas.microsoft.com/office/drawing/2014/main" id="{5B4F64C6-FE8C-4183-AA19-69B97527E6A4}"/>
              </a:ext>
            </a:extLst>
          </p:cNvPr>
          <p:cNvSpPr>
            <a:spLocks xmlns:a="http://schemas.openxmlformats.org/drawingml/2006/main" noGrp="1"/>
          </p:cNvSpPr>
          <p:nvPr/>
        </p:nvSpPr>
        <p:spPr>
          <a:xfrm xmlns:a="http://schemas.openxmlformats.org/drawingml/2006/main">
            <a:off x="10896600" y="6429375"/>
            <a:ext cx="685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08</a:t>
            </a:r>
          </a:p>
        </p:txBody>
      </p:sp>
      <p:sp>
        <p:nvSpPr>
          <p:cNvPr id="6" name="code-panel">
            <a:extLst xmlns:a="http://schemas.openxmlformats.org/drawingml/2006/main">
              <a:ext uri="{FF2B5EF4-FFF2-40B4-BE49-F238E27FC236}">
                <a16:creationId xmlns:a16="http://schemas.microsoft.com/office/drawing/2014/main" id="{6E115B00-7D4A-4E1C-975F-DE43A647E7BB}"/>
              </a:ext>
            </a:extLst>
          </p:cNvPr>
          <p:cNvSpPr>
            <a:spLocks xmlns:a="http://schemas.openxmlformats.org/drawingml/2006/main" noGrp="1"/>
          </p:cNvSpPr>
          <p:nvPr/>
        </p:nvSpPr>
        <p:spPr>
          <a:xfrm xmlns:a="http://schemas.openxmlformats.org/drawingml/2006/main">
            <a:off x="609600" y="1809750"/>
            <a:ext cx="6324600" cy="3238500"/>
          </a:xfrm>
          <a:prstGeom xmlns:a="http://schemas.openxmlformats.org/drawingml/2006/main" prst="roundRect">
            <a:avLst>
              <a:gd name="adj" fmla="val 2353"/>
            </a:avLst>
          </a:prstGeom>
          <a:solidFill xmlns:a="http://schemas.openxmlformats.org/drawingml/2006/main">
            <a:srgbClr val="17191C"/>
          </a:solidFill>
          <a:ln xmlns:a="http://schemas.openxmlformats.org/drawingml/2006/main" w="9525">
            <a:solidFill>
              <a:srgbClr val="17191C"/>
            </a:solidFill>
            <a:prstDash val="solid"/>
          </a:ln>
        </p:spPr>
      </p:sp>
      <p:sp>
        <p:nvSpPr>
          <p:cNvPr id="7" name="code">
            <a:extLst xmlns:a="http://schemas.openxmlformats.org/drawingml/2006/main">
              <a:ext uri="{FF2B5EF4-FFF2-40B4-BE49-F238E27FC236}">
                <a16:creationId xmlns:a16="http://schemas.microsoft.com/office/drawing/2014/main" id="{E6C1BF30-21D1-4635-9928-492E14757246}"/>
              </a:ext>
            </a:extLst>
          </p:cNvPr>
          <p:cNvSpPr>
            <a:spLocks xmlns:a="http://schemas.openxmlformats.org/drawingml/2006/main" noGrp="1"/>
          </p:cNvSpPr>
          <p:nvPr/>
        </p:nvSpPr>
        <p:spPr>
          <a:xfrm xmlns:a="http://schemas.openxmlformats.org/drawingml/2006/main">
            <a:off x="857250" y="2038350"/>
            <a:ext cx="5829300" cy="2781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4000"/>
              </a:lnSpc>
              <a:buNone/>
              <a:defRPr sz="1800" b="0">
                <a:solidFill>
                  <a:srgbClr val="FFFFFF"/>
                </a:solidFill>
                <a:latin typeface="Consolas"/>
                <a:ea typeface="Consolas"/>
                <a:cs typeface="Consolas"/>
              </a:defRPr>
            </a:pPr>
            <a:r>
              <a:rPr sz="1800" b="0">
                <a:solidFill>
                  <a:srgbClr val="FFFFFF"/>
                </a:solidFill>
                <a:latin typeface="Consolas"/>
                <a:ea typeface="Consolas"/>
                <a:cs typeface="Consolas"/>
              </a:rPr>
              <a:t>c = [-60, -25]</a:t>
            </a:r>
          </a:p>
          <a:p xmlns:a="http://schemas.openxmlformats.org/drawingml/2006/main">
            <a:pPr algn="l">
              <a:lnSpc>
                <a:spcPct val="114000"/>
              </a:lnSpc>
              <a:buNone/>
              <a:defRPr sz="1800" b="0">
                <a:solidFill>
                  <a:srgbClr val="FFFFFF"/>
                </a:solidFill>
                <a:latin typeface="Consolas"/>
                <a:ea typeface="Consolas"/>
                <a:cs typeface="Consolas"/>
              </a:defRPr>
            </a:pPr>
            <a:r>
              <a:rPr sz="1800" b="0">
                <a:solidFill>
                  <a:srgbClr val="FFFFFF"/>
                </a:solidFill>
                <a:latin typeface="Consolas"/>
                <a:ea typeface="Consolas"/>
                <a:cs typeface="Consolas"/>
              </a:rPr>
              <a:t>A_ub = [[1, 1], [400, 150]]</a:t>
            </a:r>
          </a:p>
          <a:p xmlns:a="http://schemas.openxmlformats.org/drawingml/2006/main">
            <a:pPr algn="l">
              <a:lnSpc>
                <a:spcPct val="114000"/>
              </a:lnSpc>
              <a:buNone/>
              <a:defRPr sz="1800" b="0">
                <a:solidFill>
                  <a:srgbClr val="FFFFFF"/>
                </a:solidFill>
                <a:latin typeface="Consolas"/>
                <a:ea typeface="Consolas"/>
                <a:cs typeface="Consolas"/>
              </a:defRPr>
            </a:pPr>
            <a:r>
              <a:rPr sz="1800" b="0">
                <a:solidFill>
                  <a:srgbClr val="FFFFFF"/>
                </a:solidFill>
                <a:latin typeface="Consolas"/>
                <a:ea typeface="Consolas"/>
                <a:cs typeface="Consolas"/>
              </a:rPr>
              <a:t>b_ub = [200, 50000]</a:t>
            </a:r>
          </a:p>
          <a:p xmlns:a="http://schemas.openxmlformats.org/drawingml/2006/main">
            <a:pPr algn="l">
              <a:lnSpc>
                <a:spcPct val="114000"/>
              </a:lnSpc>
              <a:buNone/>
              <a:defRPr sz="1800" b="0">
                <a:solidFill>
                  <a:srgbClr val="FFFFFF"/>
                </a:solidFill>
                <a:latin typeface="Consolas"/>
                <a:ea typeface="Consolas"/>
                <a:cs typeface="Consolas"/>
              </a:defRPr>
            </a:pPr>
            <a:r>
              <a:rPr sz="1800" b="0">
                <a:solidFill>
                  <a:srgbClr val="FFFFFF"/>
                </a:solidFill>
                <a:latin typeface="Consolas"/>
                <a:ea typeface="Consolas"/>
                <a:cs typeface="Consolas"/>
              </a:rPr>
              <a:t>bounds = [(0, 120), (0, None)]</a:t>
            </a:r>
          </a:p>
          <a:p xmlns:a="http://schemas.openxmlformats.org/drawingml/2006/main">
            <a:r>
              <a:t/>
            </a:r>
          </a:p>
          <a:p xmlns:a="http://schemas.openxmlformats.org/drawingml/2006/main">
            <a:pPr algn="l">
              <a:lnSpc>
                <a:spcPct val="114000"/>
              </a:lnSpc>
              <a:buNone/>
              <a:defRPr sz="1800" b="0">
                <a:solidFill>
                  <a:srgbClr val="FFFFFF"/>
                </a:solidFill>
                <a:latin typeface="Consolas"/>
                <a:ea typeface="Consolas"/>
                <a:cs typeface="Consolas"/>
              </a:defRPr>
            </a:pPr>
            <a:r>
              <a:rPr sz="1800" b="0">
                <a:solidFill>
                  <a:srgbClr val="FFFFFF"/>
                </a:solidFill>
                <a:latin typeface="Consolas"/>
                <a:ea typeface="Consolas"/>
                <a:cs typeface="Consolas"/>
              </a:rPr>
              <a:t>res = linprog(c, A_ub=A_ub, b_ub=b_ub,</a:t>
            </a:r>
          </a:p>
          <a:p xmlns:a="http://schemas.openxmlformats.org/drawingml/2006/main">
            <a:pPr algn="l">
              <a:lnSpc>
                <a:spcPct val="114000"/>
              </a:lnSpc>
              <a:buNone/>
              <a:defRPr sz="1800" b="0">
                <a:solidFill>
                  <a:srgbClr val="FFFFFF"/>
                </a:solidFill>
                <a:latin typeface="Consolas"/>
                <a:ea typeface="Consolas"/>
                <a:cs typeface="Consolas"/>
              </a:defRPr>
            </a:pPr>
            <a:r>
              <a:rPr sz="1800" b="0">
                <a:solidFill>
                  <a:srgbClr val="FFFFFF"/>
                </a:solidFill>
                <a:latin typeface="Consolas"/>
                <a:ea typeface="Consolas"/>
                <a:cs typeface="Consolas"/>
              </a:rPr>
              <a:t>              bounds=bounds)</a:t>
            </a:r>
          </a:p>
          <a:p xmlns:a="http://schemas.openxmlformats.org/drawingml/2006/main">
            <a:pPr algn="l">
              <a:lnSpc>
                <a:spcPct val="114000"/>
              </a:lnSpc>
              <a:buNone/>
              <a:defRPr sz="1800" b="0">
                <a:solidFill>
                  <a:srgbClr val="FFFFFF"/>
                </a:solidFill>
                <a:latin typeface="Consolas"/>
                <a:ea typeface="Consolas"/>
                <a:cs typeface="Consolas"/>
              </a:defRPr>
            </a:pPr>
            <a:r>
              <a:rPr sz="1800" b="0">
                <a:solidFill>
                  <a:srgbClr val="FFFFFF"/>
                </a:solidFill>
                <a:latin typeface="Consolas"/>
                <a:ea typeface="Consolas"/>
                <a:cs typeface="Consolas"/>
              </a:rPr>
              <a:t>print(res.x, -res.fun)</a:t>
            </a:r>
          </a:p>
        </p:txBody>
      </p:sp>
      <p:sp>
        <p:nvSpPr>
          <p:cNvPr id="8" name="question">
            <a:extLst xmlns:a="http://schemas.openxmlformats.org/drawingml/2006/main">
              <a:ext uri="{FF2B5EF4-FFF2-40B4-BE49-F238E27FC236}">
                <a16:creationId xmlns:a16="http://schemas.microsoft.com/office/drawing/2014/main" id="{A2BFA9E3-61C7-4E2B-B608-33C81009D2C9}"/>
              </a:ext>
            </a:extLst>
          </p:cNvPr>
          <p:cNvSpPr>
            <a:spLocks xmlns:a="http://schemas.openxmlformats.org/drawingml/2006/main" noGrp="1"/>
          </p:cNvSpPr>
          <p:nvPr/>
        </p:nvSpPr>
        <p:spPr>
          <a:xfrm xmlns:a="http://schemas.openxmlformats.org/drawingml/2006/main">
            <a:off x="7315200" y="1809750"/>
            <a:ext cx="4267200" cy="86410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100" b="1">
                <a:solidFill>
                  <a:srgbClr val="111316"/>
                </a:solidFill>
                <a:latin typeface="Arial"/>
                <a:ea typeface="Arial"/>
                <a:cs typeface="Arial"/>
              </a:defRPr>
            </a:pPr>
            <a:r>
              <a:rPr sz="2100" b="1">
                <a:solidFill>
                  <a:srgbClr val="111316"/>
                </a:solidFill>
                <a:latin typeface="Arial"/>
                <a:ea typeface="Arial"/>
                <a:cs typeface="Arial"/>
              </a:rPr>
              <a:t>Which (x1, x2) allocation maximizes annual benefit here?</a:t>
            </a:r>
          </a:p>
        </p:txBody>
      </p:sp>
      <p:sp>
        <p:nvSpPr>
          <p:cNvPr id="9" name="opt-0">
            <a:extLst xmlns:a="http://schemas.openxmlformats.org/drawingml/2006/main">
              <a:ext uri="{FF2B5EF4-FFF2-40B4-BE49-F238E27FC236}">
                <a16:creationId xmlns:a16="http://schemas.microsoft.com/office/drawing/2014/main" id="{6019BD80-74BE-4EBA-85C4-864DA012B24D}"/>
              </a:ext>
            </a:extLst>
          </p:cNvPr>
          <p:cNvSpPr>
            <a:spLocks xmlns:a="http://schemas.openxmlformats.org/drawingml/2006/main" noGrp="1"/>
          </p:cNvSpPr>
          <p:nvPr/>
        </p:nvSpPr>
        <p:spPr>
          <a:xfrm xmlns:a="http://schemas.openxmlformats.org/drawingml/2006/main">
            <a:off x="7315200" y="2788158"/>
            <a:ext cx="4267200" cy="514350"/>
          </a:xfrm>
          <a:prstGeom xmlns:a="http://schemas.openxmlformats.org/drawingml/2006/main" prst="roundRect">
            <a:avLst>
              <a:gd name="adj" fmla="val 11111"/>
            </a:avLst>
          </a:prstGeom>
          <a:solidFill xmlns:a="http://schemas.openxmlformats.org/drawingml/2006/main">
            <a:srgbClr val="F6F7F9"/>
          </a:solidFill>
          <a:ln xmlns:a="http://schemas.openxmlformats.org/drawingml/2006/main" w="9525">
            <a:solidFill>
              <a:srgbClr val="DDE0E5"/>
            </a:solidFill>
            <a:prstDash val="solid"/>
          </a:ln>
        </p:spPr>
      </p:sp>
      <p:sp>
        <p:nvSpPr>
          <p:cNvPr id="10" name="opt-letter-0">
            <a:extLst xmlns:a="http://schemas.openxmlformats.org/drawingml/2006/main">
              <a:ext uri="{FF2B5EF4-FFF2-40B4-BE49-F238E27FC236}">
                <a16:creationId xmlns:a16="http://schemas.microsoft.com/office/drawing/2014/main" id="{54226220-DD68-4749-A11B-119D0B51D172}"/>
              </a:ext>
            </a:extLst>
          </p:cNvPr>
          <p:cNvSpPr>
            <a:spLocks xmlns:a="http://schemas.openxmlformats.org/drawingml/2006/main" noGrp="1"/>
          </p:cNvSpPr>
          <p:nvPr/>
        </p:nvSpPr>
        <p:spPr>
          <a:xfrm xmlns:a="http://schemas.openxmlformats.org/drawingml/2006/main">
            <a:off x="7448550" y="2931033"/>
            <a:ext cx="2667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1800" b="1">
                <a:solidFill>
                  <a:srgbClr val="2E74B5"/>
                </a:solidFill>
                <a:latin typeface="Arial"/>
                <a:ea typeface="Arial"/>
                <a:cs typeface="Arial"/>
              </a:defRPr>
            </a:pPr>
            <a:r>
              <a:rPr sz="1800" b="1">
                <a:solidFill>
                  <a:srgbClr val="2E74B5"/>
                </a:solidFill>
                <a:latin typeface="Arial"/>
                <a:ea typeface="Arial"/>
                <a:cs typeface="Arial"/>
              </a:rPr>
              <a:t>A</a:t>
            </a:r>
          </a:p>
        </p:txBody>
      </p:sp>
      <p:sp>
        <p:nvSpPr>
          <p:cNvPr id="11" name="opt-text-0">
            <a:extLst xmlns:a="http://schemas.openxmlformats.org/drawingml/2006/main">
              <a:ext uri="{FF2B5EF4-FFF2-40B4-BE49-F238E27FC236}">
                <a16:creationId xmlns:a16="http://schemas.microsoft.com/office/drawing/2014/main" id="{5DF25B28-0986-46E2-949F-B88CD045ECE4}"/>
              </a:ext>
            </a:extLst>
          </p:cNvPr>
          <p:cNvSpPr>
            <a:spLocks xmlns:a="http://schemas.openxmlformats.org/drawingml/2006/main" noGrp="1"/>
          </p:cNvSpPr>
          <p:nvPr/>
        </p:nvSpPr>
        <p:spPr>
          <a:xfrm xmlns:a="http://schemas.openxmlformats.org/drawingml/2006/main">
            <a:off x="7772400" y="2826258"/>
            <a:ext cx="36766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2000"/>
              </a:lnSpc>
              <a:buNone/>
              <a:defRPr sz="1200" b="0">
                <a:solidFill>
                  <a:srgbClr val="111316"/>
                </a:solidFill>
                <a:latin typeface="Consolas"/>
                <a:ea typeface="Consolas"/>
                <a:cs typeface="Consolas"/>
              </a:defRPr>
            </a:pPr>
            <a:r>
              <a:rPr sz="1200" b="0">
                <a:solidFill>
                  <a:srgbClr val="111316"/>
                </a:solidFill>
                <a:latin typeface="Consolas"/>
                <a:ea typeface="Consolas"/>
                <a:cs typeface="Consolas"/>
              </a:rPr>
              <a:t>(0, 0)  -&gt;  $0</a:t>
            </a:r>
          </a:p>
        </p:txBody>
      </p:sp>
      <p:sp>
        <p:nvSpPr>
          <p:cNvPr id="12" name="opt-1">
            <a:extLst xmlns:a="http://schemas.openxmlformats.org/drawingml/2006/main">
              <a:ext uri="{FF2B5EF4-FFF2-40B4-BE49-F238E27FC236}">
                <a16:creationId xmlns:a16="http://schemas.microsoft.com/office/drawing/2014/main" id="{3702BB2E-C3EA-45FF-94A7-B1F67B4B7136}"/>
              </a:ext>
            </a:extLst>
          </p:cNvPr>
          <p:cNvSpPr>
            <a:spLocks xmlns:a="http://schemas.openxmlformats.org/drawingml/2006/main" noGrp="1"/>
          </p:cNvSpPr>
          <p:nvPr/>
        </p:nvSpPr>
        <p:spPr>
          <a:xfrm xmlns:a="http://schemas.openxmlformats.org/drawingml/2006/main">
            <a:off x="7315200" y="3359658"/>
            <a:ext cx="4267200" cy="514350"/>
          </a:xfrm>
          <a:prstGeom xmlns:a="http://schemas.openxmlformats.org/drawingml/2006/main" prst="roundRect">
            <a:avLst>
              <a:gd name="adj" fmla="val 11111"/>
            </a:avLst>
          </a:prstGeom>
          <a:solidFill xmlns:a="http://schemas.openxmlformats.org/drawingml/2006/main">
            <a:srgbClr val="F6F7F9"/>
          </a:solidFill>
          <a:ln xmlns:a="http://schemas.openxmlformats.org/drawingml/2006/main" w="9525">
            <a:solidFill>
              <a:srgbClr val="DDE0E5"/>
            </a:solidFill>
            <a:prstDash val="solid"/>
          </a:ln>
        </p:spPr>
      </p:sp>
      <p:sp>
        <p:nvSpPr>
          <p:cNvPr id="13" name="opt-letter-1">
            <a:extLst xmlns:a="http://schemas.openxmlformats.org/drawingml/2006/main">
              <a:ext uri="{FF2B5EF4-FFF2-40B4-BE49-F238E27FC236}">
                <a16:creationId xmlns:a16="http://schemas.microsoft.com/office/drawing/2014/main" id="{1B4D66EA-92AD-4AB1-8DAA-6D9130BCCAB6}"/>
              </a:ext>
            </a:extLst>
          </p:cNvPr>
          <p:cNvSpPr>
            <a:spLocks xmlns:a="http://schemas.openxmlformats.org/drawingml/2006/main" noGrp="1"/>
          </p:cNvSpPr>
          <p:nvPr/>
        </p:nvSpPr>
        <p:spPr>
          <a:xfrm xmlns:a="http://schemas.openxmlformats.org/drawingml/2006/main">
            <a:off x="7448550" y="3502533"/>
            <a:ext cx="2667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1800" b="1">
                <a:solidFill>
                  <a:srgbClr val="2E74B5"/>
                </a:solidFill>
                <a:latin typeface="Arial"/>
                <a:ea typeface="Arial"/>
                <a:cs typeface="Arial"/>
              </a:defRPr>
            </a:pPr>
            <a:r>
              <a:rPr sz="1800" b="1">
                <a:solidFill>
                  <a:srgbClr val="2E74B5"/>
                </a:solidFill>
                <a:latin typeface="Arial"/>
                <a:ea typeface="Arial"/>
                <a:cs typeface="Arial"/>
              </a:rPr>
              <a:t>B</a:t>
            </a:r>
          </a:p>
        </p:txBody>
      </p:sp>
      <p:sp>
        <p:nvSpPr>
          <p:cNvPr id="14" name="opt-text-1">
            <a:extLst xmlns:a="http://schemas.openxmlformats.org/drawingml/2006/main">
              <a:ext uri="{FF2B5EF4-FFF2-40B4-BE49-F238E27FC236}">
                <a16:creationId xmlns:a16="http://schemas.microsoft.com/office/drawing/2014/main" id="{62C17E72-3A6C-405C-B621-92ABD0FD4080}"/>
              </a:ext>
            </a:extLst>
          </p:cNvPr>
          <p:cNvSpPr>
            <a:spLocks xmlns:a="http://schemas.openxmlformats.org/drawingml/2006/main" noGrp="1"/>
          </p:cNvSpPr>
          <p:nvPr/>
        </p:nvSpPr>
        <p:spPr>
          <a:xfrm xmlns:a="http://schemas.openxmlformats.org/drawingml/2006/main">
            <a:off x="7772400" y="3397758"/>
            <a:ext cx="36766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2000"/>
              </a:lnSpc>
              <a:buNone/>
              <a:defRPr sz="1200" b="0">
                <a:solidFill>
                  <a:srgbClr val="111316"/>
                </a:solidFill>
                <a:latin typeface="Consolas"/>
                <a:ea typeface="Consolas"/>
                <a:cs typeface="Consolas"/>
              </a:defRPr>
            </a:pPr>
            <a:r>
              <a:rPr sz="1200" b="0">
                <a:solidFill>
                  <a:srgbClr val="111316"/>
                </a:solidFill>
                <a:latin typeface="Consolas"/>
                <a:ea typeface="Consolas"/>
                <a:cs typeface="Consolas"/>
              </a:rPr>
              <a:t>(120, 0)  -&gt;  $7,200</a:t>
            </a:r>
          </a:p>
        </p:txBody>
      </p:sp>
      <p:sp>
        <p:nvSpPr>
          <p:cNvPr id="15" name="opt-2">
            <a:extLst xmlns:a="http://schemas.openxmlformats.org/drawingml/2006/main">
              <a:ext uri="{FF2B5EF4-FFF2-40B4-BE49-F238E27FC236}">
                <a16:creationId xmlns:a16="http://schemas.microsoft.com/office/drawing/2014/main" id="{795D061B-EAB5-4EFE-878D-15C3169017BA}"/>
              </a:ext>
            </a:extLst>
          </p:cNvPr>
          <p:cNvSpPr>
            <a:spLocks xmlns:a="http://schemas.openxmlformats.org/drawingml/2006/main" noGrp="1"/>
          </p:cNvSpPr>
          <p:nvPr/>
        </p:nvSpPr>
        <p:spPr>
          <a:xfrm xmlns:a="http://schemas.openxmlformats.org/drawingml/2006/main">
            <a:off x="7315200" y="3931158"/>
            <a:ext cx="4267200" cy="514350"/>
          </a:xfrm>
          <a:prstGeom xmlns:a="http://schemas.openxmlformats.org/drawingml/2006/main" prst="roundRect">
            <a:avLst>
              <a:gd name="adj" fmla="val 11111"/>
            </a:avLst>
          </a:prstGeom>
          <a:solidFill xmlns:a="http://schemas.openxmlformats.org/drawingml/2006/main">
            <a:srgbClr val="F6F7F9"/>
          </a:solidFill>
          <a:ln xmlns:a="http://schemas.openxmlformats.org/drawingml/2006/main" w="9525">
            <a:solidFill>
              <a:srgbClr val="DDE0E5"/>
            </a:solidFill>
            <a:prstDash val="solid"/>
          </a:ln>
        </p:spPr>
      </p:sp>
      <p:sp>
        <p:nvSpPr>
          <p:cNvPr id="16" name="opt-letter-2">
            <a:extLst xmlns:a="http://schemas.openxmlformats.org/drawingml/2006/main">
              <a:ext uri="{FF2B5EF4-FFF2-40B4-BE49-F238E27FC236}">
                <a16:creationId xmlns:a16="http://schemas.microsoft.com/office/drawing/2014/main" id="{9482FD41-209A-46AC-9BFE-65600D24B6A8}"/>
              </a:ext>
            </a:extLst>
          </p:cNvPr>
          <p:cNvSpPr>
            <a:spLocks xmlns:a="http://schemas.openxmlformats.org/drawingml/2006/main" noGrp="1"/>
          </p:cNvSpPr>
          <p:nvPr/>
        </p:nvSpPr>
        <p:spPr>
          <a:xfrm xmlns:a="http://schemas.openxmlformats.org/drawingml/2006/main">
            <a:off x="7448550" y="4074033"/>
            <a:ext cx="2667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1800" b="1">
                <a:solidFill>
                  <a:srgbClr val="2E74B5"/>
                </a:solidFill>
                <a:latin typeface="Arial"/>
                <a:ea typeface="Arial"/>
                <a:cs typeface="Arial"/>
              </a:defRPr>
            </a:pPr>
            <a:r>
              <a:rPr sz="1800" b="1">
                <a:solidFill>
                  <a:srgbClr val="2E74B5"/>
                </a:solidFill>
                <a:latin typeface="Arial"/>
                <a:ea typeface="Arial"/>
                <a:cs typeface="Arial"/>
              </a:rPr>
              <a:t>C</a:t>
            </a:r>
          </a:p>
        </p:txBody>
      </p:sp>
      <p:sp>
        <p:nvSpPr>
          <p:cNvPr id="17" name="opt-text-2">
            <a:extLst xmlns:a="http://schemas.openxmlformats.org/drawingml/2006/main">
              <a:ext uri="{FF2B5EF4-FFF2-40B4-BE49-F238E27FC236}">
                <a16:creationId xmlns:a16="http://schemas.microsoft.com/office/drawing/2014/main" id="{0EC3598C-EA0A-4F60-BB16-D381DF8E8D55}"/>
              </a:ext>
            </a:extLst>
          </p:cNvPr>
          <p:cNvSpPr>
            <a:spLocks xmlns:a="http://schemas.openxmlformats.org/drawingml/2006/main" noGrp="1"/>
          </p:cNvSpPr>
          <p:nvPr/>
        </p:nvSpPr>
        <p:spPr>
          <a:xfrm xmlns:a="http://schemas.openxmlformats.org/drawingml/2006/main">
            <a:off x="7772400" y="3969258"/>
            <a:ext cx="36766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2000"/>
              </a:lnSpc>
              <a:buNone/>
              <a:defRPr sz="1200" b="0">
                <a:solidFill>
                  <a:srgbClr val="111316"/>
                </a:solidFill>
                <a:latin typeface="Consolas"/>
                <a:ea typeface="Consolas"/>
                <a:cs typeface="Consolas"/>
              </a:defRPr>
            </a:pPr>
            <a:r>
              <a:rPr sz="1200" b="0">
                <a:solidFill>
                  <a:srgbClr val="111316"/>
                </a:solidFill>
                <a:latin typeface="Consolas"/>
                <a:ea typeface="Consolas"/>
                <a:cs typeface="Consolas"/>
              </a:rPr>
              <a:t>(80, 120)  -&gt;  $7,800</a:t>
            </a:r>
          </a:p>
        </p:txBody>
      </p:sp>
      <p:sp>
        <p:nvSpPr>
          <p:cNvPr id="18" name="opt-3">
            <a:extLst xmlns:a="http://schemas.openxmlformats.org/drawingml/2006/main">
              <a:ext uri="{FF2B5EF4-FFF2-40B4-BE49-F238E27FC236}">
                <a16:creationId xmlns:a16="http://schemas.microsoft.com/office/drawing/2014/main" id="{F215FFDA-4555-45F4-947B-705C066FFD0D}"/>
              </a:ext>
            </a:extLst>
          </p:cNvPr>
          <p:cNvSpPr>
            <a:spLocks xmlns:a="http://schemas.openxmlformats.org/drawingml/2006/main" noGrp="1"/>
          </p:cNvSpPr>
          <p:nvPr/>
        </p:nvSpPr>
        <p:spPr>
          <a:xfrm xmlns:a="http://schemas.openxmlformats.org/drawingml/2006/main">
            <a:off x="7315200" y="4502658"/>
            <a:ext cx="4267200" cy="514350"/>
          </a:xfrm>
          <a:prstGeom xmlns:a="http://schemas.openxmlformats.org/drawingml/2006/main" prst="roundRect">
            <a:avLst>
              <a:gd name="adj" fmla="val 11111"/>
            </a:avLst>
          </a:prstGeom>
          <a:solidFill xmlns:a="http://schemas.openxmlformats.org/drawingml/2006/main">
            <a:srgbClr val="F6F7F9"/>
          </a:solidFill>
          <a:ln xmlns:a="http://schemas.openxmlformats.org/drawingml/2006/main" w="9525">
            <a:solidFill>
              <a:srgbClr val="DDE0E5"/>
            </a:solidFill>
            <a:prstDash val="solid"/>
          </a:ln>
        </p:spPr>
      </p:sp>
      <p:sp>
        <p:nvSpPr>
          <p:cNvPr id="19" name="opt-letter-3">
            <a:extLst xmlns:a="http://schemas.openxmlformats.org/drawingml/2006/main">
              <a:ext uri="{FF2B5EF4-FFF2-40B4-BE49-F238E27FC236}">
                <a16:creationId xmlns:a16="http://schemas.microsoft.com/office/drawing/2014/main" id="{EDEE6860-4558-45A2-872A-31530E4C7D5F}"/>
              </a:ext>
            </a:extLst>
          </p:cNvPr>
          <p:cNvSpPr>
            <a:spLocks xmlns:a="http://schemas.openxmlformats.org/drawingml/2006/main" noGrp="1"/>
          </p:cNvSpPr>
          <p:nvPr/>
        </p:nvSpPr>
        <p:spPr>
          <a:xfrm xmlns:a="http://schemas.openxmlformats.org/drawingml/2006/main">
            <a:off x="7448550" y="4645533"/>
            <a:ext cx="2667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1800" b="1">
                <a:solidFill>
                  <a:srgbClr val="2E74B5"/>
                </a:solidFill>
                <a:latin typeface="Arial"/>
                <a:ea typeface="Arial"/>
                <a:cs typeface="Arial"/>
              </a:defRPr>
            </a:pPr>
            <a:r>
              <a:rPr sz="1800" b="1">
                <a:solidFill>
                  <a:srgbClr val="2E74B5"/>
                </a:solidFill>
                <a:latin typeface="Arial"/>
                <a:ea typeface="Arial"/>
                <a:cs typeface="Arial"/>
              </a:rPr>
              <a:t>D</a:t>
            </a:r>
          </a:p>
        </p:txBody>
      </p:sp>
      <p:sp>
        <p:nvSpPr>
          <p:cNvPr id="20" name="opt-text-3">
            <a:extLst xmlns:a="http://schemas.openxmlformats.org/drawingml/2006/main">
              <a:ext uri="{FF2B5EF4-FFF2-40B4-BE49-F238E27FC236}">
                <a16:creationId xmlns:a16="http://schemas.microsoft.com/office/drawing/2014/main" id="{5A744373-FE84-46B9-AB71-0CDFD5B9BE0B}"/>
              </a:ext>
            </a:extLst>
          </p:cNvPr>
          <p:cNvSpPr>
            <a:spLocks xmlns:a="http://schemas.openxmlformats.org/drawingml/2006/main" noGrp="1"/>
          </p:cNvSpPr>
          <p:nvPr/>
        </p:nvSpPr>
        <p:spPr>
          <a:xfrm xmlns:a="http://schemas.openxmlformats.org/drawingml/2006/main">
            <a:off x="7772400" y="4540758"/>
            <a:ext cx="36766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2000"/>
              </a:lnSpc>
              <a:buNone/>
              <a:defRPr sz="1200" b="0">
                <a:solidFill>
                  <a:srgbClr val="111316"/>
                </a:solidFill>
                <a:latin typeface="Consolas"/>
                <a:ea typeface="Consolas"/>
                <a:cs typeface="Consolas"/>
              </a:defRPr>
            </a:pPr>
            <a:r>
              <a:rPr sz="1200" b="0">
                <a:solidFill>
                  <a:srgbClr val="111316"/>
                </a:solidFill>
                <a:latin typeface="Consolas"/>
                <a:ea typeface="Consolas"/>
                <a:cs typeface="Consolas"/>
              </a:rPr>
              <a:t>(0, 200)  -&gt;  $5,000</a:t>
            </a:r>
          </a:p>
        </p:txBody>
      </p:sp>
      <p:sp>
        <p:nvSpPr>
          <p:cNvPr id="21" name="answer-panel">
            <a:extLst xmlns:a="http://schemas.openxmlformats.org/drawingml/2006/main">
              <a:ext uri="{FF2B5EF4-FFF2-40B4-BE49-F238E27FC236}">
                <a16:creationId xmlns:a16="http://schemas.microsoft.com/office/drawing/2014/main" id="{C4275780-99BB-4A28-985B-471D3D90C0A5}"/>
              </a:ext>
            </a:extLst>
          </p:cNvPr>
          <p:cNvSpPr>
            <a:spLocks xmlns:a="http://schemas.openxmlformats.org/drawingml/2006/main" noGrp="1"/>
          </p:cNvSpPr>
          <p:nvPr/>
        </p:nvSpPr>
        <p:spPr>
          <a:xfrm xmlns:a="http://schemas.openxmlformats.org/drawingml/2006/main">
            <a:off x="609600" y="5219700"/>
            <a:ext cx="10972800" cy="914400"/>
          </a:xfrm>
          <a:prstGeom xmlns:a="http://schemas.openxmlformats.org/drawingml/2006/main" prst="roundRect">
            <a:avLst>
              <a:gd name="adj" fmla="val 8333"/>
            </a:avLst>
          </a:prstGeom>
          <a:solidFill xmlns:a="http://schemas.openxmlformats.org/drawingml/2006/main">
            <a:srgbClr val="F3F7FB"/>
          </a:solidFill>
          <a:ln xmlns:a="http://schemas.openxmlformats.org/drawingml/2006/main" w="9525">
            <a:solidFill>
              <a:srgbClr val="2E74B5"/>
            </a:solidFill>
            <a:prstDash val="solid"/>
          </a:ln>
        </p:spPr>
      </p:sp>
      <p:sp>
        <p:nvSpPr>
          <p:cNvPr id="22" name="answer-label">
            <a:extLst xmlns:a="http://schemas.openxmlformats.org/drawingml/2006/main">
              <a:ext uri="{FF2B5EF4-FFF2-40B4-BE49-F238E27FC236}">
                <a16:creationId xmlns:a16="http://schemas.microsoft.com/office/drawing/2014/main" id="{61B3A92F-9638-4789-BE4C-A10B361AC12F}"/>
              </a:ext>
            </a:extLst>
          </p:cNvPr>
          <p:cNvSpPr>
            <a:spLocks xmlns:a="http://schemas.openxmlformats.org/drawingml/2006/main" noGrp="1"/>
          </p:cNvSpPr>
          <p:nvPr/>
        </p:nvSpPr>
        <p:spPr>
          <a:xfrm xmlns:a="http://schemas.openxmlformats.org/drawingml/2006/main">
            <a:off x="819150" y="5372100"/>
            <a:ext cx="3048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1F4D78"/>
                </a:solidFill>
                <a:latin typeface="Arial"/>
                <a:ea typeface="Arial"/>
                <a:cs typeface="Arial"/>
              </a:defRPr>
            </a:pPr>
            <a:r>
              <a:rPr sz="900" b="1">
                <a:solidFill>
                  <a:srgbClr val="1F4D78"/>
                </a:solidFill>
                <a:latin typeface="Arial"/>
                <a:ea typeface="Arial"/>
                <a:cs typeface="Arial"/>
              </a:rPr>
              <a:t>ANSWER  ·  C</a:t>
            </a:r>
          </a:p>
        </p:txBody>
      </p:sp>
      <p:sp>
        <p:nvSpPr>
          <p:cNvPr id="23" name="why">
            <a:extLst xmlns:a="http://schemas.openxmlformats.org/drawingml/2006/main">
              <a:ext uri="{FF2B5EF4-FFF2-40B4-BE49-F238E27FC236}">
                <a16:creationId xmlns:a16="http://schemas.microsoft.com/office/drawing/2014/main" id="{26BA7160-3B87-4CE0-96E0-D6681237D85B}"/>
              </a:ext>
            </a:extLst>
          </p:cNvPr>
          <p:cNvSpPr>
            <a:spLocks xmlns:a="http://schemas.openxmlformats.org/drawingml/2006/main" noGrp="1"/>
          </p:cNvSpPr>
          <p:nvPr/>
        </p:nvSpPr>
        <p:spPr>
          <a:xfrm xmlns:a="http://schemas.openxmlformats.org/drawingml/2006/main">
            <a:off x="819150" y="5638800"/>
            <a:ext cx="105537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500" b="0">
                <a:solidFill>
                  <a:srgbClr val="111316"/>
                </a:solidFill>
                <a:latin typeface="Arial"/>
                <a:ea typeface="Arial"/>
                <a:cs typeface="Arial"/>
              </a:defRPr>
            </a:pPr>
            <a:r>
              <a:rPr sz="1500" b="0">
                <a:solidFill>
                  <a:srgbClr val="111316"/>
                </a:solidFill>
                <a:latin typeface="Arial"/>
                <a:ea typeface="Arial"/>
                <a:cs typeface="Arial"/>
              </a:rPr>
              <a:t>res.x = [80, 120], -res.fun = 7800.0. (120,0) is tempting — solar earns more per m2 — but leaves 80 m2 of roof unused.</a:t>
            </a:r>
          </a:p>
        </p:txBody>
      </p:sp>
    </p:spTree>
    <p:extLst>
      <p:ext uri="{BB962C8B-B14F-4D97-AF65-F5344CB8AC3E}">
        <p14:creationId xmlns:p14="http://schemas.microsoft.com/office/powerpoint/2010/main" val="1215961810"/>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kicker">
            <a:extLst xmlns:a="http://schemas.openxmlformats.org/drawingml/2006/main">
              <a:ext uri="{FF2B5EF4-FFF2-40B4-BE49-F238E27FC236}">
                <a16:creationId xmlns:a16="http://schemas.microsoft.com/office/drawing/2014/main" id="{0BAFE7DE-73DD-44BD-8D8F-BBBC2A5D78CA}"/>
              </a:ext>
            </a:extLst>
          </p:cNvPr>
          <p:cNvSpPr>
            <a:spLocks xmlns:a="http://schemas.openxmlformats.org/drawingml/2006/main" noGrp="1"/>
          </p:cNvSpPr>
          <p:nvPr/>
        </p:nvSpPr>
        <p:spPr>
          <a:xfrm xmlns:a="http://schemas.openxmlformats.org/drawingml/2006/main">
            <a:off x="609600" y="342900"/>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2E74B5"/>
                </a:solidFill>
                <a:latin typeface="Arial"/>
                <a:ea typeface="Arial"/>
                <a:cs typeface="Arial"/>
              </a:defRPr>
            </a:pPr>
            <a:r>
              <a:rPr sz="900" b="1">
                <a:solidFill>
                  <a:srgbClr val="2E74B5"/>
                </a:solidFill>
                <a:latin typeface="Arial"/>
                <a:ea typeface="Arial"/>
                <a:cs typeface="Arial"/>
              </a:rPr>
              <a:t>PYTHON SYNTAX</a:t>
            </a:r>
          </a:p>
        </p:txBody>
      </p:sp>
      <p:sp>
        <p:nvSpPr>
          <p:cNvPr id="2" name="title">
            <a:extLst xmlns:a="http://schemas.openxmlformats.org/drawingml/2006/main">
              <a:ext uri="{FF2B5EF4-FFF2-40B4-BE49-F238E27FC236}">
                <a16:creationId xmlns:a16="http://schemas.microsoft.com/office/drawing/2014/main" id="{ED3B6CA0-8690-4B34-90FB-DFBEED24640B}"/>
              </a:ext>
            </a:extLst>
          </p:cNvPr>
          <p:cNvSpPr>
            <a:spLocks xmlns:a="http://schemas.openxmlformats.org/drawingml/2006/main" noGrp="1"/>
          </p:cNvSpPr>
          <p:nvPr/>
        </p:nvSpPr>
        <p:spPr>
          <a:xfrm xmlns:a="http://schemas.openxmlformats.org/drawingml/2006/main">
            <a:off x="609600" y="60960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3000" b="0">
                <a:solidFill>
                  <a:srgbClr val="111316"/>
                </a:solidFill>
                <a:latin typeface="Arial"/>
                <a:ea typeface="Arial"/>
                <a:cs typeface="Arial"/>
              </a:defRPr>
            </a:pPr>
            <a:r>
              <a:rPr sz="3000" b="0">
                <a:solidFill>
                  <a:srgbClr val="111316"/>
                </a:solidFill>
                <a:latin typeface="Arial"/>
                <a:ea typeface="Arial"/>
                <a:cs typeface="Arial"/>
              </a:rPr>
              <a:t>[1] Set up Radley Hall's roof in standard form, and solve</a:t>
            </a:r>
          </a:p>
        </p:txBody>
      </p:sp>
      <p:sp>
        <p:nvSpPr>
          <p:cNvPr id="3" name="">
            <a:extLst xmlns:a="http://schemas.openxmlformats.org/drawingml/2006/main">
              <a:ext uri="{FF2B5EF4-FFF2-40B4-BE49-F238E27FC236}">
                <a16:creationId xmlns:a16="http://schemas.microsoft.com/office/drawing/2014/main" id="{AA380DF2-E67B-4D3D-B884-4CC7F30CEA47}"/>
              </a:ext>
            </a:extLst>
          </p:cNvPr>
          <p:cNvSpPr>
            <a:spLocks xmlns:a="http://schemas.openxmlformats.org/drawingml/2006/main" noGrp="1"/>
          </p:cNvSpPr>
          <p:nvPr/>
        </p:nvSpPr>
        <p:spPr>
          <a:xfrm xmlns:a="http://schemas.openxmlformats.org/drawingml/2006/main">
            <a:off x="609600" y="6343650"/>
            <a:ext cx="10972800" cy="0"/>
          </a:xfrm>
          <a:prstGeom xmlns:a="http://schemas.openxmlformats.org/drawingml/2006/main" prst="line">
            <a:avLst/>
          </a:prstGeom>
          <a:noFill xmlns:a="http://schemas.openxmlformats.org/drawingml/2006/main"/>
          <a:ln xmlns:a="http://schemas.openxmlformats.org/drawingml/2006/main" w="9525">
            <a:solidFill>
              <a:srgbClr val="DDE0E5"/>
            </a:solidFill>
            <a:prstDash val="solid"/>
          </a:ln>
        </p:spPr>
      </p:sp>
      <p:sp>
        <p:nvSpPr>
          <p:cNvPr id="4" name="footer">
            <a:extLst xmlns:a="http://schemas.openxmlformats.org/drawingml/2006/main">
              <a:ext uri="{FF2B5EF4-FFF2-40B4-BE49-F238E27FC236}">
                <a16:creationId xmlns:a16="http://schemas.microsoft.com/office/drawing/2014/main" id="{9A250EF0-3F0E-4962-9BEF-0A8079889907}"/>
              </a:ext>
            </a:extLst>
          </p:cNvPr>
          <p:cNvSpPr>
            <a:spLocks xmlns:a="http://schemas.openxmlformats.org/drawingml/2006/main" noGrp="1"/>
          </p:cNvSpPr>
          <p:nvPr/>
        </p:nvSpPr>
        <p:spPr>
          <a:xfrm xmlns:a="http://schemas.openxmlformats.org/drawingml/2006/main">
            <a:off x="609600" y="6429375"/>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ARC 500  ·  Week 10 · Meeting B · Linear Programming Studio</a:t>
            </a:r>
          </a:p>
        </p:txBody>
      </p:sp>
      <p:sp>
        <p:nvSpPr>
          <p:cNvPr id="5" name="page">
            <a:extLst xmlns:a="http://schemas.openxmlformats.org/drawingml/2006/main">
              <a:ext uri="{FF2B5EF4-FFF2-40B4-BE49-F238E27FC236}">
                <a16:creationId xmlns:a16="http://schemas.microsoft.com/office/drawing/2014/main" id="{4A404396-7868-47C6-99DB-A4C9F4878912}"/>
              </a:ext>
            </a:extLst>
          </p:cNvPr>
          <p:cNvSpPr>
            <a:spLocks xmlns:a="http://schemas.openxmlformats.org/drawingml/2006/main" noGrp="1"/>
          </p:cNvSpPr>
          <p:nvPr/>
        </p:nvSpPr>
        <p:spPr>
          <a:xfrm xmlns:a="http://schemas.openxmlformats.org/drawingml/2006/main">
            <a:off x="10896600" y="6429375"/>
            <a:ext cx="685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09</a:t>
            </a:r>
          </a:p>
        </p:txBody>
      </p:sp>
      <p:sp>
        <p:nvSpPr>
          <p:cNvPr id="6" name="code-panel">
            <a:extLst xmlns:a="http://schemas.openxmlformats.org/drawingml/2006/main">
              <a:ext uri="{FF2B5EF4-FFF2-40B4-BE49-F238E27FC236}">
                <a16:creationId xmlns:a16="http://schemas.microsoft.com/office/drawing/2014/main" id="{9C88DB40-DA38-4452-83B2-EF7F0CE730B7}"/>
              </a:ext>
            </a:extLst>
          </p:cNvPr>
          <p:cNvSpPr>
            <a:spLocks xmlns:a="http://schemas.openxmlformats.org/drawingml/2006/main" noGrp="1"/>
          </p:cNvSpPr>
          <p:nvPr/>
        </p:nvSpPr>
        <p:spPr>
          <a:xfrm xmlns:a="http://schemas.openxmlformats.org/drawingml/2006/main">
            <a:off x="609600" y="1809750"/>
            <a:ext cx="6896100" cy="4267200"/>
          </a:xfrm>
          <a:prstGeom xmlns:a="http://schemas.openxmlformats.org/drawingml/2006/main" prst="roundRect">
            <a:avLst>
              <a:gd name="adj" fmla="val 1786"/>
            </a:avLst>
          </a:prstGeom>
          <a:solidFill xmlns:a="http://schemas.openxmlformats.org/drawingml/2006/main">
            <a:srgbClr val="17191C"/>
          </a:solidFill>
          <a:ln xmlns:a="http://schemas.openxmlformats.org/drawingml/2006/main" w="9525">
            <a:solidFill>
              <a:srgbClr val="17191C"/>
            </a:solidFill>
            <a:prstDash val="solid"/>
          </a:ln>
        </p:spPr>
      </p:sp>
      <p:sp>
        <p:nvSpPr>
          <p:cNvPr id="7" name="code">
            <a:extLst xmlns:a="http://schemas.openxmlformats.org/drawingml/2006/main">
              <a:ext uri="{FF2B5EF4-FFF2-40B4-BE49-F238E27FC236}">
                <a16:creationId xmlns:a16="http://schemas.microsoft.com/office/drawing/2014/main" id="{18C3863C-EE88-49CD-9BA0-DE7EF3FB2E09}"/>
              </a:ext>
            </a:extLst>
          </p:cNvPr>
          <p:cNvSpPr>
            <a:spLocks xmlns:a="http://schemas.openxmlformats.org/drawingml/2006/main" noGrp="1"/>
          </p:cNvSpPr>
          <p:nvPr/>
        </p:nvSpPr>
        <p:spPr>
          <a:xfrm xmlns:a="http://schemas.openxmlformats.org/drawingml/2006/main">
            <a:off x="857250" y="2057400"/>
            <a:ext cx="6400800" cy="279349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4000"/>
              </a:lnSpc>
              <a:buNone/>
              <a:defRPr sz="1500" b="0">
                <a:solidFill>
                  <a:srgbClr val="FFFFFF"/>
                </a:solidFill>
                <a:latin typeface="Consolas"/>
                <a:ea typeface="Consolas"/>
                <a:cs typeface="Consolas"/>
              </a:defRPr>
            </a:pPr>
            <a:r>
              <a:rPr sz="1500" b="0">
                <a:solidFill>
                  <a:srgbClr val="FFFFFF"/>
                </a:solidFill>
                <a:latin typeface="Consolas"/>
                <a:ea typeface="Consolas"/>
                <a:cs typeface="Consolas"/>
              </a:rPr>
              <a:t>from scipy.optimize import linprog</a:t>
            </a:r>
          </a:p>
          <a:p xmlns:a="http://schemas.openxmlformats.org/drawingml/2006/main">
            <a:r>
              <a:t/>
            </a:r>
          </a:p>
          <a:p xmlns:a="http://schemas.openxmlformats.org/drawingml/2006/main">
            <a:pPr algn="l">
              <a:lnSpc>
                <a:spcPct val="114000"/>
              </a:lnSpc>
              <a:buNone/>
              <a:defRPr sz="1500" b="0">
                <a:solidFill>
                  <a:srgbClr val="FFFFFF"/>
                </a:solidFill>
                <a:latin typeface="Consolas"/>
                <a:ea typeface="Consolas"/>
                <a:cs typeface="Consolas"/>
              </a:defRPr>
            </a:pPr>
            <a:r>
              <a:rPr sz="1500" b="0">
                <a:solidFill>
                  <a:srgbClr val="FFFFFF"/>
                </a:solidFill>
                <a:latin typeface="Consolas"/>
                <a:ea typeface="Consolas"/>
                <a:cs typeface="Consolas"/>
              </a:rPr>
              <a:t>c = [-60, -25]</a:t>
            </a:r>
          </a:p>
          <a:p xmlns:a="http://schemas.openxmlformats.org/drawingml/2006/main">
            <a:pPr algn="l">
              <a:lnSpc>
                <a:spcPct val="114000"/>
              </a:lnSpc>
              <a:buNone/>
              <a:defRPr sz="1500" b="0">
                <a:solidFill>
                  <a:srgbClr val="FFFFFF"/>
                </a:solidFill>
                <a:latin typeface="Consolas"/>
                <a:ea typeface="Consolas"/>
                <a:cs typeface="Consolas"/>
              </a:defRPr>
            </a:pPr>
            <a:r>
              <a:rPr sz="1500" b="0">
                <a:solidFill>
                  <a:srgbClr val="FFFFFF"/>
                </a:solidFill>
                <a:latin typeface="Consolas"/>
                <a:ea typeface="Consolas"/>
                <a:cs typeface="Consolas"/>
              </a:rPr>
              <a:t>A_ub = [[1, 1], [400, 150]]</a:t>
            </a:r>
          </a:p>
          <a:p xmlns:a="http://schemas.openxmlformats.org/drawingml/2006/main">
            <a:pPr algn="l">
              <a:lnSpc>
                <a:spcPct val="114000"/>
              </a:lnSpc>
              <a:buNone/>
              <a:defRPr sz="1500" b="0">
                <a:solidFill>
                  <a:srgbClr val="FFFFFF"/>
                </a:solidFill>
                <a:latin typeface="Consolas"/>
                <a:ea typeface="Consolas"/>
                <a:cs typeface="Consolas"/>
              </a:defRPr>
            </a:pPr>
            <a:r>
              <a:rPr sz="1500" b="0">
                <a:solidFill>
                  <a:srgbClr val="FFFFFF"/>
                </a:solidFill>
                <a:latin typeface="Consolas"/>
                <a:ea typeface="Consolas"/>
                <a:cs typeface="Consolas"/>
              </a:rPr>
              <a:t>b_ub = [200, 50000]</a:t>
            </a:r>
          </a:p>
          <a:p xmlns:a="http://schemas.openxmlformats.org/drawingml/2006/main">
            <a:pPr algn="l">
              <a:lnSpc>
                <a:spcPct val="114000"/>
              </a:lnSpc>
              <a:buNone/>
              <a:defRPr sz="1500" b="0">
                <a:solidFill>
                  <a:srgbClr val="FFFFFF"/>
                </a:solidFill>
                <a:latin typeface="Consolas"/>
                <a:ea typeface="Consolas"/>
                <a:cs typeface="Consolas"/>
              </a:defRPr>
            </a:pPr>
            <a:r>
              <a:rPr sz="1500" b="0">
                <a:solidFill>
                  <a:srgbClr val="FFFFFF"/>
                </a:solidFill>
                <a:latin typeface="Consolas"/>
                <a:ea typeface="Consolas"/>
                <a:cs typeface="Consolas"/>
              </a:rPr>
              <a:t>bounds = [(0, 120), (0, None)]</a:t>
            </a:r>
          </a:p>
          <a:p xmlns:a="http://schemas.openxmlformats.org/drawingml/2006/main">
            <a:pPr algn="l">
              <a:lnSpc>
                <a:spcPct val="114000"/>
              </a:lnSpc>
              <a:buNone/>
              <a:defRPr sz="1500" b="0">
                <a:solidFill>
                  <a:srgbClr val="FFFFFF"/>
                </a:solidFill>
                <a:latin typeface="Consolas"/>
                <a:ea typeface="Consolas"/>
                <a:cs typeface="Consolas"/>
              </a:defRPr>
            </a:pPr>
            <a:r>
              <a:rPr sz="1500" b="0">
                <a:solidFill>
                  <a:srgbClr val="FFFFFF"/>
                </a:solidFill>
                <a:latin typeface="Consolas"/>
                <a:ea typeface="Consolas"/>
                <a:cs typeface="Consolas"/>
              </a:rPr>
              <a:t>res = linprog(c, A_ub=A_ub, b_ub=b_ub,</a:t>
            </a:r>
          </a:p>
          <a:p xmlns:a="http://schemas.openxmlformats.org/drawingml/2006/main">
            <a:pPr algn="l">
              <a:lnSpc>
                <a:spcPct val="114000"/>
              </a:lnSpc>
              <a:buNone/>
              <a:defRPr sz="1500" b="0">
                <a:solidFill>
                  <a:srgbClr val="FFFFFF"/>
                </a:solidFill>
                <a:latin typeface="Consolas"/>
                <a:ea typeface="Consolas"/>
                <a:cs typeface="Consolas"/>
              </a:defRPr>
            </a:pPr>
            <a:r>
              <a:rPr sz="1500" b="0">
                <a:solidFill>
                  <a:srgbClr val="FFFFFF"/>
                </a:solidFill>
                <a:latin typeface="Consolas"/>
                <a:ea typeface="Consolas"/>
                <a:cs typeface="Consolas"/>
              </a:rPr>
              <a:t>              bounds=bounds, method='highs')</a:t>
            </a:r>
          </a:p>
          <a:p xmlns:a="http://schemas.openxmlformats.org/drawingml/2006/main">
            <a:pPr algn="l">
              <a:lnSpc>
                <a:spcPct val="114000"/>
              </a:lnSpc>
              <a:buNone/>
              <a:defRPr sz="1500" b="0">
                <a:solidFill>
                  <a:srgbClr val="FFFFFF"/>
                </a:solidFill>
                <a:latin typeface="Consolas"/>
                <a:ea typeface="Consolas"/>
                <a:cs typeface="Consolas"/>
              </a:defRPr>
            </a:pPr>
            <a:r>
              <a:rPr sz="1500" b="0">
                <a:solidFill>
                  <a:srgbClr val="FFFFFF"/>
                </a:solidFill>
                <a:latin typeface="Consolas"/>
                <a:ea typeface="Consolas"/>
                <a:cs typeface="Consolas"/>
              </a:rPr>
              <a:t>print(res.x)</a:t>
            </a:r>
          </a:p>
          <a:p xmlns:a="http://schemas.openxmlformats.org/drawingml/2006/main">
            <a:pPr algn="l">
              <a:lnSpc>
                <a:spcPct val="114000"/>
              </a:lnSpc>
              <a:buNone/>
              <a:defRPr sz="1500" b="0">
                <a:solidFill>
                  <a:srgbClr val="FFFFFF"/>
                </a:solidFill>
                <a:latin typeface="Consolas"/>
                <a:ea typeface="Consolas"/>
                <a:cs typeface="Consolas"/>
              </a:defRPr>
            </a:pPr>
            <a:r>
              <a:rPr sz="1500" b="0">
                <a:solidFill>
                  <a:srgbClr val="FFFFFF"/>
                </a:solidFill>
                <a:latin typeface="Consolas"/>
                <a:ea typeface="Consolas"/>
                <a:cs typeface="Consolas"/>
              </a:rPr>
              <a:t>print(res.fun)</a:t>
            </a:r>
          </a:p>
          <a:p xmlns:a="http://schemas.openxmlformats.org/drawingml/2006/main">
            <a:pPr algn="l">
              <a:lnSpc>
                <a:spcPct val="114000"/>
              </a:lnSpc>
              <a:buNone/>
              <a:defRPr sz="1500" b="0">
                <a:solidFill>
                  <a:srgbClr val="FFFFFF"/>
                </a:solidFill>
                <a:latin typeface="Consolas"/>
                <a:ea typeface="Consolas"/>
                <a:cs typeface="Consolas"/>
              </a:defRPr>
            </a:pPr>
            <a:r>
              <a:rPr sz="1500" b="0">
                <a:solidFill>
                  <a:srgbClr val="FFFFFF"/>
                </a:solidFill>
                <a:latin typeface="Consolas"/>
                <a:ea typeface="Consolas"/>
                <a:cs typeface="Consolas"/>
              </a:rPr>
              <a:t>print(res.success)</a:t>
            </a:r>
          </a:p>
        </p:txBody>
      </p:sp>
      <p:sp>
        <p:nvSpPr>
          <p:cNvPr id="8" name="">
            <a:extLst xmlns:a="http://schemas.openxmlformats.org/drawingml/2006/main">
              <a:ext uri="{FF2B5EF4-FFF2-40B4-BE49-F238E27FC236}">
                <a16:creationId xmlns:a16="http://schemas.microsoft.com/office/drawing/2014/main" id="{425EF0D1-025B-4C1B-9502-E1C7BED15D98}"/>
              </a:ext>
            </a:extLst>
          </p:cNvPr>
          <p:cNvSpPr>
            <a:spLocks xmlns:a="http://schemas.openxmlformats.org/drawingml/2006/main" noGrp="1"/>
          </p:cNvSpPr>
          <p:nvPr/>
        </p:nvSpPr>
        <p:spPr>
          <a:xfrm xmlns:a="http://schemas.openxmlformats.org/drawingml/2006/main">
            <a:off x="857250" y="4908042"/>
            <a:ext cx="6400800" cy="0"/>
          </a:xfrm>
          <a:prstGeom xmlns:a="http://schemas.openxmlformats.org/drawingml/2006/main" prst="line">
            <a:avLst/>
          </a:prstGeom>
          <a:noFill xmlns:a="http://schemas.openxmlformats.org/drawingml/2006/main"/>
          <a:ln xmlns:a="http://schemas.openxmlformats.org/drawingml/2006/main" w="9525">
            <a:solidFill>
              <a:srgbClr val="4E5258"/>
            </a:solidFill>
            <a:prstDash val="solid"/>
          </a:ln>
        </p:spPr>
      </p:sp>
      <p:sp>
        <p:nvSpPr>
          <p:cNvPr id="9" name="output-label">
            <a:extLst xmlns:a="http://schemas.openxmlformats.org/drawingml/2006/main">
              <a:ext uri="{FF2B5EF4-FFF2-40B4-BE49-F238E27FC236}">
                <a16:creationId xmlns:a16="http://schemas.microsoft.com/office/drawing/2014/main" id="{999DA5FC-6944-45EB-8A17-3A2470C42B79}"/>
              </a:ext>
            </a:extLst>
          </p:cNvPr>
          <p:cNvSpPr>
            <a:spLocks xmlns:a="http://schemas.openxmlformats.org/drawingml/2006/main" noGrp="1"/>
          </p:cNvSpPr>
          <p:nvPr/>
        </p:nvSpPr>
        <p:spPr>
          <a:xfrm xmlns:a="http://schemas.openxmlformats.org/drawingml/2006/main">
            <a:off x="857250" y="5022342"/>
            <a:ext cx="190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E8EEF5"/>
                </a:solidFill>
                <a:latin typeface="Arial"/>
                <a:ea typeface="Arial"/>
                <a:cs typeface="Arial"/>
              </a:defRPr>
            </a:pPr>
            <a:r>
              <a:rPr sz="900" b="1">
                <a:solidFill>
                  <a:srgbClr val="E8EEF5"/>
                </a:solidFill>
                <a:latin typeface="Arial"/>
                <a:ea typeface="Arial"/>
                <a:cs typeface="Arial"/>
              </a:rPr>
              <a:t>OUTPUT</a:t>
            </a:r>
          </a:p>
        </p:txBody>
      </p:sp>
      <p:sp>
        <p:nvSpPr>
          <p:cNvPr id="10" name="output">
            <a:extLst xmlns:a="http://schemas.openxmlformats.org/drawingml/2006/main">
              <a:ext uri="{FF2B5EF4-FFF2-40B4-BE49-F238E27FC236}">
                <a16:creationId xmlns:a16="http://schemas.microsoft.com/office/drawing/2014/main" id="{CDE3B339-CAA5-4E76-B826-3371876A97DA}"/>
              </a:ext>
            </a:extLst>
          </p:cNvPr>
          <p:cNvSpPr>
            <a:spLocks xmlns:a="http://schemas.openxmlformats.org/drawingml/2006/main" noGrp="1"/>
          </p:cNvSpPr>
          <p:nvPr/>
        </p:nvSpPr>
        <p:spPr>
          <a:xfrm xmlns:a="http://schemas.openxmlformats.org/drawingml/2006/main">
            <a:off x="857250" y="5250942"/>
            <a:ext cx="6400800" cy="57835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4000"/>
              </a:lnSpc>
              <a:buNone/>
              <a:defRPr sz="1200" b="0">
                <a:solidFill>
                  <a:srgbClr val="E8EEF5"/>
                </a:solidFill>
                <a:latin typeface="Consolas"/>
                <a:ea typeface="Consolas"/>
                <a:cs typeface="Consolas"/>
              </a:defRPr>
            </a:pPr>
            <a:r>
              <a:rPr sz="1200" b="0">
                <a:solidFill>
                  <a:srgbClr val="E8EEF5"/>
                </a:solidFill>
                <a:latin typeface="Consolas"/>
                <a:ea typeface="Consolas"/>
                <a:cs typeface="Consolas"/>
              </a:rPr>
              <a:t>[ 80. 120.]</a:t>
            </a:r>
          </a:p>
          <a:p xmlns:a="http://schemas.openxmlformats.org/drawingml/2006/main">
            <a:pPr algn="l">
              <a:lnSpc>
                <a:spcPct val="114000"/>
              </a:lnSpc>
              <a:buNone/>
              <a:defRPr sz="1200" b="0">
                <a:solidFill>
                  <a:srgbClr val="E8EEF5"/>
                </a:solidFill>
                <a:latin typeface="Consolas"/>
                <a:ea typeface="Consolas"/>
                <a:cs typeface="Consolas"/>
              </a:defRPr>
            </a:pPr>
            <a:r>
              <a:rPr sz="1200" b="0">
                <a:solidFill>
                  <a:srgbClr val="E8EEF5"/>
                </a:solidFill>
                <a:latin typeface="Consolas"/>
                <a:ea typeface="Consolas"/>
                <a:cs typeface="Consolas"/>
              </a:rPr>
              <a:t>-7800.0</a:t>
            </a:r>
          </a:p>
          <a:p xmlns:a="http://schemas.openxmlformats.org/drawingml/2006/main">
            <a:pPr algn="l">
              <a:lnSpc>
                <a:spcPct val="114000"/>
              </a:lnSpc>
              <a:buNone/>
              <a:defRPr sz="1200" b="0">
                <a:solidFill>
                  <a:srgbClr val="E8EEF5"/>
                </a:solidFill>
                <a:latin typeface="Consolas"/>
                <a:ea typeface="Consolas"/>
                <a:cs typeface="Consolas"/>
              </a:defRPr>
            </a:pPr>
            <a:r>
              <a:rPr sz="1200" b="0">
                <a:solidFill>
                  <a:srgbClr val="E8EEF5"/>
                </a:solidFill>
                <a:latin typeface="Consolas"/>
                <a:ea typeface="Consolas"/>
                <a:cs typeface="Consolas"/>
              </a:rPr>
              <a:t>True</a:t>
            </a:r>
          </a:p>
        </p:txBody>
      </p:sp>
      <p:sp>
        <p:nvSpPr>
          <p:cNvPr id="11" name="explain-head">
            <a:extLst xmlns:a="http://schemas.openxmlformats.org/drawingml/2006/main">
              <a:ext uri="{FF2B5EF4-FFF2-40B4-BE49-F238E27FC236}">
                <a16:creationId xmlns:a16="http://schemas.microsoft.com/office/drawing/2014/main" id="{B6181A94-9D65-4F37-BCA5-DD8EE3E4B856}"/>
              </a:ext>
            </a:extLst>
          </p:cNvPr>
          <p:cNvSpPr>
            <a:spLocks xmlns:a="http://schemas.openxmlformats.org/drawingml/2006/main" noGrp="1"/>
          </p:cNvSpPr>
          <p:nvPr/>
        </p:nvSpPr>
        <p:spPr>
          <a:xfrm xmlns:a="http://schemas.openxmlformats.org/drawingml/2006/main">
            <a:off x="7886700" y="2371725"/>
            <a:ext cx="3695700" cy="63322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100" b="1">
                <a:solidFill>
                  <a:srgbClr val="111316"/>
                </a:solidFill>
                <a:latin typeface="Arial"/>
                <a:ea typeface="Arial"/>
                <a:cs typeface="Arial"/>
              </a:defRPr>
            </a:pPr>
            <a:r>
              <a:rPr sz="2100" b="1">
                <a:solidFill>
                  <a:srgbClr val="111316"/>
                </a:solidFill>
                <a:latin typeface="Arial"/>
                <a:ea typeface="Arial"/>
                <a:cs typeface="Arial"/>
              </a:rPr>
              <a:t>Read the raw solver output first</a:t>
            </a:r>
          </a:p>
        </p:txBody>
      </p:sp>
      <p:sp>
        <p:nvSpPr>
          <p:cNvPr id="12" name="explain-body">
            <a:extLst xmlns:a="http://schemas.openxmlformats.org/drawingml/2006/main">
              <a:ext uri="{FF2B5EF4-FFF2-40B4-BE49-F238E27FC236}">
                <a16:creationId xmlns:a16="http://schemas.microsoft.com/office/drawing/2014/main" id="{66F4379D-AA5D-43E3-ABFC-22B380900F0B}"/>
              </a:ext>
            </a:extLst>
          </p:cNvPr>
          <p:cNvSpPr>
            <a:spLocks xmlns:a="http://schemas.openxmlformats.org/drawingml/2006/main" noGrp="1"/>
          </p:cNvSpPr>
          <p:nvPr/>
        </p:nvSpPr>
        <p:spPr>
          <a:xfrm xmlns:a="http://schemas.openxmlformats.org/drawingml/2006/main">
            <a:off x="7886700" y="3157347"/>
            <a:ext cx="3695700" cy="206502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500" b="0">
                <a:solidFill>
                  <a:srgbClr val="5A5F66"/>
                </a:solidFill>
                <a:latin typeface="Arial"/>
                <a:ea typeface="Arial"/>
                <a:cs typeface="Arial"/>
              </a:defRPr>
            </a:pPr>
            <a:r>
              <a:rPr sz="1500" b="0">
                <a:solidFill>
                  <a:srgbClr val="5A5F66"/>
                </a:solidFill>
                <a:latin typeface="Arial"/>
                <a:ea typeface="Arial"/>
                <a:cs typeface="Arial"/>
              </a:rPr>
              <a:t>res.fun is -7800.0, not 7800.0 — it is the minimized NEGATIVE benefit, since linprog only minimizes. res.success is True: HiGHS found a feasible optimum, not that your formulation is correct — that is what hand-verification checks next. (Same c, A_ub, b_ub, bounds as the anatomy slide — area binds row 1, budget binds row 2.)</a:t>
            </a:r>
          </a:p>
        </p:txBody>
      </p:sp>
    </p:spTree>
    <p:extLst>
      <p:ext uri="{BB962C8B-B14F-4D97-AF65-F5344CB8AC3E}">
        <p14:creationId xmlns:p14="http://schemas.microsoft.com/office/powerpoint/2010/main" val="430816958"/>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kicker">
            <a:extLst xmlns:a="http://schemas.openxmlformats.org/drawingml/2006/main">
              <a:ext uri="{FF2B5EF4-FFF2-40B4-BE49-F238E27FC236}">
                <a16:creationId xmlns:a16="http://schemas.microsoft.com/office/drawing/2014/main" id="{53F88BCB-DAC8-487A-9136-E828C2AB070F}"/>
              </a:ext>
            </a:extLst>
          </p:cNvPr>
          <p:cNvSpPr>
            <a:spLocks xmlns:a="http://schemas.openxmlformats.org/drawingml/2006/main" noGrp="1"/>
          </p:cNvSpPr>
          <p:nvPr/>
        </p:nvSpPr>
        <p:spPr>
          <a:xfrm xmlns:a="http://schemas.openxmlformats.org/drawingml/2006/main">
            <a:off x="609600" y="342900"/>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2E74B5"/>
                </a:solidFill>
                <a:latin typeface="Arial"/>
                <a:ea typeface="Arial"/>
                <a:cs typeface="Arial"/>
              </a:defRPr>
            </a:pPr>
            <a:r>
              <a:rPr sz="900" b="1">
                <a:solidFill>
                  <a:srgbClr val="2E74B5"/>
                </a:solidFill>
                <a:latin typeface="Arial"/>
                <a:ea typeface="Arial"/>
                <a:cs typeface="Arial"/>
              </a:rPr>
              <a:t>IN-CLASS CHECK</a:t>
            </a:r>
          </a:p>
        </p:txBody>
      </p:sp>
      <p:sp>
        <p:nvSpPr>
          <p:cNvPr id="2" name="title">
            <a:extLst xmlns:a="http://schemas.openxmlformats.org/drawingml/2006/main">
              <a:ext uri="{FF2B5EF4-FFF2-40B4-BE49-F238E27FC236}">
                <a16:creationId xmlns:a16="http://schemas.microsoft.com/office/drawing/2014/main" id="{C1F909F4-A116-41D0-932C-6937F0EEDDFA}"/>
              </a:ext>
            </a:extLst>
          </p:cNvPr>
          <p:cNvSpPr>
            <a:spLocks xmlns:a="http://schemas.openxmlformats.org/drawingml/2006/main" noGrp="1"/>
          </p:cNvSpPr>
          <p:nvPr/>
        </p:nvSpPr>
        <p:spPr>
          <a:xfrm xmlns:a="http://schemas.openxmlformats.org/drawingml/2006/main">
            <a:off x="609600" y="60960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3000" b="0">
                <a:solidFill>
                  <a:srgbClr val="111316"/>
                </a:solidFill>
                <a:latin typeface="Arial"/>
                <a:ea typeface="Arial"/>
                <a:cs typeface="Arial"/>
              </a:defRPr>
            </a:pPr>
            <a:r>
              <a:rPr sz="3000" b="0">
                <a:solidFill>
                  <a:srgbClr val="111316"/>
                </a:solidFill>
                <a:latin typeface="Arial"/>
                <a:ea typeface="Arial"/>
                <a:cs typeface="Arial"/>
              </a:rPr>
              <a:t>Studio 1: read the raw solver output correctly</a:t>
            </a:r>
          </a:p>
        </p:txBody>
      </p:sp>
      <p:sp>
        <p:nvSpPr>
          <p:cNvPr id="3" name="">
            <a:extLst xmlns:a="http://schemas.openxmlformats.org/drawingml/2006/main">
              <a:ext uri="{FF2B5EF4-FFF2-40B4-BE49-F238E27FC236}">
                <a16:creationId xmlns:a16="http://schemas.microsoft.com/office/drawing/2014/main" id="{7A5A5756-5BA8-41BD-AC70-9345C3740C99}"/>
              </a:ext>
            </a:extLst>
          </p:cNvPr>
          <p:cNvSpPr>
            <a:spLocks xmlns:a="http://schemas.openxmlformats.org/drawingml/2006/main" noGrp="1"/>
          </p:cNvSpPr>
          <p:nvPr/>
        </p:nvSpPr>
        <p:spPr>
          <a:xfrm xmlns:a="http://schemas.openxmlformats.org/drawingml/2006/main">
            <a:off x="609600" y="6343650"/>
            <a:ext cx="10972800" cy="0"/>
          </a:xfrm>
          <a:prstGeom xmlns:a="http://schemas.openxmlformats.org/drawingml/2006/main" prst="line">
            <a:avLst/>
          </a:prstGeom>
          <a:noFill xmlns:a="http://schemas.openxmlformats.org/drawingml/2006/main"/>
          <a:ln xmlns:a="http://schemas.openxmlformats.org/drawingml/2006/main" w="9525">
            <a:solidFill>
              <a:srgbClr val="DDE0E5"/>
            </a:solidFill>
            <a:prstDash val="solid"/>
          </a:ln>
        </p:spPr>
      </p:sp>
      <p:sp>
        <p:nvSpPr>
          <p:cNvPr id="4" name="footer">
            <a:extLst xmlns:a="http://schemas.openxmlformats.org/drawingml/2006/main">
              <a:ext uri="{FF2B5EF4-FFF2-40B4-BE49-F238E27FC236}">
                <a16:creationId xmlns:a16="http://schemas.microsoft.com/office/drawing/2014/main" id="{08AAA366-0AA3-4E0B-80FE-D493BACFA02B}"/>
              </a:ext>
            </a:extLst>
          </p:cNvPr>
          <p:cNvSpPr>
            <a:spLocks xmlns:a="http://schemas.openxmlformats.org/drawingml/2006/main" noGrp="1"/>
          </p:cNvSpPr>
          <p:nvPr/>
        </p:nvSpPr>
        <p:spPr>
          <a:xfrm xmlns:a="http://schemas.openxmlformats.org/drawingml/2006/main">
            <a:off x="609600" y="6429375"/>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ARC 500  ·  Week 10 · Meeting B · Linear Programming Studio</a:t>
            </a:r>
          </a:p>
        </p:txBody>
      </p:sp>
      <p:sp>
        <p:nvSpPr>
          <p:cNvPr id="5" name="page">
            <a:extLst xmlns:a="http://schemas.openxmlformats.org/drawingml/2006/main">
              <a:ext uri="{FF2B5EF4-FFF2-40B4-BE49-F238E27FC236}">
                <a16:creationId xmlns:a16="http://schemas.microsoft.com/office/drawing/2014/main" id="{2A95802B-9387-42F0-84DD-D05089C20E81}"/>
              </a:ext>
            </a:extLst>
          </p:cNvPr>
          <p:cNvSpPr>
            <a:spLocks xmlns:a="http://schemas.openxmlformats.org/drawingml/2006/main" noGrp="1"/>
          </p:cNvSpPr>
          <p:nvPr/>
        </p:nvSpPr>
        <p:spPr>
          <a:xfrm xmlns:a="http://schemas.openxmlformats.org/drawingml/2006/main">
            <a:off x="10896600" y="6429375"/>
            <a:ext cx="685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10</a:t>
            </a:r>
          </a:p>
        </p:txBody>
      </p:sp>
      <p:sp>
        <p:nvSpPr>
          <p:cNvPr id="6" name="exercise-accent">
            <a:extLst xmlns:a="http://schemas.openxmlformats.org/drawingml/2006/main">
              <a:ext uri="{FF2B5EF4-FFF2-40B4-BE49-F238E27FC236}">
                <a16:creationId xmlns:a16="http://schemas.microsoft.com/office/drawing/2014/main" id="{9DFB2ACC-E203-4C32-80AE-CBAE2288FE8D}"/>
              </a:ext>
            </a:extLst>
          </p:cNvPr>
          <p:cNvSpPr>
            <a:spLocks xmlns:a="http://schemas.openxmlformats.org/drawingml/2006/main" noGrp="1"/>
          </p:cNvSpPr>
          <p:nvPr/>
        </p:nvSpPr>
        <p:spPr>
          <a:xfrm xmlns:a="http://schemas.openxmlformats.org/drawingml/2006/main">
            <a:off x="609600" y="1809750"/>
            <a:ext cx="4000500" cy="4248150"/>
          </a:xfrm>
          <a:prstGeom xmlns:a="http://schemas.openxmlformats.org/drawingml/2006/main" prst="roundRect">
            <a:avLst>
              <a:gd name="adj" fmla="val 1429"/>
            </a:avLst>
          </a:prstGeom>
          <a:solidFill xmlns:a="http://schemas.openxmlformats.org/drawingml/2006/main">
            <a:srgbClr val="2E74B5"/>
          </a:solidFill>
          <a:ln xmlns:a="http://schemas.openxmlformats.org/drawingml/2006/main" w="9525">
            <a:solidFill>
              <a:srgbClr val="2E74B5"/>
            </a:solidFill>
            <a:prstDash val="solid"/>
          </a:ln>
        </p:spPr>
      </p:sp>
      <p:sp>
        <p:nvSpPr>
          <p:cNvPr id="7" name="exercise-prompt">
            <a:extLst xmlns:a="http://schemas.openxmlformats.org/drawingml/2006/main">
              <a:ext uri="{FF2B5EF4-FFF2-40B4-BE49-F238E27FC236}">
                <a16:creationId xmlns:a16="http://schemas.microsoft.com/office/drawing/2014/main" id="{710B79D3-8C7A-46C0-9F45-5B1DF5A82A74}"/>
              </a:ext>
            </a:extLst>
          </p:cNvPr>
          <p:cNvSpPr>
            <a:spLocks xmlns:a="http://schemas.openxmlformats.org/drawingml/2006/main" noGrp="1"/>
          </p:cNvSpPr>
          <p:nvPr/>
        </p:nvSpPr>
        <p:spPr>
          <a:xfrm xmlns:a="http://schemas.openxmlformats.org/drawingml/2006/main">
            <a:off x="876300" y="2095500"/>
            <a:ext cx="3467100" cy="3676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8000"/>
              </a:lnSpc>
              <a:buNone/>
              <a:defRPr sz="2100" b="1">
                <a:solidFill>
                  <a:srgbClr val="FFFFFF"/>
                </a:solidFill>
                <a:latin typeface="Arial"/>
                <a:ea typeface="Arial"/>
                <a:cs typeface="Arial"/>
              </a:defRPr>
            </a:pPr>
            <a:r>
              <a:rPr sz="2100" b="1">
                <a:solidFill>
                  <a:srgbClr val="FFFFFF"/>
                </a:solidFill>
                <a:latin typeface="Arial"/>
                <a:ea typeface="Arial"/>
                <a:cs typeface="Arial"/>
              </a:rPr>
              <a:t>res.fun printed -7800.0, not 7800.0 — and res.success printed True.</a:t>
            </a:r>
          </a:p>
        </p:txBody>
      </p:sp>
      <p:sp>
        <p:nvSpPr>
          <p:cNvPr id="8" name="work-label">
            <a:extLst xmlns:a="http://schemas.openxmlformats.org/drawingml/2006/main">
              <a:ext uri="{FF2B5EF4-FFF2-40B4-BE49-F238E27FC236}">
                <a16:creationId xmlns:a16="http://schemas.microsoft.com/office/drawing/2014/main" id="{D3889298-84BC-4EEE-A342-E3FD1E3B702E}"/>
              </a:ext>
            </a:extLst>
          </p:cNvPr>
          <p:cNvSpPr>
            <a:spLocks xmlns:a="http://schemas.openxmlformats.org/drawingml/2006/main" noGrp="1"/>
          </p:cNvSpPr>
          <p:nvPr/>
        </p:nvSpPr>
        <p:spPr>
          <a:xfrm xmlns:a="http://schemas.openxmlformats.org/drawingml/2006/main">
            <a:off x="5029200" y="1847850"/>
            <a:ext cx="6553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2E74B5"/>
                </a:solidFill>
                <a:latin typeface="Arial"/>
                <a:ea typeface="Arial"/>
                <a:cs typeface="Arial"/>
              </a:defRPr>
            </a:pPr>
            <a:r>
              <a:rPr sz="900" b="1">
                <a:solidFill>
                  <a:srgbClr val="2E74B5"/>
                </a:solidFill>
                <a:latin typeface="Arial"/>
                <a:ea typeface="Arial"/>
                <a:cs typeface="Arial"/>
              </a:rPr>
              <a:t>WORK THROUGH IT</a:t>
            </a:r>
          </a:p>
        </p:txBody>
      </p:sp>
      <p:sp>
        <p:nvSpPr>
          <p:cNvPr id="9" name="exercise-no-0">
            <a:extLst xmlns:a="http://schemas.openxmlformats.org/drawingml/2006/main">
              <a:ext uri="{FF2B5EF4-FFF2-40B4-BE49-F238E27FC236}">
                <a16:creationId xmlns:a16="http://schemas.microsoft.com/office/drawing/2014/main" id="{4348E47D-AEAE-4960-84F5-CF0265EA2624}"/>
              </a:ext>
            </a:extLst>
          </p:cNvPr>
          <p:cNvSpPr>
            <a:spLocks xmlns:a="http://schemas.openxmlformats.org/drawingml/2006/main" noGrp="1"/>
          </p:cNvSpPr>
          <p:nvPr/>
        </p:nvSpPr>
        <p:spPr>
          <a:xfrm xmlns:a="http://schemas.openxmlformats.org/drawingml/2006/main">
            <a:off x="5029200" y="2247900"/>
            <a:ext cx="381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00" b="1">
                <a:solidFill>
                  <a:srgbClr val="2E74B5"/>
                </a:solidFill>
                <a:latin typeface="Arial"/>
                <a:ea typeface="Arial"/>
                <a:cs typeface="Arial"/>
              </a:defRPr>
            </a:pPr>
            <a:r>
              <a:rPr sz="1800" b="1">
                <a:solidFill>
                  <a:srgbClr val="2E74B5"/>
                </a:solidFill>
                <a:latin typeface="Arial"/>
                <a:ea typeface="Arial"/>
                <a:cs typeface="Arial"/>
              </a:rPr>
              <a:t>1.</a:t>
            </a:r>
          </a:p>
        </p:txBody>
      </p:sp>
      <p:sp>
        <p:nvSpPr>
          <p:cNvPr id="10" name="exercise-step-0">
            <a:extLst xmlns:a="http://schemas.openxmlformats.org/drawingml/2006/main">
              <a:ext uri="{FF2B5EF4-FFF2-40B4-BE49-F238E27FC236}">
                <a16:creationId xmlns:a16="http://schemas.microsoft.com/office/drawing/2014/main" id="{F335C91C-12F1-4188-9177-3C54E5B02009}"/>
              </a:ext>
            </a:extLst>
          </p:cNvPr>
          <p:cNvSpPr>
            <a:spLocks xmlns:a="http://schemas.openxmlformats.org/drawingml/2006/main" noGrp="1"/>
          </p:cNvSpPr>
          <p:nvPr/>
        </p:nvSpPr>
        <p:spPr>
          <a:xfrm xmlns:a="http://schemas.openxmlformats.org/drawingml/2006/main">
            <a:off x="5467350" y="2247900"/>
            <a:ext cx="611505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800" b="0">
                <a:solidFill>
                  <a:srgbClr val="111316"/>
                </a:solidFill>
                <a:latin typeface="Arial"/>
                <a:ea typeface="Arial"/>
                <a:cs typeface="Arial"/>
              </a:defRPr>
            </a:pPr>
            <a:r>
              <a:rPr sz="1800" b="0">
                <a:solidFill>
                  <a:srgbClr val="111316"/>
                </a:solidFill>
                <a:latin typeface="Arial"/>
                <a:ea typeface="Arial"/>
                <a:cs typeface="Arial"/>
              </a:rPr>
              <a:t>State in one sentence why res.fun is negative here.</a:t>
            </a:r>
          </a:p>
        </p:txBody>
      </p:sp>
      <p:sp>
        <p:nvSpPr>
          <p:cNvPr id="11" name="exercise-no-1">
            <a:extLst xmlns:a="http://schemas.openxmlformats.org/drawingml/2006/main">
              <a:ext uri="{FF2B5EF4-FFF2-40B4-BE49-F238E27FC236}">
                <a16:creationId xmlns:a16="http://schemas.microsoft.com/office/drawing/2014/main" id="{390F05FA-1FC3-4236-9186-D1AA7186ED2E}"/>
              </a:ext>
            </a:extLst>
          </p:cNvPr>
          <p:cNvSpPr>
            <a:spLocks xmlns:a="http://schemas.openxmlformats.org/drawingml/2006/main" noGrp="1"/>
          </p:cNvSpPr>
          <p:nvPr/>
        </p:nvSpPr>
        <p:spPr>
          <a:xfrm xmlns:a="http://schemas.openxmlformats.org/drawingml/2006/main">
            <a:off x="5029200" y="3124200"/>
            <a:ext cx="381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00" b="1">
                <a:solidFill>
                  <a:srgbClr val="2E74B5"/>
                </a:solidFill>
                <a:latin typeface="Arial"/>
                <a:ea typeface="Arial"/>
                <a:cs typeface="Arial"/>
              </a:defRPr>
            </a:pPr>
            <a:r>
              <a:rPr sz="1800" b="1">
                <a:solidFill>
                  <a:srgbClr val="2E74B5"/>
                </a:solidFill>
                <a:latin typeface="Arial"/>
                <a:ea typeface="Arial"/>
                <a:cs typeface="Arial"/>
              </a:rPr>
              <a:t>2.</a:t>
            </a:r>
          </a:p>
        </p:txBody>
      </p:sp>
      <p:sp>
        <p:nvSpPr>
          <p:cNvPr id="12" name="exercise-step-1">
            <a:extLst xmlns:a="http://schemas.openxmlformats.org/drawingml/2006/main">
              <a:ext uri="{FF2B5EF4-FFF2-40B4-BE49-F238E27FC236}">
                <a16:creationId xmlns:a16="http://schemas.microsoft.com/office/drawing/2014/main" id="{3651CFB9-02AD-4A8A-8ACC-0888AB9605F5}"/>
              </a:ext>
            </a:extLst>
          </p:cNvPr>
          <p:cNvSpPr>
            <a:spLocks xmlns:a="http://schemas.openxmlformats.org/drawingml/2006/main" noGrp="1"/>
          </p:cNvSpPr>
          <p:nvPr/>
        </p:nvSpPr>
        <p:spPr>
          <a:xfrm xmlns:a="http://schemas.openxmlformats.org/drawingml/2006/main">
            <a:off x="5467350" y="3124200"/>
            <a:ext cx="611505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800" b="0">
                <a:solidFill>
                  <a:srgbClr val="111316"/>
                </a:solidFill>
                <a:latin typeface="Arial"/>
                <a:ea typeface="Arial"/>
                <a:cs typeface="Arial"/>
              </a:defRPr>
            </a:pPr>
            <a:r>
              <a:rPr sz="1800" b="0">
                <a:solidFill>
                  <a:srgbClr val="111316"/>
                </a:solidFill>
                <a:latin typeface="Arial"/>
                <a:ea typeface="Arial"/>
                <a:cs typeface="Arial"/>
              </a:rPr>
              <a:t>Compute the real annual benefit by negating it yourself.</a:t>
            </a:r>
          </a:p>
        </p:txBody>
      </p:sp>
      <p:sp>
        <p:nvSpPr>
          <p:cNvPr id="13" name="exercise-no-2">
            <a:extLst xmlns:a="http://schemas.openxmlformats.org/drawingml/2006/main">
              <a:ext uri="{FF2B5EF4-FFF2-40B4-BE49-F238E27FC236}">
                <a16:creationId xmlns:a16="http://schemas.microsoft.com/office/drawing/2014/main" id="{D514CD56-9FD4-4DE5-BE0D-17B2190F3E9B}"/>
              </a:ext>
            </a:extLst>
          </p:cNvPr>
          <p:cNvSpPr>
            <a:spLocks xmlns:a="http://schemas.openxmlformats.org/drawingml/2006/main" noGrp="1"/>
          </p:cNvSpPr>
          <p:nvPr/>
        </p:nvSpPr>
        <p:spPr>
          <a:xfrm xmlns:a="http://schemas.openxmlformats.org/drawingml/2006/main">
            <a:off x="5029200" y="4000500"/>
            <a:ext cx="381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00" b="1">
                <a:solidFill>
                  <a:srgbClr val="2E74B5"/>
                </a:solidFill>
                <a:latin typeface="Arial"/>
                <a:ea typeface="Arial"/>
                <a:cs typeface="Arial"/>
              </a:defRPr>
            </a:pPr>
            <a:r>
              <a:rPr sz="1800" b="1">
                <a:solidFill>
                  <a:srgbClr val="2E74B5"/>
                </a:solidFill>
                <a:latin typeface="Arial"/>
                <a:ea typeface="Arial"/>
                <a:cs typeface="Arial"/>
              </a:rPr>
              <a:t>3.</a:t>
            </a:r>
          </a:p>
        </p:txBody>
      </p:sp>
      <p:sp>
        <p:nvSpPr>
          <p:cNvPr id="14" name="exercise-step-2">
            <a:extLst xmlns:a="http://schemas.openxmlformats.org/drawingml/2006/main">
              <a:ext uri="{FF2B5EF4-FFF2-40B4-BE49-F238E27FC236}">
                <a16:creationId xmlns:a16="http://schemas.microsoft.com/office/drawing/2014/main" id="{024933D0-249D-4A6A-A74A-2BDB09600CE6}"/>
              </a:ext>
            </a:extLst>
          </p:cNvPr>
          <p:cNvSpPr>
            <a:spLocks xmlns:a="http://schemas.openxmlformats.org/drawingml/2006/main" noGrp="1"/>
          </p:cNvSpPr>
          <p:nvPr/>
        </p:nvSpPr>
        <p:spPr>
          <a:xfrm xmlns:a="http://schemas.openxmlformats.org/drawingml/2006/main">
            <a:off x="5467350" y="4000500"/>
            <a:ext cx="611505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800" b="0">
                <a:solidFill>
                  <a:srgbClr val="111316"/>
                </a:solidFill>
                <a:latin typeface="Arial"/>
                <a:ea typeface="Arial"/>
                <a:cs typeface="Arial"/>
              </a:defRPr>
            </a:pPr>
            <a:r>
              <a:rPr sz="1800" b="0">
                <a:solidFill>
                  <a:srgbClr val="111316"/>
                </a:solidFill>
                <a:latin typeface="Arial"/>
                <a:ea typeface="Arial"/>
                <a:cs typeface="Arial"/>
              </a:rPr>
              <a:t>Confirm res.success is True before doing anything else.</a:t>
            </a:r>
          </a:p>
        </p:txBody>
      </p:sp>
      <p:sp>
        <p:nvSpPr>
          <p:cNvPr id="15" name="exercise-no-3">
            <a:extLst xmlns:a="http://schemas.openxmlformats.org/drawingml/2006/main">
              <a:ext uri="{FF2B5EF4-FFF2-40B4-BE49-F238E27FC236}">
                <a16:creationId xmlns:a16="http://schemas.microsoft.com/office/drawing/2014/main" id="{B0B87933-8B4A-4210-9399-3F7DA5DF32F6}"/>
              </a:ext>
            </a:extLst>
          </p:cNvPr>
          <p:cNvSpPr>
            <a:spLocks xmlns:a="http://schemas.openxmlformats.org/drawingml/2006/main" noGrp="1"/>
          </p:cNvSpPr>
          <p:nvPr/>
        </p:nvSpPr>
        <p:spPr>
          <a:xfrm xmlns:a="http://schemas.openxmlformats.org/drawingml/2006/main">
            <a:off x="5029200" y="4876800"/>
            <a:ext cx="381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00" b="1">
                <a:solidFill>
                  <a:srgbClr val="2E74B5"/>
                </a:solidFill>
                <a:latin typeface="Arial"/>
                <a:ea typeface="Arial"/>
                <a:cs typeface="Arial"/>
              </a:defRPr>
            </a:pPr>
            <a:r>
              <a:rPr sz="1800" b="1">
                <a:solidFill>
                  <a:srgbClr val="2E74B5"/>
                </a:solidFill>
                <a:latin typeface="Arial"/>
                <a:ea typeface="Arial"/>
                <a:cs typeface="Arial"/>
              </a:rPr>
              <a:t>4.</a:t>
            </a:r>
          </a:p>
        </p:txBody>
      </p:sp>
      <p:sp>
        <p:nvSpPr>
          <p:cNvPr id="16" name="exercise-step-3">
            <a:extLst xmlns:a="http://schemas.openxmlformats.org/drawingml/2006/main">
              <a:ext uri="{FF2B5EF4-FFF2-40B4-BE49-F238E27FC236}">
                <a16:creationId xmlns:a16="http://schemas.microsoft.com/office/drawing/2014/main" id="{CF55CCC8-A535-40C0-A1AB-5EAA4EAA1FF6}"/>
              </a:ext>
            </a:extLst>
          </p:cNvPr>
          <p:cNvSpPr>
            <a:spLocks xmlns:a="http://schemas.openxmlformats.org/drawingml/2006/main" noGrp="1"/>
          </p:cNvSpPr>
          <p:nvPr/>
        </p:nvSpPr>
        <p:spPr>
          <a:xfrm xmlns:a="http://schemas.openxmlformats.org/drawingml/2006/main">
            <a:off x="5467350" y="4876800"/>
            <a:ext cx="611505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800" b="0">
                <a:solidFill>
                  <a:srgbClr val="111316"/>
                </a:solidFill>
                <a:latin typeface="Arial"/>
                <a:ea typeface="Arial"/>
                <a:cs typeface="Arial"/>
              </a:defRPr>
            </a:pPr>
            <a:r>
              <a:rPr sz="1800" b="0">
                <a:solidFill>
                  <a:srgbClr val="111316"/>
                </a:solidFill>
                <a:latin typeface="Arial"/>
                <a:ea typeface="Arial"/>
                <a:cs typeface="Arial"/>
              </a:rPr>
              <a:t>Name what res.success being True does NOT prove.</a:t>
            </a:r>
          </a:p>
        </p:txBody>
      </p:sp>
    </p:spTree>
    <p:extLst>
      <p:ext uri="{BB962C8B-B14F-4D97-AF65-F5344CB8AC3E}">
        <p14:creationId xmlns:p14="http://schemas.microsoft.com/office/powerpoint/2010/main" val="1228994955"/>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4" name="kicker">
            <a:extLst xmlns:a="http://schemas.openxmlformats.org/drawingml/2006/main">
              <a:ext uri="{FF2B5EF4-FFF2-40B4-BE49-F238E27FC236}">
                <a16:creationId xmlns:a16="http://schemas.microsoft.com/office/drawing/2014/main" id="{A4E51608-6745-4266-8D2C-71884E2E556E}"/>
              </a:ext>
            </a:extLst>
          </p:cNvPr>
          <p:cNvSpPr>
            <a:spLocks xmlns:a="http://schemas.openxmlformats.org/drawingml/2006/main" noGrp="1"/>
          </p:cNvSpPr>
          <p:nvPr/>
        </p:nvSpPr>
        <p:spPr>
          <a:xfrm xmlns:a="http://schemas.openxmlformats.org/drawingml/2006/main">
            <a:off x="609600" y="342900"/>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2E74B5"/>
                </a:solidFill>
                <a:latin typeface="Arial"/>
                <a:ea typeface="Arial"/>
                <a:cs typeface="Arial"/>
              </a:defRPr>
            </a:pPr>
            <a:r>
              <a:rPr sz="900" b="1">
                <a:solidFill>
                  <a:srgbClr val="2E74B5"/>
                </a:solidFill>
                <a:latin typeface="Arial"/>
                <a:ea typeface="Arial"/>
                <a:cs typeface="Arial"/>
              </a:rPr>
              <a:t>PREDICT BEFORE YOU RUN</a:t>
            </a:r>
          </a:p>
        </p:txBody>
      </p:sp>
      <p:sp>
        <p:nvSpPr>
          <p:cNvPr id="2" name="title">
            <a:extLst xmlns:a="http://schemas.openxmlformats.org/drawingml/2006/main">
              <a:ext uri="{FF2B5EF4-FFF2-40B4-BE49-F238E27FC236}">
                <a16:creationId xmlns:a16="http://schemas.microsoft.com/office/drawing/2014/main" id="{729608A1-DBD9-48B5-8C85-7BCA44AD74A7}"/>
              </a:ext>
            </a:extLst>
          </p:cNvPr>
          <p:cNvSpPr>
            <a:spLocks xmlns:a="http://schemas.openxmlformats.org/drawingml/2006/main" noGrp="1"/>
          </p:cNvSpPr>
          <p:nvPr/>
        </p:nvSpPr>
        <p:spPr>
          <a:xfrm xmlns:a="http://schemas.openxmlformats.org/drawingml/2006/main">
            <a:off x="609600" y="60960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3000" b="0">
                <a:solidFill>
                  <a:srgbClr val="111316"/>
                </a:solidFill>
                <a:latin typeface="Arial"/>
                <a:ea typeface="Arial"/>
                <a:cs typeface="Arial"/>
              </a:defRPr>
            </a:pPr>
            <a:r>
              <a:rPr sz="3000" b="0">
                <a:solidFill>
                  <a:srgbClr val="111316"/>
                </a:solidFill>
                <a:latin typeface="Arial"/>
                <a:ea typeface="Arial"/>
                <a:cs typeface="Arial"/>
              </a:rPr>
              <a:t>Predict before cells [2]-[3] run</a:t>
            </a:r>
          </a:p>
        </p:txBody>
      </p:sp>
      <p:sp>
        <p:nvSpPr>
          <p:cNvPr id="3" name="">
            <a:extLst xmlns:a="http://schemas.openxmlformats.org/drawingml/2006/main">
              <a:ext uri="{FF2B5EF4-FFF2-40B4-BE49-F238E27FC236}">
                <a16:creationId xmlns:a16="http://schemas.microsoft.com/office/drawing/2014/main" id="{8C3853CD-5CEA-4759-B14F-CAFCA1CC6B73}"/>
              </a:ext>
            </a:extLst>
          </p:cNvPr>
          <p:cNvSpPr>
            <a:spLocks xmlns:a="http://schemas.openxmlformats.org/drawingml/2006/main" noGrp="1"/>
          </p:cNvSpPr>
          <p:nvPr/>
        </p:nvSpPr>
        <p:spPr>
          <a:xfrm xmlns:a="http://schemas.openxmlformats.org/drawingml/2006/main">
            <a:off x="609600" y="6343650"/>
            <a:ext cx="10972800" cy="0"/>
          </a:xfrm>
          <a:prstGeom xmlns:a="http://schemas.openxmlformats.org/drawingml/2006/main" prst="line">
            <a:avLst/>
          </a:prstGeom>
          <a:noFill xmlns:a="http://schemas.openxmlformats.org/drawingml/2006/main"/>
          <a:ln xmlns:a="http://schemas.openxmlformats.org/drawingml/2006/main" w="9525">
            <a:solidFill>
              <a:srgbClr val="DDE0E5"/>
            </a:solidFill>
            <a:prstDash val="solid"/>
          </a:ln>
        </p:spPr>
      </p:sp>
      <p:sp>
        <p:nvSpPr>
          <p:cNvPr id="4" name="footer">
            <a:extLst xmlns:a="http://schemas.openxmlformats.org/drawingml/2006/main">
              <a:ext uri="{FF2B5EF4-FFF2-40B4-BE49-F238E27FC236}">
                <a16:creationId xmlns:a16="http://schemas.microsoft.com/office/drawing/2014/main" id="{35B29F69-1D49-4AF1-8650-51C4F949A3F7}"/>
              </a:ext>
            </a:extLst>
          </p:cNvPr>
          <p:cNvSpPr>
            <a:spLocks xmlns:a="http://schemas.openxmlformats.org/drawingml/2006/main" noGrp="1"/>
          </p:cNvSpPr>
          <p:nvPr/>
        </p:nvSpPr>
        <p:spPr>
          <a:xfrm xmlns:a="http://schemas.openxmlformats.org/drawingml/2006/main">
            <a:off x="609600" y="6429375"/>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ARC 500  ·  Week 10 · Meeting B · Linear Programming Studio</a:t>
            </a:r>
          </a:p>
        </p:txBody>
      </p:sp>
      <p:sp>
        <p:nvSpPr>
          <p:cNvPr id="5" name="page">
            <a:extLst xmlns:a="http://schemas.openxmlformats.org/drawingml/2006/main">
              <a:ext uri="{FF2B5EF4-FFF2-40B4-BE49-F238E27FC236}">
                <a16:creationId xmlns:a16="http://schemas.microsoft.com/office/drawing/2014/main" id="{688BFD90-B4EE-4A56-842C-8B3A1AA50B01}"/>
              </a:ext>
            </a:extLst>
          </p:cNvPr>
          <p:cNvSpPr>
            <a:spLocks xmlns:a="http://schemas.openxmlformats.org/drawingml/2006/main" noGrp="1"/>
          </p:cNvSpPr>
          <p:nvPr/>
        </p:nvSpPr>
        <p:spPr>
          <a:xfrm xmlns:a="http://schemas.openxmlformats.org/drawingml/2006/main">
            <a:off x="10896600" y="6429375"/>
            <a:ext cx="685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11</a:t>
            </a:r>
          </a:p>
        </p:txBody>
      </p:sp>
      <p:sp>
        <p:nvSpPr>
          <p:cNvPr id="6" name="code-panel">
            <a:extLst xmlns:a="http://schemas.openxmlformats.org/drawingml/2006/main">
              <a:ext uri="{FF2B5EF4-FFF2-40B4-BE49-F238E27FC236}">
                <a16:creationId xmlns:a16="http://schemas.microsoft.com/office/drawing/2014/main" id="{488E3D4E-CD05-4BA6-9D7D-83E416312742}"/>
              </a:ext>
            </a:extLst>
          </p:cNvPr>
          <p:cNvSpPr>
            <a:spLocks xmlns:a="http://schemas.openxmlformats.org/drawingml/2006/main" noGrp="1"/>
          </p:cNvSpPr>
          <p:nvPr/>
        </p:nvSpPr>
        <p:spPr>
          <a:xfrm xmlns:a="http://schemas.openxmlformats.org/drawingml/2006/main">
            <a:off x="609600" y="1809750"/>
            <a:ext cx="6324600" cy="3238500"/>
          </a:xfrm>
          <a:prstGeom xmlns:a="http://schemas.openxmlformats.org/drawingml/2006/main" prst="roundRect">
            <a:avLst>
              <a:gd name="adj" fmla="val 2353"/>
            </a:avLst>
          </a:prstGeom>
          <a:solidFill xmlns:a="http://schemas.openxmlformats.org/drawingml/2006/main">
            <a:srgbClr val="17191C"/>
          </a:solidFill>
          <a:ln xmlns:a="http://schemas.openxmlformats.org/drawingml/2006/main" w="9525">
            <a:solidFill>
              <a:srgbClr val="17191C"/>
            </a:solidFill>
            <a:prstDash val="solid"/>
          </a:ln>
        </p:spPr>
      </p:sp>
      <p:sp>
        <p:nvSpPr>
          <p:cNvPr id="7" name="code">
            <a:extLst xmlns:a="http://schemas.openxmlformats.org/drawingml/2006/main">
              <a:ext uri="{FF2B5EF4-FFF2-40B4-BE49-F238E27FC236}">
                <a16:creationId xmlns:a16="http://schemas.microsoft.com/office/drawing/2014/main" id="{1E973B52-E0FC-4A1E-BCF8-8D4D279E24FA}"/>
              </a:ext>
            </a:extLst>
          </p:cNvPr>
          <p:cNvSpPr>
            <a:spLocks xmlns:a="http://schemas.openxmlformats.org/drawingml/2006/main" noGrp="1"/>
          </p:cNvSpPr>
          <p:nvPr/>
        </p:nvSpPr>
        <p:spPr>
          <a:xfrm xmlns:a="http://schemas.openxmlformats.org/drawingml/2006/main">
            <a:off x="857250" y="2038350"/>
            <a:ext cx="5829300" cy="2781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4000"/>
              </a:lnSpc>
              <a:buNone/>
              <a:defRPr sz="1800" b="0">
                <a:solidFill>
                  <a:srgbClr val="FFFFFF"/>
                </a:solidFill>
                <a:latin typeface="Consolas"/>
                <a:ea typeface="Consolas"/>
                <a:cs typeface="Consolas"/>
              </a:defRPr>
            </a:pPr>
            <a:r>
              <a:rPr sz="1800" b="0">
                <a:solidFill>
                  <a:srgbClr val="FFFFFF"/>
                </a:solidFill>
                <a:latin typeface="Consolas"/>
                <a:ea typeface="Consolas"/>
                <a:cs typeface="Consolas"/>
              </a:rPr>
              <a:t>x1, x2 = res.x        # 80.0, 120.0</a:t>
            </a:r>
          </a:p>
          <a:p xmlns:a="http://schemas.openxmlformats.org/drawingml/2006/main">
            <a:pPr algn="l">
              <a:lnSpc>
                <a:spcPct val="114000"/>
              </a:lnSpc>
              <a:buNone/>
              <a:defRPr sz="1800" b="0">
                <a:solidFill>
                  <a:srgbClr val="FFFFFF"/>
                </a:solidFill>
                <a:latin typeface="Consolas"/>
                <a:ea typeface="Consolas"/>
                <a:cs typeface="Consolas"/>
              </a:defRPr>
            </a:pPr>
            <a:r>
              <a:rPr sz="1800" b="0">
                <a:solidFill>
                  <a:srgbClr val="FFFFFF"/>
                </a:solidFill>
                <a:latin typeface="Consolas"/>
                <a:ea typeface="Consolas"/>
                <a:cs typeface="Consolas"/>
              </a:rPr>
              <a:t>area_used = x1 + x2</a:t>
            </a:r>
          </a:p>
          <a:p xmlns:a="http://schemas.openxmlformats.org/drawingml/2006/main">
            <a:pPr algn="l">
              <a:lnSpc>
                <a:spcPct val="114000"/>
              </a:lnSpc>
              <a:buNone/>
              <a:defRPr sz="1800" b="0">
                <a:solidFill>
                  <a:srgbClr val="FFFFFF"/>
                </a:solidFill>
                <a:latin typeface="Consolas"/>
                <a:ea typeface="Consolas"/>
                <a:cs typeface="Consolas"/>
              </a:defRPr>
            </a:pPr>
            <a:r>
              <a:rPr sz="1800" b="0">
                <a:solidFill>
                  <a:srgbClr val="FFFFFF"/>
                </a:solidFill>
                <a:latin typeface="Consolas"/>
                <a:ea typeface="Consolas"/>
                <a:cs typeface="Consolas"/>
              </a:rPr>
              <a:t>budget_used = 400*x1 + 150*x2</a:t>
            </a:r>
          </a:p>
          <a:p xmlns:a="http://schemas.openxmlformats.org/drawingml/2006/main">
            <a:pPr algn="l">
              <a:lnSpc>
                <a:spcPct val="114000"/>
              </a:lnSpc>
              <a:buNone/>
              <a:defRPr sz="1800" b="0">
                <a:solidFill>
                  <a:srgbClr val="FFFFFF"/>
                </a:solidFill>
                <a:latin typeface="Consolas"/>
                <a:ea typeface="Consolas"/>
                <a:cs typeface="Consolas"/>
              </a:defRPr>
            </a:pPr>
            <a:r>
              <a:rPr sz="1800" b="0">
                <a:solidFill>
                  <a:srgbClr val="FFFFFF"/>
                </a:solidFill>
                <a:latin typeface="Consolas"/>
                <a:ea typeface="Consolas"/>
                <a:cs typeface="Consolas"/>
              </a:rPr>
              <a:t># structural cap: x1 &lt;= 120</a:t>
            </a:r>
          </a:p>
        </p:txBody>
      </p:sp>
      <p:sp>
        <p:nvSpPr>
          <p:cNvPr id="8" name="question">
            <a:extLst xmlns:a="http://schemas.openxmlformats.org/drawingml/2006/main">
              <a:ext uri="{FF2B5EF4-FFF2-40B4-BE49-F238E27FC236}">
                <a16:creationId xmlns:a16="http://schemas.microsoft.com/office/drawing/2014/main" id="{165FE02B-F9BD-4E70-BA99-B267457E113F}"/>
              </a:ext>
            </a:extLst>
          </p:cNvPr>
          <p:cNvSpPr>
            <a:spLocks xmlns:a="http://schemas.openxmlformats.org/drawingml/2006/main" noGrp="1"/>
          </p:cNvSpPr>
          <p:nvPr/>
        </p:nvSpPr>
        <p:spPr>
          <a:xfrm xmlns:a="http://schemas.openxmlformats.org/drawingml/2006/main">
            <a:off x="7315200" y="1809750"/>
            <a:ext cx="42672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100" b="1">
                <a:solidFill>
                  <a:srgbClr val="111316"/>
                </a:solidFill>
                <a:latin typeface="Arial"/>
                <a:ea typeface="Arial"/>
                <a:cs typeface="Arial"/>
              </a:defRPr>
            </a:pPr>
            <a:r>
              <a:rPr sz="2100" b="1">
                <a:solidFill>
                  <a:srgbClr val="111316"/>
                </a:solidFill>
                <a:latin typeface="Arial"/>
                <a:ea typeface="Arial"/>
                <a:cs typeface="Arial"/>
              </a:rPr>
              <a:t>Which constraint(s) bind exactly at (80, 120)?</a:t>
            </a:r>
          </a:p>
        </p:txBody>
      </p:sp>
      <p:sp>
        <p:nvSpPr>
          <p:cNvPr id="9" name="opt-0">
            <a:extLst xmlns:a="http://schemas.openxmlformats.org/drawingml/2006/main">
              <a:ext uri="{FF2B5EF4-FFF2-40B4-BE49-F238E27FC236}">
                <a16:creationId xmlns:a16="http://schemas.microsoft.com/office/drawing/2014/main" id="{80CA3980-3E3E-4879-B4DB-4451E8EFF52F}"/>
              </a:ext>
            </a:extLst>
          </p:cNvPr>
          <p:cNvSpPr>
            <a:spLocks xmlns:a="http://schemas.openxmlformats.org/drawingml/2006/main" noGrp="1"/>
          </p:cNvSpPr>
          <p:nvPr/>
        </p:nvSpPr>
        <p:spPr>
          <a:xfrm xmlns:a="http://schemas.openxmlformats.org/drawingml/2006/main">
            <a:off x="7315200" y="2571750"/>
            <a:ext cx="4267200" cy="552450"/>
          </a:xfrm>
          <a:prstGeom xmlns:a="http://schemas.openxmlformats.org/drawingml/2006/main" prst="roundRect">
            <a:avLst>
              <a:gd name="adj" fmla="val 10345"/>
            </a:avLst>
          </a:prstGeom>
          <a:solidFill xmlns:a="http://schemas.openxmlformats.org/drawingml/2006/main">
            <a:srgbClr val="F6F7F9"/>
          </a:solidFill>
          <a:ln xmlns:a="http://schemas.openxmlformats.org/drawingml/2006/main" w="9525">
            <a:solidFill>
              <a:srgbClr val="DDE0E5"/>
            </a:solidFill>
            <a:prstDash val="solid"/>
          </a:ln>
        </p:spPr>
      </p:sp>
      <p:sp>
        <p:nvSpPr>
          <p:cNvPr id="10" name="opt-letter-0">
            <a:extLst xmlns:a="http://schemas.openxmlformats.org/drawingml/2006/main">
              <a:ext uri="{FF2B5EF4-FFF2-40B4-BE49-F238E27FC236}">
                <a16:creationId xmlns:a16="http://schemas.microsoft.com/office/drawing/2014/main" id="{EDD1503F-F707-4650-8097-CB27D26AF724}"/>
              </a:ext>
            </a:extLst>
          </p:cNvPr>
          <p:cNvSpPr>
            <a:spLocks xmlns:a="http://schemas.openxmlformats.org/drawingml/2006/main" noGrp="1"/>
          </p:cNvSpPr>
          <p:nvPr/>
        </p:nvSpPr>
        <p:spPr>
          <a:xfrm xmlns:a="http://schemas.openxmlformats.org/drawingml/2006/main">
            <a:off x="7448550" y="2733675"/>
            <a:ext cx="2667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1800" b="1">
                <a:solidFill>
                  <a:srgbClr val="2E74B5"/>
                </a:solidFill>
                <a:latin typeface="Arial"/>
                <a:ea typeface="Arial"/>
                <a:cs typeface="Arial"/>
              </a:defRPr>
            </a:pPr>
            <a:r>
              <a:rPr sz="1800" b="1">
                <a:solidFill>
                  <a:srgbClr val="2E74B5"/>
                </a:solidFill>
                <a:latin typeface="Arial"/>
                <a:ea typeface="Arial"/>
                <a:cs typeface="Arial"/>
              </a:rPr>
              <a:t>A</a:t>
            </a:r>
          </a:p>
        </p:txBody>
      </p:sp>
      <p:sp>
        <p:nvSpPr>
          <p:cNvPr id="11" name="opt-text-0">
            <a:extLst xmlns:a="http://schemas.openxmlformats.org/drawingml/2006/main">
              <a:ext uri="{FF2B5EF4-FFF2-40B4-BE49-F238E27FC236}">
                <a16:creationId xmlns:a16="http://schemas.microsoft.com/office/drawing/2014/main" id="{90B1BCDA-6376-4EEB-B47C-BCED1C086764}"/>
              </a:ext>
            </a:extLst>
          </p:cNvPr>
          <p:cNvSpPr>
            <a:spLocks xmlns:a="http://schemas.openxmlformats.org/drawingml/2006/main" noGrp="1"/>
          </p:cNvSpPr>
          <p:nvPr/>
        </p:nvSpPr>
        <p:spPr>
          <a:xfrm xmlns:a="http://schemas.openxmlformats.org/drawingml/2006/main">
            <a:off x="7772400" y="2609850"/>
            <a:ext cx="36766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2000"/>
              </a:lnSpc>
              <a:buNone/>
              <a:defRPr sz="1200" b="0">
                <a:solidFill>
                  <a:srgbClr val="111316"/>
                </a:solidFill>
                <a:latin typeface="Consolas"/>
                <a:ea typeface="Consolas"/>
                <a:cs typeface="Consolas"/>
              </a:defRPr>
            </a:pPr>
            <a:r>
              <a:rPr sz="1200" b="0">
                <a:solidFill>
                  <a:srgbClr val="111316"/>
                </a:solidFill>
                <a:latin typeface="Consolas"/>
                <a:ea typeface="Consolas"/>
                <a:cs typeface="Consolas"/>
              </a:rPr>
              <a:t>Only the area limit (200 m2)</a:t>
            </a:r>
          </a:p>
        </p:txBody>
      </p:sp>
      <p:sp>
        <p:nvSpPr>
          <p:cNvPr id="12" name="opt-1">
            <a:extLst xmlns:a="http://schemas.openxmlformats.org/drawingml/2006/main">
              <a:ext uri="{FF2B5EF4-FFF2-40B4-BE49-F238E27FC236}">
                <a16:creationId xmlns:a16="http://schemas.microsoft.com/office/drawing/2014/main" id="{4E2DDC03-78CE-41B6-9D45-F841AB79A10E}"/>
              </a:ext>
            </a:extLst>
          </p:cNvPr>
          <p:cNvSpPr>
            <a:spLocks xmlns:a="http://schemas.openxmlformats.org/drawingml/2006/main" noGrp="1"/>
          </p:cNvSpPr>
          <p:nvPr/>
        </p:nvSpPr>
        <p:spPr>
          <a:xfrm xmlns:a="http://schemas.openxmlformats.org/drawingml/2006/main">
            <a:off x="7315200" y="3181350"/>
            <a:ext cx="4267200" cy="552450"/>
          </a:xfrm>
          <a:prstGeom xmlns:a="http://schemas.openxmlformats.org/drawingml/2006/main" prst="roundRect">
            <a:avLst>
              <a:gd name="adj" fmla="val 10345"/>
            </a:avLst>
          </a:prstGeom>
          <a:solidFill xmlns:a="http://schemas.openxmlformats.org/drawingml/2006/main">
            <a:srgbClr val="F6F7F9"/>
          </a:solidFill>
          <a:ln xmlns:a="http://schemas.openxmlformats.org/drawingml/2006/main" w="9525">
            <a:solidFill>
              <a:srgbClr val="DDE0E5"/>
            </a:solidFill>
            <a:prstDash val="solid"/>
          </a:ln>
        </p:spPr>
      </p:sp>
      <p:sp>
        <p:nvSpPr>
          <p:cNvPr id="13" name="opt-letter-1">
            <a:extLst xmlns:a="http://schemas.openxmlformats.org/drawingml/2006/main">
              <a:ext uri="{FF2B5EF4-FFF2-40B4-BE49-F238E27FC236}">
                <a16:creationId xmlns:a16="http://schemas.microsoft.com/office/drawing/2014/main" id="{914C19ED-0919-45F0-B90F-21904ECDBBEB}"/>
              </a:ext>
            </a:extLst>
          </p:cNvPr>
          <p:cNvSpPr>
            <a:spLocks xmlns:a="http://schemas.openxmlformats.org/drawingml/2006/main" noGrp="1"/>
          </p:cNvSpPr>
          <p:nvPr/>
        </p:nvSpPr>
        <p:spPr>
          <a:xfrm xmlns:a="http://schemas.openxmlformats.org/drawingml/2006/main">
            <a:off x="7448550" y="3343275"/>
            <a:ext cx="2667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1800" b="1">
                <a:solidFill>
                  <a:srgbClr val="2E74B5"/>
                </a:solidFill>
                <a:latin typeface="Arial"/>
                <a:ea typeface="Arial"/>
                <a:cs typeface="Arial"/>
              </a:defRPr>
            </a:pPr>
            <a:r>
              <a:rPr sz="1800" b="1">
                <a:solidFill>
                  <a:srgbClr val="2E74B5"/>
                </a:solidFill>
                <a:latin typeface="Arial"/>
                <a:ea typeface="Arial"/>
                <a:cs typeface="Arial"/>
              </a:rPr>
              <a:t>B</a:t>
            </a:r>
          </a:p>
        </p:txBody>
      </p:sp>
      <p:sp>
        <p:nvSpPr>
          <p:cNvPr id="14" name="opt-text-1">
            <a:extLst xmlns:a="http://schemas.openxmlformats.org/drawingml/2006/main">
              <a:ext uri="{FF2B5EF4-FFF2-40B4-BE49-F238E27FC236}">
                <a16:creationId xmlns:a16="http://schemas.microsoft.com/office/drawing/2014/main" id="{11034D9F-4567-4CF3-BE4E-4EA8A56DD132}"/>
              </a:ext>
            </a:extLst>
          </p:cNvPr>
          <p:cNvSpPr>
            <a:spLocks xmlns:a="http://schemas.openxmlformats.org/drawingml/2006/main" noGrp="1"/>
          </p:cNvSpPr>
          <p:nvPr/>
        </p:nvSpPr>
        <p:spPr>
          <a:xfrm xmlns:a="http://schemas.openxmlformats.org/drawingml/2006/main">
            <a:off x="7772400" y="3219450"/>
            <a:ext cx="36766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2000"/>
              </a:lnSpc>
              <a:buNone/>
              <a:defRPr sz="1200" b="0">
                <a:solidFill>
                  <a:srgbClr val="111316"/>
                </a:solidFill>
                <a:latin typeface="Consolas"/>
                <a:ea typeface="Consolas"/>
                <a:cs typeface="Consolas"/>
              </a:defRPr>
            </a:pPr>
            <a:r>
              <a:rPr sz="1200" b="0">
                <a:solidFill>
                  <a:srgbClr val="111316"/>
                </a:solidFill>
                <a:latin typeface="Consolas"/>
                <a:ea typeface="Consolas"/>
                <a:cs typeface="Consolas"/>
              </a:rPr>
              <a:t>Only the budget cap ($50,000)</a:t>
            </a:r>
          </a:p>
        </p:txBody>
      </p:sp>
      <p:sp>
        <p:nvSpPr>
          <p:cNvPr id="15" name="opt-2">
            <a:extLst xmlns:a="http://schemas.openxmlformats.org/drawingml/2006/main">
              <a:ext uri="{FF2B5EF4-FFF2-40B4-BE49-F238E27FC236}">
                <a16:creationId xmlns:a16="http://schemas.microsoft.com/office/drawing/2014/main" id="{008D0807-0298-48A8-A633-64FBB8C5CC1F}"/>
              </a:ext>
            </a:extLst>
          </p:cNvPr>
          <p:cNvSpPr>
            <a:spLocks xmlns:a="http://schemas.openxmlformats.org/drawingml/2006/main" noGrp="1"/>
          </p:cNvSpPr>
          <p:nvPr/>
        </p:nvSpPr>
        <p:spPr>
          <a:xfrm xmlns:a="http://schemas.openxmlformats.org/drawingml/2006/main">
            <a:off x="7315200" y="3790950"/>
            <a:ext cx="4267200" cy="552450"/>
          </a:xfrm>
          <a:prstGeom xmlns:a="http://schemas.openxmlformats.org/drawingml/2006/main" prst="roundRect">
            <a:avLst>
              <a:gd name="adj" fmla="val 10345"/>
            </a:avLst>
          </a:prstGeom>
          <a:solidFill xmlns:a="http://schemas.openxmlformats.org/drawingml/2006/main">
            <a:srgbClr val="F6F7F9"/>
          </a:solidFill>
          <a:ln xmlns:a="http://schemas.openxmlformats.org/drawingml/2006/main" w="9525">
            <a:solidFill>
              <a:srgbClr val="DDE0E5"/>
            </a:solidFill>
            <a:prstDash val="solid"/>
          </a:ln>
        </p:spPr>
      </p:sp>
      <p:sp>
        <p:nvSpPr>
          <p:cNvPr id="16" name="opt-letter-2">
            <a:extLst xmlns:a="http://schemas.openxmlformats.org/drawingml/2006/main">
              <a:ext uri="{FF2B5EF4-FFF2-40B4-BE49-F238E27FC236}">
                <a16:creationId xmlns:a16="http://schemas.microsoft.com/office/drawing/2014/main" id="{4F2890F7-A468-47BA-B7B6-5D265E703A6A}"/>
              </a:ext>
            </a:extLst>
          </p:cNvPr>
          <p:cNvSpPr>
            <a:spLocks xmlns:a="http://schemas.openxmlformats.org/drawingml/2006/main" noGrp="1"/>
          </p:cNvSpPr>
          <p:nvPr/>
        </p:nvSpPr>
        <p:spPr>
          <a:xfrm xmlns:a="http://schemas.openxmlformats.org/drawingml/2006/main">
            <a:off x="7448550" y="3952875"/>
            <a:ext cx="2667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1800" b="1">
                <a:solidFill>
                  <a:srgbClr val="2E74B5"/>
                </a:solidFill>
                <a:latin typeface="Arial"/>
                <a:ea typeface="Arial"/>
                <a:cs typeface="Arial"/>
              </a:defRPr>
            </a:pPr>
            <a:r>
              <a:rPr sz="1800" b="1">
                <a:solidFill>
                  <a:srgbClr val="2E74B5"/>
                </a:solidFill>
                <a:latin typeface="Arial"/>
                <a:ea typeface="Arial"/>
                <a:cs typeface="Arial"/>
              </a:rPr>
              <a:t>C</a:t>
            </a:r>
          </a:p>
        </p:txBody>
      </p:sp>
      <p:sp>
        <p:nvSpPr>
          <p:cNvPr id="17" name="opt-text-2">
            <a:extLst xmlns:a="http://schemas.openxmlformats.org/drawingml/2006/main">
              <a:ext uri="{FF2B5EF4-FFF2-40B4-BE49-F238E27FC236}">
                <a16:creationId xmlns:a16="http://schemas.microsoft.com/office/drawing/2014/main" id="{5D8E66B2-F25F-4065-B287-1A04DF0405A0}"/>
              </a:ext>
            </a:extLst>
          </p:cNvPr>
          <p:cNvSpPr>
            <a:spLocks xmlns:a="http://schemas.openxmlformats.org/drawingml/2006/main" noGrp="1"/>
          </p:cNvSpPr>
          <p:nvPr/>
        </p:nvSpPr>
        <p:spPr>
          <a:xfrm xmlns:a="http://schemas.openxmlformats.org/drawingml/2006/main">
            <a:off x="7772400" y="3829050"/>
            <a:ext cx="36766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2000"/>
              </a:lnSpc>
              <a:buNone/>
              <a:defRPr sz="1200" b="0">
                <a:solidFill>
                  <a:srgbClr val="111316"/>
                </a:solidFill>
                <a:latin typeface="Consolas"/>
                <a:ea typeface="Consolas"/>
                <a:cs typeface="Consolas"/>
              </a:defRPr>
            </a:pPr>
            <a:r>
              <a:rPr sz="1200" b="0">
                <a:solidFill>
                  <a:srgbClr val="111316"/>
                </a:solidFill>
                <a:latin typeface="Consolas"/>
                <a:ea typeface="Consolas"/>
                <a:cs typeface="Consolas"/>
              </a:rPr>
              <a:t>Both the area limit and the budget cap</a:t>
            </a:r>
          </a:p>
        </p:txBody>
      </p:sp>
      <p:sp>
        <p:nvSpPr>
          <p:cNvPr id="18" name="opt-3">
            <a:extLst xmlns:a="http://schemas.openxmlformats.org/drawingml/2006/main">
              <a:ext uri="{FF2B5EF4-FFF2-40B4-BE49-F238E27FC236}">
                <a16:creationId xmlns:a16="http://schemas.microsoft.com/office/drawing/2014/main" id="{79CC88F2-64EC-490E-A3E0-E16E599EBFD2}"/>
              </a:ext>
            </a:extLst>
          </p:cNvPr>
          <p:cNvSpPr>
            <a:spLocks xmlns:a="http://schemas.openxmlformats.org/drawingml/2006/main" noGrp="1"/>
          </p:cNvSpPr>
          <p:nvPr/>
        </p:nvSpPr>
        <p:spPr>
          <a:xfrm xmlns:a="http://schemas.openxmlformats.org/drawingml/2006/main">
            <a:off x="7315200" y="4400550"/>
            <a:ext cx="4267200" cy="552450"/>
          </a:xfrm>
          <a:prstGeom xmlns:a="http://schemas.openxmlformats.org/drawingml/2006/main" prst="roundRect">
            <a:avLst>
              <a:gd name="adj" fmla="val 10345"/>
            </a:avLst>
          </a:prstGeom>
          <a:solidFill xmlns:a="http://schemas.openxmlformats.org/drawingml/2006/main">
            <a:srgbClr val="F6F7F9"/>
          </a:solidFill>
          <a:ln xmlns:a="http://schemas.openxmlformats.org/drawingml/2006/main" w="9525">
            <a:solidFill>
              <a:srgbClr val="DDE0E5"/>
            </a:solidFill>
            <a:prstDash val="solid"/>
          </a:ln>
        </p:spPr>
      </p:sp>
      <p:sp>
        <p:nvSpPr>
          <p:cNvPr id="19" name="opt-letter-3">
            <a:extLst xmlns:a="http://schemas.openxmlformats.org/drawingml/2006/main">
              <a:ext uri="{FF2B5EF4-FFF2-40B4-BE49-F238E27FC236}">
                <a16:creationId xmlns:a16="http://schemas.microsoft.com/office/drawing/2014/main" id="{420027ED-61F6-46D1-8893-FAA9A746145E}"/>
              </a:ext>
            </a:extLst>
          </p:cNvPr>
          <p:cNvSpPr>
            <a:spLocks xmlns:a="http://schemas.openxmlformats.org/drawingml/2006/main" noGrp="1"/>
          </p:cNvSpPr>
          <p:nvPr/>
        </p:nvSpPr>
        <p:spPr>
          <a:xfrm xmlns:a="http://schemas.openxmlformats.org/drawingml/2006/main">
            <a:off x="7448550" y="4562475"/>
            <a:ext cx="2667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1800" b="1">
                <a:solidFill>
                  <a:srgbClr val="2E74B5"/>
                </a:solidFill>
                <a:latin typeface="Arial"/>
                <a:ea typeface="Arial"/>
                <a:cs typeface="Arial"/>
              </a:defRPr>
            </a:pPr>
            <a:r>
              <a:rPr sz="1800" b="1">
                <a:solidFill>
                  <a:srgbClr val="2E74B5"/>
                </a:solidFill>
                <a:latin typeface="Arial"/>
                <a:ea typeface="Arial"/>
                <a:cs typeface="Arial"/>
              </a:rPr>
              <a:t>D</a:t>
            </a:r>
          </a:p>
        </p:txBody>
      </p:sp>
      <p:sp>
        <p:nvSpPr>
          <p:cNvPr id="20" name="opt-text-3">
            <a:extLst xmlns:a="http://schemas.openxmlformats.org/drawingml/2006/main">
              <a:ext uri="{FF2B5EF4-FFF2-40B4-BE49-F238E27FC236}">
                <a16:creationId xmlns:a16="http://schemas.microsoft.com/office/drawing/2014/main" id="{DF5C8E88-B2B0-485B-A74C-763CBE9A2A20}"/>
              </a:ext>
            </a:extLst>
          </p:cNvPr>
          <p:cNvSpPr>
            <a:spLocks xmlns:a="http://schemas.openxmlformats.org/drawingml/2006/main" noGrp="1"/>
          </p:cNvSpPr>
          <p:nvPr/>
        </p:nvSpPr>
        <p:spPr>
          <a:xfrm xmlns:a="http://schemas.openxmlformats.org/drawingml/2006/main">
            <a:off x="7772400" y="4438650"/>
            <a:ext cx="36766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2000"/>
              </a:lnSpc>
              <a:buNone/>
              <a:defRPr sz="1200" b="0">
                <a:solidFill>
                  <a:srgbClr val="111316"/>
                </a:solidFill>
                <a:latin typeface="Consolas"/>
                <a:ea typeface="Consolas"/>
                <a:cs typeface="Consolas"/>
              </a:defRPr>
            </a:pPr>
            <a:r>
              <a:rPr sz="1200" b="0">
                <a:solidFill>
                  <a:srgbClr val="111316"/>
                </a:solidFill>
                <a:latin typeface="Consolas"/>
                <a:ea typeface="Consolas"/>
                <a:cs typeface="Consolas"/>
              </a:rPr>
              <a:t>The structural solar cap (120 m2)</a:t>
            </a:r>
          </a:p>
        </p:txBody>
      </p:sp>
      <p:sp>
        <p:nvSpPr>
          <p:cNvPr id="21" name="answer-panel">
            <a:extLst xmlns:a="http://schemas.openxmlformats.org/drawingml/2006/main">
              <a:ext uri="{FF2B5EF4-FFF2-40B4-BE49-F238E27FC236}">
                <a16:creationId xmlns:a16="http://schemas.microsoft.com/office/drawing/2014/main" id="{9E105693-F24E-4696-A445-9AD7586FE81B}"/>
              </a:ext>
            </a:extLst>
          </p:cNvPr>
          <p:cNvSpPr>
            <a:spLocks xmlns:a="http://schemas.openxmlformats.org/drawingml/2006/main" noGrp="1"/>
          </p:cNvSpPr>
          <p:nvPr/>
        </p:nvSpPr>
        <p:spPr>
          <a:xfrm xmlns:a="http://schemas.openxmlformats.org/drawingml/2006/main">
            <a:off x="609600" y="5219700"/>
            <a:ext cx="10972800" cy="914400"/>
          </a:xfrm>
          <a:prstGeom xmlns:a="http://schemas.openxmlformats.org/drawingml/2006/main" prst="roundRect">
            <a:avLst>
              <a:gd name="adj" fmla="val 8333"/>
            </a:avLst>
          </a:prstGeom>
          <a:solidFill xmlns:a="http://schemas.openxmlformats.org/drawingml/2006/main">
            <a:srgbClr val="F3F7FB"/>
          </a:solidFill>
          <a:ln xmlns:a="http://schemas.openxmlformats.org/drawingml/2006/main" w="9525">
            <a:solidFill>
              <a:srgbClr val="2E74B5"/>
            </a:solidFill>
            <a:prstDash val="solid"/>
          </a:ln>
        </p:spPr>
      </p:sp>
      <p:sp>
        <p:nvSpPr>
          <p:cNvPr id="22" name="answer-label">
            <a:extLst xmlns:a="http://schemas.openxmlformats.org/drawingml/2006/main">
              <a:ext uri="{FF2B5EF4-FFF2-40B4-BE49-F238E27FC236}">
                <a16:creationId xmlns:a16="http://schemas.microsoft.com/office/drawing/2014/main" id="{F4CD6108-19A2-463C-B65A-EC2EBE3AF9D5}"/>
              </a:ext>
            </a:extLst>
          </p:cNvPr>
          <p:cNvSpPr>
            <a:spLocks xmlns:a="http://schemas.openxmlformats.org/drawingml/2006/main" noGrp="1"/>
          </p:cNvSpPr>
          <p:nvPr/>
        </p:nvSpPr>
        <p:spPr>
          <a:xfrm xmlns:a="http://schemas.openxmlformats.org/drawingml/2006/main">
            <a:off x="819150" y="5372100"/>
            <a:ext cx="3048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1F4D78"/>
                </a:solidFill>
                <a:latin typeface="Arial"/>
                <a:ea typeface="Arial"/>
                <a:cs typeface="Arial"/>
              </a:defRPr>
            </a:pPr>
            <a:r>
              <a:rPr sz="900" b="1">
                <a:solidFill>
                  <a:srgbClr val="1F4D78"/>
                </a:solidFill>
                <a:latin typeface="Arial"/>
                <a:ea typeface="Arial"/>
                <a:cs typeface="Arial"/>
              </a:rPr>
              <a:t>ANSWER  ·  C</a:t>
            </a:r>
          </a:p>
        </p:txBody>
      </p:sp>
      <p:sp>
        <p:nvSpPr>
          <p:cNvPr id="23" name="why">
            <a:extLst xmlns:a="http://schemas.openxmlformats.org/drawingml/2006/main">
              <a:ext uri="{FF2B5EF4-FFF2-40B4-BE49-F238E27FC236}">
                <a16:creationId xmlns:a16="http://schemas.microsoft.com/office/drawing/2014/main" id="{F99867E7-F3B2-40F0-B80A-836AD1F99D26}"/>
              </a:ext>
            </a:extLst>
          </p:cNvPr>
          <p:cNvSpPr>
            <a:spLocks xmlns:a="http://schemas.openxmlformats.org/drawingml/2006/main" noGrp="1"/>
          </p:cNvSpPr>
          <p:nvPr/>
        </p:nvSpPr>
        <p:spPr>
          <a:xfrm xmlns:a="http://schemas.openxmlformats.org/drawingml/2006/main">
            <a:off x="819150" y="5638800"/>
            <a:ext cx="105537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500" b="0">
                <a:solidFill>
                  <a:srgbClr val="111316"/>
                </a:solidFill>
                <a:latin typeface="Arial"/>
                <a:ea typeface="Arial"/>
                <a:cs typeface="Arial"/>
              </a:defRPr>
            </a:pPr>
            <a:r>
              <a:rPr sz="1500" b="0">
                <a:solidFill>
                  <a:srgbClr val="111316"/>
                </a:solidFill>
                <a:latin typeface="Arial"/>
                <a:ea typeface="Arial"/>
                <a:cs typeface="Arial"/>
              </a:rPr>
              <a:t>area_used = 200.0 and budget_used = 50000.0 — both bind exactly. The structural cap has slack: only 80 of 120 m2 of solar is used.</a:t>
            </a:r>
          </a:p>
        </p:txBody>
      </p:sp>
    </p:spTree>
    <p:extLst>
      <p:ext uri="{BB962C8B-B14F-4D97-AF65-F5344CB8AC3E}">
        <p14:creationId xmlns:p14="http://schemas.microsoft.com/office/powerpoint/2010/main" val="2110702425"/>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kicker">
            <a:extLst xmlns:a="http://schemas.openxmlformats.org/drawingml/2006/main">
              <a:ext uri="{FF2B5EF4-FFF2-40B4-BE49-F238E27FC236}">
                <a16:creationId xmlns:a16="http://schemas.microsoft.com/office/drawing/2014/main" id="{D2A3EB8F-41E7-4231-B9AD-B38C9E3EDEC7}"/>
              </a:ext>
            </a:extLst>
          </p:cNvPr>
          <p:cNvSpPr>
            <a:spLocks xmlns:a="http://schemas.openxmlformats.org/drawingml/2006/main" noGrp="1"/>
          </p:cNvSpPr>
          <p:nvPr/>
        </p:nvSpPr>
        <p:spPr>
          <a:xfrm xmlns:a="http://schemas.openxmlformats.org/drawingml/2006/main">
            <a:off x="609600" y="342900"/>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2E74B5"/>
                </a:solidFill>
                <a:latin typeface="Arial"/>
                <a:ea typeface="Arial"/>
                <a:cs typeface="Arial"/>
              </a:defRPr>
            </a:pPr>
            <a:r>
              <a:rPr sz="900" b="1">
                <a:solidFill>
                  <a:srgbClr val="2E74B5"/>
                </a:solidFill>
                <a:latin typeface="Arial"/>
                <a:ea typeface="Arial"/>
                <a:cs typeface="Arial"/>
              </a:rPr>
              <a:t>PYTHON SYNTAX</a:t>
            </a:r>
          </a:p>
        </p:txBody>
      </p:sp>
      <p:sp>
        <p:nvSpPr>
          <p:cNvPr id="2" name="title">
            <a:extLst xmlns:a="http://schemas.openxmlformats.org/drawingml/2006/main">
              <a:ext uri="{FF2B5EF4-FFF2-40B4-BE49-F238E27FC236}">
                <a16:creationId xmlns:a16="http://schemas.microsoft.com/office/drawing/2014/main" id="{8B84A30A-0494-401C-9DFA-B8F456800216}"/>
              </a:ext>
            </a:extLst>
          </p:cNvPr>
          <p:cNvSpPr>
            <a:spLocks xmlns:a="http://schemas.openxmlformats.org/drawingml/2006/main" noGrp="1"/>
          </p:cNvSpPr>
          <p:nvPr/>
        </p:nvSpPr>
        <p:spPr>
          <a:xfrm xmlns:a="http://schemas.openxmlformats.org/drawingml/2006/main">
            <a:off x="609600" y="60960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3000" b="0">
                <a:solidFill>
                  <a:srgbClr val="111316"/>
                </a:solidFill>
                <a:latin typeface="Arial"/>
                <a:ea typeface="Arial"/>
                <a:cs typeface="Arial"/>
              </a:defRPr>
            </a:pPr>
            <a:r>
              <a:rPr sz="3000" b="0">
                <a:solidFill>
                  <a:srgbClr val="111316"/>
                </a:solidFill>
                <a:latin typeface="Arial"/>
                <a:ea typeface="Arial"/>
                <a:cs typeface="Arial"/>
              </a:rPr>
              <a:t>[2] Hand-verify constraint 1: the area limit</a:t>
            </a:r>
          </a:p>
        </p:txBody>
      </p:sp>
      <p:sp>
        <p:nvSpPr>
          <p:cNvPr id="3" name="">
            <a:extLst xmlns:a="http://schemas.openxmlformats.org/drawingml/2006/main">
              <a:ext uri="{FF2B5EF4-FFF2-40B4-BE49-F238E27FC236}">
                <a16:creationId xmlns:a16="http://schemas.microsoft.com/office/drawing/2014/main" id="{EA024137-4E5E-4A9D-94FB-083B5F8BC951}"/>
              </a:ext>
            </a:extLst>
          </p:cNvPr>
          <p:cNvSpPr>
            <a:spLocks xmlns:a="http://schemas.openxmlformats.org/drawingml/2006/main" noGrp="1"/>
          </p:cNvSpPr>
          <p:nvPr/>
        </p:nvSpPr>
        <p:spPr>
          <a:xfrm xmlns:a="http://schemas.openxmlformats.org/drawingml/2006/main">
            <a:off x="609600" y="6343650"/>
            <a:ext cx="10972800" cy="0"/>
          </a:xfrm>
          <a:prstGeom xmlns:a="http://schemas.openxmlformats.org/drawingml/2006/main" prst="line">
            <a:avLst/>
          </a:prstGeom>
          <a:noFill xmlns:a="http://schemas.openxmlformats.org/drawingml/2006/main"/>
          <a:ln xmlns:a="http://schemas.openxmlformats.org/drawingml/2006/main" w="9525">
            <a:solidFill>
              <a:srgbClr val="DDE0E5"/>
            </a:solidFill>
            <a:prstDash val="solid"/>
          </a:ln>
        </p:spPr>
      </p:sp>
      <p:sp>
        <p:nvSpPr>
          <p:cNvPr id="4" name="footer">
            <a:extLst xmlns:a="http://schemas.openxmlformats.org/drawingml/2006/main">
              <a:ext uri="{FF2B5EF4-FFF2-40B4-BE49-F238E27FC236}">
                <a16:creationId xmlns:a16="http://schemas.microsoft.com/office/drawing/2014/main" id="{01A24504-F33E-41CF-A226-3208A14263EE}"/>
              </a:ext>
            </a:extLst>
          </p:cNvPr>
          <p:cNvSpPr>
            <a:spLocks xmlns:a="http://schemas.openxmlformats.org/drawingml/2006/main" noGrp="1"/>
          </p:cNvSpPr>
          <p:nvPr/>
        </p:nvSpPr>
        <p:spPr>
          <a:xfrm xmlns:a="http://schemas.openxmlformats.org/drawingml/2006/main">
            <a:off x="609600" y="6429375"/>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ARC 500  ·  Week 10 · Meeting B · Linear Programming Studio</a:t>
            </a:r>
          </a:p>
        </p:txBody>
      </p:sp>
      <p:sp>
        <p:nvSpPr>
          <p:cNvPr id="5" name="page">
            <a:extLst xmlns:a="http://schemas.openxmlformats.org/drawingml/2006/main">
              <a:ext uri="{FF2B5EF4-FFF2-40B4-BE49-F238E27FC236}">
                <a16:creationId xmlns:a16="http://schemas.microsoft.com/office/drawing/2014/main" id="{41CFCAAD-A6C3-4B15-B719-2563C33F1316}"/>
              </a:ext>
            </a:extLst>
          </p:cNvPr>
          <p:cNvSpPr>
            <a:spLocks xmlns:a="http://schemas.openxmlformats.org/drawingml/2006/main" noGrp="1"/>
          </p:cNvSpPr>
          <p:nvPr/>
        </p:nvSpPr>
        <p:spPr>
          <a:xfrm xmlns:a="http://schemas.openxmlformats.org/drawingml/2006/main">
            <a:off x="10896600" y="6429375"/>
            <a:ext cx="685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12</a:t>
            </a:r>
          </a:p>
        </p:txBody>
      </p:sp>
      <p:sp>
        <p:nvSpPr>
          <p:cNvPr id="6" name="code-panel">
            <a:extLst xmlns:a="http://schemas.openxmlformats.org/drawingml/2006/main">
              <a:ext uri="{FF2B5EF4-FFF2-40B4-BE49-F238E27FC236}">
                <a16:creationId xmlns:a16="http://schemas.microsoft.com/office/drawing/2014/main" id="{DB7A68FD-CAB5-4749-AAA6-BFDDFF813118}"/>
              </a:ext>
            </a:extLst>
          </p:cNvPr>
          <p:cNvSpPr>
            <a:spLocks xmlns:a="http://schemas.openxmlformats.org/drawingml/2006/main" noGrp="1"/>
          </p:cNvSpPr>
          <p:nvPr/>
        </p:nvSpPr>
        <p:spPr>
          <a:xfrm xmlns:a="http://schemas.openxmlformats.org/drawingml/2006/main">
            <a:off x="609600" y="1809750"/>
            <a:ext cx="6896100" cy="4267200"/>
          </a:xfrm>
          <a:prstGeom xmlns:a="http://schemas.openxmlformats.org/drawingml/2006/main" prst="roundRect">
            <a:avLst>
              <a:gd name="adj" fmla="val 1786"/>
            </a:avLst>
          </a:prstGeom>
          <a:solidFill xmlns:a="http://schemas.openxmlformats.org/drawingml/2006/main">
            <a:srgbClr val="17191C"/>
          </a:solidFill>
          <a:ln xmlns:a="http://schemas.openxmlformats.org/drawingml/2006/main" w="9525">
            <a:solidFill>
              <a:srgbClr val="17191C"/>
            </a:solidFill>
            <a:prstDash val="solid"/>
          </a:ln>
        </p:spPr>
      </p:sp>
      <p:sp>
        <p:nvSpPr>
          <p:cNvPr id="7" name="code">
            <a:extLst xmlns:a="http://schemas.openxmlformats.org/drawingml/2006/main">
              <a:ext uri="{FF2B5EF4-FFF2-40B4-BE49-F238E27FC236}">
                <a16:creationId xmlns:a16="http://schemas.microsoft.com/office/drawing/2014/main" id="{6BE6A3EC-02E6-4C39-9D2B-E11087CA4745}"/>
              </a:ext>
            </a:extLst>
          </p:cNvPr>
          <p:cNvSpPr>
            <a:spLocks xmlns:a="http://schemas.openxmlformats.org/drawingml/2006/main" noGrp="1"/>
          </p:cNvSpPr>
          <p:nvPr/>
        </p:nvSpPr>
        <p:spPr>
          <a:xfrm xmlns:a="http://schemas.openxmlformats.org/drawingml/2006/main">
            <a:off x="857250" y="2057400"/>
            <a:ext cx="6400800" cy="314096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4000"/>
              </a:lnSpc>
              <a:buNone/>
              <a:defRPr sz="1800" b="0">
                <a:solidFill>
                  <a:srgbClr val="FFFFFF"/>
                </a:solidFill>
                <a:latin typeface="Consolas"/>
                <a:ea typeface="Consolas"/>
                <a:cs typeface="Consolas"/>
              </a:defRPr>
            </a:pPr>
            <a:r>
              <a:rPr sz="1800" b="0">
                <a:solidFill>
                  <a:srgbClr val="FFFFFF"/>
                </a:solidFill>
                <a:latin typeface="Consolas"/>
                <a:ea typeface="Consolas"/>
                <a:cs typeface="Consolas"/>
              </a:rPr>
              <a:t>x1, x2 = res.x</a:t>
            </a:r>
          </a:p>
          <a:p xmlns:a="http://schemas.openxmlformats.org/drawingml/2006/main">
            <a:pPr algn="l">
              <a:lnSpc>
                <a:spcPct val="114000"/>
              </a:lnSpc>
              <a:buNone/>
              <a:defRPr sz="1800" b="0">
                <a:solidFill>
                  <a:srgbClr val="FFFFFF"/>
                </a:solidFill>
                <a:latin typeface="Consolas"/>
                <a:ea typeface="Consolas"/>
                <a:cs typeface="Consolas"/>
              </a:defRPr>
            </a:pPr>
            <a:r>
              <a:rPr sz="1800" b="0">
                <a:solidFill>
                  <a:srgbClr val="FFFFFF"/>
                </a:solidFill>
                <a:latin typeface="Consolas"/>
                <a:ea typeface="Consolas"/>
                <a:cs typeface="Consolas"/>
              </a:rPr>
              <a:t>area_used = x1 + x2</a:t>
            </a:r>
          </a:p>
          <a:p xmlns:a="http://schemas.openxmlformats.org/drawingml/2006/main">
            <a:pPr algn="l">
              <a:lnSpc>
                <a:spcPct val="114000"/>
              </a:lnSpc>
              <a:buNone/>
              <a:defRPr sz="1800" b="0">
                <a:solidFill>
                  <a:srgbClr val="FFFFFF"/>
                </a:solidFill>
                <a:latin typeface="Consolas"/>
                <a:ea typeface="Consolas"/>
                <a:cs typeface="Consolas"/>
              </a:defRPr>
            </a:pPr>
            <a:r>
              <a:rPr sz="1800" b="0">
                <a:solidFill>
                  <a:srgbClr val="FFFFFF"/>
                </a:solidFill>
                <a:latin typeface="Consolas"/>
                <a:ea typeface="Consolas"/>
                <a:cs typeface="Consolas"/>
              </a:rPr>
              <a:t>print('area used:', area_used, '&lt;= 200 ?', area_used &lt;= 200)</a:t>
            </a:r>
          </a:p>
        </p:txBody>
      </p:sp>
      <p:sp>
        <p:nvSpPr>
          <p:cNvPr id="8" name="">
            <a:extLst xmlns:a="http://schemas.openxmlformats.org/drawingml/2006/main">
              <a:ext uri="{FF2B5EF4-FFF2-40B4-BE49-F238E27FC236}">
                <a16:creationId xmlns:a16="http://schemas.microsoft.com/office/drawing/2014/main" id="{48DC65ED-59C6-4498-A56B-61B6B0001344}"/>
              </a:ext>
            </a:extLst>
          </p:cNvPr>
          <p:cNvSpPr>
            <a:spLocks xmlns:a="http://schemas.openxmlformats.org/drawingml/2006/main" noGrp="1"/>
          </p:cNvSpPr>
          <p:nvPr/>
        </p:nvSpPr>
        <p:spPr>
          <a:xfrm xmlns:a="http://schemas.openxmlformats.org/drawingml/2006/main">
            <a:off x="857250" y="5255514"/>
            <a:ext cx="6400800" cy="0"/>
          </a:xfrm>
          <a:prstGeom xmlns:a="http://schemas.openxmlformats.org/drawingml/2006/main" prst="line">
            <a:avLst/>
          </a:prstGeom>
          <a:noFill xmlns:a="http://schemas.openxmlformats.org/drawingml/2006/main"/>
          <a:ln xmlns:a="http://schemas.openxmlformats.org/drawingml/2006/main" w="9525">
            <a:solidFill>
              <a:srgbClr val="4E5258"/>
            </a:solidFill>
            <a:prstDash val="solid"/>
          </a:ln>
        </p:spPr>
      </p:sp>
      <p:sp>
        <p:nvSpPr>
          <p:cNvPr id="9" name="output-label">
            <a:extLst xmlns:a="http://schemas.openxmlformats.org/drawingml/2006/main">
              <a:ext uri="{FF2B5EF4-FFF2-40B4-BE49-F238E27FC236}">
                <a16:creationId xmlns:a16="http://schemas.microsoft.com/office/drawing/2014/main" id="{E5A87645-D341-4080-B685-B71D5C85BC0C}"/>
              </a:ext>
            </a:extLst>
          </p:cNvPr>
          <p:cNvSpPr>
            <a:spLocks xmlns:a="http://schemas.openxmlformats.org/drawingml/2006/main" noGrp="1"/>
          </p:cNvSpPr>
          <p:nvPr/>
        </p:nvSpPr>
        <p:spPr>
          <a:xfrm xmlns:a="http://schemas.openxmlformats.org/drawingml/2006/main">
            <a:off x="857250" y="5369814"/>
            <a:ext cx="190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E8EEF5"/>
                </a:solidFill>
                <a:latin typeface="Arial"/>
                <a:ea typeface="Arial"/>
                <a:cs typeface="Arial"/>
              </a:defRPr>
            </a:pPr>
            <a:r>
              <a:rPr sz="900" b="1">
                <a:solidFill>
                  <a:srgbClr val="E8EEF5"/>
                </a:solidFill>
                <a:latin typeface="Arial"/>
                <a:ea typeface="Arial"/>
                <a:cs typeface="Arial"/>
              </a:rPr>
              <a:t>OUTPUT</a:t>
            </a:r>
          </a:p>
        </p:txBody>
      </p:sp>
      <p:sp>
        <p:nvSpPr>
          <p:cNvPr id="10" name="output">
            <a:extLst xmlns:a="http://schemas.openxmlformats.org/drawingml/2006/main">
              <a:ext uri="{FF2B5EF4-FFF2-40B4-BE49-F238E27FC236}">
                <a16:creationId xmlns:a16="http://schemas.microsoft.com/office/drawing/2014/main" id="{76CB4982-BB22-4D6B-95BA-66EA782DA70B}"/>
              </a:ext>
            </a:extLst>
          </p:cNvPr>
          <p:cNvSpPr>
            <a:spLocks xmlns:a="http://schemas.openxmlformats.org/drawingml/2006/main" noGrp="1"/>
          </p:cNvSpPr>
          <p:nvPr/>
        </p:nvSpPr>
        <p:spPr>
          <a:xfrm xmlns:a="http://schemas.openxmlformats.org/drawingml/2006/main">
            <a:off x="857250" y="5598414"/>
            <a:ext cx="6400800" cy="23088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4000"/>
              </a:lnSpc>
              <a:buNone/>
              <a:defRPr sz="1200" b="0">
                <a:solidFill>
                  <a:srgbClr val="E8EEF5"/>
                </a:solidFill>
                <a:latin typeface="Consolas"/>
                <a:ea typeface="Consolas"/>
                <a:cs typeface="Consolas"/>
              </a:defRPr>
            </a:pPr>
            <a:r>
              <a:rPr sz="1200" b="0">
                <a:solidFill>
                  <a:srgbClr val="E8EEF5"/>
                </a:solidFill>
                <a:latin typeface="Consolas"/>
                <a:ea typeface="Consolas"/>
                <a:cs typeface="Consolas"/>
              </a:rPr>
              <a:t>area used: 200.0 &lt;= 200 ? True</a:t>
            </a:r>
          </a:p>
        </p:txBody>
      </p:sp>
      <p:sp>
        <p:nvSpPr>
          <p:cNvPr id="11" name="explain-head">
            <a:extLst xmlns:a="http://schemas.openxmlformats.org/drawingml/2006/main">
              <a:ext uri="{FF2B5EF4-FFF2-40B4-BE49-F238E27FC236}">
                <a16:creationId xmlns:a16="http://schemas.microsoft.com/office/drawing/2014/main" id="{C024C6CD-426E-4510-BCAA-1BACFBF814D7}"/>
              </a:ext>
            </a:extLst>
          </p:cNvPr>
          <p:cNvSpPr>
            <a:spLocks xmlns:a="http://schemas.openxmlformats.org/drawingml/2006/main" noGrp="1"/>
          </p:cNvSpPr>
          <p:nvPr/>
        </p:nvSpPr>
        <p:spPr>
          <a:xfrm xmlns:a="http://schemas.openxmlformats.org/drawingml/2006/main">
            <a:off x="7886700" y="2762250"/>
            <a:ext cx="3695700" cy="63322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100" b="1">
                <a:solidFill>
                  <a:srgbClr val="111316"/>
                </a:solidFill>
                <a:latin typeface="Arial"/>
                <a:ea typeface="Arial"/>
                <a:cs typeface="Arial"/>
              </a:defRPr>
            </a:pPr>
            <a:r>
              <a:rPr sz="2100" b="1">
                <a:solidFill>
                  <a:srgbClr val="111316"/>
                </a:solidFill>
                <a:latin typeface="Arial"/>
                <a:ea typeface="Arial"/>
                <a:cs typeface="Arial"/>
              </a:rPr>
              <a:t>Not just satisfied — binding</a:t>
            </a:r>
          </a:p>
        </p:txBody>
      </p:sp>
      <p:sp>
        <p:nvSpPr>
          <p:cNvPr id="12" name="explain-body">
            <a:extLst xmlns:a="http://schemas.openxmlformats.org/drawingml/2006/main">
              <a:ext uri="{FF2B5EF4-FFF2-40B4-BE49-F238E27FC236}">
                <a16:creationId xmlns:a16="http://schemas.microsoft.com/office/drawing/2014/main" id="{6655B55D-FA20-44F2-9765-BAA3FD946DD7}"/>
              </a:ext>
            </a:extLst>
          </p:cNvPr>
          <p:cNvSpPr>
            <a:spLocks xmlns:a="http://schemas.openxmlformats.org/drawingml/2006/main" noGrp="1"/>
          </p:cNvSpPr>
          <p:nvPr/>
        </p:nvSpPr>
        <p:spPr>
          <a:xfrm xmlns:a="http://schemas.openxmlformats.org/drawingml/2006/main">
            <a:off x="7886700" y="3547872"/>
            <a:ext cx="3695700" cy="96012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500" b="0">
                <a:solidFill>
                  <a:srgbClr val="5A5F66"/>
                </a:solidFill>
                <a:latin typeface="Arial"/>
                <a:ea typeface="Arial"/>
                <a:cs typeface="Arial"/>
              </a:defRPr>
            </a:pPr>
            <a:r>
              <a:rPr sz="1500" b="0">
                <a:solidFill>
                  <a:srgbClr val="5A5F66"/>
                </a:solidFill>
                <a:latin typeface="Arial"/>
                <a:ea typeface="Arial"/>
                <a:cs typeface="Arial"/>
              </a:rPr>
              <a:t>200.0 does not merely satisfy x1 + x2 &lt;= 200 — it hits the limit EXACTLY. Every m2 of the 200 m2 roof is used; the area constraint binds.</a:t>
            </a:r>
          </a:p>
        </p:txBody>
      </p:sp>
    </p:spTree>
    <p:extLst>
      <p:ext uri="{BB962C8B-B14F-4D97-AF65-F5344CB8AC3E}">
        <p14:creationId xmlns:p14="http://schemas.microsoft.com/office/powerpoint/2010/main" val="1770707385"/>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kicker">
            <a:extLst xmlns:a="http://schemas.openxmlformats.org/drawingml/2006/main">
              <a:ext uri="{FF2B5EF4-FFF2-40B4-BE49-F238E27FC236}">
                <a16:creationId xmlns:a16="http://schemas.microsoft.com/office/drawing/2014/main" id="{A0BE298D-4ED6-47D1-A5B6-93C048145EF5}"/>
              </a:ext>
            </a:extLst>
          </p:cNvPr>
          <p:cNvSpPr>
            <a:spLocks xmlns:a="http://schemas.openxmlformats.org/drawingml/2006/main" noGrp="1"/>
          </p:cNvSpPr>
          <p:nvPr/>
        </p:nvSpPr>
        <p:spPr>
          <a:xfrm xmlns:a="http://schemas.openxmlformats.org/drawingml/2006/main">
            <a:off x="609600" y="342900"/>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2E74B5"/>
                </a:solidFill>
                <a:latin typeface="Arial"/>
                <a:ea typeface="Arial"/>
                <a:cs typeface="Arial"/>
              </a:defRPr>
            </a:pPr>
            <a:r>
              <a:rPr sz="900" b="1">
                <a:solidFill>
                  <a:srgbClr val="2E74B5"/>
                </a:solidFill>
                <a:latin typeface="Arial"/>
                <a:ea typeface="Arial"/>
                <a:cs typeface="Arial"/>
              </a:rPr>
              <a:t>PYTHON SYNTAX</a:t>
            </a:r>
          </a:p>
        </p:txBody>
      </p:sp>
      <p:sp>
        <p:nvSpPr>
          <p:cNvPr id="2" name="title">
            <a:extLst xmlns:a="http://schemas.openxmlformats.org/drawingml/2006/main">
              <a:ext uri="{FF2B5EF4-FFF2-40B4-BE49-F238E27FC236}">
                <a16:creationId xmlns:a16="http://schemas.microsoft.com/office/drawing/2014/main" id="{2BF555A0-2DD6-4231-A504-52021C4D8B04}"/>
              </a:ext>
            </a:extLst>
          </p:cNvPr>
          <p:cNvSpPr>
            <a:spLocks xmlns:a="http://schemas.openxmlformats.org/drawingml/2006/main" noGrp="1"/>
          </p:cNvSpPr>
          <p:nvPr/>
        </p:nvSpPr>
        <p:spPr>
          <a:xfrm xmlns:a="http://schemas.openxmlformats.org/drawingml/2006/main">
            <a:off x="609600" y="60960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3000" b="0">
                <a:solidFill>
                  <a:srgbClr val="111316"/>
                </a:solidFill>
                <a:latin typeface="Arial"/>
                <a:ea typeface="Arial"/>
                <a:cs typeface="Arial"/>
              </a:defRPr>
            </a:pPr>
            <a:r>
              <a:rPr sz="3000" b="0">
                <a:solidFill>
                  <a:srgbClr val="111316"/>
                </a:solidFill>
                <a:latin typeface="Arial"/>
                <a:ea typeface="Arial"/>
                <a:cs typeface="Arial"/>
              </a:rPr>
              <a:t>[3] Hand-verify constraint 2: the budget cap</a:t>
            </a:r>
          </a:p>
        </p:txBody>
      </p:sp>
      <p:sp>
        <p:nvSpPr>
          <p:cNvPr id="3" name="">
            <a:extLst xmlns:a="http://schemas.openxmlformats.org/drawingml/2006/main">
              <a:ext uri="{FF2B5EF4-FFF2-40B4-BE49-F238E27FC236}">
                <a16:creationId xmlns:a16="http://schemas.microsoft.com/office/drawing/2014/main" id="{9B335A22-FB96-415D-A85F-31651CEC3B0C}"/>
              </a:ext>
            </a:extLst>
          </p:cNvPr>
          <p:cNvSpPr>
            <a:spLocks xmlns:a="http://schemas.openxmlformats.org/drawingml/2006/main" noGrp="1"/>
          </p:cNvSpPr>
          <p:nvPr/>
        </p:nvSpPr>
        <p:spPr>
          <a:xfrm xmlns:a="http://schemas.openxmlformats.org/drawingml/2006/main">
            <a:off x="609600" y="6343650"/>
            <a:ext cx="10972800" cy="0"/>
          </a:xfrm>
          <a:prstGeom xmlns:a="http://schemas.openxmlformats.org/drawingml/2006/main" prst="line">
            <a:avLst/>
          </a:prstGeom>
          <a:noFill xmlns:a="http://schemas.openxmlformats.org/drawingml/2006/main"/>
          <a:ln xmlns:a="http://schemas.openxmlformats.org/drawingml/2006/main" w="9525">
            <a:solidFill>
              <a:srgbClr val="DDE0E5"/>
            </a:solidFill>
            <a:prstDash val="solid"/>
          </a:ln>
        </p:spPr>
      </p:sp>
      <p:sp>
        <p:nvSpPr>
          <p:cNvPr id="4" name="footer">
            <a:extLst xmlns:a="http://schemas.openxmlformats.org/drawingml/2006/main">
              <a:ext uri="{FF2B5EF4-FFF2-40B4-BE49-F238E27FC236}">
                <a16:creationId xmlns:a16="http://schemas.microsoft.com/office/drawing/2014/main" id="{BF77C60E-16D3-446C-B888-2FE9CE2D86CC}"/>
              </a:ext>
            </a:extLst>
          </p:cNvPr>
          <p:cNvSpPr>
            <a:spLocks xmlns:a="http://schemas.openxmlformats.org/drawingml/2006/main" noGrp="1"/>
          </p:cNvSpPr>
          <p:nvPr/>
        </p:nvSpPr>
        <p:spPr>
          <a:xfrm xmlns:a="http://schemas.openxmlformats.org/drawingml/2006/main">
            <a:off x="609600" y="6429375"/>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ARC 500  ·  Week 10 · Meeting B · Linear Programming Studio</a:t>
            </a:r>
          </a:p>
        </p:txBody>
      </p:sp>
      <p:sp>
        <p:nvSpPr>
          <p:cNvPr id="5" name="page">
            <a:extLst xmlns:a="http://schemas.openxmlformats.org/drawingml/2006/main">
              <a:ext uri="{FF2B5EF4-FFF2-40B4-BE49-F238E27FC236}">
                <a16:creationId xmlns:a16="http://schemas.microsoft.com/office/drawing/2014/main" id="{B430D7F6-19B0-4A91-8CC5-FF2DB4BCA5FA}"/>
              </a:ext>
            </a:extLst>
          </p:cNvPr>
          <p:cNvSpPr>
            <a:spLocks xmlns:a="http://schemas.openxmlformats.org/drawingml/2006/main" noGrp="1"/>
          </p:cNvSpPr>
          <p:nvPr/>
        </p:nvSpPr>
        <p:spPr>
          <a:xfrm xmlns:a="http://schemas.openxmlformats.org/drawingml/2006/main">
            <a:off x="10896600" y="6429375"/>
            <a:ext cx="685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13</a:t>
            </a:r>
          </a:p>
        </p:txBody>
      </p:sp>
      <p:sp>
        <p:nvSpPr>
          <p:cNvPr id="6" name="code-panel">
            <a:extLst xmlns:a="http://schemas.openxmlformats.org/drawingml/2006/main">
              <a:ext uri="{FF2B5EF4-FFF2-40B4-BE49-F238E27FC236}">
                <a16:creationId xmlns:a16="http://schemas.microsoft.com/office/drawing/2014/main" id="{C2F2006C-C59F-47FA-B779-95F953D3054F}"/>
              </a:ext>
            </a:extLst>
          </p:cNvPr>
          <p:cNvSpPr>
            <a:spLocks xmlns:a="http://schemas.openxmlformats.org/drawingml/2006/main" noGrp="1"/>
          </p:cNvSpPr>
          <p:nvPr/>
        </p:nvSpPr>
        <p:spPr>
          <a:xfrm xmlns:a="http://schemas.openxmlformats.org/drawingml/2006/main">
            <a:off x="609600" y="1809750"/>
            <a:ext cx="6896100" cy="4267200"/>
          </a:xfrm>
          <a:prstGeom xmlns:a="http://schemas.openxmlformats.org/drawingml/2006/main" prst="roundRect">
            <a:avLst>
              <a:gd name="adj" fmla="val 1786"/>
            </a:avLst>
          </a:prstGeom>
          <a:solidFill xmlns:a="http://schemas.openxmlformats.org/drawingml/2006/main">
            <a:srgbClr val="17191C"/>
          </a:solidFill>
          <a:ln xmlns:a="http://schemas.openxmlformats.org/drawingml/2006/main" w="9525">
            <a:solidFill>
              <a:srgbClr val="17191C"/>
            </a:solidFill>
            <a:prstDash val="solid"/>
          </a:ln>
        </p:spPr>
      </p:sp>
      <p:sp>
        <p:nvSpPr>
          <p:cNvPr id="7" name="code">
            <a:extLst xmlns:a="http://schemas.openxmlformats.org/drawingml/2006/main">
              <a:ext uri="{FF2B5EF4-FFF2-40B4-BE49-F238E27FC236}">
                <a16:creationId xmlns:a16="http://schemas.microsoft.com/office/drawing/2014/main" id="{11F31F54-9A54-4862-BFDB-DAED1DE005A6}"/>
              </a:ext>
            </a:extLst>
          </p:cNvPr>
          <p:cNvSpPr>
            <a:spLocks xmlns:a="http://schemas.openxmlformats.org/drawingml/2006/main" noGrp="1"/>
          </p:cNvSpPr>
          <p:nvPr/>
        </p:nvSpPr>
        <p:spPr>
          <a:xfrm xmlns:a="http://schemas.openxmlformats.org/drawingml/2006/main">
            <a:off x="857250" y="2057400"/>
            <a:ext cx="6400800" cy="314096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4000"/>
              </a:lnSpc>
              <a:buNone/>
              <a:defRPr sz="1800" b="0">
                <a:solidFill>
                  <a:srgbClr val="FFFFFF"/>
                </a:solidFill>
                <a:latin typeface="Consolas"/>
                <a:ea typeface="Consolas"/>
                <a:cs typeface="Consolas"/>
              </a:defRPr>
            </a:pPr>
            <a:r>
              <a:rPr sz="1800" b="0">
                <a:solidFill>
                  <a:srgbClr val="FFFFFF"/>
                </a:solidFill>
                <a:latin typeface="Consolas"/>
                <a:ea typeface="Consolas"/>
                <a:cs typeface="Consolas"/>
              </a:rPr>
              <a:t>budget_used = 400 * x1 + 150 * x2</a:t>
            </a:r>
          </a:p>
          <a:p xmlns:a="http://schemas.openxmlformats.org/drawingml/2006/main">
            <a:pPr algn="l">
              <a:lnSpc>
                <a:spcPct val="114000"/>
              </a:lnSpc>
              <a:buNone/>
              <a:defRPr sz="1800" b="0">
                <a:solidFill>
                  <a:srgbClr val="FFFFFF"/>
                </a:solidFill>
                <a:latin typeface="Consolas"/>
                <a:ea typeface="Consolas"/>
                <a:cs typeface="Consolas"/>
              </a:defRPr>
            </a:pPr>
            <a:r>
              <a:rPr sz="1800" b="0">
                <a:solidFill>
                  <a:srgbClr val="FFFFFF"/>
                </a:solidFill>
                <a:latin typeface="Consolas"/>
                <a:ea typeface="Consolas"/>
                <a:cs typeface="Consolas"/>
              </a:rPr>
              <a:t>print('budget used:', budget_used, '&lt;= 50000 ?', budget_used &lt;= 50000)</a:t>
            </a:r>
          </a:p>
        </p:txBody>
      </p:sp>
      <p:sp>
        <p:nvSpPr>
          <p:cNvPr id="8" name="">
            <a:extLst xmlns:a="http://schemas.openxmlformats.org/drawingml/2006/main">
              <a:ext uri="{FF2B5EF4-FFF2-40B4-BE49-F238E27FC236}">
                <a16:creationId xmlns:a16="http://schemas.microsoft.com/office/drawing/2014/main" id="{1DC650FD-A698-4F32-8F1C-DD682FA2BC5C}"/>
              </a:ext>
            </a:extLst>
          </p:cNvPr>
          <p:cNvSpPr>
            <a:spLocks xmlns:a="http://schemas.openxmlformats.org/drawingml/2006/main" noGrp="1"/>
          </p:cNvSpPr>
          <p:nvPr/>
        </p:nvSpPr>
        <p:spPr>
          <a:xfrm xmlns:a="http://schemas.openxmlformats.org/drawingml/2006/main">
            <a:off x="857250" y="5255514"/>
            <a:ext cx="6400800" cy="0"/>
          </a:xfrm>
          <a:prstGeom xmlns:a="http://schemas.openxmlformats.org/drawingml/2006/main" prst="line">
            <a:avLst/>
          </a:prstGeom>
          <a:noFill xmlns:a="http://schemas.openxmlformats.org/drawingml/2006/main"/>
          <a:ln xmlns:a="http://schemas.openxmlformats.org/drawingml/2006/main" w="9525">
            <a:solidFill>
              <a:srgbClr val="4E5258"/>
            </a:solidFill>
            <a:prstDash val="solid"/>
          </a:ln>
        </p:spPr>
      </p:sp>
      <p:sp>
        <p:nvSpPr>
          <p:cNvPr id="9" name="output-label">
            <a:extLst xmlns:a="http://schemas.openxmlformats.org/drawingml/2006/main">
              <a:ext uri="{FF2B5EF4-FFF2-40B4-BE49-F238E27FC236}">
                <a16:creationId xmlns:a16="http://schemas.microsoft.com/office/drawing/2014/main" id="{F2198BED-66B5-483D-A496-DBBB16DE81C0}"/>
              </a:ext>
            </a:extLst>
          </p:cNvPr>
          <p:cNvSpPr>
            <a:spLocks xmlns:a="http://schemas.openxmlformats.org/drawingml/2006/main" noGrp="1"/>
          </p:cNvSpPr>
          <p:nvPr/>
        </p:nvSpPr>
        <p:spPr>
          <a:xfrm xmlns:a="http://schemas.openxmlformats.org/drawingml/2006/main">
            <a:off x="857250" y="5369814"/>
            <a:ext cx="190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E8EEF5"/>
                </a:solidFill>
                <a:latin typeface="Arial"/>
                <a:ea typeface="Arial"/>
                <a:cs typeface="Arial"/>
              </a:defRPr>
            </a:pPr>
            <a:r>
              <a:rPr sz="900" b="1">
                <a:solidFill>
                  <a:srgbClr val="E8EEF5"/>
                </a:solidFill>
                <a:latin typeface="Arial"/>
                <a:ea typeface="Arial"/>
                <a:cs typeface="Arial"/>
              </a:rPr>
              <a:t>OUTPUT</a:t>
            </a:r>
          </a:p>
        </p:txBody>
      </p:sp>
      <p:sp>
        <p:nvSpPr>
          <p:cNvPr id="10" name="output">
            <a:extLst xmlns:a="http://schemas.openxmlformats.org/drawingml/2006/main">
              <a:ext uri="{FF2B5EF4-FFF2-40B4-BE49-F238E27FC236}">
                <a16:creationId xmlns:a16="http://schemas.microsoft.com/office/drawing/2014/main" id="{B6CF64D4-51C0-4BB8-88BC-D2E43EBD9029}"/>
              </a:ext>
            </a:extLst>
          </p:cNvPr>
          <p:cNvSpPr>
            <a:spLocks xmlns:a="http://schemas.openxmlformats.org/drawingml/2006/main" noGrp="1"/>
          </p:cNvSpPr>
          <p:nvPr/>
        </p:nvSpPr>
        <p:spPr>
          <a:xfrm xmlns:a="http://schemas.openxmlformats.org/drawingml/2006/main">
            <a:off x="857250" y="5598414"/>
            <a:ext cx="6400800" cy="23088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4000"/>
              </a:lnSpc>
              <a:buNone/>
              <a:defRPr sz="1200" b="0">
                <a:solidFill>
                  <a:srgbClr val="E8EEF5"/>
                </a:solidFill>
                <a:latin typeface="Consolas"/>
                <a:ea typeface="Consolas"/>
                <a:cs typeface="Consolas"/>
              </a:defRPr>
            </a:pPr>
            <a:r>
              <a:rPr sz="1200" b="0">
                <a:solidFill>
                  <a:srgbClr val="E8EEF5"/>
                </a:solidFill>
                <a:latin typeface="Consolas"/>
                <a:ea typeface="Consolas"/>
                <a:cs typeface="Consolas"/>
              </a:rPr>
              <a:t>budget used: 50000.0 &lt;= 50000 ? True</a:t>
            </a:r>
          </a:p>
        </p:txBody>
      </p:sp>
      <p:sp>
        <p:nvSpPr>
          <p:cNvPr id="11" name="explain-head">
            <a:extLst xmlns:a="http://schemas.openxmlformats.org/drawingml/2006/main">
              <a:ext uri="{FF2B5EF4-FFF2-40B4-BE49-F238E27FC236}">
                <a16:creationId xmlns:a16="http://schemas.microsoft.com/office/drawing/2014/main" id="{9DFEB7CE-E100-46F7-A086-3C4C2EAE0960}"/>
              </a:ext>
            </a:extLst>
          </p:cNvPr>
          <p:cNvSpPr>
            <a:spLocks xmlns:a="http://schemas.openxmlformats.org/drawingml/2006/main" noGrp="1"/>
          </p:cNvSpPr>
          <p:nvPr/>
        </p:nvSpPr>
        <p:spPr>
          <a:xfrm xmlns:a="http://schemas.openxmlformats.org/drawingml/2006/main">
            <a:off x="7886700" y="2609850"/>
            <a:ext cx="3695700" cy="63322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100" b="1">
                <a:solidFill>
                  <a:srgbClr val="111316"/>
                </a:solidFill>
                <a:latin typeface="Arial"/>
                <a:ea typeface="Arial"/>
                <a:cs typeface="Arial"/>
              </a:defRPr>
            </a:pPr>
            <a:r>
              <a:rPr sz="2100" b="1">
                <a:solidFill>
                  <a:srgbClr val="111316"/>
                </a:solidFill>
                <a:latin typeface="Arial"/>
                <a:ea typeface="Arial"/>
                <a:cs typeface="Arial"/>
              </a:rPr>
              <a:t>Both constraints bind, not by coincidence</a:t>
            </a:r>
          </a:p>
        </p:txBody>
      </p:sp>
      <p:sp>
        <p:nvSpPr>
          <p:cNvPr id="12" name="explain-body">
            <a:extLst xmlns:a="http://schemas.openxmlformats.org/drawingml/2006/main">
              <a:ext uri="{FF2B5EF4-FFF2-40B4-BE49-F238E27FC236}">
                <a16:creationId xmlns:a16="http://schemas.microsoft.com/office/drawing/2014/main" id="{AD0755CA-76D8-4BD2-8440-7F555E7E2681}"/>
              </a:ext>
            </a:extLst>
          </p:cNvPr>
          <p:cNvSpPr>
            <a:spLocks xmlns:a="http://schemas.openxmlformats.org/drawingml/2006/main" noGrp="1"/>
          </p:cNvSpPr>
          <p:nvPr/>
        </p:nvSpPr>
        <p:spPr>
          <a:xfrm xmlns:a="http://schemas.openxmlformats.org/drawingml/2006/main">
            <a:off x="7886700" y="3395472"/>
            <a:ext cx="3695700" cy="140208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500" b="0">
                <a:solidFill>
                  <a:srgbClr val="5A5F66"/>
                </a:solidFill>
                <a:latin typeface="Arial"/>
                <a:ea typeface="Arial"/>
                <a:cs typeface="Arial"/>
              </a:defRPr>
            </a:pPr>
            <a:r>
              <a:rPr sz="1500" b="0">
                <a:solidFill>
                  <a:srgbClr val="5A5F66"/>
                </a:solidFill>
                <a:latin typeface="Arial"/>
                <a:ea typeface="Arial"/>
                <a:cs typeface="Arial"/>
              </a:rPr>
              <a:t>$50,000.00 exactly — every dollar of the approved budget is spent. Two constraints, both binding exactly, is exactly what a corner-vertex solution (recall Meeting A) looks like in practice.</a:t>
            </a:r>
          </a:p>
        </p:txBody>
      </p:sp>
    </p:spTree>
    <p:extLst>
      <p:ext uri="{BB962C8B-B14F-4D97-AF65-F5344CB8AC3E}">
        <p14:creationId xmlns:p14="http://schemas.microsoft.com/office/powerpoint/2010/main" val="2064984285"/>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kicker">
            <a:extLst xmlns:a="http://schemas.openxmlformats.org/drawingml/2006/main">
              <a:ext uri="{FF2B5EF4-FFF2-40B4-BE49-F238E27FC236}">
                <a16:creationId xmlns:a16="http://schemas.microsoft.com/office/drawing/2014/main" id="{43CB54A7-E03A-458C-B320-F9D29EAAC271}"/>
              </a:ext>
            </a:extLst>
          </p:cNvPr>
          <p:cNvSpPr>
            <a:spLocks xmlns:a="http://schemas.openxmlformats.org/drawingml/2006/main" noGrp="1"/>
          </p:cNvSpPr>
          <p:nvPr/>
        </p:nvSpPr>
        <p:spPr>
          <a:xfrm xmlns:a="http://schemas.openxmlformats.org/drawingml/2006/main">
            <a:off x="609600" y="342900"/>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2E74B5"/>
                </a:solidFill>
                <a:latin typeface="Arial"/>
                <a:ea typeface="Arial"/>
                <a:cs typeface="Arial"/>
              </a:defRPr>
            </a:pPr>
            <a:r>
              <a:rPr sz="900" b="1">
                <a:solidFill>
                  <a:srgbClr val="2E74B5"/>
                </a:solidFill>
                <a:latin typeface="Arial"/>
                <a:ea typeface="Arial"/>
                <a:cs typeface="Arial"/>
              </a:rPr>
              <a:t>PYTHON SYNTAX</a:t>
            </a:r>
          </a:p>
        </p:txBody>
      </p:sp>
      <p:sp>
        <p:nvSpPr>
          <p:cNvPr id="2" name="title">
            <a:extLst xmlns:a="http://schemas.openxmlformats.org/drawingml/2006/main">
              <a:ext uri="{FF2B5EF4-FFF2-40B4-BE49-F238E27FC236}">
                <a16:creationId xmlns:a16="http://schemas.microsoft.com/office/drawing/2014/main" id="{3BE9B6F3-8F1C-4679-BD68-E7F84D10EB02}"/>
              </a:ext>
            </a:extLst>
          </p:cNvPr>
          <p:cNvSpPr>
            <a:spLocks xmlns:a="http://schemas.openxmlformats.org/drawingml/2006/main" noGrp="1"/>
          </p:cNvSpPr>
          <p:nvPr/>
        </p:nvSpPr>
        <p:spPr>
          <a:xfrm xmlns:a="http://schemas.openxmlformats.org/drawingml/2006/main">
            <a:off x="609600" y="60960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3000" b="0">
                <a:solidFill>
                  <a:srgbClr val="111316"/>
                </a:solidFill>
                <a:latin typeface="Arial"/>
                <a:ea typeface="Arial"/>
                <a:cs typeface="Arial"/>
              </a:defRPr>
            </a:pPr>
            <a:r>
              <a:rPr sz="3000" b="0">
                <a:solidFill>
                  <a:srgbClr val="111316"/>
                </a:solidFill>
                <a:latin typeface="Arial"/>
                <a:ea typeface="Arial"/>
                <a:cs typeface="Arial"/>
              </a:rPr>
              <a:t>[4] Turn both hand-checks into real assertions</a:t>
            </a:r>
          </a:p>
        </p:txBody>
      </p:sp>
      <p:sp>
        <p:nvSpPr>
          <p:cNvPr id="3" name="">
            <a:extLst xmlns:a="http://schemas.openxmlformats.org/drawingml/2006/main">
              <a:ext uri="{FF2B5EF4-FFF2-40B4-BE49-F238E27FC236}">
                <a16:creationId xmlns:a16="http://schemas.microsoft.com/office/drawing/2014/main" id="{4CCB9F15-64E5-4533-BE44-6EB179B20F28}"/>
              </a:ext>
            </a:extLst>
          </p:cNvPr>
          <p:cNvSpPr>
            <a:spLocks xmlns:a="http://schemas.openxmlformats.org/drawingml/2006/main" noGrp="1"/>
          </p:cNvSpPr>
          <p:nvPr/>
        </p:nvSpPr>
        <p:spPr>
          <a:xfrm xmlns:a="http://schemas.openxmlformats.org/drawingml/2006/main">
            <a:off x="609600" y="6343650"/>
            <a:ext cx="10972800" cy="0"/>
          </a:xfrm>
          <a:prstGeom xmlns:a="http://schemas.openxmlformats.org/drawingml/2006/main" prst="line">
            <a:avLst/>
          </a:prstGeom>
          <a:noFill xmlns:a="http://schemas.openxmlformats.org/drawingml/2006/main"/>
          <a:ln xmlns:a="http://schemas.openxmlformats.org/drawingml/2006/main" w="9525">
            <a:solidFill>
              <a:srgbClr val="DDE0E5"/>
            </a:solidFill>
            <a:prstDash val="solid"/>
          </a:ln>
        </p:spPr>
      </p:sp>
      <p:sp>
        <p:nvSpPr>
          <p:cNvPr id="4" name="footer">
            <a:extLst xmlns:a="http://schemas.openxmlformats.org/drawingml/2006/main">
              <a:ext uri="{FF2B5EF4-FFF2-40B4-BE49-F238E27FC236}">
                <a16:creationId xmlns:a16="http://schemas.microsoft.com/office/drawing/2014/main" id="{317667D9-CCAD-48B5-B958-75F445BB2195}"/>
              </a:ext>
            </a:extLst>
          </p:cNvPr>
          <p:cNvSpPr>
            <a:spLocks xmlns:a="http://schemas.openxmlformats.org/drawingml/2006/main" noGrp="1"/>
          </p:cNvSpPr>
          <p:nvPr/>
        </p:nvSpPr>
        <p:spPr>
          <a:xfrm xmlns:a="http://schemas.openxmlformats.org/drawingml/2006/main">
            <a:off x="609600" y="6429375"/>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ARC 500  ·  Week 10 · Meeting B · Linear Programming Studio</a:t>
            </a:r>
          </a:p>
        </p:txBody>
      </p:sp>
      <p:sp>
        <p:nvSpPr>
          <p:cNvPr id="5" name="page">
            <a:extLst xmlns:a="http://schemas.openxmlformats.org/drawingml/2006/main">
              <a:ext uri="{FF2B5EF4-FFF2-40B4-BE49-F238E27FC236}">
                <a16:creationId xmlns:a16="http://schemas.microsoft.com/office/drawing/2014/main" id="{4F52FFAB-6C89-4A94-ACBE-58324D94D30B}"/>
              </a:ext>
            </a:extLst>
          </p:cNvPr>
          <p:cNvSpPr>
            <a:spLocks xmlns:a="http://schemas.openxmlformats.org/drawingml/2006/main" noGrp="1"/>
          </p:cNvSpPr>
          <p:nvPr/>
        </p:nvSpPr>
        <p:spPr>
          <a:xfrm xmlns:a="http://schemas.openxmlformats.org/drawingml/2006/main">
            <a:off x="10896600" y="6429375"/>
            <a:ext cx="685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14</a:t>
            </a:r>
          </a:p>
        </p:txBody>
      </p:sp>
      <p:sp>
        <p:nvSpPr>
          <p:cNvPr id="6" name="code-panel">
            <a:extLst xmlns:a="http://schemas.openxmlformats.org/drawingml/2006/main">
              <a:ext uri="{FF2B5EF4-FFF2-40B4-BE49-F238E27FC236}">
                <a16:creationId xmlns:a16="http://schemas.microsoft.com/office/drawing/2014/main" id="{63017C59-BB4B-4CC8-B837-0A76EFAF1063}"/>
              </a:ext>
            </a:extLst>
          </p:cNvPr>
          <p:cNvSpPr>
            <a:spLocks xmlns:a="http://schemas.openxmlformats.org/drawingml/2006/main" noGrp="1"/>
          </p:cNvSpPr>
          <p:nvPr/>
        </p:nvSpPr>
        <p:spPr>
          <a:xfrm xmlns:a="http://schemas.openxmlformats.org/drawingml/2006/main">
            <a:off x="609600" y="1809750"/>
            <a:ext cx="6896100" cy="4267200"/>
          </a:xfrm>
          <a:prstGeom xmlns:a="http://schemas.openxmlformats.org/drawingml/2006/main" prst="roundRect">
            <a:avLst>
              <a:gd name="adj" fmla="val 1786"/>
            </a:avLst>
          </a:prstGeom>
          <a:solidFill xmlns:a="http://schemas.openxmlformats.org/drawingml/2006/main">
            <a:srgbClr val="17191C"/>
          </a:solidFill>
          <a:ln xmlns:a="http://schemas.openxmlformats.org/drawingml/2006/main" w="9525">
            <a:solidFill>
              <a:srgbClr val="17191C"/>
            </a:solidFill>
            <a:prstDash val="solid"/>
          </a:ln>
        </p:spPr>
      </p:sp>
      <p:sp>
        <p:nvSpPr>
          <p:cNvPr id="7" name="code">
            <a:extLst xmlns:a="http://schemas.openxmlformats.org/drawingml/2006/main">
              <a:ext uri="{FF2B5EF4-FFF2-40B4-BE49-F238E27FC236}">
                <a16:creationId xmlns:a16="http://schemas.microsoft.com/office/drawing/2014/main" id="{02D7715E-7525-4BE7-8D73-815A5B3D2107}"/>
              </a:ext>
            </a:extLst>
          </p:cNvPr>
          <p:cNvSpPr>
            <a:spLocks xmlns:a="http://schemas.openxmlformats.org/drawingml/2006/main" noGrp="1"/>
          </p:cNvSpPr>
          <p:nvPr/>
        </p:nvSpPr>
        <p:spPr>
          <a:xfrm xmlns:a="http://schemas.openxmlformats.org/drawingml/2006/main">
            <a:off x="857250" y="2057400"/>
            <a:ext cx="6400800" cy="314096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4000"/>
              </a:lnSpc>
              <a:buNone/>
              <a:defRPr sz="1800" b="0">
                <a:solidFill>
                  <a:srgbClr val="FFFFFF"/>
                </a:solidFill>
                <a:latin typeface="Consolas"/>
                <a:ea typeface="Consolas"/>
                <a:cs typeface="Consolas"/>
              </a:defRPr>
            </a:pPr>
            <a:r>
              <a:rPr sz="1800" b="0">
                <a:solidFill>
                  <a:srgbClr val="FFFFFF"/>
                </a:solidFill>
                <a:latin typeface="Consolas"/>
                <a:ea typeface="Consolas"/>
                <a:cs typeface="Consolas"/>
              </a:rPr>
              <a:t>import numpy as np</a:t>
            </a:r>
          </a:p>
          <a:p xmlns:a="http://schemas.openxmlformats.org/drawingml/2006/main">
            <a:r>
              <a:t/>
            </a:r>
          </a:p>
          <a:p xmlns:a="http://schemas.openxmlformats.org/drawingml/2006/main">
            <a:pPr algn="l">
              <a:lnSpc>
                <a:spcPct val="114000"/>
              </a:lnSpc>
              <a:buNone/>
              <a:defRPr sz="1800" b="0">
                <a:solidFill>
                  <a:srgbClr val="FFFFFF"/>
                </a:solidFill>
                <a:latin typeface="Consolas"/>
                <a:ea typeface="Consolas"/>
                <a:cs typeface="Consolas"/>
              </a:defRPr>
            </a:pPr>
            <a:r>
              <a:rPr sz="1800" b="0">
                <a:solidFill>
                  <a:srgbClr val="FFFFFF"/>
                </a:solidFill>
                <a:latin typeface="Consolas"/>
                <a:ea typeface="Consolas"/>
                <a:cs typeface="Consolas"/>
              </a:rPr>
              <a:t>assert np.isclose(area_used, 200.0, atol=1e-7)</a:t>
            </a:r>
          </a:p>
          <a:p xmlns:a="http://schemas.openxmlformats.org/drawingml/2006/main">
            <a:pPr algn="l">
              <a:lnSpc>
                <a:spcPct val="114000"/>
              </a:lnSpc>
              <a:buNone/>
              <a:defRPr sz="1800" b="0">
                <a:solidFill>
                  <a:srgbClr val="FFFFFF"/>
                </a:solidFill>
                <a:latin typeface="Consolas"/>
                <a:ea typeface="Consolas"/>
                <a:cs typeface="Consolas"/>
              </a:defRPr>
            </a:pPr>
            <a:r>
              <a:rPr sz="1800" b="0">
                <a:solidFill>
                  <a:srgbClr val="FFFFFF"/>
                </a:solidFill>
                <a:latin typeface="Consolas"/>
                <a:ea typeface="Consolas"/>
                <a:cs typeface="Consolas"/>
              </a:rPr>
              <a:t>assert np.isclose(budget_used, 50000.0, atol=1e-5)</a:t>
            </a:r>
          </a:p>
          <a:p xmlns:a="http://schemas.openxmlformats.org/drawingml/2006/main">
            <a:pPr algn="l">
              <a:lnSpc>
                <a:spcPct val="114000"/>
              </a:lnSpc>
              <a:buNone/>
              <a:defRPr sz="1800" b="0">
                <a:solidFill>
                  <a:srgbClr val="FFFFFF"/>
                </a:solidFill>
                <a:latin typeface="Consolas"/>
                <a:ea typeface="Consolas"/>
                <a:cs typeface="Consolas"/>
              </a:defRPr>
            </a:pPr>
            <a:r>
              <a:rPr sz="1800" b="0">
                <a:solidFill>
                  <a:srgbClr val="FFFFFF"/>
                </a:solidFill>
                <a:latin typeface="Consolas"/>
                <a:ea typeface="Consolas"/>
                <a:cs typeface="Consolas"/>
              </a:rPr>
              <a:t>print('Both constraints bind within tolerance.')</a:t>
            </a:r>
          </a:p>
        </p:txBody>
      </p:sp>
      <p:sp>
        <p:nvSpPr>
          <p:cNvPr id="8" name="">
            <a:extLst xmlns:a="http://schemas.openxmlformats.org/drawingml/2006/main">
              <a:ext uri="{FF2B5EF4-FFF2-40B4-BE49-F238E27FC236}">
                <a16:creationId xmlns:a16="http://schemas.microsoft.com/office/drawing/2014/main" id="{CBC484E7-C711-4907-8791-4D0DC82FC20F}"/>
              </a:ext>
            </a:extLst>
          </p:cNvPr>
          <p:cNvSpPr>
            <a:spLocks xmlns:a="http://schemas.openxmlformats.org/drawingml/2006/main" noGrp="1"/>
          </p:cNvSpPr>
          <p:nvPr/>
        </p:nvSpPr>
        <p:spPr>
          <a:xfrm xmlns:a="http://schemas.openxmlformats.org/drawingml/2006/main">
            <a:off x="857250" y="5255514"/>
            <a:ext cx="6400800" cy="0"/>
          </a:xfrm>
          <a:prstGeom xmlns:a="http://schemas.openxmlformats.org/drawingml/2006/main" prst="line">
            <a:avLst/>
          </a:prstGeom>
          <a:noFill xmlns:a="http://schemas.openxmlformats.org/drawingml/2006/main"/>
          <a:ln xmlns:a="http://schemas.openxmlformats.org/drawingml/2006/main" w="9525">
            <a:solidFill>
              <a:srgbClr val="4E5258"/>
            </a:solidFill>
            <a:prstDash val="solid"/>
          </a:ln>
        </p:spPr>
      </p:sp>
      <p:sp>
        <p:nvSpPr>
          <p:cNvPr id="9" name="output-label">
            <a:extLst xmlns:a="http://schemas.openxmlformats.org/drawingml/2006/main">
              <a:ext uri="{FF2B5EF4-FFF2-40B4-BE49-F238E27FC236}">
                <a16:creationId xmlns:a16="http://schemas.microsoft.com/office/drawing/2014/main" id="{F0198469-0FF3-4330-AC4C-EA494F12E6C6}"/>
              </a:ext>
            </a:extLst>
          </p:cNvPr>
          <p:cNvSpPr>
            <a:spLocks xmlns:a="http://schemas.openxmlformats.org/drawingml/2006/main" noGrp="1"/>
          </p:cNvSpPr>
          <p:nvPr/>
        </p:nvSpPr>
        <p:spPr>
          <a:xfrm xmlns:a="http://schemas.openxmlformats.org/drawingml/2006/main">
            <a:off x="857250" y="5369814"/>
            <a:ext cx="190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E8EEF5"/>
                </a:solidFill>
                <a:latin typeface="Arial"/>
                <a:ea typeface="Arial"/>
                <a:cs typeface="Arial"/>
              </a:defRPr>
            </a:pPr>
            <a:r>
              <a:rPr sz="900" b="1">
                <a:solidFill>
                  <a:srgbClr val="E8EEF5"/>
                </a:solidFill>
                <a:latin typeface="Arial"/>
                <a:ea typeface="Arial"/>
                <a:cs typeface="Arial"/>
              </a:rPr>
              <a:t>OUTPUT</a:t>
            </a:r>
          </a:p>
        </p:txBody>
      </p:sp>
      <p:sp>
        <p:nvSpPr>
          <p:cNvPr id="10" name="output">
            <a:extLst xmlns:a="http://schemas.openxmlformats.org/drawingml/2006/main">
              <a:ext uri="{FF2B5EF4-FFF2-40B4-BE49-F238E27FC236}">
                <a16:creationId xmlns:a16="http://schemas.microsoft.com/office/drawing/2014/main" id="{27A1C893-1563-41C0-9F7C-AA2A862B10B1}"/>
              </a:ext>
            </a:extLst>
          </p:cNvPr>
          <p:cNvSpPr>
            <a:spLocks xmlns:a="http://schemas.openxmlformats.org/drawingml/2006/main" noGrp="1"/>
          </p:cNvSpPr>
          <p:nvPr/>
        </p:nvSpPr>
        <p:spPr>
          <a:xfrm xmlns:a="http://schemas.openxmlformats.org/drawingml/2006/main">
            <a:off x="857250" y="5598414"/>
            <a:ext cx="6400800" cy="23088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4000"/>
              </a:lnSpc>
              <a:buNone/>
              <a:defRPr sz="1200" b="0">
                <a:solidFill>
                  <a:srgbClr val="E8EEF5"/>
                </a:solidFill>
                <a:latin typeface="Consolas"/>
                <a:ea typeface="Consolas"/>
                <a:cs typeface="Consolas"/>
              </a:defRPr>
            </a:pPr>
            <a:r>
              <a:rPr sz="1200" b="0">
                <a:solidFill>
                  <a:srgbClr val="E8EEF5"/>
                </a:solidFill>
                <a:latin typeface="Consolas"/>
                <a:ea typeface="Consolas"/>
                <a:cs typeface="Consolas"/>
              </a:rPr>
              <a:t>Both constraints bind within tolerance.</a:t>
            </a:r>
          </a:p>
        </p:txBody>
      </p:sp>
      <p:sp>
        <p:nvSpPr>
          <p:cNvPr id="11" name="explain-head">
            <a:extLst xmlns:a="http://schemas.openxmlformats.org/drawingml/2006/main">
              <a:ext uri="{FF2B5EF4-FFF2-40B4-BE49-F238E27FC236}">
                <a16:creationId xmlns:a16="http://schemas.microsoft.com/office/drawing/2014/main" id="{CC925235-1EAD-45CA-8464-125F5CC54B4F}"/>
              </a:ext>
            </a:extLst>
          </p:cNvPr>
          <p:cNvSpPr>
            <a:spLocks xmlns:a="http://schemas.openxmlformats.org/drawingml/2006/main" noGrp="1"/>
          </p:cNvSpPr>
          <p:nvPr/>
        </p:nvSpPr>
        <p:spPr>
          <a:xfrm xmlns:a="http://schemas.openxmlformats.org/drawingml/2006/main">
            <a:off x="7886700" y="2686050"/>
            <a:ext cx="3695700" cy="63322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100" b="1">
                <a:solidFill>
                  <a:srgbClr val="111316"/>
                </a:solidFill>
                <a:latin typeface="Arial"/>
                <a:ea typeface="Arial"/>
                <a:cs typeface="Arial"/>
              </a:defRPr>
            </a:pPr>
            <a:r>
              <a:rPr sz="2100" b="1">
                <a:solidFill>
                  <a:srgbClr val="111316"/>
                </a:solidFill>
                <a:latin typeface="Arial"/>
                <a:ea typeface="Arial"/>
                <a:cs typeface="Arial"/>
              </a:rPr>
              <a:t>Assertions that respect numerical computation</a:t>
            </a:r>
          </a:p>
        </p:txBody>
      </p:sp>
      <p:sp>
        <p:nvSpPr>
          <p:cNvPr id="12" name="explain-body">
            <a:extLst xmlns:a="http://schemas.openxmlformats.org/drawingml/2006/main">
              <a:ext uri="{FF2B5EF4-FFF2-40B4-BE49-F238E27FC236}">
                <a16:creationId xmlns:a16="http://schemas.microsoft.com/office/drawing/2014/main" id="{D2FA532F-84CA-4D32-B0C5-5B1413BA7A14}"/>
              </a:ext>
            </a:extLst>
          </p:cNvPr>
          <p:cNvSpPr>
            <a:spLocks xmlns:a="http://schemas.openxmlformats.org/drawingml/2006/main" noGrp="1"/>
          </p:cNvSpPr>
          <p:nvPr/>
        </p:nvSpPr>
        <p:spPr>
          <a:xfrm xmlns:a="http://schemas.openxmlformats.org/drawingml/2006/main">
            <a:off x="7886700" y="3471672"/>
            <a:ext cx="3695700" cy="1181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500" b="0">
                <a:solidFill>
                  <a:srgbClr val="5A5F66"/>
                </a:solidFill>
                <a:latin typeface="Arial"/>
                <a:ea typeface="Arial"/>
                <a:cs typeface="Arial"/>
              </a:defRPr>
            </a:pPr>
            <a:r>
              <a:rPr sz="1500" b="0">
                <a:solidFill>
                  <a:srgbClr val="5A5F66"/>
                </a:solidFill>
                <a:latin typeface="Arial"/>
                <a:ea typeface="Arial"/>
                <a:cs typeface="Arial"/>
              </a:rPr>
              <a:t>Optimization results are floating-point values. np.isclose makes the intended tolerance explicit, so harmless roundoff does not fail the script while a meaningful violation still does.</a:t>
            </a:r>
          </a:p>
        </p:txBody>
      </p:sp>
    </p:spTree>
    <p:extLst>
      <p:ext uri="{BB962C8B-B14F-4D97-AF65-F5344CB8AC3E}">
        <p14:creationId xmlns:p14="http://schemas.microsoft.com/office/powerpoint/2010/main" val="783847799"/>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kicker">
            <a:extLst xmlns:a="http://schemas.openxmlformats.org/drawingml/2006/main">
              <a:ext uri="{FF2B5EF4-FFF2-40B4-BE49-F238E27FC236}">
                <a16:creationId xmlns:a16="http://schemas.microsoft.com/office/drawing/2014/main" id="{DEC962A7-BD14-4207-9778-5B0441AE52B9}"/>
              </a:ext>
            </a:extLst>
          </p:cNvPr>
          <p:cNvSpPr>
            <a:spLocks xmlns:a="http://schemas.openxmlformats.org/drawingml/2006/main" noGrp="1"/>
          </p:cNvSpPr>
          <p:nvPr/>
        </p:nvSpPr>
        <p:spPr>
          <a:xfrm xmlns:a="http://schemas.openxmlformats.org/drawingml/2006/main">
            <a:off x="609600" y="342900"/>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2E74B5"/>
                </a:solidFill>
                <a:latin typeface="Arial"/>
                <a:ea typeface="Arial"/>
                <a:cs typeface="Arial"/>
              </a:defRPr>
            </a:pPr>
            <a:r>
              <a:rPr sz="900" b="1">
                <a:solidFill>
                  <a:srgbClr val="2E74B5"/>
                </a:solidFill>
                <a:latin typeface="Arial"/>
                <a:ea typeface="Arial"/>
                <a:cs typeface="Arial"/>
              </a:rPr>
              <a:t>IN-CLASS CHECK</a:t>
            </a:r>
          </a:p>
        </p:txBody>
      </p:sp>
      <p:sp>
        <p:nvSpPr>
          <p:cNvPr id="2" name="title">
            <a:extLst xmlns:a="http://schemas.openxmlformats.org/drawingml/2006/main">
              <a:ext uri="{FF2B5EF4-FFF2-40B4-BE49-F238E27FC236}">
                <a16:creationId xmlns:a16="http://schemas.microsoft.com/office/drawing/2014/main" id="{E862E840-0B9E-46E2-AE01-731B0D05B4EC}"/>
              </a:ext>
            </a:extLst>
          </p:cNvPr>
          <p:cNvSpPr>
            <a:spLocks xmlns:a="http://schemas.openxmlformats.org/drawingml/2006/main" noGrp="1"/>
          </p:cNvSpPr>
          <p:nvPr/>
        </p:nvSpPr>
        <p:spPr>
          <a:xfrm xmlns:a="http://schemas.openxmlformats.org/drawingml/2006/main">
            <a:off x="609600" y="60960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3000" b="0">
                <a:solidFill>
                  <a:srgbClr val="111316"/>
                </a:solidFill>
                <a:latin typeface="Arial"/>
                <a:ea typeface="Arial"/>
                <a:cs typeface="Arial"/>
              </a:defRPr>
            </a:pPr>
            <a:r>
              <a:rPr sz="3000" b="0">
                <a:solidFill>
                  <a:srgbClr val="111316"/>
                </a:solidFill>
                <a:latin typeface="Arial"/>
                <a:ea typeface="Arial"/>
                <a:cs typeface="Arial"/>
              </a:rPr>
              <a:t>Studio 2: hand-verify both binding constraints yourself</a:t>
            </a:r>
          </a:p>
        </p:txBody>
      </p:sp>
      <p:sp>
        <p:nvSpPr>
          <p:cNvPr id="3" name="">
            <a:extLst xmlns:a="http://schemas.openxmlformats.org/drawingml/2006/main">
              <a:ext uri="{FF2B5EF4-FFF2-40B4-BE49-F238E27FC236}">
                <a16:creationId xmlns:a16="http://schemas.microsoft.com/office/drawing/2014/main" id="{FAEA25FE-54AE-4D9D-81E9-DAA046D5D15B}"/>
              </a:ext>
            </a:extLst>
          </p:cNvPr>
          <p:cNvSpPr>
            <a:spLocks xmlns:a="http://schemas.openxmlformats.org/drawingml/2006/main" noGrp="1"/>
          </p:cNvSpPr>
          <p:nvPr/>
        </p:nvSpPr>
        <p:spPr>
          <a:xfrm xmlns:a="http://schemas.openxmlformats.org/drawingml/2006/main">
            <a:off x="609600" y="6343650"/>
            <a:ext cx="10972800" cy="0"/>
          </a:xfrm>
          <a:prstGeom xmlns:a="http://schemas.openxmlformats.org/drawingml/2006/main" prst="line">
            <a:avLst/>
          </a:prstGeom>
          <a:noFill xmlns:a="http://schemas.openxmlformats.org/drawingml/2006/main"/>
          <a:ln xmlns:a="http://schemas.openxmlformats.org/drawingml/2006/main" w="9525">
            <a:solidFill>
              <a:srgbClr val="DDE0E5"/>
            </a:solidFill>
            <a:prstDash val="solid"/>
          </a:ln>
        </p:spPr>
      </p:sp>
      <p:sp>
        <p:nvSpPr>
          <p:cNvPr id="4" name="footer">
            <a:extLst xmlns:a="http://schemas.openxmlformats.org/drawingml/2006/main">
              <a:ext uri="{FF2B5EF4-FFF2-40B4-BE49-F238E27FC236}">
                <a16:creationId xmlns:a16="http://schemas.microsoft.com/office/drawing/2014/main" id="{89A7F465-84C6-4C11-BF88-B8464C1A50B7}"/>
              </a:ext>
            </a:extLst>
          </p:cNvPr>
          <p:cNvSpPr>
            <a:spLocks xmlns:a="http://schemas.openxmlformats.org/drawingml/2006/main" noGrp="1"/>
          </p:cNvSpPr>
          <p:nvPr/>
        </p:nvSpPr>
        <p:spPr>
          <a:xfrm xmlns:a="http://schemas.openxmlformats.org/drawingml/2006/main">
            <a:off x="609600" y="6429375"/>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ARC 500  ·  Week 10 · Meeting B · Linear Programming Studio</a:t>
            </a:r>
          </a:p>
        </p:txBody>
      </p:sp>
      <p:sp>
        <p:nvSpPr>
          <p:cNvPr id="5" name="page">
            <a:extLst xmlns:a="http://schemas.openxmlformats.org/drawingml/2006/main">
              <a:ext uri="{FF2B5EF4-FFF2-40B4-BE49-F238E27FC236}">
                <a16:creationId xmlns:a16="http://schemas.microsoft.com/office/drawing/2014/main" id="{C5B02D12-EDBF-45B7-9A53-A085437F3982}"/>
              </a:ext>
            </a:extLst>
          </p:cNvPr>
          <p:cNvSpPr>
            <a:spLocks xmlns:a="http://schemas.openxmlformats.org/drawingml/2006/main" noGrp="1"/>
          </p:cNvSpPr>
          <p:nvPr/>
        </p:nvSpPr>
        <p:spPr>
          <a:xfrm xmlns:a="http://schemas.openxmlformats.org/drawingml/2006/main">
            <a:off x="10896600" y="6429375"/>
            <a:ext cx="685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15</a:t>
            </a:r>
          </a:p>
        </p:txBody>
      </p:sp>
      <p:sp>
        <p:nvSpPr>
          <p:cNvPr id="6" name="exercise-accent">
            <a:extLst xmlns:a="http://schemas.openxmlformats.org/drawingml/2006/main">
              <a:ext uri="{FF2B5EF4-FFF2-40B4-BE49-F238E27FC236}">
                <a16:creationId xmlns:a16="http://schemas.microsoft.com/office/drawing/2014/main" id="{3C0DFD5F-0F3A-44B6-BD51-97AA312AF2F4}"/>
              </a:ext>
            </a:extLst>
          </p:cNvPr>
          <p:cNvSpPr>
            <a:spLocks xmlns:a="http://schemas.openxmlformats.org/drawingml/2006/main" noGrp="1"/>
          </p:cNvSpPr>
          <p:nvPr/>
        </p:nvSpPr>
        <p:spPr>
          <a:xfrm xmlns:a="http://schemas.openxmlformats.org/drawingml/2006/main">
            <a:off x="609600" y="1809750"/>
            <a:ext cx="4000500" cy="4248150"/>
          </a:xfrm>
          <a:prstGeom xmlns:a="http://schemas.openxmlformats.org/drawingml/2006/main" prst="roundRect">
            <a:avLst>
              <a:gd name="adj" fmla="val 1429"/>
            </a:avLst>
          </a:prstGeom>
          <a:solidFill xmlns:a="http://schemas.openxmlformats.org/drawingml/2006/main">
            <a:srgbClr val="2E74B5"/>
          </a:solidFill>
          <a:ln xmlns:a="http://schemas.openxmlformats.org/drawingml/2006/main" w="9525">
            <a:solidFill>
              <a:srgbClr val="2E74B5"/>
            </a:solidFill>
            <a:prstDash val="solid"/>
          </a:ln>
        </p:spPr>
      </p:sp>
      <p:sp>
        <p:nvSpPr>
          <p:cNvPr id="7" name="exercise-prompt">
            <a:extLst xmlns:a="http://schemas.openxmlformats.org/drawingml/2006/main">
              <a:ext uri="{FF2B5EF4-FFF2-40B4-BE49-F238E27FC236}">
                <a16:creationId xmlns:a16="http://schemas.microsoft.com/office/drawing/2014/main" id="{960E14BD-AFBD-4701-9C03-6712920DCE3A}"/>
              </a:ext>
            </a:extLst>
          </p:cNvPr>
          <p:cNvSpPr>
            <a:spLocks xmlns:a="http://schemas.openxmlformats.org/drawingml/2006/main" noGrp="1"/>
          </p:cNvSpPr>
          <p:nvPr/>
        </p:nvSpPr>
        <p:spPr>
          <a:xfrm xmlns:a="http://schemas.openxmlformats.org/drawingml/2006/main">
            <a:off x="876300" y="2095500"/>
            <a:ext cx="3467100" cy="3676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8000"/>
              </a:lnSpc>
              <a:buNone/>
              <a:defRPr sz="2100" b="1">
                <a:solidFill>
                  <a:srgbClr val="FFFFFF"/>
                </a:solidFill>
                <a:latin typeface="Arial"/>
                <a:ea typeface="Arial"/>
                <a:cs typeface="Arial"/>
              </a:defRPr>
            </a:pPr>
            <a:r>
              <a:rPr sz="2100" b="1">
                <a:solidFill>
                  <a:srgbClr val="FFFFFF"/>
                </a:solidFill>
                <a:latin typeface="Arial"/>
                <a:ea typeface="Arial"/>
                <a:cs typeface="Arial"/>
              </a:rPr>
              <a:t>Before trusting res.x = [80, 120], check it by hand — the studio's required core exercise.</a:t>
            </a:r>
          </a:p>
        </p:txBody>
      </p:sp>
      <p:sp>
        <p:nvSpPr>
          <p:cNvPr id="8" name="work-label">
            <a:extLst xmlns:a="http://schemas.openxmlformats.org/drawingml/2006/main">
              <a:ext uri="{FF2B5EF4-FFF2-40B4-BE49-F238E27FC236}">
                <a16:creationId xmlns:a16="http://schemas.microsoft.com/office/drawing/2014/main" id="{4DF163BB-58C1-43B1-9C2E-C8A2A3088F40}"/>
              </a:ext>
            </a:extLst>
          </p:cNvPr>
          <p:cNvSpPr>
            <a:spLocks xmlns:a="http://schemas.openxmlformats.org/drawingml/2006/main" noGrp="1"/>
          </p:cNvSpPr>
          <p:nvPr/>
        </p:nvSpPr>
        <p:spPr>
          <a:xfrm xmlns:a="http://schemas.openxmlformats.org/drawingml/2006/main">
            <a:off x="5029200" y="1847850"/>
            <a:ext cx="6553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2E74B5"/>
                </a:solidFill>
                <a:latin typeface="Arial"/>
                <a:ea typeface="Arial"/>
                <a:cs typeface="Arial"/>
              </a:defRPr>
            </a:pPr>
            <a:r>
              <a:rPr sz="900" b="1">
                <a:solidFill>
                  <a:srgbClr val="2E74B5"/>
                </a:solidFill>
                <a:latin typeface="Arial"/>
                <a:ea typeface="Arial"/>
                <a:cs typeface="Arial"/>
              </a:rPr>
              <a:t>WORK THROUGH IT</a:t>
            </a:r>
          </a:p>
        </p:txBody>
      </p:sp>
      <p:sp>
        <p:nvSpPr>
          <p:cNvPr id="9" name="exercise-no-0">
            <a:extLst xmlns:a="http://schemas.openxmlformats.org/drawingml/2006/main">
              <a:ext uri="{FF2B5EF4-FFF2-40B4-BE49-F238E27FC236}">
                <a16:creationId xmlns:a16="http://schemas.microsoft.com/office/drawing/2014/main" id="{297A9990-E694-4B69-9989-BB6FC99A083D}"/>
              </a:ext>
            </a:extLst>
          </p:cNvPr>
          <p:cNvSpPr>
            <a:spLocks xmlns:a="http://schemas.openxmlformats.org/drawingml/2006/main" noGrp="1"/>
          </p:cNvSpPr>
          <p:nvPr/>
        </p:nvSpPr>
        <p:spPr>
          <a:xfrm xmlns:a="http://schemas.openxmlformats.org/drawingml/2006/main">
            <a:off x="5029200" y="2247900"/>
            <a:ext cx="381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00" b="1">
                <a:solidFill>
                  <a:srgbClr val="2E74B5"/>
                </a:solidFill>
                <a:latin typeface="Arial"/>
                <a:ea typeface="Arial"/>
                <a:cs typeface="Arial"/>
              </a:defRPr>
            </a:pPr>
            <a:r>
              <a:rPr sz="1800" b="1">
                <a:solidFill>
                  <a:srgbClr val="2E74B5"/>
                </a:solidFill>
                <a:latin typeface="Arial"/>
                <a:ea typeface="Arial"/>
                <a:cs typeface="Arial"/>
              </a:rPr>
              <a:t>1.</a:t>
            </a:r>
          </a:p>
        </p:txBody>
      </p:sp>
      <p:sp>
        <p:nvSpPr>
          <p:cNvPr id="10" name="exercise-step-0">
            <a:extLst xmlns:a="http://schemas.openxmlformats.org/drawingml/2006/main">
              <a:ext uri="{FF2B5EF4-FFF2-40B4-BE49-F238E27FC236}">
                <a16:creationId xmlns:a16="http://schemas.microsoft.com/office/drawing/2014/main" id="{0C5F84E0-DF9A-466C-A303-A77E9F8B517D}"/>
              </a:ext>
            </a:extLst>
          </p:cNvPr>
          <p:cNvSpPr>
            <a:spLocks xmlns:a="http://schemas.openxmlformats.org/drawingml/2006/main" noGrp="1"/>
          </p:cNvSpPr>
          <p:nvPr/>
        </p:nvSpPr>
        <p:spPr>
          <a:xfrm xmlns:a="http://schemas.openxmlformats.org/drawingml/2006/main">
            <a:off x="5467350" y="2247900"/>
            <a:ext cx="611505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800" b="0">
                <a:solidFill>
                  <a:srgbClr val="111316"/>
                </a:solidFill>
                <a:latin typeface="Arial"/>
                <a:ea typeface="Arial"/>
                <a:cs typeface="Arial"/>
              </a:defRPr>
            </a:pPr>
            <a:r>
              <a:rPr sz="1800" b="0">
                <a:solidFill>
                  <a:srgbClr val="111316"/>
                </a:solidFill>
                <a:latin typeface="Arial"/>
                <a:ea typeface="Arial"/>
                <a:cs typeface="Arial"/>
              </a:rPr>
              <a:t>Compute 80 + 120 on paper — does it equal the 200 m2 roof limit?</a:t>
            </a:r>
          </a:p>
        </p:txBody>
      </p:sp>
      <p:sp>
        <p:nvSpPr>
          <p:cNvPr id="11" name="exercise-no-1">
            <a:extLst xmlns:a="http://schemas.openxmlformats.org/drawingml/2006/main">
              <a:ext uri="{FF2B5EF4-FFF2-40B4-BE49-F238E27FC236}">
                <a16:creationId xmlns:a16="http://schemas.microsoft.com/office/drawing/2014/main" id="{EACC08D3-8BC6-4537-ABC1-819342B28EB0}"/>
              </a:ext>
            </a:extLst>
          </p:cNvPr>
          <p:cNvSpPr>
            <a:spLocks xmlns:a="http://schemas.openxmlformats.org/drawingml/2006/main" noGrp="1"/>
          </p:cNvSpPr>
          <p:nvPr/>
        </p:nvSpPr>
        <p:spPr>
          <a:xfrm xmlns:a="http://schemas.openxmlformats.org/drawingml/2006/main">
            <a:off x="5029200" y="3124200"/>
            <a:ext cx="381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00" b="1">
                <a:solidFill>
                  <a:srgbClr val="2E74B5"/>
                </a:solidFill>
                <a:latin typeface="Arial"/>
                <a:ea typeface="Arial"/>
                <a:cs typeface="Arial"/>
              </a:defRPr>
            </a:pPr>
            <a:r>
              <a:rPr sz="1800" b="1">
                <a:solidFill>
                  <a:srgbClr val="2E74B5"/>
                </a:solidFill>
                <a:latin typeface="Arial"/>
                <a:ea typeface="Arial"/>
                <a:cs typeface="Arial"/>
              </a:rPr>
              <a:t>2.</a:t>
            </a:r>
          </a:p>
        </p:txBody>
      </p:sp>
      <p:sp>
        <p:nvSpPr>
          <p:cNvPr id="12" name="exercise-step-1">
            <a:extLst xmlns:a="http://schemas.openxmlformats.org/drawingml/2006/main">
              <a:ext uri="{FF2B5EF4-FFF2-40B4-BE49-F238E27FC236}">
                <a16:creationId xmlns:a16="http://schemas.microsoft.com/office/drawing/2014/main" id="{A2D8C08C-CF71-4018-8CFA-CF0505DE6042}"/>
              </a:ext>
            </a:extLst>
          </p:cNvPr>
          <p:cNvSpPr>
            <a:spLocks xmlns:a="http://schemas.openxmlformats.org/drawingml/2006/main" noGrp="1"/>
          </p:cNvSpPr>
          <p:nvPr/>
        </p:nvSpPr>
        <p:spPr>
          <a:xfrm xmlns:a="http://schemas.openxmlformats.org/drawingml/2006/main">
            <a:off x="5467350" y="3124200"/>
            <a:ext cx="611505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800" b="0">
                <a:solidFill>
                  <a:srgbClr val="111316"/>
                </a:solidFill>
                <a:latin typeface="Arial"/>
                <a:ea typeface="Arial"/>
                <a:cs typeface="Arial"/>
              </a:defRPr>
            </a:pPr>
            <a:r>
              <a:rPr sz="1800" b="0">
                <a:solidFill>
                  <a:srgbClr val="111316"/>
                </a:solidFill>
                <a:latin typeface="Arial"/>
                <a:ea typeface="Arial"/>
                <a:cs typeface="Arial"/>
              </a:rPr>
              <a:t>Compute 400*80 + 150*120 on paper — does it equal the $50,000 budget?</a:t>
            </a:r>
          </a:p>
        </p:txBody>
      </p:sp>
      <p:sp>
        <p:nvSpPr>
          <p:cNvPr id="13" name="exercise-no-2">
            <a:extLst xmlns:a="http://schemas.openxmlformats.org/drawingml/2006/main">
              <a:ext uri="{FF2B5EF4-FFF2-40B4-BE49-F238E27FC236}">
                <a16:creationId xmlns:a16="http://schemas.microsoft.com/office/drawing/2014/main" id="{0D14E437-7418-4631-A4AB-C1D62A3FB926}"/>
              </a:ext>
            </a:extLst>
          </p:cNvPr>
          <p:cNvSpPr>
            <a:spLocks xmlns:a="http://schemas.openxmlformats.org/drawingml/2006/main" noGrp="1"/>
          </p:cNvSpPr>
          <p:nvPr/>
        </p:nvSpPr>
        <p:spPr>
          <a:xfrm xmlns:a="http://schemas.openxmlformats.org/drawingml/2006/main">
            <a:off x="5029200" y="4000500"/>
            <a:ext cx="381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00" b="1">
                <a:solidFill>
                  <a:srgbClr val="2E74B5"/>
                </a:solidFill>
                <a:latin typeface="Arial"/>
                <a:ea typeface="Arial"/>
                <a:cs typeface="Arial"/>
              </a:defRPr>
            </a:pPr>
            <a:r>
              <a:rPr sz="1800" b="1">
                <a:solidFill>
                  <a:srgbClr val="2E74B5"/>
                </a:solidFill>
                <a:latin typeface="Arial"/>
                <a:ea typeface="Arial"/>
                <a:cs typeface="Arial"/>
              </a:rPr>
              <a:t>3.</a:t>
            </a:r>
          </a:p>
        </p:txBody>
      </p:sp>
      <p:sp>
        <p:nvSpPr>
          <p:cNvPr id="14" name="exercise-step-2">
            <a:extLst xmlns:a="http://schemas.openxmlformats.org/drawingml/2006/main">
              <a:ext uri="{FF2B5EF4-FFF2-40B4-BE49-F238E27FC236}">
                <a16:creationId xmlns:a16="http://schemas.microsoft.com/office/drawing/2014/main" id="{71CE0A5C-45F0-4596-8DC4-44AE7F116C90}"/>
              </a:ext>
            </a:extLst>
          </p:cNvPr>
          <p:cNvSpPr>
            <a:spLocks xmlns:a="http://schemas.openxmlformats.org/drawingml/2006/main" noGrp="1"/>
          </p:cNvSpPr>
          <p:nvPr/>
        </p:nvSpPr>
        <p:spPr>
          <a:xfrm xmlns:a="http://schemas.openxmlformats.org/drawingml/2006/main">
            <a:off x="5467350" y="4000500"/>
            <a:ext cx="611505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800" b="0">
                <a:solidFill>
                  <a:srgbClr val="111316"/>
                </a:solidFill>
                <a:latin typeface="Arial"/>
                <a:ea typeface="Arial"/>
                <a:cs typeface="Arial"/>
              </a:defRPr>
            </a:pPr>
            <a:r>
              <a:rPr sz="1800" b="0">
                <a:solidFill>
                  <a:srgbClr val="111316"/>
                </a:solidFill>
                <a:latin typeface="Arial"/>
                <a:ea typeface="Arial"/>
                <a:cs typeface="Arial"/>
              </a:rPr>
              <a:t>State which TWO constraints bind, and which one (the structural cap) does not.</a:t>
            </a:r>
          </a:p>
        </p:txBody>
      </p:sp>
      <p:sp>
        <p:nvSpPr>
          <p:cNvPr id="15" name="exercise-no-3">
            <a:extLst xmlns:a="http://schemas.openxmlformats.org/drawingml/2006/main">
              <a:ext uri="{FF2B5EF4-FFF2-40B4-BE49-F238E27FC236}">
                <a16:creationId xmlns:a16="http://schemas.microsoft.com/office/drawing/2014/main" id="{6F65357E-EB6B-40E0-9899-BA461C0F8B9C}"/>
              </a:ext>
            </a:extLst>
          </p:cNvPr>
          <p:cNvSpPr>
            <a:spLocks xmlns:a="http://schemas.openxmlformats.org/drawingml/2006/main" noGrp="1"/>
          </p:cNvSpPr>
          <p:nvPr/>
        </p:nvSpPr>
        <p:spPr>
          <a:xfrm xmlns:a="http://schemas.openxmlformats.org/drawingml/2006/main">
            <a:off x="5029200" y="4876800"/>
            <a:ext cx="381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00" b="1">
                <a:solidFill>
                  <a:srgbClr val="2E74B5"/>
                </a:solidFill>
                <a:latin typeface="Arial"/>
                <a:ea typeface="Arial"/>
                <a:cs typeface="Arial"/>
              </a:defRPr>
            </a:pPr>
            <a:r>
              <a:rPr sz="1800" b="1">
                <a:solidFill>
                  <a:srgbClr val="2E74B5"/>
                </a:solidFill>
                <a:latin typeface="Arial"/>
                <a:ea typeface="Arial"/>
                <a:cs typeface="Arial"/>
              </a:rPr>
              <a:t>4.</a:t>
            </a:r>
          </a:p>
        </p:txBody>
      </p:sp>
      <p:sp>
        <p:nvSpPr>
          <p:cNvPr id="16" name="exercise-step-3">
            <a:extLst xmlns:a="http://schemas.openxmlformats.org/drawingml/2006/main">
              <a:ext uri="{FF2B5EF4-FFF2-40B4-BE49-F238E27FC236}">
                <a16:creationId xmlns:a16="http://schemas.microsoft.com/office/drawing/2014/main" id="{0A6FFB00-81E4-4206-B343-BF4348B82B7E}"/>
              </a:ext>
            </a:extLst>
          </p:cNvPr>
          <p:cNvSpPr>
            <a:spLocks xmlns:a="http://schemas.openxmlformats.org/drawingml/2006/main" noGrp="1"/>
          </p:cNvSpPr>
          <p:nvPr/>
        </p:nvSpPr>
        <p:spPr>
          <a:xfrm xmlns:a="http://schemas.openxmlformats.org/drawingml/2006/main">
            <a:off x="5467350" y="4876800"/>
            <a:ext cx="611505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800" b="0">
                <a:solidFill>
                  <a:srgbClr val="111316"/>
                </a:solidFill>
                <a:latin typeface="Arial"/>
                <a:ea typeface="Arial"/>
                <a:cs typeface="Arial"/>
              </a:defRPr>
            </a:pPr>
            <a:r>
              <a:rPr sz="1800" b="0">
                <a:solidFill>
                  <a:srgbClr val="111316"/>
                </a:solidFill>
                <a:latin typeface="Arial"/>
                <a:ea typeface="Arial"/>
                <a:cs typeface="Arial"/>
              </a:rPr>
              <a:t>Explain in one sentence why 'the solver said success' is not enough on its own.</a:t>
            </a:r>
          </a:p>
        </p:txBody>
      </p:sp>
    </p:spTree>
    <p:extLst>
      <p:ext uri="{BB962C8B-B14F-4D97-AF65-F5344CB8AC3E}">
        <p14:creationId xmlns:p14="http://schemas.microsoft.com/office/powerpoint/2010/main" val="723947260"/>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kicker">
            <a:extLst xmlns:a="http://schemas.openxmlformats.org/drawingml/2006/main">
              <a:ext uri="{FF2B5EF4-FFF2-40B4-BE49-F238E27FC236}">
                <a16:creationId xmlns:a16="http://schemas.microsoft.com/office/drawing/2014/main" id="{552D3A70-08CE-401A-83B3-1FF1BDD245E5}"/>
              </a:ext>
            </a:extLst>
          </p:cNvPr>
          <p:cNvSpPr>
            <a:spLocks xmlns:a="http://schemas.openxmlformats.org/drawingml/2006/main" noGrp="1"/>
          </p:cNvSpPr>
          <p:nvPr/>
        </p:nvSpPr>
        <p:spPr>
          <a:xfrm xmlns:a="http://schemas.openxmlformats.org/drawingml/2006/main">
            <a:off x="609600" y="342900"/>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2E74B5"/>
                </a:solidFill>
                <a:latin typeface="Arial"/>
                <a:ea typeface="Arial"/>
                <a:cs typeface="Arial"/>
              </a:defRPr>
            </a:pPr>
            <a:r>
              <a:rPr sz="900" b="1">
                <a:solidFill>
                  <a:srgbClr val="2E74B5"/>
                </a:solidFill>
                <a:latin typeface="Arial"/>
                <a:ea typeface="Arial"/>
                <a:cs typeface="Arial"/>
              </a:rPr>
              <a:t>PYTHON SYNTAX</a:t>
            </a:r>
          </a:p>
        </p:txBody>
      </p:sp>
      <p:sp>
        <p:nvSpPr>
          <p:cNvPr id="2" name="title">
            <a:extLst xmlns:a="http://schemas.openxmlformats.org/drawingml/2006/main">
              <a:ext uri="{FF2B5EF4-FFF2-40B4-BE49-F238E27FC236}">
                <a16:creationId xmlns:a16="http://schemas.microsoft.com/office/drawing/2014/main" id="{707996AF-B318-420A-AD45-A890AEA19E20}"/>
              </a:ext>
            </a:extLst>
          </p:cNvPr>
          <p:cNvSpPr>
            <a:spLocks xmlns:a="http://schemas.openxmlformats.org/drawingml/2006/main" noGrp="1"/>
          </p:cNvSpPr>
          <p:nvPr/>
        </p:nvSpPr>
        <p:spPr>
          <a:xfrm xmlns:a="http://schemas.openxmlformats.org/drawingml/2006/main">
            <a:off x="609600" y="60960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3000" b="0">
                <a:solidFill>
                  <a:srgbClr val="111316"/>
                </a:solidFill>
                <a:latin typeface="Arial"/>
                <a:ea typeface="Arial"/>
                <a:cs typeface="Arial"/>
              </a:defRPr>
            </a:pPr>
            <a:r>
              <a:rPr sz="3000" b="0">
                <a:solidFill>
                  <a:srgbClr val="111316"/>
                </a:solidFill>
                <a:latin typeface="Arial"/>
                <a:ea typeface="Arial"/>
                <a:cs typeface="Arial"/>
              </a:rPr>
              <a:t>[5] Compare to the two 'obvious' strategies</a:t>
            </a:r>
          </a:p>
        </p:txBody>
      </p:sp>
      <p:sp>
        <p:nvSpPr>
          <p:cNvPr id="3" name="">
            <a:extLst xmlns:a="http://schemas.openxmlformats.org/drawingml/2006/main">
              <a:ext uri="{FF2B5EF4-FFF2-40B4-BE49-F238E27FC236}">
                <a16:creationId xmlns:a16="http://schemas.microsoft.com/office/drawing/2014/main" id="{C0EB20EE-5A41-4C45-8B4C-F0331A5C4672}"/>
              </a:ext>
            </a:extLst>
          </p:cNvPr>
          <p:cNvSpPr>
            <a:spLocks xmlns:a="http://schemas.openxmlformats.org/drawingml/2006/main" noGrp="1"/>
          </p:cNvSpPr>
          <p:nvPr/>
        </p:nvSpPr>
        <p:spPr>
          <a:xfrm xmlns:a="http://schemas.openxmlformats.org/drawingml/2006/main">
            <a:off x="609600" y="6343650"/>
            <a:ext cx="10972800" cy="0"/>
          </a:xfrm>
          <a:prstGeom xmlns:a="http://schemas.openxmlformats.org/drawingml/2006/main" prst="line">
            <a:avLst/>
          </a:prstGeom>
          <a:noFill xmlns:a="http://schemas.openxmlformats.org/drawingml/2006/main"/>
          <a:ln xmlns:a="http://schemas.openxmlformats.org/drawingml/2006/main" w="9525">
            <a:solidFill>
              <a:srgbClr val="DDE0E5"/>
            </a:solidFill>
            <a:prstDash val="solid"/>
          </a:ln>
        </p:spPr>
      </p:sp>
      <p:sp>
        <p:nvSpPr>
          <p:cNvPr id="4" name="footer">
            <a:extLst xmlns:a="http://schemas.openxmlformats.org/drawingml/2006/main">
              <a:ext uri="{FF2B5EF4-FFF2-40B4-BE49-F238E27FC236}">
                <a16:creationId xmlns:a16="http://schemas.microsoft.com/office/drawing/2014/main" id="{CB4CE9C9-C061-4BC8-87E6-C7690DCB8788}"/>
              </a:ext>
            </a:extLst>
          </p:cNvPr>
          <p:cNvSpPr>
            <a:spLocks xmlns:a="http://schemas.openxmlformats.org/drawingml/2006/main" noGrp="1"/>
          </p:cNvSpPr>
          <p:nvPr/>
        </p:nvSpPr>
        <p:spPr>
          <a:xfrm xmlns:a="http://schemas.openxmlformats.org/drawingml/2006/main">
            <a:off x="609600" y="6429375"/>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ARC 500  ·  Week 10 · Meeting B · Linear Programming Studio</a:t>
            </a:r>
          </a:p>
        </p:txBody>
      </p:sp>
      <p:sp>
        <p:nvSpPr>
          <p:cNvPr id="5" name="page">
            <a:extLst xmlns:a="http://schemas.openxmlformats.org/drawingml/2006/main">
              <a:ext uri="{FF2B5EF4-FFF2-40B4-BE49-F238E27FC236}">
                <a16:creationId xmlns:a16="http://schemas.microsoft.com/office/drawing/2014/main" id="{32F63720-1299-4891-A521-813B56BADDDF}"/>
              </a:ext>
            </a:extLst>
          </p:cNvPr>
          <p:cNvSpPr>
            <a:spLocks xmlns:a="http://schemas.openxmlformats.org/drawingml/2006/main" noGrp="1"/>
          </p:cNvSpPr>
          <p:nvPr/>
        </p:nvSpPr>
        <p:spPr>
          <a:xfrm xmlns:a="http://schemas.openxmlformats.org/drawingml/2006/main">
            <a:off x="10896600" y="6429375"/>
            <a:ext cx="685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16</a:t>
            </a:r>
          </a:p>
        </p:txBody>
      </p:sp>
      <p:sp>
        <p:nvSpPr>
          <p:cNvPr id="6" name="code-panel">
            <a:extLst xmlns:a="http://schemas.openxmlformats.org/drawingml/2006/main">
              <a:ext uri="{FF2B5EF4-FFF2-40B4-BE49-F238E27FC236}">
                <a16:creationId xmlns:a16="http://schemas.microsoft.com/office/drawing/2014/main" id="{BA07F463-D1E8-41DF-93BD-76B213FEF3A5}"/>
              </a:ext>
            </a:extLst>
          </p:cNvPr>
          <p:cNvSpPr>
            <a:spLocks xmlns:a="http://schemas.openxmlformats.org/drawingml/2006/main" noGrp="1"/>
          </p:cNvSpPr>
          <p:nvPr/>
        </p:nvSpPr>
        <p:spPr>
          <a:xfrm xmlns:a="http://schemas.openxmlformats.org/drawingml/2006/main">
            <a:off x="609600" y="1809750"/>
            <a:ext cx="6896100" cy="4267200"/>
          </a:xfrm>
          <a:prstGeom xmlns:a="http://schemas.openxmlformats.org/drawingml/2006/main" prst="roundRect">
            <a:avLst>
              <a:gd name="adj" fmla="val 1786"/>
            </a:avLst>
          </a:prstGeom>
          <a:solidFill xmlns:a="http://schemas.openxmlformats.org/drawingml/2006/main">
            <a:srgbClr val="17191C"/>
          </a:solidFill>
          <a:ln xmlns:a="http://schemas.openxmlformats.org/drawingml/2006/main" w="9525">
            <a:solidFill>
              <a:srgbClr val="17191C"/>
            </a:solidFill>
            <a:prstDash val="solid"/>
          </a:ln>
        </p:spPr>
      </p:sp>
      <p:sp>
        <p:nvSpPr>
          <p:cNvPr id="7" name="code">
            <a:extLst xmlns:a="http://schemas.openxmlformats.org/drawingml/2006/main">
              <a:ext uri="{FF2B5EF4-FFF2-40B4-BE49-F238E27FC236}">
                <a16:creationId xmlns:a16="http://schemas.microsoft.com/office/drawing/2014/main" id="{AA4ED38E-5BD8-4109-8101-78731E6A9CBE}"/>
              </a:ext>
            </a:extLst>
          </p:cNvPr>
          <p:cNvSpPr>
            <a:spLocks xmlns:a="http://schemas.openxmlformats.org/drawingml/2006/main" noGrp="1"/>
          </p:cNvSpPr>
          <p:nvPr/>
        </p:nvSpPr>
        <p:spPr>
          <a:xfrm xmlns:a="http://schemas.openxmlformats.org/drawingml/2006/main">
            <a:off x="857250" y="2057400"/>
            <a:ext cx="6400800" cy="279349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4000"/>
              </a:lnSpc>
              <a:buNone/>
              <a:defRPr sz="1800" b="0">
                <a:solidFill>
                  <a:srgbClr val="FFFFFF"/>
                </a:solidFill>
                <a:latin typeface="Consolas"/>
                <a:ea typeface="Consolas"/>
                <a:cs typeface="Consolas"/>
              </a:defRPr>
            </a:pPr>
            <a:r>
              <a:rPr sz="1800" b="0">
                <a:solidFill>
                  <a:srgbClr val="FFFFFF"/>
                </a:solidFill>
                <a:latin typeface="Consolas"/>
                <a:ea typeface="Consolas"/>
                <a:cs typeface="Consolas"/>
              </a:rPr>
              <a:t>benefit_allsolar = 60*120 + 25*0</a:t>
            </a:r>
          </a:p>
          <a:p xmlns:a="http://schemas.openxmlformats.org/drawingml/2006/main">
            <a:pPr algn="l">
              <a:lnSpc>
                <a:spcPct val="114000"/>
              </a:lnSpc>
              <a:buNone/>
              <a:defRPr sz="1800" b="0">
                <a:solidFill>
                  <a:srgbClr val="FFFFFF"/>
                </a:solidFill>
                <a:latin typeface="Consolas"/>
                <a:ea typeface="Consolas"/>
                <a:cs typeface="Consolas"/>
              </a:defRPr>
            </a:pPr>
            <a:r>
              <a:rPr sz="1800" b="0">
                <a:solidFill>
                  <a:srgbClr val="FFFFFF"/>
                </a:solidFill>
                <a:latin typeface="Consolas"/>
                <a:ea typeface="Consolas"/>
                <a:cs typeface="Consolas"/>
              </a:rPr>
              <a:t>benefit_allgreen = 60*0 + 25*200</a:t>
            </a:r>
          </a:p>
          <a:p xmlns:a="http://schemas.openxmlformats.org/drawingml/2006/main">
            <a:pPr algn="l">
              <a:lnSpc>
                <a:spcPct val="114000"/>
              </a:lnSpc>
              <a:buNone/>
              <a:defRPr sz="1800" b="0">
                <a:solidFill>
                  <a:srgbClr val="FFFFFF"/>
                </a:solidFill>
                <a:latin typeface="Consolas"/>
                <a:ea typeface="Consolas"/>
                <a:cs typeface="Consolas"/>
              </a:defRPr>
            </a:pPr>
            <a:r>
              <a:rPr sz="1800" b="0">
                <a:solidFill>
                  <a:srgbClr val="FFFFFF"/>
                </a:solidFill>
                <a:latin typeface="Consolas"/>
                <a:ea typeface="Consolas"/>
                <a:cs typeface="Consolas"/>
              </a:rPr>
              <a:t>benefit_opt = 60*x1 + 25*x2</a:t>
            </a:r>
          </a:p>
          <a:p xmlns:a="http://schemas.openxmlformats.org/drawingml/2006/main">
            <a:pPr algn="l">
              <a:lnSpc>
                <a:spcPct val="114000"/>
              </a:lnSpc>
              <a:buNone/>
              <a:defRPr sz="1800" b="0">
                <a:solidFill>
                  <a:srgbClr val="FFFFFF"/>
                </a:solidFill>
                <a:latin typeface="Consolas"/>
                <a:ea typeface="Consolas"/>
                <a:cs typeface="Consolas"/>
              </a:defRPr>
            </a:pPr>
            <a:r>
              <a:rPr sz="1800" b="0">
                <a:solidFill>
                  <a:srgbClr val="FFFFFF"/>
                </a:solidFill>
                <a:latin typeface="Consolas"/>
                <a:ea typeface="Consolas"/>
                <a:cs typeface="Consolas"/>
              </a:rPr>
              <a:t>print('all-solar:', benefit_allsolar)</a:t>
            </a:r>
          </a:p>
          <a:p xmlns:a="http://schemas.openxmlformats.org/drawingml/2006/main">
            <a:pPr algn="l">
              <a:lnSpc>
                <a:spcPct val="114000"/>
              </a:lnSpc>
              <a:buNone/>
              <a:defRPr sz="1800" b="0">
                <a:solidFill>
                  <a:srgbClr val="FFFFFF"/>
                </a:solidFill>
                <a:latin typeface="Consolas"/>
                <a:ea typeface="Consolas"/>
                <a:cs typeface="Consolas"/>
              </a:defRPr>
            </a:pPr>
            <a:r>
              <a:rPr sz="1800" b="0">
                <a:solidFill>
                  <a:srgbClr val="FFFFFF"/>
                </a:solidFill>
                <a:latin typeface="Consolas"/>
                <a:ea typeface="Consolas"/>
                <a:cs typeface="Consolas"/>
              </a:rPr>
              <a:t>print('all-green:', benefit_allgreen)</a:t>
            </a:r>
          </a:p>
          <a:p xmlns:a="http://schemas.openxmlformats.org/drawingml/2006/main">
            <a:pPr algn="l">
              <a:lnSpc>
                <a:spcPct val="114000"/>
              </a:lnSpc>
              <a:buNone/>
              <a:defRPr sz="1800" b="0">
                <a:solidFill>
                  <a:srgbClr val="FFFFFF"/>
                </a:solidFill>
                <a:latin typeface="Consolas"/>
                <a:ea typeface="Consolas"/>
                <a:cs typeface="Consolas"/>
              </a:defRPr>
            </a:pPr>
            <a:r>
              <a:rPr sz="1800" b="0">
                <a:solidFill>
                  <a:srgbClr val="FFFFFF"/>
                </a:solidFill>
                <a:latin typeface="Consolas"/>
                <a:ea typeface="Consolas"/>
                <a:cs typeface="Consolas"/>
              </a:rPr>
              <a:t>print('optimal:', benefit_opt)</a:t>
            </a:r>
          </a:p>
        </p:txBody>
      </p:sp>
      <p:sp>
        <p:nvSpPr>
          <p:cNvPr id="8" name="">
            <a:extLst xmlns:a="http://schemas.openxmlformats.org/drawingml/2006/main">
              <a:ext uri="{FF2B5EF4-FFF2-40B4-BE49-F238E27FC236}">
                <a16:creationId xmlns:a16="http://schemas.microsoft.com/office/drawing/2014/main" id="{7EBDEEC4-EDFD-4383-94E6-8739298E6947}"/>
              </a:ext>
            </a:extLst>
          </p:cNvPr>
          <p:cNvSpPr>
            <a:spLocks xmlns:a="http://schemas.openxmlformats.org/drawingml/2006/main" noGrp="1"/>
          </p:cNvSpPr>
          <p:nvPr/>
        </p:nvSpPr>
        <p:spPr>
          <a:xfrm xmlns:a="http://schemas.openxmlformats.org/drawingml/2006/main">
            <a:off x="857250" y="4908042"/>
            <a:ext cx="6400800" cy="0"/>
          </a:xfrm>
          <a:prstGeom xmlns:a="http://schemas.openxmlformats.org/drawingml/2006/main" prst="line">
            <a:avLst/>
          </a:prstGeom>
          <a:noFill xmlns:a="http://schemas.openxmlformats.org/drawingml/2006/main"/>
          <a:ln xmlns:a="http://schemas.openxmlformats.org/drawingml/2006/main" w="9525">
            <a:solidFill>
              <a:srgbClr val="4E5258"/>
            </a:solidFill>
            <a:prstDash val="solid"/>
          </a:ln>
        </p:spPr>
      </p:sp>
      <p:sp>
        <p:nvSpPr>
          <p:cNvPr id="9" name="output-label">
            <a:extLst xmlns:a="http://schemas.openxmlformats.org/drawingml/2006/main">
              <a:ext uri="{FF2B5EF4-FFF2-40B4-BE49-F238E27FC236}">
                <a16:creationId xmlns:a16="http://schemas.microsoft.com/office/drawing/2014/main" id="{9861D06D-3CCB-4540-BEF9-74FB4A3ACB83}"/>
              </a:ext>
            </a:extLst>
          </p:cNvPr>
          <p:cNvSpPr>
            <a:spLocks xmlns:a="http://schemas.openxmlformats.org/drawingml/2006/main" noGrp="1"/>
          </p:cNvSpPr>
          <p:nvPr/>
        </p:nvSpPr>
        <p:spPr>
          <a:xfrm xmlns:a="http://schemas.openxmlformats.org/drawingml/2006/main">
            <a:off x="857250" y="5022342"/>
            <a:ext cx="190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E8EEF5"/>
                </a:solidFill>
                <a:latin typeface="Arial"/>
                <a:ea typeface="Arial"/>
                <a:cs typeface="Arial"/>
              </a:defRPr>
            </a:pPr>
            <a:r>
              <a:rPr sz="900" b="1">
                <a:solidFill>
                  <a:srgbClr val="E8EEF5"/>
                </a:solidFill>
                <a:latin typeface="Arial"/>
                <a:ea typeface="Arial"/>
                <a:cs typeface="Arial"/>
              </a:rPr>
              <a:t>OUTPUT</a:t>
            </a:r>
          </a:p>
        </p:txBody>
      </p:sp>
      <p:sp>
        <p:nvSpPr>
          <p:cNvPr id="10" name="output">
            <a:extLst xmlns:a="http://schemas.openxmlformats.org/drawingml/2006/main">
              <a:ext uri="{FF2B5EF4-FFF2-40B4-BE49-F238E27FC236}">
                <a16:creationId xmlns:a16="http://schemas.microsoft.com/office/drawing/2014/main" id="{C782FBDC-5BDE-48DA-813D-A50C150887F3}"/>
              </a:ext>
            </a:extLst>
          </p:cNvPr>
          <p:cNvSpPr>
            <a:spLocks xmlns:a="http://schemas.openxmlformats.org/drawingml/2006/main" noGrp="1"/>
          </p:cNvSpPr>
          <p:nvPr/>
        </p:nvSpPr>
        <p:spPr>
          <a:xfrm xmlns:a="http://schemas.openxmlformats.org/drawingml/2006/main">
            <a:off x="857250" y="5250942"/>
            <a:ext cx="6400800" cy="57835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4000"/>
              </a:lnSpc>
              <a:buNone/>
              <a:defRPr sz="1200" b="0">
                <a:solidFill>
                  <a:srgbClr val="E8EEF5"/>
                </a:solidFill>
                <a:latin typeface="Consolas"/>
                <a:ea typeface="Consolas"/>
                <a:cs typeface="Consolas"/>
              </a:defRPr>
            </a:pPr>
            <a:r>
              <a:rPr sz="1200" b="0">
                <a:solidFill>
                  <a:srgbClr val="E8EEF5"/>
                </a:solidFill>
                <a:latin typeface="Consolas"/>
                <a:ea typeface="Consolas"/>
                <a:cs typeface="Consolas"/>
              </a:rPr>
              <a:t>all-solar: 7200</a:t>
            </a:r>
          </a:p>
          <a:p xmlns:a="http://schemas.openxmlformats.org/drawingml/2006/main">
            <a:pPr algn="l">
              <a:lnSpc>
                <a:spcPct val="114000"/>
              </a:lnSpc>
              <a:buNone/>
              <a:defRPr sz="1200" b="0">
                <a:solidFill>
                  <a:srgbClr val="E8EEF5"/>
                </a:solidFill>
                <a:latin typeface="Consolas"/>
                <a:ea typeface="Consolas"/>
                <a:cs typeface="Consolas"/>
              </a:defRPr>
            </a:pPr>
            <a:r>
              <a:rPr sz="1200" b="0">
                <a:solidFill>
                  <a:srgbClr val="E8EEF5"/>
                </a:solidFill>
                <a:latin typeface="Consolas"/>
                <a:ea typeface="Consolas"/>
                <a:cs typeface="Consolas"/>
              </a:rPr>
              <a:t>all-green: 5000</a:t>
            </a:r>
          </a:p>
          <a:p xmlns:a="http://schemas.openxmlformats.org/drawingml/2006/main">
            <a:pPr algn="l">
              <a:lnSpc>
                <a:spcPct val="114000"/>
              </a:lnSpc>
              <a:buNone/>
              <a:defRPr sz="1200" b="0">
                <a:solidFill>
                  <a:srgbClr val="E8EEF5"/>
                </a:solidFill>
                <a:latin typeface="Consolas"/>
                <a:ea typeface="Consolas"/>
                <a:cs typeface="Consolas"/>
              </a:defRPr>
            </a:pPr>
            <a:r>
              <a:rPr sz="1200" b="0">
                <a:solidFill>
                  <a:srgbClr val="E8EEF5"/>
                </a:solidFill>
                <a:latin typeface="Consolas"/>
                <a:ea typeface="Consolas"/>
                <a:cs typeface="Consolas"/>
              </a:rPr>
              <a:t>optimal: 7800.0</a:t>
            </a:r>
          </a:p>
        </p:txBody>
      </p:sp>
      <p:sp>
        <p:nvSpPr>
          <p:cNvPr id="11" name="explain-head">
            <a:extLst xmlns:a="http://schemas.openxmlformats.org/drawingml/2006/main">
              <a:ext uri="{FF2B5EF4-FFF2-40B4-BE49-F238E27FC236}">
                <a16:creationId xmlns:a16="http://schemas.microsoft.com/office/drawing/2014/main" id="{2B750B9A-21E3-494C-AA66-D9DDAD088736}"/>
              </a:ext>
            </a:extLst>
          </p:cNvPr>
          <p:cNvSpPr>
            <a:spLocks xmlns:a="http://schemas.openxmlformats.org/drawingml/2006/main" noGrp="1"/>
          </p:cNvSpPr>
          <p:nvPr/>
        </p:nvSpPr>
        <p:spPr>
          <a:xfrm xmlns:a="http://schemas.openxmlformats.org/drawingml/2006/main">
            <a:off x="7886700" y="2609850"/>
            <a:ext cx="3695700" cy="63322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100" b="1">
                <a:solidFill>
                  <a:srgbClr val="111316"/>
                </a:solidFill>
                <a:latin typeface="Arial"/>
                <a:ea typeface="Arial"/>
                <a:cs typeface="Arial"/>
              </a:defRPr>
            </a:pPr>
            <a:r>
              <a:rPr sz="2100" b="1">
                <a:solidFill>
                  <a:srgbClr val="111316"/>
                </a:solidFill>
                <a:latin typeface="Arial"/>
                <a:ea typeface="Arial"/>
                <a:cs typeface="Arial"/>
              </a:rPr>
              <a:t>Formulating beats guessing, by real dollars</a:t>
            </a:r>
          </a:p>
        </p:txBody>
      </p:sp>
      <p:sp>
        <p:nvSpPr>
          <p:cNvPr id="12" name="explain-body">
            <a:extLst xmlns:a="http://schemas.openxmlformats.org/drawingml/2006/main">
              <a:ext uri="{FF2B5EF4-FFF2-40B4-BE49-F238E27FC236}">
                <a16:creationId xmlns:a16="http://schemas.microsoft.com/office/drawing/2014/main" id="{6236ECA7-0D2F-473C-A34A-BA8A5E151625}"/>
              </a:ext>
            </a:extLst>
          </p:cNvPr>
          <p:cNvSpPr>
            <a:spLocks xmlns:a="http://schemas.openxmlformats.org/drawingml/2006/main" noGrp="1"/>
          </p:cNvSpPr>
          <p:nvPr/>
        </p:nvSpPr>
        <p:spPr>
          <a:xfrm xmlns:a="http://schemas.openxmlformats.org/drawingml/2006/main">
            <a:off x="7886700" y="3395472"/>
            <a:ext cx="3695700" cy="140208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500" b="0">
                <a:solidFill>
                  <a:srgbClr val="5A5F66"/>
                </a:solidFill>
                <a:latin typeface="Arial"/>
                <a:ea typeface="Arial"/>
                <a:cs typeface="Arial"/>
              </a:defRPr>
            </a:pPr>
            <a:r>
              <a:rPr sz="1500" b="0">
                <a:solidFill>
                  <a:srgbClr val="5A5F66"/>
                </a:solidFill>
                <a:latin typeface="Arial"/>
                <a:ea typeface="Arial"/>
                <a:cs typeface="Arial"/>
              </a:rPr>
              <a:t>All-solar (capped at 120 m2, 80 m2 unused) earns $7,200/yr. All-green earns $5,000/yr. The formulated-and-solved mix earns $7,800/yr — $600 to $2,800/yr more than either 'obvious' pure strategy, every year the roof stands.</a:t>
            </a:r>
          </a:p>
        </p:txBody>
      </p:sp>
    </p:spTree>
    <p:extLst>
      <p:ext uri="{BB962C8B-B14F-4D97-AF65-F5344CB8AC3E}">
        <p14:creationId xmlns:p14="http://schemas.microsoft.com/office/powerpoint/2010/main" val="1012746355"/>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kicker">
            <a:extLst xmlns:a="http://schemas.openxmlformats.org/drawingml/2006/main">
              <a:ext uri="{FF2B5EF4-FFF2-40B4-BE49-F238E27FC236}">
                <a16:creationId xmlns:a16="http://schemas.microsoft.com/office/drawing/2014/main" id="{1E36D220-E746-4F5D-87DD-7EB0793D39BA}"/>
              </a:ext>
            </a:extLst>
          </p:cNvPr>
          <p:cNvSpPr>
            <a:spLocks xmlns:a="http://schemas.openxmlformats.org/drawingml/2006/main" noGrp="1"/>
          </p:cNvSpPr>
          <p:nvPr/>
        </p:nvSpPr>
        <p:spPr>
          <a:xfrm xmlns:a="http://schemas.openxmlformats.org/drawingml/2006/main">
            <a:off x="609600" y="342900"/>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2E74B5"/>
                </a:solidFill>
                <a:latin typeface="Arial"/>
                <a:ea typeface="Arial"/>
                <a:cs typeface="Arial"/>
              </a:defRPr>
            </a:pPr>
            <a:r>
              <a:rPr sz="900" b="1">
                <a:solidFill>
                  <a:srgbClr val="2E74B5"/>
                </a:solidFill>
                <a:latin typeface="Arial"/>
                <a:ea typeface="Arial"/>
                <a:cs typeface="Arial"/>
              </a:rPr>
              <a:t>VISUAL EVIDENCE</a:t>
            </a:r>
          </a:p>
        </p:txBody>
      </p:sp>
      <p:sp>
        <p:nvSpPr>
          <p:cNvPr id="2" name="title">
            <a:extLst xmlns:a="http://schemas.openxmlformats.org/drawingml/2006/main">
              <a:ext uri="{FF2B5EF4-FFF2-40B4-BE49-F238E27FC236}">
                <a16:creationId xmlns:a16="http://schemas.microsoft.com/office/drawing/2014/main" id="{C72A6740-1BD4-4162-B146-A8AAA49C756D}"/>
              </a:ext>
            </a:extLst>
          </p:cNvPr>
          <p:cNvSpPr>
            <a:spLocks xmlns:a="http://schemas.openxmlformats.org/drawingml/2006/main" noGrp="1"/>
          </p:cNvSpPr>
          <p:nvPr/>
        </p:nvSpPr>
        <p:spPr>
          <a:xfrm xmlns:a="http://schemas.openxmlformats.org/drawingml/2006/main">
            <a:off x="609600" y="60960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3000" b="0">
                <a:solidFill>
                  <a:srgbClr val="111316"/>
                </a:solidFill>
                <a:latin typeface="Arial"/>
                <a:ea typeface="Arial"/>
                <a:cs typeface="Arial"/>
              </a:defRPr>
            </a:pPr>
            <a:r>
              <a:rPr sz="3000" b="0">
                <a:solidFill>
                  <a:srgbClr val="111316"/>
                </a:solidFill>
                <a:latin typeface="Arial"/>
                <a:ea typeface="Arial"/>
                <a:cs typeface="Arial"/>
              </a:rPr>
              <a:t>Same three numbers, now visible</a:t>
            </a:r>
          </a:p>
        </p:txBody>
      </p:sp>
      <p:sp>
        <p:nvSpPr>
          <p:cNvPr id="3" name="">
            <a:extLst xmlns:a="http://schemas.openxmlformats.org/drawingml/2006/main">
              <a:ext uri="{FF2B5EF4-FFF2-40B4-BE49-F238E27FC236}">
                <a16:creationId xmlns:a16="http://schemas.microsoft.com/office/drawing/2014/main" id="{B9378052-5066-46B7-A414-4A3B0C207665}"/>
              </a:ext>
            </a:extLst>
          </p:cNvPr>
          <p:cNvSpPr>
            <a:spLocks xmlns:a="http://schemas.openxmlformats.org/drawingml/2006/main" noGrp="1"/>
          </p:cNvSpPr>
          <p:nvPr/>
        </p:nvSpPr>
        <p:spPr>
          <a:xfrm xmlns:a="http://schemas.openxmlformats.org/drawingml/2006/main">
            <a:off x="609600" y="6343650"/>
            <a:ext cx="10972800" cy="0"/>
          </a:xfrm>
          <a:prstGeom xmlns:a="http://schemas.openxmlformats.org/drawingml/2006/main" prst="line">
            <a:avLst/>
          </a:prstGeom>
          <a:noFill xmlns:a="http://schemas.openxmlformats.org/drawingml/2006/main"/>
          <a:ln xmlns:a="http://schemas.openxmlformats.org/drawingml/2006/main" w="9525">
            <a:solidFill>
              <a:srgbClr val="DDE0E5"/>
            </a:solidFill>
            <a:prstDash val="solid"/>
          </a:ln>
        </p:spPr>
      </p:sp>
      <p:sp>
        <p:nvSpPr>
          <p:cNvPr id="4" name="footer">
            <a:extLst xmlns:a="http://schemas.openxmlformats.org/drawingml/2006/main">
              <a:ext uri="{FF2B5EF4-FFF2-40B4-BE49-F238E27FC236}">
                <a16:creationId xmlns:a16="http://schemas.microsoft.com/office/drawing/2014/main" id="{8D9A89D0-EE8B-41E8-B307-BFCFEA7034C3}"/>
              </a:ext>
            </a:extLst>
          </p:cNvPr>
          <p:cNvSpPr>
            <a:spLocks xmlns:a="http://schemas.openxmlformats.org/drawingml/2006/main" noGrp="1"/>
          </p:cNvSpPr>
          <p:nvPr/>
        </p:nvSpPr>
        <p:spPr>
          <a:xfrm xmlns:a="http://schemas.openxmlformats.org/drawingml/2006/main">
            <a:off x="609600" y="6429375"/>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ARC 500  ·  Week 10 · Meeting B · Linear Programming Studio</a:t>
            </a:r>
          </a:p>
        </p:txBody>
      </p:sp>
      <p:sp>
        <p:nvSpPr>
          <p:cNvPr id="5" name="page">
            <a:extLst xmlns:a="http://schemas.openxmlformats.org/drawingml/2006/main">
              <a:ext uri="{FF2B5EF4-FFF2-40B4-BE49-F238E27FC236}">
                <a16:creationId xmlns:a16="http://schemas.microsoft.com/office/drawing/2014/main" id="{B7C1E00B-BCD8-477C-BC6D-968856049637}"/>
              </a:ext>
            </a:extLst>
          </p:cNvPr>
          <p:cNvSpPr>
            <a:spLocks xmlns:a="http://schemas.openxmlformats.org/drawingml/2006/main" noGrp="1"/>
          </p:cNvSpPr>
          <p:nvPr/>
        </p:nvSpPr>
        <p:spPr>
          <a:xfrm xmlns:a="http://schemas.openxmlformats.org/drawingml/2006/main">
            <a:off x="10896600" y="6429375"/>
            <a:ext cx="685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17</a:t>
            </a:r>
          </a:p>
        </p:txBody>
      </p:sp>
      <p:graphicFrame>
        <p:nvGraphicFramePr>
          <p:cNvPr id="14" name="Chart"/>
          <p:cNvGraphicFramePr/>
          <p:nvPr/>
        </p:nvGraphicFramePr>
        <p:xfrm>
          <a:off xmlns:a="http://schemas.openxmlformats.org/drawingml/2006/main" x="609600" y="1809750"/>
          <a:ext xmlns:a="http://schemas.openxmlformats.org/drawingml/2006/main" cx="7010400" cy="4248150"/>
        </p:xfrm>
        <a:graphic xmlns:a="http://schemas.openxmlformats.org/drawingml/2006/main">
          <a:graphicData uri="http://schemas.openxmlformats.org/drawingml/2006/chart">
            <c:chart xmlns:r="http://schemas.openxmlformats.org/officeDocument/2006/relationships" xmlns:c="http://schemas.openxmlformats.org/drawingml/2006/chart" r:id="Rfb238693e3d043e2"/>
          </a:graphicData>
        </a:graphic>
      </p:graphicFrame>
      <p:sp>
        <p:nvSpPr>
          <p:cNvPr id="7" name="chart-explain-head">
            <a:extLst xmlns:a="http://schemas.openxmlformats.org/drawingml/2006/main">
              <a:ext uri="{FF2B5EF4-FFF2-40B4-BE49-F238E27FC236}">
                <a16:creationId xmlns:a16="http://schemas.microsoft.com/office/drawing/2014/main" id="{2DEDE4F9-DD32-47C1-A54F-47D4A1B2921C}"/>
              </a:ext>
            </a:extLst>
          </p:cNvPr>
          <p:cNvSpPr>
            <a:spLocks xmlns:a="http://schemas.openxmlformats.org/drawingml/2006/main" noGrp="1"/>
          </p:cNvSpPr>
          <p:nvPr/>
        </p:nvSpPr>
        <p:spPr>
          <a:xfrm xmlns:a="http://schemas.openxmlformats.org/drawingml/2006/main">
            <a:off x="8001000" y="2686050"/>
            <a:ext cx="3581400" cy="63322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100" b="1">
                <a:solidFill>
                  <a:srgbClr val="111316"/>
                </a:solidFill>
                <a:latin typeface="Arial"/>
                <a:ea typeface="Arial"/>
                <a:cs typeface="Arial"/>
              </a:defRPr>
            </a:pPr>
            <a:r>
              <a:rPr sz="2100" b="1">
                <a:solidFill>
                  <a:srgbClr val="111316"/>
                </a:solidFill>
                <a:latin typeface="Arial"/>
                <a:ea typeface="Arial"/>
                <a:cs typeface="Arial"/>
              </a:rPr>
              <a:t>The mixed strategy wins visibly</a:t>
            </a:r>
          </a:p>
        </p:txBody>
      </p:sp>
      <p:sp>
        <p:nvSpPr>
          <p:cNvPr id="8" name="chart-explain-body">
            <a:extLst xmlns:a="http://schemas.openxmlformats.org/drawingml/2006/main">
              <a:ext uri="{FF2B5EF4-FFF2-40B4-BE49-F238E27FC236}">
                <a16:creationId xmlns:a16="http://schemas.microsoft.com/office/drawing/2014/main" id="{DD5688A5-DF18-4CC8-94FB-2087F6DDD413}"/>
              </a:ext>
            </a:extLst>
          </p:cNvPr>
          <p:cNvSpPr>
            <a:spLocks xmlns:a="http://schemas.openxmlformats.org/drawingml/2006/main" noGrp="1"/>
          </p:cNvSpPr>
          <p:nvPr/>
        </p:nvSpPr>
        <p:spPr>
          <a:xfrm xmlns:a="http://schemas.openxmlformats.org/drawingml/2006/main">
            <a:off x="8001000" y="3471672"/>
            <a:ext cx="3581400" cy="1181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500" b="0">
                <a:solidFill>
                  <a:srgbClr val="5A5F66"/>
                </a:solidFill>
                <a:latin typeface="Arial"/>
                <a:ea typeface="Arial"/>
                <a:cs typeface="Arial"/>
              </a:defRPr>
            </a:pPr>
            <a:r>
              <a:rPr sz="1500" b="0">
                <a:solidFill>
                  <a:srgbClr val="5A5F66"/>
                </a:solidFill>
                <a:latin typeface="Arial"/>
                <a:ea typeface="Arial"/>
                <a:cs typeface="Arial"/>
              </a:rPr>
              <a:t>Neither pure bar is tallest. This is the shape of comparison figure Project 2 Part II's rubric line expects: your own optimized result plotted against a naive baseline, not just reported as a number.</a:t>
            </a:r>
          </a:p>
        </p:txBody>
      </p:sp>
    </p:spTree>
    <p:extLst>
      <p:ext uri="{BB962C8B-B14F-4D97-AF65-F5344CB8AC3E}">
        <p14:creationId xmlns:p14="http://schemas.microsoft.com/office/powerpoint/2010/main" val="1486521247"/>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kicker">
            <a:extLst xmlns:a="http://schemas.openxmlformats.org/drawingml/2006/main">
              <a:ext uri="{FF2B5EF4-FFF2-40B4-BE49-F238E27FC236}">
                <a16:creationId xmlns:a16="http://schemas.microsoft.com/office/drawing/2014/main" id="{846ABFAF-ED2D-4EDA-A7DD-D50437FF6539}"/>
              </a:ext>
            </a:extLst>
          </p:cNvPr>
          <p:cNvSpPr>
            <a:spLocks xmlns:a="http://schemas.openxmlformats.org/drawingml/2006/main" noGrp="1"/>
          </p:cNvSpPr>
          <p:nvPr/>
        </p:nvSpPr>
        <p:spPr>
          <a:xfrm xmlns:a="http://schemas.openxmlformats.org/drawingml/2006/main">
            <a:off x="609600" y="342900"/>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2E74B5"/>
                </a:solidFill>
                <a:latin typeface="Arial"/>
                <a:ea typeface="Arial"/>
                <a:cs typeface="Arial"/>
              </a:defRPr>
            </a:pPr>
            <a:r>
              <a:rPr sz="900" b="1">
                <a:solidFill>
                  <a:srgbClr val="2E74B5"/>
                </a:solidFill>
                <a:latin typeface="Arial"/>
                <a:ea typeface="Arial"/>
                <a:cs typeface="Arial"/>
              </a:rPr>
              <a:t>IN-CLASS CHECK</a:t>
            </a:r>
          </a:p>
        </p:txBody>
      </p:sp>
      <p:sp>
        <p:nvSpPr>
          <p:cNvPr id="2" name="title">
            <a:extLst xmlns:a="http://schemas.openxmlformats.org/drawingml/2006/main">
              <a:ext uri="{FF2B5EF4-FFF2-40B4-BE49-F238E27FC236}">
                <a16:creationId xmlns:a16="http://schemas.microsoft.com/office/drawing/2014/main" id="{74CE10C9-723C-4203-8BF6-798B10B8BF99}"/>
              </a:ext>
            </a:extLst>
          </p:cNvPr>
          <p:cNvSpPr>
            <a:spLocks xmlns:a="http://schemas.openxmlformats.org/drawingml/2006/main" noGrp="1"/>
          </p:cNvSpPr>
          <p:nvPr/>
        </p:nvSpPr>
        <p:spPr>
          <a:xfrm xmlns:a="http://schemas.openxmlformats.org/drawingml/2006/main">
            <a:off x="609600" y="60960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3000" b="0">
                <a:solidFill>
                  <a:srgbClr val="111316"/>
                </a:solidFill>
                <a:latin typeface="Arial"/>
                <a:ea typeface="Arial"/>
                <a:cs typeface="Arial"/>
              </a:defRPr>
            </a:pPr>
            <a:r>
              <a:rPr sz="3000" b="0">
                <a:solidFill>
                  <a:srgbClr val="111316"/>
                </a:solidFill>
                <a:latin typeface="Arial"/>
                <a:ea typeface="Arial"/>
                <a:cs typeface="Arial"/>
              </a:rPr>
              <a:t>Studio 3: defend the optimal strategy in one sentence</a:t>
            </a:r>
          </a:p>
        </p:txBody>
      </p:sp>
      <p:sp>
        <p:nvSpPr>
          <p:cNvPr id="3" name="">
            <a:extLst xmlns:a="http://schemas.openxmlformats.org/drawingml/2006/main">
              <a:ext uri="{FF2B5EF4-FFF2-40B4-BE49-F238E27FC236}">
                <a16:creationId xmlns:a16="http://schemas.microsoft.com/office/drawing/2014/main" id="{6D58B8EE-E724-4721-9467-01F4CC460D18}"/>
              </a:ext>
            </a:extLst>
          </p:cNvPr>
          <p:cNvSpPr>
            <a:spLocks xmlns:a="http://schemas.openxmlformats.org/drawingml/2006/main" noGrp="1"/>
          </p:cNvSpPr>
          <p:nvPr/>
        </p:nvSpPr>
        <p:spPr>
          <a:xfrm xmlns:a="http://schemas.openxmlformats.org/drawingml/2006/main">
            <a:off x="609600" y="6343650"/>
            <a:ext cx="10972800" cy="0"/>
          </a:xfrm>
          <a:prstGeom xmlns:a="http://schemas.openxmlformats.org/drawingml/2006/main" prst="line">
            <a:avLst/>
          </a:prstGeom>
          <a:noFill xmlns:a="http://schemas.openxmlformats.org/drawingml/2006/main"/>
          <a:ln xmlns:a="http://schemas.openxmlformats.org/drawingml/2006/main" w="9525">
            <a:solidFill>
              <a:srgbClr val="DDE0E5"/>
            </a:solidFill>
            <a:prstDash val="solid"/>
          </a:ln>
        </p:spPr>
      </p:sp>
      <p:sp>
        <p:nvSpPr>
          <p:cNvPr id="4" name="footer">
            <a:extLst xmlns:a="http://schemas.openxmlformats.org/drawingml/2006/main">
              <a:ext uri="{FF2B5EF4-FFF2-40B4-BE49-F238E27FC236}">
                <a16:creationId xmlns:a16="http://schemas.microsoft.com/office/drawing/2014/main" id="{DAAABCDB-1CFF-43B3-804F-117EDABEFB75}"/>
              </a:ext>
            </a:extLst>
          </p:cNvPr>
          <p:cNvSpPr>
            <a:spLocks xmlns:a="http://schemas.openxmlformats.org/drawingml/2006/main" noGrp="1"/>
          </p:cNvSpPr>
          <p:nvPr/>
        </p:nvSpPr>
        <p:spPr>
          <a:xfrm xmlns:a="http://schemas.openxmlformats.org/drawingml/2006/main">
            <a:off x="609600" y="6429375"/>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ARC 500  ·  Week 10 · Meeting B · Linear Programming Studio</a:t>
            </a:r>
          </a:p>
        </p:txBody>
      </p:sp>
      <p:sp>
        <p:nvSpPr>
          <p:cNvPr id="5" name="page">
            <a:extLst xmlns:a="http://schemas.openxmlformats.org/drawingml/2006/main">
              <a:ext uri="{FF2B5EF4-FFF2-40B4-BE49-F238E27FC236}">
                <a16:creationId xmlns:a16="http://schemas.microsoft.com/office/drawing/2014/main" id="{13257068-98AD-4725-BB5B-ABD9B90D2B60}"/>
              </a:ext>
            </a:extLst>
          </p:cNvPr>
          <p:cNvSpPr>
            <a:spLocks xmlns:a="http://schemas.openxmlformats.org/drawingml/2006/main" noGrp="1"/>
          </p:cNvSpPr>
          <p:nvPr/>
        </p:nvSpPr>
        <p:spPr>
          <a:xfrm xmlns:a="http://schemas.openxmlformats.org/drawingml/2006/main">
            <a:off x="10896600" y="6429375"/>
            <a:ext cx="685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18</a:t>
            </a:r>
          </a:p>
        </p:txBody>
      </p:sp>
      <p:sp>
        <p:nvSpPr>
          <p:cNvPr id="6" name="exercise-accent">
            <a:extLst xmlns:a="http://schemas.openxmlformats.org/drawingml/2006/main">
              <a:ext uri="{FF2B5EF4-FFF2-40B4-BE49-F238E27FC236}">
                <a16:creationId xmlns:a16="http://schemas.microsoft.com/office/drawing/2014/main" id="{8D771CF2-3724-463B-92E8-F64603AF4693}"/>
              </a:ext>
            </a:extLst>
          </p:cNvPr>
          <p:cNvSpPr>
            <a:spLocks xmlns:a="http://schemas.openxmlformats.org/drawingml/2006/main" noGrp="1"/>
          </p:cNvSpPr>
          <p:nvPr/>
        </p:nvSpPr>
        <p:spPr>
          <a:xfrm xmlns:a="http://schemas.openxmlformats.org/drawingml/2006/main">
            <a:off x="609600" y="1809750"/>
            <a:ext cx="4000500" cy="4248150"/>
          </a:xfrm>
          <a:prstGeom xmlns:a="http://schemas.openxmlformats.org/drawingml/2006/main" prst="roundRect">
            <a:avLst>
              <a:gd name="adj" fmla="val 1429"/>
            </a:avLst>
          </a:prstGeom>
          <a:solidFill xmlns:a="http://schemas.openxmlformats.org/drawingml/2006/main">
            <a:srgbClr val="2E74B5"/>
          </a:solidFill>
          <a:ln xmlns:a="http://schemas.openxmlformats.org/drawingml/2006/main" w="9525">
            <a:solidFill>
              <a:srgbClr val="2E74B5"/>
            </a:solidFill>
            <a:prstDash val="solid"/>
          </a:ln>
        </p:spPr>
      </p:sp>
      <p:sp>
        <p:nvSpPr>
          <p:cNvPr id="7" name="exercise-prompt">
            <a:extLst xmlns:a="http://schemas.openxmlformats.org/drawingml/2006/main">
              <a:ext uri="{FF2B5EF4-FFF2-40B4-BE49-F238E27FC236}">
                <a16:creationId xmlns:a16="http://schemas.microsoft.com/office/drawing/2014/main" id="{B95A0393-4429-4C1A-82FE-85F573A5E6EC}"/>
              </a:ext>
            </a:extLst>
          </p:cNvPr>
          <p:cNvSpPr>
            <a:spLocks xmlns:a="http://schemas.openxmlformats.org/drawingml/2006/main" noGrp="1"/>
          </p:cNvSpPr>
          <p:nvPr/>
        </p:nvSpPr>
        <p:spPr>
          <a:xfrm xmlns:a="http://schemas.openxmlformats.org/drawingml/2006/main">
            <a:off x="876300" y="2095500"/>
            <a:ext cx="3467100" cy="3676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8000"/>
              </a:lnSpc>
              <a:buNone/>
              <a:defRPr sz="2100" b="1">
                <a:solidFill>
                  <a:srgbClr val="FFFFFF"/>
                </a:solidFill>
                <a:latin typeface="Arial"/>
                <a:ea typeface="Arial"/>
                <a:cs typeface="Arial"/>
              </a:defRPr>
            </a:pPr>
            <a:r>
              <a:rPr sz="2100" b="1">
                <a:solidFill>
                  <a:srgbClr val="FFFFFF"/>
                </a:solidFill>
                <a:latin typeface="Arial"/>
                <a:ea typeface="Arial"/>
                <a:cs typeface="Arial"/>
              </a:rPr>
              <a:t>A colleague asks why you didn't just install solar everywhere possible.</a:t>
            </a:r>
          </a:p>
        </p:txBody>
      </p:sp>
      <p:sp>
        <p:nvSpPr>
          <p:cNvPr id="8" name="work-label">
            <a:extLst xmlns:a="http://schemas.openxmlformats.org/drawingml/2006/main">
              <a:ext uri="{FF2B5EF4-FFF2-40B4-BE49-F238E27FC236}">
                <a16:creationId xmlns:a16="http://schemas.microsoft.com/office/drawing/2014/main" id="{43825869-CC1C-4FA5-96AC-BBA1FE90D5CB}"/>
              </a:ext>
            </a:extLst>
          </p:cNvPr>
          <p:cNvSpPr>
            <a:spLocks xmlns:a="http://schemas.openxmlformats.org/drawingml/2006/main" noGrp="1"/>
          </p:cNvSpPr>
          <p:nvPr/>
        </p:nvSpPr>
        <p:spPr>
          <a:xfrm xmlns:a="http://schemas.openxmlformats.org/drawingml/2006/main">
            <a:off x="5029200" y="1847850"/>
            <a:ext cx="6553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2E74B5"/>
                </a:solidFill>
                <a:latin typeface="Arial"/>
                <a:ea typeface="Arial"/>
                <a:cs typeface="Arial"/>
              </a:defRPr>
            </a:pPr>
            <a:r>
              <a:rPr sz="900" b="1">
                <a:solidFill>
                  <a:srgbClr val="2E74B5"/>
                </a:solidFill>
                <a:latin typeface="Arial"/>
                <a:ea typeface="Arial"/>
                <a:cs typeface="Arial"/>
              </a:rPr>
              <a:t>WORK THROUGH IT</a:t>
            </a:r>
          </a:p>
        </p:txBody>
      </p:sp>
      <p:sp>
        <p:nvSpPr>
          <p:cNvPr id="9" name="exercise-no-0">
            <a:extLst xmlns:a="http://schemas.openxmlformats.org/drawingml/2006/main">
              <a:ext uri="{FF2B5EF4-FFF2-40B4-BE49-F238E27FC236}">
                <a16:creationId xmlns:a16="http://schemas.microsoft.com/office/drawing/2014/main" id="{750688B7-E967-4E6A-85A0-755DBAD2E002}"/>
              </a:ext>
            </a:extLst>
          </p:cNvPr>
          <p:cNvSpPr>
            <a:spLocks xmlns:a="http://schemas.openxmlformats.org/drawingml/2006/main" noGrp="1"/>
          </p:cNvSpPr>
          <p:nvPr/>
        </p:nvSpPr>
        <p:spPr>
          <a:xfrm xmlns:a="http://schemas.openxmlformats.org/drawingml/2006/main">
            <a:off x="5029200" y="2247900"/>
            <a:ext cx="381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00" b="1">
                <a:solidFill>
                  <a:srgbClr val="2E74B5"/>
                </a:solidFill>
                <a:latin typeface="Arial"/>
                <a:ea typeface="Arial"/>
                <a:cs typeface="Arial"/>
              </a:defRPr>
            </a:pPr>
            <a:r>
              <a:rPr sz="1800" b="1">
                <a:solidFill>
                  <a:srgbClr val="2E74B5"/>
                </a:solidFill>
                <a:latin typeface="Arial"/>
                <a:ea typeface="Arial"/>
                <a:cs typeface="Arial"/>
              </a:rPr>
              <a:t>1.</a:t>
            </a:r>
          </a:p>
        </p:txBody>
      </p:sp>
      <p:sp>
        <p:nvSpPr>
          <p:cNvPr id="10" name="exercise-step-0">
            <a:extLst xmlns:a="http://schemas.openxmlformats.org/drawingml/2006/main">
              <a:ext uri="{FF2B5EF4-FFF2-40B4-BE49-F238E27FC236}">
                <a16:creationId xmlns:a16="http://schemas.microsoft.com/office/drawing/2014/main" id="{E202A54C-83C5-4648-9AFD-55DABE727EC5}"/>
              </a:ext>
            </a:extLst>
          </p:cNvPr>
          <p:cNvSpPr>
            <a:spLocks xmlns:a="http://schemas.openxmlformats.org/drawingml/2006/main" noGrp="1"/>
          </p:cNvSpPr>
          <p:nvPr/>
        </p:nvSpPr>
        <p:spPr>
          <a:xfrm xmlns:a="http://schemas.openxmlformats.org/drawingml/2006/main">
            <a:off x="5467350" y="2247900"/>
            <a:ext cx="611505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800" b="0">
                <a:solidFill>
                  <a:srgbClr val="111316"/>
                </a:solidFill>
                <a:latin typeface="Arial"/>
                <a:ea typeface="Arial"/>
                <a:cs typeface="Arial"/>
              </a:defRPr>
            </a:pPr>
            <a:r>
              <a:rPr sz="1800" b="0">
                <a:solidFill>
                  <a:srgbClr val="111316"/>
                </a:solidFill>
                <a:latin typeface="Arial"/>
                <a:ea typeface="Arial"/>
                <a:cs typeface="Arial"/>
              </a:rPr>
              <a:t>State solar's per-m2 benefit ($60) vs. green roof's ($25).</a:t>
            </a:r>
          </a:p>
        </p:txBody>
      </p:sp>
      <p:sp>
        <p:nvSpPr>
          <p:cNvPr id="11" name="exercise-no-1">
            <a:extLst xmlns:a="http://schemas.openxmlformats.org/drawingml/2006/main">
              <a:ext uri="{FF2B5EF4-FFF2-40B4-BE49-F238E27FC236}">
                <a16:creationId xmlns:a16="http://schemas.microsoft.com/office/drawing/2014/main" id="{55AABA78-1F07-410A-8EE5-2400EA055805}"/>
              </a:ext>
            </a:extLst>
          </p:cNvPr>
          <p:cNvSpPr>
            <a:spLocks xmlns:a="http://schemas.openxmlformats.org/drawingml/2006/main" noGrp="1"/>
          </p:cNvSpPr>
          <p:nvPr/>
        </p:nvSpPr>
        <p:spPr>
          <a:xfrm xmlns:a="http://schemas.openxmlformats.org/drawingml/2006/main">
            <a:off x="5029200" y="3124200"/>
            <a:ext cx="381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00" b="1">
                <a:solidFill>
                  <a:srgbClr val="2E74B5"/>
                </a:solidFill>
                <a:latin typeface="Arial"/>
                <a:ea typeface="Arial"/>
                <a:cs typeface="Arial"/>
              </a:defRPr>
            </a:pPr>
            <a:r>
              <a:rPr sz="1800" b="1">
                <a:solidFill>
                  <a:srgbClr val="2E74B5"/>
                </a:solidFill>
                <a:latin typeface="Arial"/>
                <a:ea typeface="Arial"/>
                <a:cs typeface="Arial"/>
              </a:rPr>
              <a:t>2.</a:t>
            </a:r>
          </a:p>
        </p:txBody>
      </p:sp>
      <p:sp>
        <p:nvSpPr>
          <p:cNvPr id="12" name="exercise-step-1">
            <a:extLst xmlns:a="http://schemas.openxmlformats.org/drawingml/2006/main">
              <a:ext uri="{FF2B5EF4-FFF2-40B4-BE49-F238E27FC236}">
                <a16:creationId xmlns:a16="http://schemas.microsoft.com/office/drawing/2014/main" id="{9462E44D-77CE-4558-BFF2-96F08CFF5C2E}"/>
              </a:ext>
            </a:extLst>
          </p:cNvPr>
          <p:cNvSpPr>
            <a:spLocks xmlns:a="http://schemas.openxmlformats.org/drawingml/2006/main" noGrp="1"/>
          </p:cNvSpPr>
          <p:nvPr/>
        </p:nvSpPr>
        <p:spPr>
          <a:xfrm xmlns:a="http://schemas.openxmlformats.org/drawingml/2006/main">
            <a:off x="5467350" y="3124200"/>
            <a:ext cx="611505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800" b="0">
                <a:solidFill>
                  <a:srgbClr val="111316"/>
                </a:solidFill>
                <a:latin typeface="Arial"/>
                <a:ea typeface="Arial"/>
                <a:cs typeface="Arial"/>
              </a:defRPr>
            </a:pPr>
            <a:r>
              <a:rPr sz="1800" b="0">
                <a:solidFill>
                  <a:srgbClr val="111316"/>
                </a:solidFill>
                <a:latin typeface="Arial"/>
                <a:ea typeface="Arial"/>
                <a:cs typeface="Arial"/>
              </a:rPr>
              <a:t>Explain why per-m2 return alone cannot decide a budget- and area-constrained problem.</a:t>
            </a:r>
          </a:p>
        </p:txBody>
      </p:sp>
      <p:sp>
        <p:nvSpPr>
          <p:cNvPr id="13" name="exercise-no-2">
            <a:extLst xmlns:a="http://schemas.openxmlformats.org/drawingml/2006/main">
              <a:ext uri="{FF2B5EF4-FFF2-40B4-BE49-F238E27FC236}">
                <a16:creationId xmlns:a16="http://schemas.microsoft.com/office/drawing/2014/main" id="{16D4D904-1C69-4A12-8701-68E891AD192C}"/>
              </a:ext>
            </a:extLst>
          </p:cNvPr>
          <p:cNvSpPr>
            <a:spLocks xmlns:a="http://schemas.openxmlformats.org/drawingml/2006/main" noGrp="1"/>
          </p:cNvSpPr>
          <p:nvPr/>
        </p:nvSpPr>
        <p:spPr>
          <a:xfrm xmlns:a="http://schemas.openxmlformats.org/drawingml/2006/main">
            <a:off x="5029200" y="4000500"/>
            <a:ext cx="381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00" b="1">
                <a:solidFill>
                  <a:srgbClr val="2E74B5"/>
                </a:solidFill>
                <a:latin typeface="Arial"/>
                <a:ea typeface="Arial"/>
                <a:cs typeface="Arial"/>
              </a:defRPr>
            </a:pPr>
            <a:r>
              <a:rPr sz="1800" b="1">
                <a:solidFill>
                  <a:srgbClr val="2E74B5"/>
                </a:solidFill>
                <a:latin typeface="Arial"/>
                <a:ea typeface="Arial"/>
                <a:cs typeface="Arial"/>
              </a:rPr>
              <a:t>3.</a:t>
            </a:r>
          </a:p>
        </p:txBody>
      </p:sp>
      <p:sp>
        <p:nvSpPr>
          <p:cNvPr id="14" name="exercise-step-2">
            <a:extLst xmlns:a="http://schemas.openxmlformats.org/drawingml/2006/main">
              <a:ext uri="{FF2B5EF4-FFF2-40B4-BE49-F238E27FC236}">
                <a16:creationId xmlns:a16="http://schemas.microsoft.com/office/drawing/2014/main" id="{3B74FA50-2CD7-4C4E-BAA2-B851A282A9DC}"/>
              </a:ext>
            </a:extLst>
          </p:cNvPr>
          <p:cNvSpPr>
            <a:spLocks xmlns:a="http://schemas.openxmlformats.org/drawingml/2006/main" noGrp="1"/>
          </p:cNvSpPr>
          <p:nvPr/>
        </p:nvSpPr>
        <p:spPr>
          <a:xfrm xmlns:a="http://schemas.openxmlformats.org/drawingml/2006/main">
            <a:off x="5467350" y="4000500"/>
            <a:ext cx="611505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800" b="0">
                <a:solidFill>
                  <a:srgbClr val="111316"/>
                </a:solidFill>
                <a:latin typeface="Arial"/>
                <a:ea typeface="Arial"/>
                <a:cs typeface="Arial"/>
              </a:defRPr>
            </a:pPr>
            <a:r>
              <a:rPr sz="1800" b="0">
                <a:solidFill>
                  <a:srgbClr val="111316"/>
                </a:solidFill>
                <a:latin typeface="Arial"/>
                <a:ea typeface="Arial"/>
                <a:cs typeface="Arial"/>
              </a:rPr>
              <a:t>Name the exact dollar gap between optimal and each naive strategy.</a:t>
            </a:r>
          </a:p>
        </p:txBody>
      </p:sp>
      <p:sp>
        <p:nvSpPr>
          <p:cNvPr id="15" name="exercise-no-3">
            <a:extLst xmlns:a="http://schemas.openxmlformats.org/drawingml/2006/main">
              <a:ext uri="{FF2B5EF4-FFF2-40B4-BE49-F238E27FC236}">
                <a16:creationId xmlns:a16="http://schemas.microsoft.com/office/drawing/2014/main" id="{160E8AAB-8E7B-46B9-8ED0-D903A93118A6}"/>
              </a:ext>
            </a:extLst>
          </p:cNvPr>
          <p:cNvSpPr>
            <a:spLocks xmlns:a="http://schemas.openxmlformats.org/drawingml/2006/main" noGrp="1"/>
          </p:cNvSpPr>
          <p:nvPr/>
        </p:nvSpPr>
        <p:spPr>
          <a:xfrm xmlns:a="http://schemas.openxmlformats.org/drawingml/2006/main">
            <a:off x="5029200" y="4876800"/>
            <a:ext cx="381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00" b="1">
                <a:solidFill>
                  <a:srgbClr val="2E74B5"/>
                </a:solidFill>
                <a:latin typeface="Arial"/>
                <a:ea typeface="Arial"/>
                <a:cs typeface="Arial"/>
              </a:defRPr>
            </a:pPr>
            <a:r>
              <a:rPr sz="1800" b="1">
                <a:solidFill>
                  <a:srgbClr val="2E74B5"/>
                </a:solidFill>
                <a:latin typeface="Arial"/>
                <a:ea typeface="Arial"/>
                <a:cs typeface="Arial"/>
              </a:rPr>
              <a:t>4.</a:t>
            </a:r>
          </a:p>
        </p:txBody>
      </p:sp>
      <p:sp>
        <p:nvSpPr>
          <p:cNvPr id="16" name="exercise-step-3">
            <a:extLst xmlns:a="http://schemas.openxmlformats.org/drawingml/2006/main">
              <a:ext uri="{FF2B5EF4-FFF2-40B4-BE49-F238E27FC236}">
                <a16:creationId xmlns:a16="http://schemas.microsoft.com/office/drawing/2014/main" id="{8213466B-2386-42FB-8D01-B7A8727B8E2B}"/>
              </a:ext>
            </a:extLst>
          </p:cNvPr>
          <p:cNvSpPr>
            <a:spLocks xmlns:a="http://schemas.openxmlformats.org/drawingml/2006/main" noGrp="1"/>
          </p:cNvSpPr>
          <p:nvPr/>
        </p:nvSpPr>
        <p:spPr>
          <a:xfrm xmlns:a="http://schemas.openxmlformats.org/drawingml/2006/main">
            <a:off x="5467350" y="4876800"/>
            <a:ext cx="611505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800" b="0">
                <a:solidFill>
                  <a:srgbClr val="111316"/>
                </a:solidFill>
                <a:latin typeface="Arial"/>
                <a:ea typeface="Arial"/>
                <a:cs typeface="Arial"/>
              </a:defRPr>
            </a:pPr>
            <a:r>
              <a:rPr sz="1800" b="0">
                <a:solidFill>
                  <a:srgbClr val="111316"/>
                </a:solidFill>
                <a:latin typeface="Arial"/>
                <a:ea typeface="Arial"/>
                <a:cs typeface="Arial"/>
              </a:rPr>
              <a:t>Write the one-sentence defense you would give the colleague.</a:t>
            </a:r>
          </a:p>
        </p:txBody>
      </p:sp>
    </p:spTree>
    <p:extLst>
      <p:ext uri="{BB962C8B-B14F-4D97-AF65-F5344CB8AC3E}">
        <p14:creationId xmlns:p14="http://schemas.microsoft.com/office/powerpoint/2010/main" val="1784861724"/>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8" name="kicker">
            <a:extLst xmlns:a="http://schemas.openxmlformats.org/drawingml/2006/main">
              <a:ext uri="{FF2B5EF4-FFF2-40B4-BE49-F238E27FC236}">
                <a16:creationId xmlns:a16="http://schemas.microsoft.com/office/drawing/2014/main" id="{03053422-B14D-4D18-B4BA-799E58BA8245}"/>
              </a:ext>
            </a:extLst>
          </p:cNvPr>
          <p:cNvSpPr>
            <a:spLocks xmlns:a="http://schemas.openxmlformats.org/drawingml/2006/main" noGrp="1"/>
          </p:cNvSpPr>
          <p:nvPr/>
        </p:nvSpPr>
        <p:spPr>
          <a:xfrm xmlns:a="http://schemas.openxmlformats.org/drawingml/2006/main">
            <a:off x="609600" y="342900"/>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2E74B5"/>
                </a:solidFill>
                <a:latin typeface="Arial"/>
                <a:ea typeface="Arial"/>
                <a:cs typeface="Arial"/>
              </a:defRPr>
            </a:pPr>
            <a:r>
              <a:rPr sz="900" b="1">
                <a:solidFill>
                  <a:srgbClr val="2E74B5"/>
                </a:solidFill>
                <a:latin typeface="Arial"/>
                <a:ea typeface="Arial"/>
                <a:cs typeface="Arial"/>
              </a:rPr>
              <a:t>READ THE DATA</a:t>
            </a:r>
          </a:p>
        </p:txBody>
      </p:sp>
      <p:sp>
        <p:nvSpPr>
          <p:cNvPr id="2" name="title">
            <a:extLst xmlns:a="http://schemas.openxmlformats.org/drawingml/2006/main">
              <a:ext uri="{FF2B5EF4-FFF2-40B4-BE49-F238E27FC236}">
                <a16:creationId xmlns:a16="http://schemas.microsoft.com/office/drawing/2014/main" id="{D34C66D9-DBFF-49FC-94A5-ECA242081CE3}"/>
              </a:ext>
            </a:extLst>
          </p:cNvPr>
          <p:cNvSpPr>
            <a:spLocks xmlns:a="http://schemas.openxmlformats.org/drawingml/2006/main" noGrp="1"/>
          </p:cNvSpPr>
          <p:nvPr/>
        </p:nvSpPr>
        <p:spPr>
          <a:xfrm xmlns:a="http://schemas.openxmlformats.org/drawingml/2006/main">
            <a:off x="609600" y="60960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3000" b="0">
                <a:solidFill>
                  <a:srgbClr val="111316"/>
                </a:solidFill>
                <a:latin typeface="Arial"/>
                <a:ea typeface="Arial"/>
                <a:cs typeface="Arial"/>
              </a:defRPr>
            </a:pPr>
            <a:r>
              <a:rPr sz="3000" b="0">
                <a:solidFill>
                  <a:srgbClr val="111316"/>
                </a:solidFill>
                <a:latin typeface="Arial"/>
                <a:ea typeface="Arial"/>
                <a:cs typeface="Arial"/>
              </a:rPr>
              <a:t>Common linprog formulation errors</a:t>
            </a:r>
          </a:p>
        </p:txBody>
      </p:sp>
      <p:sp>
        <p:nvSpPr>
          <p:cNvPr id="3" name="">
            <a:extLst xmlns:a="http://schemas.openxmlformats.org/drawingml/2006/main">
              <a:ext uri="{FF2B5EF4-FFF2-40B4-BE49-F238E27FC236}">
                <a16:creationId xmlns:a16="http://schemas.microsoft.com/office/drawing/2014/main" id="{FDE2889A-5254-496B-B536-0ADCCC5F7673}"/>
              </a:ext>
            </a:extLst>
          </p:cNvPr>
          <p:cNvSpPr>
            <a:spLocks xmlns:a="http://schemas.openxmlformats.org/drawingml/2006/main" noGrp="1"/>
          </p:cNvSpPr>
          <p:nvPr/>
        </p:nvSpPr>
        <p:spPr>
          <a:xfrm xmlns:a="http://schemas.openxmlformats.org/drawingml/2006/main">
            <a:off x="609600" y="6343650"/>
            <a:ext cx="10972800" cy="0"/>
          </a:xfrm>
          <a:prstGeom xmlns:a="http://schemas.openxmlformats.org/drawingml/2006/main" prst="line">
            <a:avLst/>
          </a:prstGeom>
          <a:noFill xmlns:a="http://schemas.openxmlformats.org/drawingml/2006/main"/>
          <a:ln xmlns:a="http://schemas.openxmlformats.org/drawingml/2006/main" w="9525">
            <a:solidFill>
              <a:srgbClr val="DDE0E5"/>
            </a:solidFill>
            <a:prstDash val="solid"/>
          </a:ln>
        </p:spPr>
      </p:sp>
      <p:sp>
        <p:nvSpPr>
          <p:cNvPr id="4" name="footer">
            <a:extLst xmlns:a="http://schemas.openxmlformats.org/drawingml/2006/main">
              <a:ext uri="{FF2B5EF4-FFF2-40B4-BE49-F238E27FC236}">
                <a16:creationId xmlns:a16="http://schemas.microsoft.com/office/drawing/2014/main" id="{48EB23F5-63D5-4CB9-B0E8-9E2C2F34B49C}"/>
              </a:ext>
            </a:extLst>
          </p:cNvPr>
          <p:cNvSpPr>
            <a:spLocks xmlns:a="http://schemas.openxmlformats.org/drawingml/2006/main" noGrp="1"/>
          </p:cNvSpPr>
          <p:nvPr/>
        </p:nvSpPr>
        <p:spPr>
          <a:xfrm xmlns:a="http://schemas.openxmlformats.org/drawingml/2006/main">
            <a:off x="609600" y="6429375"/>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ARC 500  ·  Week 10 · Meeting B · Linear Programming Studio</a:t>
            </a:r>
          </a:p>
        </p:txBody>
      </p:sp>
      <p:sp>
        <p:nvSpPr>
          <p:cNvPr id="5" name="page">
            <a:extLst xmlns:a="http://schemas.openxmlformats.org/drawingml/2006/main">
              <a:ext uri="{FF2B5EF4-FFF2-40B4-BE49-F238E27FC236}">
                <a16:creationId xmlns:a16="http://schemas.microsoft.com/office/drawing/2014/main" id="{C8631D2C-0FA1-43F9-B5FF-7F3121F1D538}"/>
              </a:ext>
            </a:extLst>
          </p:cNvPr>
          <p:cNvSpPr>
            <a:spLocks xmlns:a="http://schemas.openxmlformats.org/drawingml/2006/main" noGrp="1"/>
          </p:cNvSpPr>
          <p:nvPr/>
        </p:nvSpPr>
        <p:spPr>
          <a:xfrm xmlns:a="http://schemas.openxmlformats.org/drawingml/2006/main">
            <a:off x="10896600" y="6429375"/>
            <a:ext cx="685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19</a:t>
            </a:r>
          </a:p>
        </p:txBody>
      </p:sp>
      <p:sp>
        <p:nvSpPr>
          <p:cNvPr id="6" name="">
            <a:extLst xmlns:a="http://schemas.openxmlformats.org/drawingml/2006/main">
              <a:ext uri="{FF2B5EF4-FFF2-40B4-BE49-F238E27FC236}">
                <a16:creationId xmlns:a16="http://schemas.microsoft.com/office/drawing/2014/main" id="{772E34EB-D46D-41D9-B7CC-D36C79012967}"/>
              </a:ext>
            </a:extLst>
          </p:cNvPr>
          <p:cNvSpPr>
            <a:spLocks xmlns:a="http://schemas.openxmlformats.org/drawingml/2006/main" noGrp="1"/>
          </p:cNvSpPr>
          <p:nvPr/>
        </p:nvSpPr>
        <p:spPr>
          <a:xfrm xmlns:a="http://schemas.openxmlformats.org/drawingml/2006/main">
            <a:off x="609600" y="2619375"/>
            <a:ext cx="2414588" cy="541020"/>
          </a:xfrm>
          <a:prstGeom xmlns:a="http://schemas.openxmlformats.org/drawingml/2006/main" prst="rect">
            <a:avLst/>
          </a:prstGeom>
          <a:solidFill xmlns:a="http://schemas.openxmlformats.org/drawingml/2006/main">
            <a:srgbClr val="17191C"/>
          </a:solidFill>
          <a:ln xmlns:a="http://schemas.openxmlformats.org/drawingml/2006/main" w="9525">
            <a:solidFill>
              <a:srgbClr val="FFFFFF"/>
            </a:solidFill>
            <a:prstDash val="solid"/>
          </a:ln>
        </p:spPr>
      </p:sp>
      <p:sp>
        <p:nvSpPr>
          <p:cNvPr id="7" name="header-0">
            <a:extLst xmlns:a="http://schemas.openxmlformats.org/drawingml/2006/main">
              <a:ext uri="{FF2B5EF4-FFF2-40B4-BE49-F238E27FC236}">
                <a16:creationId xmlns:a16="http://schemas.microsoft.com/office/drawing/2014/main" id="{51BE81EF-EE2E-4F32-A2F1-226C7F48F68B}"/>
              </a:ext>
            </a:extLst>
          </p:cNvPr>
          <p:cNvSpPr>
            <a:spLocks xmlns:a="http://schemas.openxmlformats.org/drawingml/2006/main" noGrp="1"/>
          </p:cNvSpPr>
          <p:nvPr/>
        </p:nvSpPr>
        <p:spPr>
          <a:xfrm xmlns:a="http://schemas.openxmlformats.org/drawingml/2006/main">
            <a:off x="723900" y="2695575"/>
            <a:ext cx="2185988" cy="38862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2000"/>
              </a:lnSpc>
              <a:buNone/>
              <a:defRPr sz="1500" b="1">
                <a:solidFill>
                  <a:srgbClr val="FFFFFF"/>
                </a:solidFill>
                <a:latin typeface="Arial"/>
                <a:ea typeface="Arial"/>
                <a:cs typeface="Arial"/>
              </a:defRPr>
            </a:pPr>
            <a:r>
              <a:rPr sz="1500" b="1">
                <a:solidFill>
                  <a:srgbClr val="FFFFFF"/>
                </a:solidFill>
                <a:latin typeface="Arial"/>
                <a:ea typeface="Arial"/>
                <a:cs typeface="Arial"/>
              </a:rPr>
              <a:t>error</a:t>
            </a:r>
          </a:p>
        </p:txBody>
      </p:sp>
      <p:sp>
        <p:nvSpPr>
          <p:cNvPr id="8" name="">
            <a:extLst xmlns:a="http://schemas.openxmlformats.org/drawingml/2006/main">
              <a:ext uri="{FF2B5EF4-FFF2-40B4-BE49-F238E27FC236}">
                <a16:creationId xmlns:a16="http://schemas.microsoft.com/office/drawing/2014/main" id="{94F1C194-B49E-44C0-9B93-74DC036C8F84}"/>
              </a:ext>
            </a:extLst>
          </p:cNvPr>
          <p:cNvSpPr>
            <a:spLocks xmlns:a="http://schemas.openxmlformats.org/drawingml/2006/main" noGrp="1"/>
          </p:cNvSpPr>
          <p:nvPr/>
        </p:nvSpPr>
        <p:spPr>
          <a:xfrm xmlns:a="http://schemas.openxmlformats.org/drawingml/2006/main">
            <a:off x="3024188" y="2619375"/>
            <a:ext cx="2228850" cy="541020"/>
          </a:xfrm>
          <a:prstGeom xmlns:a="http://schemas.openxmlformats.org/drawingml/2006/main" prst="rect">
            <a:avLst/>
          </a:prstGeom>
          <a:solidFill xmlns:a="http://schemas.openxmlformats.org/drawingml/2006/main">
            <a:srgbClr val="17191C"/>
          </a:solidFill>
          <a:ln xmlns:a="http://schemas.openxmlformats.org/drawingml/2006/main" w="9525">
            <a:solidFill>
              <a:srgbClr val="FFFFFF"/>
            </a:solidFill>
            <a:prstDash val="solid"/>
          </a:ln>
        </p:spPr>
      </p:sp>
      <p:sp>
        <p:nvSpPr>
          <p:cNvPr id="9" name="header-1">
            <a:extLst xmlns:a="http://schemas.openxmlformats.org/drawingml/2006/main">
              <a:ext uri="{FF2B5EF4-FFF2-40B4-BE49-F238E27FC236}">
                <a16:creationId xmlns:a16="http://schemas.microsoft.com/office/drawing/2014/main" id="{9539ECFC-E32C-426F-BB6E-8938FD27741C}"/>
              </a:ext>
            </a:extLst>
          </p:cNvPr>
          <p:cNvSpPr>
            <a:spLocks xmlns:a="http://schemas.openxmlformats.org/drawingml/2006/main" noGrp="1"/>
          </p:cNvSpPr>
          <p:nvPr/>
        </p:nvSpPr>
        <p:spPr>
          <a:xfrm xmlns:a="http://schemas.openxmlformats.org/drawingml/2006/main">
            <a:off x="3138488" y="2695575"/>
            <a:ext cx="2000250" cy="38862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2000"/>
              </a:lnSpc>
              <a:buNone/>
              <a:defRPr sz="1500" b="1">
                <a:solidFill>
                  <a:srgbClr val="FFFFFF"/>
                </a:solidFill>
                <a:latin typeface="Arial"/>
                <a:ea typeface="Arial"/>
                <a:cs typeface="Arial"/>
              </a:defRPr>
            </a:pPr>
            <a:r>
              <a:rPr sz="1500" b="1">
                <a:solidFill>
                  <a:srgbClr val="FFFFFF"/>
                </a:solidFill>
                <a:latin typeface="Arial"/>
                <a:ea typeface="Arial"/>
                <a:cs typeface="Arial"/>
              </a:rPr>
              <a:t>what linprog does</a:t>
            </a:r>
          </a:p>
        </p:txBody>
      </p:sp>
      <p:sp>
        <p:nvSpPr>
          <p:cNvPr id="10" name="">
            <a:extLst xmlns:a="http://schemas.openxmlformats.org/drawingml/2006/main">
              <a:ext uri="{FF2B5EF4-FFF2-40B4-BE49-F238E27FC236}">
                <a16:creationId xmlns:a16="http://schemas.microsoft.com/office/drawing/2014/main" id="{78E04147-271D-438E-BD17-6535CA457D9B}"/>
              </a:ext>
            </a:extLst>
          </p:cNvPr>
          <p:cNvSpPr>
            <a:spLocks xmlns:a="http://schemas.openxmlformats.org/drawingml/2006/main" noGrp="1"/>
          </p:cNvSpPr>
          <p:nvPr/>
        </p:nvSpPr>
        <p:spPr>
          <a:xfrm xmlns:a="http://schemas.openxmlformats.org/drawingml/2006/main">
            <a:off x="5253038" y="2619375"/>
            <a:ext cx="2786063" cy="541020"/>
          </a:xfrm>
          <a:prstGeom xmlns:a="http://schemas.openxmlformats.org/drawingml/2006/main" prst="rect">
            <a:avLst/>
          </a:prstGeom>
          <a:solidFill xmlns:a="http://schemas.openxmlformats.org/drawingml/2006/main">
            <a:srgbClr val="17191C"/>
          </a:solidFill>
          <a:ln xmlns:a="http://schemas.openxmlformats.org/drawingml/2006/main" w="9525">
            <a:solidFill>
              <a:srgbClr val="FFFFFF"/>
            </a:solidFill>
            <a:prstDash val="solid"/>
          </a:ln>
        </p:spPr>
      </p:sp>
      <p:sp>
        <p:nvSpPr>
          <p:cNvPr id="11" name="header-2">
            <a:extLst xmlns:a="http://schemas.openxmlformats.org/drawingml/2006/main">
              <a:ext uri="{FF2B5EF4-FFF2-40B4-BE49-F238E27FC236}">
                <a16:creationId xmlns:a16="http://schemas.microsoft.com/office/drawing/2014/main" id="{241A447C-9BB9-4428-BF37-A6C0008E0983}"/>
              </a:ext>
            </a:extLst>
          </p:cNvPr>
          <p:cNvSpPr>
            <a:spLocks xmlns:a="http://schemas.openxmlformats.org/drawingml/2006/main" noGrp="1"/>
          </p:cNvSpPr>
          <p:nvPr/>
        </p:nvSpPr>
        <p:spPr>
          <a:xfrm xmlns:a="http://schemas.openxmlformats.org/drawingml/2006/main">
            <a:off x="5367338" y="2695575"/>
            <a:ext cx="2557463" cy="38862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2000"/>
              </a:lnSpc>
              <a:buNone/>
              <a:defRPr sz="1500" b="1">
                <a:solidFill>
                  <a:srgbClr val="FFFFFF"/>
                </a:solidFill>
                <a:latin typeface="Arial"/>
                <a:ea typeface="Arial"/>
                <a:cs typeface="Arial"/>
              </a:defRPr>
            </a:pPr>
            <a:r>
              <a:rPr sz="1500" b="1">
                <a:solidFill>
                  <a:srgbClr val="FFFFFF"/>
                </a:solidFill>
                <a:latin typeface="Arial"/>
                <a:ea typeface="Arial"/>
                <a:cs typeface="Arial"/>
              </a:rPr>
              <a:t>how hand-verification catches it</a:t>
            </a:r>
          </a:p>
        </p:txBody>
      </p:sp>
      <p:sp>
        <p:nvSpPr>
          <p:cNvPr id="12" name="">
            <a:extLst xmlns:a="http://schemas.openxmlformats.org/drawingml/2006/main">
              <a:ext uri="{FF2B5EF4-FFF2-40B4-BE49-F238E27FC236}">
                <a16:creationId xmlns:a16="http://schemas.microsoft.com/office/drawing/2014/main" id="{BE17FEFD-59B4-494F-BB9E-BB9C739D0584}"/>
              </a:ext>
            </a:extLst>
          </p:cNvPr>
          <p:cNvSpPr>
            <a:spLocks xmlns:a="http://schemas.openxmlformats.org/drawingml/2006/main" noGrp="1"/>
          </p:cNvSpPr>
          <p:nvPr/>
        </p:nvSpPr>
        <p:spPr>
          <a:xfrm xmlns:a="http://schemas.openxmlformats.org/drawingml/2006/main">
            <a:off x="609600" y="3160395"/>
            <a:ext cx="2414588" cy="541020"/>
          </a:xfrm>
          <a:prstGeom xmlns:a="http://schemas.openxmlformats.org/drawingml/2006/main" prst="rect">
            <a:avLst/>
          </a:prstGeom>
          <a:solidFill xmlns:a="http://schemas.openxmlformats.org/drawingml/2006/main">
            <a:srgbClr val="FFFFFF"/>
          </a:solidFill>
          <a:ln xmlns:a="http://schemas.openxmlformats.org/drawingml/2006/main" w="9525">
            <a:solidFill>
              <a:srgbClr val="DDE0E5"/>
            </a:solidFill>
            <a:prstDash val="solid"/>
          </a:ln>
        </p:spPr>
      </p:sp>
      <p:sp>
        <p:nvSpPr>
          <p:cNvPr id="13" name="cell-0-0">
            <a:extLst xmlns:a="http://schemas.openxmlformats.org/drawingml/2006/main">
              <a:ext uri="{FF2B5EF4-FFF2-40B4-BE49-F238E27FC236}">
                <a16:creationId xmlns:a16="http://schemas.microsoft.com/office/drawing/2014/main" id="{46229920-75E2-4CC9-8C0A-040C77012EE1}"/>
              </a:ext>
            </a:extLst>
          </p:cNvPr>
          <p:cNvSpPr>
            <a:spLocks xmlns:a="http://schemas.openxmlformats.org/drawingml/2006/main" noGrp="1"/>
          </p:cNvSpPr>
          <p:nvPr/>
        </p:nvSpPr>
        <p:spPr>
          <a:xfrm xmlns:a="http://schemas.openxmlformats.org/drawingml/2006/main">
            <a:off x="723900" y="3236595"/>
            <a:ext cx="2185988" cy="38862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2000"/>
              </a:lnSpc>
              <a:buNone/>
              <a:defRPr sz="1500" b="0">
                <a:solidFill>
                  <a:srgbClr val="111316"/>
                </a:solidFill>
                <a:latin typeface="Arial"/>
                <a:ea typeface="Arial"/>
                <a:cs typeface="Arial"/>
              </a:defRPr>
            </a:pPr>
            <a:r>
              <a:rPr sz="1500" b="0">
                <a:solidFill>
                  <a:srgbClr val="111316"/>
                </a:solidFill>
                <a:latin typeface="Arial"/>
                <a:ea typeface="Arial"/>
                <a:cs typeface="Arial"/>
              </a:rPr>
              <a:t>Forgot to negate c when maximizing</a:t>
            </a:r>
          </a:p>
        </p:txBody>
      </p:sp>
      <p:sp>
        <p:nvSpPr>
          <p:cNvPr id="14" name="">
            <a:extLst xmlns:a="http://schemas.openxmlformats.org/drawingml/2006/main">
              <a:ext uri="{FF2B5EF4-FFF2-40B4-BE49-F238E27FC236}">
                <a16:creationId xmlns:a16="http://schemas.microsoft.com/office/drawing/2014/main" id="{66019B9C-790A-4D11-A94B-A6953ED8053A}"/>
              </a:ext>
            </a:extLst>
          </p:cNvPr>
          <p:cNvSpPr>
            <a:spLocks xmlns:a="http://schemas.openxmlformats.org/drawingml/2006/main" noGrp="1"/>
          </p:cNvSpPr>
          <p:nvPr/>
        </p:nvSpPr>
        <p:spPr>
          <a:xfrm xmlns:a="http://schemas.openxmlformats.org/drawingml/2006/main">
            <a:off x="3024188" y="3160395"/>
            <a:ext cx="2228850" cy="541020"/>
          </a:xfrm>
          <a:prstGeom xmlns:a="http://schemas.openxmlformats.org/drawingml/2006/main" prst="rect">
            <a:avLst/>
          </a:prstGeom>
          <a:solidFill xmlns:a="http://schemas.openxmlformats.org/drawingml/2006/main">
            <a:srgbClr val="FFFFFF"/>
          </a:solidFill>
          <a:ln xmlns:a="http://schemas.openxmlformats.org/drawingml/2006/main" w="9525">
            <a:solidFill>
              <a:srgbClr val="DDE0E5"/>
            </a:solidFill>
            <a:prstDash val="solid"/>
          </a:ln>
        </p:spPr>
      </p:sp>
      <p:sp>
        <p:nvSpPr>
          <p:cNvPr id="15" name="cell-0-1">
            <a:extLst xmlns:a="http://schemas.openxmlformats.org/drawingml/2006/main">
              <a:ext uri="{FF2B5EF4-FFF2-40B4-BE49-F238E27FC236}">
                <a16:creationId xmlns:a16="http://schemas.microsoft.com/office/drawing/2014/main" id="{5C4C11AD-EF80-44AC-80AA-B691C1482038}"/>
              </a:ext>
            </a:extLst>
          </p:cNvPr>
          <p:cNvSpPr>
            <a:spLocks xmlns:a="http://schemas.openxmlformats.org/drawingml/2006/main" noGrp="1"/>
          </p:cNvSpPr>
          <p:nvPr/>
        </p:nvSpPr>
        <p:spPr>
          <a:xfrm xmlns:a="http://schemas.openxmlformats.org/drawingml/2006/main">
            <a:off x="3138488" y="3236595"/>
            <a:ext cx="2000250" cy="38862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2000"/>
              </a:lnSpc>
              <a:buNone/>
              <a:defRPr sz="1500" b="0">
                <a:solidFill>
                  <a:srgbClr val="111316"/>
                </a:solidFill>
                <a:latin typeface="Arial"/>
                <a:ea typeface="Arial"/>
                <a:cs typeface="Arial"/>
              </a:defRPr>
            </a:pPr>
            <a:r>
              <a:rPr sz="1500" b="0">
                <a:solidFill>
                  <a:srgbClr val="111316"/>
                </a:solidFill>
                <a:latin typeface="Arial"/>
                <a:ea typeface="Arial"/>
                <a:cs typeface="Arial"/>
              </a:rPr>
              <a:t>Silently minimizes; success still True</a:t>
            </a:r>
          </a:p>
        </p:txBody>
      </p:sp>
      <p:sp>
        <p:nvSpPr>
          <p:cNvPr id="16" name="">
            <a:extLst xmlns:a="http://schemas.openxmlformats.org/drawingml/2006/main">
              <a:ext uri="{FF2B5EF4-FFF2-40B4-BE49-F238E27FC236}">
                <a16:creationId xmlns:a16="http://schemas.microsoft.com/office/drawing/2014/main" id="{064ABA54-8991-44D8-A273-A3A5E25D277A}"/>
              </a:ext>
            </a:extLst>
          </p:cNvPr>
          <p:cNvSpPr>
            <a:spLocks xmlns:a="http://schemas.openxmlformats.org/drawingml/2006/main" noGrp="1"/>
          </p:cNvSpPr>
          <p:nvPr/>
        </p:nvSpPr>
        <p:spPr>
          <a:xfrm xmlns:a="http://schemas.openxmlformats.org/drawingml/2006/main">
            <a:off x="5253038" y="3160395"/>
            <a:ext cx="2786063" cy="541020"/>
          </a:xfrm>
          <a:prstGeom xmlns:a="http://schemas.openxmlformats.org/drawingml/2006/main" prst="rect">
            <a:avLst/>
          </a:prstGeom>
          <a:solidFill xmlns:a="http://schemas.openxmlformats.org/drawingml/2006/main">
            <a:srgbClr val="FFFFFF"/>
          </a:solidFill>
          <a:ln xmlns:a="http://schemas.openxmlformats.org/drawingml/2006/main" w="9525">
            <a:solidFill>
              <a:srgbClr val="DDE0E5"/>
            </a:solidFill>
            <a:prstDash val="solid"/>
          </a:ln>
        </p:spPr>
      </p:sp>
      <p:sp>
        <p:nvSpPr>
          <p:cNvPr id="17" name="cell-0-2">
            <a:extLst xmlns:a="http://schemas.openxmlformats.org/drawingml/2006/main">
              <a:ext uri="{FF2B5EF4-FFF2-40B4-BE49-F238E27FC236}">
                <a16:creationId xmlns:a16="http://schemas.microsoft.com/office/drawing/2014/main" id="{3B840A25-6FFE-4700-A9B4-7CA5A5533A66}"/>
              </a:ext>
            </a:extLst>
          </p:cNvPr>
          <p:cNvSpPr>
            <a:spLocks xmlns:a="http://schemas.openxmlformats.org/drawingml/2006/main" noGrp="1"/>
          </p:cNvSpPr>
          <p:nvPr/>
        </p:nvSpPr>
        <p:spPr>
          <a:xfrm xmlns:a="http://schemas.openxmlformats.org/drawingml/2006/main">
            <a:off x="5367338" y="3236595"/>
            <a:ext cx="2557463" cy="38862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2000"/>
              </a:lnSpc>
              <a:buNone/>
              <a:defRPr sz="1500" b="0">
                <a:solidFill>
                  <a:srgbClr val="111316"/>
                </a:solidFill>
                <a:latin typeface="Arial"/>
                <a:ea typeface="Arial"/>
                <a:cs typeface="Arial"/>
              </a:defRPr>
            </a:pPr>
            <a:r>
              <a:rPr sz="1500" b="0">
                <a:solidFill>
                  <a:srgbClr val="111316"/>
                </a:solidFill>
                <a:latin typeface="Arial"/>
                <a:ea typeface="Arial"/>
                <a:cs typeface="Arial"/>
              </a:rPr>
              <a:t>Compare res.fun's sign to a hand guess</a:t>
            </a:r>
          </a:p>
        </p:txBody>
      </p:sp>
      <p:sp>
        <p:nvSpPr>
          <p:cNvPr id="18" name="">
            <a:extLst xmlns:a="http://schemas.openxmlformats.org/drawingml/2006/main">
              <a:ext uri="{FF2B5EF4-FFF2-40B4-BE49-F238E27FC236}">
                <a16:creationId xmlns:a16="http://schemas.microsoft.com/office/drawing/2014/main" id="{566DA651-DF28-48A0-BE49-745B59189B0F}"/>
              </a:ext>
            </a:extLst>
          </p:cNvPr>
          <p:cNvSpPr>
            <a:spLocks xmlns:a="http://schemas.openxmlformats.org/drawingml/2006/main" noGrp="1"/>
          </p:cNvSpPr>
          <p:nvPr/>
        </p:nvSpPr>
        <p:spPr>
          <a:xfrm xmlns:a="http://schemas.openxmlformats.org/drawingml/2006/main">
            <a:off x="609600" y="3701415"/>
            <a:ext cx="2414588" cy="541020"/>
          </a:xfrm>
          <a:prstGeom xmlns:a="http://schemas.openxmlformats.org/drawingml/2006/main" prst="rect">
            <a:avLst/>
          </a:prstGeom>
          <a:solidFill xmlns:a="http://schemas.openxmlformats.org/drawingml/2006/main">
            <a:srgbClr val="F6F7F9"/>
          </a:solidFill>
          <a:ln xmlns:a="http://schemas.openxmlformats.org/drawingml/2006/main" w="9525">
            <a:solidFill>
              <a:srgbClr val="DDE0E5"/>
            </a:solidFill>
            <a:prstDash val="solid"/>
          </a:ln>
        </p:spPr>
      </p:sp>
      <p:sp>
        <p:nvSpPr>
          <p:cNvPr id="19" name="cell-1-0">
            <a:extLst xmlns:a="http://schemas.openxmlformats.org/drawingml/2006/main">
              <a:ext uri="{FF2B5EF4-FFF2-40B4-BE49-F238E27FC236}">
                <a16:creationId xmlns:a16="http://schemas.microsoft.com/office/drawing/2014/main" id="{25961546-F875-446D-AB05-1A0FCF228A94}"/>
              </a:ext>
            </a:extLst>
          </p:cNvPr>
          <p:cNvSpPr>
            <a:spLocks xmlns:a="http://schemas.openxmlformats.org/drawingml/2006/main" noGrp="1"/>
          </p:cNvSpPr>
          <p:nvPr/>
        </p:nvSpPr>
        <p:spPr>
          <a:xfrm xmlns:a="http://schemas.openxmlformats.org/drawingml/2006/main">
            <a:off x="723900" y="3777615"/>
            <a:ext cx="2185988" cy="38862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2000"/>
              </a:lnSpc>
              <a:buNone/>
              <a:defRPr sz="1500" b="0">
                <a:solidFill>
                  <a:srgbClr val="111316"/>
                </a:solidFill>
                <a:latin typeface="Arial"/>
                <a:ea typeface="Arial"/>
                <a:cs typeface="Arial"/>
              </a:defRPr>
            </a:pPr>
            <a:r>
              <a:rPr sz="1500" b="0">
                <a:solidFill>
                  <a:srgbClr val="111316"/>
                </a:solidFill>
                <a:latin typeface="Arial"/>
                <a:ea typeface="Arial"/>
                <a:cs typeface="Arial"/>
              </a:rPr>
              <a:t>Wrong inequality direction (&gt;= as &lt;=)</a:t>
            </a:r>
          </a:p>
        </p:txBody>
      </p:sp>
      <p:sp>
        <p:nvSpPr>
          <p:cNvPr id="20" name="">
            <a:extLst xmlns:a="http://schemas.openxmlformats.org/drawingml/2006/main">
              <a:ext uri="{FF2B5EF4-FFF2-40B4-BE49-F238E27FC236}">
                <a16:creationId xmlns:a16="http://schemas.microsoft.com/office/drawing/2014/main" id="{A7E00390-F54D-4834-970D-8392D470EF7E}"/>
              </a:ext>
            </a:extLst>
          </p:cNvPr>
          <p:cNvSpPr>
            <a:spLocks xmlns:a="http://schemas.openxmlformats.org/drawingml/2006/main" noGrp="1"/>
          </p:cNvSpPr>
          <p:nvPr/>
        </p:nvSpPr>
        <p:spPr>
          <a:xfrm xmlns:a="http://schemas.openxmlformats.org/drawingml/2006/main">
            <a:off x="3024188" y="3701415"/>
            <a:ext cx="2228850" cy="541020"/>
          </a:xfrm>
          <a:prstGeom xmlns:a="http://schemas.openxmlformats.org/drawingml/2006/main" prst="rect">
            <a:avLst/>
          </a:prstGeom>
          <a:solidFill xmlns:a="http://schemas.openxmlformats.org/drawingml/2006/main">
            <a:srgbClr val="F6F7F9"/>
          </a:solidFill>
          <a:ln xmlns:a="http://schemas.openxmlformats.org/drawingml/2006/main" w="9525">
            <a:solidFill>
              <a:srgbClr val="DDE0E5"/>
            </a:solidFill>
            <a:prstDash val="solid"/>
          </a:ln>
        </p:spPr>
      </p:sp>
      <p:sp>
        <p:nvSpPr>
          <p:cNvPr id="21" name="cell-1-1">
            <a:extLst xmlns:a="http://schemas.openxmlformats.org/drawingml/2006/main">
              <a:ext uri="{FF2B5EF4-FFF2-40B4-BE49-F238E27FC236}">
                <a16:creationId xmlns:a16="http://schemas.microsoft.com/office/drawing/2014/main" id="{F358C4A1-3EF6-4E02-9294-07BD3955BC51}"/>
              </a:ext>
            </a:extLst>
          </p:cNvPr>
          <p:cNvSpPr>
            <a:spLocks xmlns:a="http://schemas.openxmlformats.org/drawingml/2006/main" noGrp="1"/>
          </p:cNvSpPr>
          <p:nvPr/>
        </p:nvSpPr>
        <p:spPr>
          <a:xfrm xmlns:a="http://schemas.openxmlformats.org/drawingml/2006/main">
            <a:off x="3138488" y="3777615"/>
            <a:ext cx="2000250" cy="38862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2000"/>
              </a:lnSpc>
              <a:buNone/>
              <a:defRPr sz="1500" b="0">
                <a:solidFill>
                  <a:srgbClr val="111316"/>
                </a:solidFill>
                <a:latin typeface="Arial"/>
                <a:ea typeface="Arial"/>
                <a:cs typeface="Arial"/>
              </a:defRPr>
            </a:pPr>
            <a:r>
              <a:rPr sz="1500" b="0">
                <a:solidFill>
                  <a:srgbClr val="111316"/>
                </a:solidFill>
                <a:latin typeface="Arial"/>
                <a:ea typeface="Arial"/>
                <a:cs typeface="Arial"/>
              </a:rPr>
              <a:t>Solves a different region, no error</a:t>
            </a:r>
          </a:p>
        </p:txBody>
      </p:sp>
      <p:sp>
        <p:nvSpPr>
          <p:cNvPr id="22" name="">
            <a:extLst xmlns:a="http://schemas.openxmlformats.org/drawingml/2006/main">
              <a:ext uri="{FF2B5EF4-FFF2-40B4-BE49-F238E27FC236}">
                <a16:creationId xmlns:a16="http://schemas.microsoft.com/office/drawing/2014/main" id="{632799FB-8FC3-4CAA-9342-E637646AEF16}"/>
              </a:ext>
            </a:extLst>
          </p:cNvPr>
          <p:cNvSpPr>
            <a:spLocks xmlns:a="http://schemas.openxmlformats.org/drawingml/2006/main" noGrp="1"/>
          </p:cNvSpPr>
          <p:nvPr/>
        </p:nvSpPr>
        <p:spPr>
          <a:xfrm xmlns:a="http://schemas.openxmlformats.org/drawingml/2006/main">
            <a:off x="5253038" y="3701415"/>
            <a:ext cx="2786063" cy="541020"/>
          </a:xfrm>
          <a:prstGeom xmlns:a="http://schemas.openxmlformats.org/drawingml/2006/main" prst="rect">
            <a:avLst/>
          </a:prstGeom>
          <a:solidFill xmlns:a="http://schemas.openxmlformats.org/drawingml/2006/main">
            <a:srgbClr val="F6F7F9"/>
          </a:solidFill>
          <a:ln xmlns:a="http://schemas.openxmlformats.org/drawingml/2006/main" w="9525">
            <a:solidFill>
              <a:srgbClr val="DDE0E5"/>
            </a:solidFill>
            <a:prstDash val="solid"/>
          </a:ln>
        </p:spPr>
      </p:sp>
      <p:sp>
        <p:nvSpPr>
          <p:cNvPr id="23" name="cell-1-2">
            <a:extLst xmlns:a="http://schemas.openxmlformats.org/drawingml/2006/main">
              <a:ext uri="{FF2B5EF4-FFF2-40B4-BE49-F238E27FC236}">
                <a16:creationId xmlns:a16="http://schemas.microsoft.com/office/drawing/2014/main" id="{C872B5D5-EF26-4D33-BA92-234143D0C3BF}"/>
              </a:ext>
            </a:extLst>
          </p:cNvPr>
          <p:cNvSpPr>
            <a:spLocks xmlns:a="http://schemas.openxmlformats.org/drawingml/2006/main" noGrp="1"/>
          </p:cNvSpPr>
          <p:nvPr/>
        </p:nvSpPr>
        <p:spPr>
          <a:xfrm xmlns:a="http://schemas.openxmlformats.org/drawingml/2006/main">
            <a:off x="5367338" y="3777615"/>
            <a:ext cx="2557463" cy="38862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2000"/>
              </a:lnSpc>
              <a:buNone/>
              <a:defRPr sz="1500" b="0">
                <a:solidFill>
                  <a:srgbClr val="111316"/>
                </a:solidFill>
                <a:latin typeface="Arial"/>
                <a:ea typeface="Arial"/>
                <a:cs typeface="Arial"/>
              </a:defRPr>
            </a:pPr>
            <a:r>
              <a:rPr sz="1500" b="0">
                <a:solidFill>
                  <a:srgbClr val="111316"/>
                </a:solidFill>
                <a:latin typeface="Arial"/>
                <a:ea typeface="Arial"/>
                <a:cs typeface="Arial"/>
              </a:rPr>
              <a:t>Ask whether the reported point is plausible</a:t>
            </a:r>
          </a:p>
        </p:txBody>
      </p:sp>
      <p:sp>
        <p:nvSpPr>
          <p:cNvPr id="24" name="">
            <a:extLst xmlns:a="http://schemas.openxmlformats.org/drawingml/2006/main">
              <a:ext uri="{FF2B5EF4-FFF2-40B4-BE49-F238E27FC236}">
                <a16:creationId xmlns:a16="http://schemas.microsoft.com/office/drawing/2014/main" id="{3ACBCB65-3D61-47F6-8A89-19BA4AE7AB77}"/>
              </a:ext>
            </a:extLst>
          </p:cNvPr>
          <p:cNvSpPr>
            <a:spLocks xmlns:a="http://schemas.openxmlformats.org/drawingml/2006/main" noGrp="1"/>
          </p:cNvSpPr>
          <p:nvPr/>
        </p:nvSpPr>
        <p:spPr>
          <a:xfrm xmlns:a="http://schemas.openxmlformats.org/drawingml/2006/main">
            <a:off x="609600" y="4242435"/>
            <a:ext cx="2414588" cy="541020"/>
          </a:xfrm>
          <a:prstGeom xmlns:a="http://schemas.openxmlformats.org/drawingml/2006/main" prst="rect">
            <a:avLst/>
          </a:prstGeom>
          <a:solidFill xmlns:a="http://schemas.openxmlformats.org/drawingml/2006/main">
            <a:srgbClr val="FFFFFF"/>
          </a:solidFill>
          <a:ln xmlns:a="http://schemas.openxmlformats.org/drawingml/2006/main" w="9525">
            <a:solidFill>
              <a:srgbClr val="DDE0E5"/>
            </a:solidFill>
            <a:prstDash val="solid"/>
          </a:ln>
        </p:spPr>
      </p:sp>
      <p:sp>
        <p:nvSpPr>
          <p:cNvPr id="25" name="cell-2-0">
            <a:extLst xmlns:a="http://schemas.openxmlformats.org/drawingml/2006/main">
              <a:ext uri="{FF2B5EF4-FFF2-40B4-BE49-F238E27FC236}">
                <a16:creationId xmlns:a16="http://schemas.microsoft.com/office/drawing/2014/main" id="{4A5740D4-F2A3-49AA-A8D5-7D4ECDC8AD7C}"/>
              </a:ext>
            </a:extLst>
          </p:cNvPr>
          <p:cNvSpPr>
            <a:spLocks xmlns:a="http://schemas.openxmlformats.org/drawingml/2006/main" noGrp="1"/>
          </p:cNvSpPr>
          <p:nvPr/>
        </p:nvSpPr>
        <p:spPr>
          <a:xfrm xmlns:a="http://schemas.openxmlformats.org/drawingml/2006/main">
            <a:off x="723900" y="4318635"/>
            <a:ext cx="2185988" cy="38862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2000"/>
              </a:lnSpc>
              <a:buNone/>
              <a:defRPr sz="1500" b="0">
                <a:solidFill>
                  <a:srgbClr val="111316"/>
                </a:solidFill>
                <a:latin typeface="Arial"/>
                <a:ea typeface="Arial"/>
                <a:cs typeface="Arial"/>
              </a:defRPr>
            </a:pPr>
            <a:r>
              <a:rPr sz="1500" b="0">
                <a:solidFill>
                  <a:srgbClr val="111316"/>
                </a:solidFill>
                <a:latin typeface="Arial"/>
                <a:ea typeface="Arial"/>
                <a:cs typeface="Arial"/>
              </a:rPr>
              <a:t>bounds written (max, min), not (min, max)</a:t>
            </a:r>
          </a:p>
        </p:txBody>
      </p:sp>
      <p:sp>
        <p:nvSpPr>
          <p:cNvPr id="26" name="">
            <a:extLst xmlns:a="http://schemas.openxmlformats.org/drawingml/2006/main">
              <a:ext uri="{FF2B5EF4-FFF2-40B4-BE49-F238E27FC236}">
                <a16:creationId xmlns:a16="http://schemas.microsoft.com/office/drawing/2014/main" id="{E75CCE68-3282-4AFB-AB6D-80975B011F42}"/>
              </a:ext>
            </a:extLst>
          </p:cNvPr>
          <p:cNvSpPr>
            <a:spLocks xmlns:a="http://schemas.openxmlformats.org/drawingml/2006/main" noGrp="1"/>
          </p:cNvSpPr>
          <p:nvPr/>
        </p:nvSpPr>
        <p:spPr>
          <a:xfrm xmlns:a="http://schemas.openxmlformats.org/drawingml/2006/main">
            <a:off x="3024188" y="4242435"/>
            <a:ext cx="2228850" cy="541020"/>
          </a:xfrm>
          <a:prstGeom xmlns:a="http://schemas.openxmlformats.org/drawingml/2006/main" prst="rect">
            <a:avLst/>
          </a:prstGeom>
          <a:solidFill xmlns:a="http://schemas.openxmlformats.org/drawingml/2006/main">
            <a:srgbClr val="FFFFFF"/>
          </a:solidFill>
          <a:ln xmlns:a="http://schemas.openxmlformats.org/drawingml/2006/main" w="9525">
            <a:solidFill>
              <a:srgbClr val="DDE0E5"/>
            </a:solidFill>
            <a:prstDash val="solid"/>
          </a:ln>
        </p:spPr>
      </p:sp>
      <p:sp>
        <p:nvSpPr>
          <p:cNvPr id="27" name="cell-2-1">
            <a:extLst xmlns:a="http://schemas.openxmlformats.org/drawingml/2006/main">
              <a:ext uri="{FF2B5EF4-FFF2-40B4-BE49-F238E27FC236}">
                <a16:creationId xmlns:a16="http://schemas.microsoft.com/office/drawing/2014/main" id="{378320AF-2F38-4D4C-BDDA-684DF539D028}"/>
              </a:ext>
            </a:extLst>
          </p:cNvPr>
          <p:cNvSpPr>
            <a:spLocks xmlns:a="http://schemas.openxmlformats.org/drawingml/2006/main" noGrp="1"/>
          </p:cNvSpPr>
          <p:nvPr/>
        </p:nvSpPr>
        <p:spPr>
          <a:xfrm xmlns:a="http://schemas.openxmlformats.org/drawingml/2006/main">
            <a:off x="3138488" y="4318635"/>
            <a:ext cx="2000250" cy="38862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2000"/>
              </a:lnSpc>
              <a:buNone/>
              <a:defRPr sz="1500" b="0">
                <a:solidFill>
                  <a:srgbClr val="111316"/>
                </a:solidFill>
                <a:latin typeface="Arial"/>
                <a:ea typeface="Arial"/>
                <a:cs typeface="Arial"/>
              </a:defRPr>
            </a:pPr>
            <a:r>
              <a:rPr sz="1500" b="0">
                <a:solidFill>
                  <a:srgbClr val="111316"/>
                </a:solidFill>
                <a:latin typeface="Arial"/>
                <a:ea typeface="Arial"/>
                <a:cs typeface="Arial"/>
              </a:rPr>
              <a:t>Reports infeasible, or accepts nonsense</a:t>
            </a:r>
          </a:p>
        </p:txBody>
      </p:sp>
      <p:sp>
        <p:nvSpPr>
          <p:cNvPr id="28" name="">
            <a:extLst xmlns:a="http://schemas.openxmlformats.org/drawingml/2006/main">
              <a:ext uri="{FF2B5EF4-FFF2-40B4-BE49-F238E27FC236}">
                <a16:creationId xmlns:a16="http://schemas.microsoft.com/office/drawing/2014/main" id="{F45E34CE-BEA0-4ED8-ACBF-BB2E79000854}"/>
              </a:ext>
            </a:extLst>
          </p:cNvPr>
          <p:cNvSpPr>
            <a:spLocks xmlns:a="http://schemas.openxmlformats.org/drawingml/2006/main" noGrp="1"/>
          </p:cNvSpPr>
          <p:nvPr/>
        </p:nvSpPr>
        <p:spPr>
          <a:xfrm xmlns:a="http://schemas.openxmlformats.org/drawingml/2006/main">
            <a:off x="5253038" y="4242435"/>
            <a:ext cx="2786063" cy="541020"/>
          </a:xfrm>
          <a:prstGeom xmlns:a="http://schemas.openxmlformats.org/drawingml/2006/main" prst="rect">
            <a:avLst/>
          </a:prstGeom>
          <a:solidFill xmlns:a="http://schemas.openxmlformats.org/drawingml/2006/main">
            <a:srgbClr val="FFFFFF"/>
          </a:solidFill>
          <a:ln xmlns:a="http://schemas.openxmlformats.org/drawingml/2006/main" w="9525">
            <a:solidFill>
              <a:srgbClr val="DDE0E5"/>
            </a:solidFill>
            <a:prstDash val="solid"/>
          </a:ln>
        </p:spPr>
      </p:sp>
      <p:sp>
        <p:nvSpPr>
          <p:cNvPr id="29" name="cell-2-2">
            <a:extLst xmlns:a="http://schemas.openxmlformats.org/drawingml/2006/main">
              <a:ext uri="{FF2B5EF4-FFF2-40B4-BE49-F238E27FC236}">
                <a16:creationId xmlns:a16="http://schemas.microsoft.com/office/drawing/2014/main" id="{5B10F694-1797-4CA2-9E1F-D6FD635931AF}"/>
              </a:ext>
            </a:extLst>
          </p:cNvPr>
          <p:cNvSpPr>
            <a:spLocks xmlns:a="http://schemas.openxmlformats.org/drawingml/2006/main" noGrp="1"/>
          </p:cNvSpPr>
          <p:nvPr/>
        </p:nvSpPr>
        <p:spPr>
          <a:xfrm xmlns:a="http://schemas.openxmlformats.org/drawingml/2006/main">
            <a:off x="5367338" y="4318635"/>
            <a:ext cx="2557463" cy="38862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2000"/>
              </a:lnSpc>
              <a:buNone/>
              <a:defRPr sz="1500" b="0">
                <a:solidFill>
                  <a:srgbClr val="111316"/>
                </a:solidFill>
                <a:latin typeface="Arial"/>
                <a:ea typeface="Arial"/>
                <a:cs typeface="Arial"/>
              </a:defRPr>
            </a:pPr>
            <a:r>
              <a:rPr sz="1500" b="0">
                <a:solidFill>
                  <a:srgbClr val="111316"/>
                </a:solidFill>
                <a:latin typeface="Arial"/>
                <a:ea typeface="Arial"/>
                <a:cs typeface="Arial"/>
              </a:rPr>
              <a:t>Print bounds; read each pair as (min, max)</a:t>
            </a:r>
          </a:p>
        </p:txBody>
      </p:sp>
      <p:sp>
        <p:nvSpPr>
          <p:cNvPr id="30" name="">
            <a:extLst xmlns:a="http://schemas.openxmlformats.org/drawingml/2006/main">
              <a:ext uri="{FF2B5EF4-FFF2-40B4-BE49-F238E27FC236}">
                <a16:creationId xmlns:a16="http://schemas.microsoft.com/office/drawing/2014/main" id="{D6A7735E-F9F6-4A52-8E77-F0997984722F}"/>
              </a:ext>
            </a:extLst>
          </p:cNvPr>
          <p:cNvSpPr>
            <a:spLocks xmlns:a="http://schemas.openxmlformats.org/drawingml/2006/main" noGrp="1"/>
          </p:cNvSpPr>
          <p:nvPr/>
        </p:nvSpPr>
        <p:spPr>
          <a:xfrm xmlns:a="http://schemas.openxmlformats.org/drawingml/2006/main">
            <a:off x="609600" y="4783455"/>
            <a:ext cx="2414588" cy="541020"/>
          </a:xfrm>
          <a:prstGeom xmlns:a="http://schemas.openxmlformats.org/drawingml/2006/main" prst="rect">
            <a:avLst/>
          </a:prstGeom>
          <a:solidFill xmlns:a="http://schemas.openxmlformats.org/drawingml/2006/main">
            <a:srgbClr val="F6F7F9"/>
          </a:solidFill>
          <a:ln xmlns:a="http://schemas.openxmlformats.org/drawingml/2006/main" w="9525">
            <a:solidFill>
              <a:srgbClr val="DDE0E5"/>
            </a:solidFill>
            <a:prstDash val="solid"/>
          </a:ln>
        </p:spPr>
      </p:sp>
      <p:sp>
        <p:nvSpPr>
          <p:cNvPr id="31" name="cell-3-0">
            <a:extLst xmlns:a="http://schemas.openxmlformats.org/drawingml/2006/main">
              <a:ext uri="{FF2B5EF4-FFF2-40B4-BE49-F238E27FC236}">
                <a16:creationId xmlns:a16="http://schemas.microsoft.com/office/drawing/2014/main" id="{5E426B73-727E-4258-B8EA-2120CD161387}"/>
              </a:ext>
            </a:extLst>
          </p:cNvPr>
          <p:cNvSpPr>
            <a:spLocks xmlns:a="http://schemas.openxmlformats.org/drawingml/2006/main" noGrp="1"/>
          </p:cNvSpPr>
          <p:nvPr/>
        </p:nvSpPr>
        <p:spPr>
          <a:xfrm xmlns:a="http://schemas.openxmlformats.org/drawingml/2006/main">
            <a:off x="723900" y="4859655"/>
            <a:ext cx="2185988" cy="38862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2000"/>
              </a:lnSpc>
              <a:buNone/>
              <a:defRPr sz="1500" b="0">
                <a:solidFill>
                  <a:srgbClr val="111316"/>
                </a:solidFill>
                <a:latin typeface="Arial"/>
                <a:ea typeface="Arial"/>
                <a:cs typeface="Arial"/>
              </a:defRPr>
            </a:pPr>
            <a:r>
              <a:rPr sz="1500" b="0">
                <a:solidFill>
                  <a:srgbClr val="111316"/>
                </a:solidFill>
                <a:latin typeface="Arial"/>
                <a:ea typeface="Arial"/>
                <a:cs typeface="Arial"/>
              </a:rPr>
              <a:t>A_ub row mixing per-m2 and total cost</a:t>
            </a:r>
          </a:p>
        </p:txBody>
      </p:sp>
      <p:sp>
        <p:nvSpPr>
          <p:cNvPr id="32" name="">
            <a:extLst xmlns:a="http://schemas.openxmlformats.org/drawingml/2006/main">
              <a:ext uri="{FF2B5EF4-FFF2-40B4-BE49-F238E27FC236}">
                <a16:creationId xmlns:a16="http://schemas.microsoft.com/office/drawing/2014/main" id="{61738699-FF53-4CA5-A0D2-6D8929472C8E}"/>
              </a:ext>
            </a:extLst>
          </p:cNvPr>
          <p:cNvSpPr>
            <a:spLocks xmlns:a="http://schemas.openxmlformats.org/drawingml/2006/main" noGrp="1"/>
          </p:cNvSpPr>
          <p:nvPr/>
        </p:nvSpPr>
        <p:spPr>
          <a:xfrm xmlns:a="http://schemas.openxmlformats.org/drawingml/2006/main">
            <a:off x="3024188" y="4783455"/>
            <a:ext cx="2228850" cy="541020"/>
          </a:xfrm>
          <a:prstGeom xmlns:a="http://schemas.openxmlformats.org/drawingml/2006/main" prst="rect">
            <a:avLst/>
          </a:prstGeom>
          <a:solidFill xmlns:a="http://schemas.openxmlformats.org/drawingml/2006/main">
            <a:srgbClr val="F6F7F9"/>
          </a:solidFill>
          <a:ln xmlns:a="http://schemas.openxmlformats.org/drawingml/2006/main" w="9525">
            <a:solidFill>
              <a:srgbClr val="DDE0E5"/>
            </a:solidFill>
            <a:prstDash val="solid"/>
          </a:ln>
        </p:spPr>
      </p:sp>
      <p:sp>
        <p:nvSpPr>
          <p:cNvPr id="33" name="cell-3-1">
            <a:extLst xmlns:a="http://schemas.openxmlformats.org/drawingml/2006/main">
              <a:ext uri="{FF2B5EF4-FFF2-40B4-BE49-F238E27FC236}">
                <a16:creationId xmlns:a16="http://schemas.microsoft.com/office/drawing/2014/main" id="{F4519B35-97AD-408E-B0D7-D820A648171E}"/>
              </a:ext>
            </a:extLst>
          </p:cNvPr>
          <p:cNvSpPr>
            <a:spLocks xmlns:a="http://schemas.openxmlformats.org/drawingml/2006/main" noGrp="1"/>
          </p:cNvSpPr>
          <p:nvPr/>
        </p:nvSpPr>
        <p:spPr>
          <a:xfrm xmlns:a="http://schemas.openxmlformats.org/drawingml/2006/main">
            <a:off x="3138488" y="4859655"/>
            <a:ext cx="2000250" cy="38862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2000"/>
              </a:lnSpc>
              <a:buNone/>
              <a:defRPr sz="1500" b="0">
                <a:solidFill>
                  <a:srgbClr val="111316"/>
                </a:solidFill>
                <a:latin typeface="Arial"/>
                <a:ea typeface="Arial"/>
                <a:cs typeface="Arial"/>
              </a:defRPr>
            </a:pPr>
            <a:r>
              <a:rPr sz="1500" b="0">
                <a:solidFill>
                  <a:srgbClr val="111316"/>
                </a:solidFill>
                <a:latin typeface="Arial"/>
                <a:ea typeface="Arial"/>
                <a:cs typeface="Arial"/>
              </a:rPr>
              <a:t>Exact answer to the WRONG problem</a:t>
            </a:r>
          </a:p>
        </p:txBody>
      </p:sp>
      <p:sp>
        <p:nvSpPr>
          <p:cNvPr id="34" name="">
            <a:extLst xmlns:a="http://schemas.openxmlformats.org/drawingml/2006/main">
              <a:ext uri="{FF2B5EF4-FFF2-40B4-BE49-F238E27FC236}">
                <a16:creationId xmlns:a16="http://schemas.microsoft.com/office/drawing/2014/main" id="{F3B4D68F-8BA9-4A26-B226-17B810FED88B}"/>
              </a:ext>
            </a:extLst>
          </p:cNvPr>
          <p:cNvSpPr>
            <a:spLocks xmlns:a="http://schemas.openxmlformats.org/drawingml/2006/main" noGrp="1"/>
          </p:cNvSpPr>
          <p:nvPr/>
        </p:nvSpPr>
        <p:spPr>
          <a:xfrm xmlns:a="http://schemas.openxmlformats.org/drawingml/2006/main">
            <a:off x="5253038" y="4783455"/>
            <a:ext cx="2786063" cy="541020"/>
          </a:xfrm>
          <a:prstGeom xmlns:a="http://schemas.openxmlformats.org/drawingml/2006/main" prst="rect">
            <a:avLst/>
          </a:prstGeom>
          <a:solidFill xmlns:a="http://schemas.openxmlformats.org/drawingml/2006/main">
            <a:srgbClr val="F6F7F9"/>
          </a:solidFill>
          <a:ln xmlns:a="http://schemas.openxmlformats.org/drawingml/2006/main" w="9525">
            <a:solidFill>
              <a:srgbClr val="DDE0E5"/>
            </a:solidFill>
            <a:prstDash val="solid"/>
          </a:ln>
        </p:spPr>
      </p:sp>
      <p:sp>
        <p:nvSpPr>
          <p:cNvPr id="35" name="cell-3-2">
            <a:extLst xmlns:a="http://schemas.openxmlformats.org/drawingml/2006/main">
              <a:ext uri="{FF2B5EF4-FFF2-40B4-BE49-F238E27FC236}">
                <a16:creationId xmlns:a16="http://schemas.microsoft.com/office/drawing/2014/main" id="{D6CE3157-B33A-4118-BAA4-456C09660393}"/>
              </a:ext>
            </a:extLst>
          </p:cNvPr>
          <p:cNvSpPr>
            <a:spLocks xmlns:a="http://schemas.openxmlformats.org/drawingml/2006/main" noGrp="1"/>
          </p:cNvSpPr>
          <p:nvPr/>
        </p:nvSpPr>
        <p:spPr>
          <a:xfrm xmlns:a="http://schemas.openxmlformats.org/drawingml/2006/main">
            <a:off x="5367338" y="4859655"/>
            <a:ext cx="2557463" cy="38862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2000"/>
              </a:lnSpc>
              <a:buNone/>
              <a:defRPr sz="1500" b="0">
                <a:solidFill>
                  <a:srgbClr val="111316"/>
                </a:solidFill>
                <a:latin typeface="Arial"/>
                <a:ea typeface="Arial"/>
                <a:cs typeface="Arial"/>
              </a:defRPr>
            </a:pPr>
            <a:r>
              <a:rPr sz="1500" b="0">
                <a:solidFill>
                  <a:srgbClr val="111316"/>
                </a:solidFill>
                <a:latin typeface="Arial"/>
                <a:ea typeface="Arial"/>
                <a:cs typeface="Arial"/>
              </a:rPr>
              <a:t>Hand-verify every constraint's units</a:t>
            </a:r>
          </a:p>
        </p:txBody>
      </p:sp>
      <p:sp>
        <p:nvSpPr>
          <p:cNvPr id="36" name="callout-label">
            <a:extLst xmlns:a="http://schemas.openxmlformats.org/drawingml/2006/main">
              <a:ext uri="{FF2B5EF4-FFF2-40B4-BE49-F238E27FC236}">
                <a16:creationId xmlns:a16="http://schemas.microsoft.com/office/drawing/2014/main" id="{A237578F-4A58-435A-A3FD-663AFCB82D55}"/>
              </a:ext>
            </a:extLst>
          </p:cNvPr>
          <p:cNvSpPr>
            <a:spLocks xmlns:a="http://schemas.openxmlformats.org/drawingml/2006/main" noGrp="1"/>
          </p:cNvSpPr>
          <p:nvPr/>
        </p:nvSpPr>
        <p:spPr>
          <a:xfrm xmlns:a="http://schemas.openxmlformats.org/drawingml/2006/main">
            <a:off x="8420100" y="1866900"/>
            <a:ext cx="3162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2E74B5"/>
                </a:solidFill>
                <a:latin typeface="Arial"/>
                <a:ea typeface="Arial"/>
                <a:cs typeface="Arial"/>
              </a:defRPr>
            </a:pPr>
            <a:r>
              <a:rPr sz="900" b="1">
                <a:solidFill>
                  <a:srgbClr val="2E74B5"/>
                </a:solidFill>
                <a:latin typeface="Arial"/>
                <a:ea typeface="Arial"/>
                <a:cs typeface="Arial"/>
              </a:rPr>
              <a:t>ARCHITECTURAL LENS</a:t>
            </a:r>
          </a:p>
        </p:txBody>
      </p:sp>
      <p:sp>
        <p:nvSpPr>
          <p:cNvPr id="37" name="callout">
            <a:extLst xmlns:a="http://schemas.openxmlformats.org/drawingml/2006/main">
              <a:ext uri="{FF2B5EF4-FFF2-40B4-BE49-F238E27FC236}">
                <a16:creationId xmlns:a16="http://schemas.microsoft.com/office/drawing/2014/main" id="{8BD06287-58AB-4198-A444-6C81CA8C71CB}"/>
              </a:ext>
            </a:extLst>
          </p:cNvPr>
          <p:cNvSpPr>
            <a:spLocks xmlns:a="http://schemas.openxmlformats.org/drawingml/2006/main" noGrp="1"/>
          </p:cNvSpPr>
          <p:nvPr/>
        </p:nvSpPr>
        <p:spPr>
          <a:xfrm xmlns:a="http://schemas.openxmlformats.org/drawingml/2006/main">
            <a:off x="8420100" y="2190750"/>
            <a:ext cx="3162300" cy="3790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800" b="1">
                <a:solidFill>
                  <a:srgbClr val="111316"/>
                </a:solidFill>
                <a:latin typeface="Arial"/>
                <a:ea typeface="Arial"/>
                <a:cs typeface="Arial"/>
              </a:defRPr>
            </a:pPr>
            <a:r>
              <a:rPr sz="1800" b="1">
                <a:solidFill>
                  <a:srgbClr val="111316"/>
                </a:solidFill>
                <a:latin typeface="Arial"/>
                <a:ea typeface="Arial"/>
                <a:cs typeface="Arial"/>
              </a:rPr>
              <a:t>The same failure mode as cell [6]'s AI-audit, next: success == True has never once meant 'correct.'</a:t>
            </a:r>
          </a:p>
        </p:txBody>
      </p:sp>
    </p:spTree>
    <p:extLst>
      <p:ext uri="{BB962C8B-B14F-4D97-AF65-F5344CB8AC3E}">
        <p14:creationId xmlns:p14="http://schemas.microsoft.com/office/powerpoint/2010/main" val="342666829"/>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4" name="kicker">
            <a:extLst xmlns:a="http://schemas.openxmlformats.org/drawingml/2006/main">
              <a:ext uri="{FF2B5EF4-FFF2-40B4-BE49-F238E27FC236}">
                <a16:creationId xmlns:a16="http://schemas.microsoft.com/office/drawing/2014/main" id="{362F03FF-28BE-4C6C-B906-CED9457732DD}"/>
              </a:ext>
            </a:extLst>
          </p:cNvPr>
          <p:cNvSpPr>
            <a:spLocks xmlns:a="http://schemas.openxmlformats.org/drawingml/2006/main" noGrp="1"/>
          </p:cNvSpPr>
          <p:nvPr/>
        </p:nvSpPr>
        <p:spPr>
          <a:xfrm xmlns:a="http://schemas.openxmlformats.org/drawingml/2006/main">
            <a:off x="609600" y="342900"/>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2E74B5"/>
                </a:solidFill>
                <a:latin typeface="Arial"/>
                <a:ea typeface="Arial"/>
                <a:cs typeface="Arial"/>
              </a:defRPr>
            </a:pPr>
            <a:r>
              <a:rPr sz="900" b="1">
                <a:solidFill>
                  <a:srgbClr val="2E74B5"/>
                </a:solidFill>
                <a:latin typeface="Arial"/>
                <a:ea typeface="Arial"/>
                <a:cs typeface="Arial"/>
              </a:rPr>
              <a:t>PREDICT BEFORE YOU RUN</a:t>
            </a:r>
          </a:p>
        </p:txBody>
      </p:sp>
      <p:sp>
        <p:nvSpPr>
          <p:cNvPr id="2" name="title">
            <a:extLst xmlns:a="http://schemas.openxmlformats.org/drawingml/2006/main">
              <a:ext uri="{FF2B5EF4-FFF2-40B4-BE49-F238E27FC236}">
                <a16:creationId xmlns:a16="http://schemas.microsoft.com/office/drawing/2014/main" id="{3D7BC63C-4374-4C27-B0F0-961968BBC354}"/>
              </a:ext>
            </a:extLst>
          </p:cNvPr>
          <p:cNvSpPr>
            <a:spLocks xmlns:a="http://schemas.openxmlformats.org/drawingml/2006/main" noGrp="1"/>
          </p:cNvSpPr>
          <p:nvPr/>
        </p:nvSpPr>
        <p:spPr>
          <a:xfrm xmlns:a="http://schemas.openxmlformats.org/drawingml/2006/main">
            <a:off x="609600" y="60960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3000" b="0">
                <a:solidFill>
                  <a:srgbClr val="111316"/>
                </a:solidFill>
                <a:latin typeface="Arial"/>
                <a:ea typeface="Arial"/>
                <a:cs typeface="Arial"/>
              </a:defRPr>
            </a:pPr>
            <a:r>
              <a:rPr sz="3000" b="0">
                <a:solidFill>
                  <a:srgbClr val="111316"/>
                </a:solidFill>
                <a:latin typeface="Arial"/>
                <a:ea typeface="Arial"/>
                <a:cs typeface="Arial"/>
              </a:rPr>
              <a:t>Predict before cell [6] runs</a:t>
            </a:r>
          </a:p>
        </p:txBody>
      </p:sp>
      <p:sp>
        <p:nvSpPr>
          <p:cNvPr id="3" name="">
            <a:extLst xmlns:a="http://schemas.openxmlformats.org/drawingml/2006/main">
              <a:ext uri="{FF2B5EF4-FFF2-40B4-BE49-F238E27FC236}">
                <a16:creationId xmlns:a16="http://schemas.microsoft.com/office/drawing/2014/main" id="{6A84EC28-92EA-4F81-8F96-1ACD9DC6B4FB}"/>
              </a:ext>
            </a:extLst>
          </p:cNvPr>
          <p:cNvSpPr>
            <a:spLocks xmlns:a="http://schemas.openxmlformats.org/drawingml/2006/main" noGrp="1"/>
          </p:cNvSpPr>
          <p:nvPr/>
        </p:nvSpPr>
        <p:spPr>
          <a:xfrm xmlns:a="http://schemas.openxmlformats.org/drawingml/2006/main">
            <a:off x="609600" y="6343650"/>
            <a:ext cx="10972800" cy="0"/>
          </a:xfrm>
          <a:prstGeom xmlns:a="http://schemas.openxmlformats.org/drawingml/2006/main" prst="line">
            <a:avLst/>
          </a:prstGeom>
          <a:noFill xmlns:a="http://schemas.openxmlformats.org/drawingml/2006/main"/>
          <a:ln xmlns:a="http://schemas.openxmlformats.org/drawingml/2006/main" w="9525">
            <a:solidFill>
              <a:srgbClr val="DDE0E5"/>
            </a:solidFill>
            <a:prstDash val="solid"/>
          </a:ln>
        </p:spPr>
      </p:sp>
      <p:sp>
        <p:nvSpPr>
          <p:cNvPr id="4" name="footer">
            <a:extLst xmlns:a="http://schemas.openxmlformats.org/drawingml/2006/main">
              <a:ext uri="{FF2B5EF4-FFF2-40B4-BE49-F238E27FC236}">
                <a16:creationId xmlns:a16="http://schemas.microsoft.com/office/drawing/2014/main" id="{7FF5B6AF-2308-42CC-AAB3-4BD8289582E6}"/>
              </a:ext>
            </a:extLst>
          </p:cNvPr>
          <p:cNvSpPr>
            <a:spLocks xmlns:a="http://schemas.openxmlformats.org/drawingml/2006/main" noGrp="1"/>
          </p:cNvSpPr>
          <p:nvPr/>
        </p:nvSpPr>
        <p:spPr>
          <a:xfrm xmlns:a="http://schemas.openxmlformats.org/drawingml/2006/main">
            <a:off x="609600" y="6429375"/>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ARC 500  ·  Week 10 · Meeting B · Linear Programming Studio</a:t>
            </a:r>
          </a:p>
        </p:txBody>
      </p:sp>
      <p:sp>
        <p:nvSpPr>
          <p:cNvPr id="5" name="page">
            <a:extLst xmlns:a="http://schemas.openxmlformats.org/drawingml/2006/main">
              <a:ext uri="{FF2B5EF4-FFF2-40B4-BE49-F238E27FC236}">
                <a16:creationId xmlns:a16="http://schemas.microsoft.com/office/drawing/2014/main" id="{FBE2250F-2757-4D56-B0AF-797EEAB6F10B}"/>
              </a:ext>
            </a:extLst>
          </p:cNvPr>
          <p:cNvSpPr>
            <a:spLocks xmlns:a="http://schemas.openxmlformats.org/drawingml/2006/main" noGrp="1"/>
          </p:cNvSpPr>
          <p:nvPr/>
        </p:nvSpPr>
        <p:spPr>
          <a:xfrm xmlns:a="http://schemas.openxmlformats.org/drawingml/2006/main">
            <a:off x="10896600" y="6429375"/>
            <a:ext cx="685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20</a:t>
            </a:r>
          </a:p>
        </p:txBody>
      </p:sp>
      <p:sp>
        <p:nvSpPr>
          <p:cNvPr id="6" name="code-panel">
            <a:extLst xmlns:a="http://schemas.openxmlformats.org/drawingml/2006/main">
              <a:ext uri="{FF2B5EF4-FFF2-40B4-BE49-F238E27FC236}">
                <a16:creationId xmlns:a16="http://schemas.microsoft.com/office/drawing/2014/main" id="{F6B9B2A8-18AF-44BC-8A47-D2220E9C0DC3}"/>
              </a:ext>
            </a:extLst>
          </p:cNvPr>
          <p:cNvSpPr>
            <a:spLocks xmlns:a="http://schemas.openxmlformats.org/drawingml/2006/main" noGrp="1"/>
          </p:cNvSpPr>
          <p:nvPr/>
        </p:nvSpPr>
        <p:spPr>
          <a:xfrm xmlns:a="http://schemas.openxmlformats.org/drawingml/2006/main">
            <a:off x="609600" y="1809750"/>
            <a:ext cx="6324600" cy="3238500"/>
          </a:xfrm>
          <a:prstGeom xmlns:a="http://schemas.openxmlformats.org/drawingml/2006/main" prst="roundRect">
            <a:avLst>
              <a:gd name="adj" fmla="val 2353"/>
            </a:avLst>
          </a:prstGeom>
          <a:solidFill xmlns:a="http://schemas.openxmlformats.org/drawingml/2006/main">
            <a:srgbClr val="17191C"/>
          </a:solidFill>
          <a:ln xmlns:a="http://schemas.openxmlformats.org/drawingml/2006/main" w="9525">
            <a:solidFill>
              <a:srgbClr val="17191C"/>
            </a:solidFill>
            <a:prstDash val="solid"/>
          </a:ln>
        </p:spPr>
      </p:sp>
      <p:sp>
        <p:nvSpPr>
          <p:cNvPr id="7" name="code">
            <a:extLst xmlns:a="http://schemas.openxmlformats.org/drawingml/2006/main">
              <a:ext uri="{FF2B5EF4-FFF2-40B4-BE49-F238E27FC236}">
                <a16:creationId xmlns:a16="http://schemas.microsoft.com/office/drawing/2014/main" id="{6A9F467B-CE81-43CF-84CE-EEB5B3DE916D}"/>
              </a:ext>
            </a:extLst>
          </p:cNvPr>
          <p:cNvSpPr>
            <a:spLocks xmlns:a="http://schemas.openxmlformats.org/drawingml/2006/main" noGrp="1"/>
          </p:cNvSpPr>
          <p:nvPr/>
        </p:nvSpPr>
        <p:spPr>
          <a:xfrm xmlns:a="http://schemas.openxmlformats.org/drawingml/2006/main">
            <a:off x="857250" y="2038350"/>
            <a:ext cx="5829300" cy="2781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4000"/>
              </a:lnSpc>
              <a:buNone/>
              <a:defRPr sz="1800" b="0">
                <a:solidFill>
                  <a:srgbClr val="FFFFFF"/>
                </a:solidFill>
                <a:latin typeface="Consolas"/>
                <a:ea typeface="Consolas"/>
                <a:cs typeface="Consolas"/>
              </a:defRPr>
            </a:pPr>
            <a:r>
              <a:rPr sz="1800" b="0">
                <a:solidFill>
                  <a:srgbClr val="FFFFFF"/>
                </a:solidFill>
                <a:latin typeface="Consolas"/>
                <a:ea typeface="Consolas"/>
                <a:cs typeface="Consolas"/>
              </a:rPr>
              <a:t># an AI assistant's suggested setup</a:t>
            </a:r>
          </a:p>
          <a:p xmlns:a="http://schemas.openxmlformats.org/drawingml/2006/main">
            <a:pPr algn="l">
              <a:lnSpc>
                <a:spcPct val="114000"/>
              </a:lnSpc>
              <a:buNone/>
              <a:defRPr sz="1800" b="0">
                <a:solidFill>
                  <a:srgbClr val="FFFFFF"/>
                </a:solidFill>
                <a:latin typeface="Consolas"/>
                <a:ea typeface="Consolas"/>
                <a:cs typeface="Consolas"/>
              </a:defRPr>
            </a:pPr>
            <a:r>
              <a:rPr sz="1800" b="0">
                <a:solidFill>
                  <a:srgbClr val="FFFFFF"/>
                </a:solidFill>
                <a:latin typeface="Consolas"/>
                <a:ea typeface="Consolas"/>
                <a:cs typeface="Consolas"/>
              </a:rPr>
              <a:t>c_ai = [60, 25]     # 'maximize benefit'</a:t>
            </a:r>
          </a:p>
          <a:p xmlns:a="http://schemas.openxmlformats.org/drawingml/2006/main">
            <a:pPr algn="l">
              <a:lnSpc>
                <a:spcPct val="114000"/>
              </a:lnSpc>
              <a:buNone/>
              <a:defRPr sz="1800" b="0">
                <a:solidFill>
                  <a:srgbClr val="FFFFFF"/>
                </a:solidFill>
                <a:latin typeface="Consolas"/>
                <a:ea typeface="Consolas"/>
                <a:cs typeface="Consolas"/>
              </a:defRPr>
            </a:pPr>
            <a:r>
              <a:rPr sz="1800" b="0">
                <a:solidFill>
                  <a:srgbClr val="FFFFFF"/>
                </a:solidFill>
                <a:latin typeface="Consolas"/>
                <a:ea typeface="Consolas"/>
                <a:cs typeface="Consolas"/>
              </a:rPr>
              <a:t>res_ai = linprog(c_ai, A_ub=A_ub, b_ub=b_ub,</a:t>
            </a:r>
          </a:p>
          <a:p xmlns:a="http://schemas.openxmlformats.org/drawingml/2006/main">
            <a:pPr algn="l">
              <a:lnSpc>
                <a:spcPct val="114000"/>
              </a:lnSpc>
              <a:buNone/>
              <a:defRPr sz="1800" b="0">
                <a:solidFill>
                  <a:srgbClr val="FFFFFF"/>
                </a:solidFill>
                <a:latin typeface="Consolas"/>
                <a:ea typeface="Consolas"/>
                <a:cs typeface="Consolas"/>
              </a:defRPr>
            </a:pPr>
            <a:r>
              <a:rPr sz="1800" b="0">
                <a:solidFill>
                  <a:srgbClr val="FFFFFF"/>
                </a:solidFill>
                <a:latin typeface="Consolas"/>
                <a:ea typeface="Consolas"/>
                <a:cs typeface="Consolas"/>
              </a:rPr>
              <a:t>                  bounds=bounds)</a:t>
            </a:r>
          </a:p>
        </p:txBody>
      </p:sp>
      <p:sp>
        <p:nvSpPr>
          <p:cNvPr id="8" name="question">
            <a:extLst xmlns:a="http://schemas.openxmlformats.org/drawingml/2006/main">
              <a:ext uri="{FF2B5EF4-FFF2-40B4-BE49-F238E27FC236}">
                <a16:creationId xmlns:a16="http://schemas.microsoft.com/office/drawing/2014/main" id="{C013D0A7-3B63-4BF3-9B8E-7A571889AB74}"/>
              </a:ext>
            </a:extLst>
          </p:cNvPr>
          <p:cNvSpPr>
            <a:spLocks xmlns:a="http://schemas.openxmlformats.org/drawingml/2006/main" noGrp="1"/>
          </p:cNvSpPr>
          <p:nvPr/>
        </p:nvSpPr>
        <p:spPr>
          <a:xfrm xmlns:a="http://schemas.openxmlformats.org/drawingml/2006/main">
            <a:off x="7315200" y="1809750"/>
            <a:ext cx="42672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100" b="1">
                <a:solidFill>
                  <a:srgbClr val="111316"/>
                </a:solidFill>
                <a:latin typeface="Arial"/>
                <a:ea typeface="Arial"/>
                <a:cs typeface="Arial"/>
              </a:defRPr>
            </a:pPr>
            <a:r>
              <a:rPr sz="2100" b="1">
                <a:solidFill>
                  <a:srgbClr val="111316"/>
                </a:solidFill>
                <a:latin typeface="Arial"/>
                <a:ea typeface="Arial"/>
                <a:cs typeface="Arial"/>
              </a:rPr>
              <a:t>c_ai = [60, 25] replaces c = [-60, -25]. What happens?</a:t>
            </a:r>
          </a:p>
        </p:txBody>
      </p:sp>
      <p:sp>
        <p:nvSpPr>
          <p:cNvPr id="9" name="opt-0">
            <a:extLst xmlns:a="http://schemas.openxmlformats.org/drawingml/2006/main">
              <a:ext uri="{FF2B5EF4-FFF2-40B4-BE49-F238E27FC236}">
                <a16:creationId xmlns:a16="http://schemas.microsoft.com/office/drawing/2014/main" id="{52AA1879-7706-46DE-9D98-9CEF5D9EB6B5}"/>
              </a:ext>
            </a:extLst>
          </p:cNvPr>
          <p:cNvSpPr>
            <a:spLocks xmlns:a="http://schemas.openxmlformats.org/drawingml/2006/main" noGrp="1"/>
          </p:cNvSpPr>
          <p:nvPr/>
        </p:nvSpPr>
        <p:spPr>
          <a:xfrm xmlns:a="http://schemas.openxmlformats.org/drawingml/2006/main">
            <a:off x="7315200" y="2571750"/>
            <a:ext cx="4267200" cy="552450"/>
          </a:xfrm>
          <a:prstGeom xmlns:a="http://schemas.openxmlformats.org/drawingml/2006/main" prst="roundRect">
            <a:avLst>
              <a:gd name="adj" fmla="val 10345"/>
            </a:avLst>
          </a:prstGeom>
          <a:solidFill xmlns:a="http://schemas.openxmlformats.org/drawingml/2006/main">
            <a:srgbClr val="F6F7F9"/>
          </a:solidFill>
          <a:ln xmlns:a="http://schemas.openxmlformats.org/drawingml/2006/main" w="9525">
            <a:solidFill>
              <a:srgbClr val="DDE0E5"/>
            </a:solidFill>
            <a:prstDash val="solid"/>
          </a:ln>
        </p:spPr>
      </p:sp>
      <p:sp>
        <p:nvSpPr>
          <p:cNvPr id="10" name="opt-letter-0">
            <a:extLst xmlns:a="http://schemas.openxmlformats.org/drawingml/2006/main">
              <a:ext uri="{FF2B5EF4-FFF2-40B4-BE49-F238E27FC236}">
                <a16:creationId xmlns:a16="http://schemas.microsoft.com/office/drawing/2014/main" id="{8F03C0B9-A626-4F37-B2B9-7FFD57AF0CDD}"/>
              </a:ext>
            </a:extLst>
          </p:cNvPr>
          <p:cNvSpPr>
            <a:spLocks xmlns:a="http://schemas.openxmlformats.org/drawingml/2006/main" noGrp="1"/>
          </p:cNvSpPr>
          <p:nvPr/>
        </p:nvSpPr>
        <p:spPr>
          <a:xfrm xmlns:a="http://schemas.openxmlformats.org/drawingml/2006/main">
            <a:off x="7448550" y="2733675"/>
            <a:ext cx="2667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1800" b="1">
                <a:solidFill>
                  <a:srgbClr val="2E74B5"/>
                </a:solidFill>
                <a:latin typeface="Arial"/>
                <a:ea typeface="Arial"/>
                <a:cs typeface="Arial"/>
              </a:defRPr>
            </a:pPr>
            <a:r>
              <a:rPr sz="1800" b="1">
                <a:solidFill>
                  <a:srgbClr val="2E74B5"/>
                </a:solidFill>
                <a:latin typeface="Arial"/>
                <a:ea typeface="Arial"/>
                <a:cs typeface="Arial"/>
              </a:rPr>
              <a:t>A</a:t>
            </a:r>
          </a:p>
        </p:txBody>
      </p:sp>
      <p:sp>
        <p:nvSpPr>
          <p:cNvPr id="11" name="opt-text-0">
            <a:extLst xmlns:a="http://schemas.openxmlformats.org/drawingml/2006/main">
              <a:ext uri="{FF2B5EF4-FFF2-40B4-BE49-F238E27FC236}">
                <a16:creationId xmlns:a16="http://schemas.microsoft.com/office/drawing/2014/main" id="{464FDF49-8332-43E6-BE82-D315058E3FEF}"/>
              </a:ext>
            </a:extLst>
          </p:cNvPr>
          <p:cNvSpPr>
            <a:spLocks xmlns:a="http://schemas.openxmlformats.org/drawingml/2006/main" noGrp="1"/>
          </p:cNvSpPr>
          <p:nvPr/>
        </p:nvSpPr>
        <p:spPr>
          <a:xfrm xmlns:a="http://schemas.openxmlformats.org/drawingml/2006/main">
            <a:off x="7772400" y="2609850"/>
            <a:ext cx="36766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2000"/>
              </a:lnSpc>
              <a:buNone/>
              <a:defRPr sz="1200" b="0">
                <a:solidFill>
                  <a:srgbClr val="111316"/>
                </a:solidFill>
                <a:latin typeface="Consolas"/>
                <a:ea typeface="Consolas"/>
                <a:cs typeface="Consolas"/>
              </a:defRPr>
            </a:pPr>
            <a:r>
              <a:rPr sz="1200" b="0">
                <a:solidFill>
                  <a:srgbClr val="111316"/>
                </a:solidFill>
                <a:latin typeface="Consolas"/>
                <a:ea typeface="Consolas"/>
                <a:cs typeface="Consolas"/>
              </a:rPr>
              <a:t>linprog raises an error immediately</a:t>
            </a:r>
          </a:p>
        </p:txBody>
      </p:sp>
      <p:sp>
        <p:nvSpPr>
          <p:cNvPr id="12" name="opt-1">
            <a:extLst xmlns:a="http://schemas.openxmlformats.org/drawingml/2006/main">
              <a:ext uri="{FF2B5EF4-FFF2-40B4-BE49-F238E27FC236}">
                <a16:creationId xmlns:a16="http://schemas.microsoft.com/office/drawing/2014/main" id="{5B06D190-4B72-4E41-97D2-92627B13DCE1}"/>
              </a:ext>
            </a:extLst>
          </p:cNvPr>
          <p:cNvSpPr>
            <a:spLocks xmlns:a="http://schemas.openxmlformats.org/drawingml/2006/main" noGrp="1"/>
          </p:cNvSpPr>
          <p:nvPr/>
        </p:nvSpPr>
        <p:spPr>
          <a:xfrm xmlns:a="http://schemas.openxmlformats.org/drawingml/2006/main">
            <a:off x="7315200" y="3181350"/>
            <a:ext cx="4267200" cy="552450"/>
          </a:xfrm>
          <a:prstGeom xmlns:a="http://schemas.openxmlformats.org/drawingml/2006/main" prst="roundRect">
            <a:avLst>
              <a:gd name="adj" fmla="val 10345"/>
            </a:avLst>
          </a:prstGeom>
          <a:solidFill xmlns:a="http://schemas.openxmlformats.org/drawingml/2006/main">
            <a:srgbClr val="F6F7F9"/>
          </a:solidFill>
          <a:ln xmlns:a="http://schemas.openxmlformats.org/drawingml/2006/main" w="9525">
            <a:solidFill>
              <a:srgbClr val="DDE0E5"/>
            </a:solidFill>
            <a:prstDash val="solid"/>
          </a:ln>
        </p:spPr>
      </p:sp>
      <p:sp>
        <p:nvSpPr>
          <p:cNvPr id="13" name="opt-letter-1">
            <a:extLst xmlns:a="http://schemas.openxmlformats.org/drawingml/2006/main">
              <a:ext uri="{FF2B5EF4-FFF2-40B4-BE49-F238E27FC236}">
                <a16:creationId xmlns:a16="http://schemas.microsoft.com/office/drawing/2014/main" id="{2E05508A-3331-44A1-ADF5-0E64228875AB}"/>
              </a:ext>
            </a:extLst>
          </p:cNvPr>
          <p:cNvSpPr>
            <a:spLocks xmlns:a="http://schemas.openxmlformats.org/drawingml/2006/main" noGrp="1"/>
          </p:cNvSpPr>
          <p:nvPr/>
        </p:nvSpPr>
        <p:spPr>
          <a:xfrm xmlns:a="http://schemas.openxmlformats.org/drawingml/2006/main">
            <a:off x="7448550" y="3343275"/>
            <a:ext cx="2667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1800" b="1">
                <a:solidFill>
                  <a:srgbClr val="2E74B5"/>
                </a:solidFill>
                <a:latin typeface="Arial"/>
                <a:ea typeface="Arial"/>
                <a:cs typeface="Arial"/>
              </a:defRPr>
            </a:pPr>
            <a:r>
              <a:rPr sz="1800" b="1">
                <a:solidFill>
                  <a:srgbClr val="2E74B5"/>
                </a:solidFill>
                <a:latin typeface="Arial"/>
                <a:ea typeface="Arial"/>
                <a:cs typeface="Arial"/>
              </a:rPr>
              <a:t>B</a:t>
            </a:r>
          </a:p>
        </p:txBody>
      </p:sp>
      <p:sp>
        <p:nvSpPr>
          <p:cNvPr id="14" name="opt-text-1">
            <a:extLst xmlns:a="http://schemas.openxmlformats.org/drawingml/2006/main">
              <a:ext uri="{FF2B5EF4-FFF2-40B4-BE49-F238E27FC236}">
                <a16:creationId xmlns:a16="http://schemas.microsoft.com/office/drawing/2014/main" id="{2A5F7120-DA81-4D6F-BA2A-CCF44DF1CD91}"/>
              </a:ext>
            </a:extLst>
          </p:cNvPr>
          <p:cNvSpPr>
            <a:spLocks xmlns:a="http://schemas.openxmlformats.org/drawingml/2006/main" noGrp="1"/>
          </p:cNvSpPr>
          <p:nvPr/>
        </p:nvSpPr>
        <p:spPr>
          <a:xfrm xmlns:a="http://schemas.openxmlformats.org/drawingml/2006/main">
            <a:off x="7772400" y="3219450"/>
            <a:ext cx="36766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2000"/>
              </a:lnSpc>
              <a:buNone/>
              <a:defRPr sz="1200" b="0">
                <a:solidFill>
                  <a:srgbClr val="111316"/>
                </a:solidFill>
                <a:latin typeface="Consolas"/>
                <a:ea typeface="Consolas"/>
                <a:cs typeface="Consolas"/>
              </a:defRPr>
            </a:pPr>
            <a:r>
              <a:rPr sz="1200" b="0">
                <a:solidFill>
                  <a:srgbClr val="111316"/>
                </a:solidFill>
                <a:latin typeface="Consolas"/>
                <a:ea typeface="Consolas"/>
                <a:cs typeface="Consolas"/>
              </a:rPr>
              <a:t>It reproduces [80, 120], 7800.0 — same as before</a:t>
            </a:r>
          </a:p>
        </p:txBody>
      </p:sp>
      <p:sp>
        <p:nvSpPr>
          <p:cNvPr id="15" name="opt-2">
            <a:extLst xmlns:a="http://schemas.openxmlformats.org/drawingml/2006/main">
              <a:ext uri="{FF2B5EF4-FFF2-40B4-BE49-F238E27FC236}">
                <a16:creationId xmlns:a16="http://schemas.microsoft.com/office/drawing/2014/main" id="{798A6623-7A73-4CA7-A131-A0DDE9383F4B}"/>
              </a:ext>
            </a:extLst>
          </p:cNvPr>
          <p:cNvSpPr>
            <a:spLocks xmlns:a="http://schemas.openxmlformats.org/drawingml/2006/main" noGrp="1"/>
          </p:cNvSpPr>
          <p:nvPr/>
        </p:nvSpPr>
        <p:spPr>
          <a:xfrm xmlns:a="http://schemas.openxmlformats.org/drawingml/2006/main">
            <a:off x="7315200" y="3790950"/>
            <a:ext cx="4267200" cy="552450"/>
          </a:xfrm>
          <a:prstGeom xmlns:a="http://schemas.openxmlformats.org/drawingml/2006/main" prst="roundRect">
            <a:avLst>
              <a:gd name="adj" fmla="val 10345"/>
            </a:avLst>
          </a:prstGeom>
          <a:solidFill xmlns:a="http://schemas.openxmlformats.org/drawingml/2006/main">
            <a:srgbClr val="F6F7F9"/>
          </a:solidFill>
          <a:ln xmlns:a="http://schemas.openxmlformats.org/drawingml/2006/main" w="9525">
            <a:solidFill>
              <a:srgbClr val="DDE0E5"/>
            </a:solidFill>
            <a:prstDash val="solid"/>
          </a:ln>
        </p:spPr>
      </p:sp>
      <p:sp>
        <p:nvSpPr>
          <p:cNvPr id="16" name="opt-letter-2">
            <a:extLst xmlns:a="http://schemas.openxmlformats.org/drawingml/2006/main">
              <a:ext uri="{FF2B5EF4-FFF2-40B4-BE49-F238E27FC236}">
                <a16:creationId xmlns:a16="http://schemas.microsoft.com/office/drawing/2014/main" id="{4B2E86D8-B2D1-45DE-BF47-DAE6D94F54D7}"/>
              </a:ext>
            </a:extLst>
          </p:cNvPr>
          <p:cNvSpPr>
            <a:spLocks xmlns:a="http://schemas.openxmlformats.org/drawingml/2006/main" noGrp="1"/>
          </p:cNvSpPr>
          <p:nvPr/>
        </p:nvSpPr>
        <p:spPr>
          <a:xfrm xmlns:a="http://schemas.openxmlformats.org/drawingml/2006/main">
            <a:off x="7448550" y="3952875"/>
            <a:ext cx="2667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1800" b="1">
                <a:solidFill>
                  <a:srgbClr val="2E74B5"/>
                </a:solidFill>
                <a:latin typeface="Arial"/>
                <a:ea typeface="Arial"/>
                <a:cs typeface="Arial"/>
              </a:defRPr>
            </a:pPr>
            <a:r>
              <a:rPr sz="1800" b="1">
                <a:solidFill>
                  <a:srgbClr val="2E74B5"/>
                </a:solidFill>
                <a:latin typeface="Arial"/>
                <a:ea typeface="Arial"/>
                <a:cs typeface="Arial"/>
              </a:rPr>
              <a:t>C</a:t>
            </a:r>
          </a:p>
        </p:txBody>
      </p:sp>
      <p:sp>
        <p:nvSpPr>
          <p:cNvPr id="17" name="opt-text-2">
            <a:extLst xmlns:a="http://schemas.openxmlformats.org/drawingml/2006/main">
              <a:ext uri="{FF2B5EF4-FFF2-40B4-BE49-F238E27FC236}">
                <a16:creationId xmlns:a16="http://schemas.microsoft.com/office/drawing/2014/main" id="{FAB899A7-6D6D-43D1-8506-1804B3F3D513}"/>
              </a:ext>
            </a:extLst>
          </p:cNvPr>
          <p:cNvSpPr>
            <a:spLocks xmlns:a="http://schemas.openxmlformats.org/drawingml/2006/main" noGrp="1"/>
          </p:cNvSpPr>
          <p:nvPr/>
        </p:nvSpPr>
        <p:spPr>
          <a:xfrm xmlns:a="http://schemas.openxmlformats.org/drawingml/2006/main">
            <a:off x="7772400" y="3829050"/>
            <a:ext cx="36766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2000"/>
              </a:lnSpc>
              <a:buNone/>
              <a:defRPr sz="1200" b="0">
                <a:solidFill>
                  <a:srgbClr val="111316"/>
                </a:solidFill>
                <a:latin typeface="Consolas"/>
                <a:ea typeface="Consolas"/>
                <a:cs typeface="Consolas"/>
              </a:defRPr>
            </a:pPr>
            <a:r>
              <a:rPr sz="1200" b="0">
                <a:solidFill>
                  <a:srgbClr val="111316"/>
                </a:solidFill>
                <a:latin typeface="Consolas"/>
                <a:ea typeface="Consolas"/>
                <a:cs typeface="Consolas"/>
              </a:rPr>
              <a:t>res_ai.x = [0, 0], res_ai.fun = 0.0, and res_ai.success is still True</a:t>
            </a:r>
          </a:p>
        </p:txBody>
      </p:sp>
      <p:sp>
        <p:nvSpPr>
          <p:cNvPr id="18" name="opt-3">
            <a:extLst xmlns:a="http://schemas.openxmlformats.org/drawingml/2006/main">
              <a:ext uri="{FF2B5EF4-FFF2-40B4-BE49-F238E27FC236}">
                <a16:creationId xmlns:a16="http://schemas.microsoft.com/office/drawing/2014/main" id="{ABC77B5F-9CBD-4F46-B1E6-86199EA8C60D}"/>
              </a:ext>
            </a:extLst>
          </p:cNvPr>
          <p:cNvSpPr>
            <a:spLocks xmlns:a="http://schemas.openxmlformats.org/drawingml/2006/main" noGrp="1"/>
          </p:cNvSpPr>
          <p:nvPr/>
        </p:nvSpPr>
        <p:spPr>
          <a:xfrm xmlns:a="http://schemas.openxmlformats.org/drawingml/2006/main">
            <a:off x="7315200" y="4400550"/>
            <a:ext cx="4267200" cy="552450"/>
          </a:xfrm>
          <a:prstGeom xmlns:a="http://schemas.openxmlformats.org/drawingml/2006/main" prst="roundRect">
            <a:avLst>
              <a:gd name="adj" fmla="val 10345"/>
            </a:avLst>
          </a:prstGeom>
          <a:solidFill xmlns:a="http://schemas.openxmlformats.org/drawingml/2006/main">
            <a:srgbClr val="F6F7F9"/>
          </a:solidFill>
          <a:ln xmlns:a="http://schemas.openxmlformats.org/drawingml/2006/main" w="9525">
            <a:solidFill>
              <a:srgbClr val="DDE0E5"/>
            </a:solidFill>
            <a:prstDash val="solid"/>
          </a:ln>
        </p:spPr>
      </p:sp>
      <p:sp>
        <p:nvSpPr>
          <p:cNvPr id="19" name="opt-letter-3">
            <a:extLst xmlns:a="http://schemas.openxmlformats.org/drawingml/2006/main">
              <a:ext uri="{FF2B5EF4-FFF2-40B4-BE49-F238E27FC236}">
                <a16:creationId xmlns:a16="http://schemas.microsoft.com/office/drawing/2014/main" id="{D7B0EFDB-C83E-4FA1-97A0-59C71F3EC902}"/>
              </a:ext>
            </a:extLst>
          </p:cNvPr>
          <p:cNvSpPr>
            <a:spLocks xmlns:a="http://schemas.openxmlformats.org/drawingml/2006/main" noGrp="1"/>
          </p:cNvSpPr>
          <p:nvPr/>
        </p:nvSpPr>
        <p:spPr>
          <a:xfrm xmlns:a="http://schemas.openxmlformats.org/drawingml/2006/main">
            <a:off x="7448550" y="4562475"/>
            <a:ext cx="2667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1800" b="1">
                <a:solidFill>
                  <a:srgbClr val="2E74B5"/>
                </a:solidFill>
                <a:latin typeface="Arial"/>
                <a:ea typeface="Arial"/>
                <a:cs typeface="Arial"/>
              </a:defRPr>
            </a:pPr>
            <a:r>
              <a:rPr sz="1800" b="1">
                <a:solidFill>
                  <a:srgbClr val="2E74B5"/>
                </a:solidFill>
                <a:latin typeface="Arial"/>
                <a:ea typeface="Arial"/>
                <a:cs typeface="Arial"/>
              </a:rPr>
              <a:t>D</a:t>
            </a:r>
          </a:p>
        </p:txBody>
      </p:sp>
      <p:sp>
        <p:nvSpPr>
          <p:cNvPr id="20" name="opt-text-3">
            <a:extLst xmlns:a="http://schemas.openxmlformats.org/drawingml/2006/main">
              <a:ext uri="{FF2B5EF4-FFF2-40B4-BE49-F238E27FC236}">
                <a16:creationId xmlns:a16="http://schemas.microsoft.com/office/drawing/2014/main" id="{44DA79F4-A446-4129-8E1D-F19A2799A7F3}"/>
              </a:ext>
            </a:extLst>
          </p:cNvPr>
          <p:cNvSpPr>
            <a:spLocks xmlns:a="http://schemas.openxmlformats.org/drawingml/2006/main" noGrp="1"/>
          </p:cNvSpPr>
          <p:nvPr/>
        </p:nvSpPr>
        <p:spPr>
          <a:xfrm xmlns:a="http://schemas.openxmlformats.org/drawingml/2006/main">
            <a:off x="7772400" y="4438650"/>
            <a:ext cx="36766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2000"/>
              </a:lnSpc>
              <a:buNone/>
              <a:defRPr sz="1200" b="0">
                <a:solidFill>
                  <a:srgbClr val="111316"/>
                </a:solidFill>
                <a:latin typeface="Consolas"/>
                <a:ea typeface="Consolas"/>
                <a:cs typeface="Consolas"/>
              </a:defRPr>
            </a:pPr>
            <a:r>
              <a:rPr sz="1200" b="0">
                <a:solidFill>
                  <a:srgbClr val="111316"/>
                </a:solidFill>
                <a:latin typeface="Consolas"/>
                <a:ea typeface="Consolas"/>
                <a:cs typeface="Consolas"/>
              </a:rPr>
              <a:t>res_ai.success becomes False, flagging the mistake</a:t>
            </a:r>
          </a:p>
        </p:txBody>
      </p:sp>
      <p:sp>
        <p:nvSpPr>
          <p:cNvPr id="21" name="answer-panel">
            <a:extLst xmlns:a="http://schemas.openxmlformats.org/drawingml/2006/main">
              <a:ext uri="{FF2B5EF4-FFF2-40B4-BE49-F238E27FC236}">
                <a16:creationId xmlns:a16="http://schemas.microsoft.com/office/drawing/2014/main" id="{9B089ECB-D44E-45E6-912D-39BA652C5EC8}"/>
              </a:ext>
            </a:extLst>
          </p:cNvPr>
          <p:cNvSpPr>
            <a:spLocks xmlns:a="http://schemas.openxmlformats.org/drawingml/2006/main" noGrp="1"/>
          </p:cNvSpPr>
          <p:nvPr/>
        </p:nvSpPr>
        <p:spPr>
          <a:xfrm xmlns:a="http://schemas.openxmlformats.org/drawingml/2006/main">
            <a:off x="609600" y="5219700"/>
            <a:ext cx="10972800" cy="914400"/>
          </a:xfrm>
          <a:prstGeom xmlns:a="http://schemas.openxmlformats.org/drawingml/2006/main" prst="roundRect">
            <a:avLst>
              <a:gd name="adj" fmla="val 8333"/>
            </a:avLst>
          </a:prstGeom>
          <a:solidFill xmlns:a="http://schemas.openxmlformats.org/drawingml/2006/main">
            <a:srgbClr val="F3F7FB"/>
          </a:solidFill>
          <a:ln xmlns:a="http://schemas.openxmlformats.org/drawingml/2006/main" w="9525">
            <a:solidFill>
              <a:srgbClr val="2E74B5"/>
            </a:solidFill>
            <a:prstDash val="solid"/>
          </a:ln>
        </p:spPr>
      </p:sp>
      <p:sp>
        <p:nvSpPr>
          <p:cNvPr id="22" name="answer-label">
            <a:extLst xmlns:a="http://schemas.openxmlformats.org/drawingml/2006/main">
              <a:ext uri="{FF2B5EF4-FFF2-40B4-BE49-F238E27FC236}">
                <a16:creationId xmlns:a16="http://schemas.microsoft.com/office/drawing/2014/main" id="{33CCF341-3610-49EF-97DD-9C2A5DD437B1}"/>
              </a:ext>
            </a:extLst>
          </p:cNvPr>
          <p:cNvSpPr>
            <a:spLocks xmlns:a="http://schemas.openxmlformats.org/drawingml/2006/main" noGrp="1"/>
          </p:cNvSpPr>
          <p:nvPr/>
        </p:nvSpPr>
        <p:spPr>
          <a:xfrm xmlns:a="http://schemas.openxmlformats.org/drawingml/2006/main">
            <a:off x="819150" y="5372100"/>
            <a:ext cx="3048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1F4D78"/>
                </a:solidFill>
                <a:latin typeface="Arial"/>
                <a:ea typeface="Arial"/>
                <a:cs typeface="Arial"/>
              </a:defRPr>
            </a:pPr>
            <a:r>
              <a:rPr sz="900" b="1">
                <a:solidFill>
                  <a:srgbClr val="1F4D78"/>
                </a:solidFill>
                <a:latin typeface="Arial"/>
                <a:ea typeface="Arial"/>
                <a:cs typeface="Arial"/>
              </a:rPr>
              <a:t>ANSWER  ·  C</a:t>
            </a:r>
          </a:p>
        </p:txBody>
      </p:sp>
      <p:sp>
        <p:nvSpPr>
          <p:cNvPr id="23" name="why">
            <a:extLst xmlns:a="http://schemas.openxmlformats.org/drawingml/2006/main">
              <a:ext uri="{FF2B5EF4-FFF2-40B4-BE49-F238E27FC236}">
                <a16:creationId xmlns:a16="http://schemas.microsoft.com/office/drawing/2014/main" id="{0C9A2C1D-1136-409F-BD26-3C52B30F3CF1}"/>
              </a:ext>
            </a:extLst>
          </p:cNvPr>
          <p:cNvSpPr>
            <a:spLocks xmlns:a="http://schemas.openxmlformats.org/drawingml/2006/main" noGrp="1"/>
          </p:cNvSpPr>
          <p:nvPr/>
        </p:nvSpPr>
        <p:spPr>
          <a:xfrm xmlns:a="http://schemas.openxmlformats.org/drawingml/2006/main">
            <a:off x="819150" y="5638800"/>
            <a:ext cx="105537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500" b="0">
                <a:solidFill>
                  <a:srgbClr val="111316"/>
                </a:solidFill>
                <a:latin typeface="Arial"/>
                <a:ea typeface="Arial"/>
                <a:cs typeface="Arial"/>
              </a:defRPr>
            </a:pPr>
            <a:r>
              <a:rPr sz="1500" b="0">
                <a:solidFill>
                  <a:srgbClr val="111316"/>
                </a:solidFill>
                <a:latin typeface="Arial"/>
                <a:ea typeface="Arial"/>
                <a:cs typeface="Arial"/>
              </a:rPr>
              <a:t>linprog always minimizes. c_ai=[60,25] asks it to minimize benefit, so the answer is 'build nothing': [0, 0], success still True.</a:t>
            </a:r>
          </a:p>
        </p:txBody>
      </p:sp>
    </p:spTree>
    <p:extLst>
      <p:ext uri="{BB962C8B-B14F-4D97-AF65-F5344CB8AC3E}">
        <p14:creationId xmlns:p14="http://schemas.microsoft.com/office/powerpoint/2010/main" val="1851238687"/>
      </p:ext>
    </p:extLst>
  </p:cSld>
</p:sld>
</file>

<file path=ppt/slides/slide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kicker">
            <a:extLst xmlns:a="http://schemas.openxmlformats.org/drawingml/2006/main">
              <a:ext uri="{FF2B5EF4-FFF2-40B4-BE49-F238E27FC236}">
                <a16:creationId xmlns:a16="http://schemas.microsoft.com/office/drawing/2014/main" id="{58BA5E13-802E-4D06-82EE-660FB23BBF39}"/>
              </a:ext>
            </a:extLst>
          </p:cNvPr>
          <p:cNvSpPr>
            <a:spLocks xmlns:a="http://schemas.openxmlformats.org/drawingml/2006/main" noGrp="1"/>
          </p:cNvSpPr>
          <p:nvPr/>
        </p:nvSpPr>
        <p:spPr>
          <a:xfrm xmlns:a="http://schemas.openxmlformats.org/drawingml/2006/main">
            <a:off x="609600" y="342900"/>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2E74B5"/>
                </a:solidFill>
                <a:latin typeface="Arial"/>
                <a:ea typeface="Arial"/>
                <a:cs typeface="Arial"/>
              </a:defRPr>
            </a:pPr>
            <a:r>
              <a:rPr sz="900" b="1">
                <a:solidFill>
                  <a:srgbClr val="2E74B5"/>
                </a:solidFill>
                <a:latin typeface="Arial"/>
                <a:ea typeface="Arial"/>
                <a:cs typeface="Arial"/>
              </a:rPr>
              <a:t>PYTHON SYNTAX</a:t>
            </a:r>
          </a:p>
        </p:txBody>
      </p:sp>
      <p:sp>
        <p:nvSpPr>
          <p:cNvPr id="2" name="title">
            <a:extLst xmlns:a="http://schemas.openxmlformats.org/drawingml/2006/main">
              <a:ext uri="{FF2B5EF4-FFF2-40B4-BE49-F238E27FC236}">
                <a16:creationId xmlns:a16="http://schemas.microsoft.com/office/drawing/2014/main" id="{84C05078-2A7F-41F9-8AF8-A33ABE2F90B4}"/>
              </a:ext>
            </a:extLst>
          </p:cNvPr>
          <p:cNvSpPr>
            <a:spLocks xmlns:a="http://schemas.openxmlformats.org/drawingml/2006/main" noGrp="1"/>
          </p:cNvSpPr>
          <p:nvPr/>
        </p:nvSpPr>
        <p:spPr>
          <a:xfrm xmlns:a="http://schemas.openxmlformats.org/drawingml/2006/main">
            <a:off x="609600" y="60960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3000" b="0">
                <a:solidFill>
                  <a:srgbClr val="111316"/>
                </a:solidFill>
                <a:latin typeface="Arial"/>
                <a:ea typeface="Arial"/>
                <a:cs typeface="Arial"/>
              </a:defRPr>
            </a:pPr>
            <a:r>
              <a:rPr sz="3000" b="0">
                <a:solidFill>
                  <a:srgbClr val="111316"/>
                </a:solidFill>
                <a:latin typeface="Arial"/>
                <a:ea typeface="Arial"/>
                <a:cs typeface="Arial"/>
              </a:rPr>
              <a:t>[6] AI-audit: a plausible but wrong formulation</a:t>
            </a:r>
          </a:p>
        </p:txBody>
      </p:sp>
      <p:sp>
        <p:nvSpPr>
          <p:cNvPr id="3" name="">
            <a:extLst xmlns:a="http://schemas.openxmlformats.org/drawingml/2006/main">
              <a:ext uri="{FF2B5EF4-FFF2-40B4-BE49-F238E27FC236}">
                <a16:creationId xmlns:a16="http://schemas.microsoft.com/office/drawing/2014/main" id="{DF78565B-553A-464E-9196-425061CE9603}"/>
              </a:ext>
            </a:extLst>
          </p:cNvPr>
          <p:cNvSpPr>
            <a:spLocks xmlns:a="http://schemas.openxmlformats.org/drawingml/2006/main" noGrp="1"/>
          </p:cNvSpPr>
          <p:nvPr/>
        </p:nvSpPr>
        <p:spPr>
          <a:xfrm xmlns:a="http://schemas.openxmlformats.org/drawingml/2006/main">
            <a:off x="609600" y="6343650"/>
            <a:ext cx="10972800" cy="0"/>
          </a:xfrm>
          <a:prstGeom xmlns:a="http://schemas.openxmlformats.org/drawingml/2006/main" prst="line">
            <a:avLst/>
          </a:prstGeom>
          <a:noFill xmlns:a="http://schemas.openxmlformats.org/drawingml/2006/main"/>
          <a:ln xmlns:a="http://schemas.openxmlformats.org/drawingml/2006/main" w="9525">
            <a:solidFill>
              <a:srgbClr val="DDE0E5"/>
            </a:solidFill>
            <a:prstDash val="solid"/>
          </a:ln>
        </p:spPr>
      </p:sp>
      <p:sp>
        <p:nvSpPr>
          <p:cNvPr id="4" name="footer">
            <a:extLst xmlns:a="http://schemas.openxmlformats.org/drawingml/2006/main">
              <a:ext uri="{FF2B5EF4-FFF2-40B4-BE49-F238E27FC236}">
                <a16:creationId xmlns:a16="http://schemas.microsoft.com/office/drawing/2014/main" id="{CD907203-5E59-4B03-8F72-1B5BAB94FF4A}"/>
              </a:ext>
            </a:extLst>
          </p:cNvPr>
          <p:cNvSpPr>
            <a:spLocks xmlns:a="http://schemas.openxmlformats.org/drawingml/2006/main" noGrp="1"/>
          </p:cNvSpPr>
          <p:nvPr/>
        </p:nvSpPr>
        <p:spPr>
          <a:xfrm xmlns:a="http://schemas.openxmlformats.org/drawingml/2006/main">
            <a:off x="609600" y="6429375"/>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ARC 500  ·  Week 10 · Meeting B · Linear Programming Studio</a:t>
            </a:r>
          </a:p>
        </p:txBody>
      </p:sp>
      <p:sp>
        <p:nvSpPr>
          <p:cNvPr id="5" name="page">
            <a:extLst xmlns:a="http://schemas.openxmlformats.org/drawingml/2006/main">
              <a:ext uri="{FF2B5EF4-FFF2-40B4-BE49-F238E27FC236}">
                <a16:creationId xmlns:a16="http://schemas.microsoft.com/office/drawing/2014/main" id="{759F76D4-CE53-4130-B996-D6801373485C}"/>
              </a:ext>
            </a:extLst>
          </p:cNvPr>
          <p:cNvSpPr>
            <a:spLocks xmlns:a="http://schemas.openxmlformats.org/drawingml/2006/main" noGrp="1"/>
          </p:cNvSpPr>
          <p:nvPr/>
        </p:nvSpPr>
        <p:spPr>
          <a:xfrm xmlns:a="http://schemas.openxmlformats.org/drawingml/2006/main">
            <a:off x="10896600" y="6429375"/>
            <a:ext cx="685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21</a:t>
            </a:r>
          </a:p>
        </p:txBody>
      </p:sp>
      <p:sp>
        <p:nvSpPr>
          <p:cNvPr id="6" name="code-panel">
            <a:extLst xmlns:a="http://schemas.openxmlformats.org/drawingml/2006/main">
              <a:ext uri="{FF2B5EF4-FFF2-40B4-BE49-F238E27FC236}">
                <a16:creationId xmlns:a16="http://schemas.microsoft.com/office/drawing/2014/main" id="{33A0E3A4-8FEE-45C7-AEF5-29F51B92586C}"/>
              </a:ext>
            </a:extLst>
          </p:cNvPr>
          <p:cNvSpPr>
            <a:spLocks xmlns:a="http://schemas.openxmlformats.org/drawingml/2006/main" noGrp="1"/>
          </p:cNvSpPr>
          <p:nvPr/>
        </p:nvSpPr>
        <p:spPr>
          <a:xfrm xmlns:a="http://schemas.openxmlformats.org/drawingml/2006/main">
            <a:off x="609600" y="1809750"/>
            <a:ext cx="6896100" cy="4267200"/>
          </a:xfrm>
          <a:prstGeom xmlns:a="http://schemas.openxmlformats.org/drawingml/2006/main" prst="roundRect">
            <a:avLst>
              <a:gd name="adj" fmla="val 1786"/>
            </a:avLst>
          </a:prstGeom>
          <a:solidFill xmlns:a="http://schemas.openxmlformats.org/drawingml/2006/main">
            <a:srgbClr val="17191C"/>
          </a:solidFill>
          <a:ln xmlns:a="http://schemas.openxmlformats.org/drawingml/2006/main" w="9525">
            <a:solidFill>
              <a:srgbClr val="17191C"/>
            </a:solidFill>
            <a:prstDash val="solid"/>
          </a:ln>
        </p:spPr>
      </p:sp>
      <p:sp>
        <p:nvSpPr>
          <p:cNvPr id="7" name="code">
            <a:extLst xmlns:a="http://schemas.openxmlformats.org/drawingml/2006/main">
              <a:ext uri="{FF2B5EF4-FFF2-40B4-BE49-F238E27FC236}">
                <a16:creationId xmlns:a16="http://schemas.microsoft.com/office/drawing/2014/main" id="{03D63F30-08E6-4DA4-984F-DCE31ED4ACF5}"/>
              </a:ext>
            </a:extLst>
          </p:cNvPr>
          <p:cNvSpPr>
            <a:spLocks xmlns:a="http://schemas.openxmlformats.org/drawingml/2006/main" noGrp="1"/>
          </p:cNvSpPr>
          <p:nvPr/>
        </p:nvSpPr>
        <p:spPr>
          <a:xfrm xmlns:a="http://schemas.openxmlformats.org/drawingml/2006/main">
            <a:off x="857250" y="2057400"/>
            <a:ext cx="6400800" cy="314096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4000"/>
              </a:lnSpc>
              <a:buNone/>
              <a:defRPr sz="1800" b="0">
                <a:solidFill>
                  <a:srgbClr val="FFFFFF"/>
                </a:solidFill>
                <a:latin typeface="Consolas"/>
                <a:ea typeface="Consolas"/>
                <a:cs typeface="Consolas"/>
              </a:defRPr>
            </a:pPr>
            <a:r>
              <a:rPr sz="1800" b="0">
                <a:solidFill>
                  <a:srgbClr val="FFFFFF"/>
                </a:solidFill>
                <a:latin typeface="Consolas"/>
                <a:ea typeface="Consolas"/>
                <a:cs typeface="Consolas"/>
              </a:rPr>
              <a:t># an AI assistant's suggested setup for the SAME roof problem</a:t>
            </a:r>
          </a:p>
          <a:p xmlns:a="http://schemas.openxmlformats.org/drawingml/2006/main">
            <a:pPr algn="l">
              <a:lnSpc>
                <a:spcPct val="114000"/>
              </a:lnSpc>
              <a:buNone/>
              <a:defRPr sz="1800" b="0">
                <a:solidFill>
                  <a:srgbClr val="FFFFFF"/>
                </a:solidFill>
                <a:latin typeface="Consolas"/>
                <a:ea typeface="Consolas"/>
                <a:cs typeface="Consolas"/>
              </a:defRPr>
            </a:pPr>
            <a:r>
              <a:rPr sz="1800" b="0">
                <a:solidFill>
                  <a:srgbClr val="FFFFFF"/>
                </a:solidFill>
                <a:latin typeface="Consolas"/>
                <a:ea typeface="Consolas"/>
                <a:cs typeface="Consolas"/>
              </a:rPr>
              <a:t>c_ai = [60, 25]     # 'maximize benefit'</a:t>
            </a:r>
          </a:p>
          <a:p xmlns:a="http://schemas.openxmlformats.org/drawingml/2006/main">
            <a:pPr algn="l">
              <a:lnSpc>
                <a:spcPct val="114000"/>
              </a:lnSpc>
              <a:buNone/>
              <a:defRPr sz="1800" b="0">
                <a:solidFill>
                  <a:srgbClr val="FFFFFF"/>
                </a:solidFill>
                <a:latin typeface="Consolas"/>
                <a:ea typeface="Consolas"/>
                <a:cs typeface="Consolas"/>
              </a:defRPr>
            </a:pPr>
            <a:r>
              <a:rPr sz="1800" b="0">
                <a:solidFill>
                  <a:srgbClr val="FFFFFF"/>
                </a:solidFill>
                <a:latin typeface="Consolas"/>
                <a:ea typeface="Consolas"/>
                <a:cs typeface="Consolas"/>
              </a:rPr>
              <a:t>res_ai = linprog(c_ai, A_ub=A_ub, b_ub=b_ub,</a:t>
            </a:r>
          </a:p>
          <a:p xmlns:a="http://schemas.openxmlformats.org/drawingml/2006/main">
            <a:pPr algn="l">
              <a:lnSpc>
                <a:spcPct val="114000"/>
              </a:lnSpc>
              <a:buNone/>
              <a:defRPr sz="1800" b="0">
                <a:solidFill>
                  <a:srgbClr val="FFFFFF"/>
                </a:solidFill>
                <a:latin typeface="Consolas"/>
                <a:ea typeface="Consolas"/>
                <a:cs typeface="Consolas"/>
              </a:defRPr>
            </a:pPr>
            <a:r>
              <a:rPr sz="1800" b="0">
                <a:solidFill>
                  <a:srgbClr val="FFFFFF"/>
                </a:solidFill>
                <a:latin typeface="Consolas"/>
                <a:ea typeface="Consolas"/>
                <a:cs typeface="Consolas"/>
              </a:rPr>
              <a:t>                  bounds=bounds, method='highs')</a:t>
            </a:r>
          </a:p>
          <a:p xmlns:a="http://schemas.openxmlformats.org/drawingml/2006/main">
            <a:pPr algn="l">
              <a:lnSpc>
                <a:spcPct val="114000"/>
              </a:lnSpc>
              <a:buNone/>
              <a:defRPr sz="1800" b="0">
                <a:solidFill>
                  <a:srgbClr val="FFFFFF"/>
                </a:solidFill>
                <a:latin typeface="Consolas"/>
                <a:ea typeface="Consolas"/>
                <a:cs typeface="Consolas"/>
              </a:defRPr>
            </a:pPr>
            <a:r>
              <a:rPr sz="1800" b="0">
                <a:solidFill>
                  <a:srgbClr val="FFFFFF"/>
                </a:solidFill>
                <a:latin typeface="Consolas"/>
                <a:ea typeface="Consolas"/>
                <a:cs typeface="Consolas"/>
              </a:rPr>
              <a:t>print(res_ai.x, res_ai.fun)</a:t>
            </a:r>
          </a:p>
        </p:txBody>
      </p:sp>
      <p:sp>
        <p:nvSpPr>
          <p:cNvPr id="8" name="">
            <a:extLst xmlns:a="http://schemas.openxmlformats.org/drawingml/2006/main">
              <a:ext uri="{FF2B5EF4-FFF2-40B4-BE49-F238E27FC236}">
                <a16:creationId xmlns:a16="http://schemas.microsoft.com/office/drawing/2014/main" id="{BF5DBE4C-11E5-429A-A83C-91CD522FCCFC}"/>
              </a:ext>
            </a:extLst>
          </p:cNvPr>
          <p:cNvSpPr>
            <a:spLocks xmlns:a="http://schemas.openxmlformats.org/drawingml/2006/main" noGrp="1"/>
          </p:cNvSpPr>
          <p:nvPr/>
        </p:nvSpPr>
        <p:spPr>
          <a:xfrm xmlns:a="http://schemas.openxmlformats.org/drawingml/2006/main">
            <a:off x="857250" y="5255514"/>
            <a:ext cx="6400800" cy="0"/>
          </a:xfrm>
          <a:prstGeom xmlns:a="http://schemas.openxmlformats.org/drawingml/2006/main" prst="line">
            <a:avLst/>
          </a:prstGeom>
          <a:noFill xmlns:a="http://schemas.openxmlformats.org/drawingml/2006/main"/>
          <a:ln xmlns:a="http://schemas.openxmlformats.org/drawingml/2006/main" w="9525">
            <a:solidFill>
              <a:srgbClr val="4E5258"/>
            </a:solidFill>
            <a:prstDash val="solid"/>
          </a:ln>
        </p:spPr>
      </p:sp>
      <p:sp>
        <p:nvSpPr>
          <p:cNvPr id="9" name="output-label">
            <a:extLst xmlns:a="http://schemas.openxmlformats.org/drawingml/2006/main">
              <a:ext uri="{FF2B5EF4-FFF2-40B4-BE49-F238E27FC236}">
                <a16:creationId xmlns:a16="http://schemas.microsoft.com/office/drawing/2014/main" id="{72983A2C-F335-42A0-9D80-77E8D4098C94}"/>
              </a:ext>
            </a:extLst>
          </p:cNvPr>
          <p:cNvSpPr>
            <a:spLocks xmlns:a="http://schemas.openxmlformats.org/drawingml/2006/main" noGrp="1"/>
          </p:cNvSpPr>
          <p:nvPr/>
        </p:nvSpPr>
        <p:spPr>
          <a:xfrm xmlns:a="http://schemas.openxmlformats.org/drawingml/2006/main">
            <a:off x="857250" y="5369814"/>
            <a:ext cx="190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E8EEF5"/>
                </a:solidFill>
                <a:latin typeface="Arial"/>
                <a:ea typeface="Arial"/>
                <a:cs typeface="Arial"/>
              </a:defRPr>
            </a:pPr>
            <a:r>
              <a:rPr sz="900" b="1">
                <a:solidFill>
                  <a:srgbClr val="E8EEF5"/>
                </a:solidFill>
                <a:latin typeface="Arial"/>
                <a:ea typeface="Arial"/>
                <a:cs typeface="Arial"/>
              </a:rPr>
              <a:t>OUTPUT</a:t>
            </a:r>
          </a:p>
        </p:txBody>
      </p:sp>
      <p:sp>
        <p:nvSpPr>
          <p:cNvPr id="10" name="output">
            <a:extLst xmlns:a="http://schemas.openxmlformats.org/drawingml/2006/main">
              <a:ext uri="{FF2B5EF4-FFF2-40B4-BE49-F238E27FC236}">
                <a16:creationId xmlns:a16="http://schemas.microsoft.com/office/drawing/2014/main" id="{C3B0240C-50CC-45D2-A7C0-DAE95F87FCAC}"/>
              </a:ext>
            </a:extLst>
          </p:cNvPr>
          <p:cNvSpPr>
            <a:spLocks xmlns:a="http://schemas.openxmlformats.org/drawingml/2006/main" noGrp="1"/>
          </p:cNvSpPr>
          <p:nvPr/>
        </p:nvSpPr>
        <p:spPr>
          <a:xfrm xmlns:a="http://schemas.openxmlformats.org/drawingml/2006/main">
            <a:off x="857250" y="5598414"/>
            <a:ext cx="6400800" cy="23088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4000"/>
              </a:lnSpc>
              <a:buNone/>
              <a:defRPr sz="1200" b="0">
                <a:solidFill>
                  <a:srgbClr val="E8EEF5"/>
                </a:solidFill>
                <a:latin typeface="Consolas"/>
                <a:ea typeface="Consolas"/>
                <a:cs typeface="Consolas"/>
              </a:defRPr>
            </a:pPr>
            <a:r>
              <a:rPr sz="1200" b="0">
                <a:solidFill>
                  <a:srgbClr val="E8EEF5"/>
                </a:solidFill>
                <a:latin typeface="Consolas"/>
                <a:ea typeface="Consolas"/>
                <a:cs typeface="Consolas"/>
              </a:rPr>
              <a:t>[0. 0.] 0.0</a:t>
            </a:r>
          </a:p>
        </p:txBody>
      </p:sp>
      <p:sp>
        <p:nvSpPr>
          <p:cNvPr id="11" name="explain-head">
            <a:extLst xmlns:a="http://schemas.openxmlformats.org/drawingml/2006/main">
              <a:ext uri="{FF2B5EF4-FFF2-40B4-BE49-F238E27FC236}">
                <a16:creationId xmlns:a16="http://schemas.microsoft.com/office/drawing/2014/main" id="{EEDE8FC0-8C9A-40C7-AD93-229481C6F628}"/>
              </a:ext>
            </a:extLst>
          </p:cNvPr>
          <p:cNvSpPr>
            <a:spLocks xmlns:a="http://schemas.openxmlformats.org/drawingml/2006/main" noGrp="1"/>
          </p:cNvSpPr>
          <p:nvPr/>
        </p:nvSpPr>
        <p:spPr>
          <a:xfrm xmlns:a="http://schemas.openxmlformats.org/drawingml/2006/main">
            <a:off x="7886700" y="2447925"/>
            <a:ext cx="3695700" cy="63322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100" b="1">
                <a:solidFill>
                  <a:srgbClr val="111316"/>
                </a:solidFill>
                <a:latin typeface="Arial"/>
                <a:ea typeface="Arial"/>
                <a:cs typeface="Arial"/>
              </a:defRPr>
            </a:pPr>
            <a:r>
              <a:rPr sz="2100" b="1">
                <a:solidFill>
                  <a:srgbClr val="111316"/>
                </a:solidFill>
                <a:latin typeface="Arial"/>
                <a:ea typeface="Arial"/>
                <a:cs typeface="Arial"/>
              </a:rPr>
              <a:t>success is True here too — and still wrong</a:t>
            </a:r>
          </a:p>
        </p:txBody>
      </p:sp>
      <p:sp>
        <p:nvSpPr>
          <p:cNvPr id="12" name="explain-body">
            <a:extLst xmlns:a="http://schemas.openxmlformats.org/drawingml/2006/main">
              <a:ext uri="{FF2B5EF4-FFF2-40B4-BE49-F238E27FC236}">
                <a16:creationId xmlns:a16="http://schemas.microsoft.com/office/drawing/2014/main" id="{F7C478BB-2657-4D5C-8BF9-A960ACC5EEE4}"/>
              </a:ext>
            </a:extLst>
          </p:cNvPr>
          <p:cNvSpPr>
            <a:spLocks xmlns:a="http://schemas.openxmlformats.org/drawingml/2006/main" noGrp="1"/>
          </p:cNvSpPr>
          <p:nvPr/>
        </p:nvSpPr>
        <p:spPr>
          <a:xfrm xmlns:a="http://schemas.openxmlformats.org/drawingml/2006/main">
            <a:off x="7886700" y="3233547"/>
            <a:ext cx="3695700" cy="18440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500" b="0">
                <a:solidFill>
                  <a:srgbClr val="5A5F66"/>
                </a:solidFill>
                <a:latin typeface="Arial"/>
                <a:ea typeface="Arial"/>
                <a:cs typeface="Arial"/>
              </a:defRPr>
            </a:pPr>
            <a:r>
              <a:rPr sz="1500" b="0">
                <a:solidFill>
                  <a:srgbClr val="5A5F66"/>
                </a:solidFill>
                <a:latin typeface="Arial"/>
                <a:ea typeface="Arial"/>
                <a:cs typeface="Arial"/>
              </a:rPr>
              <a:t>res_ai.success would still print True: the solver correctly minimized 60x1+25x2, exactly as typed. But 'maximize benefit' needs the NEGATED coefficients (c = [-60, -25], cell [1]) — forgetting the negation quietly turns the problem into 'minimize benefit,' whose answer is do nothing at all.</a:t>
            </a:r>
          </a:p>
        </p:txBody>
      </p:sp>
    </p:spTree>
    <p:extLst>
      <p:ext uri="{BB962C8B-B14F-4D97-AF65-F5344CB8AC3E}">
        <p14:creationId xmlns:p14="http://schemas.microsoft.com/office/powerpoint/2010/main" val="1113209200"/>
      </p:ext>
    </p:extLst>
  </p:cSld>
</p:sld>
</file>

<file path=ppt/slides/slide2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kicker">
            <a:extLst xmlns:a="http://schemas.openxmlformats.org/drawingml/2006/main">
              <a:ext uri="{FF2B5EF4-FFF2-40B4-BE49-F238E27FC236}">
                <a16:creationId xmlns:a16="http://schemas.microsoft.com/office/drawing/2014/main" id="{F34C65E8-9A60-4129-BCF4-16268AED2036}"/>
              </a:ext>
            </a:extLst>
          </p:cNvPr>
          <p:cNvSpPr>
            <a:spLocks xmlns:a="http://schemas.openxmlformats.org/drawingml/2006/main" noGrp="1"/>
          </p:cNvSpPr>
          <p:nvPr/>
        </p:nvSpPr>
        <p:spPr>
          <a:xfrm xmlns:a="http://schemas.openxmlformats.org/drawingml/2006/main">
            <a:off x="609600" y="342900"/>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2E74B5"/>
                </a:solidFill>
                <a:latin typeface="Arial"/>
                <a:ea typeface="Arial"/>
                <a:cs typeface="Arial"/>
              </a:defRPr>
            </a:pPr>
            <a:r>
              <a:rPr sz="900" b="1">
                <a:solidFill>
                  <a:srgbClr val="2E74B5"/>
                </a:solidFill>
                <a:latin typeface="Arial"/>
                <a:ea typeface="Arial"/>
                <a:cs typeface="Arial"/>
              </a:rPr>
              <a:t>IN-CLASS CHECK</a:t>
            </a:r>
          </a:p>
        </p:txBody>
      </p:sp>
      <p:sp>
        <p:nvSpPr>
          <p:cNvPr id="2" name="title">
            <a:extLst xmlns:a="http://schemas.openxmlformats.org/drawingml/2006/main">
              <a:ext uri="{FF2B5EF4-FFF2-40B4-BE49-F238E27FC236}">
                <a16:creationId xmlns:a16="http://schemas.microsoft.com/office/drawing/2014/main" id="{A62F8017-D633-430F-BA3B-2D4A5D6C19DF}"/>
              </a:ext>
            </a:extLst>
          </p:cNvPr>
          <p:cNvSpPr>
            <a:spLocks xmlns:a="http://schemas.openxmlformats.org/drawingml/2006/main" noGrp="1"/>
          </p:cNvSpPr>
          <p:nvPr/>
        </p:nvSpPr>
        <p:spPr>
          <a:xfrm xmlns:a="http://schemas.openxmlformats.org/drawingml/2006/main">
            <a:off x="609600" y="60960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3000" b="0">
                <a:solidFill>
                  <a:srgbClr val="111316"/>
                </a:solidFill>
                <a:latin typeface="Arial"/>
                <a:ea typeface="Arial"/>
                <a:cs typeface="Arial"/>
              </a:defRPr>
            </a:pPr>
            <a:r>
              <a:rPr sz="3000" b="0">
                <a:solidFill>
                  <a:srgbClr val="111316"/>
                </a:solidFill>
                <a:latin typeface="Arial"/>
                <a:ea typeface="Arial"/>
                <a:cs typeface="Arial"/>
              </a:rPr>
              <a:t>Studio 4: diagnose and repair the AI-drafted formulation</a:t>
            </a:r>
          </a:p>
        </p:txBody>
      </p:sp>
      <p:sp>
        <p:nvSpPr>
          <p:cNvPr id="3" name="">
            <a:extLst xmlns:a="http://schemas.openxmlformats.org/drawingml/2006/main">
              <a:ext uri="{FF2B5EF4-FFF2-40B4-BE49-F238E27FC236}">
                <a16:creationId xmlns:a16="http://schemas.microsoft.com/office/drawing/2014/main" id="{8917944C-7B8A-42AF-A81B-D7E58BB62EA1}"/>
              </a:ext>
            </a:extLst>
          </p:cNvPr>
          <p:cNvSpPr>
            <a:spLocks xmlns:a="http://schemas.openxmlformats.org/drawingml/2006/main" noGrp="1"/>
          </p:cNvSpPr>
          <p:nvPr/>
        </p:nvSpPr>
        <p:spPr>
          <a:xfrm xmlns:a="http://schemas.openxmlformats.org/drawingml/2006/main">
            <a:off x="609600" y="6343650"/>
            <a:ext cx="10972800" cy="0"/>
          </a:xfrm>
          <a:prstGeom xmlns:a="http://schemas.openxmlformats.org/drawingml/2006/main" prst="line">
            <a:avLst/>
          </a:prstGeom>
          <a:noFill xmlns:a="http://schemas.openxmlformats.org/drawingml/2006/main"/>
          <a:ln xmlns:a="http://schemas.openxmlformats.org/drawingml/2006/main" w="9525">
            <a:solidFill>
              <a:srgbClr val="DDE0E5"/>
            </a:solidFill>
            <a:prstDash val="solid"/>
          </a:ln>
        </p:spPr>
      </p:sp>
      <p:sp>
        <p:nvSpPr>
          <p:cNvPr id="4" name="footer">
            <a:extLst xmlns:a="http://schemas.openxmlformats.org/drawingml/2006/main">
              <a:ext uri="{FF2B5EF4-FFF2-40B4-BE49-F238E27FC236}">
                <a16:creationId xmlns:a16="http://schemas.microsoft.com/office/drawing/2014/main" id="{42D7FB65-5083-4339-878A-A7AD39C6C79F}"/>
              </a:ext>
            </a:extLst>
          </p:cNvPr>
          <p:cNvSpPr>
            <a:spLocks xmlns:a="http://schemas.openxmlformats.org/drawingml/2006/main" noGrp="1"/>
          </p:cNvSpPr>
          <p:nvPr/>
        </p:nvSpPr>
        <p:spPr>
          <a:xfrm xmlns:a="http://schemas.openxmlformats.org/drawingml/2006/main">
            <a:off x="609600" y="6429375"/>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ARC 500  ·  Week 10 · Meeting B · Linear Programming Studio</a:t>
            </a:r>
          </a:p>
        </p:txBody>
      </p:sp>
      <p:sp>
        <p:nvSpPr>
          <p:cNvPr id="5" name="page">
            <a:extLst xmlns:a="http://schemas.openxmlformats.org/drawingml/2006/main">
              <a:ext uri="{FF2B5EF4-FFF2-40B4-BE49-F238E27FC236}">
                <a16:creationId xmlns:a16="http://schemas.microsoft.com/office/drawing/2014/main" id="{BD9908E7-598A-49AE-A3D1-1D4917C04BB9}"/>
              </a:ext>
            </a:extLst>
          </p:cNvPr>
          <p:cNvSpPr>
            <a:spLocks xmlns:a="http://schemas.openxmlformats.org/drawingml/2006/main" noGrp="1"/>
          </p:cNvSpPr>
          <p:nvPr/>
        </p:nvSpPr>
        <p:spPr>
          <a:xfrm xmlns:a="http://schemas.openxmlformats.org/drawingml/2006/main">
            <a:off x="10896600" y="6429375"/>
            <a:ext cx="685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22</a:t>
            </a:r>
          </a:p>
        </p:txBody>
      </p:sp>
      <p:sp>
        <p:nvSpPr>
          <p:cNvPr id="6" name="exercise-accent">
            <a:extLst xmlns:a="http://schemas.openxmlformats.org/drawingml/2006/main">
              <a:ext uri="{FF2B5EF4-FFF2-40B4-BE49-F238E27FC236}">
                <a16:creationId xmlns:a16="http://schemas.microsoft.com/office/drawing/2014/main" id="{9AE52704-887D-4898-8952-CCBFA94AB215}"/>
              </a:ext>
            </a:extLst>
          </p:cNvPr>
          <p:cNvSpPr>
            <a:spLocks xmlns:a="http://schemas.openxmlformats.org/drawingml/2006/main" noGrp="1"/>
          </p:cNvSpPr>
          <p:nvPr/>
        </p:nvSpPr>
        <p:spPr>
          <a:xfrm xmlns:a="http://schemas.openxmlformats.org/drawingml/2006/main">
            <a:off x="609600" y="1809750"/>
            <a:ext cx="4000500" cy="4248150"/>
          </a:xfrm>
          <a:prstGeom xmlns:a="http://schemas.openxmlformats.org/drawingml/2006/main" prst="roundRect">
            <a:avLst>
              <a:gd name="adj" fmla="val 1429"/>
            </a:avLst>
          </a:prstGeom>
          <a:solidFill xmlns:a="http://schemas.openxmlformats.org/drawingml/2006/main">
            <a:srgbClr val="2E74B5"/>
          </a:solidFill>
          <a:ln xmlns:a="http://schemas.openxmlformats.org/drawingml/2006/main" w="9525">
            <a:solidFill>
              <a:srgbClr val="2E74B5"/>
            </a:solidFill>
            <a:prstDash val="solid"/>
          </a:ln>
        </p:spPr>
      </p:sp>
      <p:sp>
        <p:nvSpPr>
          <p:cNvPr id="7" name="exercise-prompt">
            <a:extLst xmlns:a="http://schemas.openxmlformats.org/drawingml/2006/main">
              <a:ext uri="{FF2B5EF4-FFF2-40B4-BE49-F238E27FC236}">
                <a16:creationId xmlns:a16="http://schemas.microsoft.com/office/drawing/2014/main" id="{3D043EBE-4DF8-4BC5-8203-CDDA13043292}"/>
              </a:ext>
            </a:extLst>
          </p:cNvPr>
          <p:cNvSpPr>
            <a:spLocks xmlns:a="http://schemas.openxmlformats.org/drawingml/2006/main" noGrp="1"/>
          </p:cNvSpPr>
          <p:nvPr/>
        </p:nvSpPr>
        <p:spPr>
          <a:xfrm xmlns:a="http://schemas.openxmlformats.org/drawingml/2006/main">
            <a:off x="876300" y="2095500"/>
            <a:ext cx="3467100" cy="3676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8000"/>
              </a:lnSpc>
              <a:buNone/>
              <a:defRPr sz="2100" b="1">
                <a:solidFill>
                  <a:srgbClr val="FFFFFF"/>
                </a:solidFill>
                <a:latin typeface="Arial"/>
                <a:ea typeface="Arial"/>
                <a:cs typeface="Arial"/>
              </a:defRPr>
            </a:pPr>
            <a:r>
              <a:rPr sz="2100" b="1">
                <a:solidFill>
                  <a:srgbClr val="FFFFFF"/>
                </a:solidFill>
                <a:latin typeface="Arial"/>
                <a:ea typeface="Arial"/>
                <a:cs typeface="Arial"/>
              </a:rPr>
              <a:t>res_ai.x = [0, 0] with res_ai.success = True — no error was ever raised.</a:t>
            </a:r>
          </a:p>
        </p:txBody>
      </p:sp>
      <p:sp>
        <p:nvSpPr>
          <p:cNvPr id="8" name="work-label">
            <a:extLst xmlns:a="http://schemas.openxmlformats.org/drawingml/2006/main">
              <a:ext uri="{FF2B5EF4-FFF2-40B4-BE49-F238E27FC236}">
                <a16:creationId xmlns:a16="http://schemas.microsoft.com/office/drawing/2014/main" id="{B394B30F-BBA4-4B49-B84F-61E9933A31D9}"/>
              </a:ext>
            </a:extLst>
          </p:cNvPr>
          <p:cNvSpPr>
            <a:spLocks xmlns:a="http://schemas.openxmlformats.org/drawingml/2006/main" noGrp="1"/>
          </p:cNvSpPr>
          <p:nvPr/>
        </p:nvSpPr>
        <p:spPr>
          <a:xfrm xmlns:a="http://schemas.openxmlformats.org/drawingml/2006/main">
            <a:off x="5029200" y="1847850"/>
            <a:ext cx="6553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2E74B5"/>
                </a:solidFill>
                <a:latin typeface="Arial"/>
                <a:ea typeface="Arial"/>
                <a:cs typeface="Arial"/>
              </a:defRPr>
            </a:pPr>
            <a:r>
              <a:rPr sz="900" b="1">
                <a:solidFill>
                  <a:srgbClr val="2E74B5"/>
                </a:solidFill>
                <a:latin typeface="Arial"/>
                <a:ea typeface="Arial"/>
                <a:cs typeface="Arial"/>
              </a:rPr>
              <a:t>WORK THROUGH IT</a:t>
            </a:r>
          </a:p>
        </p:txBody>
      </p:sp>
      <p:sp>
        <p:nvSpPr>
          <p:cNvPr id="9" name="exercise-no-0">
            <a:extLst xmlns:a="http://schemas.openxmlformats.org/drawingml/2006/main">
              <a:ext uri="{FF2B5EF4-FFF2-40B4-BE49-F238E27FC236}">
                <a16:creationId xmlns:a16="http://schemas.microsoft.com/office/drawing/2014/main" id="{5134C277-156D-43CF-AEF5-3BE7653A7648}"/>
              </a:ext>
            </a:extLst>
          </p:cNvPr>
          <p:cNvSpPr>
            <a:spLocks xmlns:a="http://schemas.openxmlformats.org/drawingml/2006/main" noGrp="1"/>
          </p:cNvSpPr>
          <p:nvPr/>
        </p:nvSpPr>
        <p:spPr>
          <a:xfrm xmlns:a="http://schemas.openxmlformats.org/drawingml/2006/main">
            <a:off x="5029200" y="2247900"/>
            <a:ext cx="381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00" b="1">
                <a:solidFill>
                  <a:srgbClr val="2E74B5"/>
                </a:solidFill>
                <a:latin typeface="Arial"/>
                <a:ea typeface="Arial"/>
                <a:cs typeface="Arial"/>
              </a:defRPr>
            </a:pPr>
            <a:r>
              <a:rPr sz="1800" b="1">
                <a:solidFill>
                  <a:srgbClr val="2E74B5"/>
                </a:solidFill>
                <a:latin typeface="Arial"/>
                <a:ea typeface="Arial"/>
                <a:cs typeface="Arial"/>
              </a:rPr>
              <a:t>1.</a:t>
            </a:r>
          </a:p>
        </p:txBody>
      </p:sp>
      <p:sp>
        <p:nvSpPr>
          <p:cNvPr id="10" name="exercise-step-0">
            <a:extLst xmlns:a="http://schemas.openxmlformats.org/drawingml/2006/main">
              <a:ext uri="{FF2B5EF4-FFF2-40B4-BE49-F238E27FC236}">
                <a16:creationId xmlns:a16="http://schemas.microsoft.com/office/drawing/2014/main" id="{F1F791A8-8956-419A-A425-B175F696B36F}"/>
              </a:ext>
            </a:extLst>
          </p:cNvPr>
          <p:cNvSpPr>
            <a:spLocks xmlns:a="http://schemas.openxmlformats.org/drawingml/2006/main" noGrp="1"/>
          </p:cNvSpPr>
          <p:nvPr/>
        </p:nvSpPr>
        <p:spPr>
          <a:xfrm xmlns:a="http://schemas.openxmlformats.org/drawingml/2006/main">
            <a:off x="5467350" y="2247900"/>
            <a:ext cx="611505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800" b="0">
                <a:solidFill>
                  <a:srgbClr val="111316"/>
                </a:solidFill>
                <a:latin typeface="Arial"/>
                <a:ea typeface="Arial"/>
                <a:cs typeface="Arial"/>
              </a:defRPr>
            </a:pPr>
            <a:r>
              <a:rPr sz="1800" b="0">
                <a:solidFill>
                  <a:srgbClr val="111316"/>
                </a:solidFill>
                <a:latin typeface="Arial"/>
                <a:ea typeface="Arial"/>
                <a:cs typeface="Arial"/>
              </a:rPr>
              <a:t>Name exactly which line contains the defect.</a:t>
            </a:r>
          </a:p>
        </p:txBody>
      </p:sp>
      <p:sp>
        <p:nvSpPr>
          <p:cNvPr id="11" name="exercise-no-1">
            <a:extLst xmlns:a="http://schemas.openxmlformats.org/drawingml/2006/main">
              <a:ext uri="{FF2B5EF4-FFF2-40B4-BE49-F238E27FC236}">
                <a16:creationId xmlns:a16="http://schemas.microsoft.com/office/drawing/2014/main" id="{E48C935F-A22F-4BBC-A92F-898035C69BD0}"/>
              </a:ext>
            </a:extLst>
          </p:cNvPr>
          <p:cNvSpPr>
            <a:spLocks xmlns:a="http://schemas.openxmlformats.org/drawingml/2006/main" noGrp="1"/>
          </p:cNvSpPr>
          <p:nvPr/>
        </p:nvSpPr>
        <p:spPr>
          <a:xfrm xmlns:a="http://schemas.openxmlformats.org/drawingml/2006/main">
            <a:off x="5029200" y="3124200"/>
            <a:ext cx="381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00" b="1">
                <a:solidFill>
                  <a:srgbClr val="2E74B5"/>
                </a:solidFill>
                <a:latin typeface="Arial"/>
                <a:ea typeface="Arial"/>
                <a:cs typeface="Arial"/>
              </a:defRPr>
            </a:pPr>
            <a:r>
              <a:rPr sz="1800" b="1">
                <a:solidFill>
                  <a:srgbClr val="2E74B5"/>
                </a:solidFill>
                <a:latin typeface="Arial"/>
                <a:ea typeface="Arial"/>
                <a:cs typeface="Arial"/>
              </a:rPr>
              <a:t>2.</a:t>
            </a:r>
          </a:p>
        </p:txBody>
      </p:sp>
      <p:sp>
        <p:nvSpPr>
          <p:cNvPr id="12" name="exercise-step-1">
            <a:extLst xmlns:a="http://schemas.openxmlformats.org/drawingml/2006/main">
              <a:ext uri="{FF2B5EF4-FFF2-40B4-BE49-F238E27FC236}">
                <a16:creationId xmlns:a16="http://schemas.microsoft.com/office/drawing/2014/main" id="{E70A9FB6-DDDB-49FA-AFA3-6768984CF15B}"/>
              </a:ext>
            </a:extLst>
          </p:cNvPr>
          <p:cNvSpPr>
            <a:spLocks xmlns:a="http://schemas.openxmlformats.org/drawingml/2006/main" noGrp="1"/>
          </p:cNvSpPr>
          <p:nvPr/>
        </p:nvSpPr>
        <p:spPr>
          <a:xfrm xmlns:a="http://schemas.openxmlformats.org/drawingml/2006/main">
            <a:off x="5467350" y="3124200"/>
            <a:ext cx="611505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800" b="0">
                <a:solidFill>
                  <a:srgbClr val="111316"/>
                </a:solidFill>
                <a:latin typeface="Arial"/>
                <a:ea typeface="Arial"/>
                <a:cs typeface="Arial"/>
              </a:defRPr>
            </a:pPr>
            <a:r>
              <a:rPr sz="1800" b="0">
                <a:solidFill>
                  <a:srgbClr val="111316"/>
                </a:solidFill>
                <a:latin typeface="Arial"/>
                <a:ea typeface="Arial"/>
                <a:cs typeface="Arial"/>
              </a:rPr>
              <a:t>Explain why linprog accepted it without any error message.</a:t>
            </a:r>
          </a:p>
        </p:txBody>
      </p:sp>
      <p:sp>
        <p:nvSpPr>
          <p:cNvPr id="13" name="exercise-no-2">
            <a:extLst xmlns:a="http://schemas.openxmlformats.org/drawingml/2006/main">
              <a:ext uri="{FF2B5EF4-FFF2-40B4-BE49-F238E27FC236}">
                <a16:creationId xmlns:a16="http://schemas.microsoft.com/office/drawing/2014/main" id="{9421749A-0DA2-42EF-929F-42ACCD46452F}"/>
              </a:ext>
            </a:extLst>
          </p:cNvPr>
          <p:cNvSpPr>
            <a:spLocks xmlns:a="http://schemas.openxmlformats.org/drawingml/2006/main" noGrp="1"/>
          </p:cNvSpPr>
          <p:nvPr/>
        </p:nvSpPr>
        <p:spPr>
          <a:xfrm xmlns:a="http://schemas.openxmlformats.org/drawingml/2006/main">
            <a:off x="5029200" y="4000500"/>
            <a:ext cx="381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00" b="1">
                <a:solidFill>
                  <a:srgbClr val="2E74B5"/>
                </a:solidFill>
                <a:latin typeface="Arial"/>
                <a:ea typeface="Arial"/>
                <a:cs typeface="Arial"/>
              </a:defRPr>
            </a:pPr>
            <a:r>
              <a:rPr sz="1800" b="1">
                <a:solidFill>
                  <a:srgbClr val="2E74B5"/>
                </a:solidFill>
                <a:latin typeface="Arial"/>
                <a:ea typeface="Arial"/>
                <a:cs typeface="Arial"/>
              </a:rPr>
              <a:t>3.</a:t>
            </a:r>
          </a:p>
        </p:txBody>
      </p:sp>
      <p:sp>
        <p:nvSpPr>
          <p:cNvPr id="14" name="exercise-step-2">
            <a:extLst xmlns:a="http://schemas.openxmlformats.org/drawingml/2006/main">
              <a:ext uri="{FF2B5EF4-FFF2-40B4-BE49-F238E27FC236}">
                <a16:creationId xmlns:a16="http://schemas.microsoft.com/office/drawing/2014/main" id="{6B6B892C-C7A8-4353-BD79-1FEB72143858}"/>
              </a:ext>
            </a:extLst>
          </p:cNvPr>
          <p:cNvSpPr>
            <a:spLocks xmlns:a="http://schemas.openxmlformats.org/drawingml/2006/main" noGrp="1"/>
          </p:cNvSpPr>
          <p:nvPr/>
        </p:nvSpPr>
        <p:spPr>
          <a:xfrm xmlns:a="http://schemas.openxmlformats.org/drawingml/2006/main">
            <a:off x="5467350" y="4000500"/>
            <a:ext cx="611505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800" b="0">
                <a:solidFill>
                  <a:srgbClr val="111316"/>
                </a:solidFill>
                <a:latin typeface="Arial"/>
                <a:ea typeface="Arial"/>
                <a:cs typeface="Arial"/>
              </a:defRPr>
            </a:pPr>
            <a:r>
              <a:rPr sz="1800" b="0">
                <a:solidFill>
                  <a:srgbClr val="111316"/>
                </a:solidFill>
                <a:latin typeface="Arial"/>
                <a:ea typeface="Arial"/>
                <a:cs typeface="Arial"/>
              </a:rPr>
              <a:t>Rewrite c_ai correctly and re-run.</a:t>
            </a:r>
          </a:p>
        </p:txBody>
      </p:sp>
      <p:sp>
        <p:nvSpPr>
          <p:cNvPr id="15" name="exercise-no-3">
            <a:extLst xmlns:a="http://schemas.openxmlformats.org/drawingml/2006/main">
              <a:ext uri="{FF2B5EF4-FFF2-40B4-BE49-F238E27FC236}">
                <a16:creationId xmlns:a16="http://schemas.microsoft.com/office/drawing/2014/main" id="{965A076E-97CD-4273-B211-3AC610556F30}"/>
              </a:ext>
            </a:extLst>
          </p:cNvPr>
          <p:cNvSpPr>
            <a:spLocks xmlns:a="http://schemas.openxmlformats.org/drawingml/2006/main" noGrp="1"/>
          </p:cNvSpPr>
          <p:nvPr/>
        </p:nvSpPr>
        <p:spPr>
          <a:xfrm xmlns:a="http://schemas.openxmlformats.org/drawingml/2006/main">
            <a:off x="5029200" y="4876800"/>
            <a:ext cx="381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00" b="1">
                <a:solidFill>
                  <a:srgbClr val="2E74B5"/>
                </a:solidFill>
                <a:latin typeface="Arial"/>
                <a:ea typeface="Arial"/>
                <a:cs typeface="Arial"/>
              </a:defRPr>
            </a:pPr>
            <a:r>
              <a:rPr sz="1800" b="1">
                <a:solidFill>
                  <a:srgbClr val="2E74B5"/>
                </a:solidFill>
                <a:latin typeface="Arial"/>
                <a:ea typeface="Arial"/>
                <a:cs typeface="Arial"/>
              </a:rPr>
              <a:t>4.</a:t>
            </a:r>
          </a:p>
        </p:txBody>
      </p:sp>
      <p:sp>
        <p:nvSpPr>
          <p:cNvPr id="16" name="exercise-step-3">
            <a:extLst xmlns:a="http://schemas.openxmlformats.org/drawingml/2006/main">
              <a:ext uri="{FF2B5EF4-FFF2-40B4-BE49-F238E27FC236}">
                <a16:creationId xmlns:a16="http://schemas.microsoft.com/office/drawing/2014/main" id="{F4576AF3-A0B7-4A1F-878A-32254D99ADAF}"/>
              </a:ext>
            </a:extLst>
          </p:cNvPr>
          <p:cNvSpPr>
            <a:spLocks xmlns:a="http://schemas.openxmlformats.org/drawingml/2006/main" noGrp="1"/>
          </p:cNvSpPr>
          <p:nvPr/>
        </p:nvSpPr>
        <p:spPr>
          <a:xfrm xmlns:a="http://schemas.openxmlformats.org/drawingml/2006/main">
            <a:off x="5467350" y="4876800"/>
            <a:ext cx="611505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800" b="0">
                <a:solidFill>
                  <a:srgbClr val="111316"/>
                </a:solidFill>
                <a:latin typeface="Arial"/>
                <a:ea typeface="Arial"/>
                <a:cs typeface="Arial"/>
              </a:defRPr>
            </a:pPr>
            <a:r>
              <a:rPr sz="1800" b="0">
                <a:solidFill>
                  <a:srgbClr val="111316"/>
                </a:solidFill>
                <a:latin typeface="Arial"/>
                <a:ea typeface="Arial"/>
                <a:cs typeface="Arial"/>
              </a:rPr>
              <a:t>Confirm the repaired version reproduces [80, 120] and 7800.0.</a:t>
            </a:r>
          </a:p>
        </p:txBody>
      </p:sp>
    </p:spTree>
    <p:extLst>
      <p:ext uri="{BB962C8B-B14F-4D97-AF65-F5344CB8AC3E}">
        <p14:creationId xmlns:p14="http://schemas.microsoft.com/office/powerpoint/2010/main" val="1749122951"/>
      </p:ext>
    </p:extLst>
  </p:cSld>
</p:sld>
</file>

<file path=ppt/slides/slide2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4" name="kicker">
            <a:extLst xmlns:a="http://schemas.openxmlformats.org/drawingml/2006/main">
              <a:ext uri="{FF2B5EF4-FFF2-40B4-BE49-F238E27FC236}">
                <a16:creationId xmlns:a16="http://schemas.microsoft.com/office/drawing/2014/main" id="{D02E0DAC-7F36-4117-A000-FEBF8F108783}"/>
              </a:ext>
            </a:extLst>
          </p:cNvPr>
          <p:cNvSpPr>
            <a:spLocks xmlns:a="http://schemas.openxmlformats.org/drawingml/2006/main" noGrp="1"/>
          </p:cNvSpPr>
          <p:nvPr/>
        </p:nvSpPr>
        <p:spPr>
          <a:xfrm xmlns:a="http://schemas.openxmlformats.org/drawingml/2006/main">
            <a:off x="609600" y="342900"/>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2E74B5"/>
                </a:solidFill>
                <a:latin typeface="Arial"/>
                <a:ea typeface="Arial"/>
                <a:cs typeface="Arial"/>
              </a:defRPr>
            </a:pPr>
            <a:r>
              <a:rPr sz="900" b="1">
                <a:solidFill>
                  <a:srgbClr val="2E74B5"/>
                </a:solidFill>
                <a:latin typeface="Arial"/>
                <a:ea typeface="Arial"/>
                <a:cs typeface="Arial"/>
              </a:rPr>
              <a:t>PREDICT BEFORE YOU RUN</a:t>
            </a:r>
          </a:p>
        </p:txBody>
      </p:sp>
      <p:sp>
        <p:nvSpPr>
          <p:cNvPr id="2" name="title">
            <a:extLst xmlns:a="http://schemas.openxmlformats.org/drawingml/2006/main">
              <a:ext uri="{FF2B5EF4-FFF2-40B4-BE49-F238E27FC236}">
                <a16:creationId xmlns:a16="http://schemas.microsoft.com/office/drawing/2014/main" id="{12208969-C38C-4262-8324-815AF2E546F7}"/>
              </a:ext>
            </a:extLst>
          </p:cNvPr>
          <p:cNvSpPr>
            <a:spLocks xmlns:a="http://schemas.openxmlformats.org/drawingml/2006/main" noGrp="1"/>
          </p:cNvSpPr>
          <p:nvPr/>
        </p:nvSpPr>
        <p:spPr>
          <a:xfrm xmlns:a="http://schemas.openxmlformats.org/drawingml/2006/main">
            <a:off x="609600" y="60960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3000" b="0">
                <a:solidFill>
                  <a:srgbClr val="111316"/>
                </a:solidFill>
                <a:latin typeface="Arial"/>
                <a:ea typeface="Arial"/>
                <a:cs typeface="Arial"/>
              </a:defRPr>
            </a:pPr>
            <a:r>
              <a:rPr sz="3000" b="0">
                <a:solidFill>
                  <a:srgbClr val="111316"/>
                </a:solidFill>
                <a:latin typeface="Arial"/>
                <a:ea typeface="Arial"/>
                <a:cs typeface="Arial"/>
              </a:rPr>
              <a:t>Predict before cell [7] runs</a:t>
            </a:r>
          </a:p>
        </p:txBody>
      </p:sp>
      <p:sp>
        <p:nvSpPr>
          <p:cNvPr id="3" name="">
            <a:extLst xmlns:a="http://schemas.openxmlformats.org/drawingml/2006/main">
              <a:ext uri="{FF2B5EF4-FFF2-40B4-BE49-F238E27FC236}">
                <a16:creationId xmlns:a16="http://schemas.microsoft.com/office/drawing/2014/main" id="{0109041C-EE2D-4AF6-9F8B-291B661C5645}"/>
              </a:ext>
            </a:extLst>
          </p:cNvPr>
          <p:cNvSpPr>
            <a:spLocks xmlns:a="http://schemas.openxmlformats.org/drawingml/2006/main" noGrp="1"/>
          </p:cNvSpPr>
          <p:nvPr/>
        </p:nvSpPr>
        <p:spPr>
          <a:xfrm xmlns:a="http://schemas.openxmlformats.org/drawingml/2006/main">
            <a:off x="609600" y="6343650"/>
            <a:ext cx="10972800" cy="0"/>
          </a:xfrm>
          <a:prstGeom xmlns:a="http://schemas.openxmlformats.org/drawingml/2006/main" prst="line">
            <a:avLst/>
          </a:prstGeom>
          <a:noFill xmlns:a="http://schemas.openxmlformats.org/drawingml/2006/main"/>
          <a:ln xmlns:a="http://schemas.openxmlformats.org/drawingml/2006/main" w="9525">
            <a:solidFill>
              <a:srgbClr val="DDE0E5"/>
            </a:solidFill>
            <a:prstDash val="solid"/>
          </a:ln>
        </p:spPr>
      </p:sp>
      <p:sp>
        <p:nvSpPr>
          <p:cNvPr id="4" name="footer">
            <a:extLst xmlns:a="http://schemas.openxmlformats.org/drawingml/2006/main">
              <a:ext uri="{FF2B5EF4-FFF2-40B4-BE49-F238E27FC236}">
                <a16:creationId xmlns:a16="http://schemas.microsoft.com/office/drawing/2014/main" id="{7BE42BE8-A987-46CD-828F-9614B8ED7C3B}"/>
              </a:ext>
            </a:extLst>
          </p:cNvPr>
          <p:cNvSpPr>
            <a:spLocks xmlns:a="http://schemas.openxmlformats.org/drawingml/2006/main" noGrp="1"/>
          </p:cNvSpPr>
          <p:nvPr/>
        </p:nvSpPr>
        <p:spPr>
          <a:xfrm xmlns:a="http://schemas.openxmlformats.org/drawingml/2006/main">
            <a:off x="609600" y="6429375"/>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ARC 500  ·  Week 10 · Meeting B · Linear Programming Studio</a:t>
            </a:r>
          </a:p>
        </p:txBody>
      </p:sp>
      <p:sp>
        <p:nvSpPr>
          <p:cNvPr id="5" name="page">
            <a:extLst xmlns:a="http://schemas.openxmlformats.org/drawingml/2006/main">
              <a:ext uri="{FF2B5EF4-FFF2-40B4-BE49-F238E27FC236}">
                <a16:creationId xmlns:a16="http://schemas.microsoft.com/office/drawing/2014/main" id="{FBD25134-F7A2-426C-A846-7FDFBB8A9142}"/>
              </a:ext>
            </a:extLst>
          </p:cNvPr>
          <p:cNvSpPr>
            <a:spLocks xmlns:a="http://schemas.openxmlformats.org/drawingml/2006/main" noGrp="1"/>
          </p:cNvSpPr>
          <p:nvPr/>
        </p:nvSpPr>
        <p:spPr>
          <a:xfrm xmlns:a="http://schemas.openxmlformats.org/drawingml/2006/main">
            <a:off x="10896600" y="6429375"/>
            <a:ext cx="685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23</a:t>
            </a:r>
          </a:p>
        </p:txBody>
      </p:sp>
      <p:sp>
        <p:nvSpPr>
          <p:cNvPr id="6" name="code-panel">
            <a:extLst xmlns:a="http://schemas.openxmlformats.org/drawingml/2006/main">
              <a:ext uri="{FF2B5EF4-FFF2-40B4-BE49-F238E27FC236}">
                <a16:creationId xmlns:a16="http://schemas.microsoft.com/office/drawing/2014/main" id="{A137F8F4-2C58-4DAB-8D84-590F94C17A0C}"/>
              </a:ext>
            </a:extLst>
          </p:cNvPr>
          <p:cNvSpPr>
            <a:spLocks xmlns:a="http://schemas.openxmlformats.org/drawingml/2006/main" noGrp="1"/>
          </p:cNvSpPr>
          <p:nvPr/>
        </p:nvSpPr>
        <p:spPr>
          <a:xfrm xmlns:a="http://schemas.openxmlformats.org/drawingml/2006/main">
            <a:off x="609600" y="1809750"/>
            <a:ext cx="6324600" cy="3238500"/>
          </a:xfrm>
          <a:prstGeom xmlns:a="http://schemas.openxmlformats.org/drawingml/2006/main" prst="roundRect">
            <a:avLst>
              <a:gd name="adj" fmla="val 2353"/>
            </a:avLst>
          </a:prstGeom>
          <a:solidFill xmlns:a="http://schemas.openxmlformats.org/drawingml/2006/main">
            <a:srgbClr val="17191C"/>
          </a:solidFill>
          <a:ln xmlns:a="http://schemas.openxmlformats.org/drawingml/2006/main" w="9525">
            <a:solidFill>
              <a:srgbClr val="17191C"/>
            </a:solidFill>
            <a:prstDash val="solid"/>
          </a:ln>
        </p:spPr>
      </p:sp>
      <p:sp>
        <p:nvSpPr>
          <p:cNvPr id="7" name="code">
            <a:extLst xmlns:a="http://schemas.openxmlformats.org/drawingml/2006/main">
              <a:ext uri="{FF2B5EF4-FFF2-40B4-BE49-F238E27FC236}">
                <a16:creationId xmlns:a16="http://schemas.microsoft.com/office/drawing/2014/main" id="{CF0AFA19-8CB1-45E0-85A0-18A2AC4AB7A6}"/>
              </a:ext>
            </a:extLst>
          </p:cNvPr>
          <p:cNvSpPr>
            <a:spLocks xmlns:a="http://schemas.openxmlformats.org/drawingml/2006/main" noGrp="1"/>
          </p:cNvSpPr>
          <p:nvPr/>
        </p:nvSpPr>
        <p:spPr>
          <a:xfrm xmlns:a="http://schemas.openxmlformats.org/drawingml/2006/main">
            <a:off x="857250" y="2038350"/>
            <a:ext cx="5829300" cy="2781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4000"/>
              </a:lnSpc>
              <a:buNone/>
              <a:defRPr sz="1800" b="0">
                <a:solidFill>
                  <a:srgbClr val="FFFFFF"/>
                </a:solidFill>
                <a:latin typeface="Consolas"/>
                <a:ea typeface="Consolas"/>
                <a:cs typeface="Consolas"/>
              </a:defRPr>
            </a:pPr>
            <a:r>
              <a:rPr sz="1800" b="0">
                <a:solidFill>
                  <a:srgbClr val="FFFFFF"/>
                </a:solidFill>
                <a:latin typeface="Consolas"/>
                <a:ea typeface="Consolas"/>
                <a:cs typeface="Consolas"/>
              </a:rPr>
              <a:t># transfer check: the board approves only $40,000</a:t>
            </a:r>
          </a:p>
          <a:p xmlns:a="http://schemas.openxmlformats.org/drawingml/2006/main">
            <a:pPr algn="l">
              <a:lnSpc>
                <a:spcPct val="114000"/>
              </a:lnSpc>
              <a:buNone/>
              <a:defRPr sz="1800" b="0">
                <a:solidFill>
                  <a:srgbClr val="FFFFFF"/>
                </a:solidFill>
                <a:latin typeface="Consolas"/>
                <a:ea typeface="Consolas"/>
                <a:cs typeface="Consolas"/>
              </a:defRPr>
            </a:pPr>
            <a:r>
              <a:rPr sz="1800" b="0">
                <a:solidFill>
                  <a:srgbClr val="FFFFFF"/>
                </a:solidFill>
                <a:latin typeface="Consolas"/>
                <a:ea typeface="Consolas"/>
                <a:cs typeface="Consolas"/>
              </a:rPr>
              <a:t>b_ub_new = [200, 40000]</a:t>
            </a:r>
          </a:p>
          <a:p xmlns:a="http://schemas.openxmlformats.org/drawingml/2006/main">
            <a:pPr algn="l">
              <a:lnSpc>
                <a:spcPct val="114000"/>
              </a:lnSpc>
              <a:buNone/>
              <a:defRPr sz="1800" b="0">
                <a:solidFill>
                  <a:srgbClr val="FFFFFF"/>
                </a:solidFill>
                <a:latin typeface="Consolas"/>
                <a:ea typeface="Consolas"/>
                <a:cs typeface="Consolas"/>
              </a:defRPr>
            </a:pPr>
            <a:r>
              <a:rPr sz="1800" b="0">
                <a:solidFill>
                  <a:srgbClr val="FFFFFF"/>
                </a:solidFill>
                <a:latin typeface="Consolas"/>
                <a:ea typeface="Consolas"/>
                <a:cs typeface="Consolas"/>
              </a:rPr>
              <a:t>res_new = linprog(c, A_ub=A_ub, b_ub=b_ub_new,</a:t>
            </a:r>
          </a:p>
          <a:p xmlns:a="http://schemas.openxmlformats.org/drawingml/2006/main">
            <a:pPr algn="l">
              <a:lnSpc>
                <a:spcPct val="114000"/>
              </a:lnSpc>
              <a:buNone/>
              <a:defRPr sz="1800" b="0">
                <a:solidFill>
                  <a:srgbClr val="FFFFFF"/>
                </a:solidFill>
                <a:latin typeface="Consolas"/>
                <a:ea typeface="Consolas"/>
                <a:cs typeface="Consolas"/>
              </a:defRPr>
            </a:pPr>
            <a:r>
              <a:rPr sz="1800" b="0">
                <a:solidFill>
                  <a:srgbClr val="FFFFFF"/>
                </a:solidFill>
                <a:latin typeface="Consolas"/>
                <a:ea typeface="Consolas"/>
                <a:cs typeface="Consolas"/>
              </a:rPr>
              <a:t>                   bounds=bounds)</a:t>
            </a:r>
          </a:p>
        </p:txBody>
      </p:sp>
      <p:sp>
        <p:nvSpPr>
          <p:cNvPr id="8" name="question">
            <a:extLst xmlns:a="http://schemas.openxmlformats.org/drawingml/2006/main">
              <a:ext uri="{FF2B5EF4-FFF2-40B4-BE49-F238E27FC236}">
                <a16:creationId xmlns:a16="http://schemas.microsoft.com/office/drawing/2014/main" id="{05345A1A-054D-413E-8DDA-F32A65995298}"/>
              </a:ext>
            </a:extLst>
          </p:cNvPr>
          <p:cNvSpPr>
            <a:spLocks xmlns:a="http://schemas.openxmlformats.org/drawingml/2006/main" noGrp="1"/>
          </p:cNvSpPr>
          <p:nvPr/>
        </p:nvSpPr>
        <p:spPr>
          <a:xfrm xmlns:a="http://schemas.openxmlformats.org/drawingml/2006/main">
            <a:off x="7315200" y="1809750"/>
            <a:ext cx="42672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100" b="1">
                <a:solidFill>
                  <a:srgbClr val="111316"/>
                </a:solidFill>
                <a:latin typeface="Arial"/>
                <a:ea typeface="Arial"/>
                <a:cs typeface="Arial"/>
              </a:defRPr>
            </a:pPr>
            <a:r>
              <a:rPr sz="2100" b="1">
                <a:solidFill>
                  <a:srgbClr val="111316"/>
                </a:solidFill>
                <a:latin typeface="Arial"/>
                <a:ea typeface="Arial"/>
                <a:cs typeface="Arial"/>
              </a:rPr>
              <a:t>Budget drops to $40,000 — predict (x1, x2).</a:t>
            </a:r>
          </a:p>
        </p:txBody>
      </p:sp>
      <p:sp>
        <p:nvSpPr>
          <p:cNvPr id="9" name="opt-0">
            <a:extLst xmlns:a="http://schemas.openxmlformats.org/drawingml/2006/main">
              <a:ext uri="{FF2B5EF4-FFF2-40B4-BE49-F238E27FC236}">
                <a16:creationId xmlns:a16="http://schemas.microsoft.com/office/drawing/2014/main" id="{457892B2-D7F2-4C22-A3D1-A80EEBA2F5B9}"/>
              </a:ext>
            </a:extLst>
          </p:cNvPr>
          <p:cNvSpPr>
            <a:spLocks xmlns:a="http://schemas.openxmlformats.org/drawingml/2006/main" noGrp="1"/>
          </p:cNvSpPr>
          <p:nvPr/>
        </p:nvSpPr>
        <p:spPr>
          <a:xfrm xmlns:a="http://schemas.openxmlformats.org/drawingml/2006/main">
            <a:off x="7315200" y="2571750"/>
            <a:ext cx="4267200" cy="552450"/>
          </a:xfrm>
          <a:prstGeom xmlns:a="http://schemas.openxmlformats.org/drawingml/2006/main" prst="roundRect">
            <a:avLst>
              <a:gd name="adj" fmla="val 10345"/>
            </a:avLst>
          </a:prstGeom>
          <a:solidFill xmlns:a="http://schemas.openxmlformats.org/drawingml/2006/main">
            <a:srgbClr val="F6F7F9"/>
          </a:solidFill>
          <a:ln xmlns:a="http://schemas.openxmlformats.org/drawingml/2006/main" w="9525">
            <a:solidFill>
              <a:srgbClr val="DDE0E5"/>
            </a:solidFill>
            <a:prstDash val="solid"/>
          </a:ln>
        </p:spPr>
      </p:sp>
      <p:sp>
        <p:nvSpPr>
          <p:cNvPr id="10" name="opt-letter-0">
            <a:extLst xmlns:a="http://schemas.openxmlformats.org/drawingml/2006/main">
              <a:ext uri="{FF2B5EF4-FFF2-40B4-BE49-F238E27FC236}">
                <a16:creationId xmlns:a16="http://schemas.microsoft.com/office/drawing/2014/main" id="{1344CFCC-9D49-46A6-87CF-08E1F7B86772}"/>
              </a:ext>
            </a:extLst>
          </p:cNvPr>
          <p:cNvSpPr>
            <a:spLocks xmlns:a="http://schemas.openxmlformats.org/drawingml/2006/main" noGrp="1"/>
          </p:cNvSpPr>
          <p:nvPr/>
        </p:nvSpPr>
        <p:spPr>
          <a:xfrm xmlns:a="http://schemas.openxmlformats.org/drawingml/2006/main">
            <a:off x="7448550" y="2733675"/>
            <a:ext cx="2667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1800" b="1">
                <a:solidFill>
                  <a:srgbClr val="2E74B5"/>
                </a:solidFill>
                <a:latin typeface="Arial"/>
                <a:ea typeface="Arial"/>
                <a:cs typeface="Arial"/>
              </a:defRPr>
            </a:pPr>
            <a:r>
              <a:rPr sz="1800" b="1">
                <a:solidFill>
                  <a:srgbClr val="2E74B5"/>
                </a:solidFill>
                <a:latin typeface="Arial"/>
                <a:ea typeface="Arial"/>
                <a:cs typeface="Arial"/>
              </a:rPr>
              <a:t>A</a:t>
            </a:r>
          </a:p>
        </p:txBody>
      </p:sp>
      <p:sp>
        <p:nvSpPr>
          <p:cNvPr id="11" name="opt-text-0">
            <a:extLst xmlns:a="http://schemas.openxmlformats.org/drawingml/2006/main">
              <a:ext uri="{FF2B5EF4-FFF2-40B4-BE49-F238E27FC236}">
                <a16:creationId xmlns:a16="http://schemas.microsoft.com/office/drawing/2014/main" id="{772B0DD4-8F85-4164-81BD-A1EE5C568AD7}"/>
              </a:ext>
            </a:extLst>
          </p:cNvPr>
          <p:cNvSpPr>
            <a:spLocks xmlns:a="http://schemas.openxmlformats.org/drawingml/2006/main" noGrp="1"/>
          </p:cNvSpPr>
          <p:nvPr/>
        </p:nvSpPr>
        <p:spPr>
          <a:xfrm xmlns:a="http://schemas.openxmlformats.org/drawingml/2006/main">
            <a:off x="7772400" y="2609850"/>
            <a:ext cx="36766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2000"/>
              </a:lnSpc>
              <a:buNone/>
              <a:defRPr sz="1200" b="0">
                <a:solidFill>
                  <a:srgbClr val="111316"/>
                </a:solidFill>
                <a:latin typeface="Consolas"/>
                <a:ea typeface="Consolas"/>
                <a:cs typeface="Consolas"/>
              </a:defRPr>
            </a:pPr>
            <a:r>
              <a:rPr sz="1200" b="0">
                <a:solidFill>
                  <a:srgbClr val="111316"/>
                </a:solidFill>
                <a:latin typeface="Consolas"/>
                <a:ea typeface="Consolas"/>
                <a:cs typeface="Consolas"/>
              </a:rPr>
              <a:t>(80, 120)  -&gt;  unchanged, budget wasn't binding anyway</a:t>
            </a:r>
          </a:p>
        </p:txBody>
      </p:sp>
      <p:sp>
        <p:nvSpPr>
          <p:cNvPr id="12" name="opt-1">
            <a:extLst xmlns:a="http://schemas.openxmlformats.org/drawingml/2006/main">
              <a:ext uri="{FF2B5EF4-FFF2-40B4-BE49-F238E27FC236}">
                <a16:creationId xmlns:a16="http://schemas.microsoft.com/office/drawing/2014/main" id="{85BED37C-8046-450D-AD30-463928AA6300}"/>
              </a:ext>
            </a:extLst>
          </p:cNvPr>
          <p:cNvSpPr>
            <a:spLocks xmlns:a="http://schemas.openxmlformats.org/drawingml/2006/main" noGrp="1"/>
          </p:cNvSpPr>
          <p:nvPr/>
        </p:nvSpPr>
        <p:spPr>
          <a:xfrm xmlns:a="http://schemas.openxmlformats.org/drawingml/2006/main">
            <a:off x="7315200" y="3181350"/>
            <a:ext cx="4267200" cy="552450"/>
          </a:xfrm>
          <a:prstGeom xmlns:a="http://schemas.openxmlformats.org/drawingml/2006/main" prst="roundRect">
            <a:avLst>
              <a:gd name="adj" fmla="val 10345"/>
            </a:avLst>
          </a:prstGeom>
          <a:solidFill xmlns:a="http://schemas.openxmlformats.org/drawingml/2006/main">
            <a:srgbClr val="F6F7F9"/>
          </a:solidFill>
          <a:ln xmlns:a="http://schemas.openxmlformats.org/drawingml/2006/main" w="9525">
            <a:solidFill>
              <a:srgbClr val="DDE0E5"/>
            </a:solidFill>
            <a:prstDash val="solid"/>
          </a:ln>
        </p:spPr>
      </p:sp>
      <p:sp>
        <p:nvSpPr>
          <p:cNvPr id="13" name="opt-letter-1">
            <a:extLst xmlns:a="http://schemas.openxmlformats.org/drawingml/2006/main">
              <a:ext uri="{FF2B5EF4-FFF2-40B4-BE49-F238E27FC236}">
                <a16:creationId xmlns:a16="http://schemas.microsoft.com/office/drawing/2014/main" id="{C4B8A6AA-A757-45A5-B797-4122346D0DE5}"/>
              </a:ext>
            </a:extLst>
          </p:cNvPr>
          <p:cNvSpPr>
            <a:spLocks xmlns:a="http://schemas.openxmlformats.org/drawingml/2006/main" noGrp="1"/>
          </p:cNvSpPr>
          <p:nvPr/>
        </p:nvSpPr>
        <p:spPr>
          <a:xfrm xmlns:a="http://schemas.openxmlformats.org/drawingml/2006/main">
            <a:off x="7448550" y="3343275"/>
            <a:ext cx="2667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1800" b="1">
                <a:solidFill>
                  <a:srgbClr val="2E74B5"/>
                </a:solidFill>
                <a:latin typeface="Arial"/>
                <a:ea typeface="Arial"/>
                <a:cs typeface="Arial"/>
              </a:defRPr>
            </a:pPr>
            <a:r>
              <a:rPr sz="1800" b="1">
                <a:solidFill>
                  <a:srgbClr val="2E74B5"/>
                </a:solidFill>
                <a:latin typeface="Arial"/>
                <a:ea typeface="Arial"/>
                <a:cs typeface="Arial"/>
              </a:rPr>
              <a:t>B</a:t>
            </a:r>
          </a:p>
        </p:txBody>
      </p:sp>
      <p:sp>
        <p:nvSpPr>
          <p:cNvPr id="14" name="opt-text-1">
            <a:extLst xmlns:a="http://schemas.openxmlformats.org/drawingml/2006/main">
              <a:ext uri="{FF2B5EF4-FFF2-40B4-BE49-F238E27FC236}">
                <a16:creationId xmlns:a16="http://schemas.microsoft.com/office/drawing/2014/main" id="{AF13390E-A1CE-44CF-A2DB-2FAE154E600E}"/>
              </a:ext>
            </a:extLst>
          </p:cNvPr>
          <p:cNvSpPr>
            <a:spLocks xmlns:a="http://schemas.openxmlformats.org/drawingml/2006/main" noGrp="1"/>
          </p:cNvSpPr>
          <p:nvPr/>
        </p:nvSpPr>
        <p:spPr>
          <a:xfrm xmlns:a="http://schemas.openxmlformats.org/drawingml/2006/main">
            <a:off x="7772400" y="3219450"/>
            <a:ext cx="36766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2000"/>
              </a:lnSpc>
              <a:buNone/>
              <a:defRPr sz="1200" b="0">
                <a:solidFill>
                  <a:srgbClr val="111316"/>
                </a:solidFill>
                <a:latin typeface="Consolas"/>
                <a:ea typeface="Consolas"/>
                <a:cs typeface="Consolas"/>
              </a:defRPr>
            </a:pPr>
            <a:r>
              <a:rPr sz="1200" b="0">
                <a:solidFill>
                  <a:srgbClr val="111316"/>
                </a:solidFill>
                <a:latin typeface="Consolas"/>
                <a:ea typeface="Consolas"/>
                <a:cs typeface="Consolas"/>
              </a:rPr>
              <a:t>(40, 160)  -&gt;  less solar, more green roof</a:t>
            </a:r>
          </a:p>
        </p:txBody>
      </p:sp>
      <p:sp>
        <p:nvSpPr>
          <p:cNvPr id="15" name="opt-2">
            <a:extLst xmlns:a="http://schemas.openxmlformats.org/drawingml/2006/main">
              <a:ext uri="{FF2B5EF4-FFF2-40B4-BE49-F238E27FC236}">
                <a16:creationId xmlns:a16="http://schemas.microsoft.com/office/drawing/2014/main" id="{BBF89B85-AF9E-4DB4-BB3F-36CDAF95B6BA}"/>
              </a:ext>
            </a:extLst>
          </p:cNvPr>
          <p:cNvSpPr>
            <a:spLocks xmlns:a="http://schemas.openxmlformats.org/drawingml/2006/main" noGrp="1"/>
          </p:cNvSpPr>
          <p:nvPr/>
        </p:nvSpPr>
        <p:spPr>
          <a:xfrm xmlns:a="http://schemas.openxmlformats.org/drawingml/2006/main">
            <a:off x="7315200" y="3790950"/>
            <a:ext cx="4267200" cy="552450"/>
          </a:xfrm>
          <a:prstGeom xmlns:a="http://schemas.openxmlformats.org/drawingml/2006/main" prst="roundRect">
            <a:avLst>
              <a:gd name="adj" fmla="val 10345"/>
            </a:avLst>
          </a:prstGeom>
          <a:solidFill xmlns:a="http://schemas.openxmlformats.org/drawingml/2006/main">
            <a:srgbClr val="F6F7F9"/>
          </a:solidFill>
          <a:ln xmlns:a="http://schemas.openxmlformats.org/drawingml/2006/main" w="9525">
            <a:solidFill>
              <a:srgbClr val="DDE0E5"/>
            </a:solidFill>
            <a:prstDash val="solid"/>
          </a:ln>
        </p:spPr>
      </p:sp>
      <p:sp>
        <p:nvSpPr>
          <p:cNvPr id="16" name="opt-letter-2">
            <a:extLst xmlns:a="http://schemas.openxmlformats.org/drawingml/2006/main">
              <a:ext uri="{FF2B5EF4-FFF2-40B4-BE49-F238E27FC236}">
                <a16:creationId xmlns:a16="http://schemas.microsoft.com/office/drawing/2014/main" id="{2B6C85B6-82FE-4E14-8C6A-F0F706CF63BA}"/>
              </a:ext>
            </a:extLst>
          </p:cNvPr>
          <p:cNvSpPr>
            <a:spLocks xmlns:a="http://schemas.openxmlformats.org/drawingml/2006/main" noGrp="1"/>
          </p:cNvSpPr>
          <p:nvPr/>
        </p:nvSpPr>
        <p:spPr>
          <a:xfrm xmlns:a="http://schemas.openxmlformats.org/drawingml/2006/main">
            <a:off x="7448550" y="3952875"/>
            <a:ext cx="2667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1800" b="1">
                <a:solidFill>
                  <a:srgbClr val="2E74B5"/>
                </a:solidFill>
                <a:latin typeface="Arial"/>
                <a:ea typeface="Arial"/>
                <a:cs typeface="Arial"/>
              </a:defRPr>
            </a:pPr>
            <a:r>
              <a:rPr sz="1800" b="1">
                <a:solidFill>
                  <a:srgbClr val="2E74B5"/>
                </a:solidFill>
                <a:latin typeface="Arial"/>
                <a:ea typeface="Arial"/>
                <a:cs typeface="Arial"/>
              </a:rPr>
              <a:t>C</a:t>
            </a:r>
          </a:p>
        </p:txBody>
      </p:sp>
      <p:sp>
        <p:nvSpPr>
          <p:cNvPr id="17" name="opt-text-2">
            <a:extLst xmlns:a="http://schemas.openxmlformats.org/drawingml/2006/main">
              <a:ext uri="{FF2B5EF4-FFF2-40B4-BE49-F238E27FC236}">
                <a16:creationId xmlns:a16="http://schemas.microsoft.com/office/drawing/2014/main" id="{7D8DB2A2-18DB-454B-A8BA-97B2A6BF5B7E}"/>
              </a:ext>
            </a:extLst>
          </p:cNvPr>
          <p:cNvSpPr>
            <a:spLocks xmlns:a="http://schemas.openxmlformats.org/drawingml/2006/main" noGrp="1"/>
          </p:cNvSpPr>
          <p:nvPr/>
        </p:nvSpPr>
        <p:spPr>
          <a:xfrm xmlns:a="http://schemas.openxmlformats.org/drawingml/2006/main">
            <a:off x="7772400" y="3829050"/>
            <a:ext cx="36766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2000"/>
              </a:lnSpc>
              <a:buNone/>
              <a:defRPr sz="1200" b="0">
                <a:solidFill>
                  <a:srgbClr val="111316"/>
                </a:solidFill>
                <a:latin typeface="Consolas"/>
                <a:ea typeface="Consolas"/>
                <a:cs typeface="Consolas"/>
              </a:defRPr>
            </a:pPr>
            <a:r>
              <a:rPr sz="1200" b="0">
                <a:solidFill>
                  <a:srgbClr val="111316"/>
                </a:solidFill>
                <a:latin typeface="Consolas"/>
                <a:ea typeface="Consolas"/>
                <a:cs typeface="Consolas"/>
              </a:rPr>
              <a:t>(100, 100)  -&gt;  an equal split</a:t>
            </a:r>
          </a:p>
        </p:txBody>
      </p:sp>
      <p:sp>
        <p:nvSpPr>
          <p:cNvPr id="18" name="opt-3">
            <a:extLst xmlns:a="http://schemas.openxmlformats.org/drawingml/2006/main">
              <a:ext uri="{FF2B5EF4-FFF2-40B4-BE49-F238E27FC236}">
                <a16:creationId xmlns:a16="http://schemas.microsoft.com/office/drawing/2014/main" id="{67D4ABB6-29A2-4F9D-962E-A72FB20CB1E8}"/>
              </a:ext>
            </a:extLst>
          </p:cNvPr>
          <p:cNvSpPr>
            <a:spLocks xmlns:a="http://schemas.openxmlformats.org/drawingml/2006/main" noGrp="1"/>
          </p:cNvSpPr>
          <p:nvPr/>
        </p:nvSpPr>
        <p:spPr>
          <a:xfrm xmlns:a="http://schemas.openxmlformats.org/drawingml/2006/main">
            <a:off x="7315200" y="4400550"/>
            <a:ext cx="4267200" cy="552450"/>
          </a:xfrm>
          <a:prstGeom xmlns:a="http://schemas.openxmlformats.org/drawingml/2006/main" prst="roundRect">
            <a:avLst>
              <a:gd name="adj" fmla="val 10345"/>
            </a:avLst>
          </a:prstGeom>
          <a:solidFill xmlns:a="http://schemas.openxmlformats.org/drawingml/2006/main">
            <a:srgbClr val="F6F7F9"/>
          </a:solidFill>
          <a:ln xmlns:a="http://schemas.openxmlformats.org/drawingml/2006/main" w="9525">
            <a:solidFill>
              <a:srgbClr val="DDE0E5"/>
            </a:solidFill>
            <a:prstDash val="solid"/>
          </a:ln>
        </p:spPr>
      </p:sp>
      <p:sp>
        <p:nvSpPr>
          <p:cNvPr id="19" name="opt-letter-3">
            <a:extLst xmlns:a="http://schemas.openxmlformats.org/drawingml/2006/main">
              <a:ext uri="{FF2B5EF4-FFF2-40B4-BE49-F238E27FC236}">
                <a16:creationId xmlns:a16="http://schemas.microsoft.com/office/drawing/2014/main" id="{F3602A90-644D-4D32-B54E-7EE3E48A3DCB}"/>
              </a:ext>
            </a:extLst>
          </p:cNvPr>
          <p:cNvSpPr>
            <a:spLocks xmlns:a="http://schemas.openxmlformats.org/drawingml/2006/main" noGrp="1"/>
          </p:cNvSpPr>
          <p:nvPr/>
        </p:nvSpPr>
        <p:spPr>
          <a:xfrm xmlns:a="http://schemas.openxmlformats.org/drawingml/2006/main">
            <a:off x="7448550" y="4562475"/>
            <a:ext cx="2667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1800" b="1">
                <a:solidFill>
                  <a:srgbClr val="2E74B5"/>
                </a:solidFill>
                <a:latin typeface="Arial"/>
                <a:ea typeface="Arial"/>
                <a:cs typeface="Arial"/>
              </a:defRPr>
            </a:pPr>
            <a:r>
              <a:rPr sz="1800" b="1">
                <a:solidFill>
                  <a:srgbClr val="2E74B5"/>
                </a:solidFill>
                <a:latin typeface="Arial"/>
                <a:ea typeface="Arial"/>
                <a:cs typeface="Arial"/>
              </a:rPr>
              <a:t>D</a:t>
            </a:r>
          </a:p>
        </p:txBody>
      </p:sp>
      <p:sp>
        <p:nvSpPr>
          <p:cNvPr id="20" name="opt-text-3">
            <a:extLst xmlns:a="http://schemas.openxmlformats.org/drawingml/2006/main">
              <a:ext uri="{FF2B5EF4-FFF2-40B4-BE49-F238E27FC236}">
                <a16:creationId xmlns:a16="http://schemas.microsoft.com/office/drawing/2014/main" id="{6B9D48E8-AE30-4CCF-8849-A46C8C5F4925}"/>
              </a:ext>
            </a:extLst>
          </p:cNvPr>
          <p:cNvSpPr>
            <a:spLocks xmlns:a="http://schemas.openxmlformats.org/drawingml/2006/main" noGrp="1"/>
          </p:cNvSpPr>
          <p:nvPr/>
        </p:nvSpPr>
        <p:spPr>
          <a:xfrm xmlns:a="http://schemas.openxmlformats.org/drawingml/2006/main">
            <a:off x="7772400" y="4438650"/>
            <a:ext cx="36766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2000"/>
              </a:lnSpc>
              <a:buNone/>
              <a:defRPr sz="1200" b="0">
                <a:solidFill>
                  <a:srgbClr val="111316"/>
                </a:solidFill>
                <a:latin typeface="Consolas"/>
                <a:ea typeface="Consolas"/>
                <a:cs typeface="Consolas"/>
              </a:defRPr>
            </a:pPr>
            <a:r>
              <a:rPr sz="1200" b="0">
                <a:solidFill>
                  <a:srgbClr val="111316"/>
                </a:solidFill>
                <a:latin typeface="Consolas"/>
                <a:ea typeface="Consolas"/>
                <a:cs typeface="Consolas"/>
              </a:rPr>
              <a:t>(0, 200)  -&gt;  all green roof</a:t>
            </a:r>
          </a:p>
        </p:txBody>
      </p:sp>
      <p:sp>
        <p:nvSpPr>
          <p:cNvPr id="21" name="answer-panel">
            <a:extLst xmlns:a="http://schemas.openxmlformats.org/drawingml/2006/main">
              <a:ext uri="{FF2B5EF4-FFF2-40B4-BE49-F238E27FC236}">
                <a16:creationId xmlns:a16="http://schemas.microsoft.com/office/drawing/2014/main" id="{61E2604D-560B-4CF2-812A-C0E6B448F91C}"/>
              </a:ext>
            </a:extLst>
          </p:cNvPr>
          <p:cNvSpPr>
            <a:spLocks xmlns:a="http://schemas.openxmlformats.org/drawingml/2006/main" noGrp="1"/>
          </p:cNvSpPr>
          <p:nvPr/>
        </p:nvSpPr>
        <p:spPr>
          <a:xfrm xmlns:a="http://schemas.openxmlformats.org/drawingml/2006/main">
            <a:off x="609600" y="5219700"/>
            <a:ext cx="10972800" cy="914400"/>
          </a:xfrm>
          <a:prstGeom xmlns:a="http://schemas.openxmlformats.org/drawingml/2006/main" prst="roundRect">
            <a:avLst>
              <a:gd name="adj" fmla="val 8333"/>
            </a:avLst>
          </a:prstGeom>
          <a:solidFill xmlns:a="http://schemas.openxmlformats.org/drawingml/2006/main">
            <a:srgbClr val="F3F7FB"/>
          </a:solidFill>
          <a:ln xmlns:a="http://schemas.openxmlformats.org/drawingml/2006/main" w="9525">
            <a:solidFill>
              <a:srgbClr val="2E74B5"/>
            </a:solidFill>
            <a:prstDash val="solid"/>
          </a:ln>
        </p:spPr>
      </p:sp>
      <p:sp>
        <p:nvSpPr>
          <p:cNvPr id="22" name="answer-label">
            <a:extLst xmlns:a="http://schemas.openxmlformats.org/drawingml/2006/main">
              <a:ext uri="{FF2B5EF4-FFF2-40B4-BE49-F238E27FC236}">
                <a16:creationId xmlns:a16="http://schemas.microsoft.com/office/drawing/2014/main" id="{09674B59-FCA2-4D24-A7FD-5495028D2149}"/>
              </a:ext>
            </a:extLst>
          </p:cNvPr>
          <p:cNvSpPr>
            <a:spLocks xmlns:a="http://schemas.openxmlformats.org/drawingml/2006/main" noGrp="1"/>
          </p:cNvSpPr>
          <p:nvPr/>
        </p:nvSpPr>
        <p:spPr>
          <a:xfrm xmlns:a="http://schemas.openxmlformats.org/drawingml/2006/main">
            <a:off x="819150" y="5372100"/>
            <a:ext cx="3048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1F4D78"/>
                </a:solidFill>
                <a:latin typeface="Arial"/>
                <a:ea typeface="Arial"/>
                <a:cs typeface="Arial"/>
              </a:defRPr>
            </a:pPr>
            <a:r>
              <a:rPr sz="900" b="1">
                <a:solidFill>
                  <a:srgbClr val="1F4D78"/>
                </a:solidFill>
                <a:latin typeface="Arial"/>
                <a:ea typeface="Arial"/>
                <a:cs typeface="Arial"/>
              </a:rPr>
              <a:t>ANSWER  ·  B</a:t>
            </a:r>
          </a:p>
        </p:txBody>
      </p:sp>
      <p:sp>
        <p:nvSpPr>
          <p:cNvPr id="23" name="why">
            <a:extLst xmlns:a="http://schemas.openxmlformats.org/drawingml/2006/main">
              <a:ext uri="{FF2B5EF4-FFF2-40B4-BE49-F238E27FC236}">
                <a16:creationId xmlns:a16="http://schemas.microsoft.com/office/drawing/2014/main" id="{FB2C6B20-AC15-4C1D-AE7A-7A3DB7602934}"/>
              </a:ext>
            </a:extLst>
          </p:cNvPr>
          <p:cNvSpPr>
            <a:spLocks xmlns:a="http://schemas.openxmlformats.org/drawingml/2006/main" noGrp="1"/>
          </p:cNvSpPr>
          <p:nvPr/>
        </p:nvSpPr>
        <p:spPr>
          <a:xfrm xmlns:a="http://schemas.openxmlformats.org/drawingml/2006/main">
            <a:off x="819150" y="5638800"/>
            <a:ext cx="105537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500" b="0">
                <a:solidFill>
                  <a:srgbClr val="111316"/>
                </a:solidFill>
                <a:latin typeface="Arial"/>
                <a:ea typeface="Arial"/>
                <a:cs typeface="Arial"/>
              </a:defRPr>
            </a:pPr>
            <a:r>
              <a:rPr sz="1500" b="0">
                <a:solidFill>
                  <a:srgbClr val="111316"/>
                </a:solidFill>
                <a:latin typeface="Arial"/>
                <a:ea typeface="Arial"/>
                <a:cs typeface="Arial"/>
              </a:rPr>
              <a:t>res_new.x = [40, 160], -res_new.fun = 6400.0. Solar's $400/m2 install eats the smaller budget faster, so the mix shifts to green roof.</a:t>
            </a:r>
          </a:p>
        </p:txBody>
      </p:sp>
    </p:spTree>
    <p:extLst>
      <p:ext uri="{BB962C8B-B14F-4D97-AF65-F5344CB8AC3E}">
        <p14:creationId xmlns:p14="http://schemas.microsoft.com/office/powerpoint/2010/main" val="870251827"/>
      </p:ext>
    </p:extLst>
  </p:cSld>
</p:sld>
</file>

<file path=ppt/slides/slide2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kicker">
            <a:extLst xmlns:a="http://schemas.openxmlformats.org/drawingml/2006/main">
              <a:ext uri="{FF2B5EF4-FFF2-40B4-BE49-F238E27FC236}">
                <a16:creationId xmlns:a16="http://schemas.microsoft.com/office/drawing/2014/main" id="{B7EFF9A6-05B4-47AE-87F9-E1AE6DE68DB6}"/>
              </a:ext>
            </a:extLst>
          </p:cNvPr>
          <p:cNvSpPr>
            <a:spLocks xmlns:a="http://schemas.openxmlformats.org/drawingml/2006/main" noGrp="1"/>
          </p:cNvSpPr>
          <p:nvPr/>
        </p:nvSpPr>
        <p:spPr>
          <a:xfrm xmlns:a="http://schemas.openxmlformats.org/drawingml/2006/main">
            <a:off x="609600" y="342900"/>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2E74B5"/>
                </a:solidFill>
                <a:latin typeface="Arial"/>
                <a:ea typeface="Arial"/>
                <a:cs typeface="Arial"/>
              </a:defRPr>
            </a:pPr>
            <a:r>
              <a:rPr sz="900" b="1">
                <a:solidFill>
                  <a:srgbClr val="2E74B5"/>
                </a:solidFill>
                <a:latin typeface="Arial"/>
                <a:ea typeface="Arial"/>
                <a:cs typeface="Arial"/>
              </a:rPr>
              <a:t>PYTHON SYNTAX</a:t>
            </a:r>
          </a:p>
        </p:txBody>
      </p:sp>
      <p:sp>
        <p:nvSpPr>
          <p:cNvPr id="2" name="title">
            <a:extLst xmlns:a="http://schemas.openxmlformats.org/drawingml/2006/main">
              <a:ext uri="{FF2B5EF4-FFF2-40B4-BE49-F238E27FC236}">
                <a16:creationId xmlns:a16="http://schemas.microsoft.com/office/drawing/2014/main" id="{0BC60882-00D1-4A5F-8BD0-6F849D6D3913}"/>
              </a:ext>
            </a:extLst>
          </p:cNvPr>
          <p:cNvSpPr>
            <a:spLocks xmlns:a="http://schemas.openxmlformats.org/drawingml/2006/main" noGrp="1"/>
          </p:cNvSpPr>
          <p:nvPr/>
        </p:nvSpPr>
        <p:spPr>
          <a:xfrm xmlns:a="http://schemas.openxmlformats.org/drawingml/2006/main">
            <a:off x="609600" y="60960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3000" b="0">
                <a:solidFill>
                  <a:srgbClr val="111316"/>
                </a:solidFill>
                <a:latin typeface="Arial"/>
                <a:ea typeface="Arial"/>
                <a:cs typeface="Arial"/>
              </a:defRPr>
            </a:pPr>
            <a:r>
              <a:rPr sz="3000" b="0">
                <a:solidFill>
                  <a:srgbClr val="111316"/>
                </a:solidFill>
                <a:latin typeface="Arial"/>
                <a:ea typeface="Arial"/>
                <a:cs typeface="Arial"/>
              </a:rPr>
              <a:t>[7] Self-check: a smaller approved budget</a:t>
            </a:r>
          </a:p>
        </p:txBody>
      </p:sp>
      <p:sp>
        <p:nvSpPr>
          <p:cNvPr id="3" name="">
            <a:extLst xmlns:a="http://schemas.openxmlformats.org/drawingml/2006/main">
              <a:ext uri="{FF2B5EF4-FFF2-40B4-BE49-F238E27FC236}">
                <a16:creationId xmlns:a16="http://schemas.microsoft.com/office/drawing/2014/main" id="{2CCE9D4E-037A-48B9-A6DB-21DC74910C02}"/>
              </a:ext>
            </a:extLst>
          </p:cNvPr>
          <p:cNvSpPr>
            <a:spLocks xmlns:a="http://schemas.openxmlformats.org/drawingml/2006/main" noGrp="1"/>
          </p:cNvSpPr>
          <p:nvPr/>
        </p:nvSpPr>
        <p:spPr>
          <a:xfrm xmlns:a="http://schemas.openxmlformats.org/drawingml/2006/main">
            <a:off x="609600" y="6343650"/>
            <a:ext cx="10972800" cy="0"/>
          </a:xfrm>
          <a:prstGeom xmlns:a="http://schemas.openxmlformats.org/drawingml/2006/main" prst="line">
            <a:avLst/>
          </a:prstGeom>
          <a:noFill xmlns:a="http://schemas.openxmlformats.org/drawingml/2006/main"/>
          <a:ln xmlns:a="http://schemas.openxmlformats.org/drawingml/2006/main" w="9525">
            <a:solidFill>
              <a:srgbClr val="DDE0E5"/>
            </a:solidFill>
            <a:prstDash val="solid"/>
          </a:ln>
        </p:spPr>
      </p:sp>
      <p:sp>
        <p:nvSpPr>
          <p:cNvPr id="4" name="footer">
            <a:extLst xmlns:a="http://schemas.openxmlformats.org/drawingml/2006/main">
              <a:ext uri="{FF2B5EF4-FFF2-40B4-BE49-F238E27FC236}">
                <a16:creationId xmlns:a16="http://schemas.microsoft.com/office/drawing/2014/main" id="{081D4300-ACC9-4D80-A37E-206EDF195B8D}"/>
              </a:ext>
            </a:extLst>
          </p:cNvPr>
          <p:cNvSpPr>
            <a:spLocks xmlns:a="http://schemas.openxmlformats.org/drawingml/2006/main" noGrp="1"/>
          </p:cNvSpPr>
          <p:nvPr/>
        </p:nvSpPr>
        <p:spPr>
          <a:xfrm xmlns:a="http://schemas.openxmlformats.org/drawingml/2006/main">
            <a:off x="609600" y="6429375"/>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ARC 500  ·  Week 10 · Meeting B · Linear Programming Studio</a:t>
            </a:r>
          </a:p>
        </p:txBody>
      </p:sp>
      <p:sp>
        <p:nvSpPr>
          <p:cNvPr id="5" name="page">
            <a:extLst xmlns:a="http://schemas.openxmlformats.org/drawingml/2006/main">
              <a:ext uri="{FF2B5EF4-FFF2-40B4-BE49-F238E27FC236}">
                <a16:creationId xmlns:a16="http://schemas.microsoft.com/office/drawing/2014/main" id="{7905433E-FE6B-4903-BA96-0E8FA6E11BBF}"/>
              </a:ext>
            </a:extLst>
          </p:cNvPr>
          <p:cNvSpPr>
            <a:spLocks xmlns:a="http://schemas.openxmlformats.org/drawingml/2006/main" noGrp="1"/>
          </p:cNvSpPr>
          <p:nvPr/>
        </p:nvSpPr>
        <p:spPr>
          <a:xfrm xmlns:a="http://schemas.openxmlformats.org/drawingml/2006/main">
            <a:off x="10896600" y="6429375"/>
            <a:ext cx="685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24</a:t>
            </a:r>
          </a:p>
        </p:txBody>
      </p:sp>
      <p:sp>
        <p:nvSpPr>
          <p:cNvPr id="6" name="code-panel">
            <a:extLst xmlns:a="http://schemas.openxmlformats.org/drawingml/2006/main">
              <a:ext uri="{FF2B5EF4-FFF2-40B4-BE49-F238E27FC236}">
                <a16:creationId xmlns:a16="http://schemas.microsoft.com/office/drawing/2014/main" id="{310668EE-D43A-48D0-AA3B-F8E3FE5AE106}"/>
              </a:ext>
            </a:extLst>
          </p:cNvPr>
          <p:cNvSpPr>
            <a:spLocks xmlns:a="http://schemas.openxmlformats.org/drawingml/2006/main" noGrp="1"/>
          </p:cNvSpPr>
          <p:nvPr/>
        </p:nvSpPr>
        <p:spPr>
          <a:xfrm xmlns:a="http://schemas.openxmlformats.org/drawingml/2006/main">
            <a:off x="609600" y="1809750"/>
            <a:ext cx="6896100" cy="4267200"/>
          </a:xfrm>
          <a:prstGeom xmlns:a="http://schemas.openxmlformats.org/drawingml/2006/main" prst="roundRect">
            <a:avLst>
              <a:gd name="adj" fmla="val 1786"/>
            </a:avLst>
          </a:prstGeom>
          <a:solidFill xmlns:a="http://schemas.openxmlformats.org/drawingml/2006/main">
            <a:srgbClr val="17191C"/>
          </a:solidFill>
          <a:ln xmlns:a="http://schemas.openxmlformats.org/drawingml/2006/main" w="9525">
            <a:solidFill>
              <a:srgbClr val="17191C"/>
            </a:solidFill>
            <a:prstDash val="solid"/>
          </a:ln>
        </p:spPr>
      </p:sp>
      <p:sp>
        <p:nvSpPr>
          <p:cNvPr id="7" name="code">
            <a:extLst xmlns:a="http://schemas.openxmlformats.org/drawingml/2006/main">
              <a:ext uri="{FF2B5EF4-FFF2-40B4-BE49-F238E27FC236}">
                <a16:creationId xmlns:a16="http://schemas.microsoft.com/office/drawing/2014/main" id="{57435C04-FC97-4E3A-9283-5F4764BF2D73}"/>
              </a:ext>
            </a:extLst>
          </p:cNvPr>
          <p:cNvSpPr>
            <a:spLocks xmlns:a="http://schemas.openxmlformats.org/drawingml/2006/main" noGrp="1"/>
          </p:cNvSpPr>
          <p:nvPr/>
        </p:nvSpPr>
        <p:spPr>
          <a:xfrm xmlns:a="http://schemas.openxmlformats.org/drawingml/2006/main">
            <a:off x="857250" y="2057400"/>
            <a:ext cx="6400800" cy="314096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4000"/>
              </a:lnSpc>
              <a:buNone/>
              <a:defRPr sz="1800" b="0">
                <a:solidFill>
                  <a:srgbClr val="FFFFFF"/>
                </a:solidFill>
                <a:latin typeface="Consolas"/>
                <a:ea typeface="Consolas"/>
                <a:cs typeface="Consolas"/>
              </a:defRPr>
            </a:pPr>
            <a:r>
              <a:rPr sz="1800" b="0">
                <a:solidFill>
                  <a:srgbClr val="FFFFFF"/>
                </a:solidFill>
                <a:latin typeface="Consolas"/>
                <a:ea typeface="Consolas"/>
                <a:cs typeface="Consolas"/>
              </a:rPr>
              <a:t># transfer check: the board approves only $40,000 this year</a:t>
            </a:r>
          </a:p>
          <a:p xmlns:a="http://schemas.openxmlformats.org/drawingml/2006/main">
            <a:pPr algn="l">
              <a:lnSpc>
                <a:spcPct val="114000"/>
              </a:lnSpc>
              <a:buNone/>
              <a:defRPr sz="1800" b="0">
                <a:solidFill>
                  <a:srgbClr val="FFFFFF"/>
                </a:solidFill>
                <a:latin typeface="Consolas"/>
                <a:ea typeface="Consolas"/>
                <a:cs typeface="Consolas"/>
              </a:defRPr>
            </a:pPr>
            <a:r>
              <a:rPr sz="1800" b="0">
                <a:solidFill>
                  <a:srgbClr val="FFFFFF"/>
                </a:solidFill>
                <a:latin typeface="Consolas"/>
                <a:ea typeface="Consolas"/>
                <a:cs typeface="Consolas"/>
              </a:rPr>
              <a:t>b_ub_new = [200, 40000]</a:t>
            </a:r>
          </a:p>
          <a:p xmlns:a="http://schemas.openxmlformats.org/drawingml/2006/main">
            <a:pPr algn="l">
              <a:lnSpc>
                <a:spcPct val="114000"/>
              </a:lnSpc>
              <a:buNone/>
              <a:defRPr sz="1800" b="0">
                <a:solidFill>
                  <a:srgbClr val="FFFFFF"/>
                </a:solidFill>
                <a:latin typeface="Consolas"/>
                <a:ea typeface="Consolas"/>
                <a:cs typeface="Consolas"/>
              </a:defRPr>
            </a:pPr>
            <a:r>
              <a:rPr sz="1800" b="0">
                <a:solidFill>
                  <a:srgbClr val="FFFFFF"/>
                </a:solidFill>
                <a:latin typeface="Consolas"/>
                <a:ea typeface="Consolas"/>
                <a:cs typeface="Consolas"/>
              </a:rPr>
              <a:t>res_new = linprog(c, A_ub=A_ub, b_ub=b_ub_new,</a:t>
            </a:r>
          </a:p>
          <a:p xmlns:a="http://schemas.openxmlformats.org/drawingml/2006/main">
            <a:pPr algn="l">
              <a:lnSpc>
                <a:spcPct val="114000"/>
              </a:lnSpc>
              <a:buNone/>
              <a:defRPr sz="1800" b="0">
                <a:solidFill>
                  <a:srgbClr val="FFFFFF"/>
                </a:solidFill>
                <a:latin typeface="Consolas"/>
                <a:ea typeface="Consolas"/>
                <a:cs typeface="Consolas"/>
              </a:defRPr>
            </a:pPr>
            <a:r>
              <a:rPr sz="1800" b="0">
                <a:solidFill>
                  <a:srgbClr val="FFFFFF"/>
                </a:solidFill>
                <a:latin typeface="Consolas"/>
                <a:ea typeface="Consolas"/>
                <a:cs typeface="Consolas"/>
              </a:rPr>
              <a:t>                   bounds=bounds, method='highs')</a:t>
            </a:r>
          </a:p>
          <a:p xmlns:a="http://schemas.openxmlformats.org/drawingml/2006/main">
            <a:pPr algn="l">
              <a:lnSpc>
                <a:spcPct val="114000"/>
              </a:lnSpc>
              <a:buNone/>
              <a:defRPr sz="1800" b="0">
                <a:solidFill>
                  <a:srgbClr val="FFFFFF"/>
                </a:solidFill>
                <a:latin typeface="Consolas"/>
                <a:ea typeface="Consolas"/>
                <a:cs typeface="Consolas"/>
              </a:defRPr>
            </a:pPr>
            <a:r>
              <a:rPr sz="1800" b="0">
                <a:solidFill>
                  <a:srgbClr val="FFFFFF"/>
                </a:solidFill>
                <a:latin typeface="Consolas"/>
                <a:ea typeface="Consolas"/>
                <a:cs typeface="Consolas"/>
              </a:rPr>
              <a:t>print(res_new.x, -res_new.fun)</a:t>
            </a:r>
          </a:p>
        </p:txBody>
      </p:sp>
      <p:sp>
        <p:nvSpPr>
          <p:cNvPr id="8" name="">
            <a:extLst xmlns:a="http://schemas.openxmlformats.org/drawingml/2006/main">
              <a:ext uri="{FF2B5EF4-FFF2-40B4-BE49-F238E27FC236}">
                <a16:creationId xmlns:a16="http://schemas.microsoft.com/office/drawing/2014/main" id="{BB152B55-8390-4BEC-A631-B452DE5EE7AD}"/>
              </a:ext>
            </a:extLst>
          </p:cNvPr>
          <p:cNvSpPr>
            <a:spLocks xmlns:a="http://schemas.openxmlformats.org/drawingml/2006/main" noGrp="1"/>
          </p:cNvSpPr>
          <p:nvPr/>
        </p:nvSpPr>
        <p:spPr>
          <a:xfrm xmlns:a="http://schemas.openxmlformats.org/drawingml/2006/main">
            <a:off x="857250" y="5255514"/>
            <a:ext cx="6400800" cy="0"/>
          </a:xfrm>
          <a:prstGeom xmlns:a="http://schemas.openxmlformats.org/drawingml/2006/main" prst="line">
            <a:avLst/>
          </a:prstGeom>
          <a:noFill xmlns:a="http://schemas.openxmlformats.org/drawingml/2006/main"/>
          <a:ln xmlns:a="http://schemas.openxmlformats.org/drawingml/2006/main" w="9525">
            <a:solidFill>
              <a:srgbClr val="4E5258"/>
            </a:solidFill>
            <a:prstDash val="solid"/>
          </a:ln>
        </p:spPr>
      </p:sp>
      <p:sp>
        <p:nvSpPr>
          <p:cNvPr id="9" name="output-label">
            <a:extLst xmlns:a="http://schemas.openxmlformats.org/drawingml/2006/main">
              <a:ext uri="{FF2B5EF4-FFF2-40B4-BE49-F238E27FC236}">
                <a16:creationId xmlns:a16="http://schemas.microsoft.com/office/drawing/2014/main" id="{14EA3692-A737-4203-B48C-475671B131A7}"/>
              </a:ext>
            </a:extLst>
          </p:cNvPr>
          <p:cNvSpPr>
            <a:spLocks xmlns:a="http://schemas.openxmlformats.org/drawingml/2006/main" noGrp="1"/>
          </p:cNvSpPr>
          <p:nvPr/>
        </p:nvSpPr>
        <p:spPr>
          <a:xfrm xmlns:a="http://schemas.openxmlformats.org/drawingml/2006/main">
            <a:off x="857250" y="5369814"/>
            <a:ext cx="190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E8EEF5"/>
                </a:solidFill>
                <a:latin typeface="Arial"/>
                <a:ea typeface="Arial"/>
                <a:cs typeface="Arial"/>
              </a:defRPr>
            </a:pPr>
            <a:r>
              <a:rPr sz="900" b="1">
                <a:solidFill>
                  <a:srgbClr val="E8EEF5"/>
                </a:solidFill>
                <a:latin typeface="Arial"/>
                <a:ea typeface="Arial"/>
                <a:cs typeface="Arial"/>
              </a:rPr>
              <a:t>OUTPUT</a:t>
            </a:r>
          </a:p>
        </p:txBody>
      </p:sp>
      <p:sp>
        <p:nvSpPr>
          <p:cNvPr id="10" name="output">
            <a:extLst xmlns:a="http://schemas.openxmlformats.org/drawingml/2006/main">
              <a:ext uri="{FF2B5EF4-FFF2-40B4-BE49-F238E27FC236}">
                <a16:creationId xmlns:a16="http://schemas.microsoft.com/office/drawing/2014/main" id="{0BB7430C-7EB6-4ADF-BFEC-89CD23CE7089}"/>
              </a:ext>
            </a:extLst>
          </p:cNvPr>
          <p:cNvSpPr>
            <a:spLocks xmlns:a="http://schemas.openxmlformats.org/drawingml/2006/main" noGrp="1"/>
          </p:cNvSpPr>
          <p:nvPr/>
        </p:nvSpPr>
        <p:spPr>
          <a:xfrm xmlns:a="http://schemas.openxmlformats.org/drawingml/2006/main">
            <a:off x="857250" y="5598414"/>
            <a:ext cx="6400800" cy="23088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4000"/>
              </a:lnSpc>
              <a:buNone/>
              <a:defRPr sz="1200" b="0">
                <a:solidFill>
                  <a:srgbClr val="E8EEF5"/>
                </a:solidFill>
                <a:latin typeface="Consolas"/>
                <a:ea typeface="Consolas"/>
                <a:cs typeface="Consolas"/>
              </a:defRPr>
            </a:pPr>
            <a:r>
              <a:rPr sz="1200" b="0">
                <a:solidFill>
                  <a:srgbClr val="E8EEF5"/>
                </a:solidFill>
                <a:latin typeface="Consolas"/>
                <a:ea typeface="Consolas"/>
                <a:cs typeface="Consolas"/>
              </a:rPr>
              <a:t>[ 40. 160.] 6400.0</a:t>
            </a:r>
          </a:p>
        </p:txBody>
      </p:sp>
      <p:sp>
        <p:nvSpPr>
          <p:cNvPr id="11" name="explain-head">
            <a:extLst xmlns:a="http://schemas.openxmlformats.org/drawingml/2006/main">
              <a:ext uri="{FF2B5EF4-FFF2-40B4-BE49-F238E27FC236}">
                <a16:creationId xmlns:a16="http://schemas.microsoft.com/office/drawing/2014/main" id="{86F5F838-6C5C-45E8-B1FC-9B36FC64490E}"/>
              </a:ext>
            </a:extLst>
          </p:cNvPr>
          <p:cNvSpPr>
            <a:spLocks xmlns:a="http://schemas.openxmlformats.org/drawingml/2006/main" noGrp="1"/>
          </p:cNvSpPr>
          <p:nvPr/>
        </p:nvSpPr>
        <p:spPr>
          <a:xfrm xmlns:a="http://schemas.openxmlformats.org/drawingml/2006/main">
            <a:off x="7886700" y="2609850"/>
            <a:ext cx="3695700" cy="63322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100" b="1">
                <a:solidFill>
                  <a:srgbClr val="111316"/>
                </a:solidFill>
                <a:latin typeface="Arial"/>
                <a:ea typeface="Arial"/>
                <a:cs typeface="Arial"/>
              </a:defRPr>
            </a:pPr>
            <a:r>
              <a:rPr sz="2100" b="1">
                <a:solidFill>
                  <a:srgbClr val="111316"/>
                </a:solidFill>
                <a:latin typeface="Arial"/>
                <a:ea typeface="Arial"/>
                <a:cs typeface="Arial"/>
              </a:rPr>
              <a:t>Same formula, a genuinely different input</a:t>
            </a:r>
          </a:p>
        </p:txBody>
      </p:sp>
      <p:sp>
        <p:nvSpPr>
          <p:cNvPr id="12" name="explain-body">
            <a:extLst xmlns:a="http://schemas.openxmlformats.org/drawingml/2006/main">
              <a:ext uri="{FF2B5EF4-FFF2-40B4-BE49-F238E27FC236}">
                <a16:creationId xmlns:a16="http://schemas.microsoft.com/office/drawing/2014/main" id="{102C7F3D-BA33-49B9-B5D0-4E8A16DECB19}"/>
              </a:ext>
            </a:extLst>
          </p:cNvPr>
          <p:cNvSpPr>
            <a:spLocks xmlns:a="http://schemas.openxmlformats.org/drawingml/2006/main" noGrp="1"/>
          </p:cNvSpPr>
          <p:nvPr/>
        </p:nvSpPr>
        <p:spPr>
          <a:xfrm xmlns:a="http://schemas.openxmlformats.org/drawingml/2006/main">
            <a:off x="7886700" y="3395472"/>
            <a:ext cx="3695700" cy="140208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500" b="0">
                <a:solidFill>
                  <a:srgbClr val="5A5F66"/>
                </a:solidFill>
                <a:latin typeface="Arial"/>
                <a:ea typeface="Arial"/>
                <a:cs typeface="Arial"/>
              </a:defRPr>
            </a:pPr>
            <a:r>
              <a:rPr sz="1500" b="0">
                <a:solidFill>
                  <a:srgbClr val="5A5F66"/>
                </a:solidFill>
                <a:latin typeface="Arial"/>
                <a:ea typeface="Arial"/>
                <a:cs typeface="Arial"/>
              </a:rPr>
              <a:t>Only b_ub's second entry changed — $40,000 instead of $50,000 — and the optimal mix shifted to 40 m2 solar, 160 m2 green roof, $6,400/yr. Both constraints still bind exactly: 40+160=200 and 400*40+150*160=40,000.</a:t>
            </a:r>
          </a:p>
        </p:txBody>
      </p:sp>
    </p:spTree>
    <p:extLst>
      <p:ext uri="{BB962C8B-B14F-4D97-AF65-F5344CB8AC3E}">
        <p14:creationId xmlns:p14="http://schemas.microsoft.com/office/powerpoint/2010/main" val="998357439"/>
      </p:ext>
    </p:extLst>
  </p:cSld>
</p:sld>
</file>

<file path=ppt/slides/slide2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kicker">
            <a:extLst xmlns:a="http://schemas.openxmlformats.org/drawingml/2006/main">
              <a:ext uri="{FF2B5EF4-FFF2-40B4-BE49-F238E27FC236}">
                <a16:creationId xmlns:a16="http://schemas.microsoft.com/office/drawing/2014/main" id="{9DD1BBD9-EC92-4BCD-AA22-1F5970207AEC}"/>
              </a:ext>
            </a:extLst>
          </p:cNvPr>
          <p:cNvSpPr>
            <a:spLocks xmlns:a="http://schemas.openxmlformats.org/drawingml/2006/main" noGrp="1"/>
          </p:cNvSpPr>
          <p:nvPr/>
        </p:nvSpPr>
        <p:spPr>
          <a:xfrm xmlns:a="http://schemas.openxmlformats.org/drawingml/2006/main">
            <a:off x="609600" y="342900"/>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2E74B5"/>
                </a:solidFill>
                <a:latin typeface="Arial"/>
                <a:ea typeface="Arial"/>
                <a:cs typeface="Arial"/>
              </a:defRPr>
            </a:pPr>
            <a:r>
              <a:rPr sz="900" b="1">
                <a:solidFill>
                  <a:srgbClr val="2E74B5"/>
                </a:solidFill>
                <a:latin typeface="Arial"/>
                <a:ea typeface="Arial"/>
                <a:cs typeface="Arial"/>
              </a:rPr>
              <a:t>VISUAL EVIDENCE</a:t>
            </a:r>
          </a:p>
        </p:txBody>
      </p:sp>
      <p:sp>
        <p:nvSpPr>
          <p:cNvPr id="2" name="title">
            <a:extLst xmlns:a="http://schemas.openxmlformats.org/drawingml/2006/main">
              <a:ext uri="{FF2B5EF4-FFF2-40B4-BE49-F238E27FC236}">
                <a16:creationId xmlns:a16="http://schemas.microsoft.com/office/drawing/2014/main" id="{A9CD86C5-1CDD-4C25-A250-CDD85D15A830}"/>
              </a:ext>
            </a:extLst>
          </p:cNvPr>
          <p:cNvSpPr>
            <a:spLocks xmlns:a="http://schemas.openxmlformats.org/drawingml/2006/main" noGrp="1"/>
          </p:cNvSpPr>
          <p:nvPr/>
        </p:nvSpPr>
        <p:spPr>
          <a:xfrm xmlns:a="http://schemas.openxmlformats.org/drawingml/2006/main">
            <a:off x="609600" y="60960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3000" b="0">
                <a:solidFill>
                  <a:srgbClr val="111316"/>
                </a:solidFill>
                <a:latin typeface="Arial"/>
                <a:ea typeface="Arial"/>
                <a:cs typeface="Arial"/>
              </a:defRPr>
            </a:pPr>
            <a:r>
              <a:rPr sz="3000" b="0">
                <a:solidFill>
                  <a:srgbClr val="111316"/>
                </a:solidFill>
                <a:latin typeface="Arial"/>
                <a:ea typeface="Arial"/>
                <a:cs typeface="Arial"/>
              </a:rPr>
              <a:t>A smaller budget shifts the split, not just the total</a:t>
            </a:r>
          </a:p>
        </p:txBody>
      </p:sp>
      <p:sp>
        <p:nvSpPr>
          <p:cNvPr id="3" name="">
            <a:extLst xmlns:a="http://schemas.openxmlformats.org/drawingml/2006/main">
              <a:ext uri="{FF2B5EF4-FFF2-40B4-BE49-F238E27FC236}">
                <a16:creationId xmlns:a16="http://schemas.microsoft.com/office/drawing/2014/main" id="{0138FC3E-4A60-4AD7-9ED1-020902562237}"/>
              </a:ext>
            </a:extLst>
          </p:cNvPr>
          <p:cNvSpPr>
            <a:spLocks xmlns:a="http://schemas.openxmlformats.org/drawingml/2006/main" noGrp="1"/>
          </p:cNvSpPr>
          <p:nvPr/>
        </p:nvSpPr>
        <p:spPr>
          <a:xfrm xmlns:a="http://schemas.openxmlformats.org/drawingml/2006/main">
            <a:off x="609600" y="6343650"/>
            <a:ext cx="10972800" cy="0"/>
          </a:xfrm>
          <a:prstGeom xmlns:a="http://schemas.openxmlformats.org/drawingml/2006/main" prst="line">
            <a:avLst/>
          </a:prstGeom>
          <a:noFill xmlns:a="http://schemas.openxmlformats.org/drawingml/2006/main"/>
          <a:ln xmlns:a="http://schemas.openxmlformats.org/drawingml/2006/main" w="9525">
            <a:solidFill>
              <a:srgbClr val="DDE0E5"/>
            </a:solidFill>
            <a:prstDash val="solid"/>
          </a:ln>
        </p:spPr>
      </p:sp>
      <p:sp>
        <p:nvSpPr>
          <p:cNvPr id="4" name="footer">
            <a:extLst xmlns:a="http://schemas.openxmlformats.org/drawingml/2006/main">
              <a:ext uri="{FF2B5EF4-FFF2-40B4-BE49-F238E27FC236}">
                <a16:creationId xmlns:a16="http://schemas.microsoft.com/office/drawing/2014/main" id="{DFF973C3-5EB4-4F01-80F3-E3C9A1DD16C2}"/>
              </a:ext>
            </a:extLst>
          </p:cNvPr>
          <p:cNvSpPr>
            <a:spLocks xmlns:a="http://schemas.openxmlformats.org/drawingml/2006/main" noGrp="1"/>
          </p:cNvSpPr>
          <p:nvPr/>
        </p:nvSpPr>
        <p:spPr>
          <a:xfrm xmlns:a="http://schemas.openxmlformats.org/drawingml/2006/main">
            <a:off x="609600" y="6429375"/>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ARC 500  ·  Week 10 · Meeting B · Linear Programming Studio</a:t>
            </a:r>
          </a:p>
        </p:txBody>
      </p:sp>
      <p:sp>
        <p:nvSpPr>
          <p:cNvPr id="5" name="page">
            <a:extLst xmlns:a="http://schemas.openxmlformats.org/drawingml/2006/main">
              <a:ext uri="{FF2B5EF4-FFF2-40B4-BE49-F238E27FC236}">
                <a16:creationId xmlns:a16="http://schemas.microsoft.com/office/drawing/2014/main" id="{0FBD55E3-58CE-4AC0-9802-1582322ACBDD}"/>
              </a:ext>
            </a:extLst>
          </p:cNvPr>
          <p:cNvSpPr>
            <a:spLocks xmlns:a="http://schemas.openxmlformats.org/drawingml/2006/main" noGrp="1"/>
          </p:cNvSpPr>
          <p:nvPr/>
        </p:nvSpPr>
        <p:spPr>
          <a:xfrm xmlns:a="http://schemas.openxmlformats.org/drawingml/2006/main">
            <a:off x="10896600" y="6429375"/>
            <a:ext cx="685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25</a:t>
            </a:r>
          </a:p>
        </p:txBody>
      </p:sp>
      <p:graphicFrame>
        <p:nvGraphicFramePr>
          <p:cNvPr id="14" name="Chart"/>
          <p:cNvGraphicFramePr/>
          <p:nvPr/>
        </p:nvGraphicFramePr>
        <p:xfrm>
          <a:off xmlns:a="http://schemas.openxmlformats.org/drawingml/2006/main" x="609600" y="1809750"/>
          <a:ext xmlns:a="http://schemas.openxmlformats.org/drawingml/2006/main" cx="7010400" cy="4248150"/>
        </p:xfrm>
        <a:graphic xmlns:a="http://schemas.openxmlformats.org/drawingml/2006/main">
          <a:graphicData uri="http://schemas.openxmlformats.org/drawingml/2006/chart">
            <c:chart xmlns:r="http://schemas.openxmlformats.org/officeDocument/2006/relationships" xmlns:c="http://schemas.openxmlformats.org/drawingml/2006/chart" r:id="Re7d5f83013cd4b2a"/>
          </a:graphicData>
        </a:graphic>
      </p:graphicFrame>
      <p:sp>
        <p:nvSpPr>
          <p:cNvPr id="7" name="chart-explain-head">
            <a:extLst xmlns:a="http://schemas.openxmlformats.org/drawingml/2006/main">
              <a:ext uri="{FF2B5EF4-FFF2-40B4-BE49-F238E27FC236}">
                <a16:creationId xmlns:a16="http://schemas.microsoft.com/office/drawing/2014/main" id="{A2F808B0-37D4-4662-AFCF-0564B73C27B0}"/>
              </a:ext>
            </a:extLst>
          </p:cNvPr>
          <p:cNvSpPr>
            <a:spLocks xmlns:a="http://schemas.openxmlformats.org/drawingml/2006/main" noGrp="1"/>
          </p:cNvSpPr>
          <p:nvPr/>
        </p:nvSpPr>
        <p:spPr>
          <a:xfrm xmlns:a="http://schemas.openxmlformats.org/drawingml/2006/main">
            <a:off x="8001000" y="2609850"/>
            <a:ext cx="3581400" cy="63322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100" b="1">
                <a:solidFill>
                  <a:srgbClr val="111316"/>
                </a:solidFill>
                <a:latin typeface="Arial"/>
                <a:ea typeface="Arial"/>
                <a:cs typeface="Arial"/>
              </a:defRPr>
            </a:pPr>
            <a:r>
              <a:rPr sz="2100" b="1">
                <a:solidFill>
                  <a:srgbClr val="111316"/>
                </a:solidFill>
                <a:latin typeface="Arial"/>
                <a:ea typeface="Arial"/>
                <a:cs typeface="Arial"/>
              </a:rPr>
              <a:t>Same pattern, a different split</a:t>
            </a:r>
          </a:p>
        </p:txBody>
      </p:sp>
      <p:sp>
        <p:nvSpPr>
          <p:cNvPr id="8" name="chart-explain-body">
            <a:extLst xmlns:a="http://schemas.openxmlformats.org/drawingml/2006/main">
              <a:ext uri="{FF2B5EF4-FFF2-40B4-BE49-F238E27FC236}">
                <a16:creationId xmlns:a16="http://schemas.microsoft.com/office/drawing/2014/main" id="{DED33399-6022-4E6A-8FE0-F2CEAAFAEE2B}"/>
              </a:ext>
            </a:extLst>
          </p:cNvPr>
          <p:cNvSpPr>
            <a:spLocks xmlns:a="http://schemas.openxmlformats.org/drawingml/2006/main" noGrp="1"/>
          </p:cNvSpPr>
          <p:nvPr/>
        </p:nvSpPr>
        <p:spPr>
          <a:xfrm xmlns:a="http://schemas.openxmlformats.org/drawingml/2006/main">
            <a:off x="8001000" y="3395472"/>
            <a:ext cx="3581400" cy="140208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500" b="0">
                <a:solidFill>
                  <a:srgbClr val="5A5F66"/>
                </a:solidFill>
                <a:latin typeface="Arial"/>
                <a:ea typeface="Arial"/>
                <a:cs typeface="Arial"/>
              </a:defRPr>
            </a:pPr>
            <a:r>
              <a:rPr sz="1500" b="0">
                <a:solidFill>
                  <a:srgbClr val="5A5F66"/>
                </a:solidFill>
                <a:latin typeface="Arial"/>
                <a:ea typeface="Arial"/>
                <a:cs typeface="Arial"/>
              </a:rPr>
              <a:t>At $40,000 the optimum is 40 m2 solar / 160 m2 green roof ($6,400/yr); at $50,000 it is 80/120 ($7,800/yr). Both scenarios still use every m2 of roof and every dollar of budget — only the SPLIT changes, not which two constraints bind.</a:t>
            </a:r>
          </a:p>
        </p:txBody>
      </p:sp>
    </p:spTree>
    <p:extLst>
      <p:ext uri="{BB962C8B-B14F-4D97-AF65-F5344CB8AC3E}">
        <p14:creationId xmlns:p14="http://schemas.microsoft.com/office/powerpoint/2010/main" val="301603635"/>
      </p:ext>
    </p:extLst>
  </p:cSld>
</p:sld>
</file>

<file path=ppt/slides/slide2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kicker">
            <a:extLst xmlns:a="http://schemas.openxmlformats.org/drawingml/2006/main">
              <a:ext uri="{FF2B5EF4-FFF2-40B4-BE49-F238E27FC236}">
                <a16:creationId xmlns:a16="http://schemas.microsoft.com/office/drawing/2014/main" id="{9711C2EB-A181-421C-952C-621CD780DD15}"/>
              </a:ext>
            </a:extLst>
          </p:cNvPr>
          <p:cNvSpPr>
            <a:spLocks xmlns:a="http://schemas.openxmlformats.org/drawingml/2006/main" noGrp="1"/>
          </p:cNvSpPr>
          <p:nvPr/>
        </p:nvSpPr>
        <p:spPr>
          <a:xfrm xmlns:a="http://schemas.openxmlformats.org/drawingml/2006/main">
            <a:off x="609600" y="342900"/>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2E74B5"/>
                </a:solidFill>
                <a:latin typeface="Arial"/>
                <a:ea typeface="Arial"/>
                <a:cs typeface="Arial"/>
              </a:defRPr>
            </a:pPr>
            <a:r>
              <a:rPr sz="900" b="1">
                <a:solidFill>
                  <a:srgbClr val="2E74B5"/>
                </a:solidFill>
                <a:latin typeface="Arial"/>
                <a:ea typeface="Arial"/>
                <a:cs typeface="Arial"/>
              </a:rPr>
              <a:t>IN-CLASS CHECK</a:t>
            </a:r>
          </a:p>
        </p:txBody>
      </p:sp>
      <p:sp>
        <p:nvSpPr>
          <p:cNvPr id="2" name="title">
            <a:extLst xmlns:a="http://schemas.openxmlformats.org/drawingml/2006/main">
              <a:ext uri="{FF2B5EF4-FFF2-40B4-BE49-F238E27FC236}">
                <a16:creationId xmlns:a16="http://schemas.microsoft.com/office/drawing/2014/main" id="{B2AA42F9-08E9-45D8-A202-8B5367E2D459}"/>
              </a:ext>
            </a:extLst>
          </p:cNvPr>
          <p:cNvSpPr>
            <a:spLocks xmlns:a="http://schemas.openxmlformats.org/drawingml/2006/main" noGrp="1"/>
          </p:cNvSpPr>
          <p:nvPr/>
        </p:nvSpPr>
        <p:spPr>
          <a:xfrm xmlns:a="http://schemas.openxmlformats.org/drawingml/2006/main">
            <a:off x="609600" y="60960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3000" b="0">
                <a:solidFill>
                  <a:srgbClr val="111316"/>
                </a:solidFill>
                <a:latin typeface="Arial"/>
                <a:ea typeface="Arial"/>
                <a:cs typeface="Arial"/>
              </a:defRPr>
            </a:pPr>
            <a:r>
              <a:rPr sz="3000" b="0">
                <a:solidFill>
                  <a:srgbClr val="111316"/>
                </a:solidFill>
                <a:latin typeface="Arial"/>
                <a:ea typeface="Arial"/>
                <a:cs typeface="Arial"/>
              </a:rPr>
              <a:t>Studio 5: write your own required transfer assertions</a:t>
            </a:r>
          </a:p>
        </p:txBody>
      </p:sp>
      <p:sp>
        <p:nvSpPr>
          <p:cNvPr id="3" name="">
            <a:extLst xmlns:a="http://schemas.openxmlformats.org/drawingml/2006/main">
              <a:ext uri="{FF2B5EF4-FFF2-40B4-BE49-F238E27FC236}">
                <a16:creationId xmlns:a16="http://schemas.microsoft.com/office/drawing/2014/main" id="{E85958F1-309C-46AD-A7F6-BA07A6651F32}"/>
              </a:ext>
            </a:extLst>
          </p:cNvPr>
          <p:cNvSpPr>
            <a:spLocks xmlns:a="http://schemas.openxmlformats.org/drawingml/2006/main" noGrp="1"/>
          </p:cNvSpPr>
          <p:nvPr/>
        </p:nvSpPr>
        <p:spPr>
          <a:xfrm xmlns:a="http://schemas.openxmlformats.org/drawingml/2006/main">
            <a:off x="609600" y="6343650"/>
            <a:ext cx="10972800" cy="0"/>
          </a:xfrm>
          <a:prstGeom xmlns:a="http://schemas.openxmlformats.org/drawingml/2006/main" prst="line">
            <a:avLst/>
          </a:prstGeom>
          <a:noFill xmlns:a="http://schemas.openxmlformats.org/drawingml/2006/main"/>
          <a:ln xmlns:a="http://schemas.openxmlformats.org/drawingml/2006/main" w="9525">
            <a:solidFill>
              <a:srgbClr val="DDE0E5"/>
            </a:solidFill>
            <a:prstDash val="solid"/>
          </a:ln>
        </p:spPr>
      </p:sp>
      <p:sp>
        <p:nvSpPr>
          <p:cNvPr id="4" name="footer">
            <a:extLst xmlns:a="http://schemas.openxmlformats.org/drawingml/2006/main">
              <a:ext uri="{FF2B5EF4-FFF2-40B4-BE49-F238E27FC236}">
                <a16:creationId xmlns:a16="http://schemas.microsoft.com/office/drawing/2014/main" id="{C24103F4-6A39-4030-A3C1-81A224E9207F}"/>
              </a:ext>
            </a:extLst>
          </p:cNvPr>
          <p:cNvSpPr>
            <a:spLocks xmlns:a="http://schemas.openxmlformats.org/drawingml/2006/main" noGrp="1"/>
          </p:cNvSpPr>
          <p:nvPr/>
        </p:nvSpPr>
        <p:spPr>
          <a:xfrm xmlns:a="http://schemas.openxmlformats.org/drawingml/2006/main">
            <a:off x="609600" y="6429375"/>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ARC 500  ·  Week 10 · Meeting B · Linear Programming Studio</a:t>
            </a:r>
          </a:p>
        </p:txBody>
      </p:sp>
      <p:sp>
        <p:nvSpPr>
          <p:cNvPr id="5" name="page">
            <a:extLst xmlns:a="http://schemas.openxmlformats.org/drawingml/2006/main">
              <a:ext uri="{FF2B5EF4-FFF2-40B4-BE49-F238E27FC236}">
                <a16:creationId xmlns:a16="http://schemas.microsoft.com/office/drawing/2014/main" id="{64887933-A1F3-4552-9700-ACDD1934C8CA}"/>
              </a:ext>
            </a:extLst>
          </p:cNvPr>
          <p:cNvSpPr>
            <a:spLocks xmlns:a="http://schemas.openxmlformats.org/drawingml/2006/main" noGrp="1"/>
          </p:cNvSpPr>
          <p:nvPr/>
        </p:nvSpPr>
        <p:spPr>
          <a:xfrm xmlns:a="http://schemas.openxmlformats.org/drawingml/2006/main">
            <a:off x="10896600" y="6429375"/>
            <a:ext cx="685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26</a:t>
            </a:r>
          </a:p>
        </p:txBody>
      </p:sp>
      <p:sp>
        <p:nvSpPr>
          <p:cNvPr id="6" name="exercise-accent">
            <a:extLst xmlns:a="http://schemas.openxmlformats.org/drawingml/2006/main">
              <a:ext uri="{FF2B5EF4-FFF2-40B4-BE49-F238E27FC236}">
                <a16:creationId xmlns:a16="http://schemas.microsoft.com/office/drawing/2014/main" id="{DD38237D-DB17-4EBA-82CD-A2516ECB4475}"/>
              </a:ext>
            </a:extLst>
          </p:cNvPr>
          <p:cNvSpPr>
            <a:spLocks xmlns:a="http://schemas.openxmlformats.org/drawingml/2006/main" noGrp="1"/>
          </p:cNvSpPr>
          <p:nvPr/>
        </p:nvSpPr>
        <p:spPr>
          <a:xfrm xmlns:a="http://schemas.openxmlformats.org/drawingml/2006/main">
            <a:off x="609600" y="1809750"/>
            <a:ext cx="4000500" cy="4248150"/>
          </a:xfrm>
          <a:prstGeom xmlns:a="http://schemas.openxmlformats.org/drawingml/2006/main" prst="roundRect">
            <a:avLst>
              <a:gd name="adj" fmla="val 1429"/>
            </a:avLst>
          </a:prstGeom>
          <a:solidFill xmlns:a="http://schemas.openxmlformats.org/drawingml/2006/main">
            <a:srgbClr val="2E74B5"/>
          </a:solidFill>
          <a:ln xmlns:a="http://schemas.openxmlformats.org/drawingml/2006/main" w="9525">
            <a:solidFill>
              <a:srgbClr val="2E74B5"/>
            </a:solidFill>
            <a:prstDash val="solid"/>
          </a:ln>
        </p:spPr>
      </p:sp>
      <p:sp>
        <p:nvSpPr>
          <p:cNvPr id="7" name="exercise-prompt">
            <a:extLst xmlns:a="http://schemas.openxmlformats.org/drawingml/2006/main">
              <a:ext uri="{FF2B5EF4-FFF2-40B4-BE49-F238E27FC236}">
                <a16:creationId xmlns:a16="http://schemas.microsoft.com/office/drawing/2014/main" id="{38EAD9DB-1657-48C3-8E44-9847460FEDEE}"/>
              </a:ext>
            </a:extLst>
          </p:cNvPr>
          <p:cNvSpPr>
            <a:spLocks xmlns:a="http://schemas.openxmlformats.org/drawingml/2006/main" noGrp="1"/>
          </p:cNvSpPr>
          <p:nvPr/>
        </p:nvSpPr>
        <p:spPr>
          <a:xfrm xmlns:a="http://schemas.openxmlformats.org/drawingml/2006/main">
            <a:off x="876300" y="2095500"/>
            <a:ext cx="3467100" cy="3676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8000"/>
              </a:lnSpc>
              <a:buNone/>
              <a:defRPr sz="2100" b="1">
                <a:solidFill>
                  <a:srgbClr val="FFFFFF"/>
                </a:solidFill>
                <a:latin typeface="Arial"/>
                <a:ea typeface="Arial"/>
                <a:cs typeface="Arial"/>
              </a:defRPr>
            </a:pPr>
            <a:r>
              <a:rPr sz="2100" b="1">
                <a:solidFill>
                  <a:srgbClr val="FFFFFF"/>
                </a:solidFill>
                <a:latin typeface="Arial"/>
                <a:ea typeface="Arial"/>
                <a:cs typeface="Arial"/>
              </a:rPr>
              <a:t>Turn the check above into 2-4 self-written assert statements — this week's required transfer safeguard.</a:t>
            </a:r>
          </a:p>
        </p:txBody>
      </p:sp>
      <p:sp>
        <p:nvSpPr>
          <p:cNvPr id="8" name="work-label">
            <a:extLst xmlns:a="http://schemas.openxmlformats.org/drawingml/2006/main">
              <a:ext uri="{FF2B5EF4-FFF2-40B4-BE49-F238E27FC236}">
                <a16:creationId xmlns:a16="http://schemas.microsoft.com/office/drawing/2014/main" id="{86A16D57-3CD5-41BB-8358-FB47359AF9E0}"/>
              </a:ext>
            </a:extLst>
          </p:cNvPr>
          <p:cNvSpPr>
            <a:spLocks xmlns:a="http://schemas.openxmlformats.org/drawingml/2006/main" noGrp="1"/>
          </p:cNvSpPr>
          <p:nvPr/>
        </p:nvSpPr>
        <p:spPr>
          <a:xfrm xmlns:a="http://schemas.openxmlformats.org/drawingml/2006/main">
            <a:off x="5029200" y="1847850"/>
            <a:ext cx="6553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2E74B5"/>
                </a:solidFill>
                <a:latin typeface="Arial"/>
                <a:ea typeface="Arial"/>
                <a:cs typeface="Arial"/>
              </a:defRPr>
            </a:pPr>
            <a:r>
              <a:rPr sz="900" b="1">
                <a:solidFill>
                  <a:srgbClr val="2E74B5"/>
                </a:solidFill>
                <a:latin typeface="Arial"/>
                <a:ea typeface="Arial"/>
                <a:cs typeface="Arial"/>
              </a:rPr>
              <a:t>WORK THROUGH IT</a:t>
            </a:r>
          </a:p>
        </p:txBody>
      </p:sp>
      <p:sp>
        <p:nvSpPr>
          <p:cNvPr id="9" name="exercise-no-0">
            <a:extLst xmlns:a="http://schemas.openxmlformats.org/drawingml/2006/main">
              <a:ext uri="{FF2B5EF4-FFF2-40B4-BE49-F238E27FC236}">
                <a16:creationId xmlns:a16="http://schemas.microsoft.com/office/drawing/2014/main" id="{14E44D1B-791B-4646-B2A5-B86E79D4CAB9}"/>
              </a:ext>
            </a:extLst>
          </p:cNvPr>
          <p:cNvSpPr>
            <a:spLocks xmlns:a="http://schemas.openxmlformats.org/drawingml/2006/main" noGrp="1"/>
          </p:cNvSpPr>
          <p:nvPr/>
        </p:nvSpPr>
        <p:spPr>
          <a:xfrm xmlns:a="http://schemas.openxmlformats.org/drawingml/2006/main">
            <a:off x="5029200" y="2247900"/>
            <a:ext cx="381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00" b="1">
                <a:solidFill>
                  <a:srgbClr val="2E74B5"/>
                </a:solidFill>
                <a:latin typeface="Arial"/>
                <a:ea typeface="Arial"/>
                <a:cs typeface="Arial"/>
              </a:defRPr>
            </a:pPr>
            <a:r>
              <a:rPr sz="1800" b="1">
                <a:solidFill>
                  <a:srgbClr val="2E74B5"/>
                </a:solidFill>
                <a:latin typeface="Arial"/>
                <a:ea typeface="Arial"/>
                <a:cs typeface="Arial"/>
              </a:rPr>
              <a:t>1.</a:t>
            </a:r>
          </a:p>
        </p:txBody>
      </p:sp>
      <p:sp>
        <p:nvSpPr>
          <p:cNvPr id="10" name="exercise-step-0">
            <a:extLst xmlns:a="http://schemas.openxmlformats.org/drawingml/2006/main">
              <a:ext uri="{FF2B5EF4-FFF2-40B4-BE49-F238E27FC236}">
                <a16:creationId xmlns:a16="http://schemas.microsoft.com/office/drawing/2014/main" id="{082D4CAC-3BC0-4671-B559-C1C4DABF2BE5}"/>
              </a:ext>
            </a:extLst>
          </p:cNvPr>
          <p:cNvSpPr>
            <a:spLocks xmlns:a="http://schemas.openxmlformats.org/drawingml/2006/main" noGrp="1"/>
          </p:cNvSpPr>
          <p:nvPr/>
        </p:nvSpPr>
        <p:spPr>
          <a:xfrm xmlns:a="http://schemas.openxmlformats.org/drawingml/2006/main">
            <a:off x="5467350" y="2247900"/>
            <a:ext cx="611505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800" b="0">
                <a:solidFill>
                  <a:srgbClr val="111316"/>
                </a:solidFill>
                <a:latin typeface="Arial"/>
                <a:ea typeface="Arial"/>
                <a:cs typeface="Arial"/>
              </a:defRPr>
            </a:pPr>
            <a:r>
              <a:rPr sz="1800" b="0">
                <a:solidFill>
                  <a:srgbClr val="111316"/>
                </a:solidFill>
                <a:latin typeface="Arial"/>
                <a:ea typeface="Arial"/>
                <a:cs typeface="Arial"/>
              </a:rPr>
              <a:t>Assert res_new.x[0] + res_new.x[1] == 200.</a:t>
            </a:r>
          </a:p>
        </p:txBody>
      </p:sp>
      <p:sp>
        <p:nvSpPr>
          <p:cNvPr id="11" name="exercise-no-1">
            <a:extLst xmlns:a="http://schemas.openxmlformats.org/drawingml/2006/main">
              <a:ext uri="{FF2B5EF4-FFF2-40B4-BE49-F238E27FC236}">
                <a16:creationId xmlns:a16="http://schemas.microsoft.com/office/drawing/2014/main" id="{950EB06E-AA46-4B41-81ED-50A66CF5491F}"/>
              </a:ext>
            </a:extLst>
          </p:cNvPr>
          <p:cNvSpPr>
            <a:spLocks xmlns:a="http://schemas.openxmlformats.org/drawingml/2006/main" noGrp="1"/>
          </p:cNvSpPr>
          <p:nvPr/>
        </p:nvSpPr>
        <p:spPr>
          <a:xfrm xmlns:a="http://schemas.openxmlformats.org/drawingml/2006/main">
            <a:off x="5029200" y="3124200"/>
            <a:ext cx="381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00" b="1">
                <a:solidFill>
                  <a:srgbClr val="2E74B5"/>
                </a:solidFill>
                <a:latin typeface="Arial"/>
                <a:ea typeface="Arial"/>
                <a:cs typeface="Arial"/>
              </a:defRPr>
            </a:pPr>
            <a:r>
              <a:rPr sz="1800" b="1">
                <a:solidFill>
                  <a:srgbClr val="2E74B5"/>
                </a:solidFill>
                <a:latin typeface="Arial"/>
                <a:ea typeface="Arial"/>
                <a:cs typeface="Arial"/>
              </a:rPr>
              <a:t>2.</a:t>
            </a:r>
          </a:p>
        </p:txBody>
      </p:sp>
      <p:sp>
        <p:nvSpPr>
          <p:cNvPr id="12" name="exercise-step-1">
            <a:extLst xmlns:a="http://schemas.openxmlformats.org/drawingml/2006/main">
              <a:ext uri="{FF2B5EF4-FFF2-40B4-BE49-F238E27FC236}">
                <a16:creationId xmlns:a16="http://schemas.microsoft.com/office/drawing/2014/main" id="{BFC01379-314B-4530-A90F-79CF47BC8B9D}"/>
              </a:ext>
            </a:extLst>
          </p:cNvPr>
          <p:cNvSpPr>
            <a:spLocks xmlns:a="http://schemas.openxmlformats.org/drawingml/2006/main" noGrp="1"/>
          </p:cNvSpPr>
          <p:nvPr/>
        </p:nvSpPr>
        <p:spPr>
          <a:xfrm xmlns:a="http://schemas.openxmlformats.org/drawingml/2006/main">
            <a:off x="5467350" y="3124200"/>
            <a:ext cx="611505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800" b="0">
                <a:solidFill>
                  <a:srgbClr val="111316"/>
                </a:solidFill>
                <a:latin typeface="Arial"/>
                <a:ea typeface="Arial"/>
                <a:cs typeface="Arial"/>
              </a:defRPr>
            </a:pPr>
            <a:r>
              <a:rPr sz="1800" b="0">
                <a:solidFill>
                  <a:srgbClr val="111316"/>
                </a:solidFill>
                <a:latin typeface="Arial"/>
                <a:ea typeface="Arial"/>
                <a:cs typeface="Arial"/>
              </a:rPr>
              <a:t>Assert 400*res_new.x[0] + 150*res_new.x[1] == 40000.</a:t>
            </a:r>
          </a:p>
        </p:txBody>
      </p:sp>
      <p:sp>
        <p:nvSpPr>
          <p:cNvPr id="13" name="exercise-no-2">
            <a:extLst xmlns:a="http://schemas.openxmlformats.org/drawingml/2006/main">
              <a:ext uri="{FF2B5EF4-FFF2-40B4-BE49-F238E27FC236}">
                <a16:creationId xmlns:a16="http://schemas.microsoft.com/office/drawing/2014/main" id="{B5178D04-CF96-4CD1-9434-59C3F80BD7CD}"/>
              </a:ext>
            </a:extLst>
          </p:cNvPr>
          <p:cNvSpPr>
            <a:spLocks xmlns:a="http://schemas.openxmlformats.org/drawingml/2006/main" noGrp="1"/>
          </p:cNvSpPr>
          <p:nvPr/>
        </p:nvSpPr>
        <p:spPr>
          <a:xfrm xmlns:a="http://schemas.openxmlformats.org/drawingml/2006/main">
            <a:off x="5029200" y="4000500"/>
            <a:ext cx="381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00" b="1">
                <a:solidFill>
                  <a:srgbClr val="2E74B5"/>
                </a:solidFill>
                <a:latin typeface="Arial"/>
                <a:ea typeface="Arial"/>
                <a:cs typeface="Arial"/>
              </a:defRPr>
            </a:pPr>
            <a:r>
              <a:rPr sz="1800" b="1">
                <a:solidFill>
                  <a:srgbClr val="2E74B5"/>
                </a:solidFill>
                <a:latin typeface="Arial"/>
                <a:ea typeface="Arial"/>
                <a:cs typeface="Arial"/>
              </a:rPr>
              <a:t>3.</a:t>
            </a:r>
          </a:p>
        </p:txBody>
      </p:sp>
      <p:sp>
        <p:nvSpPr>
          <p:cNvPr id="14" name="exercise-step-2">
            <a:extLst xmlns:a="http://schemas.openxmlformats.org/drawingml/2006/main">
              <a:ext uri="{FF2B5EF4-FFF2-40B4-BE49-F238E27FC236}">
                <a16:creationId xmlns:a16="http://schemas.microsoft.com/office/drawing/2014/main" id="{4F2BB368-3F48-4A70-A086-8706FEC3EA37}"/>
              </a:ext>
            </a:extLst>
          </p:cNvPr>
          <p:cNvSpPr>
            <a:spLocks xmlns:a="http://schemas.openxmlformats.org/drawingml/2006/main" noGrp="1"/>
          </p:cNvSpPr>
          <p:nvPr/>
        </p:nvSpPr>
        <p:spPr>
          <a:xfrm xmlns:a="http://schemas.openxmlformats.org/drawingml/2006/main">
            <a:off x="5467350" y="4000500"/>
            <a:ext cx="611505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800" b="0">
                <a:solidFill>
                  <a:srgbClr val="111316"/>
                </a:solidFill>
                <a:latin typeface="Arial"/>
                <a:ea typeface="Arial"/>
                <a:cs typeface="Arial"/>
              </a:defRPr>
            </a:pPr>
            <a:r>
              <a:rPr sz="1800" b="0">
                <a:solidFill>
                  <a:srgbClr val="111316"/>
                </a:solidFill>
                <a:latin typeface="Arial"/>
                <a:ea typeface="Arial"/>
                <a:cs typeface="Arial"/>
              </a:rPr>
              <a:t>Assert round(-res_new.fun, 2) == 6400.0.</a:t>
            </a:r>
          </a:p>
        </p:txBody>
      </p:sp>
      <p:sp>
        <p:nvSpPr>
          <p:cNvPr id="15" name="exercise-no-3">
            <a:extLst xmlns:a="http://schemas.openxmlformats.org/drawingml/2006/main">
              <a:ext uri="{FF2B5EF4-FFF2-40B4-BE49-F238E27FC236}">
                <a16:creationId xmlns:a16="http://schemas.microsoft.com/office/drawing/2014/main" id="{67A52402-8E5B-4C2A-B0D1-54CB38437D2F}"/>
              </a:ext>
            </a:extLst>
          </p:cNvPr>
          <p:cNvSpPr>
            <a:spLocks xmlns:a="http://schemas.openxmlformats.org/drawingml/2006/main" noGrp="1"/>
          </p:cNvSpPr>
          <p:nvPr/>
        </p:nvSpPr>
        <p:spPr>
          <a:xfrm xmlns:a="http://schemas.openxmlformats.org/drawingml/2006/main">
            <a:off x="5029200" y="4876800"/>
            <a:ext cx="381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00" b="1">
                <a:solidFill>
                  <a:srgbClr val="2E74B5"/>
                </a:solidFill>
                <a:latin typeface="Arial"/>
                <a:ea typeface="Arial"/>
                <a:cs typeface="Arial"/>
              </a:defRPr>
            </a:pPr>
            <a:r>
              <a:rPr sz="1800" b="1">
                <a:solidFill>
                  <a:srgbClr val="2E74B5"/>
                </a:solidFill>
                <a:latin typeface="Arial"/>
                <a:ea typeface="Arial"/>
                <a:cs typeface="Arial"/>
              </a:rPr>
              <a:t>4.</a:t>
            </a:r>
          </a:p>
        </p:txBody>
      </p:sp>
      <p:sp>
        <p:nvSpPr>
          <p:cNvPr id="16" name="exercise-step-3">
            <a:extLst xmlns:a="http://schemas.openxmlformats.org/drawingml/2006/main">
              <a:ext uri="{FF2B5EF4-FFF2-40B4-BE49-F238E27FC236}">
                <a16:creationId xmlns:a16="http://schemas.microsoft.com/office/drawing/2014/main" id="{4B920B12-5E59-4094-AD99-EA5C29E28660}"/>
              </a:ext>
            </a:extLst>
          </p:cNvPr>
          <p:cNvSpPr>
            <a:spLocks xmlns:a="http://schemas.openxmlformats.org/drawingml/2006/main" noGrp="1"/>
          </p:cNvSpPr>
          <p:nvPr/>
        </p:nvSpPr>
        <p:spPr>
          <a:xfrm xmlns:a="http://schemas.openxmlformats.org/drawingml/2006/main">
            <a:off x="5467350" y="4876800"/>
            <a:ext cx="611505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800" b="0">
                <a:solidFill>
                  <a:srgbClr val="111316"/>
                </a:solidFill>
                <a:latin typeface="Arial"/>
                <a:ea typeface="Arial"/>
                <a:cs typeface="Arial"/>
              </a:defRPr>
            </a:pPr>
            <a:r>
              <a:rPr sz="1800" b="0">
                <a:solidFill>
                  <a:srgbClr val="111316"/>
                </a:solidFill>
                <a:latin typeface="Arial"/>
                <a:ea typeface="Arial"/>
                <a:cs typeface="Arial"/>
              </a:rPr>
              <a:t>Run from a restarted kernel and confirm silent success.</a:t>
            </a:r>
          </a:p>
        </p:txBody>
      </p:sp>
    </p:spTree>
    <p:extLst>
      <p:ext uri="{BB962C8B-B14F-4D97-AF65-F5344CB8AC3E}">
        <p14:creationId xmlns:p14="http://schemas.microsoft.com/office/powerpoint/2010/main" val="176188225"/>
      </p:ext>
    </p:extLst>
  </p:cSld>
</p:sld>
</file>

<file path=ppt/slides/slide2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kicker">
            <a:extLst xmlns:a="http://schemas.openxmlformats.org/drawingml/2006/main">
              <a:ext uri="{FF2B5EF4-FFF2-40B4-BE49-F238E27FC236}">
                <a16:creationId xmlns:a16="http://schemas.microsoft.com/office/drawing/2014/main" id="{E67D81E4-80DA-422A-B305-EE4B23A2C4D5}"/>
              </a:ext>
            </a:extLst>
          </p:cNvPr>
          <p:cNvSpPr>
            <a:spLocks xmlns:a="http://schemas.openxmlformats.org/drawingml/2006/main" noGrp="1"/>
          </p:cNvSpPr>
          <p:nvPr/>
        </p:nvSpPr>
        <p:spPr>
          <a:xfrm xmlns:a="http://schemas.openxmlformats.org/drawingml/2006/main">
            <a:off x="609600" y="342900"/>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2E74B5"/>
                </a:solidFill>
                <a:latin typeface="Arial"/>
                <a:ea typeface="Arial"/>
                <a:cs typeface="Arial"/>
              </a:defRPr>
            </a:pPr>
            <a:r>
              <a:rPr sz="900" b="1">
                <a:solidFill>
                  <a:srgbClr val="2E74B5"/>
                </a:solidFill>
                <a:latin typeface="Arial"/>
                <a:ea typeface="Arial"/>
                <a:cs typeface="Arial"/>
              </a:rPr>
              <a:t>PYTHON SYNTAX</a:t>
            </a:r>
          </a:p>
        </p:txBody>
      </p:sp>
      <p:sp>
        <p:nvSpPr>
          <p:cNvPr id="2" name="title">
            <a:extLst xmlns:a="http://schemas.openxmlformats.org/drawingml/2006/main">
              <a:ext uri="{FF2B5EF4-FFF2-40B4-BE49-F238E27FC236}">
                <a16:creationId xmlns:a16="http://schemas.microsoft.com/office/drawing/2014/main" id="{59EE5B60-6308-48FF-ADBF-094F08C309EE}"/>
              </a:ext>
            </a:extLst>
          </p:cNvPr>
          <p:cNvSpPr>
            <a:spLocks xmlns:a="http://schemas.openxmlformats.org/drawingml/2006/main" noGrp="1"/>
          </p:cNvSpPr>
          <p:nvPr/>
        </p:nvSpPr>
        <p:spPr>
          <a:xfrm xmlns:a="http://schemas.openxmlformats.org/drawingml/2006/main">
            <a:off x="609600" y="60960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3000" b="0">
                <a:solidFill>
                  <a:srgbClr val="111316"/>
                </a:solidFill>
                <a:latin typeface="Arial"/>
                <a:ea typeface="Arial"/>
                <a:cs typeface="Arial"/>
              </a:defRPr>
            </a:pPr>
            <a:r>
              <a:rPr sz="3000" b="0">
                <a:solidFill>
                  <a:srgbClr val="111316"/>
                </a:solidFill>
                <a:latin typeface="Arial"/>
                <a:ea typeface="Arial"/>
                <a:cs typeface="Arial"/>
              </a:rPr>
              <a:t>[8] Package formulate, solve, and verify as one function</a:t>
            </a:r>
          </a:p>
        </p:txBody>
      </p:sp>
      <p:sp>
        <p:nvSpPr>
          <p:cNvPr id="3" name="">
            <a:extLst xmlns:a="http://schemas.openxmlformats.org/drawingml/2006/main">
              <a:ext uri="{FF2B5EF4-FFF2-40B4-BE49-F238E27FC236}">
                <a16:creationId xmlns:a16="http://schemas.microsoft.com/office/drawing/2014/main" id="{B44B8E7E-3499-4267-BBD3-0DD0CE88918B}"/>
              </a:ext>
            </a:extLst>
          </p:cNvPr>
          <p:cNvSpPr>
            <a:spLocks xmlns:a="http://schemas.openxmlformats.org/drawingml/2006/main" noGrp="1"/>
          </p:cNvSpPr>
          <p:nvPr/>
        </p:nvSpPr>
        <p:spPr>
          <a:xfrm xmlns:a="http://schemas.openxmlformats.org/drawingml/2006/main">
            <a:off x="609600" y="6343650"/>
            <a:ext cx="10972800" cy="0"/>
          </a:xfrm>
          <a:prstGeom xmlns:a="http://schemas.openxmlformats.org/drawingml/2006/main" prst="line">
            <a:avLst/>
          </a:prstGeom>
          <a:noFill xmlns:a="http://schemas.openxmlformats.org/drawingml/2006/main"/>
          <a:ln xmlns:a="http://schemas.openxmlformats.org/drawingml/2006/main" w="9525">
            <a:solidFill>
              <a:srgbClr val="DDE0E5"/>
            </a:solidFill>
            <a:prstDash val="solid"/>
          </a:ln>
        </p:spPr>
      </p:sp>
      <p:sp>
        <p:nvSpPr>
          <p:cNvPr id="4" name="footer">
            <a:extLst xmlns:a="http://schemas.openxmlformats.org/drawingml/2006/main">
              <a:ext uri="{FF2B5EF4-FFF2-40B4-BE49-F238E27FC236}">
                <a16:creationId xmlns:a16="http://schemas.microsoft.com/office/drawing/2014/main" id="{C4F02A4D-0D2C-484D-B444-EFA97917661F}"/>
              </a:ext>
            </a:extLst>
          </p:cNvPr>
          <p:cNvSpPr>
            <a:spLocks xmlns:a="http://schemas.openxmlformats.org/drawingml/2006/main" noGrp="1"/>
          </p:cNvSpPr>
          <p:nvPr/>
        </p:nvSpPr>
        <p:spPr>
          <a:xfrm xmlns:a="http://schemas.openxmlformats.org/drawingml/2006/main">
            <a:off x="609600" y="6429375"/>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ARC 500  ·  Week 10 · Meeting B · Linear Programming Studio</a:t>
            </a:r>
          </a:p>
        </p:txBody>
      </p:sp>
      <p:sp>
        <p:nvSpPr>
          <p:cNvPr id="5" name="page">
            <a:extLst xmlns:a="http://schemas.openxmlformats.org/drawingml/2006/main">
              <a:ext uri="{FF2B5EF4-FFF2-40B4-BE49-F238E27FC236}">
                <a16:creationId xmlns:a16="http://schemas.microsoft.com/office/drawing/2014/main" id="{9F8340D7-4E62-47B5-9144-B1A9DCA621A0}"/>
              </a:ext>
            </a:extLst>
          </p:cNvPr>
          <p:cNvSpPr>
            <a:spLocks xmlns:a="http://schemas.openxmlformats.org/drawingml/2006/main" noGrp="1"/>
          </p:cNvSpPr>
          <p:nvPr/>
        </p:nvSpPr>
        <p:spPr>
          <a:xfrm xmlns:a="http://schemas.openxmlformats.org/drawingml/2006/main">
            <a:off x="10896600" y="6429375"/>
            <a:ext cx="685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27</a:t>
            </a:r>
          </a:p>
        </p:txBody>
      </p:sp>
      <p:sp>
        <p:nvSpPr>
          <p:cNvPr id="6" name="code-panel">
            <a:extLst xmlns:a="http://schemas.openxmlformats.org/drawingml/2006/main">
              <a:ext uri="{FF2B5EF4-FFF2-40B4-BE49-F238E27FC236}">
                <a16:creationId xmlns:a16="http://schemas.microsoft.com/office/drawing/2014/main" id="{2FDD74FE-EDCE-47DD-8EAC-6FF46B80979B}"/>
              </a:ext>
            </a:extLst>
          </p:cNvPr>
          <p:cNvSpPr>
            <a:spLocks xmlns:a="http://schemas.openxmlformats.org/drawingml/2006/main" noGrp="1"/>
          </p:cNvSpPr>
          <p:nvPr/>
        </p:nvSpPr>
        <p:spPr>
          <a:xfrm xmlns:a="http://schemas.openxmlformats.org/drawingml/2006/main">
            <a:off x="609600" y="1809750"/>
            <a:ext cx="6896100" cy="4267200"/>
          </a:xfrm>
          <a:prstGeom xmlns:a="http://schemas.openxmlformats.org/drawingml/2006/main" prst="roundRect">
            <a:avLst>
              <a:gd name="adj" fmla="val 1786"/>
            </a:avLst>
          </a:prstGeom>
          <a:solidFill xmlns:a="http://schemas.openxmlformats.org/drawingml/2006/main">
            <a:srgbClr val="17191C"/>
          </a:solidFill>
          <a:ln xmlns:a="http://schemas.openxmlformats.org/drawingml/2006/main" w="9525">
            <a:solidFill>
              <a:srgbClr val="17191C"/>
            </a:solidFill>
            <a:prstDash val="solid"/>
          </a:ln>
        </p:spPr>
      </p:sp>
      <p:sp>
        <p:nvSpPr>
          <p:cNvPr id="7" name="code">
            <a:extLst xmlns:a="http://schemas.openxmlformats.org/drawingml/2006/main">
              <a:ext uri="{FF2B5EF4-FFF2-40B4-BE49-F238E27FC236}">
                <a16:creationId xmlns:a16="http://schemas.microsoft.com/office/drawing/2014/main" id="{5B193464-6222-424A-8896-93A664D622D5}"/>
              </a:ext>
            </a:extLst>
          </p:cNvPr>
          <p:cNvSpPr>
            <a:spLocks xmlns:a="http://schemas.openxmlformats.org/drawingml/2006/main" noGrp="1"/>
          </p:cNvSpPr>
          <p:nvPr/>
        </p:nvSpPr>
        <p:spPr>
          <a:xfrm xmlns:a="http://schemas.openxmlformats.org/drawingml/2006/main">
            <a:off x="857250" y="2057400"/>
            <a:ext cx="6400800" cy="3771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4000"/>
              </a:lnSpc>
              <a:buNone/>
              <a:defRPr sz="1500" b="0">
                <a:solidFill>
                  <a:srgbClr val="FFFFFF"/>
                </a:solidFill>
                <a:latin typeface="Consolas"/>
                <a:ea typeface="Consolas"/>
                <a:cs typeface="Consolas"/>
              </a:defRPr>
            </a:pPr>
            <a:r>
              <a:rPr sz="1500" b="0">
                <a:solidFill>
                  <a:srgbClr val="FFFFFF"/>
                </a:solidFill>
                <a:latin typeface="Consolas"/>
                <a:ea typeface="Consolas"/>
                <a:cs typeface="Consolas"/>
              </a:rPr>
              <a:t>def solve_roof_allocation(area_limit_m2: float,</a:t>
            </a:r>
          </a:p>
          <a:p xmlns:a="http://schemas.openxmlformats.org/drawingml/2006/main">
            <a:pPr algn="l">
              <a:lnSpc>
                <a:spcPct val="114000"/>
              </a:lnSpc>
              <a:buNone/>
              <a:defRPr sz="1500" b="0">
                <a:solidFill>
                  <a:srgbClr val="FFFFFF"/>
                </a:solidFill>
                <a:latin typeface="Consolas"/>
                <a:ea typeface="Consolas"/>
                <a:cs typeface="Consolas"/>
              </a:defRPr>
            </a:pPr>
            <a:r>
              <a:rPr sz="1500" b="0">
                <a:solidFill>
                  <a:srgbClr val="FFFFFF"/>
                </a:solidFill>
                <a:latin typeface="Consolas"/>
                <a:ea typeface="Consolas"/>
                <a:cs typeface="Consolas"/>
              </a:rPr>
              <a:t>                          budget_usd: float) -&gt; dict:</a:t>
            </a:r>
          </a:p>
          <a:p xmlns:a="http://schemas.openxmlformats.org/drawingml/2006/main">
            <a:pPr algn="l">
              <a:lnSpc>
                <a:spcPct val="114000"/>
              </a:lnSpc>
              <a:buNone/>
              <a:defRPr sz="1500" b="0">
                <a:solidFill>
                  <a:srgbClr val="FFFFFF"/>
                </a:solidFill>
                <a:latin typeface="Consolas"/>
                <a:ea typeface="Consolas"/>
                <a:cs typeface="Consolas"/>
              </a:defRPr>
            </a:pPr>
            <a:r>
              <a:rPr sz="1500" b="0">
                <a:solidFill>
                  <a:srgbClr val="FFFFFF"/>
                </a:solidFill>
                <a:latin typeface="Consolas"/>
                <a:ea typeface="Consolas"/>
                <a:cs typeface="Consolas"/>
              </a:rPr>
              <a:t>    """Solve one roof scenario; check both limits."""</a:t>
            </a:r>
          </a:p>
          <a:p xmlns:a="http://schemas.openxmlformats.org/drawingml/2006/main">
            <a:pPr algn="l">
              <a:lnSpc>
                <a:spcPct val="114000"/>
              </a:lnSpc>
              <a:buNone/>
              <a:defRPr sz="1500" b="0">
                <a:solidFill>
                  <a:srgbClr val="FFFFFF"/>
                </a:solidFill>
                <a:latin typeface="Consolas"/>
                <a:ea typeface="Consolas"/>
                <a:cs typeface="Consolas"/>
              </a:defRPr>
            </a:pPr>
            <a:r>
              <a:rPr sz="1500" b="0">
                <a:solidFill>
                  <a:srgbClr val="FFFFFF"/>
                </a:solidFill>
                <a:latin typeface="Consolas"/>
                <a:ea typeface="Consolas"/>
                <a:cs typeface="Consolas"/>
              </a:rPr>
              <a:t>    c = [-60, -25]  # maximize -&gt; minimize -60x1-25x2</a:t>
            </a:r>
          </a:p>
          <a:p xmlns:a="http://schemas.openxmlformats.org/drawingml/2006/main">
            <a:pPr algn="l">
              <a:lnSpc>
                <a:spcPct val="114000"/>
              </a:lnSpc>
              <a:buNone/>
              <a:defRPr sz="1500" b="0">
                <a:solidFill>
                  <a:srgbClr val="FFFFFF"/>
                </a:solidFill>
                <a:latin typeface="Consolas"/>
                <a:ea typeface="Consolas"/>
                <a:cs typeface="Consolas"/>
              </a:defRPr>
            </a:pPr>
            <a:r>
              <a:rPr sz="1500" b="0">
                <a:solidFill>
                  <a:srgbClr val="FFFFFF"/>
                </a:solidFill>
                <a:latin typeface="Consolas"/>
                <a:ea typeface="Consolas"/>
                <a:cs typeface="Consolas"/>
              </a:rPr>
              <a:t>    A_ub = [[1, 1], [400, 150]]  # area row, cost row</a:t>
            </a:r>
          </a:p>
          <a:p xmlns:a="http://schemas.openxmlformats.org/drawingml/2006/main">
            <a:pPr algn="l">
              <a:lnSpc>
                <a:spcPct val="114000"/>
              </a:lnSpc>
              <a:buNone/>
              <a:defRPr sz="1500" b="0">
                <a:solidFill>
                  <a:srgbClr val="FFFFFF"/>
                </a:solidFill>
                <a:latin typeface="Consolas"/>
                <a:ea typeface="Consolas"/>
                <a:cs typeface="Consolas"/>
              </a:defRPr>
            </a:pPr>
            <a:r>
              <a:rPr sz="1500" b="0">
                <a:solidFill>
                  <a:srgbClr val="FFFFFF"/>
                </a:solidFill>
                <a:latin typeface="Consolas"/>
                <a:ea typeface="Consolas"/>
                <a:cs typeface="Consolas"/>
              </a:rPr>
              <a:t>    b_ub = [area_limit_m2, budget_usd]</a:t>
            </a:r>
          </a:p>
          <a:p xmlns:a="http://schemas.openxmlformats.org/drawingml/2006/main">
            <a:pPr algn="l">
              <a:lnSpc>
                <a:spcPct val="114000"/>
              </a:lnSpc>
              <a:buNone/>
              <a:defRPr sz="1500" b="0">
                <a:solidFill>
                  <a:srgbClr val="FFFFFF"/>
                </a:solidFill>
                <a:latin typeface="Consolas"/>
                <a:ea typeface="Consolas"/>
                <a:cs typeface="Consolas"/>
              </a:defRPr>
            </a:pPr>
            <a:r>
              <a:rPr sz="1500" b="0">
                <a:solidFill>
                  <a:srgbClr val="FFFFFF"/>
                </a:solidFill>
                <a:latin typeface="Consolas"/>
                <a:ea typeface="Consolas"/>
                <a:cs typeface="Consolas"/>
              </a:rPr>
              <a:t>    bounds = [(0, 120), (0, None)]  # solar cap 120</a:t>
            </a:r>
          </a:p>
          <a:p xmlns:a="http://schemas.openxmlformats.org/drawingml/2006/main">
            <a:pPr algn="l">
              <a:lnSpc>
                <a:spcPct val="114000"/>
              </a:lnSpc>
              <a:buNone/>
              <a:defRPr sz="1500" b="0">
                <a:solidFill>
                  <a:srgbClr val="FFFFFF"/>
                </a:solidFill>
                <a:latin typeface="Consolas"/>
                <a:ea typeface="Consolas"/>
                <a:cs typeface="Consolas"/>
              </a:defRPr>
            </a:pPr>
            <a:r>
              <a:rPr sz="1500" b="0">
                <a:solidFill>
                  <a:srgbClr val="FFFFFF"/>
                </a:solidFill>
                <a:latin typeface="Consolas"/>
                <a:ea typeface="Consolas"/>
                <a:cs typeface="Consolas"/>
              </a:rPr>
              <a:t>    res = linprog(c, A_ub=A_ub, b_ub=b_ub,</a:t>
            </a:r>
          </a:p>
          <a:p xmlns:a="http://schemas.openxmlformats.org/drawingml/2006/main">
            <a:pPr algn="l">
              <a:lnSpc>
                <a:spcPct val="114000"/>
              </a:lnSpc>
              <a:buNone/>
              <a:defRPr sz="1500" b="0">
                <a:solidFill>
                  <a:srgbClr val="FFFFFF"/>
                </a:solidFill>
                <a:latin typeface="Consolas"/>
                <a:ea typeface="Consolas"/>
                <a:cs typeface="Consolas"/>
              </a:defRPr>
            </a:pPr>
            <a:r>
              <a:rPr sz="1500" b="0">
                <a:solidFill>
                  <a:srgbClr val="FFFFFF"/>
                </a:solidFill>
                <a:latin typeface="Consolas"/>
                <a:ea typeface="Consolas"/>
                <a:cs typeface="Consolas"/>
              </a:rPr>
              <a:t>                  bounds=bounds, method='highs')</a:t>
            </a:r>
          </a:p>
          <a:p xmlns:a="http://schemas.openxmlformats.org/drawingml/2006/main">
            <a:pPr algn="l">
              <a:lnSpc>
                <a:spcPct val="114000"/>
              </a:lnSpc>
              <a:buNone/>
              <a:defRPr sz="1500" b="0">
                <a:solidFill>
                  <a:srgbClr val="FFFFFF"/>
                </a:solidFill>
                <a:latin typeface="Consolas"/>
                <a:ea typeface="Consolas"/>
                <a:cs typeface="Consolas"/>
              </a:defRPr>
            </a:pPr>
            <a:r>
              <a:rPr sz="1500" b="0">
                <a:solidFill>
                  <a:srgbClr val="FFFFFF"/>
                </a:solidFill>
                <a:latin typeface="Consolas"/>
                <a:ea typeface="Consolas"/>
                <a:cs typeface="Consolas"/>
              </a:rPr>
              <a:t>    x1, x2 = res.x</a:t>
            </a:r>
          </a:p>
          <a:p xmlns:a="http://schemas.openxmlformats.org/drawingml/2006/main">
            <a:pPr algn="l">
              <a:lnSpc>
                <a:spcPct val="114000"/>
              </a:lnSpc>
              <a:buNone/>
              <a:defRPr sz="1500" b="0">
                <a:solidFill>
                  <a:srgbClr val="FFFFFF"/>
                </a:solidFill>
                <a:latin typeface="Consolas"/>
                <a:ea typeface="Consolas"/>
                <a:cs typeface="Consolas"/>
              </a:defRPr>
            </a:pPr>
            <a:r>
              <a:rPr sz="1500" b="0">
                <a:solidFill>
                  <a:srgbClr val="FFFFFF"/>
                </a:solidFill>
                <a:latin typeface="Consolas"/>
                <a:ea typeface="Consolas"/>
                <a:cs typeface="Consolas"/>
              </a:rPr>
              <a:t>    area_used = x1 + x2</a:t>
            </a:r>
          </a:p>
          <a:p xmlns:a="http://schemas.openxmlformats.org/drawingml/2006/main">
            <a:pPr algn="l">
              <a:lnSpc>
                <a:spcPct val="114000"/>
              </a:lnSpc>
              <a:buNone/>
              <a:defRPr sz="1500" b="0">
                <a:solidFill>
                  <a:srgbClr val="FFFFFF"/>
                </a:solidFill>
                <a:latin typeface="Consolas"/>
                <a:ea typeface="Consolas"/>
                <a:cs typeface="Consolas"/>
              </a:defRPr>
            </a:pPr>
            <a:r>
              <a:rPr sz="1500" b="0">
                <a:solidFill>
                  <a:srgbClr val="FFFFFF"/>
                </a:solidFill>
                <a:latin typeface="Consolas"/>
                <a:ea typeface="Consolas"/>
                <a:cs typeface="Consolas"/>
              </a:rPr>
              <a:t>    cost_used = 400 * x1 + 150 * x2</a:t>
            </a:r>
          </a:p>
        </p:txBody>
      </p:sp>
      <p:sp>
        <p:nvSpPr>
          <p:cNvPr id="8" name="explain-head">
            <a:extLst xmlns:a="http://schemas.openxmlformats.org/drawingml/2006/main">
              <a:ext uri="{FF2B5EF4-FFF2-40B4-BE49-F238E27FC236}">
                <a16:creationId xmlns:a16="http://schemas.microsoft.com/office/drawing/2014/main" id="{79B247EB-8856-47B6-AE62-CE5996080261}"/>
              </a:ext>
            </a:extLst>
          </p:cNvPr>
          <p:cNvSpPr>
            <a:spLocks xmlns:a="http://schemas.openxmlformats.org/drawingml/2006/main" noGrp="1"/>
          </p:cNvSpPr>
          <p:nvPr/>
        </p:nvSpPr>
        <p:spPr>
          <a:xfrm xmlns:a="http://schemas.openxmlformats.org/drawingml/2006/main">
            <a:off x="7886700" y="2133600"/>
            <a:ext cx="3695700" cy="63322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100" b="1">
                <a:solidFill>
                  <a:srgbClr val="111316"/>
                </a:solidFill>
                <a:latin typeface="Arial"/>
                <a:ea typeface="Arial"/>
                <a:cs typeface="Arial"/>
              </a:defRPr>
            </a:pPr>
            <a:r>
              <a:rPr sz="2100" b="1">
                <a:solidFill>
                  <a:srgbClr val="111316"/>
                </a:solidFill>
                <a:latin typeface="Arial"/>
                <a:ea typeface="Arial"/>
                <a:cs typeface="Arial"/>
              </a:rPr>
              <a:t>The same four arrays, written once</a:t>
            </a:r>
          </a:p>
        </p:txBody>
      </p:sp>
      <p:sp>
        <p:nvSpPr>
          <p:cNvPr id="9" name="explain-body">
            <a:extLst xmlns:a="http://schemas.openxmlformats.org/drawingml/2006/main">
              <a:ext uri="{FF2B5EF4-FFF2-40B4-BE49-F238E27FC236}">
                <a16:creationId xmlns:a16="http://schemas.microsoft.com/office/drawing/2014/main" id="{9A7EB1DA-AC15-4FEC-9A00-1E06DD62CED8}"/>
              </a:ext>
            </a:extLst>
          </p:cNvPr>
          <p:cNvSpPr>
            <a:spLocks xmlns:a="http://schemas.openxmlformats.org/drawingml/2006/main" noGrp="1"/>
          </p:cNvSpPr>
          <p:nvPr/>
        </p:nvSpPr>
        <p:spPr>
          <a:xfrm xmlns:a="http://schemas.openxmlformats.org/drawingml/2006/main">
            <a:off x="7886700" y="2919222"/>
            <a:ext cx="3695700" cy="272796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500" b="0">
                <a:solidFill>
                  <a:srgbClr val="5A5F66"/>
                </a:solidFill>
                <a:latin typeface="Arial"/>
                <a:ea typeface="Arial"/>
                <a:cs typeface="Arial"/>
              </a:defRPr>
            </a:pPr>
            <a:r>
              <a:rPr sz="1500" b="0">
                <a:solidFill>
                  <a:srgbClr val="5A5F66"/>
                </a:solidFill>
                <a:latin typeface="Arial"/>
                <a:ea typeface="Arial"/>
                <a:cs typeface="Arial"/>
              </a:rPr>
              <a:t>Cells [1] and [7] typed the same formulation twice, changing only b_ub. A function makes that honest: area_limit_m2 and budget_usd become parameters because they are what actually changes, while the $400/$150 install costs, the $60/$25 benefits, and the 120 m2 structural cap stay fixed inside. The docstring and type hints are the Week 4 convention. area_used and cost_used are the same hand-checks from cells [2]-[3], now recomputed on every call.</a:t>
            </a:r>
          </a:p>
        </p:txBody>
      </p:sp>
    </p:spTree>
    <p:extLst>
      <p:ext uri="{BB962C8B-B14F-4D97-AF65-F5344CB8AC3E}">
        <p14:creationId xmlns:p14="http://schemas.microsoft.com/office/powerpoint/2010/main" val="1489396870"/>
      </p:ext>
    </p:extLst>
  </p:cSld>
</p:sld>
</file>

<file path=ppt/slides/slide2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kicker">
            <a:extLst xmlns:a="http://schemas.openxmlformats.org/drawingml/2006/main">
              <a:ext uri="{FF2B5EF4-FFF2-40B4-BE49-F238E27FC236}">
                <a16:creationId xmlns:a16="http://schemas.microsoft.com/office/drawing/2014/main" id="{7B57212D-34E9-49B1-AC63-BF2693884B7D}"/>
              </a:ext>
            </a:extLst>
          </p:cNvPr>
          <p:cNvSpPr>
            <a:spLocks xmlns:a="http://schemas.openxmlformats.org/drawingml/2006/main" noGrp="1"/>
          </p:cNvSpPr>
          <p:nvPr/>
        </p:nvSpPr>
        <p:spPr>
          <a:xfrm xmlns:a="http://schemas.openxmlformats.org/drawingml/2006/main">
            <a:off x="609600" y="342900"/>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2E74B5"/>
                </a:solidFill>
                <a:latin typeface="Arial"/>
                <a:ea typeface="Arial"/>
                <a:cs typeface="Arial"/>
              </a:defRPr>
            </a:pPr>
            <a:r>
              <a:rPr sz="900" b="1">
                <a:solidFill>
                  <a:srgbClr val="2E74B5"/>
                </a:solidFill>
                <a:latin typeface="Arial"/>
                <a:ea typeface="Arial"/>
                <a:cs typeface="Arial"/>
              </a:rPr>
              <a:t>PYTHON SYNTAX</a:t>
            </a:r>
          </a:p>
        </p:txBody>
      </p:sp>
      <p:sp>
        <p:nvSpPr>
          <p:cNvPr id="2" name="title">
            <a:extLst xmlns:a="http://schemas.openxmlformats.org/drawingml/2006/main">
              <a:ext uri="{FF2B5EF4-FFF2-40B4-BE49-F238E27FC236}">
                <a16:creationId xmlns:a16="http://schemas.microsoft.com/office/drawing/2014/main" id="{824E0853-AFD6-4667-B636-E1825B106110}"/>
              </a:ext>
            </a:extLst>
          </p:cNvPr>
          <p:cNvSpPr>
            <a:spLocks xmlns:a="http://schemas.openxmlformats.org/drawingml/2006/main" noGrp="1"/>
          </p:cNvSpPr>
          <p:nvPr/>
        </p:nvSpPr>
        <p:spPr>
          <a:xfrm xmlns:a="http://schemas.openxmlformats.org/drawingml/2006/main">
            <a:off x="609600" y="60960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3000" b="0">
                <a:solidFill>
                  <a:srgbClr val="111316"/>
                </a:solidFill>
                <a:latin typeface="Arial"/>
                <a:ea typeface="Arial"/>
                <a:cs typeface="Arial"/>
              </a:defRPr>
            </a:pPr>
            <a:r>
              <a:rPr sz="3000" b="0">
                <a:solidFill>
                  <a:srgbClr val="111316"/>
                </a:solidFill>
                <a:latin typeface="Arial"/>
                <a:ea typeface="Arial"/>
                <a:cs typeface="Arial"/>
              </a:rPr>
              <a:t>...continued: [9] return the checks, then reuse on 3 budgets</a:t>
            </a:r>
          </a:p>
        </p:txBody>
      </p:sp>
      <p:sp>
        <p:nvSpPr>
          <p:cNvPr id="3" name="">
            <a:extLst xmlns:a="http://schemas.openxmlformats.org/drawingml/2006/main">
              <a:ext uri="{FF2B5EF4-FFF2-40B4-BE49-F238E27FC236}">
                <a16:creationId xmlns:a16="http://schemas.microsoft.com/office/drawing/2014/main" id="{412CDC0C-3209-4153-B9C1-792A28EDC4DF}"/>
              </a:ext>
            </a:extLst>
          </p:cNvPr>
          <p:cNvSpPr>
            <a:spLocks xmlns:a="http://schemas.openxmlformats.org/drawingml/2006/main" noGrp="1"/>
          </p:cNvSpPr>
          <p:nvPr/>
        </p:nvSpPr>
        <p:spPr>
          <a:xfrm xmlns:a="http://schemas.openxmlformats.org/drawingml/2006/main">
            <a:off x="609600" y="6343650"/>
            <a:ext cx="10972800" cy="0"/>
          </a:xfrm>
          <a:prstGeom xmlns:a="http://schemas.openxmlformats.org/drawingml/2006/main" prst="line">
            <a:avLst/>
          </a:prstGeom>
          <a:noFill xmlns:a="http://schemas.openxmlformats.org/drawingml/2006/main"/>
          <a:ln xmlns:a="http://schemas.openxmlformats.org/drawingml/2006/main" w="9525">
            <a:solidFill>
              <a:srgbClr val="DDE0E5"/>
            </a:solidFill>
            <a:prstDash val="solid"/>
          </a:ln>
        </p:spPr>
      </p:sp>
      <p:sp>
        <p:nvSpPr>
          <p:cNvPr id="4" name="footer">
            <a:extLst xmlns:a="http://schemas.openxmlformats.org/drawingml/2006/main">
              <a:ext uri="{FF2B5EF4-FFF2-40B4-BE49-F238E27FC236}">
                <a16:creationId xmlns:a16="http://schemas.microsoft.com/office/drawing/2014/main" id="{B1C07921-27F4-49E6-96C9-2F9AB72DA850}"/>
              </a:ext>
            </a:extLst>
          </p:cNvPr>
          <p:cNvSpPr>
            <a:spLocks xmlns:a="http://schemas.openxmlformats.org/drawingml/2006/main" noGrp="1"/>
          </p:cNvSpPr>
          <p:nvPr/>
        </p:nvSpPr>
        <p:spPr>
          <a:xfrm xmlns:a="http://schemas.openxmlformats.org/drawingml/2006/main">
            <a:off x="609600" y="6429375"/>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ARC 500  ·  Week 10 · Meeting B · Linear Programming Studio</a:t>
            </a:r>
          </a:p>
        </p:txBody>
      </p:sp>
      <p:sp>
        <p:nvSpPr>
          <p:cNvPr id="5" name="page">
            <a:extLst xmlns:a="http://schemas.openxmlformats.org/drawingml/2006/main">
              <a:ext uri="{FF2B5EF4-FFF2-40B4-BE49-F238E27FC236}">
                <a16:creationId xmlns:a16="http://schemas.microsoft.com/office/drawing/2014/main" id="{DC3AB597-38AD-4665-914F-CB4D6BFC0B62}"/>
              </a:ext>
            </a:extLst>
          </p:cNvPr>
          <p:cNvSpPr>
            <a:spLocks xmlns:a="http://schemas.openxmlformats.org/drawingml/2006/main" noGrp="1"/>
          </p:cNvSpPr>
          <p:nvPr/>
        </p:nvSpPr>
        <p:spPr>
          <a:xfrm xmlns:a="http://schemas.openxmlformats.org/drawingml/2006/main">
            <a:off x="10896600" y="6429375"/>
            <a:ext cx="685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28</a:t>
            </a:r>
          </a:p>
        </p:txBody>
      </p:sp>
      <p:sp>
        <p:nvSpPr>
          <p:cNvPr id="6" name="code-panel">
            <a:extLst xmlns:a="http://schemas.openxmlformats.org/drawingml/2006/main">
              <a:ext uri="{FF2B5EF4-FFF2-40B4-BE49-F238E27FC236}">
                <a16:creationId xmlns:a16="http://schemas.microsoft.com/office/drawing/2014/main" id="{F505AEC1-5A94-426C-9950-F9B0BCD2A26B}"/>
              </a:ext>
            </a:extLst>
          </p:cNvPr>
          <p:cNvSpPr>
            <a:spLocks xmlns:a="http://schemas.openxmlformats.org/drawingml/2006/main" noGrp="1"/>
          </p:cNvSpPr>
          <p:nvPr/>
        </p:nvSpPr>
        <p:spPr>
          <a:xfrm xmlns:a="http://schemas.openxmlformats.org/drawingml/2006/main">
            <a:off x="609600" y="1809750"/>
            <a:ext cx="6896100" cy="4267200"/>
          </a:xfrm>
          <a:prstGeom xmlns:a="http://schemas.openxmlformats.org/drawingml/2006/main" prst="roundRect">
            <a:avLst>
              <a:gd name="adj" fmla="val 1786"/>
            </a:avLst>
          </a:prstGeom>
          <a:solidFill xmlns:a="http://schemas.openxmlformats.org/drawingml/2006/main">
            <a:srgbClr val="17191C"/>
          </a:solidFill>
          <a:ln xmlns:a="http://schemas.openxmlformats.org/drawingml/2006/main" w="9525">
            <a:solidFill>
              <a:srgbClr val="17191C"/>
            </a:solidFill>
            <a:prstDash val="solid"/>
          </a:ln>
        </p:spPr>
      </p:sp>
      <p:sp>
        <p:nvSpPr>
          <p:cNvPr id="7" name="code">
            <a:extLst xmlns:a="http://schemas.openxmlformats.org/drawingml/2006/main">
              <a:ext uri="{FF2B5EF4-FFF2-40B4-BE49-F238E27FC236}">
                <a16:creationId xmlns:a16="http://schemas.microsoft.com/office/drawing/2014/main" id="{AA370A17-00E2-434C-9197-3CB216D27075}"/>
              </a:ext>
            </a:extLst>
          </p:cNvPr>
          <p:cNvSpPr>
            <a:spLocks xmlns:a="http://schemas.openxmlformats.org/drawingml/2006/main" noGrp="1"/>
          </p:cNvSpPr>
          <p:nvPr/>
        </p:nvSpPr>
        <p:spPr>
          <a:xfrm xmlns:a="http://schemas.openxmlformats.org/drawingml/2006/main">
            <a:off x="857250" y="2057400"/>
            <a:ext cx="6400800" cy="279349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4000"/>
              </a:lnSpc>
              <a:buNone/>
              <a:defRPr sz="1500" b="0">
                <a:solidFill>
                  <a:srgbClr val="FFFFFF"/>
                </a:solidFill>
                <a:latin typeface="Consolas"/>
                <a:ea typeface="Consolas"/>
                <a:cs typeface="Consolas"/>
              </a:defRPr>
            </a:pPr>
            <a:r>
              <a:rPr sz="1500" b="0">
                <a:solidFill>
                  <a:srgbClr val="FFFFFF"/>
                </a:solidFill>
                <a:latin typeface="Consolas"/>
                <a:ea typeface="Consolas"/>
                <a:cs typeface="Consolas"/>
              </a:rPr>
              <a:t>    return {'solar_m2': round(x1, 2),</a:t>
            </a:r>
          </a:p>
          <a:p xmlns:a="http://schemas.openxmlformats.org/drawingml/2006/main">
            <a:pPr algn="l">
              <a:lnSpc>
                <a:spcPct val="114000"/>
              </a:lnSpc>
              <a:buNone/>
              <a:defRPr sz="1500" b="0">
                <a:solidFill>
                  <a:srgbClr val="FFFFFF"/>
                </a:solidFill>
                <a:latin typeface="Consolas"/>
                <a:ea typeface="Consolas"/>
                <a:cs typeface="Consolas"/>
              </a:defRPr>
            </a:pPr>
            <a:r>
              <a:rPr sz="1500" b="0">
                <a:solidFill>
                  <a:srgbClr val="FFFFFF"/>
                </a:solidFill>
                <a:latin typeface="Consolas"/>
                <a:ea typeface="Consolas"/>
                <a:cs typeface="Consolas"/>
              </a:rPr>
              <a:t>            'green_m2': round(x2, 2),</a:t>
            </a:r>
          </a:p>
          <a:p xmlns:a="http://schemas.openxmlformats.org/drawingml/2006/main">
            <a:pPr algn="l">
              <a:lnSpc>
                <a:spcPct val="114000"/>
              </a:lnSpc>
              <a:buNone/>
              <a:defRPr sz="1500" b="0">
                <a:solidFill>
                  <a:srgbClr val="FFFFFF"/>
                </a:solidFill>
                <a:latin typeface="Consolas"/>
                <a:ea typeface="Consolas"/>
                <a:cs typeface="Consolas"/>
              </a:defRPr>
            </a:pPr>
            <a:r>
              <a:rPr sz="1500" b="0">
                <a:solidFill>
                  <a:srgbClr val="FFFFFF"/>
                </a:solidFill>
                <a:latin typeface="Consolas"/>
                <a:ea typeface="Consolas"/>
                <a:cs typeface="Consolas"/>
              </a:rPr>
              <a:t>            'benefit_usd': round(-res.fun, 2),</a:t>
            </a:r>
          </a:p>
          <a:p xmlns:a="http://schemas.openxmlformats.org/drawingml/2006/main">
            <a:pPr algn="l">
              <a:lnSpc>
                <a:spcPct val="114000"/>
              </a:lnSpc>
              <a:buNone/>
              <a:defRPr sz="1500" b="0">
                <a:solidFill>
                  <a:srgbClr val="FFFFFF"/>
                </a:solidFill>
                <a:latin typeface="Consolas"/>
                <a:ea typeface="Consolas"/>
                <a:cs typeface="Consolas"/>
              </a:defRPr>
            </a:pPr>
            <a:r>
              <a:rPr sz="1500" b="0">
                <a:solidFill>
                  <a:srgbClr val="FFFFFF"/>
                </a:solidFill>
                <a:latin typeface="Consolas"/>
                <a:ea typeface="Consolas"/>
                <a:cs typeface="Consolas"/>
              </a:rPr>
              <a:t>            'area_binds': area_used == area_limit_m2,</a:t>
            </a:r>
          </a:p>
          <a:p xmlns:a="http://schemas.openxmlformats.org/drawingml/2006/main">
            <a:pPr algn="l">
              <a:lnSpc>
                <a:spcPct val="114000"/>
              </a:lnSpc>
              <a:buNone/>
              <a:defRPr sz="1500" b="0">
                <a:solidFill>
                  <a:srgbClr val="FFFFFF"/>
                </a:solidFill>
                <a:latin typeface="Consolas"/>
                <a:ea typeface="Consolas"/>
                <a:cs typeface="Consolas"/>
              </a:defRPr>
            </a:pPr>
            <a:r>
              <a:rPr sz="1500" b="0">
                <a:solidFill>
                  <a:srgbClr val="FFFFFF"/>
                </a:solidFill>
                <a:latin typeface="Consolas"/>
                <a:ea typeface="Consolas"/>
                <a:cs typeface="Consolas"/>
              </a:rPr>
              <a:t>            'budget_binds': cost_used == budget_usd}</a:t>
            </a:r>
          </a:p>
          <a:p xmlns:a="http://schemas.openxmlformats.org/drawingml/2006/main">
            <a:r>
              <a:t/>
            </a:r>
          </a:p>
          <a:p xmlns:a="http://schemas.openxmlformats.org/drawingml/2006/main">
            <a:pPr algn="l">
              <a:lnSpc>
                <a:spcPct val="114000"/>
              </a:lnSpc>
              <a:buNone/>
              <a:defRPr sz="1500" b="0">
                <a:solidFill>
                  <a:srgbClr val="FFFFFF"/>
                </a:solidFill>
                <a:latin typeface="Consolas"/>
                <a:ea typeface="Consolas"/>
                <a:cs typeface="Consolas"/>
              </a:defRPr>
            </a:pPr>
            <a:r>
              <a:rPr sz="1500" b="0">
                <a:solidFill>
                  <a:srgbClr val="FFFFFF"/>
                </a:solidFill>
                <a:latin typeface="Consolas"/>
                <a:ea typeface="Consolas"/>
                <a:cs typeface="Consolas"/>
              </a:rPr>
              <a:t>for budget in [50000.0, 45000.0, 40000.0]:</a:t>
            </a:r>
          </a:p>
          <a:p xmlns:a="http://schemas.openxmlformats.org/drawingml/2006/main">
            <a:pPr algn="l">
              <a:lnSpc>
                <a:spcPct val="114000"/>
              </a:lnSpc>
              <a:buNone/>
              <a:defRPr sz="1500" b="0">
                <a:solidFill>
                  <a:srgbClr val="FFFFFF"/>
                </a:solidFill>
                <a:latin typeface="Consolas"/>
                <a:ea typeface="Consolas"/>
                <a:cs typeface="Consolas"/>
              </a:defRPr>
            </a:pPr>
            <a:r>
              <a:rPr sz="1500" b="0">
                <a:solidFill>
                  <a:srgbClr val="FFFFFF"/>
                </a:solidFill>
                <a:latin typeface="Consolas"/>
                <a:ea typeface="Consolas"/>
                <a:cs typeface="Consolas"/>
              </a:rPr>
              <a:t>    r = solve_roof_allocation(200.0, budget)</a:t>
            </a:r>
          </a:p>
          <a:p xmlns:a="http://schemas.openxmlformats.org/drawingml/2006/main">
            <a:pPr algn="l">
              <a:lnSpc>
                <a:spcPct val="114000"/>
              </a:lnSpc>
              <a:buNone/>
              <a:defRPr sz="1500" b="0">
                <a:solidFill>
                  <a:srgbClr val="FFFFFF"/>
                </a:solidFill>
                <a:latin typeface="Consolas"/>
                <a:ea typeface="Consolas"/>
                <a:cs typeface="Consolas"/>
              </a:defRPr>
            </a:pPr>
            <a:r>
              <a:rPr sz="1500" b="0">
                <a:solidFill>
                  <a:srgbClr val="FFFFFF"/>
                </a:solidFill>
                <a:latin typeface="Consolas"/>
                <a:ea typeface="Consolas"/>
                <a:cs typeface="Consolas"/>
              </a:rPr>
              <a:t>    assert r['area_binds'] and r['budget_binds']</a:t>
            </a:r>
          </a:p>
          <a:p xmlns:a="http://schemas.openxmlformats.org/drawingml/2006/main">
            <a:pPr algn="l">
              <a:lnSpc>
                <a:spcPct val="114000"/>
              </a:lnSpc>
              <a:buNone/>
              <a:defRPr sz="1500" b="0">
                <a:solidFill>
                  <a:srgbClr val="FFFFFF"/>
                </a:solidFill>
                <a:latin typeface="Consolas"/>
                <a:ea typeface="Consolas"/>
                <a:cs typeface="Consolas"/>
              </a:defRPr>
            </a:pPr>
            <a:r>
              <a:rPr sz="1500" b="0">
                <a:solidFill>
                  <a:srgbClr val="FFFFFF"/>
                </a:solidFill>
                <a:latin typeface="Consolas"/>
                <a:ea typeface="Consolas"/>
                <a:cs typeface="Consolas"/>
              </a:rPr>
              <a:t>    print(budget, r['solar_m2'], r['green_m2'],</a:t>
            </a:r>
          </a:p>
          <a:p xmlns:a="http://schemas.openxmlformats.org/drawingml/2006/main">
            <a:pPr algn="l">
              <a:lnSpc>
                <a:spcPct val="114000"/>
              </a:lnSpc>
              <a:buNone/>
              <a:defRPr sz="1500" b="0">
                <a:solidFill>
                  <a:srgbClr val="FFFFFF"/>
                </a:solidFill>
                <a:latin typeface="Consolas"/>
                <a:ea typeface="Consolas"/>
                <a:cs typeface="Consolas"/>
              </a:defRPr>
            </a:pPr>
            <a:r>
              <a:rPr sz="1500" b="0">
                <a:solidFill>
                  <a:srgbClr val="FFFFFF"/>
                </a:solidFill>
                <a:latin typeface="Consolas"/>
                <a:ea typeface="Consolas"/>
                <a:cs typeface="Consolas"/>
              </a:rPr>
              <a:t>          r['benefit_usd'])</a:t>
            </a:r>
          </a:p>
        </p:txBody>
      </p:sp>
      <p:sp>
        <p:nvSpPr>
          <p:cNvPr id="8" name="">
            <a:extLst xmlns:a="http://schemas.openxmlformats.org/drawingml/2006/main">
              <a:ext uri="{FF2B5EF4-FFF2-40B4-BE49-F238E27FC236}">
                <a16:creationId xmlns:a16="http://schemas.microsoft.com/office/drawing/2014/main" id="{7FD24A06-616A-41A5-9966-21B21E2074A6}"/>
              </a:ext>
            </a:extLst>
          </p:cNvPr>
          <p:cNvSpPr>
            <a:spLocks xmlns:a="http://schemas.openxmlformats.org/drawingml/2006/main" noGrp="1"/>
          </p:cNvSpPr>
          <p:nvPr/>
        </p:nvSpPr>
        <p:spPr>
          <a:xfrm xmlns:a="http://schemas.openxmlformats.org/drawingml/2006/main">
            <a:off x="857250" y="4908042"/>
            <a:ext cx="6400800" cy="0"/>
          </a:xfrm>
          <a:prstGeom xmlns:a="http://schemas.openxmlformats.org/drawingml/2006/main" prst="line">
            <a:avLst/>
          </a:prstGeom>
          <a:noFill xmlns:a="http://schemas.openxmlformats.org/drawingml/2006/main"/>
          <a:ln xmlns:a="http://schemas.openxmlformats.org/drawingml/2006/main" w="9525">
            <a:solidFill>
              <a:srgbClr val="4E5258"/>
            </a:solidFill>
            <a:prstDash val="solid"/>
          </a:ln>
        </p:spPr>
      </p:sp>
      <p:sp>
        <p:nvSpPr>
          <p:cNvPr id="9" name="output-label">
            <a:extLst xmlns:a="http://schemas.openxmlformats.org/drawingml/2006/main">
              <a:ext uri="{FF2B5EF4-FFF2-40B4-BE49-F238E27FC236}">
                <a16:creationId xmlns:a16="http://schemas.microsoft.com/office/drawing/2014/main" id="{248D8C8D-A95B-4E85-9104-17D8880F040B}"/>
              </a:ext>
            </a:extLst>
          </p:cNvPr>
          <p:cNvSpPr>
            <a:spLocks xmlns:a="http://schemas.openxmlformats.org/drawingml/2006/main" noGrp="1"/>
          </p:cNvSpPr>
          <p:nvPr/>
        </p:nvSpPr>
        <p:spPr>
          <a:xfrm xmlns:a="http://schemas.openxmlformats.org/drawingml/2006/main">
            <a:off x="857250" y="5022342"/>
            <a:ext cx="190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E8EEF5"/>
                </a:solidFill>
                <a:latin typeface="Arial"/>
                <a:ea typeface="Arial"/>
                <a:cs typeface="Arial"/>
              </a:defRPr>
            </a:pPr>
            <a:r>
              <a:rPr sz="900" b="1">
                <a:solidFill>
                  <a:srgbClr val="E8EEF5"/>
                </a:solidFill>
                <a:latin typeface="Arial"/>
                <a:ea typeface="Arial"/>
                <a:cs typeface="Arial"/>
              </a:rPr>
              <a:t>OUTPUT</a:t>
            </a:r>
          </a:p>
        </p:txBody>
      </p:sp>
      <p:sp>
        <p:nvSpPr>
          <p:cNvPr id="10" name="output">
            <a:extLst xmlns:a="http://schemas.openxmlformats.org/drawingml/2006/main">
              <a:ext uri="{FF2B5EF4-FFF2-40B4-BE49-F238E27FC236}">
                <a16:creationId xmlns:a16="http://schemas.microsoft.com/office/drawing/2014/main" id="{03688468-9DC6-46B0-9752-FA2A3EADB862}"/>
              </a:ext>
            </a:extLst>
          </p:cNvPr>
          <p:cNvSpPr>
            <a:spLocks xmlns:a="http://schemas.openxmlformats.org/drawingml/2006/main" noGrp="1"/>
          </p:cNvSpPr>
          <p:nvPr/>
        </p:nvSpPr>
        <p:spPr>
          <a:xfrm xmlns:a="http://schemas.openxmlformats.org/drawingml/2006/main">
            <a:off x="857250" y="5250942"/>
            <a:ext cx="6400800" cy="57835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4000"/>
              </a:lnSpc>
              <a:buNone/>
              <a:defRPr sz="1200" b="0">
                <a:solidFill>
                  <a:srgbClr val="E8EEF5"/>
                </a:solidFill>
                <a:latin typeface="Consolas"/>
                <a:ea typeface="Consolas"/>
                <a:cs typeface="Consolas"/>
              </a:defRPr>
            </a:pPr>
            <a:r>
              <a:rPr sz="1200" b="0">
                <a:solidFill>
                  <a:srgbClr val="E8EEF5"/>
                </a:solidFill>
                <a:latin typeface="Consolas"/>
                <a:ea typeface="Consolas"/>
                <a:cs typeface="Consolas"/>
              </a:rPr>
              <a:t>50000.0 80.0 120.0 7800.0</a:t>
            </a:r>
          </a:p>
          <a:p xmlns:a="http://schemas.openxmlformats.org/drawingml/2006/main">
            <a:pPr algn="l">
              <a:lnSpc>
                <a:spcPct val="114000"/>
              </a:lnSpc>
              <a:buNone/>
              <a:defRPr sz="1200" b="0">
                <a:solidFill>
                  <a:srgbClr val="E8EEF5"/>
                </a:solidFill>
                <a:latin typeface="Consolas"/>
                <a:ea typeface="Consolas"/>
                <a:cs typeface="Consolas"/>
              </a:defRPr>
            </a:pPr>
            <a:r>
              <a:rPr sz="1200" b="0">
                <a:solidFill>
                  <a:srgbClr val="E8EEF5"/>
                </a:solidFill>
                <a:latin typeface="Consolas"/>
                <a:ea typeface="Consolas"/>
                <a:cs typeface="Consolas"/>
              </a:rPr>
              <a:t>45000.0 60.0 140.0 7100.0</a:t>
            </a:r>
          </a:p>
          <a:p xmlns:a="http://schemas.openxmlformats.org/drawingml/2006/main">
            <a:pPr algn="l">
              <a:lnSpc>
                <a:spcPct val="114000"/>
              </a:lnSpc>
              <a:buNone/>
              <a:defRPr sz="1200" b="0">
                <a:solidFill>
                  <a:srgbClr val="E8EEF5"/>
                </a:solidFill>
                <a:latin typeface="Consolas"/>
                <a:ea typeface="Consolas"/>
                <a:cs typeface="Consolas"/>
              </a:defRPr>
            </a:pPr>
            <a:r>
              <a:rPr sz="1200" b="0">
                <a:solidFill>
                  <a:srgbClr val="E8EEF5"/>
                </a:solidFill>
                <a:latin typeface="Consolas"/>
                <a:ea typeface="Consolas"/>
                <a:cs typeface="Consolas"/>
              </a:rPr>
              <a:t>40000.0 40.0 160.0 6400.0</a:t>
            </a:r>
          </a:p>
        </p:txBody>
      </p:sp>
      <p:sp>
        <p:nvSpPr>
          <p:cNvPr id="11" name="explain-head">
            <a:extLst xmlns:a="http://schemas.openxmlformats.org/drawingml/2006/main">
              <a:ext uri="{FF2B5EF4-FFF2-40B4-BE49-F238E27FC236}">
                <a16:creationId xmlns:a16="http://schemas.microsoft.com/office/drawing/2014/main" id="{890561FD-D604-412F-98AD-C16984DB20D9}"/>
              </a:ext>
            </a:extLst>
          </p:cNvPr>
          <p:cNvSpPr>
            <a:spLocks xmlns:a="http://schemas.openxmlformats.org/drawingml/2006/main" noGrp="1"/>
          </p:cNvSpPr>
          <p:nvPr/>
        </p:nvSpPr>
        <p:spPr>
          <a:xfrm xmlns:a="http://schemas.openxmlformats.org/drawingml/2006/main">
            <a:off x="7886700" y="2209800"/>
            <a:ext cx="3695700" cy="63322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100" b="1">
                <a:solidFill>
                  <a:srgbClr val="111316"/>
                </a:solidFill>
                <a:latin typeface="Arial"/>
                <a:ea typeface="Arial"/>
                <a:cs typeface="Arial"/>
              </a:defRPr>
            </a:pPr>
            <a:r>
              <a:rPr sz="2100" b="1">
                <a:solidFill>
                  <a:srgbClr val="111316"/>
                </a:solidFill>
                <a:latin typeface="Arial"/>
                <a:ea typeface="Arial"/>
                <a:cs typeface="Arial"/>
              </a:rPr>
              <a:t>One function, three scenarios, zero retyping</a:t>
            </a:r>
          </a:p>
        </p:txBody>
      </p:sp>
      <p:sp>
        <p:nvSpPr>
          <p:cNvPr id="12" name="explain-body">
            <a:extLst xmlns:a="http://schemas.openxmlformats.org/drawingml/2006/main">
              <a:ext uri="{FF2B5EF4-FFF2-40B4-BE49-F238E27FC236}">
                <a16:creationId xmlns:a16="http://schemas.microsoft.com/office/drawing/2014/main" id="{306B7E83-CE90-4901-8091-B44702AC2318}"/>
              </a:ext>
            </a:extLst>
          </p:cNvPr>
          <p:cNvSpPr>
            <a:spLocks xmlns:a="http://schemas.openxmlformats.org/drawingml/2006/main" noGrp="1"/>
          </p:cNvSpPr>
          <p:nvPr/>
        </p:nvSpPr>
        <p:spPr>
          <a:xfrm xmlns:a="http://schemas.openxmlformats.org/drawingml/2006/main">
            <a:off x="7886700" y="2995422"/>
            <a:ext cx="3695700" cy="250698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500" b="0">
                <a:solidFill>
                  <a:srgbClr val="5A5F66"/>
                </a:solidFill>
                <a:latin typeface="Arial"/>
                <a:ea typeface="Arial"/>
                <a:cs typeface="Arial"/>
              </a:defRPr>
            </a:pPr>
            <a:r>
              <a:rPr sz="1500" b="0">
                <a:solidFill>
                  <a:srgbClr val="5A5F66"/>
                </a:solidFill>
                <a:latin typeface="Arial"/>
                <a:ea typeface="Arial"/>
                <a:cs typeface="Arial"/>
              </a:rPr>
              <a:t>The dict returns the answer AND its proof together, so nothing can read solar_m2 without also seeing area_binds. The assert then turns Studio 2's one-time hand-check into a permanent, automatic check that runs on every scenario: at $50,000 the split is 80/120 ($7,800/yr), at $45,000 it is 60/140 ($7,100/yr), and at $40,000 it is 40/160 ($6,400/yr) — each of them spending all 200 m2 and every approved dollar.</a:t>
            </a:r>
          </a:p>
        </p:txBody>
      </p:sp>
    </p:spTree>
    <p:extLst>
      <p:ext uri="{BB962C8B-B14F-4D97-AF65-F5344CB8AC3E}">
        <p14:creationId xmlns:p14="http://schemas.microsoft.com/office/powerpoint/2010/main" val="1995813704"/>
      </p:ext>
    </p:extLst>
  </p:cSld>
</p:sld>
</file>

<file path=ppt/slides/slide2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kicker">
            <a:extLst xmlns:a="http://schemas.openxmlformats.org/drawingml/2006/main">
              <a:ext uri="{FF2B5EF4-FFF2-40B4-BE49-F238E27FC236}">
                <a16:creationId xmlns:a16="http://schemas.microsoft.com/office/drawing/2014/main" id="{462823F1-D2FD-448E-BDD5-8BDFA85A35EB}"/>
              </a:ext>
            </a:extLst>
          </p:cNvPr>
          <p:cNvSpPr>
            <a:spLocks xmlns:a="http://schemas.openxmlformats.org/drawingml/2006/main" noGrp="1"/>
          </p:cNvSpPr>
          <p:nvPr/>
        </p:nvSpPr>
        <p:spPr>
          <a:xfrm xmlns:a="http://schemas.openxmlformats.org/drawingml/2006/main">
            <a:off x="609600" y="342900"/>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2E74B5"/>
                </a:solidFill>
                <a:latin typeface="Arial"/>
                <a:ea typeface="Arial"/>
                <a:cs typeface="Arial"/>
              </a:defRPr>
            </a:pPr>
            <a:r>
              <a:rPr sz="900" b="1">
                <a:solidFill>
                  <a:srgbClr val="2E74B5"/>
                </a:solidFill>
                <a:latin typeface="Arial"/>
                <a:ea typeface="Arial"/>
                <a:cs typeface="Arial"/>
              </a:rPr>
              <a:t>PROJECT 2 CHECKPOINT</a:t>
            </a:r>
          </a:p>
        </p:txBody>
      </p:sp>
      <p:sp>
        <p:nvSpPr>
          <p:cNvPr id="2" name="title">
            <a:extLst xmlns:a="http://schemas.openxmlformats.org/drawingml/2006/main">
              <a:ext uri="{FF2B5EF4-FFF2-40B4-BE49-F238E27FC236}">
                <a16:creationId xmlns:a16="http://schemas.microsoft.com/office/drawing/2014/main" id="{90467231-5634-4D6C-93A4-040687D59A26}"/>
              </a:ext>
            </a:extLst>
          </p:cNvPr>
          <p:cNvSpPr>
            <a:spLocks xmlns:a="http://schemas.openxmlformats.org/drawingml/2006/main" noGrp="1"/>
          </p:cNvSpPr>
          <p:nvPr/>
        </p:nvSpPr>
        <p:spPr>
          <a:xfrm xmlns:a="http://schemas.openxmlformats.org/drawingml/2006/main">
            <a:off x="609600" y="60960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3000" b="0">
                <a:solidFill>
                  <a:srgbClr val="111316"/>
                </a:solidFill>
                <a:latin typeface="Arial"/>
                <a:ea typeface="Arial"/>
                <a:cs typeface="Arial"/>
              </a:defRPr>
            </a:pPr>
            <a:r>
              <a:rPr sz="3000" b="0">
                <a:solidFill>
                  <a:srgbClr val="111316"/>
                </a:solidFill>
                <a:latin typeface="Arial"/>
                <a:ea typeface="Arial"/>
                <a:cs typeface="Arial"/>
              </a:rPr>
              <a:t>Today's milestone, stated plainly</a:t>
            </a:r>
          </a:p>
        </p:txBody>
      </p:sp>
      <p:sp>
        <p:nvSpPr>
          <p:cNvPr id="3" name="">
            <a:extLst xmlns:a="http://schemas.openxmlformats.org/drawingml/2006/main">
              <a:ext uri="{FF2B5EF4-FFF2-40B4-BE49-F238E27FC236}">
                <a16:creationId xmlns:a16="http://schemas.microsoft.com/office/drawing/2014/main" id="{30A56485-543D-40A6-A2DB-C8F1AA06029B}"/>
              </a:ext>
            </a:extLst>
          </p:cNvPr>
          <p:cNvSpPr>
            <a:spLocks xmlns:a="http://schemas.openxmlformats.org/drawingml/2006/main" noGrp="1"/>
          </p:cNvSpPr>
          <p:nvPr/>
        </p:nvSpPr>
        <p:spPr>
          <a:xfrm xmlns:a="http://schemas.openxmlformats.org/drawingml/2006/main">
            <a:off x="609600" y="6343650"/>
            <a:ext cx="10972800" cy="0"/>
          </a:xfrm>
          <a:prstGeom xmlns:a="http://schemas.openxmlformats.org/drawingml/2006/main" prst="line">
            <a:avLst/>
          </a:prstGeom>
          <a:noFill xmlns:a="http://schemas.openxmlformats.org/drawingml/2006/main"/>
          <a:ln xmlns:a="http://schemas.openxmlformats.org/drawingml/2006/main" w="9525">
            <a:solidFill>
              <a:srgbClr val="DDE0E5"/>
            </a:solidFill>
            <a:prstDash val="solid"/>
          </a:ln>
        </p:spPr>
      </p:sp>
      <p:sp>
        <p:nvSpPr>
          <p:cNvPr id="4" name="footer">
            <a:extLst xmlns:a="http://schemas.openxmlformats.org/drawingml/2006/main">
              <a:ext uri="{FF2B5EF4-FFF2-40B4-BE49-F238E27FC236}">
                <a16:creationId xmlns:a16="http://schemas.microsoft.com/office/drawing/2014/main" id="{0F885D46-C3AD-46FD-A3F0-22F4D56DB45B}"/>
              </a:ext>
            </a:extLst>
          </p:cNvPr>
          <p:cNvSpPr>
            <a:spLocks xmlns:a="http://schemas.openxmlformats.org/drawingml/2006/main" noGrp="1"/>
          </p:cNvSpPr>
          <p:nvPr/>
        </p:nvSpPr>
        <p:spPr>
          <a:xfrm xmlns:a="http://schemas.openxmlformats.org/drawingml/2006/main">
            <a:off x="609600" y="6429375"/>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ARC 500  ·  Week 10 · Meeting B · Linear Programming Studio</a:t>
            </a:r>
          </a:p>
        </p:txBody>
      </p:sp>
      <p:sp>
        <p:nvSpPr>
          <p:cNvPr id="5" name="page">
            <a:extLst xmlns:a="http://schemas.openxmlformats.org/drawingml/2006/main">
              <a:ext uri="{FF2B5EF4-FFF2-40B4-BE49-F238E27FC236}">
                <a16:creationId xmlns:a16="http://schemas.microsoft.com/office/drawing/2014/main" id="{DB704D10-12D0-4EE3-BABF-B7AD303F620A}"/>
              </a:ext>
            </a:extLst>
          </p:cNvPr>
          <p:cNvSpPr>
            <a:spLocks xmlns:a="http://schemas.openxmlformats.org/drawingml/2006/main" noGrp="1"/>
          </p:cNvSpPr>
          <p:nvPr/>
        </p:nvSpPr>
        <p:spPr>
          <a:xfrm xmlns:a="http://schemas.openxmlformats.org/drawingml/2006/main">
            <a:off x="10896600" y="6429375"/>
            <a:ext cx="685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29</a:t>
            </a:r>
          </a:p>
        </p:txBody>
      </p:sp>
      <p:sp>
        <p:nvSpPr>
          <p:cNvPr id="6" name="left-head">
            <a:extLst xmlns:a="http://schemas.openxmlformats.org/drawingml/2006/main">
              <a:ext uri="{FF2B5EF4-FFF2-40B4-BE49-F238E27FC236}">
                <a16:creationId xmlns:a16="http://schemas.microsoft.com/office/drawing/2014/main" id="{F452C5CC-8F53-499A-A637-576486FF7D5B}"/>
              </a:ext>
            </a:extLst>
          </p:cNvPr>
          <p:cNvSpPr>
            <a:spLocks xmlns:a="http://schemas.openxmlformats.org/drawingml/2006/main" noGrp="1"/>
          </p:cNvSpPr>
          <p:nvPr/>
        </p:nvSpPr>
        <p:spPr>
          <a:xfrm xmlns:a="http://schemas.openxmlformats.org/drawingml/2006/main">
            <a:off x="609600" y="2609850"/>
            <a:ext cx="5219700" cy="34518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100" b="1">
                <a:solidFill>
                  <a:srgbClr val="111316"/>
                </a:solidFill>
                <a:latin typeface="Arial"/>
                <a:ea typeface="Arial"/>
                <a:cs typeface="Arial"/>
              </a:defRPr>
            </a:pPr>
            <a:r>
              <a:rPr sz="2100" b="1">
                <a:solidFill>
                  <a:srgbClr val="111316"/>
                </a:solidFill>
                <a:latin typeface="Arial"/>
                <a:ea typeface="Arial"/>
                <a:cs typeface="Arial"/>
              </a:rPr>
              <a:t>What's required</a:t>
            </a:r>
          </a:p>
        </p:txBody>
      </p:sp>
      <p:sp>
        <p:nvSpPr>
          <p:cNvPr id="7" name="left-body">
            <a:extLst xmlns:a="http://schemas.openxmlformats.org/drawingml/2006/main">
              <a:ext uri="{FF2B5EF4-FFF2-40B4-BE49-F238E27FC236}">
                <a16:creationId xmlns:a16="http://schemas.microsoft.com/office/drawing/2014/main" id="{ACA6A9DD-CBBB-4E9E-ADD3-B84FA7587723}"/>
              </a:ext>
            </a:extLst>
          </p:cNvPr>
          <p:cNvSpPr>
            <a:spLocks xmlns:a="http://schemas.openxmlformats.org/drawingml/2006/main" noGrp="1"/>
          </p:cNvSpPr>
          <p:nvPr/>
        </p:nvSpPr>
        <p:spPr>
          <a:xfrm xmlns:a="http://schemas.openxmlformats.org/drawingml/2006/main">
            <a:off x="609600" y="3107436"/>
            <a:ext cx="5219700" cy="166725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800" b="0">
                <a:solidFill>
                  <a:srgbClr val="5A5F66"/>
                </a:solidFill>
                <a:latin typeface="Arial"/>
                <a:ea typeface="Arial"/>
                <a:cs typeface="Arial"/>
              </a:defRPr>
            </a:pPr>
            <a:r>
              <a:rPr sz="1800" b="0">
                <a:solidFill>
                  <a:srgbClr val="5A5F66"/>
                </a:solidFill>
                <a:latin typeface="Arial"/>
                <a:ea typeface="Arial"/>
                <a:cs typeface="Arial"/>
              </a:rPr>
              <a:t>Formulate the linear sub-component of YOUR OWN Project 2 problem — or a simplified linear relaxation of it, if your real problem is not naturally linear — naming design variables, objective, constraints, and bounds, then solve it with linprog.</a:t>
            </a:r>
          </a:p>
        </p:txBody>
      </p:sp>
      <p:sp>
        <p:nvSpPr>
          <p:cNvPr id="8" name="right-head">
            <a:extLst xmlns:a="http://schemas.openxmlformats.org/drawingml/2006/main">
              <a:ext uri="{FF2B5EF4-FFF2-40B4-BE49-F238E27FC236}">
                <a16:creationId xmlns:a16="http://schemas.microsoft.com/office/drawing/2014/main" id="{BB4C7167-97F7-4C7C-A531-0D2AD648A42A}"/>
              </a:ext>
            </a:extLst>
          </p:cNvPr>
          <p:cNvSpPr>
            <a:spLocks xmlns:a="http://schemas.openxmlformats.org/drawingml/2006/main" noGrp="1"/>
          </p:cNvSpPr>
          <p:nvPr/>
        </p:nvSpPr>
        <p:spPr>
          <a:xfrm xmlns:a="http://schemas.openxmlformats.org/drawingml/2006/main">
            <a:off x="6362700" y="2609850"/>
            <a:ext cx="5219700" cy="34518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100" b="1">
                <a:solidFill>
                  <a:srgbClr val="111316"/>
                </a:solidFill>
                <a:latin typeface="Arial"/>
                <a:ea typeface="Arial"/>
                <a:cs typeface="Arial"/>
              </a:defRPr>
            </a:pPr>
            <a:r>
              <a:rPr sz="2100" b="1">
                <a:solidFill>
                  <a:srgbClr val="111316"/>
                </a:solidFill>
                <a:latin typeface="Arial"/>
                <a:ea typeface="Arial"/>
                <a:cs typeface="Arial"/>
              </a:rPr>
              <a:t>Why this counts as the milestone</a:t>
            </a:r>
          </a:p>
        </p:txBody>
      </p:sp>
      <p:sp>
        <p:nvSpPr>
          <p:cNvPr id="9" name="right-body">
            <a:extLst xmlns:a="http://schemas.openxmlformats.org/drawingml/2006/main">
              <a:ext uri="{FF2B5EF4-FFF2-40B4-BE49-F238E27FC236}">
                <a16:creationId xmlns:a16="http://schemas.microsoft.com/office/drawing/2014/main" id="{30B84EA6-0DFC-4D4C-8EE8-835781686B8B}"/>
              </a:ext>
            </a:extLst>
          </p:cNvPr>
          <p:cNvSpPr>
            <a:spLocks xmlns:a="http://schemas.openxmlformats.org/drawingml/2006/main" noGrp="1"/>
          </p:cNvSpPr>
          <p:nvPr/>
        </p:nvSpPr>
        <p:spPr>
          <a:xfrm xmlns:a="http://schemas.openxmlformats.org/drawingml/2006/main">
            <a:off x="6362700" y="3107436"/>
            <a:ext cx="5219700" cy="140208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800" b="0">
                <a:solidFill>
                  <a:srgbClr val="5A5F66"/>
                </a:solidFill>
                <a:latin typeface="Arial"/>
                <a:ea typeface="Arial"/>
                <a:cs typeface="Arial"/>
              </a:defRPr>
            </a:pPr>
            <a:r>
              <a:rPr sz="1800" b="0">
                <a:solidFill>
                  <a:srgbClr val="5A5F66"/>
                </a:solidFill>
                <a:latin typeface="Arial"/>
                <a:ea typeface="Arial"/>
                <a:cs typeface="Arial"/>
              </a:rPr>
              <a:t>This studio task IS Project 2's topic/dataset/pairing proposal AND its linear-formulation-family justification, per the course's assignment policy — nothing separate to additionally produce.</a:t>
            </a:r>
          </a:p>
        </p:txBody>
      </p:sp>
    </p:spTree>
    <p:extLst>
      <p:ext uri="{BB962C8B-B14F-4D97-AF65-F5344CB8AC3E}">
        <p14:creationId xmlns:p14="http://schemas.microsoft.com/office/powerpoint/2010/main" val="1334732994"/>
      </p:ext>
    </p:extLst>
  </p:cSld>
</p:sld>
</file>

<file path=ppt/slides/slide3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4" name="kicker">
            <a:extLst xmlns:a="http://schemas.openxmlformats.org/drawingml/2006/main">
              <a:ext uri="{FF2B5EF4-FFF2-40B4-BE49-F238E27FC236}">
                <a16:creationId xmlns:a16="http://schemas.microsoft.com/office/drawing/2014/main" id="{DB0A0692-0EE3-4DF1-824F-261E0A1094F2}"/>
              </a:ext>
            </a:extLst>
          </p:cNvPr>
          <p:cNvSpPr>
            <a:spLocks xmlns:a="http://schemas.openxmlformats.org/drawingml/2006/main" noGrp="1"/>
          </p:cNvSpPr>
          <p:nvPr/>
        </p:nvSpPr>
        <p:spPr>
          <a:xfrm xmlns:a="http://schemas.openxmlformats.org/drawingml/2006/main">
            <a:off x="609600" y="342900"/>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2E74B5"/>
                </a:solidFill>
                <a:latin typeface="Arial"/>
                <a:ea typeface="Arial"/>
                <a:cs typeface="Arial"/>
              </a:defRPr>
            </a:pPr>
            <a:r>
              <a:rPr sz="900" b="1">
                <a:solidFill>
                  <a:srgbClr val="2E74B5"/>
                </a:solidFill>
                <a:latin typeface="Arial"/>
                <a:ea typeface="Arial"/>
                <a:cs typeface="Arial"/>
              </a:rPr>
              <a:t>PREDICT BEFORE YOU RUN</a:t>
            </a:r>
          </a:p>
        </p:txBody>
      </p:sp>
      <p:sp>
        <p:nvSpPr>
          <p:cNvPr id="2" name="title">
            <a:extLst xmlns:a="http://schemas.openxmlformats.org/drawingml/2006/main">
              <a:ext uri="{FF2B5EF4-FFF2-40B4-BE49-F238E27FC236}">
                <a16:creationId xmlns:a16="http://schemas.microsoft.com/office/drawing/2014/main" id="{80CB80FF-A572-4EB9-808A-2CBACAFCC626}"/>
              </a:ext>
            </a:extLst>
          </p:cNvPr>
          <p:cNvSpPr>
            <a:spLocks xmlns:a="http://schemas.openxmlformats.org/drawingml/2006/main" noGrp="1"/>
          </p:cNvSpPr>
          <p:nvPr/>
        </p:nvSpPr>
        <p:spPr>
          <a:xfrm xmlns:a="http://schemas.openxmlformats.org/drawingml/2006/main">
            <a:off x="609600" y="60960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3000" b="0">
                <a:solidFill>
                  <a:srgbClr val="111316"/>
                </a:solidFill>
                <a:latin typeface="Arial"/>
                <a:ea typeface="Arial"/>
                <a:cs typeface="Arial"/>
              </a:defRPr>
            </a:pPr>
            <a:r>
              <a:rPr sz="3000" b="0">
                <a:solidFill>
                  <a:srgbClr val="111316"/>
                </a:solidFill>
                <a:latin typeface="Arial"/>
                <a:ea typeface="Arial"/>
                <a:cs typeface="Arial"/>
              </a:rPr>
              <a:t>Predict before cell [10] runs</a:t>
            </a:r>
          </a:p>
        </p:txBody>
      </p:sp>
      <p:sp>
        <p:nvSpPr>
          <p:cNvPr id="3" name="">
            <a:extLst xmlns:a="http://schemas.openxmlformats.org/drawingml/2006/main">
              <a:ext uri="{FF2B5EF4-FFF2-40B4-BE49-F238E27FC236}">
                <a16:creationId xmlns:a16="http://schemas.microsoft.com/office/drawing/2014/main" id="{560596F7-7862-4AB3-BDAD-738527CB3AF5}"/>
              </a:ext>
            </a:extLst>
          </p:cNvPr>
          <p:cNvSpPr>
            <a:spLocks xmlns:a="http://schemas.openxmlformats.org/drawingml/2006/main" noGrp="1"/>
          </p:cNvSpPr>
          <p:nvPr/>
        </p:nvSpPr>
        <p:spPr>
          <a:xfrm xmlns:a="http://schemas.openxmlformats.org/drawingml/2006/main">
            <a:off x="609600" y="6343650"/>
            <a:ext cx="10972800" cy="0"/>
          </a:xfrm>
          <a:prstGeom xmlns:a="http://schemas.openxmlformats.org/drawingml/2006/main" prst="line">
            <a:avLst/>
          </a:prstGeom>
          <a:noFill xmlns:a="http://schemas.openxmlformats.org/drawingml/2006/main"/>
          <a:ln xmlns:a="http://schemas.openxmlformats.org/drawingml/2006/main" w="9525">
            <a:solidFill>
              <a:srgbClr val="DDE0E5"/>
            </a:solidFill>
            <a:prstDash val="solid"/>
          </a:ln>
        </p:spPr>
      </p:sp>
      <p:sp>
        <p:nvSpPr>
          <p:cNvPr id="4" name="footer">
            <a:extLst xmlns:a="http://schemas.openxmlformats.org/drawingml/2006/main">
              <a:ext uri="{FF2B5EF4-FFF2-40B4-BE49-F238E27FC236}">
                <a16:creationId xmlns:a16="http://schemas.microsoft.com/office/drawing/2014/main" id="{E945CBE8-489A-4F98-8E71-15A7CB15EF1D}"/>
              </a:ext>
            </a:extLst>
          </p:cNvPr>
          <p:cNvSpPr>
            <a:spLocks xmlns:a="http://schemas.openxmlformats.org/drawingml/2006/main" noGrp="1"/>
          </p:cNvSpPr>
          <p:nvPr/>
        </p:nvSpPr>
        <p:spPr>
          <a:xfrm xmlns:a="http://schemas.openxmlformats.org/drawingml/2006/main">
            <a:off x="609600" y="6429375"/>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ARC 500  ·  Week 10 · Meeting B · Linear Programming Studio</a:t>
            </a:r>
          </a:p>
        </p:txBody>
      </p:sp>
      <p:sp>
        <p:nvSpPr>
          <p:cNvPr id="5" name="page">
            <a:extLst xmlns:a="http://schemas.openxmlformats.org/drawingml/2006/main">
              <a:ext uri="{FF2B5EF4-FFF2-40B4-BE49-F238E27FC236}">
                <a16:creationId xmlns:a16="http://schemas.microsoft.com/office/drawing/2014/main" id="{BB914218-A431-46AE-8170-5E536E48FA2F}"/>
              </a:ext>
            </a:extLst>
          </p:cNvPr>
          <p:cNvSpPr>
            <a:spLocks xmlns:a="http://schemas.openxmlformats.org/drawingml/2006/main" noGrp="1"/>
          </p:cNvSpPr>
          <p:nvPr/>
        </p:nvSpPr>
        <p:spPr>
          <a:xfrm xmlns:a="http://schemas.openxmlformats.org/drawingml/2006/main">
            <a:off x="10896600" y="6429375"/>
            <a:ext cx="685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30</a:t>
            </a:r>
          </a:p>
        </p:txBody>
      </p:sp>
      <p:sp>
        <p:nvSpPr>
          <p:cNvPr id="6" name="code-panel">
            <a:extLst xmlns:a="http://schemas.openxmlformats.org/drawingml/2006/main">
              <a:ext uri="{FF2B5EF4-FFF2-40B4-BE49-F238E27FC236}">
                <a16:creationId xmlns:a16="http://schemas.microsoft.com/office/drawing/2014/main" id="{F971A698-8227-4875-A906-BC86F82BC0A7}"/>
              </a:ext>
            </a:extLst>
          </p:cNvPr>
          <p:cNvSpPr>
            <a:spLocks xmlns:a="http://schemas.openxmlformats.org/drawingml/2006/main" noGrp="1"/>
          </p:cNvSpPr>
          <p:nvPr/>
        </p:nvSpPr>
        <p:spPr>
          <a:xfrm xmlns:a="http://schemas.openxmlformats.org/drawingml/2006/main">
            <a:off x="609600" y="1809750"/>
            <a:ext cx="6324600" cy="3238500"/>
          </a:xfrm>
          <a:prstGeom xmlns:a="http://schemas.openxmlformats.org/drawingml/2006/main" prst="roundRect">
            <a:avLst>
              <a:gd name="adj" fmla="val 2353"/>
            </a:avLst>
          </a:prstGeom>
          <a:solidFill xmlns:a="http://schemas.openxmlformats.org/drawingml/2006/main">
            <a:srgbClr val="17191C"/>
          </a:solidFill>
          <a:ln xmlns:a="http://schemas.openxmlformats.org/drawingml/2006/main" w="9525">
            <a:solidFill>
              <a:srgbClr val="17191C"/>
            </a:solidFill>
            <a:prstDash val="solid"/>
          </a:ln>
        </p:spPr>
      </p:sp>
      <p:sp>
        <p:nvSpPr>
          <p:cNvPr id="7" name="code">
            <a:extLst xmlns:a="http://schemas.openxmlformats.org/drawingml/2006/main">
              <a:ext uri="{FF2B5EF4-FFF2-40B4-BE49-F238E27FC236}">
                <a16:creationId xmlns:a16="http://schemas.microsoft.com/office/drawing/2014/main" id="{F8F63750-4A5F-4CF6-B01D-F548E860EBCD}"/>
              </a:ext>
            </a:extLst>
          </p:cNvPr>
          <p:cNvSpPr>
            <a:spLocks xmlns:a="http://schemas.openxmlformats.org/drawingml/2006/main" noGrp="1"/>
          </p:cNvSpPr>
          <p:nvPr/>
        </p:nvSpPr>
        <p:spPr>
          <a:xfrm xmlns:a="http://schemas.openxmlformats.org/drawingml/2006/main">
            <a:off x="857250" y="2038350"/>
            <a:ext cx="5829300" cy="2781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4000"/>
              </a:lnSpc>
              <a:buNone/>
              <a:defRPr sz="1800" b="0">
                <a:solidFill>
                  <a:srgbClr val="FFFFFF"/>
                </a:solidFill>
                <a:latin typeface="Consolas"/>
                <a:ea typeface="Consolas"/>
                <a:cs typeface="Consolas"/>
              </a:defRPr>
            </a:pPr>
            <a:r>
              <a:rPr sz="1800" b="0">
                <a:solidFill>
                  <a:srgbClr val="FFFFFF"/>
                </a:solidFill>
                <a:latin typeface="Consolas"/>
                <a:ea typeface="Consolas"/>
                <a:cs typeface="Consolas"/>
              </a:rPr>
              <a:t>c_w = [-18, -30]</a:t>
            </a:r>
          </a:p>
          <a:p xmlns:a="http://schemas.openxmlformats.org/drawingml/2006/main">
            <a:pPr algn="l">
              <a:lnSpc>
                <a:spcPct val="114000"/>
              </a:lnSpc>
              <a:buNone/>
              <a:defRPr sz="1800" b="0">
                <a:solidFill>
                  <a:srgbClr val="FFFFFF"/>
                </a:solidFill>
                <a:latin typeface="Consolas"/>
                <a:ea typeface="Consolas"/>
                <a:cs typeface="Consolas"/>
              </a:defRPr>
            </a:pPr>
            <a:r>
              <a:rPr sz="1800" b="0">
                <a:solidFill>
                  <a:srgbClr val="FFFFFF"/>
                </a:solidFill>
                <a:latin typeface="Consolas"/>
                <a:ea typeface="Consolas"/>
                <a:cs typeface="Consolas"/>
              </a:rPr>
              <a:t>A_ub_w = [[1, 1], [250, 500]]</a:t>
            </a:r>
          </a:p>
          <a:p xmlns:a="http://schemas.openxmlformats.org/drawingml/2006/main">
            <a:pPr algn="l">
              <a:lnSpc>
                <a:spcPct val="114000"/>
              </a:lnSpc>
              <a:buNone/>
              <a:defRPr sz="1800" b="0">
                <a:solidFill>
                  <a:srgbClr val="FFFFFF"/>
                </a:solidFill>
                <a:latin typeface="Consolas"/>
                <a:ea typeface="Consolas"/>
                <a:cs typeface="Consolas"/>
              </a:defRPr>
            </a:pPr>
            <a:r>
              <a:rPr sz="1800" b="0">
                <a:solidFill>
                  <a:srgbClr val="FFFFFF"/>
                </a:solidFill>
                <a:latin typeface="Consolas"/>
                <a:ea typeface="Consolas"/>
                <a:cs typeface="Consolas"/>
              </a:rPr>
              <a:t>b_ub_w = [150, 50000]</a:t>
            </a:r>
          </a:p>
          <a:p xmlns:a="http://schemas.openxmlformats.org/drawingml/2006/main">
            <a:pPr algn="l">
              <a:lnSpc>
                <a:spcPct val="114000"/>
              </a:lnSpc>
              <a:buNone/>
              <a:defRPr sz="1800" b="0">
                <a:solidFill>
                  <a:srgbClr val="FFFFFF"/>
                </a:solidFill>
                <a:latin typeface="Consolas"/>
                <a:ea typeface="Consolas"/>
                <a:cs typeface="Consolas"/>
              </a:defRPr>
            </a:pPr>
            <a:r>
              <a:rPr sz="1800" b="0">
                <a:solidFill>
                  <a:srgbClr val="FFFFFF"/>
                </a:solidFill>
                <a:latin typeface="Consolas"/>
                <a:ea typeface="Consolas"/>
                <a:cs typeface="Consolas"/>
              </a:rPr>
              <a:t>bounds_w = [(0, None), (0, 80)]</a:t>
            </a:r>
          </a:p>
        </p:txBody>
      </p:sp>
      <p:sp>
        <p:nvSpPr>
          <p:cNvPr id="8" name="question">
            <a:extLst xmlns:a="http://schemas.openxmlformats.org/drawingml/2006/main">
              <a:ext uri="{FF2B5EF4-FFF2-40B4-BE49-F238E27FC236}">
                <a16:creationId xmlns:a16="http://schemas.microsoft.com/office/drawing/2014/main" id="{94B259AF-D598-4DD2-AE7F-7458AF4EE61B}"/>
              </a:ext>
            </a:extLst>
          </p:cNvPr>
          <p:cNvSpPr>
            <a:spLocks xmlns:a="http://schemas.openxmlformats.org/drawingml/2006/main" noGrp="1"/>
          </p:cNvSpPr>
          <p:nvPr/>
        </p:nvSpPr>
        <p:spPr>
          <a:xfrm xmlns:a="http://schemas.openxmlformats.org/drawingml/2006/main">
            <a:off x="7315200" y="1809750"/>
            <a:ext cx="4267200" cy="86410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100" b="1">
                <a:solidFill>
                  <a:srgbClr val="111316"/>
                </a:solidFill>
                <a:latin typeface="Arial"/>
                <a:ea typeface="Arial"/>
                <a:cs typeface="Arial"/>
              </a:defRPr>
            </a:pPr>
            <a:r>
              <a:rPr sz="2100" b="1">
                <a:solidFill>
                  <a:srgbClr val="111316"/>
                </a:solidFill>
                <a:latin typeface="Arial"/>
                <a:ea typeface="Arial"/>
                <a:cs typeface="Arial"/>
              </a:rPr>
              <a:t>Same pattern, a different problem: which constraint(s) bind?</a:t>
            </a:r>
          </a:p>
        </p:txBody>
      </p:sp>
      <p:sp>
        <p:nvSpPr>
          <p:cNvPr id="9" name="opt-0">
            <a:extLst xmlns:a="http://schemas.openxmlformats.org/drawingml/2006/main">
              <a:ext uri="{FF2B5EF4-FFF2-40B4-BE49-F238E27FC236}">
                <a16:creationId xmlns:a16="http://schemas.microsoft.com/office/drawing/2014/main" id="{7214A21E-6BDA-4036-A134-777FC45ABB38}"/>
              </a:ext>
            </a:extLst>
          </p:cNvPr>
          <p:cNvSpPr>
            <a:spLocks xmlns:a="http://schemas.openxmlformats.org/drawingml/2006/main" noGrp="1"/>
          </p:cNvSpPr>
          <p:nvPr/>
        </p:nvSpPr>
        <p:spPr>
          <a:xfrm xmlns:a="http://schemas.openxmlformats.org/drawingml/2006/main">
            <a:off x="7315200" y="2788158"/>
            <a:ext cx="4267200" cy="514350"/>
          </a:xfrm>
          <a:prstGeom xmlns:a="http://schemas.openxmlformats.org/drawingml/2006/main" prst="roundRect">
            <a:avLst>
              <a:gd name="adj" fmla="val 11111"/>
            </a:avLst>
          </a:prstGeom>
          <a:solidFill xmlns:a="http://schemas.openxmlformats.org/drawingml/2006/main">
            <a:srgbClr val="F6F7F9"/>
          </a:solidFill>
          <a:ln xmlns:a="http://schemas.openxmlformats.org/drawingml/2006/main" w="9525">
            <a:solidFill>
              <a:srgbClr val="DDE0E5"/>
            </a:solidFill>
            <a:prstDash val="solid"/>
          </a:ln>
        </p:spPr>
      </p:sp>
      <p:sp>
        <p:nvSpPr>
          <p:cNvPr id="10" name="opt-letter-0">
            <a:extLst xmlns:a="http://schemas.openxmlformats.org/drawingml/2006/main">
              <a:ext uri="{FF2B5EF4-FFF2-40B4-BE49-F238E27FC236}">
                <a16:creationId xmlns:a16="http://schemas.microsoft.com/office/drawing/2014/main" id="{36D1332A-DD90-432D-ACB7-3060247CE4BD}"/>
              </a:ext>
            </a:extLst>
          </p:cNvPr>
          <p:cNvSpPr>
            <a:spLocks xmlns:a="http://schemas.openxmlformats.org/drawingml/2006/main" noGrp="1"/>
          </p:cNvSpPr>
          <p:nvPr/>
        </p:nvSpPr>
        <p:spPr>
          <a:xfrm xmlns:a="http://schemas.openxmlformats.org/drawingml/2006/main">
            <a:off x="7448550" y="2931033"/>
            <a:ext cx="2667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1800" b="1">
                <a:solidFill>
                  <a:srgbClr val="2E74B5"/>
                </a:solidFill>
                <a:latin typeface="Arial"/>
                <a:ea typeface="Arial"/>
                <a:cs typeface="Arial"/>
              </a:defRPr>
            </a:pPr>
            <a:r>
              <a:rPr sz="1800" b="1">
                <a:solidFill>
                  <a:srgbClr val="2E74B5"/>
                </a:solidFill>
                <a:latin typeface="Arial"/>
                <a:ea typeface="Arial"/>
                <a:cs typeface="Arial"/>
              </a:rPr>
              <a:t>A</a:t>
            </a:r>
          </a:p>
        </p:txBody>
      </p:sp>
      <p:sp>
        <p:nvSpPr>
          <p:cNvPr id="11" name="opt-text-0">
            <a:extLst xmlns:a="http://schemas.openxmlformats.org/drawingml/2006/main">
              <a:ext uri="{FF2B5EF4-FFF2-40B4-BE49-F238E27FC236}">
                <a16:creationId xmlns:a16="http://schemas.microsoft.com/office/drawing/2014/main" id="{5F114D99-2526-4EF7-970E-A3D3A82C8F6C}"/>
              </a:ext>
            </a:extLst>
          </p:cNvPr>
          <p:cNvSpPr>
            <a:spLocks xmlns:a="http://schemas.openxmlformats.org/drawingml/2006/main" noGrp="1"/>
          </p:cNvSpPr>
          <p:nvPr/>
        </p:nvSpPr>
        <p:spPr>
          <a:xfrm xmlns:a="http://schemas.openxmlformats.org/drawingml/2006/main">
            <a:off x="7772400" y="2826258"/>
            <a:ext cx="36766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2000"/>
              </a:lnSpc>
              <a:buNone/>
              <a:defRPr sz="1200" b="0">
                <a:solidFill>
                  <a:srgbClr val="111316"/>
                </a:solidFill>
                <a:latin typeface="Consolas"/>
                <a:ea typeface="Consolas"/>
                <a:cs typeface="Consolas"/>
              </a:defRPr>
            </a:pPr>
            <a:r>
              <a:rPr sz="1200" b="0">
                <a:solidFill>
                  <a:srgbClr val="111316"/>
                </a:solidFill>
                <a:latin typeface="Consolas"/>
                <a:ea typeface="Consolas"/>
                <a:cs typeface="Consolas"/>
              </a:rPr>
              <a:t>Only the glazing-area limit (150 m2)</a:t>
            </a:r>
          </a:p>
        </p:txBody>
      </p:sp>
      <p:sp>
        <p:nvSpPr>
          <p:cNvPr id="12" name="opt-1">
            <a:extLst xmlns:a="http://schemas.openxmlformats.org/drawingml/2006/main">
              <a:ext uri="{FF2B5EF4-FFF2-40B4-BE49-F238E27FC236}">
                <a16:creationId xmlns:a16="http://schemas.microsoft.com/office/drawing/2014/main" id="{64025FC4-3A79-4ADC-AF3F-3FCE94E4CE0C}"/>
              </a:ext>
            </a:extLst>
          </p:cNvPr>
          <p:cNvSpPr>
            <a:spLocks xmlns:a="http://schemas.openxmlformats.org/drawingml/2006/main" noGrp="1"/>
          </p:cNvSpPr>
          <p:nvPr/>
        </p:nvSpPr>
        <p:spPr>
          <a:xfrm xmlns:a="http://schemas.openxmlformats.org/drawingml/2006/main">
            <a:off x="7315200" y="3359658"/>
            <a:ext cx="4267200" cy="514350"/>
          </a:xfrm>
          <a:prstGeom xmlns:a="http://schemas.openxmlformats.org/drawingml/2006/main" prst="roundRect">
            <a:avLst>
              <a:gd name="adj" fmla="val 11111"/>
            </a:avLst>
          </a:prstGeom>
          <a:solidFill xmlns:a="http://schemas.openxmlformats.org/drawingml/2006/main">
            <a:srgbClr val="F6F7F9"/>
          </a:solidFill>
          <a:ln xmlns:a="http://schemas.openxmlformats.org/drawingml/2006/main" w="9525">
            <a:solidFill>
              <a:srgbClr val="DDE0E5"/>
            </a:solidFill>
            <a:prstDash val="solid"/>
          </a:ln>
        </p:spPr>
      </p:sp>
      <p:sp>
        <p:nvSpPr>
          <p:cNvPr id="13" name="opt-letter-1">
            <a:extLst xmlns:a="http://schemas.openxmlformats.org/drawingml/2006/main">
              <a:ext uri="{FF2B5EF4-FFF2-40B4-BE49-F238E27FC236}">
                <a16:creationId xmlns:a16="http://schemas.microsoft.com/office/drawing/2014/main" id="{49590CBD-158D-4E5E-82D2-08AFDF443ECC}"/>
              </a:ext>
            </a:extLst>
          </p:cNvPr>
          <p:cNvSpPr>
            <a:spLocks xmlns:a="http://schemas.openxmlformats.org/drawingml/2006/main" noGrp="1"/>
          </p:cNvSpPr>
          <p:nvPr/>
        </p:nvSpPr>
        <p:spPr>
          <a:xfrm xmlns:a="http://schemas.openxmlformats.org/drawingml/2006/main">
            <a:off x="7448550" y="3502533"/>
            <a:ext cx="2667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1800" b="1">
                <a:solidFill>
                  <a:srgbClr val="2E74B5"/>
                </a:solidFill>
                <a:latin typeface="Arial"/>
                <a:ea typeface="Arial"/>
                <a:cs typeface="Arial"/>
              </a:defRPr>
            </a:pPr>
            <a:r>
              <a:rPr sz="1800" b="1">
                <a:solidFill>
                  <a:srgbClr val="2E74B5"/>
                </a:solidFill>
                <a:latin typeface="Arial"/>
                <a:ea typeface="Arial"/>
                <a:cs typeface="Arial"/>
              </a:rPr>
              <a:t>B</a:t>
            </a:r>
          </a:p>
        </p:txBody>
      </p:sp>
      <p:sp>
        <p:nvSpPr>
          <p:cNvPr id="14" name="opt-text-1">
            <a:extLst xmlns:a="http://schemas.openxmlformats.org/drawingml/2006/main">
              <a:ext uri="{FF2B5EF4-FFF2-40B4-BE49-F238E27FC236}">
                <a16:creationId xmlns:a16="http://schemas.microsoft.com/office/drawing/2014/main" id="{1ACCC7C7-4ECD-479C-B465-434444812315}"/>
              </a:ext>
            </a:extLst>
          </p:cNvPr>
          <p:cNvSpPr>
            <a:spLocks xmlns:a="http://schemas.openxmlformats.org/drawingml/2006/main" noGrp="1"/>
          </p:cNvSpPr>
          <p:nvPr/>
        </p:nvSpPr>
        <p:spPr>
          <a:xfrm xmlns:a="http://schemas.openxmlformats.org/drawingml/2006/main">
            <a:off x="7772400" y="3397758"/>
            <a:ext cx="36766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2000"/>
              </a:lnSpc>
              <a:buNone/>
              <a:defRPr sz="1200" b="0">
                <a:solidFill>
                  <a:srgbClr val="111316"/>
                </a:solidFill>
                <a:latin typeface="Consolas"/>
                <a:ea typeface="Consolas"/>
                <a:cs typeface="Consolas"/>
              </a:defRPr>
            </a:pPr>
            <a:r>
              <a:rPr sz="1200" b="0">
                <a:solidFill>
                  <a:srgbClr val="111316"/>
                </a:solidFill>
                <a:latin typeface="Consolas"/>
                <a:ea typeface="Consolas"/>
                <a:cs typeface="Consolas"/>
              </a:rPr>
              <a:t>Only the budget cap ($50,000)</a:t>
            </a:r>
          </a:p>
        </p:txBody>
      </p:sp>
      <p:sp>
        <p:nvSpPr>
          <p:cNvPr id="15" name="opt-2">
            <a:extLst xmlns:a="http://schemas.openxmlformats.org/drawingml/2006/main">
              <a:ext uri="{FF2B5EF4-FFF2-40B4-BE49-F238E27FC236}">
                <a16:creationId xmlns:a16="http://schemas.microsoft.com/office/drawing/2014/main" id="{FEBD3DCB-885B-4CD2-9046-B5EF0FB71773}"/>
              </a:ext>
            </a:extLst>
          </p:cNvPr>
          <p:cNvSpPr>
            <a:spLocks xmlns:a="http://schemas.openxmlformats.org/drawingml/2006/main" noGrp="1"/>
          </p:cNvSpPr>
          <p:nvPr/>
        </p:nvSpPr>
        <p:spPr>
          <a:xfrm xmlns:a="http://schemas.openxmlformats.org/drawingml/2006/main">
            <a:off x="7315200" y="3931158"/>
            <a:ext cx="4267200" cy="514350"/>
          </a:xfrm>
          <a:prstGeom xmlns:a="http://schemas.openxmlformats.org/drawingml/2006/main" prst="roundRect">
            <a:avLst>
              <a:gd name="adj" fmla="val 11111"/>
            </a:avLst>
          </a:prstGeom>
          <a:solidFill xmlns:a="http://schemas.openxmlformats.org/drawingml/2006/main">
            <a:srgbClr val="F6F7F9"/>
          </a:solidFill>
          <a:ln xmlns:a="http://schemas.openxmlformats.org/drawingml/2006/main" w="9525">
            <a:solidFill>
              <a:srgbClr val="DDE0E5"/>
            </a:solidFill>
            <a:prstDash val="solid"/>
          </a:ln>
        </p:spPr>
      </p:sp>
      <p:sp>
        <p:nvSpPr>
          <p:cNvPr id="16" name="opt-letter-2">
            <a:extLst xmlns:a="http://schemas.openxmlformats.org/drawingml/2006/main">
              <a:ext uri="{FF2B5EF4-FFF2-40B4-BE49-F238E27FC236}">
                <a16:creationId xmlns:a16="http://schemas.microsoft.com/office/drawing/2014/main" id="{F47D9D86-D795-43D8-B120-ACC699B63F71}"/>
              </a:ext>
            </a:extLst>
          </p:cNvPr>
          <p:cNvSpPr>
            <a:spLocks xmlns:a="http://schemas.openxmlformats.org/drawingml/2006/main" noGrp="1"/>
          </p:cNvSpPr>
          <p:nvPr/>
        </p:nvSpPr>
        <p:spPr>
          <a:xfrm xmlns:a="http://schemas.openxmlformats.org/drawingml/2006/main">
            <a:off x="7448550" y="4074033"/>
            <a:ext cx="2667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1800" b="1">
                <a:solidFill>
                  <a:srgbClr val="2E74B5"/>
                </a:solidFill>
                <a:latin typeface="Arial"/>
                <a:ea typeface="Arial"/>
                <a:cs typeface="Arial"/>
              </a:defRPr>
            </a:pPr>
            <a:r>
              <a:rPr sz="1800" b="1">
                <a:solidFill>
                  <a:srgbClr val="2E74B5"/>
                </a:solidFill>
                <a:latin typeface="Arial"/>
                <a:ea typeface="Arial"/>
                <a:cs typeface="Arial"/>
              </a:rPr>
              <a:t>C</a:t>
            </a:r>
          </a:p>
        </p:txBody>
      </p:sp>
      <p:sp>
        <p:nvSpPr>
          <p:cNvPr id="17" name="opt-text-2">
            <a:extLst xmlns:a="http://schemas.openxmlformats.org/drawingml/2006/main">
              <a:ext uri="{FF2B5EF4-FFF2-40B4-BE49-F238E27FC236}">
                <a16:creationId xmlns:a16="http://schemas.microsoft.com/office/drawing/2014/main" id="{AF523C76-E374-460F-A818-1ECA7A4A26C8}"/>
              </a:ext>
            </a:extLst>
          </p:cNvPr>
          <p:cNvSpPr>
            <a:spLocks xmlns:a="http://schemas.openxmlformats.org/drawingml/2006/main" noGrp="1"/>
          </p:cNvSpPr>
          <p:nvPr/>
        </p:nvSpPr>
        <p:spPr>
          <a:xfrm xmlns:a="http://schemas.openxmlformats.org/drawingml/2006/main">
            <a:off x="7772400" y="3969258"/>
            <a:ext cx="36766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2000"/>
              </a:lnSpc>
              <a:buNone/>
              <a:defRPr sz="1200" b="0">
                <a:solidFill>
                  <a:srgbClr val="111316"/>
                </a:solidFill>
                <a:latin typeface="Consolas"/>
                <a:ea typeface="Consolas"/>
                <a:cs typeface="Consolas"/>
              </a:defRPr>
            </a:pPr>
            <a:r>
              <a:rPr sz="1200" b="0">
                <a:solidFill>
                  <a:srgbClr val="111316"/>
                </a:solidFill>
                <a:latin typeface="Consolas"/>
                <a:ea typeface="Consolas"/>
                <a:cs typeface="Consolas"/>
              </a:rPr>
              <a:t>Both the glazing-area limit and the budget cap</a:t>
            </a:r>
          </a:p>
        </p:txBody>
      </p:sp>
      <p:sp>
        <p:nvSpPr>
          <p:cNvPr id="18" name="opt-3">
            <a:extLst xmlns:a="http://schemas.openxmlformats.org/drawingml/2006/main">
              <a:ext uri="{FF2B5EF4-FFF2-40B4-BE49-F238E27FC236}">
                <a16:creationId xmlns:a16="http://schemas.microsoft.com/office/drawing/2014/main" id="{19680DDA-E68E-403F-8EA7-FDB8FAABED11}"/>
              </a:ext>
            </a:extLst>
          </p:cNvPr>
          <p:cNvSpPr>
            <a:spLocks xmlns:a="http://schemas.openxmlformats.org/drawingml/2006/main" noGrp="1"/>
          </p:cNvSpPr>
          <p:nvPr/>
        </p:nvSpPr>
        <p:spPr>
          <a:xfrm xmlns:a="http://schemas.openxmlformats.org/drawingml/2006/main">
            <a:off x="7315200" y="4502658"/>
            <a:ext cx="4267200" cy="514350"/>
          </a:xfrm>
          <a:prstGeom xmlns:a="http://schemas.openxmlformats.org/drawingml/2006/main" prst="roundRect">
            <a:avLst>
              <a:gd name="adj" fmla="val 11111"/>
            </a:avLst>
          </a:prstGeom>
          <a:solidFill xmlns:a="http://schemas.openxmlformats.org/drawingml/2006/main">
            <a:srgbClr val="F6F7F9"/>
          </a:solidFill>
          <a:ln xmlns:a="http://schemas.openxmlformats.org/drawingml/2006/main" w="9525">
            <a:solidFill>
              <a:srgbClr val="DDE0E5"/>
            </a:solidFill>
            <a:prstDash val="solid"/>
          </a:ln>
        </p:spPr>
      </p:sp>
      <p:sp>
        <p:nvSpPr>
          <p:cNvPr id="19" name="opt-letter-3">
            <a:extLst xmlns:a="http://schemas.openxmlformats.org/drawingml/2006/main">
              <a:ext uri="{FF2B5EF4-FFF2-40B4-BE49-F238E27FC236}">
                <a16:creationId xmlns:a16="http://schemas.microsoft.com/office/drawing/2014/main" id="{4C7DF74E-69D1-472B-868B-5C6EAB49A4C2}"/>
              </a:ext>
            </a:extLst>
          </p:cNvPr>
          <p:cNvSpPr>
            <a:spLocks xmlns:a="http://schemas.openxmlformats.org/drawingml/2006/main" noGrp="1"/>
          </p:cNvSpPr>
          <p:nvPr/>
        </p:nvSpPr>
        <p:spPr>
          <a:xfrm xmlns:a="http://schemas.openxmlformats.org/drawingml/2006/main">
            <a:off x="7448550" y="4645533"/>
            <a:ext cx="2667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1800" b="1">
                <a:solidFill>
                  <a:srgbClr val="2E74B5"/>
                </a:solidFill>
                <a:latin typeface="Arial"/>
                <a:ea typeface="Arial"/>
                <a:cs typeface="Arial"/>
              </a:defRPr>
            </a:pPr>
            <a:r>
              <a:rPr sz="1800" b="1">
                <a:solidFill>
                  <a:srgbClr val="2E74B5"/>
                </a:solidFill>
                <a:latin typeface="Arial"/>
                <a:ea typeface="Arial"/>
                <a:cs typeface="Arial"/>
              </a:rPr>
              <a:t>D</a:t>
            </a:r>
          </a:p>
        </p:txBody>
      </p:sp>
      <p:sp>
        <p:nvSpPr>
          <p:cNvPr id="20" name="opt-text-3">
            <a:extLst xmlns:a="http://schemas.openxmlformats.org/drawingml/2006/main">
              <a:ext uri="{FF2B5EF4-FFF2-40B4-BE49-F238E27FC236}">
                <a16:creationId xmlns:a16="http://schemas.microsoft.com/office/drawing/2014/main" id="{3E4C62E3-D5FE-4465-8FDF-9E8D9CB32C77}"/>
              </a:ext>
            </a:extLst>
          </p:cNvPr>
          <p:cNvSpPr>
            <a:spLocks xmlns:a="http://schemas.openxmlformats.org/drawingml/2006/main" noGrp="1"/>
          </p:cNvSpPr>
          <p:nvPr/>
        </p:nvSpPr>
        <p:spPr>
          <a:xfrm xmlns:a="http://schemas.openxmlformats.org/drawingml/2006/main">
            <a:off x="7772400" y="4540758"/>
            <a:ext cx="36766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2000"/>
              </a:lnSpc>
              <a:buNone/>
              <a:defRPr sz="1200" b="0">
                <a:solidFill>
                  <a:srgbClr val="111316"/>
                </a:solidFill>
                <a:latin typeface="Consolas"/>
                <a:ea typeface="Consolas"/>
                <a:cs typeface="Consolas"/>
              </a:defRPr>
            </a:pPr>
            <a:r>
              <a:rPr sz="1200" b="0">
                <a:solidFill>
                  <a:srgbClr val="111316"/>
                </a:solidFill>
                <a:latin typeface="Consolas"/>
                <a:ea typeface="Consolas"/>
                <a:cs typeface="Consolas"/>
              </a:rPr>
              <a:t>The triple-pane supply cap (80 m2)</a:t>
            </a:r>
          </a:p>
        </p:txBody>
      </p:sp>
      <p:sp>
        <p:nvSpPr>
          <p:cNvPr id="21" name="answer-panel">
            <a:extLst xmlns:a="http://schemas.openxmlformats.org/drawingml/2006/main">
              <a:ext uri="{FF2B5EF4-FFF2-40B4-BE49-F238E27FC236}">
                <a16:creationId xmlns:a16="http://schemas.microsoft.com/office/drawing/2014/main" id="{11D2A7D6-6253-4C7F-A1BC-90F91F9F2407}"/>
              </a:ext>
            </a:extLst>
          </p:cNvPr>
          <p:cNvSpPr>
            <a:spLocks xmlns:a="http://schemas.openxmlformats.org/drawingml/2006/main" noGrp="1"/>
          </p:cNvSpPr>
          <p:nvPr/>
        </p:nvSpPr>
        <p:spPr>
          <a:xfrm xmlns:a="http://schemas.openxmlformats.org/drawingml/2006/main">
            <a:off x="609600" y="5219700"/>
            <a:ext cx="10972800" cy="914400"/>
          </a:xfrm>
          <a:prstGeom xmlns:a="http://schemas.openxmlformats.org/drawingml/2006/main" prst="roundRect">
            <a:avLst>
              <a:gd name="adj" fmla="val 8333"/>
            </a:avLst>
          </a:prstGeom>
          <a:solidFill xmlns:a="http://schemas.openxmlformats.org/drawingml/2006/main">
            <a:srgbClr val="F3F7FB"/>
          </a:solidFill>
          <a:ln xmlns:a="http://schemas.openxmlformats.org/drawingml/2006/main" w="9525">
            <a:solidFill>
              <a:srgbClr val="2E74B5"/>
            </a:solidFill>
            <a:prstDash val="solid"/>
          </a:ln>
        </p:spPr>
      </p:sp>
      <p:sp>
        <p:nvSpPr>
          <p:cNvPr id="22" name="answer-label">
            <a:extLst xmlns:a="http://schemas.openxmlformats.org/drawingml/2006/main">
              <a:ext uri="{FF2B5EF4-FFF2-40B4-BE49-F238E27FC236}">
                <a16:creationId xmlns:a16="http://schemas.microsoft.com/office/drawing/2014/main" id="{705FD372-EBF8-46BA-983E-88070957F322}"/>
              </a:ext>
            </a:extLst>
          </p:cNvPr>
          <p:cNvSpPr>
            <a:spLocks xmlns:a="http://schemas.openxmlformats.org/drawingml/2006/main" noGrp="1"/>
          </p:cNvSpPr>
          <p:nvPr/>
        </p:nvSpPr>
        <p:spPr>
          <a:xfrm xmlns:a="http://schemas.openxmlformats.org/drawingml/2006/main">
            <a:off x="819150" y="5372100"/>
            <a:ext cx="3048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1F4D78"/>
                </a:solidFill>
                <a:latin typeface="Arial"/>
                <a:ea typeface="Arial"/>
                <a:cs typeface="Arial"/>
              </a:defRPr>
            </a:pPr>
            <a:r>
              <a:rPr sz="900" b="1">
                <a:solidFill>
                  <a:srgbClr val="1F4D78"/>
                </a:solidFill>
                <a:latin typeface="Arial"/>
                <a:ea typeface="Arial"/>
                <a:cs typeface="Arial"/>
              </a:rPr>
              <a:t>ANSWER  ·  C</a:t>
            </a:r>
          </a:p>
        </p:txBody>
      </p:sp>
      <p:sp>
        <p:nvSpPr>
          <p:cNvPr id="23" name="why">
            <a:extLst xmlns:a="http://schemas.openxmlformats.org/drawingml/2006/main">
              <a:ext uri="{FF2B5EF4-FFF2-40B4-BE49-F238E27FC236}">
                <a16:creationId xmlns:a16="http://schemas.microsoft.com/office/drawing/2014/main" id="{1058F96F-7CBE-4117-9C78-1788555B3ABF}"/>
              </a:ext>
            </a:extLst>
          </p:cNvPr>
          <p:cNvSpPr>
            <a:spLocks xmlns:a="http://schemas.openxmlformats.org/drawingml/2006/main" noGrp="1"/>
          </p:cNvSpPr>
          <p:nvPr/>
        </p:nvSpPr>
        <p:spPr>
          <a:xfrm xmlns:a="http://schemas.openxmlformats.org/drawingml/2006/main">
            <a:off x="819150" y="5638800"/>
            <a:ext cx="105537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500" b="0">
                <a:solidFill>
                  <a:srgbClr val="111316"/>
                </a:solidFill>
                <a:latin typeface="Arial"/>
                <a:ea typeface="Arial"/>
                <a:cs typeface="Arial"/>
              </a:defRPr>
            </a:pPr>
            <a:r>
              <a:rPr sz="1500" b="0">
                <a:solidFill>
                  <a:srgbClr val="111316"/>
                </a:solidFill>
                <a:latin typeface="Arial"/>
                <a:ea typeface="Arial"/>
                <a:cs typeface="Arial"/>
              </a:rPr>
              <a:t>res_w.x = [100, 50]: area 100+50 = 150 m2 binds; budget 250*100+500*50 = $50,000 binds. The triple-pane cap has slack (50 of 80).</a:t>
            </a:r>
          </a:p>
        </p:txBody>
      </p:sp>
    </p:spTree>
    <p:extLst>
      <p:ext uri="{BB962C8B-B14F-4D97-AF65-F5344CB8AC3E}">
        <p14:creationId xmlns:p14="http://schemas.microsoft.com/office/powerpoint/2010/main" val="2100674183"/>
      </p:ext>
    </p:extLst>
  </p:cSld>
</p:sld>
</file>

<file path=ppt/slides/slide3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kicker">
            <a:extLst xmlns:a="http://schemas.openxmlformats.org/drawingml/2006/main">
              <a:ext uri="{FF2B5EF4-FFF2-40B4-BE49-F238E27FC236}">
                <a16:creationId xmlns:a16="http://schemas.microsoft.com/office/drawing/2014/main" id="{38BFE9F5-9DC3-47D2-B89D-43400820B0C4}"/>
              </a:ext>
            </a:extLst>
          </p:cNvPr>
          <p:cNvSpPr>
            <a:spLocks xmlns:a="http://schemas.openxmlformats.org/drawingml/2006/main" noGrp="1"/>
          </p:cNvSpPr>
          <p:nvPr/>
        </p:nvSpPr>
        <p:spPr>
          <a:xfrm xmlns:a="http://schemas.openxmlformats.org/drawingml/2006/main">
            <a:off x="609600" y="342900"/>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2E74B5"/>
                </a:solidFill>
                <a:latin typeface="Arial"/>
                <a:ea typeface="Arial"/>
                <a:cs typeface="Arial"/>
              </a:defRPr>
            </a:pPr>
            <a:r>
              <a:rPr sz="900" b="1">
                <a:solidFill>
                  <a:srgbClr val="2E74B5"/>
                </a:solidFill>
                <a:latin typeface="Arial"/>
                <a:ea typeface="Arial"/>
                <a:cs typeface="Arial"/>
              </a:rPr>
              <a:t>PYTHON SYNTAX</a:t>
            </a:r>
          </a:p>
        </p:txBody>
      </p:sp>
      <p:sp>
        <p:nvSpPr>
          <p:cNvPr id="2" name="title">
            <a:extLst xmlns:a="http://schemas.openxmlformats.org/drawingml/2006/main">
              <a:ext uri="{FF2B5EF4-FFF2-40B4-BE49-F238E27FC236}">
                <a16:creationId xmlns:a16="http://schemas.microsoft.com/office/drawing/2014/main" id="{14BE1CFD-0CD4-49BB-B5C1-3EC03DE600C3}"/>
              </a:ext>
            </a:extLst>
          </p:cNvPr>
          <p:cNvSpPr>
            <a:spLocks xmlns:a="http://schemas.openxmlformats.org/drawingml/2006/main" noGrp="1"/>
          </p:cNvSpPr>
          <p:nvPr/>
        </p:nvSpPr>
        <p:spPr>
          <a:xfrm xmlns:a="http://schemas.openxmlformats.org/drawingml/2006/main">
            <a:off x="609600" y="60960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3000" b="0">
                <a:solidFill>
                  <a:srgbClr val="111316"/>
                </a:solidFill>
                <a:latin typeface="Arial"/>
                <a:ea typeface="Arial"/>
                <a:cs typeface="Arial"/>
              </a:defRPr>
            </a:pPr>
            <a:r>
              <a:rPr sz="3000" b="0">
                <a:solidFill>
                  <a:srgbClr val="111316"/>
                </a:solidFill>
                <a:latin typeface="Arial"/>
                <a:ea typeface="Arial"/>
                <a:cs typeface="Arial"/>
              </a:rPr>
              <a:t>[10] One illustrative example, before you build your own</a:t>
            </a:r>
          </a:p>
        </p:txBody>
      </p:sp>
      <p:sp>
        <p:nvSpPr>
          <p:cNvPr id="3" name="">
            <a:extLst xmlns:a="http://schemas.openxmlformats.org/drawingml/2006/main">
              <a:ext uri="{FF2B5EF4-FFF2-40B4-BE49-F238E27FC236}">
                <a16:creationId xmlns:a16="http://schemas.microsoft.com/office/drawing/2014/main" id="{0F205B58-CDB3-4ACF-8931-EC4E26DEC3B6}"/>
              </a:ext>
            </a:extLst>
          </p:cNvPr>
          <p:cNvSpPr>
            <a:spLocks xmlns:a="http://schemas.openxmlformats.org/drawingml/2006/main" noGrp="1"/>
          </p:cNvSpPr>
          <p:nvPr/>
        </p:nvSpPr>
        <p:spPr>
          <a:xfrm xmlns:a="http://schemas.openxmlformats.org/drawingml/2006/main">
            <a:off x="609600" y="6343650"/>
            <a:ext cx="10972800" cy="0"/>
          </a:xfrm>
          <a:prstGeom xmlns:a="http://schemas.openxmlformats.org/drawingml/2006/main" prst="line">
            <a:avLst/>
          </a:prstGeom>
          <a:noFill xmlns:a="http://schemas.openxmlformats.org/drawingml/2006/main"/>
          <a:ln xmlns:a="http://schemas.openxmlformats.org/drawingml/2006/main" w="9525">
            <a:solidFill>
              <a:srgbClr val="DDE0E5"/>
            </a:solidFill>
            <a:prstDash val="solid"/>
          </a:ln>
        </p:spPr>
      </p:sp>
      <p:sp>
        <p:nvSpPr>
          <p:cNvPr id="4" name="footer">
            <a:extLst xmlns:a="http://schemas.openxmlformats.org/drawingml/2006/main">
              <a:ext uri="{FF2B5EF4-FFF2-40B4-BE49-F238E27FC236}">
                <a16:creationId xmlns:a16="http://schemas.microsoft.com/office/drawing/2014/main" id="{4FFCAAAB-4A71-4449-B688-7681B7441467}"/>
              </a:ext>
            </a:extLst>
          </p:cNvPr>
          <p:cNvSpPr>
            <a:spLocks xmlns:a="http://schemas.openxmlformats.org/drawingml/2006/main" noGrp="1"/>
          </p:cNvSpPr>
          <p:nvPr/>
        </p:nvSpPr>
        <p:spPr>
          <a:xfrm xmlns:a="http://schemas.openxmlformats.org/drawingml/2006/main">
            <a:off x="609600" y="6429375"/>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ARC 500  ·  Week 10 · Meeting B · Linear Programming Studio</a:t>
            </a:r>
          </a:p>
        </p:txBody>
      </p:sp>
      <p:sp>
        <p:nvSpPr>
          <p:cNvPr id="5" name="page">
            <a:extLst xmlns:a="http://schemas.openxmlformats.org/drawingml/2006/main">
              <a:ext uri="{FF2B5EF4-FFF2-40B4-BE49-F238E27FC236}">
                <a16:creationId xmlns:a16="http://schemas.microsoft.com/office/drawing/2014/main" id="{6B1FB0B5-CCEA-4E61-A180-B0BF6480F8DA}"/>
              </a:ext>
            </a:extLst>
          </p:cNvPr>
          <p:cNvSpPr>
            <a:spLocks xmlns:a="http://schemas.openxmlformats.org/drawingml/2006/main" noGrp="1"/>
          </p:cNvSpPr>
          <p:nvPr/>
        </p:nvSpPr>
        <p:spPr>
          <a:xfrm xmlns:a="http://schemas.openxmlformats.org/drawingml/2006/main">
            <a:off x="10896600" y="6429375"/>
            <a:ext cx="685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31</a:t>
            </a:r>
          </a:p>
        </p:txBody>
      </p:sp>
      <p:sp>
        <p:nvSpPr>
          <p:cNvPr id="6" name="code-panel">
            <a:extLst xmlns:a="http://schemas.openxmlformats.org/drawingml/2006/main">
              <a:ext uri="{FF2B5EF4-FFF2-40B4-BE49-F238E27FC236}">
                <a16:creationId xmlns:a16="http://schemas.microsoft.com/office/drawing/2014/main" id="{16CB9834-0A40-4722-AADE-09B9A59CA7B8}"/>
              </a:ext>
            </a:extLst>
          </p:cNvPr>
          <p:cNvSpPr>
            <a:spLocks xmlns:a="http://schemas.openxmlformats.org/drawingml/2006/main" noGrp="1"/>
          </p:cNvSpPr>
          <p:nvPr/>
        </p:nvSpPr>
        <p:spPr>
          <a:xfrm xmlns:a="http://schemas.openxmlformats.org/drawingml/2006/main">
            <a:off x="609600" y="1809750"/>
            <a:ext cx="6896100" cy="4267200"/>
          </a:xfrm>
          <a:prstGeom xmlns:a="http://schemas.openxmlformats.org/drawingml/2006/main" prst="roundRect">
            <a:avLst>
              <a:gd name="adj" fmla="val 1786"/>
            </a:avLst>
          </a:prstGeom>
          <a:solidFill xmlns:a="http://schemas.openxmlformats.org/drawingml/2006/main">
            <a:srgbClr val="17191C"/>
          </a:solidFill>
          <a:ln xmlns:a="http://schemas.openxmlformats.org/drawingml/2006/main" w="9525">
            <a:solidFill>
              <a:srgbClr val="17191C"/>
            </a:solidFill>
            <a:prstDash val="solid"/>
          </a:ln>
        </p:spPr>
      </p:sp>
      <p:sp>
        <p:nvSpPr>
          <p:cNvPr id="7" name="code">
            <a:extLst xmlns:a="http://schemas.openxmlformats.org/drawingml/2006/main">
              <a:ext uri="{FF2B5EF4-FFF2-40B4-BE49-F238E27FC236}">
                <a16:creationId xmlns:a16="http://schemas.microsoft.com/office/drawing/2014/main" id="{70344BFA-E5EC-4090-9FCA-9A1AE36D7998}"/>
              </a:ext>
            </a:extLst>
          </p:cNvPr>
          <p:cNvSpPr>
            <a:spLocks xmlns:a="http://schemas.openxmlformats.org/drawingml/2006/main" noGrp="1"/>
          </p:cNvSpPr>
          <p:nvPr/>
        </p:nvSpPr>
        <p:spPr>
          <a:xfrm xmlns:a="http://schemas.openxmlformats.org/drawingml/2006/main">
            <a:off x="857250" y="2057400"/>
            <a:ext cx="6400800" cy="314096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4000"/>
              </a:lnSpc>
              <a:buNone/>
              <a:defRPr sz="1500" b="0">
                <a:solidFill>
                  <a:srgbClr val="FFFFFF"/>
                </a:solidFill>
                <a:latin typeface="Consolas"/>
                <a:ea typeface="Consolas"/>
                <a:cs typeface="Consolas"/>
              </a:defRPr>
            </a:pPr>
            <a:r>
              <a:rPr sz="1500" b="0">
                <a:solidFill>
                  <a:srgbClr val="FFFFFF"/>
                </a:solidFill>
                <a:latin typeface="Consolas"/>
                <a:ea typeface="Consolas"/>
                <a:cs typeface="Consolas"/>
              </a:rPr>
              <a:t># ILLUSTRATIVE second problem - a window-retrofit budget (NOT your own</a:t>
            </a:r>
          </a:p>
          <a:p xmlns:a="http://schemas.openxmlformats.org/drawingml/2006/main">
            <a:pPr algn="l">
              <a:lnSpc>
                <a:spcPct val="114000"/>
              </a:lnSpc>
              <a:buNone/>
              <a:defRPr sz="1500" b="0">
                <a:solidFill>
                  <a:srgbClr val="FFFFFF"/>
                </a:solidFill>
                <a:latin typeface="Consolas"/>
                <a:ea typeface="Consolas"/>
                <a:cs typeface="Consolas"/>
              </a:defRPr>
            </a:pPr>
            <a:r>
              <a:rPr sz="1500" b="0">
                <a:solidFill>
                  <a:srgbClr val="FFFFFF"/>
                </a:solidFill>
                <a:latin typeface="Consolas"/>
                <a:ea typeface="Consolas"/>
                <a:cs typeface="Consolas"/>
              </a:rPr>
              <a:t># Project 2 problem; replace every line with YOUR real variables)</a:t>
            </a:r>
          </a:p>
          <a:p xmlns:a="http://schemas.openxmlformats.org/drawingml/2006/main">
            <a:pPr algn="l">
              <a:lnSpc>
                <a:spcPct val="114000"/>
              </a:lnSpc>
              <a:buNone/>
              <a:defRPr sz="1500" b="0">
                <a:solidFill>
                  <a:srgbClr val="FFFFFF"/>
                </a:solidFill>
                <a:latin typeface="Consolas"/>
                <a:ea typeface="Consolas"/>
                <a:cs typeface="Consolas"/>
              </a:defRPr>
            </a:pPr>
            <a:r>
              <a:rPr sz="1500" b="0">
                <a:solidFill>
                  <a:srgbClr val="FFFFFF"/>
                </a:solidFill>
                <a:latin typeface="Consolas"/>
                <a:ea typeface="Consolas"/>
                <a:cs typeface="Consolas"/>
              </a:rPr>
              <a:t>c_w = [-18, -30]</a:t>
            </a:r>
          </a:p>
          <a:p xmlns:a="http://schemas.openxmlformats.org/drawingml/2006/main">
            <a:pPr algn="l">
              <a:lnSpc>
                <a:spcPct val="114000"/>
              </a:lnSpc>
              <a:buNone/>
              <a:defRPr sz="1500" b="0">
                <a:solidFill>
                  <a:srgbClr val="FFFFFF"/>
                </a:solidFill>
                <a:latin typeface="Consolas"/>
                <a:ea typeface="Consolas"/>
                <a:cs typeface="Consolas"/>
              </a:defRPr>
            </a:pPr>
            <a:r>
              <a:rPr sz="1500" b="0">
                <a:solidFill>
                  <a:srgbClr val="FFFFFF"/>
                </a:solidFill>
                <a:latin typeface="Consolas"/>
                <a:ea typeface="Consolas"/>
                <a:cs typeface="Consolas"/>
              </a:rPr>
              <a:t>A_ub_w = [[1, 1], [250, 500]]</a:t>
            </a:r>
          </a:p>
          <a:p xmlns:a="http://schemas.openxmlformats.org/drawingml/2006/main">
            <a:pPr algn="l">
              <a:lnSpc>
                <a:spcPct val="114000"/>
              </a:lnSpc>
              <a:buNone/>
              <a:defRPr sz="1500" b="0">
                <a:solidFill>
                  <a:srgbClr val="FFFFFF"/>
                </a:solidFill>
                <a:latin typeface="Consolas"/>
                <a:ea typeface="Consolas"/>
                <a:cs typeface="Consolas"/>
              </a:defRPr>
            </a:pPr>
            <a:r>
              <a:rPr sz="1500" b="0">
                <a:solidFill>
                  <a:srgbClr val="FFFFFF"/>
                </a:solidFill>
                <a:latin typeface="Consolas"/>
                <a:ea typeface="Consolas"/>
                <a:cs typeface="Consolas"/>
              </a:rPr>
              <a:t>b_ub_w = [150, 50000]</a:t>
            </a:r>
          </a:p>
          <a:p xmlns:a="http://schemas.openxmlformats.org/drawingml/2006/main">
            <a:pPr algn="l">
              <a:lnSpc>
                <a:spcPct val="114000"/>
              </a:lnSpc>
              <a:buNone/>
              <a:defRPr sz="1500" b="0">
                <a:solidFill>
                  <a:srgbClr val="FFFFFF"/>
                </a:solidFill>
                <a:latin typeface="Consolas"/>
                <a:ea typeface="Consolas"/>
                <a:cs typeface="Consolas"/>
              </a:defRPr>
            </a:pPr>
            <a:r>
              <a:rPr sz="1500" b="0">
                <a:solidFill>
                  <a:srgbClr val="FFFFFF"/>
                </a:solidFill>
                <a:latin typeface="Consolas"/>
                <a:ea typeface="Consolas"/>
                <a:cs typeface="Consolas"/>
              </a:rPr>
              <a:t>bounds_w = [(0, None), (0, 80)]</a:t>
            </a:r>
          </a:p>
          <a:p xmlns:a="http://schemas.openxmlformats.org/drawingml/2006/main">
            <a:pPr algn="l">
              <a:lnSpc>
                <a:spcPct val="114000"/>
              </a:lnSpc>
              <a:buNone/>
              <a:defRPr sz="1500" b="0">
                <a:solidFill>
                  <a:srgbClr val="FFFFFF"/>
                </a:solidFill>
                <a:latin typeface="Consolas"/>
                <a:ea typeface="Consolas"/>
                <a:cs typeface="Consolas"/>
              </a:defRPr>
            </a:pPr>
            <a:r>
              <a:rPr sz="1500" b="0">
                <a:solidFill>
                  <a:srgbClr val="FFFFFF"/>
                </a:solidFill>
                <a:latin typeface="Consolas"/>
                <a:ea typeface="Consolas"/>
                <a:cs typeface="Consolas"/>
              </a:rPr>
              <a:t>res_w = linprog(c_w, A_ub=A_ub_w, b_ub=b_ub_w,</a:t>
            </a:r>
          </a:p>
          <a:p xmlns:a="http://schemas.openxmlformats.org/drawingml/2006/main">
            <a:pPr algn="l">
              <a:lnSpc>
                <a:spcPct val="114000"/>
              </a:lnSpc>
              <a:buNone/>
              <a:defRPr sz="1500" b="0">
                <a:solidFill>
                  <a:srgbClr val="FFFFFF"/>
                </a:solidFill>
                <a:latin typeface="Consolas"/>
                <a:ea typeface="Consolas"/>
                <a:cs typeface="Consolas"/>
              </a:defRPr>
            </a:pPr>
            <a:r>
              <a:rPr sz="1500" b="0">
                <a:solidFill>
                  <a:srgbClr val="FFFFFF"/>
                </a:solidFill>
                <a:latin typeface="Consolas"/>
                <a:ea typeface="Consolas"/>
                <a:cs typeface="Consolas"/>
              </a:rPr>
              <a:t>                 bounds=bounds_w, method='highs')</a:t>
            </a:r>
          </a:p>
          <a:p xmlns:a="http://schemas.openxmlformats.org/drawingml/2006/main">
            <a:pPr algn="l">
              <a:lnSpc>
                <a:spcPct val="114000"/>
              </a:lnSpc>
              <a:buNone/>
              <a:defRPr sz="1500" b="0">
                <a:solidFill>
                  <a:srgbClr val="FFFFFF"/>
                </a:solidFill>
                <a:latin typeface="Consolas"/>
                <a:ea typeface="Consolas"/>
                <a:cs typeface="Consolas"/>
              </a:defRPr>
            </a:pPr>
            <a:r>
              <a:rPr sz="1500" b="0">
                <a:solidFill>
                  <a:srgbClr val="FFFFFF"/>
                </a:solidFill>
                <a:latin typeface="Consolas"/>
                <a:ea typeface="Consolas"/>
                <a:cs typeface="Consolas"/>
              </a:rPr>
              <a:t>print(res_w.x, -res_w.fun)</a:t>
            </a:r>
          </a:p>
        </p:txBody>
      </p:sp>
      <p:sp>
        <p:nvSpPr>
          <p:cNvPr id="8" name="">
            <a:extLst xmlns:a="http://schemas.openxmlformats.org/drawingml/2006/main">
              <a:ext uri="{FF2B5EF4-FFF2-40B4-BE49-F238E27FC236}">
                <a16:creationId xmlns:a16="http://schemas.microsoft.com/office/drawing/2014/main" id="{A50B42B7-6917-41F3-99B6-3AE6612E3DEE}"/>
              </a:ext>
            </a:extLst>
          </p:cNvPr>
          <p:cNvSpPr>
            <a:spLocks xmlns:a="http://schemas.openxmlformats.org/drawingml/2006/main" noGrp="1"/>
          </p:cNvSpPr>
          <p:nvPr/>
        </p:nvSpPr>
        <p:spPr>
          <a:xfrm xmlns:a="http://schemas.openxmlformats.org/drawingml/2006/main">
            <a:off x="857250" y="5255514"/>
            <a:ext cx="6400800" cy="0"/>
          </a:xfrm>
          <a:prstGeom xmlns:a="http://schemas.openxmlformats.org/drawingml/2006/main" prst="line">
            <a:avLst/>
          </a:prstGeom>
          <a:noFill xmlns:a="http://schemas.openxmlformats.org/drawingml/2006/main"/>
          <a:ln xmlns:a="http://schemas.openxmlformats.org/drawingml/2006/main" w="9525">
            <a:solidFill>
              <a:srgbClr val="4E5258"/>
            </a:solidFill>
            <a:prstDash val="solid"/>
          </a:ln>
        </p:spPr>
      </p:sp>
      <p:sp>
        <p:nvSpPr>
          <p:cNvPr id="9" name="output-label">
            <a:extLst xmlns:a="http://schemas.openxmlformats.org/drawingml/2006/main">
              <a:ext uri="{FF2B5EF4-FFF2-40B4-BE49-F238E27FC236}">
                <a16:creationId xmlns:a16="http://schemas.microsoft.com/office/drawing/2014/main" id="{FC24CC3D-E880-479B-96C4-C51271BB43C4}"/>
              </a:ext>
            </a:extLst>
          </p:cNvPr>
          <p:cNvSpPr>
            <a:spLocks xmlns:a="http://schemas.openxmlformats.org/drawingml/2006/main" noGrp="1"/>
          </p:cNvSpPr>
          <p:nvPr/>
        </p:nvSpPr>
        <p:spPr>
          <a:xfrm xmlns:a="http://schemas.openxmlformats.org/drawingml/2006/main">
            <a:off x="857250" y="5369814"/>
            <a:ext cx="190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E8EEF5"/>
                </a:solidFill>
                <a:latin typeface="Arial"/>
                <a:ea typeface="Arial"/>
                <a:cs typeface="Arial"/>
              </a:defRPr>
            </a:pPr>
            <a:r>
              <a:rPr sz="900" b="1">
                <a:solidFill>
                  <a:srgbClr val="E8EEF5"/>
                </a:solidFill>
                <a:latin typeface="Arial"/>
                <a:ea typeface="Arial"/>
                <a:cs typeface="Arial"/>
              </a:rPr>
              <a:t>OUTPUT</a:t>
            </a:r>
          </a:p>
        </p:txBody>
      </p:sp>
      <p:sp>
        <p:nvSpPr>
          <p:cNvPr id="10" name="output">
            <a:extLst xmlns:a="http://schemas.openxmlformats.org/drawingml/2006/main">
              <a:ext uri="{FF2B5EF4-FFF2-40B4-BE49-F238E27FC236}">
                <a16:creationId xmlns:a16="http://schemas.microsoft.com/office/drawing/2014/main" id="{1CBE4AC9-B207-4FCC-BCA2-1BAE9D4CBA28}"/>
              </a:ext>
            </a:extLst>
          </p:cNvPr>
          <p:cNvSpPr>
            <a:spLocks xmlns:a="http://schemas.openxmlformats.org/drawingml/2006/main" noGrp="1"/>
          </p:cNvSpPr>
          <p:nvPr/>
        </p:nvSpPr>
        <p:spPr>
          <a:xfrm xmlns:a="http://schemas.openxmlformats.org/drawingml/2006/main">
            <a:off x="857250" y="5598414"/>
            <a:ext cx="6400800" cy="23088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4000"/>
              </a:lnSpc>
              <a:buNone/>
              <a:defRPr sz="1200" b="0">
                <a:solidFill>
                  <a:srgbClr val="E8EEF5"/>
                </a:solidFill>
                <a:latin typeface="Consolas"/>
                <a:ea typeface="Consolas"/>
                <a:cs typeface="Consolas"/>
              </a:defRPr>
            </a:pPr>
            <a:r>
              <a:rPr sz="1200" b="0">
                <a:solidFill>
                  <a:srgbClr val="E8EEF5"/>
                </a:solidFill>
                <a:latin typeface="Consolas"/>
                <a:ea typeface="Consolas"/>
                <a:cs typeface="Consolas"/>
              </a:rPr>
              <a:t>[100.  50.] 3300.0</a:t>
            </a:r>
          </a:p>
        </p:txBody>
      </p:sp>
      <p:sp>
        <p:nvSpPr>
          <p:cNvPr id="11" name="explain-head">
            <a:extLst xmlns:a="http://schemas.openxmlformats.org/drawingml/2006/main">
              <a:ext uri="{FF2B5EF4-FFF2-40B4-BE49-F238E27FC236}">
                <a16:creationId xmlns:a16="http://schemas.microsoft.com/office/drawing/2014/main" id="{0C9BF716-BCC4-4AC7-9EA0-B9876069AD92}"/>
              </a:ext>
            </a:extLst>
          </p:cNvPr>
          <p:cNvSpPr>
            <a:spLocks xmlns:a="http://schemas.openxmlformats.org/drawingml/2006/main" noGrp="1"/>
          </p:cNvSpPr>
          <p:nvPr/>
        </p:nvSpPr>
        <p:spPr>
          <a:xfrm xmlns:a="http://schemas.openxmlformats.org/drawingml/2006/main">
            <a:off x="7886700" y="1971675"/>
            <a:ext cx="3695700" cy="63322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100" b="1">
                <a:solidFill>
                  <a:srgbClr val="111316"/>
                </a:solidFill>
                <a:latin typeface="Arial"/>
                <a:ea typeface="Arial"/>
                <a:cs typeface="Arial"/>
              </a:defRPr>
            </a:pPr>
            <a:r>
              <a:rPr sz="2100" b="1">
                <a:solidFill>
                  <a:srgbClr val="111316"/>
                </a:solidFill>
                <a:latin typeface="Arial"/>
                <a:ea typeface="Arial"/>
                <a:cs typeface="Arial"/>
              </a:rPr>
              <a:t>A template to adapt, not to copy</a:t>
            </a:r>
          </a:p>
        </p:txBody>
      </p:sp>
      <p:sp>
        <p:nvSpPr>
          <p:cNvPr id="12" name="explain-body">
            <a:extLst xmlns:a="http://schemas.openxmlformats.org/drawingml/2006/main">
              <a:ext uri="{FF2B5EF4-FFF2-40B4-BE49-F238E27FC236}">
                <a16:creationId xmlns:a16="http://schemas.microsoft.com/office/drawing/2014/main" id="{CA8A687A-2773-4521-A7BA-D78CA3C94B29}"/>
              </a:ext>
            </a:extLst>
          </p:cNvPr>
          <p:cNvSpPr>
            <a:spLocks xmlns:a="http://schemas.openxmlformats.org/drawingml/2006/main" noGrp="1"/>
          </p:cNvSpPr>
          <p:nvPr/>
        </p:nvSpPr>
        <p:spPr>
          <a:xfrm xmlns:a="http://schemas.openxmlformats.org/drawingml/2006/main">
            <a:off x="7886700" y="2757297"/>
            <a:ext cx="3695700" cy="316992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500" b="0">
                <a:solidFill>
                  <a:srgbClr val="5A5F66"/>
                </a:solidFill>
                <a:latin typeface="Arial"/>
                <a:ea typeface="Arial"/>
                <a:cs typeface="Arial"/>
              </a:defRPr>
            </a:pPr>
            <a:r>
              <a:rPr sz="1500" b="0">
                <a:solidFill>
                  <a:srgbClr val="5A5F66"/>
                </a:solidFill>
                <a:latin typeface="Arial"/>
                <a:ea typeface="Arial"/>
                <a:cs typeface="Arial"/>
              </a:rPr>
              <a:t>A different fictional problem (standard vs. triple-pane window retrofit, $250/$500 per m2 install, $18/$30 per m2/yr savings, 150 m2 total glazing, $50,000 budget, triple-pane supply capped at 80 m2) — shown only so the same four-array pattern (c, A_ub, b_ub, bounds) is visible once more before you write your own. Here the glazing-area limit binds (150 m2 used) and the budget binds ($50,000 used), while the triple-pane supply cap (80 m2) has slack at 50 m2 used — not every constraint has to bind.</a:t>
            </a:r>
          </a:p>
        </p:txBody>
      </p:sp>
    </p:spTree>
    <p:extLst>
      <p:ext uri="{BB962C8B-B14F-4D97-AF65-F5344CB8AC3E}">
        <p14:creationId xmlns:p14="http://schemas.microsoft.com/office/powerpoint/2010/main" val="635521838"/>
      </p:ext>
    </p:extLst>
  </p:cSld>
</p:sld>
</file>

<file path=ppt/slides/slide3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kicker">
            <a:extLst xmlns:a="http://schemas.openxmlformats.org/drawingml/2006/main">
              <a:ext uri="{FF2B5EF4-FFF2-40B4-BE49-F238E27FC236}">
                <a16:creationId xmlns:a16="http://schemas.microsoft.com/office/drawing/2014/main" id="{D0B39C52-24BA-41AD-B263-F965EA13E4A5}"/>
              </a:ext>
            </a:extLst>
          </p:cNvPr>
          <p:cNvSpPr>
            <a:spLocks xmlns:a="http://schemas.openxmlformats.org/drawingml/2006/main" noGrp="1"/>
          </p:cNvSpPr>
          <p:nvPr/>
        </p:nvSpPr>
        <p:spPr>
          <a:xfrm xmlns:a="http://schemas.openxmlformats.org/drawingml/2006/main">
            <a:off x="609600" y="342900"/>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2E74B5"/>
                </a:solidFill>
                <a:latin typeface="Arial"/>
                <a:ea typeface="Arial"/>
                <a:cs typeface="Arial"/>
              </a:defRPr>
            </a:pPr>
            <a:r>
              <a:rPr sz="900" b="1">
                <a:solidFill>
                  <a:srgbClr val="2E74B5"/>
                </a:solidFill>
                <a:latin typeface="Arial"/>
                <a:ea typeface="Arial"/>
                <a:cs typeface="Arial"/>
              </a:rPr>
              <a:t>IN-CLASS CHECK</a:t>
            </a:r>
          </a:p>
        </p:txBody>
      </p:sp>
      <p:sp>
        <p:nvSpPr>
          <p:cNvPr id="2" name="title">
            <a:extLst xmlns:a="http://schemas.openxmlformats.org/drawingml/2006/main">
              <a:ext uri="{FF2B5EF4-FFF2-40B4-BE49-F238E27FC236}">
                <a16:creationId xmlns:a16="http://schemas.microsoft.com/office/drawing/2014/main" id="{A3AC8806-9184-4688-8607-891966723C66}"/>
              </a:ext>
            </a:extLst>
          </p:cNvPr>
          <p:cNvSpPr>
            <a:spLocks xmlns:a="http://schemas.openxmlformats.org/drawingml/2006/main" noGrp="1"/>
          </p:cNvSpPr>
          <p:nvPr/>
        </p:nvSpPr>
        <p:spPr>
          <a:xfrm xmlns:a="http://schemas.openxmlformats.org/drawingml/2006/main">
            <a:off x="609600" y="60960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3000" b="0">
                <a:solidFill>
                  <a:srgbClr val="111316"/>
                </a:solidFill>
                <a:latin typeface="Arial"/>
                <a:ea typeface="Arial"/>
                <a:cs typeface="Arial"/>
              </a:defRPr>
            </a:pPr>
            <a:r>
              <a:rPr sz="3000" b="0">
                <a:solidFill>
                  <a:srgbClr val="111316"/>
                </a:solidFill>
                <a:latin typeface="Arial"/>
                <a:ea typeface="Arial"/>
                <a:cs typeface="Arial"/>
              </a:rPr>
              <a:t>Studio 6: formulate and solve your own Project 2 sub-problem</a:t>
            </a:r>
          </a:p>
        </p:txBody>
      </p:sp>
      <p:sp>
        <p:nvSpPr>
          <p:cNvPr id="3" name="">
            <a:extLst xmlns:a="http://schemas.openxmlformats.org/drawingml/2006/main">
              <a:ext uri="{FF2B5EF4-FFF2-40B4-BE49-F238E27FC236}">
                <a16:creationId xmlns:a16="http://schemas.microsoft.com/office/drawing/2014/main" id="{DF4F8DF2-C49F-44AE-9857-BFE2D2EB4F99}"/>
              </a:ext>
            </a:extLst>
          </p:cNvPr>
          <p:cNvSpPr>
            <a:spLocks xmlns:a="http://schemas.openxmlformats.org/drawingml/2006/main" noGrp="1"/>
          </p:cNvSpPr>
          <p:nvPr/>
        </p:nvSpPr>
        <p:spPr>
          <a:xfrm xmlns:a="http://schemas.openxmlformats.org/drawingml/2006/main">
            <a:off x="609600" y="6343650"/>
            <a:ext cx="10972800" cy="0"/>
          </a:xfrm>
          <a:prstGeom xmlns:a="http://schemas.openxmlformats.org/drawingml/2006/main" prst="line">
            <a:avLst/>
          </a:prstGeom>
          <a:noFill xmlns:a="http://schemas.openxmlformats.org/drawingml/2006/main"/>
          <a:ln xmlns:a="http://schemas.openxmlformats.org/drawingml/2006/main" w="9525">
            <a:solidFill>
              <a:srgbClr val="DDE0E5"/>
            </a:solidFill>
            <a:prstDash val="solid"/>
          </a:ln>
        </p:spPr>
      </p:sp>
      <p:sp>
        <p:nvSpPr>
          <p:cNvPr id="4" name="footer">
            <a:extLst xmlns:a="http://schemas.openxmlformats.org/drawingml/2006/main">
              <a:ext uri="{FF2B5EF4-FFF2-40B4-BE49-F238E27FC236}">
                <a16:creationId xmlns:a16="http://schemas.microsoft.com/office/drawing/2014/main" id="{700487E8-D7AD-489A-8B8D-E43811D48DDC}"/>
              </a:ext>
            </a:extLst>
          </p:cNvPr>
          <p:cNvSpPr>
            <a:spLocks xmlns:a="http://schemas.openxmlformats.org/drawingml/2006/main" noGrp="1"/>
          </p:cNvSpPr>
          <p:nvPr/>
        </p:nvSpPr>
        <p:spPr>
          <a:xfrm xmlns:a="http://schemas.openxmlformats.org/drawingml/2006/main">
            <a:off x="609600" y="6429375"/>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ARC 500  ·  Week 10 · Meeting B · Linear Programming Studio</a:t>
            </a:r>
          </a:p>
        </p:txBody>
      </p:sp>
      <p:sp>
        <p:nvSpPr>
          <p:cNvPr id="5" name="page">
            <a:extLst xmlns:a="http://schemas.openxmlformats.org/drawingml/2006/main">
              <a:ext uri="{FF2B5EF4-FFF2-40B4-BE49-F238E27FC236}">
                <a16:creationId xmlns:a16="http://schemas.microsoft.com/office/drawing/2014/main" id="{227A4BD1-9F35-43A5-8267-F250CD7B42A8}"/>
              </a:ext>
            </a:extLst>
          </p:cNvPr>
          <p:cNvSpPr>
            <a:spLocks xmlns:a="http://schemas.openxmlformats.org/drawingml/2006/main" noGrp="1"/>
          </p:cNvSpPr>
          <p:nvPr/>
        </p:nvSpPr>
        <p:spPr>
          <a:xfrm xmlns:a="http://schemas.openxmlformats.org/drawingml/2006/main">
            <a:off x="10896600" y="6429375"/>
            <a:ext cx="685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32</a:t>
            </a:r>
          </a:p>
        </p:txBody>
      </p:sp>
      <p:sp>
        <p:nvSpPr>
          <p:cNvPr id="6" name="exercise-accent">
            <a:extLst xmlns:a="http://schemas.openxmlformats.org/drawingml/2006/main">
              <a:ext uri="{FF2B5EF4-FFF2-40B4-BE49-F238E27FC236}">
                <a16:creationId xmlns:a16="http://schemas.microsoft.com/office/drawing/2014/main" id="{15B6BF10-0568-4BED-ACA5-7B7BEDA2D2C1}"/>
              </a:ext>
            </a:extLst>
          </p:cNvPr>
          <p:cNvSpPr>
            <a:spLocks xmlns:a="http://schemas.openxmlformats.org/drawingml/2006/main" noGrp="1"/>
          </p:cNvSpPr>
          <p:nvPr/>
        </p:nvSpPr>
        <p:spPr>
          <a:xfrm xmlns:a="http://schemas.openxmlformats.org/drawingml/2006/main">
            <a:off x="609600" y="1809750"/>
            <a:ext cx="4000500" cy="4248150"/>
          </a:xfrm>
          <a:prstGeom xmlns:a="http://schemas.openxmlformats.org/drawingml/2006/main" prst="roundRect">
            <a:avLst>
              <a:gd name="adj" fmla="val 1429"/>
            </a:avLst>
          </a:prstGeom>
          <a:solidFill xmlns:a="http://schemas.openxmlformats.org/drawingml/2006/main">
            <a:srgbClr val="2E74B5"/>
          </a:solidFill>
          <a:ln xmlns:a="http://schemas.openxmlformats.org/drawingml/2006/main" w="9525">
            <a:solidFill>
              <a:srgbClr val="2E74B5"/>
            </a:solidFill>
            <a:prstDash val="solid"/>
          </a:ln>
        </p:spPr>
      </p:sp>
      <p:sp>
        <p:nvSpPr>
          <p:cNvPr id="7" name="exercise-prompt">
            <a:extLst xmlns:a="http://schemas.openxmlformats.org/drawingml/2006/main">
              <a:ext uri="{FF2B5EF4-FFF2-40B4-BE49-F238E27FC236}">
                <a16:creationId xmlns:a16="http://schemas.microsoft.com/office/drawing/2014/main" id="{68726B81-9AB2-4BB9-AE33-234A3E7B0529}"/>
              </a:ext>
            </a:extLst>
          </p:cNvPr>
          <p:cNvSpPr>
            <a:spLocks xmlns:a="http://schemas.openxmlformats.org/drawingml/2006/main" noGrp="1"/>
          </p:cNvSpPr>
          <p:nvPr/>
        </p:nvSpPr>
        <p:spPr>
          <a:xfrm xmlns:a="http://schemas.openxmlformats.org/drawingml/2006/main">
            <a:off x="876300" y="2095500"/>
            <a:ext cx="3467100" cy="3676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8000"/>
              </a:lnSpc>
              <a:buNone/>
              <a:defRPr sz="2100" b="1">
                <a:solidFill>
                  <a:srgbClr val="FFFFFF"/>
                </a:solidFill>
                <a:latin typeface="Arial"/>
                <a:ea typeface="Arial"/>
                <a:cs typeface="Arial"/>
              </a:defRPr>
            </a:pPr>
            <a:r>
              <a:rPr sz="2100" b="1">
                <a:solidFill>
                  <a:srgbClr val="FFFFFF"/>
                </a:solidFill>
                <a:latin typeface="Arial"/>
                <a:ea typeface="Arial"/>
                <a:cs typeface="Arial"/>
              </a:rPr>
              <a:t>Using the exact same four steps as Radley Hall's roof, formulate your own problem's linear sub-component.</a:t>
            </a:r>
          </a:p>
        </p:txBody>
      </p:sp>
      <p:sp>
        <p:nvSpPr>
          <p:cNvPr id="8" name="work-label">
            <a:extLst xmlns:a="http://schemas.openxmlformats.org/drawingml/2006/main">
              <a:ext uri="{FF2B5EF4-FFF2-40B4-BE49-F238E27FC236}">
                <a16:creationId xmlns:a16="http://schemas.microsoft.com/office/drawing/2014/main" id="{1C05E3B0-E607-4A3F-A6F1-4EF2CDD02D75}"/>
              </a:ext>
            </a:extLst>
          </p:cNvPr>
          <p:cNvSpPr>
            <a:spLocks xmlns:a="http://schemas.openxmlformats.org/drawingml/2006/main" noGrp="1"/>
          </p:cNvSpPr>
          <p:nvPr/>
        </p:nvSpPr>
        <p:spPr>
          <a:xfrm xmlns:a="http://schemas.openxmlformats.org/drawingml/2006/main">
            <a:off x="5029200" y="1847850"/>
            <a:ext cx="6553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2E74B5"/>
                </a:solidFill>
                <a:latin typeface="Arial"/>
                <a:ea typeface="Arial"/>
                <a:cs typeface="Arial"/>
              </a:defRPr>
            </a:pPr>
            <a:r>
              <a:rPr sz="900" b="1">
                <a:solidFill>
                  <a:srgbClr val="2E74B5"/>
                </a:solidFill>
                <a:latin typeface="Arial"/>
                <a:ea typeface="Arial"/>
                <a:cs typeface="Arial"/>
              </a:rPr>
              <a:t>WORK THROUGH IT</a:t>
            </a:r>
          </a:p>
        </p:txBody>
      </p:sp>
      <p:sp>
        <p:nvSpPr>
          <p:cNvPr id="9" name="exercise-no-0">
            <a:extLst xmlns:a="http://schemas.openxmlformats.org/drawingml/2006/main">
              <a:ext uri="{FF2B5EF4-FFF2-40B4-BE49-F238E27FC236}">
                <a16:creationId xmlns:a16="http://schemas.microsoft.com/office/drawing/2014/main" id="{40885AD7-8F57-4057-91C7-53233DFC5A26}"/>
              </a:ext>
            </a:extLst>
          </p:cNvPr>
          <p:cNvSpPr>
            <a:spLocks xmlns:a="http://schemas.openxmlformats.org/drawingml/2006/main" noGrp="1"/>
          </p:cNvSpPr>
          <p:nvPr/>
        </p:nvSpPr>
        <p:spPr>
          <a:xfrm xmlns:a="http://schemas.openxmlformats.org/drawingml/2006/main">
            <a:off x="5029200" y="2247900"/>
            <a:ext cx="381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00" b="1">
                <a:solidFill>
                  <a:srgbClr val="2E74B5"/>
                </a:solidFill>
                <a:latin typeface="Arial"/>
                <a:ea typeface="Arial"/>
                <a:cs typeface="Arial"/>
              </a:defRPr>
            </a:pPr>
            <a:r>
              <a:rPr sz="1800" b="1">
                <a:solidFill>
                  <a:srgbClr val="2E74B5"/>
                </a:solidFill>
                <a:latin typeface="Arial"/>
                <a:ea typeface="Arial"/>
                <a:cs typeface="Arial"/>
              </a:rPr>
              <a:t>1.</a:t>
            </a:r>
          </a:p>
        </p:txBody>
      </p:sp>
      <p:sp>
        <p:nvSpPr>
          <p:cNvPr id="10" name="exercise-step-0">
            <a:extLst xmlns:a="http://schemas.openxmlformats.org/drawingml/2006/main">
              <a:ext uri="{FF2B5EF4-FFF2-40B4-BE49-F238E27FC236}">
                <a16:creationId xmlns:a16="http://schemas.microsoft.com/office/drawing/2014/main" id="{2E5C72DF-5709-4695-A020-778D9D81BD44}"/>
              </a:ext>
            </a:extLst>
          </p:cNvPr>
          <p:cNvSpPr>
            <a:spLocks xmlns:a="http://schemas.openxmlformats.org/drawingml/2006/main" noGrp="1"/>
          </p:cNvSpPr>
          <p:nvPr/>
        </p:nvSpPr>
        <p:spPr>
          <a:xfrm xmlns:a="http://schemas.openxmlformats.org/drawingml/2006/main">
            <a:off x="5467350" y="2247900"/>
            <a:ext cx="611505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800" b="0">
                <a:solidFill>
                  <a:srgbClr val="111316"/>
                </a:solidFill>
                <a:latin typeface="Arial"/>
                <a:ea typeface="Arial"/>
                <a:cs typeface="Arial"/>
              </a:defRPr>
            </a:pPr>
            <a:r>
              <a:rPr sz="1800" b="0">
                <a:solidFill>
                  <a:srgbClr val="111316"/>
                </a:solidFill>
                <a:latin typeface="Arial"/>
                <a:ea typeface="Arial"/>
                <a:cs typeface="Arial"/>
              </a:rPr>
              <a:t>Name your design variables, with units.</a:t>
            </a:r>
          </a:p>
        </p:txBody>
      </p:sp>
      <p:sp>
        <p:nvSpPr>
          <p:cNvPr id="11" name="exercise-no-1">
            <a:extLst xmlns:a="http://schemas.openxmlformats.org/drawingml/2006/main">
              <a:ext uri="{FF2B5EF4-FFF2-40B4-BE49-F238E27FC236}">
                <a16:creationId xmlns:a16="http://schemas.microsoft.com/office/drawing/2014/main" id="{09BEA865-31FB-47C7-BE63-C9B198B6D45F}"/>
              </a:ext>
            </a:extLst>
          </p:cNvPr>
          <p:cNvSpPr>
            <a:spLocks xmlns:a="http://schemas.openxmlformats.org/drawingml/2006/main" noGrp="1"/>
          </p:cNvSpPr>
          <p:nvPr/>
        </p:nvSpPr>
        <p:spPr>
          <a:xfrm xmlns:a="http://schemas.openxmlformats.org/drawingml/2006/main">
            <a:off x="5029200" y="3124200"/>
            <a:ext cx="381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00" b="1">
                <a:solidFill>
                  <a:srgbClr val="2E74B5"/>
                </a:solidFill>
                <a:latin typeface="Arial"/>
                <a:ea typeface="Arial"/>
                <a:cs typeface="Arial"/>
              </a:defRPr>
            </a:pPr>
            <a:r>
              <a:rPr sz="1800" b="1">
                <a:solidFill>
                  <a:srgbClr val="2E74B5"/>
                </a:solidFill>
                <a:latin typeface="Arial"/>
                <a:ea typeface="Arial"/>
                <a:cs typeface="Arial"/>
              </a:rPr>
              <a:t>2.</a:t>
            </a:r>
          </a:p>
        </p:txBody>
      </p:sp>
      <p:sp>
        <p:nvSpPr>
          <p:cNvPr id="12" name="exercise-step-1">
            <a:extLst xmlns:a="http://schemas.openxmlformats.org/drawingml/2006/main">
              <a:ext uri="{FF2B5EF4-FFF2-40B4-BE49-F238E27FC236}">
                <a16:creationId xmlns:a16="http://schemas.microsoft.com/office/drawing/2014/main" id="{E0ABFC18-0F79-46CB-A629-9AC10A30651E}"/>
              </a:ext>
            </a:extLst>
          </p:cNvPr>
          <p:cNvSpPr>
            <a:spLocks xmlns:a="http://schemas.openxmlformats.org/drawingml/2006/main" noGrp="1"/>
          </p:cNvSpPr>
          <p:nvPr/>
        </p:nvSpPr>
        <p:spPr>
          <a:xfrm xmlns:a="http://schemas.openxmlformats.org/drawingml/2006/main">
            <a:off x="5467350" y="3124200"/>
            <a:ext cx="611505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800" b="0">
                <a:solidFill>
                  <a:srgbClr val="111316"/>
                </a:solidFill>
                <a:latin typeface="Arial"/>
                <a:ea typeface="Arial"/>
                <a:cs typeface="Arial"/>
              </a:defRPr>
            </a:pPr>
            <a:r>
              <a:rPr sz="1800" b="0">
                <a:solidFill>
                  <a:srgbClr val="111316"/>
                </a:solidFill>
                <a:latin typeface="Arial"/>
                <a:ea typeface="Arial"/>
                <a:cs typeface="Arial"/>
              </a:rPr>
              <a:t>Write your objective function, stating whether you are maximizing or minimizing.</a:t>
            </a:r>
          </a:p>
        </p:txBody>
      </p:sp>
      <p:sp>
        <p:nvSpPr>
          <p:cNvPr id="13" name="exercise-no-2">
            <a:extLst xmlns:a="http://schemas.openxmlformats.org/drawingml/2006/main">
              <a:ext uri="{FF2B5EF4-FFF2-40B4-BE49-F238E27FC236}">
                <a16:creationId xmlns:a16="http://schemas.microsoft.com/office/drawing/2014/main" id="{45991AB4-88C8-48D7-A429-923983E6D396}"/>
              </a:ext>
            </a:extLst>
          </p:cNvPr>
          <p:cNvSpPr>
            <a:spLocks xmlns:a="http://schemas.openxmlformats.org/drawingml/2006/main" noGrp="1"/>
          </p:cNvSpPr>
          <p:nvPr/>
        </p:nvSpPr>
        <p:spPr>
          <a:xfrm xmlns:a="http://schemas.openxmlformats.org/drawingml/2006/main">
            <a:off x="5029200" y="4000500"/>
            <a:ext cx="381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00" b="1">
                <a:solidFill>
                  <a:srgbClr val="2E74B5"/>
                </a:solidFill>
                <a:latin typeface="Arial"/>
                <a:ea typeface="Arial"/>
                <a:cs typeface="Arial"/>
              </a:defRPr>
            </a:pPr>
            <a:r>
              <a:rPr sz="1800" b="1">
                <a:solidFill>
                  <a:srgbClr val="2E74B5"/>
                </a:solidFill>
                <a:latin typeface="Arial"/>
                <a:ea typeface="Arial"/>
                <a:cs typeface="Arial"/>
              </a:rPr>
              <a:t>3.</a:t>
            </a:r>
          </a:p>
        </p:txBody>
      </p:sp>
      <p:sp>
        <p:nvSpPr>
          <p:cNvPr id="14" name="exercise-step-2">
            <a:extLst xmlns:a="http://schemas.openxmlformats.org/drawingml/2006/main">
              <a:ext uri="{FF2B5EF4-FFF2-40B4-BE49-F238E27FC236}">
                <a16:creationId xmlns:a16="http://schemas.microsoft.com/office/drawing/2014/main" id="{1384E363-A0F3-44F7-8021-983F9BEF91F4}"/>
              </a:ext>
            </a:extLst>
          </p:cNvPr>
          <p:cNvSpPr>
            <a:spLocks xmlns:a="http://schemas.openxmlformats.org/drawingml/2006/main" noGrp="1"/>
          </p:cNvSpPr>
          <p:nvPr/>
        </p:nvSpPr>
        <p:spPr>
          <a:xfrm xmlns:a="http://schemas.openxmlformats.org/drawingml/2006/main">
            <a:off x="5467350" y="4000500"/>
            <a:ext cx="611505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800" b="0">
                <a:solidFill>
                  <a:srgbClr val="111316"/>
                </a:solidFill>
                <a:latin typeface="Arial"/>
                <a:ea typeface="Arial"/>
                <a:cs typeface="Arial"/>
              </a:defRPr>
            </a:pPr>
            <a:r>
              <a:rPr sz="1800" b="0">
                <a:solidFill>
                  <a:srgbClr val="111316"/>
                </a:solidFill>
                <a:latin typeface="Arial"/>
                <a:ea typeface="Arial"/>
                <a:cs typeface="Arial"/>
              </a:rPr>
              <a:t>Write every constraint as an A_ub/b_ub row, plus any bounds.</a:t>
            </a:r>
          </a:p>
        </p:txBody>
      </p:sp>
      <p:sp>
        <p:nvSpPr>
          <p:cNvPr id="15" name="exercise-no-3">
            <a:extLst xmlns:a="http://schemas.openxmlformats.org/drawingml/2006/main">
              <a:ext uri="{FF2B5EF4-FFF2-40B4-BE49-F238E27FC236}">
                <a16:creationId xmlns:a16="http://schemas.microsoft.com/office/drawing/2014/main" id="{C1397D3E-ADCD-427B-ABFD-78F4CBA01233}"/>
              </a:ext>
            </a:extLst>
          </p:cNvPr>
          <p:cNvSpPr>
            <a:spLocks xmlns:a="http://schemas.openxmlformats.org/drawingml/2006/main" noGrp="1"/>
          </p:cNvSpPr>
          <p:nvPr/>
        </p:nvSpPr>
        <p:spPr>
          <a:xfrm xmlns:a="http://schemas.openxmlformats.org/drawingml/2006/main">
            <a:off x="5029200" y="4876800"/>
            <a:ext cx="381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00" b="1">
                <a:solidFill>
                  <a:srgbClr val="2E74B5"/>
                </a:solidFill>
                <a:latin typeface="Arial"/>
                <a:ea typeface="Arial"/>
                <a:cs typeface="Arial"/>
              </a:defRPr>
            </a:pPr>
            <a:r>
              <a:rPr sz="1800" b="1">
                <a:solidFill>
                  <a:srgbClr val="2E74B5"/>
                </a:solidFill>
                <a:latin typeface="Arial"/>
                <a:ea typeface="Arial"/>
                <a:cs typeface="Arial"/>
              </a:rPr>
              <a:t>4.</a:t>
            </a:r>
          </a:p>
        </p:txBody>
      </p:sp>
      <p:sp>
        <p:nvSpPr>
          <p:cNvPr id="16" name="exercise-step-3">
            <a:extLst xmlns:a="http://schemas.openxmlformats.org/drawingml/2006/main">
              <a:ext uri="{FF2B5EF4-FFF2-40B4-BE49-F238E27FC236}">
                <a16:creationId xmlns:a16="http://schemas.microsoft.com/office/drawing/2014/main" id="{1C816915-D78F-44C6-AEF7-E129BA30C127}"/>
              </a:ext>
            </a:extLst>
          </p:cNvPr>
          <p:cNvSpPr>
            <a:spLocks xmlns:a="http://schemas.openxmlformats.org/drawingml/2006/main" noGrp="1"/>
          </p:cNvSpPr>
          <p:nvPr/>
        </p:nvSpPr>
        <p:spPr>
          <a:xfrm xmlns:a="http://schemas.openxmlformats.org/drawingml/2006/main">
            <a:off x="5467350" y="4876800"/>
            <a:ext cx="611505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800" b="0">
                <a:solidFill>
                  <a:srgbClr val="111316"/>
                </a:solidFill>
                <a:latin typeface="Arial"/>
                <a:ea typeface="Arial"/>
                <a:cs typeface="Arial"/>
              </a:defRPr>
            </a:pPr>
            <a:r>
              <a:rPr sz="1800" b="0">
                <a:solidFill>
                  <a:srgbClr val="111316"/>
                </a:solidFill>
                <a:latin typeface="Arial"/>
                <a:ea typeface="Arial"/>
                <a:cs typeface="Arial"/>
              </a:rPr>
              <a:t>Solve with linprog and hand-verify every constraint, exactly like Studio 2.</a:t>
            </a:r>
          </a:p>
        </p:txBody>
      </p:sp>
    </p:spTree>
    <p:extLst>
      <p:ext uri="{BB962C8B-B14F-4D97-AF65-F5344CB8AC3E}">
        <p14:creationId xmlns:p14="http://schemas.microsoft.com/office/powerpoint/2010/main" val="1790196835"/>
      </p:ext>
    </p:extLst>
  </p:cSld>
</p:sld>
</file>

<file path=ppt/slides/slide3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3" name="kicker">
            <a:extLst xmlns:a="http://schemas.openxmlformats.org/drawingml/2006/main">
              <a:ext uri="{FF2B5EF4-FFF2-40B4-BE49-F238E27FC236}">
                <a16:creationId xmlns:a16="http://schemas.microsoft.com/office/drawing/2014/main" id="{966C2FD4-111A-4E0B-BE02-5DE628BA007B}"/>
              </a:ext>
            </a:extLst>
          </p:cNvPr>
          <p:cNvSpPr>
            <a:spLocks xmlns:a="http://schemas.openxmlformats.org/drawingml/2006/main" noGrp="1"/>
          </p:cNvSpPr>
          <p:nvPr/>
        </p:nvSpPr>
        <p:spPr>
          <a:xfrm xmlns:a="http://schemas.openxmlformats.org/drawingml/2006/main">
            <a:off x="609600" y="342900"/>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2E74B5"/>
                </a:solidFill>
                <a:latin typeface="Arial"/>
                <a:ea typeface="Arial"/>
                <a:cs typeface="Arial"/>
              </a:defRPr>
            </a:pPr>
            <a:r>
              <a:rPr sz="900" b="1">
                <a:solidFill>
                  <a:srgbClr val="2E74B5"/>
                </a:solidFill>
                <a:latin typeface="Arial"/>
                <a:ea typeface="Arial"/>
                <a:cs typeface="Arial"/>
              </a:rPr>
              <a:t>METHOD</a:t>
            </a:r>
          </a:p>
        </p:txBody>
      </p:sp>
      <p:sp>
        <p:nvSpPr>
          <p:cNvPr id="2" name="title">
            <a:extLst xmlns:a="http://schemas.openxmlformats.org/drawingml/2006/main">
              <a:ext uri="{FF2B5EF4-FFF2-40B4-BE49-F238E27FC236}">
                <a16:creationId xmlns:a16="http://schemas.microsoft.com/office/drawing/2014/main" id="{29BB3AD7-1936-41CD-B5B3-90DCD841D703}"/>
              </a:ext>
            </a:extLst>
          </p:cNvPr>
          <p:cNvSpPr>
            <a:spLocks xmlns:a="http://schemas.openxmlformats.org/drawingml/2006/main" noGrp="1"/>
          </p:cNvSpPr>
          <p:nvPr/>
        </p:nvSpPr>
        <p:spPr>
          <a:xfrm xmlns:a="http://schemas.openxmlformats.org/drawingml/2006/main">
            <a:off x="609600" y="60960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3000" b="0">
                <a:solidFill>
                  <a:srgbClr val="111316"/>
                </a:solidFill>
                <a:latin typeface="Arial"/>
                <a:ea typeface="Arial"/>
                <a:cs typeface="Arial"/>
              </a:defRPr>
            </a:pPr>
            <a:r>
              <a:rPr sz="3000" b="0">
                <a:solidFill>
                  <a:srgbClr val="111316"/>
                </a:solidFill>
                <a:latin typeface="Arial"/>
                <a:ea typeface="Arial"/>
                <a:cs typeface="Arial"/>
              </a:rPr>
              <a:t>Submit a reproducible Project 2 linear formulation</a:t>
            </a:r>
          </a:p>
        </p:txBody>
      </p:sp>
      <p:sp>
        <p:nvSpPr>
          <p:cNvPr id="3" name="">
            <a:extLst xmlns:a="http://schemas.openxmlformats.org/drawingml/2006/main">
              <a:ext uri="{FF2B5EF4-FFF2-40B4-BE49-F238E27FC236}">
                <a16:creationId xmlns:a16="http://schemas.microsoft.com/office/drawing/2014/main" id="{45E151DC-EF44-46BD-898D-8C0007E57098}"/>
              </a:ext>
            </a:extLst>
          </p:cNvPr>
          <p:cNvSpPr>
            <a:spLocks xmlns:a="http://schemas.openxmlformats.org/drawingml/2006/main" noGrp="1"/>
          </p:cNvSpPr>
          <p:nvPr/>
        </p:nvSpPr>
        <p:spPr>
          <a:xfrm xmlns:a="http://schemas.openxmlformats.org/drawingml/2006/main">
            <a:off x="609600" y="6343650"/>
            <a:ext cx="10972800" cy="0"/>
          </a:xfrm>
          <a:prstGeom xmlns:a="http://schemas.openxmlformats.org/drawingml/2006/main" prst="line">
            <a:avLst/>
          </a:prstGeom>
          <a:noFill xmlns:a="http://schemas.openxmlformats.org/drawingml/2006/main"/>
          <a:ln xmlns:a="http://schemas.openxmlformats.org/drawingml/2006/main" w="9525">
            <a:solidFill>
              <a:srgbClr val="DDE0E5"/>
            </a:solidFill>
            <a:prstDash val="solid"/>
          </a:ln>
        </p:spPr>
      </p:sp>
      <p:sp>
        <p:nvSpPr>
          <p:cNvPr id="4" name="footer">
            <a:extLst xmlns:a="http://schemas.openxmlformats.org/drawingml/2006/main">
              <a:ext uri="{FF2B5EF4-FFF2-40B4-BE49-F238E27FC236}">
                <a16:creationId xmlns:a16="http://schemas.microsoft.com/office/drawing/2014/main" id="{6AE46D6A-EB80-4EB5-B74C-F96775FBD64B}"/>
              </a:ext>
            </a:extLst>
          </p:cNvPr>
          <p:cNvSpPr>
            <a:spLocks xmlns:a="http://schemas.openxmlformats.org/drawingml/2006/main" noGrp="1"/>
          </p:cNvSpPr>
          <p:nvPr/>
        </p:nvSpPr>
        <p:spPr>
          <a:xfrm xmlns:a="http://schemas.openxmlformats.org/drawingml/2006/main">
            <a:off x="609600" y="6429375"/>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ARC 500  ·  Week 10 · Meeting B · Linear Programming Studio</a:t>
            </a:r>
          </a:p>
        </p:txBody>
      </p:sp>
      <p:sp>
        <p:nvSpPr>
          <p:cNvPr id="5" name="page">
            <a:extLst xmlns:a="http://schemas.openxmlformats.org/drawingml/2006/main">
              <a:ext uri="{FF2B5EF4-FFF2-40B4-BE49-F238E27FC236}">
                <a16:creationId xmlns:a16="http://schemas.microsoft.com/office/drawing/2014/main" id="{8EE8AAF0-4BEF-4049-BBF9-03FFE2BF69F6}"/>
              </a:ext>
            </a:extLst>
          </p:cNvPr>
          <p:cNvSpPr>
            <a:spLocks xmlns:a="http://schemas.openxmlformats.org/drawingml/2006/main" noGrp="1"/>
          </p:cNvSpPr>
          <p:nvPr/>
        </p:nvSpPr>
        <p:spPr>
          <a:xfrm xmlns:a="http://schemas.openxmlformats.org/drawingml/2006/main">
            <a:off x="10896600" y="6429375"/>
            <a:ext cx="685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33</a:t>
            </a:r>
          </a:p>
        </p:txBody>
      </p:sp>
      <p:sp>
        <p:nvSpPr>
          <p:cNvPr id="6" name="step-arrow-0">
            <a:extLst xmlns:a="http://schemas.openxmlformats.org/drawingml/2006/main">
              <a:ext uri="{FF2B5EF4-FFF2-40B4-BE49-F238E27FC236}">
                <a16:creationId xmlns:a16="http://schemas.microsoft.com/office/drawing/2014/main" id="{455317E4-C440-4DDF-BF75-7E38D6CD79A6}"/>
              </a:ext>
            </a:extLst>
          </p:cNvPr>
          <p:cNvSpPr>
            <a:spLocks xmlns:a="http://schemas.openxmlformats.org/drawingml/2006/main" noGrp="1"/>
          </p:cNvSpPr>
          <p:nvPr/>
        </p:nvSpPr>
        <p:spPr>
          <a:xfrm xmlns:a="http://schemas.openxmlformats.org/drawingml/2006/main">
            <a:off x="3219450" y="3686175"/>
            <a:ext cx="152400" cy="495300"/>
          </a:xfrm>
          <a:prstGeom xmlns:a="http://schemas.openxmlformats.org/drawingml/2006/main" prst="chevron">
            <a:avLst/>
          </a:prstGeom>
          <a:solidFill xmlns:a="http://schemas.openxmlformats.org/drawingml/2006/main">
            <a:srgbClr val="E8EEF5"/>
          </a:solidFill>
          <a:ln xmlns:a="http://schemas.openxmlformats.org/drawingml/2006/main" w="0">
            <a:solidFill>
              <a:srgbClr val="E8EEF5"/>
            </a:solidFill>
            <a:prstDash val="solid"/>
          </a:ln>
        </p:spPr>
      </p:sp>
      <p:sp>
        <p:nvSpPr>
          <p:cNvPr id="7" name="step-arrow-1">
            <a:extLst xmlns:a="http://schemas.openxmlformats.org/drawingml/2006/main">
              <a:ext uri="{FF2B5EF4-FFF2-40B4-BE49-F238E27FC236}">
                <a16:creationId xmlns:a16="http://schemas.microsoft.com/office/drawing/2014/main" id="{021F0831-2C9A-472F-9379-2D4D9183D2BD}"/>
              </a:ext>
            </a:extLst>
          </p:cNvPr>
          <p:cNvSpPr>
            <a:spLocks xmlns:a="http://schemas.openxmlformats.org/drawingml/2006/main" noGrp="1"/>
          </p:cNvSpPr>
          <p:nvPr/>
        </p:nvSpPr>
        <p:spPr>
          <a:xfrm xmlns:a="http://schemas.openxmlformats.org/drawingml/2006/main">
            <a:off x="6019800" y="3686175"/>
            <a:ext cx="152400" cy="495300"/>
          </a:xfrm>
          <a:prstGeom xmlns:a="http://schemas.openxmlformats.org/drawingml/2006/main" prst="chevron">
            <a:avLst/>
          </a:prstGeom>
          <a:solidFill xmlns:a="http://schemas.openxmlformats.org/drawingml/2006/main">
            <a:srgbClr val="E8EEF5"/>
          </a:solidFill>
          <a:ln xmlns:a="http://schemas.openxmlformats.org/drawingml/2006/main" w="0">
            <a:solidFill>
              <a:srgbClr val="E8EEF5"/>
            </a:solidFill>
            <a:prstDash val="solid"/>
          </a:ln>
        </p:spPr>
      </p:sp>
      <p:sp>
        <p:nvSpPr>
          <p:cNvPr id="8" name="step-arrow-2">
            <a:extLst xmlns:a="http://schemas.openxmlformats.org/drawingml/2006/main">
              <a:ext uri="{FF2B5EF4-FFF2-40B4-BE49-F238E27FC236}">
                <a16:creationId xmlns:a16="http://schemas.microsoft.com/office/drawing/2014/main" id="{039B8176-9CF1-4238-9F01-C6CBDA1C4E80}"/>
              </a:ext>
            </a:extLst>
          </p:cNvPr>
          <p:cNvSpPr>
            <a:spLocks xmlns:a="http://schemas.openxmlformats.org/drawingml/2006/main" noGrp="1"/>
          </p:cNvSpPr>
          <p:nvPr/>
        </p:nvSpPr>
        <p:spPr>
          <a:xfrm xmlns:a="http://schemas.openxmlformats.org/drawingml/2006/main">
            <a:off x="8820150" y="3686175"/>
            <a:ext cx="152400" cy="495300"/>
          </a:xfrm>
          <a:prstGeom xmlns:a="http://schemas.openxmlformats.org/drawingml/2006/main" prst="chevron">
            <a:avLst/>
          </a:prstGeom>
          <a:solidFill xmlns:a="http://schemas.openxmlformats.org/drawingml/2006/main">
            <a:srgbClr val="E8EEF5"/>
          </a:solidFill>
          <a:ln xmlns:a="http://schemas.openxmlformats.org/drawingml/2006/main" w="0">
            <a:solidFill>
              <a:srgbClr val="E8EEF5"/>
            </a:solidFill>
            <a:prstDash val="solid"/>
          </a:ln>
        </p:spPr>
      </p:sp>
      <p:sp>
        <p:nvSpPr>
          <p:cNvPr id="9" name="step-node-0">
            <a:extLst xmlns:a="http://schemas.openxmlformats.org/drawingml/2006/main">
              <a:ext uri="{FF2B5EF4-FFF2-40B4-BE49-F238E27FC236}">
                <a16:creationId xmlns:a16="http://schemas.microsoft.com/office/drawing/2014/main" id="{BCEE811D-B352-457C-9B13-8A7AEC0935EF}"/>
              </a:ext>
            </a:extLst>
          </p:cNvPr>
          <p:cNvSpPr>
            <a:spLocks xmlns:a="http://schemas.openxmlformats.org/drawingml/2006/main" noGrp="1"/>
          </p:cNvSpPr>
          <p:nvPr/>
        </p:nvSpPr>
        <p:spPr>
          <a:xfrm xmlns:a="http://schemas.openxmlformats.org/drawingml/2006/main">
            <a:off x="609600" y="1847850"/>
            <a:ext cx="2571750" cy="4171950"/>
          </a:xfrm>
          <a:prstGeom xmlns:a="http://schemas.openxmlformats.org/drawingml/2006/main" prst="roundRect">
            <a:avLst>
              <a:gd name="adj" fmla="val 3704"/>
            </a:avLst>
          </a:prstGeom>
          <a:solidFill xmlns:a="http://schemas.openxmlformats.org/drawingml/2006/main">
            <a:srgbClr val="F3F7FB"/>
          </a:solidFill>
          <a:ln xmlns:a="http://schemas.openxmlformats.org/drawingml/2006/main" w="9525">
            <a:solidFill>
              <a:srgbClr val="2E74B5"/>
            </a:solidFill>
            <a:prstDash val="solid"/>
          </a:ln>
        </p:spPr>
      </p:sp>
      <p:sp>
        <p:nvSpPr>
          <p:cNvPr id="10" name="step-number-0">
            <a:extLst xmlns:a="http://schemas.openxmlformats.org/drawingml/2006/main">
              <a:ext uri="{FF2B5EF4-FFF2-40B4-BE49-F238E27FC236}">
                <a16:creationId xmlns:a16="http://schemas.microsoft.com/office/drawing/2014/main" id="{B60DA29A-3A20-4157-8F8E-A9F3621BB912}"/>
              </a:ext>
            </a:extLst>
          </p:cNvPr>
          <p:cNvSpPr>
            <a:spLocks xmlns:a="http://schemas.openxmlformats.org/drawingml/2006/main" noGrp="1"/>
          </p:cNvSpPr>
          <p:nvPr/>
        </p:nvSpPr>
        <p:spPr>
          <a:xfrm xmlns:a="http://schemas.openxmlformats.org/drawingml/2006/main">
            <a:off x="800100" y="2038350"/>
            <a:ext cx="4381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1200" b="1">
                <a:solidFill>
                  <a:srgbClr val="2E74B5"/>
                </a:solidFill>
                <a:latin typeface="Arial"/>
                <a:ea typeface="Arial"/>
                <a:cs typeface="Arial"/>
              </a:defRPr>
            </a:pPr>
            <a:r>
              <a:rPr sz="1200" b="1">
                <a:solidFill>
                  <a:srgbClr val="2E74B5"/>
                </a:solidFill>
                <a:latin typeface="Arial"/>
                <a:ea typeface="Arial"/>
                <a:cs typeface="Arial"/>
              </a:rPr>
              <a:t>01</a:t>
            </a:r>
          </a:p>
        </p:txBody>
      </p:sp>
      <p:sp>
        <p:nvSpPr>
          <p:cNvPr id="11" name="step-label-0">
            <a:extLst xmlns:a="http://schemas.openxmlformats.org/drawingml/2006/main">
              <a:ext uri="{FF2B5EF4-FFF2-40B4-BE49-F238E27FC236}">
                <a16:creationId xmlns:a16="http://schemas.microsoft.com/office/drawing/2014/main" id="{6D7C2348-7323-4545-84C1-FCF3D6FDBF52}"/>
              </a:ext>
            </a:extLst>
          </p:cNvPr>
          <p:cNvSpPr>
            <a:spLocks xmlns:a="http://schemas.openxmlformats.org/drawingml/2006/main" noGrp="1"/>
          </p:cNvSpPr>
          <p:nvPr/>
        </p:nvSpPr>
        <p:spPr>
          <a:xfrm xmlns:a="http://schemas.openxmlformats.org/drawingml/2006/main">
            <a:off x="1295400" y="2057400"/>
            <a:ext cx="16954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2E74B5"/>
                </a:solidFill>
                <a:latin typeface="Arial"/>
                <a:ea typeface="Arial"/>
                <a:cs typeface="Arial"/>
              </a:defRPr>
            </a:pPr>
            <a:r>
              <a:rPr sz="900" b="1">
                <a:solidFill>
                  <a:srgbClr val="2E74B5"/>
                </a:solidFill>
                <a:latin typeface="Arial"/>
                <a:ea typeface="Arial"/>
                <a:cs typeface="Arial"/>
              </a:rPr>
              <a:t>FORMULATE</a:t>
            </a:r>
          </a:p>
        </p:txBody>
      </p:sp>
      <p:sp>
        <p:nvSpPr>
          <p:cNvPr id="12" name="">
            <a:extLst xmlns:a="http://schemas.openxmlformats.org/drawingml/2006/main">
              <a:ext uri="{FF2B5EF4-FFF2-40B4-BE49-F238E27FC236}">
                <a16:creationId xmlns:a16="http://schemas.microsoft.com/office/drawing/2014/main" id="{2D553405-C68E-41CC-98DB-5388A39F443A}"/>
              </a:ext>
            </a:extLst>
          </p:cNvPr>
          <p:cNvSpPr>
            <a:spLocks xmlns:a="http://schemas.openxmlformats.org/drawingml/2006/main" noGrp="1"/>
          </p:cNvSpPr>
          <p:nvPr/>
        </p:nvSpPr>
        <p:spPr>
          <a:xfrm xmlns:a="http://schemas.openxmlformats.org/drawingml/2006/main">
            <a:off x="800100" y="2476500"/>
            <a:ext cx="2190750" cy="0"/>
          </a:xfrm>
          <a:prstGeom xmlns:a="http://schemas.openxmlformats.org/drawingml/2006/main" prst="line">
            <a:avLst/>
          </a:prstGeom>
          <a:noFill xmlns:a="http://schemas.openxmlformats.org/drawingml/2006/main"/>
          <a:ln xmlns:a="http://schemas.openxmlformats.org/drawingml/2006/main" w="28575">
            <a:solidFill>
              <a:srgbClr val="2E74B5"/>
            </a:solidFill>
            <a:prstDash val="solid"/>
          </a:ln>
        </p:spPr>
      </p:sp>
      <p:sp>
        <p:nvSpPr>
          <p:cNvPr id="13" name="step-head-0">
            <a:extLst xmlns:a="http://schemas.openxmlformats.org/drawingml/2006/main">
              <a:ext uri="{FF2B5EF4-FFF2-40B4-BE49-F238E27FC236}">
                <a16:creationId xmlns:a16="http://schemas.microsoft.com/office/drawing/2014/main" id="{0A3177E8-332B-4952-8C4A-E9062AD17F16}"/>
              </a:ext>
            </a:extLst>
          </p:cNvPr>
          <p:cNvSpPr>
            <a:spLocks xmlns:a="http://schemas.openxmlformats.org/drawingml/2006/main" noGrp="1"/>
          </p:cNvSpPr>
          <p:nvPr/>
        </p:nvSpPr>
        <p:spPr>
          <a:xfrm xmlns:a="http://schemas.openxmlformats.org/drawingml/2006/main">
            <a:off x="800100" y="2667000"/>
            <a:ext cx="21907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00" b="1">
                <a:solidFill>
                  <a:srgbClr val="111316"/>
                </a:solidFill>
                <a:latin typeface="Arial"/>
                <a:ea typeface="Arial"/>
                <a:cs typeface="Arial"/>
              </a:defRPr>
            </a:pPr>
            <a:r>
              <a:rPr sz="1800" b="1">
                <a:solidFill>
                  <a:srgbClr val="111316"/>
                </a:solidFill>
                <a:latin typeface="Arial"/>
                <a:ea typeface="Arial"/>
                <a:cs typeface="Arial"/>
              </a:rPr>
              <a:t>State it in words</a:t>
            </a:r>
          </a:p>
        </p:txBody>
      </p:sp>
      <p:sp>
        <p:nvSpPr>
          <p:cNvPr id="14" name="step-body-0">
            <a:extLst xmlns:a="http://schemas.openxmlformats.org/drawingml/2006/main">
              <a:ext uri="{FF2B5EF4-FFF2-40B4-BE49-F238E27FC236}">
                <a16:creationId xmlns:a16="http://schemas.microsoft.com/office/drawing/2014/main" id="{8B984F13-41A0-4BA4-BB58-97EAEF8F2888}"/>
              </a:ext>
            </a:extLst>
          </p:cNvPr>
          <p:cNvSpPr>
            <a:spLocks xmlns:a="http://schemas.openxmlformats.org/drawingml/2006/main" noGrp="1"/>
          </p:cNvSpPr>
          <p:nvPr/>
        </p:nvSpPr>
        <p:spPr>
          <a:xfrm xmlns:a="http://schemas.openxmlformats.org/drawingml/2006/main">
            <a:off x="800100" y="3352800"/>
            <a:ext cx="2190750" cy="2495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500" b="0">
                <a:solidFill>
                  <a:srgbClr val="5A5F66"/>
                </a:solidFill>
                <a:latin typeface="Arial"/>
                <a:ea typeface="Arial"/>
                <a:cs typeface="Arial"/>
              </a:defRPr>
            </a:pPr>
            <a:r>
              <a:rPr sz="1500" b="0">
                <a:solidFill>
                  <a:srgbClr val="5A5F66"/>
                </a:solidFill>
                <a:latin typeface="Arial"/>
                <a:ea typeface="Arial"/>
                <a:cs typeface="Arial"/>
              </a:rPr>
              <a:t>Variables, objective, constraints, bounds for your own Project 2 problem.</a:t>
            </a:r>
          </a:p>
        </p:txBody>
      </p:sp>
      <p:sp>
        <p:nvSpPr>
          <p:cNvPr id="15" name="step-node-1">
            <a:extLst xmlns:a="http://schemas.openxmlformats.org/drawingml/2006/main">
              <a:ext uri="{FF2B5EF4-FFF2-40B4-BE49-F238E27FC236}">
                <a16:creationId xmlns:a16="http://schemas.microsoft.com/office/drawing/2014/main" id="{A9A4E658-BFBD-4B80-81CE-A7F5D9633FBF}"/>
              </a:ext>
            </a:extLst>
          </p:cNvPr>
          <p:cNvSpPr>
            <a:spLocks xmlns:a="http://schemas.openxmlformats.org/drawingml/2006/main" noGrp="1"/>
          </p:cNvSpPr>
          <p:nvPr/>
        </p:nvSpPr>
        <p:spPr>
          <a:xfrm xmlns:a="http://schemas.openxmlformats.org/drawingml/2006/main">
            <a:off x="3409950" y="1847850"/>
            <a:ext cx="2571750" cy="4171950"/>
          </a:xfrm>
          <a:prstGeom xmlns:a="http://schemas.openxmlformats.org/drawingml/2006/main" prst="roundRect">
            <a:avLst>
              <a:gd name="adj" fmla="val 3704"/>
            </a:avLst>
          </a:prstGeom>
          <a:solidFill xmlns:a="http://schemas.openxmlformats.org/drawingml/2006/main">
            <a:srgbClr val="F6F7F9"/>
          </a:solidFill>
          <a:ln xmlns:a="http://schemas.openxmlformats.org/drawingml/2006/main" w="9525">
            <a:solidFill>
              <a:srgbClr val="DDE0E5"/>
            </a:solidFill>
            <a:prstDash val="solid"/>
          </a:ln>
        </p:spPr>
      </p:sp>
      <p:sp>
        <p:nvSpPr>
          <p:cNvPr id="16" name="step-number-1">
            <a:extLst xmlns:a="http://schemas.openxmlformats.org/drawingml/2006/main">
              <a:ext uri="{FF2B5EF4-FFF2-40B4-BE49-F238E27FC236}">
                <a16:creationId xmlns:a16="http://schemas.microsoft.com/office/drawing/2014/main" id="{BE369E71-716B-4184-9884-F5B7BBE9757C}"/>
              </a:ext>
            </a:extLst>
          </p:cNvPr>
          <p:cNvSpPr>
            <a:spLocks xmlns:a="http://schemas.openxmlformats.org/drawingml/2006/main" noGrp="1"/>
          </p:cNvSpPr>
          <p:nvPr/>
        </p:nvSpPr>
        <p:spPr>
          <a:xfrm xmlns:a="http://schemas.openxmlformats.org/drawingml/2006/main">
            <a:off x="3600450" y="2038350"/>
            <a:ext cx="4381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1200" b="1">
                <a:solidFill>
                  <a:srgbClr val="2E74B5"/>
                </a:solidFill>
                <a:latin typeface="Arial"/>
                <a:ea typeface="Arial"/>
                <a:cs typeface="Arial"/>
              </a:defRPr>
            </a:pPr>
            <a:r>
              <a:rPr sz="1200" b="1">
                <a:solidFill>
                  <a:srgbClr val="2E74B5"/>
                </a:solidFill>
                <a:latin typeface="Arial"/>
                <a:ea typeface="Arial"/>
                <a:cs typeface="Arial"/>
              </a:rPr>
              <a:t>02</a:t>
            </a:r>
          </a:p>
        </p:txBody>
      </p:sp>
      <p:sp>
        <p:nvSpPr>
          <p:cNvPr id="17" name="step-label-1">
            <a:extLst xmlns:a="http://schemas.openxmlformats.org/drawingml/2006/main">
              <a:ext uri="{FF2B5EF4-FFF2-40B4-BE49-F238E27FC236}">
                <a16:creationId xmlns:a16="http://schemas.microsoft.com/office/drawing/2014/main" id="{18189FDF-BB67-49F5-A733-1EF6EC492F73}"/>
              </a:ext>
            </a:extLst>
          </p:cNvPr>
          <p:cNvSpPr>
            <a:spLocks xmlns:a="http://schemas.openxmlformats.org/drawingml/2006/main" noGrp="1"/>
          </p:cNvSpPr>
          <p:nvPr/>
        </p:nvSpPr>
        <p:spPr>
          <a:xfrm xmlns:a="http://schemas.openxmlformats.org/drawingml/2006/main">
            <a:off x="4095750" y="2057400"/>
            <a:ext cx="16954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2E74B5"/>
                </a:solidFill>
                <a:latin typeface="Arial"/>
                <a:ea typeface="Arial"/>
                <a:cs typeface="Arial"/>
              </a:defRPr>
            </a:pPr>
            <a:r>
              <a:rPr sz="900" b="1">
                <a:solidFill>
                  <a:srgbClr val="2E74B5"/>
                </a:solidFill>
                <a:latin typeface="Arial"/>
                <a:ea typeface="Arial"/>
                <a:cs typeface="Arial"/>
              </a:rPr>
              <a:t>SOLVE</a:t>
            </a:r>
          </a:p>
        </p:txBody>
      </p:sp>
      <p:sp>
        <p:nvSpPr>
          <p:cNvPr id="18" name="">
            <a:extLst xmlns:a="http://schemas.openxmlformats.org/drawingml/2006/main">
              <a:ext uri="{FF2B5EF4-FFF2-40B4-BE49-F238E27FC236}">
                <a16:creationId xmlns:a16="http://schemas.microsoft.com/office/drawing/2014/main" id="{535D3FEF-33F2-491B-A075-0204F5BE3AC4}"/>
              </a:ext>
            </a:extLst>
          </p:cNvPr>
          <p:cNvSpPr>
            <a:spLocks xmlns:a="http://schemas.openxmlformats.org/drawingml/2006/main" noGrp="1"/>
          </p:cNvSpPr>
          <p:nvPr/>
        </p:nvSpPr>
        <p:spPr>
          <a:xfrm xmlns:a="http://schemas.openxmlformats.org/drawingml/2006/main">
            <a:off x="3600450" y="2476500"/>
            <a:ext cx="2190750" cy="0"/>
          </a:xfrm>
          <a:prstGeom xmlns:a="http://schemas.openxmlformats.org/drawingml/2006/main" prst="line">
            <a:avLst/>
          </a:prstGeom>
          <a:noFill xmlns:a="http://schemas.openxmlformats.org/drawingml/2006/main"/>
          <a:ln xmlns:a="http://schemas.openxmlformats.org/drawingml/2006/main" w="19050">
            <a:solidFill>
              <a:srgbClr val="111316"/>
            </a:solidFill>
            <a:prstDash val="solid"/>
          </a:ln>
        </p:spPr>
      </p:sp>
      <p:sp>
        <p:nvSpPr>
          <p:cNvPr id="19" name="step-head-1">
            <a:extLst xmlns:a="http://schemas.openxmlformats.org/drawingml/2006/main">
              <a:ext uri="{FF2B5EF4-FFF2-40B4-BE49-F238E27FC236}">
                <a16:creationId xmlns:a16="http://schemas.microsoft.com/office/drawing/2014/main" id="{F126019E-B3A6-4C64-8F13-085C994EB870}"/>
              </a:ext>
            </a:extLst>
          </p:cNvPr>
          <p:cNvSpPr>
            <a:spLocks xmlns:a="http://schemas.openxmlformats.org/drawingml/2006/main" noGrp="1"/>
          </p:cNvSpPr>
          <p:nvPr/>
        </p:nvSpPr>
        <p:spPr>
          <a:xfrm xmlns:a="http://schemas.openxmlformats.org/drawingml/2006/main">
            <a:off x="3600450" y="2667000"/>
            <a:ext cx="21907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00" b="1">
                <a:solidFill>
                  <a:srgbClr val="111316"/>
                </a:solidFill>
                <a:latin typeface="Arial"/>
                <a:ea typeface="Arial"/>
                <a:cs typeface="Arial"/>
              </a:defRPr>
            </a:pPr>
            <a:r>
              <a:rPr sz="1800" b="1">
                <a:solidFill>
                  <a:srgbClr val="111316"/>
                </a:solidFill>
                <a:latin typeface="Arial"/>
                <a:ea typeface="Arial"/>
                <a:cs typeface="Arial"/>
              </a:rPr>
              <a:t>Run linprog</a:t>
            </a:r>
          </a:p>
        </p:txBody>
      </p:sp>
      <p:sp>
        <p:nvSpPr>
          <p:cNvPr id="20" name="step-body-1">
            <a:extLst xmlns:a="http://schemas.openxmlformats.org/drawingml/2006/main">
              <a:ext uri="{FF2B5EF4-FFF2-40B4-BE49-F238E27FC236}">
                <a16:creationId xmlns:a16="http://schemas.microsoft.com/office/drawing/2014/main" id="{3DFAE5F9-94BA-4EAF-8D8E-8514AB46998D}"/>
              </a:ext>
            </a:extLst>
          </p:cNvPr>
          <p:cNvSpPr>
            <a:spLocks xmlns:a="http://schemas.openxmlformats.org/drawingml/2006/main" noGrp="1"/>
          </p:cNvSpPr>
          <p:nvPr/>
        </p:nvSpPr>
        <p:spPr>
          <a:xfrm xmlns:a="http://schemas.openxmlformats.org/drawingml/2006/main">
            <a:off x="3600450" y="3352800"/>
            <a:ext cx="2190750" cy="2495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500" b="0">
                <a:solidFill>
                  <a:srgbClr val="5A5F66"/>
                </a:solidFill>
                <a:latin typeface="Arial"/>
                <a:ea typeface="Arial"/>
                <a:cs typeface="Arial"/>
              </a:defRPr>
            </a:pPr>
            <a:r>
              <a:rPr sz="1500" b="0">
                <a:solidFill>
                  <a:srgbClr val="5A5F66"/>
                </a:solidFill>
                <a:latin typeface="Arial"/>
                <a:ea typeface="Arial"/>
                <a:cs typeface="Arial"/>
              </a:rPr>
              <a:t>res.x, res.fun, res.success on your own arrays.</a:t>
            </a:r>
          </a:p>
        </p:txBody>
      </p:sp>
      <p:sp>
        <p:nvSpPr>
          <p:cNvPr id="21" name="step-node-2">
            <a:extLst xmlns:a="http://schemas.openxmlformats.org/drawingml/2006/main">
              <a:ext uri="{FF2B5EF4-FFF2-40B4-BE49-F238E27FC236}">
                <a16:creationId xmlns:a16="http://schemas.microsoft.com/office/drawing/2014/main" id="{B2CE96E5-3AAE-4070-B753-CE2857974504}"/>
              </a:ext>
            </a:extLst>
          </p:cNvPr>
          <p:cNvSpPr>
            <a:spLocks xmlns:a="http://schemas.openxmlformats.org/drawingml/2006/main" noGrp="1"/>
          </p:cNvSpPr>
          <p:nvPr/>
        </p:nvSpPr>
        <p:spPr>
          <a:xfrm xmlns:a="http://schemas.openxmlformats.org/drawingml/2006/main">
            <a:off x="6210300" y="1847850"/>
            <a:ext cx="2571750" cy="4171950"/>
          </a:xfrm>
          <a:prstGeom xmlns:a="http://schemas.openxmlformats.org/drawingml/2006/main" prst="roundRect">
            <a:avLst>
              <a:gd name="adj" fmla="val 3704"/>
            </a:avLst>
          </a:prstGeom>
          <a:solidFill xmlns:a="http://schemas.openxmlformats.org/drawingml/2006/main">
            <a:srgbClr val="F6F7F9"/>
          </a:solidFill>
          <a:ln xmlns:a="http://schemas.openxmlformats.org/drawingml/2006/main" w="9525">
            <a:solidFill>
              <a:srgbClr val="DDE0E5"/>
            </a:solidFill>
            <a:prstDash val="solid"/>
          </a:ln>
        </p:spPr>
      </p:sp>
      <p:sp>
        <p:nvSpPr>
          <p:cNvPr id="22" name="step-number-2">
            <a:extLst xmlns:a="http://schemas.openxmlformats.org/drawingml/2006/main">
              <a:ext uri="{FF2B5EF4-FFF2-40B4-BE49-F238E27FC236}">
                <a16:creationId xmlns:a16="http://schemas.microsoft.com/office/drawing/2014/main" id="{7C8E242E-2065-437C-AD6A-BB33E96790CA}"/>
              </a:ext>
            </a:extLst>
          </p:cNvPr>
          <p:cNvSpPr>
            <a:spLocks xmlns:a="http://schemas.openxmlformats.org/drawingml/2006/main" noGrp="1"/>
          </p:cNvSpPr>
          <p:nvPr/>
        </p:nvSpPr>
        <p:spPr>
          <a:xfrm xmlns:a="http://schemas.openxmlformats.org/drawingml/2006/main">
            <a:off x="6400800" y="2038350"/>
            <a:ext cx="4381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1200" b="1">
                <a:solidFill>
                  <a:srgbClr val="2E74B5"/>
                </a:solidFill>
                <a:latin typeface="Arial"/>
                <a:ea typeface="Arial"/>
                <a:cs typeface="Arial"/>
              </a:defRPr>
            </a:pPr>
            <a:r>
              <a:rPr sz="1200" b="1">
                <a:solidFill>
                  <a:srgbClr val="2E74B5"/>
                </a:solidFill>
                <a:latin typeface="Arial"/>
                <a:ea typeface="Arial"/>
                <a:cs typeface="Arial"/>
              </a:rPr>
              <a:t>03</a:t>
            </a:r>
          </a:p>
        </p:txBody>
      </p:sp>
      <p:sp>
        <p:nvSpPr>
          <p:cNvPr id="23" name="step-label-2">
            <a:extLst xmlns:a="http://schemas.openxmlformats.org/drawingml/2006/main">
              <a:ext uri="{FF2B5EF4-FFF2-40B4-BE49-F238E27FC236}">
                <a16:creationId xmlns:a16="http://schemas.microsoft.com/office/drawing/2014/main" id="{2F0AED77-F268-47C6-9ED9-DF9ED0889AED}"/>
              </a:ext>
            </a:extLst>
          </p:cNvPr>
          <p:cNvSpPr>
            <a:spLocks xmlns:a="http://schemas.openxmlformats.org/drawingml/2006/main" noGrp="1"/>
          </p:cNvSpPr>
          <p:nvPr/>
        </p:nvSpPr>
        <p:spPr>
          <a:xfrm xmlns:a="http://schemas.openxmlformats.org/drawingml/2006/main">
            <a:off x="6896100" y="2057400"/>
            <a:ext cx="16954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2E74B5"/>
                </a:solidFill>
                <a:latin typeface="Arial"/>
                <a:ea typeface="Arial"/>
                <a:cs typeface="Arial"/>
              </a:defRPr>
            </a:pPr>
            <a:r>
              <a:rPr sz="900" b="1">
                <a:solidFill>
                  <a:srgbClr val="2E74B5"/>
                </a:solidFill>
                <a:latin typeface="Arial"/>
                <a:ea typeface="Arial"/>
                <a:cs typeface="Arial"/>
              </a:rPr>
              <a:t>VERIFY</a:t>
            </a:r>
          </a:p>
        </p:txBody>
      </p:sp>
      <p:sp>
        <p:nvSpPr>
          <p:cNvPr id="24" name="">
            <a:extLst xmlns:a="http://schemas.openxmlformats.org/drawingml/2006/main">
              <a:ext uri="{FF2B5EF4-FFF2-40B4-BE49-F238E27FC236}">
                <a16:creationId xmlns:a16="http://schemas.microsoft.com/office/drawing/2014/main" id="{41736889-ADCC-42C9-9037-C9EB4EA6D7FD}"/>
              </a:ext>
            </a:extLst>
          </p:cNvPr>
          <p:cNvSpPr>
            <a:spLocks xmlns:a="http://schemas.openxmlformats.org/drawingml/2006/main" noGrp="1"/>
          </p:cNvSpPr>
          <p:nvPr/>
        </p:nvSpPr>
        <p:spPr>
          <a:xfrm xmlns:a="http://schemas.openxmlformats.org/drawingml/2006/main">
            <a:off x="6400800" y="2476500"/>
            <a:ext cx="2190750" cy="0"/>
          </a:xfrm>
          <a:prstGeom xmlns:a="http://schemas.openxmlformats.org/drawingml/2006/main" prst="line">
            <a:avLst/>
          </a:prstGeom>
          <a:noFill xmlns:a="http://schemas.openxmlformats.org/drawingml/2006/main"/>
          <a:ln xmlns:a="http://schemas.openxmlformats.org/drawingml/2006/main" w="19050">
            <a:solidFill>
              <a:srgbClr val="111316"/>
            </a:solidFill>
            <a:prstDash val="solid"/>
          </a:ln>
        </p:spPr>
      </p:sp>
      <p:sp>
        <p:nvSpPr>
          <p:cNvPr id="25" name="step-head-2">
            <a:extLst xmlns:a="http://schemas.openxmlformats.org/drawingml/2006/main">
              <a:ext uri="{FF2B5EF4-FFF2-40B4-BE49-F238E27FC236}">
                <a16:creationId xmlns:a16="http://schemas.microsoft.com/office/drawing/2014/main" id="{93C37DF0-E948-478D-851F-3B93986ECF4F}"/>
              </a:ext>
            </a:extLst>
          </p:cNvPr>
          <p:cNvSpPr>
            <a:spLocks xmlns:a="http://schemas.openxmlformats.org/drawingml/2006/main" noGrp="1"/>
          </p:cNvSpPr>
          <p:nvPr/>
        </p:nvSpPr>
        <p:spPr>
          <a:xfrm xmlns:a="http://schemas.openxmlformats.org/drawingml/2006/main">
            <a:off x="6400800" y="2667000"/>
            <a:ext cx="2190750" cy="55092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00" b="1">
                <a:solidFill>
                  <a:srgbClr val="111316"/>
                </a:solidFill>
                <a:latin typeface="Arial"/>
                <a:ea typeface="Arial"/>
                <a:cs typeface="Arial"/>
              </a:defRPr>
            </a:pPr>
            <a:r>
              <a:rPr sz="1800" b="1">
                <a:solidFill>
                  <a:srgbClr val="111316"/>
                </a:solidFill>
                <a:latin typeface="Arial"/>
                <a:ea typeface="Arial"/>
                <a:cs typeface="Arial"/>
              </a:rPr>
              <a:t>Hand-check every constraint</a:t>
            </a:r>
          </a:p>
        </p:txBody>
      </p:sp>
      <p:sp>
        <p:nvSpPr>
          <p:cNvPr id="26" name="step-body-2">
            <a:extLst xmlns:a="http://schemas.openxmlformats.org/drawingml/2006/main">
              <a:ext uri="{FF2B5EF4-FFF2-40B4-BE49-F238E27FC236}">
                <a16:creationId xmlns:a16="http://schemas.microsoft.com/office/drawing/2014/main" id="{109B75CC-97BC-453A-AB3A-40701FEFB072}"/>
              </a:ext>
            </a:extLst>
          </p:cNvPr>
          <p:cNvSpPr>
            <a:spLocks xmlns:a="http://schemas.openxmlformats.org/drawingml/2006/main" noGrp="1"/>
          </p:cNvSpPr>
          <p:nvPr/>
        </p:nvSpPr>
        <p:spPr>
          <a:xfrm xmlns:a="http://schemas.openxmlformats.org/drawingml/2006/main">
            <a:off x="6400800" y="3370326"/>
            <a:ext cx="2190750" cy="247802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500" b="0">
                <a:solidFill>
                  <a:srgbClr val="5A5F66"/>
                </a:solidFill>
                <a:latin typeface="Arial"/>
                <a:ea typeface="Arial"/>
                <a:cs typeface="Arial"/>
              </a:defRPr>
            </a:pPr>
            <a:r>
              <a:rPr sz="1500" b="0">
                <a:solidFill>
                  <a:srgbClr val="5A5F66"/>
                </a:solidFill>
                <a:latin typeface="Arial"/>
                <a:ea typeface="Arial"/>
                <a:cs typeface="Arial"/>
              </a:rPr>
              <a:t>The same binding-constraint table as Studio 2, on your own numbers.</a:t>
            </a:r>
          </a:p>
        </p:txBody>
      </p:sp>
      <p:sp>
        <p:nvSpPr>
          <p:cNvPr id="27" name="step-node-3">
            <a:extLst xmlns:a="http://schemas.openxmlformats.org/drawingml/2006/main">
              <a:ext uri="{FF2B5EF4-FFF2-40B4-BE49-F238E27FC236}">
                <a16:creationId xmlns:a16="http://schemas.microsoft.com/office/drawing/2014/main" id="{52AD6CED-68FE-4115-9F0B-BE07B6C55BDE}"/>
              </a:ext>
            </a:extLst>
          </p:cNvPr>
          <p:cNvSpPr>
            <a:spLocks xmlns:a="http://schemas.openxmlformats.org/drawingml/2006/main" noGrp="1"/>
          </p:cNvSpPr>
          <p:nvPr/>
        </p:nvSpPr>
        <p:spPr>
          <a:xfrm xmlns:a="http://schemas.openxmlformats.org/drawingml/2006/main">
            <a:off x="9010650" y="1847850"/>
            <a:ext cx="2571750" cy="4171950"/>
          </a:xfrm>
          <a:prstGeom xmlns:a="http://schemas.openxmlformats.org/drawingml/2006/main" prst="roundRect">
            <a:avLst>
              <a:gd name="adj" fmla="val 3704"/>
            </a:avLst>
          </a:prstGeom>
          <a:solidFill xmlns:a="http://schemas.openxmlformats.org/drawingml/2006/main">
            <a:srgbClr val="F6F7F9"/>
          </a:solidFill>
          <a:ln xmlns:a="http://schemas.openxmlformats.org/drawingml/2006/main" w="9525">
            <a:solidFill>
              <a:srgbClr val="DDE0E5"/>
            </a:solidFill>
            <a:prstDash val="solid"/>
          </a:ln>
        </p:spPr>
      </p:sp>
      <p:sp>
        <p:nvSpPr>
          <p:cNvPr id="28" name="step-number-3">
            <a:extLst xmlns:a="http://schemas.openxmlformats.org/drawingml/2006/main">
              <a:ext uri="{FF2B5EF4-FFF2-40B4-BE49-F238E27FC236}">
                <a16:creationId xmlns:a16="http://schemas.microsoft.com/office/drawing/2014/main" id="{97E6FC54-960A-45FA-942B-70C532DF8C79}"/>
              </a:ext>
            </a:extLst>
          </p:cNvPr>
          <p:cNvSpPr>
            <a:spLocks xmlns:a="http://schemas.openxmlformats.org/drawingml/2006/main" noGrp="1"/>
          </p:cNvSpPr>
          <p:nvPr/>
        </p:nvSpPr>
        <p:spPr>
          <a:xfrm xmlns:a="http://schemas.openxmlformats.org/drawingml/2006/main">
            <a:off x="9201150" y="2038350"/>
            <a:ext cx="4381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1200" b="1">
                <a:solidFill>
                  <a:srgbClr val="2E74B5"/>
                </a:solidFill>
                <a:latin typeface="Arial"/>
                <a:ea typeface="Arial"/>
                <a:cs typeface="Arial"/>
              </a:defRPr>
            </a:pPr>
            <a:r>
              <a:rPr sz="1200" b="1">
                <a:solidFill>
                  <a:srgbClr val="2E74B5"/>
                </a:solidFill>
                <a:latin typeface="Arial"/>
                <a:ea typeface="Arial"/>
                <a:cs typeface="Arial"/>
              </a:rPr>
              <a:t>04</a:t>
            </a:r>
          </a:p>
        </p:txBody>
      </p:sp>
      <p:sp>
        <p:nvSpPr>
          <p:cNvPr id="29" name="step-label-3">
            <a:extLst xmlns:a="http://schemas.openxmlformats.org/drawingml/2006/main">
              <a:ext uri="{FF2B5EF4-FFF2-40B4-BE49-F238E27FC236}">
                <a16:creationId xmlns:a16="http://schemas.microsoft.com/office/drawing/2014/main" id="{22723B9D-03EB-44E9-BD17-BE113FE7453B}"/>
              </a:ext>
            </a:extLst>
          </p:cNvPr>
          <p:cNvSpPr>
            <a:spLocks xmlns:a="http://schemas.openxmlformats.org/drawingml/2006/main" noGrp="1"/>
          </p:cNvSpPr>
          <p:nvPr/>
        </p:nvSpPr>
        <p:spPr>
          <a:xfrm xmlns:a="http://schemas.openxmlformats.org/drawingml/2006/main">
            <a:off x="9696450" y="2057400"/>
            <a:ext cx="16954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2E74B5"/>
                </a:solidFill>
                <a:latin typeface="Arial"/>
                <a:ea typeface="Arial"/>
                <a:cs typeface="Arial"/>
              </a:defRPr>
            </a:pPr>
            <a:r>
              <a:rPr sz="900" b="1">
                <a:solidFill>
                  <a:srgbClr val="2E74B5"/>
                </a:solidFill>
                <a:latin typeface="Arial"/>
                <a:ea typeface="Arial"/>
                <a:cs typeface="Arial"/>
              </a:rPr>
              <a:t>SUBMIT</a:t>
            </a:r>
          </a:p>
        </p:txBody>
      </p:sp>
      <p:sp>
        <p:nvSpPr>
          <p:cNvPr id="30" name="">
            <a:extLst xmlns:a="http://schemas.openxmlformats.org/drawingml/2006/main">
              <a:ext uri="{FF2B5EF4-FFF2-40B4-BE49-F238E27FC236}">
                <a16:creationId xmlns:a16="http://schemas.microsoft.com/office/drawing/2014/main" id="{9942DB99-5941-4D8A-BFA4-EFDADC79B16F}"/>
              </a:ext>
            </a:extLst>
          </p:cNvPr>
          <p:cNvSpPr>
            <a:spLocks xmlns:a="http://schemas.openxmlformats.org/drawingml/2006/main" noGrp="1"/>
          </p:cNvSpPr>
          <p:nvPr/>
        </p:nvSpPr>
        <p:spPr>
          <a:xfrm xmlns:a="http://schemas.openxmlformats.org/drawingml/2006/main">
            <a:off x="9201150" y="2476500"/>
            <a:ext cx="2190750" cy="0"/>
          </a:xfrm>
          <a:prstGeom xmlns:a="http://schemas.openxmlformats.org/drawingml/2006/main" prst="line">
            <a:avLst/>
          </a:prstGeom>
          <a:noFill xmlns:a="http://schemas.openxmlformats.org/drawingml/2006/main"/>
          <a:ln xmlns:a="http://schemas.openxmlformats.org/drawingml/2006/main" w="19050">
            <a:solidFill>
              <a:srgbClr val="111316"/>
            </a:solidFill>
            <a:prstDash val="solid"/>
          </a:ln>
        </p:spPr>
      </p:sp>
      <p:sp>
        <p:nvSpPr>
          <p:cNvPr id="31" name="step-head-3">
            <a:extLst xmlns:a="http://schemas.openxmlformats.org/drawingml/2006/main">
              <a:ext uri="{FF2B5EF4-FFF2-40B4-BE49-F238E27FC236}">
                <a16:creationId xmlns:a16="http://schemas.microsoft.com/office/drawing/2014/main" id="{2FBB0071-F06D-45E5-BEA8-74231C701861}"/>
              </a:ext>
            </a:extLst>
          </p:cNvPr>
          <p:cNvSpPr>
            <a:spLocks xmlns:a="http://schemas.openxmlformats.org/drawingml/2006/main" noGrp="1"/>
          </p:cNvSpPr>
          <p:nvPr/>
        </p:nvSpPr>
        <p:spPr>
          <a:xfrm xmlns:a="http://schemas.openxmlformats.org/drawingml/2006/main">
            <a:off x="9201150" y="2667000"/>
            <a:ext cx="2190750" cy="55092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00" b="1">
                <a:solidFill>
                  <a:srgbClr val="111316"/>
                </a:solidFill>
                <a:latin typeface="Arial"/>
                <a:ea typeface="Arial"/>
                <a:cs typeface="Arial"/>
              </a:defRPr>
            </a:pPr>
            <a:r>
              <a:rPr sz="1800" b="1">
                <a:solidFill>
                  <a:srgbClr val="111316"/>
                </a:solidFill>
                <a:latin typeface="Arial"/>
                <a:ea typeface="Arial"/>
                <a:cs typeface="Arial"/>
              </a:rPr>
              <a:t>One reproducible script</a:t>
            </a:r>
          </a:p>
        </p:txBody>
      </p:sp>
      <p:sp>
        <p:nvSpPr>
          <p:cNvPr id="32" name="step-body-3">
            <a:extLst xmlns:a="http://schemas.openxmlformats.org/drawingml/2006/main">
              <a:ext uri="{FF2B5EF4-FFF2-40B4-BE49-F238E27FC236}">
                <a16:creationId xmlns:a16="http://schemas.microsoft.com/office/drawing/2014/main" id="{F467B79B-8596-48BB-9305-9C462C9C6BC0}"/>
              </a:ext>
            </a:extLst>
          </p:cNvPr>
          <p:cNvSpPr>
            <a:spLocks xmlns:a="http://schemas.openxmlformats.org/drawingml/2006/main" noGrp="1"/>
          </p:cNvSpPr>
          <p:nvPr/>
        </p:nvSpPr>
        <p:spPr>
          <a:xfrm xmlns:a="http://schemas.openxmlformats.org/drawingml/2006/main">
            <a:off x="9201150" y="3370326"/>
            <a:ext cx="2190750" cy="247802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500" b="0">
                <a:solidFill>
                  <a:srgbClr val="5A5F66"/>
                </a:solidFill>
                <a:latin typeface="Arial"/>
                <a:ea typeface="Arial"/>
                <a:cs typeface="Arial"/>
              </a:defRPr>
            </a:pPr>
            <a:r>
              <a:rPr sz="1500" b="0">
                <a:solidFill>
                  <a:srgbClr val="5A5F66"/>
                </a:solidFill>
                <a:latin typeface="Arial"/>
                <a:ea typeface="Arial"/>
                <a:cs typeface="Arial"/>
              </a:rPr>
              <a:t>Runs top to bottom from a restarted kernel, with your hand-verified constraint table.</a:t>
            </a:r>
          </a:p>
        </p:txBody>
      </p:sp>
    </p:spTree>
    <p:extLst>
      <p:ext uri="{BB962C8B-B14F-4D97-AF65-F5344CB8AC3E}">
        <p14:creationId xmlns:p14="http://schemas.microsoft.com/office/powerpoint/2010/main" val="2031470699"/>
      </p:ext>
    </p:extLst>
  </p:cSld>
</p:sld>
</file>

<file path=ppt/slides/slide3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kicker">
            <a:extLst xmlns:a="http://schemas.openxmlformats.org/drawingml/2006/main">
              <a:ext uri="{FF2B5EF4-FFF2-40B4-BE49-F238E27FC236}">
                <a16:creationId xmlns:a16="http://schemas.microsoft.com/office/drawing/2014/main" id="{1F1E9E7A-0D99-41DD-9EBD-98EE75A54158}"/>
              </a:ext>
            </a:extLst>
          </p:cNvPr>
          <p:cNvSpPr>
            <a:spLocks xmlns:a="http://schemas.openxmlformats.org/drawingml/2006/main" noGrp="1"/>
          </p:cNvSpPr>
          <p:nvPr/>
        </p:nvSpPr>
        <p:spPr>
          <a:xfrm xmlns:a="http://schemas.openxmlformats.org/drawingml/2006/main">
            <a:off x="609600" y="342900"/>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2E74B5"/>
                </a:solidFill>
                <a:latin typeface="Arial"/>
                <a:ea typeface="Arial"/>
                <a:cs typeface="Arial"/>
              </a:defRPr>
            </a:pPr>
            <a:r>
              <a:rPr sz="900" b="1">
                <a:solidFill>
                  <a:srgbClr val="2E74B5"/>
                </a:solidFill>
                <a:latin typeface="Arial"/>
                <a:ea typeface="Arial"/>
                <a:cs typeface="Arial"/>
              </a:rPr>
              <a:t>PRINCIPLE</a:t>
            </a:r>
          </a:p>
        </p:txBody>
      </p:sp>
      <p:sp>
        <p:nvSpPr>
          <p:cNvPr id="2" name="title">
            <a:extLst xmlns:a="http://schemas.openxmlformats.org/drawingml/2006/main">
              <a:ext uri="{FF2B5EF4-FFF2-40B4-BE49-F238E27FC236}">
                <a16:creationId xmlns:a16="http://schemas.microsoft.com/office/drawing/2014/main" id="{C49809A7-595F-424A-BC04-072D992706FC}"/>
              </a:ext>
            </a:extLst>
          </p:cNvPr>
          <p:cNvSpPr>
            <a:spLocks xmlns:a="http://schemas.openxmlformats.org/drawingml/2006/main" noGrp="1"/>
          </p:cNvSpPr>
          <p:nvPr/>
        </p:nvSpPr>
        <p:spPr>
          <a:xfrm xmlns:a="http://schemas.openxmlformats.org/drawingml/2006/main">
            <a:off x="609600" y="60960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3000" b="0">
                <a:solidFill>
                  <a:srgbClr val="111316"/>
                </a:solidFill>
                <a:latin typeface="Arial"/>
                <a:ea typeface="Arial"/>
                <a:cs typeface="Arial"/>
              </a:defRPr>
            </a:pPr>
            <a:r>
              <a:rPr sz="3000" b="0">
                <a:solidFill>
                  <a:srgbClr val="111316"/>
                </a:solidFill>
                <a:latin typeface="Arial"/>
                <a:ea typeface="Arial"/>
                <a:cs typeface="Arial"/>
              </a:rPr>
              <a:t>Preview: next week, no exact guarantee</a:t>
            </a:r>
          </a:p>
        </p:txBody>
      </p:sp>
      <p:sp>
        <p:nvSpPr>
          <p:cNvPr id="3" name="">
            <a:extLst xmlns:a="http://schemas.openxmlformats.org/drawingml/2006/main">
              <a:ext uri="{FF2B5EF4-FFF2-40B4-BE49-F238E27FC236}">
                <a16:creationId xmlns:a16="http://schemas.microsoft.com/office/drawing/2014/main" id="{F6F44205-CDBD-4DA8-B241-BE3CE3E28E13}"/>
              </a:ext>
            </a:extLst>
          </p:cNvPr>
          <p:cNvSpPr>
            <a:spLocks xmlns:a="http://schemas.openxmlformats.org/drawingml/2006/main" noGrp="1"/>
          </p:cNvSpPr>
          <p:nvPr/>
        </p:nvSpPr>
        <p:spPr>
          <a:xfrm xmlns:a="http://schemas.openxmlformats.org/drawingml/2006/main">
            <a:off x="609600" y="6343650"/>
            <a:ext cx="10972800" cy="0"/>
          </a:xfrm>
          <a:prstGeom xmlns:a="http://schemas.openxmlformats.org/drawingml/2006/main" prst="line">
            <a:avLst/>
          </a:prstGeom>
          <a:noFill xmlns:a="http://schemas.openxmlformats.org/drawingml/2006/main"/>
          <a:ln xmlns:a="http://schemas.openxmlformats.org/drawingml/2006/main" w="9525">
            <a:solidFill>
              <a:srgbClr val="DDE0E5"/>
            </a:solidFill>
            <a:prstDash val="solid"/>
          </a:ln>
        </p:spPr>
      </p:sp>
      <p:sp>
        <p:nvSpPr>
          <p:cNvPr id="4" name="footer">
            <a:extLst xmlns:a="http://schemas.openxmlformats.org/drawingml/2006/main">
              <a:ext uri="{FF2B5EF4-FFF2-40B4-BE49-F238E27FC236}">
                <a16:creationId xmlns:a16="http://schemas.microsoft.com/office/drawing/2014/main" id="{DC6A7813-E941-4C2B-B4C5-E8551F52D649}"/>
              </a:ext>
            </a:extLst>
          </p:cNvPr>
          <p:cNvSpPr>
            <a:spLocks xmlns:a="http://schemas.openxmlformats.org/drawingml/2006/main" noGrp="1"/>
          </p:cNvSpPr>
          <p:nvPr/>
        </p:nvSpPr>
        <p:spPr>
          <a:xfrm xmlns:a="http://schemas.openxmlformats.org/drawingml/2006/main">
            <a:off x="609600" y="6429375"/>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ARC 500  ·  Week 10 · Meeting B · Linear Programming Studio</a:t>
            </a:r>
          </a:p>
        </p:txBody>
      </p:sp>
      <p:sp>
        <p:nvSpPr>
          <p:cNvPr id="5" name="page">
            <a:extLst xmlns:a="http://schemas.openxmlformats.org/drawingml/2006/main">
              <a:ext uri="{FF2B5EF4-FFF2-40B4-BE49-F238E27FC236}">
                <a16:creationId xmlns:a16="http://schemas.microsoft.com/office/drawing/2014/main" id="{8475E504-5B75-4960-B13B-8F3CE8046979}"/>
              </a:ext>
            </a:extLst>
          </p:cNvPr>
          <p:cNvSpPr>
            <a:spLocks xmlns:a="http://schemas.openxmlformats.org/drawingml/2006/main" noGrp="1"/>
          </p:cNvSpPr>
          <p:nvPr/>
        </p:nvSpPr>
        <p:spPr>
          <a:xfrm xmlns:a="http://schemas.openxmlformats.org/drawingml/2006/main">
            <a:off x="10896600" y="6429375"/>
            <a:ext cx="685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34</a:t>
            </a:r>
          </a:p>
        </p:txBody>
      </p:sp>
      <p:sp>
        <p:nvSpPr>
          <p:cNvPr id="6" name="statement">
            <a:extLst xmlns:a="http://schemas.openxmlformats.org/drawingml/2006/main">
              <a:ext uri="{FF2B5EF4-FFF2-40B4-BE49-F238E27FC236}">
                <a16:creationId xmlns:a16="http://schemas.microsoft.com/office/drawing/2014/main" id="{466F6689-4613-4E9C-B362-EC31C632425C}"/>
              </a:ext>
            </a:extLst>
          </p:cNvPr>
          <p:cNvSpPr>
            <a:spLocks xmlns:a="http://schemas.openxmlformats.org/drawingml/2006/main" noGrp="1"/>
          </p:cNvSpPr>
          <p:nvPr/>
        </p:nvSpPr>
        <p:spPr>
          <a:xfrm xmlns:a="http://schemas.openxmlformats.org/drawingml/2006/main">
            <a:off x="609600" y="2000250"/>
            <a:ext cx="9829800" cy="205130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3600" b="1">
                <a:solidFill>
                  <a:srgbClr val="111316"/>
                </a:solidFill>
                <a:latin typeface="Arial"/>
                <a:ea typeface="Arial"/>
                <a:cs typeface="Arial"/>
              </a:defRPr>
            </a:pPr>
            <a:r>
              <a:rPr sz="3600" b="1">
                <a:solidFill>
                  <a:srgbClr val="111316"/>
                </a:solidFill>
                <a:latin typeface="Arial"/>
                <a:ea typeface="Arial"/>
                <a:cs typeface="Arial"/>
              </a:rPr>
              <a:t>Week 11's objective curves — the feasible-region guarantee disappears, and minimize must search from a starting guess.</a:t>
            </a:r>
          </a:p>
        </p:txBody>
      </p:sp>
      <p:sp>
        <p:nvSpPr>
          <p:cNvPr id="7" name="">
            <a:extLst xmlns:a="http://schemas.openxmlformats.org/drawingml/2006/main">
              <a:ext uri="{FF2B5EF4-FFF2-40B4-BE49-F238E27FC236}">
                <a16:creationId xmlns:a16="http://schemas.microsoft.com/office/drawing/2014/main" id="{6E7DF410-F466-41E0-8CDC-B4A6362CD80C}"/>
              </a:ext>
            </a:extLst>
          </p:cNvPr>
          <p:cNvSpPr>
            <a:spLocks xmlns:a="http://schemas.openxmlformats.org/drawingml/2006/main" noGrp="1"/>
          </p:cNvSpPr>
          <p:nvPr/>
        </p:nvSpPr>
        <p:spPr>
          <a:xfrm xmlns:a="http://schemas.openxmlformats.org/drawingml/2006/main">
            <a:off x="609600" y="4261104"/>
            <a:ext cx="1600200" cy="0"/>
          </a:xfrm>
          <a:prstGeom xmlns:a="http://schemas.openxmlformats.org/drawingml/2006/main" prst="line">
            <a:avLst/>
          </a:prstGeom>
          <a:noFill xmlns:a="http://schemas.openxmlformats.org/drawingml/2006/main"/>
          <a:ln xmlns:a="http://schemas.openxmlformats.org/drawingml/2006/main" w="47625">
            <a:solidFill>
              <a:srgbClr val="2E74B5"/>
            </a:solidFill>
            <a:prstDash val="solid"/>
          </a:ln>
        </p:spPr>
      </p:sp>
      <p:sp>
        <p:nvSpPr>
          <p:cNvPr id="8" name="supporting">
            <a:extLst xmlns:a="http://schemas.openxmlformats.org/drawingml/2006/main">
              <a:ext uri="{FF2B5EF4-FFF2-40B4-BE49-F238E27FC236}">
                <a16:creationId xmlns:a16="http://schemas.microsoft.com/office/drawing/2014/main" id="{19B8D8CB-4DB7-4AAB-92C1-C20D78601FE5}"/>
              </a:ext>
            </a:extLst>
          </p:cNvPr>
          <p:cNvSpPr>
            <a:spLocks xmlns:a="http://schemas.openxmlformats.org/drawingml/2006/main" noGrp="1"/>
          </p:cNvSpPr>
          <p:nvPr/>
        </p:nvSpPr>
        <p:spPr>
          <a:xfrm xmlns:a="http://schemas.openxmlformats.org/drawingml/2006/main">
            <a:off x="609600" y="4584954"/>
            <a:ext cx="9334500" cy="113690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800" b="0">
                <a:solidFill>
                  <a:srgbClr val="5A5F66"/>
                </a:solidFill>
                <a:latin typeface="Arial"/>
                <a:ea typeface="Arial"/>
                <a:cs typeface="Arial"/>
              </a:defRPr>
            </a:pPr>
            <a:r>
              <a:rPr sz="1800" b="0">
                <a:solidFill>
                  <a:srgbClr val="5A5F66"/>
                </a:solidFill>
                <a:latin typeface="Arial"/>
                <a:ea typeface="Arial"/>
                <a:cs typeface="Arial"/>
              </a:rPr>
              <a:t>Today's linprog returned a globally optimal LP solution to solver tolerances for this feasible bounded model, with no starting guess. Next week, the SAME kind of decision (design variables, an objective, bounds) is solved by a genuinely different method — watch for what changes and what does not.</a:t>
            </a:r>
          </a:p>
        </p:txBody>
      </p:sp>
    </p:spTree>
    <p:extLst>
      <p:ext uri="{BB962C8B-B14F-4D97-AF65-F5344CB8AC3E}">
        <p14:creationId xmlns:p14="http://schemas.microsoft.com/office/powerpoint/2010/main" val="855582786"/>
      </p:ext>
    </p:extLst>
  </p:cSld>
</p:sld>
</file>

<file path=ppt/slides/slide35.xml><?xml version="1.0" encoding="utf-8"?>
<p:sld xmlns:p="http://schemas.openxmlformats.org/presentationml/2006/main">
  <p:cSld>
    <p:bg>
      <p:bgPr>
        <a:solidFill xmlns:a="http://schemas.openxmlformats.org/drawingml/2006/main">
          <a:srgbClr val="17191C"/>
        </a:solidFill>
      </p:bgPr>
    </p:bg>
    <p:spTree>
      <p:nvGrpSpPr>
        <p:cNvPr id="1" name=""/>
        <p:cNvGrpSpPr/>
        <p:nvPr/>
      </p:nvGrpSpPr>
      <p:grpSpPr>
        <a:xfrm xmlns:a="http://schemas.openxmlformats.org/drawingml/2006/main"/>
      </p:grpSpPr>
      <p:sp>
        <p:nvSpPr>
          <p:cNvPr id="12" name="close-week">
            <a:extLst xmlns:a="http://schemas.openxmlformats.org/drawingml/2006/main">
              <a:ext uri="{FF2B5EF4-FFF2-40B4-BE49-F238E27FC236}">
                <a16:creationId xmlns:a16="http://schemas.microsoft.com/office/drawing/2014/main" id="{93124BFD-3C5E-4721-BDBA-74992ADA8276}"/>
              </a:ext>
            </a:extLst>
          </p:cNvPr>
          <p:cNvSpPr>
            <a:spLocks xmlns:a="http://schemas.openxmlformats.org/drawingml/2006/main" noGrp="1"/>
          </p:cNvSpPr>
          <p:nvPr/>
        </p:nvSpPr>
        <p:spPr>
          <a:xfrm xmlns:a="http://schemas.openxmlformats.org/drawingml/2006/main">
            <a:off x="609600" y="457200"/>
            <a:ext cx="723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1200" b="1">
                <a:solidFill>
                  <a:srgbClr val="E8EEF5"/>
                </a:solidFill>
                <a:latin typeface="Arial"/>
                <a:ea typeface="Arial"/>
                <a:cs typeface="Arial"/>
              </a:defRPr>
            </a:pPr>
            <a:r>
              <a:rPr sz="1200" b="1">
                <a:solidFill>
                  <a:srgbClr val="E8EEF5"/>
                </a:solidFill>
                <a:latin typeface="Arial"/>
                <a:ea typeface="Arial"/>
                <a:cs typeface="Arial"/>
              </a:rPr>
              <a:t>WEEK 10 · MEETING B · LINEAR PROGRAMMING STUDIO</a:t>
            </a:r>
          </a:p>
        </p:txBody>
      </p:sp>
      <p:sp>
        <p:nvSpPr>
          <p:cNvPr id="2" name="close-title">
            <a:extLst xmlns:a="http://schemas.openxmlformats.org/drawingml/2006/main">
              <a:ext uri="{FF2B5EF4-FFF2-40B4-BE49-F238E27FC236}">
                <a16:creationId xmlns:a16="http://schemas.microsoft.com/office/drawing/2014/main" id="{5FE9B091-0792-4B9D-8D6F-FE8DB6AC9EE0}"/>
              </a:ext>
            </a:extLst>
          </p:cNvPr>
          <p:cNvSpPr>
            <a:spLocks xmlns:a="http://schemas.openxmlformats.org/drawingml/2006/main" noGrp="1"/>
          </p:cNvSpPr>
          <p:nvPr/>
        </p:nvSpPr>
        <p:spPr>
          <a:xfrm xmlns:a="http://schemas.openxmlformats.org/drawingml/2006/main">
            <a:off x="609600" y="1066800"/>
            <a:ext cx="1097280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3600" b="1">
                <a:solidFill>
                  <a:srgbClr val="FFFFFF"/>
                </a:solidFill>
                <a:latin typeface="Arial"/>
                <a:ea typeface="Arial"/>
                <a:cs typeface="Arial"/>
              </a:defRPr>
            </a:pPr>
            <a:r>
              <a:rPr sz="3600" b="1">
                <a:solidFill>
                  <a:srgbClr val="FFFFFF"/>
                </a:solidFill>
                <a:latin typeface="Arial"/>
                <a:ea typeface="Arial"/>
                <a:cs typeface="Arial"/>
              </a:rPr>
              <a:t>Formulate, solve, verify — in that order, every time</a:t>
            </a:r>
          </a:p>
        </p:txBody>
      </p:sp>
      <p:sp>
        <p:nvSpPr>
          <p:cNvPr id="3" name="">
            <a:extLst xmlns:a="http://schemas.openxmlformats.org/drawingml/2006/main">
              <a:ext uri="{FF2B5EF4-FFF2-40B4-BE49-F238E27FC236}">
                <a16:creationId xmlns:a16="http://schemas.microsoft.com/office/drawing/2014/main" id="{B5C5F3AF-0EFE-4206-8E6D-9C57C785E61B}"/>
              </a:ext>
            </a:extLst>
          </p:cNvPr>
          <p:cNvSpPr>
            <a:spLocks xmlns:a="http://schemas.openxmlformats.org/drawingml/2006/main" noGrp="1"/>
          </p:cNvSpPr>
          <p:nvPr/>
        </p:nvSpPr>
        <p:spPr>
          <a:xfrm xmlns:a="http://schemas.openxmlformats.org/drawingml/2006/main">
            <a:off x="609600" y="2324100"/>
            <a:ext cx="1600200" cy="0"/>
          </a:xfrm>
          <a:prstGeom xmlns:a="http://schemas.openxmlformats.org/drawingml/2006/main" prst="line">
            <a:avLst/>
          </a:prstGeom>
          <a:noFill xmlns:a="http://schemas.openxmlformats.org/drawingml/2006/main"/>
          <a:ln xmlns:a="http://schemas.openxmlformats.org/drawingml/2006/main" w="47625">
            <a:solidFill>
              <a:srgbClr val="2E74B5"/>
            </a:solidFill>
            <a:prstDash val="solid"/>
          </a:ln>
        </p:spPr>
      </p:sp>
      <p:sp>
        <p:nvSpPr>
          <p:cNvPr id="4" name="take-no-0">
            <a:extLst xmlns:a="http://schemas.openxmlformats.org/drawingml/2006/main">
              <a:ext uri="{FF2B5EF4-FFF2-40B4-BE49-F238E27FC236}">
                <a16:creationId xmlns:a16="http://schemas.microsoft.com/office/drawing/2014/main" id="{38F3C750-3774-4D93-BB72-D99E841D096C}"/>
              </a:ext>
            </a:extLst>
          </p:cNvPr>
          <p:cNvSpPr>
            <a:spLocks xmlns:a="http://schemas.openxmlformats.org/drawingml/2006/main" noGrp="1"/>
          </p:cNvSpPr>
          <p:nvPr/>
        </p:nvSpPr>
        <p:spPr>
          <a:xfrm xmlns:a="http://schemas.openxmlformats.org/drawingml/2006/main">
            <a:off x="609600" y="2743200"/>
            <a:ext cx="5524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E8EEF5"/>
                </a:solidFill>
                <a:latin typeface="Arial"/>
                <a:ea typeface="Arial"/>
                <a:cs typeface="Arial"/>
              </a:defRPr>
            </a:pPr>
            <a:r>
              <a:rPr sz="900" b="1">
                <a:solidFill>
                  <a:srgbClr val="E8EEF5"/>
                </a:solidFill>
                <a:latin typeface="Arial"/>
                <a:ea typeface="Arial"/>
                <a:cs typeface="Arial"/>
              </a:rPr>
              <a:t>01</a:t>
            </a:r>
          </a:p>
        </p:txBody>
      </p:sp>
      <p:sp>
        <p:nvSpPr>
          <p:cNvPr id="5" name="take-0">
            <a:extLst xmlns:a="http://schemas.openxmlformats.org/drawingml/2006/main">
              <a:ext uri="{FF2B5EF4-FFF2-40B4-BE49-F238E27FC236}">
                <a16:creationId xmlns:a16="http://schemas.microsoft.com/office/drawing/2014/main" id="{4EA2649C-2CDB-445D-B683-5CCA2AE98934}"/>
              </a:ext>
            </a:extLst>
          </p:cNvPr>
          <p:cNvSpPr>
            <a:spLocks xmlns:a="http://schemas.openxmlformats.org/drawingml/2006/main" noGrp="1"/>
          </p:cNvSpPr>
          <p:nvPr/>
        </p:nvSpPr>
        <p:spPr>
          <a:xfrm xmlns:a="http://schemas.openxmlformats.org/drawingml/2006/main">
            <a:off x="1409700" y="2705100"/>
            <a:ext cx="10172700" cy="69037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100" b="0">
                <a:solidFill>
                  <a:srgbClr val="FFFFFF"/>
                </a:solidFill>
                <a:latin typeface="Arial"/>
                <a:ea typeface="Arial"/>
                <a:cs typeface="Arial"/>
              </a:defRPr>
            </a:pPr>
            <a:r>
              <a:rPr sz="2100" b="0">
                <a:solidFill>
                  <a:srgbClr val="FFFFFF"/>
                </a:solidFill>
                <a:latin typeface="Arial"/>
                <a:ea typeface="Arial"/>
                <a:cs typeface="Arial"/>
              </a:rPr>
              <a:t>linprog needs the correct sign on c — forgetting to negate a maximize objective silently returns 'do nothing,' with res.success still True.</a:t>
            </a:r>
          </a:p>
        </p:txBody>
      </p:sp>
      <p:sp>
        <p:nvSpPr>
          <p:cNvPr id="6" name="take-no-1">
            <a:extLst xmlns:a="http://schemas.openxmlformats.org/drawingml/2006/main">
              <a:ext uri="{FF2B5EF4-FFF2-40B4-BE49-F238E27FC236}">
                <a16:creationId xmlns:a16="http://schemas.microsoft.com/office/drawing/2014/main" id="{0364BFA5-6E39-4DAE-9A7A-0BCA05325FC4}"/>
              </a:ext>
            </a:extLst>
          </p:cNvPr>
          <p:cNvSpPr>
            <a:spLocks xmlns:a="http://schemas.openxmlformats.org/drawingml/2006/main" noGrp="1"/>
          </p:cNvSpPr>
          <p:nvPr/>
        </p:nvSpPr>
        <p:spPr>
          <a:xfrm xmlns:a="http://schemas.openxmlformats.org/drawingml/2006/main">
            <a:off x="609600" y="3528822"/>
            <a:ext cx="5524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E8EEF5"/>
                </a:solidFill>
                <a:latin typeface="Arial"/>
                <a:ea typeface="Arial"/>
                <a:cs typeface="Arial"/>
              </a:defRPr>
            </a:pPr>
            <a:r>
              <a:rPr sz="900" b="1">
                <a:solidFill>
                  <a:srgbClr val="E8EEF5"/>
                </a:solidFill>
                <a:latin typeface="Arial"/>
                <a:ea typeface="Arial"/>
                <a:cs typeface="Arial"/>
              </a:rPr>
              <a:t>02</a:t>
            </a:r>
          </a:p>
        </p:txBody>
      </p:sp>
      <p:sp>
        <p:nvSpPr>
          <p:cNvPr id="7" name="take-1">
            <a:extLst xmlns:a="http://schemas.openxmlformats.org/drawingml/2006/main">
              <a:ext uri="{FF2B5EF4-FFF2-40B4-BE49-F238E27FC236}">
                <a16:creationId xmlns:a16="http://schemas.microsoft.com/office/drawing/2014/main" id="{1A868860-A6ED-465F-93C8-0423CC162227}"/>
              </a:ext>
            </a:extLst>
          </p:cNvPr>
          <p:cNvSpPr>
            <a:spLocks xmlns:a="http://schemas.openxmlformats.org/drawingml/2006/main" noGrp="1"/>
          </p:cNvSpPr>
          <p:nvPr/>
        </p:nvSpPr>
        <p:spPr>
          <a:xfrm xmlns:a="http://schemas.openxmlformats.org/drawingml/2006/main">
            <a:off x="1409700" y="3490722"/>
            <a:ext cx="10172700" cy="69037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100" b="0">
                <a:solidFill>
                  <a:srgbClr val="FFFFFF"/>
                </a:solidFill>
                <a:latin typeface="Arial"/>
                <a:ea typeface="Arial"/>
                <a:cs typeface="Arial"/>
              </a:defRPr>
            </a:pPr>
            <a:r>
              <a:rPr sz="2100" b="0">
                <a:solidFill>
                  <a:srgbClr val="FFFFFF"/>
                </a:solidFill>
                <a:latin typeface="Arial"/>
                <a:ea typeface="Arial"/>
                <a:cs typeface="Arial"/>
              </a:rPr>
              <a:t>res.success == True proves the solver found an optimum of what you typed — never skip hand-verifying every constraint yourself.</a:t>
            </a:r>
          </a:p>
        </p:txBody>
      </p:sp>
      <p:sp>
        <p:nvSpPr>
          <p:cNvPr id="8" name="take-no-2">
            <a:extLst xmlns:a="http://schemas.openxmlformats.org/drawingml/2006/main">
              <a:ext uri="{FF2B5EF4-FFF2-40B4-BE49-F238E27FC236}">
                <a16:creationId xmlns:a16="http://schemas.microsoft.com/office/drawing/2014/main" id="{9999C994-4049-4E37-BE88-663F8D18C92F}"/>
              </a:ext>
            </a:extLst>
          </p:cNvPr>
          <p:cNvSpPr>
            <a:spLocks xmlns:a="http://schemas.openxmlformats.org/drawingml/2006/main" noGrp="1"/>
          </p:cNvSpPr>
          <p:nvPr/>
        </p:nvSpPr>
        <p:spPr>
          <a:xfrm xmlns:a="http://schemas.openxmlformats.org/drawingml/2006/main">
            <a:off x="609600" y="4314444"/>
            <a:ext cx="5524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E8EEF5"/>
                </a:solidFill>
                <a:latin typeface="Arial"/>
                <a:ea typeface="Arial"/>
                <a:cs typeface="Arial"/>
              </a:defRPr>
            </a:pPr>
            <a:r>
              <a:rPr sz="900" b="1">
                <a:solidFill>
                  <a:srgbClr val="E8EEF5"/>
                </a:solidFill>
                <a:latin typeface="Arial"/>
                <a:ea typeface="Arial"/>
                <a:cs typeface="Arial"/>
              </a:rPr>
              <a:t>03</a:t>
            </a:r>
          </a:p>
        </p:txBody>
      </p:sp>
      <p:sp>
        <p:nvSpPr>
          <p:cNvPr id="9" name="take-2">
            <a:extLst xmlns:a="http://schemas.openxmlformats.org/drawingml/2006/main">
              <a:ext uri="{FF2B5EF4-FFF2-40B4-BE49-F238E27FC236}">
                <a16:creationId xmlns:a16="http://schemas.microsoft.com/office/drawing/2014/main" id="{DC8BEC47-2FF0-4E83-97FF-94116AC44799}"/>
              </a:ext>
            </a:extLst>
          </p:cNvPr>
          <p:cNvSpPr>
            <a:spLocks xmlns:a="http://schemas.openxmlformats.org/drawingml/2006/main" noGrp="1"/>
          </p:cNvSpPr>
          <p:nvPr/>
        </p:nvSpPr>
        <p:spPr>
          <a:xfrm xmlns:a="http://schemas.openxmlformats.org/drawingml/2006/main">
            <a:off x="1409700" y="4276344"/>
            <a:ext cx="10172700" cy="97840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100" b="0">
                <a:solidFill>
                  <a:srgbClr val="FFFFFF"/>
                </a:solidFill>
                <a:latin typeface="Arial"/>
                <a:ea typeface="Arial"/>
                <a:cs typeface="Arial"/>
              </a:defRPr>
            </a:pPr>
            <a:r>
              <a:rPr sz="2100" b="0">
                <a:solidFill>
                  <a:srgbClr val="FFFFFF"/>
                </a:solidFill>
                <a:latin typeface="Arial"/>
                <a:ea typeface="Arial"/>
                <a:cs typeface="Arial"/>
              </a:rPr>
              <a:t>Radley Hall's roof rewards a mixed strategy ($7,800/yr) over either 'obvious' pure one ($7,200 or $5,000/yr) — formulating beats guessing.</a:t>
            </a:r>
          </a:p>
        </p:txBody>
      </p:sp>
      <p:sp>
        <p:nvSpPr>
          <p:cNvPr id="10" name="take-no-3">
            <a:extLst xmlns:a="http://schemas.openxmlformats.org/drawingml/2006/main">
              <a:ext uri="{FF2B5EF4-FFF2-40B4-BE49-F238E27FC236}">
                <a16:creationId xmlns:a16="http://schemas.microsoft.com/office/drawing/2014/main" id="{6EB0B02A-8B22-4A39-BC4D-7C729A2F410E}"/>
              </a:ext>
            </a:extLst>
          </p:cNvPr>
          <p:cNvSpPr>
            <a:spLocks xmlns:a="http://schemas.openxmlformats.org/drawingml/2006/main" noGrp="1"/>
          </p:cNvSpPr>
          <p:nvPr/>
        </p:nvSpPr>
        <p:spPr>
          <a:xfrm xmlns:a="http://schemas.openxmlformats.org/drawingml/2006/main">
            <a:off x="609600" y="5388102"/>
            <a:ext cx="5524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E8EEF5"/>
                </a:solidFill>
                <a:latin typeface="Arial"/>
                <a:ea typeface="Arial"/>
                <a:cs typeface="Arial"/>
              </a:defRPr>
            </a:pPr>
            <a:r>
              <a:rPr sz="900" b="1">
                <a:solidFill>
                  <a:srgbClr val="E8EEF5"/>
                </a:solidFill>
                <a:latin typeface="Arial"/>
                <a:ea typeface="Arial"/>
                <a:cs typeface="Arial"/>
              </a:rPr>
              <a:t>04</a:t>
            </a:r>
          </a:p>
        </p:txBody>
      </p:sp>
      <p:sp>
        <p:nvSpPr>
          <p:cNvPr id="11" name="take-3">
            <a:extLst xmlns:a="http://schemas.openxmlformats.org/drawingml/2006/main">
              <a:ext uri="{FF2B5EF4-FFF2-40B4-BE49-F238E27FC236}">
                <a16:creationId xmlns:a16="http://schemas.microsoft.com/office/drawing/2014/main" id="{0871C167-260D-432D-89F1-968B12342193}"/>
              </a:ext>
            </a:extLst>
          </p:cNvPr>
          <p:cNvSpPr>
            <a:spLocks xmlns:a="http://schemas.openxmlformats.org/drawingml/2006/main" noGrp="1"/>
          </p:cNvSpPr>
          <p:nvPr/>
        </p:nvSpPr>
        <p:spPr>
          <a:xfrm xmlns:a="http://schemas.openxmlformats.org/drawingml/2006/main">
            <a:off x="1409700" y="5350002"/>
            <a:ext cx="10172700" cy="97840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100" b="0">
                <a:solidFill>
                  <a:srgbClr val="FFFFFF"/>
                </a:solidFill>
                <a:latin typeface="Arial"/>
                <a:ea typeface="Arial"/>
                <a:cs typeface="Arial"/>
              </a:defRPr>
            </a:pPr>
            <a:r>
              <a:rPr sz="2100" b="0">
                <a:solidFill>
                  <a:srgbClr val="FFFFFF"/>
                </a:solidFill>
                <a:latin typeface="Arial"/>
                <a:ea typeface="Arial"/>
                <a:cs typeface="Arial"/>
              </a:rPr>
              <a:t>Today's studio — formulate, solve, and verify your own Project 2 linear sub-problem — IS this week's milestone, not an additional task.</a:t>
            </a:r>
          </a:p>
        </p:txBody>
      </p:sp>
    </p:spTree>
    <p:extLst>
      <p:ext uri="{BB962C8B-B14F-4D97-AF65-F5344CB8AC3E}">
        <p14:creationId xmlns:p14="http://schemas.microsoft.com/office/powerpoint/2010/main" val="1365088308"/>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2026-08-20T17:30:45.1510000Z</dcterms:created>
  <dcterms:modified xsi:type="dcterms:W3CDTF">2026-08-20T17:30:45.1510000Z</dcterms:modified>
</coreProperties>
</file>