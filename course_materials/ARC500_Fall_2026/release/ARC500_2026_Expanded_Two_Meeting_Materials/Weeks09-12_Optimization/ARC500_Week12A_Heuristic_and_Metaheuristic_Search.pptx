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slides/charts/chart1.xml" ContentType="application/vnd.openxmlformats-officedocument.drawingml.chart+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2047f42cca4f7b" /><Relationship Type="http://schemas.openxmlformats.org/officeDocument/2006/relationships/extended-properties" Target="/docProps/app.xml" Id="R12fd9da6e7be4cc3" /><Relationship Type="http://schemas.openxmlformats.org/officeDocument/2006/relationships/officeDocument" Target="/ppt/presentation.xml" Id="R603d62d018d44a12" /></Relationships>
</file>

<file path=ppt/presentation.xml><?xml version="1.0" encoding="utf-8"?>
<p:presentation xmlns:p="http://schemas.openxmlformats.org/presentationml/2006/main">
  <p:sldMasterIdLst>
    <p:sldMasterId xmlns:r="http://schemas.openxmlformats.org/officeDocument/2006/relationships" id="2147483648" r:id="R9c1b15b0a3d94e43"/>
  </p:sldMasterIdLst>
  <p:notesMasterIdLst>
    <p:notesMasterId xmlns:r="http://schemas.openxmlformats.org/officeDocument/2006/relationships" r:id="Rd614f5d7669841a0"/>
  </p:notesMasterIdLst>
  <p:sldIdLst>
    <p:sldId xmlns:r="http://schemas.openxmlformats.org/officeDocument/2006/relationships" id="256" r:id="Rc4d260cabb654381"/>
    <p:sldId xmlns:r="http://schemas.openxmlformats.org/officeDocument/2006/relationships" id="257" r:id="Ra76308f755504482"/>
    <p:sldId xmlns:r="http://schemas.openxmlformats.org/officeDocument/2006/relationships" id="258" r:id="R68e95738caf742cf"/>
    <p:sldId xmlns:r="http://schemas.openxmlformats.org/officeDocument/2006/relationships" id="259" r:id="Rcb6c04d199444a1d"/>
    <p:sldId xmlns:r="http://schemas.openxmlformats.org/officeDocument/2006/relationships" id="260" r:id="R617a04c75d7f4e33"/>
    <p:sldId xmlns:r="http://schemas.openxmlformats.org/officeDocument/2006/relationships" id="261" r:id="R8f437b7dc4014875"/>
    <p:sldId xmlns:r="http://schemas.openxmlformats.org/officeDocument/2006/relationships" id="262" r:id="Rfc04d582c65f4f0f"/>
    <p:sldId xmlns:r="http://schemas.openxmlformats.org/officeDocument/2006/relationships" id="263" r:id="R6fd7a0a021544475"/>
    <p:sldId xmlns:r="http://schemas.openxmlformats.org/officeDocument/2006/relationships" id="264" r:id="Ra29c0e380a454c7e"/>
    <p:sldId xmlns:r="http://schemas.openxmlformats.org/officeDocument/2006/relationships" id="265" r:id="R3c8571f1f1d44bfa"/>
    <p:sldId xmlns:r="http://schemas.openxmlformats.org/officeDocument/2006/relationships" id="266" r:id="R9a16d10efd6f439d"/>
    <p:sldId xmlns:r="http://schemas.openxmlformats.org/officeDocument/2006/relationships" id="267" r:id="Rbcc46d55d5f5419d"/>
    <p:sldId xmlns:r="http://schemas.openxmlformats.org/officeDocument/2006/relationships" id="268" r:id="R6149cbd1e8854488"/>
    <p:sldId xmlns:r="http://schemas.openxmlformats.org/officeDocument/2006/relationships" id="269" r:id="R0f7001b29af54a8e"/>
    <p:sldId xmlns:r="http://schemas.openxmlformats.org/officeDocument/2006/relationships" id="270" r:id="Re28c91a818e84b29"/>
    <p:sldId xmlns:r="http://schemas.openxmlformats.org/officeDocument/2006/relationships" id="271" r:id="Redb4e6c13f2d46e4"/>
    <p:sldId xmlns:r="http://schemas.openxmlformats.org/officeDocument/2006/relationships" id="272" r:id="R5c979e89b7c64393"/>
    <p:sldId xmlns:r="http://schemas.openxmlformats.org/officeDocument/2006/relationships" id="273" r:id="Rd774eacd014041ab"/>
    <p:sldId xmlns:r="http://schemas.openxmlformats.org/officeDocument/2006/relationships" id="274" r:id="Rb886c0d294a6470a"/>
    <p:sldId xmlns:r="http://schemas.openxmlformats.org/officeDocument/2006/relationships" id="275" r:id="R996515623c2f4e8f"/>
    <p:sldId xmlns:r="http://schemas.openxmlformats.org/officeDocument/2006/relationships" id="276" r:id="Re4e73c2dd63d45aa"/>
    <p:sldId xmlns:r="http://schemas.openxmlformats.org/officeDocument/2006/relationships" id="277" r:id="R6e055d716b7543c8"/>
    <p:sldId xmlns:r="http://schemas.openxmlformats.org/officeDocument/2006/relationships" id="278" r:id="R2fe03e6b3f164496"/>
    <p:sldId xmlns:r="http://schemas.openxmlformats.org/officeDocument/2006/relationships" id="279" r:id="Rb8ff8a129adf4456"/>
    <p:sldId xmlns:r="http://schemas.openxmlformats.org/officeDocument/2006/relationships" id="280" r:id="R2847ec9899824752"/>
    <p:sldId xmlns:r="http://schemas.openxmlformats.org/officeDocument/2006/relationships" id="281" r:id="R56eefbaf2b4140e9"/>
    <p:sldId xmlns:r="http://schemas.openxmlformats.org/officeDocument/2006/relationships" id="282" r:id="Ra809308b1c0047ff"/>
    <p:sldId xmlns:r="http://schemas.openxmlformats.org/officeDocument/2006/relationships" id="283" r:id="R39dbc13f180b46e9"/>
    <p:sldId xmlns:r="http://schemas.openxmlformats.org/officeDocument/2006/relationships" id="284" r:id="Re4827d060885409d"/>
    <p:sldId xmlns:r="http://schemas.openxmlformats.org/officeDocument/2006/relationships" id="285" r:id="R8b97f054f90c4d66"/>
    <p:sldId xmlns:r="http://schemas.openxmlformats.org/officeDocument/2006/relationships" id="286" r:id="Rcfc8ede4507d4f83"/>
    <p:sldId xmlns:r="http://schemas.openxmlformats.org/officeDocument/2006/relationships" id="287" r:id="R3851a448e9694729"/>
    <p:sldId xmlns:r="http://schemas.openxmlformats.org/officeDocument/2006/relationships" id="288" r:id="R741be186f0634a4b"/>
    <p:sldId xmlns:r="http://schemas.openxmlformats.org/officeDocument/2006/relationships" id="289" r:id="Rb2c8f846da3c4428"/>
    <p:sldId xmlns:r="http://schemas.openxmlformats.org/officeDocument/2006/relationships" id="290" r:id="R1c44593f57a44d57"/>
    <p:sldId xmlns:r="http://schemas.openxmlformats.org/officeDocument/2006/relationships" id="291" r:id="R87e7ae1b22f4485a"/>
    <p:sldId xmlns:r="http://schemas.openxmlformats.org/officeDocument/2006/relationships" id="292" r:id="R3f7ceac4f2e147e4"/>
    <p:sldId xmlns:r="http://schemas.openxmlformats.org/officeDocument/2006/relationships" id="293" r:id="R1d4f8acf876e40c4"/>
    <p:sldId xmlns:r="http://schemas.openxmlformats.org/officeDocument/2006/relationships" id="294" r:id="Re455401e23684f23"/>
    <p:sldId xmlns:r="http://schemas.openxmlformats.org/officeDocument/2006/relationships" id="295" r:id="R7f8c952982ad4a2f"/>
    <p:sldId xmlns:r="http://schemas.openxmlformats.org/officeDocument/2006/relationships" id="296" r:id="Ra5ceb41267cb4c56"/>
    <p:sldId xmlns:r="http://schemas.openxmlformats.org/officeDocument/2006/relationships" id="297" r:id="R792deabfc59d4816"/>
    <p:sldId xmlns:r="http://schemas.openxmlformats.org/officeDocument/2006/relationships" id="298" r:id="R16e0dd7a904c44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59008a5e11c4cbd" /><Relationship Type="http://schemas.openxmlformats.org/officeDocument/2006/relationships/slideMaster" Target="/ppt/slideMasters/slideMaster1.xml" Id="R9c1b15b0a3d94e43" /><Relationship Type="http://schemas.openxmlformats.org/officeDocument/2006/relationships/notesMaster" Target="/ppt/notesMasters/notesMaster1.xml" Id="Rd614f5d7669841a0" /><Relationship Type="http://schemas.openxmlformats.org/officeDocument/2006/relationships/presProps" Target="/ppt/presProps.xml" Id="R367fde5e5c894118" /><Relationship Type="http://schemas.openxmlformats.org/officeDocument/2006/relationships/tableStyles" Target="/ppt/tableStyles.xml" Id="R81026a1aceae4102" /><Relationship Type="http://schemas.openxmlformats.org/officeDocument/2006/relationships/slide" Target="/ppt/slides/slide1.xml" Id="Rc4d260cabb654381" /><Relationship Type="http://schemas.openxmlformats.org/officeDocument/2006/relationships/slide" Target="/ppt/slides/slide2.xml" Id="Ra76308f755504482" /><Relationship Type="http://schemas.openxmlformats.org/officeDocument/2006/relationships/slide" Target="/ppt/slides/slide3.xml" Id="R68e95738caf742cf" /><Relationship Type="http://schemas.openxmlformats.org/officeDocument/2006/relationships/slide" Target="/ppt/slides/slide4.xml" Id="Rcb6c04d199444a1d" /><Relationship Type="http://schemas.openxmlformats.org/officeDocument/2006/relationships/slide" Target="/ppt/slides/slide5.xml" Id="R617a04c75d7f4e33" /><Relationship Type="http://schemas.openxmlformats.org/officeDocument/2006/relationships/slide" Target="/ppt/slides/slide6.xml" Id="R8f437b7dc4014875" /><Relationship Type="http://schemas.openxmlformats.org/officeDocument/2006/relationships/slide" Target="/ppt/slides/slide7.xml" Id="Rfc04d582c65f4f0f" /><Relationship Type="http://schemas.openxmlformats.org/officeDocument/2006/relationships/slide" Target="/ppt/slides/slide8.xml" Id="R6fd7a0a021544475" /><Relationship Type="http://schemas.openxmlformats.org/officeDocument/2006/relationships/slide" Target="/ppt/slides/slide9.xml" Id="Ra29c0e380a454c7e" /><Relationship Type="http://schemas.openxmlformats.org/officeDocument/2006/relationships/slide" Target="/ppt/slides/slide10.xml" Id="R3c8571f1f1d44bfa" /><Relationship Type="http://schemas.openxmlformats.org/officeDocument/2006/relationships/slide" Target="/ppt/slides/slide11.xml" Id="R9a16d10efd6f439d" /><Relationship Type="http://schemas.openxmlformats.org/officeDocument/2006/relationships/slide" Target="/ppt/slides/slide12.xml" Id="Rbcc46d55d5f5419d" /><Relationship Type="http://schemas.openxmlformats.org/officeDocument/2006/relationships/slide" Target="/ppt/slides/slide13.xml" Id="R6149cbd1e8854488" /><Relationship Type="http://schemas.openxmlformats.org/officeDocument/2006/relationships/slide" Target="/ppt/slides/slide14.xml" Id="R0f7001b29af54a8e" /><Relationship Type="http://schemas.openxmlformats.org/officeDocument/2006/relationships/slide" Target="/ppt/slides/slide15.xml" Id="Re28c91a818e84b29" /><Relationship Type="http://schemas.openxmlformats.org/officeDocument/2006/relationships/slide" Target="/ppt/slides/slide16.xml" Id="Redb4e6c13f2d46e4" /><Relationship Type="http://schemas.openxmlformats.org/officeDocument/2006/relationships/slide" Target="/ppt/slides/slide17.xml" Id="R5c979e89b7c64393" /><Relationship Type="http://schemas.openxmlformats.org/officeDocument/2006/relationships/slide" Target="/ppt/slides/slide18.xml" Id="Rd774eacd014041ab" /><Relationship Type="http://schemas.openxmlformats.org/officeDocument/2006/relationships/slide" Target="/ppt/slides/slide19.xml" Id="Rb886c0d294a6470a" /><Relationship Type="http://schemas.openxmlformats.org/officeDocument/2006/relationships/slide" Target="/ppt/slides/slide20.xml" Id="R996515623c2f4e8f" /><Relationship Type="http://schemas.openxmlformats.org/officeDocument/2006/relationships/slide" Target="/ppt/slides/slide21.xml" Id="Re4e73c2dd63d45aa" /><Relationship Type="http://schemas.openxmlformats.org/officeDocument/2006/relationships/slide" Target="/ppt/slides/slide22.xml" Id="R6e055d716b7543c8" /><Relationship Type="http://schemas.openxmlformats.org/officeDocument/2006/relationships/slide" Target="/ppt/slides/slide23.xml" Id="R2fe03e6b3f164496" /><Relationship Type="http://schemas.openxmlformats.org/officeDocument/2006/relationships/slide" Target="/ppt/slides/slide24.xml" Id="Rb8ff8a129adf4456" /><Relationship Type="http://schemas.openxmlformats.org/officeDocument/2006/relationships/slide" Target="/ppt/slides/slide25.xml" Id="R2847ec9899824752" /><Relationship Type="http://schemas.openxmlformats.org/officeDocument/2006/relationships/slide" Target="/ppt/slides/slide26.xml" Id="R56eefbaf2b4140e9" /><Relationship Type="http://schemas.openxmlformats.org/officeDocument/2006/relationships/slide" Target="/ppt/slides/slide27.xml" Id="Ra809308b1c0047ff" /><Relationship Type="http://schemas.openxmlformats.org/officeDocument/2006/relationships/slide" Target="/ppt/slides/slide28.xml" Id="R39dbc13f180b46e9" /><Relationship Type="http://schemas.openxmlformats.org/officeDocument/2006/relationships/slide" Target="/ppt/slides/slide29.xml" Id="Re4827d060885409d" /><Relationship Type="http://schemas.openxmlformats.org/officeDocument/2006/relationships/slide" Target="/ppt/slides/slide30.xml" Id="R8b97f054f90c4d66" /><Relationship Type="http://schemas.openxmlformats.org/officeDocument/2006/relationships/slide" Target="/ppt/slides/slide31.xml" Id="Rcfc8ede4507d4f83" /><Relationship Type="http://schemas.openxmlformats.org/officeDocument/2006/relationships/slide" Target="/ppt/slides/slide32.xml" Id="R3851a448e9694729" /><Relationship Type="http://schemas.openxmlformats.org/officeDocument/2006/relationships/slide" Target="/ppt/slides/slide33.xml" Id="R741be186f0634a4b" /><Relationship Type="http://schemas.openxmlformats.org/officeDocument/2006/relationships/slide" Target="/ppt/slides/slide34.xml" Id="Rb2c8f846da3c4428" /><Relationship Type="http://schemas.openxmlformats.org/officeDocument/2006/relationships/slide" Target="/ppt/slides/slide35.xml" Id="R1c44593f57a44d57" /><Relationship Type="http://schemas.openxmlformats.org/officeDocument/2006/relationships/slide" Target="/ppt/slides/slide36.xml" Id="R87e7ae1b22f4485a" /><Relationship Type="http://schemas.openxmlformats.org/officeDocument/2006/relationships/slide" Target="/ppt/slides/slide37.xml" Id="R3f7ceac4f2e147e4" /><Relationship Type="http://schemas.openxmlformats.org/officeDocument/2006/relationships/slide" Target="/ppt/slides/slide38.xml" Id="R1d4f8acf876e40c4" /><Relationship Type="http://schemas.openxmlformats.org/officeDocument/2006/relationships/slide" Target="/ppt/slides/slide39.xml" Id="Re455401e23684f23" /><Relationship Type="http://schemas.openxmlformats.org/officeDocument/2006/relationships/slide" Target="/ppt/slides/slide40.xml" Id="R7f8c952982ad4a2f" /><Relationship Type="http://schemas.openxmlformats.org/officeDocument/2006/relationships/slide" Target="/ppt/slides/slide41.xml" Id="Ra5ceb41267cb4c56" /><Relationship Type="http://schemas.openxmlformats.org/officeDocument/2006/relationships/slide" Target="/ppt/slides/slide42.xml" Id="R792deabfc59d4816" /><Relationship Type="http://schemas.openxmlformats.org/officeDocument/2006/relationships/slide" Target="/ppt/slides/slide43.xml" Id="R16e0dd7a904c44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e468df36e349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8bd093bd6642b0" /><Relationship Type="http://schemas.openxmlformats.org/officeDocument/2006/relationships/notesMaster" Target="/ppt/notesMasters/notesMaster1.xml" Id="Rf155c139171042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1e3c6136c64ff7" /><Relationship Type="http://schemas.openxmlformats.org/officeDocument/2006/relationships/notesMaster" Target="/ppt/notesMasters/notesMaster1.xml" Id="Rf3883ed568bd45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a7a5d8c7e7452a" /><Relationship Type="http://schemas.openxmlformats.org/officeDocument/2006/relationships/notesMaster" Target="/ppt/notesMasters/notesMaster1.xml" Id="R08b8b3e5e56646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fa45a5f6c06468d" /><Relationship Type="http://schemas.openxmlformats.org/officeDocument/2006/relationships/notesMaster" Target="/ppt/notesMasters/notesMaster1.xml" Id="R71b1c22fa0df4e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31c4d8ba0b54dd7" /><Relationship Type="http://schemas.openxmlformats.org/officeDocument/2006/relationships/notesMaster" Target="/ppt/notesMasters/notesMaster1.xml" Id="Rf53fbe7654e643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cf742aca944eca" /><Relationship Type="http://schemas.openxmlformats.org/officeDocument/2006/relationships/notesMaster" Target="/ppt/notesMasters/notesMaster1.xml" Id="R438b7b2cb93749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6a3f18710f4e8f" /><Relationship Type="http://schemas.openxmlformats.org/officeDocument/2006/relationships/notesMaster" Target="/ppt/notesMasters/notesMaster1.xml" Id="Rf198eed856db4b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32e5bac97144cf" /><Relationship Type="http://schemas.openxmlformats.org/officeDocument/2006/relationships/notesMaster" Target="/ppt/notesMasters/notesMaster1.xml" Id="R2f317dce13ef4c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407426b5474884" /><Relationship Type="http://schemas.openxmlformats.org/officeDocument/2006/relationships/notesMaster" Target="/ppt/notesMasters/notesMaster1.xml" Id="R2b5490ed53f84c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f003a88847c491f" /><Relationship Type="http://schemas.openxmlformats.org/officeDocument/2006/relationships/notesMaster" Target="/ppt/notesMasters/notesMaster1.xml" Id="Rbcb617273cad459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776c91a057444e1" /><Relationship Type="http://schemas.openxmlformats.org/officeDocument/2006/relationships/notesMaster" Target="/ppt/notesMasters/notesMaster1.xml" Id="R1fca654aa1a2443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07effa7daf94ce5" /><Relationship Type="http://schemas.openxmlformats.org/officeDocument/2006/relationships/notesMaster" Target="/ppt/notesMasters/notesMaster1.xml" Id="R9212f0664fd5432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66c0af3855949f3" /><Relationship Type="http://schemas.openxmlformats.org/officeDocument/2006/relationships/notesMaster" Target="/ppt/notesMasters/notesMaster1.xml" Id="R6a9150077e8b494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4c034ce718d4870" /><Relationship Type="http://schemas.openxmlformats.org/officeDocument/2006/relationships/notesMaster" Target="/ppt/notesMasters/notesMaster1.xml" Id="Rd49220684b32431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4ce6236a50a4034" /><Relationship Type="http://schemas.openxmlformats.org/officeDocument/2006/relationships/notesMaster" Target="/ppt/notesMasters/notesMaster1.xml" Id="Rb854d3c86ebd403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a51b88c4b5b4294" /><Relationship Type="http://schemas.openxmlformats.org/officeDocument/2006/relationships/notesMaster" Target="/ppt/notesMasters/notesMaster1.xml" Id="R263a767a68f44cd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618c453adc34bea" /><Relationship Type="http://schemas.openxmlformats.org/officeDocument/2006/relationships/notesMaster" Target="/ppt/notesMasters/notesMaster1.xml" Id="R9f7709a929c1441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6948631e0b74cc7" /><Relationship Type="http://schemas.openxmlformats.org/officeDocument/2006/relationships/notesMaster" Target="/ppt/notesMasters/notesMaster1.xml" Id="R52a71eb217124e4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9697032ac1c47dd" /><Relationship Type="http://schemas.openxmlformats.org/officeDocument/2006/relationships/notesMaster" Target="/ppt/notesMasters/notesMaster1.xml" Id="R00ad76d5049b481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85a7ffd859240ad" /><Relationship Type="http://schemas.openxmlformats.org/officeDocument/2006/relationships/notesMaster" Target="/ppt/notesMasters/notesMaster1.xml" Id="R796945d3b993411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7445a9f6717420f" /><Relationship Type="http://schemas.openxmlformats.org/officeDocument/2006/relationships/notesMaster" Target="/ppt/notesMasters/notesMaster1.xml" Id="Rcf432906588a43b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972baeaefa74a7d" /><Relationship Type="http://schemas.openxmlformats.org/officeDocument/2006/relationships/notesMaster" Target="/ppt/notesMasters/notesMaster1.xml" Id="R0396e75b4b3c4c7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42284fdfed94d43" /><Relationship Type="http://schemas.openxmlformats.org/officeDocument/2006/relationships/notesMaster" Target="/ppt/notesMasters/notesMaster1.xml" Id="R2691e4c24ad14ce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fa4cd3612a448cb" /><Relationship Type="http://schemas.openxmlformats.org/officeDocument/2006/relationships/notesMaster" Target="/ppt/notesMasters/notesMaster1.xml" Id="R892d11db13da49b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14b1f4683894e9f" /><Relationship Type="http://schemas.openxmlformats.org/officeDocument/2006/relationships/notesMaster" Target="/ppt/notesMasters/notesMaster1.xml" Id="R19350d6f2169442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1e58deffa6e4111" /><Relationship Type="http://schemas.openxmlformats.org/officeDocument/2006/relationships/notesMaster" Target="/ppt/notesMasters/notesMaster1.xml" Id="R951148f39e3d45a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0f0276c4fe14055" /><Relationship Type="http://schemas.openxmlformats.org/officeDocument/2006/relationships/notesMaster" Target="/ppt/notesMasters/notesMaster1.xml" Id="Ree3d97ce547c4c6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162a71d07624e1a" /><Relationship Type="http://schemas.openxmlformats.org/officeDocument/2006/relationships/notesMaster" Target="/ppt/notesMasters/notesMaster1.xml" Id="R9d23f552632a40d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2540757c1c2402d" /><Relationship Type="http://schemas.openxmlformats.org/officeDocument/2006/relationships/notesMaster" Target="/ppt/notesMasters/notesMaster1.xml" Id="Refc0fd7d6aa0424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f4fa869995c433d" /><Relationship Type="http://schemas.openxmlformats.org/officeDocument/2006/relationships/notesMaster" Target="/ppt/notesMasters/notesMaster1.xml" Id="Rf29670d6f789482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6bef074035548a9" /><Relationship Type="http://schemas.openxmlformats.org/officeDocument/2006/relationships/notesMaster" Target="/ppt/notesMasters/notesMaster1.xml" Id="Ra4e67913a7f44ba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e342b07e65f4862" /><Relationship Type="http://schemas.openxmlformats.org/officeDocument/2006/relationships/notesMaster" Target="/ppt/notesMasters/notesMaster1.xml" Id="Re92dd9d1b0814e1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73a90269fa3432d" /><Relationship Type="http://schemas.openxmlformats.org/officeDocument/2006/relationships/notesMaster" Target="/ppt/notesMasters/notesMaster1.xml" Id="R9a7ade1abb2347b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ae0c86186a74e80" /><Relationship Type="http://schemas.openxmlformats.org/officeDocument/2006/relationships/notesMaster" Target="/ppt/notesMasters/notesMaster1.xml" Id="Rb8fffbad94b04fe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968b6bcd88d4198" /><Relationship Type="http://schemas.openxmlformats.org/officeDocument/2006/relationships/notesMaster" Target="/ppt/notesMasters/notesMaster1.xml" Id="R6ed1c70305d245c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156f600c1ea4fe6" /><Relationship Type="http://schemas.openxmlformats.org/officeDocument/2006/relationships/notesMaster" Target="/ppt/notesMasters/notesMaster1.xml" Id="Rdceb7583404c43b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ba2b5f8d06c4fa2" /><Relationship Type="http://schemas.openxmlformats.org/officeDocument/2006/relationships/notesMaster" Target="/ppt/notesMasters/notesMaster1.xml" Id="R381ea3c136d4448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5d49c669cd940c0" /><Relationship Type="http://schemas.openxmlformats.org/officeDocument/2006/relationships/notesMaster" Target="/ppt/notesMasters/notesMaster1.xml" Id="R6d0fed2a72134c6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b6d6bb3e8ca403c" /><Relationship Type="http://schemas.openxmlformats.org/officeDocument/2006/relationships/notesMaster" Target="/ppt/notesMasters/notesMaster1.xml" Id="Rdcd9100fa861438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0ccef6067644c10" /><Relationship Type="http://schemas.openxmlformats.org/officeDocument/2006/relationships/notesMaster" Target="/ppt/notesMasters/notesMaster1.xml" Id="Rc9cd6086c28d435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beba9395ead4830" /><Relationship Type="http://schemas.openxmlformats.org/officeDocument/2006/relationships/notesMaster" Target="/ppt/notesMasters/notesMaster1.xml" Id="R2267a08f3aab45b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1561f737b034674" /><Relationship Type="http://schemas.openxmlformats.org/officeDocument/2006/relationships/notesMaster" Target="/ppt/notesMasters/notesMaster1.xml" Id="Rd6925667460c485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2e7dba2c2ca4453" /><Relationship Type="http://schemas.openxmlformats.org/officeDocument/2006/relationships/notesMaster" Target="/ppt/notesMasters/notesMaster1.xml" Id="R81426edd9313441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Open by recalling Week 10 (exact/linear, family #1) and Week 11 (gradient-based, family #2). Today is family #3, for problems the first two cannot touch.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Ask: could Week 11's minimize even be handed this problem? Let students sit with 'no' before the next slide explains why.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Preview that Meeting B implements this same problem hands-on, and that Project 2 Part III requires exactly this kind of heuristic search on a real discrete decision in each student's own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Tell students the whole deck runs on one running example: assigning 6 distinct glazing panels to 6 facade bays.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back to Week 11's smooth surface, then contrast it with the finite set of panel permutations.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Have students say out loud what perm actually represents before running: 'panel 0 in bay 1, panel 1 in bay 2, ...' for the first print, then the second, unexplained-yet permutation.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Tie this explicitly back to the previous slide's continuous-vs-discrete distinction: perm is the concrete example of a variable with no in-between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is the first of several compact syntax patterns today (list comprehensions and itertools.permutations follow shortly) — treat each like any other new vocabulary: name it, show the plain-language reading, then move on.</a:t>
            </a:r>
          </a:p>
          <a:p xmlns:a="http://schemas.openxmlformats.org/drawingml/2006/main">
            <a:r>
              <a:t/>
            </a:r>
          </a:p>
          <a:p xmlns:a="http://schemas.openxmlformats.org/drawingml/2006/main">
            <a:r>
              <a:t>[Sources]</a:t>
            </a:r>
          </a:p>
          <a:p xmlns:a="http://schemas.openxmlformats.org/drawingml/2006/main">
            <a:r>
              <a:t>- https://docs.python.org/3/tutorial/datastructures.html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Separate algorithm coverage from model correctness: exhaustive enumeration can still return the wrong real-world decision if the encoding or cost function is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Write 0.0125 on the board — students will see it reappear as the target for every method that follows.</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 https://docs.python.org/3/tutorial/datastructures.html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Confirm 12! = 479,001,600 was verified with Python's math.factorial(12), not estimated. This is the one required 'why brute force stops working' moment — do not let the deck's small N make it feel unnecessary.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Name explicitly that 'heuristic' and 'metaheuristic' (next slide) are today's two governing vocabulary words — both now defined on their own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Contrast directly with the previous slide: a heuristic manages ONE candidate at a time; a metaheuristic like a GA manages a whole population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Trace the three lines inside the loop out loud: shuffle, score, keep-if-better. Ask what would have to change for the next guess to LEARN from this one — nothing in this function does.</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Ask students to predict the 300-try result before revealing it — most expect 10x the tries to find the optimum. It does not. That gap is the whole argument for the methods that follow.</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Draw the parallel to Week 11 explicitly: minimize also depends on its starting guess and can land in a worse local optimum. Same idea, discrete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out yield, not return — this is new syntax; do not rush past it. Have students find the one improving neighbor (0.1925) in the printed list before the next slide's hill_climb takes exactly that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why best is reset to None at the top of every outer pass — without that reset the loop could never detect 'no neighbor improved' and would run forever. This is the exact function the next slide runs.</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Walk the swap sequence on the board if time allows — 0.2325 to 0.0925 in three improving swaps, then no fourth swap improves anything.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Emphasize '654 of 720, checked, not estimated' — this is a real exhaustive verification, using the same brute-force capability from two slides ago, just applied to a different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students to predict whether 5 restarts is 'enough' before revealing the result — most will guess yes, reasonably.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students to commit to an answer before revealing — most beginners assume 'more tries' means 'guaranteed,' exactly the misconception this deck's honesty about heuristics corrects.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Put this side by side with random_search on the board: same skeleton, one different line. Naming that reuse is worth more than the new function itself.</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State the 3-of-7 number plainly and point at the loop that computed it — this is the honest setup for why the genetic algorithm, next, is worth the extra machinery.</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Teaching notes: Verified answers: Start A stays at itself (0.0125) — no neighbor improves on the true optimum, so hill climbing correctly recognizes it and stops. Start B ends at (2, 3, 4, 5, 1, 0), cost 0.0825 — NOT the true optimum, despite looking like a 'clean'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Preview that the next slide breaks these same three operations into a visual process diagram before any code is shown.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Trace one generation from left to right. The biological language is an analogy; the computational operations are explicit and testable.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Trace the fill list by hand: parent2 minus {1,2} = [5,4,3,0], dropped into the empty slots left to right. This is the one piece of code worth tracing on the board before moving on.</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Trace the fill list by hand before revealing: parent2 minus {1, 2} = [5, 4, 3, 0]. This is the one piece of code worth tracing on the board.</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Have students confirm sorted(mutated) == [0,1,2,3,4,5] out loud — the property that matters most, stated explicitly.</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at pop.sort(key=cost): key=cost tells sort to score each individual with cost() and order by that score. Meeting B's AI-audit breaks exactly this line by slicing a population that was never sorted.</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Read the two indent levels aloud: the while-loop runs 7 times per generation (12 - 5), and the whole outer for-loop runs 31 times. No output on these two slides on purpose — the mechanism first, the verified result next.</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tests the real, verified fact from data/README.md: seed=1 reaches 0.0125 at generation 9. Do not let students assume approximate methods can never match an exact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State the 75-vs-720 comparison out loud, then immediately pivot to the honesty slide next — do not let '10%' sound like a universal law.</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Contrast explicitly with Week 11's minimize convergence plot — both go downhill, but one is continuous, one is generational and discrete. Tell students the x1000 scaling is a display-only convenience, not a new unit.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is the corrected-error check named in the revision contract: do not let students, or this deck, reintroduce the claim that seed=1 is fastest — seeds 3 and 6 both beat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is the required honesty slide. Do not let students walk away believing GAs always converge to the true optimum — that claim is false in general, even though it happened here across all 7 tested seeds.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Have students read the evaluations column aloud in order — it visibly tells the story of increasing sophistication buying increasing (but not guaranteed) reliability.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directly: who has used Galapagos or Wallacei before? Have that student describe what a 'generation' looked like in that tool — it should now map cleanly onto today's vocabulary.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Teaching notes: A valid candidate contains every room exactly once. The cost might penalize distance between studio–pinup and loading–shop while separating quiet review from noisy fabrication; weights must be stated as assumptions. For six rooms, brute force remains the safest verification. The GA demonstrates transfer only if crossover/mutation preserve permutations and multiple seeds are reported; success here does not guarantee performance at larger 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is an optional map beyond the course core, not three additional algorithms to master today. Have students identify the variable types, number of objectives, and evaluation cost before naming a solver.</a:t>
            </a:r>
          </a:p>
          <a:p xmlns:a="http://schemas.openxmlformats.org/drawingml/2006/main">
            <a:r>
              <a:t/>
            </a:r>
          </a:p>
          <a:p xmlns:a="http://schemas.openxmlformats.org/drawingml/2006/main">
            <a:r>
              <a:t>[Sources]</a:t>
            </a:r>
          </a:p>
          <a:p xmlns:a="http://schemas.openxmlformats.org/drawingml/2006/main">
            <a:r>
              <a:t>- https://docs.scipy.org/doc/scipy/reference/generated/scipy.optimize.milp.html</a:t>
            </a:r>
          </a:p>
          <a:p xmlns:a="http://schemas.openxmlformats.org/drawingml/2006/main">
            <a:r>
              <a:t>- https://pymoo.org/</a:t>
            </a:r>
          </a:p>
          <a:p xmlns:a="http://schemas.openxmlformats.org/drawingml/2006/main">
            <a:r>
              <a:t>- https://botorch.org/docs/introduction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Use one architecture example for each row: façade module selection, energy-carbon-cost trade-offs, and an EnergyPlus design search. Keep the last column visible as the professional refusal boundary.</a:t>
            </a:r>
          </a:p>
          <a:p xmlns:a="http://schemas.openxmlformats.org/drawingml/2006/main">
            <a:r>
              <a:t/>
            </a:r>
          </a:p>
          <a:p xmlns:a="http://schemas.openxmlformats.org/drawingml/2006/main">
            <a:r>
              <a:t>[Sources]</a:t>
            </a:r>
          </a:p>
          <a:p xmlns:a="http://schemas.openxmlformats.org/drawingml/2006/main">
            <a:r>
              <a:t>- https://docs.scipy.org/doc/scipy/reference/generated/scipy.optimize.milp.html</a:t>
            </a:r>
          </a:p>
          <a:p xmlns:a="http://schemas.openxmlformats.org/drawingml/2006/main">
            <a:r>
              <a:t>- https://pymoo.org/</a:t>
            </a:r>
          </a:p>
          <a:p xmlns:a="http://schemas.openxmlformats.org/drawingml/2006/main">
            <a:r>
              <a:t>- https://botorch.org/docs/introduction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Exit ticket: name the optimization family that fits your Project 2's discrete decision and explain why.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68ab2e36cf47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909acfe2494d1b" /><Relationship Type="http://schemas.openxmlformats.org/officeDocument/2006/relationships/slideLayout" Target="/ppt/slideLayouts/slideLayout1.xml" Id="R7354f00617a94c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54f00617a94c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5cbb0a9c1e84a2f" /><Relationship Type="http://schemas.openxmlformats.org/officeDocument/2006/relationships/notesSlide" Target="/ppt/notesSlides/notesSlide1.xml" Id="Rb052d19655c44a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1cd9fa3e5b49c7" /><Relationship Type="http://schemas.openxmlformats.org/officeDocument/2006/relationships/notesSlide" Target="/ppt/notesSlides/notesSlide2.xml" Id="Rbb63dc2ab27d41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6d72336675f42f1" /><Relationship Type="http://schemas.openxmlformats.org/officeDocument/2006/relationships/notesSlide" Target="/ppt/notesSlides/notesSlide3.xml" Id="R2ab2cdac885b4d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8e58b62f4f24c0b" /><Relationship Type="http://schemas.openxmlformats.org/officeDocument/2006/relationships/notesSlide" Target="/ppt/notesSlides/notesSlide4.xml" Id="R166a794f6e774e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ec375a2b1094a33" /><Relationship Type="http://schemas.openxmlformats.org/officeDocument/2006/relationships/notesSlide" Target="/ppt/notesSlides/notesSlide5.xml" Id="R9ed58ccf8dbf4b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38cbe6f22df4664" /><Relationship Type="http://schemas.openxmlformats.org/officeDocument/2006/relationships/notesSlide" Target="/ppt/notesSlides/notesSlide6.xml" Id="Rfee5d10925e14a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b3fc7389dd94032" /><Relationship Type="http://schemas.openxmlformats.org/officeDocument/2006/relationships/notesSlide" Target="/ppt/notesSlides/notesSlide7.xml" Id="Ra596072608384f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4f43b4fb54b4f5b" /><Relationship Type="http://schemas.openxmlformats.org/officeDocument/2006/relationships/notesSlide" Target="/ppt/notesSlides/notesSlide8.xml" Id="R21f14cba48864f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feebcbfb486434c" /><Relationship Type="http://schemas.openxmlformats.org/officeDocument/2006/relationships/notesSlide" Target="/ppt/notesSlides/notesSlide9.xml" Id="R4d4d0612aba4427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3a2f51811b54c33" /><Relationship Type="http://schemas.openxmlformats.org/officeDocument/2006/relationships/notesSlide" Target="/ppt/notesSlides/notesSlide10.xml" Id="R7ece77d941174d3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5d4797383354cab" /><Relationship Type="http://schemas.openxmlformats.org/officeDocument/2006/relationships/notesSlide" Target="/ppt/notesSlides/notesSlide11.xml" Id="R35634b8d6d7c4c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097dcd62f22416c" /><Relationship Type="http://schemas.openxmlformats.org/officeDocument/2006/relationships/notesSlide" Target="/ppt/notesSlides/notesSlide12.xml" Id="R1bd7ae695225412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2e1ec3631e44954" /><Relationship Type="http://schemas.openxmlformats.org/officeDocument/2006/relationships/notesSlide" Target="/ppt/notesSlides/notesSlide13.xml" Id="R5aada17126044d5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df5cbfede8248a8" /><Relationship Type="http://schemas.openxmlformats.org/officeDocument/2006/relationships/notesSlide" Target="/ppt/notesSlides/notesSlide14.xml" Id="Rfe35a73903904ae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29992454c5b4539" /><Relationship Type="http://schemas.openxmlformats.org/officeDocument/2006/relationships/notesSlide" Target="/ppt/notesSlides/notesSlide15.xml" Id="Rb268141dc67d405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107daa828e6476f" /><Relationship Type="http://schemas.openxmlformats.org/officeDocument/2006/relationships/notesSlide" Target="/ppt/notesSlides/notesSlide16.xml" Id="Reab9735f137a446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8307e1a360a4e74" /><Relationship Type="http://schemas.openxmlformats.org/officeDocument/2006/relationships/notesSlide" Target="/ppt/notesSlides/notesSlide17.xml" Id="R6481ef927a5c458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e2bf8e8a7a14595" /><Relationship Type="http://schemas.openxmlformats.org/officeDocument/2006/relationships/notesSlide" Target="/ppt/notesSlides/notesSlide18.xml" Id="Rad7a4dbaf661446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f0fe276ca8844ba" /><Relationship Type="http://schemas.openxmlformats.org/officeDocument/2006/relationships/notesSlide" Target="/ppt/notesSlides/notesSlide19.xml" Id="R13ae73cae73b4c6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9e930242f934682" /><Relationship Type="http://schemas.openxmlformats.org/officeDocument/2006/relationships/notesSlide" Target="/ppt/notesSlides/notesSlide20.xml" Id="Raa7a6cea32e94d1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ebf7c9aa512418b" /><Relationship Type="http://schemas.openxmlformats.org/officeDocument/2006/relationships/notesSlide" Target="/ppt/notesSlides/notesSlide21.xml" Id="R7fcaea3e12c94fe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8f1aa2dde1c42e1" /><Relationship Type="http://schemas.openxmlformats.org/officeDocument/2006/relationships/notesSlide" Target="/ppt/notesSlides/notesSlide22.xml" Id="Rb9165e27b8c84b1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40a50057d094c5e" /><Relationship Type="http://schemas.openxmlformats.org/officeDocument/2006/relationships/notesSlide" Target="/ppt/notesSlides/notesSlide23.xml" Id="Ra8b0b60ab85644a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e265659efdd4954" /><Relationship Type="http://schemas.openxmlformats.org/officeDocument/2006/relationships/notesSlide" Target="/ppt/notesSlides/notesSlide24.xml" Id="Rd7ad127a1b794a8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659e2242bf14c70" /><Relationship Type="http://schemas.openxmlformats.org/officeDocument/2006/relationships/notesSlide" Target="/ppt/notesSlides/notesSlide25.xml" Id="Rf0652064c1ed438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333aea9ff8641c1" /><Relationship Type="http://schemas.openxmlformats.org/officeDocument/2006/relationships/notesSlide" Target="/ppt/notesSlides/notesSlide26.xml" Id="R82829fe3b84c424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2348023cacc4b51" /><Relationship Type="http://schemas.openxmlformats.org/officeDocument/2006/relationships/notesSlide" Target="/ppt/notesSlides/notesSlide27.xml" Id="Rce05b0c245f34f1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a3a8ddf50f14b4f" /><Relationship Type="http://schemas.openxmlformats.org/officeDocument/2006/relationships/notesSlide" Target="/ppt/notesSlides/notesSlide28.xml" Id="R422810cb5235439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358c712f7454908" /><Relationship Type="http://schemas.openxmlformats.org/officeDocument/2006/relationships/notesSlide" Target="/ppt/notesSlides/notesSlide29.xml" Id="Rff0ba7fc15ec4ee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56ccb95e8e94488" /><Relationship Type="http://schemas.openxmlformats.org/officeDocument/2006/relationships/notesSlide" Target="/ppt/notesSlides/notesSlide30.xml" Id="Rfe6e482c511942c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d3d4dd3e6194774" /><Relationship Type="http://schemas.openxmlformats.org/officeDocument/2006/relationships/notesSlide" Target="/ppt/notesSlides/notesSlide31.xml" Id="Re6eee1ffafef4cc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08892a6ed4f4533" /><Relationship Type="http://schemas.openxmlformats.org/officeDocument/2006/relationships/notesSlide" Target="/ppt/notesSlides/notesSlide32.xml" Id="Ra2a7838c40f94bd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76658c3974f467d" /><Relationship Type="http://schemas.openxmlformats.org/officeDocument/2006/relationships/notesSlide" Target="/ppt/notesSlides/notesSlide33.xml" Id="R14c4966966fa4f7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42af704632247ad" /><Relationship Type="http://schemas.openxmlformats.org/officeDocument/2006/relationships/notesSlide" Target="/ppt/notesSlides/notesSlide34.xml" Id="R713943a5a374479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4a2a4591b424c9f" /><Relationship Type="http://schemas.openxmlformats.org/officeDocument/2006/relationships/chart" Target="/ppt/slides/charts/chart1.xml" Id="R67bec5b93afd4dad" /><Relationship Type="http://schemas.openxmlformats.org/officeDocument/2006/relationships/notesSlide" Target="/ppt/notesSlides/notesSlide35.xml" Id="R53a25480d99342f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f5bb2643ee024e95" /><Relationship Type="http://schemas.openxmlformats.org/officeDocument/2006/relationships/notesSlide" Target="/ppt/notesSlides/notesSlide36.xml" Id="R2f7953f4a5c947e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11ef498360e4cc2" /><Relationship Type="http://schemas.openxmlformats.org/officeDocument/2006/relationships/notesSlide" Target="/ppt/notesSlides/notesSlide37.xml" Id="R94e5b3f011aa413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4e523fbd5ed4bec" /><Relationship Type="http://schemas.openxmlformats.org/officeDocument/2006/relationships/notesSlide" Target="/ppt/notesSlides/notesSlide38.xml" Id="R088344001d5a4a8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68c4a4bea39740a9" /><Relationship Type="http://schemas.openxmlformats.org/officeDocument/2006/relationships/notesSlide" Target="/ppt/notesSlides/notesSlide39.xml" Id="Rd28795182a3f41e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4ac9ba241e334707" /><Relationship Type="http://schemas.openxmlformats.org/officeDocument/2006/relationships/notesSlide" Target="/ppt/notesSlides/notesSlide40.xml" Id="Rff5a676aa234484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88b06c0edc964c79" /><Relationship Type="http://schemas.openxmlformats.org/officeDocument/2006/relationships/notesSlide" Target="/ppt/notesSlides/notesSlide41.xml" Id="R93607b6fdb0945d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067c64c77a414f7d" /><Relationship Type="http://schemas.openxmlformats.org/officeDocument/2006/relationships/notesSlide" Target="/ppt/notesSlides/notesSlide42.xml" Id="R59fd699ec57947b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9465096ed5884a50" /><Relationship Type="http://schemas.openxmlformats.org/officeDocument/2006/relationships/notesSlide" Target="/ppt/notesSlides/notesSlide43.xml" Id="R16098ae72bf74f8c"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200" b="1">
                <a:solidFill>
                  <a:srgbClr val="111316"/>
                </a:solidFill>
              </a:rPr>
              <a:t>GA best-cost-per-generation vs. the true optimum</a:t>
            </a:r>
          </a:p>
        </c:rich>
      </c:tx>
      <c:overlay val="0"/>
      <c:txPr>
        <a:bodyPr xmlns:a="http://schemas.openxmlformats.org/drawingml/2006/main" anchorCtr="1"/>
        <a:lstStyle xmlns:a="http://schemas.openxmlformats.org/drawingml/2006/main"/>
        <a:p xmlns:a="http://schemas.openxmlformats.org/drawingml/2006/main">
          <a:pPr>
            <a:defRPr sz="1200" b="1">
              <a:solidFill>
                <a:srgbClr val="111316"/>
              </a:solidFill>
            </a:defRPr>
          </a:pPr>
        </a:p>
      </c:txPr>
    </c:title>
    <c:plotArea>
      <c:barChart>
        <c:barDir val="col"/>
        <c:varyColors val="0"/>
        <c:ser>
          <c:idx val="0"/>
          <c:order val="0"/>
          <c:tx>
            <c:v>GA best cost (seed=1)</c:v>
          </c:tx>
          <c:cat>
            <c:numLit>
              <c:formatCode>General</c:formatCode>
              <c:ptCount val="13"/>
              <c:pt idx="0">
                <c:v>0</c:v>
              </c:pt>
              <c:pt idx="1">
                <c:v>1</c:v>
              </c:pt>
              <c:pt idx="2">
                <c:v>2</c:v>
              </c:pt>
              <c:pt idx="3">
                <c:v>3</c:v>
              </c:pt>
              <c:pt idx="4">
                <c:v>4</c:v>
              </c:pt>
              <c:pt idx="5">
                <c:v>5</c:v>
              </c:pt>
              <c:pt idx="6">
                <c:v>6</c:v>
              </c:pt>
              <c:pt idx="7">
                <c:v>7</c:v>
              </c:pt>
              <c:pt idx="8">
                <c:v>8</c:v>
              </c:pt>
              <c:pt idx="9">
                <c:v>9</c:v>
              </c:pt>
              <c:pt idx="10">
                <c:v>10</c:v>
              </c:pt>
              <c:pt idx="11">
                <c:v>11</c:v>
              </c:pt>
              <c:pt idx="12">
                <c:v>12</c:v>
              </c:pt>
            </c:numLit>
          </c:cat>
          <c:val>
            <c:numLit>
              <c:formatCode>General</c:formatCode>
              <c:ptCount val="13"/>
              <c:pt idx="0">
                <c:v>102.5</c:v>
              </c:pt>
              <c:pt idx="1">
                <c:v>92.5</c:v>
              </c:pt>
              <c:pt idx="2">
                <c:v>52.5</c:v>
              </c:pt>
              <c:pt idx="3">
                <c:v>52.5</c:v>
              </c:pt>
              <c:pt idx="4">
                <c:v>22.5</c:v>
              </c:pt>
              <c:pt idx="5">
                <c:v>22.5</c:v>
              </c:pt>
              <c:pt idx="6">
                <c:v>22.5</c:v>
              </c:pt>
              <c:pt idx="7">
                <c:v>22.5</c:v>
              </c:pt>
              <c:pt idx="8">
                <c:v>22.5</c:v>
              </c:pt>
              <c:pt idx="9">
                <c:v>12.5</c:v>
              </c:pt>
              <c:pt idx="10">
                <c:v>12.5</c:v>
              </c:pt>
              <c:pt idx="11">
                <c:v>12.5</c:v>
              </c:pt>
              <c:pt idx="12">
                <c:v>12.5</c:v>
              </c:pt>
            </c:numLit>
          </c:val>
        </c:ser>
        <c:ser>
          <c:idx val="1"/>
          <c:order val="1"/>
          <c:tx>
            <c:v>True optimum (brute force)</c:v>
          </c:tx>
          <c:cat>
            <c:numLit>
              <c:formatCode>General</c:formatCode>
              <c:ptCount val="13"/>
              <c:pt idx="0">
                <c:v>0</c:v>
              </c:pt>
              <c:pt idx="1">
                <c:v>1</c:v>
              </c:pt>
              <c:pt idx="2">
                <c:v>2</c:v>
              </c:pt>
              <c:pt idx="3">
                <c:v>3</c:v>
              </c:pt>
              <c:pt idx="4">
                <c:v>4</c:v>
              </c:pt>
              <c:pt idx="5">
                <c:v>5</c:v>
              </c:pt>
              <c:pt idx="6">
                <c:v>6</c:v>
              </c:pt>
              <c:pt idx="7">
                <c:v>7</c:v>
              </c:pt>
              <c:pt idx="8">
                <c:v>8</c:v>
              </c:pt>
              <c:pt idx="9">
                <c:v>9</c:v>
              </c:pt>
              <c:pt idx="10">
                <c:v>10</c:v>
              </c:pt>
              <c:pt idx="11">
                <c:v>11</c:v>
              </c:pt>
              <c:pt idx="12">
                <c:v>12</c:v>
              </c:pt>
            </c:numLit>
          </c:cat>
          <c:val>
            <c:numLit>
              <c:formatCode>General</c:formatCode>
              <c:ptCount val="13"/>
              <c:pt idx="0">
                <c:v>12.5</c:v>
              </c:pt>
              <c:pt idx="1">
                <c:v>12.5</c:v>
              </c:pt>
              <c:pt idx="2">
                <c:v>12.5</c:v>
              </c:pt>
              <c:pt idx="3">
                <c:v>12.5</c:v>
              </c:pt>
              <c:pt idx="4">
                <c:v>12.5</c:v>
              </c:pt>
              <c:pt idx="5">
                <c:v>12.5</c:v>
              </c:pt>
              <c:pt idx="6">
                <c:v>12.5</c:v>
              </c:pt>
              <c:pt idx="7">
                <c:v>12.5</c:v>
              </c:pt>
              <c:pt idx="8">
                <c:v>12.5</c:v>
              </c:pt>
              <c:pt idx="9">
                <c:v>12.5</c:v>
              </c:pt>
              <c:pt idx="10">
                <c:v>12.5</c:v>
              </c:pt>
              <c:pt idx="11">
                <c:v>12.5</c:v>
              </c:pt>
              <c:pt idx="12">
                <c:v>12.5</c:v>
              </c:pt>
            </c:numLit>
          </c:val>
        </c:ser>
        <c:axId val="48650112"/>
        <c:axId val="48672768"/>
      </c:barChart>
      <c:catAx>
        <c:axId val="48650112"/>
        <c:scaling>
          <c:orientation val="minMax"/>
        </c:scaling>
        <c:delete val="0"/>
        <c:axPos val="b"/>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Generation</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72768"/>
      </c:catAx>
      <c:valAx>
        <c:axId val="48672768"/>
        <c:scaling>
          <c:orientation val="minMax"/>
        </c:scaling>
        <c:delete val="0"/>
        <c:axPos val="l"/>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Best cost x 1000 (axis scaled for readability)</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50112"/>
        <c:crossBetween val="between"/>
      </c:valAx>
      <c:spPr>
        <a:solidFill xmlns:a="http://schemas.openxmlformats.org/drawingml/2006/main">
          <a:srgbClr val="FFFFFF"/>
        </a:solidFill>
        <a:ln xmlns:a="http://schemas.openxmlformats.org/drawingml/2006/main" w="9525">
          <a:solidFill>
            <a:srgbClr val="B8BCC4"/>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legend>
    <c:plotVisOnly val="1"/>
  </c:chart>
  <c:spPr>
    <a:solidFill xmlns:a="http://schemas.openxmlformats.org/drawingml/2006/main">
      <a:srgbClr val="FFFFFF"/>
    </a:solidFill>
    <a:ln xmlns:a="http://schemas.openxmlformats.org/drawingml/2006/main" w="9525">
      <a:solidFill>
        <a:srgbClr val="B8BCC4"/>
      </a:solidFill>
      <a:prstDash val="solid"/>
    </a:ln>
  </c:spPr>
</c:chartSpace>
</file>

<file path=ppt/slides/slide1.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9" name="course-mark">
            <a:extLst xmlns:a="http://schemas.openxmlformats.org/drawingml/2006/main">
              <a:ext uri="{FF2B5EF4-FFF2-40B4-BE49-F238E27FC236}">
                <a16:creationId xmlns:a16="http://schemas.microsoft.com/office/drawing/2014/main" id="{D14EBF26-74F8-4E02-92AF-9A0D6D984157}"/>
              </a:ext>
            </a:extLst>
          </p:cNvPr>
          <p:cNvSpPr>
            <a:spLocks xmlns:a="http://schemas.openxmlformats.org/drawingml/2006/main" noGrp="1"/>
          </p:cNvSpPr>
          <p:nvPr/>
        </p:nvSpPr>
        <p:spPr>
          <a:xfrm xmlns:a="http://schemas.openxmlformats.org/drawingml/2006/main">
            <a:off x="609600" y="457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FFFFFF"/>
                </a:solidFill>
                <a:latin typeface="Arial"/>
                <a:ea typeface="Arial"/>
                <a:cs typeface="Arial"/>
              </a:defRPr>
            </a:pPr>
            <a:r>
              <a:rPr sz="1800" b="1">
                <a:solidFill>
                  <a:srgbClr val="FFFFFF"/>
                </a:solidFill>
                <a:latin typeface="Arial"/>
                <a:ea typeface="Arial"/>
                <a:cs typeface="Arial"/>
              </a:rPr>
              <a:t>&lt;&gt;  ARC 500</a:t>
            </a:r>
          </a:p>
        </p:txBody>
      </p:sp>
      <p:sp>
        <p:nvSpPr>
          <p:cNvPr id="2" name="course-full-title">
            <a:extLst xmlns:a="http://schemas.openxmlformats.org/drawingml/2006/main">
              <a:ext uri="{FF2B5EF4-FFF2-40B4-BE49-F238E27FC236}">
                <a16:creationId xmlns:a16="http://schemas.microsoft.com/office/drawing/2014/main" id="{659FF10F-7ED7-478D-BE83-834172A35E64}"/>
              </a:ext>
            </a:extLst>
          </p:cNvPr>
          <p:cNvSpPr>
            <a:spLocks xmlns:a="http://schemas.openxmlformats.org/drawingml/2006/main" noGrp="1"/>
          </p:cNvSpPr>
          <p:nvPr/>
        </p:nvSpPr>
        <p:spPr>
          <a:xfrm xmlns:a="http://schemas.openxmlformats.org/drawingml/2006/main">
            <a:off x="609600" y="81915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9AA1AC"/>
                </a:solidFill>
                <a:latin typeface="Arial"/>
                <a:ea typeface="Arial"/>
                <a:cs typeface="Arial"/>
              </a:defRPr>
            </a:pPr>
            <a:r>
              <a:rPr sz="900" b="0">
                <a:solidFill>
                  <a:srgbClr val="9AA1AC"/>
                </a:solidFill>
                <a:latin typeface="Arial"/>
                <a:ea typeface="Arial"/>
                <a:cs typeface="Arial"/>
              </a:rPr>
              <a:t>Programming with Python and Generative AI  ·  Scripting, Data Analysis, Visualization, Problem-Solving, and Optimization</a:t>
            </a:r>
          </a:p>
        </p:txBody>
      </p:sp>
      <p:sp>
        <p:nvSpPr>
          <p:cNvPr id="3" name="accent-bar">
            <a:extLst xmlns:a="http://schemas.openxmlformats.org/drawingml/2006/main">
              <a:ext uri="{FF2B5EF4-FFF2-40B4-BE49-F238E27FC236}">
                <a16:creationId xmlns:a16="http://schemas.microsoft.com/office/drawing/2014/main" id="{952BDDF0-9E86-4B8D-8872-5C49F8F6E4DC}"/>
              </a:ext>
            </a:extLst>
          </p:cNvPr>
          <p:cNvSpPr>
            <a:spLocks xmlns:a="http://schemas.openxmlformats.org/drawingml/2006/main" noGrp="1"/>
          </p:cNvSpPr>
          <p:nvPr/>
        </p:nvSpPr>
        <p:spPr>
          <a:xfrm xmlns:a="http://schemas.openxmlformats.org/drawingml/2006/main">
            <a:off x="609600" y="1333500"/>
            <a:ext cx="133350" cy="2857500"/>
          </a:xfrm>
          <a:prstGeom xmlns:a="http://schemas.openxmlformats.org/drawingml/2006/main" prst="rect">
            <a:avLst/>
          </a:prstGeom>
          <a:solidFill xmlns:a="http://schemas.openxmlformats.org/drawingml/2006/main">
            <a:srgbClr val="2E74B5"/>
          </a:solidFill>
          <a:ln xmlns:a="http://schemas.openxmlformats.org/drawingml/2006/main" w="0">
            <a:noFill/>
            <a:prstDash val="solid"/>
          </a:ln>
        </p:spPr>
      </p:sp>
      <p:sp>
        <p:nvSpPr>
          <p:cNvPr id="4" name="week-label">
            <a:extLst xmlns:a="http://schemas.openxmlformats.org/drawingml/2006/main">
              <a:ext uri="{FF2B5EF4-FFF2-40B4-BE49-F238E27FC236}">
                <a16:creationId xmlns:a16="http://schemas.microsoft.com/office/drawing/2014/main" id="{E16C8C74-4698-4AEA-8371-FC9CB0F2F22F}"/>
              </a:ext>
            </a:extLst>
          </p:cNvPr>
          <p:cNvSpPr>
            <a:spLocks xmlns:a="http://schemas.openxmlformats.org/drawingml/2006/main" noGrp="1"/>
          </p:cNvSpPr>
          <p:nvPr/>
        </p:nvSpPr>
        <p:spPr>
          <a:xfrm xmlns:a="http://schemas.openxmlformats.org/drawingml/2006/main">
            <a:off x="1028700" y="13525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12 · MEETING A · OPTIMIZATION III: HEURISTIC AND METAHEURISTIC SEARCH</a:t>
            </a:r>
          </a:p>
        </p:txBody>
      </p:sp>
      <p:sp>
        <p:nvSpPr>
          <p:cNvPr id="5" name="deck-title">
            <a:extLst xmlns:a="http://schemas.openxmlformats.org/drawingml/2006/main">
              <a:ext uri="{FF2B5EF4-FFF2-40B4-BE49-F238E27FC236}">
                <a16:creationId xmlns:a16="http://schemas.microsoft.com/office/drawing/2014/main" id="{BFC1C586-1158-4A2D-A107-FE8464B0267A}"/>
              </a:ext>
            </a:extLst>
          </p:cNvPr>
          <p:cNvSpPr>
            <a:spLocks xmlns:a="http://schemas.openxmlformats.org/drawingml/2006/main" noGrp="1"/>
          </p:cNvSpPr>
          <p:nvPr/>
        </p:nvSpPr>
        <p:spPr>
          <a:xfrm xmlns:a="http://schemas.openxmlformats.org/drawingml/2006/main">
            <a:off x="1028700" y="17716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500" b="1">
                <a:solidFill>
                  <a:srgbClr val="FFFFFF"/>
                </a:solidFill>
                <a:latin typeface="Arial"/>
                <a:ea typeface="Arial"/>
                <a:cs typeface="Arial"/>
              </a:defRPr>
            </a:pPr>
            <a:r>
              <a:rPr sz="4500" b="1">
                <a:solidFill>
                  <a:srgbClr val="FFFFFF"/>
                </a:solidFill>
                <a:latin typeface="Arial"/>
                <a:ea typeface="Arial"/>
                <a:cs typeface="Arial"/>
              </a:rPr>
              <a:t>When there is no slope to follow downhill</a:t>
            </a:r>
          </a:p>
        </p:txBody>
      </p:sp>
      <p:sp>
        <p:nvSpPr>
          <p:cNvPr id="6" name="deck-subtitle">
            <a:extLst xmlns:a="http://schemas.openxmlformats.org/drawingml/2006/main">
              <a:ext uri="{FF2B5EF4-FFF2-40B4-BE49-F238E27FC236}">
                <a16:creationId xmlns:a16="http://schemas.microsoft.com/office/drawing/2014/main" id="{EA628D7C-16BB-400F-84E9-F79B0E862228}"/>
              </a:ext>
            </a:extLst>
          </p:cNvPr>
          <p:cNvSpPr>
            <a:spLocks xmlns:a="http://schemas.openxmlformats.org/drawingml/2006/main" noGrp="1"/>
          </p:cNvSpPr>
          <p:nvPr/>
        </p:nvSpPr>
        <p:spPr>
          <a:xfrm xmlns:a="http://schemas.openxmlformats.org/drawingml/2006/main">
            <a:off x="1028700" y="3848100"/>
            <a:ext cx="9144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D7D9DC"/>
                </a:solidFill>
                <a:latin typeface="Arial"/>
                <a:ea typeface="Arial"/>
                <a:cs typeface="Arial"/>
              </a:defRPr>
            </a:pPr>
            <a:r>
              <a:rPr sz="2100" b="0">
                <a:solidFill>
                  <a:srgbClr val="D7D9DC"/>
                </a:solidFill>
                <a:latin typeface="Arial"/>
                <a:ea typeface="Arial"/>
                <a:cs typeface="Arial"/>
              </a:rPr>
              <a:t>Random search, hill-climbing with restarts, and a small genetic algorithm — optimization family #3</a:t>
            </a:r>
          </a:p>
        </p:txBody>
      </p:sp>
      <p:sp>
        <p:nvSpPr>
          <p:cNvPr id="7" name="">
            <a:extLst xmlns:a="http://schemas.openxmlformats.org/drawingml/2006/main">
              <a:ext uri="{FF2B5EF4-FFF2-40B4-BE49-F238E27FC236}">
                <a16:creationId xmlns:a16="http://schemas.microsoft.com/office/drawing/2014/main" id="{4AFDA898-263F-49C2-901A-5E8757F81480}"/>
              </a:ext>
            </a:extLst>
          </p:cNvPr>
          <p:cNvSpPr>
            <a:spLocks xmlns:a="http://schemas.openxmlformats.org/drawingml/2006/main" noGrp="1"/>
          </p:cNvSpPr>
          <p:nvPr/>
        </p:nvSpPr>
        <p:spPr>
          <a:xfrm xmlns:a="http://schemas.openxmlformats.org/drawingml/2006/main">
            <a:off x="1028700" y="5295900"/>
            <a:ext cx="2476500" cy="0"/>
          </a:xfrm>
          <a:prstGeom xmlns:a="http://schemas.openxmlformats.org/drawingml/2006/main" prst="line">
            <a:avLst/>
          </a:prstGeom>
          <a:noFill xmlns:a="http://schemas.openxmlformats.org/drawingml/2006/main"/>
          <a:ln xmlns:a="http://schemas.openxmlformats.org/drawingml/2006/main" w="9525">
            <a:solidFill>
              <a:srgbClr val="FFFFFF"/>
            </a:solidFill>
            <a:prstDash val="solid"/>
          </a:ln>
        </p:spPr>
      </p:sp>
      <p:sp>
        <p:nvSpPr>
          <p:cNvPr id="8" name="instructor">
            <a:extLst xmlns:a="http://schemas.openxmlformats.org/drawingml/2006/main">
              <a:ext uri="{FF2B5EF4-FFF2-40B4-BE49-F238E27FC236}">
                <a16:creationId xmlns:a16="http://schemas.microsoft.com/office/drawing/2014/main" id="{B2E0F148-66F6-4E46-82CE-0D20AF902CEA}"/>
              </a:ext>
            </a:extLst>
          </p:cNvPr>
          <p:cNvSpPr>
            <a:spLocks xmlns:a="http://schemas.openxmlformats.org/drawingml/2006/main" noGrp="1"/>
          </p:cNvSpPr>
          <p:nvPr/>
        </p:nvSpPr>
        <p:spPr>
          <a:xfrm xmlns:a="http://schemas.openxmlformats.org/drawingml/2006/main">
            <a:off x="1028700" y="55245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0">
                <a:solidFill>
                  <a:srgbClr val="D7D9DC"/>
                </a:solidFill>
                <a:latin typeface="Arial"/>
                <a:ea typeface="Arial"/>
                <a:cs typeface="Arial"/>
              </a:defRPr>
            </a:pPr>
            <a:r>
              <a:rPr sz="1200" b="0">
                <a:solidFill>
                  <a:srgbClr val="D7D9DC"/>
                </a:solidFill>
                <a:latin typeface="Arial"/>
                <a:ea typeface="Arial"/>
                <a:cs typeface="Arial"/>
              </a:rPr>
              <a:t>JunHo Chun, PhD  ·  School of Architecture  ·  Syracuse University  ·  Fall 2026</a:t>
            </a:r>
          </a:p>
        </p:txBody>
      </p:sp>
    </p:spTree>
    <p:extLst>
      <p:ext uri="{BB962C8B-B14F-4D97-AF65-F5344CB8AC3E}">
        <p14:creationId xmlns:p14="http://schemas.microsoft.com/office/powerpoint/2010/main" val="18459921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7A91D9B0-5C16-4666-B994-33B43A0D76A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PRINCIPLE</a:t>
            </a:r>
          </a:p>
        </p:txBody>
      </p:sp>
      <p:sp>
        <p:nvSpPr>
          <p:cNvPr id="2" name="title">
            <a:extLst xmlns:a="http://schemas.openxmlformats.org/drawingml/2006/main">
              <a:ext uri="{FF2B5EF4-FFF2-40B4-BE49-F238E27FC236}">
                <a16:creationId xmlns:a16="http://schemas.microsoft.com/office/drawing/2014/main" id="{EBFEF436-EB42-45CB-8B52-50A65F8B1D8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Some decisions are not a hill you can walk down</a:t>
            </a:r>
          </a:p>
        </p:txBody>
      </p:sp>
      <p:sp>
        <p:nvSpPr>
          <p:cNvPr id="3" name="">
            <a:extLst xmlns:a="http://schemas.openxmlformats.org/drawingml/2006/main">
              <a:ext uri="{FF2B5EF4-FFF2-40B4-BE49-F238E27FC236}">
                <a16:creationId xmlns:a16="http://schemas.microsoft.com/office/drawing/2014/main" id="{7388721C-FF19-4EC7-9935-6E1A8BAA9A8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7540428-3522-4533-8AB2-780325C5133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CD995935-4216-4F87-B941-7DE0789FC73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02</a:t>
            </a:r>
          </a:p>
        </p:txBody>
      </p:sp>
      <p:sp>
        <p:nvSpPr>
          <p:cNvPr id="6" name="statement">
            <a:extLst xmlns:a="http://schemas.openxmlformats.org/drawingml/2006/main">
              <a:ext uri="{FF2B5EF4-FFF2-40B4-BE49-F238E27FC236}">
                <a16:creationId xmlns:a16="http://schemas.microsoft.com/office/drawing/2014/main" id="{D0BE1996-753F-43A0-98B2-C39C27B095BF}"/>
              </a:ext>
            </a:extLst>
          </p:cNvPr>
          <p:cNvSpPr>
            <a:spLocks xmlns:a="http://schemas.openxmlformats.org/drawingml/2006/main" noGrp="1"/>
          </p:cNvSpPr>
          <p:nvPr/>
        </p:nvSpPr>
        <p:spPr>
          <a:xfrm xmlns:a="http://schemas.openxmlformats.org/drawingml/2006/main">
            <a:off x="609600" y="2076450"/>
            <a:ext cx="9829800" cy="20513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11316"/>
                </a:solidFill>
                <a:latin typeface="Arial"/>
                <a:ea typeface="Arial"/>
                <a:cs typeface="Arial"/>
              </a:defRPr>
            </a:pPr>
            <a:r>
              <a:rPr sz="3600" b="1">
                <a:solidFill>
                  <a:srgbClr val="111316"/>
                </a:solidFill>
                <a:latin typeface="Arial"/>
                <a:ea typeface="Arial"/>
                <a:cs typeface="Arial"/>
              </a:rPr>
              <a:t>A genuinely discrete, combinatorial choice has no slope between one option and the next — minimize has nothing to follow downhill.</a:t>
            </a:r>
          </a:p>
        </p:txBody>
      </p:sp>
      <p:sp>
        <p:nvSpPr>
          <p:cNvPr id="7" name="">
            <a:extLst xmlns:a="http://schemas.openxmlformats.org/drawingml/2006/main">
              <a:ext uri="{FF2B5EF4-FFF2-40B4-BE49-F238E27FC236}">
                <a16:creationId xmlns:a16="http://schemas.microsoft.com/office/drawing/2014/main" id="{3FF20D87-18AA-4BC7-ABAE-EE97E7C763FB}"/>
              </a:ext>
            </a:extLst>
          </p:cNvPr>
          <p:cNvSpPr>
            <a:spLocks xmlns:a="http://schemas.openxmlformats.org/drawingml/2006/main" noGrp="1"/>
          </p:cNvSpPr>
          <p:nvPr/>
        </p:nvSpPr>
        <p:spPr>
          <a:xfrm xmlns:a="http://schemas.openxmlformats.org/drawingml/2006/main">
            <a:off x="609600" y="4337304"/>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8" name="supporting">
            <a:extLst xmlns:a="http://schemas.openxmlformats.org/drawingml/2006/main">
              <a:ext uri="{FF2B5EF4-FFF2-40B4-BE49-F238E27FC236}">
                <a16:creationId xmlns:a16="http://schemas.microsoft.com/office/drawing/2014/main" id="{51BA146F-D3D4-4A16-B703-DFED2B1DCE90}"/>
              </a:ext>
            </a:extLst>
          </p:cNvPr>
          <p:cNvSpPr>
            <a:spLocks xmlns:a="http://schemas.openxmlformats.org/drawingml/2006/main" noGrp="1"/>
          </p:cNvSpPr>
          <p:nvPr/>
        </p:nvSpPr>
        <p:spPr>
          <a:xfrm xmlns:a="http://schemas.openxmlformats.org/drawingml/2006/main">
            <a:off x="609600" y="4661154"/>
            <a:ext cx="9334500" cy="8717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Which of 6 distinct glazing panels goes in which of 6 facade bays is not a number that can be nudged slightly higher or lower — it is a completely different assignment. Today's whole toolkit exists for exactly that kind of decision.</a:t>
            </a:r>
          </a:p>
        </p:txBody>
      </p:sp>
    </p:spTree>
    <p:extLst>
      <p:ext uri="{BB962C8B-B14F-4D97-AF65-F5344CB8AC3E}">
        <p14:creationId xmlns:p14="http://schemas.microsoft.com/office/powerpoint/2010/main" val="144368981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19A276B7-71F5-4D1F-B5E3-73C8E8E4356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LEARNING OUTCOMES</a:t>
            </a:r>
          </a:p>
        </p:txBody>
      </p:sp>
      <p:sp>
        <p:nvSpPr>
          <p:cNvPr id="2" name="title">
            <a:extLst xmlns:a="http://schemas.openxmlformats.org/drawingml/2006/main">
              <a:ext uri="{FF2B5EF4-FFF2-40B4-BE49-F238E27FC236}">
                <a16:creationId xmlns:a16="http://schemas.microsoft.com/office/drawing/2014/main" id="{F39040C4-4829-4FF6-816D-9F81DAC56F6F}"/>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By the end, you should be able to…</a:t>
            </a:r>
          </a:p>
        </p:txBody>
      </p:sp>
      <p:sp>
        <p:nvSpPr>
          <p:cNvPr id="3" name="">
            <a:extLst xmlns:a="http://schemas.openxmlformats.org/drawingml/2006/main">
              <a:ext uri="{FF2B5EF4-FFF2-40B4-BE49-F238E27FC236}">
                <a16:creationId xmlns:a16="http://schemas.microsoft.com/office/drawing/2014/main" id="{5E0072AF-9ADA-4ED1-882C-64EBEF059BA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A421770-844F-475E-9342-B1A171BA171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E503D63C-9A3A-4EE2-9318-2F3C816D6EE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03</a:t>
            </a:r>
          </a:p>
        </p:txBody>
      </p:sp>
      <p:sp>
        <p:nvSpPr>
          <p:cNvPr id="6" name="outcome-number-0">
            <a:extLst xmlns:a="http://schemas.openxmlformats.org/drawingml/2006/main">
              <a:ext uri="{FF2B5EF4-FFF2-40B4-BE49-F238E27FC236}">
                <a16:creationId xmlns:a16="http://schemas.microsoft.com/office/drawing/2014/main" id="{7AEAFD58-F8EA-41F1-AC1B-DEAF80122B0A}"/>
              </a:ext>
            </a:extLst>
          </p:cNvPr>
          <p:cNvSpPr>
            <a:spLocks xmlns:a="http://schemas.openxmlformats.org/drawingml/2006/main" noGrp="1"/>
          </p:cNvSpPr>
          <p:nvPr/>
        </p:nvSpPr>
        <p:spPr>
          <a:xfrm xmlns:a="http://schemas.openxmlformats.org/drawingml/2006/main">
            <a:off x="6096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1</a:t>
            </a:r>
          </a:p>
        </p:txBody>
      </p:sp>
      <p:sp>
        <p:nvSpPr>
          <p:cNvPr id="7" name="outcome-head-0">
            <a:extLst xmlns:a="http://schemas.openxmlformats.org/drawingml/2006/main">
              <a:ext uri="{FF2B5EF4-FFF2-40B4-BE49-F238E27FC236}">
                <a16:creationId xmlns:a16="http://schemas.microsoft.com/office/drawing/2014/main" id="{86C693E8-70BC-4730-B7F8-7C105A0929F8}"/>
              </a:ext>
            </a:extLst>
          </p:cNvPr>
          <p:cNvSpPr>
            <a:spLocks xmlns:a="http://schemas.openxmlformats.org/drawingml/2006/main" noGrp="1"/>
          </p:cNvSpPr>
          <p:nvPr/>
        </p:nvSpPr>
        <p:spPr>
          <a:xfrm xmlns:a="http://schemas.openxmlformats.org/drawingml/2006/main">
            <a:off x="12001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Distinguish</a:t>
            </a:r>
          </a:p>
        </p:txBody>
      </p:sp>
      <p:sp>
        <p:nvSpPr>
          <p:cNvPr id="8" name="outcome-body-0">
            <a:extLst xmlns:a="http://schemas.openxmlformats.org/drawingml/2006/main">
              <a:ext uri="{FF2B5EF4-FFF2-40B4-BE49-F238E27FC236}">
                <a16:creationId xmlns:a16="http://schemas.microsoft.com/office/drawing/2014/main" id="{4A153ECC-B41A-46A8-944C-85250424CC7E}"/>
              </a:ext>
            </a:extLst>
          </p:cNvPr>
          <p:cNvSpPr>
            <a:spLocks xmlns:a="http://schemas.openxmlformats.org/drawingml/2006/main" noGrp="1"/>
          </p:cNvSpPr>
          <p:nvPr/>
        </p:nvSpPr>
        <p:spPr>
          <a:xfrm xmlns:a="http://schemas.openxmlformats.org/drawingml/2006/main">
            <a:off x="12001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Tell a continuous design variable (Week 9-11's wwr, shade_m) apart from a genuinely discrete/combinatorial one, and explain why minimize cannot search the second kind.</a:t>
            </a:r>
          </a:p>
        </p:txBody>
      </p:sp>
      <p:sp>
        <p:nvSpPr>
          <p:cNvPr id="9" name="outcome-number-1">
            <a:extLst xmlns:a="http://schemas.openxmlformats.org/drawingml/2006/main">
              <a:ext uri="{FF2B5EF4-FFF2-40B4-BE49-F238E27FC236}">
                <a16:creationId xmlns:a16="http://schemas.microsoft.com/office/drawing/2014/main" id="{5634A3E0-6313-4936-9EDD-2120743B42FE}"/>
              </a:ext>
            </a:extLst>
          </p:cNvPr>
          <p:cNvSpPr>
            <a:spLocks xmlns:a="http://schemas.openxmlformats.org/drawingml/2006/main" noGrp="1"/>
          </p:cNvSpPr>
          <p:nvPr/>
        </p:nvSpPr>
        <p:spPr>
          <a:xfrm xmlns:a="http://schemas.openxmlformats.org/drawingml/2006/main">
            <a:off x="63627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2</a:t>
            </a:r>
          </a:p>
        </p:txBody>
      </p:sp>
      <p:sp>
        <p:nvSpPr>
          <p:cNvPr id="10" name="outcome-head-1">
            <a:extLst xmlns:a="http://schemas.openxmlformats.org/drawingml/2006/main">
              <a:ext uri="{FF2B5EF4-FFF2-40B4-BE49-F238E27FC236}">
                <a16:creationId xmlns:a16="http://schemas.microsoft.com/office/drawing/2014/main" id="{8D6904A6-B1BE-4D26-933A-9D26CBBBF435}"/>
              </a:ext>
            </a:extLst>
          </p:cNvPr>
          <p:cNvSpPr>
            <a:spLocks xmlns:a="http://schemas.openxmlformats.org/drawingml/2006/main" noGrp="1"/>
          </p:cNvSpPr>
          <p:nvPr/>
        </p:nvSpPr>
        <p:spPr>
          <a:xfrm xmlns:a="http://schemas.openxmlformats.org/drawingml/2006/main">
            <a:off x="69532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Build</a:t>
            </a:r>
          </a:p>
        </p:txBody>
      </p:sp>
      <p:sp>
        <p:nvSpPr>
          <p:cNvPr id="11" name="outcome-body-1">
            <a:extLst xmlns:a="http://schemas.openxmlformats.org/drawingml/2006/main">
              <a:ext uri="{FF2B5EF4-FFF2-40B4-BE49-F238E27FC236}">
                <a16:creationId xmlns:a16="http://schemas.microsoft.com/office/drawing/2014/main" id="{77102C41-80EB-4727-B9EA-588D0F5BB3B0}"/>
              </a:ext>
            </a:extLst>
          </p:cNvPr>
          <p:cNvSpPr>
            <a:spLocks xmlns:a="http://schemas.openxmlformats.org/drawingml/2006/main" noGrp="1"/>
          </p:cNvSpPr>
          <p:nvPr/>
        </p:nvSpPr>
        <p:spPr>
          <a:xfrm xmlns:a="http://schemas.openxmlformats.org/drawingml/2006/main">
            <a:off x="69532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Implement random search, hill climbing with restarts, and a small genetic algorithm (selection, crossover, mutation) on a toy discrete arrangement problem.</a:t>
            </a:r>
          </a:p>
        </p:txBody>
      </p:sp>
      <p:sp>
        <p:nvSpPr>
          <p:cNvPr id="12" name="outcome-number-2">
            <a:extLst xmlns:a="http://schemas.openxmlformats.org/drawingml/2006/main">
              <a:ext uri="{FF2B5EF4-FFF2-40B4-BE49-F238E27FC236}">
                <a16:creationId xmlns:a16="http://schemas.microsoft.com/office/drawing/2014/main" id="{F458F5FD-361D-4987-A72F-66481C8D6140}"/>
              </a:ext>
            </a:extLst>
          </p:cNvPr>
          <p:cNvSpPr>
            <a:spLocks xmlns:a="http://schemas.openxmlformats.org/drawingml/2006/main" noGrp="1"/>
          </p:cNvSpPr>
          <p:nvPr/>
        </p:nvSpPr>
        <p:spPr>
          <a:xfrm xmlns:a="http://schemas.openxmlformats.org/drawingml/2006/main">
            <a:off x="6096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3</a:t>
            </a:r>
          </a:p>
        </p:txBody>
      </p:sp>
      <p:sp>
        <p:nvSpPr>
          <p:cNvPr id="13" name="outcome-head-2">
            <a:extLst xmlns:a="http://schemas.openxmlformats.org/drawingml/2006/main">
              <a:ext uri="{FF2B5EF4-FFF2-40B4-BE49-F238E27FC236}">
                <a16:creationId xmlns:a16="http://schemas.microsoft.com/office/drawing/2014/main" id="{FEF27A71-DC03-4631-9879-5D1B6A29D545}"/>
              </a:ext>
            </a:extLst>
          </p:cNvPr>
          <p:cNvSpPr>
            <a:spLocks xmlns:a="http://schemas.openxmlformats.org/drawingml/2006/main" noGrp="1"/>
          </p:cNvSpPr>
          <p:nvPr/>
        </p:nvSpPr>
        <p:spPr>
          <a:xfrm xmlns:a="http://schemas.openxmlformats.org/drawingml/2006/main">
            <a:off x="12001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Compare</a:t>
            </a:r>
          </a:p>
        </p:txBody>
      </p:sp>
      <p:sp>
        <p:nvSpPr>
          <p:cNvPr id="14" name="outcome-body-2">
            <a:extLst xmlns:a="http://schemas.openxmlformats.org/drawingml/2006/main">
              <a:ext uri="{FF2B5EF4-FFF2-40B4-BE49-F238E27FC236}">
                <a16:creationId xmlns:a16="http://schemas.microsoft.com/office/drawing/2014/main" id="{4343534D-434C-4019-BF95-AC8F93C3E0CD}"/>
              </a:ext>
            </a:extLst>
          </p:cNvPr>
          <p:cNvSpPr>
            <a:spLocks xmlns:a="http://schemas.openxmlformats.org/drawingml/2006/main" noGrp="1"/>
          </p:cNvSpPr>
          <p:nvPr/>
        </p:nvSpPr>
        <p:spPr>
          <a:xfrm xmlns:a="http://schemas.openxmlformats.org/drawingml/2006/main">
            <a:off x="12001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Benchmark each heuristic's result and evaluation count against a brute-force baseline, on a problem small enough to check exhaustively.</a:t>
            </a:r>
          </a:p>
        </p:txBody>
      </p:sp>
      <p:sp>
        <p:nvSpPr>
          <p:cNvPr id="15" name="outcome-number-3">
            <a:extLst xmlns:a="http://schemas.openxmlformats.org/drawingml/2006/main">
              <a:ext uri="{FF2B5EF4-FFF2-40B4-BE49-F238E27FC236}">
                <a16:creationId xmlns:a16="http://schemas.microsoft.com/office/drawing/2014/main" id="{CEC89FB3-7314-4DAA-9D62-B90E0AC345CF}"/>
              </a:ext>
            </a:extLst>
          </p:cNvPr>
          <p:cNvSpPr>
            <a:spLocks xmlns:a="http://schemas.openxmlformats.org/drawingml/2006/main" noGrp="1"/>
          </p:cNvSpPr>
          <p:nvPr/>
        </p:nvSpPr>
        <p:spPr>
          <a:xfrm xmlns:a="http://schemas.openxmlformats.org/drawingml/2006/main">
            <a:off x="63627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4</a:t>
            </a:r>
          </a:p>
        </p:txBody>
      </p:sp>
      <p:sp>
        <p:nvSpPr>
          <p:cNvPr id="16" name="outcome-head-3">
            <a:extLst xmlns:a="http://schemas.openxmlformats.org/drawingml/2006/main">
              <a:ext uri="{FF2B5EF4-FFF2-40B4-BE49-F238E27FC236}">
                <a16:creationId xmlns:a16="http://schemas.microsoft.com/office/drawing/2014/main" id="{A01E3AA0-9FC0-470A-8B26-11B6B81E5C52}"/>
              </a:ext>
            </a:extLst>
          </p:cNvPr>
          <p:cNvSpPr>
            <a:spLocks xmlns:a="http://schemas.openxmlformats.org/drawingml/2006/main" noGrp="1"/>
          </p:cNvSpPr>
          <p:nvPr/>
        </p:nvSpPr>
        <p:spPr>
          <a:xfrm xmlns:a="http://schemas.openxmlformats.org/drawingml/2006/main">
            <a:off x="69532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Judge</a:t>
            </a:r>
          </a:p>
        </p:txBody>
      </p:sp>
      <p:sp>
        <p:nvSpPr>
          <p:cNvPr id="17" name="outcome-body-3">
            <a:extLst xmlns:a="http://schemas.openxmlformats.org/drawingml/2006/main">
              <a:ext uri="{FF2B5EF4-FFF2-40B4-BE49-F238E27FC236}">
                <a16:creationId xmlns:a16="http://schemas.microsoft.com/office/drawing/2014/main" id="{4C1F9BEC-4A16-4EDA-BEEC-B85EB797B6E7}"/>
              </a:ext>
            </a:extLst>
          </p:cNvPr>
          <p:cNvSpPr>
            <a:spLocks xmlns:a="http://schemas.openxmlformats.org/drawingml/2006/main" noGrp="1"/>
          </p:cNvSpPr>
          <p:nvPr/>
        </p:nvSpPr>
        <p:spPr>
          <a:xfrm xmlns:a="http://schemas.openxmlformats.org/drawingml/2006/main">
            <a:off x="69532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State honestly what a genetic algorithm does and does not guarantee, and name why brute force stops being an option as the problem grows.</a:t>
            </a:r>
          </a:p>
        </p:txBody>
      </p:sp>
    </p:spTree>
    <p:extLst>
      <p:ext uri="{BB962C8B-B14F-4D97-AF65-F5344CB8AC3E}">
        <p14:creationId xmlns:p14="http://schemas.microsoft.com/office/powerpoint/2010/main" val="8745671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EEE707FB-9883-4957-8386-3E6F646AE4F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ROAD MAP</a:t>
            </a:r>
          </a:p>
        </p:txBody>
      </p:sp>
      <p:sp>
        <p:nvSpPr>
          <p:cNvPr id="2" name="title">
            <a:extLst xmlns:a="http://schemas.openxmlformats.org/drawingml/2006/main">
              <a:ext uri="{FF2B5EF4-FFF2-40B4-BE49-F238E27FC236}">
                <a16:creationId xmlns:a16="http://schemas.microsoft.com/office/drawing/2014/main" id="{E73D25D5-43CF-4173-82A5-5D69457E34C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Today’s learning sequence</a:t>
            </a:r>
          </a:p>
        </p:txBody>
      </p:sp>
      <p:sp>
        <p:nvSpPr>
          <p:cNvPr id="3" name="">
            <a:extLst xmlns:a="http://schemas.openxmlformats.org/drawingml/2006/main">
              <a:ext uri="{FF2B5EF4-FFF2-40B4-BE49-F238E27FC236}">
                <a16:creationId xmlns:a16="http://schemas.microsoft.com/office/drawing/2014/main" id="{22CF29E9-7A57-4064-8861-77E0BA47103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F13913A-DA7E-4027-8FEF-45D07D2FC45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448AC2F4-B488-4319-8A6D-0B9C78F6AE4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04</a:t>
            </a:r>
          </a:p>
        </p:txBody>
      </p:sp>
      <p:sp>
        <p:nvSpPr>
          <p:cNvPr id="6" name="agenda-no-0">
            <a:extLst xmlns:a="http://schemas.openxmlformats.org/drawingml/2006/main">
              <a:ext uri="{FF2B5EF4-FFF2-40B4-BE49-F238E27FC236}">
                <a16:creationId xmlns:a16="http://schemas.microsoft.com/office/drawing/2014/main" id="{E7DF1E61-D541-4E1F-B75B-B7C8DA364A0F}"/>
              </a:ext>
            </a:extLst>
          </p:cNvPr>
          <p:cNvSpPr>
            <a:spLocks xmlns:a="http://schemas.openxmlformats.org/drawingml/2006/main" noGrp="1"/>
          </p:cNvSpPr>
          <p:nvPr/>
        </p:nvSpPr>
        <p:spPr>
          <a:xfrm xmlns:a="http://schemas.openxmlformats.org/drawingml/2006/main">
            <a:off x="609600" y="22002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8303632F-DA17-4F7A-8A78-A89BD5B64305}"/>
              </a:ext>
            </a:extLst>
          </p:cNvPr>
          <p:cNvSpPr>
            <a:spLocks xmlns:a="http://schemas.openxmlformats.org/drawingml/2006/main" noGrp="1"/>
          </p:cNvSpPr>
          <p:nvPr/>
        </p:nvSpPr>
        <p:spPr>
          <a:xfrm xmlns:a="http://schemas.openxmlformats.org/drawingml/2006/main">
            <a:off x="1314450" y="2352675"/>
            <a:ext cx="7429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8" name="agenda-item-0">
            <a:extLst xmlns:a="http://schemas.openxmlformats.org/drawingml/2006/main">
              <a:ext uri="{FF2B5EF4-FFF2-40B4-BE49-F238E27FC236}">
                <a16:creationId xmlns:a16="http://schemas.microsoft.com/office/drawing/2014/main" id="{CB95136B-C842-456F-9B3C-4CCC6DBE2970}"/>
              </a:ext>
            </a:extLst>
          </p:cNvPr>
          <p:cNvSpPr>
            <a:spLocks xmlns:a="http://schemas.openxmlformats.org/drawingml/2006/main" noGrp="1"/>
          </p:cNvSpPr>
          <p:nvPr/>
        </p:nvSpPr>
        <p:spPr>
          <a:xfrm xmlns:a="http://schemas.openxmlformats.org/drawingml/2006/main">
            <a:off x="2381250" y="21431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Why last week's tool (minimize) cannot search a combinatorial decision</a:t>
            </a:r>
          </a:p>
        </p:txBody>
      </p:sp>
      <p:sp>
        <p:nvSpPr>
          <p:cNvPr id="9" name="agenda-no-1">
            <a:extLst xmlns:a="http://schemas.openxmlformats.org/drawingml/2006/main">
              <a:ext uri="{FF2B5EF4-FFF2-40B4-BE49-F238E27FC236}">
                <a16:creationId xmlns:a16="http://schemas.microsoft.com/office/drawing/2014/main" id="{C7C7B732-031F-4E98-B44B-189E3D630EBE}"/>
              </a:ext>
            </a:extLst>
          </p:cNvPr>
          <p:cNvSpPr>
            <a:spLocks xmlns:a="http://schemas.openxmlformats.org/drawingml/2006/main" noGrp="1"/>
          </p:cNvSpPr>
          <p:nvPr/>
        </p:nvSpPr>
        <p:spPr>
          <a:xfrm xmlns:a="http://schemas.openxmlformats.org/drawingml/2006/main">
            <a:off x="609600" y="31146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70EA1938-6657-4797-9520-C5E4096A618A}"/>
              </a:ext>
            </a:extLst>
          </p:cNvPr>
          <p:cNvSpPr>
            <a:spLocks xmlns:a="http://schemas.openxmlformats.org/drawingml/2006/main" noGrp="1"/>
          </p:cNvSpPr>
          <p:nvPr/>
        </p:nvSpPr>
        <p:spPr>
          <a:xfrm xmlns:a="http://schemas.openxmlformats.org/drawingml/2006/main">
            <a:off x="1314450" y="32670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1" name="agenda-item-1">
            <a:extLst xmlns:a="http://schemas.openxmlformats.org/drawingml/2006/main">
              <a:ext uri="{FF2B5EF4-FFF2-40B4-BE49-F238E27FC236}">
                <a16:creationId xmlns:a16="http://schemas.microsoft.com/office/drawing/2014/main" id="{668BA8D2-E44B-4A6F-BE30-EFDFCFEE38A0}"/>
              </a:ext>
            </a:extLst>
          </p:cNvPr>
          <p:cNvSpPr>
            <a:spLocks xmlns:a="http://schemas.openxmlformats.org/drawingml/2006/main" noGrp="1"/>
          </p:cNvSpPr>
          <p:nvPr/>
        </p:nvSpPr>
        <p:spPr>
          <a:xfrm xmlns:a="http://schemas.openxmlformats.org/drawingml/2006/main">
            <a:off x="2381250" y="30575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Brute force: checking every option, while that is still possible</a:t>
            </a:r>
          </a:p>
        </p:txBody>
      </p:sp>
      <p:sp>
        <p:nvSpPr>
          <p:cNvPr id="12" name="agenda-no-2">
            <a:extLst xmlns:a="http://schemas.openxmlformats.org/drawingml/2006/main">
              <a:ext uri="{FF2B5EF4-FFF2-40B4-BE49-F238E27FC236}">
                <a16:creationId xmlns:a16="http://schemas.microsoft.com/office/drawing/2014/main" id="{C44E27AA-B2B9-4E5B-AC29-7D6153F2C2DB}"/>
              </a:ext>
            </a:extLst>
          </p:cNvPr>
          <p:cNvSpPr>
            <a:spLocks xmlns:a="http://schemas.openxmlformats.org/drawingml/2006/main" noGrp="1"/>
          </p:cNvSpPr>
          <p:nvPr/>
        </p:nvSpPr>
        <p:spPr>
          <a:xfrm xmlns:a="http://schemas.openxmlformats.org/drawingml/2006/main">
            <a:off x="609600" y="40290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34246784-7D95-4B7D-A941-41822FE2B0E7}"/>
              </a:ext>
            </a:extLst>
          </p:cNvPr>
          <p:cNvSpPr>
            <a:spLocks xmlns:a="http://schemas.openxmlformats.org/drawingml/2006/main" noGrp="1"/>
          </p:cNvSpPr>
          <p:nvPr/>
        </p:nvSpPr>
        <p:spPr>
          <a:xfrm xmlns:a="http://schemas.openxmlformats.org/drawingml/2006/main">
            <a:off x="1314450" y="41814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4" name="agenda-item-2">
            <a:extLst xmlns:a="http://schemas.openxmlformats.org/drawingml/2006/main">
              <a:ext uri="{FF2B5EF4-FFF2-40B4-BE49-F238E27FC236}">
                <a16:creationId xmlns:a16="http://schemas.microsoft.com/office/drawing/2014/main" id="{E47FAD37-2542-4E6E-9B43-C3A79F5DFEF6}"/>
              </a:ext>
            </a:extLst>
          </p:cNvPr>
          <p:cNvSpPr>
            <a:spLocks xmlns:a="http://schemas.openxmlformats.org/drawingml/2006/main" noGrp="1"/>
          </p:cNvSpPr>
          <p:nvPr/>
        </p:nvSpPr>
        <p:spPr>
          <a:xfrm xmlns:a="http://schemas.openxmlformats.org/drawingml/2006/main">
            <a:off x="2381250" y="39719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From random search to hill-climbing (with restarts)</a:t>
            </a:r>
          </a:p>
        </p:txBody>
      </p:sp>
      <p:sp>
        <p:nvSpPr>
          <p:cNvPr id="15" name="agenda-no-3">
            <a:extLst xmlns:a="http://schemas.openxmlformats.org/drawingml/2006/main">
              <a:ext uri="{FF2B5EF4-FFF2-40B4-BE49-F238E27FC236}">
                <a16:creationId xmlns:a16="http://schemas.microsoft.com/office/drawing/2014/main" id="{A3323938-ECD0-409B-A9D8-DCADACC38A11}"/>
              </a:ext>
            </a:extLst>
          </p:cNvPr>
          <p:cNvSpPr>
            <a:spLocks xmlns:a="http://schemas.openxmlformats.org/drawingml/2006/main" noGrp="1"/>
          </p:cNvSpPr>
          <p:nvPr/>
        </p:nvSpPr>
        <p:spPr>
          <a:xfrm xmlns:a="http://schemas.openxmlformats.org/drawingml/2006/main">
            <a:off x="609600" y="49434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2D2579CC-82EA-4875-AA81-64F96B017069}"/>
              </a:ext>
            </a:extLst>
          </p:cNvPr>
          <p:cNvSpPr>
            <a:spLocks xmlns:a="http://schemas.openxmlformats.org/drawingml/2006/main" noGrp="1"/>
          </p:cNvSpPr>
          <p:nvPr/>
        </p:nvSpPr>
        <p:spPr>
          <a:xfrm xmlns:a="http://schemas.openxmlformats.org/drawingml/2006/main">
            <a:off x="1314450" y="50958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7" name="agenda-item-3">
            <a:extLst xmlns:a="http://schemas.openxmlformats.org/drawingml/2006/main">
              <a:ext uri="{FF2B5EF4-FFF2-40B4-BE49-F238E27FC236}">
                <a16:creationId xmlns:a16="http://schemas.microsoft.com/office/drawing/2014/main" id="{53993BA0-85C5-467F-B3AB-CC4756447D3B}"/>
              </a:ext>
            </a:extLst>
          </p:cNvPr>
          <p:cNvSpPr>
            <a:spLocks xmlns:a="http://schemas.openxmlformats.org/drawingml/2006/main" noGrp="1"/>
          </p:cNvSpPr>
          <p:nvPr/>
        </p:nvSpPr>
        <p:spPr>
          <a:xfrm xmlns:a="http://schemas.openxmlformats.org/drawingml/2006/main">
            <a:off x="2381250" y="48863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A small genetic algorithm: selection, crossover, mutation</a:t>
            </a:r>
          </a:p>
        </p:txBody>
      </p:sp>
    </p:spTree>
    <p:extLst>
      <p:ext uri="{BB962C8B-B14F-4D97-AF65-F5344CB8AC3E}">
        <p14:creationId xmlns:p14="http://schemas.microsoft.com/office/powerpoint/2010/main" val="3312660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11054658-A19B-46FD-9AC1-368C6438BB4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D5BFE1B5-B5E5-4B0A-B104-0CE330F1212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variable type determines whether a slope exists</a:t>
            </a:r>
          </a:p>
        </p:txBody>
      </p:sp>
      <p:sp>
        <p:nvSpPr>
          <p:cNvPr id="3" name="">
            <a:extLst xmlns:a="http://schemas.openxmlformats.org/drawingml/2006/main">
              <a:ext uri="{FF2B5EF4-FFF2-40B4-BE49-F238E27FC236}">
                <a16:creationId xmlns:a16="http://schemas.microsoft.com/office/drawing/2014/main" id="{B25AF438-2D3C-418C-B5DD-7BDFD6C3C80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C4D4C5A-1B03-4CA4-8599-6902B267503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EA493BC4-713D-47D2-8BE7-F0C448C5F56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05</a:t>
            </a:r>
          </a:p>
        </p:txBody>
      </p:sp>
      <p:sp>
        <p:nvSpPr>
          <p:cNvPr id="6" name="step-arrow-0">
            <a:extLst xmlns:a="http://schemas.openxmlformats.org/drawingml/2006/main">
              <a:ext uri="{FF2B5EF4-FFF2-40B4-BE49-F238E27FC236}">
                <a16:creationId xmlns:a16="http://schemas.microsoft.com/office/drawing/2014/main" id="{B721841F-AFEE-43E6-9695-D5F41C76DF41}"/>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F402BBFF-7C18-49B0-B5AD-00A97B4C350E}"/>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8C8B4C02-9B42-41FA-AA4A-E49F378C15A8}"/>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7F07F684-72A5-4185-B5DD-C49040E4DA55}"/>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6169FE76-2BA8-406D-B0BC-3251459AC747}"/>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E6174702-583B-4E15-98AD-4DC0BAFD2C4D}"/>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CONTINUOUS</a:t>
            </a:r>
          </a:p>
        </p:txBody>
      </p:sp>
      <p:sp>
        <p:nvSpPr>
          <p:cNvPr id="12" name="">
            <a:extLst xmlns:a="http://schemas.openxmlformats.org/drawingml/2006/main">
              <a:ext uri="{FF2B5EF4-FFF2-40B4-BE49-F238E27FC236}">
                <a16:creationId xmlns:a16="http://schemas.microsoft.com/office/drawing/2014/main" id="{DC659A49-FD8F-452D-8E07-F89A8B19D34A}"/>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D663CB21-EBB0-49FA-B5EE-2E4164E4F0C6}"/>
              </a:ext>
            </a:extLst>
          </p:cNvPr>
          <p:cNvSpPr>
            <a:spLocks xmlns:a="http://schemas.openxmlformats.org/drawingml/2006/main" noGrp="1"/>
          </p:cNvSpPr>
          <p:nvPr/>
        </p:nvSpPr>
        <p:spPr>
          <a:xfrm xmlns:a="http://schemas.openxmlformats.org/drawingml/2006/main">
            <a:off x="8001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Nearby values exist</a:t>
            </a:r>
          </a:p>
        </p:txBody>
      </p:sp>
      <p:sp>
        <p:nvSpPr>
          <p:cNvPr id="14" name="step-body-0">
            <a:extLst xmlns:a="http://schemas.openxmlformats.org/drawingml/2006/main">
              <a:ext uri="{FF2B5EF4-FFF2-40B4-BE49-F238E27FC236}">
                <a16:creationId xmlns:a16="http://schemas.microsoft.com/office/drawing/2014/main" id="{C3A93C23-504D-4B0D-8E30-1D9D348F69AF}"/>
              </a:ext>
            </a:extLst>
          </p:cNvPr>
          <p:cNvSpPr>
            <a:spLocks xmlns:a="http://schemas.openxmlformats.org/drawingml/2006/main" noGrp="1"/>
          </p:cNvSpPr>
          <p:nvPr/>
        </p:nvSpPr>
        <p:spPr>
          <a:xfrm xmlns:a="http://schemas.openxmlformats.org/drawingml/2006/main">
            <a:off x="8001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WWR or shade depth can change by a small amount inside bounds.</a:t>
            </a:r>
          </a:p>
        </p:txBody>
      </p:sp>
      <p:sp>
        <p:nvSpPr>
          <p:cNvPr id="15" name="step-node-1">
            <a:extLst xmlns:a="http://schemas.openxmlformats.org/drawingml/2006/main">
              <a:ext uri="{FF2B5EF4-FFF2-40B4-BE49-F238E27FC236}">
                <a16:creationId xmlns:a16="http://schemas.microsoft.com/office/drawing/2014/main" id="{495B0006-033B-4644-A224-433C27DEB490}"/>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9923AD8D-F4B2-42D7-ABA8-98494B3FEACC}"/>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240D1ABE-425C-40BE-B984-D2F9841765D6}"/>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GRADIENT</a:t>
            </a:r>
          </a:p>
        </p:txBody>
      </p:sp>
      <p:sp>
        <p:nvSpPr>
          <p:cNvPr id="18" name="">
            <a:extLst xmlns:a="http://schemas.openxmlformats.org/drawingml/2006/main">
              <a:ext uri="{FF2B5EF4-FFF2-40B4-BE49-F238E27FC236}">
                <a16:creationId xmlns:a16="http://schemas.microsoft.com/office/drawing/2014/main" id="{58CD82C6-927F-4C26-AABE-4F7F38FD0C39}"/>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41C2FC41-899C-4359-9E1F-F4AE3D21D059}"/>
              </a:ext>
            </a:extLst>
          </p:cNvPr>
          <p:cNvSpPr>
            <a:spLocks xmlns:a="http://schemas.openxmlformats.org/drawingml/2006/main" noGrp="1"/>
          </p:cNvSpPr>
          <p:nvPr/>
        </p:nvSpPr>
        <p:spPr>
          <a:xfrm xmlns:a="http://schemas.openxmlformats.org/drawingml/2006/main">
            <a:off x="36004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A direction exists</a:t>
            </a:r>
          </a:p>
        </p:txBody>
      </p:sp>
      <p:sp>
        <p:nvSpPr>
          <p:cNvPr id="20" name="step-body-1">
            <a:extLst xmlns:a="http://schemas.openxmlformats.org/drawingml/2006/main">
              <a:ext uri="{FF2B5EF4-FFF2-40B4-BE49-F238E27FC236}">
                <a16:creationId xmlns:a16="http://schemas.microsoft.com/office/drawing/2014/main" id="{CB5F1529-1D44-461D-A660-F1FC3EBCEC19}"/>
              </a:ext>
            </a:extLst>
          </p:cNvPr>
          <p:cNvSpPr>
            <a:spLocks xmlns:a="http://schemas.openxmlformats.org/drawingml/2006/main" noGrp="1"/>
          </p:cNvSpPr>
          <p:nvPr/>
        </p:nvSpPr>
        <p:spPr>
          <a:xfrm xmlns:a="http://schemas.openxmlformats.org/drawingml/2006/main">
            <a:off x="36004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Local slope can guide a bounded nonlinear search.</a:t>
            </a:r>
          </a:p>
        </p:txBody>
      </p:sp>
      <p:sp>
        <p:nvSpPr>
          <p:cNvPr id="21" name="step-node-2">
            <a:extLst xmlns:a="http://schemas.openxmlformats.org/drawingml/2006/main">
              <a:ext uri="{FF2B5EF4-FFF2-40B4-BE49-F238E27FC236}">
                <a16:creationId xmlns:a16="http://schemas.microsoft.com/office/drawing/2014/main" id="{11FC7DCA-A07E-4DF8-BE9F-E3BFF564830B}"/>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03B9CF2C-A9FB-4F46-9955-B360620447DF}"/>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6DCF5BBB-C8C5-4099-B0A6-5B40B2B49C78}"/>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DISCRETE</a:t>
            </a:r>
          </a:p>
        </p:txBody>
      </p:sp>
      <p:sp>
        <p:nvSpPr>
          <p:cNvPr id="24" name="">
            <a:extLst xmlns:a="http://schemas.openxmlformats.org/drawingml/2006/main">
              <a:ext uri="{FF2B5EF4-FFF2-40B4-BE49-F238E27FC236}">
                <a16:creationId xmlns:a16="http://schemas.microsoft.com/office/drawing/2014/main" id="{FBD7FEA3-0352-49A7-B983-B2F22DDED0B4}"/>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98030C7E-F12D-493E-9E7A-4A3B28DB1700}"/>
              </a:ext>
            </a:extLst>
          </p:cNvPr>
          <p:cNvSpPr>
            <a:spLocks xmlns:a="http://schemas.openxmlformats.org/drawingml/2006/main" noGrp="1"/>
          </p:cNvSpPr>
          <p:nvPr/>
        </p:nvSpPr>
        <p:spPr>
          <a:xfrm xmlns:a="http://schemas.openxmlformats.org/drawingml/2006/main">
            <a:off x="64008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Choices are separate</a:t>
            </a:r>
          </a:p>
        </p:txBody>
      </p:sp>
      <p:sp>
        <p:nvSpPr>
          <p:cNvPr id="26" name="step-body-2">
            <a:extLst xmlns:a="http://schemas.openxmlformats.org/drawingml/2006/main">
              <a:ext uri="{FF2B5EF4-FFF2-40B4-BE49-F238E27FC236}">
                <a16:creationId xmlns:a16="http://schemas.microsoft.com/office/drawing/2014/main" id="{B2FED34F-FBE7-44F5-9BCB-D14C92017C64}"/>
              </a:ext>
            </a:extLst>
          </p:cNvPr>
          <p:cNvSpPr>
            <a:spLocks xmlns:a="http://schemas.openxmlformats.org/drawingml/2006/main" noGrp="1"/>
          </p:cNvSpPr>
          <p:nvPr/>
        </p:nvSpPr>
        <p:spPr>
          <a:xfrm xmlns:a="http://schemas.openxmlformats.org/drawingml/2006/main">
            <a:off x="64008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 panel identity or bay arrangement has no in-between value.</a:t>
            </a:r>
          </a:p>
        </p:txBody>
      </p:sp>
      <p:sp>
        <p:nvSpPr>
          <p:cNvPr id="27" name="step-node-3">
            <a:extLst xmlns:a="http://schemas.openxmlformats.org/drawingml/2006/main">
              <a:ext uri="{FF2B5EF4-FFF2-40B4-BE49-F238E27FC236}">
                <a16:creationId xmlns:a16="http://schemas.microsoft.com/office/drawing/2014/main" id="{F6A85E61-AF0A-438D-820F-E532F40BAF24}"/>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A3CBC2AF-E047-4975-A6E9-85E4AC25A54D}"/>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AAC092B1-4238-4FF0-A30D-4237170A25FA}"/>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SEARCH</a:t>
            </a:r>
          </a:p>
        </p:txBody>
      </p:sp>
      <p:sp>
        <p:nvSpPr>
          <p:cNvPr id="30" name="">
            <a:extLst xmlns:a="http://schemas.openxmlformats.org/drawingml/2006/main">
              <a:ext uri="{FF2B5EF4-FFF2-40B4-BE49-F238E27FC236}">
                <a16:creationId xmlns:a16="http://schemas.microsoft.com/office/drawing/2014/main" id="{EDB9A293-C01C-41F4-A967-5B834CD3626D}"/>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8EF5D85E-FB00-44CE-B919-8253917F6AF2}"/>
              </a:ext>
            </a:extLst>
          </p:cNvPr>
          <p:cNvSpPr>
            <a:spLocks xmlns:a="http://schemas.openxmlformats.org/drawingml/2006/main" noGrp="1"/>
          </p:cNvSpPr>
          <p:nvPr/>
        </p:nvSpPr>
        <p:spPr>
          <a:xfrm xmlns:a="http://schemas.openxmlformats.org/drawingml/2006/main">
            <a:off x="92011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Compare candidates</a:t>
            </a:r>
          </a:p>
        </p:txBody>
      </p:sp>
      <p:sp>
        <p:nvSpPr>
          <p:cNvPr id="32" name="step-body-3">
            <a:extLst xmlns:a="http://schemas.openxmlformats.org/drawingml/2006/main">
              <a:ext uri="{FF2B5EF4-FFF2-40B4-BE49-F238E27FC236}">
                <a16:creationId xmlns:a16="http://schemas.microsoft.com/office/drawing/2014/main" id="{198D17AD-E4A1-4393-8C88-F4D7EE998D02}"/>
              </a:ext>
            </a:extLst>
          </p:cNvPr>
          <p:cNvSpPr>
            <a:spLocks xmlns:a="http://schemas.openxmlformats.org/drawingml/2006/main" noGrp="1"/>
          </p:cNvSpPr>
          <p:nvPr/>
        </p:nvSpPr>
        <p:spPr>
          <a:xfrm xmlns:a="http://schemas.openxmlformats.org/drawingml/2006/main">
            <a:off x="92011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Enumeration or heuristics explore distinct arrangements without a gradient.</a:t>
            </a:r>
          </a:p>
        </p:txBody>
      </p:sp>
    </p:spTree>
    <p:extLst>
      <p:ext uri="{BB962C8B-B14F-4D97-AF65-F5344CB8AC3E}">
        <p14:creationId xmlns:p14="http://schemas.microsoft.com/office/powerpoint/2010/main" val="13201676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D11FF2EA-96C5-499D-AF61-B502F93DCD0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839A664D-0026-491B-8C93-3955DF861ED8}"/>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problem: 6 panels, 6 bays, one cost function</a:t>
            </a:r>
          </a:p>
        </p:txBody>
      </p:sp>
      <p:sp>
        <p:nvSpPr>
          <p:cNvPr id="3" name="">
            <a:extLst xmlns:a="http://schemas.openxmlformats.org/drawingml/2006/main">
              <a:ext uri="{FF2B5EF4-FFF2-40B4-BE49-F238E27FC236}">
                <a16:creationId xmlns:a16="http://schemas.microsoft.com/office/drawing/2014/main" id="{8CA1C5B7-472C-4B26-A2C2-8F0C51A2AF0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19FA815-929B-4299-8020-C7A7DFFFF59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73D2821F-3CD9-4B61-9D8A-69C8A854F09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06</a:t>
            </a:r>
          </a:p>
        </p:txBody>
      </p:sp>
      <p:sp>
        <p:nvSpPr>
          <p:cNvPr id="6" name="code-panel">
            <a:extLst xmlns:a="http://schemas.openxmlformats.org/drawingml/2006/main">
              <a:ext uri="{FF2B5EF4-FFF2-40B4-BE49-F238E27FC236}">
                <a16:creationId xmlns:a16="http://schemas.microsoft.com/office/drawing/2014/main" id="{FCECF0E8-4DB2-43EF-A2F1-B537D9275587}"/>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270CF876-8EEC-4D48-BEAD-CFBBFA17F1E8}"/>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position_ideal = [0.15, 0.25, 0.45,   # bays 1-3</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0.55, 0.35, 0.20]   # bays 4-6</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panel_transmittance = [0.10, 0.20, 0.30,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0.40, 0.50, 0.60]  # 6 panels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cost(perm: list) -&gt; float: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"""Squared mismatch summed over all six bays."""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sum((panel_transmittance[p]</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 position_ideal[i]) ** 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for i, p in enumerate(perm))</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print(round(cost((0, 1, 2, 3, 4, 5)), 4))</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print(round(cost((0, 2, 4, 5, 3, 1)), 4))</a:t>
            </a:r>
          </a:p>
        </p:txBody>
      </p:sp>
      <p:sp>
        <p:nvSpPr>
          <p:cNvPr id="8" name="">
            <a:extLst xmlns:a="http://schemas.openxmlformats.org/drawingml/2006/main">
              <a:ext uri="{FF2B5EF4-FFF2-40B4-BE49-F238E27FC236}">
                <a16:creationId xmlns:a16="http://schemas.microsoft.com/office/drawing/2014/main" id="{61A4684E-D488-4F3C-AA31-71F3267C83D8}"/>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AB8E2244-F2E5-42D3-B587-2DF06F81F082}"/>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96D99A13-AA0D-469F-B91F-289E4410493D}"/>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0.2325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0.0125</a:t>
            </a:r>
          </a:p>
        </p:txBody>
      </p:sp>
      <p:sp>
        <p:nvSpPr>
          <p:cNvPr id="11" name="explain-head">
            <a:extLst xmlns:a="http://schemas.openxmlformats.org/drawingml/2006/main">
              <a:ext uri="{FF2B5EF4-FFF2-40B4-BE49-F238E27FC236}">
                <a16:creationId xmlns:a16="http://schemas.microsoft.com/office/drawing/2014/main" id="{A06F9FD9-1215-4CD4-952D-3C586422A43F}"/>
              </a:ext>
            </a:extLst>
          </p:cNvPr>
          <p:cNvSpPr>
            <a:spLocks xmlns:a="http://schemas.openxmlformats.org/drawingml/2006/main" noGrp="1"/>
          </p:cNvSpPr>
          <p:nvPr/>
        </p:nvSpPr>
        <p:spPr>
          <a:xfrm xmlns:a="http://schemas.openxmlformats.org/drawingml/2006/main">
            <a:off x="7886700" y="18859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Radley Hall's south facade</a:t>
            </a:r>
          </a:p>
        </p:txBody>
      </p:sp>
      <p:sp>
        <p:nvSpPr>
          <p:cNvPr id="12" name="explain-body">
            <a:extLst xmlns:a="http://schemas.openxmlformats.org/drawingml/2006/main">
              <a:ext uri="{FF2B5EF4-FFF2-40B4-BE49-F238E27FC236}">
                <a16:creationId xmlns:a16="http://schemas.microsoft.com/office/drawing/2014/main" id="{31F7B4AC-D4F8-4929-AC8E-2EEA287FDFC0}"/>
              </a:ext>
            </a:extLst>
          </p:cNvPr>
          <p:cNvSpPr>
            <a:spLocks xmlns:a="http://schemas.openxmlformats.org/drawingml/2006/main" noGrp="1"/>
          </p:cNvSpPr>
          <p:nvPr/>
        </p:nvSpPr>
        <p:spPr>
          <a:xfrm xmlns:a="http://schemas.openxmlformats.org/drawingml/2006/main">
            <a:off x="7886700" y="2671572"/>
            <a:ext cx="3695700" cy="339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Six bays, each needing exactly one of six distinct, fixed panel types; each bay has an ideal transmittance from its sun exposure. cost() sums the squared mismatch between each bay's assigned panel and its ideal value, and carries the docstring plus parameter/return type hints required since Week 4. cost() plays the exact role the objective function played in Weeks 10-11 — the one number every method in this deck tries to minimize. Two arrangements already show a large gap: 0.2325 vs. 0.0125. round(..., 4) is needed because the raw float prints as 0.23249999999999998.</a:t>
            </a:r>
          </a:p>
        </p:txBody>
      </p:sp>
    </p:spTree>
    <p:extLst>
      <p:ext uri="{BB962C8B-B14F-4D97-AF65-F5344CB8AC3E}">
        <p14:creationId xmlns:p14="http://schemas.microsoft.com/office/powerpoint/2010/main" val="4094859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E4656F6C-0B86-4D0C-8990-645A8AED98E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A074BBA0-FDE7-456F-9C5B-C51D3770590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Permutation, defined</a:t>
            </a:r>
          </a:p>
        </p:txBody>
      </p:sp>
      <p:sp>
        <p:nvSpPr>
          <p:cNvPr id="3" name="">
            <a:extLst xmlns:a="http://schemas.openxmlformats.org/drawingml/2006/main">
              <a:ext uri="{FF2B5EF4-FFF2-40B4-BE49-F238E27FC236}">
                <a16:creationId xmlns:a16="http://schemas.microsoft.com/office/drawing/2014/main" id="{7EE73F73-D5EF-49FC-86F2-57A4AFB34D06}"/>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C6773B8-E584-410E-8FC5-A30EEF52703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0D52E733-B23C-40EF-908C-CE6301A327E4}"/>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07</a:t>
            </a:r>
          </a:p>
        </p:txBody>
      </p:sp>
      <p:sp>
        <p:nvSpPr>
          <p:cNvPr id="6" name="term-label">
            <a:extLst xmlns:a="http://schemas.openxmlformats.org/drawingml/2006/main">
              <a:ext uri="{FF2B5EF4-FFF2-40B4-BE49-F238E27FC236}">
                <a16:creationId xmlns:a16="http://schemas.microsoft.com/office/drawing/2014/main" id="{C0FC4BA5-AC8B-414D-9EBF-426570CDF5E4}"/>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E36DA493-4A28-4D8E-9AD0-E23B992A524B}"/>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permutation</a:t>
            </a:r>
          </a:p>
        </p:txBody>
      </p:sp>
      <p:sp>
        <p:nvSpPr>
          <p:cNvPr id="8" name="">
            <a:extLst xmlns:a="http://schemas.openxmlformats.org/drawingml/2006/main">
              <a:ext uri="{FF2B5EF4-FFF2-40B4-BE49-F238E27FC236}">
                <a16:creationId xmlns:a16="http://schemas.microsoft.com/office/drawing/2014/main" id="{7EF1407D-8C9C-4568-AF64-35763BC643B6}"/>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FDFE140A-8E2F-463B-892B-6ED39E0D3437}"/>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One complete arrangement of a fixed set of items, using every item exactly once — no repeats, no omissions. Swapping even two positions creates a different, unrelated permutation, not a nearby variation of the same one.</a:t>
            </a:r>
          </a:p>
        </p:txBody>
      </p:sp>
      <p:sp>
        <p:nvSpPr>
          <p:cNvPr id="10" name="example-panel">
            <a:extLst xmlns:a="http://schemas.openxmlformats.org/drawingml/2006/main">
              <a:ext uri="{FF2B5EF4-FFF2-40B4-BE49-F238E27FC236}">
                <a16:creationId xmlns:a16="http://schemas.microsoft.com/office/drawing/2014/main" id="{AF20ED45-533B-499F-93DB-55EBC50A37F9}"/>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E57F6D27-8704-4B70-B192-AFC7A87699EF}"/>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D48D5CCA-A366-41E9-B006-13D75F95BBD1}"/>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perm = (0, 2, 4, 5, 3, 1)</a:t>
            </a:r>
          </a:p>
        </p:txBody>
      </p:sp>
      <p:sp>
        <p:nvSpPr>
          <p:cNvPr id="13" name="example-body">
            <a:extLst xmlns:a="http://schemas.openxmlformats.org/drawingml/2006/main">
              <a:ext uri="{FF2B5EF4-FFF2-40B4-BE49-F238E27FC236}">
                <a16:creationId xmlns:a16="http://schemas.microsoft.com/office/drawing/2014/main" id="{112E5D66-09CB-48BA-B633-56ABF20F20A8}"/>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perm[i] is the panel index assigned to bay i. Every one of the 720 arrangements brute force checks, and every individual in the genetic algorithm's population, is exactly one permutation like this.</a:t>
            </a:r>
          </a:p>
        </p:txBody>
      </p:sp>
      <p:sp>
        <p:nvSpPr>
          <p:cNvPr id="14" name="note-bar">
            <a:extLst xmlns:a="http://schemas.openxmlformats.org/drawingml/2006/main">
              <a:ext uri="{FF2B5EF4-FFF2-40B4-BE49-F238E27FC236}">
                <a16:creationId xmlns:a16="http://schemas.microsoft.com/office/drawing/2014/main" id="{AFBBA361-0FEA-4E6A-A67A-EBCE2908EBC9}"/>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E55F50AD-3C6C-455E-8526-9C4079C31C07}"/>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23E5378D-8FFE-4F66-8168-39F987B1EF38}"/>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A permutation is NOT a nudgeable number the way wwr=0.55 can shift to 0.56 — every arrangement is a whole, separate object, not a point along a line.</a:t>
            </a:r>
          </a:p>
        </p:txBody>
      </p:sp>
    </p:spTree>
    <p:extLst>
      <p:ext uri="{BB962C8B-B14F-4D97-AF65-F5344CB8AC3E}">
        <p14:creationId xmlns:p14="http://schemas.microsoft.com/office/powerpoint/2010/main" val="141808742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012BF66B-EFB5-4477-84BE-F9E146C0648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0C63217C-F836-4771-B856-2B89C0D19E9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Reading a generator expression, defined</a:t>
            </a:r>
          </a:p>
        </p:txBody>
      </p:sp>
      <p:sp>
        <p:nvSpPr>
          <p:cNvPr id="3" name="">
            <a:extLst xmlns:a="http://schemas.openxmlformats.org/drawingml/2006/main">
              <a:ext uri="{FF2B5EF4-FFF2-40B4-BE49-F238E27FC236}">
                <a16:creationId xmlns:a16="http://schemas.microsoft.com/office/drawing/2014/main" id="{CF2B6D69-D3C9-4A6A-B23B-B7F69ED85C66}"/>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CC865B2-2409-43E7-9F92-270B2854889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ABFF5966-8E44-4713-82FF-422B866FB5C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08</a:t>
            </a:r>
          </a:p>
        </p:txBody>
      </p:sp>
      <p:sp>
        <p:nvSpPr>
          <p:cNvPr id="6" name="left-head">
            <a:extLst xmlns:a="http://schemas.openxmlformats.org/drawingml/2006/main">
              <a:ext uri="{FF2B5EF4-FFF2-40B4-BE49-F238E27FC236}">
                <a16:creationId xmlns:a16="http://schemas.microsoft.com/office/drawing/2014/main" id="{027C8E48-D85C-4C4A-A3E1-5A5217FEB39C}"/>
              </a:ext>
            </a:extLst>
          </p:cNvPr>
          <p:cNvSpPr>
            <a:spLocks xmlns:a="http://schemas.openxmlformats.org/drawingml/2006/main" noGrp="1"/>
          </p:cNvSpPr>
          <p:nvPr/>
        </p:nvSpPr>
        <p:spPr>
          <a:xfrm xmlns:a="http://schemas.openxmlformats.org/drawingml/2006/main">
            <a:off x="609600" y="213360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The syntax</a:t>
            </a:r>
          </a:p>
        </p:txBody>
      </p:sp>
      <p:sp>
        <p:nvSpPr>
          <p:cNvPr id="7" name="left-body">
            <a:extLst xmlns:a="http://schemas.openxmlformats.org/drawingml/2006/main">
              <a:ext uri="{FF2B5EF4-FFF2-40B4-BE49-F238E27FC236}">
                <a16:creationId xmlns:a16="http://schemas.microsoft.com/office/drawing/2014/main" id="{0DC42FFF-E02F-4305-AE23-E3237EE809AE}"/>
              </a:ext>
            </a:extLst>
          </p:cNvPr>
          <p:cNvSpPr>
            <a:spLocks xmlns:a="http://schemas.openxmlformats.org/drawingml/2006/main" noGrp="1"/>
          </p:cNvSpPr>
          <p:nvPr/>
        </p:nvSpPr>
        <p:spPr>
          <a:xfrm xmlns:a="http://schemas.openxmlformats.org/drawingml/2006/main">
            <a:off x="609600" y="2631186"/>
            <a:ext cx="5219700" cy="21976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sum((panel_transmittance[p]-position_ideal[i])**2 for i,p in enumerate(perm)) has a GENERATOR EXPRESSION inside sum()'s parentheses. 'for i,p in enumerate(perm)' means 'for each bay i and its assigned panel p.' Each squared-mismatch term is produced one at a time and fed straight into sum() — no square brackets, no stored list, just a running total.</a:t>
            </a:r>
          </a:p>
        </p:txBody>
      </p:sp>
      <p:sp>
        <p:nvSpPr>
          <p:cNvPr id="8" name="right-head">
            <a:extLst xmlns:a="http://schemas.openxmlformats.org/drawingml/2006/main">
              <a:ext uri="{FF2B5EF4-FFF2-40B4-BE49-F238E27FC236}">
                <a16:creationId xmlns:a16="http://schemas.microsoft.com/office/drawing/2014/main" id="{515114C0-CA99-4283-A52D-25AF69AB8322}"/>
              </a:ext>
            </a:extLst>
          </p:cNvPr>
          <p:cNvSpPr>
            <a:spLocks xmlns:a="http://schemas.openxmlformats.org/drawingml/2006/main" noGrp="1"/>
          </p:cNvSpPr>
          <p:nvPr/>
        </p:nvSpPr>
        <p:spPr>
          <a:xfrm xmlns:a="http://schemas.openxmlformats.org/drawingml/2006/main">
            <a:off x="6362700" y="213360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The same idea, as an explicit loop</a:t>
            </a:r>
          </a:p>
        </p:txBody>
      </p:sp>
      <p:sp>
        <p:nvSpPr>
          <p:cNvPr id="9" name="right-body">
            <a:extLst xmlns:a="http://schemas.openxmlformats.org/drawingml/2006/main">
              <a:ext uri="{FF2B5EF4-FFF2-40B4-BE49-F238E27FC236}">
                <a16:creationId xmlns:a16="http://schemas.microsoft.com/office/drawing/2014/main" id="{B6E1FC82-FF4E-401C-8A0C-B9719FB7C3FA}"/>
              </a:ext>
            </a:extLst>
          </p:cNvPr>
          <p:cNvSpPr>
            <a:spLocks xmlns:a="http://schemas.openxmlformats.org/drawingml/2006/main" noGrp="1"/>
          </p:cNvSpPr>
          <p:nvPr/>
        </p:nvSpPr>
        <p:spPr>
          <a:xfrm xmlns:a="http://schemas.openxmlformats.org/drawingml/2006/main">
            <a:off x="6362700" y="2631186"/>
            <a:ext cx="5219700" cy="29931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total = 0</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for i, p in enumerate(perm):</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    total += (panel_transmittance[p] — position_ideal[i]) ** 2</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return total</a:t>
            </a:r>
          </a:p>
          <a:p xmlns:a="http://schemas.openxmlformats.org/drawingml/2006/main">
            <a:r>
              <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This loop computes the IDENTICAL number as cost()'s sum(...) version two slides back — the generator expression is just a shorter way to write the same for-loop, not a different calculation.</a:t>
            </a:r>
          </a:p>
        </p:txBody>
      </p:sp>
    </p:spTree>
    <p:extLst>
      <p:ext uri="{BB962C8B-B14F-4D97-AF65-F5344CB8AC3E}">
        <p14:creationId xmlns:p14="http://schemas.microsoft.com/office/powerpoint/2010/main" val="21254155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1F17901C-F4A1-404C-9A93-3A4904BDDCB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34B17F8E-CCC8-4EC4-BCCD-716F91ADDB5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Brute force, defined</a:t>
            </a:r>
          </a:p>
        </p:txBody>
      </p:sp>
      <p:sp>
        <p:nvSpPr>
          <p:cNvPr id="3" name="">
            <a:extLst xmlns:a="http://schemas.openxmlformats.org/drawingml/2006/main">
              <a:ext uri="{FF2B5EF4-FFF2-40B4-BE49-F238E27FC236}">
                <a16:creationId xmlns:a16="http://schemas.microsoft.com/office/drawing/2014/main" id="{086A6EC1-026E-46E4-AC18-57525B941DC6}"/>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1065720-7A34-4CCD-992F-F0133EB4854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1F4380ED-C643-456C-A450-7E12AD5D277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09</a:t>
            </a:r>
          </a:p>
        </p:txBody>
      </p:sp>
      <p:sp>
        <p:nvSpPr>
          <p:cNvPr id="6" name="term-label">
            <a:extLst xmlns:a="http://schemas.openxmlformats.org/drawingml/2006/main">
              <a:ext uri="{FF2B5EF4-FFF2-40B4-BE49-F238E27FC236}">
                <a16:creationId xmlns:a16="http://schemas.microsoft.com/office/drawing/2014/main" id="{2DE7EED5-448F-44D9-BA14-6E49BBD26A62}"/>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B3FE0C0F-A731-4FA6-A7B7-6B10C3D655E2}"/>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brute force</a:t>
            </a:r>
          </a:p>
        </p:txBody>
      </p:sp>
      <p:sp>
        <p:nvSpPr>
          <p:cNvPr id="8" name="">
            <a:extLst xmlns:a="http://schemas.openxmlformats.org/drawingml/2006/main">
              <a:ext uri="{FF2B5EF4-FFF2-40B4-BE49-F238E27FC236}">
                <a16:creationId xmlns:a16="http://schemas.microsoft.com/office/drawing/2014/main" id="{00A0207E-73BE-44DC-ADFA-C2263D92B1BA}"/>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5BF4E5B6-2680-42DC-B84A-6EAA087E1D9F}"/>
              </a:ext>
            </a:extLst>
          </p:cNvPr>
          <p:cNvSpPr>
            <a:spLocks xmlns:a="http://schemas.openxmlformats.org/drawingml/2006/main" noGrp="1"/>
          </p:cNvSpPr>
          <p:nvPr/>
        </p:nvSpPr>
        <p:spPr>
          <a:xfrm xmlns:a="http://schemas.openxmlformats.org/drawingml/2006/main">
            <a:off x="609600" y="2971800"/>
            <a:ext cx="5905500" cy="3067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Enumerate every arrangement in the encoded finite search space, compute its cost, and retain the best. This guarantees the best encoded arrangement if—and only if—the generator covers every valid candidate and the cost function represents the intended problem correctly.</a:t>
            </a:r>
          </a:p>
        </p:txBody>
      </p:sp>
      <p:sp>
        <p:nvSpPr>
          <p:cNvPr id="10" name="example-panel">
            <a:extLst xmlns:a="http://schemas.openxmlformats.org/drawingml/2006/main">
              <a:ext uri="{FF2B5EF4-FFF2-40B4-BE49-F238E27FC236}">
                <a16:creationId xmlns:a16="http://schemas.microsoft.com/office/drawing/2014/main" id="{40E5BC58-31D9-4C5A-BC36-696C5D019A80}"/>
              </a:ext>
            </a:extLst>
          </p:cNvPr>
          <p:cNvSpPr>
            <a:spLocks xmlns:a="http://schemas.openxmlformats.org/drawingml/2006/main" noGrp="1"/>
          </p:cNvSpPr>
          <p:nvPr/>
        </p:nvSpPr>
        <p:spPr>
          <a:xfrm xmlns:a="http://schemas.openxmlformats.org/drawingml/2006/main">
            <a:off x="6762750" y="1809750"/>
            <a:ext cx="4819650" cy="4248150"/>
          </a:xfrm>
          <a:prstGeom xmlns:a="http://schemas.openxmlformats.org/drawingml/2006/main" prst="roundRect">
            <a:avLst>
              <a:gd name="adj" fmla="val 1794"/>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B394ECF6-555F-40C2-8A6C-9FD98DABB15A}"/>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C840554C-2568-476E-ACC1-C93BB8580D0C}"/>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6! = 720 possible permutations</a:t>
            </a:r>
          </a:p>
        </p:txBody>
      </p:sp>
      <p:sp>
        <p:nvSpPr>
          <p:cNvPr id="13" name="example-body">
            <a:extLst xmlns:a="http://schemas.openxmlformats.org/drawingml/2006/main">
              <a:ext uri="{FF2B5EF4-FFF2-40B4-BE49-F238E27FC236}">
                <a16:creationId xmlns:a16="http://schemas.microsoft.com/office/drawing/2014/main" id="{080211E7-D608-4FB2-8B7C-9464FED336C4}"/>
              </a:ext>
            </a:extLst>
          </p:cNvPr>
          <p:cNvSpPr>
            <a:spLocks xmlns:a="http://schemas.openxmlformats.org/drawingml/2006/main" noGrp="1"/>
          </p:cNvSpPr>
          <p:nvPr/>
        </p:nvSpPr>
        <p:spPr>
          <a:xfrm xmlns:a="http://schemas.openxmlformats.org/drawingml/2006/main">
            <a:off x="6972300" y="2704338"/>
            <a:ext cx="4381500" cy="32202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6 bays and 6 distinct panels gives 720 permutations. That is small enough to enumerate and use as a verification oracle for this teaching example; factorial growth makes the same approach infeasible as N grows.</a:t>
            </a:r>
          </a:p>
        </p:txBody>
      </p:sp>
    </p:spTree>
    <p:extLst>
      <p:ext uri="{BB962C8B-B14F-4D97-AF65-F5344CB8AC3E}">
        <p14:creationId xmlns:p14="http://schemas.microsoft.com/office/powerpoint/2010/main" val="171026396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92FB6FAD-E054-4DDE-9667-11B56016A6B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BCBF55DF-BD29-4694-93BC-958E2BCD097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Brute force finds the guaranteed-true optimum</a:t>
            </a:r>
          </a:p>
        </p:txBody>
      </p:sp>
      <p:sp>
        <p:nvSpPr>
          <p:cNvPr id="3" name="">
            <a:extLst xmlns:a="http://schemas.openxmlformats.org/drawingml/2006/main">
              <a:ext uri="{FF2B5EF4-FFF2-40B4-BE49-F238E27FC236}">
                <a16:creationId xmlns:a16="http://schemas.microsoft.com/office/drawing/2014/main" id="{F22D4AF5-B5C2-4A4D-9437-6662A53B4F9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EFDB92F-21F1-4AE5-91C4-B7FF37EE63F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D7DD11AA-E6E4-4318-8AA1-4ED4B281C2A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10</a:t>
            </a:r>
          </a:p>
        </p:txBody>
      </p:sp>
      <p:sp>
        <p:nvSpPr>
          <p:cNvPr id="6" name="code-panel">
            <a:extLst xmlns:a="http://schemas.openxmlformats.org/drawingml/2006/main">
              <a:ext uri="{FF2B5EF4-FFF2-40B4-BE49-F238E27FC236}">
                <a16:creationId xmlns:a16="http://schemas.microsoft.com/office/drawing/2014/main" id="{9FE011A2-B9CD-4FCA-89EC-3F9426CE23AF}"/>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F3720779-AF4A-4029-9216-F6790BFEECB7}"/>
              </a:ext>
            </a:extLst>
          </p:cNvPr>
          <p:cNvSpPr>
            <a:spLocks xmlns:a="http://schemas.openxmlformats.org/drawingml/2006/main" noGrp="1"/>
          </p:cNvSpPr>
          <p:nvPr/>
        </p:nvSpPr>
        <p:spPr>
          <a:xfrm xmlns:a="http://schemas.openxmlformats.org/drawingml/2006/main">
            <a:off x="857250" y="2057400"/>
            <a:ext cx="6400800" cy="26197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import itertools</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all_perms = list(itertools.permutations(range(6)))</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costs = [cost(p) for p in all_perms]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best = all_perms[costs.index(min(costs))]</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print(len(all_perms), 'permutations checked')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print('best:', best, 'cost:', round(min(costs), 4))</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print('worst cost:', round(max(costs), 4))</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print('mean cost:', round(sum(costs) / len(costs), 4))</a:t>
            </a:r>
          </a:p>
        </p:txBody>
      </p:sp>
      <p:sp>
        <p:nvSpPr>
          <p:cNvPr id="8" name="">
            <a:extLst xmlns:a="http://schemas.openxmlformats.org/drawingml/2006/main">
              <a:ext uri="{FF2B5EF4-FFF2-40B4-BE49-F238E27FC236}">
                <a16:creationId xmlns:a16="http://schemas.microsoft.com/office/drawing/2014/main" id="{7E90D7F5-18D8-46AE-B98D-CFAF44E8C373}"/>
              </a:ext>
            </a:extLst>
          </p:cNvPr>
          <p:cNvSpPr>
            <a:spLocks xmlns:a="http://schemas.openxmlformats.org/drawingml/2006/main" noGrp="1"/>
          </p:cNvSpPr>
          <p:nvPr/>
        </p:nvSpPr>
        <p:spPr>
          <a:xfrm xmlns:a="http://schemas.openxmlformats.org/drawingml/2006/main">
            <a:off x="857250" y="4734306"/>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034924F0-DDAC-4A53-BE20-9CC84F7BD983}"/>
              </a:ext>
            </a:extLst>
          </p:cNvPr>
          <p:cNvSpPr>
            <a:spLocks xmlns:a="http://schemas.openxmlformats.org/drawingml/2006/main" noGrp="1"/>
          </p:cNvSpPr>
          <p:nvPr/>
        </p:nvSpPr>
        <p:spPr>
          <a:xfrm xmlns:a="http://schemas.openxmlformats.org/drawingml/2006/main">
            <a:off x="857250" y="4848606"/>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C50B4D89-1FBC-4F8E-9A39-9CF8DD897CE2}"/>
              </a:ext>
            </a:extLst>
          </p:cNvPr>
          <p:cNvSpPr>
            <a:spLocks xmlns:a="http://schemas.openxmlformats.org/drawingml/2006/main" noGrp="1"/>
          </p:cNvSpPr>
          <p:nvPr/>
        </p:nvSpPr>
        <p:spPr>
          <a:xfrm xmlns:a="http://schemas.openxmlformats.org/drawingml/2006/main">
            <a:off x="857250" y="5077206"/>
            <a:ext cx="6400800" cy="7520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720 permutations checked</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best: (0, 2, 4, 5, 3, 1) cost: 0.0125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worst cost: 0.5825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mean cost: 0.2975</a:t>
            </a:r>
          </a:p>
        </p:txBody>
      </p:sp>
      <p:sp>
        <p:nvSpPr>
          <p:cNvPr id="11" name="explain-head">
            <a:extLst xmlns:a="http://schemas.openxmlformats.org/drawingml/2006/main">
              <a:ext uri="{FF2B5EF4-FFF2-40B4-BE49-F238E27FC236}">
                <a16:creationId xmlns:a16="http://schemas.microsoft.com/office/drawing/2014/main" id="{409D38E2-1A92-4944-AB80-50437D4AA93C}"/>
              </a:ext>
            </a:extLst>
          </p:cNvPr>
          <p:cNvSpPr>
            <a:spLocks xmlns:a="http://schemas.openxmlformats.org/drawingml/2006/main" noGrp="1"/>
          </p:cNvSpPr>
          <p:nvPr/>
        </p:nvSpPr>
        <p:spPr>
          <a:xfrm xmlns:a="http://schemas.openxmlformats.org/drawingml/2006/main">
            <a:off x="7886700" y="204787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0.0125 is the true benchmark</a:t>
            </a:r>
          </a:p>
        </p:txBody>
      </p:sp>
      <p:sp>
        <p:nvSpPr>
          <p:cNvPr id="12" name="explain-body">
            <a:extLst xmlns:a="http://schemas.openxmlformats.org/drawingml/2006/main">
              <a:ext uri="{FF2B5EF4-FFF2-40B4-BE49-F238E27FC236}">
                <a16:creationId xmlns:a16="http://schemas.microsoft.com/office/drawing/2014/main" id="{45551E63-3501-46A1-9AC6-A3C1F17FF5B4}"/>
              </a:ext>
            </a:extLst>
          </p:cNvPr>
          <p:cNvSpPr>
            <a:spLocks xmlns:a="http://schemas.openxmlformats.org/drawingml/2006/main" noGrp="1"/>
          </p:cNvSpPr>
          <p:nvPr/>
        </p:nvSpPr>
        <p:spPr>
          <a:xfrm xmlns:a="http://schemas.openxmlformats.org/drawingml/2006/main">
            <a:off x="7886700" y="2833497"/>
            <a:ext cx="3695700" cy="29489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itertools.permutations(range(6)) is a standard-library function generating every ordering of the 6 panel indices; list(...) collects all 720. costs = [cost(p) for p in all_perms] is a LIST COMPREHENSION — like the previous slide's generator expression, but collected into a new list instead of fed straight into sum(). Every heuristic in this deck is judged against one verified number: 0.0125. Worst arrangement (0.5825) is roughly 46x worse than optimal; average (0.2975) is roughly 24x worse.</a:t>
            </a:r>
          </a:p>
        </p:txBody>
      </p:sp>
    </p:spTree>
    <p:extLst>
      <p:ext uri="{BB962C8B-B14F-4D97-AF65-F5344CB8AC3E}">
        <p14:creationId xmlns:p14="http://schemas.microsoft.com/office/powerpoint/2010/main" val="16029845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C2DBBA66-7E9D-4556-8ACB-70B7434D062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PRINCIPLE</a:t>
            </a:r>
          </a:p>
        </p:txBody>
      </p:sp>
      <p:sp>
        <p:nvSpPr>
          <p:cNvPr id="2" name="title">
            <a:extLst xmlns:a="http://schemas.openxmlformats.org/drawingml/2006/main">
              <a:ext uri="{FF2B5EF4-FFF2-40B4-BE49-F238E27FC236}">
                <a16:creationId xmlns:a16="http://schemas.microsoft.com/office/drawing/2014/main" id="{39C8225B-5132-46EA-A4F7-BB35FF24579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Why brute force stops being an option as N grows</a:t>
            </a:r>
          </a:p>
        </p:txBody>
      </p:sp>
      <p:sp>
        <p:nvSpPr>
          <p:cNvPr id="3" name="">
            <a:extLst xmlns:a="http://schemas.openxmlformats.org/drawingml/2006/main">
              <a:ext uri="{FF2B5EF4-FFF2-40B4-BE49-F238E27FC236}">
                <a16:creationId xmlns:a16="http://schemas.microsoft.com/office/drawing/2014/main" id="{1E57185A-5D4C-4927-A0DF-274FE9373A3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FBAA00B-C23D-4A8A-8EC8-3A8FFCB8E55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3EE6EB5A-8F07-4614-98ED-61A351937F6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11</a:t>
            </a:r>
          </a:p>
        </p:txBody>
      </p:sp>
      <p:sp>
        <p:nvSpPr>
          <p:cNvPr id="6" name="statement">
            <a:extLst xmlns:a="http://schemas.openxmlformats.org/drawingml/2006/main">
              <a:ext uri="{FF2B5EF4-FFF2-40B4-BE49-F238E27FC236}">
                <a16:creationId xmlns:a16="http://schemas.microsoft.com/office/drawing/2014/main" id="{BF570046-3AA0-486F-AA04-207BA40F5AA2}"/>
              </a:ext>
            </a:extLst>
          </p:cNvPr>
          <p:cNvSpPr>
            <a:spLocks xmlns:a="http://schemas.openxmlformats.org/drawingml/2006/main" noGrp="1"/>
          </p:cNvSpPr>
          <p:nvPr/>
        </p:nvSpPr>
        <p:spPr>
          <a:xfrm xmlns:a="http://schemas.openxmlformats.org/drawingml/2006/main">
            <a:off x="609600" y="2209800"/>
            <a:ext cx="9829800" cy="10637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11316"/>
                </a:solidFill>
                <a:latin typeface="Arial"/>
                <a:ea typeface="Arial"/>
                <a:cs typeface="Arial"/>
              </a:defRPr>
            </a:pPr>
            <a:r>
              <a:rPr sz="3600" b="1">
                <a:solidFill>
                  <a:srgbClr val="111316"/>
                </a:solidFill>
                <a:latin typeface="Arial"/>
                <a:ea typeface="Arial"/>
                <a:cs typeface="Arial"/>
              </a:rPr>
              <a:t>6! = 720 permutations. 12! is about 479 million.</a:t>
            </a:r>
          </a:p>
        </p:txBody>
      </p:sp>
      <p:sp>
        <p:nvSpPr>
          <p:cNvPr id="7" name="">
            <a:extLst xmlns:a="http://schemas.openxmlformats.org/drawingml/2006/main">
              <a:ext uri="{FF2B5EF4-FFF2-40B4-BE49-F238E27FC236}">
                <a16:creationId xmlns:a16="http://schemas.microsoft.com/office/drawing/2014/main" id="{4695D2FC-3B57-4E8B-A1E1-E070ABF4F302}"/>
              </a:ext>
            </a:extLst>
          </p:cNvPr>
          <p:cNvSpPr>
            <a:spLocks xmlns:a="http://schemas.openxmlformats.org/drawingml/2006/main" noGrp="1"/>
          </p:cNvSpPr>
          <p:nvPr/>
        </p:nvSpPr>
        <p:spPr>
          <a:xfrm xmlns:a="http://schemas.openxmlformats.org/drawingml/2006/main">
            <a:off x="609600" y="3483102"/>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8" name="supporting">
            <a:extLst xmlns:a="http://schemas.openxmlformats.org/drawingml/2006/main">
              <a:ext uri="{FF2B5EF4-FFF2-40B4-BE49-F238E27FC236}">
                <a16:creationId xmlns:a16="http://schemas.microsoft.com/office/drawing/2014/main" id="{A1462113-B3A9-4CC3-B09E-1A0CD04EC696}"/>
              </a:ext>
            </a:extLst>
          </p:cNvPr>
          <p:cNvSpPr>
            <a:spLocks xmlns:a="http://schemas.openxmlformats.org/drawingml/2006/main" noGrp="1"/>
          </p:cNvSpPr>
          <p:nvPr/>
        </p:nvSpPr>
        <p:spPr>
          <a:xfrm xmlns:a="http://schemas.openxmlformats.org/drawingml/2006/main">
            <a:off x="609600" y="3806952"/>
            <a:ext cx="93345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Radley Hall's south facade has only 6 bays, so checking every permutation is cheap — this teaching example deliberately keeps N small enough to verify by brute force. A 12-panel facade, or a 20-zone material assignment, makes exhaustive checking impossible on any computer. That is the real, general-case reason heuristic search exists — even though today's own demonstration does not strictly need it yet.</a:t>
            </a:r>
          </a:p>
        </p:txBody>
      </p:sp>
    </p:spTree>
    <p:extLst>
      <p:ext uri="{BB962C8B-B14F-4D97-AF65-F5344CB8AC3E}">
        <p14:creationId xmlns:p14="http://schemas.microsoft.com/office/powerpoint/2010/main" val="45644883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285E011B-AE23-4ED6-847A-D2754BDFC61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F234D32E-EB66-494E-902D-3D38F66694B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Heuristic, defined</a:t>
            </a:r>
          </a:p>
        </p:txBody>
      </p:sp>
      <p:sp>
        <p:nvSpPr>
          <p:cNvPr id="3" name="">
            <a:extLst xmlns:a="http://schemas.openxmlformats.org/drawingml/2006/main">
              <a:ext uri="{FF2B5EF4-FFF2-40B4-BE49-F238E27FC236}">
                <a16:creationId xmlns:a16="http://schemas.microsoft.com/office/drawing/2014/main" id="{B068D1CA-5C7A-4B73-B90F-8983F3E6AA4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0BC1696-ABEE-4A91-8445-F6A23DE368D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701FA9D6-E8B8-428C-87E0-A7FA8B4AC42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12</a:t>
            </a:r>
          </a:p>
        </p:txBody>
      </p:sp>
      <p:sp>
        <p:nvSpPr>
          <p:cNvPr id="6" name="term-label">
            <a:extLst xmlns:a="http://schemas.openxmlformats.org/drawingml/2006/main">
              <a:ext uri="{FF2B5EF4-FFF2-40B4-BE49-F238E27FC236}">
                <a16:creationId xmlns:a16="http://schemas.microsoft.com/office/drawing/2014/main" id="{1D162E80-48CE-4C2F-A08A-9C191D69ED42}"/>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DEC9069D-0371-4628-BAE2-AE0F6DEFB9CD}"/>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heuristic</a:t>
            </a:r>
          </a:p>
        </p:txBody>
      </p:sp>
      <p:sp>
        <p:nvSpPr>
          <p:cNvPr id="8" name="">
            <a:extLst xmlns:a="http://schemas.openxmlformats.org/drawingml/2006/main">
              <a:ext uri="{FF2B5EF4-FFF2-40B4-BE49-F238E27FC236}">
                <a16:creationId xmlns:a16="http://schemas.microsoft.com/office/drawing/2014/main" id="{E436C527-BFED-4111-9A80-32CE3A19CEF7}"/>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EECD5016-F6C7-455B-AFC5-6E72D9073E94}"/>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 rule-of-thumb search strategy that looks for a good — not provably best — answer quickly, without checking every possibility. No guarantee of finding the TRUE optimum.</a:t>
            </a:r>
          </a:p>
        </p:txBody>
      </p:sp>
      <p:sp>
        <p:nvSpPr>
          <p:cNvPr id="10" name="example-panel">
            <a:extLst xmlns:a="http://schemas.openxmlformats.org/drawingml/2006/main">
              <a:ext uri="{FF2B5EF4-FFF2-40B4-BE49-F238E27FC236}">
                <a16:creationId xmlns:a16="http://schemas.microsoft.com/office/drawing/2014/main" id="{AA039E99-14E4-4DB7-B898-9757F8CD0831}"/>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87B9555D-A14D-4DA0-A444-7D1ADCEAB1A5}"/>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C480BE77-7190-48B1-ACDC-94DC012505F9}"/>
              </a:ext>
            </a:extLst>
          </p:cNvPr>
          <p:cNvSpPr>
            <a:spLocks xmlns:a="http://schemas.openxmlformats.org/drawingml/2006/main" noGrp="1"/>
          </p:cNvSpPr>
          <p:nvPr/>
        </p:nvSpPr>
        <p:spPr>
          <a:xfrm xmlns:a="http://schemas.openxmlformats.org/drawingml/2006/main">
            <a:off x="6972300" y="2286000"/>
            <a:ext cx="438150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Coming up next: random search, hill climbing</a:t>
            </a:r>
          </a:p>
        </p:txBody>
      </p:sp>
      <p:sp>
        <p:nvSpPr>
          <p:cNvPr id="13" name="example-body">
            <a:extLst xmlns:a="http://schemas.openxmlformats.org/drawingml/2006/main">
              <a:ext uri="{FF2B5EF4-FFF2-40B4-BE49-F238E27FC236}">
                <a16:creationId xmlns:a16="http://schemas.microsoft.com/office/drawing/2014/main" id="{C3C402D0-B6B4-4025-9C92-D2E37B23E90B}"/>
              </a:ext>
            </a:extLst>
          </p:cNvPr>
          <p:cNvSpPr>
            <a:spLocks xmlns:a="http://schemas.openxmlformats.org/drawingml/2006/main" noGrp="1"/>
          </p:cNvSpPr>
          <p:nvPr/>
        </p:nvSpPr>
        <p:spPr>
          <a:xfrm xmlns:a="http://schemas.openxmlformats.org/drawingml/2006/main">
            <a:off x="6972300" y="2951226"/>
            <a:ext cx="4381500" cy="19827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Both methods later in this deck are heuristics — each looks for a good arrangement fast, with no guarantee of matching brute force's 0.0125.</a:t>
            </a:r>
          </a:p>
        </p:txBody>
      </p:sp>
      <p:sp>
        <p:nvSpPr>
          <p:cNvPr id="14" name="note-bar">
            <a:extLst xmlns:a="http://schemas.openxmlformats.org/drawingml/2006/main">
              <a:ext uri="{FF2B5EF4-FFF2-40B4-BE49-F238E27FC236}">
                <a16:creationId xmlns:a16="http://schemas.microsoft.com/office/drawing/2014/main" id="{6A91A547-9C54-4922-A649-AA69CF0BE43A}"/>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7EB67211-A9A1-4024-97B5-9807306F8D17}"/>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FA8A0AAB-7653-4549-9320-5CA584E61278}"/>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Fast is not the same as correct — a heuristic can return a confident-looking answer that still is not the true optimum, exactly what the next few slides show.</a:t>
            </a:r>
          </a:p>
        </p:txBody>
      </p:sp>
    </p:spTree>
    <p:extLst>
      <p:ext uri="{BB962C8B-B14F-4D97-AF65-F5344CB8AC3E}">
        <p14:creationId xmlns:p14="http://schemas.microsoft.com/office/powerpoint/2010/main" val="76737428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E1CD3AE3-E36B-4DDF-9D4A-97014FB214F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2CE760E7-8EA9-45CA-B879-ACB554381778}"/>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Metaheuristic, defined</a:t>
            </a:r>
          </a:p>
        </p:txBody>
      </p:sp>
      <p:sp>
        <p:nvSpPr>
          <p:cNvPr id="3" name="">
            <a:extLst xmlns:a="http://schemas.openxmlformats.org/drawingml/2006/main">
              <a:ext uri="{FF2B5EF4-FFF2-40B4-BE49-F238E27FC236}">
                <a16:creationId xmlns:a16="http://schemas.microsoft.com/office/drawing/2014/main" id="{779E5D37-3C22-45FC-881E-58A34356583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CF0F89B-0949-4137-AFD4-BCAD18435379}"/>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04FE8654-84AF-48CA-9E0F-1E939F99C6B4}"/>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13</a:t>
            </a:r>
          </a:p>
        </p:txBody>
      </p:sp>
      <p:sp>
        <p:nvSpPr>
          <p:cNvPr id="6" name="term-label">
            <a:extLst xmlns:a="http://schemas.openxmlformats.org/drawingml/2006/main">
              <a:ext uri="{FF2B5EF4-FFF2-40B4-BE49-F238E27FC236}">
                <a16:creationId xmlns:a16="http://schemas.microsoft.com/office/drawing/2014/main" id="{3CD727DC-5FED-4ACB-9B99-CB4785E9EF62}"/>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6A3CFDB9-63C5-4C9A-BA83-F9D40F721C96}"/>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metaheuristic</a:t>
            </a:r>
          </a:p>
        </p:txBody>
      </p:sp>
      <p:sp>
        <p:nvSpPr>
          <p:cNvPr id="8" name="">
            <a:extLst xmlns:a="http://schemas.openxmlformats.org/drawingml/2006/main">
              <a:ext uri="{FF2B5EF4-FFF2-40B4-BE49-F238E27FC236}">
                <a16:creationId xmlns:a16="http://schemas.microsoft.com/office/drawing/2014/main" id="{6EBBB692-E1A6-4845-A661-175EC5B30C7D}"/>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FF9B8E1C-6D32-4FCF-A86B-2980F3FB0291}"/>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 METAHEURISTIC is a heuristic that manages other heuristics — instead of improving one candidate at a time, it manages an entire POPULATION of candidates at once, deciding which to keep, combine, and vary.</a:t>
            </a:r>
          </a:p>
        </p:txBody>
      </p:sp>
      <p:sp>
        <p:nvSpPr>
          <p:cNvPr id="10" name="example-panel">
            <a:extLst xmlns:a="http://schemas.openxmlformats.org/drawingml/2006/main">
              <a:ext uri="{FF2B5EF4-FFF2-40B4-BE49-F238E27FC236}">
                <a16:creationId xmlns:a16="http://schemas.microsoft.com/office/drawing/2014/main" id="{40714CE6-CDCD-4A3A-A46E-31A838CDF27A}"/>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48ECB8F7-05A9-4B64-8350-A056066FA3F3}"/>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FBFE69A7-3295-431F-8AC7-FD5E0AD1F70D}"/>
              </a:ext>
            </a:extLst>
          </p:cNvPr>
          <p:cNvSpPr>
            <a:spLocks xmlns:a="http://schemas.openxmlformats.org/drawingml/2006/main" noGrp="1"/>
          </p:cNvSpPr>
          <p:nvPr/>
        </p:nvSpPr>
        <p:spPr>
          <a:xfrm xmlns:a="http://schemas.openxmlformats.org/drawingml/2006/main">
            <a:off x="6972300" y="2286000"/>
            <a:ext cx="438150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A genetic algorithm (built later this deck)</a:t>
            </a:r>
          </a:p>
        </p:txBody>
      </p:sp>
      <p:sp>
        <p:nvSpPr>
          <p:cNvPr id="13" name="example-body">
            <a:extLst xmlns:a="http://schemas.openxmlformats.org/drawingml/2006/main">
              <a:ext uri="{FF2B5EF4-FFF2-40B4-BE49-F238E27FC236}">
                <a16:creationId xmlns:a16="http://schemas.microsoft.com/office/drawing/2014/main" id="{7C3E8BD9-87BA-4FD9-B15D-93D01D7E284A}"/>
              </a:ext>
            </a:extLst>
          </p:cNvPr>
          <p:cNvSpPr>
            <a:spLocks xmlns:a="http://schemas.openxmlformats.org/drawingml/2006/main" noGrp="1"/>
          </p:cNvSpPr>
          <p:nvPr/>
        </p:nvSpPr>
        <p:spPr>
          <a:xfrm xmlns:a="http://schemas.openxmlformats.org/drawingml/2006/main">
            <a:off x="6972300" y="2951226"/>
            <a:ext cx="4381500" cy="19827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 GA IS a metaheuristic: it manages a whole population of candidate panel arrangements together, generation after generation, instead of nudging one arrangement.</a:t>
            </a:r>
          </a:p>
        </p:txBody>
      </p:sp>
      <p:sp>
        <p:nvSpPr>
          <p:cNvPr id="14" name="note-bar">
            <a:extLst xmlns:a="http://schemas.openxmlformats.org/drawingml/2006/main">
              <a:ext uri="{FF2B5EF4-FFF2-40B4-BE49-F238E27FC236}">
                <a16:creationId xmlns:a16="http://schemas.microsoft.com/office/drawing/2014/main" id="{25165135-CA1F-4C41-8E4E-FC90730E6993}"/>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9FC46AA5-49C3-40AA-8A8C-A3526FAE1D40}"/>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WHY IT MATTERS</a:t>
            </a:r>
          </a:p>
        </p:txBody>
      </p:sp>
      <p:sp>
        <p:nvSpPr>
          <p:cNvPr id="16" name="note">
            <a:extLst xmlns:a="http://schemas.openxmlformats.org/drawingml/2006/main">
              <a:ext uri="{FF2B5EF4-FFF2-40B4-BE49-F238E27FC236}">
                <a16:creationId xmlns:a16="http://schemas.microsoft.com/office/drawing/2014/main" id="{9340AA31-2D89-43F7-BF75-BCB7AC31F832}"/>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Both heuristics and metaheuristics trade brute force's guarantee for speed — which matters once N is too large to check exhaustively AND the objective is not smooth enough for minimize (Week 11) to follow a gradient.</a:t>
            </a:r>
          </a:p>
        </p:txBody>
      </p:sp>
    </p:spTree>
    <p:extLst>
      <p:ext uri="{BB962C8B-B14F-4D97-AF65-F5344CB8AC3E}">
        <p14:creationId xmlns:p14="http://schemas.microsoft.com/office/powerpoint/2010/main" val="44964258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D5E82923-3CA2-45F3-8E53-6FB937B98D7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A0A8EC0F-603D-4121-9B40-F0E20C4AC25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1. Random search: the simplest possible heuristic</a:t>
            </a:r>
          </a:p>
        </p:txBody>
      </p:sp>
      <p:sp>
        <p:nvSpPr>
          <p:cNvPr id="3" name="">
            <a:extLst xmlns:a="http://schemas.openxmlformats.org/drawingml/2006/main">
              <a:ext uri="{FF2B5EF4-FFF2-40B4-BE49-F238E27FC236}">
                <a16:creationId xmlns:a16="http://schemas.microsoft.com/office/drawing/2014/main" id="{AAEF078D-68DF-43AD-8308-C06D9591A41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8AA60BB2-5777-4ABA-89E1-B9298FDF0D5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CB89EF2B-ED56-4BEC-A817-1DEB696769F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14</a:t>
            </a:r>
          </a:p>
        </p:txBody>
      </p:sp>
      <p:sp>
        <p:nvSpPr>
          <p:cNvPr id="6" name="code-panel">
            <a:extLst xmlns:a="http://schemas.openxmlformats.org/drawingml/2006/main">
              <a:ext uri="{FF2B5EF4-FFF2-40B4-BE49-F238E27FC236}">
                <a16:creationId xmlns:a16="http://schemas.microsoft.com/office/drawing/2014/main" id="{C3EBCD5F-5573-491D-996B-A60D609A86ED}"/>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6B0D85AF-55BB-4721-8DC0-957DF7A8621F}"/>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import random</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random_search(seed: int, n_eval: int) -&gt; tuple: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"""Best cost among n_eval blind random tries."""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rng = random.Random(seed)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best_perm, best_cost = None, float('inf')</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for _ in range(n_eval):</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candidate = list(range(6))</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rng.shuffle(candidate)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 = cost(candidate)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if c &lt; best_cost: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best_perm, best_cost = candidate, c</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best_perm, best_cost</a:t>
            </a:r>
          </a:p>
        </p:txBody>
      </p:sp>
      <p:sp>
        <p:nvSpPr>
          <p:cNvPr id="8" name="explain-head">
            <a:extLst xmlns:a="http://schemas.openxmlformats.org/drawingml/2006/main">
              <a:ext uri="{FF2B5EF4-FFF2-40B4-BE49-F238E27FC236}">
                <a16:creationId xmlns:a16="http://schemas.microsoft.com/office/drawing/2014/main" id="{67CCA290-2948-465E-9F17-919F727ED2CF}"/>
              </a:ext>
            </a:extLst>
          </p:cNvPr>
          <p:cNvSpPr>
            <a:spLocks xmlns:a="http://schemas.openxmlformats.org/drawingml/2006/main" noGrp="1"/>
          </p:cNvSpPr>
          <p:nvPr/>
        </p:nvSpPr>
        <p:spPr>
          <a:xfrm xmlns:a="http://schemas.openxmlformats.org/drawingml/2006/main">
            <a:off x="7886700" y="1990725"/>
            <a:ext cx="3695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Blind guessing, no memory</a:t>
            </a:r>
          </a:p>
        </p:txBody>
      </p:sp>
      <p:sp>
        <p:nvSpPr>
          <p:cNvPr id="9" name="explain-body">
            <a:extLst xmlns:a="http://schemas.openxmlformats.org/drawingml/2006/main">
              <a:ext uri="{FF2B5EF4-FFF2-40B4-BE49-F238E27FC236}">
                <a16:creationId xmlns:a16="http://schemas.microsoft.com/office/drawing/2014/main" id="{D1D2549C-42E8-4606-996F-FF876E244051}"/>
              </a:ext>
            </a:extLst>
          </p:cNvPr>
          <p:cNvSpPr>
            <a:spLocks xmlns:a="http://schemas.openxmlformats.org/drawingml/2006/main" noGrp="1"/>
          </p:cNvSpPr>
          <p:nvPr/>
        </p:nvSpPr>
        <p:spPr>
          <a:xfrm xmlns:a="http://schemas.openxmlformats.org/drawingml/2006/main">
            <a:off x="7886700" y="2488311"/>
            <a:ext cx="3695700" cy="339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 random SEED (the number handed to random.Random) is a fixed starting value that makes 'randomness' reproducible — random.Random(1) run twice gives the identical sequence of shuffles, while random.Random(2) shuffles differently. The function itself is the whole heuristic: draw a fresh shuffled arrangement, score it, and keep it only if it beats the best seen so far. float('inf') is a starting value guaranteed to lose the first comparison. Nothing here uses information from one try to improve the next — that is what makes it the simplest possible heuristic.</a:t>
            </a:r>
          </a:p>
        </p:txBody>
      </p:sp>
    </p:spTree>
    <p:extLst>
      <p:ext uri="{BB962C8B-B14F-4D97-AF65-F5344CB8AC3E}">
        <p14:creationId xmlns:p14="http://schemas.microsoft.com/office/powerpoint/2010/main" val="131357259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E9E6FAD6-AD8A-4A25-89F3-50D759EDDC9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79B02D0D-1858-46B4-AA5D-F302FA132F08}"/>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...continued: 30 blind guesses, then 300</a:t>
            </a:r>
          </a:p>
        </p:txBody>
      </p:sp>
      <p:sp>
        <p:nvSpPr>
          <p:cNvPr id="3" name="">
            <a:extLst xmlns:a="http://schemas.openxmlformats.org/drawingml/2006/main">
              <a:ext uri="{FF2B5EF4-FFF2-40B4-BE49-F238E27FC236}">
                <a16:creationId xmlns:a16="http://schemas.microsoft.com/office/drawing/2014/main" id="{A1145F58-7FAF-4A8A-9EBF-3EC9F5D9F7B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09FC578-73FA-4F44-BA14-C3B7EC964C65}"/>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47C9D12E-3797-4EEE-99EC-894AEADC2E1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15</a:t>
            </a:r>
          </a:p>
        </p:txBody>
      </p:sp>
      <p:sp>
        <p:nvSpPr>
          <p:cNvPr id="6" name="code-panel">
            <a:extLst xmlns:a="http://schemas.openxmlformats.org/drawingml/2006/main">
              <a:ext uri="{FF2B5EF4-FFF2-40B4-BE49-F238E27FC236}">
                <a16:creationId xmlns:a16="http://schemas.microsoft.com/office/drawing/2014/main" id="{EDDF4D13-3BE1-4910-9077-9D5601215E94}"/>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7190DFBD-BE1C-4620-9E3B-672F3D1D1EC3}"/>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perm, c = random_search(seed=1, n_eval=30)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print('best of 30 tries:', perm, 'cost:', round(c, 4))</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perm2, c2 = random_search(seed=1, n_eval=300)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print('best of 300 tries:', perm2,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'cost:', round(c2, 4))</a:t>
            </a:r>
          </a:p>
        </p:txBody>
      </p:sp>
      <p:sp>
        <p:nvSpPr>
          <p:cNvPr id="8" name="">
            <a:extLst xmlns:a="http://schemas.openxmlformats.org/drawingml/2006/main">
              <a:ext uri="{FF2B5EF4-FFF2-40B4-BE49-F238E27FC236}">
                <a16:creationId xmlns:a16="http://schemas.microsoft.com/office/drawing/2014/main" id="{686D4750-EAEF-4D5D-B800-191992B08650}"/>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F50DF9F1-E161-457D-8A01-0EFDFD74DDE7}"/>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3EFE21B0-ADCB-407E-9693-1842C5337A92}"/>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best of 30 tries: [2, 1, 4, 5, 3, 0] cost: 0.0425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best of 300 tries: [0, 1, 4, 5, 3, 2] cost: 0.0225</a:t>
            </a:r>
          </a:p>
        </p:txBody>
      </p:sp>
      <p:sp>
        <p:nvSpPr>
          <p:cNvPr id="11" name="explain-head">
            <a:extLst xmlns:a="http://schemas.openxmlformats.org/drawingml/2006/main">
              <a:ext uri="{FF2B5EF4-FFF2-40B4-BE49-F238E27FC236}">
                <a16:creationId xmlns:a16="http://schemas.microsoft.com/office/drawing/2014/main" id="{F081D211-3B3E-42B9-9BD8-DED8D1374610}"/>
              </a:ext>
            </a:extLst>
          </p:cNvPr>
          <p:cNvSpPr>
            <a:spLocks xmlns:a="http://schemas.openxmlformats.org/drawingml/2006/main" noGrp="1"/>
          </p:cNvSpPr>
          <p:nvPr/>
        </p:nvSpPr>
        <p:spPr>
          <a:xfrm xmlns:a="http://schemas.openxmlformats.org/drawingml/2006/main">
            <a:off x="7886700" y="23717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Ten times the guessing, still not the answer</a:t>
            </a:r>
          </a:p>
        </p:txBody>
      </p:sp>
      <p:sp>
        <p:nvSpPr>
          <p:cNvPr id="12" name="explain-body">
            <a:extLst xmlns:a="http://schemas.openxmlformats.org/drawingml/2006/main">
              <a:ext uri="{FF2B5EF4-FFF2-40B4-BE49-F238E27FC236}">
                <a16:creationId xmlns:a16="http://schemas.microsoft.com/office/drawing/2014/main" id="{CED1AE5A-63AA-4931-B915-0DD92BD84A82}"/>
              </a:ext>
            </a:extLst>
          </p:cNvPr>
          <p:cNvSpPr>
            <a:spLocks xmlns:a="http://schemas.openxmlformats.org/drawingml/2006/main" noGrp="1"/>
          </p:cNvSpPr>
          <p:nvPr/>
        </p:nvSpPr>
        <p:spPr>
          <a:xfrm xmlns:a="http://schemas.openxmlformats.org/drawingml/2006/main">
            <a:off x="7886700" y="3157347"/>
            <a:ext cx="3695700" cy="20650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30 random permutations (about 4% of all 720) reach 0.0425 — far better than the average arrangement's 0.2975, and nowhere near the true optimum, 0.0125. Ten times as many draws only improves it to 0.0225, and still misses. More blind guesses buy a better answer on average and never buy a guarantee, because nothing in random search remembers what it already tried.</a:t>
            </a:r>
          </a:p>
        </p:txBody>
      </p:sp>
    </p:spTree>
    <p:extLst>
      <p:ext uri="{BB962C8B-B14F-4D97-AF65-F5344CB8AC3E}">
        <p14:creationId xmlns:p14="http://schemas.microsoft.com/office/powerpoint/2010/main" val="55499978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E59DCF4B-D53B-4886-A72F-386518EC75C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77332FA5-F267-4440-A17E-5F32E8E114B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Hill climbing (local search), defined</a:t>
            </a:r>
          </a:p>
        </p:txBody>
      </p:sp>
      <p:sp>
        <p:nvSpPr>
          <p:cNvPr id="3" name="">
            <a:extLst xmlns:a="http://schemas.openxmlformats.org/drawingml/2006/main">
              <a:ext uri="{FF2B5EF4-FFF2-40B4-BE49-F238E27FC236}">
                <a16:creationId xmlns:a16="http://schemas.microsoft.com/office/drawing/2014/main" id="{B10BF751-3197-4EDF-8065-AE7187778A6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75EC1F1-7607-49B4-82CC-57D453783153}"/>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EDCCDD31-A1C3-4959-9907-AE440D3E84E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16</a:t>
            </a:r>
          </a:p>
        </p:txBody>
      </p:sp>
      <p:sp>
        <p:nvSpPr>
          <p:cNvPr id="6" name="left-head">
            <a:extLst xmlns:a="http://schemas.openxmlformats.org/drawingml/2006/main">
              <a:ext uri="{FF2B5EF4-FFF2-40B4-BE49-F238E27FC236}">
                <a16:creationId xmlns:a16="http://schemas.microsoft.com/office/drawing/2014/main" id="{40B3D131-C950-49C1-94E0-54DB437EA825}"/>
              </a:ext>
            </a:extLst>
          </p:cNvPr>
          <p:cNvSpPr>
            <a:spLocks xmlns:a="http://schemas.openxmlformats.org/drawingml/2006/main" noGrp="1"/>
          </p:cNvSpPr>
          <p:nvPr/>
        </p:nvSpPr>
        <p:spPr>
          <a:xfrm xmlns:a="http://schemas.openxmlformats.org/drawingml/2006/main">
            <a:off x="609600" y="260985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Definition</a:t>
            </a:r>
          </a:p>
        </p:txBody>
      </p:sp>
      <p:sp>
        <p:nvSpPr>
          <p:cNvPr id="7" name="left-body">
            <a:extLst xmlns:a="http://schemas.openxmlformats.org/drawingml/2006/main">
              <a:ext uri="{FF2B5EF4-FFF2-40B4-BE49-F238E27FC236}">
                <a16:creationId xmlns:a16="http://schemas.microsoft.com/office/drawing/2014/main" id="{566FACFF-4F97-4493-B4B5-C5FE51AC3EB3}"/>
              </a:ext>
            </a:extLst>
          </p:cNvPr>
          <p:cNvSpPr>
            <a:spLocks xmlns:a="http://schemas.openxmlformats.org/drawingml/2006/main" noGrp="1"/>
          </p:cNvSpPr>
          <p:nvPr/>
        </p:nvSpPr>
        <p:spPr>
          <a:xfrm xmlns:a="http://schemas.openxmlformats.org/drawingml/2006/main">
            <a:off x="609600" y="3107436"/>
            <a:ext cx="5219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Start from one arrangement. Check its neighbors — here, every arrangement reachable by swapping two ADJACENT bays' panels. If any neighbor is better, move there. Repeat until no neighbor improves — that arrangement is a local optimum.</a:t>
            </a:r>
          </a:p>
        </p:txBody>
      </p:sp>
      <p:sp>
        <p:nvSpPr>
          <p:cNvPr id="8" name="right-head">
            <a:extLst xmlns:a="http://schemas.openxmlformats.org/drawingml/2006/main">
              <a:ext uri="{FF2B5EF4-FFF2-40B4-BE49-F238E27FC236}">
                <a16:creationId xmlns:a16="http://schemas.microsoft.com/office/drawing/2014/main" id="{702C0321-5AC9-4A41-8219-891CE51A4E15}"/>
              </a:ext>
            </a:extLst>
          </p:cNvPr>
          <p:cNvSpPr>
            <a:spLocks xmlns:a="http://schemas.openxmlformats.org/drawingml/2006/main" noGrp="1"/>
          </p:cNvSpPr>
          <p:nvPr/>
        </p:nvSpPr>
        <p:spPr>
          <a:xfrm xmlns:a="http://schemas.openxmlformats.org/drawingml/2006/main">
            <a:off x="6362700" y="260985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The risk</a:t>
            </a:r>
          </a:p>
        </p:txBody>
      </p:sp>
      <p:sp>
        <p:nvSpPr>
          <p:cNvPr id="9" name="right-body">
            <a:extLst xmlns:a="http://schemas.openxmlformats.org/drawingml/2006/main">
              <a:ext uri="{FF2B5EF4-FFF2-40B4-BE49-F238E27FC236}">
                <a16:creationId xmlns:a16="http://schemas.microsoft.com/office/drawing/2014/main" id="{C1A07D82-5E7A-4FDA-BD1E-D540C5F2153A}"/>
              </a:ext>
            </a:extLst>
          </p:cNvPr>
          <p:cNvSpPr>
            <a:spLocks xmlns:a="http://schemas.openxmlformats.org/drawingml/2006/main" noGrp="1"/>
          </p:cNvSpPr>
          <p:nvPr/>
        </p:nvSpPr>
        <p:spPr>
          <a:xfrm xmlns:a="http://schemas.openxmlformats.org/drawingml/2006/main">
            <a:off x="6362700" y="3107436"/>
            <a:ext cx="5219700" cy="16672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A local optimum is only the best arrangement among its immediate neighbors — not necessarily the true (global) optimum. Which local optimum you land in depends entirely on where you start: Week 11's exact lesson about minimize, now for a discrete search.</a:t>
            </a:r>
          </a:p>
        </p:txBody>
      </p:sp>
    </p:spTree>
    <p:extLst>
      <p:ext uri="{BB962C8B-B14F-4D97-AF65-F5344CB8AC3E}">
        <p14:creationId xmlns:p14="http://schemas.microsoft.com/office/powerpoint/2010/main" val="89769243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D2E3F1C5-3886-4826-9D4E-D3B42CA1159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DA7D1F21-EE86-44C8-AD15-38761085EED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Hill climbing, step 1: what counts as a neighbor</a:t>
            </a:r>
          </a:p>
        </p:txBody>
      </p:sp>
      <p:sp>
        <p:nvSpPr>
          <p:cNvPr id="3" name="">
            <a:extLst xmlns:a="http://schemas.openxmlformats.org/drawingml/2006/main">
              <a:ext uri="{FF2B5EF4-FFF2-40B4-BE49-F238E27FC236}">
                <a16:creationId xmlns:a16="http://schemas.microsoft.com/office/drawing/2014/main" id="{3A1B300E-12A3-479C-9B5F-11C9002FC3E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69EE955-2898-434F-9316-703ADD82768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94ED1761-9E3A-469F-8C3B-6F7B9308C24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17</a:t>
            </a:r>
          </a:p>
        </p:txBody>
      </p:sp>
      <p:sp>
        <p:nvSpPr>
          <p:cNvPr id="6" name="code-panel">
            <a:extLst xmlns:a="http://schemas.openxmlformats.org/drawingml/2006/main">
              <a:ext uri="{FF2B5EF4-FFF2-40B4-BE49-F238E27FC236}">
                <a16:creationId xmlns:a16="http://schemas.microsoft.com/office/drawing/2014/main" id="{3F621F21-DC2A-4BD6-8D10-4E25DD0154AD}"/>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BC7A3590-A42C-4818-BFAF-557C22E284B7}"/>
              </a:ext>
            </a:extLst>
          </p:cNvPr>
          <p:cNvSpPr>
            <a:spLocks xmlns:a="http://schemas.openxmlformats.org/drawingml/2006/main" noGrp="1"/>
          </p:cNvSpPr>
          <p:nvPr/>
        </p:nvSpPr>
        <p:spPr>
          <a:xfrm xmlns:a="http://schemas.openxmlformats.org/drawingml/2006/main">
            <a:off x="857250" y="2057400"/>
            <a:ext cx="6400800" cy="24460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neighbors(perm: list):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"""Yield every adjacent-swap neighbor of perm."""</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for i in range(len(perm) - 1):</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nb = perm[:]</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nb[i], nb[i + 1] = nb[i + 1], nb[i]</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yield nb</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for nb in neighbors([0, 1, 2, 3, 4, 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print(nb, round(cost(nb), 4))</a:t>
            </a:r>
          </a:p>
        </p:txBody>
      </p:sp>
      <p:sp>
        <p:nvSpPr>
          <p:cNvPr id="8" name="">
            <a:extLst xmlns:a="http://schemas.openxmlformats.org/drawingml/2006/main">
              <a:ext uri="{FF2B5EF4-FFF2-40B4-BE49-F238E27FC236}">
                <a16:creationId xmlns:a16="http://schemas.microsoft.com/office/drawing/2014/main" id="{790BAADB-542E-4CAD-899D-EA240989E131}"/>
              </a:ext>
            </a:extLst>
          </p:cNvPr>
          <p:cNvSpPr>
            <a:spLocks xmlns:a="http://schemas.openxmlformats.org/drawingml/2006/main" noGrp="1"/>
          </p:cNvSpPr>
          <p:nvPr/>
        </p:nvSpPr>
        <p:spPr>
          <a:xfrm xmlns:a="http://schemas.openxmlformats.org/drawingml/2006/main">
            <a:off x="857250" y="4560570"/>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9676AA1E-7029-42A1-91F4-B3995CD734FC}"/>
              </a:ext>
            </a:extLst>
          </p:cNvPr>
          <p:cNvSpPr>
            <a:spLocks xmlns:a="http://schemas.openxmlformats.org/drawingml/2006/main" noGrp="1"/>
          </p:cNvSpPr>
          <p:nvPr/>
        </p:nvSpPr>
        <p:spPr>
          <a:xfrm xmlns:a="http://schemas.openxmlformats.org/drawingml/2006/main">
            <a:off x="857250" y="467487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C5287189-4F02-4780-AEE7-4BA41CB2C1D3}"/>
              </a:ext>
            </a:extLst>
          </p:cNvPr>
          <p:cNvSpPr>
            <a:spLocks xmlns:a="http://schemas.openxmlformats.org/drawingml/2006/main" noGrp="1"/>
          </p:cNvSpPr>
          <p:nvPr/>
        </p:nvSpPr>
        <p:spPr>
          <a:xfrm xmlns:a="http://schemas.openxmlformats.org/drawingml/2006/main">
            <a:off x="857250" y="4903470"/>
            <a:ext cx="6400800" cy="9258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[1, 0, 2, 3, 4, 5] 0.2525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[0, 2, 1, 3, 4, 5] 0.2725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[0, 1, 3, 2, 4, 5] 0.2525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[0, 1, 2, 4, 3, 5] 0.1925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[0, 1, 2, 3, 5, 4] 0.2025</a:t>
            </a:r>
          </a:p>
        </p:txBody>
      </p:sp>
      <p:sp>
        <p:nvSpPr>
          <p:cNvPr id="11" name="explain-head">
            <a:extLst xmlns:a="http://schemas.openxmlformats.org/drawingml/2006/main">
              <a:ext uri="{FF2B5EF4-FFF2-40B4-BE49-F238E27FC236}">
                <a16:creationId xmlns:a16="http://schemas.microsoft.com/office/drawing/2014/main" id="{27125CD8-8427-48F3-AF36-59B940256241}"/>
              </a:ext>
            </a:extLst>
          </p:cNvPr>
          <p:cNvSpPr>
            <a:spLocks xmlns:a="http://schemas.openxmlformats.org/drawingml/2006/main" noGrp="1"/>
          </p:cNvSpPr>
          <p:nvPr/>
        </p:nvSpPr>
        <p:spPr>
          <a:xfrm xmlns:a="http://schemas.openxmlformats.org/drawingml/2006/main">
            <a:off x="7886700" y="18859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Five neighbors, with costs</a:t>
            </a:r>
          </a:p>
        </p:txBody>
      </p:sp>
      <p:sp>
        <p:nvSpPr>
          <p:cNvPr id="12" name="explain-body">
            <a:extLst xmlns:a="http://schemas.openxmlformats.org/drawingml/2006/main">
              <a:ext uri="{FF2B5EF4-FFF2-40B4-BE49-F238E27FC236}">
                <a16:creationId xmlns:a16="http://schemas.microsoft.com/office/drawing/2014/main" id="{C171F79E-CC37-4656-883E-A7A1F8588ED8}"/>
              </a:ext>
            </a:extLst>
          </p:cNvPr>
          <p:cNvSpPr>
            <a:spLocks xmlns:a="http://schemas.openxmlformats.org/drawingml/2006/main" noGrp="1"/>
          </p:cNvSpPr>
          <p:nvPr/>
        </p:nvSpPr>
        <p:spPr>
          <a:xfrm xmlns:a="http://schemas.openxmlformats.org/drawingml/2006/main">
            <a:off x="7886700" y="2671572"/>
            <a:ext cx="3695700" cy="339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neighbors(perm) produces every arrangement reachable by swapping two ADJACENT bays' panels — five of them for six bays. It is a GENERATOR FUNCTION: it uses yield instead of return, handing back one swapped arrangement at a time rather than building a whole list first. Running it on (0,1,2,3,4,5) shows the real candidate set: four of the five neighbors are WORSE than the 0.2325 starting cost, and the best available move is 0.1925. It is also the one function here with no return type hint — a generator does not return a list, it yields one at a time.</a:t>
            </a:r>
          </a:p>
        </p:txBody>
      </p:sp>
    </p:spTree>
    <p:extLst>
      <p:ext uri="{BB962C8B-B14F-4D97-AF65-F5344CB8AC3E}">
        <p14:creationId xmlns:p14="http://schemas.microsoft.com/office/powerpoint/2010/main" val="72343871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1F6BBBA1-D392-4AEE-9912-908639E70C4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CD30EB14-B457-451F-A80E-2BBA4A1061C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...continued: hill_climb walks to the best neighbor</a:t>
            </a:r>
          </a:p>
        </p:txBody>
      </p:sp>
      <p:sp>
        <p:nvSpPr>
          <p:cNvPr id="3" name="">
            <a:extLst xmlns:a="http://schemas.openxmlformats.org/drawingml/2006/main">
              <a:ext uri="{FF2B5EF4-FFF2-40B4-BE49-F238E27FC236}">
                <a16:creationId xmlns:a16="http://schemas.microsoft.com/office/drawing/2014/main" id="{49E4446E-3E32-492F-8A66-2D52655FAD8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6FBA8A4-2EC4-474F-8496-71565767762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6D0612D6-DAE7-45B9-B144-66AF447F9B6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18</a:t>
            </a:r>
          </a:p>
        </p:txBody>
      </p:sp>
      <p:sp>
        <p:nvSpPr>
          <p:cNvPr id="6" name="code-panel">
            <a:extLst xmlns:a="http://schemas.openxmlformats.org/drawingml/2006/main">
              <a:ext uri="{FF2B5EF4-FFF2-40B4-BE49-F238E27FC236}">
                <a16:creationId xmlns:a16="http://schemas.microsoft.com/office/drawing/2014/main" id="{02881A25-0D2D-4A99-9F5D-18CD9A9447CB}"/>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65F40ABE-2801-4FAC-81D8-556444AE64AB}"/>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hill_climb(start: list) -&gt; tuple: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"""Move to the best neighbor until none helps."""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cur, cur_cost = start[:], cost(start)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while True: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best, best_c = None, cur_cost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for nb in neighbors(cur):</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if cost(nb) &lt; best_c:</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best, best_c = nb, cost(nb)</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if best is None: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break</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cur, cur_cost = best, best_c</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cur, cur_cost</a:t>
            </a:r>
          </a:p>
        </p:txBody>
      </p:sp>
      <p:sp>
        <p:nvSpPr>
          <p:cNvPr id="8" name="explain-head">
            <a:extLst xmlns:a="http://schemas.openxmlformats.org/drawingml/2006/main">
              <a:ext uri="{FF2B5EF4-FFF2-40B4-BE49-F238E27FC236}">
                <a16:creationId xmlns:a16="http://schemas.microsoft.com/office/drawing/2014/main" id="{4AF61BD3-119E-4E68-A777-DF82AAB29C87}"/>
              </a:ext>
            </a:extLst>
          </p:cNvPr>
          <p:cNvSpPr>
            <a:spLocks xmlns:a="http://schemas.openxmlformats.org/drawingml/2006/main" noGrp="1"/>
          </p:cNvSpPr>
          <p:nvPr/>
        </p:nvSpPr>
        <p:spPr>
          <a:xfrm xmlns:a="http://schemas.openxmlformats.org/drawingml/2006/main">
            <a:off x="7886700" y="220980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One outer loop, one inner scan, one stopping rule</a:t>
            </a:r>
          </a:p>
        </p:txBody>
      </p:sp>
      <p:sp>
        <p:nvSpPr>
          <p:cNvPr id="9" name="explain-body">
            <a:extLst xmlns:a="http://schemas.openxmlformats.org/drawingml/2006/main">
              <a:ext uri="{FF2B5EF4-FFF2-40B4-BE49-F238E27FC236}">
                <a16:creationId xmlns:a16="http://schemas.microsoft.com/office/drawing/2014/main" id="{D171066A-A5AD-4934-B915-1A419F757D9A}"/>
              </a:ext>
            </a:extLst>
          </p:cNvPr>
          <p:cNvSpPr>
            <a:spLocks xmlns:a="http://schemas.openxmlformats.org/drawingml/2006/main" noGrp="1"/>
          </p:cNvSpPr>
          <p:nvPr/>
        </p:nvSpPr>
        <p:spPr>
          <a:xfrm xmlns:a="http://schemas.openxmlformats.org/drawingml/2006/main">
            <a:off x="7886700" y="2995422"/>
            <a:ext cx="3695700" cy="2506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inner for-loop scans all five neighbors and remembers the single best one that improves on the current cost. If none improves, best is still None and the while-loop breaks — that stop IS the definition of a local optimum. Otherwise the search moves to that neighbor and scans again from there. start[:] makes a copy so the caller's list is never modified, the same protective copy neighbors() makes with perm[:].</a:t>
            </a:r>
          </a:p>
        </p:txBody>
      </p:sp>
    </p:spTree>
    <p:extLst>
      <p:ext uri="{BB962C8B-B14F-4D97-AF65-F5344CB8AC3E}">
        <p14:creationId xmlns:p14="http://schemas.microsoft.com/office/powerpoint/2010/main" val="198442056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B371F8EC-C420-4173-988F-F16DF0FEC19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32517214-FE05-47B0-9C9E-B745F0B38A5F}"/>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Hill climbing gets stuck</a:t>
            </a:r>
          </a:p>
        </p:txBody>
      </p:sp>
      <p:sp>
        <p:nvSpPr>
          <p:cNvPr id="3" name="">
            <a:extLst xmlns:a="http://schemas.openxmlformats.org/drawingml/2006/main">
              <a:ext uri="{FF2B5EF4-FFF2-40B4-BE49-F238E27FC236}">
                <a16:creationId xmlns:a16="http://schemas.microsoft.com/office/drawing/2014/main" id="{3012AB8A-6A99-4C97-9B0D-A21367B999C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F50ABC3-2F29-4EF5-8263-975EF08822C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B9DFFCBC-9F15-4132-B6EB-ADDC7127291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19</a:t>
            </a:r>
          </a:p>
        </p:txBody>
      </p:sp>
      <p:sp>
        <p:nvSpPr>
          <p:cNvPr id="6" name="code-panel">
            <a:extLst xmlns:a="http://schemas.openxmlformats.org/drawingml/2006/main">
              <a:ext uri="{FF2B5EF4-FFF2-40B4-BE49-F238E27FC236}">
                <a16:creationId xmlns:a16="http://schemas.microsoft.com/office/drawing/2014/main" id="{191BA935-FE47-4DA7-A95F-F6BBD206C7BB}"/>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05C05AE8-E71F-4E95-B820-AB899799D0ED}"/>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start = [0, 1, 2, 3, 4, 5]</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end, end_cost = hill_climb(start)</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print('start cost:', round(cost(start), 4))</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print('stuck at:', end, 'cost:', round(end_cost, 4))</a:t>
            </a:r>
          </a:p>
        </p:txBody>
      </p:sp>
      <p:sp>
        <p:nvSpPr>
          <p:cNvPr id="8" name="">
            <a:extLst xmlns:a="http://schemas.openxmlformats.org/drawingml/2006/main">
              <a:ext uri="{FF2B5EF4-FFF2-40B4-BE49-F238E27FC236}">
                <a16:creationId xmlns:a16="http://schemas.microsoft.com/office/drawing/2014/main" id="{EBF95593-5F5E-4B99-A99E-47A614157910}"/>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7CFA1407-7191-4A87-96EB-A499889B0057}"/>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F9110367-05DA-4A14-9F8F-C9591F1329E5}"/>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start cost: 0.2325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stuck at: [0, 1, 2, 5, 4, 3] cost: 0.0925</a:t>
            </a:r>
          </a:p>
        </p:txBody>
      </p:sp>
      <p:sp>
        <p:nvSpPr>
          <p:cNvPr id="11" name="explain-head">
            <a:extLst xmlns:a="http://schemas.openxmlformats.org/drawingml/2006/main">
              <a:ext uri="{FF2B5EF4-FFF2-40B4-BE49-F238E27FC236}">
                <a16:creationId xmlns:a16="http://schemas.microsoft.com/office/drawing/2014/main" id="{A6724D88-4D9F-486F-B817-6FE58D7BD303}"/>
              </a:ext>
            </a:extLst>
          </p:cNvPr>
          <p:cNvSpPr>
            <a:spLocks xmlns:a="http://schemas.openxmlformats.org/drawingml/2006/main" noGrp="1"/>
          </p:cNvSpPr>
          <p:nvPr/>
        </p:nvSpPr>
        <p:spPr>
          <a:xfrm xmlns:a="http://schemas.openxmlformats.org/drawingml/2006/main">
            <a:off x="7886700" y="25241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 real local optimum, not the true one</a:t>
            </a:r>
          </a:p>
        </p:txBody>
      </p:sp>
      <p:sp>
        <p:nvSpPr>
          <p:cNvPr id="12" name="explain-body">
            <a:extLst xmlns:a="http://schemas.openxmlformats.org/drawingml/2006/main">
              <a:ext uri="{FF2B5EF4-FFF2-40B4-BE49-F238E27FC236}">
                <a16:creationId xmlns:a16="http://schemas.microsoft.com/office/drawing/2014/main" id="{F7B9C732-1DB7-4364-9E0A-0AF675EF4785}"/>
              </a:ext>
            </a:extLst>
          </p:cNvPr>
          <p:cNvSpPr>
            <a:spLocks xmlns:a="http://schemas.openxmlformats.org/drawingml/2006/main" noGrp="1"/>
          </p:cNvSpPr>
          <p:nvPr/>
        </p:nvSpPr>
        <p:spPr>
          <a:xfrm xmlns:a="http://schemas.openxmlformats.org/drawingml/2006/main">
            <a:off x="7886700" y="3309747"/>
            <a:ext cx="3695700" cy="16230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Starting from the plausible first guess 'panel i in bay i,' hill climbing improves steadily, swap by swap, then genuinely stops at 0.0925 — much better than where it started (0.2325), but far from the true optimum, 0.0125. No single adjacent swap from here helps.</a:t>
            </a:r>
          </a:p>
        </p:txBody>
      </p:sp>
    </p:spTree>
    <p:extLst>
      <p:ext uri="{BB962C8B-B14F-4D97-AF65-F5344CB8AC3E}">
        <p14:creationId xmlns:p14="http://schemas.microsoft.com/office/powerpoint/2010/main" val="190117922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kicker">
            <a:extLst xmlns:a="http://schemas.openxmlformats.org/drawingml/2006/main">
              <a:ext uri="{FF2B5EF4-FFF2-40B4-BE49-F238E27FC236}">
                <a16:creationId xmlns:a16="http://schemas.microsoft.com/office/drawing/2014/main" id="{16436A25-1540-4FA3-A7D3-4BED3217082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D7F16242-ECB6-47B4-B197-5A61381923A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This is not a fluke: most starting points get stuck</a:t>
            </a:r>
          </a:p>
        </p:txBody>
      </p:sp>
      <p:sp>
        <p:nvSpPr>
          <p:cNvPr id="3" name="">
            <a:extLst xmlns:a="http://schemas.openxmlformats.org/drawingml/2006/main">
              <a:ext uri="{FF2B5EF4-FFF2-40B4-BE49-F238E27FC236}">
                <a16:creationId xmlns:a16="http://schemas.microsoft.com/office/drawing/2014/main" id="{350ECF5B-7DD0-4E68-B8BA-89922F50B51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34E7A70-3EC1-4B38-BB7F-AF0C042AC2D5}"/>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A7ECF280-46B9-4DDA-86BA-64512552B1D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20</a:t>
            </a:r>
          </a:p>
        </p:txBody>
      </p:sp>
      <p:sp>
        <p:nvSpPr>
          <p:cNvPr id="6" name="">
            <a:extLst xmlns:a="http://schemas.openxmlformats.org/drawingml/2006/main">
              <a:ext uri="{FF2B5EF4-FFF2-40B4-BE49-F238E27FC236}">
                <a16:creationId xmlns:a16="http://schemas.microsoft.com/office/drawing/2014/main" id="{A46B56BB-F941-4546-A9F0-2AEEF26716D3}"/>
              </a:ext>
            </a:extLst>
          </p:cNvPr>
          <p:cNvSpPr>
            <a:spLocks xmlns:a="http://schemas.openxmlformats.org/drawingml/2006/main" noGrp="1"/>
          </p:cNvSpPr>
          <p:nvPr/>
        </p:nvSpPr>
        <p:spPr>
          <a:xfrm xmlns:a="http://schemas.openxmlformats.org/drawingml/2006/main">
            <a:off x="609600" y="290512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0CF0677E-2A82-403E-8783-E22F4DE495E4}"/>
              </a:ext>
            </a:extLst>
          </p:cNvPr>
          <p:cNvSpPr>
            <a:spLocks xmlns:a="http://schemas.openxmlformats.org/drawingml/2006/main" noGrp="1"/>
          </p:cNvSpPr>
          <p:nvPr/>
        </p:nvSpPr>
        <p:spPr>
          <a:xfrm xmlns:a="http://schemas.openxmlformats.org/drawingml/2006/main">
            <a:off x="723900" y="298132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starting arrangement</a:t>
            </a:r>
          </a:p>
        </p:txBody>
      </p:sp>
      <p:sp>
        <p:nvSpPr>
          <p:cNvPr id="8" name="">
            <a:extLst xmlns:a="http://schemas.openxmlformats.org/drawingml/2006/main">
              <a:ext uri="{FF2B5EF4-FFF2-40B4-BE49-F238E27FC236}">
                <a16:creationId xmlns:a16="http://schemas.microsoft.com/office/drawing/2014/main" id="{6AA2372A-B505-4826-916C-BA890F40D0B2}"/>
              </a:ext>
            </a:extLst>
          </p:cNvPr>
          <p:cNvSpPr>
            <a:spLocks xmlns:a="http://schemas.openxmlformats.org/drawingml/2006/main" noGrp="1"/>
          </p:cNvSpPr>
          <p:nvPr/>
        </p:nvSpPr>
        <p:spPr>
          <a:xfrm xmlns:a="http://schemas.openxmlformats.org/drawingml/2006/main">
            <a:off x="2466975" y="290512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58AD267F-BAD1-40DB-BDD0-30184E87C81E}"/>
              </a:ext>
            </a:extLst>
          </p:cNvPr>
          <p:cNvSpPr>
            <a:spLocks xmlns:a="http://schemas.openxmlformats.org/drawingml/2006/main" noGrp="1"/>
          </p:cNvSpPr>
          <p:nvPr/>
        </p:nvSpPr>
        <p:spPr>
          <a:xfrm xmlns:a="http://schemas.openxmlformats.org/drawingml/2006/main">
            <a:off x="2581275" y="298132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hill climbing ends at</a:t>
            </a:r>
          </a:p>
        </p:txBody>
      </p:sp>
      <p:sp>
        <p:nvSpPr>
          <p:cNvPr id="10" name="">
            <a:extLst xmlns:a="http://schemas.openxmlformats.org/drawingml/2006/main">
              <a:ext uri="{FF2B5EF4-FFF2-40B4-BE49-F238E27FC236}">
                <a16:creationId xmlns:a16="http://schemas.microsoft.com/office/drawing/2014/main" id="{6A5E4B98-C6A8-4E27-8B53-7C6EBF012210}"/>
              </a:ext>
            </a:extLst>
          </p:cNvPr>
          <p:cNvSpPr>
            <a:spLocks xmlns:a="http://schemas.openxmlformats.org/drawingml/2006/main" noGrp="1"/>
          </p:cNvSpPr>
          <p:nvPr/>
        </p:nvSpPr>
        <p:spPr>
          <a:xfrm xmlns:a="http://schemas.openxmlformats.org/drawingml/2006/main">
            <a:off x="4324350" y="290512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AB0738A6-382D-4AC3-823A-E4C9A384C9F4}"/>
              </a:ext>
            </a:extLst>
          </p:cNvPr>
          <p:cNvSpPr>
            <a:spLocks xmlns:a="http://schemas.openxmlformats.org/drawingml/2006/main" noGrp="1"/>
          </p:cNvSpPr>
          <p:nvPr/>
        </p:nvSpPr>
        <p:spPr>
          <a:xfrm xmlns:a="http://schemas.openxmlformats.org/drawingml/2006/main">
            <a:off x="4438650" y="298132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cost</a:t>
            </a:r>
          </a:p>
        </p:txBody>
      </p:sp>
      <p:sp>
        <p:nvSpPr>
          <p:cNvPr id="12" name="">
            <a:extLst xmlns:a="http://schemas.openxmlformats.org/drawingml/2006/main">
              <a:ext uri="{FF2B5EF4-FFF2-40B4-BE49-F238E27FC236}">
                <a16:creationId xmlns:a16="http://schemas.microsoft.com/office/drawing/2014/main" id="{8AB515E4-7F04-4222-BFCB-4638A34CF667}"/>
              </a:ext>
            </a:extLst>
          </p:cNvPr>
          <p:cNvSpPr>
            <a:spLocks xmlns:a="http://schemas.openxmlformats.org/drawingml/2006/main" noGrp="1"/>
          </p:cNvSpPr>
          <p:nvPr/>
        </p:nvSpPr>
        <p:spPr>
          <a:xfrm xmlns:a="http://schemas.openxmlformats.org/drawingml/2006/main">
            <a:off x="6181725" y="290512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3" name="header-3">
            <a:extLst xmlns:a="http://schemas.openxmlformats.org/drawingml/2006/main">
              <a:ext uri="{FF2B5EF4-FFF2-40B4-BE49-F238E27FC236}">
                <a16:creationId xmlns:a16="http://schemas.microsoft.com/office/drawing/2014/main" id="{7604E916-4B54-448F-AF97-E70F0106D453}"/>
              </a:ext>
            </a:extLst>
          </p:cNvPr>
          <p:cNvSpPr>
            <a:spLocks xmlns:a="http://schemas.openxmlformats.org/drawingml/2006/main" noGrp="1"/>
          </p:cNvSpPr>
          <p:nvPr/>
        </p:nvSpPr>
        <p:spPr>
          <a:xfrm xmlns:a="http://schemas.openxmlformats.org/drawingml/2006/main">
            <a:off x="6296025" y="298132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true optimum (0.0125)?</a:t>
            </a:r>
          </a:p>
        </p:txBody>
      </p:sp>
      <p:sp>
        <p:nvSpPr>
          <p:cNvPr id="14" name="">
            <a:extLst xmlns:a="http://schemas.openxmlformats.org/drawingml/2006/main">
              <a:ext uri="{FF2B5EF4-FFF2-40B4-BE49-F238E27FC236}">
                <a16:creationId xmlns:a16="http://schemas.microsoft.com/office/drawing/2014/main" id="{F4D043E7-0ED5-4C08-824E-2278EB6BAE6A}"/>
              </a:ext>
            </a:extLst>
          </p:cNvPr>
          <p:cNvSpPr>
            <a:spLocks xmlns:a="http://schemas.openxmlformats.org/drawingml/2006/main" noGrp="1"/>
          </p:cNvSpPr>
          <p:nvPr/>
        </p:nvSpPr>
        <p:spPr>
          <a:xfrm xmlns:a="http://schemas.openxmlformats.org/drawingml/2006/main">
            <a:off x="609600" y="34461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0">
            <a:extLst xmlns:a="http://schemas.openxmlformats.org/drawingml/2006/main">
              <a:ext uri="{FF2B5EF4-FFF2-40B4-BE49-F238E27FC236}">
                <a16:creationId xmlns:a16="http://schemas.microsoft.com/office/drawing/2014/main" id="{BEB50739-4308-41AC-810B-20EF9A492ABB}"/>
              </a:ext>
            </a:extLst>
          </p:cNvPr>
          <p:cNvSpPr>
            <a:spLocks xmlns:a="http://schemas.openxmlformats.org/drawingml/2006/main" noGrp="1"/>
          </p:cNvSpPr>
          <p:nvPr/>
        </p:nvSpPr>
        <p:spPr>
          <a:xfrm xmlns:a="http://schemas.openxmlformats.org/drawingml/2006/main">
            <a:off x="723900" y="35223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(0, 1, 2, 3, 4, 5)</a:t>
            </a:r>
          </a:p>
        </p:txBody>
      </p:sp>
      <p:sp>
        <p:nvSpPr>
          <p:cNvPr id="16" name="">
            <a:extLst xmlns:a="http://schemas.openxmlformats.org/drawingml/2006/main">
              <a:ext uri="{FF2B5EF4-FFF2-40B4-BE49-F238E27FC236}">
                <a16:creationId xmlns:a16="http://schemas.microsoft.com/office/drawing/2014/main" id="{EC7B72FF-ADE1-44F5-8B74-9A9E53E9F576}"/>
              </a:ext>
            </a:extLst>
          </p:cNvPr>
          <p:cNvSpPr>
            <a:spLocks xmlns:a="http://schemas.openxmlformats.org/drawingml/2006/main" noGrp="1"/>
          </p:cNvSpPr>
          <p:nvPr/>
        </p:nvSpPr>
        <p:spPr>
          <a:xfrm xmlns:a="http://schemas.openxmlformats.org/drawingml/2006/main">
            <a:off x="2466975" y="34461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1">
            <a:extLst xmlns:a="http://schemas.openxmlformats.org/drawingml/2006/main">
              <a:ext uri="{FF2B5EF4-FFF2-40B4-BE49-F238E27FC236}">
                <a16:creationId xmlns:a16="http://schemas.microsoft.com/office/drawing/2014/main" id="{9F2E67FB-9190-4730-829F-A2C17DD7C3C5}"/>
              </a:ext>
            </a:extLst>
          </p:cNvPr>
          <p:cNvSpPr>
            <a:spLocks xmlns:a="http://schemas.openxmlformats.org/drawingml/2006/main" noGrp="1"/>
          </p:cNvSpPr>
          <p:nvPr/>
        </p:nvSpPr>
        <p:spPr>
          <a:xfrm xmlns:a="http://schemas.openxmlformats.org/drawingml/2006/main">
            <a:off x="2581275" y="35223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(0, 1, 2, 5, 4, 3)</a:t>
            </a:r>
          </a:p>
        </p:txBody>
      </p:sp>
      <p:sp>
        <p:nvSpPr>
          <p:cNvPr id="18" name="">
            <a:extLst xmlns:a="http://schemas.openxmlformats.org/drawingml/2006/main">
              <a:ext uri="{FF2B5EF4-FFF2-40B4-BE49-F238E27FC236}">
                <a16:creationId xmlns:a16="http://schemas.microsoft.com/office/drawing/2014/main" id="{6305BCAE-5517-45C0-86CB-0B11C470716D}"/>
              </a:ext>
            </a:extLst>
          </p:cNvPr>
          <p:cNvSpPr>
            <a:spLocks xmlns:a="http://schemas.openxmlformats.org/drawingml/2006/main" noGrp="1"/>
          </p:cNvSpPr>
          <p:nvPr/>
        </p:nvSpPr>
        <p:spPr>
          <a:xfrm xmlns:a="http://schemas.openxmlformats.org/drawingml/2006/main">
            <a:off x="4324350" y="34461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9" name="cell-0-2">
            <a:extLst xmlns:a="http://schemas.openxmlformats.org/drawingml/2006/main">
              <a:ext uri="{FF2B5EF4-FFF2-40B4-BE49-F238E27FC236}">
                <a16:creationId xmlns:a16="http://schemas.microsoft.com/office/drawing/2014/main" id="{1759E662-6A36-490D-8E53-44AFB3E09357}"/>
              </a:ext>
            </a:extLst>
          </p:cNvPr>
          <p:cNvSpPr>
            <a:spLocks xmlns:a="http://schemas.openxmlformats.org/drawingml/2006/main" noGrp="1"/>
          </p:cNvSpPr>
          <p:nvPr/>
        </p:nvSpPr>
        <p:spPr>
          <a:xfrm xmlns:a="http://schemas.openxmlformats.org/drawingml/2006/main">
            <a:off x="4438650" y="35223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0.0925</a:t>
            </a:r>
          </a:p>
        </p:txBody>
      </p:sp>
      <p:sp>
        <p:nvSpPr>
          <p:cNvPr id="20" name="">
            <a:extLst xmlns:a="http://schemas.openxmlformats.org/drawingml/2006/main">
              <a:ext uri="{FF2B5EF4-FFF2-40B4-BE49-F238E27FC236}">
                <a16:creationId xmlns:a16="http://schemas.microsoft.com/office/drawing/2014/main" id="{347CA0DB-51D3-46A4-BCB7-EA04355FB1D0}"/>
              </a:ext>
            </a:extLst>
          </p:cNvPr>
          <p:cNvSpPr>
            <a:spLocks xmlns:a="http://schemas.openxmlformats.org/drawingml/2006/main" noGrp="1"/>
          </p:cNvSpPr>
          <p:nvPr/>
        </p:nvSpPr>
        <p:spPr>
          <a:xfrm xmlns:a="http://schemas.openxmlformats.org/drawingml/2006/main">
            <a:off x="6181725" y="34461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1" name="cell-0-3">
            <a:extLst xmlns:a="http://schemas.openxmlformats.org/drawingml/2006/main">
              <a:ext uri="{FF2B5EF4-FFF2-40B4-BE49-F238E27FC236}">
                <a16:creationId xmlns:a16="http://schemas.microsoft.com/office/drawing/2014/main" id="{8023EA43-3AAB-4252-9F2E-A3ACB61F4E75}"/>
              </a:ext>
            </a:extLst>
          </p:cNvPr>
          <p:cNvSpPr>
            <a:spLocks xmlns:a="http://schemas.openxmlformats.org/drawingml/2006/main" noGrp="1"/>
          </p:cNvSpPr>
          <p:nvPr/>
        </p:nvSpPr>
        <p:spPr>
          <a:xfrm xmlns:a="http://schemas.openxmlformats.org/drawingml/2006/main">
            <a:off x="6296025" y="35223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No</a:t>
            </a:r>
          </a:p>
        </p:txBody>
      </p:sp>
      <p:sp>
        <p:nvSpPr>
          <p:cNvPr id="22" name="">
            <a:extLst xmlns:a="http://schemas.openxmlformats.org/drawingml/2006/main">
              <a:ext uri="{FF2B5EF4-FFF2-40B4-BE49-F238E27FC236}">
                <a16:creationId xmlns:a16="http://schemas.microsoft.com/office/drawing/2014/main" id="{7EB6417F-C6E8-4551-9598-1B713B2503DB}"/>
              </a:ext>
            </a:extLst>
          </p:cNvPr>
          <p:cNvSpPr>
            <a:spLocks xmlns:a="http://schemas.openxmlformats.org/drawingml/2006/main" noGrp="1"/>
          </p:cNvSpPr>
          <p:nvPr/>
        </p:nvSpPr>
        <p:spPr>
          <a:xfrm xmlns:a="http://schemas.openxmlformats.org/drawingml/2006/main">
            <a:off x="609600" y="39795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0">
            <a:extLst xmlns:a="http://schemas.openxmlformats.org/drawingml/2006/main">
              <a:ext uri="{FF2B5EF4-FFF2-40B4-BE49-F238E27FC236}">
                <a16:creationId xmlns:a16="http://schemas.microsoft.com/office/drawing/2014/main" id="{D05CD489-2F4D-4900-B3F4-11CB493C765B}"/>
              </a:ext>
            </a:extLst>
          </p:cNvPr>
          <p:cNvSpPr>
            <a:spLocks xmlns:a="http://schemas.openxmlformats.org/drawingml/2006/main" noGrp="1"/>
          </p:cNvSpPr>
          <p:nvPr/>
        </p:nvSpPr>
        <p:spPr>
          <a:xfrm xmlns:a="http://schemas.openxmlformats.org/drawingml/2006/main">
            <a:off x="723900" y="40557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(0, 1, 2, 3, 5, 4)</a:t>
            </a:r>
          </a:p>
        </p:txBody>
      </p:sp>
      <p:sp>
        <p:nvSpPr>
          <p:cNvPr id="24" name="">
            <a:extLst xmlns:a="http://schemas.openxmlformats.org/drawingml/2006/main">
              <a:ext uri="{FF2B5EF4-FFF2-40B4-BE49-F238E27FC236}">
                <a16:creationId xmlns:a16="http://schemas.microsoft.com/office/drawing/2014/main" id="{3676AFDC-BDD6-488F-81EC-17CDE253E5E7}"/>
              </a:ext>
            </a:extLst>
          </p:cNvPr>
          <p:cNvSpPr>
            <a:spLocks xmlns:a="http://schemas.openxmlformats.org/drawingml/2006/main" noGrp="1"/>
          </p:cNvSpPr>
          <p:nvPr/>
        </p:nvSpPr>
        <p:spPr>
          <a:xfrm xmlns:a="http://schemas.openxmlformats.org/drawingml/2006/main">
            <a:off x="2466975" y="39795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5" name="cell-1-1">
            <a:extLst xmlns:a="http://schemas.openxmlformats.org/drawingml/2006/main">
              <a:ext uri="{FF2B5EF4-FFF2-40B4-BE49-F238E27FC236}">
                <a16:creationId xmlns:a16="http://schemas.microsoft.com/office/drawing/2014/main" id="{429AF997-28F4-4D51-910D-34A25D08A9EC}"/>
              </a:ext>
            </a:extLst>
          </p:cNvPr>
          <p:cNvSpPr>
            <a:spLocks xmlns:a="http://schemas.openxmlformats.org/drawingml/2006/main" noGrp="1"/>
          </p:cNvSpPr>
          <p:nvPr/>
        </p:nvSpPr>
        <p:spPr>
          <a:xfrm xmlns:a="http://schemas.openxmlformats.org/drawingml/2006/main">
            <a:off x="2581275" y="40557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(0, 1, 2, 5, 4, 3)</a:t>
            </a:r>
          </a:p>
        </p:txBody>
      </p:sp>
      <p:sp>
        <p:nvSpPr>
          <p:cNvPr id="26" name="">
            <a:extLst xmlns:a="http://schemas.openxmlformats.org/drawingml/2006/main">
              <a:ext uri="{FF2B5EF4-FFF2-40B4-BE49-F238E27FC236}">
                <a16:creationId xmlns:a16="http://schemas.microsoft.com/office/drawing/2014/main" id="{99F445A4-3D42-4C83-B7D7-3335AB0B9828}"/>
              </a:ext>
            </a:extLst>
          </p:cNvPr>
          <p:cNvSpPr>
            <a:spLocks xmlns:a="http://schemas.openxmlformats.org/drawingml/2006/main" noGrp="1"/>
          </p:cNvSpPr>
          <p:nvPr/>
        </p:nvSpPr>
        <p:spPr>
          <a:xfrm xmlns:a="http://schemas.openxmlformats.org/drawingml/2006/main">
            <a:off x="4324350" y="39795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7" name="cell-1-2">
            <a:extLst xmlns:a="http://schemas.openxmlformats.org/drawingml/2006/main">
              <a:ext uri="{FF2B5EF4-FFF2-40B4-BE49-F238E27FC236}">
                <a16:creationId xmlns:a16="http://schemas.microsoft.com/office/drawing/2014/main" id="{C2A1B076-59F8-4C1D-9A17-7FDF3447F08A}"/>
              </a:ext>
            </a:extLst>
          </p:cNvPr>
          <p:cNvSpPr>
            <a:spLocks xmlns:a="http://schemas.openxmlformats.org/drawingml/2006/main" noGrp="1"/>
          </p:cNvSpPr>
          <p:nvPr/>
        </p:nvSpPr>
        <p:spPr>
          <a:xfrm xmlns:a="http://schemas.openxmlformats.org/drawingml/2006/main">
            <a:off x="4438650" y="40557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0.0925</a:t>
            </a:r>
          </a:p>
        </p:txBody>
      </p:sp>
      <p:sp>
        <p:nvSpPr>
          <p:cNvPr id="28" name="">
            <a:extLst xmlns:a="http://schemas.openxmlformats.org/drawingml/2006/main">
              <a:ext uri="{FF2B5EF4-FFF2-40B4-BE49-F238E27FC236}">
                <a16:creationId xmlns:a16="http://schemas.microsoft.com/office/drawing/2014/main" id="{10B34DA2-EC74-4894-8D95-27C4E9447C99}"/>
              </a:ext>
            </a:extLst>
          </p:cNvPr>
          <p:cNvSpPr>
            <a:spLocks xmlns:a="http://schemas.openxmlformats.org/drawingml/2006/main" noGrp="1"/>
          </p:cNvSpPr>
          <p:nvPr/>
        </p:nvSpPr>
        <p:spPr>
          <a:xfrm xmlns:a="http://schemas.openxmlformats.org/drawingml/2006/main">
            <a:off x="6181725" y="39795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9" name="cell-1-3">
            <a:extLst xmlns:a="http://schemas.openxmlformats.org/drawingml/2006/main">
              <a:ext uri="{FF2B5EF4-FFF2-40B4-BE49-F238E27FC236}">
                <a16:creationId xmlns:a16="http://schemas.microsoft.com/office/drawing/2014/main" id="{F778FF98-68EB-47FF-B5E6-71B7F1E36AC0}"/>
              </a:ext>
            </a:extLst>
          </p:cNvPr>
          <p:cNvSpPr>
            <a:spLocks xmlns:a="http://schemas.openxmlformats.org/drawingml/2006/main" noGrp="1"/>
          </p:cNvSpPr>
          <p:nvPr/>
        </p:nvSpPr>
        <p:spPr>
          <a:xfrm xmlns:a="http://schemas.openxmlformats.org/drawingml/2006/main">
            <a:off x="6296025" y="40557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No</a:t>
            </a:r>
          </a:p>
        </p:txBody>
      </p:sp>
      <p:sp>
        <p:nvSpPr>
          <p:cNvPr id="30" name="">
            <a:extLst xmlns:a="http://schemas.openxmlformats.org/drawingml/2006/main">
              <a:ext uri="{FF2B5EF4-FFF2-40B4-BE49-F238E27FC236}">
                <a16:creationId xmlns:a16="http://schemas.microsoft.com/office/drawing/2014/main" id="{C0F5AF1B-6F54-4D71-ADB9-059A5161F7A6}"/>
              </a:ext>
            </a:extLst>
          </p:cNvPr>
          <p:cNvSpPr>
            <a:spLocks xmlns:a="http://schemas.openxmlformats.org/drawingml/2006/main" noGrp="1"/>
          </p:cNvSpPr>
          <p:nvPr/>
        </p:nvSpPr>
        <p:spPr>
          <a:xfrm xmlns:a="http://schemas.openxmlformats.org/drawingml/2006/main">
            <a:off x="609600" y="45129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1" name="cell-2-0">
            <a:extLst xmlns:a="http://schemas.openxmlformats.org/drawingml/2006/main">
              <a:ext uri="{FF2B5EF4-FFF2-40B4-BE49-F238E27FC236}">
                <a16:creationId xmlns:a16="http://schemas.microsoft.com/office/drawing/2014/main" id="{9AE387BE-636E-4E50-81A1-BB3A21A412F9}"/>
              </a:ext>
            </a:extLst>
          </p:cNvPr>
          <p:cNvSpPr>
            <a:spLocks xmlns:a="http://schemas.openxmlformats.org/drawingml/2006/main" noGrp="1"/>
          </p:cNvSpPr>
          <p:nvPr/>
        </p:nvSpPr>
        <p:spPr>
          <a:xfrm xmlns:a="http://schemas.openxmlformats.org/drawingml/2006/main">
            <a:off x="723900" y="45891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(2, 3, 5, 0, 4, 1)</a:t>
            </a:r>
          </a:p>
        </p:txBody>
      </p:sp>
      <p:sp>
        <p:nvSpPr>
          <p:cNvPr id="32" name="">
            <a:extLst xmlns:a="http://schemas.openxmlformats.org/drawingml/2006/main">
              <a:ext uri="{FF2B5EF4-FFF2-40B4-BE49-F238E27FC236}">
                <a16:creationId xmlns:a16="http://schemas.microsoft.com/office/drawing/2014/main" id="{61337969-0BE0-47D1-8F1F-6E54F0CD33C3}"/>
              </a:ext>
            </a:extLst>
          </p:cNvPr>
          <p:cNvSpPr>
            <a:spLocks xmlns:a="http://schemas.openxmlformats.org/drawingml/2006/main" noGrp="1"/>
          </p:cNvSpPr>
          <p:nvPr/>
        </p:nvSpPr>
        <p:spPr>
          <a:xfrm xmlns:a="http://schemas.openxmlformats.org/drawingml/2006/main">
            <a:off x="2466975" y="45129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3" name="cell-2-1">
            <a:extLst xmlns:a="http://schemas.openxmlformats.org/drawingml/2006/main">
              <a:ext uri="{FF2B5EF4-FFF2-40B4-BE49-F238E27FC236}">
                <a16:creationId xmlns:a16="http://schemas.microsoft.com/office/drawing/2014/main" id="{D634296E-08A0-445D-A713-D1CA468974BF}"/>
              </a:ext>
            </a:extLst>
          </p:cNvPr>
          <p:cNvSpPr>
            <a:spLocks xmlns:a="http://schemas.openxmlformats.org/drawingml/2006/main" noGrp="1"/>
          </p:cNvSpPr>
          <p:nvPr/>
        </p:nvSpPr>
        <p:spPr>
          <a:xfrm xmlns:a="http://schemas.openxmlformats.org/drawingml/2006/main">
            <a:off x="2581275" y="45891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(2, 3, 4, 5, 1, 0)</a:t>
            </a:r>
          </a:p>
        </p:txBody>
      </p:sp>
      <p:sp>
        <p:nvSpPr>
          <p:cNvPr id="34" name="">
            <a:extLst xmlns:a="http://schemas.openxmlformats.org/drawingml/2006/main">
              <a:ext uri="{FF2B5EF4-FFF2-40B4-BE49-F238E27FC236}">
                <a16:creationId xmlns:a16="http://schemas.microsoft.com/office/drawing/2014/main" id="{E2DF6316-2B19-4F8D-AAAC-8E5628CBE7BC}"/>
              </a:ext>
            </a:extLst>
          </p:cNvPr>
          <p:cNvSpPr>
            <a:spLocks xmlns:a="http://schemas.openxmlformats.org/drawingml/2006/main" noGrp="1"/>
          </p:cNvSpPr>
          <p:nvPr/>
        </p:nvSpPr>
        <p:spPr>
          <a:xfrm xmlns:a="http://schemas.openxmlformats.org/drawingml/2006/main">
            <a:off x="4324350" y="45129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5" name="cell-2-2">
            <a:extLst xmlns:a="http://schemas.openxmlformats.org/drawingml/2006/main">
              <a:ext uri="{FF2B5EF4-FFF2-40B4-BE49-F238E27FC236}">
                <a16:creationId xmlns:a16="http://schemas.microsoft.com/office/drawing/2014/main" id="{802E4582-F1F7-45EF-BA7E-71246F78F332}"/>
              </a:ext>
            </a:extLst>
          </p:cNvPr>
          <p:cNvSpPr>
            <a:spLocks xmlns:a="http://schemas.openxmlformats.org/drawingml/2006/main" noGrp="1"/>
          </p:cNvSpPr>
          <p:nvPr/>
        </p:nvSpPr>
        <p:spPr>
          <a:xfrm xmlns:a="http://schemas.openxmlformats.org/drawingml/2006/main">
            <a:off x="4438650" y="45891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0.0825</a:t>
            </a:r>
          </a:p>
        </p:txBody>
      </p:sp>
      <p:sp>
        <p:nvSpPr>
          <p:cNvPr id="36" name="">
            <a:extLst xmlns:a="http://schemas.openxmlformats.org/drawingml/2006/main">
              <a:ext uri="{FF2B5EF4-FFF2-40B4-BE49-F238E27FC236}">
                <a16:creationId xmlns:a16="http://schemas.microsoft.com/office/drawing/2014/main" id="{7A3969B7-0341-4CC3-A810-1FDC68C693A2}"/>
              </a:ext>
            </a:extLst>
          </p:cNvPr>
          <p:cNvSpPr>
            <a:spLocks xmlns:a="http://schemas.openxmlformats.org/drawingml/2006/main" noGrp="1"/>
          </p:cNvSpPr>
          <p:nvPr/>
        </p:nvSpPr>
        <p:spPr>
          <a:xfrm xmlns:a="http://schemas.openxmlformats.org/drawingml/2006/main">
            <a:off x="6181725" y="45129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7" name="cell-2-3">
            <a:extLst xmlns:a="http://schemas.openxmlformats.org/drawingml/2006/main">
              <a:ext uri="{FF2B5EF4-FFF2-40B4-BE49-F238E27FC236}">
                <a16:creationId xmlns:a16="http://schemas.microsoft.com/office/drawing/2014/main" id="{8BA0ACBB-7B4D-4DF0-A26C-E6EE2BFF6A2D}"/>
              </a:ext>
            </a:extLst>
          </p:cNvPr>
          <p:cNvSpPr>
            <a:spLocks xmlns:a="http://schemas.openxmlformats.org/drawingml/2006/main" noGrp="1"/>
          </p:cNvSpPr>
          <p:nvPr/>
        </p:nvSpPr>
        <p:spPr>
          <a:xfrm xmlns:a="http://schemas.openxmlformats.org/drawingml/2006/main">
            <a:off x="6296025" y="45891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No</a:t>
            </a:r>
          </a:p>
        </p:txBody>
      </p:sp>
      <p:sp>
        <p:nvSpPr>
          <p:cNvPr id="38" name="callout-label">
            <a:extLst xmlns:a="http://schemas.openxmlformats.org/drawingml/2006/main">
              <a:ext uri="{FF2B5EF4-FFF2-40B4-BE49-F238E27FC236}">
                <a16:creationId xmlns:a16="http://schemas.microsoft.com/office/drawing/2014/main" id="{4DB2AE96-E9F4-4BE3-AB79-1F876BB58251}"/>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39" name="callout">
            <a:extLst xmlns:a="http://schemas.openxmlformats.org/drawingml/2006/main">
              <a:ext uri="{FF2B5EF4-FFF2-40B4-BE49-F238E27FC236}">
                <a16:creationId xmlns:a16="http://schemas.microsoft.com/office/drawing/2014/main" id="{85981190-FB4D-44ED-99A5-DF43556D82E2}"/>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654 of all 720 possible starting arrangements (about 91%) land in some suboptimal local optimum under this adjacent-swap neighborhood, verified by running hill_climb from every one of them.</a:t>
            </a:r>
          </a:p>
        </p:txBody>
      </p:sp>
    </p:spTree>
    <p:extLst>
      <p:ext uri="{BB962C8B-B14F-4D97-AF65-F5344CB8AC3E}">
        <p14:creationId xmlns:p14="http://schemas.microsoft.com/office/powerpoint/2010/main" val="34216195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4CD5C5B9-3BF8-43A1-82F3-8FC715E4AF0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D08CE6F5-43A5-410C-BB9B-19A5A853F08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Hill climbing with restarts, defined</a:t>
            </a:r>
          </a:p>
        </p:txBody>
      </p:sp>
      <p:sp>
        <p:nvSpPr>
          <p:cNvPr id="3" name="">
            <a:extLst xmlns:a="http://schemas.openxmlformats.org/drawingml/2006/main">
              <a:ext uri="{FF2B5EF4-FFF2-40B4-BE49-F238E27FC236}">
                <a16:creationId xmlns:a16="http://schemas.microsoft.com/office/drawing/2014/main" id="{06F4DB34-5B70-4F2F-9211-FE19054545E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4457718-C55F-4B73-9645-92326847189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F73A0687-9BEB-46C2-B211-ACA5EFF7FA8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21</a:t>
            </a:r>
          </a:p>
        </p:txBody>
      </p:sp>
      <p:sp>
        <p:nvSpPr>
          <p:cNvPr id="6" name="left-head">
            <a:extLst xmlns:a="http://schemas.openxmlformats.org/drawingml/2006/main">
              <a:ext uri="{FF2B5EF4-FFF2-40B4-BE49-F238E27FC236}">
                <a16:creationId xmlns:a16="http://schemas.microsoft.com/office/drawing/2014/main" id="{99324256-308F-4969-B1DE-BD4B1866B7DE}"/>
              </a:ext>
            </a:extLst>
          </p:cNvPr>
          <p:cNvSpPr>
            <a:spLocks xmlns:a="http://schemas.openxmlformats.org/drawingml/2006/main" noGrp="1"/>
          </p:cNvSpPr>
          <p:nvPr/>
        </p:nvSpPr>
        <p:spPr>
          <a:xfrm xmlns:a="http://schemas.openxmlformats.org/drawingml/2006/main">
            <a:off x="609600" y="280987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Definition</a:t>
            </a:r>
          </a:p>
        </p:txBody>
      </p:sp>
      <p:sp>
        <p:nvSpPr>
          <p:cNvPr id="7" name="left-body">
            <a:extLst xmlns:a="http://schemas.openxmlformats.org/drawingml/2006/main">
              <a:ext uri="{FF2B5EF4-FFF2-40B4-BE49-F238E27FC236}">
                <a16:creationId xmlns:a16="http://schemas.microsoft.com/office/drawing/2014/main" id="{B93273FF-D1AC-49C8-AA8E-A5A84ACD2BB4}"/>
              </a:ext>
            </a:extLst>
          </p:cNvPr>
          <p:cNvSpPr>
            <a:spLocks xmlns:a="http://schemas.openxmlformats.org/drawingml/2006/main" noGrp="1"/>
          </p:cNvSpPr>
          <p:nvPr/>
        </p:nvSpPr>
        <p:spPr>
          <a:xfrm xmlns:a="http://schemas.openxmlformats.org/drawingml/2006/main">
            <a:off x="609600" y="3307461"/>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Run hill climbing from several different random starting arrangements; keep the best local optimum found across all of them. More attempts, more chances to land in the true optimum's basin.</a:t>
            </a:r>
          </a:p>
        </p:txBody>
      </p:sp>
      <p:sp>
        <p:nvSpPr>
          <p:cNvPr id="8" name="right-head">
            <a:extLst xmlns:a="http://schemas.openxmlformats.org/drawingml/2006/main">
              <a:ext uri="{FF2B5EF4-FFF2-40B4-BE49-F238E27FC236}">
                <a16:creationId xmlns:a16="http://schemas.microsoft.com/office/drawing/2014/main" id="{FD03A772-59D2-4B78-9CFC-B6ECCF6452D5}"/>
              </a:ext>
            </a:extLst>
          </p:cNvPr>
          <p:cNvSpPr>
            <a:spLocks xmlns:a="http://schemas.openxmlformats.org/drawingml/2006/main" noGrp="1"/>
          </p:cNvSpPr>
          <p:nvPr/>
        </p:nvSpPr>
        <p:spPr>
          <a:xfrm xmlns:a="http://schemas.openxmlformats.org/drawingml/2006/main">
            <a:off x="6362700" y="280987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Does it fix the problem?</a:t>
            </a:r>
          </a:p>
        </p:txBody>
      </p:sp>
      <p:sp>
        <p:nvSpPr>
          <p:cNvPr id="9" name="right-body">
            <a:extLst xmlns:a="http://schemas.openxmlformats.org/drawingml/2006/main">
              <a:ext uri="{FF2B5EF4-FFF2-40B4-BE49-F238E27FC236}">
                <a16:creationId xmlns:a16="http://schemas.microsoft.com/office/drawing/2014/main" id="{4D055870-C4AB-46F8-9E25-F76FCFFCDEDC}"/>
              </a:ext>
            </a:extLst>
          </p:cNvPr>
          <p:cNvSpPr>
            <a:spLocks xmlns:a="http://schemas.openxmlformats.org/drawingml/2006/main" noGrp="1"/>
          </p:cNvSpPr>
          <p:nvPr/>
        </p:nvSpPr>
        <p:spPr>
          <a:xfrm xmlns:a="http://schemas.openxmlformats.org/drawingml/2006/main">
            <a:off x="6362700" y="3307461"/>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Only partially. More restarts raise the odds, but there is still no guarantee — and every restart costs more evaluations. The next slide shows this honestly, not glossed over.</a:t>
            </a:r>
          </a:p>
        </p:txBody>
      </p:sp>
    </p:spTree>
    <p:extLst>
      <p:ext uri="{BB962C8B-B14F-4D97-AF65-F5344CB8AC3E}">
        <p14:creationId xmlns:p14="http://schemas.microsoft.com/office/powerpoint/2010/main" val="57340046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BDE18C00-CCE2-4482-9BA7-E7B7FA9B09EA}"/>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5A5D06D6-A3B2-4AFE-A0BF-FD921CB788F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do 5 restarts guarantee the true optimum?</a:t>
            </a:r>
          </a:p>
        </p:txBody>
      </p:sp>
      <p:sp>
        <p:nvSpPr>
          <p:cNvPr id="3" name="">
            <a:extLst xmlns:a="http://schemas.openxmlformats.org/drawingml/2006/main">
              <a:ext uri="{FF2B5EF4-FFF2-40B4-BE49-F238E27FC236}">
                <a16:creationId xmlns:a16="http://schemas.microsoft.com/office/drawing/2014/main" id="{6C70E44D-DFC8-44B9-870E-0B50EB38CDA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163DA94-0F20-45B2-BE2F-4906AD94BF9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59A3C806-7749-4850-9C37-F72715A59AF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22</a:t>
            </a:r>
          </a:p>
        </p:txBody>
      </p:sp>
      <p:sp>
        <p:nvSpPr>
          <p:cNvPr id="6" name="code-panel">
            <a:extLst xmlns:a="http://schemas.openxmlformats.org/drawingml/2006/main">
              <a:ext uri="{FF2B5EF4-FFF2-40B4-BE49-F238E27FC236}">
                <a16:creationId xmlns:a16="http://schemas.microsoft.com/office/drawing/2014/main" id="{DF9530E9-16DE-4525-9909-49BC4C9E4E8B}"/>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68A6AA9E-27CC-4CDB-A3AF-34085CFE2B9D}"/>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perm, c = hill_climb_restarts(</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seed=1, n_restarts=5)</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print('cost:', round(c, 4))</a:t>
            </a:r>
          </a:p>
        </p:txBody>
      </p:sp>
      <p:sp>
        <p:nvSpPr>
          <p:cNvPr id="8" name="question">
            <a:extLst xmlns:a="http://schemas.openxmlformats.org/drawingml/2006/main">
              <a:ext uri="{FF2B5EF4-FFF2-40B4-BE49-F238E27FC236}">
                <a16:creationId xmlns:a16="http://schemas.microsoft.com/office/drawing/2014/main" id="{3B6FCB8F-ED26-4011-96EB-18BC1A23A281}"/>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Do 5 independent restarts guarantee reaching 0.0125?</a:t>
            </a:r>
          </a:p>
        </p:txBody>
      </p:sp>
      <p:sp>
        <p:nvSpPr>
          <p:cNvPr id="9" name="opt-0">
            <a:extLst xmlns:a="http://schemas.openxmlformats.org/drawingml/2006/main">
              <a:ext uri="{FF2B5EF4-FFF2-40B4-BE49-F238E27FC236}">
                <a16:creationId xmlns:a16="http://schemas.microsoft.com/office/drawing/2014/main" id="{B1C70954-034E-4D11-91E3-1EC93EF5DB07}"/>
              </a:ext>
            </a:extLst>
          </p:cNvPr>
          <p:cNvSpPr>
            <a:spLocks xmlns:a="http://schemas.openxmlformats.org/drawingml/2006/main" noGrp="1"/>
          </p:cNvSpPr>
          <p:nvPr/>
        </p:nvSpPr>
        <p:spPr>
          <a:xfrm xmlns:a="http://schemas.openxmlformats.org/drawingml/2006/main">
            <a:off x="7315200" y="25717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4F77BEA2-E59C-408B-A039-9E945A7E3C49}"/>
              </a:ext>
            </a:extLst>
          </p:cNvPr>
          <p:cNvSpPr>
            <a:spLocks xmlns:a="http://schemas.openxmlformats.org/drawingml/2006/main" noGrp="1"/>
          </p:cNvSpPr>
          <p:nvPr/>
        </p:nvSpPr>
        <p:spPr>
          <a:xfrm xmlns:a="http://schemas.openxmlformats.org/drawingml/2006/main">
            <a:off x="7448550" y="27336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99A66359-867B-4152-AC0B-34977A1865C3}"/>
              </a:ext>
            </a:extLst>
          </p:cNvPr>
          <p:cNvSpPr>
            <a:spLocks xmlns:a="http://schemas.openxmlformats.org/drawingml/2006/main" noGrp="1"/>
          </p:cNvSpPr>
          <p:nvPr/>
        </p:nvSpPr>
        <p:spPr>
          <a:xfrm xmlns:a="http://schemas.openxmlformats.org/drawingml/2006/main">
            <a:off x="7772400" y="26098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Yes — 5 restarts is always enough to escape any local trap.</a:t>
            </a:r>
          </a:p>
        </p:txBody>
      </p:sp>
      <p:sp>
        <p:nvSpPr>
          <p:cNvPr id="12" name="opt-1">
            <a:extLst xmlns:a="http://schemas.openxmlformats.org/drawingml/2006/main">
              <a:ext uri="{FF2B5EF4-FFF2-40B4-BE49-F238E27FC236}">
                <a16:creationId xmlns:a16="http://schemas.microsoft.com/office/drawing/2014/main" id="{29147CF2-7B8D-4AF8-A201-D4644CD62CD1}"/>
              </a:ext>
            </a:extLst>
          </p:cNvPr>
          <p:cNvSpPr>
            <a:spLocks xmlns:a="http://schemas.openxmlformats.org/drawingml/2006/main" noGrp="1"/>
          </p:cNvSpPr>
          <p:nvPr/>
        </p:nvSpPr>
        <p:spPr>
          <a:xfrm xmlns:a="http://schemas.openxmlformats.org/drawingml/2006/main">
            <a:off x="7315200" y="31813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4AF70FF2-BBE4-4B5C-ACC9-8E1115445E4A}"/>
              </a:ext>
            </a:extLst>
          </p:cNvPr>
          <p:cNvSpPr>
            <a:spLocks xmlns:a="http://schemas.openxmlformats.org/drawingml/2006/main" noGrp="1"/>
          </p:cNvSpPr>
          <p:nvPr/>
        </p:nvSpPr>
        <p:spPr>
          <a:xfrm xmlns:a="http://schemas.openxmlformats.org/drawingml/2006/main">
            <a:off x="7448550" y="33432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F8845819-FE80-4C30-B540-C720356047B6}"/>
              </a:ext>
            </a:extLst>
          </p:cNvPr>
          <p:cNvSpPr>
            <a:spLocks xmlns:a="http://schemas.openxmlformats.org/drawingml/2006/main" noGrp="1"/>
          </p:cNvSpPr>
          <p:nvPr/>
        </p:nvSpPr>
        <p:spPr>
          <a:xfrm xmlns:a="http://schemas.openxmlformats.org/drawingml/2006/main">
            <a:off x="7772400" y="32194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No — even with seed=1, the result is 0.0225, not 0.0125.</a:t>
            </a:r>
          </a:p>
        </p:txBody>
      </p:sp>
      <p:sp>
        <p:nvSpPr>
          <p:cNvPr id="15" name="opt-2">
            <a:extLst xmlns:a="http://schemas.openxmlformats.org/drawingml/2006/main">
              <a:ext uri="{FF2B5EF4-FFF2-40B4-BE49-F238E27FC236}">
                <a16:creationId xmlns:a16="http://schemas.microsoft.com/office/drawing/2014/main" id="{ADD6F10B-31B0-490A-B0C6-8AAC14E6667A}"/>
              </a:ext>
            </a:extLst>
          </p:cNvPr>
          <p:cNvSpPr>
            <a:spLocks xmlns:a="http://schemas.openxmlformats.org/drawingml/2006/main" noGrp="1"/>
          </p:cNvSpPr>
          <p:nvPr/>
        </p:nvSpPr>
        <p:spPr>
          <a:xfrm xmlns:a="http://schemas.openxmlformats.org/drawingml/2006/main">
            <a:off x="7315200" y="37909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82B338E3-C1AD-41F2-A8CD-FCB1D0A9B2CE}"/>
              </a:ext>
            </a:extLst>
          </p:cNvPr>
          <p:cNvSpPr>
            <a:spLocks xmlns:a="http://schemas.openxmlformats.org/drawingml/2006/main" noGrp="1"/>
          </p:cNvSpPr>
          <p:nvPr/>
        </p:nvSpPr>
        <p:spPr>
          <a:xfrm xmlns:a="http://schemas.openxmlformats.org/drawingml/2006/main">
            <a:off x="7448550" y="3952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C5EE9F3B-D744-4760-9BAD-0CD288CA43B8}"/>
              </a:ext>
            </a:extLst>
          </p:cNvPr>
          <p:cNvSpPr>
            <a:spLocks xmlns:a="http://schemas.openxmlformats.org/drawingml/2006/main" noGrp="1"/>
          </p:cNvSpPr>
          <p:nvPr/>
        </p:nvSpPr>
        <p:spPr>
          <a:xfrm xmlns:a="http://schemas.openxmlformats.org/drawingml/2006/main">
            <a:off x="7772400" y="38290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No — restarts make hill climbing perform worse, not better.</a:t>
            </a:r>
          </a:p>
        </p:txBody>
      </p:sp>
      <p:sp>
        <p:nvSpPr>
          <p:cNvPr id="18" name="opt-3">
            <a:extLst xmlns:a="http://schemas.openxmlformats.org/drawingml/2006/main">
              <a:ext uri="{FF2B5EF4-FFF2-40B4-BE49-F238E27FC236}">
                <a16:creationId xmlns:a16="http://schemas.microsoft.com/office/drawing/2014/main" id="{C486537E-4029-4AE1-9DF3-7D56DC2DEC34}"/>
              </a:ext>
            </a:extLst>
          </p:cNvPr>
          <p:cNvSpPr>
            <a:spLocks xmlns:a="http://schemas.openxmlformats.org/drawingml/2006/main" noGrp="1"/>
          </p:cNvSpPr>
          <p:nvPr/>
        </p:nvSpPr>
        <p:spPr>
          <a:xfrm xmlns:a="http://schemas.openxmlformats.org/drawingml/2006/main">
            <a:off x="7315200" y="44005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8AED4795-D1F1-4485-82F4-B48319D63F5E}"/>
              </a:ext>
            </a:extLst>
          </p:cNvPr>
          <p:cNvSpPr>
            <a:spLocks xmlns:a="http://schemas.openxmlformats.org/drawingml/2006/main" noGrp="1"/>
          </p:cNvSpPr>
          <p:nvPr/>
        </p:nvSpPr>
        <p:spPr>
          <a:xfrm xmlns:a="http://schemas.openxmlformats.org/drawingml/2006/main">
            <a:off x="7448550" y="4562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139618A4-69B7-49E8-BA0C-5283DB90C866}"/>
              </a:ext>
            </a:extLst>
          </p:cNvPr>
          <p:cNvSpPr>
            <a:spLocks xmlns:a="http://schemas.openxmlformats.org/drawingml/2006/main" noGrp="1"/>
          </p:cNvSpPr>
          <p:nvPr/>
        </p:nvSpPr>
        <p:spPr>
          <a:xfrm xmlns:a="http://schemas.openxmlformats.org/drawingml/2006/main">
            <a:off x="7772400" y="44386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Yes, but only once n_restarts is greater than 3.</a:t>
            </a:r>
          </a:p>
        </p:txBody>
      </p:sp>
      <p:sp>
        <p:nvSpPr>
          <p:cNvPr id="21" name="answer-panel">
            <a:extLst xmlns:a="http://schemas.openxmlformats.org/drawingml/2006/main">
              <a:ext uri="{FF2B5EF4-FFF2-40B4-BE49-F238E27FC236}">
                <a16:creationId xmlns:a16="http://schemas.microsoft.com/office/drawing/2014/main" id="{33806C4F-D8CB-4244-82B7-AD5236F6854D}"/>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5639ECE2-5C6B-43EF-A2C4-039714DAD2A4}"/>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B</a:t>
            </a:r>
          </a:p>
        </p:txBody>
      </p:sp>
      <p:sp>
        <p:nvSpPr>
          <p:cNvPr id="23" name="why">
            <a:extLst xmlns:a="http://schemas.openxmlformats.org/drawingml/2006/main">
              <a:ext uri="{FF2B5EF4-FFF2-40B4-BE49-F238E27FC236}">
                <a16:creationId xmlns:a16="http://schemas.microsoft.com/office/drawing/2014/main" id="{6738A937-46BC-4E55-B25B-9A5B20D13D15}"/>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0.0225 beats 0.0925, but isn't 0.0125 — verified, only 3 of 7 seeds reach it at 5 restarts. Restarts help; never guarantee.</a:t>
            </a:r>
          </a:p>
        </p:txBody>
      </p:sp>
    </p:spTree>
    <p:extLst>
      <p:ext uri="{BB962C8B-B14F-4D97-AF65-F5344CB8AC3E}">
        <p14:creationId xmlns:p14="http://schemas.microsoft.com/office/powerpoint/2010/main" val="34852230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86C8C1DD-C6C5-4BBB-AB7C-F15F38E33E9A}"/>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9DBE14E3-49D4-4044-9C02-522BE09428C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Hill climbing with restarts, written out in full</a:t>
            </a:r>
          </a:p>
        </p:txBody>
      </p:sp>
      <p:sp>
        <p:nvSpPr>
          <p:cNvPr id="3" name="">
            <a:extLst xmlns:a="http://schemas.openxmlformats.org/drawingml/2006/main">
              <a:ext uri="{FF2B5EF4-FFF2-40B4-BE49-F238E27FC236}">
                <a16:creationId xmlns:a16="http://schemas.microsoft.com/office/drawing/2014/main" id="{6E269283-BD99-497F-9831-061A60E055E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6A49150-EC3B-47B0-95D4-9907759CF56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8CBF5D1A-C4D6-4F05-A0D5-28B392518E7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23</a:t>
            </a:r>
          </a:p>
        </p:txBody>
      </p:sp>
      <p:sp>
        <p:nvSpPr>
          <p:cNvPr id="6" name="code-panel">
            <a:extLst xmlns:a="http://schemas.openxmlformats.org/drawingml/2006/main">
              <a:ext uri="{FF2B5EF4-FFF2-40B4-BE49-F238E27FC236}">
                <a16:creationId xmlns:a16="http://schemas.microsoft.com/office/drawing/2014/main" id="{9DCA3F5E-0A33-4B26-BB9A-69FDB2595471}"/>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BF9C7822-2997-4DB6-B6C8-5152A2B30B4B}"/>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hill_climb_restarts(seed: int,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n_restarts: int) -&gt; tuple: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"""Best local optimum over n_restarts climbs."""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rng = random.Random(seed)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best_perm, best_cost = None, float('inf')</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for _ in range(n_restarts):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start = list(range(6))</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rng.shuffle(start)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end, end_cost = hill_climb(start)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if end_cost &lt; best_cost: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best_perm, best_cost = end, end_cost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best_perm, best_cost</a:t>
            </a:r>
          </a:p>
        </p:txBody>
      </p:sp>
      <p:sp>
        <p:nvSpPr>
          <p:cNvPr id="8" name="explain-head">
            <a:extLst xmlns:a="http://schemas.openxmlformats.org/drawingml/2006/main">
              <a:ext uri="{FF2B5EF4-FFF2-40B4-BE49-F238E27FC236}">
                <a16:creationId xmlns:a16="http://schemas.microsoft.com/office/drawing/2014/main" id="{0E22441D-DDA5-43EA-8D8E-7428FB157E14}"/>
              </a:ext>
            </a:extLst>
          </p:cNvPr>
          <p:cNvSpPr>
            <a:spLocks xmlns:a="http://schemas.openxmlformats.org/drawingml/2006/main" noGrp="1"/>
          </p:cNvSpPr>
          <p:nvPr/>
        </p:nvSpPr>
        <p:spPr>
          <a:xfrm xmlns:a="http://schemas.openxmlformats.org/drawingml/2006/main">
            <a:off x="7886700" y="2181225"/>
            <a:ext cx="3695700" cy="9212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Random search's outer loop, hill climbing's inner work</a:t>
            </a:r>
          </a:p>
        </p:txBody>
      </p:sp>
      <p:sp>
        <p:nvSpPr>
          <p:cNvPr id="9" name="explain-body">
            <a:extLst xmlns:a="http://schemas.openxmlformats.org/drawingml/2006/main">
              <a:ext uri="{FF2B5EF4-FFF2-40B4-BE49-F238E27FC236}">
                <a16:creationId xmlns:a16="http://schemas.microsoft.com/office/drawing/2014/main" id="{1A331D56-19D9-4909-978E-16BFD6DB9868}"/>
              </a:ext>
            </a:extLst>
          </p:cNvPr>
          <p:cNvSpPr>
            <a:spLocks xmlns:a="http://schemas.openxmlformats.org/drawingml/2006/main" noGrp="1"/>
          </p:cNvSpPr>
          <p:nvPr/>
        </p:nvSpPr>
        <p:spPr>
          <a:xfrm xmlns:a="http://schemas.openxmlformats.org/drawingml/2006/main">
            <a:off x="7886700" y="3254883"/>
            <a:ext cx="36957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Structurally this is random_search with one line swapped: instead of scoring the random arrangement directly, it hands that arrangement to hill_climb and scores where the climb ENDS. Everything else — the seeded rng, the running best, the keep-if-better test — is the same shape students already traced. Each restart costs a full climb, so five restarts cost roughly five times one climb.</a:t>
            </a:r>
          </a:p>
        </p:txBody>
      </p:sp>
    </p:spTree>
    <p:extLst>
      <p:ext uri="{BB962C8B-B14F-4D97-AF65-F5344CB8AC3E}">
        <p14:creationId xmlns:p14="http://schemas.microsoft.com/office/powerpoint/2010/main" val="101231208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C5A2C787-91C1-4C53-AC10-7EB6F1E93BA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F54C0626-AA75-4E42-A7EE-98C4454598D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...continued: 5 restarts, then the same test on 7 seeds</a:t>
            </a:r>
          </a:p>
        </p:txBody>
      </p:sp>
      <p:sp>
        <p:nvSpPr>
          <p:cNvPr id="3" name="">
            <a:extLst xmlns:a="http://schemas.openxmlformats.org/drawingml/2006/main">
              <a:ext uri="{FF2B5EF4-FFF2-40B4-BE49-F238E27FC236}">
                <a16:creationId xmlns:a16="http://schemas.microsoft.com/office/drawing/2014/main" id="{4363C24C-96B1-43C6-A7F6-7722CC54E52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72B4789-1A77-4C00-A1A7-B5FCD8E1637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9EF1379B-77D8-40D2-A001-E1ACF1DBEAF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24</a:t>
            </a:r>
          </a:p>
        </p:txBody>
      </p:sp>
      <p:sp>
        <p:nvSpPr>
          <p:cNvPr id="6" name="code-panel">
            <a:extLst xmlns:a="http://schemas.openxmlformats.org/drawingml/2006/main">
              <a:ext uri="{FF2B5EF4-FFF2-40B4-BE49-F238E27FC236}">
                <a16:creationId xmlns:a16="http://schemas.microsoft.com/office/drawing/2014/main" id="{373A41D3-E2D9-4094-86C3-0D6150F2A0D9}"/>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0B7B7136-094A-490A-8115-5A1E29A6BB5C}"/>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perm, c = hill_climb_restarts(seed=1, n_restarts=5)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print('best of 5 restarts:', perm,</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'cost:', round(c, 4))</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hits = 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for s in (1, 2, 3, 4, 5, 6, 7):</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_, cs = hill_climb_restarts(seed=s, n_restarts=5)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if round(cs, 4) == 0.0125: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hits += 1</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print('seeds reaching 0.0125:', hits, 'of 7')</a:t>
            </a:r>
          </a:p>
        </p:txBody>
      </p:sp>
      <p:sp>
        <p:nvSpPr>
          <p:cNvPr id="8" name="">
            <a:extLst xmlns:a="http://schemas.openxmlformats.org/drawingml/2006/main">
              <a:ext uri="{FF2B5EF4-FFF2-40B4-BE49-F238E27FC236}">
                <a16:creationId xmlns:a16="http://schemas.microsoft.com/office/drawing/2014/main" id="{91DB44B8-1C81-42A6-B3FE-4FC139C2EB75}"/>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58FA6DFF-BD29-4758-BFC4-7A9F4674553F}"/>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90F5426B-A317-4305-A4F5-C3D6D58EC6C2}"/>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best of 5 restarts: [1, 2, 4, 5, 3, 0] cost: 0.0225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seeds reaching 0.0125: 3 of 7</a:t>
            </a:r>
          </a:p>
        </p:txBody>
      </p:sp>
      <p:sp>
        <p:nvSpPr>
          <p:cNvPr id="11" name="explain-head">
            <a:extLst xmlns:a="http://schemas.openxmlformats.org/drawingml/2006/main">
              <a:ext uri="{FF2B5EF4-FFF2-40B4-BE49-F238E27FC236}">
                <a16:creationId xmlns:a16="http://schemas.microsoft.com/office/drawing/2014/main" id="{B14EDDE5-5A5C-41C2-AAA4-381E36EC6CCB}"/>
              </a:ext>
            </a:extLst>
          </p:cNvPr>
          <p:cNvSpPr>
            <a:spLocks xmlns:a="http://schemas.openxmlformats.org/drawingml/2006/main" noGrp="1"/>
          </p:cNvSpPr>
          <p:nvPr/>
        </p:nvSpPr>
        <p:spPr>
          <a:xfrm xmlns:a="http://schemas.openxmlformats.org/drawingml/2006/main">
            <a:off x="7886700" y="228600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Better, but no guarantee — and now it is measured</a:t>
            </a:r>
          </a:p>
        </p:txBody>
      </p:sp>
      <p:sp>
        <p:nvSpPr>
          <p:cNvPr id="12" name="explain-body">
            <a:extLst xmlns:a="http://schemas.openxmlformats.org/drawingml/2006/main">
              <a:ext uri="{FF2B5EF4-FFF2-40B4-BE49-F238E27FC236}">
                <a16:creationId xmlns:a16="http://schemas.microsoft.com/office/drawing/2014/main" id="{FE6E9D5A-149B-4B5F-8832-FC42DF851E22}"/>
              </a:ext>
            </a:extLst>
          </p:cNvPr>
          <p:cNvSpPr>
            <a:spLocks xmlns:a="http://schemas.openxmlformats.org/drawingml/2006/main" noGrp="1"/>
          </p:cNvSpPr>
          <p:nvPr/>
        </p:nvSpPr>
        <p:spPr>
          <a:xfrm xmlns:a="http://schemas.openxmlformats.org/drawingml/2006/main">
            <a:off x="7886700" y="3071622"/>
            <a:ext cx="36957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0.0225 beats the single climb's 0.0925, using about 125 evaluations (roughly 4x random search's 30, still far under brute force's 720) — but it is not 0.0125. The second loop makes that honest instead of anecdotal: it re-runs the identical 5-restart procedure with seven different seeds and counts how many reach the true optimum. Three of seven do. Restarts help; they do not guarantee.</a:t>
            </a:r>
          </a:p>
        </p:txBody>
      </p:sp>
    </p:spTree>
    <p:extLst>
      <p:ext uri="{BB962C8B-B14F-4D97-AF65-F5344CB8AC3E}">
        <p14:creationId xmlns:p14="http://schemas.microsoft.com/office/powerpoint/2010/main" val="188616542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CEA8FCED-EBFE-4355-8267-690F00F30F2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E0D6F1BF-CB8D-476F-A1A1-1BC089A13FD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stuck, or not stuck?</a:t>
            </a:r>
          </a:p>
        </p:txBody>
      </p:sp>
      <p:sp>
        <p:nvSpPr>
          <p:cNvPr id="3" name="">
            <a:extLst xmlns:a="http://schemas.openxmlformats.org/drawingml/2006/main">
              <a:ext uri="{FF2B5EF4-FFF2-40B4-BE49-F238E27FC236}">
                <a16:creationId xmlns:a16="http://schemas.microsoft.com/office/drawing/2014/main" id="{4F508486-F5EE-4D90-A1CF-17D34A5C1BD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D3C5767-8BAB-4A55-85AA-ED82A935CDD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EB5A53BE-003A-4EEF-B33B-6F219B9FF07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25</a:t>
            </a:r>
          </a:p>
        </p:txBody>
      </p:sp>
      <p:sp>
        <p:nvSpPr>
          <p:cNvPr id="6" name="exercise-accent">
            <a:extLst xmlns:a="http://schemas.openxmlformats.org/drawingml/2006/main">
              <a:ext uri="{FF2B5EF4-FFF2-40B4-BE49-F238E27FC236}">
                <a16:creationId xmlns:a16="http://schemas.microsoft.com/office/drawing/2014/main" id="{A01539F8-7C45-4263-960A-706CAFFF5C20}"/>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7947AEF4-16E2-46A6-870A-1B4AD103B6EA}"/>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Two starting bay/panel arrangements. Predict, before running anything, whether hill_climb reaches the true optimum (0.0125) from each.</a:t>
            </a:r>
          </a:p>
        </p:txBody>
      </p:sp>
      <p:sp>
        <p:nvSpPr>
          <p:cNvPr id="8" name="work-label">
            <a:extLst xmlns:a="http://schemas.openxmlformats.org/drawingml/2006/main">
              <a:ext uri="{FF2B5EF4-FFF2-40B4-BE49-F238E27FC236}">
                <a16:creationId xmlns:a16="http://schemas.microsoft.com/office/drawing/2014/main" id="{F7A02074-93A3-4FC9-A6F8-0556ABD16468}"/>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E43EABD7-4A56-4A6B-8A33-4A769BB185E6}"/>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D4ED9CA1-C8AF-485D-B03F-4A31F1E6E9A2}"/>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Start A: (0, 2, 4, 5, 3, 1) — the exact permutation brute force already proved is optimal.</a:t>
            </a:r>
          </a:p>
        </p:txBody>
      </p:sp>
      <p:sp>
        <p:nvSpPr>
          <p:cNvPr id="11" name="exercise-no-1">
            <a:extLst xmlns:a="http://schemas.openxmlformats.org/drawingml/2006/main">
              <a:ext uri="{FF2B5EF4-FFF2-40B4-BE49-F238E27FC236}">
                <a16:creationId xmlns:a16="http://schemas.microsoft.com/office/drawing/2014/main" id="{63D19480-7E0D-406A-A90E-90264AF1CE71}"/>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A29137A5-737E-431F-AE18-3044DBC6A01C}"/>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Start B: (5, 4, 3, 2, 1, 0) — every panel reversed end to end.</a:t>
            </a:r>
          </a:p>
        </p:txBody>
      </p:sp>
      <p:sp>
        <p:nvSpPr>
          <p:cNvPr id="13" name="exercise-no-2">
            <a:extLst xmlns:a="http://schemas.openxmlformats.org/drawingml/2006/main">
              <a:ext uri="{FF2B5EF4-FFF2-40B4-BE49-F238E27FC236}">
                <a16:creationId xmlns:a16="http://schemas.microsoft.com/office/drawing/2014/main" id="{FC1FD80B-3A84-4EF3-994E-09403DAB970D}"/>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13057A39-98E7-4D1E-B551-E7E512FC7239}"/>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Run hill_climb(...) on each and compare the result to your prediction.</a:t>
            </a:r>
          </a:p>
        </p:txBody>
      </p:sp>
      <p:sp>
        <p:nvSpPr>
          <p:cNvPr id="15" name="exercise-no-3">
            <a:extLst xmlns:a="http://schemas.openxmlformats.org/drawingml/2006/main">
              <a:ext uri="{FF2B5EF4-FFF2-40B4-BE49-F238E27FC236}">
                <a16:creationId xmlns:a16="http://schemas.microsoft.com/office/drawing/2014/main" id="{126CF7FF-2FE9-4764-8DE3-8CF1A1EF9018}"/>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C39587E3-A395-4442-8C28-11F69616BD85}"/>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Write one sentence: does starting AT the optimum change anything about how the method itself works?</a:t>
            </a:r>
          </a:p>
        </p:txBody>
      </p:sp>
    </p:spTree>
    <p:extLst>
      <p:ext uri="{BB962C8B-B14F-4D97-AF65-F5344CB8AC3E}">
        <p14:creationId xmlns:p14="http://schemas.microsoft.com/office/powerpoint/2010/main" val="86460799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58291AE3-3D47-4979-AF8F-4E5E08E635B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603F1C76-1134-41F8-80E4-F8835D6AB37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Genetic algorithm, defined</a:t>
            </a:r>
          </a:p>
        </p:txBody>
      </p:sp>
      <p:sp>
        <p:nvSpPr>
          <p:cNvPr id="3" name="">
            <a:extLst xmlns:a="http://schemas.openxmlformats.org/drawingml/2006/main">
              <a:ext uri="{FF2B5EF4-FFF2-40B4-BE49-F238E27FC236}">
                <a16:creationId xmlns:a16="http://schemas.microsoft.com/office/drawing/2014/main" id="{F0DBA5CC-0F1A-472A-95D3-526EA86A2C98}"/>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1BC959E-E5C2-4F29-BF35-755E87B48C6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B296926B-484F-4974-8EF7-1D71EC75A82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26</a:t>
            </a:r>
          </a:p>
        </p:txBody>
      </p:sp>
      <p:sp>
        <p:nvSpPr>
          <p:cNvPr id="6" name="term-label">
            <a:extLst xmlns:a="http://schemas.openxmlformats.org/drawingml/2006/main">
              <a:ext uri="{FF2B5EF4-FFF2-40B4-BE49-F238E27FC236}">
                <a16:creationId xmlns:a16="http://schemas.microsoft.com/office/drawing/2014/main" id="{25D405EE-6E9A-49D0-821D-448C791AA4CB}"/>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4EDA47DB-385E-41F1-A804-72D446B38D9E}"/>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genetic algorithm</a:t>
            </a:r>
          </a:p>
        </p:txBody>
      </p:sp>
      <p:sp>
        <p:nvSpPr>
          <p:cNvPr id="8" name="">
            <a:extLst xmlns:a="http://schemas.openxmlformats.org/drawingml/2006/main">
              <a:ext uri="{FF2B5EF4-FFF2-40B4-BE49-F238E27FC236}">
                <a16:creationId xmlns:a16="http://schemas.microsoft.com/office/drawing/2014/main" id="{7400115A-B139-4C07-A7C7-055931CADC12}"/>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FD0F044E-6D7A-4F3D-B938-A5F89A981545}"/>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 genetic algorithm (GA) is a metaheuristic that evolves a POPULATION of candidate solutions across generations, using three operations borrowed from biology: SELECTION (keep the fittest), CROSSOVER (combine two parents), and MUTATION (randomly vary a child).</a:t>
            </a:r>
          </a:p>
        </p:txBody>
      </p:sp>
      <p:sp>
        <p:nvSpPr>
          <p:cNvPr id="10" name="example-panel">
            <a:extLst xmlns:a="http://schemas.openxmlformats.org/drawingml/2006/main">
              <a:ext uri="{FF2B5EF4-FFF2-40B4-BE49-F238E27FC236}">
                <a16:creationId xmlns:a16="http://schemas.microsoft.com/office/drawing/2014/main" id="{0D54E6C8-B086-4AE0-BCDC-A93FDC5BAD26}"/>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6829A536-C9A0-46B4-886D-680CB6C724FA}"/>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6C209618-697B-4694-A355-C5436D3F670E}"/>
              </a:ext>
            </a:extLst>
          </p:cNvPr>
          <p:cNvSpPr>
            <a:spLocks xmlns:a="http://schemas.openxmlformats.org/drawingml/2006/main" noGrp="1"/>
          </p:cNvSpPr>
          <p:nvPr/>
        </p:nvSpPr>
        <p:spPr>
          <a:xfrm xmlns:a="http://schemas.openxmlformats.org/drawingml/2006/main">
            <a:off x="6972300" y="2286000"/>
            <a:ext cx="438150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Selection -&gt; crossover -&gt; mutation, repeated</a:t>
            </a:r>
          </a:p>
        </p:txBody>
      </p:sp>
      <p:sp>
        <p:nvSpPr>
          <p:cNvPr id="13" name="example-body">
            <a:extLst xmlns:a="http://schemas.openxmlformats.org/drawingml/2006/main">
              <a:ext uri="{FF2B5EF4-FFF2-40B4-BE49-F238E27FC236}">
                <a16:creationId xmlns:a16="http://schemas.microsoft.com/office/drawing/2014/main" id="{910A6C0B-2440-4971-9F26-E2068015EC08}"/>
              </a:ext>
            </a:extLst>
          </p:cNvPr>
          <p:cNvSpPr>
            <a:spLocks xmlns:a="http://schemas.openxmlformats.org/drawingml/2006/main" noGrp="1"/>
          </p:cNvSpPr>
          <p:nvPr/>
        </p:nvSpPr>
        <p:spPr>
          <a:xfrm xmlns:a="http://schemas.openxmlformats.org/drawingml/2006/main">
            <a:off x="6972300" y="2951226"/>
            <a:ext cx="4381500" cy="19827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next few slides build exactly these three operations by hand for the 6-panel problem, then run the GA for 30 generations.</a:t>
            </a:r>
          </a:p>
        </p:txBody>
      </p:sp>
      <p:sp>
        <p:nvSpPr>
          <p:cNvPr id="14" name="note-bar">
            <a:extLst xmlns:a="http://schemas.openxmlformats.org/drawingml/2006/main">
              <a:ext uri="{FF2B5EF4-FFF2-40B4-BE49-F238E27FC236}">
                <a16:creationId xmlns:a16="http://schemas.microsoft.com/office/drawing/2014/main" id="{DF646473-D51C-4608-A7D0-0A5E796E3E20}"/>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6352E229-A587-4C79-BDF4-1CEBCF4B79D5}"/>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1909F2E9-362B-421B-BA29-5A013E07CFC4}"/>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The biological language (population, generation, mutation) is only an analogy — every operation underneath is explicit, ordinary code, not something mysterious.</a:t>
            </a:r>
          </a:p>
        </p:txBody>
      </p:sp>
    </p:spTree>
    <p:extLst>
      <p:ext uri="{BB962C8B-B14F-4D97-AF65-F5344CB8AC3E}">
        <p14:creationId xmlns:p14="http://schemas.microsoft.com/office/powerpoint/2010/main" val="6202022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7B41FF0E-7136-45E0-BEF5-053DD8113E7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4024315B-93D7-466A-AA6A-39FE30AEF318}"/>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genetic algorithm repeats three visible operations</a:t>
            </a:r>
          </a:p>
        </p:txBody>
      </p:sp>
      <p:sp>
        <p:nvSpPr>
          <p:cNvPr id="3" name="">
            <a:extLst xmlns:a="http://schemas.openxmlformats.org/drawingml/2006/main">
              <a:ext uri="{FF2B5EF4-FFF2-40B4-BE49-F238E27FC236}">
                <a16:creationId xmlns:a16="http://schemas.microsoft.com/office/drawing/2014/main" id="{7E2E5738-0502-45BA-BD16-061ABA9B7AB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42FFF7C-CA5A-4BEF-9280-3F725EC7547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69A4E485-91F5-4346-9D61-5A9A6D8A2F1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27</a:t>
            </a:r>
          </a:p>
        </p:txBody>
      </p:sp>
      <p:sp>
        <p:nvSpPr>
          <p:cNvPr id="6" name="step-arrow-0">
            <a:extLst xmlns:a="http://schemas.openxmlformats.org/drawingml/2006/main">
              <a:ext uri="{FF2B5EF4-FFF2-40B4-BE49-F238E27FC236}">
                <a16:creationId xmlns:a16="http://schemas.microsoft.com/office/drawing/2014/main" id="{476FDE7B-8E15-4A4F-B84C-D5E1FD88F41A}"/>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E4142AD8-F47F-4930-BD78-85803B5A5FA6}"/>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4F03CCDF-846C-4126-9195-F02EC1249F63}"/>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2F20452B-BE9B-49C8-BC45-53D2B9574B3E}"/>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CB27AB97-99DD-4ECE-BB20-4C8CB604E803}"/>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D1F67CFB-E405-4F5A-9B43-A56797787CCB}"/>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POPULATION</a:t>
            </a:r>
          </a:p>
        </p:txBody>
      </p:sp>
      <p:sp>
        <p:nvSpPr>
          <p:cNvPr id="12" name="">
            <a:extLst xmlns:a="http://schemas.openxmlformats.org/drawingml/2006/main">
              <a:ext uri="{FF2B5EF4-FFF2-40B4-BE49-F238E27FC236}">
                <a16:creationId xmlns:a16="http://schemas.microsoft.com/office/drawing/2014/main" id="{A39166BD-04A3-4832-BA85-2E0988A9EBAD}"/>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0709FCB8-1102-4714-B15F-FE40E9C50C08}"/>
              </a:ext>
            </a:extLst>
          </p:cNvPr>
          <p:cNvSpPr>
            <a:spLocks xmlns:a="http://schemas.openxmlformats.org/drawingml/2006/main" noGrp="1"/>
          </p:cNvSpPr>
          <p:nvPr/>
        </p:nvSpPr>
        <p:spPr>
          <a:xfrm xmlns:a="http://schemas.openxmlformats.org/drawingml/2006/main">
            <a:off x="8001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Evaluate</a:t>
            </a:r>
          </a:p>
        </p:txBody>
      </p:sp>
      <p:sp>
        <p:nvSpPr>
          <p:cNvPr id="14" name="step-body-0">
            <a:extLst xmlns:a="http://schemas.openxmlformats.org/drawingml/2006/main">
              <a:ext uri="{FF2B5EF4-FFF2-40B4-BE49-F238E27FC236}">
                <a16:creationId xmlns:a16="http://schemas.microsoft.com/office/drawing/2014/main" id="{1E6E1B74-DCDF-475D-B016-24040991E254}"/>
              </a:ext>
            </a:extLst>
          </p:cNvPr>
          <p:cNvSpPr>
            <a:spLocks xmlns:a="http://schemas.openxmlformats.org/drawingml/2006/main" noGrp="1"/>
          </p:cNvSpPr>
          <p:nvPr/>
        </p:nvSpPr>
        <p:spPr>
          <a:xfrm xmlns:a="http://schemas.openxmlformats.org/drawingml/2006/main">
            <a:off x="8001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Score a small set of complete panel arrangements.</a:t>
            </a:r>
          </a:p>
        </p:txBody>
      </p:sp>
      <p:sp>
        <p:nvSpPr>
          <p:cNvPr id="15" name="step-node-1">
            <a:extLst xmlns:a="http://schemas.openxmlformats.org/drawingml/2006/main">
              <a:ext uri="{FF2B5EF4-FFF2-40B4-BE49-F238E27FC236}">
                <a16:creationId xmlns:a16="http://schemas.microsoft.com/office/drawing/2014/main" id="{66B388E2-C086-4D77-996F-AC158ECA997B}"/>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F0154220-4E88-4D61-A49B-D1DDA8AA3CDC}"/>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C03EAFE8-3AE4-44BA-B59B-078175D33BB9}"/>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SELECTION</a:t>
            </a:r>
          </a:p>
        </p:txBody>
      </p:sp>
      <p:sp>
        <p:nvSpPr>
          <p:cNvPr id="18" name="">
            <a:extLst xmlns:a="http://schemas.openxmlformats.org/drawingml/2006/main">
              <a:ext uri="{FF2B5EF4-FFF2-40B4-BE49-F238E27FC236}">
                <a16:creationId xmlns:a16="http://schemas.microsoft.com/office/drawing/2014/main" id="{39848164-0607-4C91-A324-30F89DE66973}"/>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F35DA890-9AEF-4562-AADF-A7EF090E598D}"/>
              </a:ext>
            </a:extLst>
          </p:cNvPr>
          <p:cNvSpPr>
            <a:spLocks xmlns:a="http://schemas.openxmlformats.org/drawingml/2006/main" noGrp="1"/>
          </p:cNvSpPr>
          <p:nvPr/>
        </p:nvSpPr>
        <p:spPr>
          <a:xfrm xmlns:a="http://schemas.openxmlformats.org/drawingml/2006/main">
            <a:off x="36004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Keep survivors</a:t>
            </a:r>
          </a:p>
        </p:txBody>
      </p:sp>
      <p:sp>
        <p:nvSpPr>
          <p:cNvPr id="20" name="step-body-1">
            <a:extLst xmlns:a="http://schemas.openxmlformats.org/drawingml/2006/main">
              <a:ext uri="{FF2B5EF4-FFF2-40B4-BE49-F238E27FC236}">
                <a16:creationId xmlns:a16="http://schemas.microsoft.com/office/drawing/2014/main" id="{4B3F1011-028A-480F-B695-4F2070F5DF1B}"/>
              </a:ext>
            </a:extLst>
          </p:cNvPr>
          <p:cNvSpPr>
            <a:spLocks xmlns:a="http://schemas.openxmlformats.org/drawingml/2006/main" noGrp="1"/>
          </p:cNvSpPr>
          <p:nvPr/>
        </p:nvSpPr>
        <p:spPr>
          <a:xfrm xmlns:a="http://schemas.openxmlformats.org/drawingml/2006/main">
            <a:off x="36004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Retain lower-cost candidates as possible parents.</a:t>
            </a:r>
          </a:p>
        </p:txBody>
      </p:sp>
      <p:sp>
        <p:nvSpPr>
          <p:cNvPr id="21" name="step-node-2">
            <a:extLst xmlns:a="http://schemas.openxmlformats.org/drawingml/2006/main">
              <a:ext uri="{FF2B5EF4-FFF2-40B4-BE49-F238E27FC236}">
                <a16:creationId xmlns:a16="http://schemas.microsoft.com/office/drawing/2014/main" id="{689DC1D0-5770-41B8-B4DC-9BC18570338C}"/>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5CAF88B2-8307-4DA9-9B97-254CD7114E52}"/>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911C8224-839E-4190-9B03-642308AFE79A}"/>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CROSSOVER</a:t>
            </a:r>
          </a:p>
        </p:txBody>
      </p:sp>
      <p:sp>
        <p:nvSpPr>
          <p:cNvPr id="24" name="">
            <a:extLst xmlns:a="http://schemas.openxmlformats.org/drawingml/2006/main">
              <a:ext uri="{FF2B5EF4-FFF2-40B4-BE49-F238E27FC236}">
                <a16:creationId xmlns:a16="http://schemas.microsoft.com/office/drawing/2014/main" id="{37BD77EE-692C-4BAA-B5F1-94915BDB3BB0}"/>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BD6A92B3-AA74-405A-9F88-BE10BE7F4AA0}"/>
              </a:ext>
            </a:extLst>
          </p:cNvPr>
          <p:cNvSpPr>
            <a:spLocks xmlns:a="http://schemas.openxmlformats.org/drawingml/2006/main" noGrp="1"/>
          </p:cNvSpPr>
          <p:nvPr/>
        </p:nvSpPr>
        <p:spPr>
          <a:xfrm xmlns:a="http://schemas.openxmlformats.org/drawingml/2006/main">
            <a:off x="64008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Recombine</a:t>
            </a:r>
          </a:p>
        </p:txBody>
      </p:sp>
      <p:sp>
        <p:nvSpPr>
          <p:cNvPr id="26" name="step-body-2">
            <a:extLst xmlns:a="http://schemas.openxmlformats.org/drawingml/2006/main">
              <a:ext uri="{FF2B5EF4-FFF2-40B4-BE49-F238E27FC236}">
                <a16:creationId xmlns:a16="http://schemas.microsoft.com/office/drawing/2014/main" id="{DE020AB4-3977-4410-A806-84FE5EDFDC2B}"/>
              </a:ext>
            </a:extLst>
          </p:cNvPr>
          <p:cNvSpPr>
            <a:spLocks xmlns:a="http://schemas.openxmlformats.org/drawingml/2006/main" noGrp="1"/>
          </p:cNvSpPr>
          <p:nvPr/>
        </p:nvSpPr>
        <p:spPr>
          <a:xfrm xmlns:a="http://schemas.openxmlformats.org/drawingml/2006/main">
            <a:off x="64008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Create valid children while preserving each panel exactly once.</a:t>
            </a:r>
          </a:p>
        </p:txBody>
      </p:sp>
      <p:sp>
        <p:nvSpPr>
          <p:cNvPr id="27" name="step-node-3">
            <a:extLst xmlns:a="http://schemas.openxmlformats.org/drawingml/2006/main">
              <a:ext uri="{FF2B5EF4-FFF2-40B4-BE49-F238E27FC236}">
                <a16:creationId xmlns:a16="http://schemas.microsoft.com/office/drawing/2014/main" id="{D3C1CCE1-24D0-443C-9C25-53825D264164}"/>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52695187-5A4E-4AE4-8466-F4A8E0848B69}"/>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4746E231-1351-4E97-865D-7F34B6D2E4D3}"/>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MUTATION</a:t>
            </a:r>
          </a:p>
        </p:txBody>
      </p:sp>
      <p:sp>
        <p:nvSpPr>
          <p:cNvPr id="30" name="">
            <a:extLst xmlns:a="http://schemas.openxmlformats.org/drawingml/2006/main">
              <a:ext uri="{FF2B5EF4-FFF2-40B4-BE49-F238E27FC236}">
                <a16:creationId xmlns:a16="http://schemas.microsoft.com/office/drawing/2014/main" id="{0C4A3AE7-AE29-44C2-8735-F3C1C6761287}"/>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5C056FFD-9871-47CF-856F-8EB89E5078F6}"/>
              </a:ext>
            </a:extLst>
          </p:cNvPr>
          <p:cNvSpPr>
            <a:spLocks xmlns:a="http://schemas.openxmlformats.org/drawingml/2006/main" noGrp="1"/>
          </p:cNvSpPr>
          <p:nvPr/>
        </p:nvSpPr>
        <p:spPr>
          <a:xfrm xmlns:a="http://schemas.openxmlformats.org/drawingml/2006/main">
            <a:off x="92011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Reintroduce variety</a:t>
            </a:r>
          </a:p>
        </p:txBody>
      </p:sp>
      <p:sp>
        <p:nvSpPr>
          <p:cNvPr id="32" name="step-body-3">
            <a:extLst xmlns:a="http://schemas.openxmlformats.org/drawingml/2006/main">
              <a:ext uri="{FF2B5EF4-FFF2-40B4-BE49-F238E27FC236}">
                <a16:creationId xmlns:a16="http://schemas.microsoft.com/office/drawing/2014/main" id="{ABBC1C62-5CF1-4FC9-BBEF-200812529E57}"/>
              </a:ext>
            </a:extLst>
          </p:cNvPr>
          <p:cNvSpPr>
            <a:spLocks xmlns:a="http://schemas.openxmlformats.org/drawingml/2006/main" noGrp="1"/>
          </p:cNvSpPr>
          <p:nvPr/>
        </p:nvSpPr>
        <p:spPr>
          <a:xfrm xmlns:a="http://schemas.openxmlformats.org/drawingml/2006/main">
            <a:off x="92011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Occasionally swap positions so the population keeps exploring.</a:t>
            </a:r>
          </a:p>
        </p:txBody>
      </p:sp>
    </p:spTree>
    <p:extLst>
      <p:ext uri="{BB962C8B-B14F-4D97-AF65-F5344CB8AC3E}">
        <p14:creationId xmlns:p14="http://schemas.microsoft.com/office/powerpoint/2010/main" val="136573613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1AA2B9C1-AAEB-499D-A632-91BCE53B575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3CF84E22-99C2-465A-B3FB-CF203A96497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Crossover must respect a permutation — no repeats, no gaps</a:t>
            </a:r>
          </a:p>
        </p:txBody>
      </p:sp>
      <p:sp>
        <p:nvSpPr>
          <p:cNvPr id="3" name="">
            <a:extLst xmlns:a="http://schemas.openxmlformats.org/drawingml/2006/main">
              <a:ext uri="{FF2B5EF4-FFF2-40B4-BE49-F238E27FC236}">
                <a16:creationId xmlns:a16="http://schemas.microsoft.com/office/drawing/2014/main" id="{89B8A3BE-8237-4267-B044-5AFE5A9D454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CCB6EAD-ACFA-47B4-84B8-C88F729794B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8A578ABB-6A1E-49DA-929C-2CF94137A25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28</a:t>
            </a:r>
          </a:p>
        </p:txBody>
      </p:sp>
      <p:sp>
        <p:nvSpPr>
          <p:cNvPr id="6" name="code-panel">
            <a:extLst xmlns:a="http://schemas.openxmlformats.org/drawingml/2006/main">
              <a:ext uri="{FF2B5EF4-FFF2-40B4-BE49-F238E27FC236}">
                <a16:creationId xmlns:a16="http://schemas.microsoft.com/office/drawing/2014/main" id="{01FAC4B8-AFDA-4DA6-9F11-BB7497D4AC66}"/>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D44F2378-C083-43D7-81A0-FC0A593A9185}"/>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order_crossover(parent1: list, parent2: list,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rng: random.Random) -&gt; list: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"""Keep a segment of parent1, fill from parent2."""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size = len(parent1)</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a, b = sorted(rng.sample(range(size), 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child = [None] * size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child[a:b + 1] = parent1[a:b + 1]</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fill = [g for g in parent2 if g not in child]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idx = 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for i in range(size):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if child[i] is None: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child[i] = fill[idx]</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idx += 1</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child</a:t>
            </a:r>
          </a:p>
        </p:txBody>
      </p:sp>
      <p:sp>
        <p:nvSpPr>
          <p:cNvPr id="8" name="explain-head">
            <a:extLst xmlns:a="http://schemas.openxmlformats.org/drawingml/2006/main">
              <a:ext uri="{FF2B5EF4-FFF2-40B4-BE49-F238E27FC236}">
                <a16:creationId xmlns:a16="http://schemas.microsoft.com/office/drawing/2014/main" id="{4CBBD187-2CAA-4208-B03B-DDB955A189A3}"/>
              </a:ext>
            </a:extLst>
          </p:cNvPr>
          <p:cNvSpPr>
            <a:spLocks xmlns:a="http://schemas.openxmlformats.org/drawingml/2006/main" noGrp="1"/>
          </p:cNvSpPr>
          <p:nvPr/>
        </p:nvSpPr>
        <p:spPr>
          <a:xfrm xmlns:a="http://schemas.openxmlformats.org/drawingml/2006/main">
            <a:off x="7886700" y="204787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Segment first, then fill the gaps in order</a:t>
            </a:r>
          </a:p>
        </p:txBody>
      </p:sp>
      <p:sp>
        <p:nvSpPr>
          <p:cNvPr id="9" name="explain-body">
            <a:extLst xmlns:a="http://schemas.openxmlformats.org/drawingml/2006/main">
              <a:ext uri="{FF2B5EF4-FFF2-40B4-BE49-F238E27FC236}">
                <a16:creationId xmlns:a16="http://schemas.microsoft.com/office/drawing/2014/main" id="{8C3DEA43-C4E7-47F6-82D6-2C208211A99B}"/>
              </a:ext>
            </a:extLst>
          </p:cNvPr>
          <p:cNvSpPr>
            <a:spLocks xmlns:a="http://schemas.openxmlformats.org/drawingml/2006/main" noGrp="1"/>
          </p:cNvSpPr>
          <p:nvPr/>
        </p:nvSpPr>
        <p:spPr>
          <a:xfrm xmlns:a="http://schemas.openxmlformats.org/drawingml/2006/main">
            <a:off x="7886700" y="2833497"/>
            <a:ext cx="3695700" cy="29489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Two cut points are drawn and sorted, so a comes before b. The child starts as six None slots; parent1's segment between the cuts is copied in unchanged. fill is a LIST COMPREHENSION holding parent2's values that are not already placed, in parent2's own order. The final loop drops those into the remaining None slots, left to right. That construction is what guarantees the child is still a valid permutation — no repeats, no gaps — unlike a naive single-point crossover (see Meeting B's AI-audit).</a:t>
            </a:r>
          </a:p>
        </p:txBody>
      </p:sp>
    </p:spTree>
    <p:extLst>
      <p:ext uri="{BB962C8B-B14F-4D97-AF65-F5344CB8AC3E}">
        <p14:creationId xmlns:p14="http://schemas.microsoft.com/office/powerpoint/2010/main" val="83658848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2FB1A162-1397-4E41-A50A-F3B911AE9B8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DF143AE2-077A-41C6-BC61-62B7C75CD24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...continued: one crossover, traced end to end</a:t>
            </a:r>
          </a:p>
        </p:txBody>
      </p:sp>
      <p:sp>
        <p:nvSpPr>
          <p:cNvPr id="3" name="">
            <a:extLst xmlns:a="http://schemas.openxmlformats.org/drawingml/2006/main">
              <a:ext uri="{FF2B5EF4-FFF2-40B4-BE49-F238E27FC236}">
                <a16:creationId xmlns:a16="http://schemas.microsoft.com/office/drawing/2014/main" id="{556BD4A4-D084-408E-9F8A-EF784FE7039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18E5725-6B4C-426E-8687-9734C98A83F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11CEEC3D-3EF2-4227-B365-4A6EA9561BE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29</a:t>
            </a:r>
          </a:p>
        </p:txBody>
      </p:sp>
      <p:sp>
        <p:nvSpPr>
          <p:cNvPr id="6" name="code-panel">
            <a:extLst xmlns:a="http://schemas.openxmlformats.org/drawingml/2006/main">
              <a:ext uri="{FF2B5EF4-FFF2-40B4-BE49-F238E27FC236}">
                <a16:creationId xmlns:a16="http://schemas.microsoft.com/office/drawing/2014/main" id="{63E5E869-8ACC-4013-B212-E3AD019CB90A}"/>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3CFF24E4-B6F6-4A7C-ACFC-C1C36ABED73A}"/>
              </a:ext>
            </a:extLst>
          </p:cNvPr>
          <p:cNvSpPr>
            <a:spLocks xmlns:a="http://schemas.openxmlformats.org/drawingml/2006/main" noGrp="1"/>
          </p:cNvSpPr>
          <p:nvPr/>
        </p:nvSpPr>
        <p:spPr>
          <a:xfrm xmlns:a="http://schemas.openxmlformats.org/drawingml/2006/main">
            <a:off x="857250" y="2057400"/>
            <a:ext cx="6400800" cy="26197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p1 = [0, 1, 2, 3, 4, 5]</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p2 = [5, 4, 3, 2, 1, 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child = order_crossover(p1, p2, random.Random(7))</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print('parent1:', p1)</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print('parent2:', p2)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print('child:  ', child)</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print('valid?', sorted(child) == list(range(6)))</a:t>
            </a:r>
          </a:p>
        </p:txBody>
      </p:sp>
      <p:sp>
        <p:nvSpPr>
          <p:cNvPr id="8" name="">
            <a:extLst xmlns:a="http://schemas.openxmlformats.org/drawingml/2006/main">
              <a:ext uri="{FF2B5EF4-FFF2-40B4-BE49-F238E27FC236}">
                <a16:creationId xmlns:a16="http://schemas.microsoft.com/office/drawing/2014/main" id="{6C341834-5D29-45B7-AC7D-501ECB9594FC}"/>
              </a:ext>
            </a:extLst>
          </p:cNvPr>
          <p:cNvSpPr>
            <a:spLocks xmlns:a="http://schemas.openxmlformats.org/drawingml/2006/main" noGrp="1"/>
          </p:cNvSpPr>
          <p:nvPr/>
        </p:nvSpPr>
        <p:spPr>
          <a:xfrm xmlns:a="http://schemas.openxmlformats.org/drawingml/2006/main">
            <a:off x="857250" y="4734306"/>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E84716FA-585F-4B70-AA54-6F4DDB8F7E67}"/>
              </a:ext>
            </a:extLst>
          </p:cNvPr>
          <p:cNvSpPr>
            <a:spLocks xmlns:a="http://schemas.openxmlformats.org/drawingml/2006/main" noGrp="1"/>
          </p:cNvSpPr>
          <p:nvPr/>
        </p:nvSpPr>
        <p:spPr>
          <a:xfrm xmlns:a="http://schemas.openxmlformats.org/drawingml/2006/main">
            <a:off x="857250" y="4848606"/>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1784FD8B-E1E3-4172-8DF7-9794136085E2}"/>
              </a:ext>
            </a:extLst>
          </p:cNvPr>
          <p:cNvSpPr>
            <a:spLocks xmlns:a="http://schemas.openxmlformats.org/drawingml/2006/main" noGrp="1"/>
          </p:cNvSpPr>
          <p:nvPr/>
        </p:nvSpPr>
        <p:spPr>
          <a:xfrm xmlns:a="http://schemas.openxmlformats.org/drawingml/2006/main">
            <a:off x="857250" y="5077206"/>
            <a:ext cx="6400800" cy="7520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parent1: [0, 1, 2, 3, 4, 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parent2: [5, 4, 3, 2, 1, 0]</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child:   [5, 1, 2, 4, 3, 0]</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valid? True</a:t>
            </a:r>
          </a:p>
        </p:txBody>
      </p:sp>
      <p:sp>
        <p:nvSpPr>
          <p:cNvPr id="11" name="explain-head">
            <a:extLst xmlns:a="http://schemas.openxmlformats.org/drawingml/2006/main">
              <a:ext uri="{FF2B5EF4-FFF2-40B4-BE49-F238E27FC236}">
                <a16:creationId xmlns:a16="http://schemas.microsoft.com/office/drawing/2014/main" id="{69FF07ED-5510-431F-A2DF-71444A973261}"/>
              </a:ext>
            </a:extLst>
          </p:cNvPr>
          <p:cNvSpPr>
            <a:spLocks xmlns:a="http://schemas.openxmlformats.org/drawingml/2006/main" noGrp="1"/>
          </p:cNvSpPr>
          <p:nvPr/>
        </p:nvSpPr>
        <p:spPr>
          <a:xfrm xmlns:a="http://schemas.openxmlformats.org/drawingml/2006/main">
            <a:off x="7886700" y="23717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Positions 1-2 kept, the rest filled in order</a:t>
            </a:r>
          </a:p>
        </p:txBody>
      </p:sp>
      <p:sp>
        <p:nvSpPr>
          <p:cNvPr id="12" name="explain-body">
            <a:extLst xmlns:a="http://schemas.openxmlformats.org/drawingml/2006/main">
              <a:ext uri="{FF2B5EF4-FFF2-40B4-BE49-F238E27FC236}">
                <a16:creationId xmlns:a16="http://schemas.microsoft.com/office/drawing/2014/main" id="{758B61D6-5C43-43D2-AFCE-A6AC2E7E9ADB}"/>
              </a:ext>
            </a:extLst>
          </p:cNvPr>
          <p:cNvSpPr>
            <a:spLocks xmlns:a="http://schemas.openxmlformats.org/drawingml/2006/main" noGrp="1"/>
          </p:cNvSpPr>
          <p:nvPr/>
        </p:nvSpPr>
        <p:spPr>
          <a:xfrm xmlns:a="http://schemas.openxmlformats.org/drawingml/2006/main">
            <a:off x="7886700" y="3157347"/>
            <a:ext cx="3695700" cy="20650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random.Random(7) drew the cut points (1, 2), so the child keeps parent1's 1 and 2 in those positions. fill is parent2 with 1 and 2 already removed — [5, 4, 3, 0] — dropped into the empty slots left to right, giving [5, 1, 2, 4, 3, 0]. The last line is the check that matters: sorted(child) equals [0,1,2,3,4,5], so every panel is installed exactly once.</a:t>
            </a:r>
          </a:p>
        </p:txBody>
      </p:sp>
    </p:spTree>
    <p:extLst>
      <p:ext uri="{BB962C8B-B14F-4D97-AF65-F5344CB8AC3E}">
        <p14:creationId xmlns:p14="http://schemas.microsoft.com/office/powerpoint/2010/main" val="162994432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675CC433-D63E-4800-B637-FCFD4113435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24D02678-3CAC-43C7-A5B1-10D6A45CA5F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Mutation: one small swap</a:t>
            </a:r>
          </a:p>
        </p:txBody>
      </p:sp>
      <p:sp>
        <p:nvSpPr>
          <p:cNvPr id="3" name="">
            <a:extLst xmlns:a="http://schemas.openxmlformats.org/drawingml/2006/main">
              <a:ext uri="{FF2B5EF4-FFF2-40B4-BE49-F238E27FC236}">
                <a16:creationId xmlns:a16="http://schemas.microsoft.com/office/drawing/2014/main" id="{7E023336-E73D-49A8-9C38-C082443EED8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565335E-175C-4CBE-9C94-1F75F7024E4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39A3FCC9-8A9E-4CAD-8093-898D923A932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30</a:t>
            </a:r>
          </a:p>
        </p:txBody>
      </p:sp>
      <p:sp>
        <p:nvSpPr>
          <p:cNvPr id="6" name="code-panel">
            <a:extLst xmlns:a="http://schemas.openxmlformats.org/drawingml/2006/main">
              <a:ext uri="{FF2B5EF4-FFF2-40B4-BE49-F238E27FC236}">
                <a16:creationId xmlns:a16="http://schemas.microsoft.com/office/drawing/2014/main" id="{F7E9D3AA-EDF4-41C2-AB89-5AFFDA47C138}"/>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48A5974C-B67F-4C79-AE5B-5014AA1DF4EF}"/>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swap_mutation(perm: list,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rng: random.Random) -&gt; list: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"""Swap two random positions in perm."""</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perm = perm[:]</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 j = rng.sample(range(len(perm)), 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perm[i], perm[j] = perm[j], perm[i]</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perm</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child = [5, 1, 2, 4, 3, 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rng2 = random.Random(3)</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mutated = swap_mutation(child, rng2)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print(mutated, sorted(mutated) == list(range(6)))</a:t>
            </a:r>
          </a:p>
        </p:txBody>
      </p:sp>
      <p:sp>
        <p:nvSpPr>
          <p:cNvPr id="8" name="">
            <a:extLst xmlns:a="http://schemas.openxmlformats.org/drawingml/2006/main">
              <a:ext uri="{FF2B5EF4-FFF2-40B4-BE49-F238E27FC236}">
                <a16:creationId xmlns:a16="http://schemas.microsoft.com/office/drawing/2014/main" id="{467666B7-0F8C-4215-BADF-8B24ADE46F08}"/>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3A0296B2-6817-4D7F-A439-1B79A78F767A}"/>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20B232CB-B918-4687-A931-C2216596D009}"/>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[5, 3, 2, 4, 1, 0] True</a:t>
            </a:r>
          </a:p>
        </p:txBody>
      </p:sp>
      <p:sp>
        <p:nvSpPr>
          <p:cNvPr id="11" name="explain-head">
            <a:extLst xmlns:a="http://schemas.openxmlformats.org/drawingml/2006/main">
              <a:ext uri="{FF2B5EF4-FFF2-40B4-BE49-F238E27FC236}">
                <a16:creationId xmlns:a16="http://schemas.microsoft.com/office/drawing/2014/main" id="{9FEFD224-5B75-4B1F-B3C5-FF167241342F}"/>
              </a:ext>
            </a:extLst>
          </p:cNvPr>
          <p:cNvSpPr>
            <a:spLocks xmlns:a="http://schemas.openxmlformats.org/drawingml/2006/main" noGrp="1"/>
          </p:cNvSpPr>
          <p:nvPr/>
        </p:nvSpPr>
        <p:spPr>
          <a:xfrm xmlns:a="http://schemas.openxmlformats.org/drawingml/2006/main">
            <a:off x="7886700" y="228600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One swap, still a valid permutation</a:t>
            </a:r>
          </a:p>
        </p:txBody>
      </p:sp>
      <p:sp>
        <p:nvSpPr>
          <p:cNvPr id="12" name="explain-body">
            <a:extLst xmlns:a="http://schemas.openxmlformats.org/drawingml/2006/main">
              <a:ext uri="{FF2B5EF4-FFF2-40B4-BE49-F238E27FC236}">
                <a16:creationId xmlns:a16="http://schemas.microsoft.com/office/drawing/2014/main" id="{16B79A37-4E72-4F41-ABA2-A8AFDD422BB6}"/>
              </a:ext>
            </a:extLst>
          </p:cNvPr>
          <p:cNvSpPr>
            <a:spLocks xmlns:a="http://schemas.openxmlformats.org/drawingml/2006/main" noGrp="1"/>
          </p:cNvSpPr>
          <p:nvPr/>
        </p:nvSpPr>
        <p:spPr>
          <a:xfrm xmlns:a="http://schemas.openxmlformats.org/drawingml/2006/main">
            <a:off x="7886700" y="3071622"/>
            <a:ext cx="36957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rng2 picked positions (1, 4); swapping them turns [5,1,2,4,3,0] into [5,3,2,4,1,0] — still six distinct panel indices, just two exchanged, which the printed True confirms. rng.sample always returns two DISTINCT positions, so the swap is never a silent no-op. A swap can never create a duplicate or a gap, which is exactly why it is the safe mutation choice for a permutation.</a:t>
            </a:r>
          </a:p>
        </p:txBody>
      </p:sp>
    </p:spTree>
    <p:extLst>
      <p:ext uri="{BB962C8B-B14F-4D97-AF65-F5344CB8AC3E}">
        <p14:creationId xmlns:p14="http://schemas.microsoft.com/office/powerpoint/2010/main" val="165269898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502875BE-5B80-4F48-AC4F-54AA7D9A657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778DA2DC-A33C-408D-8FA1-D7906717E57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full generational loop: selection, crossover, mutation</a:t>
            </a:r>
          </a:p>
        </p:txBody>
      </p:sp>
      <p:sp>
        <p:nvSpPr>
          <p:cNvPr id="3" name="">
            <a:extLst xmlns:a="http://schemas.openxmlformats.org/drawingml/2006/main">
              <a:ext uri="{FF2B5EF4-FFF2-40B4-BE49-F238E27FC236}">
                <a16:creationId xmlns:a16="http://schemas.microsoft.com/office/drawing/2014/main" id="{FA674F99-98F0-4C35-A13B-32513A90C72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77E9419-37B5-4659-B393-4CD4FC69FF22}"/>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1AD3C679-B0BF-4D05-B38D-9FA7169F30E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31</a:t>
            </a:r>
          </a:p>
        </p:txBody>
      </p:sp>
      <p:sp>
        <p:nvSpPr>
          <p:cNvPr id="6" name="code-panel">
            <a:extLst xmlns:a="http://schemas.openxmlformats.org/drawingml/2006/main">
              <a:ext uri="{FF2B5EF4-FFF2-40B4-BE49-F238E27FC236}">
                <a16:creationId xmlns:a16="http://schemas.microsoft.com/office/drawing/2014/main" id="{C6015CD6-CE64-49AC-8253-60AB3EAD3AEA}"/>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DA5EC69E-0C67-4B29-AE74-37E12B32CE7B}"/>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genetic_algorithm(seed: int, pop_size: int = 12,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survivors: int = 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mutation_rate: float = 0.35,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generations: int = 30) -&gt; list: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"""Evolve permutations; return the best one."""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rng = random.Random(seed)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pop = [list(range(6)) for _ in range(pop_size)]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for ind in pop:</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rng.shuffle(ind)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for gen in range(generations + 1):</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pop.sort(key=cost)          # SELECTION</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if gen in (0, 5, 9, 10):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print('gen', gen, '-&gt; best cost',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round(cost(pop[0]), 4))</a:t>
            </a:r>
          </a:p>
        </p:txBody>
      </p:sp>
      <p:sp>
        <p:nvSpPr>
          <p:cNvPr id="8" name="explain-head">
            <a:extLst xmlns:a="http://schemas.openxmlformats.org/drawingml/2006/main">
              <a:ext uri="{FF2B5EF4-FFF2-40B4-BE49-F238E27FC236}">
                <a16:creationId xmlns:a16="http://schemas.microsoft.com/office/drawing/2014/main" id="{0F473779-F090-423C-A68E-A65C39D03BEA}"/>
              </a:ext>
            </a:extLst>
          </p:cNvPr>
          <p:cNvSpPr>
            <a:spLocks xmlns:a="http://schemas.openxmlformats.org/drawingml/2006/main" noGrp="1"/>
          </p:cNvSpPr>
          <p:nvPr/>
        </p:nvSpPr>
        <p:spPr>
          <a:xfrm xmlns:a="http://schemas.openxmlformats.org/drawingml/2006/main">
            <a:off x="7886700" y="1990725"/>
            <a:ext cx="3695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Setup and the first sort</a:t>
            </a:r>
          </a:p>
        </p:txBody>
      </p:sp>
      <p:sp>
        <p:nvSpPr>
          <p:cNvPr id="9" name="explain-body">
            <a:extLst xmlns:a="http://schemas.openxmlformats.org/drawingml/2006/main">
              <a:ext uri="{FF2B5EF4-FFF2-40B4-BE49-F238E27FC236}">
                <a16:creationId xmlns:a16="http://schemas.microsoft.com/office/drawing/2014/main" id="{68A4AAFB-7285-4352-8C36-F2DF34B64F91}"/>
              </a:ext>
            </a:extLst>
          </p:cNvPr>
          <p:cNvSpPr>
            <a:spLocks xmlns:a="http://schemas.openxmlformats.org/drawingml/2006/main" noGrp="1"/>
          </p:cNvSpPr>
          <p:nvPr/>
        </p:nvSpPr>
        <p:spPr>
          <a:xfrm xmlns:a="http://schemas.openxmlformats.org/drawingml/2006/main">
            <a:off x="7886700" y="2488311"/>
            <a:ext cx="3695700" cy="339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signature carries four defaults — population 12, 5 survivors, mutation rate 0.35, 30 generations — so a caller can write genetic_algorithm(seed=1) and get the exact settings used in this deck. The population starts as pop_size copies of [0,1,2,3,4,5], each then shuffled by the seeded rng, so every individual is a valid permutation from the first line onward. Inside each generation, pop.sort(key=cost) puts the cheapest arrangement first — that sort IS the selection step. The checkpoint print reports the best cost at four generations.</a:t>
            </a:r>
          </a:p>
        </p:txBody>
      </p:sp>
    </p:spTree>
    <p:extLst>
      <p:ext uri="{BB962C8B-B14F-4D97-AF65-F5344CB8AC3E}">
        <p14:creationId xmlns:p14="http://schemas.microsoft.com/office/powerpoint/2010/main" val="124558325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0293E8CA-B3B5-4E37-9579-8ADBABD5421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2CEB89B7-3656-4825-8717-D97AEEC900F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...continued: elitism, crossover, mutation, next generation</a:t>
            </a:r>
          </a:p>
        </p:txBody>
      </p:sp>
      <p:sp>
        <p:nvSpPr>
          <p:cNvPr id="3" name="">
            <a:extLst xmlns:a="http://schemas.openxmlformats.org/drawingml/2006/main">
              <a:ext uri="{FF2B5EF4-FFF2-40B4-BE49-F238E27FC236}">
                <a16:creationId xmlns:a16="http://schemas.microsoft.com/office/drawing/2014/main" id="{3E377F08-E0C8-47F0-968C-8C351515BB1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639613F-0B89-4456-AB02-E1230E686E8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533CF6B7-AA77-4D39-81AF-770E18E2953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32</a:t>
            </a:r>
          </a:p>
        </p:txBody>
      </p:sp>
      <p:sp>
        <p:nvSpPr>
          <p:cNvPr id="6" name="code-panel">
            <a:extLst xmlns:a="http://schemas.openxmlformats.org/drawingml/2006/main">
              <a:ext uri="{FF2B5EF4-FFF2-40B4-BE49-F238E27FC236}">
                <a16:creationId xmlns:a16="http://schemas.microsoft.com/office/drawing/2014/main" id="{9B8B6AE1-9EB4-40BD-8C73-21C2D4AFC49B}"/>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B19B9EA7-F720-41F7-8990-4C656DE1F0A4}"/>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elite = pop[:survivors]     # keep the best 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next_gen = elite[:]         # elitism: copy on</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while len(next_gen) &lt; pop_size: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p1, p2 = rng.sample(elite, 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 CROSSOVER: two parents, one valid child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child = order_crossover(p1, p2, rng)</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 MUTATION: fires 35% of the time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if rng.random() &lt; mutation_rate: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child = swap_mutation(child, rng)</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next_gen.append(child)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pop = next_gen</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pop[0]</a:t>
            </a:r>
          </a:p>
        </p:txBody>
      </p:sp>
      <p:sp>
        <p:nvSpPr>
          <p:cNvPr id="8" name="explain-head">
            <a:extLst xmlns:a="http://schemas.openxmlformats.org/drawingml/2006/main">
              <a:ext uri="{FF2B5EF4-FFF2-40B4-BE49-F238E27FC236}">
                <a16:creationId xmlns:a16="http://schemas.microsoft.com/office/drawing/2014/main" id="{9A858481-78EB-4A8A-86C2-4CFBB2DE0B0F}"/>
              </a:ext>
            </a:extLst>
          </p:cNvPr>
          <p:cNvSpPr>
            <a:spLocks xmlns:a="http://schemas.openxmlformats.org/drawingml/2006/main" noGrp="1"/>
          </p:cNvSpPr>
          <p:nvPr/>
        </p:nvSpPr>
        <p:spPr>
          <a:xfrm xmlns:a="http://schemas.openxmlformats.org/drawingml/2006/main">
            <a:off x="7886700" y="204787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The second half of the same generation</a:t>
            </a:r>
          </a:p>
        </p:txBody>
      </p:sp>
      <p:sp>
        <p:nvSpPr>
          <p:cNvPr id="9" name="explain-body">
            <a:extLst xmlns:a="http://schemas.openxmlformats.org/drawingml/2006/main">
              <a:ext uri="{FF2B5EF4-FFF2-40B4-BE49-F238E27FC236}">
                <a16:creationId xmlns:a16="http://schemas.microsoft.com/office/drawing/2014/main" id="{DA87A509-4954-4204-9627-CC200FE1D6F1}"/>
              </a:ext>
            </a:extLst>
          </p:cNvPr>
          <p:cNvSpPr>
            <a:spLocks xmlns:a="http://schemas.openxmlformats.org/drawingml/2006/main" noGrp="1"/>
          </p:cNvSpPr>
          <p:nvPr/>
        </p:nvSpPr>
        <p:spPr>
          <a:xfrm xmlns:a="http://schemas.openxmlformats.org/drawingml/2006/main">
            <a:off x="7886700" y="2833497"/>
            <a:ext cx="3695700" cy="29489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Because the population was just sorted, pop[:survivors] really is the best 5 — and copying them straight into next_gen unchanged is ELITISM, the reason the best cost can never get worse from one generation to the next. The while loop then refills the population back to 12 by drawing two elite parents, combining them with order_crossover, and perturbing the child with swap_mutation on 35% of draws. rng.random() returns a float in [0, 1), so '&lt; 0.35' is true about 35% of the time.</a:t>
            </a:r>
          </a:p>
        </p:txBody>
      </p:sp>
    </p:spTree>
    <p:extLst>
      <p:ext uri="{BB962C8B-B14F-4D97-AF65-F5344CB8AC3E}">
        <p14:creationId xmlns:p14="http://schemas.microsoft.com/office/powerpoint/2010/main" val="45218544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F7B33D4C-FAC1-4C47-A504-C81553B19FE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CDEA6B5C-F83B-483B-A911-8347E366FE3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does the GA reach brute force's exact answer?</a:t>
            </a:r>
          </a:p>
        </p:txBody>
      </p:sp>
      <p:sp>
        <p:nvSpPr>
          <p:cNvPr id="3" name="">
            <a:extLst xmlns:a="http://schemas.openxmlformats.org/drawingml/2006/main">
              <a:ext uri="{FF2B5EF4-FFF2-40B4-BE49-F238E27FC236}">
                <a16:creationId xmlns:a16="http://schemas.microsoft.com/office/drawing/2014/main" id="{39194213-79BD-4F83-B2D1-2701DE48DC3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321DD8B-47F9-457B-A85C-369BF86AFEC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0BDA85E1-A7DD-46F0-BB24-E3F808D30BF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33</a:t>
            </a:r>
          </a:p>
        </p:txBody>
      </p:sp>
      <p:sp>
        <p:nvSpPr>
          <p:cNvPr id="6" name="code-panel">
            <a:extLst xmlns:a="http://schemas.openxmlformats.org/drawingml/2006/main">
              <a:ext uri="{FF2B5EF4-FFF2-40B4-BE49-F238E27FC236}">
                <a16:creationId xmlns:a16="http://schemas.microsoft.com/office/drawing/2014/main" id="{9DB20BD0-CCFB-48C1-A495-7B57E8804559}"/>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0A3F24AC-7CDB-42BA-A151-CE95E973B300}"/>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best = genetic_algorithm(seed=1)</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print(best, round(cost(best), 4))</a:t>
            </a:r>
          </a:p>
        </p:txBody>
      </p:sp>
      <p:sp>
        <p:nvSpPr>
          <p:cNvPr id="8" name="question">
            <a:extLst xmlns:a="http://schemas.openxmlformats.org/drawingml/2006/main">
              <a:ext uri="{FF2B5EF4-FFF2-40B4-BE49-F238E27FC236}">
                <a16:creationId xmlns:a16="http://schemas.microsoft.com/office/drawing/2014/main" id="{B9DB282A-69FA-4656-9764-8B7F879ADBF4}"/>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Does the GA's best individual ever exactly match 0.0125?</a:t>
            </a:r>
          </a:p>
        </p:txBody>
      </p:sp>
      <p:sp>
        <p:nvSpPr>
          <p:cNvPr id="9" name="opt-0">
            <a:extLst xmlns:a="http://schemas.openxmlformats.org/drawingml/2006/main">
              <a:ext uri="{FF2B5EF4-FFF2-40B4-BE49-F238E27FC236}">
                <a16:creationId xmlns:a16="http://schemas.microsoft.com/office/drawing/2014/main" id="{33C3616D-117E-4777-86ED-925A99F18065}"/>
              </a:ext>
            </a:extLst>
          </p:cNvPr>
          <p:cNvSpPr>
            <a:spLocks xmlns:a="http://schemas.openxmlformats.org/drawingml/2006/main" noGrp="1"/>
          </p:cNvSpPr>
          <p:nvPr/>
        </p:nvSpPr>
        <p:spPr>
          <a:xfrm xmlns:a="http://schemas.openxmlformats.org/drawingml/2006/main">
            <a:off x="7315200" y="25717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876F685A-4876-44AC-B9C9-1BC6FFE7F1C5}"/>
              </a:ext>
            </a:extLst>
          </p:cNvPr>
          <p:cNvSpPr>
            <a:spLocks xmlns:a="http://schemas.openxmlformats.org/drawingml/2006/main" noGrp="1"/>
          </p:cNvSpPr>
          <p:nvPr/>
        </p:nvSpPr>
        <p:spPr>
          <a:xfrm xmlns:a="http://schemas.openxmlformats.org/drawingml/2006/main">
            <a:off x="7448550" y="27336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6FAD4FA8-2C3E-4D8A-B048-FD22EDB1B1A8}"/>
              </a:ext>
            </a:extLst>
          </p:cNvPr>
          <p:cNvSpPr>
            <a:spLocks xmlns:a="http://schemas.openxmlformats.org/drawingml/2006/main" noGrp="1"/>
          </p:cNvSpPr>
          <p:nvPr/>
        </p:nvSpPr>
        <p:spPr>
          <a:xfrm xmlns:a="http://schemas.openxmlformats.org/drawingml/2006/main">
            <a:off x="7772400" y="26098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No — a GA only approximates; it never matches an exact value.</a:t>
            </a:r>
          </a:p>
        </p:txBody>
      </p:sp>
      <p:sp>
        <p:nvSpPr>
          <p:cNvPr id="12" name="opt-1">
            <a:extLst xmlns:a="http://schemas.openxmlformats.org/drawingml/2006/main">
              <a:ext uri="{FF2B5EF4-FFF2-40B4-BE49-F238E27FC236}">
                <a16:creationId xmlns:a16="http://schemas.microsoft.com/office/drawing/2014/main" id="{5BC90361-30D8-4517-B36D-5136CAB0C285}"/>
              </a:ext>
            </a:extLst>
          </p:cNvPr>
          <p:cNvSpPr>
            <a:spLocks xmlns:a="http://schemas.openxmlformats.org/drawingml/2006/main" noGrp="1"/>
          </p:cNvSpPr>
          <p:nvPr/>
        </p:nvSpPr>
        <p:spPr>
          <a:xfrm xmlns:a="http://schemas.openxmlformats.org/drawingml/2006/main">
            <a:off x="7315200" y="31813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B49E15EA-CEC4-4B3A-9A9C-1FBDB9490EBF}"/>
              </a:ext>
            </a:extLst>
          </p:cNvPr>
          <p:cNvSpPr>
            <a:spLocks xmlns:a="http://schemas.openxmlformats.org/drawingml/2006/main" noGrp="1"/>
          </p:cNvSpPr>
          <p:nvPr/>
        </p:nvSpPr>
        <p:spPr>
          <a:xfrm xmlns:a="http://schemas.openxmlformats.org/drawingml/2006/main">
            <a:off x="7448550" y="33432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FA2F9CF0-8AB3-483A-AFB8-D4787A8B7F44}"/>
              </a:ext>
            </a:extLst>
          </p:cNvPr>
          <p:cNvSpPr>
            <a:spLocks xmlns:a="http://schemas.openxmlformats.org/drawingml/2006/main" noGrp="1"/>
          </p:cNvSpPr>
          <p:nvPr/>
        </p:nvSpPr>
        <p:spPr>
          <a:xfrm xmlns:a="http://schemas.openxmlformats.org/drawingml/2006/main">
            <a:off x="7772400" y="32194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Yes — it first reaches 0.0125 at generation 9, then stays there.</a:t>
            </a:r>
          </a:p>
        </p:txBody>
      </p:sp>
      <p:sp>
        <p:nvSpPr>
          <p:cNvPr id="15" name="opt-2">
            <a:extLst xmlns:a="http://schemas.openxmlformats.org/drawingml/2006/main">
              <a:ext uri="{FF2B5EF4-FFF2-40B4-BE49-F238E27FC236}">
                <a16:creationId xmlns:a16="http://schemas.microsoft.com/office/drawing/2014/main" id="{20584CB8-F344-4464-B5D5-44B30DBD52E3}"/>
              </a:ext>
            </a:extLst>
          </p:cNvPr>
          <p:cNvSpPr>
            <a:spLocks xmlns:a="http://schemas.openxmlformats.org/drawingml/2006/main" noGrp="1"/>
          </p:cNvSpPr>
          <p:nvPr/>
        </p:nvSpPr>
        <p:spPr>
          <a:xfrm xmlns:a="http://schemas.openxmlformats.org/drawingml/2006/main">
            <a:off x="7315200" y="37909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22FD1FC7-770E-43C1-A8DA-B50573691FF9}"/>
              </a:ext>
            </a:extLst>
          </p:cNvPr>
          <p:cNvSpPr>
            <a:spLocks xmlns:a="http://schemas.openxmlformats.org/drawingml/2006/main" noGrp="1"/>
          </p:cNvSpPr>
          <p:nvPr/>
        </p:nvSpPr>
        <p:spPr>
          <a:xfrm xmlns:a="http://schemas.openxmlformats.org/drawingml/2006/main">
            <a:off x="7448550" y="3952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5D33B900-AAE4-4832-98C5-51F55145726C}"/>
              </a:ext>
            </a:extLst>
          </p:cNvPr>
          <p:cNvSpPr>
            <a:spLocks xmlns:a="http://schemas.openxmlformats.org/drawingml/2006/main" noGrp="1"/>
          </p:cNvSpPr>
          <p:nvPr/>
        </p:nvSpPr>
        <p:spPr>
          <a:xfrm xmlns:a="http://schemas.openxmlformats.org/drawingml/2006/main">
            <a:off x="7772400" y="38290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Yes, but only after all 30 generations complete.</a:t>
            </a:r>
          </a:p>
        </p:txBody>
      </p:sp>
      <p:sp>
        <p:nvSpPr>
          <p:cNvPr id="18" name="opt-3">
            <a:extLst xmlns:a="http://schemas.openxmlformats.org/drawingml/2006/main">
              <a:ext uri="{FF2B5EF4-FFF2-40B4-BE49-F238E27FC236}">
                <a16:creationId xmlns:a16="http://schemas.microsoft.com/office/drawing/2014/main" id="{40D5788D-A9E8-4CF0-B951-2A2CD5A5B928}"/>
              </a:ext>
            </a:extLst>
          </p:cNvPr>
          <p:cNvSpPr>
            <a:spLocks xmlns:a="http://schemas.openxmlformats.org/drawingml/2006/main" noGrp="1"/>
          </p:cNvSpPr>
          <p:nvPr/>
        </p:nvSpPr>
        <p:spPr>
          <a:xfrm xmlns:a="http://schemas.openxmlformats.org/drawingml/2006/main">
            <a:off x="7315200" y="44005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AF4A49CD-9C19-434A-9DD0-B100EB89C5E8}"/>
              </a:ext>
            </a:extLst>
          </p:cNvPr>
          <p:cNvSpPr>
            <a:spLocks xmlns:a="http://schemas.openxmlformats.org/drawingml/2006/main" noGrp="1"/>
          </p:cNvSpPr>
          <p:nvPr/>
        </p:nvSpPr>
        <p:spPr>
          <a:xfrm xmlns:a="http://schemas.openxmlformats.org/drawingml/2006/main">
            <a:off x="7448550" y="4562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071637C3-7B22-4587-BB3D-075410C45DFC}"/>
              </a:ext>
            </a:extLst>
          </p:cNvPr>
          <p:cNvSpPr>
            <a:spLocks xmlns:a="http://schemas.openxmlformats.org/drawingml/2006/main" noGrp="1"/>
          </p:cNvSpPr>
          <p:nvPr/>
        </p:nvSpPr>
        <p:spPr>
          <a:xfrm xmlns:a="http://schemas.openxmlformats.org/drawingml/2006/main">
            <a:off x="7772400" y="44386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No — the GA finds a different, equally good permutation instead.</a:t>
            </a:r>
          </a:p>
        </p:txBody>
      </p:sp>
      <p:sp>
        <p:nvSpPr>
          <p:cNvPr id="21" name="answer-panel">
            <a:extLst xmlns:a="http://schemas.openxmlformats.org/drawingml/2006/main">
              <a:ext uri="{FF2B5EF4-FFF2-40B4-BE49-F238E27FC236}">
                <a16:creationId xmlns:a16="http://schemas.microsoft.com/office/drawing/2014/main" id="{3999C103-B977-44DE-A5F4-B7C395650A62}"/>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DAC5A87E-10CE-453A-8678-781EFF423712}"/>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B</a:t>
            </a:r>
          </a:p>
        </p:txBody>
      </p:sp>
      <p:sp>
        <p:nvSpPr>
          <p:cNvPr id="23" name="why">
            <a:extLst xmlns:a="http://schemas.openxmlformats.org/drawingml/2006/main">
              <a:ext uri="{FF2B5EF4-FFF2-40B4-BE49-F238E27FC236}">
                <a16:creationId xmlns:a16="http://schemas.microsoft.com/office/drawing/2014/main" id="{551FD4B8-9473-48A9-8BFF-69D7D4DB5BEC}"/>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Yes — 0.0125 exactly at generation 9, then stays there: SELECTION keeps the best individuals. Not guaranteed in general.</a:t>
            </a:r>
          </a:p>
        </p:txBody>
      </p:sp>
    </p:spTree>
    <p:extLst>
      <p:ext uri="{BB962C8B-B14F-4D97-AF65-F5344CB8AC3E}">
        <p14:creationId xmlns:p14="http://schemas.microsoft.com/office/powerpoint/2010/main" val="108152732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AA06229E-F530-4785-B494-0C382246644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E0629E8A-7D34-4ABA-9E30-E375E200EA4F}"/>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Running the GA: population 12, 5 survivors, seed=1</a:t>
            </a:r>
          </a:p>
        </p:txBody>
      </p:sp>
      <p:sp>
        <p:nvSpPr>
          <p:cNvPr id="3" name="">
            <a:extLst xmlns:a="http://schemas.openxmlformats.org/drawingml/2006/main">
              <a:ext uri="{FF2B5EF4-FFF2-40B4-BE49-F238E27FC236}">
                <a16:creationId xmlns:a16="http://schemas.microsoft.com/office/drawing/2014/main" id="{1140650C-FF93-41F9-881F-81E3AF141BC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DC7BDEC-4FA8-4E39-B4C2-EAE002A665E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258592A4-80E4-4C67-83F9-88663B0B93B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34</a:t>
            </a:r>
          </a:p>
        </p:txBody>
      </p:sp>
      <p:sp>
        <p:nvSpPr>
          <p:cNvPr id="6" name="code-panel">
            <a:extLst xmlns:a="http://schemas.openxmlformats.org/drawingml/2006/main">
              <a:ext uri="{FF2B5EF4-FFF2-40B4-BE49-F238E27FC236}">
                <a16:creationId xmlns:a16="http://schemas.microsoft.com/office/drawing/2014/main" id="{256DE7AE-96DF-437E-805A-3301EC69AE80}"/>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8C12292A-5502-453A-858D-8FB4C999C523}"/>
              </a:ext>
            </a:extLst>
          </p:cNvPr>
          <p:cNvSpPr>
            <a:spLocks xmlns:a="http://schemas.openxmlformats.org/drawingml/2006/main" noGrp="1"/>
          </p:cNvSpPr>
          <p:nvPr/>
        </p:nvSpPr>
        <p:spPr>
          <a:xfrm xmlns:a="http://schemas.openxmlformats.org/drawingml/2006/main">
            <a:off x="857250" y="2057400"/>
            <a:ext cx="6400800" cy="22722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best = genetic_algorithm(seed=1)</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print('best permutation:', best)</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print('cost:', round(cost(best), 4))</a:t>
            </a:r>
          </a:p>
        </p:txBody>
      </p:sp>
      <p:sp>
        <p:nvSpPr>
          <p:cNvPr id="8" name="">
            <a:extLst xmlns:a="http://schemas.openxmlformats.org/drawingml/2006/main">
              <a:ext uri="{FF2B5EF4-FFF2-40B4-BE49-F238E27FC236}">
                <a16:creationId xmlns:a16="http://schemas.microsoft.com/office/drawing/2014/main" id="{5C5402CE-3A62-4D09-9E5D-D0ED9AB7EC21}"/>
              </a:ext>
            </a:extLst>
          </p:cNvPr>
          <p:cNvSpPr>
            <a:spLocks xmlns:a="http://schemas.openxmlformats.org/drawingml/2006/main" noGrp="1"/>
          </p:cNvSpPr>
          <p:nvPr/>
        </p:nvSpPr>
        <p:spPr>
          <a:xfrm xmlns:a="http://schemas.openxmlformats.org/drawingml/2006/main">
            <a:off x="857250" y="438683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EA27D5CC-2546-4C57-B4E7-6B9E5521EC4F}"/>
              </a:ext>
            </a:extLst>
          </p:cNvPr>
          <p:cNvSpPr>
            <a:spLocks xmlns:a="http://schemas.openxmlformats.org/drawingml/2006/main" noGrp="1"/>
          </p:cNvSpPr>
          <p:nvPr/>
        </p:nvSpPr>
        <p:spPr>
          <a:xfrm xmlns:a="http://schemas.openxmlformats.org/drawingml/2006/main">
            <a:off x="857250" y="450113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F48D9E96-5219-4E3A-BFF3-CD88A0F1178D}"/>
              </a:ext>
            </a:extLst>
          </p:cNvPr>
          <p:cNvSpPr>
            <a:spLocks xmlns:a="http://schemas.openxmlformats.org/drawingml/2006/main" noGrp="1"/>
          </p:cNvSpPr>
          <p:nvPr/>
        </p:nvSpPr>
        <p:spPr>
          <a:xfrm xmlns:a="http://schemas.openxmlformats.org/drawingml/2006/main">
            <a:off x="857250" y="4729734"/>
            <a:ext cx="6400800" cy="10995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gen 0 -&gt; best cost 0.1025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gen 5 -&gt; best cost 0.0225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gen 9 -&gt; best cost 0.0125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gen 10 -&gt; best cost 0.0125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best permutation: [0, 2, 4, 5, 3, 1]</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cost: 0.0125</a:t>
            </a:r>
          </a:p>
        </p:txBody>
      </p:sp>
      <p:sp>
        <p:nvSpPr>
          <p:cNvPr id="11" name="explain-head">
            <a:extLst xmlns:a="http://schemas.openxmlformats.org/drawingml/2006/main">
              <a:ext uri="{FF2B5EF4-FFF2-40B4-BE49-F238E27FC236}">
                <a16:creationId xmlns:a16="http://schemas.microsoft.com/office/drawing/2014/main" id="{2BE01C62-BFEC-4EA6-B4CC-8E96B1E3B74D}"/>
              </a:ext>
            </a:extLst>
          </p:cNvPr>
          <p:cNvSpPr>
            <a:spLocks xmlns:a="http://schemas.openxmlformats.org/drawingml/2006/main" noGrp="1"/>
          </p:cNvSpPr>
          <p:nvPr/>
        </p:nvSpPr>
        <p:spPr>
          <a:xfrm xmlns:a="http://schemas.openxmlformats.org/drawingml/2006/main">
            <a:off x="7886700" y="213360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The identical true optimum, verified</a:t>
            </a:r>
          </a:p>
        </p:txBody>
      </p:sp>
      <p:sp>
        <p:nvSpPr>
          <p:cNvPr id="12" name="explain-body">
            <a:extLst xmlns:a="http://schemas.openxmlformats.org/drawingml/2006/main">
              <a:ext uri="{FF2B5EF4-FFF2-40B4-BE49-F238E27FC236}">
                <a16:creationId xmlns:a16="http://schemas.microsoft.com/office/drawing/2014/main" id="{18DEC8E8-2D71-444B-B274-6DC57C88B5AB}"/>
              </a:ext>
            </a:extLst>
          </p:cNvPr>
          <p:cNvSpPr>
            <a:spLocks xmlns:a="http://schemas.openxmlformats.org/drawingml/2006/main" noGrp="1"/>
          </p:cNvSpPr>
          <p:nvPr/>
        </p:nvSpPr>
        <p:spPr>
          <a:xfrm xmlns:a="http://schemas.openxmlformats.org/drawingml/2006/main">
            <a:off x="7886700" y="2919222"/>
            <a:ext cx="3695700" cy="2727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One call, using every default in the signature. The four 'gen' lines come from the checkpoint print inside the loop. By generation 9, the GA's best individual matches brute force's answer EXACTLY — permutation (0, 2, 4, 5, 3, 1), cost 0.0125 — and stays there through generation 30. Reaching it took about 75 individuals evaluated in total (12 initial + 9 generations x 7 new individuals) — about 10% of brute force's 720.</a:t>
            </a:r>
          </a:p>
        </p:txBody>
      </p:sp>
    </p:spTree>
    <p:extLst>
      <p:ext uri="{BB962C8B-B14F-4D97-AF65-F5344CB8AC3E}">
        <p14:creationId xmlns:p14="http://schemas.microsoft.com/office/powerpoint/2010/main" val="127186921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AA117D42-FDD3-419B-9943-6A870A9733A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VISUAL EVIDENCE</a:t>
            </a:r>
          </a:p>
        </p:txBody>
      </p:sp>
      <p:sp>
        <p:nvSpPr>
          <p:cNvPr id="2" name="title">
            <a:extLst xmlns:a="http://schemas.openxmlformats.org/drawingml/2006/main">
              <a:ext uri="{FF2B5EF4-FFF2-40B4-BE49-F238E27FC236}">
                <a16:creationId xmlns:a16="http://schemas.microsoft.com/office/drawing/2014/main" id="{5E5598D5-71C6-4384-9B46-016DE5A414E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Convergence: GA best cost by generation, seed=1</a:t>
            </a:r>
          </a:p>
        </p:txBody>
      </p:sp>
      <p:sp>
        <p:nvSpPr>
          <p:cNvPr id="3" name="">
            <a:extLst xmlns:a="http://schemas.openxmlformats.org/drawingml/2006/main">
              <a:ext uri="{FF2B5EF4-FFF2-40B4-BE49-F238E27FC236}">
                <a16:creationId xmlns:a16="http://schemas.microsoft.com/office/drawing/2014/main" id="{F3DC3676-5F93-4E07-81D6-749558D23F0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66CD238-1CA7-4D25-837F-B2119804CCF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62922C95-CFAB-451D-B3D7-2A529831AC2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35</a:t>
            </a:r>
          </a:p>
        </p:txBody>
      </p:sp>
      <p:graphicFrame>
        <p:nvGraphicFramePr>
          <p:cNvPr id="14" name="Chart"/>
          <p:cNvGraphicFramePr/>
          <p:nvPr/>
        </p:nvGraphicFramePr>
        <p:xfrm>
          <a:off xmlns:a="http://schemas.openxmlformats.org/drawingml/2006/main" x="609600" y="1809750"/>
          <a:ext xmlns:a="http://schemas.openxmlformats.org/drawingml/2006/main" cx="7010400" cy="4248150"/>
        </p:xfrm>
        <a:graphic xmlns:a="http://schemas.openxmlformats.org/drawingml/2006/main">
          <a:graphicData uri="http://schemas.openxmlformats.org/drawingml/2006/chart">
            <c:chart xmlns:r="http://schemas.openxmlformats.org/officeDocument/2006/relationships" xmlns:c="http://schemas.openxmlformats.org/drawingml/2006/chart" r:id="R67bec5b93afd4dad"/>
          </a:graphicData>
        </a:graphic>
      </p:graphicFrame>
      <p:sp>
        <p:nvSpPr>
          <p:cNvPr id="7" name="chart-explain-head">
            <a:extLst xmlns:a="http://schemas.openxmlformats.org/drawingml/2006/main">
              <a:ext uri="{FF2B5EF4-FFF2-40B4-BE49-F238E27FC236}">
                <a16:creationId xmlns:a16="http://schemas.microsoft.com/office/drawing/2014/main" id="{2BB013A7-ACAE-472E-8050-8CDCFEC5471F}"/>
              </a:ext>
            </a:extLst>
          </p:cNvPr>
          <p:cNvSpPr>
            <a:spLocks xmlns:a="http://schemas.openxmlformats.org/drawingml/2006/main" noGrp="1"/>
          </p:cNvSpPr>
          <p:nvPr/>
        </p:nvSpPr>
        <p:spPr>
          <a:xfrm xmlns:a="http://schemas.openxmlformats.org/drawingml/2006/main">
            <a:off x="8001000" y="1971675"/>
            <a:ext cx="35814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 bar per generation, not a smooth slope</a:t>
            </a:r>
          </a:p>
        </p:txBody>
      </p:sp>
      <p:sp>
        <p:nvSpPr>
          <p:cNvPr id="8" name="chart-explain-body">
            <a:extLst xmlns:a="http://schemas.openxmlformats.org/drawingml/2006/main">
              <a:ext uri="{FF2B5EF4-FFF2-40B4-BE49-F238E27FC236}">
                <a16:creationId xmlns:a16="http://schemas.microsoft.com/office/drawing/2014/main" id="{00F20407-BE9D-4831-BE0F-404F972C333A}"/>
              </a:ext>
            </a:extLst>
          </p:cNvPr>
          <p:cNvSpPr>
            <a:spLocks xmlns:a="http://schemas.openxmlformats.org/drawingml/2006/main" noGrp="1"/>
          </p:cNvSpPr>
          <p:nvPr/>
        </p:nvSpPr>
        <p:spPr>
          <a:xfrm xmlns:a="http://schemas.openxmlformats.org/drawingml/2006/main">
            <a:off x="8001000" y="2757297"/>
            <a:ext cx="3581400" cy="31699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Axis values are scaled x1000 only so they render as plain numbers (100 = 0.100) — the real costs are the ones already printed: 0.1025 down to 0.0125. The GA's best cost only ever holds steady or drops, never rises, because SELECTION always keeps the best 5 individuals. It touches the flat true-optimum line at generation 9 and never leaves it. Compare this shape to Week 11's smooth downhill curve — this one is a new bar every generation, discrete steps with no slope between them.</a:t>
            </a:r>
          </a:p>
        </p:txBody>
      </p:sp>
    </p:spTree>
    <p:extLst>
      <p:ext uri="{BB962C8B-B14F-4D97-AF65-F5344CB8AC3E}">
        <p14:creationId xmlns:p14="http://schemas.microsoft.com/office/powerpoint/2010/main" val="165339489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C1231B80-E60D-4F5B-9E84-F288631510E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D4D7B945-EEFF-4A45-A8CC-4CC6F9A488F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which seed reaches the true optimum fastest?</a:t>
            </a:r>
          </a:p>
        </p:txBody>
      </p:sp>
      <p:sp>
        <p:nvSpPr>
          <p:cNvPr id="3" name="">
            <a:extLst xmlns:a="http://schemas.openxmlformats.org/drawingml/2006/main">
              <a:ext uri="{FF2B5EF4-FFF2-40B4-BE49-F238E27FC236}">
                <a16:creationId xmlns:a16="http://schemas.microsoft.com/office/drawing/2014/main" id="{1B89B147-2178-4216-AAA6-BB17D4EAF5A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89BE3614-9957-481F-AFA6-56DB03860A5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828AD879-C9E2-4364-85F6-F3339C169DE6}"/>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36</a:t>
            </a:r>
          </a:p>
        </p:txBody>
      </p:sp>
      <p:sp>
        <p:nvSpPr>
          <p:cNvPr id="6" name="code-panel">
            <a:extLst xmlns:a="http://schemas.openxmlformats.org/drawingml/2006/main">
              <a:ext uri="{FF2B5EF4-FFF2-40B4-BE49-F238E27FC236}">
                <a16:creationId xmlns:a16="http://schemas.microsoft.com/office/drawing/2014/main" id="{367C84C2-4BC5-4FEC-8FDE-8D8C86731284}"/>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78419D57-1A66-4304-A478-5C9124DC5B57}"/>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for seed in (1, 2, 3, 4, 5, 6, 7):</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for g in range(31):</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b = genetic_algorithm(seed, generations=g)</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if round(cost(b), 4) == 0.0125:</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print(seed, '-&gt; generation', g)</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break</a:t>
            </a:r>
          </a:p>
        </p:txBody>
      </p:sp>
      <p:sp>
        <p:nvSpPr>
          <p:cNvPr id="8" name="question">
            <a:extLst xmlns:a="http://schemas.openxmlformats.org/drawingml/2006/main">
              <a:ext uri="{FF2B5EF4-FFF2-40B4-BE49-F238E27FC236}">
                <a16:creationId xmlns:a16="http://schemas.microsoft.com/office/drawing/2014/main" id="{F8CD6ACE-EAEC-423D-8B20-8B57880B157F}"/>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Which seed reaches 0.0125 in the fewest generations?</a:t>
            </a:r>
          </a:p>
        </p:txBody>
      </p:sp>
      <p:sp>
        <p:nvSpPr>
          <p:cNvPr id="9" name="opt-0">
            <a:extLst xmlns:a="http://schemas.openxmlformats.org/drawingml/2006/main">
              <a:ext uri="{FF2B5EF4-FFF2-40B4-BE49-F238E27FC236}">
                <a16:creationId xmlns:a16="http://schemas.microsoft.com/office/drawing/2014/main" id="{94294B12-29EA-4AB8-A9C1-F4B1A07BCABA}"/>
              </a:ext>
            </a:extLst>
          </p:cNvPr>
          <p:cNvSpPr>
            <a:spLocks xmlns:a="http://schemas.openxmlformats.org/drawingml/2006/main" noGrp="1"/>
          </p:cNvSpPr>
          <p:nvPr/>
        </p:nvSpPr>
        <p:spPr>
          <a:xfrm xmlns:a="http://schemas.openxmlformats.org/drawingml/2006/main">
            <a:off x="7315200" y="25717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260B5261-555C-4C44-B291-BCE6366AAEFB}"/>
              </a:ext>
            </a:extLst>
          </p:cNvPr>
          <p:cNvSpPr>
            <a:spLocks xmlns:a="http://schemas.openxmlformats.org/drawingml/2006/main" noGrp="1"/>
          </p:cNvSpPr>
          <p:nvPr/>
        </p:nvSpPr>
        <p:spPr>
          <a:xfrm xmlns:a="http://schemas.openxmlformats.org/drawingml/2006/main">
            <a:off x="7448550" y="27336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AAD7D9FA-1629-4F17-BA0B-953BDB58348C}"/>
              </a:ext>
            </a:extLst>
          </p:cNvPr>
          <p:cNvSpPr>
            <a:spLocks xmlns:a="http://schemas.openxmlformats.org/drawingml/2006/main" noGrp="1"/>
          </p:cNvSpPr>
          <p:nvPr/>
        </p:nvSpPr>
        <p:spPr>
          <a:xfrm xmlns:a="http://schemas.openxmlformats.org/drawingml/2006/main">
            <a:off x="7772400" y="26098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Seed 1 — chosen as the primary demo, so it must be fastest.</a:t>
            </a:r>
          </a:p>
        </p:txBody>
      </p:sp>
      <p:sp>
        <p:nvSpPr>
          <p:cNvPr id="12" name="opt-1">
            <a:extLst xmlns:a="http://schemas.openxmlformats.org/drawingml/2006/main">
              <a:ext uri="{FF2B5EF4-FFF2-40B4-BE49-F238E27FC236}">
                <a16:creationId xmlns:a16="http://schemas.microsoft.com/office/drawing/2014/main" id="{E12D1B24-9A1B-490A-AC59-B390129B3AF4}"/>
              </a:ext>
            </a:extLst>
          </p:cNvPr>
          <p:cNvSpPr>
            <a:spLocks xmlns:a="http://schemas.openxmlformats.org/drawingml/2006/main" noGrp="1"/>
          </p:cNvSpPr>
          <p:nvPr/>
        </p:nvSpPr>
        <p:spPr>
          <a:xfrm xmlns:a="http://schemas.openxmlformats.org/drawingml/2006/main">
            <a:off x="7315200" y="31813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BCD902C4-044F-4438-BCCA-078FEA4C9208}"/>
              </a:ext>
            </a:extLst>
          </p:cNvPr>
          <p:cNvSpPr>
            <a:spLocks xmlns:a="http://schemas.openxmlformats.org/drawingml/2006/main" noGrp="1"/>
          </p:cNvSpPr>
          <p:nvPr/>
        </p:nvSpPr>
        <p:spPr>
          <a:xfrm xmlns:a="http://schemas.openxmlformats.org/drawingml/2006/main">
            <a:off x="7448550" y="33432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EC908567-607E-49C2-A8D2-7AB7F40F733A}"/>
              </a:ext>
            </a:extLst>
          </p:cNvPr>
          <p:cNvSpPr>
            <a:spLocks xmlns:a="http://schemas.openxmlformats.org/drawingml/2006/main" noGrp="1"/>
          </p:cNvSpPr>
          <p:nvPr/>
        </p:nvSpPr>
        <p:spPr>
          <a:xfrm xmlns:a="http://schemas.openxmlformats.org/drawingml/2006/main">
            <a:off x="7772400" y="32194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Seed 3 — reaches it by generation 4, faster than the demo seed.</a:t>
            </a:r>
          </a:p>
        </p:txBody>
      </p:sp>
      <p:sp>
        <p:nvSpPr>
          <p:cNvPr id="15" name="opt-2">
            <a:extLst xmlns:a="http://schemas.openxmlformats.org/drawingml/2006/main">
              <a:ext uri="{FF2B5EF4-FFF2-40B4-BE49-F238E27FC236}">
                <a16:creationId xmlns:a16="http://schemas.microsoft.com/office/drawing/2014/main" id="{CA81CA65-2334-4FFF-92B4-6C1E27E02960}"/>
              </a:ext>
            </a:extLst>
          </p:cNvPr>
          <p:cNvSpPr>
            <a:spLocks xmlns:a="http://schemas.openxmlformats.org/drawingml/2006/main" noGrp="1"/>
          </p:cNvSpPr>
          <p:nvPr/>
        </p:nvSpPr>
        <p:spPr>
          <a:xfrm xmlns:a="http://schemas.openxmlformats.org/drawingml/2006/main">
            <a:off x="7315200" y="37909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B313F71C-FD78-4346-90A2-965817CC3EAE}"/>
              </a:ext>
            </a:extLst>
          </p:cNvPr>
          <p:cNvSpPr>
            <a:spLocks xmlns:a="http://schemas.openxmlformats.org/drawingml/2006/main" noGrp="1"/>
          </p:cNvSpPr>
          <p:nvPr/>
        </p:nvSpPr>
        <p:spPr>
          <a:xfrm xmlns:a="http://schemas.openxmlformats.org/drawingml/2006/main">
            <a:off x="7448550" y="3952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ED93323A-BE2E-4B9E-B399-B427AACA58B8}"/>
              </a:ext>
            </a:extLst>
          </p:cNvPr>
          <p:cNvSpPr>
            <a:spLocks xmlns:a="http://schemas.openxmlformats.org/drawingml/2006/main" noGrp="1"/>
          </p:cNvSpPr>
          <p:nvPr/>
        </p:nvSpPr>
        <p:spPr>
          <a:xfrm xmlns:a="http://schemas.openxmlformats.org/drawingml/2006/main">
            <a:off x="7772400" y="38290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Seed 5 — the most thorough, most-generations search.</a:t>
            </a:r>
          </a:p>
        </p:txBody>
      </p:sp>
      <p:sp>
        <p:nvSpPr>
          <p:cNvPr id="18" name="opt-3">
            <a:extLst xmlns:a="http://schemas.openxmlformats.org/drawingml/2006/main">
              <a:ext uri="{FF2B5EF4-FFF2-40B4-BE49-F238E27FC236}">
                <a16:creationId xmlns:a16="http://schemas.microsoft.com/office/drawing/2014/main" id="{A632BA33-DE51-4C69-ADBD-FF407EAEE19F}"/>
              </a:ext>
            </a:extLst>
          </p:cNvPr>
          <p:cNvSpPr>
            <a:spLocks xmlns:a="http://schemas.openxmlformats.org/drawingml/2006/main" noGrp="1"/>
          </p:cNvSpPr>
          <p:nvPr/>
        </p:nvSpPr>
        <p:spPr>
          <a:xfrm xmlns:a="http://schemas.openxmlformats.org/drawingml/2006/main">
            <a:off x="7315200" y="44005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DF0C51DB-AC8F-4747-9858-0C72549D8FCF}"/>
              </a:ext>
            </a:extLst>
          </p:cNvPr>
          <p:cNvSpPr>
            <a:spLocks xmlns:a="http://schemas.openxmlformats.org/drawingml/2006/main" noGrp="1"/>
          </p:cNvSpPr>
          <p:nvPr/>
        </p:nvSpPr>
        <p:spPr>
          <a:xfrm xmlns:a="http://schemas.openxmlformats.org/drawingml/2006/main">
            <a:off x="7448550" y="4562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388E0E21-1E9F-47DD-BBE0-63728212E68F}"/>
              </a:ext>
            </a:extLst>
          </p:cNvPr>
          <p:cNvSpPr>
            <a:spLocks xmlns:a="http://schemas.openxmlformats.org/drawingml/2006/main" noGrp="1"/>
          </p:cNvSpPr>
          <p:nvPr/>
        </p:nvSpPr>
        <p:spPr>
          <a:xfrm xmlns:a="http://schemas.openxmlformats.org/drawingml/2006/main">
            <a:off x="7772400" y="44386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All seven seeds reach it in the same generation.</a:t>
            </a:r>
          </a:p>
        </p:txBody>
      </p:sp>
      <p:sp>
        <p:nvSpPr>
          <p:cNvPr id="21" name="answer-panel">
            <a:extLst xmlns:a="http://schemas.openxmlformats.org/drawingml/2006/main">
              <a:ext uri="{FF2B5EF4-FFF2-40B4-BE49-F238E27FC236}">
                <a16:creationId xmlns:a16="http://schemas.microsoft.com/office/drawing/2014/main" id="{F928BC60-9E7F-4B46-B187-49B00E030FEC}"/>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41F50951-62F8-4BC2-8A37-9434BA39D0FE}"/>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B</a:t>
            </a:r>
          </a:p>
        </p:txBody>
      </p:sp>
      <p:sp>
        <p:nvSpPr>
          <p:cNvPr id="23" name="why">
            <a:extLst xmlns:a="http://schemas.openxmlformats.org/drawingml/2006/main">
              <a:ext uri="{FF2B5EF4-FFF2-40B4-BE49-F238E27FC236}">
                <a16:creationId xmlns:a16="http://schemas.microsoft.com/office/drawing/2014/main" id="{A9B6B7CD-56F2-48D8-A3C4-10ED209BEEEA}"/>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Seed 3 reaches 0.0125 by generation 4 — faster than seed=1's generation 9, the demo seed for its curve, not for speed.</a:t>
            </a:r>
          </a:p>
        </p:txBody>
      </p:sp>
    </p:spTree>
    <p:extLst>
      <p:ext uri="{BB962C8B-B14F-4D97-AF65-F5344CB8AC3E}">
        <p14:creationId xmlns:p14="http://schemas.microsoft.com/office/powerpoint/2010/main" val="190013995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kicker">
            <a:extLst xmlns:a="http://schemas.openxmlformats.org/drawingml/2006/main">
              <a:ext uri="{FF2B5EF4-FFF2-40B4-BE49-F238E27FC236}">
                <a16:creationId xmlns:a16="http://schemas.microsoft.com/office/drawing/2014/main" id="{E72E63BB-8497-401A-8A44-321A73A3CF6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5DEC8F6B-C036-40A4-9174-3267CC19F5E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Same GA, seven random seeds: reliable, but not identical</a:t>
            </a:r>
          </a:p>
        </p:txBody>
      </p:sp>
      <p:sp>
        <p:nvSpPr>
          <p:cNvPr id="3" name="">
            <a:extLst xmlns:a="http://schemas.openxmlformats.org/drawingml/2006/main">
              <a:ext uri="{FF2B5EF4-FFF2-40B4-BE49-F238E27FC236}">
                <a16:creationId xmlns:a16="http://schemas.microsoft.com/office/drawing/2014/main" id="{EFE31288-771A-42BD-B270-EF5DF6CC291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1EDC82E-F30A-4D16-86ED-B8940DAAD1B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53F8E73F-D5E3-4446-8BA7-8E6A355520C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37</a:t>
            </a:r>
          </a:p>
        </p:txBody>
      </p:sp>
      <p:sp>
        <p:nvSpPr>
          <p:cNvPr id="6" name="">
            <a:extLst xmlns:a="http://schemas.openxmlformats.org/drawingml/2006/main">
              <a:ext uri="{FF2B5EF4-FFF2-40B4-BE49-F238E27FC236}">
                <a16:creationId xmlns:a16="http://schemas.microsoft.com/office/drawing/2014/main" id="{57339C3A-0DE6-43BA-973A-0B5E7D476105}"/>
              </a:ext>
            </a:extLst>
          </p:cNvPr>
          <p:cNvSpPr>
            <a:spLocks xmlns:a="http://schemas.openxmlformats.org/drawingml/2006/main" noGrp="1"/>
          </p:cNvSpPr>
          <p:nvPr/>
        </p:nvSpPr>
        <p:spPr>
          <a:xfrm xmlns:a="http://schemas.openxmlformats.org/drawingml/2006/main">
            <a:off x="609600" y="1838325"/>
            <a:ext cx="2476500"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C2E37D68-3D76-4F9A-862C-DA4F2E1C0F98}"/>
              </a:ext>
            </a:extLst>
          </p:cNvPr>
          <p:cNvSpPr>
            <a:spLocks xmlns:a="http://schemas.openxmlformats.org/drawingml/2006/main" noGrp="1"/>
          </p:cNvSpPr>
          <p:nvPr/>
        </p:nvSpPr>
        <p:spPr>
          <a:xfrm xmlns:a="http://schemas.openxmlformats.org/drawingml/2006/main">
            <a:off x="723900" y="191452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random seed</a:t>
            </a:r>
          </a:p>
        </p:txBody>
      </p:sp>
      <p:sp>
        <p:nvSpPr>
          <p:cNvPr id="8" name="">
            <a:extLst xmlns:a="http://schemas.openxmlformats.org/drawingml/2006/main">
              <a:ext uri="{FF2B5EF4-FFF2-40B4-BE49-F238E27FC236}">
                <a16:creationId xmlns:a16="http://schemas.microsoft.com/office/drawing/2014/main" id="{A3025801-E23B-48C8-8251-3C285089DEAA}"/>
              </a:ext>
            </a:extLst>
          </p:cNvPr>
          <p:cNvSpPr>
            <a:spLocks xmlns:a="http://schemas.openxmlformats.org/drawingml/2006/main" noGrp="1"/>
          </p:cNvSpPr>
          <p:nvPr/>
        </p:nvSpPr>
        <p:spPr>
          <a:xfrm xmlns:a="http://schemas.openxmlformats.org/drawingml/2006/main">
            <a:off x="3086100" y="1838325"/>
            <a:ext cx="2476500"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3D4003E7-653E-45B2-B8BC-0AEE15DD0749}"/>
              </a:ext>
            </a:extLst>
          </p:cNvPr>
          <p:cNvSpPr>
            <a:spLocks xmlns:a="http://schemas.openxmlformats.org/drawingml/2006/main" noGrp="1"/>
          </p:cNvSpPr>
          <p:nvPr/>
        </p:nvSpPr>
        <p:spPr>
          <a:xfrm xmlns:a="http://schemas.openxmlformats.org/drawingml/2006/main">
            <a:off x="3200400" y="191452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generation true optimum first reached</a:t>
            </a:r>
          </a:p>
        </p:txBody>
      </p:sp>
      <p:sp>
        <p:nvSpPr>
          <p:cNvPr id="10" name="">
            <a:extLst xmlns:a="http://schemas.openxmlformats.org/drawingml/2006/main">
              <a:ext uri="{FF2B5EF4-FFF2-40B4-BE49-F238E27FC236}">
                <a16:creationId xmlns:a16="http://schemas.microsoft.com/office/drawing/2014/main" id="{73618577-A999-4BE0-8E79-DFB71B8C5C20}"/>
              </a:ext>
            </a:extLst>
          </p:cNvPr>
          <p:cNvSpPr>
            <a:spLocks xmlns:a="http://schemas.openxmlformats.org/drawingml/2006/main" noGrp="1"/>
          </p:cNvSpPr>
          <p:nvPr/>
        </p:nvSpPr>
        <p:spPr>
          <a:xfrm xmlns:a="http://schemas.openxmlformats.org/drawingml/2006/main">
            <a:off x="5562600" y="1838325"/>
            <a:ext cx="2476500"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FCF7D200-EE24-41EE-86F2-12D73385F333}"/>
              </a:ext>
            </a:extLst>
          </p:cNvPr>
          <p:cNvSpPr>
            <a:spLocks xmlns:a="http://schemas.openxmlformats.org/drawingml/2006/main" noGrp="1"/>
          </p:cNvSpPr>
          <p:nvPr/>
        </p:nvSpPr>
        <p:spPr>
          <a:xfrm xmlns:a="http://schemas.openxmlformats.org/drawingml/2006/main">
            <a:off x="5676900" y="191452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matches brute force's 0.0125?</a:t>
            </a:r>
          </a:p>
        </p:txBody>
      </p:sp>
      <p:sp>
        <p:nvSpPr>
          <p:cNvPr id="12" name="">
            <a:extLst xmlns:a="http://schemas.openxmlformats.org/drawingml/2006/main">
              <a:ext uri="{FF2B5EF4-FFF2-40B4-BE49-F238E27FC236}">
                <a16:creationId xmlns:a16="http://schemas.microsoft.com/office/drawing/2014/main" id="{D747E531-670F-432C-969B-D9DC13573E54}"/>
              </a:ext>
            </a:extLst>
          </p:cNvPr>
          <p:cNvSpPr>
            <a:spLocks xmlns:a="http://schemas.openxmlformats.org/drawingml/2006/main" noGrp="1"/>
          </p:cNvSpPr>
          <p:nvPr/>
        </p:nvSpPr>
        <p:spPr>
          <a:xfrm xmlns:a="http://schemas.openxmlformats.org/drawingml/2006/main">
            <a:off x="609600" y="237934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3" name="cell-0-0">
            <a:extLst xmlns:a="http://schemas.openxmlformats.org/drawingml/2006/main">
              <a:ext uri="{FF2B5EF4-FFF2-40B4-BE49-F238E27FC236}">
                <a16:creationId xmlns:a16="http://schemas.microsoft.com/office/drawing/2014/main" id="{EB5663AB-A582-40EE-8639-47910686E42D}"/>
              </a:ext>
            </a:extLst>
          </p:cNvPr>
          <p:cNvSpPr>
            <a:spLocks xmlns:a="http://schemas.openxmlformats.org/drawingml/2006/main" noGrp="1"/>
          </p:cNvSpPr>
          <p:nvPr/>
        </p:nvSpPr>
        <p:spPr>
          <a:xfrm xmlns:a="http://schemas.openxmlformats.org/drawingml/2006/main">
            <a:off x="723900" y="245554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a:t>
            </a:r>
          </a:p>
        </p:txBody>
      </p:sp>
      <p:sp>
        <p:nvSpPr>
          <p:cNvPr id="14" name="">
            <a:extLst xmlns:a="http://schemas.openxmlformats.org/drawingml/2006/main">
              <a:ext uri="{FF2B5EF4-FFF2-40B4-BE49-F238E27FC236}">
                <a16:creationId xmlns:a16="http://schemas.microsoft.com/office/drawing/2014/main" id="{2009954B-DECB-435E-8B55-2D1CDE80A7C4}"/>
              </a:ext>
            </a:extLst>
          </p:cNvPr>
          <p:cNvSpPr>
            <a:spLocks xmlns:a="http://schemas.openxmlformats.org/drawingml/2006/main" noGrp="1"/>
          </p:cNvSpPr>
          <p:nvPr/>
        </p:nvSpPr>
        <p:spPr>
          <a:xfrm xmlns:a="http://schemas.openxmlformats.org/drawingml/2006/main">
            <a:off x="3086100" y="237934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1">
            <a:extLst xmlns:a="http://schemas.openxmlformats.org/drawingml/2006/main">
              <a:ext uri="{FF2B5EF4-FFF2-40B4-BE49-F238E27FC236}">
                <a16:creationId xmlns:a16="http://schemas.microsoft.com/office/drawing/2014/main" id="{5A21E264-00EF-4934-BAE5-21873097F532}"/>
              </a:ext>
            </a:extLst>
          </p:cNvPr>
          <p:cNvSpPr>
            <a:spLocks xmlns:a="http://schemas.openxmlformats.org/drawingml/2006/main" noGrp="1"/>
          </p:cNvSpPr>
          <p:nvPr/>
        </p:nvSpPr>
        <p:spPr>
          <a:xfrm xmlns:a="http://schemas.openxmlformats.org/drawingml/2006/main">
            <a:off x="3200400" y="245554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9</a:t>
            </a:r>
          </a:p>
        </p:txBody>
      </p:sp>
      <p:sp>
        <p:nvSpPr>
          <p:cNvPr id="16" name="">
            <a:extLst xmlns:a="http://schemas.openxmlformats.org/drawingml/2006/main">
              <a:ext uri="{FF2B5EF4-FFF2-40B4-BE49-F238E27FC236}">
                <a16:creationId xmlns:a16="http://schemas.microsoft.com/office/drawing/2014/main" id="{B0E30564-EFA0-479E-918D-0197CC42C370}"/>
              </a:ext>
            </a:extLst>
          </p:cNvPr>
          <p:cNvSpPr>
            <a:spLocks xmlns:a="http://schemas.openxmlformats.org/drawingml/2006/main" noGrp="1"/>
          </p:cNvSpPr>
          <p:nvPr/>
        </p:nvSpPr>
        <p:spPr>
          <a:xfrm xmlns:a="http://schemas.openxmlformats.org/drawingml/2006/main">
            <a:off x="5562600" y="237934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2">
            <a:extLst xmlns:a="http://schemas.openxmlformats.org/drawingml/2006/main">
              <a:ext uri="{FF2B5EF4-FFF2-40B4-BE49-F238E27FC236}">
                <a16:creationId xmlns:a16="http://schemas.microsoft.com/office/drawing/2014/main" id="{44F26853-C5A9-4568-9611-760C253D15CA}"/>
              </a:ext>
            </a:extLst>
          </p:cNvPr>
          <p:cNvSpPr>
            <a:spLocks xmlns:a="http://schemas.openxmlformats.org/drawingml/2006/main" noGrp="1"/>
          </p:cNvSpPr>
          <p:nvPr/>
        </p:nvSpPr>
        <p:spPr>
          <a:xfrm xmlns:a="http://schemas.openxmlformats.org/drawingml/2006/main">
            <a:off x="5676900" y="245554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Yes</a:t>
            </a:r>
          </a:p>
        </p:txBody>
      </p:sp>
      <p:sp>
        <p:nvSpPr>
          <p:cNvPr id="18" name="">
            <a:extLst xmlns:a="http://schemas.openxmlformats.org/drawingml/2006/main">
              <a:ext uri="{FF2B5EF4-FFF2-40B4-BE49-F238E27FC236}">
                <a16:creationId xmlns:a16="http://schemas.microsoft.com/office/drawing/2014/main" id="{FB423212-34CE-43C3-A044-3490372538DA}"/>
              </a:ext>
            </a:extLst>
          </p:cNvPr>
          <p:cNvSpPr>
            <a:spLocks xmlns:a="http://schemas.openxmlformats.org/drawingml/2006/main" noGrp="1"/>
          </p:cNvSpPr>
          <p:nvPr/>
        </p:nvSpPr>
        <p:spPr>
          <a:xfrm xmlns:a="http://schemas.openxmlformats.org/drawingml/2006/main">
            <a:off x="609600" y="2912745"/>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19" name="cell-1-0">
            <a:extLst xmlns:a="http://schemas.openxmlformats.org/drawingml/2006/main">
              <a:ext uri="{FF2B5EF4-FFF2-40B4-BE49-F238E27FC236}">
                <a16:creationId xmlns:a16="http://schemas.microsoft.com/office/drawing/2014/main" id="{39AED289-A82D-4B7E-B81A-E210D1733137}"/>
              </a:ext>
            </a:extLst>
          </p:cNvPr>
          <p:cNvSpPr>
            <a:spLocks xmlns:a="http://schemas.openxmlformats.org/drawingml/2006/main" noGrp="1"/>
          </p:cNvSpPr>
          <p:nvPr/>
        </p:nvSpPr>
        <p:spPr>
          <a:xfrm xmlns:a="http://schemas.openxmlformats.org/drawingml/2006/main">
            <a:off x="723900" y="298894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3B6E4FDC-01DC-4350-B9B6-52C2C7D9924A}"/>
              </a:ext>
            </a:extLst>
          </p:cNvPr>
          <p:cNvSpPr>
            <a:spLocks xmlns:a="http://schemas.openxmlformats.org/drawingml/2006/main" noGrp="1"/>
          </p:cNvSpPr>
          <p:nvPr/>
        </p:nvSpPr>
        <p:spPr>
          <a:xfrm xmlns:a="http://schemas.openxmlformats.org/drawingml/2006/main">
            <a:off x="3086100" y="2912745"/>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1" name="cell-1-1">
            <a:extLst xmlns:a="http://schemas.openxmlformats.org/drawingml/2006/main">
              <a:ext uri="{FF2B5EF4-FFF2-40B4-BE49-F238E27FC236}">
                <a16:creationId xmlns:a16="http://schemas.microsoft.com/office/drawing/2014/main" id="{AF0D3C79-EB4A-4101-B95E-C4BBFF0C6505}"/>
              </a:ext>
            </a:extLst>
          </p:cNvPr>
          <p:cNvSpPr>
            <a:spLocks xmlns:a="http://schemas.openxmlformats.org/drawingml/2006/main" noGrp="1"/>
          </p:cNvSpPr>
          <p:nvPr/>
        </p:nvSpPr>
        <p:spPr>
          <a:xfrm xmlns:a="http://schemas.openxmlformats.org/drawingml/2006/main">
            <a:off x="3200400" y="298894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9</a:t>
            </a:r>
          </a:p>
        </p:txBody>
      </p:sp>
      <p:sp>
        <p:nvSpPr>
          <p:cNvPr id="22" name="">
            <a:extLst xmlns:a="http://schemas.openxmlformats.org/drawingml/2006/main">
              <a:ext uri="{FF2B5EF4-FFF2-40B4-BE49-F238E27FC236}">
                <a16:creationId xmlns:a16="http://schemas.microsoft.com/office/drawing/2014/main" id="{F62C102C-55D8-4933-939A-FC751B6EF6E7}"/>
              </a:ext>
            </a:extLst>
          </p:cNvPr>
          <p:cNvSpPr>
            <a:spLocks xmlns:a="http://schemas.openxmlformats.org/drawingml/2006/main" noGrp="1"/>
          </p:cNvSpPr>
          <p:nvPr/>
        </p:nvSpPr>
        <p:spPr>
          <a:xfrm xmlns:a="http://schemas.openxmlformats.org/drawingml/2006/main">
            <a:off x="5562600" y="2912745"/>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2">
            <a:extLst xmlns:a="http://schemas.openxmlformats.org/drawingml/2006/main">
              <a:ext uri="{FF2B5EF4-FFF2-40B4-BE49-F238E27FC236}">
                <a16:creationId xmlns:a16="http://schemas.microsoft.com/office/drawing/2014/main" id="{32AE66A5-57CF-400E-8492-7FA6476EBB9A}"/>
              </a:ext>
            </a:extLst>
          </p:cNvPr>
          <p:cNvSpPr>
            <a:spLocks xmlns:a="http://schemas.openxmlformats.org/drawingml/2006/main" noGrp="1"/>
          </p:cNvSpPr>
          <p:nvPr/>
        </p:nvSpPr>
        <p:spPr>
          <a:xfrm xmlns:a="http://schemas.openxmlformats.org/drawingml/2006/main">
            <a:off x="5676900" y="298894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Yes</a:t>
            </a:r>
          </a:p>
        </p:txBody>
      </p:sp>
      <p:sp>
        <p:nvSpPr>
          <p:cNvPr id="24" name="">
            <a:extLst xmlns:a="http://schemas.openxmlformats.org/drawingml/2006/main">
              <a:ext uri="{FF2B5EF4-FFF2-40B4-BE49-F238E27FC236}">
                <a16:creationId xmlns:a16="http://schemas.microsoft.com/office/drawing/2014/main" id="{D3755C69-A2F7-40CF-B12A-20C46FBA454A}"/>
              </a:ext>
            </a:extLst>
          </p:cNvPr>
          <p:cNvSpPr>
            <a:spLocks xmlns:a="http://schemas.openxmlformats.org/drawingml/2006/main" noGrp="1"/>
          </p:cNvSpPr>
          <p:nvPr/>
        </p:nvSpPr>
        <p:spPr>
          <a:xfrm xmlns:a="http://schemas.openxmlformats.org/drawingml/2006/main">
            <a:off x="609600" y="344614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5" name="cell-2-0">
            <a:extLst xmlns:a="http://schemas.openxmlformats.org/drawingml/2006/main">
              <a:ext uri="{FF2B5EF4-FFF2-40B4-BE49-F238E27FC236}">
                <a16:creationId xmlns:a16="http://schemas.microsoft.com/office/drawing/2014/main" id="{4B21A6B6-2DD0-41C3-AB1D-568E1C4812A2}"/>
              </a:ext>
            </a:extLst>
          </p:cNvPr>
          <p:cNvSpPr>
            <a:spLocks xmlns:a="http://schemas.openxmlformats.org/drawingml/2006/main" noGrp="1"/>
          </p:cNvSpPr>
          <p:nvPr/>
        </p:nvSpPr>
        <p:spPr>
          <a:xfrm xmlns:a="http://schemas.openxmlformats.org/drawingml/2006/main">
            <a:off x="723900" y="352234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3</a:t>
            </a:r>
          </a:p>
        </p:txBody>
      </p:sp>
      <p:sp>
        <p:nvSpPr>
          <p:cNvPr id="26" name="">
            <a:extLst xmlns:a="http://schemas.openxmlformats.org/drawingml/2006/main">
              <a:ext uri="{FF2B5EF4-FFF2-40B4-BE49-F238E27FC236}">
                <a16:creationId xmlns:a16="http://schemas.microsoft.com/office/drawing/2014/main" id="{0472D8BB-A8B5-470E-882E-E66BC712B103}"/>
              </a:ext>
            </a:extLst>
          </p:cNvPr>
          <p:cNvSpPr>
            <a:spLocks xmlns:a="http://schemas.openxmlformats.org/drawingml/2006/main" noGrp="1"/>
          </p:cNvSpPr>
          <p:nvPr/>
        </p:nvSpPr>
        <p:spPr>
          <a:xfrm xmlns:a="http://schemas.openxmlformats.org/drawingml/2006/main">
            <a:off x="3086100" y="344614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7" name="cell-2-1">
            <a:extLst xmlns:a="http://schemas.openxmlformats.org/drawingml/2006/main">
              <a:ext uri="{FF2B5EF4-FFF2-40B4-BE49-F238E27FC236}">
                <a16:creationId xmlns:a16="http://schemas.microsoft.com/office/drawing/2014/main" id="{CA6F5823-1F59-4B2D-A27D-3F35500C808C}"/>
              </a:ext>
            </a:extLst>
          </p:cNvPr>
          <p:cNvSpPr>
            <a:spLocks xmlns:a="http://schemas.openxmlformats.org/drawingml/2006/main" noGrp="1"/>
          </p:cNvSpPr>
          <p:nvPr/>
        </p:nvSpPr>
        <p:spPr>
          <a:xfrm xmlns:a="http://schemas.openxmlformats.org/drawingml/2006/main">
            <a:off x="3200400" y="352234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4</a:t>
            </a:r>
          </a:p>
        </p:txBody>
      </p:sp>
      <p:sp>
        <p:nvSpPr>
          <p:cNvPr id="28" name="">
            <a:extLst xmlns:a="http://schemas.openxmlformats.org/drawingml/2006/main">
              <a:ext uri="{FF2B5EF4-FFF2-40B4-BE49-F238E27FC236}">
                <a16:creationId xmlns:a16="http://schemas.microsoft.com/office/drawing/2014/main" id="{23A87EF3-29C2-4D51-8342-C88F4F31F969}"/>
              </a:ext>
            </a:extLst>
          </p:cNvPr>
          <p:cNvSpPr>
            <a:spLocks xmlns:a="http://schemas.openxmlformats.org/drawingml/2006/main" noGrp="1"/>
          </p:cNvSpPr>
          <p:nvPr/>
        </p:nvSpPr>
        <p:spPr>
          <a:xfrm xmlns:a="http://schemas.openxmlformats.org/drawingml/2006/main">
            <a:off x="5562600" y="344614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9" name="cell-2-2">
            <a:extLst xmlns:a="http://schemas.openxmlformats.org/drawingml/2006/main">
              <a:ext uri="{FF2B5EF4-FFF2-40B4-BE49-F238E27FC236}">
                <a16:creationId xmlns:a16="http://schemas.microsoft.com/office/drawing/2014/main" id="{6F9208C2-0D4A-4B50-A948-EF2A037B0AB6}"/>
              </a:ext>
            </a:extLst>
          </p:cNvPr>
          <p:cNvSpPr>
            <a:spLocks xmlns:a="http://schemas.openxmlformats.org/drawingml/2006/main" noGrp="1"/>
          </p:cNvSpPr>
          <p:nvPr/>
        </p:nvSpPr>
        <p:spPr>
          <a:xfrm xmlns:a="http://schemas.openxmlformats.org/drawingml/2006/main">
            <a:off x="5676900" y="352234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Yes</a:t>
            </a:r>
          </a:p>
        </p:txBody>
      </p:sp>
      <p:sp>
        <p:nvSpPr>
          <p:cNvPr id="30" name="">
            <a:extLst xmlns:a="http://schemas.openxmlformats.org/drawingml/2006/main">
              <a:ext uri="{FF2B5EF4-FFF2-40B4-BE49-F238E27FC236}">
                <a16:creationId xmlns:a16="http://schemas.microsoft.com/office/drawing/2014/main" id="{856DDEC0-D040-4D66-9B08-6A0BC3E17E67}"/>
              </a:ext>
            </a:extLst>
          </p:cNvPr>
          <p:cNvSpPr>
            <a:spLocks xmlns:a="http://schemas.openxmlformats.org/drawingml/2006/main" noGrp="1"/>
          </p:cNvSpPr>
          <p:nvPr/>
        </p:nvSpPr>
        <p:spPr>
          <a:xfrm xmlns:a="http://schemas.openxmlformats.org/drawingml/2006/main">
            <a:off x="609600" y="3979545"/>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1" name="cell-3-0">
            <a:extLst xmlns:a="http://schemas.openxmlformats.org/drawingml/2006/main">
              <a:ext uri="{FF2B5EF4-FFF2-40B4-BE49-F238E27FC236}">
                <a16:creationId xmlns:a16="http://schemas.microsoft.com/office/drawing/2014/main" id="{A76F6DDE-BD5B-4629-BAE8-75AFE6644912}"/>
              </a:ext>
            </a:extLst>
          </p:cNvPr>
          <p:cNvSpPr>
            <a:spLocks xmlns:a="http://schemas.openxmlformats.org/drawingml/2006/main" noGrp="1"/>
          </p:cNvSpPr>
          <p:nvPr/>
        </p:nvSpPr>
        <p:spPr>
          <a:xfrm xmlns:a="http://schemas.openxmlformats.org/drawingml/2006/main">
            <a:off x="723900" y="405574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4</a:t>
            </a:r>
          </a:p>
        </p:txBody>
      </p:sp>
      <p:sp>
        <p:nvSpPr>
          <p:cNvPr id="32" name="">
            <a:extLst xmlns:a="http://schemas.openxmlformats.org/drawingml/2006/main">
              <a:ext uri="{FF2B5EF4-FFF2-40B4-BE49-F238E27FC236}">
                <a16:creationId xmlns:a16="http://schemas.microsoft.com/office/drawing/2014/main" id="{ED78E01C-CD0C-46B5-837D-724C96339BB0}"/>
              </a:ext>
            </a:extLst>
          </p:cNvPr>
          <p:cNvSpPr>
            <a:spLocks xmlns:a="http://schemas.openxmlformats.org/drawingml/2006/main" noGrp="1"/>
          </p:cNvSpPr>
          <p:nvPr/>
        </p:nvSpPr>
        <p:spPr>
          <a:xfrm xmlns:a="http://schemas.openxmlformats.org/drawingml/2006/main">
            <a:off x="3086100" y="3979545"/>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3" name="cell-3-1">
            <a:extLst xmlns:a="http://schemas.openxmlformats.org/drawingml/2006/main">
              <a:ext uri="{FF2B5EF4-FFF2-40B4-BE49-F238E27FC236}">
                <a16:creationId xmlns:a16="http://schemas.microsoft.com/office/drawing/2014/main" id="{C7367DAB-7B51-42D5-95C4-87BF96186218}"/>
              </a:ext>
            </a:extLst>
          </p:cNvPr>
          <p:cNvSpPr>
            <a:spLocks xmlns:a="http://schemas.openxmlformats.org/drawingml/2006/main" noGrp="1"/>
          </p:cNvSpPr>
          <p:nvPr/>
        </p:nvSpPr>
        <p:spPr>
          <a:xfrm xmlns:a="http://schemas.openxmlformats.org/drawingml/2006/main">
            <a:off x="3200400" y="405574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13</a:t>
            </a:r>
          </a:p>
        </p:txBody>
      </p:sp>
      <p:sp>
        <p:nvSpPr>
          <p:cNvPr id="34" name="">
            <a:extLst xmlns:a="http://schemas.openxmlformats.org/drawingml/2006/main">
              <a:ext uri="{FF2B5EF4-FFF2-40B4-BE49-F238E27FC236}">
                <a16:creationId xmlns:a16="http://schemas.microsoft.com/office/drawing/2014/main" id="{8AA6450D-F0A5-4833-9639-E7B635587B58}"/>
              </a:ext>
            </a:extLst>
          </p:cNvPr>
          <p:cNvSpPr>
            <a:spLocks xmlns:a="http://schemas.openxmlformats.org/drawingml/2006/main" noGrp="1"/>
          </p:cNvSpPr>
          <p:nvPr/>
        </p:nvSpPr>
        <p:spPr>
          <a:xfrm xmlns:a="http://schemas.openxmlformats.org/drawingml/2006/main">
            <a:off x="5562600" y="3979545"/>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5" name="cell-3-2">
            <a:extLst xmlns:a="http://schemas.openxmlformats.org/drawingml/2006/main">
              <a:ext uri="{FF2B5EF4-FFF2-40B4-BE49-F238E27FC236}">
                <a16:creationId xmlns:a16="http://schemas.microsoft.com/office/drawing/2014/main" id="{AE741FCC-3BB7-4ECB-AE72-CAEDE0AC67E1}"/>
              </a:ext>
            </a:extLst>
          </p:cNvPr>
          <p:cNvSpPr>
            <a:spLocks xmlns:a="http://schemas.openxmlformats.org/drawingml/2006/main" noGrp="1"/>
          </p:cNvSpPr>
          <p:nvPr/>
        </p:nvSpPr>
        <p:spPr>
          <a:xfrm xmlns:a="http://schemas.openxmlformats.org/drawingml/2006/main">
            <a:off x="5676900" y="405574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Yes</a:t>
            </a:r>
          </a:p>
        </p:txBody>
      </p:sp>
      <p:sp>
        <p:nvSpPr>
          <p:cNvPr id="36" name="">
            <a:extLst xmlns:a="http://schemas.openxmlformats.org/drawingml/2006/main">
              <a:ext uri="{FF2B5EF4-FFF2-40B4-BE49-F238E27FC236}">
                <a16:creationId xmlns:a16="http://schemas.microsoft.com/office/drawing/2014/main" id="{B4F6B825-D883-46E1-9BF6-DD72FCB53B87}"/>
              </a:ext>
            </a:extLst>
          </p:cNvPr>
          <p:cNvSpPr>
            <a:spLocks xmlns:a="http://schemas.openxmlformats.org/drawingml/2006/main" noGrp="1"/>
          </p:cNvSpPr>
          <p:nvPr/>
        </p:nvSpPr>
        <p:spPr>
          <a:xfrm xmlns:a="http://schemas.openxmlformats.org/drawingml/2006/main">
            <a:off x="609600" y="451294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7" name="cell-4-0">
            <a:extLst xmlns:a="http://schemas.openxmlformats.org/drawingml/2006/main">
              <a:ext uri="{FF2B5EF4-FFF2-40B4-BE49-F238E27FC236}">
                <a16:creationId xmlns:a16="http://schemas.microsoft.com/office/drawing/2014/main" id="{88CE6B1A-D6E8-4293-B110-AEE3C85F30B4}"/>
              </a:ext>
            </a:extLst>
          </p:cNvPr>
          <p:cNvSpPr>
            <a:spLocks xmlns:a="http://schemas.openxmlformats.org/drawingml/2006/main" noGrp="1"/>
          </p:cNvSpPr>
          <p:nvPr/>
        </p:nvSpPr>
        <p:spPr>
          <a:xfrm xmlns:a="http://schemas.openxmlformats.org/drawingml/2006/main">
            <a:off x="723900" y="458914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5</a:t>
            </a:r>
          </a:p>
        </p:txBody>
      </p:sp>
      <p:sp>
        <p:nvSpPr>
          <p:cNvPr id="38" name="">
            <a:extLst xmlns:a="http://schemas.openxmlformats.org/drawingml/2006/main">
              <a:ext uri="{FF2B5EF4-FFF2-40B4-BE49-F238E27FC236}">
                <a16:creationId xmlns:a16="http://schemas.microsoft.com/office/drawing/2014/main" id="{74EC5A2D-8D15-424B-A4F2-5CF06703067E}"/>
              </a:ext>
            </a:extLst>
          </p:cNvPr>
          <p:cNvSpPr>
            <a:spLocks xmlns:a="http://schemas.openxmlformats.org/drawingml/2006/main" noGrp="1"/>
          </p:cNvSpPr>
          <p:nvPr/>
        </p:nvSpPr>
        <p:spPr>
          <a:xfrm xmlns:a="http://schemas.openxmlformats.org/drawingml/2006/main">
            <a:off x="3086100" y="451294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9" name="cell-4-1">
            <a:extLst xmlns:a="http://schemas.openxmlformats.org/drawingml/2006/main">
              <a:ext uri="{FF2B5EF4-FFF2-40B4-BE49-F238E27FC236}">
                <a16:creationId xmlns:a16="http://schemas.microsoft.com/office/drawing/2014/main" id="{171DEE63-9A88-4DEA-8B80-7CE921C3D94C}"/>
              </a:ext>
            </a:extLst>
          </p:cNvPr>
          <p:cNvSpPr>
            <a:spLocks xmlns:a="http://schemas.openxmlformats.org/drawingml/2006/main" noGrp="1"/>
          </p:cNvSpPr>
          <p:nvPr/>
        </p:nvSpPr>
        <p:spPr>
          <a:xfrm xmlns:a="http://schemas.openxmlformats.org/drawingml/2006/main">
            <a:off x="3200400" y="458914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20</a:t>
            </a:r>
          </a:p>
        </p:txBody>
      </p:sp>
      <p:sp>
        <p:nvSpPr>
          <p:cNvPr id="40" name="">
            <a:extLst xmlns:a="http://schemas.openxmlformats.org/drawingml/2006/main">
              <a:ext uri="{FF2B5EF4-FFF2-40B4-BE49-F238E27FC236}">
                <a16:creationId xmlns:a16="http://schemas.microsoft.com/office/drawing/2014/main" id="{E9BFBF64-294D-4606-8872-36A709ED1DA5}"/>
              </a:ext>
            </a:extLst>
          </p:cNvPr>
          <p:cNvSpPr>
            <a:spLocks xmlns:a="http://schemas.openxmlformats.org/drawingml/2006/main" noGrp="1"/>
          </p:cNvSpPr>
          <p:nvPr/>
        </p:nvSpPr>
        <p:spPr>
          <a:xfrm xmlns:a="http://schemas.openxmlformats.org/drawingml/2006/main">
            <a:off x="5562600" y="451294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41" name="cell-4-2">
            <a:extLst xmlns:a="http://schemas.openxmlformats.org/drawingml/2006/main">
              <a:ext uri="{FF2B5EF4-FFF2-40B4-BE49-F238E27FC236}">
                <a16:creationId xmlns:a16="http://schemas.microsoft.com/office/drawing/2014/main" id="{D14BD3A1-3778-4869-99D6-996CE8C8374C}"/>
              </a:ext>
            </a:extLst>
          </p:cNvPr>
          <p:cNvSpPr>
            <a:spLocks xmlns:a="http://schemas.openxmlformats.org/drawingml/2006/main" noGrp="1"/>
          </p:cNvSpPr>
          <p:nvPr/>
        </p:nvSpPr>
        <p:spPr>
          <a:xfrm xmlns:a="http://schemas.openxmlformats.org/drawingml/2006/main">
            <a:off x="5676900" y="458914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Yes</a:t>
            </a:r>
          </a:p>
        </p:txBody>
      </p:sp>
      <p:sp>
        <p:nvSpPr>
          <p:cNvPr id="42" name="">
            <a:extLst xmlns:a="http://schemas.openxmlformats.org/drawingml/2006/main">
              <a:ext uri="{FF2B5EF4-FFF2-40B4-BE49-F238E27FC236}">
                <a16:creationId xmlns:a16="http://schemas.microsoft.com/office/drawing/2014/main" id="{A1A6B297-3A13-43CF-9F52-DA8B1D62EBA9}"/>
              </a:ext>
            </a:extLst>
          </p:cNvPr>
          <p:cNvSpPr>
            <a:spLocks xmlns:a="http://schemas.openxmlformats.org/drawingml/2006/main" noGrp="1"/>
          </p:cNvSpPr>
          <p:nvPr/>
        </p:nvSpPr>
        <p:spPr>
          <a:xfrm xmlns:a="http://schemas.openxmlformats.org/drawingml/2006/main">
            <a:off x="609600" y="5046345"/>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3" name="cell-5-0">
            <a:extLst xmlns:a="http://schemas.openxmlformats.org/drawingml/2006/main">
              <a:ext uri="{FF2B5EF4-FFF2-40B4-BE49-F238E27FC236}">
                <a16:creationId xmlns:a16="http://schemas.microsoft.com/office/drawing/2014/main" id="{45A244FB-6E94-42E7-9693-7FDEE0710CB6}"/>
              </a:ext>
            </a:extLst>
          </p:cNvPr>
          <p:cNvSpPr>
            <a:spLocks xmlns:a="http://schemas.openxmlformats.org/drawingml/2006/main" noGrp="1"/>
          </p:cNvSpPr>
          <p:nvPr/>
        </p:nvSpPr>
        <p:spPr>
          <a:xfrm xmlns:a="http://schemas.openxmlformats.org/drawingml/2006/main">
            <a:off x="723900" y="512254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6</a:t>
            </a:r>
          </a:p>
        </p:txBody>
      </p:sp>
      <p:sp>
        <p:nvSpPr>
          <p:cNvPr id="44" name="">
            <a:extLst xmlns:a="http://schemas.openxmlformats.org/drawingml/2006/main">
              <a:ext uri="{FF2B5EF4-FFF2-40B4-BE49-F238E27FC236}">
                <a16:creationId xmlns:a16="http://schemas.microsoft.com/office/drawing/2014/main" id="{FC09BA9C-A83C-46E9-AE48-A98E244BC99D}"/>
              </a:ext>
            </a:extLst>
          </p:cNvPr>
          <p:cNvSpPr>
            <a:spLocks xmlns:a="http://schemas.openxmlformats.org/drawingml/2006/main" noGrp="1"/>
          </p:cNvSpPr>
          <p:nvPr/>
        </p:nvSpPr>
        <p:spPr>
          <a:xfrm xmlns:a="http://schemas.openxmlformats.org/drawingml/2006/main">
            <a:off x="3086100" y="5046345"/>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5" name="cell-5-1">
            <a:extLst xmlns:a="http://schemas.openxmlformats.org/drawingml/2006/main">
              <a:ext uri="{FF2B5EF4-FFF2-40B4-BE49-F238E27FC236}">
                <a16:creationId xmlns:a16="http://schemas.microsoft.com/office/drawing/2014/main" id="{9DCF9ED3-E9D3-4393-ACA0-79AAF02CADFC}"/>
              </a:ext>
            </a:extLst>
          </p:cNvPr>
          <p:cNvSpPr>
            <a:spLocks xmlns:a="http://schemas.openxmlformats.org/drawingml/2006/main" noGrp="1"/>
          </p:cNvSpPr>
          <p:nvPr/>
        </p:nvSpPr>
        <p:spPr>
          <a:xfrm xmlns:a="http://schemas.openxmlformats.org/drawingml/2006/main">
            <a:off x="3200400" y="512254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6</a:t>
            </a:r>
          </a:p>
        </p:txBody>
      </p:sp>
      <p:sp>
        <p:nvSpPr>
          <p:cNvPr id="46" name="">
            <a:extLst xmlns:a="http://schemas.openxmlformats.org/drawingml/2006/main">
              <a:ext uri="{FF2B5EF4-FFF2-40B4-BE49-F238E27FC236}">
                <a16:creationId xmlns:a16="http://schemas.microsoft.com/office/drawing/2014/main" id="{F746FCF7-7FD2-41AF-9C65-597F142F2444}"/>
              </a:ext>
            </a:extLst>
          </p:cNvPr>
          <p:cNvSpPr>
            <a:spLocks xmlns:a="http://schemas.openxmlformats.org/drawingml/2006/main" noGrp="1"/>
          </p:cNvSpPr>
          <p:nvPr/>
        </p:nvSpPr>
        <p:spPr>
          <a:xfrm xmlns:a="http://schemas.openxmlformats.org/drawingml/2006/main">
            <a:off x="5562600" y="5046345"/>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7" name="cell-5-2">
            <a:extLst xmlns:a="http://schemas.openxmlformats.org/drawingml/2006/main">
              <a:ext uri="{FF2B5EF4-FFF2-40B4-BE49-F238E27FC236}">
                <a16:creationId xmlns:a16="http://schemas.microsoft.com/office/drawing/2014/main" id="{FFA3830E-F3D6-4789-AFDB-5DAE473581F7}"/>
              </a:ext>
            </a:extLst>
          </p:cNvPr>
          <p:cNvSpPr>
            <a:spLocks xmlns:a="http://schemas.openxmlformats.org/drawingml/2006/main" noGrp="1"/>
          </p:cNvSpPr>
          <p:nvPr/>
        </p:nvSpPr>
        <p:spPr>
          <a:xfrm xmlns:a="http://schemas.openxmlformats.org/drawingml/2006/main">
            <a:off x="5676900" y="512254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Yes</a:t>
            </a:r>
          </a:p>
        </p:txBody>
      </p:sp>
      <p:sp>
        <p:nvSpPr>
          <p:cNvPr id="48" name="">
            <a:extLst xmlns:a="http://schemas.openxmlformats.org/drawingml/2006/main">
              <a:ext uri="{FF2B5EF4-FFF2-40B4-BE49-F238E27FC236}">
                <a16:creationId xmlns:a16="http://schemas.microsoft.com/office/drawing/2014/main" id="{E8BF9666-3435-4F95-AB44-9491A1FAE98A}"/>
              </a:ext>
            </a:extLst>
          </p:cNvPr>
          <p:cNvSpPr>
            <a:spLocks xmlns:a="http://schemas.openxmlformats.org/drawingml/2006/main" noGrp="1"/>
          </p:cNvSpPr>
          <p:nvPr/>
        </p:nvSpPr>
        <p:spPr>
          <a:xfrm xmlns:a="http://schemas.openxmlformats.org/drawingml/2006/main">
            <a:off x="609600" y="557974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49" name="cell-6-0">
            <a:extLst xmlns:a="http://schemas.openxmlformats.org/drawingml/2006/main">
              <a:ext uri="{FF2B5EF4-FFF2-40B4-BE49-F238E27FC236}">
                <a16:creationId xmlns:a16="http://schemas.microsoft.com/office/drawing/2014/main" id="{D3D06831-4343-4F01-B431-58E477FAEEAD}"/>
              </a:ext>
            </a:extLst>
          </p:cNvPr>
          <p:cNvSpPr>
            <a:spLocks xmlns:a="http://schemas.openxmlformats.org/drawingml/2006/main" noGrp="1"/>
          </p:cNvSpPr>
          <p:nvPr/>
        </p:nvSpPr>
        <p:spPr>
          <a:xfrm xmlns:a="http://schemas.openxmlformats.org/drawingml/2006/main">
            <a:off x="723900" y="565594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7</a:t>
            </a:r>
          </a:p>
        </p:txBody>
      </p:sp>
      <p:sp>
        <p:nvSpPr>
          <p:cNvPr id="50" name="">
            <a:extLst xmlns:a="http://schemas.openxmlformats.org/drawingml/2006/main">
              <a:ext uri="{FF2B5EF4-FFF2-40B4-BE49-F238E27FC236}">
                <a16:creationId xmlns:a16="http://schemas.microsoft.com/office/drawing/2014/main" id="{420CCCF9-6588-4C31-AAAE-AA431F26D33F}"/>
              </a:ext>
            </a:extLst>
          </p:cNvPr>
          <p:cNvSpPr>
            <a:spLocks xmlns:a="http://schemas.openxmlformats.org/drawingml/2006/main" noGrp="1"/>
          </p:cNvSpPr>
          <p:nvPr/>
        </p:nvSpPr>
        <p:spPr>
          <a:xfrm xmlns:a="http://schemas.openxmlformats.org/drawingml/2006/main">
            <a:off x="3086100" y="557974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51" name="cell-6-1">
            <a:extLst xmlns:a="http://schemas.openxmlformats.org/drawingml/2006/main">
              <a:ext uri="{FF2B5EF4-FFF2-40B4-BE49-F238E27FC236}">
                <a16:creationId xmlns:a16="http://schemas.microsoft.com/office/drawing/2014/main" id="{0B58A858-7BD2-441A-9B2E-A3194ECD321C}"/>
              </a:ext>
            </a:extLst>
          </p:cNvPr>
          <p:cNvSpPr>
            <a:spLocks xmlns:a="http://schemas.openxmlformats.org/drawingml/2006/main" noGrp="1"/>
          </p:cNvSpPr>
          <p:nvPr/>
        </p:nvSpPr>
        <p:spPr>
          <a:xfrm xmlns:a="http://schemas.openxmlformats.org/drawingml/2006/main">
            <a:off x="3200400" y="565594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15</a:t>
            </a:r>
          </a:p>
        </p:txBody>
      </p:sp>
      <p:sp>
        <p:nvSpPr>
          <p:cNvPr id="52" name="">
            <a:extLst xmlns:a="http://schemas.openxmlformats.org/drawingml/2006/main">
              <a:ext uri="{FF2B5EF4-FFF2-40B4-BE49-F238E27FC236}">
                <a16:creationId xmlns:a16="http://schemas.microsoft.com/office/drawing/2014/main" id="{8812D2B4-8EE5-4571-B330-8E304F6B4964}"/>
              </a:ext>
            </a:extLst>
          </p:cNvPr>
          <p:cNvSpPr>
            <a:spLocks xmlns:a="http://schemas.openxmlformats.org/drawingml/2006/main" noGrp="1"/>
          </p:cNvSpPr>
          <p:nvPr/>
        </p:nvSpPr>
        <p:spPr>
          <a:xfrm xmlns:a="http://schemas.openxmlformats.org/drawingml/2006/main">
            <a:off x="5562600" y="557974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53" name="cell-6-2">
            <a:extLst xmlns:a="http://schemas.openxmlformats.org/drawingml/2006/main">
              <a:ext uri="{FF2B5EF4-FFF2-40B4-BE49-F238E27FC236}">
                <a16:creationId xmlns:a16="http://schemas.microsoft.com/office/drawing/2014/main" id="{BD7BE69C-EFCF-47F9-A30F-4384E716E9A9}"/>
              </a:ext>
            </a:extLst>
          </p:cNvPr>
          <p:cNvSpPr>
            <a:spLocks xmlns:a="http://schemas.openxmlformats.org/drawingml/2006/main" noGrp="1"/>
          </p:cNvSpPr>
          <p:nvPr/>
        </p:nvSpPr>
        <p:spPr>
          <a:xfrm xmlns:a="http://schemas.openxmlformats.org/drawingml/2006/main">
            <a:off x="5676900" y="565594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Yes</a:t>
            </a:r>
          </a:p>
        </p:txBody>
      </p:sp>
      <p:sp>
        <p:nvSpPr>
          <p:cNvPr id="54" name="callout-label">
            <a:extLst xmlns:a="http://schemas.openxmlformats.org/drawingml/2006/main">
              <a:ext uri="{FF2B5EF4-FFF2-40B4-BE49-F238E27FC236}">
                <a16:creationId xmlns:a16="http://schemas.microsoft.com/office/drawing/2014/main" id="{F11DE233-A304-44B1-A779-DE4B0EF1EC46}"/>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55" name="callout">
            <a:extLst xmlns:a="http://schemas.openxmlformats.org/drawingml/2006/main">
              <a:ext uri="{FF2B5EF4-FFF2-40B4-BE49-F238E27FC236}">
                <a16:creationId xmlns:a16="http://schemas.microsoft.com/office/drawing/2014/main" id="{7D44AF52-2FF1-45CF-BBEB-AD2874B46D1E}"/>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All seven seeds reached the IDENTICAL true optimum eventually (verified) — but 'eventually' ranges from generation 4 to generation 20. A genetic algorithm does not guarantee a generation count, or even success, in general — it did here, reliably, with these exact parameters and seeds.</a:t>
            </a:r>
          </a:p>
        </p:txBody>
      </p:sp>
    </p:spTree>
    <p:extLst>
      <p:ext uri="{BB962C8B-B14F-4D97-AF65-F5344CB8AC3E}">
        <p14:creationId xmlns:p14="http://schemas.microsoft.com/office/powerpoint/2010/main" val="163304394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kicker">
            <a:extLst xmlns:a="http://schemas.openxmlformats.org/drawingml/2006/main">
              <a:ext uri="{FF2B5EF4-FFF2-40B4-BE49-F238E27FC236}">
                <a16:creationId xmlns:a16="http://schemas.microsoft.com/office/drawing/2014/main" id="{3A102942-1D4B-4129-A90B-04E4B32A278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30FCCD9E-057E-4EAD-86CC-ED0C83D8803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Method-by-method scoreboard, same problem</a:t>
            </a:r>
          </a:p>
        </p:txBody>
      </p:sp>
      <p:sp>
        <p:nvSpPr>
          <p:cNvPr id="3" name="">
            <a:extLst xmlns:a="http://schemas.openxmlformats.org/drawingml/2006/main">
              <a:ext uri="{FF2B5EF4-FFF2-40B4-BE49-F238E27FC236}">
                <a16:creationId xmlns:a16="http://schemas.microsoft.com/office/drawing/2014/main" id="{5EF367E5-2758-4963-9788-B3D8F7D1819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2A4772F-C277-428A-B4B4-21FC18B9B8A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BDFA1ECB-3CA6-4653-A41D-63C27B6A584F}"/>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38</a:t>
            </a:r>
          </a:p>
        </p:txBody>
      </p:sp>
      <p:sp>
        <p:nvSpPr>
          <p:cNvPr id="6" name="">
            <a:extLst xmlns:a="http://schemas.openxmlformats.org/drawingml/2006/main">
              <a:ext uri="{FF2B5EF4-FFF2-40B4-BE49-F238E27FC236}">
                <a16:creationId xmlns:a16="http://schemas.microsoft.com/office/drawing/2014/main" id="{3DC05829-5B0F-4CF7-BF72-9F3C8F9C2EAB}"/>
              </a:ext>
            </a:extLst>
          </p:cNvPr>
          <p:cNvSpPr>
            <a:spLocks xmlns:a="http://schemas.openxmlformats.org/drawingml/2006/main" noGrp="1"/>
          </p:cNvSpPr>
          <p:nvPr/>
        </p:nvSpPr>
        <p:spPr>
          <a:xfrm xmlns:a="http://schemas.openxmlformats.org/drawingml/2006/main">
            <a:off x="609600" y="235267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816E02AF-1D00-4CE0-A89C-DA57442618F2}"/>
              </a:ext>
            </a:extLst>
          </p:cNvPr>
          <p:cNvSpPr>
            <a:spLocks xmlns:a="http://schemas.openxmlformats.org/drawingml/2006/main" noGrp="1"/>
          </p:cNvSpPr>
          <p:nvPr/>
        </p:nvSpPr>
        <p:spPr>
          <a:xfrm xmlns:a="http://schemas.openxmlformats.org/drawingml/2006/main">
            <a:off x="723900" y="242887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method</a:t>
            </a:r>
          </a:p>
        </p:txBody>
      </p:sp>
      <p:sp>
        <p:nvSpPr>
          <p:cNvPr id="8" name="">
            <a:extLst xmlns:a="http://schemas.openxmlformats.org/drawingml/2006/main">
              <a:ext uri="{FF2B5EF4-FFF2-40B4-BE49-F238E27FC236}">
                <a16:creationId xmlns:a16="http://schemas.microsoft.com/office/drawing/2014/main" id="{0E35EDA3-8C8D-48A9-A6C2-BA39E5550AB8}"/>
              </a:ext>
            </a:extLst>
          </p:cNvPr>
          <p:cNvSpPr>
            <a:spLocks xmlns:a="http://schemas.openxmlformats.org/drawingml/2006/main" noGrp="1"/>
          </p:cNvSpPr>
          <p:nvPr/>
        </p:nvSpPr>
        <p:spPr>
          <a:xfrm xmlns:a="http://schemas.openxmlformats.org/drawingml/2006/main">
            <a:off x="2466975" y="235267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9609546E-78DA-4A31-8A22-C04C6F11F829}"/>
              </a:ext>
            </a:extLst>
          </p:cNvPr>
          <p:cNvSpPr>
            <a:spLocks xmlns:a="http://schemas.openxmlformats.org/drawingml/2006/main" noGrp="1"/>
          </p:cNvSpPr>
          <p:nvPr/>
        </p:nvSpPr>
        <p:spPr>
          <a:xfrm xmlns:a="http://schemas.openxmlformats.org/drawingml/2006/main">
            <a:off x="2581275" y="242887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best cost found</a:t>
            </a:r>
          </a:p>
        </p:txBody>
      </p:sp>
      <p:sp>
        <p:nvSpPr>
          <p:cNvPr id="10" name="">
            <a:extLst xmlns:a="http://schemas.openxmlformats.org/drawingml/2006/main">
              <a:ext uri="{FF2B5EF4-FFF2-40B4-BE49-F238E27FC236}">
                <a16:creationId xmlns:a16="http://schemas.microsoft.com/office/drawing/2014/main" id="{B510E488-AA60-44D5-903D-1FC97B18B55E}"/>
              </a:ext>
            </a:extLst>
          </p:cNvPr>
          <p:cNvSpPr>
            <a:spLocks xmlns:a="http://schemas.openxmlformats.org/drawingml/2006/main" noGrp="1"/>
          </p:cNvSpPr>
          <p:nvPr/>
        </p:nvSpPr>
        <p:spPr>
          <a:xfrm xmlns:a="http://schemas.openxmlformats.org/drawingml/2006/main">
            <a:off x="4324350" y="235267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A2D352D7-88C6-495E-98A4-892CF1D0B6AF}"/>
              </a:ext>
            </a:extLst>
          </p:cNvPr>
          <p:cNvSpPr>
            <a:spLocks xmlns:a="http://schemas.openxmlformats.org/drawingml/2006/main" noGrp="1"/>
          </p:cNvSpPr>
          <p:nvPr/>
        </p:nvSpPr>
        <p:spPr>
          <a:xfrm xmlns:a="http://schemas.openxmlformats.org/drawingml/2006/main">
            <a:off x="4438650" y="242887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individuals evaluated</a:t>
            </a:r>
          </a:p>
        </p:txBody>
      </p:sp>
      <p:sp>
        <p:nvSpPr>
          <p:cNvPr id="12" name="">
            <a:extLst xmlns:a="http://schemas.openxmlformats.org/drawingml/2006/main">
              <a:ext uri="{FF2B5EF4-FFF2-40B4-BE49-F238E27FC236}">
                <a16:creationId xmlns:a16="http://schemas.microsoft.com/office/drawing/2014/main" id="{6FBB2750-46D2-4428-9E75-1F9258B9EC17}"/>
              </a:ext>
            </a:extLst>
          </p:cNvPr>
          <p:cNvSpPr>
            <a:spLocks xmlns:a="http://schemas.openxmlformats.org/drawingml/2006/main" noGrp="1"/>
          </p:cNvSpPr>
          <p:nvPr/>
        </p:nvSpPr>
        <p:spPr>
          <a:xfrm xmlns:a="http://schemas.openxmlformats.org/drawingml/2006/main">
            <a:off x="6181725" y="235267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3" name="header-3">
            <a:extLst xmlns:a="http://schemas.openxmlformats.org/drawingml/2006/main">
              <a:ext uri="{FF2B5EF4-FFF2-40B4-BE49-F238E27FC236}">
                <a16:creationId xmlns:a16="http://schemas.microsoft.com/office/drawing/2014/main" id="{B08EC29C-7E46-4475-83A2-DD519CB852E4}"/>
              </a:ext>
            </a:extLst>
          </p:cNvPr>
          <p:cNvSpPr>
            <a:spLocks xmlns:a="http://schemas.openxmlformats.org/drawingml/2006/main" noGrp="1"/>
          </p:cNvSpPr>
          <p:nvPr/>
        </p:nvSpPr>
        <p:spPr>
          <a:xfrm xmlns:a="http://schemas.openxmlformats.org/drawingml/2006/main">
            <a:off x="6296025" y="242887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found the TRUE optimum?</a:t>
            </a:r>
          </a:p>
        </p:txBody>
      </p:sp>
      <p:sp>
        <p:nvSpPr>
          <p:cNvPr id="14" name="">
            <a:extLst xmlns:a="http://schemas.openxmlformats.org/drawingml/2006/main">
              <a:ext uri="{FF2B5EF4-FFF2-40B4-BE49-F238E27FC236}">
                <a16:creationId xmlns:a16="http://schemas.microsoft.com/office/drawing/2014/main" id="{FE6C87B3-71C1-4977-AF24-EC26C9C36BA6}"/>
              </a:ext>
            </a:extLst>
          </p:cNvPr>
          <p:cNvSpPr>
            <a:spLocks xmlns:a="http://schemas.openxmlformats.org/drawingml/2006/main" noGrp="1"/>
          </p:cNvSpPr>
          <p:nvPr/>
        </p:nvSpPr>
        <p:spPr>
          <a:xfrm xmlns:a="http://schemas.openxmlformats.org/drawingml/2006/main">
            <a:off x="609600" y="2893695"/>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0">
            <a:extLst xmlns:a="http://schemas.openxmlformats.org/drawingml/2006/main">
              <a:ext uri="{FF2B5EF4-FFF2-40B4-BE49-F238E27FC236}">
                <a16:creationId xmlns:a16="http://schemas.microsoft.com/office/drawing/2014/main" id="{87D11048-A1BA-441E-B784-F3E3DFEDA84F}"/>
              </a:ext>
            </a:extLst>
          </p:cNvPr>
          <p:cNvSpPr>
            <a:spLocks xmlns:a="http://schemas.openxmlformats.org/drawingml/2006/main" noGrp="1"/>
          </p:cNvSpPr>
          <p:nvPr/>
        </p:nvSpPr>
        <p:spPr>
          <a:xfrm xmlns:a="http://schemas.openxmlformats.org/drawingml/2006/main">
            <a:off x="723900" y="296989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Brute force (720 perms)</a:t>
            </a:r>
          </a:p>
        </p:txBody>
      </p:sp>
      <p:sp>
        <p:nvSpPr>
          <p:cNvPr id="16" name="">
            <a:extLst xmlns:a="http://schemas.openxmlformats.org/drawingml/2006/main">
              <a:ext uri="{FF2B5EF4-FFF2-40B4-BE49-F238E27FC236}">
                <a16:creationId xmlns:a16="http://schemas.microsoft.com/office/drawing/2014/main" id="{0F29C6CD-8EB8-47D0-A1BA-88CEA3F2876B}"/>
              </a:ext>
            </a:extLst>
          </p:cNvPr>
          <p:cNvSpPr>
            <a:spLocks xmlns:a="http://schemas.openxmlformats.org/drawingml/2006/main" noGrp="1"/>
          </p:cNvSpPr>
          <p:nvPr/>
        </p:nvSpPr>
        <p:spPr>
          <a:xfrm xmlns:a="http://schemas.openxmlformats.org/drawingml/2006/main">
            <a:off x="2466975" y="2893695"/>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1">
            <a:extLst xmlns:a="http://schemas.openxmlformats.org/drawingml/2006/main">
              <a:ext uri="{FF2B5EF4-FFF2-40B4-BE49-F238E27FC236}">
                <a16:creationId xmlns:a16="http://schemas.microsoft.com/office/drawing/2014/main" id="{BFDA1A18-3554-4949-849B-D33A9B5902AC}"/>
              </a:ext>
            </a:extLst>
          </p:cNvPr>
          <p:cNvSpPr>
            <a:spLocks xmlns:a="http://schemas.openxmlformats.org/drawingml/2006/main" noGrp="1"/>
          </p:cNvSpPr>
          <p:nvPr/>
        </p:nvSpPr>
        <p:spPr>
          <a:xfrm xmlns:a="http://schemas.openxmlformats.org/drawingml/2006/main">
            <a:off x="2581275" y="296989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0.0125</a:t>
            </a:r>
          </a:p>
        </p:txBody>
      </p:sp>
      <p:sp>
        <p:nvSpPr>
          <p:cNvPr id="18" name="">
            <a:extLst xmlns:a="http://schemas.openxmlformats.org/drawingml/2006/main">
              <a:ext uri="{FF2B5EF4-FFF2-40B4-BE49-F238E27FC236}">
                <a16:creationId xmlns:a16="http://schemas.microsoft.com/office/drawing/2014/main" id="{A1B0A562-2F98-48ED-9B3E-E632AE07FA60}"/>
              </a:ext>
            </a:extLst>
          </p:cNvPr>
          <p:cNvSpPr>
            <a:spLocks xmlns:a="http://schemas.openxmlformats.org/drawingml/2006/main" noGrp="1"/>
          </p:cNvSpPr>
          <p:nvPr/>
        </p:nvSpPr>
        <p:spPr>
          <a:xfrm xmlns:a="http://schemas.openxmlformats.org/drawingml/2006/main">
            <a:off x="4324350" y="2893695"/>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9" name="cell-0-2">
            <a:extLst xmlns:a="http://schemas.openxmlformats.org/drawingml/2006/main">
              <a:ext uri="{FF2B5EF4-FFF2-40B4-BE49-F238E27FC236}">
                <a16:creationId xmlns:a16="http://schemas.microsoft.com/office/drawing/2014/main" id="{3DDA00FD-92E6-47AB-AB7E-64B75042B3A4}"/>
              </a:ext>
            </a:extLst>
          </p:cNvPr>
          <p:cNvSpPr>
            <a:spLocks xmlns:a="http://schemas.openxmlformats.org/drawingml/2006/main" noGrp="1"/>
          </p:cNvSpPr>
          <p:nvPr/>
        </p:nvSpPr>
        <p:spPr>
          <a:xfrm xmlns:a="http://schemas.openxmlformats.org/drawingml/2006/main">
            <a:off x="4438650" y="296989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720</a:t>
            </a:r>
          </a:p>
        </p:txBody>
      </p:sp>
      <p:sp>
        <p:nvSpPr>
          <p:cNvPr id="20" name="">
            <a:extLst xmlns:a="http://schemas.openxmlformats.org/drawingml/2006/main">
              <a:ext uri="{FF2B5EF4-FFF2-40B4-BE49-F238E27FC236}">
                <a16:creationId xmlns:a16="http://schemas.microsoft.com/office/drawing/2014/main" id="{F72AC6CD-899C-4BFA-A075-934979A50BD1}"/>
              </a:ext>
            </a:extLst>
          </p:cNvPr>
          <p:cNvSpPr>
            <a:spLocks xmlns:a="http://schemas.openxmlformats.org/drawingml/2006/main" noGrp="1"/>
          </p:cNvSpPr>
          <p:nvPr/>
        </p:nvSpPr>
        <p:spPr>
          <a:xfrm xmlns:a="http://schemas.openxmlformats.org/drawingml/2006/main">
            <a:off x="6181725" y="2893695"/>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1" name="cell-0-3">
            <a:extLst xmlns:a="http://schemas.openxmlformats.org/drawingml/2006/main">
              <a:ext uri="{FF2B5EF4-FFF2-40B4-BE49-F238E27FC236}">
                <a16:creationId xmlns:a16="http://schemas.microsoft.com/office/drawing/2014/main" id="{418B01DE-7260-4B2A-A123-E4C1FF69C30B}"/>
              </a:ext>
            </a:extLst>
          </p:cNvPr>
          <p:cNvSpPr>
            <a:spLocks xmlns:a="http://schemas.openxmlformats.org/drawingml/2006/main" noGrp="1"/>
          </p:cNvSpPr>
          <p:nvPr/>
        </p:nvSpPr>
        <p:spPr>
          <a:xfrm xmlns:a="http://schemas.openxmlformats.org/drawingml/2006/main">
            <a:off x="6296025" y="296989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Yes — guaranteed</a:t>
            </a:r>
          </a:p>
        </p:txBody>
      </p:sp>
      <p:sp>
        <p:nvSpPr>
          <p:cNvPr id="22" name="">
            <a:extLst xmlns:a="http://schemas.openxmlformats.org/drawingml/2006/main">
              <a:ext uri="{FF2B5EF4-FFF2-40B4-BE49-F238E27FC236}">
                <a16:creationId xmlns:a16="http://schemas.microsoft.com/office/drawing/2014/main" id="{4B84FE2B-7ECC-49EB-B6E1-296D2CDEE11B}"/>
              </a:ext>
            </a:extLst>
          </p:cNvPr>
          <p:cNvSpPr>
            <a:spLocks xmlns:a="http://schemas.openxmlformats.org/drawingml/2006/main" noGrp="1"/>
          </p:cNvSpPr>
          <p:nvPr/>
        </p:nvSpPr>
        <p:spPr>
          <a:xfrm xmlns:a="http://schemas.openxmlformats.org/drawingml/2006/main">
            <a:off x="609600" y="3434715"/>
            <a:ext cx="1857375"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0">
            <a:extLst xmlns:a="http://schemas.openxmlformats.org/drawingml/2006/main">
              <a:ext uri="{FF2B5EF4-FFF2-40B4-BE49-F238E27FC236}">
                <a16:creationId xmlns:a16="http://schemas.microsoft.com/office/drawing/2014/main" id="{BEAA1B2A-6E02-46F7-A998-40A4F7910959}"/>
              </a:ext>
            </a:extLst>
          </p:cNvPr>
          <p:cNvSpPr>
            <a:spLocks xmlns:a="http://schemas.openxmlformats.org/drawingml/2006/main" noGrp="1"/>
          </p:cNvSpPr>
          <p:nvPr/>
        </p:nvSpPr>
        <p:spPr>
          <a:xfrm xmlns:a="http://schemas.openxmlformats.org/drawingml/2006/main">
            <a:off x="723900" y="351091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Random search (30 draws)</a:t>
            </a:r>
          </a:p>
        </p:txBody>
      </p:sp>
      <p:sp>
        <p:nvSpPr>
          <p:cNvPr id="24" name="">
            <a:extLst xmlns:a="http://schemas.openxmlformats.org/drawingml/2006/main">
              <a:ext uri="{FF2B5EF4-FFF2-40B4-BE49-F238E27FC236}">
                <a16:creationId xmlns:a16="http://schemas.microsoft.com/office/drawing/2014/main" id="{FFC2B80F-A95F-4646-8E3E-C5AFE20D0805}"/>
              </a:ext>
            </a:extLst>
          </p:cNvPr>
          <p:cNvSpPr>
            <a:spLocks xmlns:a="http://schemas.openxmlformats.org/drawingml/2006/main" noGrp="1"/>
          </p:cNvSpPr>
          <p:nvPr/>
        </p:nvSpPr>
        <p:spPr>
          <a:xfrm xmlns:a="http://schemas.openxmlformats.org/drawingml/2006/main">
            <a:off x="2466975" y="3434715"/>
            <a:ext cx="1857375"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5" name="cell-1-1">
            <a:extLst xmlns:a="http://schemas.openxmlformats.org/drawingml/2006/main">
              <a:ext uri="{FF2B5EF4-FFF2-40B4-BE49-F238E27FC236}">
                <a16:creationId xmlns:a16="http://schemas.microsoft.com/office/drawing/2014/main" id="{E26E00F5-AEFF-4A4C-8702-4E6876447E23}"/>
              </a:ext>
            </a:extLst>
          </p:cNvPr>
          <p:cNvSpPr>
            <a:spLocks xmlns:a="http://schemas.openxmlformats.org/drawingml/2006/main" noGrp="1"/>
          </p:cNvSpPr>
          <p:nvPr/>
        </p:nvSpPr>
        <p:spPr>
          <a:xfrm xmlns:a="http://schemas.openxmlformats.org/drawingml/2006/main">
            <a:off x="2581275" y="351091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0.0425</a:t>
            </a:r>
          </a:p>
        </p:txBody>
      </p:sp>
      <p:sp>
        <p:nvSpPr>
          <p:cNvPr id="26" name="">
            <a:extLst xmlns:a="http://schemas.openxmlformats.org/drawingml/2006/main">
              <a:ext uri="{FF2B5EF4-FFF2-40B4-BE49-F238E27FC236}">
                <a16:creationId xmlns:a16="http://schemas.microsoft.com/office/drawing/2014/main" id="{AE50EAE5-4875-4BB6-9C44-82BA0B0A5B65}"/>
              </a:ext>
            </a:extLst>
          </p:cNvPr>
          <p:cNvSpPr>
            <a:spLocks xmlns:a="http://schemas.openxmlformats.org/drawingml/2006/main" noGrp="1"/>
          </p:cNvSpPr>
          <p:nvPr/>
        </p:nvSpPr>
        <p:spPr>
          <a:xfrm xmlns:a="http://schemas.openxmlformats.org/drawingml/2006/main">
            <a:off x="4324350" y="3434715"/>
            <a:ext cx="1857375"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7" name="cell-1-2">
            <a:extLst xmlns:a="http://schemas.openxmlformats.org/drawingml/2006/main">
              <a:ext uri="{FF2B5EF4-FFF2-40B4-BE49-F238E27FC236}">
                <a16:creationId xmlns:a16="http://schemas.microsoft.com/office/drawing/2014/main" id="{41BFD4BB-60CE-423E-AB1B-9CCCE6B3FD51}"/>
              </a:ext>
            </a:extLst>
          </p:cNvPr>
          <p:cNvSpPr>
            <a:spLocks xmlns:a="http://schemas.openxmlformats.org/drawingml/2006/main" noGrp="1"/>
          </p:cNvSpPr>
          <p:nvPr/>
        </p:nvSpPr>
        <p:spPr>
          <a:xfrm xmlns:a="http://schemas.openxmlformats.org/drawingml/2006/main">
            <a:off x="4438650" y="351091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30</a:t>
            </a:r>
          </a:p>
        </p:txBody>
      </p:sp>
      <p:sp>
        <p:nvSpPr>
          <p:cNvPr id="28" name="">
            <a:extLst xmlns:a="http://schemas.openxmlformats.org/drawingml/2006/main">
              <a:ext uri="{FF2B5EF4-FFF2-40B4-BE49-F238E27FC236}">
                <a16:creationId xmlns:a16="http://schemas.microsoft.com/office/drawing/2014/main" id="{92E8C7B5-54DA-43E0-8D32-F0B8495A3209}"/>
              </a:ext>
            </a:extLst>
          </p:cNvPr>
          <p:cNvSpPr>
            <a:spLocks xmlns:a="http://schemas.openxmlformats.org/drawingml/2006/main" noGrp="1"/>
          </p:cNvSpPr>
          <p:nvPr/>
        </p:nvSpPr>
        <p:spPr>
          <a:xfrm xmlns:a="http://schemas.openxmlformats.org/drawingml/2006/main">
            <a:off x="6181725" y="3434715"/>
            <a:ext cx="1857375"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9" name="cell-1-3">
            <a:extLst xmlns:a="http://schemas.openxmlformats.org/drawingml/2006/main">
              <a:ext uri="{FF2B5EF4-FFF2-40B4-BE49-F238E27FC236}">
                <a16:creationId xmlns:a16="http://schemas.microsoft.com/office/drawing/2014/main" id="{74AF1A1C-2804-4239-9A46-9CA25DEBE5C2}"/>
              </a:ext>
            </a:extLst>
          </p:cNvPr>
          <p:cNvSpPr>
            <a:spLocks xmlns:a="http://schemas.openxmlformats.org/drawingml/2006/main" noGrp="1"/>
          </p:cNvSpPr>
          <p:nvPr/>
        </p:nvSpPr>
        <p:spPr>
          <a:xfrm xmlns:a="http://schemas.openxmlformats.org/drawingml/2006/main">
            <a:off x="6296025" y="351091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No</a:t>
            </a:r>
          </a:p>
        </p:txBody>
      </p:sp>
      <p:sp>
        <p:nvSpPr>
          <p:cNvPr id="30" name="">
            <a:extLst xmlns:a="http://schemas.openxmlformats.org/drawingml/2006/main">
              <a:ext uri="{FF2B5EF4-FFF2-40B4-BE49-F238E27FC236}">
                <a16:creationId xmlns:a16="http://schemas.microsoft.com/office/drawing/2014/main" id="{8E399238-9AFC-42F0-9A17-EB54F3D7E923}"/>
              </a:ext>
            </a:extLst>
          </p:cNvPr>
          <p:cNvSpPr>
            <a:spLocks xmlns:a="http://schemas.openxmlformats.org/drawingml/2006/main" noGrp="1"/>
          </p:cNvSpPr>
          <p:nvPr/>
        </p:nvSpPr>
        <p:spPr>
          <a:xfrm xmlns:a="http://schemas.openxmlformats.org/drawingml/2006/main">
            <a:off x="609600" y="3975735"/>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1" name="cell-2-0">
            <a:extLst xmlns:a="http://schemas.openxmlformats.org/drawingml/2006/main">
              <a:ext uri="{FF2B5EF4-FFF2-40B4-BE49-F238E27FC236}">
                <a16:creationId xmlns:a16="http://schemas.microsoft.com/office/drawing/2014/main" id="{6DEFEF03-A60B-44BD-A837-590C98151C93}"/>
              </a:ext>
            </a:extLst>
          </p:cNvPr>
          <p:cNvSpPr>
            <a:spLocks xmlns:a="http://schemas.openxmlformats.org/drawingml/2006/main" noGrp="1"/>
          </p:cNvSpPr>
          <p:nvPr/>
        </p:nvSpPr>
        <p:spPr>
          <a:xfrm xmlns:a="http://schemas.openxmlformats.org/drawingml/2006/main">
            <a:off x="723900" y="405193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Hill climbing (1 run)</a:t>
            </a:r>
          </a:p>
        </p:txBody>
      </p:sp>
      <p:sp>
        <p:nvSpPr>
          <p:cNvPr id="32" name="">
            <a:extLst xmlns:a="http://schemas.openxmlformats.org/drawingml/2006/main">
              <a:ext uri="{FF2B5EF4-FFF2-40B4-BE49-F238E27FC236}">
                <a16:creationId xmlns:a16="http://schemas.microsoft.com/office/drawing/2014/main" id="{2D55EC64-5C78-451B-A6EA-1FCF1687B749}"/>
              </a:ext>
            </a:extLst>
          </p:cNvPr>
          <p:cNvSpPr>
            <a:spLocks xmlns:a="http://schemas.openxmlformats.org/drawingml/2006/main" noGrp="1"/>
          </p:cNvSpPr>
          <p:nvPr/>
        </p:nvSpPr>
        <p:spPr>
          <a:xfrm xmlns:a="http://schemas.openxmlformats.org/drawingml/2006/main">
            <a:off x="2466975" y="3975735"/>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3" name="cell-2-1">
            <a:extLst xmlns:a="http://schemas.openxmlformats.org/drawingml/2006/main">
              <a:ext uri="{FF2B5EF4-FFF2-40B4-BE49-F238E27FC236}">
                <a16:creationId xmlns:a16="http://schemas.microsoft.com/office/drawing/2014/main" id="{8444F3C9-C7AB-461D-B9E1-CAF53428F708}"/>
              </a:ext>
            </a:extLst>
          </p:cNvPr>
          <p:cNvSpPr>
            <a:spLocks xmlns:a="http://schemas.openxmlformats.org/drawingml/2006/main" noGrp="1"/>
          </p:cNvSpPr>
          <p:nvPr/>
        </p:nvSpPr>
        <p:spPr>
          <a:xfrm xmlns:a="http://schemas.openxmlformats.org/drawingml/2006/main">
            <a:off x="2581275" y="405193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0.0925</a:t>
            </a:r>
          </a:p>
        </p:txBody>
      </p:sp>
      <p:sp>
        <p:nvSpPr>
          <p:cNvPr id="34" name="">
            <a:extLst xmlns:a="http://schemas.openxmlformats.org/drawingml/2006/main">
              <a:ext uri="{FF2B5EF4-FFF2-40B4-BE49-F238E27FC236}">
                <a16:creationId xmlns:a16="http://schemas.microsoft.com/office/drawing/2014/main" id="{03DC7640-821B-4FA2-8BFC-41004F3E150D}"/>
              </a:ext>
            </a:extLst>
          </p:cNvPr>
          <p:cNvSpPr>
            <a:spLocks xmlns:a="http://schemas.openxmlformats.org/drawingml/2006/main" noGrp="1"/>
          </p:cNvSpPr>
          <p:nvPr/>
        </p:nvSpPr>
        <p:spPr>
          <a:xfrm xmlns:a="http://schemas.openxmlformats.org/drawingml/2006/main">
            <a:off x="4324350" y="3975735"/>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5" name="cell-2-2">
            <a:extLst xmlns:a="http://schemas.openxmlformats.org/drawingml/2006/main">
              <a:ext uri="{FF2B5EF4-FFF2-40B4-BE49-F238E27FC236}">
                <a16:creationId xmlns:a16="http://schemas.microsoft.com/office/drawing/2014/main" id="{4F361396-8991-4F39-B314-F125B0299ABD}"/>
              </a:ext>
            </a:extLst>
          </p:cNvPr>
          <p:cNvSpPr>
            <a:spLocks xmlns:a="http://schemas.openxmlformats.org/drawingml/2006/main" noGrp="1"/>
          </p:cNvSpPr>
          <p:nvPr/>
        </p:nvSpPr>
        <p:spPr>
          <a:xfrm xmlns:a="http://schemas.openxmlformats.org/drawingml/2006/main">
            <a:off x="4438650" y="405193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21</a:t>
            </a:r>
          </a:p>
        </p:txBody>
      </p:sp>
      <p:sp>
        <p:nvSpPr>
          <p:cNvPr id="36" name="">
            <a:extLst xmlns:a="http://schemas.openxmlformats.org/drawingml/2006/main">
              <a:ext uri="{FF2B5EF4-FFF2-40B4-BE49-F238E27FC236}">
                <a16:creationId xmlns:a16="http://schemas.microsoft.com/office/drawing/2014/main" id="{6FD35356-CC4E-49D8-8B97-6A6B672CB112}"/>
              </a:ext>
            </a:extLst>
          </p:cNvPr>
          <p:cNvSpPr>
            <a:spLocks xmlns:a="http://schemas.openxmlformats.org/drawingml/2006/main" noGrp="1"/>
          </p:cNvSpPr>
          <p:nvPr/>
        </p:nvSpPr>
        <p:spPr>
          <a:xfrm xmlns:a="http://schemas.openxmlformats.org/drawingml/2006/main">
            <a:off x="6181725" y="3975735"/>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7" name="cell-2-3">
            <a:extLst xmlns:a="http://schemas.openxmlformats.org/drawingml/2006/main">
              <a:ext uri="{FF2B5EF4-FFF2-40B4-BE49-F238E27FC236}">
                <a16:creationId xmlns:a16="http://schemas.microsoft.com/office/drawing/2014/main" id="{475D976E-569E-4279-9871-95BB25CF4140}"/>
              </a:ext>
            </a:extLst>
          </p:cNvPr>
          <p:cNvSpPr>
            <a:spLocks xmlns:a="http://schemas.openxmlformats.org/drawingml/2006/main" noGrp="1"/>
          </p:cNvSpPr>
          <p:nvPr/>
        </p:nvSpPr>
        <p:spPr>
          <a:xfrm xmlns:a="http://schemas.openxmlformats.org/drawingml/2006/main">
            <a:off x="6296025" y="405193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No</a:t>
            </a:r>
          </a:p>
        </p:txBody>
      </p:sp>
      <p:sp>
        <p:nvSpPr>
          <p:cNvPr id="38" name="">
            <a:extLst xmlns:a="http://schemas.openxmlformats.org/drawingml/2006/main">
              <a:ext uri="{FF2B5EF4-FFF2-40B4-BE49-F238E27FC236}">
                <a16:creationId xmlns:a16="http://schemas.microsoft.com/office/drawing/2014/main" id="{E3F571A2-B140-473F-A531-B2CE13FF800B}"/>
              </a:ext>
            </a:extLst>
          </p:cNvPr>
          <p:cNvSpPr>
            <a:spLocks xmlns:a="http://schemas.openxmlformats.org/drawingml/2006/main" noGrp="1"/>
          </p:cNvSpPr>
          <p:nvPr/>
        </p:nvSpPr>
        <p:spPr>
          <a:xfrm xmlns:a="http://schemas.openxmlformats.org/drawingml/2006/main">
            <a:off x="609600" y="4516755"/>
            <a:ext cx="1857375"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9" name="cell-3-0">
            <a:extLst xmlns:a="http://schemas.openxmlformats.org/drawingml/2006/main">
              <a:ext uri="{FF2B5EF4-FFF2-40B4-BE49-F238E27FC236}">
                <a16:creationId xmlns:a16="http://schemas.microsoft.com/office/drawing/2014/main" id="{9082676A-BFFD-4024-A0CD-F096964C684E}"/>
              </a:ext>
            </a:extLst>
          </p:cNvPr>
          <p:cNvSpPr>
            <a:spLocks xmlns:a="http://schemas.openxmlformats.org/drawingml/2006/main" noGrp="1"/>
          </p:cNvSpPr>
          <p:nvPr/>
        </p:nvSpPr>
        <p:spPr>
          <a:xfrm xmlns:a="http://schemas.openxmlformats.org/drawingml/2006/main">
            <a:off x="723900" y="459295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Hill climbing (5 restarts)</a:t>
            </a:r>
          </a:p>
        </p:txBody>
      </p:sp>
      <p:sp>
        <p:nvSpPr>
          <p:cNvPr id="40" name="">
            <a:extLst xmlns:a="http://schemas.openxmlformats.org/drawingml/2006/main">
              <a:ext uri="{FF2B5EF4-FFF2-40B4-BE49-F238E27FC236}">
                <a16:creationId xmlns:a16="http://schemas.microsoft.com/office/drawing/2014/main" id="{6D027555-83D0-4874-A7B1-896B5DEE047B}"/>
              </a:ext>
            </a:extLst>
          </p:cNvPr>
          <p:cNvSpPr>
            <a:spLocks xmlns:a="http://schemas.openxmlformats.org/drawingml/2006/main" noGrp="1"/>
          </p:cNvSpPr>
          <p:nvPr/>
        </p:nvSpPr>
        <p:spPr>
          <a:xfrm xmlns:a="http://schemas.openxmlformats.org/drawingml/2006/main">
            <a:off x="2466975" y="4516755"/>
            <a:ext cx="1857375"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1" name="cell-3-1">
            <a:extLst xmlns:a="http://schemas.openxmlformats.org/drawingml/2006/main">
              <a:ext uri="{FF2B5EF4-FFF2-40B4-BE49-F238E27FC236}">
                <a16:creationId xmlns:a16="http://schemas.microsoft.com/office/drawing/2014/main" id="{4C4449B6-6A37-4925-A9DB-5D0F5F3D1ECD}"/>
              </a:ext>
            </a:extLst>
          </p:cNvPr>
          <p:cNvSpPr>
            <a:spLocks xmlns:a="http://schemas.openxmlformats.org/drawingml/2006/main" noGrp="1"/>
          </p:cNvSpPr>
          <p:nvPr/>
        </p:nvSpPr>
        <p:spPr>
          <a:xfrm xmlns:a="http://schemas.openxmlformats.org/drawingml/2006/main">
            <a:off x="2581275" y="459295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0.0225</a:t>
            </a:r>
          </a:p>
        </p:txBody>
      </p:sp>
      <p:sp>
        <p:nvSpPr>
          <p:cNvPr id="42" name="">
            <a:extLst xmlns:a="http://schemas.openxmlformats.org/drawingml/2006/main">
              <a:ext uri="{FF2B5EF4-FFF2-40B4-BE49-F238E27FC236}">
                <a16:creationId xmlns:a16="http://schemas.microsoft.com/office/drawing/2014/main" id="{169FB661-4C21-4678-9F8E-A848A132B994}"/>
              </a:ext>
            </a:extLst>
          </p:cNvPr>
          <p:cNvSpPr>
            <a:spLocks xmlns:a="http://schemas.openxmlformats.org/drawingml/2006/main" noGrp="1"/>
          </p:cNvSpPr>
          <p:nvPr/>
        </p:nvSpPr>
        <p:spPr>
          <a:xfrm xmlns:a="http://schemas.openxmlformats.org/drawingml/2006/main">
            <a:off x="4324350" y="4516755"/>
            <a:ext cx="1857375"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3" name="cell-3-2">
            <a:extLst xmlns:a="http://schemas.openxmlformats.org/drawingml/2006/main">
              <a:ext uri="{FF2B5EF4-FFF2-40B4-BE49-F238E27FC236}">
                <a16:creationId xmlns:a16="http://schemas.microsoft.com/office/drawing/2014/main" id="{DADB8504-E66C-43FD-88B3-F7D29694D26E}"/>
              </a:ext>
            </a:extLst>
          </p:cNvPr>
          <p:cNvSpPr>
            <a:spLocks xmlns:a="http://schemas.openxmlformats.org/drawingml/2006/main" noGrp="1"/>
          </p:cNvSpPr>
          <p:nvPr/>
        </p:nvSpPr>
        <p:spPr>
          <a:xfrm xmlns:a="http://schemas.openxmlformats.org/drawingml/2006/main">
            <a:off x="4438650" y="459295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125</a:t>
            </a:r>
          </a:p>
        </p:txBody>
      </p:sp>
      <p:sp>
        <p:nvSpPr>
          <p:cNvPr id="44" name="">
            <a:extLst xmlns:a="http://schemas.openxmlformats.org/drawingml/2006/main">
              <a:ext uri="{FF2B5EF4-FFF2-40B4-BE49-F238E27FC236}">
                <a16:creationId xmlns:a16="http://schemas.microsoft.com/office/drawing/2014/main" id="{B0A3B11A-6539-4695-B608-64C157EF5099}"/>
              </a:ext>
            </a:extLst>
          </p:cNvPr>
          <p:cNvSpPr>
            <a:spLocks xmlns:a="http://schemas.openxmlformats.org/drawingml/2006/main" noGrp="1"/>
          </p:cNvSpPr>
          <p:nvPr/>
        </p:nvSpPr>
        <p:spPr>
          <a:xfrm xmlns:a="http://schemas.openxmlformats.org/drawingml/2006/main">
            <a:off x="6181725" y="4516755"/>
            <a:ext cx="1857375"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5" name="cell-3-3">
            <a:extLst xmlns:a="http://schemas.openxmlformats.org/drawingml/2006/main">
              <a:ext uri="{FF2B5EF4-FFF2-40B4-BE49-F238E27FC236}">
                <a16:creationId xmlns:a16="http://schemas.microsoft.com/office/drawing/2014/main" id="{FDB2755A-75C5-4B98-987F-49270EAD35A5}"/>
              </a:ext>
            </a:extLst>
          </p:cNvPr>
          <p:cNvSpPr>
            <a:spLocks xmlns:a="http://schemas.openxmlformats.org/drawingml/2006/main" noGrp="1"/>
          </p:cNvSpPr>
          <p:nvPr/>
        </p:nvSpPr>
        <p:spPr>
          <a:xfrm xmlns:a="http://schemas.openxmlformats.org/drawingml/2006/main">
            <a:off x="6296025" y="459295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No</a:t>
            </a:r>
          </a:p>
        </p:txBody>
      </p:sp>
      <p:sp>
        <p:nvSpPr>
          <p:cNvPr id="46" name="">
            <a:extLst xmlns:a="http://schemas.openxmlformats.org/drawingml/2006/main">
              <a:ext uri="{FF2B5EF4-FFF2-40B4-BE49-F238E27FC236}">
                <a16:creationId xmlns:a16="http://schemas.microsoft.com/office/drawing/2014/main" id="{49EAD2CE-269D-4BAB-995B-1DEE4FF3B8C5}"/>
              </a:ext>
            </a:extLst>
          </p:cNvPr>
          <p:cNvSpPr>
            <a:spLocks xmlns:a="http://schemas.openxmlformats.org/drawingml/2006/main" noGrp="1"/>
          </p:cNvSpPr>
          <p:nvPr/>
        </p:nvSpPr>
        <p:spPr>
          <a:xfrm xmlns:a="http://schemas.openxmlformats.org/drawingml/2006/main">
            <a:off x="609600" y="5057775"/>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47" name="cell-4-0">
            <a:extLst xmlns:a="http://schemas.openxmlformats.org/drawingml/2006/main">
              <a:ext uri="{FF2B5EF4-FFF2-40B4-BE49-F238E27FC236}">
                <a16:creationId xmlns:a16="http://schemas.microsoft.com/office/drawing/2014/main" id="{14F643ED-E9B4-4B6B-A33B-4E84C060763C}"/>
              </a:ext>
            </a:extLst>
          </p:cNvPr>
          <p:cNvSpPr>
            <a:spLocks xmlns:a="http://schemas.openxmlformats.org/drawingml/2006/main" noGrp="1"/>
          </p:cNvSpPr>
          <p:nvPr/>
        </p:nvSpPr>
        <p:spPr>
          <a:xfrm xmlns:a="http://schemas.openxmlformats.org/drawingml/2006/main">
            <a:off x="723900" y="513397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Genetic algorithm (seed=1)</a:t>
            </a:r>
          </a:p>
        </p:txBody>
      </p:sp>
      <p:sp>
        <p:nvSpPr>
          <p:cNvPr id="48" name="">
            <a:extLst xmlns:a="http://schemas.openxmlformats.org/drawingml/2006/main">
              <a:ext uri="{FF2B5EF4-FFF2-40B4-BE49-F238E27FC236}">
                <a16:creationId xmlns:a16="http://schemas.microsoft.com/office/drawing/2014/main" id="{21635670-CB62-460B-9EB6-BB7B403ABE76}"/>
              </a:ext>
            </a:extLst>
          </p:cNvPr>
          <p:cNvSpPr>
            <a:spLocks xmlns:a="http://schemas.openxmlformats.org/drawingml/2006/main" noGrp="1"/>
          </p:cNvSpPr>
          <p:nvPr/>
        </p:nvSpPr>
        <p:spPr>
          <a:xfrm xmlns:a="http://schemas.openxmlformats.org/drawingml/2006/main">
            <a:off x="2466975" y="5057775"/>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49" name="cell-4-1">
            <a:extLst xmlns:a="http://schemas.openxmlformats.org/drawingml/2006/main">
              <a:ext uri="{FF2B5EF4-FFF2-40B4-BE49-F238E27FC236}">
                <a16:creationId xmlns:a16="http://schemas.microsoft.com/office/drawing/2014/main" id="{CB932FDB-ADB7-4CDA-B7B1-1862D8069C78}"/>
              </a:ext>
            </a:extLst>
          </p:cNvPr>
          <p:cNvSpPr>
            <a:spLocks xmlns:a="http://schemas.openxmlformats.org/drawingml/2006/main" noGrp="1"/>
          </p:cNvSpPr>
          <p:nvPr/>
        </p:nvSpPr>
        <p:spPr>
          <a:xfrm xmlns:a="http://schemas.openxmlformats.org/drawingml/2006/main">
            <a:off x="2581275" y="513397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0.0125</a:t>
            </a:r>
          </a:p>
        </p:txBody>
      </p:sp>
      <p:sp>
        <p:nvSpPr>
          <p:cNvPr id="50" name="">
            <a:extLst xmlns:a="http://schemas.openxmlformats.org/drawingml/2006/main">
              <a:ext uri="{FF2B5EF4-FFF2-40B4-BE49-F238E27FC236}">
                <a16:creationId xmlns:a16="http://schemas.microsoft.com/office/drawing/2014/main" id="{01138D63-42E4-409B-97ED-AF4A7BE59192}"/>
              </a:ext>
            </a:extLst>
          </p:cNvPr>
          <p:cNvSpPr>
            <a:spLocks xmlns:a="http://schemas.openxmlformats.org/drawingml/2006/main" noGrp="1"/>
          </p:cNvSpPr>
          <p:nvPr/>
        </p:nvSpPr>
        <p:spPr>
          <a:xfrm xmlns:a="http://schemas.openxmlformats.org/drawingml/2006/main">
            <a:off x="4324350" y="5057775"/>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51" name="cell-4-2">
            <a:extLst xmlns:a="http://schemas.openxmlformats.org/drawingml/2006/main">
              <a:ext uri="{FF2B5EF4-FFF2-40B4-BE49-F238E27FC236}">
                <a16:creationId xmlns:a16="http://schemas.microsoft.com/office/drawing/2014/main" id="{F6B9CA1B-2837-4C3B-B9A1-D42CA7AE90B0}"/>
              </a:ext>
            </a:extLst>
          </p:cNvPr>
          <p:cNvSpPr>
            <a:spLocks xmlns:a="http://schemas.openxmlformats.org/drawingml/2006/main" noGrp="1"/>
          </p:cNvSpPr>
          <p:nvPr/>
        </p:nvSpPr>
        <p:spPr>
          <a:xfrm xmlns:a="http://schemas.openxmlformats.org/drawingml/2006/main">
            <a:off x="4438650" y="513397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75</a:t>
            </a:r>
          </a:p>
        </p:txBody>
      </p:sp>
      <p:sp>
        <p:nvSpPr>
          <p:cNvPr id="52" name="">
            <a:extLst xmlns:a="http://schemas.openxmlformats.org/drawingml/2006/main">
              <a:ext uri="{FF2B5EF4-FFF2-40B4-BE49-F238E27FC236}">
                <a16:creationId xmlns:a16="http://schemas.microsoft.com/office/drawing/2014/main" id="{BCA9F34D-AFAF-4AA5-B6DE-9B0BA3501246}"/>
              </a:ext>
            </a:extLst>
          </p:cNvPr>
          <p:cNvSpPr>
            <a:spLocks xmlns:a="http://schemas.openxmlformats.org/drawingml/2006/main" noGrp="1"/>
          </p:cNvSpPr>
          <p:nvPr/>
        </p:nvSpPr>
        <p:spPr>
          <a:xfrm xmlns:a="http://schemas.openxmlformats.org/drawingml/2006/main">
            <a:off x="6181725" y="5057775"/>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53" name="cell-4-3">
            <a:extLst xmlns:a="http://schemas.openxmlformats.org/drawingml/2006/main">
              <a:ext uri="{FF2B5EF4-FFF2-40B4-BE49-F238E27FC236}">
                <a16:creationId xmlns:a16="http://schemas.microsoft.com/office/drawing/2014/main" id="{F4A6C55C-6640-499B-ACD1-08DF0E1EEA23}"/>
              </a:ext>
            </a:extLst>
          </p:cNvPr>
          <p:cNvSpPr>
            <a:spLocks xmlns:a="http://schemas.openxmlformats.org/drawingml/2006/main" noGrp="1"/>
          </p:cNvSpPr>
          <p:nvPr/>
        </p:nvSpPr>
        <p:spPr>
          <a:xfrm xmlns:a="http://schemas.openxmlformats.org/drawingml/2006/main">
            <a:off x="6296025" y="513397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Yes</a:t>
            </a:r>
          </a:p>
        </p:txBody>
      </p:sp>
      <p:sp>
        <p:nvSpPr>
          <p:cNvPr id="54" name="callout-label">
            <a:extLst xmlns:a="http://schemas.openxmlformats.org/drawingml/2006/main">
              <a:ext uri="{FF2B5EF4-FFF2-40B4-BE49-F238E27FC236}">
                <a16:creationId xmlns:a16="http://schemas.microsoft.com/office/drawing/2014/main" id="{19007588-61E8-4A6F-87B4-8879F320B91D}"/>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55" name="callout">
            <a:extLst xmlns:a="http://schemas.openxmlformats.org/drawingml/2006/main">
              <a:ext uri="{FF2B5EF4-FFF2-40B4-BE49-F238E27FC236}">
                <a16:creationId xmlns:a16="http://schemas.microsoft.com/office/drawing/2014/main" id="{A84C94E1-645A-465B-A87C-A6BA401D9177}"/>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The GA matched brute force's exact answer using about 10% of the evaluations — but only the seed-by-seed table (previous slide) tells you whether to trust that in general.</a:t>
            </a:r>
          </a:p>
        </p:txBody>
      </p:sp>
    </p:spTree>
    <p:extLst>
      <p:ext uri="{BB962C8B-B14F-4D97-AF65-F5344CB8AC3E}">
        <p14:creationId xmlns:p14="http://schemas.microsoft.com/office/powerpoint/2010/main" val="2053895892"/>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840B3C74-5BA3-4FA1-AF90-94920DDA964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CONNECTING TO PRACTICE</a:t>
            </a:r>
          </a:p>
        </p:txBody>
      </p:sp>
      <p:sp>
        <p:nvSpPr>
          <p:cNvPr id="2" name="title">
            <a:extLst xmlns:a="http://schemas.openxmlformats.org/drawingml/2006/main">
              <a:ext uri="{FF2B5EF4-FFF2-40B4-BE49-F238E27FC236}">
                <a16:creationId xmlns:a16="http://schemas.microsoft.com/office/drawing/2014/main" id="{C33F0D3A-A9C0-4428-A901-69E2D9543B7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This is the algorithm family inside familiar generative-design tools</a:t>
            </a:r>
          </a:p>
        </p:txBody>
      </p:sp>
      <p:sp>
        <p:nvSpPr>
          <p:cNvPr id="3" name="">
            <a:extLst xmlns:a="http://schemas.openxmlformats.org/drawingml/2006/main">
              <a:ext uri="{FF2B5EF4-FFF2-40B4-BE49-F238E27FC236}">
                <a16:creationId xmlns:a16="http://schemas.microsoft.com/office/drawing/2014/main" id="{2BD121B6-95B2-4B23-824C-A1D623BD5E4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7F944B3-2D4C-4D1F-8DFF-AA387363576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35A8821D-85D6-46F2-86BF-94E43D61110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39</a:t>
            </a:r>
          </a:p>
        </p:txBody>
      </p:sp>
      <p:sp>
        <p:nvSpPr>
          <p:cNvPr id="6" name="left-head">
            <a:extLst xmlns:a="http://schemas.openxmlformats.org/drawingml/2006/main">
              <a:ext uri="{FF2B5EF4-FFF2-40B4-BE49-F238E27FC236}">
                <a16:creationId xmlns:a16="http://schemas.microsoft.com/office/drawing/2014/main" id="{3C47E6FF-836B-439F-99B8-0F82D4F1024F}"/>
              </a:ext>
            </a:extLst>
          </p:cNvPr>
          <p:cNvSpPr>
            <a:spLocks xmlns:a="http://schemas.openxmlformats.org/drawingml/2006/main" noGrp="1"/>
          </p:cNvSpPr>
          <p:nvPr/>
        </p:nvSpPr>
        <p:spPr>
          <a:xfrm xmlns:a="http://schemas.openxmlformats.org/drawingml/2006/main">
            <a:off x="609600" y="241935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Galapagos and Wallacei</a:t>
            </a:r>
          </a:p>
        </p:txBody>
      </p:sp>
      <p:sp>
        <p:nvSpPr>
          <p:cNvPr id="7" name="left-body">
            <a:extLst xmlns:a="http://schemas.openxmlformats.org/drawingml/2006/main">
              <a:ext uri="{FF2B5EF4-FFF2-40B4-BE49-F238E27FC236}">
                <a16:creationId xmlns:a16="http://schemas.microsoft.com/office/drawing/2014/main" id="{630FEC95-2DBA-4BBE-B818-B98B534601ED}"/>
              </a:ext>
            </a:extLst>
          </p:cNvPr>
          <p:cNvSpPr>
            <a:spLocks xmlns:a="http://schemas.openxmlformats.org/drawingml/2006/main" noGrp="1"/>
          </p:cNvSpPr>
          <p:nvPr/>
        </p:nvSpPr>
        <p:spPr>
          <a:xfrm xmlns:a="http://schemas.openxmlformats.org/drawingml/2006/main">
            <a:off x="609600" y="2916936"/>
            <a:ext cx="5219700" cy="16672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Both are genetic-algorithm solvers built into Grasshopper. A population of candidate designs (panel layouts, structural members, massing options) is evaluated, selected, recombined, and mutated across generations — usually to optimize form, panelization, or structural performance.</a:t>
            </a:r>
          </a:p>
        </p:txBody>
      </p:sp>
      <p:sp>
        <p:nvSpPr>
          <p:cNvPr id="8" name="right-head">
            <a:extLst xmlns:a="http://schemas.openxmlformats.org/drawingml/2006/main">
              <a:ext uri="{FF2B5EF4-FFF2-40B4-BE49-F238E27FC236}">
                <a16:creationId xmlns:a16="http://schemas.microsoft.com/office/drawing/2014/main" id="{C404E476-61A1-478A-B4EB-AA657E2C2AE5}"/>
              </a:ext>
            </a:extLst>
          </p:cNvPr>
          <p:cNvSpPr>
            <a:spLocks xmlns:a="http://schemas.openxmlformats.org/drawingml/2006/main" noGrp="1"/>
          </p:cNvSpPr>
          <p:nvPr/>
        </p:nvSpPr>
        <p:spPr>
          <a:xfrm xmlns:a="http://schemas.openxmlformats.org/drawingml/2006/main">
            <a:off x="6362700" y="2419350"/>
            <a:ext cx="5219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Same three ingredients, coded by hand</a:t>
            </a:r>
          </a:p>
        </p:txBody>
      </p:sp>
      <p:sp>
        <p:nvSpPr>
          <p:cNvPr id="9" name="right-body">
            <a:extLst xmlns:a="http://schemas.openxmlformats.org/drawingml/2006/main">
              <a:ext uri="{FF2B5EF4-FFF2-40B4-BE49-F238E27FC236}">
                <a16:creationId xmlns:a16="http://schemas.microsoft.com/office/drawing/2014/main" id="{95E3A87E-CCA2-46F1-92A5-DB2ACB86B7BE}"/>
              </a:ext>
            </a:extLst>
          </p:cNvPr>
          <p:cNvSpPr>
            <a:spLocks xmlns:a="http://schemas.openxmlformats.org/drawingml/2006/main" noGrp="1"/>
          </p:cNvSpPr>
          <p:nvPr/>
        </p:nvSpPr>
        <p:spPr>
          <a:xfrm xmlns:a="http://schemas.openxmlformats.org/drawingml/2006/main">
            <a:off x="6362700" y="3204972"/>
            <a:ext cx="5219700" cy="19324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Selection, crossover, mutation — exactly what you just built. Those tools wrap the same idea in a visual interface, usually with more sophisticated variants (different crossover/mutation operators, multiple objectives) — the fitness landscape, population, and generations underneath are the same concepts.</a:t>
            </a:r>
          </a:p>
        </p:txBody>
      </p:sp>
    </p:spTree>
    <p:extLst>
      <p:ext uri="{BB962C8B-B14F-4D97-AF65-F5344CB8AC3E}">
        <p14:creationId xmlns:p14="http://schemas.microsoft.com/office/powerpoint/2010/main" val="174719562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9082217C-D2DC-4570-9154-F74595D5E04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2440A032-E042-4EDC-8A45-40B732C6721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Transfer the search family: arrange six rooms by adjacency</a:t>
            </a:r>
          </a:p>
        </p:txBody>
      </p:sp>
      <p:sp>
        <p:nvSpPr>
          <p:cNvPr id="3" name="">
            <a:extLst xmlns:a="http://schemas.openxmlformats.org/drawingml/2006/main">
              <a:ext uri="{FF2B5EF4-FFF2-40B4-BE49-F238E27FC236}">
                <a16:creationId xmlns:a16="http://schemas.microsoft.com/office/drawing/2014/main" id="{D32730D7-6856-4588-987B-091BC81C01E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BE455EA-25FC-465E-8138-011D484DBE6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F8B81B98-08F9-429D-9B44-CBDE5542FA6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40</a:t>
            </a:r>
          </a:p>
        </p:txBody>
      </p:sp>
      <p:sp>
        <p:nvSpPr>
          <p:cNvPr id="6" name="exercise-accent">
            <a:extLst xmlns:a="http://schemas.openxmlformats.org/drawingml/2006/main">
              <a:ext uri="{FF2B5EF4-FFF2-40B4-BE49-F238E27FC236}">
                <a16:creationId xmlns:a16="http://schemas.microsoft.com/office/drawing/2014/main" id="{41570A8D-8D9A-4E67-91CF-C5A89416E9B4}"/>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534FEC90-A1B1-4229-9730-5BFA2073F6D0}"/>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Place six rooms along a corridor so required neighbors are close and conflicting uses are separated.</a:t>
            </a:r>
          </a:p>
        </p:txBody>
      </p:sp>
      <p:sp>
        <p:nvSpPr>
          <p:cNvPr id="8" name="work-label">
            <a:extLst xmlns:a="http://schemas.openxmlformats.org/drawingml/2006/main">
              <a:ext uri="{FF2B5EF4-FFF2-40B4-BE49-F238E27FC236}">
                <a16:creationId xmlns:a16="http://schemas.microsoft.com/office/drawing/2014/main" id="{09DD2AFB-DB1F-44D8-BD56-62E4B910954F}"/>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B41B1143-6E39-4D23-99DB-7645FBAF0DE0}"/>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D40D8201-4EB4-42E0-8522-6BA62205E1F8}"/>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Represent one candidate as a permutation and define an adjacency-penalty cost.</a:t>
            </a:r>
          </a:p>
        </p:txBody>
      </p:sp>
      <p:sp>
        <p:nvSpPr>
          <p:cNvPr id="11" name="exercise-no-1">
            <a:extLst xmlns:a="http://schemas.openxmlformats.org/drawingml/2006/main">
              <a:ext uri="{FF2B5EF4-FFF2-40B4-BE49-F238E27FC236}">
                <a16:creationId xmlns:a16="http://schemas.microsoft.com/office/drawing/2014/main" id="{9CAEDFDA-9527-4E90-A1E4-D889F02DA999}"/>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326FD2EA-F192-4D3F-BEF3-2F2CAB7374A4}"/>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Explain why the decision has no useful slope and why every candidate must stay valid.</a:t>
            </a:r>
          </a:p>
        </p:txBody>
      </p:sp>
      <p:sp>
        <p:nvSpPr>
          <p:cNvPr id="13" name="exercise-no-2">
            <a:extLst xmlns:a="http://schemas.openxmlformats.org/drawingml/2006/main">
              <a:ext uri="{FF2B5EF4-FFF2-40B4-BE49-F238E27FC236}">
                <a16:creationId xmlns:a16="http://schemas.microsoft.com/office/drawing/2014/main" id="{DE538517-9100-4A99-A03B-EB301836B368}"/>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BCFA7730-2A29-4AB5-822E-CB95239F258F}"/>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Use 6! = 720 as the brute-force truth baseline before testing a heuristic.</a:t>
            </a:r>
          </a:p>
        </p:txBody>
      </p:sp>
      <p:sp>
        <p:nvSpPr>
          <p:cNvPr id="15" name="exercise-no-3">
            <a:extLst xmlns:a="http://schemas.openxmlformats.org/drawingml/2006/main">
              <a:ext uri="{FF2B5EF4-FFF2-40B4-BE49-F238E27FC236}">
                <a16:creationId xmlns:a16="http://schemas.microsoft.com/office/drawing/2014/main" id="{2EB17BBE-CE92-4E8B-82A4-6797C4674E13}"/>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15F8C54D-7047-4DAC-8389-32326E2F5145}"/>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State what a GA result can claim only after comparison across seeds and against that baseline.</a:t>
            </a:r>
          </a:p>
        </p:txBody>
      </p:sp>
    </p:spTree>
    <p:extLst>
      <p:ext uri="{BB962C8B-B14F-4D97-AF65-F5344CB8AC3E}">
        <p14:creationId xmlns:p14="http://schemas.microsoft.com/office/powerpoint/2010/main" val="213933641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A8980454-D6D2-4A84-A8AD-8176B74B2EB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2026 PRACTICE HORIZON</a:t>
            </a:r>
          </a:p>
        </p:txBody>
      </p:sp>
      <p:sp>
        <p:nvSpPr>
          <p:cNvPr id="2" name="title">
            <a:extLst xmlns:a="http://schemas.openxmlformats.org/drawingml/2006/main">
              <a:ext uri="{FF2B5EF4-FFF2-40B4-BE49-F238E27FC236}">
                <a16:creationId xmlns:a16="http://schemas.microsoft.com/office/drawing/2014/main" id="{06F5F134-B6AB-4D21-A994-BC999B3E2E8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Choose the optimization family after the decision structure</a:t>
            </a:r>
          </a:p>
        </p:txBody>
      </p:sp>
      <p:sp>
        <p:nvSpPr>
          <p:cNvPr id="3" name="">
            <a:extLst xmlns:a="http://schemas.openxmlformats.org/drawingml/2006/main">
              <a:ext uri="{FF2B5EF4-FFF2-40B4-BE49-F238E27FC236}">
                <a16:creationId xmlns:a16="http://schemas.microsoft.com/office/drawing/2014/main" id="{5D25B78F-C4BA-4555-B8EC-13599F84775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5155F0E-2A30-4890-AE3C-B014685EC09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5096F79E-442D-41E5-9D72-1C39225380A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41</a:t>
            </a:r>
          </a:p>
        </p:txBody>
      </p:sp>
      <p:sp>
        <p:nvSpPr>
          <p:cNvPr id="6" name="step-arrow-0">
            <a:extLst xmlns:a="http://schemas.openxmlformats.org/drawingml/2006/main">
              <a:ext uri="{FF2B5EF4-FFF2-40B4-BE49-F238E27FC236}">
                <a16:creationId xmlns:a16="http://schemas.microsoft.com/office/drawing/2014/main" id="{AE558C16-D623-4047-BF1C-F28010244C98}"/>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7E10ECDC-06D6-4CFE-979B-E1CB9A065E45}"/>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81DE2B4A-407F-4286-A5A5-60F1184F569F}"/>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200FF4BE-C8FA-4477-8875-665D88F4ABF6}"/>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286AE14E-9D00-4D62-86EF-453886D688C5}"/>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61C6B348-86DE-4F13-8DC6-A321F682D23C}"/>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MILP</a:t>
            </a:r>
          </a:p>
        </p:txBody>
      </p:sp>
      <p:sp>
        <p:nvSpPr>
          <p:cNvPr id="12" name="">
            <a:extLst xmlns:a="http://schemas.openxmlformats.org/drawingml/2006/main">
              <a:ext uri="{FF2B5EF4-FFF2-40B4-BE49-F238E27FC236}">
                <a16:creationId xmlns:a16="http://schemas.microsoft.com/office/drawing/2014/main" id="{DDB4F2D9-380F-4841-9B44-FE239046F2C9}"/>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5891CDD2-32BB-4CB6-88E7-1002DB2AF807}"/>
              </a:ext>
            </a:extLst>
          </p:cNvPr>
          <p:cNvSpPr>
            <a:spLocks xmlns:a="http://schemas.openxmlformats.org/drawingml/2006/main" noGrp="1"/>
          </p:cNvSpPr>
          <p:nvPr/>
        </p:nvSpPr>
        <p:spPr>
          <a:xfrm xmlns:a="http://schemas.openxmlformats.org/drawingml/2006/main">
            <a:off x="8001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Discrete + linear</a:t>
            </a:r>
          </a:p>
        </p:txBody>
      </p:sp>
      <p:sp>
        <p:nvSpPr>
          <p:cNvPr id="14" name="step-body-0">
            <a:extLst xmlns:a="http://schemas.openxmlformats.org/drawingml/2006/main">
              <a:ext uri="{FF2B5EF4-FFF2-40B4-BE49-F238E27FC236}">
                <a16:creationId xmlns:a16="http://schemas.microsoft.com/office/drawing/2014/main" id="{F86D38AB-65CE-4BDC-885C-62BB580ADD52}"/>
              </a:ext>
            </a:extLst>
          </p:cNvPr>
          <p:cNvSpPr>
            <a:spLocks xmlns:a="http://schemas.openxmlformats.org/drawingml/2006/main" noGrp="1"/>
          </p:cNvSpPr>
          <p:nvPr/>
        </p:nvSpPr>
        <p:spPr>
          <a:xfrm xmlns:a="http://schemas.openxmlformats.org/drawingml/2006/main">
            <a:off x="8001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Use integer variables when counts, selections, or on/off choices must remain exact.</a:t>
            </a:r>
          </a:p>
        </p:txBody>
      </p:sp>
      <p:sp>
        <p:nvSpPr>
          <p:cNvPr id="15" name="step-node-1">
            <a:extLst xmlns:a="http://schemas.openxmlformats.org/drawingml/2006/main">
              <a:ext uri="{FF2B5EF4-FFF2-40B4-BE49-F238E27FC236}">
                <a16:creationId xmlns:a16="http://schemas.microsoft.com/office/drawing/2014/main" id="{7443410E-87AA-4281-B52B-D45E94ED2339}"/>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5B4AB4E2-81E7-4FE0-BFAE-8530511384FA}"/>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C60DE6A6-3B0C-4A49-B498-4475A679F037}"/>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PARETO</a:t>
            </a:r>
          </a:p>
        </p:txBody>
      </p:sp>
      <p:sp>
        <p:nvSpPr>
          <p:cNvPr id="18" name="">
            <a:extLst xmlns:a="http://schemas.openxmlformats.org/drawingml/2006/main">
              <a:ext uri="{FF2B5EF4-FFF2-40B4-BE49-F238E27FC236}">
                <a16:creationId xmlns:a16="http://schemas.microsoft.com/office/drawing/2014/main" id="{91A27568-8AE2-4DAC-99CD-A8523A31ED11}"/>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FB64DF6E-D10E-4C98-935B-29E6BCF80D55}"/>
              </a:ext>
            </a:extLst>
          </p:cNvPr>
          <p:cNvSpPr>
            <a:spLocks xmlns:a="http://schemas.openxmlformats.org/drawingml/2006/main" noGrp="1"/>
          </p:cNvSpPr>
          <p:nvPr/>
        </p:nvSpPr>
        <p:spPr>
          <a:xfrm xmlns:a="http://schemas.openxmlformats.org/drawingml/2006/main">
            <a:off x="36004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Multiple objectives</a:t>
            </a:r>
          </a:p>
        </p:txBody>
      </p:sp>
      <p:sp>
        <p:nvSpPr>
          <p:cNvPr id="20" name="step-body-1">
            <a:extLst xmlns:a="http://schemas.openxmlformats.org/drawingml/2006/main">
              <a:ext uri="{FF2B5EF4-FFF2-40B4-BE49-F238E27FC236}">
                <a16:creationId xmlns:a16="http://schemas.microsoft.com/office/drawing/2014/main" id="{1BBB11F9-90F4-42DE-B0E0-737790BECAEB}"/>
              </a:ext>
            </a:extLst>
          </p:cNvPr>
          <p:cNvSpPr>
            <a:spLocks xmlns:a="http://schemas.openxmlformats.org/drawingml/2006/main" noGrp="1"/>
          </p:cNvSpPr>
          <p:nvPr/>
        </p:nvSpPr>
        <p:spPr>
          <a:xfrm xmlns:a="http://schemas.openxmlformats.org/drawingml/2006/main">
            <a:off x="36004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Return a trade-off set when energy, carbon, cost, and quality cannot be collapsed honestly.</a:t>
            </a:r>
          </a:p>
        </p:txBody>
      </p:sp>
      <p:sp>
        <p:nvSpPr>
          <p:cNvPr id="21" name="step-node-2">
            <a:extLst xmlns:a="http://schemas.openxmlformats.org/drawingml/2006/main">
              <a:ext uri="{FF2B5EF4-FFF2-40B4-BE49-F238E27FC236}">
                <a16:creationId xmlns:a16="http://schemas.microsoft.com/office/drawing/2014/main" id="{4C65425E-6B34-4FAF-B0F8-D11DDB250929}"/>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585114F1-81B9-4AC6-9049-D6C85628ABA1}"/>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8A7D4CD2-1F06-4AC2-81FF-99BEA9318C2E}"/>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BAYES</a:t>
            </a:r>
          </a:p>
        </p:txBody>
      </p:sp>
      <p:sp>
        <p:nvSpPr>
          <p:cNvPr id="24" name="">
            <a:extLst xmlns:a="http://schemas.openxmlformats.org/drawingml/2006/main">
              <a:ext uri="{FF2B5EF4-FFF2-40B4-BE49-F238E27FC236}">
                <a16:creationId xmlns:a16="http://schemas.microsoft.com/office/drawing/2014/main" id="{CC8D4CE4-6791-45C5-9457-076C8F6E2855}"/>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B02E2FD4-16E0-4D22-B088-777DED81F6CF}"/>
              </a:ext>
            </a:extLst>
          </p:cNvPr>
          <p:cNvSpPr>
            <a:spLocks xmlns:a="http://schemas.openxmlformats.org/drawingml/2006/main" noGrp="1"/>
          </p:cNvSpPr>
          <p:nvPr/>
        </p:nvSpPr>
        <p:spPr>
          <a:xfrm xmlns:a="http://schemas.openxmlformats.org/drawingml/2006/main">
            <a:off x="64008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Expensive black box</a:t>
            </a:r>
          </a:p>
        </p:txBody>
      </p:sp>
      <p:sp>
        <p:nvSpPr>
          <p:cNvPr id="26" name="step-body-2">
            <a:extLst xmlns:a="http://schemas.openxmlformats.org/drawingml/2006/main">
              <a:ext uri="{FF2B5EF4-FFF2-40B4-BE49-F238E27FC236}">
                <a16:creationId xmlns:a16="http://schemas.microsoft.com/office/drawing/2014/main" id="{86A18F2A-B08C-4D6F-BE81-84D4ECDD6C9A}"/>
              </a:ext>
            </a:extLst>
          </p:cNvPr>
          <p:cNvSpPr>
            <a:spLocks xmlns:a="http://schemas.openxmlformats.org/drawingml/2006/main" noGrp="1"/>
          </p:cNvSpPr>
          <p:nvPr/>
        </p:nvSpPr>
        <p:spPr>
          <a:xfrm xmlns:a="http://schemas.openxmlformats.org/drawingml/2006/main">
            <a:off x="64008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Use Bayesian optimization when each simulation or experiment is costly and evaluations are scarce.</a:t>
            </a:r>
          </a:p>
        </p:txBody>
      </p:sp>
      <p:sp>
        <p:nvSpPr>
          <p:cNvPr id="27" name="step-node-3">
            <a:extLst xmlns:a="http://schemas.openxmlformats.org/drawingml/2006/main">
              <a:ext uri="{FF2B5EF4-FFF2-40B4-BE49-F238E27FC236}">
                <a16:creationId xmlns:a16="http://schemas.microsoft.com/office/drawing/2014/main" id="{9176B3E1-2BA0-4208-8364-DA85781B1072}"/>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577E2BF2-A4FC-41AC-B86A-35D64BA0EB69}"/>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7949400C-C258-4C41-B054-889B8FC75DCC}"/>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VERIFY</a:t>
            </a:r>
          </a:p>
        </p:txBody>
      </p:sp>
      <p:sp>
        <p:nvSpPr>
          <p:cNvPr id="30" name="">
            <a:extLst xmlns:a="http://schemas.openxmlformats.org/drawingml/2006/main">
              <a:ext uri="{FF2B5EF4-FFF2-40B4-BE49-F238E27FC236}">
                <a16:creationId xmlns:a16="http://schemas.microsoft.com/office/drawing/2014/main" id="{0FC20D22-3DB6-42CB-9AA7-6ECB16B798C8}"/>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AA505397-F2F1-4455-9A14-A4849C8052BC}"/>
              </a:ext>
            </a:extLst>
          </p:cNvPr>
          <p:cNvSpPr>
            <a:spLocks xmlns:a="http://schemas.openxmlformats.org/drawingml/2006/main" noGrp="1"/>
          </p:cNvSpPr>
          <p:nvPr/>
        </p:nvSpPr>
        <p:spPr>
          <a:xfrm xmlns:a="http://schemas.openxmlformats.org/drawingml/2006/main">
            <a:off x="92011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Independent truth check</a:t>
            </a:r>
          </a:p>
        </p:txBody>
      </p:sp>
      <p:sp>
        <p:nvSpPr>
          <p:cNvPr id="32" name="step-body-3">
            <a:extLst xmlns:a="http://schemas.openxmlformats.org/drawingml/2006/main">
              <a:ext uri="{FF2B5EF4-FFF2-40B4-BE49-F238E27FC236}">
                <a16:creationId xmlns:a16="http://schemas.microsoft.com/office/drawing/2014/main" id="{3408B079-9367-41BC-B473-CB735F314F9E}"/>
              </a:ext>
            </a:extLst>
          </p:cNvPr>
          <p:cNvSpPr>
            <a:spLocks xmlns:a="http://schemas.openxmlformats.org/drawingml/2006/main" noGrp="1"/>
          </p:cNvSpPr>
          <p:nvPr/>
        </p:nvSpPr>
        <p:spPr>
          <a:xfrm xmlns:a="http://schemas.openxmlformats.org/drawingml/2006/main">
            <a:off x="92011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Re-evaluate finalists, audit feasibility, compare a baseline, and report uncertainty and budget.</a:t>
            </a:r>
          </a:p>
        </p:txBody>
      </p:sp>
    </p:spTree>
    <p:extLst>
      <p:ext uri="{BB962C8B-B14F-4D97-AF65-F5344CB8AC3E}">
        <p14:creationId xmlns:p14="http://schemas.microsoft.com/office/powerpoint/2010/main" val="1896207820"/>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kicker">
            <a:extLst xmlns:a="http://schemas.openxmlformats.org/drawingml/2006/main">
              <a:ext uri="{FF2B5EF4-FFF2-40B4-BE49-F238E27FC236}">
                <a16:creationId xmlns:a16="http://schemas.microsoft.com/office/drawing/2014/main" id="{FEF2543E-B1D3-4F1E-B61C-A8C96594C9F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SELECTION GUIDE</a:t>
            </a:r>
          </a:p>
        </p:txBody>
      </p:sp>
      <p:sp>
        <p:nvSpPr>
          <p:cNvPr id="2" name="title">
            <a:extLst xmlns:a="http://schemas.openxmlformats.org/drawingml/2006/main">
              <a:ext uri="{FF2B5EF4-FFF2-40B4-BE49-F238E27FC236}">
                <a16:creationId xmlns:a16="http://schemas.microsoft.com/office/drawing/2014/main" id="{66A662A1-93CD-4096-994C-C8E85D4CEED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modern tool is the one that matches the claim</a:t>
            </a:r>
          </a:p>
        </p:txBody>
      </p:sp>
      <p:sp>
        <p:nvSpPr>
          <p:cNvPr id="3" name="">
            <a:extLst xmlns:a="http://schemas.openxmlformats.org/drawingml/2006/main">
              <a:ext uri="{FF2B5EF4-FFF2-40B4-BE49-F238E27FC236}">
                <a16:creationId xmlns:a16="http://schemas.microsoft.com/office/drawing/2014/main" id="{FE3784CC-1340-4119-893F-7F5699E166EF}"/>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7D0627D-6496-4ABA-B55B-B66D89A72E1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A · Optimization III: Heuristic and Metaheuristic Search</a:t>
            </a:r>
          </a:p>
        </p:txBody>
      </p:sp>
      <p:sp>
        <p:nvSpPr>
          <p:cNvPr id="5" name="page">
            <a:extLst xmlns:a="http://schemas.openxmlformats.org/drawingml/2006/main">
              <a:ext uri="{FF2B5EF4-FFF2-40B4-BE49-F238E27FC236}">
                <a16:creationId xmlns:a16="http://schemas.microsoft.com/office/drawing/2014/main" id="{ED76871C-90D7-4A83-AA66-870793D1444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42</a:t>
            </a:r>
          </a:p>
        </p:txBody>
      </p:sp>
      <p:sp>
        <p:nvSpPr>
          <p:cNvPr id="6" name="">
            <a:extLst xmlns:a="http://schemas.openxmlformats.org/drawingml/2006/main">
              <a:ext uri="{FF2B5EF4-FFF2-40B4-BE49-F238E27FC236}">
                <a16:creationId xmlns:a16="http://schemas.microsoft.com/office/drawing/2014/main" id="{630AF82B-678B-4625-82B3-6D6587AAC0D3}"/>
              </a:ext>
            </a:extLst>
          </p:cNvPr>
          <p:cNvSpPr>
            <a:spLocks xmlns:a="http://schemas.openxmlformats.org/drawingml/2006/main" noGrp="1"/>
          </p:cNvSpPr>
          <p:nvPr/>
        </p:nvSpPr>
        <p:spPr>
          <a:xfrm xmlns:a="http://schemas.openxmlformats.org/drawingml/2006/main">
            <a:off x="609600" y="2600325"/>
            <a:ext cx="1634490"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816959FE-BE1B-412D-A1DC-199BCAD9D853}"/>
              </a:ext>
            </a:extLst>
          </p:cNvPr>
          <p:cNvSpPr>
            <a:spLocks xmlns:a="http://schemas.openxmlformats.org/drawingml/2006/main" noGrp="1"/>
          </p:cNvSpPr>
          <p:nvPr/>
        </p:nvSpPr>
        <p:spPr>
          <a:xfrm xmlns:a="http://schemas.openxmlformats.org/drawingml/2006/main">
            <a:off x="723900" y="2676525"/>
            <a:ext cx="140589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decision structure</a:t>
            </a:r>
          </a:p>
        </p:txBody>
      </p:sp>
      <p:sp>
        <p:nvSpPr>
          <p:cNvPr id="8" name="">
            <a:extLst xmlns:a="http://schemas.openxmlformats.org/drawingml/2006/main">
              <a:ext uri="{FF2B5EF4-FFF2-40B4-BE49-F238E27FC236}">
                <a16:creationId xmlns:a16="http://schemas.microsoft.com/office/drawing/2014/main" id="{44CDFB99-8278-4687-A15C-401969B81CC4}"/>
              </a:ext>
            </a:extLst>
          </p:cNvPr>
          <p:cNvSpPr>
            <a:spLocks xmlns:a="http://schemas.openxmlformats.org/drawingml/2006/main" noGrp="1"/>
          </p:cNvSpPr>
          <p:nvPr/>
        </p:nvSpPr>
        <p:spPr>
          <a:xfrm xmlns:a="http://schemas.openxmlformats.org/drawingml/2006/main">
            <a:off x="2244090" y="2600325"/>
            <a:ext cx="1485900"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EE7BAC8C-0106-4947-8A9E-B03A4DB97E52}"/>
              </a:ext>
            </a:extLst>
          </p:cNvPr>
          <p:cNvSpPr>
            <a:spLocks xmlns:a="http://schemas.openxmlformats.org/drawingml/2006/main" noGrp="1"/>
          </p:cNvSpPr>
          <p:nvPr/>
        </p:nvSpPr>
        <p:spPr>
          <a:xfrm xmlns:a="http://schemas.openxmlformats.org/drawingml/2006/main">
            <a:off x="2358390" y="2676525"/>
            <a:ext cx="12573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candidate method</a:t>
            </a:r>
          </a:p>
        </p:txBody>
      </p:sp>
      <p:sp>
        <p:nvSpPr>
          <p:cNvPr id="10" name="">
            <a:extLst xmlns:a="http://schemas.openxmlformats.org/drawingml/2006/main">
              <a:ext uri="{FF2B5EF4-FFF2-40B4-BE49-F238E27FC236}">
                <a16:creationId xmlns:a16="http://schemas.microsoft.com/office/drawing/2014/main" id="{11867C44-6DAE-42DD-83C0-07F1E2916207}"/>
              </a:ext>
            </a:extLst>
          </p:cNvPr>
          <p:cNvSpPr>
            <a:spLocks xmlns:a="http://schemas.openxmlformats.org/drawingml/2006/main" noGrp="1"/>
          </p:cNvSpPr>
          <p:nvPr/>
        </p:nvSpPr>
        <p:spPr>
          <a:xfrm xmlns:a="http://schemas.openxmlformats.org/drawingml/2006/main">
            <a:off x="3729990" y="2600325"/>
            <a:ext cx="230314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2A1CC446-45D7-4DDF-BB8B-EF81ABE13734}"/>
              </a:ext>
            </a:extLst>
          </p:cNvPr>
          <p:cNvSpPr>
            <a:spLocks xmlns:a="http://schemas.openxmlformats.org/drawingml/2006/main" noGrp="1"/>
          </p:cNvSpPr>
          <p:nvPr/>
        </p:nvSpPr>
        <p:spPr>
          <a:xfrm xmlns:a="http://schemas.openxmlformats.org/drawingml/2006/main">
            <a:off x="3844290" y="2676525"/>
            <a:ext cx="207454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evidence to report</a:t>
            </a:r>
          </a:p>
        </p:txBody>
      </p:sp>
      <p:sp>
        <p:nvSpPr>
          <p:cNvPr id="12" name="">
            <a:extLst xmlns:a="http://schemas.openxmlformats.org/drawingml/2006/main">
              <a:ext uri="{FF2B5EF4-FFF2-40B4-BE49-F238E27FC236}">
                <a16:creationId xmlns:a16="http://schemas.microsoft.com/office/drawing/2014/main" id="{E87F7FBA-C3BF-4C9F-8AEB-C613152BFC00}"/>
              </a:ext>
            </a:extLst>
          </p:cNvPr>
          <p:cNvSpPr>
            <a:spLocks xmlns:a="http://schemas.openxmlformats.org/drawingml/2006/main" noGrp="1"/>
          </p:cNvSpPr>
          <p:nvPr/>
        </p:nvSpPr>
        <p:spPr>
          <a:xfrm xmlns:a="http://schemas.openxmlformats.org/drawingml/2006/main">
            <a:off x="6033135" y="2600325"/>
            <a:ext cx="200596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3" name="header-3">
            <a:extLst xmlns:a="http://schemas.openxmlformats.org/drawingml/2006/main">
              <a:ext uri="{FF2B5EF4-FFF2-40B4-BE49-F238E27FC236}">
                <a16:creationId xmlns:a16="http://schemas.microsoft.com/office/drawing/2014/main" id="{3328DBA7-A165-4E2E-8210-1A19205B35EA}"/>
              </a:ext>
            </a:extLst>
          </p:cNvPr>
          <p:cNvSpPr>
            <a:spLocks xmlns:a="http://schemas.openxmlformats.org/drawingml/2006/main" noGrp="1"/>
          </p:cNvSpPr>
          <p:nvPr/>
        </p:nvSpPr>
        <p:spPr>
          <a:xfrm xmlns:a="http://schemas.openxmlformats.org/drawingml/2006/main">
            <a:off x="6147435" y="2676525"/>
            <a:ext cx="177736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refuse this claim</a:t>
            </a:r>
          </a:p>
        </p:txBody>
      </p:sp>
      <p:sp>
        <p:nvSpPr>
          <p:cNvPr id="14" name="">
            <a:extLst xmlns:a="http://schemas.openxmlformats.org/drawingml/2006/main">
              <a:ext uri="{FF2B5EF4-FFF2-40B4-BE49-F238E27FC236}">
                <a16:creationId xmlns:a16="http://schemas.microsoft.com/office/drawing/2014/main" id="{728B2AF4-4D8A-41A0-87C8-5A75199F2428}"/>
              </a:ext>
            </a:extLst>
          </p:cNvPr>
          <p:cNvSpPr>
            <a:spLocks xmlns:a="http://schemas.openxmlformats.org/drawingml/2006/main" noGrp="1"/>
          </p:cNvSpPr>
          <p:nvPr/>
        </p:nvSpPr>
        <p:spPr>
          <a:xfrm xmlns:a="http://schemas.openxmlformats.org/drawingml/2006/main">
            <a:off x="609600" y="3141345"/>
            <a:ext cx="1634490"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0">
            <a:extLst xmlns:a="http://schemas.openxmlformats.org/drawingml/2006/main">
              <a:ext uri="{FF2B5EF4-FFF2-40B4-BE49-F238E27FC236}">
                <a16:creationId xmlns:a16="http://schemas.microsoft.com/office/drawing/2014/main" id="{0E2D1B19-CA41-4A4F-BF2C-90F990F9815A}"/>
              </a:ext>
            </a:extLst>
          </p:cNvPr>
          <p:cNvSpPr>
            <a:spLocks xmlns:a="http://schemas.openxmlformats.org/drawingml/2006/main" noGrp="1"/>
          </p:cNvSpPr>
          <p:nvPr/>
        </p:nvSpPr>
        <p:spPr>
          <a:xfrm xmlns:a="http://schemas.openxmlformats.org/drawingml/2006/main">
            <a:off x="723900" y="3217545"/>
            <a:ext cx="140589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linear with counts/on-off choices</a:t>
            </a:r>
          </a:p>
        </p:txBody>
      </p:sp>
      <p:sp>
        <p:nvSpPr>
          <p:cNvPr id="16" name="">
            <a:extLst xmlns:a="http://schemas.openxmlformats.org/drawingml/2006/main">
              <a:ext uri="{FF2B5EF4-FFF2-40B4-BE49-F238E27FC236}">
                <a16:creationId xmlns:a16="http://schemas.microsoft.com/office/drawing/2014/main" id="{A12D2E76-D895-4EC5-ADCF-2C53690F3424}"/>
              </a:ext>
            </a:extLst>
          </p:cNvPr>
          <p:cNvSpPr>
            <a:spLocks xmlns:a="http://schemas.openxmlformats.org/drawingml/2006/main" noGrp="1"/>
          </p:cNvSpPr>
          <p:nvPr/>
        </p:nvSpPr>
        <p:spPr>
          <a:xfrm xmlns:a="http://schemas.openxmlformats.org/drawingml/2006/main">
            <a:off x="2244090" y="3141345"/>
            <a:ext cx="1485900"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1">
            <a:extLst xmlns:a="http://schemas.openxmlformats.org/drawingml/2006/main">
              <a:ext uri="{FF2B5EF4-FFF2-40B4-BE49-F238E27FC236}">
                <a16:creationId xmlns:a16="http://schemas.microsoft.com/office/drawing/2014/main" id="{7AD5F2DE-93B9-42F6-9623-C05029996D66}"/>
              </a:ext>
            </a:extLst>
          </p:cNvPr>
          <p:cNvSpPr>
            <a:spLocks xmlns:a="http://schemas.openxmlformats.org/drawingml/2006/main" noGrp="1"/>
          </p:cNvSpPr>
          <p:nvPr/>
        </p:nvSpPr>
        <p:spPr>
          <a:xfrm xmlns:a="http://schemas.openxmlformats.org/drawingml/2006/main">
            <a:off x="2358390" y="3217545"/>
            <a:ext cx="12573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mixed-integer linear program</a:t>
            </a:r>
          </a:p>
        </p:txBody>
      </p:sp>
      <p:sp>
        <p:nvSpPr>
          <p:cNvPr id="18" name="">
            <a:extLst xmlns:a="http://schemas.openxmlformats.org/drawingml/2006/main">
              <a:ext uri="{FF2B5EF4-FFF2-40B4-BE49-F238E27FC236}">
                <a16:creationId xmlns:a16="http://schemas.microsoft.com/office/drawing/2014/main" id="{DC366A4E-77D6-4CAA-8AC6-A79AFC02ACB9}"/>
              </a:ext>
            </a:extLst>
          </p:cNvPr>
          <p:cNvSpPr>
            <a:spLocks xmlns:a="http://schemas.openxmlformats.org/drawingml/2006/main" noGrp="1"/>
          </p:cNvSpPr>
          <p:nvPr/>
        </p:nvSpPr>
        <p:spPr>
          <a:xfrm xmlns:a="http://schemas.openxmlformats.org/drawingml/2006/main">
            <a:off x="3729990" y="3141345"/>
            <a:ext cx="2303145"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9" name="cell-0-2">
            <a:extLst xmlns:a="http://schemas.openxmlformats.org/drawingml/2006/main">
              <a:ext uri="{FF2B5EF4-FFF2-40B4-BE49-F238E27FC236}">
                <a16:creationId xmlns:a16="http://schemas.microsoft.com/office/drawing/2014/main" id="{91208420-CA4B-49D5-953E-62744609C4A2}"/>
              </a:ext>
            </a:extLst>
          </p:cNvPr>
          <p:cNvSpPr>
            <a:spLocks xmlns:a="http://schemas.openxmlformats.org/drawingml/2006/main" noGrp="1"/>
          </p:cNvSpPr>
          <p:nvPr/>
        </p:nvSpPr>
        <p:spPr>
          <a:xfrm xmlns:a="http://schemas.openxmlformats.org/drawingml/2006/main">
            <a:off x="3844290" y="3217545"/>
            <a:ext cx="2074545"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status, gap, feasibility, tolerances</a:t>
            </a:r>
          </a:p>
        </p:txBody>
      </p:sp>
      <p:sp>
        <p:nvSpPr>
          <p:cNvPr id="20" name="">
            <a:extLst xmlns:a="http://schemas.openxmlformats.org/drawingml/2006/main">
              <a:ext uri="{FF2B5EF4-FFF2-40B4-BE49-F238E27FC236}">
                <a16:creationId xmlns:a16="http://schemas.microsoft.com/office/drawing/2014/main" id="{7A0254F2-288C-48C4-B9BC-12646C46C61B}"/>
              </a:ext>
            </a:extLst>
          </p:cNvPr>
          <p:cNvSpPr>
            <a:spLocks xmlns:a="http://schemas.openxmlformats.org/drawingml/2006/main" noGrp="1"/>
          </p:cNvSpPr>
          <p:nvPr/>
        </p:nvSpPr>
        <p:spPr>
          <a:xfrm xmlns:a="http://schemas.openxmlformats.org/drawingml/2006/main">
            <a:off x="6033135" y="3141345"/>
            <a:ext cx="2005965"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1" name="cell-0-3">
            <a:extLst xmlns:a="http://schemas.openxmlformats.org/drawingml/2006/main">
              <a:ext uri="{FF2B5EF4-FFF2-40B4-BE49-F238E27FC236}">
                <a16:creationId xmlns:a16="http://schemas.microsoft.com/office/drawing/2014/main" id="{BEE8E594-D861-4DBD-BA70-3F9761D400D1}"/>
              </a:ext>
            </a:extLst>
          </p:cNvPr>
          <p:cNvSpPr>
            <a:spLocks xmlns:a="http://schemas.openxmlformats.org/drawingml/2006/main" noGrp="1"/>
          </p:cNvSpPr>
          <p:nvPr/>
        </p:nvSpPr>
        <p:spPr>
          <a:xfrm xmlns:a="http://schemas.openxmlformats.org/drawingml/2006/main">
            <a:off x="6147435" y="3217545"/>
            <a:ext cx="1777365"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the model proves reality is optimal</a:t>
            </a:r>
          </a:p>
        </p:txBody>
      </p:sp>
      <p:sp>
        <p:nvSpPr>
          <p:cNvPr id="22" name="">
            <a:extLst xmlns:a="http://schemas.openxmlformats.org/drawingml/2006/main">
              <a:ext uri="{FF2B5EF4-FFF2-40B4-BE49-F238E27FC236}">
                <a16:creationId xmlns:a16="http://schemas.microsoft.com/office/drawing/2014/main" id="{9167B0CF-5941-40F2-9F59-342DF2A229CA}"/>
              </a:ext>
            </a:extLst>
          </p:cNvPr>
          <p:cNvSpPr>
            <a:spLocks xmlns:a="http://schemas.openxmlformats.org/drawingml/2006/main" noGrp="1"/>
          </p:cNvSpPr>
          <p:nvPr/>
        </p:nvSpPr>
        <p:spPr>
          <a:xfrm xmlns:a="http://schemas.openxmlformats.org/drawingml/2006/main">
            <a:off x="609600" y="3876675"/>
            <a:ext cx="1634490" cy="73533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0">
            <a:extLst xmlns:a="http://schemas.openxmlformats.org/drawingml/2006/main">
              <a:ext uri="{FF2B5EF4-FFF2-40B4-BE49-F238E27FC236}">
                <a16:creationId xmlns:a16="http://schemas.microsoft.com/office/drawing/2014/main" id="{BFC5BB1A-8EEE-419D-9CBA-31C44D3BE51B}"/>
              </a:ext>
            </a:extLst>
          </p:cNvPr>
          <p:cNvSpPr>
            <a:spLocks xmlns:a="http://schemas.openxmlformats.org/drawingml/2006/main" noGrp="1"/>
          </p:cNvSpPr>
          <p:nvPr/>
        </p:nvSpPr>
        <p:spPr>
          <a:xfrm xmlns:a="http://schemas.openxmlformats.org/drawingml/2006/main">
            <a:off x="723900" y="3952875"/>
            <a:ext cx="140589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two or more conflicting objectives</a:t>
            </a:r>
          </a:p>
        </p:txBody>
      </p:sp>
      <p:sp>
        <p:nvSpPr>
          <p:cNvPr id="24" name="">
            <a:extLst xmlns:a="http://schemas.openxmlformats.org/drawingml/2006/main">
              <a:ext uri="{FF2B5EF4-FFF2-40B4-BE49-F238E27FC236}">
                <a16:creationId xmlns:a16="http://schemas.microsoft.com/office/drawing/2014/main" id="{9A092158-11D4-469C-AE43-1D7C5A6D29CA}"/>
              </a:ext>
            </a:extLst>
          </p:cNvPr>
          <p:cNvSpPr>
            <a:spLocks xmlns:a="http://schemas.openxmlformats.org/drawingml/2006/main" noGrp="1"/>
          </p:cNvSpPr>
          <p:nvPr/>
        </p:nvSpPr>
        <p:spPr>
          <a:xfrm xmlns:a="http://schemas.openxmlformats.org/drawingml/2006/main">
            <a:off x="2244090" y="3876675"/>
            <a:ext cx="1485900" cy="73533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5" name="cell-1-1">
            <a:extLst xmlns:a="http://schemas.openxmlformats.org/drawingml/2006/main">
              <a:ext uri="{FF2B5EF4-FFF2-40B4-BE49-F238E27FC236}">
                <a16:creationId xmlns:a16="http://schemas.microsoft.com/office/drawing/2014/main" id="{5D97E572-0C1C-49E7-969F-DE8A5F097C2A}"/>
              </a:ext>
            </a:extLst>
          </p:cNvPr>
          <p:cNvSpPr>
            <a:spLocks xmlns:a="http://schemas.openxmlformats.org/drawingml/2006/main" noGrp="1"/>
          </p:cNvSpPr>
          <p:nvPr/>
        </p:nvSpPr>
        <p:spPr>
          <a:xfrm xmlns:a="http://schemas.openxmlformats.org/drawingml/2006/main">
            <a:off x="2358390" y="3952875"/>
            <a:ext cx="12573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multiobjective search</a:t>
            </a:r>
          </a:p>
        </p:txBody>
      </p:sp>
      <p:sp>
        <p:nvSpPr>
          <p:cNvPr id="26" name="">
            <a:extLst xmlns:a="http://schemas.openxmlformats.org/drawingml/2006/main">
              <a:ext uri="{FF2B5EF4-FFF2-40B4-BE49-F238E27FC236}">
                <a16:creationId xmlns:a16="http://schemas.microsoft.com/office/drawing/2014/main" id="{9AAB476B-088E-4C29-B910-37561B9F75DD}"/>
              </a:ext>
            </a:extLst>
          </p:cNvPr>
          <p:cNvSpPr>
            <a:spLocks xmlns:a="http://schemas.openxmlformats.org/drawingml/2006/main" noGrp="1"/>
          </p:cNvSpPr>
          <p:nvPr/>
        </p:nvSpPr>
        <p:spPr>
          <a:xfrm xmlns:a="http://schemas.openxmlformats.org/drawingml/2006/main">
            <a:off x="3729990" y="3876675"/>
            <a:ext cx="2303145" cy="73533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7" name="cell-1-2">
            <a:extLst xmlns:a="http://schemas.openxmlformats.org/drawingml/2006/main">
              <a:ext uri="{FF2B5EF4-FFF2-40B4-BE49-F238E27FC236}">
                <a16:creationId xmlns:a16="http://schemas.microsoft.com/office/drawing/2014/main" id="{28DF47A9-3F52-4540-8CD8-FF28C9CBCE5C}"/>
              </a:ext>
            </a:extLst>
          </p:cNvPr>
          <p:cNvSpPr>
            <a:spLocks xmlns:a="http://schemas.openxmlformats.org/drawingml/2006/main" noGrp="1"/>
          </p:cNvSpPr>
          <p:nvPr/>
        </p:nvSpPr>
        <p:spPr>
          <a:xfrm xmlns:a="http://schemas.openxmlformats.org/drawingml/2006/main">
            <a:off x="3844290" y="3952875"/>
            <a:ext cx="2074545"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non-dominated set and trade-offs</a:t>
            </a:r>
          </a:p>
        </p:txBody>
      </p:sp>
      <p:sp>
        <p:nvSpPr>
          <p:cNvPr id="28" name="">
            <a:extLst xmlns:a="http://schemas.openxmlformats.org/drawingml/2006/main">
              <a:ext uri="{FF2B5EF4-FFF2-40B4-BE49-F238E27FC236}">
                <a16:creationId xmlns:a16="http://schemas.microsoft.com/office/drawing/2014/main" id="{D1047720-B153-4036-9C91-E541A65BF9D0}"/>
              </a:ext>
            </a:extLst>
          </p:cNvPr>
          <p:cNvSpPr>
            <a:spLocks xmlns:a="http://schemas.openxmlformats.org/drawingml/2006/main" noGrp="1"/>
          </p:cNvSpPr>
          <p:nvPr/>
        </p:nvSpPr>
        <p:spPr>
          <a:xfrm xmlns:a="http://schemas.openxmlformats.org/drawingml/2006/main">
            <a:off x="6033135" y="3876675"/>
            <a:ext cx="2005965" cy="73533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9" name="cell-1-3">
            <a:extLst xmlns:a="http://schemas.openxmlformats.org/drawingml/2006/main">
              <a:ext uri="{FF2B5EF4-FFF2-40B4-BE49-F238E27FC236}">
                <a16:creationId xmlns:a16="http://schemas.microsoft.com/office/drawing/2014/main" id="{C041A050-70DC-4ED4-AC39-61EF6C779B0C}"/>
              </a:ext>
            </a:extLst>
          </p:cNvPr>
          <p:cNvSpPr>
            <a:spLocks xmlns:a="http://schemas.openxmlformats.org/drawingml/2006/main" noGrp="1"/>
          </p:cNvSpPr>
          <p:nvPr/>
        </p:nvSpPr>
        <p:spPr>
          <a:xfrm xmlns:a="http://schemas.openxmlformats.org/drawingml/2006/main">
            <a:off x="6147435" y="3952875"/>
            <a:ext cx="1777365"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one point is best without preferences</a:t>
            </a:r>
          </a:p>
        </p:txBody>
      </p:sp>
      <p:sp>
        <p:nvSpPr>
          <p:cNvPr id="30" name="">
            <a:extLst xmlns:a="http://schemas.openxmlformats.org/drawingml/2006/main">
              <a:ext uri="{FF2B5EF4-FFF2-40B4-BE49-F238E27FC236}">
                <a16:creationId xmlns:a16="http://schemas.microsoft.com/office/drawing/2014/main" id="{9D2AC616-72C5-48E8-94A1-BC42A8137F2C}"/>
              </a:ext>
            </a:extLst>
          </p:cNvPr>
          <p:cNvSpPr>
            <a:spLocks xmlns:a="http://schemas.openxmlformats.org/drawingml/2006/main" noGrp="1"/>
          </p:cNvSpPr>
          <p:nvPr/>
        </p:nvSpPr>
        <p:spPr>
          <a:xfrm xmlns:a="http://schemas.openxmlformats.org/drawingml/2006/main">
            <a:off x="609600" y="4612005"/>
            <a:ext cx="1634490"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1" name="cell-2-0">
            <a:extLst xmlns:a="http://schemas.openxmlformats.org/drawingml/2006/main">
              <a:ext uri="{FF2B5EF4-FFF2-40B4-BE49-F238E27FC236}">
                <a16:creationId xmlns:a16="http://schemas.microsoft.com/office/drawing/2014/main" id="{B96E4B52-3CA6-43FC-A5C5-EFA619524759}"/>
              </a:ext>
            </a:extLst>
          </p:cNvPr>
          <p:cNvSpPr>
            <a:spLocks xmlns:a="http://schemas.openxmlformats.org/drawingml/2006/main" noGrp="1"/>
          </p:cNvSpPr>
          <p:nvPr/>
        </p:nvSpPr>
        <p:spPr>
          <a:xfrm xmlns:a="http://schemas.openxmlformats.org/drawingml/2006/main">
            <a:off x="723900" y="4688205"/>
            <a:ext cx="140589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costly simulation or experiment</a:t>
            </a:r>
          </a:p>
        </p:txBody>
      </p:sp>
      <p:sp>
        <p:nvSpPr>
          <p:cNvPr id="32" name="">
            <a:extLst xmlns:a="http://schemas.openxmlformats.org/drawingml/2006/main">
              <a:ext uri="{FF2B5EF4-FFF2-40B4-BE49-F238E27FC236}">
                <a16:creationId xmlns:a16="http://schemas.microsoft.com/office/drawing/2014/main" id="{AC2A92C0-F3F4-4AC9-BD63-782781B38A37}"/>
              </a:ext>
            </a:extLst>
          </p:cNvPr>
          <p:cNvSpPr>
            <a:spLocks xmlns:a="http://schemas.openxmlformats.org/drawingml/2006/main" noGrp="1"/>
          </p:cNvSpPr>
          <p:nvPr/>
        </p:nvSpPr>
        <p:spPr>
          <a:xfrm xmlns:a="http://schemas.openxmlformats.org/drawingml/2006/main">
            <a:off x="2244090" y="4612005"/>
            <a:ext cx="1485900"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3" name="cell-2-1">
            <a:extLst xmlns:a="http://schemas.openxmlformats.org/drawingml/2006/main">
              <a:ext uri="{FF2B5EF4-FFF2-40B4-BE49-F238E27FC236}">
                <a16:creationId xmlns:a16="http://schemas.microsoft.com/office/drawing/2014/main" id="{5CAD4B56-6655-44E4-A03B-466654935819}"/>
              </a:ext>
            </a:extLst>
          </p:cNvPr>
          <p:cNvSpPr>
            <a:spLocks xmlns:a="http://schemas.openxmlformats.org/drawingml/2006/main" noGrp="1"/>
          </p:cNvSpPr>
          <p:nvPr/>
        </p:nvSpPr>
        <p:spPr>
          <a:xfrm xmlns:a="http://schemas.openxmlformats.org/drawingml/2006/main">
            <a:off x="2358390" y="4688205"/>
            <a:ext cx="12573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Bayesian optimization</a:t>
            </a:r>
          </a:p>
        </p:txBody>
      </p:sp>
      <p:sp>
        <p:nvSpPr>
          <p:cNvPr id="34" name="">
            <a:extLst xmlns:a="http://schemas.openxmlformats.org/drawingml/2006/main">
              <a:ext uri="{FF2B5EF4-FFF2-40B4-BE49-F238E27FC236}">
                <a16:creationId xmlns:a16="http://schemas.microsoft.com/office/drawing/2014/main" id="{81E5C493-B1CB-4588-81FC-53B2997C7338}"/>
              </a:ext>
            </a:extLst>
          </p:cNvPr>
          <p:cNvSpPr>
            <a:spLocks xmlns:a="http://schemas.openxmlformats.org/drawingml/2006/main" noGrp="1"/>
          </p:cNvSpPr>
          <p:nvPr/>
        </p:nvSpPr>
        <p:spPr>
          <a:xfrm xmlns:a="http://schemas.openxmlformats.org/drawingml/2006/main">
            <a:off x="3729990" y="4612005"/>
            <a:ext cx="2303145"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5" name="cell-2-2">
            <a:extLst xmlns:a="http://schemas.openxmlformats.org/drawingml/2006/main">
              <a:ext uri="{FF2B5EF4-FFF2-40B4-BE49-F238E27FC236}">
                <a16:creationId xmlns:a16="http://schemas.microsoft.com/office/drawing/2014/main" id="{F8B5C296-4C29-4680-BBF6-F8937B4ED7D1}"/>
              </a:ext>
            </a:extLst>
          </p:cNvPr>
          <p:cNvSpPr>
            <a:spLocks xmlns:a="http://schemas.openxmlformats.org/drawingml/2006/main" noGrp="1"/>
          </p:cNvSpPr>
          <p:nvPr/>
        </p:nvSpPr>
        <p:spPr>
          <a:xfrm xmlns:a="http://schemas.openxmlformats.org/drawingml/2006/main">
            <a:off x="3844290" y="4688205"/>
            <a:ext cx="2074545"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evaluation budget and confirmed finalists</a:t>
            </a:r>
          </a:p>
        </p:txBody>
      </p:sp>
      <p:sp>
        <p:nvSpPr>
          <p:cNvPr id="36" name="">
            <a:extLst xmlns:a="http://schemas.openxmlformats.org/drawingml/2006/main">
              <a:ext uri="{FF2B5EF4-FFF2-40B4-BE49-F238E27FC236}">
                <a16:creationId xmlns:a16="http://schemas.microsoft.com/office/drawing/2014/main" id="{F8C69932-856A-48E7-A577-C42388A64C13}"/>
              </a:ext>
            </a:extLst>
          </p:cNvPr>
          <p:cNvSpPr>
            <a:spLocks xmlns:a="http://schemas.openxmlformats.org/drawingml/2006/main" noGrp="1"/>
          </p:cNvSpPr>
          <p:nvPr/>
        </p:nvSpPr>
        <p:spPr>
          <a:xfrm xmlns:a="http://schemas.openxmlformats.org/drawingml/2006/main">
            <a:off x="6033135" y="4612005"/>
            <a:ext cx="2005965"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7" name="cell-2-3">
            <a:extLst xmlns:a="http://schemas.openxmlformats.org/drawingml/2006/main">
              <a:ext uri="{FF2B5EF4-FFF2-40B4-BE49-F238E27FC236}">
                <a16:creationId xmlns:a16="http://schemas.microsoft.com/office/drawing/2014/main" id="{4531F12C-EFE0-49E3-B1DA-902B28501BD4}"/>
              </a:ext>
            </a:extLst>
          </p:cNvPr>
          <p:cNvSpPr>
            <a:spLocks xmlns:a="http://schemas.openxmlformats.org/drawingml/2006/main" noGrp="1"/>
          </p:cNvSpPr>
          <p:nvPr/>
        </p:nvSpPr>
        <p:spPr>
          <a:xfrm xmlns:a="http://schemas.openxmlformats.org/drawingml/2006/main">
            <a:off x="6147435" y="4688205"/>
            <a:ext cx="1777365"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the surrogate optimum is verified</a:t>
            </a:r>
          </a:p>
        </p:txBody>
      </p:sp>
      <p:sp>
        <p:nvSpPr>
          <p:cNvPr id="38" name="callout-label">
            <a:extLst xmlns:a="http://schemas.openxmlformats.org/drawingml/2006/main">
              <a:ext uri="{FF2B5EF4-FFF2-40B4-BE49-F238E27FC236}">
                <a16:creationId xmlns:a16="http://schemas.microsoft.com/office/drawing/2014/main" id="{D2CD81A2-ADEE-46DA-9645-ADBE570E7815}"/>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39" name="callout">
            <a:extLst xmlns:a="http://schemas.openxmlformats.org/drawingml/2006/main">
              <a:ext uri="{FF2B5EF4-FFF2-40B4-BE49-F238E27FC236}">
                <a16:creationId xmlns:a16="http://schemas.microsoft.com/office/drawing/2014/main" id="{51E65FC0-8005-4742-B7C1-AF56AD339DAF}"/>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Method names do not create validity. A bounded model, fair budget, baseline, repeatability, and independent confirmation do.</a:t>
            </a:r>
          </a:p>
        </p:txBody>
      </p:sp>
    </p:spTree>
    <p:extLst>
      <p:ext uri="{BB962C8B-B14F-4D97-AF65-F5344CB8AC3E}">
        <p14:creationId xmlns:p14="http://schemas.microsoft.com/office/powerpoint/2010/main" val="920499568"/>
      </p:ext>
    </p:extLst>
  </p:cSld>
</p:sld>
</file>

<file path=ppt/slides/slide43.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12" name="close-week">
            <a:extLst xmlns:a="http://schemas.openxmlformats.org/drawingml/2006/main">
              <a:ext uri="{FF2B5EF4-FFF2-40B4-BE49-F238E27FC236}">
                <a16:creationId xmlns:a16="http://schemas.microsoft.com/office/drawing/2014/main" id="{FF5F05DD-C380-4503-92CE-1FC41CDE4C85}"/>
              </a:ext>
            </a:extLst>
          </p:cNvPr>
          <p:cNvSpPr>
            <a:spLocks xmlns:a="http://schemas.openxmlformats.org/drawingml/2006/main" noGrp="1"/>
          </p:cNvSpPr>
          <p:nvPr/>
        </p:nvSpPr>
        <p:spPr>
          <a:xfrm xmlns:a="http://schemas.openxmlformats.org/drawingml/2006/main">
            <a:off x="609600" y="4572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12 · MEETING A · OPTIMIZATION III: HEURISTIC AND METAHEURISTIC SEARCH</a:t>
            </a:r>
          </a:p>
        </p:txBody>
      </p:sp>
      <p:sp>
        <p:nvSpPr>
          <p:cNvPr id="2" name="close-title">
            <a:extLst xmlns:a="http://schemas.openxmlformats.org/drawingml/2006/main">
              <a:ext uri="{FF2B5EF4-FFF2-40B4-BE49-F238E27FC236}">
                <a16:creationId xmlns:a16="http://schemas.microsoft.com/office/drawing/2014/main" id="{7385ED03-B401-4068-9F95-E3979E3F354F}"/>
              </a:ext>
            </a:extLst>
          </p:cNvPr>
          <p:cNvSpPr>
            <a:spLocks xmlns:a="http://schemas.openxmlformats.org/drawingml/2006/main" noGrp="1"/>
          </p:cNvSpPr>
          <p:nvPr/>
        </p:nvSpPr>
        <p:spPr>
          <a:xfrm xmlns:a="http://schemas.openxmlformats.org/drawingml/2006/main">
            <a:off x="609600" y="1066800"/>
            <a:ext cx="10972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FFFFFF"/>
                </a:solidFill>
                <a:latin typeface="Arial"/>
                <a:ea typeface="Arial"/>
                <a:cs typeface="Arial"/>
              </a:defRPr>
            </a:pPr>
            <a:r>
              <a:rPr sz="3600" b="1">
                <a:solidFill>
                  <a:srgbClr val="FFFFFF"/>
                </a:solidFill>
                <a:latin typeface="Arial"/>
                <a:ea typeface="Arial"/>
                <a:cs typeface="Arial"/>
              </a:rPr>
              <a:t>A third family for decisions with no slope</a:t>
            </a:r>
          </a:p>
        </p:txBody>
      </p:sp>
      <p:sp>
        <p:nvSpPr>
          <p:cNvPr id="3" name="">
            <a:extLst xmlns:a="http://schemas.openxmlformats.org/drawingml/2006/main">
              <a:ext uri="{FF2B5EF4-FFF2-40B4-BE49-F238E27FC236}">
                <a16:creationId xmlns:a16="http://schemas.microsoft.com/office/drawing/2014/main" id="{03152260-7816-4494-B872-F7B164D4B751}"/>
              </a:ext>
            </a:extLst>
          </p:cNvPr>
          <p:cNvSpPr>
            <a:spLocks xmlns:a="http://schemas.openxmlformats.org/drawingml/2006/main" noGrp="1"/>
          </p:cNvSpPr>
          <p:nvPr/>
        </p:nvSpPr>
        <p:spPr>
          <a:xfrm xmlns:a="http://schemas.openxmlformats.org/drawingml/2006/main">
            <a:off x="609600" y="2324100"/>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4" name="take-no-0">
            <a:extLst xmlns:a="http://schemas.openxmlformats.org/drawingml/2006/main">
              <a:ext uri="{FF2B5EF4-FFF2-40B4-BE49-F238E27FC236}">
                <a16:creationId xmlns:a16="http://schemas.microsoft.com/office/drawing/2014/main" id="{56F72EE0-814A-4C99-94F6-8BDC065A7CED}"/>
              </a:ext>
            </a:extLst>
          </p:cNvPr>
          <p:cNvSpPr>
            <a:spLocks xmlns:a="http://schemas.openxmlformats.org/drawingml/2006/main" noGrp="1"/>
          </p:cNvSpPr>
          <p:nvPr/>
        </p:nvSpPr>
        <p:spPr>
          <a:xfrm xmlns:a="http://schemas.openxmlformats.org/drawingml/2006/main">
            <a:off x="609600" y="2743200"/>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01</a:t>
            </a:r>
          </a:p>
        </p:txBody>
      </p:sp>
      <p:sp>
        <p:nvSpPr>
          <p:cNvPr id="5" name="take-0">
            <a:extLst xmlns:a="http://schemas.openxmlformats.org/drawingml/2006/main">
              <a:ext uri="{FF2B5EF4-FFF2-40B4-BE49-F238E27FC236}">
                <a16:creationId xmlns:a16="http://schemas.microsoft.com/office/drawing/2014/main" id="{EBEDBBB9-E27B-47E2-B71B-CB72BEFD7F2F}"/>
              </a:ext>
            </a:extLst>
          </p:cNvPr>
          <p:cNvSpPr>
            <a:spLocks xmlns:a="http://schemas.openxmlformats.org/drawingml/2006/main" noGrp="1"/>
          </p:cNvSpPr>
          <p:nvPr/>
        </p:nvSpPr>
        <p:spPr>
          <a:xfrm xmlns:a="http://schemas.openxmlformats.org/drawingml/2006/main">
            <a:off x="1409700" y="2705100"/>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Discrete arrangements have no usable slope, so they need a different search family.</a:t>
            </a:r>
          </a:p>
        </p:txBody>
      </p:sp>
      <p:sp>
        <p:nvSpPr>
          <p:cNvPr id="6" name="take-no-1">
            <a:extLst xmlns:a="http://schemas.openxmlformats.org/drawingml/2006/main">
              <a:ext uri="{FF2B5EF4-FFF2-40B4-BE49-F238E27FC236}">
                <a16:creationId xmlns:a16="http://schemas.microsoft.com/office/drawing/2014/main" id="{78E2EDBD-7FB1-40D3-A069-7B0084284E8F}"/>
              </a:ext>
            </a:extLst>
          </p:cNvPr>
          <p:cNvSpPr>
            <a:spLocks xmlns:a="http://schemas.openxmlformats.org/drawingml/2006/main" noGrp="1"/>
          </p:cNvSpPr>
          <p:nvPr/>
        </p:nvSpPr>
        <p:spPr>
          <a:xfrm xmlns:a="http://schemas.openxmlformats.org/drawingml/2006/main">
            <a:off x="609600" y="3528822"/>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02</a:t>
            </a:r>
          </a:p>
        </p:txBody>
      </p:sp>
      <p:sp>
        <p:nvSpPr>
          <p:cNvPr id="7" name="take-1">
            <a:extLst xmlns:a="http://schemas.openxmlformats.org/drawingml/2006/main">
              <a:ext uri="{FF2B5EF4-FFF2-40B4-BE49-F238E27FC236}">
                <a16:creationId xmlns:a16="http://schemas.microsoft.com/office/drawing/2014/main" id="{8E4DC0EA-BF9F-478C-B6A5-F71AAB34985E}"/>
              </a:ext>
            </a:extLst>
          </p:cNvPr>
          <p:cNvSpPr>
            <a:spLocks xmlns:a="http://schemas.openxmlformats.org/drawingml/2006/main" noGrp="1"/>
          </p:cNvSpPr>
          <p:nvPr/>
        </p:nvSpPr>
        <p:spPr>
          <a:xfrm xmlns:a="http://schemas.openxmlformats.org/drawingml/2006/main">
            <a:off x="1409700" y="3490722"/>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Random search and hill climbing can improve a design; restarts raise—not guarantee—the chance of a better result.</a:t>
            </a:r>
          </a:p>
        </p:txBody>
      </p:sp>
      <p:sp>
        <p:nvSpPr>
          <p:cNvPr id="8" name="take-no-2">
            <a:extLst xmlns:a="http://schemas.openxmlformats.org/drawingml/2006/main">
              <a:ext uri="{FF2B5EF4-FFF2-40B4-BE49-F238E27FC236}">
                <a16:creationId xmlns:a16="http://schemas.microsoft.com/office/drawing/2014/main" id="{B33CF442-0EC4-42B4-A01C-141680ADFEFB}"/>
              </a:ext>
            </a:extLst>
          </p:cNvPr>
          <p:cNvSpPr>
            <a:spLocks xmlns:a="http://schemas.openxmlformats.org/drawingml/2006/main" noGrp="1"/>
          </p:cNvSpPr>
          <p:nvPr/>
        </p:nvSpPr>
        <p:spPr>
          <a:xfrm xmlns:a="http://schemas.openxmlformats.org/drawingml/2006/main">
            <a:off x="609600" y="4314444"/>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03</a:t>
            </a:r>
          </a:p>
        </p:txBody>
      </p:sp>
      <p:sp>
        <p:nvSpPr>
          <p:cNvPr id="9" name="take-2">
            <a:extLst xmlns:a="http://schemas.openxmlformats.org/drawingml/2006/main">
              <a:ext uri="{FF2B5EF4-FFF2-40B4-BE49-F238E27FC236}">
                <a16:creationId xmlns:a16="http://schemas.microsoft.com/office/drawing/2014/main" id="{FA469CD9-2CC8-474A-A27B-530A162C9529}"/>
              </a:ext>
            </a:extLst>
          </p:cNvPr>
          <p:cNvSpPr>
            <a:spLocks xmlns:a="http://schemas.openxmlformats.org/drawingml/2006/main" noGrp="1"/>
          </p:cNvSpPr>
          <p:nvPr/>
        </p:nvSpPr>
        <p:spPr>
          <a:xfrm xmlns:a="http://schemas.openxmlformats.org/drawingml/2006/main">
            <a:off x="1409700" y="4276344"/>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This GA matched the exhaustive N=6 baseline; that match is verification for this run, not a general guarantee.</a:t>
            </a:r>
          </a:p>
        </p:txBody>
      </p:sp>
      <p:sp>
        <p:nvSpPr>
          <p:cNvPr id="10" name="take-no-3">
            <a:extLst xmlns:a="http://schemas.openxmlformats.org/drawingml/2006/main">
              <a:ext uri="{FF2B5EF4-FFF2-40B4-BE49-F238E27FC236}">
                <a16:creationId xmlns:a16="http://schemas.microsoft.com/office/drawing/2014/main" id="{B6E3A881-3099-4D4F-B0B3-201B40AD0B49}"/>
              </a:ext>
            </a:extLst>
          </p:cNvPr>
          <p:cNvSpPr>
            <a:spLocks xmlns:a="http://schemas.openxmlformats.org/drawingml/2006/main" noGrp="1"/>
          </p:cNvSpPr>
          <p:nvPr/>
        </p:nvSpPr>
        <p:spPr>
          <a:xfrm xmlns:a="http://schemas.openxmlformats.org/drawingml/2006/main">
            <a:off x="609600" y="5100066"/>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04</a:t>
            </a:r>
          </a:p>
        </p:txBody>
      </p:sp>
      <p:sp>
        <p:nvSpPr>
          <p:cNvPr id="11" name="take-3">
            <a:extLst xmlns:a="http://schemas.openxmlformats.org/drawingml/2006/main">
              <a:ext uri="{FF2B5EF4-FFF2-40B4-BE49-F238E27FC236}">
                <a16:creationId xmlns:a16="http://schemas.microsoft.com/office/drawing/2014/main" id="{F3104CE6-28DF-41E9-B915-43166A228851}"/>
              </a:ext>
            </a:extLst>
          </p:cNvPr>
          <p:cNvSpPr>
            <a:spLocks xmlns:a="http://schemas.openxmlformats.org/drawingml/2006/main" noGrp="1"/>
          </p:cNvSpPr>
          <p:nvPr/>
        </p:nvSpPr>
        <p:spPr>
          <a:xfrm xmlns:a="http://schemas.openxmlformats.org/drawingml/2006/main">
            <a:off x="1409700" y="5061966"/>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Factorial growth makes enumeration infeasible quickly: 12! is about 479 million arrangements.</a:t>
            </a:r>
          </a:p>
        </p:txBody>
      </p:sp>
    </p:spTree>
    <p:extLst>
      <p:ext uri="{BB962C8B-B14F-4D97-AF65-F5344CB8AC3E}">
        <p14:creationId xmlns:p14="http://schemas.microsoft.com/office/powerpoint/2010/main" val="8170408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2026-08-20T16:34:55.8260000Z</dcterms:created>
  <dcterms:modified xsi:type="dcterms:W3CDTF">2026-08-20T16:34:55.8260000Z</dcterms:modified>
</coreProperties>
</file>