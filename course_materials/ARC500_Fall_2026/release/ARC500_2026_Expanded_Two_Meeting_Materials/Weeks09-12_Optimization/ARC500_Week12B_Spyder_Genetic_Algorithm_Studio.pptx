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6d3728966e4efb" /><Relationship Type="http://schemas.openxmlformats.org/officeDocument/2006/relationships/extended-properties" Target="/docProps/app.xml" Id="R25defe5d5826456a" /><Relationship Type="http://schemas.openxmlformats.org/officeDocument/2006/relationships/officeDocument" Target="/ppt/presentation.xml" Id="Rbef71324b26241b2" /></Relationships>
</file>

<file path=ppt/presentation.xml><?xml version="1.0" encoding="utf-8"?>
<p:presentation xmlns:p="http://schemas.openxmlformats.org/presentationml/2006/main">
  <p:sldMasterIdLst>
    <p:sldMasterId xmlns:r="http://schemas.openxmlformats.org/officeDocument/2006/relationships" id="2147483648" r:id="R4782fba6630f4530"/>
  </p:sldMasterIdLst>
  <p:notesMasterIdLst>
    <p:notesMasterId xmlns:r="http://schemas.openxmlformats.org/officeDocument/2006/relationships" r:id="Rc3d543c93f124b62"/>
  </p:notesMasterIdLst>
  <p:sldIdLst>
    <p:sldId xmlns:r="http://schemas.openxmlformats.org/officeDocument/2006/relationships" id="256" r:id="R1be3de66e84d4631"/>
    <p:sldId xmlns:r="http://schemas.openxmlformats.org/officeDocument/2006/relationships" id="257" r:id="Rb4762a2dce6c4932"/>
    <p:sldId xmlns:r="http://schemas.openxmlformats.org/officeDocument/2006/relationships" id="258" r:id="R3a76e2cfe1144f61"/>
    <p:sldId xmlns:r="http://schemas.openxmlformats.org/officeDocument/2006/relationships" id="259" r:id="R3a314a7271bf4ecb"/>
    <p:sldId xmlns:r="http://schemas.openxmlformats.org/officeDocument/2006/relationships" id="260" r:id="R5d208761ccb845ac"/>
    <p:sldId xmlns:r="http://schemas.openxmlformats.org/officeDocument/2006/relationships" id="261" r:id="R0ffcc2d2b63f4acd"/>
    <p:sldId xmlns:r="http://schemas.openxmlformats.org/officeDocument/2006/relationships" id="262" r:id="R2486e26d16c54540"/>
    <p:sldId xmlns:r="http://schemas.openxmlformats.org/officeDocument/2006/relationships" id="263" r:id="R2c57febb784149d6"/>
    <p:sldId xmlns:r="http://schemas.openxmlformats.org/officeDocument/2006/relationships" id="264" r:id="R671031da600b4edc"/>
    <p:sldId xmlns:r="http://schemas.openxmlformats.org/officeDocument/2006/relationships" id="265" r:id="R757898453f494c9f"/>
    <p:sldId xmlns:r="http://schemas.openxmlformats.org/officeDocument/2006/relationships" id="266" r:id="R3982a8a5af1a49e2"/>
    <p:sldId xmlns:r="http://schemas.openxmlformats.org/officeDocument/2006/relationships" id="267" r:id="Rdca86ce29b794e6e"/>
    <p:sldId xmlns:r="http://schemas.openxmlformats.org/officeDocument/2006/relationships" id="268" r:id="Rc16452d3872249ae"/>
    <p:sldId xmlns:r="http://schemas.openxmlformats.org/officeDocument/2006/relationships" id="269" r:id="Rbc9ef45df84f417a"/>
    <p:sldId xmlns:r="http://schemas.openxmlformats.org/officeDocument/2006/relationships" id="270" r:id="R206985188ea24c58"/>
    <p:sldId xmlns:r="http://schemas.openxmlformats.org/officeDocument/2006/relationships" id="271" r:id="Rb6d55ea15919402c"/>
    <p:sldId xmlns:r="http://schemas.openxmlformats.org/officeDocument/2006/relationships" id="272" r:id="R416db0bd8ab8453e"/>
    <p:sldId xmlns:r="http://schemas.openxmlformats.org/officeDocument/2006/relationships" id="273" r:id="Rfc1f6402e8a3473b"/>
    <p:sldId xmlns:r="http://schemas.openxmlformats.org/officeDocument/2006/relationships" id="274" r:id="Rddfe8dd5f5894f28"/>
    <p:sldId xmlns:r="http://schemas.openxmlformats.org/officeDocument/2006/relationships" id="275" r:id="R3cd20becaa4d4468"/>
    <p:sldId xmlns:r="http://schemas.openxmlformats.org/officeDocument/2006/relationships" id="276" r:id="R42087179d279484e"/>
    <p:sldId xmlns:r="http://schemas.openxmlformats.org/officeDocument/2006/relationships" id="277" r:id="R7e6680215d0948bb"/>
    <p:sldId xmlns:r="http://schemas.openxmlformats.org/officeDocument/2006/relationships" id="278" r:id="R5d3c6db0fd3d47e8"/>
    <p:sldId xmlns:r="http://schemas.openxmlformats.org/officeDocument/2006/relationships" id="279" r:id="Rfdfdb231ac34450a"/>
    <p:sldId xmlns:r="http://schemas.openxmlformats.org/officeDocument/2006/relationships" id="280" r:id="R2dc7358c06e44302"/>
    <p:sldId xmlns:r="http://schemas.openxmlformats.org/officeDocument/2006/relationships" id="281" r:id="Rcde3fc34b9514a8b"/>
    <p:sldId xmlns:r="http://schemas.openxmlformats.org/officeDocument/2006/relationships" id="282" r:id="Re48ded086d754c13"/>
    <p:sldId xmlns:r="http://schemas.openxmlformats.org/officeDocument/2006/relationships" id="283" r:id="Rc775c9592ca449d5"/>
    <p:sldId xmlns:r="http://schemas.openxmlformats.org/officeDocument/2006/relationships" id="284" r:id="R63b40a595f114435"/>
    <p:sldId xmlns:r="http://schemas.openxmlformats.org/officeDocument/2006/relationships" id="285" r:id="Rc2faedf28c1245ed"/>
    <p:sldId xmlns:r="http://schemas.openxmlformats.org/officeDocument/2006/relationships" id="286" r:id="R83fe6a98cbee42da"/>
    <p:sldId xmlns:r="http://schemas.openxmlformats.org/officeDocument/2006/relationships" id="287" r:id="R3cfd003a1de24627"/>
    <p:sldId xmlns:r="http://schemas.openxmlformats.org/officeDocument/2006/relationships" id="288" r:id="R0c32f8784f5c41a2"/>
    <p:sldId xmlns:r="http://schemas.openxmlformats.org/officeDocument/2006/relationships" id="289" r:id="R86d844e1b4ad4408"/>
    <p:sldId xmlns:r="http://schemas.openxmlformats.org/officeDocument/2006/relationships" id="290" r:id="Re588dd8f1a534c03"/>
    <p:sldId xmlns:r="http://schemas.openxmlformats.org/officeDocument/2006/relationships" id="291" r:id="R85b8217a6bca4793"/>
    <p:sldId xmlns:r="http://schemas.openxmlformats.org/officeDocument/2006/relationships" id="292" r:id="Rbc41494b1cfc42a6"/>
    <p:sldId xmlns:r="http://schemas.openxmlformats.org/officeDocument/2006/relationships" id="293" r:id="R38ff98cf1ede40a5"/>
    <p:sldId xmlns:r="http://schemas.openxmlformats.org/officeDocument/2006/relationships" id="294" r:id="R664236ee90924e07"/>
    <p:sldId xmlns:r="http://schemas.openxmlformats.org/officeDocument/2006/relationships" id="295" r:id="R5e4f64d4e39146a3"/>
    <p:sldId xmlns:r="http://schemas.openxmlformats.org/officeDocument/2006/relationships" id="296" r:id="R357d0934cf2a41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3dd6bf461d4aa5" /><Relationship Type="http://schemas.openxmlformats.org/officeDocument/2006/relationships/slideMaster" Target="/ppt/slideMasters/slideMaster1.xml" Id="R4782fba6630f4530" /><Relationship Type="http://schemas.openxmlformats.org/officeDocument/2006/relationships/notesMaster" Target="/ppt/notesMasters/notesMaster1.xml" Id="Rc3d543c93f124b62" /><Relationship Type="http://schemas.openxmlformats.org/officeDocument/2006/relationships/presProps" Target="/ppt/presProps.xml" Id="R723d76a856a6494d" /><Relationship Type="http://schemas.openxmlformats.org/officeDocument/2006/relationships/tableStyles" Target="/ppt/tableStyles.xml" Id="Ra0ffa20771204946" /><Relationship Type="http://schemas.openxmlformats.org/officeDocument/2006/relationships/slide" Target="/ppt/slides/slide1.xml" Id="R1be3de66e84d4631" /><Relationship Type="http://schemas.openxmlformats.org/officeDocument/2006/relationships/slide" Target="/ppt/slides/slide2.xml" Id="Rb4762a2dce6c4932" /><Relationship Type="http://schemas.openxmlformats.org/officeDocument/2006/relationships/slide" Target="/ppt/slides/slide3.xml" Id="R3a76e2cfe1144f61" /><Relationship Type="http://schemas.openxmlformats.org/officeDocument/2006/relationships/slide" Target="/ppt/slides/slide4.xml" Id="R3a314a7271bf4ecb" /><Relationship Type="http://schemas.openxmlformats.org/officeDocument/2006/relationships/slide" Target="/ppt/slides/slide5.xml" Id="R5d208761ccb845ac" /><Relationship Type="http://schemas.openxmlformats.org/officeDocument/2006/relationships/slide" Target="/ppt/slides/slide6.xml" Id="R0ffcc2d2b63f4acd" /><Relationship Type="http://schemas.openxmlformats.org/officeDocument/2006/relationships/slide" Target="/ppt/slides/slide7.xml" Id="R2486e26d16c54540" /><Relationship Type="http://schemas.openxmlformats.org/officeDocument/2006/relationships/slide" Target="/ppt/slides/slide8.xml" Id="R2c57febb784149d6" /><Relationship Type="http://schemas.openxmlformats.org/officeDocument/2006/relationships/slide" Target="/ppt/slides/slide9.xml" Id="R671031da600b4edc" /><Relationship Type="http://schemas.openxmlformats.org/officeDocument/2006/relationships/slide" Target="/ppt/slides/slide10.xml" Id="R757898453f494c9f" /><Relationship Type="http://schemas.openxmlformats.org/officeDocument/2006/relationships/slide" Target="/ppt/slides/slide11.xml" Id="R3982a8a5af1a49e2" /><Relationship Type="http://schemas.openxmlformats.org/officeDocument/2006/relationships/slide" Target="/ppt/slides/slide12.xml" Id="Rdca86ce29b794e6e" /><Relationship Type="http://schemas.openxmlformats.org/officeDocument/2006/relationships/slide" Target="/ppt/slides/slide13.xml" Id="Rc16452d3872249ae" /><Relationship Type="http://schemas.openxmlformats.org/officeDocument/2006/relationships/slide" Target="/ppt/slides/slide14.xml" Id="Rbc9ef45df84f417a" /><Relationship Type="http://schemas.openxmlformats.org/officeDocument/2006/relationships/slide" Target="/ppt/slides/slide15.xml" Id="R206985188ea24c58" /><Relationship Type="http://schemas.openxmlformats.org/officeDocument/2006/relationships/slide" Target="/ppt/slides/slide16.xml" Id="Rb6d55ea15919402c" /><Relationship Type="http://schemas.openxmlformats.org/officeDocument/2006/relationships/slide" Target="/ppt/slides/slide17.xml" Id="R416db0bd8ab8453e" /><Relationship Type="http://schemas.openxmlformats.org/officeDocument/2006/relationships/slide" Target="/ppt/slides/slide18.xml" Id="Rfc1f6402e8a3473b" /><Relationship Type="http://schemas.openxmlformats.org/officeDocument/2006/relationships/slide" Target="/ppt/slides/slide19.xml" Id="Rddfe8dd5f5894f28" /><Relationship Type="http://schemas.openxmlformats.org/officeDocument/2006/relationships/slide" Target="/ppt/slides/slide20.xml" Id="R3cd20becaa4d4468" /><Relationship Type="http://schemas.openxmlformats.org/officeDocument/2006/relationships/slide" Target="/ppt/slides/slide21.xml" Id="R42087179d279484e" /><Relationship Type="http://schemas.openxmlformats.org/officeDocument/2006/relationships/slide" Target="/ppt/slides/slide22.xml" Id="R7e6680215d0948bb" /><Relationship Type="http://schemas.openxmlformats.org/officeDocument/2006/relationships/slide" Target="/ppt/slides/slide23.xml" Id="R5d3c6db0fd3d47e8" /><Relationship Type="http://schemas.openxmlformats.org/officeDocument/2006/relationships/slide" Target="/ppt/slides/slide24.xml" Id="Rfdfdb231ac34450a" /><Relationship Type="http://schemas.openxmlformats.org/officeDocument/2006/relationships/slide" Target="/ppt/slides/slide25.xml" Id="R2dc7358c06e44302" /><Relationship Type="http://schemas.openxmlformats.org/officeDocument/2006/relationships/slide" Target="/ppt/slides/slide26.xml" Id="Rcde3fc34b9514a8b" /><Relationship Type="http://schemas.openxmlformats.org/officeDocument/2006/relationships/slide" Target="/ppt/slides/slide27.xml" Id="Re48ded086d754c13" /><Relationship Type="http://schemas.openxmlformats.org/officeDocument/2006/relationships/slide" Target="/ppt/slides/slide28.xml" Id="Rc775c9592ca449d5" /><Relationship Type="http://schemas.openxmlformats.org/officeDocument/2006/relationships/slide" Target="/ppt/slides/slide29.xml" Id="R63b40a595f114435" /><Relationship Type="http://schemas.openxmlformats.org/officeDocument/2006/relationships/slide" Target="/ppt/slides/slide30.xml" Id="Rc2faedf28c1245ed" /><Relationship Type="http://schemas.openxmlformats.org/officeDocument/2006/relationships/slide" Target="/ppt/slides/slide31.xml" Id="R83fe6a98cbee42da" /><Relationship Type="http://schemas.openxmlformats.org/officeDocument/2006/relationships/slide" Target="/ppt/slides/slide32.xml" Id="R3cfd003a1de24627" /><Relationship Type="http://schemas.openxmlformats.org/officeDocument/2006/relationships/slide" Target="/ppt/slides/slide33.xml" Id="R0c32f8784f5c41a2" /><Relationship Type="http://schemas.openxmlformats.org/officeDocument/2006/relationships/slide" Target="/ppt/slides/slide34.xml" Id="R86d844e1b4ad4408" /><Relationship Type="http://schemas.openxmlformats.org/officeDocument/2006/relationships/slide" Target="/ppt/slides/slide35.xml" Id="Re588dd8f1a534c03" /><Relationship Type="http://schemas.openxmlformats.org/officeDocument/2006/relationships/slide" Target="/ppt/slides/slide36.xml" Id="R85b8217a6bca4793" /><Relationship Type="http://schemas.openxmlformats.org/officeDocument/2006/relationships/slide" Target="/ppt/slides/slide37.xml" Id="Rbc41494b1cfc42a6" /><Relationship Type="http://schemas.openxmlformats.org/officeDocument/2006/relationships/slide" Target="/ppt/slides/slide38.xml" Id="R38ff98cf1ede40a5" /><Relationship Type="http://schemas.openxmlformats.org/officeDocument/2006/relationships/slide" Target="/ppt/slides/slide39.xml" Id="R664236ee90924e07" /><Relationship Type="http://schemas.openxmlformats.org/officeDocument/2006/relationships/slide" Target="/ppt/slides/slide40.xml" Id="R5e4f64d4e39146a3" /><Relationship Type="http://schemas.openxmlformats.org/officeDocument/2006/relationships/slide" Target="/ppt/slides/slide41.xml" Id="R357d0934cf2a41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07bb748f8042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77fb85289d42f7" /><Relationship Type="http://schemas.openxmlformats.org/officeDocument/2006/relationships/notesMaster" Target="/ppt/notesMasters/notesMaster1.xml" Id="R984757749ff744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144d3ec6414944" /><Relationship Type="http://schemas.openxmlformats.org/officeDocument/2006/relationships/notesMaster" Target="/ppt/notesMasters/notesMaster1.xml" Id="Rd6c5a257a4404a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d1ac0720e34d91" /><Relationship Type="http://schemas.openxmlformats.org/officeDocument/2006/relationships/notesMaster" Target="/ppt/notesMasters/notesMaster1.xml" Id="Raa6ce27027d648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dbe8cd324342d8" /><Relationship Type="http://schemas.openxmlformats.org/officeDocument/2006/relationships/notesMaster" Target="/ppt/notesMasters/notesMaster1.xml" Id="R40e684735d0347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6c58d2bce94df1" /><Relationship Type="http://schemas.openxmlformats.org/officeDocument/2006/relationships/notesMaster" Target="/ppt/notesMasters/notesMaster1.xml" Id="Rc55e32541c1c45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8961ce93734744" /><Relationship Type="http://schemas.openxmlformats.org/officeDocument/2006/relationships/notesMaster" Target="/ppt/notesMasters/notesMaster1.xml" Id="Rfcec48c4dfd245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2008be157742ef" /><Relationship Type="http://schemas.openxmlformats.org/officeDocument/2006/relationships/notesMaster" Target="/ppt/notesMasters/notesMaster1.xml" Id="R7b1dc4eed4dd4e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6aacd037ac475f" /><Relationship Type="http://schemas.openxmlformats.org/officeDocument/2006/relationships/notesMaster" Target="/ppt/notesMasters/notesMaster1.xml" Id="Rba6d12ff397849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b5616b4490455f" /><Relationship Type="http://schemas.openxmlformats.org/officeDocument/2006/relationships/notesMaster" Target="/ppt/notesMasters/notesMaster1.xml" Id="R6c51af4ff8424d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449bd238e642a9" /><Relationship Type="http://schemas.openxmlformats.org/officeDocument/2006/relationships/notesMaster" Target="/ppt/notesMasters/notesMaster1.xml" Id="Ree4b1c8ac8364e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127806815a4162" /><Relationship Type="http://schemas.openxmlformats.org/officeDocument/2006/relationships/notesMaster" Target="/ppt/notesMasters/notesMaster1.xml" Id="R287a3cc94f1543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095993166d4e52" /><Relationship Type="http://schemas.openxmlformats.org/officeDocument/2006/relationships/notesMaster" Target="/ppt/notesMasters/notesMaster1.xml" Id="Rf357d408a4eb47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5d0eed380241e2" /><Relationship Type="http://schemas.openxmlformats.org/officeDocument/2006/relationships/notesMaster" Target="/ppt/notesMasters/notesMaster1.xml" Id="Rd78c8c4580874b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1180ccfd884851" /><Relationship Type="http://schemas.openxmlformats.org/officeDocument/2006/relationships/notesMaster" Target="/ppt/notesMasters/notesMaster1.xml" Id="R4bb453b8691b49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48049bb35044f0" /><Relationship Type="http://schemas.openxmlformats.org/officeDocument/2006/relationships/notesMaster" Target="/ppt/notesMasters/notesMaster1.xml" Id="Reb4a49ca7d9044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8950375b7f432e" /><Relationship Type="http://schemas.openxmlformats.org/officeDocument/2006/relationships/notesMaster" Target="/ppt/notesMasters/notesMaster1.xml" Id="R5046477f14274e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c4d1f4ee3448a6" /><Relationship Type="http://schemas.openxmlformats.org/officeDocument/2006/relationships/notesMaster" Target="/ppt/notesMasters/notesMaster1.xml" Id="R793ed8dabf5044f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efaf0c000414e29" /><Relationship Type="http://schemas.openxmlformats.org/officeDocument/2006/relationships/notesMaster" Target="/ppt/notesMasters/notesMaster1.xml" Id="R316697231fdf4c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9fe96576cf4938" /><Relationship Type="http://schemas.openxmlformats.org/officeDocument/2006/relationships/notesMaster" Target="/ppt/notesMasters/notesMaster1.xml" Id="Re9a82d62640447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7249d1b0e745b5" /><Relationship Type="http://schemas.openxmlformats.org/officeDocument/2006/relationships/notesMaster" Target="/ppt/notesMasters/notesMaster1.xml" Id="R28e6404c4ba649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03cb56dcd84ae2" /><Relationship Type="http://schemas.openxmlformats.org/officeDocument/2006/relationships/notesMaster" Target="/ppt/notesMasters/notesMaster1.xml" Id="R580ba160e50b47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547fc04c0284f75" /><Relationship Type="http://schemas.openxmlformats.org/officeDocument/2006/relationships/notesMaster" Target="/ppt/notesMasters/notesMaster1.xml" Id="R4f780018962d4c1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4052acfd5dd4b59" /><Relationship Type="http://schemas.openxmlformats.org/officeDocument/2006/relationships/notesMaster" Target="/ppt/notesMasters/notesMaster1.xml" Id="R6ec1e615033b4fb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4b98d60f2f2458b" /><Relationship Type="http://schemas.openxmlformats.org/officeDocument/2006/relationships/notesMaster" Target="/ppt/notesMasters/notesMaster1.xml" Id="R326f9b6180b246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310fbad3c744356" /><Relationship Type="http://schemas.openxmlformats.org/officeDocument/2006/relationships/notesMaster" Target="/ppt/notesMasters/notesMaster1.xml" Id="R049fa351973041b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6f2d2585e4c4185" /><Relationship Type="http://schemas.openxmlformats.org/officeDocument/2006/relationships/notesMaster" Target="/ppt/notesMasters/notesMaster1.xml" Id="R1ffc8053cad3480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57465bc852a4b38" /><Relationship Type="http://schemas.openxmlformats.org/officeDocument/2006/relationships/notesMaster" Target="/ppt/notesMasters/notesMaster1.xml" Id="Rc1b7a0be2c73480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37eb801dec4a71" /><Relationship Type="http://schemas.openxmlformats.org/officeDocument/2006/relationships/notesMaster" Target="/ppt/notesMasters/notesMaster1.xml" Id="Re1fbf05daee74c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f85d2a32324611" /><Relationship Type="http://schemas.openxmlformats.org/officeDocument/2006/relationships/notesMaster" Target="/ppt/notesMasters/notesMaster1.xml" Id="R751fed26b9de45a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c9a3179c8e94efc" /><Relationship Type="http://schemas.openxmlformats.org/officeDocument/2006/relationships/notesMaster" Target="/ppt/notesMasters/notesMaster1.xml" Id="R50069a7a8c19400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b5b0d32d69b4323" /><Relationship Type="http://schemas.openxmlformats.org/officeDocument/2006/relationships/notesMaster" Target="/ppt/notesMasters/notesMaster1.xml" Id="R913b2eb85caf427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b7219e2731f4543" /><Relationship Type="http://schemas.openxmlformats.org/officeDocument/2006/relationships/notesMaster" Target="/ppt/notesMasters/notesMaster1.xml" Id="Ra776304066b24c2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e06f7d39d884bc4" /><Relationship Type="http://schemas.openxmlformats.org/officeDocument/2006/relationships/notesMaster" Target="/ppt/notesMasters/notesMaster1.xml" Id="Rf45d9f8c0cf3464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6fe57e0f24e4dbf" /><Relationship Type="http://schemas.openxmlformats.org/officeDocument/2006/relationships/notesMaster" Target="/ppt/notesMasters/notesMaster1.xml" Id="Re873ff9d53914ad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aff53de0cf24f14" /><Relationship Type="http://schemas.openxmlformats.org/officeDocument/2006/relationships/notesMaster" Target="/ppt/notesMasters/notesMaster1.xml" Id="Rb33a75073594438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60c8ae9e02f479f" /><Relationship Type="http://schemas.openxmlformats.org/officeDocument/2006/relationships/notesMaster" Target="/ppt/notesMasters/notesMaster1.xml" Id="Rd4e9f347e180427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c47f66d662a4169" /><Relationship Type="http://schemas.openxmlformats.org/officeDocument/2006/relationships/notesMaster" Target="/ppt/notesMasters/notesMaster1.xml" Id="Rcdbfef93db05411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e34628836bc448a" /><Relationship Type="http://schemas.openxmlformats.org/officeDocument/2006/relationships/notesMaster" Target="/ppt/notesMasters/notesMaster1.xml" Id="Re5db0bdb9236473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594385a7a3040df" /><Relationship Type="http://schemas.openxmlformats.org/officeDocument/2006/relationships/notesMaster" Target="/ppt/notesMasters/notesMaster1.xml" Id="R7dcc978eb312409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8c726f2f9c44929" /><Relationship Type="http://schemas.openxmlformats.org/officeDocument/2006/relationships/notesMaster" Target="/ppt/notesMasters/notesMaster1.xml" Id="Rcfc4b6c8aa2849e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f6f464bfdd746b8" /><Relationship Type="http://schemas.openxmlformats.org/officeDocument/2006/relationships/notesMaster" Target="/ppt/notesMasters/notesMaster1.xml" Id="R446c065f39e049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the Week 12 handout. Ask students to state, before running anything, what number (0.0125) every method today will be judged against.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Name this explicitly as the Week 12 milestone and the weekly assignment — not a separate artifact on 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Preview that today's four steps map directly onto the four handout sections students will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Ask students to find each term already in the printed handout before running cell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Point students back to the exact Monday slide where each pattern first appeared before diving into today's cells — this is a recap, not new material.</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 https://docs.python.org/3/tutorial/datastructures.html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This slide is the map of the whole studio — refer back to it before each new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predict both numbers from memory before running — most should recall 0.0125 from Monday without looking.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This matters because every bug later in the studio (including the AI-audit) traces back to breaking this one guarantee: perm must stay a valid permutation.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record their own machine's millisecond reading — the exact number does not matter, only that it stays small.</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Expected answer to step 4: 12! is about 479 million — checking every option would take far too long, no matter how fast the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Take a quick show of hands before revealing — some will guess the recap 'must' behave differently on a new day; nothing about the date changes a deterministic function's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Have students find the one improving neighbor in the printout before the next cell runs — hill_climb takes exactly that move, then repeats the same scan.</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Ask what best_c &gt;= cur_c means before running the function: no allowed neighbor improves the current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Keep this result brief, then transition to population search. Call 0.0125 best known unless a proof is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This is a recap, not new material — move quickly, and let the next three cells do the actual teaching by running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the fill list by hand on the board: parent2 minus {1, 2} = [5, 4, 3, 0], dropped into the empty slots left to right.</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Trace the fill list by hand on the board: parent2 minus {1, 2} = [5, 4, 3, 0]. Then require the True on the last line before anyone moves on.</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at each chip in order, then have students find this exact line inside cell [4] before Studio 3's hand-trace.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confirm sorted(mutated) == [0,1,2,3,4,5] out loud before moving on — the property that matters most, stated explicitly.</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This is the one hand-tracing exercise worth insisting on — everything after this cell is 'run and interpret,' not 'trace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payoff moment — the result is not a coincidence, it is the same deterministic math as Monday's demo, now built by the students' own hands.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at population.sort(key=cost): key=cost tells sort to score each individual with your own cost() and order by that score. Everything on the next slide depends on this list already being in order.</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Point at 'elite = population[:survivors]' — this exact line is what the upcoming elitism definition slide explains. Count the while-loop's 7 iterations out loud.</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Pause on 'gen 9' — remind students this is the SAME 0.0125 from cells [1]-[2], reached a completely different way.</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the displayed range and omitted flat tail explicitly, then ask why elitism prevents the best-so-far cost from rising.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back at the chart's never-rising shape — elitism is the one-word mechanical reason for it, not a coincidence.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Expected: 75 / 720 is about 10%. Expected answer to step 4: no — Monday's cross-seed table showed this is verified for THESE parameters/seeds, not guaranteed in general.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Be honest that the timing numbers are machine-specific and will vary slightly run to run — the evaluation-count comparison is the portable, trustworthy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required 'discuss when the extra machinery is worth it' component of this week's assignment — have students write their own one-paragraph answer now, referencing their own Project 2 problem if one applies.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predict BEFORE seeing the full AI-audit reveal over the next two slides — most will assume 'slicing lists' is always safe, since it was safe in every Week 1-11 script that did not require a permutation.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name bug 1 and bug 2 here, before the next slide reveals the third (selection) and the final broken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Require students to name all three defects (two from the previous slide, one here) before the next slide runs it — each one individually looks plausible, which is exactly the point of the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Ask which of the two printed lines a hurried reader would trust — the cost number looks like progress (0.0525 beats the identity arrangement's 0.2325). The False is the only line that tells the truth.</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Require the repaired version to actually run and print 0.0125 before accepting the fix — 'identified the bug' and 'fixed the bug' are graded separately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Explicitly correct the 'seed=1 must be fastest since we always demo it' assumption — Monday's checked-seed table showed seeds 3 and 6 both beat it; this cell confirms one of those runs without claiming behavior for every seed.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Point out explicitly that faster-or-slower convergence is expected to vary by seed. This one additional run probes seed sensitivity; it does not guarantee behavior for every seed.</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explicitly that faster-or-slower convergence is expected to vary by seed — what must NOT vary is the final answer, 0.0125.</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Required, graded transfer-safeguard element — a script with all assertions passing silently is the expected deliverable, not optional polish.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Remind students this satisfies the Week 12 milestone from the semester plan — nothing additional is owed beyond this handout, though Project 2 Part III still requires them to apply this pattern to their OWN discrete decision before the project is due.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Remind students this IS the Week 12 milestone and weekly assignment — nothing additional is due on top of this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Exit ticket: students state, in one sentence, which optimization family (Week 10, 11, or 12) their own emerging Project 2 discrete decision needs, and why. Reinforce out loud: a crossover or mutation bug can run without error and still return an invalid design — audit an AI-drafted optimizer the same way you would audit any other AI-drafted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819265485942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fd662d538f4199" /><Relationship Type="http://schemas.openxmlformats.org/officeDocument/2006/relationships/slideLayout" Target="/ppt/slideLayouts/slideLayout1.xml" Id="R898beded10a44c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8beded10a44c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549df0115f4087" /><Relationship Type="http://schemas.openxmlformats.org/officeDocument/2006/relationships/notesSlide" Target="/ppt/notesSlides/notesSlide1.xml" Id="R7edf7da6c6204a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c8d626e6e14e31" /><Relationship Type="http://schemas.openxmlformats.org/officeDocument/2006/relationships/notesSlide" Target="/ppt/notesSlides/notesSlide2.xml" Id="R1ecb4f8ef9994d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ac877fb6804aef" /><Relationship Type="http://schemas.openxmlformats.org/officeDocument/2006/relationships/notesSlide" Target="/ppt/notesSlides/notesSlide3.xml" Id="R65f93eac598040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32128b955d4bef" /><Relationship Type="http://schemas.openxmlformats.org/officeDocument/2006/relationships/notesSlide" Target="/ppt/notesSlides/notesSlide4.xml" Id="R499d6c6637e447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f2db6a0d194f4e" /><Relationship Type="http://schemas.openxmlformats.org/officeDocument/2006/relationships/notesSlide" Target="/ppt/notesSlides/notesSlide5.xml" Id="Rcf956d92e37e46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fbf0cd10da4943" /><Relationship Type="http://schemas.openxmlformats.org/officeDocument/2006/relationships/notesSlide" Target="/ppt/notesSlides/notesSlide6.xml" Id="Re8e5de20ee5440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5813e2164341fd" /><Relationship Type="http://schemas.openxmlformats.org/officeDocument/2006/relationships/notesSlide" Target="/ppt/notesSlides/notesSlide7.xml" Id="Re7e4b30d007244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0aa2003d3a4512" /><Relationship Type="http://schemas.openxmlformats.org/officeDocument/2006/relationships/notesSlide" Target="/ppt/notesSlides/notesSlide8.xml" Id="Rf9d9aaf3370d45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519e62d3e546fc" /><Relationship Type="http://schemas.openxmlformats.org/officeDocument/2006/relationships/notesSlide" Target="/ppt/notesSlides/notesSlide9.xml" Id="R8e3ceba17d1846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bdafd6d66d4a9e" /><Relationship Type="http://schemas.openxmlformats.org/officeDocument/2006/relationships/notesSlide" Target="/ppt/notesSlides/notesSlide10.xml" Id="R288385852eb549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ff9560a0f44c1b" /><Relationship Type="http://schemas.openxmlformats.org/officeDocument/2006/relationships/notesSlide" Target="/ppt/notesSlides/notesSlide11.xml" Id="R3dd19ca269724d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587e299c8f4a79" /><Relationship Type="http://schemas.openxmlformats.org/officeDocument/2006/relationships/notesSlide" Target="/ppt/notesSlides/notesSlide12.xml" Id="R0df3d357007448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9a2fab704c4347" /><Relationship Type="http://schemas.openxmlformats.org/officeDocument/2006/relationships/notesSlide" Target="/ppt/notesSlides/notesSlide13.xml" Id="Re0e92be2f35943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cb1e4f8f0fa407f" /><Relationship Type="http://schemas.openxmlformats.org/officeDocument/2006/relationships/notesSlide" Target="/ppt/notesSlides/notesSlide14.xml" Id="Rdc5bd37c610343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14b7a368f8454b" /><Relationship Type="http://schemas.openxmlformats.org/officeDocument/2006/relationships/notesSlide" Target="/ppt/notesSlides/notesSlide15.xml" Id="Rd4f7dba1ea7d44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44c9a2f8c37428f" /><Relationship Type="http://schemas.openxmlformats.org/officeDocument/2006/relationships/notesSlide" Target="/ppt/notesSlides/notesSlide16.xml" Id="R4770426e6f2848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5c651bc8ac42db" /><Relationship Type="http://schemas.openxmlformats.org/officeDocument/2006/relationships/notesSlide" Target="/ppt/notesSlides/notesSlide17.xml" Id="R19d56331fa454a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19df85f1e4d4848" /><Relationship Type="http://schemas.openxmlformats.org/officeDocument/2006/relationships/notesSlide" Target="/ppt/notesSlides/notesSlide18.xml" Id="Rf773cfc13f5f45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39b80418f6648fd" /><Relationship Type="http://schemas.openxmlformats.org/officeDocument/2006/relationships/notesSlide" Target="/ppt/notesSlides/notesSlide19.xml" Id="Rde14122bf89a48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aafd763ddcf4046" /><Relationship Type="http://schemas.openxmlformats.org/officeDocument/2006/relationships/notesSlide" Target="/ppt/notesSlides/notesSlide20.xml" Id="R8750d6293a7d4b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15d054b425c4da3" /><Relationship Type="http://schemas.openxmlformats.org/officeDocument/2006/relationships/notesSlide" Target="/ppt/notesSlides/notesSlide21.xml" Id="R34e281de54064ce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6a8299de47b4ab3" /><Relationship Type="http://schemas.openxmlformats.org/officeDocument/2006/relationships/notesSlide" Target="/ppt/notesSlides/notesSlide22.xml" Id="R6d0e833b9b9c47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41990f57e584bd1" /><Relationship Type="http://schemas.openxmlformats.org/officeDocument/2006/relationships/notesSlide" Target="/ppt/notesSlides/notesSlide23.xml" Id="R5e4e431a966c44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56683d2fb8d4bea" /><Relationship Type="http://schemas.openxmlformats.org/officeDocument/2006/relationships/notesSlide" Target="/ppt/notesSlides/notesSlide24.xml" Id="R55b57f06f93f40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1cc88e287a64850" /><Relationship Type="http://schemas.openxmlformats.org/officeDocument/2006/relationships/chart" Target="/ppt/slides/charts/chart1.xml" Id="R5b729dc746994c49" /><Relationship Type="http://schemas.openxmlformats.org/officeDocument/2006/relationships/notesSlide" Target="/ppt/notesSlides/notesSlide25.xml" Id="Rc8c0868fbf5346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05063c29543492d" /><Relationship Type="http://schemas.openxmlformats.org/officeDocument/2006/relationships/notesSlide" Target="/ppt/notesSlides/notesSlide26.xml" Id="R715ce3d7addf4b3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93eca47879444c3" /><Relationship Type="http://schemas.openxmlformats.org/officeDocument/2006/relationships/notesSlide" Target="/ppt/notesSlides/notesSlide27.xml" Id="Ra1de94950222449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bc1dbca34114d6b" /><Relationship Type="http://schemas.openxmlformats.org/officeDocument/2006/relationships/notesSlide" Target="/ppt/notesSlides/notesSlide28.xml" Id="R9ace354cf8f74f5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40261966d414d02" /><Relationship Type="http://schemas.openxmlformats.org/officeDocument/2006/relationships/notesSlide" Target="/ppt/notesSlides/notesSlide29.xml" Id="Rf6f0430470c14d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963fae1c42c470a" /><Relationship Type="http://schemas.openxmlformats.org/officeDocument/2006/relationships/notesSlide" Target="/ppt/notesSlides/notesSlide30.xml" Id="Rde526f34e9cf4f7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c6eae0d56a847c5" /><Relationship Type="http://schemas.openxmlformats.org/officeDocument/2006/relationships/notesSlide" Target="/ppt/notesSlides/notesSlide31.xml" Id="R830db80a2a8f430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eb8847a1def4aa5" /><Relationship Type="http://schemas.openxmlformats.org/officeDocument/2006/relationships/notesSlide" Target="/ppt/notesSlides/notesSlide32.xml" Id="Rb68b491621924f2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0229ef0441d4105" /><Relationship Type="http://schemas.openxmlformats.org/officeDocument/2006/relationships/notesSlide" Target="/ppt/notesSlides/notesSlide33.xml" Id="Rb2fcf252d12f42c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b436dd3c9a74d62" /><Relationship Type="http://schemas.openxmlformats.org/officeDocument/2006/relationships/notesSlide" Target="/ppt/notesSlides/notesSlide34.xml" Id="R0a680f888ffa47b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309242ea296407a" /><Relationship Type="http://schemas.openxmlformats.org/officeDocument/2006/relationships/notesSlide" Target="/ppt/notesSlides/notesSlide35.xml" Id="R6d8fb207c36a43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eb98fffe5dc415b" /><Relationship Type="http://schemas.openxmlformats.org/officeDocument/2006/relationships/notesSlide" Target="/ppt/notesSlides/notesSlide36.xml" Id="R72ce37dc333f4a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9b6fe620a8046cb" /><Relationship Type="http://schemas.openxmlformats.org/officeDocument/2006/relationships/notesSlide" Target="/ppt/notesSlides/notesSlide37.xml" Id="Rc32936aa5d0646f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6b389139843478e" /><Relationship Type="http://schemas.openxmlformats.org/officeDocument/2006/relationships/notesSlide" Target="/ppt/notesSlides/notesSlide38.xml" Id="R6d7c0c59f735434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e84536ed7264720" /><Relationship Type="http://schemas.openxmlformats.org/officeDocument/2006/relationships/notesSlide" Target="/ppt/notesSlides/notesSlide39.xml" Id="R906d30ab1084487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eb95356a287495b" /><Relationship Type="http://schemas.openxmlformats.org/officeDocument/2006/relationships/notesSlide" Target="/ppt/notesSlides/notesSlide40.xml" Id="Rdbcfced6c0ba473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c97c144ed164e20" /><Relationship Type="http://schemas.openxmlformats.org/officeDocument/2006/relationships/notesSlide" Target="/ppt/notesSlides/notesSlide41.xml" Id="R7e6654794fb74260"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GA best cost through generation 12; generations 13–30 are omitted and flat</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barChart>
        <c:barDir val="col"/>
        <c:varyColors val="0"/>
        <c:ser>
          <c:idx val="0"/>
          <c:order val="0"/>
          <c:tx>
            <c:v>GA best cost (seed=1)</c:v>
          </c:tx>
          <c:cat>
            <c:numLit>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Lit>
          </c:cat>
          <c:val>
            <c:numLit>
              <c:formatCode>General</c:formatCode>
              <c:ptCount val="13"/>
              <c:pt idx="0">
                <c:v>102.5</c:v>
              </c:pt>
              <c:pt idx="1">
                <c:v>92.5</c:v>
              </c:pt>
              <c:pt idx="2">
                <c:v>52.5</c:v>
              </c:pt>
              <c:pt idx="3">
                <c:v>52.5</c:v>
              </c:pt>
              <c:pt idx="4">
                <c:v>22.5</c:v>
              </c:pt>
              <c:pt idx="5">
                <c:v>22.5</c:v>
              </c:pt>
              <c:pt idx="6">
                <c:v>22.5</c:v>
              </c:pt>
              <c:pt idx="7">
                <c:v>22.5</c:v>
              </c:pt>
              <c:pt idx="8">
                <c:v>22.5</c:v>
              </c:pt>
              <c:pt idx="9">
                <c:v>12.5</c:v>
              </c:pt>
              <c:pt idx="10">
                <c:v>12.5</c:v>
              </c:pt>
              <c:pt idx="11">
                <c:v>12.5</c:v>
              </c:pt>
              <c:pt idx="12">
                <c:v>12.5</c:v>
              </c:pt>
            </c:numLit>
          </c:val>
        </c:ser>
        <c:ser>
          <c:idx val="1"/>
          <c:order val="1"/>
          <c:tx>
            <c:v>True optimum (brute force)</c:v>
          </c:tx>
          <c:cat>
            <c:numLit>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Lit>
          </c:cat>
          <c:val>
            <c:numLit>
              <c:formatCode>General</c:formatCode>
              <c:ptCount val="13"/>
              <c:pt idx="0">
                <c:v>12.5</c:v>
              </c:pt>
              <c:pt idx="1">
                <c:v>12.5</c:v>
              </c:pt>
              <c:pt idx="2">
                <c:v>12.5</c:v>
              </c:pt>
              <c:pt idx="3">
                <c:v>12.5</c:v>
              </c:pt>
              <c:pt idx="4">
                <c:v>12.5</c:v>
              </c:pt>
              <c:pt idx="5">
                <c:v>12.5</c:v>
              </c:pt>
              <c:pt idx="6">
                <c:v>12.5</c:v>
              </c:pt>
              <c:pt idx="7">
                <c:v>12.5</c:v>
              </c:pt>
              <c:pt idx="8">
                <c:v>12.5</c:v>
              </c:pt>
              <c:pt idx="9">
                <c:v>12.5</c:v>
              </c:pt>
              <c:pt idx="10">
                <c:v>12.5</c:v>
              </c:pt>
              <c:pt idx="11">
                <c:v>12.5</c:v>
              </c:pt>
              <c:pt idx="12">
                <c:v>12.5</c:v>
              </c:pt>
            </c:numLit>
          </c:val>
        </c:ser>
        <c:axId val="48650112"/>
        <c:axId val="48672768"/>
      </c:barChart>
      <c:cat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Generation shown (0–12 of 0–30)</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catAx>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Best cost x 1000 (axis scaled for readability)</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crossBetween val="between"/>
      </c:valAx>
      <c:spPr>
        <a:solidFill xmlns:a="http://schemas.openxmlformats.org/drawingml/2006/main">
          <a:srgbClr val="FFFFFF"/>
        </a:solidFill>
        <a:ln xmlns:a="http://schemas.openxmlformats.org/drawingml/2006/main" w="9525">
          <a:solidFill>
            <a:srgbClr val="B8BCC4"/>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legend>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9A33038B-D788-4F65-82B3-7AFDCFE9B866}"/>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EDAE0725-8F28-4CEB-99F5-FDD01BF67DE9}"/>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D4782669-01F7-47F3-955B-2AE4A4D4FABF}"/>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7E1D001D-6B5B-49CE-A91C-9373F64A5198}"/>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12 · MEETING B · GENETIC ALGORITHM AND BRUTE-FORCE STUDIO</a:t>
            </a:r>
          </a:p>
        </p:txBody>
      </p:sp>
      <p:sp>
        <p:nvSpPr>
          <p:cNvPr id="5" name="deck-title">
            <a:extLst xmlns:a="http://schemas.openxmlformats.org/drawingml/2006/main">
              <a:ext uri="{FF2B5EF4-FFF2-40B4-BE49-F238E27FC236}">
                <a16:creationId xmlns:a16="http://schemas.microsoft.com/office/drawing/2014/main" id="{59222374-921F-49A0-B8F7-9C45B157C4D0}"/>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Build the genetic algorithm, then verify it</a:t>
            </a:r>
          </a:p>
        </p:txBody>
      </p:sp>
      <p:sp>
        <p:nvSpPr>
          <p:cNvPr id="6" name="deck-subtitle">
            <a:extLst xmlns:a="http://schemas.openxmlformats.org/drawingml/2006/main">
              <a:ext uri="{FF2B5EF4-FFF2-40B4-BE49-F238E27FC236}">
                <a16:creationId xmlns:a16="http://schemas.microsoft.com/office/drawing/2014/main" id="{93BB259E-A27B-48E8-B253-507B8CF67DA1}"/>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Meeting B · order crossover + swap mutation, verified against a brute-force baseline</a:t>
            </a:r>
          </a:p>
        </p:txBody>
      </p:sp>
      <p:sp>
        <p:nvSpPr>
          <p:cNvPr id="7" name="">
            <a:extLst xmlns:a="http://schemas.openxmlformats.org/drawingml/2006/main">
              <a:ext uri="{FF2B5EF4-FFF2-40B4-BE49-F238E27FC236}">
                <a16:creationId xmlns:a16="http://schemas.microsoft.com/office/drawing/2014/main" id="{58F456B2-EF74-491D-82BF-2ABDB731F4A8}"/>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B68F58D7-F49C-4817-879D-41BE844B40D3}"/>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7474792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869A76DC-26F0-41B2-A1F6-03C1E9DB1A5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173FB8F9-625A-4946-8A84-597073498B9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6F2BC9B3-323C-44EE-98B0-879D9BF1953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BB1D522-ACD5-4637-97CB-660BEAE83FB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057D5A51-C29D-407B-8098-9BD522DF58A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outcome-number-0">
            <a:extLst xmlns:a="http://schemas.openxmlformats.org/drawingml/2006/main">
              <a:ext uri="{FF2B5EF4-FFF2-40B4-BE49-F238E27FC236}">
                <a16:creationId xmlns:a16="http://schemas.microsoft.com/office/drawing/2014/main" id="{E4DD79AC-1763-4BAE-8CB5-1E06D1D3B588}"/>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C2DFCAA1-DE00-4A23-A0D1-A9F533E0606D}"/>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Implement</a:t>
            </a:r>
          </a:p>
        </p:txBody>
      </p:sp>
      <p:sp>
        <p:nvSpPr>
          <p:cNvPr id="8" name="outcome-body-0">
            <a:extLst xmlns:a="http://schemas.openxmlformats.org/drawingml/2006/main">
              <a:ext uri="{FF2B5EF4-FFF2-40B4-BE49-F238E27FC236}">
                <a16:creationId xmlns:a16="http://schemas.microsoft.com/office/drawing/2014/main" id="{53C780D8-F646-4167-893E-05549147AEDF}"/>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Code order crossover and swap mutation for a permutation, then run a small genetic algorithm end to end.</a:t>
            </a:r>
          </a:p>
        </p:txBody>
      </p:sp>
      <p:sp>
        <p:nvSpPr>
          <p:cNvPr id="9" name="outcome-number-1">
            <a:extLst xmlns:a="http://schemas.openxmlformats.org/drawingml/2006/main">
              <a:ext uri="{FF2B5EF4-FFF2-40B4-BE49-F238E27FC236}">
                <a16:creationId xmlns:a16="http://schemas.microsoft.com/office/drawing/2014/main" id="{69B2B618-321F-4A20-92BC-4602580F389C}"/>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CB3557F8-CCB8-49C9-BE87-F5023E6C85F9}"/>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Verify</a:t>
            </a:r>
          </a:p>
        </p:txBody>
      </p:sp>
      <p:sp>
        <p:nvSpPr>
          <p:cNvPr id="11" name="outcome-body-1">
            <a:extLst xmlns:a="http://schemas.openxmlformats.org/drawingml/2006/main">
              <a:ext uri="{FF2B5EF4-FFF2-40B4-BE49-F238E27FC236}">
                <a16:creationId xmlns:a16="http://schemas.microsoft.com/office/drawing/2014/main" id="{1FFC2EEF-4CED-4734-8CEE-9696FB72196A}"/>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Confirm the GA's best result exactly matches a brute-force baseline on the same 6-bay problem.</a:t>
            </a:r>
          </a:p>
        </p:txBody>
      </p:sp>
      <p:sp>
        <p:nvSpPr>
          <p:cNvPr id="12" name="outcome-number-2">
            <a:extLst xmlns:a="http://schemas.openxmlformats.org/drawingml/2006/main">
              <a:ext uri="{FF2B5EF4-FFF2-40B4-BE49-F238E27FC236}">
                <a16:creationId xmlns:a16="http://schemas.microsoft.com/office/drawing/2014/main" id="{23B7481B-A017-4D58-8F17-951C480C3B74}"/>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D8604530-8543-42DA-9082-F3117E3767C3}"/>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Compare</a:t>
            </a:r>
          </a:p>
        </p:txBody>
      </p:sp>
      <p:sp>
        <p:nvSpPr>
          <p:cNvPr id="14" name="outcome-body-2">
            <a:extLst xmlns:a="http://schemas.openxmlformats.org/drawingml/2006/main">
              <a:ext uri="{FF2B5EF4-FFF2-40B4-BE49-F238E27FC236}">
                <a16:creationId xmlns:a16="http://schemas.microsoft.com/office/drawing/2014/main" id="{4B6EDFF9-EBB9-4EAC-A189-4ABB993C265E}"/>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Record evaluations and wall-clock time for both methods, and state honestly when the GA earns its cost.</a:t>
            </a:r>
          </a:p>
        </p:txBody>
      </p:sp>
      <p:sp>
        <p:nvSpPr>
          <p:cNvPr id="15" name="outcome-number-3">
            <a:extLst xmlns:a="http://schemas.openxmlformats.org/drawingml/2006/main">
              <a:ext uri="{FF2B5EF4-FFF2-40B4-BE49-F238E27FC236}">
                <a16:creationId xmlns:a16="http://schemas.microsoft.com/office/drawing/2014/main" id="{35795086-0867-4A54-8F7F-3C12B328EC29}"/>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B4C3E14D-1E0D-4F09-AF4F-EF2652A71FED}"/>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Diagnose</a:t>
            </a:r>
          </a:p>
        </p:txBody>
      </p:sp>
      <p:sp>
        <p:nvSpPr>
          <p:cNvPr id="17" name="outcome-body-3">
            <a:extLst xmlns:a="http://schemas.openxmlformats.org/drawingml/2006/main">
              <a:ext uri="{FF2B5EF4-FFF2-40B4-BE49-F238E27FC236}">
                <a16:creationId xmlns:a16="http://schemas.microsoft.com/office/drawing/2014/main" id="{83670275-3E8E-43D4-BAB0-87DDCD6DC91A}"/>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Find and fix three real, run-without-error bugs in an AI-drafted genetic algorithm.</a:t>
            </a:r>
          </a:p>
        </p:txBody>
      </p:sp>
    </p:spTree>
    <p:extLst>
      <p:ext uri="{BB962C8B-B14F-4D97-AF65-F5344CB8AC3E}">
        <p14:creationId xmlns:p14="http://schemas.microsoft.com/office/powerpoint/2010/main" val="15178932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B7DA59CC-C6F1-4196-BC1E-43E2182DD07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0CC3A94C-1C03-497C-9C01-CC7C387EE41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1478EE50-3BBD-474F-B9B1-B1D8D578595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F57BE76-13F5-4C14-A3AC-134E1354520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BD65725E-CA02-4E2C-9A13-BCF5530065A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agenda-no-0">
            <a:extLst xmlns:a="http://schemas.openxmlformats.org/drawingml/2006/main">
              <a:ext uri="{FF2B5EF4-FFF2-40B4-BE49-F238E27FC236}">
                <a16:creationId xmlns:a16="http://schemas.microsoft.com/office/drawing/2014/main" id="{861BB0DE-2360-4D26-B1B5-8C20AB6933CD}"/>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058F1CE-DB5F-4278-9CA5-523F5C0AC342}"/>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C7F884C7-9685-4987-8A3F-889790FB222F}"/>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Re-state the problem and re-run Monday's brute-force baseline</a:t>
            </a:r>
          </a:p>
        </p:txBody>
      </p:sp>
      <p:sp>
        <p:nvSpPr>
          <p:cNvPr id="9" name="agenda-no-1">
            <a:extLst xmlns:a="http://schemas.openxmlformats.org/drawingml/2006/main">
              <a:ext uri="{FF2B5EF4-FFF2-40B4-BE49-F238E27FC236}">
                <a16:creationId xmlns:a16="http://schemas.microsoft.com/office/drawing/2014/main" id="{4620E8A8-9541-4126-9926-48B244BBCBE1}"/>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9133FA1-18E7-4019-964E-4CC505D32D1B}"/>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A83EE403-74A5-4AC4-BBA9-7F6B23124B69}"/>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Build order crossover and swap mutation</a:t>
            </a:r>
          </a:p>
        </p:txBody>
      </p:sp>
      <p:sp>
        <p:nvSpPr>
          <p:cNvPr id="12" name="agenda-no-2">
            <a:extLst xmlns:a="http://schemas.openxmlformats.org/drawingml/2006/main">
              <a:ext uri="{FF2B5EF4-FFF2-40B4-BE49-F238E27FC236}">
                <a16:creationId xmlns:a16="http://schemas.microsoft.com/office/drawing/2014/main" id="{A80F78EB-222C-46C8-9A1A-EED1EB19BD1E}"/>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9C52BBF2-0991-4E07-99CC-00130D06F3CA}"/>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100776F8-4830-485D-B8EC-661B96ECA17B}"/>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Run the GA, and compare it to brute force</a:t>
            </a:r>
          </a:p>
        </p:txBody>
      </p:sp>
      <p:sp>
        <p:nvSpPr>
          <p:cNvPr id="15" name="agenda-no-3">
            <a:extLst xmlns:a="http://schemas.openxmlformats.org/drawingml/2006/main">
              <a:ext uri="{FF2B5EF4-FFF2-40B4-BE49-F238E27FC236}">
                <a16:creationId xmlns:a16="http://schemas.microsoft.com/office/drawing/2014/main" id="{909E0E90-CC39-4144-8DE9-5FF2EA3AF255}"/>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EE9B68A9-068A-4123-A969-84DBFC2D4553}"/>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12B18DC3-1704-4551-8998-22B89A980B7A}"/>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Audit an AI draft, then probe seed sensitivity with one new seed</a:t>
            </a:r>
          </a:p>
        </p:txBody>
      </p:sp>
    </p:spTree>
    <p:extLst>
      <p:ext uri="{BB962C8B-B14F-4D97-AF65-F5344CB8AC3E}">
        <p14:creationId xmlns:p14="http://schemas.microsoft.com/office/powerpoint/2010/main" val="20093094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kicker">
            <a:extLst xmlns:a="http://schemas.openxmlformats.org/drawingml/2006/main">
              <a:ext uri="{FF2B5EF4-FFF2-40B4-BE49-F238E27FC236}">
                <a16:creationId xmlns:a16="http://schemas.microsoft.com/office/drawing/2014/main" id="{3D1C1578-577B-41B5-B4EF-4BDE671F02F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923A02D2-470E-435A-A175-5572B7E771E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Recall five terms from Monday</a:t>
            </a:r>
          </a:p>
        </p:txBody>
      </p:sp>
      <p:sp>
        <p:nvSpPr>
          <p:cNvPr id="3" name="">
            <a:extLst xmlns:a="http://schemas.openxmlformats.org/drawingml/2006/main">
              <a:ext uri="{FF2B5EF4-FFF2-40B4-BE49-F238E27FC236}">
                <a16:creationId xmlns:a16="http://schemas.microsoft.com/office/drawing/2014/main" id="{DDE58EA5-C3DB-4478-9522-A755A17C053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8990491-86EE-401D-A511-ABF9F648803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1DF6AC26-AE87-404B-B865-E84D10C8941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15DF6723-DB2F-45C7-B2DC-5D6177DEB3A8}"/>
              </a:ext>
            </a:extLst>
          </p:cNvPr>
          <p:cNvSpPr>
            <a:spLocks xmlns:a="http://schemas.openxmlformats.org/drawingml/2006/main" noGrp="1"/>
          </p:cNvSpPr>
          <p:nvPr/>
        </p:nvSpPr>
        <p:spPr>
          <a:xfrm xmlns:a="http://schemas.openxmlformats.org/drawingml/2006/main">
            <a:off x="609600" y="1866900"/>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A075AF17-3744-432C-B40F-6D3A6B34CED3}"/>
              </a:ext>
            </a:extLst>
          </p:cNvPr>
          <p:cNvSpPr>
            <a:spLocks xmlns:a="http://schemas.openxmlformats.org/drawingml/2006/main" noGrp="1"/>
          </p:cNvSpPr>
          <p:nvPr/>
        </p:nvSpPr>
        <p:spPr>
          <a:xfrm xmlns:a="http://schemas.openxmlformats.org/drawingml/2006/main">
            <a:off x="723900" y="19431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term</a:t>
            </a:r>
          </a:p>
        </p:txBody>
      </p:sp>
      <p:sp>
        <p:nvSpPr>
          <p:cNvPr id="8" name="">
            <a:extLst xmlns:a="http://schemas.openxmlformats.org/drawingml/2006/main">
              <a:ext uri="{FF2B5EF4-FFF2-40B4-BE49-F238E27FC236}">
                <a16:creationId xmlns:a16="http://schemas.microsoft.com/office/drawing/2014/main" id="{007A7033-891A-4533-9EE4-B36E9ECDDCAB}"/>
              </a:ext>
            </a:extLst>
          </p:cNvPr>
          <p:cNvSpPr>
            <a:spLocks xmlns:a="http://schemas.openxmlformats.org/drawingml/2006/main" noGrp="1"/>
          </p:cNvSpPr>
          <p:nvPr/>
        </p:nvSpPr>
        <p:spPr>
          <a:xfrm xmlns:a="http://schemas.openxmlformats.org/drawingml/2006/main">
            <a:off x="3086100" y="1866900"/>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38F81167-BEB0-4489-BD18-B29FA77B28D6}"/>
              </a:ext>
            </a:extLst>
          </p:cNvPr>
          <p:cNvSpPr>
            <a:spLocks xmlns:a="http://schemas.openxmlformats.org/drawingml/2006/main" noGrp="1"/>
          </p:cNvSpPr>
          <p:nvPr/>
        </p:nvSpPr>
        <p:spPr>
          <a:xfrm xmlns:a="http://schemas.openxmlformats.org/drawingml/2006/main">
            <a:off x="3200400" y="19431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definition</a:t>
            </a:r>
          </a:p>
        </p:txBody>
      </p:sp>
      <p:sp>
        <p:nvSpPr>
          <p:cNvPr id="10" name="">
            <a:extLst xmlns:a="http://schemas.openxmlformats.org/drawingml/2006/main">
              <a:ext uri="{FF2B5EF4-FFF2-40B4-BE49-F238E27FC236}">
                <a16:creationId xmlns:a16="http://schemas.microsoft.com/office/drawing/2014/main" id="{D145819E-F024-4360-880A-AF4A1F5F7C87}"/>
              </a:ext>
            </a:extLst>
          </p:cNvPr>
          <p:cNvSpPr>
            <a:spLocks xmlns:a="http://schemas.openxmlformats.org/drawingml/2006/main" noGrp="1"/>
          </p:cNvSpPr>
          <p:nvPr/>
        </p:nvSpPr>
        <p:spPr>
          <a:xfrm xmlns:a="http://schemas.openxmlformats.org/drawingml/2006/main">
            <a:off x="5562600" y="1866900"/>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7988E024-A2A4-4AF1-BBF3-3A1C6AAC2790}"/>
              </a:ext>
            </a:extLst>
          </p:cNvPr>
          <p:cNvSpPr>
            <a:spLocks xmlns:a="http://schemas.openxmlformats.org/drawingml/2006/main" noGrp="1"/>
          </p:cNvSpPr>
          <p:nvPr/>
        </p:nvSpPr>
        <p:spPr>
          <a:xfrm xmlns:a="http://schemas.openxmlformats.org/drawingml/2006/main">
            <a:off x="5676900" y="19431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today's use</a:t>
            </a:r>
          </a:p>
        </p:txBody>
      </p:sp>
      <p:sp>
        <p:nvSpPr>
          <p:cNvPr id="12" name="">
            <a:extLst xmlns:a="http://schemas.openxmlformats.org/drawingml/2006/main">
              <a:ext uri="{FF2B5EF4-FFF2-40B4-BE49-F238E27FC236}">
                <a16:creationId xmlns:a16="http://schemas.microsoft.com/office/drawing/2014/main" id="{99DA01AD-D80E-48CF-8277-BC92016CA6EC}"/>
              </a:ext>
            </a:extLst>
          </p:cNvPr>
          <p:cNvSpPr>
            <a:spLocks xmlns:a="http://schemas.openxmlformats.org/drawingml/2006/main" noGrp="1"/>
          </p:cNvSpPr>
          <p:nvPr/>
        </p:nvSpPr>
        <p:spPr>
          <a:xfrm xmlns:a="http://schemas.openxmlformats.org/drawingml/2006/main">
            <a:off x="609600" y="240030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9E60EFAA-4777-4218-9205-5E021017776C}"/>
              </a:ext>
            </a:extLst>
          </p:cNvPr>
          <p:cNvSpPr>
            <a:spLocks xmlns:a="http://schemas.openxmlformats.org/drawingml/2006/main" noGrp="1"/>
          </p:cNvSpPr>
          <p:nvPr/>
        </p:nvSpPr>
        <p:spPr>
          <a:xfrm xmlns:a="http://schemas.openxmlformats.org/drawingml/2006/main">
            <a:off x="723900" y="247650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heuristic</a:t>
            </a:r>
          </a:p>
        </p:txBody>
      </p:sp>
      <p:sp>
        <p:nvSpPr>
          <p:cNvPr id="14" name="">
            <a:extLst xmlns:a="http://schemas.openxmlformats.org/drawingml/2006/main">
              <a:ext uri="{FF2B5EF4-FFF2-40B4-BE49-F238E27FC236}">
                <a16:creationId xmlns:a16="http://schemas.microsoft.com/office/drawing/2014/main" id="{B7AE2E7C-B0C2-4394-99F4-A62A3F927604}"/>
              </a:ext>
            </a:extLst>
          </p:cNvPr>
          <p:cNvSpPr>
            <a:spLocks xmlns:a="http://schemas.openxmlformats.org/drawingml/2006/main" noGrp="1"/>
          </p:cNvSpPr>
          <p:nvPr/>
        </p:nvSpPr>
        <p:spPr>
          <a:xfrm xmlns:a="http://schemas.openxmlformats.org/drawingml/2006/main">
            <a:off x="3086100" y="240030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F6873869-1C0E-44F0-9C7D-552E05171564}"/>
              </a:ext>
            </a:extLst>
          </p:cNvPr>
          <p:cNvSpPr>
            <a:spLocks xmlns:a="http://schemas.openxmlformats.org/drawingml/2006/main" noGrp="1"/>
          </p:cNvSpPr>
          <p:nvPr/>
        </p:nvSpPr>
        <p:spPr>
          <a:xfrm xmlns:a="http://schemas.openxmlformats.org/drawingml/2006/main">
            <a:off x="3200400" y="247650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rule-of-thumb search: good answer fast, not proven best</a:t>
            </a:r>
          </a:p>
        </p:txBody>
      </p:sp>
      <p:sp>
        <p:nvSpPr>
          <p:cNvPr id="16" name="">
            <a:extLst xmlns:a="http://schemas.openxmlformats.org/drawingml/2006/main">
              <a:ext uri="{FF2B5EF4-FFF2-40B4-BE49-F238E27FC236}">
                <a16:creationId xmlns:a16="http://schemas.microsoft.com/office/drawing/2014/main" id="{4C6B8E00-E8CF-4B07-BC8A-878B5DCFB89B}"/>
              </a:ext>
            </a:extLst>
          </p:cNvPr>
          <p:cNvSpPr>
            <a:spLocks xmlns:a="http://schemas.openxmlformats.org/drawingml/2006/main" noGrp="1"/>
          </p:cNvSpPr>
          <p:nvPr/>
        </p:nvSpPr>
        <p:spPr>
          <a:xfrm xmlns:a="http://schemas.openxmlformats.org/drawingml/2006/main">
            <a:off x="5562600" y="240030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CE9324EE-BA3C-48FD-8E19-0465577D04C0}"/>
              </a:ext>
            </a:extLst>
          </p:cNvPr>
          <p:cNvSpPr>
            <a:spLocks xmlns:a="http://schemas.openxmlformats.org/drawingml/2006/main" noGrp="1"/>
          </p:cNvSpPr>
          <p:nvPr/>
        </p:nvSpPr>
        <p:spPr>
          <a:xfrm xmlns:a="http://schemas.openxmlformats.org/drawingml/2006/main">
            <a:off x="5676900" y="247650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random search, hill climbing and the GA are heuristics</a:t>
            </a:r>
          </a:p>
        </p:txBody>
      </p:sp>
      <p:sp>
        <p:nvSpPr>
          <p:cNvPr id="18" name="">
            <a:extLst xmlns:a="http://schemas.openxmlformats.org/drawingml/2006/main">
              <a:ext uri="{FF2B5EF4-FFF2-40B4-BE49-F238E27FC236}">
                <a16:creationId xmlns:a16="http://schemas.microsoft.com/office/drawing/2014/main" id="{83EEBFB6-4604-4A1F-AAD2-26E0EF847195}"/>
              </a:ext>
            </a:extLst>
          </p:cNvPr>
          <p:cNvSpPr>
            <a:spLocks xmlns:a="http://schemas.openxmlformats.org/drawingml/2006/main" noGrp="1"/>
          </p:cNvSpPr>
          <p:nvPr/>
        </p:nvSpPr>
        <p:spPr>
          <a:xfrm xmlns:a="http://schemas.openxmlformats.org/drawingml/2006/main">
            <a:off x="609600" y="3135630"/>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6A642A8C-5546-4964-A171-C5D7C0070B74}"/>
              </a:ext>
            </a:extLst>
          </p:cNvPr>
          <p:cNvSpPr>
            <a:spLocks xmlns:a="http://schemas.openxmlformats.org/drawingml/2006/main" noGrp="1"/>
          </p:cNvSpPr>
          <p:nvPr/>
        </p:nvSpPr>
        <p:spPr>
          <a:xfrm xmlns:a="http://schemas.openxmlformats.org/drawingml/2006/main">
            <a:off x="723900" y="321183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brute force</a:t>
            </a:r>
          </a:p>
        </p:txBody>
      </p:sp>
      <p:sp>
        <p:nvSpPr>
          <p:cNvPr id="20" name="">
            <a:extLst xmlns:a="http://schemas.openxmlformats.org/drawingml/2006/main">
              <a:ext uri="{FF2B5EF4-FFF2-40B4-BE49-F238E27FC236}">
                <a16:creationId xmlns:a16="http://schemas.microsoft.com/office/drawing/2014/main" id="{D66DB7B5-AC60-46A3-9A8B-06EDBB75C7B3}"/>
              </a:ext>
            </a:extLst>
          </p:cNvPr>
          <p:cNvSpPr>
            <a:spLocks xmlns:a="http://schemas.openxmlformats.org/drawingml/2006/main" noGrp="1"/>
          </p:cNvSpPr>
          <p:nvPr/>
        </p:nvSpPr>
        <p:spPr>
          <a:xfrm xmlns:a="http://schemas.openxmlformats.org/drawingml/2006/main">
            <a:off x="3086100" y="3135630"/>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9DA3857E-0C05-40F3-A119-03B8EC3A9545}"/>
              </a:ext>
            </a:extLst>
          </p:cNvPr>
          <p:cNvSpPr>
            <a:spLocks xmlns:a="http://schemas.openxmlformats.org/drawingml/2006/main" noGrp="1"/>
          </p:cNvSpPr>
          <p:nvPr/>
        </p:nvSpPr>
        <p:spPr>
          <a:xfrm xmlns:a="http://schemas.openxmlformats.org/drawingml/2006/main">
            <a:off x="3200400" y="321183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check every possible arrangement; guaranteed optimal</a:t>
            </a:r>
          </a:p>
        </p:txBody>
      </p:sp>
      <p:sp>
        <p:nvSpPr>
          <p:cNvPr id="22" name="">
            <a:extLst xmlns:a="http://schemas.openxmlformats.org/drawingml/2006/main">
              <a:ext uri="{FF2B5EF4-FFF2-40B4-BE49-F238E27FC236}">
                <a16:creationId xmlns:a16="http://schemas.microsoft.com/office/drawing/2014/main" id="{0762456D-4224-4090-8FC2-5D7C9D11E73A}"/>
              </a:ext>
            </a:extLst>
          </p:cNvPr>
          <p:cNvSpPr>
            <a:spLocks xmlns:a="http://schemas.openxmlformats.org/drawingml/2006/main" noGrp="1"/>
          </p:cNvSpPr>
          <p:nvPr/>
        </p:nvSpPr>
        <p:spPr>
          <a:xfrm xmlns:a="http://schemas.openxmlformats.org/drawingml/2006/main">
            <a:off x="5562600" y="3135630"/>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0AB60120-BAD5-4394-BA99-D48DD2B27111}"/>
              </a:ext>
            </a:extLst>
          </p:cNvPr>
          <p:cNvSpPr>
            <a:spLocks xmlns:a="http://schemas.openxmlformats.org/drawingml/2006/main" noGrp="1"/>
          </p:cNvSpPr>
          <p:nvPr/>
        </p:nvSpPr>
        <p:spPr>
          <a:xfrm xmlns:a="http://schemas.openxmlformats.org/drawingml/2006/main">
            <a:off x="5676900" y="321183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today's 720-permutation baseline, re-run and timed</a:t>
            </a:r>
          </a:p>
        </p:txBody>
      </p:sp>
      <p:sp>
        <p:nvSpPr>
          <p:cNvPr id="24" name="">
            <a:extLst xmlns:a="http://schemas.openxmlformats.org/drawingml/2006/main">
              <a:ext uri="{FF2B5EF4-FFF2-40B4-BE49-F238E27FC236}">
                <a16:creationId xmlns:a16="http://schemas.microsoft.com/office/drawing/2014/main" id="{2DCAAC6D-7B15-4960-8879-7C2BAA033269}"/>
              </a:ext>
            </a:extLst>
          </p:cNvPr>
          <p:cNvSpPr>
            <a:spLocks xmlns:a="http://schemas.openxmlformats.org/drawingml/2006/main" noGrp="1"/>
          </p:cNvSpPr>
          <p:nvPr/>
        </p:nvSpPr>
        <p:spPr>
          <a:xfrm xmlns:a="http://schemas.openxmlformats.org/drawingml/2006/main">
            <a:off x="609600" y="387096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291C0AA3-3B0F-4FCE-86A9-F119B028913F}"/>
              </a:ext>
            </a:extLst>
          </p:cNvPr>
          <p:cNvSpPr>
            <a:spLocks xmlns:a="http://schemas.openxmlformats.org/drawingml/2006/main" noGrp="1"/>
          </p:cNvSpPr>
          <p:nvPr/>
        </p:nvSpPr>
        <p:spPr>
          <a:xfrm xmlns:a="http://schemas.openxmlformats.org/drawingml/2006/main">
            <a:off x="723900" y="394716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hill climbing</a:t>
            </a:r>
          </a:p>
        </p:txBody>
      </p:sp>
      <p:sp>
        <p:nvSpPr>
          <p:cNvPr id="26" name="">
            <a:extLst xmlns:a="http://schemas.openxmlformats.org/drawingml/2006/main">
              <a:ext uri="{FF2B5EF4-FFF2-40B4-BE49-F238E27FC236}">
                <a16:creationId xmlns:a16="http://schemas.microsoft.com/office/drawing/2014/main" id="{8D9E0957-8A51-4CFE-826F-9D162725F6B1}"/>
              </a:ext>
            </a:extLst>
          </p:cNvPr>
          <p:cNvSpPr>
            <a:spLocks xmlns:a="http://schemas.openxmlformats.org/drawingml/2006/main" noGrp="1"/>
          </p:cNvSpPr>
          <p:nvPr/>
        </p:nvSpPr>
        <p:spPr>
          <a:xfrm xmlns:a="http://schemas.openxmlformats.org/drawingml/2006/main">
            <a:off x="3086100" y="387096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9C5CA5DA-8F57-46BA-8CC6-AEACBDBB6C63}"/>
              </a:ext>
            </a:extLst>
          </p:cNvPr>
          <p:cNvSpPr>
            <a:spLocks xmlns:a="http://schemas.openxmlformats.org/drawingml/2006/main" noGrp="1"/>
          </p:cNvSpPr>
          <p:nvPr/>
        </p:nvSpPr>
        <p:spPr>
          <a:xfrm xmlns:a="http://schemas.openxmlformats.org/drawingml/2006/main">
            <a:off x="3200400" y="394716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move to a better neighbor until none improves; stops LOCAL</a:t>
            </a:r>
          </a:p>
        </p:txBody>
      </p:sp>
      <p:sp>
        <p:nvSpPr>
          <p:cNvPr id="28" name="">
            <a:extLst xmlns:a="http://schemas.openxmlformats.org/drawingml/2006/main">
              <a:ext uri="{FF2B5EF4-FFF2-40B4-BE49-F238E27FC236}">
                <a16:creationId xmlns:a16="http://schemas.microsoft.com/office/drawing/2014/main" id="{B54753D7-C556-4644-8B85-B3CC579492D9}"/>
              </a:ext>
            </a:extLst>
          </p:cNvPr>
          <p:cNvSpPr>
            <a:spLocks xmlns:a="http://schemas.openxmlformats.org/drawingml/2006/main" noGrp="1"/>
          </p:cNvSpPr>
          <p:nvPr/>
        </p:nvSpPr>
        <p:spPr>
          <a:xfrm xmlns:a="http://schemas.openxmlformats.org/drawingml/2006/main">
            <a:off x="5562600" y="387096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D5F033C9-29D1-4D21-86D6-0465C809E973}"/>
              </a:ext>
            </a:extLst>
          </p:cNvPr>
          <p:cNvSpPr>
            <a:spLocks xmlns:a="http://schemas.openxmlformats.org/drawingml/2006/main" noGrp="1"/>
          </p:cNvSpPr>
          <p:nvPr/>
        </p:nvSpPr>
        <p:spPr>
          <a:xfrm xmlns:a="http://schemas.openxmlformats.org/drawingml/2006/main">
            <a:off x="5676900" y="394716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quick recap only - today's build is the GA</a:t>
            </a:r>
          </a:p>
        </p:txBody>
      </p:sp>
      <p:sp>
        <p:nvSpPr>
          <p:cNvPr id="30" name="">
            <a:extLst xmlns:a="http://schemas.openxmlformats.org/drawingml/2006/main">
              <a:ext uri="{FF2B5EF4-FFF2-40B4-BE49-F238E27FC236}">
                <a16:creationId xmlns:a16="http://schemas.microsoft.com/office/drawing/2014/main" id="{745CA782-6C2F-478E-AA58-322A14AF1008}"/>
              </a:ext>
            </a:extLst>
          </p:cNvPr>
          <p:cNvSpPr>
            <a:spLocks xmlns:a="http://schemas.openxmlformats.org/drawingml/2006/main" noGrp="1"/>
          </p:cNvSpPr>
          <p:nvPr/>
        </p:nvSpPr>
        <p:spPr>
          <a:xfrm xmlns:a="http://schemas.openxmlformats.org/drawingml/2006/main">
            <a:off x="609600" y="4606290"/>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50FE613E-8061-4BC4-B812-B983A8C1816F}"/>
              </a:ext>
            </a:extLst>
          </p:cNvPr>
          <p:cNvSpPr>
            <a:spLocks xmlns:a="http://schemas.openxmlformats.org/drawingml/2006/main" noGrp="1"/>
          </p:cNvSpPr>
          <p:nvPr/>
        </p:nvSpPr>
        <p:spPr>
          <a:xfrm xmlns:a="http://schemas.openxmlformats.org/drawingml/2006/main">
            <a:off x="723900" y="468249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genetic algorithm</a:t>
            </a:r>
          </a:p>
        </p:txBody>
      </p:sp>
      <p:sp>
        <p:nvSpPr>
          <p:cNvPr id="32" name="">
            <a:extLst xmlns:a="http://schemas.openxmlformats.org/drawingml/2006/main">
              <a:ext uri="{FF2B5EF4-FFF2-40B4-BE49-F238E27FC236}">
                <a16:creationId xmlns:a16="http://schemas.microsoft.com/office/drawing/2014/main" id="{98103ECA-5052-4540-BAD6-6CDA4AF27862}"/>
              </a:ext>
            </a:extLst>
          </p:cNvPr>
          <p:cNvSpPr>
            <a:spLocks xmlns:a="http://schemas.openxmlformats.org/drawingml/2006/main" noGrp="1"/>
          </p:cNvSpPr>
          <p:nvPr/>
        </p:nvSpPr>
        <p:spPr>
          <a:xfrm xmlns:a="http://schemas.openxmlformats.org/drawingml/2006/main">
            <a:off x="3086100" y="4606290"/>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0C2B9171-0A67-445A-8BE6-24D72360B8D1}"/>
              </a:ext>
            </a:extLst>
          </p:cNvPr>
          <p:cNvSpPr>
            <a:spLocks xmlns:a="http://schemas.openxmlformats.org/drawingml/2006/main" noGrp="1"/>
          </p:cNvSpPr>
          <p:nvPr/>
        </p:nvSpPr>
        <p:spPr>
          <a:xfrm xmlns:a="http://schemas.openxmlformats.org/drawingml/2006/main">
            <a:off x="3200400" y="468249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population: select fittest, crossover, then mutate</a:t>
            </a:r>
          </a:p>
        </p:txBody>
      </p:sp>
      <p:sp>
        <p:nvSpPr>
          <p:cNvPr id="34" name="">
            <a:extLst xmlns:a="http://schemas.openxmlformats.org/drawingml/2006/main">
              <a:ext uri="{FF2B5EF4-FFF2-40B4-BE49-F238E27FC236}">
                <a16:creationId xmlns:a16="http://schemas.microsoft.com/office/drawing/2014/main" id="{0EA423F4-4B1B-45D8-A134-47A2F34DFE97}"/>
              </a:ext>
            </a:extLst>
          </p:cNvPr>
          <p:cNvSpPr>
            <a:spLocks xmlns:a="http://schemas.openxmlformats.org/drawingml/2006/main" noGrp="1"/>
          </p:cNvSpPr>
          <p:nvPr/>
        </p:nvSpPr>
        <p:spPr>
          <a:xfrm xmlns:a="http://schemas.openxmlformats.org/drawingml/2006/main">
            <a:off x="5562600" y="4606290"/>
            <a:ext cx="2476500"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A972A8E6-2662-4E9F-96E5-A40D047C0CDC}"/>
              </a:ext>
            </a:extLst>
          </p:cNvPr>
          <p:cNvSpPr>
            <a:spLocks xmlns:a="http://schemas.openxmlformats.org/drawingml/2006/main" noGrp="1"/>
          </p:cNvSpPr>
          <p:nvPr/>
        </p:nvSpPr>
        <p:spPr>
          <a:xfrm xmlns:a="http://schemas.openxmlformats.org/drawingml/2006/main">
            <a:off x="5676900" y="468249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today's main build, run with seed=1</a:t>
            </a:r>
          </a:p>
        </p:txBody>
      </p:sp>
      <p:sp>
        <p:nvSpPr>
          <p:cNvPr id="36" name="">
            <a:extLst xmlns:a="http://schemas.openxmlformats.org/drawingml/2006/main">
              <a:ext uri="{FF2B5EF4-FFF2-40B4-BE49-F238E27FC236}">
                <a16:creationId xmlns:a16="http://schemas.microsoft.com/office/drawing/2014/main" id="{BACB2F81-C98A-4DBF-BF9D-1739D3BE5D1B}"/>
              </a:ext>
            </a:extLst>
          </p:cNvPr>
          <p:cNvSpPr>
            <a:spLocks xmlns:a="http://schemas.openxmlformats.org/drawingml/2006/main" noGrp="1"/>
          </p:cNvSpPr>
          <p:nvPr/>
        </p:nvSpPr>
        <p:spPr>
          <a:xfrm xmlns:a="http://schemas.openxmlformats.org/drawingml/2006/main">
            <a:off x="609600" y="534162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4-0">
            <a:extLst xmlns:a="http://schemas.openxmlformats.org/drawingml/2006/main">
              <a:ext uri="{FF2B5EF4-FFF2-40B4-BE49-F238E27FC236}">
                <a16:creationId xmlns:a16="http://schemas.microsoft.com/office/drawing/2014/main" id="{004B27E3-688C-48FF-9861-AD330CF72E7E}"/>
              </a:ext>
            </a:extLst>
          </p:cNvPr>
          <p:cNvSpPr>
            <a:spLocks xmlns:a="http://schemas.openxmlformats.org/drawingml/2006/main" noGrp="1"/>
          </p:cNvSpPr>
          <p:nvPr/>
        </p:nvSpPr>
        <p:spPr>
          <a:xfrm xmlns:a="http://schemas.openxmlformats.org/drawingml/2006/main">
            <a:off x="723900" y="541782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local vs. true (global) optimum</a:t>
            </a:r>
          </a:p>
        </p:txBody>
      </p:sp>
      <p:sp>
        <p:nvSpPr>
          <p:cNvPr id="38" name="">
            <a:extLst xmlns:a="http://schemas.openxmlformats.org/drawingml/2006/main">
              <a:ext uri="{FF2B5EF4-FFF2-40B4-BE49-F238E27FC236}">
                <a16:creationId xmlns:a16="http://schemas.microsoft.com/office/drawing/2014/main" id="{46D9B960-FB91-4357-9DD5-12CA16403986}"/>
              </a:ext>
            </a:extLst>
          </p:cNvPr>
          <p:cNvSpPr>
            <a:spLocks xmlns:a="http://schemas.openxmlformats.org/drawingml/2006/main" noGrp="1"/>
          </p:cNvSpPr>
          <p:nvPr/>
        </p:nvSpPr>
        <p:spPr>
          <a:xfrm xmlns:a="http://schemas.openxmlformats.org/drawingml/2006/main">
            <a:off x="3086100" y="534162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9" name="cell-4-1">
            <a:extLst xmlns:a="http://schemas.openxmlformats.org/drawingml/2006/main">
              <a:ext uri="{FF2B5EF4-FFF2-40B4-BE49-F238E27FC236}">
                <a16:creationId xmlns:a16="http://schemas.microsoft.com/office/drawing/2014/main" id="{A42E687E-A2B4-4A68-8AC7-DDA0CA5AA2B3}"/>
              </a:ext>
            </a:extLst>
          </p:cNvPr>
          <p:cNvSpPr>
            <a:spLocks xmlns:a="http://schemas.openxmlformats.org/drawingml/2006/main" noGrp="1"/>
          </p:cNvSpPr>
          <p:nvPr/>
        </p:nvSpPr>
        <p:spPr>
          <a:xfrm xmlns:a="http://schemas.openxmlformats.org/drawingml/2006/main">
            <a:off x="3200400" y="541782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best among neighbors, vs. best of all arrangements</a:t>
            </a:r>
          </a:p>
        </p:txBody>
      </p:sp>
      <p:sp>
        <p:nvSpPr>
          <p:cNvPr id="40" name="">
            <a:extLst xmlns:a="http://schemas.openxmlformats.org/drawingml/2006/main">
              <a:ext uri="{FF2B5EF4-FFF2-40B4-BE49-F238E27FC236}">
                <a16:creationId xmlns:a16="http://schemas.microsoft.com/office/drawing/2014/main" id="{4EDF5479-84A0-4041-88EF-237CB524851D}"/>
              </a:ext>
            </a:extLst>
          </p:cNvPr>
          <p:cNvSpPr>
            <a:spLocks xmlns:a="http://schemas.openxmlformats.org/drawingml/2006/main" noGrp="1"/>
          </p:cNvSpPr>
          <p:nvPr/>
        </p:nvSpPr>
        <p:spPr>
          <a:xfrm xmlns:a="http://schemas.openxmlformats.org/drawingml/2006/main">
            <a:off x="5562600" y="5341620"/>
            <a:ext cx="2476500"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1" name="cell-4-2">
            <a:extLst xmlns:a="http://schemas.openxmlformats.org/drawingml/2006/main">
              <a:ext uri="{FF2B5EF4-FFF2-40B4-BE49-F238E27FC236}">
                <a16:creationId xmlns:a16="http://schemas.microsoft.com/office/drawing/2014/main" id="{18EE232D-EA04-47D6-B2FD-CA5A9EAEBC78}"/>
              </a:ext>
            </a:extLst>
          </p:cNvPr>
          <p:cNvSpPr>
            <a:spLocks xmlns:a="http://schemas.openxmlformats.org/drawingml/2006/main" noGrp="1"/>
          </p:cNvSpPr>
          <p:nvPr/>
        </p:nvSpPr>
        <p:spPr>
          <a:xfrm xmlns:a="http://schemas.openxmlformats.org/drawingml/2006/main">
            <a:off x="5676900" y="5417820"/>
            <a:ext cx="2247900"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brute force's 0.0125 is what everything is judged against</a:t>
            </a:r>
          </a:p>
        </p:txBody>
      </p:sp>
      <p:sp>
        <p:nvSpPr>
          <p:cNvPr id="42" name="callout-label">
            <a:extLst xmlns:a="http://schemas.openxmlformats.org/drawingml/2006/main">
              <a:ext uri="{FF2B5EF4-FFF2-40B4-BE49-F238E27FC236}">
                <a16:creationId xmlns:a16="http://schemas.microsoft.com/office/drawing/2014/main" id="{DB602B2F-7631-44FE-9896-FDFD4457B9C5}"/>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3" name="callout">
            <a:extLst xmlns:a="http://schemas.openxmlformats.org/drawingml/2006/main">
              <a:ext uri="{FF2B5EF4-FFF2-40B4-BE49-F238E27FC236}">
                <a16:creationId xmlns:a16="http://schemas.microsoft.com/office/drawing/2014/main" id="{8EE53066-F21A-44A9-AD56-7BCD90390515}"/>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Every term above appears at least once in today's script — point to it as you reach that line.</a:t>
            </a:r>
          </a:p>
        </p:txBody>
      </p:sp>
    </p:spTree>
    <p:extLst>
      <p:ext uri="{BB962C8B-B14F-4D97-AF65-F5344CB8AC3E}">
        <p14:creationId xmlns:p14="http://schemas.microsoft.com/office/powerpoint/2010/main" val="19595795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kicker">
            <a:extLst xmlns:a="http://schemas.openxmlformats.org/drawingml/2006/main">
              <a:ext uri="{FF2B5EF4-FFF2-40B4-BE49-F238E27FC236}">
                <a16:creationId xmlns:a16="http://schemas.microsoft.com/office/drawing/2014/main" id="{FF13088F-ACF2-46BA-8058-F2F4342C3A5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BCA3A504-BB76-46C4-BF12-529F84C07F9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New Python syntax, recapped from Monday</a:t>
            </a:r>
          </a:p>
        </p:txBody>
      </p:sp>
      <p:sp>
        <p:nvSpPr>
          <p:cNvPr id="3" name="">
            <a:extLst xmlns:a="http://schemas.openxmlformats.org/drawingml/2006/main">
              <a:ext uri="{FF2B5EF4-FFF2-40B4-BE49-F238E27FC236}">
                <a16:creationId xmlns:a16="http://schemas.microsoft.com/office/drawing/2014/main" id="{8839DFA0-650E-440B-9024-109F8EAB36E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CB40BE5-9B51-43D5-B4D4-FC6C220E9DD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70DF6A7F-BF24-41EC-966C-C08A503F752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AC1E0EC0-7060-4CB1-BD6C-7046EDC3D926}"/>
              </a:ext>
            </a:extLst>
          </p:cNvPr>
          <p:cNvSpPr>
            <a:spLocks xmlns:a="http://schemas.openxmlformats.org/drawingml/2006/main" noGrp="1"/>
          </p:cNvSpPr>
          <p:nvPr/>
        </p:nvSpPr>
        <p:spPr>
          <a:xfrm xmlns:a="http://schemas.openxmlformats.org/drawingml/2006/main">
            <a:off x="609600" y="2428875"/>
            <a:ext cx="2409568"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2371C02E-ECEA-42C3-8594-B027B374C402}"/>
              </a:ext>
            </a:extLst>
          </p:cNvPr>
          <p:cNvSpPr>
            <a:spLocks xmlns:a="http://schemas.openxmlformats.org/drawingml/2006/main" noGrp="1"/>
          </p:cNvSpPr>
          <p:nvPr/>
        </p:nvSpPr>
        <p:spPr>
          <a:xfrm xmlns:a="http://schemas.openxmlformats.org/drawingml/2006/main">
            <a:off x="723900" y="2505075"/>
            <a:ext cx="2180968"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pattern</a:t>
            </a:r>
          </a:p>
        </p:txBody>
      </p:sp>
      <p:sp>
        <p:nvSpPr>
          <p:cNvPr id="8" name="">
            <a:extLst xmlns:a="http://schemas.openxmlformats.org/drawingml/2006/main">
              <a:ext uri="{FF2B5EF4-FFF2-40B4-BE49-F238E27FC236}">
                <a16:creationId xmlns:a16="http://schemas.microsoft.com/office/drawing/2014/main" id="{0BBCDE64-513D-47EA-9BAB-741C89F9B890}"/>
              </a:ext>
            </a:extLst>
          </p:cNvPr>
          <p:cNvSpPr>
            <a:spLocks xmlns:a="http://schemas.openxmlformats.org/drawingml/2006/main" noGrp="1"/>
          </p:cNvSpPr>
          <p:nvPr/>
        </p:nvSpPr>
        <p:spPr>
          <a:xfrm xmlns:a="http://schemas.openxmlformats.org/drawingml/2006/main">
            <a:off x="3019168" y="2428875"/>
            <a:ext cx="3212757"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4FEB7E46-1DD3-4729-BF6D-99739F5F7FED}"/>
              </a:ext>
            </a:extLst>
          </p:cNvPr>
          <p:cNvSpPr>
            <a:spLocks xmlns:a="http://schemas.openxmlformats.org/drawingml/2006/main" noGrp="1"/>
          </p:cNvSpPr>
          <p:nvPr/>
        </p:nvSpPr>
        <p:spPr>
          <a:xfrm xmlns:a="http://schemas.openxmlformats.org/drawingml/2006/main">
            <a:off x="3133468" y="2505075"/>
            <a:ext cx="2984157"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reads as</a:t>
            </a:r>
          </a:p>
        </p:txBody>
      </p:sp>
      <p:sp>
        <p:nvSpPr>
          <p:cNvPr id="10" name="">
            <a:extLst xmlns:a="http://schemas.openxmlformats.org/drawingml/2006/main">
              <a:ext uri="{FF2B5EF4-FFF2-40B4-BE49-F238E27FC236}">
                <a16:creationId xmlns:a16="http://schemas.microsoft.com/office/drawing/2014/main" id="{06796E82-9491-473A-B225-6608864C0BBA}"/>
              </a:ext>
            </a:extLst>
          </p:cNvPr>
          <p:cNvSpPr>
            <a:spLocks xmlns:a="http://schemas.openxmlformats.org/drawingml/2006/main" noGrp="1"/>
          </p:cNvSpPr>
          <p:nvPr/>
        </p:nvSpPr>
        <p:spPr>
          <a:xfrm xmlns:a="http://schemas.openxmlformats.org/drawingml/2006/main">
            <a:off x="6231924" y="2428875"/>
            <a:ext cx="1807176"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73DB487B-BB94-4317-8BC7-085168D7382C}"/>
              </a:ext>
            </a:extLst>
          </p:cNvPr>
          <p:cNvSpPr>
            <a:spLocks xmlns:a="http://schemas.openxmlformats.org/drawingml/2006/main" noGrp="1"/>
          </p:cNvSpPr>
          <p:nvPr/>
        </p:nvSpPr>
        <p:spPr>
          <a:xfrm xmlns:a="http://schemas.openxmlformats.org/drawingml/2006/main">
            <a:off x="6346224" y="2505075"/>
            <a:ext cx="157857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today</a:t>
            </a:r>
          </a:p>
        </p:txBody>
      </p:sp>
      <p:sp>
        <p:nvSpPr>
          <p:cNvPr id="12" name="">
            <a:extLst xmlns:a="http://schemas.openxmlformats.org/drawingml/2006/main">
              <a:ext uri="{FF2B5EF4-FFF2-40B4-BE49-F238E27FC236}">
                <a16:creationId xmlns:a16="http://schemas.microsoft.com/office/drawing/2014/main" id="{32A0FF0C-AFC9-435B-BC55-0F27596BC5DD}"/>
              </a:ext>
            </a:extLst>
          </p:cNvPr>
          <p:cNvSpPr>
            <a:spLocks xmlns:a="http://schemas.openxmlformats.org/drawingml/2006/main" noGrp="1"/>
          </p:cNvSpPr>
          <p:nvPr/>
        </p:nvSpPr>
        <p:spPr>
          <a:xfrm xmlns:a="http://schemas.openxmlformats.org/drawingml/2006/main">
            <a:off x="609600" y="2962275"/>
            <a:ext cx="2409568"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4612A1A7-DF58-42ED-9023-A18163E1941B}"/>
              </a:ext>
            </a:extLst>
          </p:cNvPr>
          <p:cNvSpPr>
            <a:spLocks xmlns:a="http://schemas.openxmlformats.org/drawingml/2006/main" noGrp="1"/>
          </p:cNvSpPr>
          <p:nvPr/>
        </p:nvSpPr>
        <p:spPr>
          <a:xfrm xmlns:a="http://schemas.openxmlformats.org/drawingml/2006/main">
            <a:off x="723900" y="3038475"/>
            <a:ext cx="2180968"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generator expression</a:t>
            </a:r>
          </a:p>
        </p:txBody>
      </p:sp>
      <p:sp>
        <p:nvSpPr>
          <p:cNvPr id="14" name="">
            <a:extLst xmlns:a="http://schemas.openxmlformats.org/drawingml/2006/main">
              <a:ext uri="{FF2B5EF4-FFF2-40B4-BE49-F238E27FC236}">
                <a16:creationId xmlns:a16="http://schemas.microsoft.com/office/drawing/2014/main" id="{18B1AE9D-C980-4210-9E47-C219FABD0015}"/>
              </a:ext>
            </a:extLst>
          </p:cNvPr>
          <p:cNvSpPr>
            <a:spLocks xmlns:a="http://schemas.openxmlformats.org/drawingml/2006/main" noGrp="1"/>
          </p:cNvSpPr>
          <p:nvPr/>
        </p:nvSpPr>
        <p:spPr>
          <a:xfrm xmlns:a="http://schemas.openxmlformats.org/drawingml/2006/main">
            <a:off x="3019168" y="2962275"/>
            <a:ext cx="3212757"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35A3E9B2-662E-4B7C-83DD-4BE086C30E4B}"/>
              </a:ext>
            </a:extLst>
          </p:cNvPr>
          <p:cNvSpPr>
            <a:spLocks xmlns:a="http://schemas.openxmlformats.org/drawingml/2006/main" noGrp="1"/>
          </p:cNvSpPr>
          <p:nvPr/>
        </p:nvSpPr>
        <p:spPr>
          <a:xfrm xmlns:a="http://schemas.openxmlformats.org/drawingml/2006/main">
            <a:off x="3133468" y="3038475"/>
            <a:ext cx="2984157"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for each bay i and panel p, compute one term, feed it straight into sum()</a:t>
            </a:r>
          </a:p>
        </p:txBody>
      </p:sp>
      <p:sp>
        <p:nvSpPr>
          <p:cNvPr id="16" name="">
            <a:extLst xmlns:a="http://schemas.openxmlformats.org/drawingml/2006/main">
              <a:ext uri="{FF2B5EF4-FFF2-40B4-BE49-F238E27FC236}">
                <a16:creationId xmlns:a16="http://schemas.microsoft.com/office/drawing/2014/main" id="{4D5D3D37-A234-4E17-8F5A-B581B38042FC}"/>
              </a:ext>
            </a:extLst>
          </p:cNvPr>
          <p:cNvSpPr>
            <a:spLocks xmlns:a="http://schemas.openxmlformats.org/drawingml/2006/main" noGrp="1"/>
          </p:cNvSpPr>
          <p:nvPr/>
        </p:nvSpPr>
        <p:spPr>
          <a:xfrm xmlns:a="http://schemas.openxmlformats.org/drawingml/2006/main">
            <a:off x="6231924" y="2962275"/>
            <a:ext cx="1807176" cy="73533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594D432F-A4DB-45AB-B553-114A36DB6EB6}"/>
              </a:ext>
            </a:extLst>
          </p:cNvPr>
          <p:cNvSpPr>
            <a:spLocks xmlns:a="http://schemas.openxmlformats.org/drawingml/2006/main" noGrp="1"/>
          </p:cNvSpPr>
          <p:nvPr/>
        </p:nvSpPr>
        <p:spPr>
          <a:xfrm xmlns:a="http://schemas.openxmlformats.org/drawingml/2006/main">
            <a:off x="6346224" y="3038475"/>
            <a:ext cx="1578576"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cost(), cell [1]</a:t>
            </a:r>
          </a:p>
        </p:txBody>
      </p:sp>
      <p:sp>
        <p:nvSpPr>
          <p:cNvPr id="18" name="">
            <a:extLst xmlns:a="http://schemas.openxmlformats.org/drawingml/2006/main">
              <a:ext uri="{FF2B5EF4-FFF2-40B4-BE49-F238E27FC236}">
                <a16:creationId xmlns:a16="http://schemas.microsoft.com/office/drawing/2014/main" id="{18B045CF-7618-4311-80DF-FE583C0140D9}"/>
              </a:ext>
            </a:extLst>
          </p:cNvPr>
          <p:cNvSpPr>
            <a:spLocks xmlns:a="http://schemas.openxmlformats.org/drawingml/2006/main" noGrp="1"/>
          </p:cNvSpPr>
          <p:nvPr/>
        </p:nvSpPr>
        <p:spPr>
          <a:xfrm xmlns:a="http://schemas.openxmlformats.org/drawingml/2006/main">
            <a:off x="609600" y="3697605"/>
            <a:ext cx="2409568"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3007D3F1-CFFF-497D-9C86-575F7E002E92}"/>
              </a:ext>
            </a:extLst>
          </p:cNvPr>
          <p:cNvSpPr>
            <a:spLocks xmlns:a="http://schemas.openxmlformats.org/drawingml/2006/main" noGrp="1"/>
          </p:cNvSpPr>
          <p:nvPr/>
        </p:nvSpPr>
        <p:spPr>
          <a:xfrm xmlns:a="http://schemas.openxmlformats.org/drawingml/2006/main">
            <a:off x="723900" y="3773805"/>
            <a:ext cx="218096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list comprehension</a:t>
            </a:r>
          </a:p>
        </p:txBody>
      </p:sp>
      <p:sp>
        <p:nvSpPr>
          <p:cNvPr id="20" name="">
            <a:extLst xmlns:a="http://schemas.openxmlformats.org/drawingml/2006/main">
              <a:ext uri="{FF2B5EF4-FFF2-40B4-BE49-F238E27FC236}">
                <a16:creationId xmlns:a16="http://schemas.microsoft.com/office/drawing/2014/main" id="{E19D51CD-7A75-49C4-B618-72DEAF2E3815}"/>
              </a:ext>
            </a:extLst>
          </p:cNvPr>
          <p:cNvSpPr>
            <a:spLocks xmlns:a="http://schemas.openxmlformats.org/drawingml/2006/main" noGrp="1"/>
          </p:cNvSpPr>
          <p:nvPr/>
        </p:nvSpPr>
        <p:spPr>
          <a:xfrm xmlns:a="http://schemas.openxmlformats.org/drawingml/2006/main">
            <a:off x="3019168" y="3697605"/>
            <a:ext cx="3212757"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1F0A7627-F015-45C3-AD83-816427F64CB2}"/>
              </a:ext>
            </a:extLst>
          </p:cNvPr>
          <p:cNvSpPr>
            <a:spLocks xmlns:a="http://schemas.openxmlformats.org/drawingml/2006/main" noGrp="1"/>
          </p:cNvSpPr>
          <p:nvPr/>
        </p:nvSpPr>
        <p:spPr>
          <a:xfrm xmlns:a="http://schemas.openxmlformats.org/drawingml/2006/main">
            <a:off x="3133468" y="3773805"/>
            <a:ext cx="2984157"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same for-each idea, but collects every result into a new list</a:t>
            </a:r>
          </a:p>
        </p:txBody>
      </p:sp>
      <p:sp>
        <p:nvSpPr>
          <p:cNvPr id="22" name="">
            <a:extLst xmlns:a="http://schemas.openxmlformats.org/drawingml/2006/main">
              <a:ext uri="{FF2B5EF4-FFF2-40B4-BE49-F238E27FC236}">
                <a16:creationId xmlns:a16="http://schemas.microsoft.com/office/drawing/2014/main" id="{4DD842DC-2285-482B-AED4-4BBF3D986DF6}"/>
              </a:ext>
            </a:extLst>
          </p:cNvPr>
          <p:cNvSpPr>
            <a:spLocks xmlns:a="http://schemas.openxmlformats.org/drawingml/2006/main" noGrp="1"/>
          </p:cNvSpPr>
          <p:nvPr/>
        </p:nvSpPr>
        <p:spPr>
          <a:xfrm xmlns:a="http://schemas.openxmlformats.org/drawingml/2006/main">
            <a:off x="6231924" y="3697605"/>
            <a:ext cx="1807176"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A89992E1-F7CB-43DE-96F8-870464F37871}"/>
              </a:ext>
            </a:extLst>
          </p:cNvPr>
          <p:cNvSpPr>
            <a:spLocks xmlns:a="http://schemas.openxmlformats.org/drawingml/2006/main" noGrp="1"/>
          </p:cNvSpPr>
          <p:nvPr/>
        </p:nvSpPr>
        <p:spPr>
          <a:xfrm xmlns:a="http://schemas.openxmlformats.org/drawingml/2006/main">
            <a:off x="6346224" y="3773805"/>
            <a:ext cx="157857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cells [2], [4]</a:t>
            </a:r>
          </a:p>
        </p:txBody>
      </p:sp>
      <p:sp>
        <p:nvSpPr>
          <p:cNvPr id="24" name="">
            <a:extLst xmlns:a="http://schemas.openxmlformats.org/drawingml/2006/main">
              <a:ext uri="{FF2B5EF4-FFF2-40B4-BE49-F238E27FC236}">
                <a16:creationId xmlns:a16="http://schemas.microsoft.com/office/drawing/2014/main" id="{415E25D6-DC91-45DB-849C-202736E2C26B}"/>
              </a:ext>
            </a:extLst>
          </p:cNvPr>
          <p:cNvSpPr>
            <a:spLocks xmlns:a="http://schemas.openxmlformats.org/drawingml/2006/main" noGrp="1"/>
          </p:cNvSpPr>
          <p:nvPr/>
        </p:nvSpPr>
        <p:spPr>
          <a:xfrm xmlns:a="http://schemas.openxmlformats.org/drawingml/2006/main">
            <a:off x="609600" y="4238625"/>
            <a:ext cx="2409568"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8ACCE4A3-F06B-40BD-B815-D60CFAB3250B}"/>
              </a:ext>
            </a:extLst>
          </p:cNvPr>
          <p:cNvSpPr>
            <a:spLocks xmlns:a="http://schemas.openxmlformats.org/drawingml/2006/main" noGrp="1"/>
          </p:cNvSpPr>
          <p:nvPr/>
        </p:nvSpPr>
        <p:spPr>
          <a:xfrm xmlns:a="http://schemas.openxmlformats.org/drawingml/2006/main">
            <a:off x="723900" y="4314825"/>
            <a:ext cx="2180968"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itertools.permutations</a:t>
            </a:r>
          </a:p>
        </p:txBody>
      </p:sp>
      <p:sp>
        <p:nvSpPr>
          <p:cNvPr id="26" name="">
            <a:extLst xmlns:a="http://schemas.openxmlformats.org/drawingml/2006/main">
              <a:ext uri="{FF2B5EF4-FFF2-40B4-BE49-F238E27FC236}">
                <a16:creationId xmlns:a16="http://schemas.microsoft.com/office/drawing/2014/main" id="{3A048C66-9604-468D-880D-595247F1843D}"/>
              </a:ext>
            </a:extLst>
          </p:cNvPr>
          <p:cNvSpPr>
            <a:spLocks xmlns:a="http://schemas.openxmlformats.org/drawingml/2006/main" noGrp="1"/>
          </p:cNvSpPr>
          <p:nvPr/>
        </p:nvSpPr>
        <p:spPr>
          <a:xfrm xmlns:a="http://schemas.openxmlformats.org/drawingml/2006/main">
            <a:off x="3019168" y="4238625"/>
            <a:ext cx="3212757"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1C61A907-316A-44AF-8B43-B571C8CE897A}"/>
              </a:ext>
            </a:extLst>
          </p:cNvPr>
          <p:cNvSpPr>
            <a:spLocks xmlns:a="http://schemas.openxmlformats.org/drawingml/2006/main" noGrp="1"/>
          </p:cNvSpPr>
          <p:nvPr/>
        </p:nvSpPr>
        <p:spPr>
          <a:xfrm xmlns:a="http://schemas.openxmlformats.org/drawingml/2006/main">
            <a:off x="3133468" y="4314825"/>
            <a:ext cx="2984157"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generates every ordering of 0-5, one at a time</a:t>
            </a:r>
          </a:p>
        </p:txBody>
      </p:sp>
      <p:sp>
        <p:nvSpPr>
          <p:cNvPr id="28" name="">
            <a:extLst xmlns:a="http://schemas.openxmlformats.org/drawingml/2006/main">
              <a:ext uri="{FF2B5EF4-FFF2-40B4-BE49-F238E27FC236}">
                <a16:creationId xmlns:a16="http://schemas.microsoft.com/office/drawing/2014/main" id="{6A84B01C-5F1D-4D7D-B213-93AAD64FECF6}"/>
              </a:ext>
            </a:extLst>
          </p:cNvPr>
          <p:cNvSpPr>
            <a:spLocks xmlns:a="http://schemas.openxmlformats.org/drawingml/2006/main" noGrp="1"/>
          </p:cNvSpPr>
          <p:nvPr/>
        </p:nvSpPr>
        <p:spPr>
          <a:xfrm xmlns:a="http://schemas.openxmlformats.org/drawingml/2006/main">
            <a:off x="6231924" y="4238625"/>
            <a:ext cx="1807176"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3E606F76-4C42-41B7-B9DD-44F9921A0C5E}"/>
              </a:ext>
            </a:extLst>
          </p:cNvPr>
          <p:cNvSpPr>
            <a:spLocks xmlns:a="http://schemas.openxmlformats.org/drawingml/2006/main" noGrp="1"/>
          </p:cNvSpPr>
          <p:nvPr/>
        </p:nvSpPr>
        <p:spPr>
          <a:xfrm xmlns:a="http://schemas.openxmlformats.org/drawingml/2006/main">
            <a:off x="6346224" y="4314825"/>
            <a:ext cx="157857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cell [2] baseline</a:t>
            </a:r>
          </a:p>
        </p:txBody>
      </p:sp>
      <p:sp>
        <p:nvSpPr>
          <p:cNvPr id="30" name="">
            <a:extLst xmlns:a="http://schemas.openxmlformats.org/drawingml/2006/main">
              <a:ext uri="{FF2B5EF4-FFF2-40B4-BE49-F238E27FC236}">
                <a16:creationId xmlns:a16="http://schemas.microsoft.com/office/drawing/2014/main" id="{58EB4384-90CE-4D54-9729-9CD6374586FA}"/>
              </a:ext>
            </a:extLst>
          </p:cNvPr>
          <p:cNvSpPr>
            <a:spLocks xmlns:a="http://schemas.openxmlformats.org/drawingml/2006/main" noGrp="1"/>
          </p:cNvSpPr>
          <p:nvPr/>
        </p:nvSpPr>
        <p:spPr>
          <a:xfrm xmlns:a="http://schemas.openxmlformats.org/drawingml/2006/main">
            <a:off x="609600" y="4779645"/>
            <a:ext cx="2409568"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7C1650AB-7868-42F9-B3E3-363B2BD198DC}"/>
              </a:ext>
            </a:extLst>
          </p:cNvPr>
          <p:cNvSpPr>
            <a:spLocks xmlns:a="http://schemas.openxmlformats.org/drawingml/2006/main" noGrp="1"/>
          </p:cNvSpPr>
          <p:nvPr/>
        </p:nvSpPr>
        <p:spPr>
          <a:xfrm xmlns:a="http://schemas.openxmlformats.org/drawingml/2006/main">
            <a:off x="723900" y="4855845"/>
            <a:ext cx="2180968"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random seed</a:t>
            </a:r>
          </a:p>
        </p:txBody>
      </p:sp>
      <p:sp>
        <p:nvSpPr>
          <p:cNvPr id="32" name="">
            <a:extLst xmlns:a="http://schemas.openxmlformats.org/drawingml/2006/main">
              <a:ext uri="{FF2B5EF4-FFF2-40B4-BE49-F238E27FC236}">
                <a16:creationId xmlns:a16="http://schemas.microsoft.com/office/drawing/2014/main" id="{335FB8E4-C4FA-4212-B202-DAE545636F4E}"/>
              </a:ext>
            </a:extLst>
          </p:cNvPr>
          <p:cNvSpPr>
            <a:spLocks xmlns:a="http://schemas.openxmlformats.org/drawingml/2006/main" noGrp="1"/>
          </p:cNvSpPr>
          <p:nvPr/>
        </p:nvSpPr>
        <p:spPr>
          <a:xfrm xmlns:a="http://schemas.openxmlformats.org/drawingml/2006/main">
            <a:off x="3019168" y="4779645"/>
            <a:ext cx="3212757"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5DCC4A8E-CB23-48D6-BF51-78B19CE3E449}"/>
              </a:ext>
            </a:extLst>
          </p:cNvPr>
          <p:cNvSpPr>
            <a:spLocks xmlns:a="http://schemas.openxmlformats.org/drawingml/2006/main" noGrp="1"/>
          </p:cNvSpPr>
          <p:nvPr/>
        </p:nvSpPr>
        <p:spPr>
          <a:xfrm xmlns:a="http://schemas.openxmlformats.org/drawingml/2006/main">
            <a:off x="3133468" y="4855845"/>
            <a:ext cx="2984157"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fixed number that makes 'randomness' reproducible run to run</a:t>
            </a:r>
          </a:p>
        </p:txBody>
      </p:sp>
      <p:sp>
        <p:nvSpPr>
          <p:cNvPr id="34" name="">
            <a:extLst xmlns:a="http://schemas.openxmlformats.org/drawingml/2006/main">
              <a:ext uri="{FF2B5EF4-FFF2-40B4-BE49-F238E27FC236}">
                <a16:creationId xmlns:a16="http://schemas.microsoft.com/office/drawing/2014/main" id="{371E7565-B2CA-42D0-833E-712B50B84A7F}"/>
              </a:ext>
            </a:extLst>
          </p:cNvPr>
          <p:cNvSpPr>
            <a:spLocks xmlns:a="http://schemas.openxmlformats.org/drawingml/2006/main" noGrp="1"/>
          </p:cNvSpPr>
          <p:nvPr/>
        </p:nvSpPr>
        <p:spPr>
          <a:xfrm xmlns:a="http://schemas.openxmlformats.org/drawingml/2006/main">
            <a:off x="6231924" y="4779645"/>
            <a:ext cx="1807176"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6C74BB7A-4F3F-4F89-B07C-DF506DE3CA42}"/>
              </a:ext>
            </a:extLst>
          </p:cNvPr>
          <p:cNvSpPr>
            <a:spLocks xmlns:a="http://schemas.openxmlformats.org/drawingml/2006/main" noGrp="1"/>
          </p:cNvSpPr>
          <p:nvPr/>
        </p:nvSpPr>
        <p:spPr>
          <a:xfrm xmlns:a="http://schemas.openxmlformats.org/drawingml/2006/main">
            <a:off x="6346224" y="4855845"/>
            <a:ext cx="1578576"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cell [4] onward</a:t>
            </a:r>
          </a:p>
        </p:txBody>
      </p:sp>
      <p:sp>
        <p:nvSpPr>
          <p:cNvPr id="36" name="callout-label">
            <a:extLst xmlns:a="http://schemas.openxmlformats.org/drawingml/2006/main">
              <a:ext uri="{FF2B5EF4-FFF2-40B4-BE49-F238E27FC236}">
                <a16:creationId xmlns:a16="http://schemas.microsoft.com/office/drawing/2014/main" id="{832AD165-3C1C-4F11-9223-9620BBA2B589}"/>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7" name="callout">
            <a:extLst xmlns:a="http://schemas.openxmlformats.org/drawingml/2006/main">
              <a:ext uri="{FF2B5EF4-FFF2-40B4-BE49-F238E27FC236}">
                <a16:creationId xmlns:a16="http://schemas.microsoft.com/office/drawing/2014/main" id="{CBB0AA13-DB84-41EB-B7E9-FAEEBB787B88}"/>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None of these four patterns existed in any Week 1-11 script — each is new as of Monday's deck.</a:t>
            </a:r>
          </a:p>
        </p:txBody>
      </p:sp>
    </p:spTree>
    <p:extLst>
      <p:ext uri="{BB962C8B-B14F-4D97-AF65-F5344CB8AC3E}">
        <p14:creationId xmlns:p14="http://schemas.microsoft.com/office/powerpoint/2010/main" val="19259552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2AA63B08-745F-45AF-B695-FEFE7E09429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F5AFAB4B-13F0-4089-A824-F82B2068FCF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pipeline is five ordered steps</a:t>
            </a:r>
          </a:p>
        </p:txBody>
      </p:sp>
      <p:sp>
        <p:nvSpPr>
          <p:cNvPr id="3" name="">
            <a:extLst xmlns:a="http://schemas.openxmlformats.org/drawingml/2006/main">
              <a:ext uri="{FF2B5EF4-FFF2-40B4-BE49-F238E27FC236}">
                <a16:creationId xmlns:a16="http://schemas.microsoft.com/office/drawing/2014/main" id="{6D54973E-F2C5-4925-B334-C6BC14BF6BA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D2C82B3-D1AB-4B66-A4A4-8B91F6473A8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2C6D47E3-AC0A-416A-B3AD-EBE5735D798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step-arrow-0">
            <a:extLst xmlns:a="http://schemas.openxmlformats.org/drawingml/2006/main">
              <a:ext uri="{FF2B5EF4-FFF2-40B4-BE49-F238E27FC236}">
                <a16:creationId xmlns:a16="http://schemas.microsoft.com/office/drawing/2014/main" id="{9F6B3858-A304-4F3B-A0EA-16FD4513500A}"/>
              </a:ext>
            </a:extLst>
          </p:cNvPr>
          <p:cNvSpPr>
            <a:spLocks xmlns:a="http://schemas.openxmlformats.org/drawingml/2006/main" noGrp="1"/>
          </p:cNvSpPr>
          <p:nvPr/>
        </p:nvSpPr>
        <p:spPr>
          <a:xfrm xmlns:a="http://schemas.openxmlformats.org/drawingml/2006/main">
            <a:off x="265938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A4BBA4C1-41FB-4961-927C-C4B1437E3C1A}"/>
              </a:ext>
            </a:extLst>
          </p:cNvPr>
          <p:cNvSpPr>
            <a:spLocks xmlns:a="http://schemas.openxmlformats.org/drawingml/2006/main" noGrp="1"/>
          </p:cNvSpPr>
          <p:nvPr/>
        </p:nvSpPr>
        <p:spPr>
          <a:xfrm xmlns:a="http://schemas.openxmlformats.org/drawingml/2006/main">
            <a:off x="489966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34C9ACB5-BECA-4317-9293-C025CC4408D3}"/>
              </a:ext>
            </a:extLst>
          </p:cNvPr>
          <p:cNvSpPr>
            <a:spLocks xmlns:a="http://schemas.openxmlformats.org/drawingml/2006/main" noGrp="1"/>
          </p:cNvSpPr>
          <p:nvPr/>
        </p:nvSpPr>
        <p:spPr>
          <a:xfrm xmlns:a="http://schemas.openxmlformats.org/drawingml/2006/main">
            <a:off x="713994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arrow-3">
            <a:extLst xmlns:a="http://schemas.openxmlformats.org/drawingml/2006/main">
              <a:ext uri="{FF2B5EF4-FFF2-40B4-BE49-F238E27FC236}">
                <a16:creationId xmlns:a16="http://schemas.microsoft.com/office/drawing/2014/main" id="{EBEBD835-4822-4D04-9BE5-8BB1F2BE1956}"/>
              </a:ext>
            </a:extLst>
          </p:cNvPr>
          <p:cNvSpPr>
            <a:spLocks xmlns:a="http://schemas.openxmlformats.org/drawingml/2006/main" noGrp="1"/>
          </p:cNvSpPr>
          <p:nvPr/>
        </p:nvSpPr>
        <p:spPr>
          <a:xfrm xmlns:a="http://schemas.openxmlformats.org/drawingml/2006/main">
            <a:off x="938022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10" name="step-node-0">
            <a:extLst xmlns:a="http://schemas.openxmlformats.org/drawingml/2006/main">
              <a:ext uri="{FF2B5EF4-FFF2-40B4-BE49-F238E27FC236}">
                <a16:creationId xmlns:a16="http://schemas.microsoft.com/office/drawing/2014/main" id="{96E83222-E4D2-4C91-BF45-6A26C2640AEC}"/>
              </a:ext>
            </a:extLst>
          </p:cNvPr>
          <p:cNvSpPr>
            <a:spLocks xmlns:a="http://schemas.openxmlformats.org/drawingml/2006/main" noGrp="1"/>
          </p:cNvSpPr>
          <p:nvPr/>
        </p:nvSpPr>
        <p:spPr>
          <a:xfrm xmlns:a="http://schemas.openxmlformats.org/drawingml/2006/main">
            <a:off x="609600" y="1847850"/>
            <a:ext cx="2011680" cy="4171950"/>
          </a:xfrm>
          <a:prstGeom xmlns:a="http://schemas.openxmlformats.org/drawingml/2006/main" prst="roundRect">
            <a:avLst>
              <a:gd name="adj" fmla="val 4735"/>
            </a:avLst>
          </a:prstGeom>
          <a:solidFill xmlns:a="http://schemas.openxmlformats.org/drawingml/2006/main">
            <a:srgbClr val="F3F7FB"/>
          </a:solidFill>
          <a:ln xmlns:a="http://schemas.openxmlformats.org/drawingml/2006/main" w="9525">
            <a:solidFill>
              <a:srgbClr val="2E74B5"/>
            </a:solidFill>
            <a:prstDash val="solid"/>
          </a:ln>
        </p:spPr>
      </p:sp>
      <p:sp>
        <p:nvSpPr>
          <p:cNvPr id="11" name="step-number-0">
            <a:extLst xmlns:a="http://schemas.openxmlformats.org/drawingml/2006/main">
              <a:ext uri="{FF2B5EF4-FFF2-40B4-BE49-F238E27FC236}">
                <a16:creationId xmlns:a16="http://schemas.microsoft.com/office/drawing/2014/main" id="{15684BAA-F956-48B2-9963-A46695E57CC3}"/>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2" name="step-label-0">
            <a:extLst xmlns:a="http://schemas.openxmlformats.org/drawingml/2006/main">
              <a:ext uri="{FF2B5EF4-FFF2-40B4-BE49-F238E27FC236}">
                <a16:creationId xmlns:a16="http://schemas.microsoft.com/office/drawing/2014/main" id="{E84484D7-1F99-4B9E-B6C7-986194FF8F6C}"/>
              </a:ext>
            </a:extLst>
          </p:cNvPr>
          <p:cNvSpPr>
            <a:spLocks xmlns:a="http://schemas.openxmlformats.org/drawingml/2006/main" noGrp="1"/>
          </p:cNvSpPr>
          <p:nvPr/>
        </p:nvSpPr>
        <p:spPr>
          <a:xfrm xmlns:a="http://schemas.openxmlformats.org/drawingml/2006/main">
            <a:off x="1295400" y="2057400"/>
            <a:ext cx="11353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DEFINE</a:t>
            </a:r>
          </a:p>
        </p:txBody>
      </p:sp>
      <p:sp>
        <p:nvSpPr>
          <p:cNvPr id="13" name="">
            <a:extLst xmlns:a="http://schemas.openxmlformats.org/drawingml/2006/main">
              <a:ext uri="{FF2B5EF4-FFF2-40B4-BE49-F238E27FC236}">
                <a16:creationId xmlns:a16="http://schemas.microsoft.com/office/drawing/2014/main" id="{59125EE5-772B-4E77-9273-E8AB27EF9202}"/>
              </a:ext>
            </a:extLst>
          </p:cNvPr>
          <p:cNvSpPr>
            <a:spLocks xmlns:a="http://schemas.openxmlformats.org/drawingml/2006/main" noGrp="1"/>
          </p:cNvSpPr>
          <p:nvPr/>
        </p:nvSpPr>
        <p:spPr>
          <a:xfrm xmlns:a="http://schemas.openxmlformats.org/drawingml/2006/main">
            <a:off x="800100" y="2476500"/>
            <a:ext cx="163068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4" name="step-head-0">
            <a:extLst xmlns:a="http://schemas.openxmlformats.org/drawingml/2006/main">
              <a:ext uri="{FF2B5EF4-FFF2-40B4-BE49-F238E27FC236}">
                <a16:creationId xmlns:a16="http://schemas.microsoft.com/office/drawing/2014/main" id="{C47C1757-85B0-425A-ADCA-1C05D947AE1C}"/>
              </a:ext>
            </a:extLst>
          </p:cNvPr>
          <p:cNvSpPr>
            <a:spLocks xmlns:a="http://schemas.openxmlformats.org/drawingml/2006/main" noGrp="1"/>
          </p:cNvSpPr>
          <p:nvPr/>
        </p:nvSpPr>
        <p:spPr>
          <a:xfrm xmlns:a="http://schemas.openxmlformats.org/drawingml/2006/main">
            <a:off x="800100" y="2667000"/>
            <a:ext cx="163068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Re-state the problem</a:t>
            </a:r>
          </a:p>
        </p:txBody>
      </p:sp>
      <p:sp>
        <p:nvSpPr>
          <p:cNvPr id="15" name="step-body-0">
            <a:extLst xmlns:a="http://schemas.openxmlformats.org/drawingml/2006/main">
              <a:ext uri="{FF2B5EF4-FFF2-40B4-BE49-F238E27FC236}">
                <a16:creationId xmlns:a16="http://schemas.microsoft.com/office/drawing/2014/main" id="{B724F9A8-931D-4426-A44D-5376EB918D67}"/>
              </a:ext>
            </a:extLst>
          </p:cNvPr>
          <p:cNvSpPr>
            <a:spLocks xmlns:a="http://schemas.openxmlformats.org/drawingml/2006/main" noGrp="1"/>
          </p:cNvSpPr>
          <p:nvPr/>
        </p:nvSpPr>
        <p:spPr>
          <a:xfrm xmlns:a="http://schemas.openxmlformats.org/drawingml/2006/main">
            <a:off x="800100" y="3370326"/>
            <a:ext cx="163068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position_ideal, panel_transmittance, cost() — identical to Monday.</a:t>
            </a:r>
          </a:p>
        </p:txBody>
      </p:sp>
      <p:sp>
        <p:nvSpPr>
          <p:cNvPr id="16" name="step-node-1">
            <a:extLst xmlns:a="http://schemas.openxmlformats.org/drawingml/2006/main">
              <a:ext uri="{FF2B5EF4-FFF2-40B4-BE49-F238E27FC236}">
                <a16:creationId xmlns:a16="http://schemas.microsoft.com/office/drawing/2014/main" id="{AE55FE2C-5C9F-4395-8C50-44784797EC8C}"/>
              </a:ext>
            </a:extLst>
          </p:cNvPr>
          <p:cNvSpPr>
            <a:spLocks xmlns:a="http://schemas.openxmlformats.org/drawingml/2006/main" noGrp="1"/>
          </p:cNvSpPr>
          <p:nvPr/>
        </p:nvSpPr>
        <p:spPr>
          <a:xfrm xmlns:a="http://schemas.openxmlformats.org/drawingml/2006/main">
            <a:off x="2849880" y="1847850"/>
            <a:ext cx="2011680" cy="4171950"/>
          </a:xfrm>
          <a:prstGeom xmlns:a="http://schemas.openxmlformats.org/drawingml/2006/main" prst="roundRect">
            <a:avLst>
              <a:gd name="adj" fmla="val 4735"/>
            </a:avLst>
          </a:prstGeom>
          <a:solidFill xmlns:a="http://schemas.openxmlformats.org/drawingml/2006/main">
            <a:srgbClr val="F6F7F9"/>
          </a:solidFill>
          <a:ln xmlns:a="http://schemas.openxmlformats.org/drawingml/2006/main" w="9525">
            <a:solidFill>
              <a:srgbClr val="DDE0E5"/>
            </a:solidFill>
            <a:prstDash val="solid"/>
          </a:ln>
        </p:spPr>
      </p:sp>
      <p:sp>
        <p:nvSpPr>
          <p:cNvPr id="17" name="step-number-1">
            <a:extLst xmlns:a="http://schemas.openxmlformats.org/drawingml/2006/main">
              <a:ext uri="{FF2B5EF4-FFF2-40B4-BE49-F238E27FC236}">
                <a16:creationId xmlns:a16="http://schemas.microsoft.com/office/drawing/2014/main" id="{3D2CA120-45B2-4AB7-A10E-82314BD6F3BD}"/>
              </a:ext>
            </a:extLst>
          </p:cNvPr>
          <p:cNvSpPr>
            <a:spLocks xmlns:a="http://schemas.openxmlformats.org/drawingml/2006/main" noGrp="1"/>
          </p:cNvSpPr>
          <p:nvPr/>
        </p:nvSpPr>
        <p:spPr>
          <a:xfrm xmlns:a="http://schemas.openxmlformats.org/drawingml/2006/main">
            <a:off x="304038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8" name="step-label-1">
            <a:extLst xmlns:a="http://schemas.openxmlformats.org/drawingml/2006/main">
              <a:ext uri="{FF2B5EF4-FFF2-40B4-BE49-F238E27FC236}">
                <a16:creationId xmlns:a16="http://schemas.microsoft.com/office/drawing/2014/main" id="{71F8FB17-0447-4878-95BE-835D14E975A9}"/>
              </a:ext>
            </a:extLst>
          </p:cNvPr>
          <p:cNvSpPr>
            <a:spLocks xmlns:a="http://schemas.openxmlformats.org/drawingml/2006/main" noGrp="1"/>
          </p:cNvSpPr>
          <p:nvPr/>
        </p:nvSpPr>
        <p:spPr>
          <a:xfrm xmlns:a="http://schemas.openxmlformats.org/drawingml/2006/main">
            <a:off x="3535680" y="2057400"/>
            <a:ext cx="11353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BASELINE</a:t>
            </a:r>
          </a:p>
        </p:txBody>
      </p:sp>
      <p:sp>
        <p:nvSpPr>
          <p:cNvPr id="19" name="">
            <a:extLst xmlns:a="http://schemas.openxmlformats.org/drawingml/2006/main">
              <a:ext uri="{FF2B5EF4-FFF2-40B4-BE49-F238E27FC236}">
                <a16:creationId xmlns:a16="http://schemas.microsoft.com/office/drawing/2014/main" id="{34A75CB1-6E6C-48F6-877B-096155EE854A}"/>
              </a:ext>
            </a:extLst>
          </p:cNvPr>
          <p:cNvSpPr>
            <a:spLocks xmlns:a="http://schemas.openxmlformats.org/drawingml/2006/main" noGrp="1"/>
          </p:cNvSpPr>
          <p:nvPr/>
        </p:nvSpPr>
        <p:spPr>
          <a:xfrm xmlns:a="http://schemas.openxmlformats.org/drawingml/2006/main">
            <a:off x="3040380" y="2476500"/>
            <a:ext cx="163068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0" name="step-head-1">
            <a:extLst xmlns:a="http://schemas.openxmlformats.org/drawingml/2006/main">
              <a:ext uri="{FF2B5EF4-FFF2-40B4-BE49-F238E27FC236}">
                <a16:creationId xmlns:a16="http://schemas.microsoft.com/office/drawing/2014/main" id="{E6288324-80EF-4F40-90B7-BF7166BCF197}"/>
              </a:ext>
            </a:extLst>
          </p:cNvPr>
          <p:cNvSpPr>
            <a:spLocks xmlns:a="http://schemas.openxmlformats.org/drawingml/2006/main" noGrp="1"/>
          </p:cNvSpPr>
          <p:nvPr/>
        </p:nvSpPr>
        <p:spPr>
          <a:xfrm xmlns:a="http://schemas.openxmlformats.org/drawingml/2006/main">
            <a:off x="3040380" y="2667000"/>
            <a:ext cx="163068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Re-run brute force</a:t>
            </a:r>
          </a:p>
        </p:txBody>
      </p:sp>
      <p:sp>
        <p:nvSpPr>
          <p:cNvPr id="21" name="step-body-1">
            <a:extLst xmlns:a="http://schemas.openxmlformats.org/drawingml/2006/main">
              <a:ext uri="{FF2B5EF4-FFF2-40B4-BE49-F238E27FC236}">
                <a16:creationId xmlns:a16="http://schemas.microsoft.com/office/drawing/2014/main" id="{A0DC8B93-ECA0-4DFE-AEC0-6F3B8FB6801E}"/>
              </a:ext>
            </a:extLst>
          </p:cNvPr>
          <p:cNvSpPr>
            <a:spLocks xmlns:a="http://schemas.openxmlformats.org/drawingml/2006/main" noGrp="1"/>
          </p:cNvSpPr>
          <p:nvPr/>
        </p:nvSpPr>
        <p:spPr>
          <a:xfrm xmlns:a="http://schemas.openxmlformats.org/drawingml/2006/main">
            <a:off x="3040380" y="3370326"/>
            <a:ext cx="163068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720 permutations, confirm 0.0125 again, and time it.</a:t>
            </a:r>
          </a:p>
        </p:txBody>
      </p:sp>
      <p:sp>
        <p:nvSpPr>
          <p:cNvPr id="22" name="step-node-2">
            <a:extLst xmlns:a="http://schemas.openxmlformats.org/drawingml/2006/main">
              <a:ext uri="{FF2B5EF4-FFF2-40B4-BE49-F238E27FC236}">
                <a16:creationId xmlns:a16="http://schemas.microsoft.com/office/drawing/2014/main" id="{72554629-737B-4664-96BC-18ECC6EAC02A}"/>
              </a:ext>
            </a:extLst>
          </p:cNvPr>
          <p:cNvSpPr>
            <a:spLocks xmlns:a="http://schemas.openxmlformats.org/drawingml/2006/main" noGrp="1"/>
          </p:cNvSpPr>
          <p:nvPr/>
        </p:nvSpPr>
        <p:spPr>
          <a:xfrm xmlns:a="http://schemas.openxmlformats.org/drawingml/2006/main">
            <a:off x="5090160" y="1847850"/>
            <a:ext cx="2011680" cy="4171950"/>
          </a:xfrm>
          <a:prstGeom xmlns:a="http://schemas.openxmlformats.org/drawingml/2006/main" prst="roundRect">
            <a:avLst>
              <a:gd name="adj" fmla="val 4735"/>
            </a:avLst>
          </a:prstGeom>
          <a:solidFill xmlns:a="http://schemas.openxmlformats.org/drawingml/2006/main">
            <a:srgbClr val="F6F7F9"/>
          </a:solidFill>
          <a:ln xmlns:a="http://schemas.openxmlformats.org/drawingml/2006/main" w="9525">
            <a:solidFill>
              <a:srgbClr val="DDE0E5"/>
            </a:solidFill>
            <a:prstDash val="solid"/>
          </a:ln>
        </p:spPr>
      </p:sp>
      <p:sp>
        <p:nvSpPr>
          <p:cNvPr id="23" name="step-number-2">
            <a:extLst xmlns:a="http://schemas.openxmlformats.org/drawingml/2006/main">
              <a:ext uri="{FF2B5EF4-FFF2-40B4-BE49-F238E27FC236}">
                <a16:creationId xmlns:a16="http://schemas.microsoft.com/office/drawing/2014/main" id="{D2AA690B-AA95-4582-B78A-0CF43DD0F36A}"/>
              </a:ext>
            </a:extLst>
          </p:cNvPr>
          <p:cNvSpPr>
            <a:spLocks xmlns:a="http://schemas.openxmlformats.org/drawingml/2006/main" noGrp="1"/>
          </p:cNvSpPr>
          <p:nvPr/>
        </p:nvSpPr>
        <p:spPr>
          <a:xfrm xmlns:a="http://schemas.openxmlformats.org/drawingml/2006/main">
            <a:off x="528066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4" name="step-label-2">
            <a:extLst xmlns:a="http://schemas.openxmlformats.org/drawingml/2006/main">
              <a:ext uri="{FF2B5EF4-FFF2-40B4-BE49-F238E27FC236}">
                <a16:creationId xmlns:a16="http://schemas.microsoft.com/office/drawing/2014/main" id="{E3E60E94-C2BD-4CA2-B061-3486819443FD}"/>
              </a:ext>
            </a:extLst>
          </p:cNvPr>
          <p:cNvSpPr>
            <a:spLocks xmlns:a="http://schemas.openxmlformats.org/drawingml/2006/main" noGrp="1"/>
          </p:cNvSpPr>
          <p:nvPr/>
        </p:nvSpPr>
        <p:spPr>
          <a:xfrm xmlns:a="http://schemas.openxmlformats.org/drawingml/2006/main">
            <a:off x="5775960" y="2057400"/>
            <a:ext cx="11353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BUILD</a:t>
            </a:r>
          </a:p>
        </p:txBody>
      </p:sp>
      <p:sp>
        <p:nvSpPr>
          <p:cNvPr id="25" name="">
            <a:extLst xmlns:a="http://schemas.openxmlformats.org/drawingml/2006/main">
              <a:ext uri="{FF2B5EF4-FFF2-40B4-BE49-F238E27FC236}">
                <a16:creationId xmlns:a16="http://schemas.microsoft.com/office/drawing/2014/main" id="{D3B4E609-2D11-4A6F-B19D-92DE7C0556A9}"/>
              </a:ext>
            </a:extLst>
          </p:cNvPr>
          <p:cNvSpPr>
            <a:spLocks xmlns:a="http://schemas.openxmlformats.org/drawingml/2006/main" noGrp="1"/>
          </p:cNvSpPr>
          <p:nvPr/>
        </p:nvSpPr>
        <p:spPr>
          <a:xfrm xmlns:a="http://schemas.openxmlformats.org/drawingml/2006/main">
            <a:off x="5280660" y="2476500"/>
            <a:ext cx="163068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6" name="step-head-2">
            <a:extLst xmlns:a="http://schemas.openxmlformats.org/drawingml/2006/main">
              <a:ext uri="{FF2B5EF4-FFF2-40B4-BE49-F238E27FC236}">
                <a16:creationId xmlns:a16="http://schemas.microsoft.com/office/drawing/2014/main" id="{83993E94-8F05-4DB5-B837-9BA7A75A615E}"/>
              </a:ext>
            </a:extLst>
          </p:cNvPr>
          <p:cNvSpPr>
            <a:spLocks xmlns:a="http://schemas.openxmlformats.org/drawingml/2006/main" noGrp="1"/>
          </p:cNvSpPr>
          <p:nvPr/>
        </p:nvSpPr>
        <p:spPr>
          <a:xfrm xmlns:a="http://schemas.openxmlformats.org/drawingml/2006/main">
            <a:off x="5280660" y="2667000"/>
            <a:ext cx="163068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Code the GA</a:t>
            </a:r>
          </a:p>
        </p:txBody>
      </p:sp>
      <p:sp>
        <p:nvSpPr>
          <p:cNvPr id="27" name="step-body-2">
            <a:extLst xmlns:a="http://schemas.openxmlformats.org/drawingml/2006/main">
              <a:ext uri="{FF2B5EF4-FFF2-40B4-BE49-F238E27FC236}">
                <a16:creationId xmlns:a16="http://schemas.microsoft.com/office/drawing/2014/main" id="{5294309F-E12C-4A65-A45B-FCBADC8C95B0}"/>
              </a:ext>
            </a:extLst>
          </p:cNvPr>
          <p:cNvSpPr>
            <a:spLocks xmlns:a="http://schemas.openxmlformats.org/drawingml/2006/main" noGrp="1"/>
          </p:cNvSpPr>
          <p:nvPr/>
        </p:nvSpPr>
        <p:spPr>
          <a:xfrm xmlns:a="http://schemas.openxmlformats.org/drawingml/2006/main">
            <a:off x="5280660" y="3352800"/>
            <a:ext cx="163068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order crossover, swap mutation, then the generational loop.</a:t>
            </a:r>
          </a:p>
        </p:txBody>
      </p:sp>
      <p:sp>
        <p:nvSpPr>
          <p:cNvPr id="28" name="step-node-3">
            <a:extLst xmlns:a="http://schemas.openxmlformats.org/drawingml/2006/main">
              <a:ext uri="{FF2B5EF4-FFF2-40B4-BE49-F238E27FC236}">
                <a16:creationId xmlns:a16="http://schemas.microsoft.com/office/drawing/2014/main" id="{1536F78B-4EE3-441A-8797-9D2929E97B0D}"/>
              </a:ext>
            </a:extLst>
          </p:cNvPr>
          <p:cNvSpPr>
            <a:spLocks xmlns:a="http://schemas.openxmlformats.org/drawingml/2006/main" noGrp="1"/>
          </p:cNvSpPr>
          <p:nvPr/>
        </p:nvSpPr>
        <p:spPr>
          <a:xfrm xmlns:a="http://schemas.openxmlformats.org/drawingml/2006/main">
            <a:off x="7330440" y="1847850"/>
            <a:ext cx="2011680" cy="4171950"/>
          </a:xfrm>
          <a:prstGeom xmlns:a="http://schemas.openxmlformats.org/drawingml/2006/main" prst="roundRect">
            <a:avLst>
              <a:gd name="adj" fmla="val 4735"/>
            </a:avLst>
          </a:prstGeom>
          <a:solidFill xmlns:a="http://schemas.openxmlformats.org/drawingml/2006/main">
            <a:srgbClr val="F6F7F9"/>
          </a:solidFill>
          <a:ln xmlns:a="http://schemas.openxmlformats.org/drawingml/2006/main" w="9525">
            <a:solidFill>
              <a:srgbClr val="DDE0E5"/>
            </a:solidFill>
            <a:prstDash val="solid"/>
          </a:ln>
        </p:spPr>
      </p:sp>
      <p:sp>
        <p:nvSpPr>
          <p:cNvPr id="29" name="step-number-3">
            <a:extLst xmlns:a="http://schemas.openxmlformats.org/drawingml/2006/main">
              <a:ext uri="{FF2B5EF4-FFF2-40B4-BE49-F238E27FC236}">
                <a16:creationId xmlns:a16="http://schemas.microsoft.com/office/drawing/2014/main" id="{55CA31DA-6140-42B4-B27B-9282DC4E02C9}"/>
              </a:ext>
            </a:extLst>
          </p:cNvPr>
          <p:cNvSpPr>
            <a:spLocks xmlns:a="http://schemas.openxmlformats.org/drawingml/2006/main" noGrp="1"/>
          </p:cNvSpPr>
          <p:nvPr/>
        </p:nvSpPr>
        <p:spPr>
          <a:xfrm xmlns:a="http://schemas.openxmlformats.org/drawingml/2006/main">
            <a:off x="752094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30" name="step-label-3">
            <a:extLst xmlns:a="http://schemas.openxmlformats.org/drawingml/2006/main">
              <a:ext uri="{FF2B5EF4-FFF2-40B4-BE49-F238E27FC236}">
                <a16:creationId xmlns:a16="http://schemas.microsoft.com/office/drawing/2014/main" id="{AC93417A-CBA1-4363-B5F9-AB08FCE2A366}"/>
              </a:ext>
            </a:extLst>
          </p:cNvPr>
          <p:cNvSpPr>
            <a:spLocks xmlns:a="http://schemas.openxmlformats.org/drawingml/2006/main" noGrp="1"/>
          </p:cNvSpPr>
          <p:nvPr/>
        </p:nvSpPr>
        <p:spPr>
          <a:xfrm xmlns:a="http://schemas.openxmlformats.org/drawingml/2006/main">
            <a:off x="8016240" y="2057400"/>
            <a:ext cx="11353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COMPARE</a:t>
            </a:r>
          </a:p>
        </p:txBody>
      </p:sp>
      <p:sp>
        <p:nvSpPr>
          <p:cNvPr id="31" name="">
            <a:extLst xmlns:a="http://schemas.openxmlformats.org/drawingml/2006/main">
              <a:ext uri="{FF2B5EF4-FFF2-40B4-BE49-F238E27FC236}">
                <a16:creationId xmlns:a16="http://schemas.microsoft.com/office/drawing/2014/main" id="{387898DB-A2DD-4F2B-91EC-94F887D40366}"/>
              </a:ext>
            </a:extLst>
          </p:cNvPr>
          <p:cNvSpPr>
            <a:spLocks xmlns:a="http://schemas.openxmlformats.org/drawingml/2006/main" noGrp="1"/>
          </p:cNvSpPr>
          <p:nvPr/>
        </p:nvSpPr>
        <p:spPr>
          <a:xfrm xmlns:a="http://schemas.openxmlformats.org/drawingml/2006/main">
            <a:off x="7520940" y="2476500"/>
            <a:ext cx="163068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2" name="step-head-3">
            <a:extLst xmlns:a="http://schemas.openxmlformats.org/drawingml/2006/main">
              <a:ext uri="{FF2B5EF4-FFF2-40B4-BE49-F238E27FC236}">
                <a16:creationId xmlns:a16="http://schemas.microsoft.com/office/drawing/2014/main" id="{CCF46D08-5E0E-4AD6-8258-275307954B42}"/>
              </a:ext>
            </a:extLst>
          </p:cNvPr>
          <p:cNvSpPr>
            <a:spLocks xmlns:a="http://schemas.openxmlformats.org/drawingml/2006/main" noGrp="1"/>
          </p:cNvSpPr>
          <p:nvPr/>
        </p:nvSpPr>
        <p:spPr>
          <a:xfrm xmlns:a="http://schemas.openxmlformats.org/drawingml/2006/main">
            <a:off x="7520940" y="2667000"/>
            <a:ext cx="163068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Run seed=1, compare</a:t>
            </a:r>
          </a:p>
        </p:txBody>
      </p:sp>
      <p:sp>
        <p:nvSpPr>
          <p:cNvPr id="33" name="step-body-3">
            <a:extLst xmlns:a="http://schemas.openxmlformats.org/drawingml/2006/main">
              <a:ext uri="{FF2B5EF4-FFF2-40B4-BE49-F238E27FC236}">
                <a16:creationId xmlns:a16="http://schemas.microsoft.com/office/drawing/2014/main" id="{AF9E3143-0E32-49FF-A7BA-E6E0C97440F6}"/>
              </a:ext>
            </a:extLst>
          </p:cNvPr>
          <p:cNvSpPr>
            <a:spLocks xmlns:a="http://schemas.openxmlformats.org/drawingml/2006/main" noGrp="1"/>
          </p:cNvSpPr>
          <p:nvPr/>
        </p:nvSpPr>
        <p:spPr>
          <a:xfrm xmlns:a="http://schemas.openxmlformats.org/drawingml/2006/main">
            <a:off x="7520940" y="3370326"/>
            <a:ext cx="163068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Evaluations and wall-clock time against brute force.</a:t>
            </a:r>
          </a:p>
        </p:txBody>
      </p:sp>
      <p:sp>
        <p:nvSpPr>
          <p:cNvPr id="34" name="step-node-4">
            <a:extLst xmlns:a="http://schemas.openxmlformats.org/drawingml/2006/main">
              <a:ext uri="{FF2B5EF4-FFF2-40B4-BE49-F238E27FC236}">
                <a16:creationId xmlns:a16="http://schemas.microsoft.com/office/drawing/2014/main" id="{BD02CA94-DD85-485B-838C-0DD9DF85CB81}"/>
              </a:ext>
            </a:extLst>
          </p:cNvPr>
          <p:cNvSpPr>
            <a:spLocks xmlns:a="http://schemas.openxmlformats.org/drawingml/2006/main" noGrp="1"/>
          </p:cNvSpPr>
          <p:nvPr/>
        </p:nvSpPr>
        <p:spPr>
          <a:xfrm xmlns:a="http://schemas.openxmlformats.org/drawingml/2006/main">
            <a:off x="9570720" y="1847850"/>
            <a:ext cx="2011680" cy="4171950"/>
          </a:xfrm>
          <a:prstGeom xmlns:a="http://schemas.openxmlformats.org/drawingml/2006/main" prst="roundRect">
            <a:avLst>
              <a:gd name="adj" fmla="val 4735"/>
            </a:avLst>
          </a:prstGeom>
          <a:solidFill xmlns:a="http://schemas.openxmlformats.org/drawingml/2006/main">
            <a:srgbClr val="F6F7F9"/>
          </a:solidFill>
          <a:ln xmlns:a="http://schemas.openxmlformats.org/drawingml/2006/main" w="9525">
            <a:solidFill>
              <a:srgbClr val="DDE0E5"/>
            </a:solidFill>
            <a:prstDash val="solid"/>
          </a:ln>
        </p:spPr>
      </p:sp>
      <p:sp>
        <p:nvSpPr>
          <p:cNvPr id="35" name="step-number-4">
            <a:extLst xmlns:a="http://schemas.openxmlformats.org/drawingml/2006/main">
              <a:ext uri="{FF2B5EF4-FFF2-40B4-BE49-F238E27FC236}">
                <a16:creationId xmlns:a16="http://schemas.microsoft.com/office/drawing/2014/main" id="{0F57893A-414C-4D8A-9792-B1E630683DFC}"/>
              </a:ext>
            </a:extLst>
          </p:cNvPr>
          <p:cNvSpPr>
            <a:spLocks xmlns:a="http://schemas.openxmlformats.org/drawingml/2006/main" noGrp="1"/>
          </p:cNvSpPr>
          <p:nvPr/>
        </p:nvSpPr>
        <p:spPr>
          <a:xfrm xmlns:a="http://schemas.openxmlformats.org/drawingml/2006/main">
            <a:off x="976122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05</a:t>
            </a:r>
          </a:p>
        </p:txBody>
      </p:sp>
      <p:sp>
        <p:nvSpPr>
          <p:cNvPr id="36" name="step-label-4">
            <a:extLst xmlns:a="http://schemas.openxmlformats.org/drawingml/2006/main">
              <a:ext uri="{FF2B5EF4-FFF2-40B4-BE49-F238E27FC236}">
                <a16:creationId xmlns:a16="http://schemas.microsoft.com/office/drawing/2014/main" id="{C954E864-EB34-44F0-9CC2-4045BE3C408C}"/>
              </a:ext>
            </a:extLst>
          </p:cNvPr>
          <p:cNvSpPr>
            <a:spLocks xmlns:a="http://schemas.openxmlformats.org/drawingml/2006/main" noGrp="1"/>
          </p:cNvSpPr>
          <p:nvPr/>
        </p:nvSpPr>
        <p:spPr>
          <a:xfrm xmlns:a="http://schemas.openxmlformats.org/drawingml/2006/main">
            <a:off x="10256520" y="2057400"/>
            <a:ext cx="11353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AUDIT</a:t>
            </a:r>
          </a:p>
        </p:txBody>
      </p:sp>
      <p:sp>
        <p:nvSpPr>
          <p:cNvPr id="37" name="">
            <a:extLst xmlns:a="http://schemas.openxmlformats.org/drawingml/2006/main">
              <a:ext uri="{FF2B5EF4-FFF2-40B4-BE49-F238E27FC236}">
                <a16:creationId xmlns:a16="http://schemas.microsoft.com/office/drawing/2014/main" id="{5087F174-D9EB-4915-AC9A-F613ED4717A1}"/>
              </a:ext>
            </a:extLst>
          </p:cNvPr>
          <p:cNvSpPr>
            <a:spLocks xmlns:a="http://schemas.openxmlformats.org/drawingml/2006/main" noGrp="1"/>
          </p:cNvSpPr>
          <p:nvPr/>
        </p:nvSpPr>
        <p:spPr>
          <a:xfrm xmlns:a="http://schemas.openxmlformats.org/drawingml/2006/main">
            <a:off x="9761220" y="2476500"/>
            <a:ext cx="163068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8" name="step-head-4">
            <a:extLst xmlns:a="http://schemas.openxmlformats.org/drawingml/2006/main">
              <a:ext uri="{FF2B5EF4-FFF2-40B4-BE49-F238E27FC236}">
                <a16:creationId xmlns:a16="http://schemas.microsoft.com/office/drawing/2014/main" id="{B2FC6FCA-DFBC-40E2-A876-5CA26222693A}"/>
              </a:ext>
            </a:extLst>
          </p:cNvPr>
          <p:cNvSpPr>
            <a:spLocks xmlns:a="http://schemas.openxmlformats.org/drawingml/2006/main" noGrp="1"/>
          </p:cNvSpPr>
          <p:nvPr/>
        </p:nvSpPr>
        <p:spPr>
          <a:xfrm xmlns:a="http://schemas.openxmlformats.org/drawingml/2006/main">
            <a:off x="9761220" y="2667000"/>
            <a:ext cx="163068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Diagnose, then transfer</a:t>
            </a:r>
          </a:p>
        </p:txBody>
      </p:sp>
      <p:sp>
        <p:nvSpPr>
          <p:cNvPr id="39" name="step-body-4">
            <a:extLst xmlns:a="http://schemas.openxmlformats.org/drawingml/2006/main">
              <a:ext uri="{FF2B5EF4-FFF2-40B4-BE49-F238E27FC236}">
                <a16:creationId xmlns:a16="http://schemas.microsoft.com/office/drawing/2014/main" id="{29C193A8-D4EE-4E49-BFD7-038011D160B0}"/>
              </a:ext>
            </a:extLst>
          </p:cNvPr>
          <p:cNvSpPr>
            <a:spLocks xmlns:a="http://schemas.openxmlformats.org/drawingml/2006/main" noGrp="1"/>
          </p:cNvSpPr>
          <p:nvPr/>
        </p:nvSpPr>
        <p:spPr>
          <a:xfrm xmlns:a="http://schemas.openxmlformats.org/drawingml/2006/main">
            <a:off x="9761220" y="3370326"/>
            <a:ext cx="163068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Fix an AI draft's bugs, then probe sensitivity with one new seed.</a:t>
            </a:r>
          </a:p>
        </p:txBody>
      </p:sp>
    </p:spTree>
    <p:extLst>
      <p:ext uri="{BB962C8B-B14F-4D97-AF65-F5344CB8AC3E}">
        <p14:creationId xmlns:p14="http://schemas.microsoft.com/office/powerpoint/2010/main" val="2603768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22331A60-3038-4D83-BF42-35A828015DC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A270C9F0-E143-4290-824B-D3066540716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[1] Re-state the problem, confirm two known costs</a:t>
            </a:r>
          </a:p>
        </p:txBody>
      </p:sp>
      <p:sp>
        <p:nvSpPr>
          <p:cNvPr id="3" name="">
            <a:extLst xmlns:a="http://schemas.openxmlformats.org/drawingml/2006/main">
              <a:ext uri="{FF2B5EF4-FFF2-40B4-BE49-F238E27FC236}">
                <a16:creationId xmlns:a16="http://schemas.microsoft.com/office/drawing/2014/main" id="{F8BDA78C-C763-4643-B1E8-13A1ECCE18E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85C3EC1-51AC-4CAB-929C-B801C3A9B1F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191A7362-AD59-4144-8A4D-B8451DA7470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code-panel">
            <a:extLst xmlns:a="http://schemas.openxmlformats.org/drawingml/2006/main">
              <a:ext uri="{FF2B5EF4-FFF2-40B4-BE49-F238E27FC236}">
                <a16:creationId xmlns:a16="http://schemas.microsoft.com/office/drawing/2014/main" id="{76D1FD4F-14F1-4A5D-9653-82F894BF0C8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6EF1417-F1FF-4D18-BAA4-2188BEE2F8CF}"/>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position_ideal = [0.15, 0.25, 0.45,   # bays 1-3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0.55, 0.35, 0.20]   # bays 4-6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panel_transmittance = [0.10, 0.20, 0.30,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0.40, 0.50, 0.60]  # 6 panels</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cost(perm: list) -&gt;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"""Squared mismatch summed over all six bays."""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sum((panel_transmittance[p]</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 position_ideal[i]) **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 p in enumerate(perm))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print(round(cost((0, 1, 2, 3, 4, 5)),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print(round(cost((0, 2, 4, 5, 3, 1)), 4))</a:t>
            </a:r>
          </a:p>
        </p:txBody>
      </p:sp>
      <p:sp>
        <p:nvSpPr>
          <p:cNvPr id="8" name="">
            <a:extLst xmlns:a="http://schemas.openxmlformats.org/drawingml/2006/main">
              <a:ext uri="{FF2B5EF4-FFF2-40B4-BE49-F238E27FC236}">
                <a16:creationId xmlns:a16="http://schemas.microsoft.com/office/drawing/2014/main" id="{409BE715-9AFF-4A4E-8A60-99C6D7EC9E97}"/>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712239B7-51A0-4A84-8CB8-F78AFAA5660B}"/>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DD8A50F6-E96D-4A79-A474-5DCC0472C988}"/>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0.2325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0.0125</a:t>
            </a:r>
          </a:p>
        </p:txBody>
      </p:sp>
      <p:sp>
        <p:nvSpPr>
          <p:cNvPr id="11" name="explain-head">
            <a:extLst xmlns:a="http://schemas.openxmlformats.org/drawingml/2006/main">
              <a:ext uri="{FF2B5EF4-FFF2-40B4-BE49-F238E27FC236}">
                <a16:creationId xmlns:a16="http://schemas.microsoft.com/office/drawing/2014/main" id="{87A59FBA-4693-4408-A873-8F51F360389E}"/>
              </a:ext>
            </a:extLst>
          </p:cNvPr>
          <p:cNvSpPr>
            <a:spLocks xmlns:a="http://schemas.openxmlformats.org/drawingml/2006/main" noGrp="1"/>
          </p:cNvSpPr>
          <p:nvPr/>
        </p:nvSpPr>
        <p:spPr>
          <a:xfrm xmlns:a="http://schemas.openxmlformats.org/drawingml/2006/main">
            <a:off x="7886700" y="19907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Identical to Monday</a:t>
            </a:r>
          </a:p>
        </p:txBody>
      </p:sp>
      <p:sp>
        <p:nvSpPr>
          <p:cNvPr id="12" name="explain-body">
            <a:extLst xmlns:a="http://schemas.openxmlformats.org/drawingml/2006/main">
              <a:ext uri="{FF2B5EF4-FFF2-40B4-BE49-F238E27FC236}">
                <a16:creationId xmlns:a16="http://schemas.microsoft.com/office/drawing/2014/main" id="{66494C8F-74E4-48C5-8FE9-94ABF9F3E6BC}"/>
              </a:ext>
            </a:extLst>
          </p:cNvPr>
          <p:cNvSpPr>
            <a:spLocks xmlns:a="http://schemas.openxmlformats.org/drawingml/2006/main" noGrp="1"/>
          </p:cNvSpPr>
          <p:nvPr/>
        </p:nvSpPr>
        <p:spPr>
          <a:xfrm xmlns:a="http://schemas.openxmlformats.org/drawingml/2006/main">
            <a:off x="7886700" y="2488311"/>
            <a:ext cx="3695700" cy="339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Same cost function, same two example permutations, same numbers: 0.2325 for 'panel i in bay i,' 0.0125 for the permutation Monday's brute force already proved optimal. The docstring and the parameter/return type hints are the Week 4 convention, not decoration — they are what the reader checks the function against. Recall from Monday: the sum(...) line is a GENERATOR EXPRESSION — 'for each bay i and its assigned panel p, compute one term, feed it straight into sum().' round(..., 4) is needed because the raw float prints as 0.23249999999999998.</a:t>
            </a:r>
          </a:p>
        </p:txBody>
      </p:sp>
    </p:spTree>
    <p:extLst>
      <p:ext uri="{BB962C8B-B14F-4D97-AF65-F5344CB8AC3E}">
        <p14:creationId xmlns:p14="http://schemas.microsoft.com/office/powerpoint/2010/main" val="1520414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092BE84B-6523-435E-8A95-038287E40D4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D69C20E1-2E4B-4ECD-A10E-7382771CB4B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1: confirm before building anything new</a:t>
            </a:r>
          </a:p>
        </p:txBody>
      </p:sp>
      <p:sp>
        <p:nvSpPr>
          <p:cNvPr id="3" name="">
            <a:extLst xmlns:a="http://schemas.openxmlformats.org/drawingml/2006/main">
              <a:ext uri="{FF2B5EF4-FFF2-40B4-BE49-F238E27FC236}">
                <a16:creationId xmlns:a16="http://schemas.microsoft.com/office/drawing/2014/main" id="{284FC1A7-8B7C-4CC7-AC0C-2CA20F2D5A6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AC5C1C4-2981-432E-AA0A-0D88395C8D7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E03799C2-148B-40E2-8D08-625C9F364ED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exercise-accent">
            <a:extLst xmlns:a="http://schemas.openxmlformats.org/drawingml/2006/main">
              <a:ext uri="{FF2B5EF4-FFF2-40B4-BE49-F238E27FC236}">
                <a16:creationId xmlns:a16="http://schemas.microsoft.com/office/drawing/2014/main" id="{031C349B-066F-4989-A23E-4CD7116ED9F2}"/>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FD8423D4-2695-4534-B0C5-15CC14C9F7E1}"/>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 pipeline you cannot trust from its own first cell is not worth building on.</a:t>
            </a:r>
          </a:p>
        </p:txBody>
      </p:sp>
      <p:sp>
        <p:nvSpPr>
          <p:cNvPr id="8" name="work-label">
            <a:extLst xmlns:a="http://schemas.openxmlformats.org/drawingml/2006/main">
              <a:ext uri="{FF2B5EF4-FFF2-40B4-BE49-F238E27FC236}">
                <a16:creationId xmlns:a16="http://schemas.microsoft.com/office/drawing/2014/main" id="{66472BE8-43CD-40D1-B45F-C7CB7905945D}"/>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9400DCC3-5AE4-4A18-8171-67414C871418}"/>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8591332B-6245-4CE1-B78A-02F1826D1C5F}"/>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Predict cost((0,1,2,3,4,5)) from memory before running.</a:t>
            </a:r>
          </a:p>
        </p:txBody>
      </p:sp>
      <p:sp>
        <p:nvSpPr>
          <p:cNvPr id="11" name="exercise-no-1">
            <a:extLst xmlns:a="http://schemas.openxmlformats.org/drawingml/2006/main">
              <a:ext uri="{FF2B5EF4-FFF2-40B4-BE49-F238E27FC236}">
                <a16:creationId xmlns:a16="http://schemas.microsoft.com/office/drawing/2014/main" id="{97164616-45F5-486F-9648-F1690D70A1B0}"/>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2116081B-27DF-4742-A683-95D653BB549E}"/>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cell [1] and compare.</a:t>
            </a:r>
          </a:p>
        </p:txBody>
      </p:sp>
      <p:sp>
        <p:nvSpPr>
          <p:cNvPr id="13" name="exercise-no-2">
            <a:extLst xmlns:a="http://schemas.openxmlformats.org/drawingml/2006/main">
              <a:ext uri="{FF2B5EF4-FFF2-40B4-BE49-F238E27FC236}">
                <a16:creationId xmlns:a16="http://schemas.microsoft.com/office/drawing/2014/main" id="{4760FA7E-3AB5-4AF7-982E-2BBF3CB8AA73}"/>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1BED9BB3-6A97-4F88-8108-FE9C850ADAA6}"/>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perm is a genuine PERMUTATION - no repeated panel index, no skipped one.</a:t>
            </a:r>
          </a:p>
        </p:txBody>
      </p:sp>
      <p:sp>
        <p:nvSpPr>
          <p:cNvPr id="15" name="exercise-no-3">
            <a:extLst xmlns:a="http://schemas.openxmlformats.org/drawingml/2006/main">
              <a:ext uri="{FF2B5EF4-FFF2-40B4-BE49-F238E27FC236}">
                <a16:creationId xmlns:a16="http://schemas.microsoft.com/office/drawing/2014/main" id="{9430132A-4968-443C-A215-5B2D51ECE24D}"/>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1A27EEFF-210E-4236-B45E-580AC4328FFB}"/>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in one sentence why this cost function alone cannot tell you which arrangement is best - you still need to search.</a:t>
            </a:r>
          </a:p>
        </p:txBody>
      </p:sp>
    </p:spTree>
    <p:extLst>
      <p:ext uri="{BB962C8B-B14F-4D97-AF65-F5344CB8AC3E}">
        <p14:creationId xmlns:p14="http://schemas.microsoft.com/office/powerpoint/2010/main" val="11048329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2ED4AAF4-8451-4AEE-80EF-AB89259D0CC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166D034-9FAA-4F08-BC57-8C8FB1129C4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[2] Re-run brute force, and time it</a:t>
            </a:r>
          </a:p>
        </p:txBody>
      </p:sp>
      <p:sp>
        <p:nvSpPr>
          <p:cNvPr id="3" name="">
            <a:extLst xmlns:a="http://schemas.openxmlformats.org/drawingml/2006/main">
              <a:ext uri="{FF2B5EF4-FFF2-40B4-BE49-F238E27FC236}">
                <a16:creationId xmlns:a16="http://schemas.microsoft.com/office/drawing/2014/main" id="{7FF94A27-687B-4F40-BBDB-A26452921D8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87104D5-C218-4849-B99E-5A1CE51C103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876DAEB2-B7E6-491A-B5DE-5AB05496311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code-panel">
            <a:extLst xmlns:a="http://schemas.openxmlformats.org/drawingml/2006/main">
              <a:ext uri="{FF2B5EF4-FFF2-40B4-BE49-F238E27FC236}">
                <a16:creationId xmlns:a16="http://schemas.microsoft.com/office/drawing/2014/main" id="{BE21B8D6-C7D7-439E-A8D6-F3F9B0419B8E}"/>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87C1502C-DB75-4634-B0BA-ADCA9C23E3ED}"/>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itertools, time</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t0 = time.perf_counter()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all_perms = list(itertools.permutations(range(6)))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costs = [cost(p) for p in all_perms]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t1 = time.perf_counter()</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best = all_perms[costs.index(min(costs))]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print(len(all_perms), 'perms in',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round((t1 - t0) * 1000, 2), 'ms')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print('best:', best, 'cost:', round(min(costs), 4))</a:t>
            </a:r>
          </a:p>
        </p:txBody>
      </p:sp>
      <p:sp>
        <p:nvSpPr>
          <p:cNvPr id="8" name="">
            <a:extLst xmlns:a="http://schemas.openxmlformats.org/drawingml/2006/main">
              <a:ext uri="{FF2B5EF4-FFF2-40B4-BE49-F238E27FC236}">
                <a16:creationId xmlns:a16="http://schemas.microsoft.com/office/drawing/2014/main" id="{85573718-7FED-4B29-9209-D1A584B4EEE5}"/>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4BD22DB8-9D60-471A-92E3-4A5C4EEC3779}"/>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A30E3848-2B0F-4331-9B58-086E36D920AA}"/>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720 perms in 1.02 ms</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best: (0, 2, 4, 5, 3, 1) cost: 0.0125</a:t>
            </a:r>
          </a:p>
        </p:txBody>
      </p:sp>
      <p:sp>
        <p:nvSpPr>
          <p:cNvPr id="11" name="explain-head">
            <a:extLst xmlns:a="http://schemas.openxmlformats.org/drawingml/2006/main">
              <a:ext uri="{FF2B5EF4-FFF2-40B4-BE49-F238E27FC236}">
                <a16:creationId xmlns:a16="http://schemas.microsoft.com/office/drawing/2014/main" id="{C186710F-7430-45A6-9838-A7DC92357DFA}"/>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0.0125, now with a timestamp</a:t>
            </a:r>
          </a:p>
        </p:txBody>
      </p:sp>
      <p:sp>
        <p:nvSpPr>
          <p:cNvPr id="12" name="explain-body">
            <a:extLst xmlns:a="http://schemas.openxmlformats.org/drawingml/2006/main">
              <a:ext uri="{FF2B5EF4-FFF2-40B4-BE49-F238E27FC236}">
                <a16:creationId xmlns:a16="http://schemas.microsoft.com/office/drawing/2014/main" id="{3A45333A-5D00-4DC4-BD22-14B0E1730692}"/>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720 permutations checked in about 1 millisecond on this machine — your own timing will differ by machine, but the ORDER OF MAGNITUDE (a fraction of a second, for N=6) will not. Keep this number; it is the baseline the GA is compared against a few cells from now.</a:t>
            </a:r>
          </a:p>
        </p:txBody>
      </p:sp>
    </p:spTree>
    <p:extLst>
      <p:ext uri="{BB962C8B-B14F-4D97-AF65-F5344CB8AC3E}">
        <p14:creationId xmlns:p14="http://schemas.microsoft.com/office/powerpoint/2010/main" val="1370753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71EBE61-CC1C-42D6-8DB5-FFFD7557321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532A9D68-3253-43D4-93C8-8F321C1B46B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2: verify against Monday's numbers</a:t>
            </a:r>
          </a:p>
        </p:txBody>
      </p:sp>
      <p:sp>
        <p:nvSpPr>
          <p:cNvPr id="3" name="">
            <a:extLst xmlns:a="http://schemas.openxmlformats.org/drawingml/2006/main">
              <a:ext uri="{FF2B5EF4-FFF2-40B4-BE49-F238E27FC236}">
                <a16:creationId xmlns:a16="http://schemas.microsoft.com/office/drawing/2014/main" id="{30718AA6-58B6-407E-BB01-11AB8B4853C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EF871E8-81B4-4F4B-9A6A-19F567F4316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169C9406-7B85-4C44-94B9-DDD38D7D28A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exercise-accent">
            <a:extLst xmlns:a="http://schemas.openxmlformats.org/drawingml/2006/main">
              <a:ext uri="{FF2B5EF4-FFF2-40B4-BE49-F238E27FC236}">
                <a16:creationId xmlns:a16="http://schemas.microsoft.com/office/drawing/2014/main" id="{9D1D5997-F8E8-4440-9BCA-8458342C0924}"/>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28BAF6EA-43D8-483F-AEDE-4ED85A0A36E1}"/>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 number that changed between Monday and today, unexplained, is a bug, not a coincidence.</a:t>
            </a:r>
          </a:p>
        </p:txBody>
      </p:sp>
      <p:sp>
        <p:nvSpPr>
          <p:cNvPr id="8" name="work-label">
            <a:extLst xmlns:a="http://schemas.openxmlformats.org/drawingml/2006/main">
              <a:ext uri="{FF2B5EF4-FFF2-40B4-BE49-F238E27FC236}">
                <a16:creationId xmlns:a16="http://schemas.microsoft.com/office/drawing/2014/main" id="{0C8B9F54-C10E-4EDB-B0FE-5D6327864B22}"/>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9E78B9C5-E2C5-431F-BB04-02A5E9A7A8F3}"/>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5B53C0E7-B633-448E-9F02-F9236203C548}"/>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720 permutations checked - 6! by hand.</a:t>
            </a:r>
          </a:p>
        </p:txBody>
      </p:sp>
      <p:sp>
        <p:nvSpPr>
          <p:cNvPr id="11" name="exercise-no-1">
            <a:extLst xmlns:a="http://schemas.openxmlformats.org/drawingml/2006/main">
              <a:ext uri="{FF2B5EF4-FFF2-40B4-BE49-F238E27FC236}">
                <a16:creationId xmlns:a16="http://schemas.microsoft.com/office/drawing/2014/main" id="{DDCEA600-945E-4C9A-BF5A-527215FBDA1C}"/>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650BE0DF-681A-43E8-8A87-DD77F70B5C01}"/>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best cost 0.0125 matches Monday's deck exactly.</a:t>
            </a:r>
          </a:p>
        </p:txBody>
      </p:sp>
      <p:sp>
        <p:nvSpPr>
          <p:cNvPr id="13" name="exercise-no-2">
            <a:extLst xmlns:a="http://schemas.openxmlformats.org/drawingml/2006/main">
              <a:ext uri="{FF2B5EF4-FFF2-40B4-BE49-F238E27FC236}">
                <a16:creationId xmlns:a16="http://schemas.microsoft.com/office/drawing/2014/main" id="{566B3259-3196-4302-B072-C36AF3838E1C}"/>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C423DA69-137B-45D5-B019-C1FCBDAE409F}"/>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Record your own machine's timing in milliseconds.</a:t>
            </a:r>
          </a:p>
        </p:txBody>
      </p:sp>
      <p:sp>
        <p:nvSpPr>
          <p:cNvPr id="15" name="exercise-no-3">
            <a:extLst xmlns:a="http://schemas.openxmlformats.org/drawingml/2006/main">
              <a:ext uri="{FF2B5EF4-FFF2-40B4-BE49-F238E27FC236}">
                <a16:creationId xmlns:a16="http://schemas.microsoft.com/office/drawing/2014/main" id="{BD98B894-FACD-4629-BB66-B73D42CB50EC}"/>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A08AEBFA-0F31-4DCA-B644-4CC19AA18746}"/>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one sentence: why is checking every option still fine at N=6, but not at N=12?</a:t>
            </a:r>
          </a:p>
        </p:txBody>
      </p:sp>
    </p:spTree>
    <p:extLst>
      <p:ext uri="{BB962C8B-B14F-4D97-AF65-F5344CB8AC3E}">
        <p14:creationId xmlns:p14="http://schemas.microsoft.com/office/powerpoint/2010/main" val="20642235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kicker">
            <a:extLst xmlns:a="http://schemas.openxmlformats.org/drawingml/2006/main">
              <a:ext uri="{FF2B5EF4-FFF2-40B4-BE49-F238E27FC236}">
                <a16:creationId xmlns:a16="http://schemas.microsoft.com/office/drawing/2014/main" id="{96959A14-0135-48E5-B175-7D697E40B83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9BEEB415-A610-495B-998B-62AED20942C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does the recap get stuck again?</a:t>
            </a:r>
          </a:p>
        </p:txBody>
      </p:sp>
      <p:sp>
        <p:nvSpPr>
          <p:cNvPr id="3" name="">
            <a:extLst xmlns:a="http://schemas.openxmlformats.org/drawingml/2006/main">
              <a:ext uri="{FF2B5EF4-FFF2-40B4-BE49-F238E27FC236}">
                <a16:creationId xmlns:a16="http://schemas.microsoft.com/office/drawing/2014/main" id="{A99F9C44-03CB-4019-BB28-28FE7684449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38110D4-0915-4BDD-8D6E-E9A2044459C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D2AD7668-8200-4E31-B17C-34466F6F7C4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code-panel">
            <a:extLst xmlns:a="http://schemas.openxmlformats.org/drawingml/2006/main">
              <a:ext uri="{FF2B5EF4-FFF2-40B4-BE49-F238E27FC236}">
                <a16:creationId xmlns:a16="http://schemas.microsoft.com/office/drawing/2014/main" id="{F7164FBF-5580-4293-ABCF-96198B7AEC3C}"/>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2ED1143-28A2-431D-A473-5ED816ED856F}"/>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end, end_cost = hill_climb([0, 1, 2, 3, 4, 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print('stuck at:', end, 'cost:', round(end_cost, 4))</a:t>
            </a:r>
          </a:p>
        </p:txBody>
      </p:sp>
      <p:sp>
        <p:nvSpPr>
          <p:cNvPr id="8" name="question">
            <a:extLst xmlns:a="http://schemas.openxmlformats.org/drawingml/2006/main">
              <a:ext uri="{FF2B5EF4-FFF2-40B4-BE49-F238E27FC236}">
                <a16:creationId xmlns:a16="http://schemas.microsoft.com/office/drawing/2014/main" id="{4956DE7C-F3BC-44CE-8EE4-91E8DB4182AC}"/>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call as Monday's demo. What does this print?</a:t>
            </a:r>
          </a:p>
        </p:txBody>
      </p:sp>
      <p:sp>
        <p:nvSpPr>
          <p:cNvPr id="9" name="opt-0">
            <a:extLst xmlns:a="http://schemas.openxmlformats.org/drawingml/2006/main">
              <a:ext uri="{FF2B5EF4-FFF2-40B4-BE49-F238E27FC236}">
                <a16:creationId xmlns:a16="http://schemas.microsoft.com/office/drawing/2014/main" id="{14F26D89-9A5C-4A95-8858-5E5924762EC1}"/>
              </a:ext>
            </a:extLst>
          </p:cNvPr>
          <p:cNvSpPr>
            <a:spLocks xmlns:a="http://schemas.openxmlformats.org/drawingml/2006/main" noGrp="1"/>
          </p:cNvSpPr>
          <p:nvPr/>
        </p:nvSpPr>
        <p:spPr>
          <a:xfrm xmlns:a="http://schemas.openxmlformats.org/drawingml/2006/main">
            <a:off x="7315200" y="25717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A72E7826-5278-4628-BC79-B29CCC42C7EF}"/>
              </a:ext>
            </a:extLst>
          </p:cNvPr>
          <p:cNvSpPr>
            <a:spLocks xmlns:a="http://schemas.openxmlformats.org/drawingml/2006/main" noGrp="1"/>
          </p:cNvSpPr>
          <p:nvPr/>
        </p:nvSpPr>
        <p:spPr>
          <a:xfrm xmlns:a="http://schemas.openxmlformats.org/drawingml/2006/main">
            <a:off x="7448550" y="2686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444FF711-2323-4DBE-B48E-5B2186959C33}"/>
              </a:ext>
            </a:extLst>
          </p:cNvPr>
          <p:cNvSpPr>
            <a:spLocks xmlns:a="http://schemas.openxmlformats.org/drawingml/2006/main" noGrp="1"/>
          </p:cNvSpPr>
          <p:nvPr/>
        </p:nvSpPr>
        <p:spPr>
          <a:xfrm xmlns:a="http://schemas.openxmlformats.org/drawingml/2006/main">
            <a:off x="7772400" y="26098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stuck at: [0, 1, 2, 5, 4, 3] cost: 0.0925 -- same local optimum as Monday</a:t>
            </a:r>
          </a:p>
        </p:txBody>
      </p:sp>
      <p:sp>
        <p:nvSpPr>
          <p:cNvPr id="12" name="opt-1">
            <a:extLst xmlns:a="http://schemas.openxmlformats.org/drawingml/2006/main">
              <a:ext uri="{FF2B5EF4-FFF2-40B4-BE49-F238E27FC236}">
                <a16:creationId xmlns:a16="http://schemas.microsoft.com/office/drawing/2014/main" id="{C185F194-1302-4B33-8E1A-6BFA9560CB4F}"/>
              </a:ext>
            </a:extLst>
          </p:cNvPr>
          <p:cNvSpPr>
            <a:spLocks xmlns:a="http://schemas.openxmlformats.org/drawingml/2006/main" noGrp="1"/>
          </p:cNvSpPr>
          <p:nvPr/>
        </p:nvSpPr>
        <p:spPr>
          <a:xfrm xmlns:a="http://schemas.openxmlformats.org/drawingml/2006/main">
            <a:off x="7315200" y="307657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1657449D-6BBF-4EFF-90F8-0C8F51F8DE41}"/>
              </a:ext>
            </a:extLst>
          </p:cNvPr>
          <p:cNvSpPr>
            <a:spLocks xmlns:a="http://schemas.openxmlformats.org/drawingml/2006/main" noGrp="1"/>
          </p:cNvSpPr>
          <p:nvPr/>
        </p:nvSpPr>
        <p:spPr>
          <a:xfrm xmlns:a="http://schemas.openxmlformats.org/drawingml/2006/main">
            <a:off x="7448550" y="3190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B7928A65-37BA-453E-9831-794711699A56}"/>
              </a:ext>
            </a:extLst>
          </p:cNvPr>
          <p:cNvSpPr>
            <a:spLocks xmlns:a="http://schemas.openxmlformats.org/drawingml/2006/main" noGrp="1"/>
          </p:cNvSpPr>
          <p:nvPr/>
        </p:nvSpPr>
        <p:spPr>
          <a:xfrm xmlns:a="http://schemas.openxmlformats.org/drawingml/2006/main">
            <a:off x="7772400" y="311467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stuck at: (0, 2, 4, 5, 3, 1) cost: 0.0125 -- the true optimum</a:t>
            </a:r>
          </a:p>
        </p:txBody>
      </p:sp>
      <p:sp>
        <p:nvSpPr>
          <p:cNvPr id="15" name="opt-2">
            <a:extLst xmlns:a="http://schemas.openxmlformats.org/drawingml/2006/main">
              <a:ext uri="{FF2B5EF4-FFF2-40B4-BE49-F238E27FC236}">
                <a16:creationId xmlns:a16="http://schemas.microsoft.com/office/drawing/2014/main" id="{96A134CB-B57A-40C4-925E-5827EB07A184}"/>
              </a:ext>
            </a:extLst>
          </p:cNvPr>
          <p:cNvSpPr>
            <a:spLocks xmlns:a="http://schemas.openxmlformats.org/drawingml/2006/main" noGrp="1"/>
          </p:cNvSpPr>
          <p:nvPr/>
        </p:nvSpPr>
        <p:spPr>
          <a:xfrm xmlns:a="http://schemas.openxmlformats.org/drawingml/2006/main">
            <a:off x="7315200" y="358140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61DD1B50-5D4A-4B71-B0C3-984623BB7AA5}"/>
              </a:ext>
            </a:extLst>
          </p:cNvPr>
          <p:cNvSpPr>
            <a:spLocks xmlns:a="http://schemas.openxmlformats.org/drawingml/2006/main" noGrp="1"/>
          </p:cNvSpPr>
          <p:nvPr/>
        </p:nvSpPr>
        <p:spPr>
          <a:xfrm xmlns:a="http://schemas.openxmlformats.org/drawingml/2006/main">
            <a:off x="7448550" y="36957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0567A065-C5AB-4543-9067-F91E08CF9F35}"/>
              </a:ext>
            </a:extLst>
          </p:cNvPr>
          <p:cNvSpPr>
            <a:spLocks xmlns:a="http://schemas.openxmlformats.org/drawingml/2006/main" noGrp="1"/>
          </p:cNvSpPr>
          <p:nvPr/>
        </p:nvSpPr>
        <p:spPr>
          <a:xfrm xmlns:a="http://schemas.openxmlformats.org/drawingml/2006/main">
            <a:off x="7772400" y="361950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stuck at: [0, 1, 2, 3, 4, 5] cost: 0.2325 -- no improvement at all</a:t>
            </a:r>
          </a:p>
        </p:txBody>
      </p:sp>
      <p:sp>
        <p:nvSpPr>
          <p:cNvPr id="18" name="opt-3">
            <a:extLst xmlns:a="http://schemas.openxmlformats.org/drawingml/2006/main">
              <a:ext uri="{FF2B5EF4-FFF2-40B4-BE49-F238E27FC236}">
                <a16:creationId xmlns:a16="http://schemas.microsoft.com/office/drawing/2014/main" id="{85F6EE3F-660E-43D5-805A-A16594636B5E}"/>
              </a:ext>
            </a:extLst>
          </p:cNvPr>
          <p:cNvSpPr>
            <a:spLocks xmlns:a="http://schemas.openxmlformats.org/drawingml/2006/main" noGrp="1"/>
          </p:cNvSpPr>
          <p:nvPr/>
        </p:nvSpPr>
        <p:spPr>
          <a:xfrm xmlns:a="http://schemas.openxmlformats.org/drawingml/2006/main">
            <a:off x="7315200" y="408622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6E1466B9-12AA-46EA-8E98-2C8B483D215D}"/>
              </a:ext>
            </a:extLst>
          </p:cNvPr>
          <p:cNvSpPr>
            <a:spLocks xmlns:a="http://schemas.openxmlformats.org/drawingml/2006/main" noGrp="1"/>
          </p:cNvSpPr>
          <p:nvPr/>
        </p:nvSpPr>
        <p:spPr>
          <a:xfrm xmlns:a="http://schemas.openxmlformats.org/drawingml/2006/main">
            <a:off x="7448550" y="420052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78B365E9-73A5-4279-8AC0-7C51328A7534}"/>
              </a:ext>
            </a:extLst>
          </p:cNvPr>
          <p:cNvSpPr>
            <a:spLocks xmlns:a="http://schemas.openxmlformats.org/drawingml/2006/main" noGrp="1"/>
          </p:cNvSpPr>
          <p:nvPr/>
        </p:nvSpPr>
        <p:spPr>
          <a:xfrm xmlns:a="http://schemas.openxmlformats.org/drawingml/2006/main">
            <a:off x="7772400" y="412432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ValueError -- swapping two adjacent panels breaks the permutation</a:t>
            </a:r>
          </a:p>
        </p:txBody>
      </p:sp>
      <p:sp>
        <p:nvSpPr>
          <p:cNvPr id="21" name="opt-4">
            <a:extLst xmlns:a="http://schemas.openxmlformats.org/drawingml/2006/main">
              <a:ext uri="{FF2B5EF4-FFF2-40B4-BE49-F238E27FC236}">
                <a16:creationId xmlns:a16="http://schemas.microsoft.com/office/drawing/2014/main" id="{3AC33272-E51E-4F77-9396-70B15AB1047E}"/>
              </a:ext>
            </a:extLst>
          </p:cNvPr>
          <p:cNvSpPr>
            <a:spLocks xmlns:a="http://schemas.openxmlformats.org/drawingml/2006/main" noGrp="1"/>
          </p:cNvSpPr>
          <p:nvPr/>
        </p:nvSpPr>
        <p:spPr>
          <a:xfrm xmlns:a="http://schemas.openxmlformats.org/drawingml/2006/main">
            <a:off x="7315200" y="45910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22" name="opt-letter-4">
            <a:extLst xmlns:a="http://schemas.openxmlformats.org/drawingml/2006/main">
              <a:ext uri="{FF2B5EF4-FFF2-40B4-BE49-F238E27FC236}">
                <a16:creationId xmlns:a16="http://schemas.microsoft.com/office/drawing/2014/main" id="{F87721F2-E3D5-4396-99AD-2D8A49BB667B}"/>
              </a:ext>
            </a:extLst>
          </p:cNvPr>
          <p:cNvSpPr>
            <a:spLocks xmlns:a="http://schemas.openxmlformats.org/drawingml/2006/main" noGrp="1"/>
          </p:cNvSpPr>
          <p:nvPr/>
        </p:nvSpPr>
        <p:spPr>
          <a:xfrm xmlns:a="http://schemas.openxmlformats.org/drawingml/2006/main">
            <a:off x="7448550" y="47053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E</a:t>
            </a:r>
          </a:p>
        </p:txBody>
      </p:sp>
      <p:sp>
        <p:nvSpPr>
          <p:cNvPr id="23" name="opt-text-4">
            <a:extLst xmlns:a="http://schemas.openxmlformats.org/drawingml/2006/main">
              <a:ext uri="{FF2B5EF4-FFF2-40B4-BE49-F238E27FC236}">
                <a16:creationId xmlns:a16="http://schemas.microsoft.com/office/drawing/2014/main" id="{33E22675-2E34-43B2-AD59-A0FA042074F7}"/>
              </a:ext>
            </a:extLst>
          </p:cNvPr>
          <p:cNvSpPr>
            <a:spLocks xmlns:a="http://schemas.openxmlformats.org/drawingml/2006/main" noGrp="1"/>
          </p:cNvSpPr>
          <p:nvPr/>
        </p:nvSpPr>
        <p:spPr>
          <a:xfrm xmlns:a="http://schemas.openxmlformats.org/drawingml/2006/main">
            <a:off x="7772400" y="46291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stuck at: [1, 2, 4, 5, 3, 0] cost: 0.0225</a:t>
            </a:r>
          </a:p>
        </p:txBody>
      </p:sp>
      <p:sp>
        <p:nvSpPr>
          <p:cNvPr id="24" name="answer-panel">
            <a:extLst xmlns:a="http://schemas.openxmlformats.org/drawingml/2006/main">
              <a:ext uri="{FF2B5EF4-FFF2-40B4-BE49-F238E27FC236}">
                <a16:creationId xmlns:a16="http://schemas.microsoft.com/office/drawing/2014/main" id="{DAC10B64-425B-4B3E-9FB1-533F89677016}"/>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5" name="answer-label">
            <a:extLst xmlns:a="http://schemas.openxmlformats.org/drawingml/2006/main">
              <a:ext uri="{FF2B5EF4-FFF2-40B4-BE49-F238E27FC236}">
                <a16:creationId xmlns:a16="http://schemas.microsoft.com/office/drawing/2014/main" id="{16A942A8-A386-4349-AC89-DE0042552202}"/>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A</a:t>
            </a:r>
          </a:p>
        </p:txBody>
      </p:sp>
      <p:sp>
        <p:nvSpPr>
          <p:cNvPr id="26" name="why">
            <a:extLst xmlns:a="http://schemas.openxmlformats.org/drawingml/2006/main">
              <a:ext uri="{FF2B5EF4-FFF2-40B4-BE49-F238E27FC236}">
                <a16:creationId xmlns:a16="http://schemas.microsoft.com/office/drawing/2014/main" id="{A6F98640-FD4C-4615-8FD4-04F21B69C476}"/>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Identical permutation, identical adjacent-swap neighborhood, so identical result: 0.0925, exactly Monday's verified number.</a:t>
            </a:r>
          </a:p>
        </p:txBody>
      </p:sp>
    </p:spTree>
    <p:extLst>
      <p:ext uri="{BB962C8B-B14F-4D97-AF65-F5344CB8AC3E}">
        <p14:creationId xmlns:p14="http://schemas.microsoft.com/office/powerpoint/2010/main" val="18325092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2CB1C92A-46FF-4135-B707-8C40BB23657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44B4CED3-A26D-4F35-8ACD-6F2D9156153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[3] Recap: neighbors(), written out in full</a:t>
            </a:r>
          </a:p>
        </p:txBody>
      </p:sp>
      <p:sp>
        <p:nvSpPr>
          <p:cNvPr id="3" name="">
            <a:extLst xmlns:a="http://schemas.openxmlformats.org/drawingml/2006/main">
              <a:ext uri="{FF2B5EF4-FFF2-40B4-BE49-F238E27FC236}">
                <a16:creationId xmlns:a16="http://schemas.microsoft.com/office/drawing/2014/main" id="{32445B37-BB86-4461-B319-D54A0B82F34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DA39FFC-481F-4774-AB80-EFBFC305706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8A35B48D-EADC-456B-A03F-7D77592B8A1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code-panel">
            <a:extLst xmlns:a="http://schemas.openxmlformats.org/drawingml/2006/main">
              <a:ext uri="{FF2B5EF4-FFF2-40B4-BE49-F238E27FC236}">
                <a16:creationId xmlns:a16="http://schemas.microsoft.com/office/drawing/2014/main" id="{E3298F42-A739-4AB6-B6F5-C6D660AC265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40F0D5BD-68A8-4AFB-8B5D-62EB99E4CE77}"/>
              </a:ext>
            </a:extLst>
          </p:cNvPr>
          <p:cNvSpPr>
            <a:spLocks xmlns:a="http://schemas.openxmlformats.org/drawingml/2006/main" noGrp="1"/>
          </p:cNvSpPr>
          <p:nvPr/>
        </p:nvSpPr>
        <p:spPr>
          <a:xfrm xmlns:a="http://schemas.openxmlformats.org/drawingml/2006/main">
            <a:off x="857250" y="2057400"/>
            <a:ext cx="6400800" cy="2446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neighbors(perm: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"""Yield every adjacent-swap neighbor of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 in range(len(perm)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nb =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nb[i], nb[i + 1] = nb[i + 1], nb[i]</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yield nb</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nb in neighbors([0, 1, 2, 3, 4, 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print(nb, round(cost(nb), 4))</a:t>
            </a:r>
          </a:p>
        </p:txBody>
      </p:sp>
      <p:sp>
        <p:nvSpPr>
          <p:cNvPr id="8" name="">
            <a:extLst xmlns:a="http://schemas.openxmlformats.org/drawingml/2006/main">
              <a:ext uri="{FF2B5EF4-FFF2-40B4-BE49-F238E27FC236}">
                <a16:creationId xmlns:a16="http://schemas.microsoft.com/office/drawing/2014/main" id="{E820821C-D718-445B-9F80-44B703F5B9A5}"/>
              </a:ext>
            </a:extLst>
          </p:cNvPr>
          <p:cNvSpPr>
            <a:spLocks xmlns:a="http://schemas.openxmlformats.org/drawingml/2006/main" noGrp="1"/>
          </p:cNvSpPr>
          <p:nvPr/>
        </p:nvSpPr>
        <p:spPr>
          <a:xfrm xmlns:a="http://schemas.openxmlformats.org/drawingml/2006/main">
            <a:off x="857250" y="4560570"/>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2F96C095-7376-4A5E-ACC3-4651099A3B5D}"/>
              </a:ext>
            </a:extLst>
          </p:cNvPr>
          <p:cNvSpPr>
            <a:spLocks xmlns:a="http://schemas.openxmlformats.org/drawingml/2006/main" noGrp="1"/>
          </p:cNvSpPr>
          <p:nvPr/>
        </p:nvSpPr>
        <p:spPr>
          <a:xfrm xmlns:a="http://schemas.openxmlformats.org/drawingml/2006/main">
            <a:off x="857250" y="467487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52D4E53-B2B3-47E4-B327-153B1E80918A}"/>
              </a:ext>
            </a:extLst>
          </p:cNvPr>
          <p:cNvSpPr>
            <a:spLocks xmlns:a="http://schemas.openxmlformats.org/drawingml/2006/main" noGrp="1"/>
          </p:cNvSpPr>
          <p:nvPr/>
        </p:nvSpPr>
        <p:spPr>
          <a:xfrm xmlns:a="http://schemas.openxmlformats.org/drawingml/2006/main">
            <a:off x="857250" y="4903470"/>
            <a:ext cx="6400800" cy="92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 0, 2, 3, 4, 5] 0.2525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2, 1, 3, 4, 5] 0.2725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1, 3, 2, 4, 5] 0.2525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1, 2, 4, 3, 5] 0.1925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1, 2, 3, 5, 4] 0.2025</a:t>
            </a:r>
          </a:p>
        </p:txBody>
      </p:sp>
      <p:sp>
        <p:nvSpPr>
          <p:cNvPr id="11" name="explain-head">
            <a:extLst xmlns:a="http://schemas.openxmlformats.org/drawingml/2006/main">
              <a:ext uri="{FF2B5EF4-FFF2-40B4-BE49-F238E27FC236}">
                <a16:creationId xmlns:a16="http://schemas.microsoft.com/office/drawing/2014/main" id="{1DBAD245-99D9-4415-834C-E2A421650DAC}"/>
              </a:ext>
            </a:extLst>
          </p:cNvPr>
          <p:cNvSpPr>
            <a:spLocks xmlns:a="http://schemas.openxmlformats.org/drawingml/2006/main" noGrp="1"/>
          </p:cNvSpPr>
          <p:nvPr/>
        </p:nvSpPr>
        <p:spPr>
          <a:xfrm xmlns:a="http://schemas.openxmlformats.org/drawingml/2006/main">
            <a:off x="7886700" y="19145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Five moves, with costs</a:t>
            </a:r>
          </a:p>
        </p:txBody>
      </p:sp>
      <p:sp>
        <p:nvSpPr>
          <p:cNvPr id="12" name="explain-body">
            <a:extLst xmlns:a="http://schemas.openxmlformats.org/drawingml/2006/main">
              <a:ext uri="{FF2B5EF4-FFF2-40B4-BE49-F238E27FC236}">
                <a16:creationId xmlns:a16="http://schemas.microsoft.com/office/drawing/2014/main" id="{D91A10FF-DDEF-4BAA-8E81-1CA5EF0C7CEB}"/>
              </a:ext>
            </a:extLst>
          </p:cNvPr>
          <p:cNvSpPr>
            <a:spLocks xmlns:a="http://schemas.openxmlformats.org/drawingml/2006/main" noGrp="1"/>
          </p:cNvSpPr>
          <p:nvPr/>
        </p:nvSpPr>
        <p:spPr>
          <a:xfrm xmlns:a="http://schemas.openxmlformats.org/drawingml/2006/main">
            <a:off x="7886700" y="2412111"/>
            <a:ext cx="3695700" cy="36118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Monday showed this function; here it is in full, with a loop that prints what it actually produces. neighbors() is a GENERATOR FUNCTION — yield, not return — handing back one adjacent-swap arrangement at a time. Six bays means five adjacent pairs, so five neighbors. Four of the five are WORSE than the starting cost of 0.2325; only [0, 1, 2, 4, 3, 5] at 0.1925 improves, so that is the single move hill climbing will take first. Note the missing return type hint: a generator does not return a list — it yields one list at a time — so it is the one function in this studio without one, on purpose.</a:t>
            </a:r>
          </a:p>
        </p:txBody>
      </p:sp>
    </p:spTree>
    <p:extLst>
      <p:ext uri="{BB962C8B-B14F-4D97-AF65-F5344CB8AC3E}">
        <p14:creationId xmlns:p14="http://schemas.microsoft.com/office/powerpoint/2010/main" val="21433630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9B0A7CB7-CBC0-406C-8F68-9150D695265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2A5C69ED-CB69-460A-99DD-1D79FEC7045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[3] Recap: define the hill climber</a:t>
            </a:r>
          </a:p>
        </p:txBody>
      </p:sp>
      <p:sp>
        <p:nvSpPr>
          <p:cNvPr id="3" name="">
            <a:extLst xmlns:a="http://schemas.openxmlformats.org/drawingml/2006/main">
              <a:ext uri="{FF2B5EF4-FFF2-40B4-BE49-F238E27FC236}">
                <a16:creationId xmlns:a16="http://schemas.microsoft.com/office/drawing/2014/main" id="{9C129493-967C-49B4-9E5F-3C8FF9EC257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AA9F508-E215-4491-87C3-44D2BB6670A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A52C00CA-76F2-4C7A-80B2-8F351473965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code-panel">
            <a:extLst xmlns:a="http://schemas.openxmlformats.org/drawingml/2006/main">
              <a:ext uri="{FF2B5EF4-FFF2-40B4-BE49-F238E27FC236}">
                <a16:creationId xmlns:a16="http://schemas.microsoft.com/office/drawing/2014/main" id="{E663F8F4-B1E7-49AC-9B2E-AE7E9323F90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DA5D044-E234-43D8-8D56-529A63874614}"/>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hill_climb(start: list) -&gt; tuple: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"""Move to the best neighbor until none helps."""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cur, cur_c = start[:], cost(start)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while True: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best_nb = min(neighbors(cur), key=cost)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best_c = cost(best_nb)</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best_c &gt;= cur_c: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cur, cur_c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cur, cur_c = best_nb, best_c</a:t>
            </a:r>
          </a:p>
        </p:txBody>
      </p:sp>
      <p:sp>
        <p:nvSpPr>
          <p:cNvPr id="8" name="explain-head">
            <a:extLst xmlns:a="http://schemas.openxmlformats.org/drawingml/2006/main">
              <a:ext uri="{FF2B5EF4-FFF2-40B4-BE49-F238E27FC236}">
                <a16:creationId xmlns:a16="http://schemas.microsoft.com/office/drawing/2014/main" id="{C8483190-69A6-452F-B3EE-201E3A738F7F}"/>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local stopping rule</a:t>
            </a:r>
          </a:p>
        </p:txBody>
      </p:sp>
      <p:sp>
        <p:nvSpPr>
          <p:cNvPr id="9" name="explain-body">
            <a:extLst xmlns:a="http://schemas.openxmlformats.org/drawingml/2006/main">
              <a:ext uri="{FF2B5EF4-FFF2-40B4-BE49-F238E27FC236}">
                <a16:creationId xmlns:a16="http://schemas.microsoft.com/office/drawing/2014/main" id="{55868E8C-76A8-40F4-BD7A-07A61DEACDD3}"/>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min(..., key=cost) checks all five adjacent-swap neighbors. If even the cheapest neighbor is no better, the function returns the current local optimum.</a:t>
            </a:r>
          </a:p>
        </p:txBody>
      </p:sp>
    </p:spTree>
    <p:extLst>
      <p:ext uri="{BB962C8B-B14F-4D97-AF65-F5344CB8AC3E}">
        <p14:creationId xmlns:p14="http://schemas.microsoft.com/office/powerpoint/2010/main" val="13180269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3CC4A56-1E88-440E-86CC-5860149C638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AED437A3-2E42-4D96-917F-949B04257A4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Run the recap: the same local trap</a:t>
            </a:r>
          </a:p>
        </p:txBody>
      </p:sp>
      <p:sp>
        <p:nvSpPr>
          <p:cNvPr id="3" name="">
            <a:extLst xmlns:a="http://schemas.openxmlformats.org/drawingml/2006/main">
              <a:ext uri="{FF2B5EF4-FFF2-40B4-BE49-F238E27FC236}">
                <a16:creationId xmlns:a16="http://schemas.microsoft.com/office/drawing/2014/main" id="{1D8BB4E2-B122-400A-B1F9-C51C427BA02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45F4E56-28B7-422B-81F2-2CED66AE39A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9071CADF-7C53-4C25-AD11-5DBCD069A61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code-panel">
            <a:extLst xmlns:a="http://schemas.openxmlformats.org/drawingml/2006/main">
              <a:ext uri="{FF2B5EF4-FFF2-40B4-BE49-F238E27FC236}">
                <a16:creationId xmlns:a16="http://schemas.microsoft.com/office/drawing/2014/main" id="{E2C75546-8520-4AF6-92EA-00F8BB7F5535}"/>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FA086DA-445C-4DA2-AD4B-2F56F3DF5972}"/>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end, end_cost = hill_climb([0, 1, 2, 3, 4, 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print('stuck:', end, 'cost:', round(end_cost, 4))</a:t>
            </a:r>
          </a:p>
        </p:txBody>
      </p:sp>
      <p:sp>
        <p:nvSpPr>
          <p:cNvPr id="8" name="">
            <a:extLst xmlns:a="http://schemas.openxmlformats.org/drawingml/2006/main">
              <a:ext uri="{FF2B5EF4-FFF2-40B4-BE49-F238E27FC236}">
                <a16:creationId xmlns:a16="http://schemas.microsoft.com/office/drawing/2014/main" id="{F22D6141-D0BE-4272-B970-F78FB9363BA1}"/>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F0575972-AE00-4073-8856-19D5616ED75D}"/>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F32B54A0-8EA8-470E-AC13-F9F2FBE5FD5D}"/>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stuck: [0, 1, 2, 5, 4, 3] cost: 0.0925</a:t>
            </a:r>
          </a:p>
        </p:txBody>
      </p:sp>
      <p:sp>
        <p:nvSpPr>
          <p:cNvPr id="11" name="explain-head">
            <a:extLst xmlns:a="http://schemas.openxmlformats.org/drawingml/2006/main">
              <a:ext uri="{FF2B5EF4-FFF2-40B4-BE49-F238E27FC236}">
                <a16:creationId xmlns:a16="http://schemas.microsoft.com/office/drawing/2014/main" id="{85B2C991-315E-4C6D-AE84-70EF74237041}"/>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0.0925, not the 0.0125 best-known ordering</a:t>
            </a:r>
          </a:p>
        </p:txBody>
      </p:sp>
      <p:sp>
        <p:nvSpPr>
          <p:cNvPr id="12" name="explain-body">
            <a:extLst xmlns:a="http://schemas.openxmlformats.org/drawingml/2006/main">
              <a:ext uri="{FF2B5EF4-FFF2-40B4-BE49-F238E27FC236}">
                <a16:creationId xmlns:a16="http://schemas.microsoft.com/office/drawing/2014/main" id="{205E8B32-8D53-4FD2-8D97-D0C7D064EE9C}"/>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deterministic function reproduces Monday's local result. Today's genetic algorithm searches beyond that adjacent-swap trap and repeatedly reaches the known 0.0125 solution.</a:t>
            </a:r>
          </a:p>
        </p:txBody>
      </p:sp>
    </p:spTree>
    <p:extLst>
      <p:ext uri="{BB962C8B-B14F-4D97-AF65-F5344CB8AC3E}">
        <p14:creationId xmlns:p14="http://schemas.microsoft.com/office/powerpoint/2010/main" val="4303954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27B227AB-82D8-4E92-9BA1-3E68D8F8872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FROM MONDAY</a:t>
            </a:r>
          </a:p>
        </p:txBody>
      </p:sp>
      <p:sp>
        <p:nvSpPr>
          <p:cNvPr id="2" name="title">
            <a:extLst xmlns:a="http://schemas.openxmlformats.org/drawingml/2006/main">
              <a:ext uri="{FF2B5EF4-FFF2-40B4-BE49-F238E27FC236}">
                <a16:creationId xmlns:a16="http://schemas.microsoft.com/office/drawing/2014/main" id="{AE2926C9-0AF5-4910-97EB-B3265191452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GA building blocks, recapped</a:t>
            </a:r>
          </a:p>
        </p:txBody>
      </p:sp>
      <p:sp>
        <p:nvSpPr>
          <p:cNvPr id="3" name="">
            <a:extLst xmlns:a="http://schemas.openxmlformats.org/drawingml/2006/main">
              <a:ext uri="{FF2B5EF4-FFF2-40B4-BE49-F238E27FC236}">
                <a16:creationId xmlns:a16="http://schemas.microsoft.com/office/drawing/2014/main" id="{C58E7C40-7397-4FBC-9098-63A7277AD42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F8F2D06-9CB1-426A-94C7-5F698CC7FD8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6ECAE850-F308-4DBD-8BE2-6A516A49D01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left-head">
            <a:extLst xmlns:a="http://schemas.openxmlformats.org/drawingml/2006/main">
              <a:ext uri="{FF2B5EF4-FFF2-40B4-BE49-F238E27FC236}">
                <a16:creationId xmlns:a16="http://schemas.microsoft.com/office/drawing/2014/main" id="{BEBAA3B2-F0A1-4621-8373-8236097EA733}"/>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Selection + crossover</a:t>
            </a:r>
          </a:p>
        </p:txBody>
      </p:sp>
      <p:sp>
        <p:nvSpPr>
          <p:cNvPr id="7" name="left-body">
            <a:extLst xmlns:a="http://schemas.openxmlformats.org/drawingml/2006/main">
              <a:ext uri="{FF2B5EF4-FFF2-40B4-BE49-F238E27FC236}">
                <a16:creationId xmlns:a16="http://schemas.microsoft.com/office/drawing/2014/main" id="{ADC56FB1-01EE-4B1A-ACA5-1A17DCB0C521}"/>
              </a:ext>
            </a:extLst>
          </p:cNvPr>
          <p:cNvSpPr>
            <a:spLocks xmlns:a="http://schemas.openxmlformats.org/drawingml/2006/main" noGrp="1"/>
          </p:cNvSpPr>
          <p:nvPr/>
        </p:nvSpPr>
        <p:spPr>
          <a:xfrm xmlns:a="http://schemas.openxmlformats.org/drawingml/2006/main">
            <a:off x="6096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Sort the population by cost; keep the best few as SURVIVORS. Combine two survivors with order crossover — keep one parent's segment, fill the rest from the other parent's order — so every child stays a valid permutation.</a:t>
            </a:r>
          </a:p>
        </p:txBody>
      </p:sp>
      <p:sp>
        <p:nvSpPr>
          <p:cNvPr id="8" name="right-head">
            <a:extLst xmlns:a="http://schemas.openxmlformats.org/drawingml/2006/main">
              <a:ext uri="{FF2B5EF4-FFF2-40B4-BE49-F238E27FC236}">
                <a16:creationId xmlns:a16="http://schemas.microsoft.com/office/drawing/2014/main" id="{DB44C0C6-B265-43B2-8FE5-2D3622948D6D}"/>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Mutation + the loop</a:t>
            </a:r>
          </a:p>
        </p:txBody>
      </p:sp>
      <p:sp>
        <p:nvSpPr>
          <p:cNvPr id="9" name="right-body">
            <a:extLst xmlns:a="http://schemas.openxmlformats.org/drawingml/2006/main">
              <a:ext uri="{FF2B5EF4-FFF2-40B4-BE49-F238E27FC236}">
                <a16:creationId xmlns:a16="http://schemas.microsoft.com/office/drawing/2014/main" id="{DEB7117D-C6CF-4655-88B7-BC6622638872}"/>
              </a:ext>
            </a:extLst>
          </p:cNvPr>
          <p:cNvSpPr>
            <a:spLocks xmlns:a="http://schemas.openxmlformats.org/drawingml/2006/main" noGrp="1"/>
          </p:cNvSpPr>
          <p:nvPr/>
        </p:nvSpPr>
        <p:spPr>
          <a:xfrm xmlns:a="http://schemas.openxmlformats.org/drawingml/2006/main">
            <a:off x="6362700" y="321221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With some probability (mutation_rate), swap two random positions in a new child. Repeat — sort, select, crossover, mutate — for a fixed number of generations; that whole cycle is one generation.</a:t>
            </a:r>
          </a:p>
        </p:txBody>
      </p:sp>
    </p:spTree>
    <p:extLst>
      <p:ext uri="{BB962C8B-B14F-4D97-AF65-F5344CB8AC3E}">
        <p14:creationId xmlns:p14="http://schemas.microsoft.com/office/powerpoint/2010/main" val="14787254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C6EEF30-C480-4C36-8CED-74B537077F9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1A66784-F513-4BF9-B9D2-9571D7F95D5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[4] Build order_crossover</a:t>
            </a:r>
          </a:p>
        </p:txBody>
      </p:sp>
      <p:sp>
        <p:nvSpPr>
          <p:cNvPr id="3" name="">
            <a:extLst xmlns:a="http://schemas.openxmlformats.org/drawingml/2006/main">
              <a:ext uri="{FF2B5EF4-FFF2-40B4-BE49-F238E27FC236}">
                <a16:creationId xmlns:a16="http://schemas.microsoft.com/office/drawing/2014/main" id="{60FB9F5D-EC3C-4F98-9F46-6334E83D34C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487C4FE-0823-41A9-981D-6AEE54EA329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F7BC3609-3896-4F06-99EC-E8383CBF112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code-panel">
            <a:extLst xmlns:a="http://schemas.openxmlformats.org/drawingml/2006/main">
              <a:ext uri="{FF2B5EF4-FFF2-40B4-BE49-F238E27FC236}">
                <a16:creationId xmlns:a16="http://schemas.microsoft.com/office/drawing/2014/main" id="{95A91675-0895-493F-ADAF-619F67EAABB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FFB63C4A-8244-42A6-9872-5B1634CA0BD9}"/>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random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order_crossover(parent1: list, parent2: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random.Random) -&gt;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"""Keep a segment of parent1, fill from parent2."""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size = len(parent1)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 b = sorted(rng.sample(range(size),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[None] * 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child[a:b + 1] = parent1[a:b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fill = [g for g in parent2 if g not in child]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idx = 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 in range(size):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child[i] is None: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child[i] = fill[idx]</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idx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child</a:t>
            </a:r>
          </a:p>
        </p:txBody>
      </p:sp>
      <p:sp>
        <p:nvSpPr>
          <p:cNvPr id="8" name="explain-head">
            <a:extLst xmlns:a="http://schemas.openxmlformats.org/drawingml/2006/main">
              <a:ext uri="{FF2B5EF4-FFF2-40B4-BE49-F238E27FC236}">
                <a16:creationId xmlns:a16="http://schemas.microsoft.com/office/drawing/2014/main" id="{2A313CC9-5BD1-4E0C-83CE-E940DC56E259}"/>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Segment first, then fill the gaps in order</a:t>
            </a:r>
          </a:p>
        </p:txBody>
      </p:sp>
      <p:sp>
        <p:nvSpPr>
          <p:cNvPr id="9" name="explain-body">
            <a:extLst xmlns:a="http://schemas.openxmlformats.org/drawingml/2006/main">
              <a:ext uri="{FF2B5EF4-FFF2-40B4-BE49-F238E27FC236}">
                <a16:creationId xmlns:a16="http://schemas.microsoft.com/office/drawing/2014/main" id="{46CC77AA-1B6A-46D9-B0CE-78093FE7DE28}"/>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Two cut points are drawn and sorted, so a comes before b. The child starts as six None slots; parent1's segment between the cuts is copied in unchanged. fill = [g for g in parent2 if g not in child] is a LIST COMPREHENSION — 'for each gene g in parent2, keep it only if it is not already somewhere in child.' The final loop drops those into the remaining None slots, left to right. That construction is what guarantees a valid permutation, unlike the AI-drafted crossover coming later this studio.</a:t>
            </a:r>
          </a:p>
        </p:txBody>
      </p:sp>
    </p:spTree>
    <p:extLst>
      <p:ext uri="{BB962C8B-B14F-4D97-AF65-F5344CB8AC3E}">
        <p14:creationId xmlns:p14="http://schemas.microsoft.com/office/powerpoint/2010/main" val="19490767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4BBA87D6-81A4-4D63-B7AB-67409EC4D24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00D5B60-0805-4CE7-9FBD-98888A8B704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[4] continued: run one crossover and check it</a:t>
            </a:r>
          </a:p>
        </p:txBody>
      </p:sp>
      <p:sp>
        <p:nvSpPr>
          <p:cNvPr id="3" name="">
            <a:extLst xmlns:a="http://schemas.openxmlformats.org/drawingml/2006/main">
              <a:ext uri="{FF2B5EF4-FFF2-40B4-BE49-F238E27FC236}">
                <a16:creationId xmlns:a16="http://schemas.microsoft.com/office/drawing/2014/main" id="{B61B4E92-096C-452C-B928-9133FA5D94F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38BF165-91FB-46E3-8348-A3678A42DFC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50366BFA-0E2C-4B38-A381-3AE22B5A2CD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code-panel">
            <a:extLst xmlns:a="http://schemas.openxmlformats.org/drawingml/2006/main">
              <a:ext uri="{FF2B5EF4-FFF2-40B4-BE49-F238E27FC236}">
                <a16:creationId xmlns:a16="http://schemas.microsoft.com/office/drawing/2014/main" id="{3064AAF5-D00E-4DCF-8BA7-D4F2AF0DBE26}"/>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A88D1A1-42AA-422E-BDEF-FB2CF4F5A152}"/>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p1 = [0, 1, 2, 3, 4, 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p2 = [5, 4, 3, 2, 1, 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rng = random.Random(7)</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child = order_crossover(p1, p2, rng)</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print('child:', child)</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print('valid?', sorted(child) == list(range(6)))</a:t>
            </a:r>
          </a:p>
        </p:txBody>
      </p:sp>
      <p:sp>
        <p:nvSpPr>
          <p:cNvPr id="8" name="">
            <a:extLst xmlns:a="http://schemas.openxmlformats.org/drawingml/2006/main">
              <a:ext uri="{FF2B5EF4-FFF2-40B4-BE49-F238E27FC236}">
                <a16:creationId xmlns:a16="http://schemas.microsoft.com/office/drawing/2014/main" id="{38917733-AEBD-478F-8574-1D39D12DB98A}"/>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C7280A22-C7DE-4D8C-8528-E76D846D2EFD}"/>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A5928273-7A57-4D9B-BD32-0FCCF082EA5E}"/>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child: [5, 1, 2, 4, 3, 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valid? True</a:t>
            </a:r>
          </a:p>
        </p:txBody>
      </p:sp>
      <p:sp>
        <p:nvSpPr>
          <p:cNvPr id="11" name="explain-head">
            <a:extLst xmlns:a="http://schemas.openxmlformats.org/drawingml/2006/main">
              <a:ext uri="{FF2B5EF4-FFF2-40B4-BE49-F238E27FC236}">
                <a16:creationId xmlns:a16="http://schemas.microsoft.com/office/drawing/2014/main" id="{9FAD09CA-8813-4F18-B59B-4A49006281C2}"/>
              </a:ext>
            </a:extLst>
          </p:cNvPr>
          <p:cNvSpPr>
            <a:spLocks xmlns:a="http://schemas.openxmlformats.org/drawingml/2006/main" noGrp="1"/>
          </p:cNvSpPr>
          <p:nvPr/>
        </p:nvSpPr>
        <p:spPr>
          <a:xfrm xmlns:a="http://schemas.openxmlformats.org/drawingml/2006/main">
            <a:off x="7886700" y="22098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segment kept, the rest filled in order</a:t>
            </a:r>
          </a:p>
        </p:txBody>
      </p:sp>
      <p:sp>
        <p:nvSpPr>
          <p:cNvPr id="12" name="explain-body">
            <a:extLst xmlns:a="http://schemas.openxmlformats.org/drawingml/2006/main">
              <a:ext uri="{FF2B5EF4-FFF2-40B4-BE49-F238E27FC236}">
                <a16:creationId xmlns:a16="http://schemas.microsoft.com/office/drawing/2014/main" id="{82617BC2-8E9B-409D-BCC2-C60638D08893}"/>
              </a:ext>
            </a:extLst>
          </p:cNvPr>
          <p:cNvSpPr>
            <a:spLocks xmlns:a="http://schemas.openxmlformats.org/drawingml/2006/main" noGrp="1"/>
          </p:cNvSpPr>
          <p:nvPr/>
        </p:nvSpPr>
        <p:spPr>
          <a:xfrm xmlns:a="http://schemas.openxmlformats.org/drawingml/2006/main">
            <a:off x="7886700" y="2995422"/>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random.Random(7)'s 7 is a random SEED — a fixed starting number that makes this draw reproducible, so everyone in the room sees the same child. It picked cut points (1, 2), so the child keeps parent1's values there (1, 2). fill is parent2 with 1 and 2 removed — [5, 4, 3, 0] — dropped into the empty slots left to right. The last line is the check that matters: every panel index appears exactly once.</a:t>
            </a:r>
          </a:p>
        </p:txBody>
      </p:sp>
    </p:spTree>
    <p:extLst>
      <p:ext uri="{BB962C8B-B14F-4D97-AF65-F5344CB8AC3E}">
        <p14:creationId xmlns:p14="http://schemas.microsoft.com/office/powerpoint/2010/main" val="11484980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358FD47F-0E7B-4739-BB16-15DD3391659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FROM CELL [4]</a:t>
            </a:r>
          </a:p>
        </p:txBody>
      </p:sp>
      <p:sp>
        <p:nvSpPr>
          <p:cNvPr id="2" name="title">
            <a:extLst xmlns:a="http://schemas.openxmlformats.org/drawingml/2006/main">
              <a:ext uri="{FF2B5EF4-FFF2-40B4-BE49-F238E27FC236}">
                <a16:creationId xmlns:a16="http://schemas.microsoft.com/office/drawing/2014/main" id="{CA9303AF-57F1-423A-99EC-CA3A96CBB68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Anatomy: the line every hand-trace depends on</a:t>
            </a:r>
          </a:p>
        </p:txBody>
      </p:sp>
      <p:sp>
        <p:nvSpPr>
          <p:cNvPr id="3" name="">
            <a:extLst xmlns:a="http://schemas.openxmlformats.org/drawingml/2006/main">
              <a:ext uri="{FF2B5EF4-FFF2-40B4-BE49-F238E27FC236}">
                <a16:creationId xmlns:a16="http://schemas.microsoft.com/office/drawing/2014/main" id="{6812F7AD-983E-40DD-B8ED-151726D464D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B30DBE7-3B80-4CC3-85E8-781543F3987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446121BC-E6B5-444B-8E1E-418FF7166E9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anatomy-code-panel">
            <a:extLst xmlns:a="http://schemas.openxmlformats.org/drawingml/2006/main">
              <a:ext uri="{FF2B5EF4-FFF2-40B4-BE49-F238E27FC236}">
                <a16:creationId xmlns:a16="http://schemas.microsoft.com/office/drawing/2014/main" id="{A98F4770-6217-4AFB-93AC-C65FB64C2CD7}"/>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A32F5313-34AC-4053-95F9-3FA810E5CD44}"/>
              </a:ext>
            </a:extLst>
          </p:cNvPr>
          <p:cNvSpPr>
            <a:spLocks xmlns:a="http://schemas.openxmlformats.org/drawingml/2006/main" noGrp="1"/>
          </p:cNvSpPr>
          <p:nvPr/>
        </p:nvSpPr>
        <p:spPr>
          <a:xfrm xmlns:a="http://schemas.openxmlformats.org/drawingml/2006/main">
            <a:off x="2638425" y="2057400"/>
            <a:ext cx="729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child[a:b + 1] = parent1[a:b + 1]</a:t>
            </a:r>
          </a:p>
        </p:txBody>
      </p:sp>
      <p:sp>
        <p:nvSpPr>
          <p:cNvPr id="8" name="">
            <a:extLst xmlns:a="http://schemas.openxmlformats.org/drawingml/2006/main">
              <a:ext uri="{FF2B5EF4-FFF2-40B4-BE49-F238E27FC236}">
                <a16:creationId xmlns:a16="http://schemas.microsoft.com/office/drawing/2014/main" id="{C7432BB7-6363-4137-AA9D-B6AB07E863CE}"/>
              </a:ext>
            </a:extLst>
          </p:cNvPr>
          <p:cNvSpPr>
            <a:spLocks xmlns:a="http://schemas.openxmlformats.org/drawingml/2006/main" noGrp="1"/>
          </p:cNvSpPr>
          <p:nvPr/>
        </p:nvSpPr>
        <p:spPr>
          <a:xfrm xmlns:a="http://schemas.openxmlformats.org/drawingml/2006/main">
            <a:off x="2638425" y="2647950"/>
            <a:ext cx="1047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953EB472-59D1-45D3-956D-3B107505BBAB}"/>
              </a:ext>
            </a:extLst>
          </p:cNvPr>
          <p:cNvSpPr>
            <a:spLocks xmlns:a="http://schemas.openxmlformats.org/drawingml/2006/main" noGrp="1"/>
          </p:cNvSpPr>
          <p:nvPr/>
        </p:nvSpPr>
        <p:spPr>
          <a:xfrm xmlns:a="http://schemas.openxmlformats.org/drawingml/2006/main">
            <a:off x="30384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B69F75CE-6E60-48C8-B8BF-476C39924674}"/>
              </a:ext>
            </a:extLst>
          </p:cNvPr>
          <p:cNvSpPr>
            <a:spLocks xmlns:a="http://schemas.openxmlformats.org/drawingml/2006/main" noGrp="1"/>
          </p:cNvSpPr>
          <p:nvPr/>
        </p:nvSpPr>
        <p:spPr>
          <a:xfrm xmlns:a="http://schemas.openxmlformats.org/drawingml/2006/main">
            <a:off x="30384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B73AB2B5-8B82-45B5-8372-95931C4616DC}"/>
              </a:ext>
            </a:extLst>
          </p:cNvPr>
          <p:cNvSpPr>
            <a:spLocks xmlns:a="http://schemas.openxmlformats.org/drawingml/2006/main" noGrp="1"/>
          </p:cNvSpPr>
          <p:nvPr/>
        </p:nvSpPr>
        <p:spPr>
          <a:xfrm xmlns:a="http://schemas.openxmlformats.org/drawingml/2006/main">
            <a:off x="19240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9391A735-8C88-45BD-ADA7-D5EDF98695AD}"/>
              </a:ext>
            </a:extLst>
          </p:cNvPr>
          <p:cNvSpPr>
            <a:spLocks xmlns:a="http://schemas.openxmlformats.org/drawingml/2006/main" noGrp="1"/>
          </p:cNvSpPr>
          <p:nvPr/>
        </p:nvSpPr>
        <p:spPr>
          <a:xfrm xmlns:a="http://schemas.openxmlformats.org/drawingml/2006/main">
            <a:off x="19240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1D628FEB-A2C0-4BAF-88C7-101CC4633816}"/>
              </a:ext>
            </a:extLst>
          </p:cNvPr>
          <p:cNvSpPr>
            <a:spLocks xmlns:a="http://schemas.openxmlformats.org/drawingml/2006/main" noGrp="1"/>
          </p:cNvSpPr>
          <p:nvPr/>
        </p:nvSpPr>
        <p:spPr>
          <a:xfrm xmlns:a="http://schemas.openxmlformats.org/drawingml/2006/main">
            <a:off x="2228850"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child being built</a:t>
            </a:r>
          </a:p>
        </p:txBody>
      </p:sp>
      <p:sp>
        <p:nvSpPr>
          <p:cNvPr id="14" name="part-body-0">
            <a:extLst xmlns:a="http://schemas.openxmlformats.org/drawingml/2006/main">
              <a:ext uri="{FF2B5EF4-FFF2-40B4-BE49-F238E27FC236}">
                <a16:creationId xmlns:a16="http://schemas.microsoft.com/office/drawing/2014/main" id="{E294631D-4F85-4F6A-BA1F-C2F2E4D66A1B}"/>
              </a:ext>
            </a:extLst>
          </p:cNvPr>
          <p:cNvSpPr>
            <a:spLocks xmlns:a="http://schemas.openxmlformats.org/drawingml/2006/main" noGrp="1"/>
          </p:cNvSpPr>
          <p:nvPr/>
        </p:nvSpPr>
        <p:spPr>
          <a:xfrm xmlns:a="http://schemas.openxmlformats.org/drawingml/2006/main">
            <a:off x="1924050" y="3637026"/>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Starts as [None] * 6 above; this line fills part of it.</a:t>
            </a:r>
          </a:p>
        </p:txBody>
      </p:sp>
      <p:sp>
        <p:nvSpPr>
          <p:cNvPr id="15" name="">
            <a:extLst xmlns:a="http://schemas.openxmlformats.org/drawingml/2006/main">
              <a:ext uri="{FF2B5EF4-FFF2-40B4-BE49-F238E27FC236}">
                <a16:creationId xmlns:a16="http://schemas.microsoft.com/office/drawing/2014/main" id="{EB24EE8E-0C79-44EA-B851-5F369523298E}"/>
              </a:ext>
            </a:extLst>
          </p:cNvPr>
          <p:cNvSpPr>
            <a:spLocks xmlns:a="http://schemas.openxmlformats.org/drawingml/2006/main" noGrp="1"/>
          </p:cNvSpPr>
          <p:nvPr/>
        </p:nvSpPr>
        <p:spPr>
          <a:xfrm xmlns:a="http://schemas.openxmlformats.org/drawingml/2006/main">
            <a:off x="3895725"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029DED45-DEF4-43D4-97B1-0210EC7FDE7E}"/>
              </a:ext>
            </a:extLst>
          </p:cNvPr>
          <p:cNvSpPr>
            <a:spLocks xmlns:a="http://schemas.openxmlformats.org/drawingml/2006/main" noGrp="1"/>
          </p:cNvSpPr>
          <p:nvPr/>
        </p:nvSpPr>
        <p:spPr>
          <a:xfrm xmlns:a="http://schemas.openxmlformats.org/drawingml/2006/main">
            <a:off x="45053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4C681BC0-E04F-4B83-836A-3F1C2ECA97F0}"/>
              </a:ext>
            </a:extLst>
          </p:cNvPr>
          <p:cNvSpPr>
            <a:spLocks xmlns:a="http://schemas.openxmlformats.org/drawingml/2006/main" noGrp="1"/>
          </p:cNvSpPr>
          <p:nvPr/>
        </p:nvSpPr>
        <p:spPr>
          <a:xfrm xmlns:a="http://schemas.openxmlformats.org/drawingml/2006/main">
            <a:off x="45053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945FFF3F-94AF-483C-B397-D85180F34601}"/>
              </a:ext>
            </a:extLst>
          </p:cNvPr>
          <p:cNvSpPr>
            <a:spLocks xmlns:a="http://schemas.openxmlformats.org/drawingml/2006/main" noGrp="1"/>
          </p:cNvSpPr>
          <p:nvPr/>
        </p:nvSpPr>
        <p:spPr>
          <a:xfrm xmlns:a="http://schemas.openxmlformats.org/drawingml/2006/main">
            <a:off x="3629025" y="4319778"/>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DE6CF5FA-745E-405F-B51B-0A7288635CAA}"/>
              </a:ext>
            </a:extLst>
          </p:cNvPr>
          <p:cNvSpPr>
            <a:spLocks xmlns:a="http://schemas.openxmlformats.org/drawingml/2006/main" noGrp="1"/>
          </p:cNvSpPr>
          <p:nvPr/>
        </p:nvSpPr>
        <p:spPr>
          <a:xfrm xmlns:a="http://schemas.openxmlformats.org/drawingml/2006/main">
            <a:off x="3629025" y="4357878"/>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D19F2BBE-32C3-4980-BE07-0C77067F2369}"/>
              </a:ext>
            </a:extLst>
          </p:cNvPr>
          <p:cNvSpPr>
            <a:spLocks xmlns:a="http://schemas.openxmlformats.org/drawingml/2006/main" noGrp="1"/>
          </p:cNvSpPr>
          <p:nvPr/>
        </p:nvSpPr>
        <p:spPr>
          <a:xfrm xmlns:a="http://schemas.openxmlformats.org/drawingml/2006/main">
            <a:off x="3933825" y="4300728"/>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Cut points a, b</a:t>
            </a:r>
          </a:p>
        </p:txBody>
      </p:sp>
      <p:sp>
        <p:nvSpPr>
          <p:cNvPr id="21" name="part-body-1">
            <a:extLst xmlns:a="http://schemas.openxmlformats.org/drawingml/2006/main">
              <a:ext uri="{FF2B5EF4-FFF2-40B4-BE49-F238E27FC236}">
                <a16:creationId xmlns:a16="http://schemas.microsoft.com/office/drawing/2014/main" id="{67467E32-71CC-49D4-A01E-A6EF39F42944}"/>
              </a:ext>
            </a:extLst>
          </p:cNvPr>
          <p:cNvSpPr>
            <a:spLocks xmlns:a="http://schemas.openxmlformats.org/drawingml/2006/main" noGrp="1"/>
          </p:cNvSpPr>
          <p:nvPr/>
        </p:nvSpPr>
        <p:spPr>
          <a:xfrm xmlns:a="http://schemas.openxmlformats.org/drawingml/2006/main">
            <a:off x="3629025" y="4927854"/>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Chosen just above by rng.sample(...) — the SAME a, b on both sides.</a:t>
            </a:r>
          </a:p>
        </p:txBody>
      </p:sp>
      <p:sp>
        <p:nvSpPr>
          <p:cNvPr id="22" name="">
            <a:extLst xmlns:a="http://schemas.openxmlformats.org/drawingml/2006/main">
              <a:ext uri="{FF2B5EF4-FFF2-40B4-BE49-F238E27FC236}">
                <a16:creationId xmlns:a16="http://schemas.microsoft.com/office/drawing/2014/main" id="{AC99C713-025D-4552-AA49-8AA582707B2E}"/>
              </a:ext>
            </a:extLst>
          </p:cNvPr>
          <p:cNvSpPr>
            <a:spLocks xmlns:a="http://schemas.openxmlformats.org/drawingml/2006/main" noGrp="1"/>
          </p:cNvSpPr>
          <p:nvPr/>
        </p:nvSpPr>
        <p:spPr>
          <a:xfrm xmlns:a="http://schemas.openxmlformats.org/drawingml/2006/main">
            <a:off x="6200775"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7EAA7909-7EF3-4DC4-887D-7C4CBBDE0673}"/>
              </a:ext>
            </a:extLst>
          </p:cNvPr>
          <p:cNvSpPr>
            <a:spLocks xmlns:a="http://schemas.openxmlformats.org/drawingml/2006/main" noGrp="1"/>
          </p:cNvSpPr>
          <p:nvPr/>
        </p:nvSpPr>
        <p:spPr>
          <a:xfrm xmlns:a="http://schemas.openxmlformats.org/drawingml/2006/main">
            <a:off x="68103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E43E73E4-00D4-4BDD-9E19-A44306BB6372}"/>
              </a:ext>
            </a:extLst>
          </p:cNvPr>
          <p:cNvSpPr>
            <a:spLocks xmlns:a="http://schemas.openxmlformats.org/drawingml/2006/main" noGrp="1"/>
          </p:cNvSpPr>
          <p:nvPr/>
        </p:nvSpPr>
        <p:spPr>
          <a:xfrm xmlns:a="http://schemas.openxmlformats.org/drawingml/2006/main">
            <a:off x="68103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8CB0ADF6-A1C6-4175-BD92-00D5EDE9E388}"/>
              </a:ext>
            </a:extLst>
          </p:cNvPr>
          <p:cNvSpPr>
            <a:spLocks xmlns:a="http://schemas.openxmlformats.org/drawingml/2006/main" noGrp="1"/>
          </p:cNvSpPr>
          <p:nvPr/>
        </p:nvSpPr>
        <p:spPr>
          <a:xfrm xmlns:a="http://schemas.openxmlformats.org/drawingml/2006/main">
            <a:off x="593407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DF3C39E5-ADCC-483A-B713-04697A1E62DF}"/>
              </a:ext>
            </a:extLst>
          </p:cNvPr>
          <p:cNvSpPr>
            <a:spLocks xmlns:a="http://schemas.openxmlformats.org/drawingml/2006/main" noGrp="1"/>
          </p:cNvSpPr>
          <p:nvPr/>
        </p:nvSpPr>
        <p:spPr>
          <a:xfrm xmlns:a="http://schemas.openxmlformats.org/drawingml/2006/main">
            <a:off x="593407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F393E11C-E63E-4ECF-946A-86B26BAFA8D4}"/>
              </a:ext>
            </a:extLst>
          </p:cNvPr>
          <p:cNvSpPr>
            <a:spLocks xmlns:a="http://schemas.openxmlformats.org/drawingml/2006/main" noGrp="1"/>
          </p:cNvSpPr>
          <p:nvPr/>
        </p:nvSpPr>
        <p:spPr>
          <a:xfrm xmlns:a="http://schemas.openxmlformats.org/drawingml/2006/main">
            <a:off x="6238875"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Segment source</a:t>
            </a:r>
          </a:p>
        </p:txBody>
      </p:sp>
      <p:sp>
        <p:nvSpPr>
          <p:cNvPr id="28" name="part-body-2">
            <a:extLst xmlns:a="http://schemas.openxmlformats.org/drawingml/2006/main">
              <a:ext uri="{FF2B5EF4-FFF2-40B4-BE49-F238E27FC236}">
                <a16:creationId xmlns:a16="http://schemas.microsoft.com/office/drawing/2014/main" id="{19EC1293-35CE-4B40-B167-9929EF983396}"/>
              </a:ext>
            </a:extLst>
          </p:cNvPr>
          <p:cNvSpPr>
            <a:spLocks xmlns:a="http://schemas.openxmlformats.org/drawingml/2006/main" noGrp="1"/>
          </p:cNvSpPr>
          <p:nvPr/>
        </p:nvSpPr>
        <p:spPr>
          <a:xfrm xmlns:a="http://schemas.openxmlformats.org/drawingml/2006/main">
            <a:off x="5934075" y="3637026"/>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This parent gives one unbroken segment, copied as-is.</a:t>
            </a:r>
          </a:p>
        </p:txBody>
      </p:sp>
      <p:sp>
        <p:nvSpPr>
          <p:cNvPr id="29" name="">
            <a:extLst xmlns:a="http://schemas.openxmlformats.org/drawingml/2006/main">
              <a:ext uri="{FF2B5EF4-FFF2-40B4-BE49-F238E27FC236}">
                <a16:creationId xmlns:a16="http://schemas.microsoft.com/office/drawing/2014/main" id="{9A528298-4DE4-4B27-A487-C1418B8C96FD}"/>
              </a:ext>
            </a:extLst>
          </p:cNvPr>
          <p:cNvSpPr>
            <a:spLocks xmlns:a="http://schemas.openxmlformats.org/drawingml/2006/main" noGrp="1"/>
          </p:cNvSpPr>
          <p:nvPr/>
        </p:nvSpPr>
        <p:spPr>
          <a:xfrm xmlns:a="http://schemas.openxmlformats.org/drawingml/2006/main">
            <a:off x="7877175"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2AFEA5F6-E0B1-4623-940F-DA241CD95019}"/>
              </a:ext>
            </a:extLst>
          </p:cNvPr>
          <p:cNvSpPr>
            <a:spLocks xmlns:a="http://schemas.openxmlformats.org/drawingml/2006/main" noGrp="1"/>
          </p:cNvSpPr>
          <p:nvPr/>
        </p:nvSpPr>
        <p:spPr>
          <a:xfrm xmlns:a="http://schemas.openxmlformats.org/drawingml/2006/main">
            <a:off x="84867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20A5D17E-F15A-4727-8842-18F7E70CF7E0}"/>
              </a:ext>
            </a:extLst>
          </p:cNvPr>
          <p:cNvSpPr>
            <a:spLocks xmlns:a="http://schemas.openxmlformats.org/drawingml/2006/main" noGrp="1"/>
          </p:cNvSpPr>
          <p:nvPr/>
        </p:nvSpPr>
        <p:spPr>
          <a:xfrm xmlns:a="http://schemas.openxmlformats.org/drawingml/2006/main">
            <a:off x="84867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8DD0F1E8-CF91-4D24-AA33-470F4F4D5518}"/>
              </a:ext>
            </a:extLst>
          </p:cNvPr>
          <p:cNvSpPr>
            <a:spLocks xmlns:a="http://schemas.openxmlformats.org/drawingml/2006/main" noGrp="1"/>
          </p:cNvSpPr>
          <p:nvPr/>
        </p:nvSpPr>
        <p:spPr>
          <a:xfrm xmlns:a="http://schemas.openxmlformats.org/drawingml/2006/main">
            <a:off x="7610475" y="4319778"/>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34699324-D834-4FA4-8427-D71356909141}"/>
              </a:ext>
            </a:extLst>
          </p:cNvPr>
          <p:cNvSpPr>
            <a:spLocks xmlns:a="http://schemas.openxmlformats.org/drawingml/2006/main" noGrp="1"/>
          </p:cNvSpPr>
          <p:nvPr/>
        </p:nvSpPr>
        <p:spPr>
          <a:xfrm xmlns:a="http://schemas.openxmlformats.org/drawingml/2006/main">
            <a:off x="7610475" y="4357878"/>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0869BC05-BA83-41C6-8EBB-AD19156CAFAD}"/>
              </a:ext>
            </a:extLst>
          </p:cNvPr>
          <p:cNvSpPr>
            <a:spLocks xmlns:a="http://schemas.openxmlformats.org/drawingml/2006/main" noGrp="1"/>
          </p:cNvSpPr>
          <p:nvPr/>
        </p:nvSpPr>
        <p:spPr>
          <a:xfrm xmlns:a="http://schemas.openxmlformats.org/drawingml/2006/main">
            <a:off x="7915275" y="4300728"/>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Source side</a:t>
            </a:r>
          </a:p>
        </p:txBody>
      </p:sp>
      <p:sp>
        <p:nvSpPr>
          <p:cNvPr id="35" name="part-body-3">
            <a:extLst xmlns:a="http://schemas.openxmlformats.org/drawingml/2006/main">
              <a:ext uri="{FF2B5EF4-FFF2-40B4-BE49-F238E27FC236}">
                <a16:creationId xmlns:a16="http://schemas.microsoft.com/office/drawing/2014/main" id="{28B55C29-15EC-4358-A613-93CCE85282B4}"/>
              </a:ext>
            </a:extLst>
          </p:cNvPr>
          <p:cNvSpPr>
            <a:spLocks xmlns:a="http://schemas.openxmlformats.org/drawingml/2006/main" noGrp="1"/>
          </p:cNvSpPr>
          <p:nvPr/>
        </p:nvSpPr>
        <p:spPr>
          <a:xfrm xmlns:a="http://schemas.openxmlformats.org/drawingml/2006/main">
            <a:off x="7610475" y="4680966"/>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The repeated a:b + 1 pulls the matching segment from parent1.</a:t>
            </a:r>
          </a:p>
        </p:txBody>
      </p:sp>
    </p:spTree>
    <p:extLst>
      <p:ext uri="{BB962C8B-B14F-4D97-AF65-F5344CB8AC3E}">
        <p14:creationId xmlns:p14="http://schemas.microsoft.com/office/powerpoint/2010/main" val="3629514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C1ABB0BD-BE23-49BC-BBD9-A58A801CA14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5E5B3E34-493C-46E8-99E2-523EBED1EF9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[5] Build swap_mutation</a:t>
            </a:r>
          </a:p>
        </p:txBody>
      </p:sp>
      <p:sp>
        <p:nvSpPr>
          <p:cNvPr id="3" name="">
            <a:extLst xmlns:a="http://schemas.openxmlformats.org/drawingml/2006/main">
              <a:ext uri="{FF2B5EF4-FFF2-40B4-BE49-F238E27FC236}">
                <a16:creationId xmlns:a16="http://schemas.microsoft.com/office/drawing/2014/main" id="{E214E91E-D678-4DF8-9C22-BED819C3699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A6C0CB0-89A6-47F8-8ABD-0D17ED37DAD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85FEBF7D-9E90-4220-9B3B-1F601D996B4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code-panel">
            <a:extLst xmlns:a="http://schemas.openxmlformats.org/drawingml/2006/main">
              <a:ext uri="{FF2B5EF4-FFF2-40B4-BE49-F238E27FC236}">
                <a16:creationId xmlns:a16="http://schemas.microsoft.com/office/drawing/2014/main" id="{E32F3FF5-FF71-463B-A086-21FA2E9F642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5CDB41B-C162-4994-8902-0CC1A32E40D9}"/>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swap_mutation(perm: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random.Random) -&gt;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"""Swap two random positions in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perm =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 j = rng.sample(range(len(perm)),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perm[i], perm[j] = perm[j], perm[i]</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perm</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child = [5, 1, 2, 4, 3, 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rng2 = random.Random(3)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mutated = swap_mutation(child, rng2)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print(mutated, sorted(mutated) == list(range(6)))</a:t>
            </a:r>
          </a:p>
        </p:txBody>
      </p:sp>
      <p:sp>
        <p:nvSpPr>
          <p:cNvPr id="8" name="">
            <a:extLst xmlns:a="http://schemas.openxmlformats.org/drawingml/2006/main">
              <a:ext uri="{FF2B5EF4-FFF2-40B4-BE49-F238E27FC236}">
                <a16:creationId xmlns:a16="http://schemas.microsoft.com/office/drawing/2014/main" id="{E6CA16AE-4D5A-42B6-8CC4-8908AF4B44C4}"/>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A2541C08-EB09-4EE8-994C-8D242B0CE0BA}"/>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A3880B25-B621-441D-889C-EBCC39725105}"/>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[5, 3, 2, 4, 1, 0] True</a:t>
            </a:r>
          </a:p>
        </p:txBody>
      </p:sp>
      <p:sp>
        <p:nvSpPr>
          <p:cNvPr id="11" name="explain-head">
            <a:extLst xmlns:a="http://schemas.openxmlformats.org/drawingml/2006/main">
              <a:ext uri="{FF2B5EF4-FFF2-40B4-BE49-F238E27FC236}">
                <a16:creationId xmlns:a16="http://schemas.microsoft.com/office/drawing/2014/main" id="{2A43A906-ADB8-4AC2-8B52-F99C2966E0E5}"/>
              </a:ext>
            </a:extLst>
          </p:cNvPr>
          <p:cNvSpPr>
            <a:spLocks xmlns:a="http://schemas.openxmlformats.org/drawingml/2006/main" noGrp="1"/>
          </p:cNvSpPr>
          <p:nvPr/>
        </p:nvSpPr>
        <p:spPr>
          <a:xfrm xmlns:a="http://schemas.openxmlformats.org/drawingml/2006/main">
            <a:off x="7886700" y="22860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swap, still a valid permutation</a:t>
            </a:r>
          </a:p>
        </p:txBody>
      </p:sp>
      <p:sp>
        <p:nvSpPr>
          <p:cNvPr id="12" name="explain-body">
            <a:extLst xmlns:a="http://schemas.openxmlformats.org/drawingml/2006/main">
              <a:ext uri="{FF2B5EF4-FFF2-40B4-BE49-F238E27FC236}">
                <a16:creationId xmlns:a16="http://schemas.microsoft.com/office/drawing/2014/main" id="{46266160-0356-4C98-8CF8-E0415B4F3E27}"/>
              </a:ext>
            </a:extLst>
          </p:cNvPr>
          <p:cNvSpPr>
            <a:spLocks xmlns:a="http://schemas.openxmlformats.org/drawingml/2006/main" noGrp="1"/>
          </p:cNvSpPr>
          <p:nvPr/>
        </p:nvSpPr>
        <p:spPr>
          <a:xfrm xmlns:a="http://schemas.openxmlformats.org/drawingml/2006/main">
            <a:off x="7886700" y="3071622"/>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rng2 picked positions (1, 4); swapping them turns [5,1,2,4,3,0] into [5,3,2,4,1,0] — still six distinct panel indices, just two of them exchanged, which the printed True confirms. perm = perm[:] copies first, so the caller's list is never modified. rng.sample always returns two DISTINCT positions, so the swap is never a silent no-op, and a swap can never create a duplicate or a gap.</a:t>
            </a:r>
          </a:p>
        </p:txBody>
      </p:sp>
    </p:spTree>
    <p:extLst>
      <p:ext uri="{BB962C8B-B14F-4D97-AF65-F5344CB8AC3E}">
        <p14:creationId xmlns:p14="http://schemas.microsoft.com/office/powerpoint/2010/main" val="7945315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F8FEAAFD-15F7-4E15-A40F-58774467B70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4540B289-B0F6-4E3A-8EAD-1087DA18D1E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3: trace crossover and mutation by hand</a:t>
            </a:r>
          </a:p>
        </p:txBody>
      </p:sp>
      <p:sp>
        <p:nvSpPr>
          <p:cNvPr id="3" name="">
            <a:extLst xmlns:a="http://schemas.openxmlformats.org/drawingml/2006/main">
              <a:ext uri="{FF2B5EF4-FFF2-40B4-BE49-F238E27FC236}">
                <a16:creationId xmlns:a16="http://schemas.microsoft.com/office/drawing/2014/main" id="{29CE4491-F57F-4BDE-8BDC-A28BC61B36E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4270CAC-796A-44DB-88B1-AA9088A0DC7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8A42D245-4201-417B-B335-A8E80A45EC9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exercise-accent">
            <a:extLst xmlns:a="http://schemas.openxmlformats.org/drawingml/2006/main">
              <a:ext uri="{FF2B5EF4-FFF2-40B4-BE49-F238E27FC236}">
                <a16:creationId xmlns:a16="http://schemas.microsoft.com/office/drawing/2014/main" id="{C8822B89-5D2F-4599-A9E0-8756CC7F5557}"/>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E0B24DEB-A41A-474F-9669-22D9F9D73CD8}"/>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Before trusting cells [4]-[5], prove you can trace them on paper.</a:t>
            </a:r>
          </a:p>
        </p:txBody>
      </p:sp>
      <p:sp>
        <p:nvSpPr>
          <p:cNvPr id="8" name="work-label">
            <a:extLst xmlns:a="http://schemas.openxmlformats.org/drawingml/2006/main">
              <a:ext uri="{FF2B5EF4-FFF2-40B4-BE49-F238E27FC236}">
                <a16:creationId xmlns:a16="http://schemas.microsoft.com/office/drawing/2014/main" id="{C2AA4A6F-5286-4CD7-B89E-25AD647B49B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0E210E73-7DF4-4343-903A-D493929E22C4}"/>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3BE79964-B55B-4D4E-B353-67BA7F255D6D}"/>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By hand, apply order_crossover with cut points (1, 2) to parent1=[0,1,2,3,4,5], parent2=[5,4,3,2,1,0].</a:t>
            </a:r>
          </a:p>
        </p:txBody>
      </p:sp>
      <p:sp>
        <p:nvSpPr>
          <p:cNvPr id="11" name="exercise-no-1">
            <a:extLst xmlns:a="http://schemas.openxmlformats.org/drawingml/2006/main">
              <a:ext uri="{FF2B5EF4-FFF2-40B4-BE49-F238E27FC236}">
                <a16:creationId xmlns:a16="http://schemas.microsoft.com/office/drawing/2014/main" id="{87F32264-4DB6-4816-8363-592F5DBAC112}"/>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8ABF4DA5-D54D-4D87-B4A2-9C5AE666DA80}"/>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your hand-traced child matches [5, 1, 2, 4, 3, 0].</a:t>
            </a:r>
          </a:p>
        </p:txBody>
      </p:sp>
      <p:sp>
        <p:nvSpPr>
          <p:cNvPr id="13" name="exercise-no-2">
            <a:extLst xmlns:a="http://schemas.openxmlformats.org/drawingml/2006/main">
              <a:ext uri="{FF2B5EF4-FFF2-40B4-BE49-F238E27FC236}">
                <a16:creationId xmlns:a16="http://schemas.microsoft.com/office/drawing/2014/main" id="{EF70AB26-8CCA-4BC6-9CCD-812064B7333F}"/>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CFE4EAEA-15D8-41E4-A807-CB78BB3D3F73}"/>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By hand, swap positions 1 and 4 in that child.</a:t>
            </a:r>
          </a:p>
        </p:txBody>
      </p:sp>
      <p:sp>
        <p:nvSpPr>
          <p:cNvPr id="15" name="exercise-no-3">
            <a:extLst xmlns:a="http://schemas.openxmlformats.org/drawingml/2006/main">
              <a:ext uri="{FF2B5EF4-FFF2-40B4-BE49-F238E27FC236}">
                <a16:creationId xmlns:a16="http://schemas.microsoft.com/office/drawing/2014/main" id="{00784BF5-2702-4E2B-AF16-BD45F2CAEFE9}"/>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DA851206-E33E-4FFE-8B32-56EB44ACF995}"/>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your result matches [5, 3, 2, 4, 1, 0].</a:t>
            </a:r>
          </a:p>
        </p:txBody>
      </p:sp>
    </p:spTree>
    <p:extLst>
      <p:ext uri="{BB962C8B-B14F-4D97-AF65-F5344CB8AC3E}">
        <p14:creationId xmlns:p14="http://schemas.microsoft.com/office/powerpoint/2010/main" val="717663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kicker">
            <a:extLst xmlns:a="http://schemas.openxmlformats.org/drawingml/2006/main">
              <a:ext uri="{FF2B5EF4-FFF2-40B4-BE49-F238E27FC236}">
                <a16:creationId xmlns:a16="http://schemas.microsoft.com/office/drawing/2014/main" id="{4AE42531-0074-44F2-B893-608DCDB3A47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2A9F048D-9A70-4DA1-AD40-10F614C3CDB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does building it yourself change the answer?</a:t>
            </a:r>
          </a:p>
        </p:txBody>
      </p:sp>
      <p:sp>
        <p:nvSpPr>
          <p:cNvPr id="3" name="">
            <a:extLst xmlns:a="http://schemas.openxmlformats.org/drawingml/2006/main">
              <a:ext uri="{FF2B5EF4-FFF2-40B4-BE49-F238E27FC236}">
                <a16:creationId xmlns:a16="http://schemas.microsoft.com/office/drawing/2014/main" id="{0B1F1C5F-1347-4C7B-AD53-4A11393A47C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6BAA3E8-0B08-41F9-9275-A7B0DD05124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70859310-ECA5-4E34-A07B-D9DB9C2F7FE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26CF3EE7-3562-475F-AF5F-C937D9F02740}"/>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DA22E15-7AAF-4A25-A3C6-F865F287CC38}"/>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best = genetic_algorithm(seed=1)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print('best permutation:', best, 'cost:', round(cost(best), 4))</a:t>
            </a:r>
          </a:p>
        </p:txBody>
      </p:sp>
      <p:sp>
        <p:nvSpPr>
          <p:cNvPr id="8" name="question">
            <a:extLst xmlns:a="http://schemas.openxmlformats.org/drawingml/2006/main">
              <a:ext uri="{FF2B5EF4-FFF2-40B4-BE49-F238E27FC236}">
                <a16:creationId xmlns:a16="http://schemas.microsoft.com/office/drawing/2014/main" id="{B10E7881-1C19-486A-BE33-D2AF81DB23BA}"/>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You built both functions. Does seed=1 still reach 0.0125?</a:t>
            </a:r>
          </a:p>
        </p:txBody>
      </p:sp>
      <p:sp>
        <p:nvSpPr>
          <p:cNvPr id="9" name="opt-0">
            <a:extLst xmlns:a="http://schemas.openxmlformats.org/drawingml/2006/main">
              <a:ext uri="{FF2B5EF4-FFF2-40B4-BE49-F238E27FC236}">
                <a16:creationId xmlns:a16="http://schemas.microsoft.com/office/drawing/2014/main" id="{24BF133C-C79A-4B4F-A616-F2459B63D51F}"/>
              </a:ext>
            </a:extLst>
          </p:cNvPr>
          <p:cNvSpPr>
            <a:spLocks xmlns:a="http://schemas.openxmlformats.org/drawingml/2006/main" noGrp="1"/>
          </p:cNvSpPr>
          <p:nvPr/>
        </p:nvSpPr>
        <p:spPr>
          <a:xfrm xmlns:a="http://schemas.openxmlformats.org/drawingml/2006/main">
            <a:off x="7315200" y="27881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8119458D-99BB-4E00-AA7D-342CCF9EF322}"/>
              </a:ext>
            </a:extLst>
          </p:cNvPr>
          <p:cNvSpPr>
            <a:spLocks xmlns:a="http://schemas.openxmlformats.org/drawingml/2006/main" noGrp="1"/>
          </p:cNvSpPr>
          <p:nvPr/>
        </p:nvSpPr>
        <p:spPr>
          <a:xfrm xmlns:a="http://schemas.openxmlformats.org/drawingml/2006/main">
            <a:off x="7448550" y="28738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888F13B4-143D-45DF-821E-E9D88BE26AE0}"/>
              </a:ext>
            </a:extLst>
          </p:cNvPr>
          <p:cNvSpPr>
            <a:spLocks xmlns:a="http://schemas.openxmlformats.org/drawingml/2006/main" noGrp="1"/>
          </p:cNvSpPr>
          <p:nvPr/>
        </p:nvSpPr>
        <p:spPr>
          <a:xfrm xmlns:a="http://schemas.openxmlformats.org/drawingml/2006/main">
            <a:off x="7772400" y="28262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a hand-built version will drift a little from Monday's demo.</a:t>
            </a:r>
          </a:p>
        </p:txBody>
      </p:sp>
      <p:sp>
        <p:nvSpPr>
          <p:cNvPr id="12" name="opt-1">
            <a:extLst xmlns:a="http://schemas.openxmlformats.org/drawingml/2006/main">
              <a:ext uri="{FF2B5EF4-FFF2-40B4-BE49-F238E27FC236}">
                <a16:creationId xmlns:a16="http://schemas.microsoft.com/office/drawing/2014/main" id="{EED087E9-E9DE-4132-B3B4-A5040D141F80}"/>
              </a:ext>
            </a:extLst>
          </p:cNvPr>
          <p:cNvSpPr>
            <a:spLocks xmlns:a="http://schemas.openxmlformats.org/drawingml/2006/main" noGrp="1"/>
          </p:cNvSpPr>
          <p:nvPr/>
        </p:nvSpPr>
        <p:spPr>
          <a:xfrm xmlns:a="http://schemas.openxmlformats.org/drawingml/2006/main">
            <a:off x="7315200" y="32453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205447A7-3CAE-4309-B313-CFBDC053CD19}"/>
              </a:ext>
            </a:extLst>
          </p:cNvPr>
          <p:cNvSpPr>
            <a:spLocks xmlns:a="http://schemas.openxmlformats.org/drawingml/2006/main" noGrp="1"/>
          </p:cNvSpPr>
          <p:nvPr/>
        </p:nvSpPr>
        <p:spPr>
          <a:xfrm xmlns:a="http://schemas.openxmlformats.org/drawingml/2006/main">
            <a:off x="7448550" y="33310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469F3A89-BDB7-4DE1-9673-1C84B1DC9C54}"/>
              </a:ext>
            </a:extLst>
          </p:cNvPr>
          <p:cNvSpPr>
            <a:spLocks xmlns:a="http://schemas.openxmlformats.org/drawingml/2006/main" noGrp="1"/>
          </p:cNvSpPr>
          <p:nvPr/>
        </p:nvSpPr>
        <p:spPr>
          <a:xfrm xmlns:a="http://schemas.openxmlformats.org/drawingml/2006/main">
            <a:off x="7772400" y="32834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 generation 9 reaches 0.0125 exactly, and it never leaves that value.</a:t>
            </a:r>
          </a:p>
        </p:txBody>
      </p:sp>
      <p:sp>
        <p:nvSpPr>
          <p:cNvPr id="15" name="opt-2">
            <a:extLst xmlns:a="http://schemas.openxmlformats.org/drawingml/2006/main">
              <a:ext uri="{FF2B5EF4-FFF2-40B4-BE49-F238E27FC236}">
                <a16:creationId xmlns:a16="http://schemas.microsoft.com/office/drawing/2014/main" id="{EC8699D6-5DBC-4F51-B9E5-61B9967114E7}"/>
              </a:ext>
            </a:extLst>
          </p:cNvPr>
          <p:cNvSpPr>
            <a:spLocks xmlns:a="http://schemas.openxmlformats.org/drawingml/2006/main" noGrp="1"/>
          </p:cNvSpPr>
          <p:nvPr/>
        </p:nvSpPr>
        <p:spPr>
          <a:xfrm xmlns:a="http://schemas.openxmlformats.org/drawingml/2006/main">
            <a:off x="7315200" y="37025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5A270528-7C07-4058-A577-E385BB144D7D}"/>
              </a:ext>
            </a:extLst>
          </p:cNvPr>
          <p:cNvSpPr>
            <a:spLocks xmlns:a="http://schemas.openxmlformats.org/drawingml/2006/main" noGrp="1"/>
          </p:cNvSpPr>
          <p:nvPr/>
        </p:nvSpPr>
        <p:spPr>
          <a:xfrm xmlns:a="http://schemas.openxmlformats.org/drawingml/2006/main">
            <a:off x="7448550" y="37882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92D08061-9D58-42F0-8156-248EDB5EE73C}"/>
              </a:ext>
            </a:extLst>
          </p:cNvPr>
          <p:cNvSpPr>
            <a:spLocks xmlns:a="http://schemas.openxmlformats.org/drawingml/2006/main" noGrp="1"/>
          </p:cNvSpPr>
          <p:nvPr/>
        </p:nvSpPr>
        <p:spPr>
          <a:xfrm xmlns:a="http://schemas.openxmlformats.org/drawingml/2006/main">
            <a:off x="7772400" y="37406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but only approximately -- something close to 0.02, not exactly 0.0125.</a:t>
            </a:r>
          </a:p>
        </p:txBody>
      </p:sp>
      <p:sp>
        <p:nvSpPr>
          <p:cNvPr id="18" name="opt-3">
            <a:extLst xmlns:a="http://schemas.openxmlformats.org/drawingml/2006/main">
              <a:ext uri="{FF2B5EF4-FFF2-40B4-BE49-F238E27FC236}">
                <a16:creationId xmlns:a16="http://schemas.microsoft.com/office/drawing/2014/main" id="{E9795819-E1E4-4FFB-8477-698F8426C169}"/>
              </a:ext>
            </a:extLst>
          </p:cNvPr>
          <p:cNvSpPr>
            <a:spLocks xmlns:a="http://schemas.openxmlformats.org/drawingml/2006/main" noGrp="1"/>
          </p:cNvSpPr>
          <p:nvPr/>
        </p:nvSpPr>
        <p:spPr>
          <a:xfrm xmlns:a="http://schemas.openxmlformats.org/drawingml/2006/main">
            <a:off x="7315200" y="41597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8651C39A-3E74-4049-9AAC-3A9777B42785}"/>
              </a:ext>
            </a:extLst>
          </p:cNvPr>
          <p:cNvSpPr>
            <a:spLocks xmlns:a="http://schemas.openxmlformats.org/drawingml/2006/main" noGrp="1"/>
          </p:cNvSpPr>
          <p:nvPr/>
        </p:nvSpPr>
        <p:spPr>
          <a:xfrm xmlns:a="http://schemas.openxmlformats.org/drawingml/2006/main">
            <a:off x="7448550" y="42454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809455E4-405D-45E0-87CE-F648E8E63526}"/>
              </a:ext>
            </a:extLst>
          </p:cNvPr>
          <p:cNvSpPr>
            <a:spLocks xmlns:a="http://schemas.openxmlformats.org/drawingml/2006/main" noGrp="1"/>
          </p:cNvSpPr>
          <p:nvPr/>
        </p:nvSpPr>
        <p:spPr>
          <a:xfrm xmlns:a="http://schemas.openxmlformats.org/drawingml/2006/main">
            <a:off x="7772400" y="41978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it gets stuck at 0.0925, same as hill climbing.</a:t>
            </a:r>
          </a:p>
        </p:txBody>
      </p:sp>
      <p:sp>
        <p:nvSpPr>
          <p:cNvPr id="21" name="opt-4">
            <a:extLst xmlns:a="http://schemas.openxmlformats.org/drawingml/2006/main">
              <a:ext uri="{FF2B5EF4-FFF2-40B4-BE49-F238E27FC236}">
                <a16:creationId xmlns:a16="http://schemas.microsoft.com/office/drawing/2014/main" id="{691F0BA0-E736-44DB-A23A-FEA18A1EBCC4}"/>
              </a:ext>
            </a:extLst>
          </p:cNvPr>
          <p:cNvSpPr>
            <a:spLocks xmlns:a="http://schemas.openxmlformats.org/drawingml/2006/main" noGrp="1"/>
          </p:cNvSpPr>
          <p:nvPr/>
        </p:nvSpPr>
        <p:spPr>
          <a:xfrm xmlns:a="http://schemas.openxmlformats.org/drawingml/2006/main">
            <a:off x="7315200" y="46169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22" name="opt-letter-4">
            <a:extLst xmlns:a="http://schemas.openxmlformats.org/drawingml/2006/main">
              <a:ext uri="{FF2B5EF4-FFF2-40B4-BE49-F238E27FC236}">
                <a16:creationId xmlns:a16="http://schemas.microsoft.com/office/drawing/2014/main" id="{F28ABA3D-9A86-46C5-974E-83EEC2CC0C87}"/>
              </a:ext>
            </a:extLst>
          </p:cNvPr>
          <p:cNvSpPr>
            <a:spLocks xmlns:a="http://schemas.openxmlformats.org/drawingml/2006/main" noGrp="1"/>
          </p:cNvSpPr>
          <p:nvPr/>
        </p:nvSpPr>
        <p:spPr>
          <a:xfrm xmlns:a="http://schemas.openxmlformats.org/drawingml/2006/main">
            <a:off x="7448550" y="47026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E</a:t>
            </a:r>
          </a:p>
        </p:txBody>
      </p:sp>
      <p:sp>
        <p:nvSpPr>
          <p:cNvPr id="23" name="opt-text-4">
            <a:extLst xmlns:a="http://schemas.openxmlformats.org/drawingml/2006/main">
              <a:ext uri="{FF2B5EF4-FFF2-40B4-BE49-F238E27FC236}">
                <a16:creationId xmlns:a16="http://schemas.microsoft.com/office/drawing/2014/main" id="{72CBEAAB-2A15-477B-93DC-60048703BA68}"/>
              </a:ext>
            </a:extLst>
          </p:cNvPr>
          <p:cNvSpPr>
            <a:spLocks xmlns:a="http://schemas.openxmlformats.org/drawingml/2006/main" noGrp="1"/>
          </p:cNvSpPr>
          <p:nvPr/>
        </p:nvSpPr>
        <p:spPr>
          <a:xfrm xmlns:a="http://schemas.openxmlformats.org/drawingml/2006/main">
            <a:off x="7772400" y="46550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but a different permutation than brute force's.</a:t>
            </a:r>
          </a:p>
        </p:txBody>
      </p:sp>
      <p:sp>
        <p:nvSpPr>
          <p:cNvPr id="24" name="answer-panel">
            <a:extLst xmlns:a="http://schemas.openxmlformats.org/drawingml/2006/main">
              <a:ext uri="{FF2B5EF4-FFF2-40B4-BE49-F238E27FC236}">
                <a16:creationId xmlns:a16="http://schemas.microsoft.com/office/drawing/2014/main" id="{0DE3D8BC-16EC-4360-A528-0850CAC1D215}"/>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5" name="answer-label">
            <a:extLst xmlns:a="http://schemas.openxmlformats.org/drawingml/2006/main">
              <a:ext uri="{FF2B5EF4-FFF2-40B4-BE49-F238E27FC236}">
                <a16:creationId xmlns:a16="http://schemas.microsoft.com/office/drawing/2014/main" id="{90A85C6E-FAC5-465E-B043-0859D839FF01}"/>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6" name="why">
            <a:extLst xmlns:a="http://schemas.openxmlformats.org/drawingml/2006/main">
              <a:ext uri="{FF2B5EF4-FFF2-40B4-BE49-F238E27FC236}">
                <a16:creationId xmlns:a16="http://schemas.microsoft.com/office/drawing/2014/main" id="{CFCEDED2-B735-49ED-AB95-BFB8241A2DDE}"/>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Same functions, same seed, same parameters, so the identical verified result: 0.0125 by generation 9, matching brute force exactly.</a:t>
            </a:r>
          </a:p>
        </p:txBody>
      </p:sp>
    </p:spTree>
    <p:extLst>
      <p:ext uri="{BB962C8B-B14F-4D97-AF65-F5344CB8AC3E}">
        <p14:creationId xmlns:p14="http://schemas.microsoft.com/office/powerpoint/2010/main" val="5109123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04E74D2-2BA1-4F24-AEC2-B4806AE5FFE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DD5FEE81-0980-4762-937E-39413C68E92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[6] The full GA loop, assembled</a:t>
            </a:r>
          </a:p>
        </p:txBody>
      </p:sp>
      <p:sp>
        <p:nvSpPr>
          <p:cNvPr id="3" name="">
            <a:extLst xmlns:a="http://schemas.openxmlformats.org/drawingml/2006/main">
              <a:ext uri="{FF2B5EF4-FFF2-40B4-BE49-F238E27FC236}">
                <a16:creationId xmlns:a16="http://schemas.microsoft.com/office/drawing/2014/main" id="{03CFA0F6-F2D4-4431-86F0-869D533E2A6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7C9BF05-37D7-4C6F-8612-7F2437D39D4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97D5BC2D-A5AB-4B68-B886-5010CF0CDF1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code-panel">
            <a:extLst xmlns:a="http://schemas.openxmlformats.org/drawingml/2006/main">
              <a:ext uri="{FF2B5EF4-FFF2-40B4-BE49-F238E27FC236}">
                <a16:creationId xmlns:a16="http://schemas.microsoft.com/office/drawing/2014/main" id="{E8B543CE-F05F-49D7-8F4F-09B14655408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475C464-0700-4211-B0E7-9BDB38DFCFA0}"/>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genetic_algorithm(seed: int, pop_size: int = 12,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survivors: int = 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mutation_rate: float = 0.35,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generations: int = 30) -&gt; list: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"""Evolve permutations; return the best one."""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 random.Random(seed)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population = [list(range(6))</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_ in range(pop_size)]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ind in population: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rng.shuffle(ind)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gen in range(generations + 1):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population.sort(key=cost)      # SELECTION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gen in (0, 5, 9):</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print('gen', gen, '-&gt; best 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round(cost(population[0]), 4))</a:t>
            </a:r>
          </a:p>
        </p:txBody>
      </p:sp>
      <p:sp>
        <p:nvSpPr>
          <p:cNvPr id="8" name="explain-head">
            <a:extLst xmlns:a="http://schemas.openxmlformats.org/drawingml/2006/main">
              <a:ext uri="{FF2B5EF4-FFF2-40B4-BE49-F238E27FC236}">
                <a16:creationId xmlns:a16="http://schemas.microsoft.com/office/drawing/2014/main" id="{01396F86-C040-4C82-8D01-4F71D61CF64F}"/>
              </a:ext>
            </a:extLst>
          </p:cNvPr>
          <p:cNvSpPr>
            <a:spLocks xmlns:a="http://schemas.openxmlformats.org/drawingml/2006/main" noGrp="1"/>
          </p:cNvSpPr>
          <p:nvPr/>
        </p:nvSpPr>
        <p:spPr>
          <a:xfrm xmlns:a="http://schemas.openxmlformats.org/drawingml/2006/main">
            <a:off x="7886700" y="19716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Setup, then the first half of one generation</a:t>
            </a:r>
          </a:p>
        </p:txBody>
      </p:sp>
      <p:sp>
        <p:nvSpPr>
          <p:cNvPr id="9" name="explain-body">
            <a:extLst xmlns:a="http://schemas.openxmlformats.org/drawingml/2006/main">
              <a:ext uri="{FF2B5EF4-FFF2-40B4-BE49-F238E27FC236}">
                <a16:creationId xmlns:a16="http://schemas.microsoft.com/office/drawing/2014/main" id="{4612E137-8C7D-427A-8840-AA824A2F2992}"/>
              </a:ext>
            </a:extLst>
          </p:cNvPr>
          <p:cNvSpPr>
            <a:spLocks xmlns:a="http://schemas.openxmlformats.org/drawingml/2006/main" noGrp="1"/>
          </p:cNvSpPr>
          <p:nvPr/>
        </p:nvSpPr>
        <p:spPr>
          <a:xfrm xmlns:a="http://schemas.openxmlformats.org/drawingml/2006/main">
            <a:off x="7886700" y="2757297"/>
            <a:ext cx="3695700" cy="3169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Four defaults sit in the signature — population 12, 5 survivors, mutation rate 0.35, 30 generations — so genetic_algorithm(seed=1) reproduces this studio's exact run. population starts as pop_size copies of [0,1,2,3,4,5], each shuffled by the seeded rng, so every individual is a valid permutation from the start. Inside each generation, population.sort(key=cost) puts the cheapest arrangement first — that sort IS the selection step, and cell [8]'s AI draft breaks exactly this line by slicing a list it never sorted.</a:t>
            </a:r>
          </a:p>
        </p:txBody>
      </p:sp>
    </p:spTree>
    <p:extLst>
      <p:ext uri="{BB962C8B-B14F-4D97-AF65-F5344CB8AC3E}">
        <p14:creationId xmlns:p14="http://schemas.microsoft.com/office/powerpoint/2010/main" val="129791428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E2E7C887-E700-4071-B1ED-BE81BD05046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EE94A74-6346-4938-BCED-4B855E31FBD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[6] continued: elitism, crossover, mutation</a:t>
            </a:r>
          </a:p>
        </p:txBody>
      </p:sp>
      <p:sp>
        <p:nvSpPr>
          <p:cNvPr id="3" name="">
            <a:extLst xmlns:a="http://schemas.openxmlformats.org/drawingml/2006/main">
              <a:ext uri="{FF2B5EF4-FFF2-40B4-BE49-F238E27FC236}">
                <a16:creationId xmlns:a16="http://schemas.microsoft.com/office/drawing/2014/main" id="{48F5AD47-4B04-41ED-82FB-D3C1835DA0B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64B0113-4B19-4960-B6EB-18E3A4AE811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634FF349-ED17-43FA-AC2E-8C6C8709DA4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code-panel">
            <a:extLst xmlns:a="http://schemas.openxmlformats.org/drawingml/2006/main">
              <a:ext uri="{FF2B5EF4-FFF2-40B4-BE49-F238E27FC236}">
                <a16:creationId xmlns:a16="http://schemas.microsoft.com/office/drawing/2014/main" id="{B2C77BE7-8557-4BFE-9F97-FDF1DBAFEE9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8308AD0-9457-4F10-8B5E-E2C2857F3D50}"/>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elite = population[:survivors]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 = elite[:]        # elitism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while len(next_gen) &lt; pop_size: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p1, p2 = rng.sample(elite,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 CROSSOVER: your function from cell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order_crossover(p1, p2, rng)</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 MUTATION: your function from cell [5]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rng.random() &lt; mutation_rate: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swap_mutation(child, rng)</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next_gen.append(child)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population = next_gen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population[0]</a:t>
            </a:r>
          </a:p>
        </p:txBody>
      </p:sp>
      <p:sp>
        <p:nvSpPr>
          <p:cNvPr id="8" name="explain-head">
            <a:extLst xmlns:a="http://schemas.openxmlformats.org/drawingml/2006/main">
              <a:ext uri="{FF2B5EF4-FFF2-40B4-BE49-F238E27FC236}">
                <a16:creationId xmlns:a16="http://schemas.microsoft.com/office/drawing/2014/main" id="{7030EB89-69DB-47C4-83C9-FA8B6D07C250}"/>
              </a:ext>
            </a:extLst>
          </p:cNvPr>
          <p:cNvSpPr>
            <a:spLocks xmlns:a="http://schemas.openxmlformats.org/drawingml/2006/main" noGrp="1"/>
          </p:cNvSpPr>
          <p:nvPr/>
        </p:nvSpPr>
        <p:spPr>
          <a:xfrm xmlns:a="http://schemas.openxmlformats.org/drawingml/2006/main">
            <a:off x="7886700" y="19716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Your two functions at work</a:t>
            </a:r>
          </a:p>
        </p:txBody>
      </p:sp>
      <p:sp>
        <p:nvSpPr>
          <p:cNvPr id="9" name="explain-body">
            <a:extLst xmlns:a="http://schemas.openxmlformats.org/drawingml/2006/main">
              <a:ext uri="{FF2B5EF4-FFF2-40B4-BE49-F238E27FC236}">
                <a16:creationId xmlns:a16="http://schemas.microsoft.com/office/drawing/2014/main" id="{07DF6A9A-4D2B-4952-AA14-AD47086A7E8F}"/>
              </a:ext>
            </a:extLst>
          </p:cNvPr>
          <p:cNvSpPr>
            <a:spLocks xmlns:a="http://schemas.openxmlformats.org/drawingml/2006/main" noGrp="1"/>
          </p:cNvSpPr>
          <p:nvPr/>
        </p:nvSpPr>
        <p:spPr>
          <a:xfrm xmlns:a="http://schemas.openxmlformats.org/drawingml/2006/main">
            <a:off x="7886700" y="2757297"/>
            <a:ext cx="3695700" cy="3169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Because the population was just sorted, population[:survivors] really is the best 5 — and copying them into next_gen unchanged is ELITISM (defined two slides from now). The while loop refills the population back to 12 by drawing two elite parents and calling YOUR order_crossover from cell [4], then YOUR swap_mutation from cell [5] on about 35% of children. rng.random() returns a float in [0, 1), so '&lt; 0.35' is true roughly 35% of the time. Nothing here is abbreviated: 12 - 5 = 7 new children are built every generation.</a:t>
            </a:r>
          </a:p>
        </p:txBody>
      </p:sp>
    </p:spTree>
    <p:extLst>
      <p:ext uri="{BB962C8B-B14F-4D97-AF65-F5344CB8AC3E}">
        <p14:creationId xmlns:p14="http://schemas.microsoft.com/office/powerpoint/2010/main" val="3916194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B2A317B-7EED-4760-8D80-AD58983746A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E03AF60-9D22-4E72-8F23-988E01128DD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[6] continued — run it with seed=1</a:t>
            </a:r>
          </a:p>
        </p:txBody>
      </p:sp>
      <p:sp>
        <p:nvSpPr>
          <p:cNvPr id="3" name="">
            <a:extLst xmlns:a="http://schemas.openxmlformats.org/drawingml/2006/main">
              <a:ext uri="{FF2B5EF4-FFF2-40B4-BE49-F238E27FC236}">
                <a16:creationId xmlns:a16="http://schemas.microsoft.com/office/drawing/2014/main" id="{A5876FDA-E1FC-4E8C-A359-051737B11CC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697AABD-19F2-40F0-B7CF-FF8058DF809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23333B15-DEBA-482F-9E6F-15F43BA930D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code-panel">
            <a:extLst xmlns:a="http://schemas.openxmlformats.org/drawingml/2006/main">
              <a:ext uri="{FF2B5EF4-FFF2-40B4-BE49-F238E27FC236}">
                <a16:creationId xmlns:a16="http://schemas.microsoft.com/office/drawing/2014/main" id="{1F33B402-B906-4D2A-9F70-9EA0473ECD3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B3CA8BB-C62E-4C9A-82A3-08E51BE363AC}"/>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best = genetic_algorithm(seed=1)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print('best permutation:', best,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'cost:', round(cost(best), 4))</a:t>
            </a:r>
          </a:p>
        </p:txBody>
      </p:sp>
      <p:sp>
        <p:nvSpPr>
          <p:cNvPr id="8" name="">
            <a:extLst xmlns:a="http://schemas.openxmlformats.org/drawingml/2006/main">
              <a:ext uri="{FF2B5EF4-FFF2-40B4-BE49-F238E27FC236}">
                <a16:creationId xmlns:a16="http://schemas.microsoft.com/office/drawing/2014/main" id="{767C032E-E2EB-46E7-8B2E-B6F3DAC4FD5B}"/>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B30537C7-837F-4CF6-9408-AF97AC76D518}"/>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241A58E9-A090-41DA-809B-70ACD00F5F12}"/>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 0 -&gt; best cost 0.1025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 5 -&gt; best cost 0.0225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gen 9 -&gt; best cost 0.0125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best permutation: [0, 2, 4, 5, 3, 1] cost: 0.0125</a:t>
            </a:r>
          </a:p>
        </p:txBody>
      </p:sp>
      <p:sp>
        <p:nvSpPr>
          <p:cNvPr id="11" name="explain-head">
            <a:extLst xmlns:a="http://schemas.openxmlformats.org/drawingml/2006/main">
              <a:ext uri="{FF2B5EF4-FFF2-40B4-BE49-F238E27FC236}">
                <a16:creationId xmlns:a16="http://schemas.microsoft.com/office/drawing/2014/main" id="{70EBE42E-5F21-45E2-B725-08B142132B3F}"/>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identical true optimum, again</a:t>
            </a:r>
          </a:p>
        </p:txBody>
      </p:sp>
      <p:sp>
        <p:nvSpPr>
          <p:cNvPr id="12" name="explain-body">
            <a:extLst xmlns:a="http://schemas.openxmlformats.org/drawingml/2006/main">
              <a:ext uri="{FF2B5EF4-FFF2-40B4-BE49-F238E27FC236}">
                <a16:creationId xmlns:a16="http://schemas.microsoft.com/office/drawing/2014/main" id="{F9C87586-2154-4450-9668-D38579F65A00}"/>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By generation 9 the GA's best individual already matches brute force's (0, 2, 4, 5, 3, 1), cost 0.0125 exactly — and it never leaves that value through generation 30, because SELECTION always keeps the best 5 individuals.</a:t>
            </a:r>
          </a:p>
        </p:txBody>
      </p:sp>
    </p:spTree>
    <p:extLst>
      <p:ext uri="{BB962C8B-B14F-4D97-AF65-F5344CB8AC3E}">
        <p14:creationId xmlns:p14="http://schemas.microsoft.com/office/powerpoint/2010/main" val="1359208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93583CB2-DA85-4B4C-B87E-C9906F72A8A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C0C9CCF3-F206-4C67-B3E7-022C76A121C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Early convergence trace, seed=1 (generations 0–12)</a:t>
            </a:r>
          </a:p>
        </p:txBody>
      </p:sp>
      <p:sp>
        <p:nvSpPr>
          <p:cNvPr id="3" name="">
            <a:extLst xmlns:a="http://schemas.openxmlformats.org/drawingml/2006/main">
              <a:ext uri="{FF2B5EF4-FFF2-40B4-BE49-F238E27FC236}">
                <a16:creationId xmlns:a16="http://schemas.microsoft.com/office/drawing/2014/main" id="{AE8E41B7-B6FA-4C88-AFAE-68244A5203E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A44CA47-5596-4FCE-AF9A-01F4AB3E2AA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1A8E0816-DF59-4300-B267-CB869761985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5b729dc746994c49"/>
          </a:graphicData>
        </a:graphic>
      </p:graphicFrame>
      <p:sp>
        <p:nvSpPr>
          <p:cNvPr id="7" name="chart-explain-head">
            <a:extLst xmlns:a="http://schemas.openxmlformats.org/drawingml/2006/main">
              <a:ext uri="{FF2B5EF4-FFF2-40B4-BE49-F238E27FC236}">
                <a16:creationId xmlns:a16="http://schemas.microsoft.com/office/drawing/2014/main" id="{9BC31C37-D75A-47EF-A5B1-970B427D561E}"/>
              </a:ext>
            </a:extLst>
          </p:cNvPr>
          <p:cNvSpPr>
            <a:spLocks xmlns:a="http://schemas.openxmlformats.org/drawingml/2006/main" noGrp="1"/>
          </p:cNvSpPr>
          <p:nvPr/>
        </p:nvSpPr>
        <p:spPr>
          <a:xfrm xmlns:a="http://schemas.openxmlformats.org/drawingml/2006/main">
            <a:off x="8001000" y="2447925"/>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early trace contains the whole change</a:t>
            </a:r>
          </a:p>
        </p:txBody>
      </p:sp>
      <p:sp>
        <p:nvSpPr>
          <p:cNvPr id="8" name="chart-explain-body">
            <a:extLst xmlns:a="http://schemas.openxmlformats.org/drawingml/2006/main">
              <a:ext uri="{FF2B5EF4-FFF2-40B4-BE49-F238E27FC236}">
                <a16:creationId xmlns:a16="http://schemas.microsoft.com/office/drawing/2014/main" id="{A590DE01-2DB5-4AAC-BB47-BDE7FCFAE1B3}"/>
              </a:ext>
            </a:extLst>
          </p:cNvPr>
          <p:cNvSpPr>
            <a:spLocks xmlns:a="http://schemas.openxmlformats.org/drawingml/2006/main" noGrp="1"/>
          </p:cNvSpPr>
          <p:nvPr/>
        </p:nvSpPr>
        <p:spPr>
          <a:xfrm xmlns:a="http://schemas.openxmlformats.org/drawingml/2006/main">
            <a:off x="8001000" y="3233547"/>
            <a:ext cx="3581400" cy="1844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Cell [6] printed checkpoints 0, 5, and 9; the chart fills in generations 0–12. Values are scaled x1000 for readable labels. The best cost reaches the brute-force optimum at generation 9. Generations 13–30 are omitted because elitism keeps the same optimum, so the remaining trace is flat.</a:t>
            </a:r>
          </a:p>
        </p:txBody>
      </p:sp>
    </p:spTree>
    <p:extLst>
      <p:ext uri="{BB962C8B-B14F-4D97-AF65-F5344CB8AC3E}">
        <p14:creationId xmlns:p14="http://schemas.microsoft.com/office/powerpoint/2010/main" val="19485956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E8E8026-36B8-4FC7-A973-9B95354A0AE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C6A76408-13AC-461F-B48A-8383E168C74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Elitism, defined</a:t>
            </a:r>
          </a:p>
        </p:txBody>
      </p:sp>
      <p:sp>
        <p:nvSpPr>
          <p:cNvPr id="3" name="">
            <a:extLst xmlns:a="http://schemas.openxmlformats.org/drawingml/2006/main">
              <a:ext uri="{FF2B5EF4-FFF2-40B4-BE49-F238E27FC236}">
                <a16:creationId xmlns:a16="http://schemas.microsoft.com/office/drawing/2014/main" id="{8457BC5E-322A-4B72-A118-FDABAE1A6F7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2DEC586-EB70-4515-B257-08D7D2A92C3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89EEFBE0-9356-40D6-874B-9A18CA9C5DA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term-label">
            <a:extLst xmlns:a="http://schemas.openxmlformats.org/drawingml/2006/main">
              <a:ext uri="{FF2B5EF4-FFF2-40B4-BE49-F238E27FC236}">
                <a16:creationId xmlns:a16="http://schemas.microsoft.com/office/drawing/2014/main" id="{154FC410-9A18-4A8A-A306-92A022350EC0}"/>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64AAFBDF-7CB5-4485-A606-86372F09F9B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elitism</a:t>
            </a:r>
          </a:p>
        </p:txBody>
      </p:sp>
      <p:sp>
        <p:nvSpPr>
          <p:cNvPr id="8" name="">
            <a:extLst xmlns:a="http://schemas.openxmlformats.org/drawingml/2006/main">
              <a:ext uri="{FF2B5EF4-FFF2-40B4-BE49-F238E27FC236}">
                <a16:creationId xmlns:a16="http://schemas.microsoft.com/office/drawing/2014/main" id="{943088D8-5B01-4406-B193-E7D8582661C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B54A7B85-9CAF-4C7B-B675-D4338D0A4D1F}"/>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Copying the best-scoring individuals from one generation directly into the next generation, completely unchanged, before any new children are created by crossover or mutation.</a:t>
            </a:r>
          </a:p>
        </p:txBody>
      </p:sp>
      <p:sp>
        <p:nvSpPr>
          <p:cNvPr id="10" name="example-panel">
            <a:extLst xmlns:a="http://schemas.openxmlformats.org/drawingml/2006/main">
              <a:ext uri="{FF2B5EF4-FFF2-40B4-BE49-F238E27FC236}">
                <a16:creationId xmlns:a16="http://schemas.microsoft.com/office/drawing/2014/main" id="{AF0EF633-9972-49B3-A862-09F45DE02F10}"/>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21541ED-22D5-4434-8958-E3B76EA6EF2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CELL [6]</a:t>
            </a:r>
          </a:p>
        </p:txBody>
      </p:sp>
      <p:sp>
        <p:nvSpPr>
          <p:cNvPr id="12" name="example-head">
            <a:extLst xmlns:a="http://schemas.openxmlformats.org/drawingml/2006/main">
              <a:ext uri="{FF2B5EF4-FFF2-40B4-BE49-F238E27FC236}">
                <a16:creationId xmlns:a16="http://schemas.microsoft.com/office/drawing/2014/main" id="{90B06E05-F2E2-4921-8686-2B64767CBF35}"/>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elite = population[:survivors]</a:t>
            </a:r>
          </a:p>
        </p:txBody>
      </p:sp>
      <p:sp>
        <p:nvSpPr>
          <p:cNvPr id="13" name="example-body">
            <a:extLst xmlns:a="http://schemas.openxmlformats.org/drawingml/2006/main">
              <a:ext uri="{FF2B5EF4-FFF2-40B4-BE49-F238E27FC236}">
                <a16:creationId xmlns:a16="http://schemas.microsoft.com/office/drawing/2014/main" id="{035D338B-EF7F-4FD9-B630-45321984FFD8}"/>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In cell [6], the sorted population's best 5 become next_gen's first 5 entries verbatim (next_gen = elite[:]) — so the population's best cost can only hold steady or improve, generation to generation. That is exactly why the chart above never rises.</a:t>
            </a:r>
          </a:p>
        </p:txBody>
      </p:sp>
      <p:sp>
        <p:nvSpPr>
          <p:cNvPr id="14" name="note-bar">
            <a:extLst xmlns:a="http://schemas.openxmlformats.org/drawingml/2006/main">
              <a:ext uri="{FF2B5EF4-FFF2-40B4-BE49-F238E27FC236}">
                <a16:creationId xmlns:a16="http://schemas.microsoft.com/office/drawing/2014/main" id="{70AA27F9-64C0-4F6B-9872-48E5C0911779}"/>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EC1DC2B6-8070-4355-98B4-4A1339B33A79}"/>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42A07696-1FF2-4D90-8266-6E41F10EA452}"/>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Elitism only guarantees the best-so-far never gets WORSE. It does not guarantee reaching the TRUE optimum quickly, or at all — Monday's seven-seed table showed this same elitist GA reaching 0.0125 anywhere from generation 4 to generation 20.</a:t>
            </a:r>
          </a:p>
        </p:txBody>
      </p:sp>
    </p:spTree>
    <p:extLst>
      <p:ext uri="{BB962C8B-B14F-4D97-AF65-F5344CB8AC3E}">
        <p14:creationId xmlns:p14="http://schemas.microsoft.com/office/powerpoint/2010/main" val="81999447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B2A87729-C46B-4B39-9F9C-BF8F0A5EB85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8B8AB227-A9A4-4893-AFA6-5A2EC346F4F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4: confirm the GA reached brute force's answer</a:t>
            </a:r>
          </a:p>
        </p:txBody>
      </p:sp>
      <p:sp>
        <p:nvSpPr>
          <p:cNvPr id="3" name="">
            <a:extLst xmlns:a="http://schemas.openxmlformats.org/drawingml/2006/main">
              <a:ext uri="{FF2B5EF4-FFF2-40B4-BE49-F238E27FC236}">
                <a16:creationId xmlns:a16="http://schemas.microsoft.com/office/drawing/2014/main" id="{9F2CC74B-8C74-4177-AB69-4FF849F1EE4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26825EA-9136-4282-98A5-1E8050C703C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86E0768C-7CDD-4102-ABEE-10D41D6BE2A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exercise-accent">
            <a:extLst xmlns:a="http://schemas.openxmlformats.org/drawingml/2006/main">
              <a:ext uri="{FF2B5EF4-FFF2-40B4-BE49-F238E27FC236}">
                <a16:creationId xmlns:a16="http://schemas.microsoft.com/office/drawing/2014/main" id="{20ECDF11-C35D-430C-82D1-E2F34F802557}"/>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87BAEA90-588E-43AC-A63A-1F4C82443639}"/>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 GA result is only trustworthy once checked against a known answer.</a:t>
            </a:r>
          </a:p>
        </p:txBody>
      </p:sp>
      <p:sp>
        <p:nvSpPr>
          <p:cNvPr id="8" name="work-label">
            <a:extLst xmlns:a="http://schemas.openxmlformats.org/drawingml/2006/main">
              <a:ext uri="{FF2B5EF4-FFF2-40B4-BE49-F238E27FC236}">
                <a16:creationId xmlns:a16="http://schemas.microsoft.com/office/drawing/2014/main" id="{C124774B-B924-438D-94D7-DB79C1837BFB}"/>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6BB37328-324A-432D-B2A3-91D996A8C99E}"/>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B6AFDBE4-E093-4EF3-BC8A-B69C0B9B69F2}"/>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the best permutation printed above matches brute force's (0, 2, 4, 5, 3, 1) exactly.</a:t>
            </a:r>
          </a:p>
        </p:txBody>
      </p:sp>
      <p:sp>
        <p:nvSpPr>
          <p:cNvPr id="11" name="exercise-no-1">
            <a:extLst xmlns:a="http://schemas.openxmlformats.org/drawingml/2006/main">
              <a:ext uri="{FF2B5EF4-FFF2-40B4-BE49-F238E27FC236}">
                <a16:creationId xmlns:a16="http://schemas.microsoft.com/office/drawing/2014/main" id="{95AE956D-B7F2-46E6-9942-3E31A9FE6D86}"/>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BFE8ED66-608B-4770-B6F1-94A90162EAAF}"/>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Compute individuals evaluated to reach generation 9: 12 + 9 x 7.</a:t>
            </a:r>
          </a:p>
        </p:txBody>
      </p:sp>
      <p:sp>
        <p:nvSpPr>
          <p:cNvPr id="13" name="exercise-no-2">
            <a:extLst xmlns:a="http://schemas.openxmlformats.org/drawingml/2006/main">
              <a:ext uri="{FF2B5EF4-FFF2-40B4-BE49-F238E27FC236}">
                <a16:creationId xmlns:a16="http://schemas.microsoft.com/office/drawing/2014/main" id="{47AB4632-F3B2-426E-99A4-3416B0E66297}"/>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CB6AB336-51EC-49B0-B27F-B3FB1632FB12}"/>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Compare that number (75) to brute force's 720 - what percentage is it?</a:t>
            </a:r>
          </a:p>
        </p:txBody>
      </p:sp>
      <p:sp>
        <p:nvSpPr>
          <p:cNvPr id="15" name="exercise-no-3">
            <a:extLst xmlns:a="http://schemas.openxmlformats.org/drawingml/2006/main">
              <a:ext uri="{FF2B5EF4-FFF2-40B4-BE49-F238E27FC236}">
                <a16:creationId xmlns:a16="http://schemas.microsoft.com/office/drawing/2014/main" id="{12DF62D6-9C62-44B3-9D9C-8F0DD87F4BBE}"/>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B320ED9C-1B96-4459-B6BD-1C4CF2E2F417}"/>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one sentence: does 75 vs. 720 mean the GA is always 'better'? Why or why not.</a:t>
            </a:r>
          </a:p>
        </p:txBody>
      </p:sp>
    </p:spTree>
    <p:extLst>
      <p:ext uri="{BB962C8B-B14F-4D97-AF65-F5344CB8AC3E}">
        <p14:creationId xmlns:p14="http://schemas.microsoft.com/office/powerpoint/2010/main" val="123935101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E22CDDEA-7C07-46FD-9FC1-5595DC93551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5E2B671D-5FCB-4338-97A1-45FAA729FC8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GA vs. brute force: evaluations AND wall-clock time</a:t>
            </a:r>
          </a:p>
        </p:txBody>
      </p:sp>
      <p:sp>
        <p:nvSpPr>
          <p:cNvPr id="3" name="">
            <a:extLst xmlns:a="http://schemas.openxmlformats.org/drawingml/2006/main">
              <a:ext uri="{FF2B5EF4-FFF2-40B4-BE49-F238E27FC236}">
                <a16:creationId xmlns:a16="http://schemas.microsoft.com/office/drawing/2014/main" id="{7376BA9F-475B-4D96-B187-17C1511A083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2E55472-E797-49D9-A2CE-3D8E06734C3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E1BEF212-000E-4A1D-A896-282C4B497DE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AFC86AF7-FD56-43C3-9480-E3C28D66F3D3}"/>
              </a:ext>
            </a:extLst>
          </p:cNvPr>
          <p:cNvSpPr>
            <a:spLocks xmlns:a="http://schemas.openxmlformats.org/drawingml/2006/main" noGrp="1"/>
          </p:cNvSpPr>
          <p:nvPr/>
        </p:nvSpPr>
        <p:spPr>
          <a:xfrm xmlns:a="http://schemas.openxmlformats.org/drawingml/2006/main">
            <a:off x="609600" y="29622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1AD54722-CED7-4BF3-B11D-C730A60CE19E}"/>
              </a:ext>
            </a:extLst>
          </p:cNvPr>
          <p:cNvSpPr>
            <a:spLocks xmlns:a="http://schemas.openxmlformats.org/drawingml/2006/main" noGrp="1"/>
          </p:cNvSpPr>
          <p:nvPr/>
        </p:nvSpPr>
        <p:spPr>
          <a:xfrm xmlns:a="http://schemas.openxmlformats.org/drawingml/2006/main">
            <a:off x="723900" y="30384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method</a:t>
            </a:r>
          </a:p>
        </p:txBody>
      </p:sp>
      <p:sp>
        <p:nvSpPr>
          <p:cNvPr id="8" name="">
            <a:extLst xmlns:a="http://schemas.openxmlformats.org/drawingml/2006/main">
              <a:ext uri="{FF2B5EF4-FFF2-40B4-BE49-F238E27FC236}">
                <a16:creationId xmlns:a16="http://schemas.microsoft.com/office/drawing/2014/main" id="{68B9CF16-72D2-4D4C-BB2E-35B6BFD1F0BC}"/>
              </a:ext>
            </a:extLst>
          </p:cNvPr>
          <p:cNvSpPr>
            <a:spLocks xmlns:a="http://schemas.openxmlformats.org/drawingml/2006/main" noGrp="1"/>
          </p:cNvSpPr>
          <p:nvPr/>
        </p:nvSpPr>
        <p:spPr>
          <a:xfrm xmlns:a="http://schemas.openxmlformats.org/drawingml/2006/main">
            <a:off x="2466975" y="29622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EF1F6301-B509-4BA8-AE75-EC8972164B26}"/>
              </a:ext>
            </a:extLst>
          </p:cNvPr>
          <p:cNvSpPr>
            <a:spLocks xmlns:a="http://schemas.openxmlformats.org/drawingml/2006/main" noGrp="1"/>
          </p:cNvSpPr>
          <p:nvPr/>
        </p:nvSpPr>
        <p:spPr>
          <a:xfrm xmlns:a="http://schemas.openxmlformats.org/drawingml/2006/main">
            <a:off x="2581275" y="30384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objective calls recorded</a:t>
            </a:r>
          </a:p>
        </p:txBody>
      </p:sp>
      <p:sp>
        <p:nvSpPr>
          <p:cNvPr id="10" name="">
            <a:extLst xmlns:a="http://schemas.openxmlformats.org/drawingml/2006/main">
              <a:ext uri="{FF2B5EF4-FFF2-40B4-BE49-F238E27FC236}">
                <a16:creationId xmlns:a16="http://schemas.microsoft.com/office/drawing/2014/main" id="{6F92FF70-E3A2-403E-A89D-EA6FE4B09BDB}"/>
              </a:ext>
            </a:extLst>
          </p:cNvPr>
          <p:cNvSpPr>
            <a:spLocks xmlns:a="http://schemas.openxmlformats.org/drawingml/2006/main" noGrp="1"/>
          </p:cNvSpPr>
          <p:nvPr/>
        </p:nvSpPr>
        <p:spPr>
          <a:xfrm xmlns:a="http://schemas.openxmlformats.org/drawingml/2006/main">
            <a:off x="4324350" y="29622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63D24EEC-6ADD-4E98-AAFD-32D326060F1A}"/>
              </a:ext>
            </a:extLst>
          </p:cNvPr>
          <p:cNvSpPr>
            <a:spLocks xmlns:a="http://schemas.openxmlformats.org/drawingml/2006/main" noGrp="1"/>
          </p:cNvSpPr>
          <p:nvPr/>
        </p:nvSpPr>
        <p:spPr>
          <a:xfrm xmlns:a="http://schemas.openxmlformats.org/drawingml/2006/main">
            <a:off x="4438650" y="30384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time on this machine</a:t>
            </a:r>
          </a:p>
        </p:txBody>
      </p:sp>
      <p:sp>
        <p:nvSpPr>
          <p:cNvPr id="12" name="">
            <a:extLst xmlns:a="http://schemas.openxmlformats.org/drawingml/2006/main">
              <a:ext uri="{FF2B5EF4-FFF2-40B4-BE49-F238E27FC236}">
                <a16:creationId xmlns:a16="http://schemas.microsoft.com/office/drawing/2014/main" id="{965BB8D1-F23B-493A-B1A1-B921FCC0AF2A}"/>
              </a:ext>
            </a:extLst>
          </p:cNvPr>
          <p:cNvSpPr>
            <a:spLocks xmlns:a="http://schemas.openxmlformats.org/drawingml/2006/main" noGrp="1"/>
          </p:cNvSpPr>
          <p:nvPr/>
        </p:nvSpPr>
        <p:spPr>
          <a:xfrm xmlns:a="http://schemas.openxmlformats.org/drawingml/2006/main">
            <a:off x="6181725" y="2962275"/>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110E2784-4108-4224-98BA-618E716CF703}"/>
              </a:ext>
            </a:extLst>
          </p:cNvPr>
          <p:cNvSpPr>
            <a:spLocks xmlns:a="http://schemas.openxmlformats.org/drawingml/2006/main" noGrp="1"/>
          </p:cNvSpPr>
          <p:nvPr/>
        </p:nvSpPr>
        <p:spPr>
          <a:xfrm xmlns:a="http://schemas.openxmlformats.org/drawingml/2006/main">
            <a:off x="6296025" y="303847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found the true optimum?</a:t>
            </a:r>
          </a:p>
        </p:txBody>
      </p:sp>
      <p:sp>
        <p:nvSpPr>
          <p:cNvPr id="14" name="">
            <a:extLst xmlns:a="http://schemas.openxmlformats.org/drawingml/2006/main">
              <a:ext uri="{FF2B5EF4-FFF2-40B4-BE49-F238E27FC236}">
                <a16:creationId xmlns:a16="http://schemas.microsoft.com/office/drawing/2014/main" id="{B50DF343-4AC2-40F0-B72C-63EB093E60FF}"/>
              </a:ext>
            </a:extLst>
          </p:cNvPr>
          <p:cNvSpPr>
            <a:spLocks xmlns:a="http://schemas.openxmlformats.org/drawingml/2006/main" noGrp="1"/>
          </p:cNvSpPr>
          <p:nvPr/>
        </p:nvSpPr>
        <p:spPr>
          <a:xfrm xmlns:a="http://schemas.openxmlformats.org/drawingml/2006/main">
            <a:off x="609600" y="35032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3E9CA530-0429-40E4-94CF-7B2D47E23932}"/>
              </a:ext>
            </a:extLst>
          </p:cNvPr>
          <p:cNvSpPr>
            <a:spLocks xmlns:a="http://schemas.openxmlformats.org/drawingml/2006/main" noGrp="1"/>
          </p:cNvSpPr>
          <p:nvPr/>
        </p:nvSpPr>
        <p:spPr>
          <a:xfrm xmlns:a="http://schemas.openxmlformats.org/drawingml/2006/main">
            <a:off x="723900" y="35794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Brute force (720 perms)</a:t>
            </a:r>
          </a:p>
        </p:txBody>
      </p:sp>
      <p:sp>
        <p:nvSpPr>
          <p:cNvPr id="16" name="">
            <a:extLst xmlns:a="http://schemas.openxmlformats.org/drawingml/2006/main">
              <a:ext uri="{FF2B5EF4-FFF2-40B4-BE49-F238E27FC236}">
                <a16:creationId xmlns:a16="http://schemas.microsoft.com/office/drawing/2014/main" id="{A98C0D66-14F7-4D94-A7FD-4595C0B96E4B}"/>
              </a:ext>
            </a:extLst>
          </p:cNvPr>
          <p:cNvSpPr>
            <a:spLocks xmlns:a="http://schemas.openxmlformats.org/drawingml/2006/main" noGrp="1"/>
          </p:cNvSpPr>
          <p:nvPr/>
        </p:nvSpPr>
        <p:spPr>
          <a:xfrm xmlns:a="http://schemas.openxmlformats.org/drawingml/2006/main">
            <a:off x="2466975" y="35032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9CFF7F64-2473-4356-84FD-20AD6F9DB636}"/>
              </a:ext>
            </a:extLst>
          </p:cNvPr>
          <p:cNvSpPr>
            <a:spLocks xmlns:a="http://schemas.openxmlformats.org/drawingml/2006/main" noGrp="1"/>
          </p:cNvSpPr>
          <p:nvPr/>
        </p:nvSpPr>
        <p:spPr>
          <a:xfrm xmlns:a="http://schemas.openxmlformats.org/drawingml/2006/main">
            <a:off x="2581275" y="35794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720</a:t>
            </a:r>
          </a:p>
        </p:txBody>
      </p:sp>
      <p:sp>
        <p:nvSpPr>
          <p:cNvPr id="18" name="">
            <a:extLst xmlns:a="http://schemas.openxmlformats.org/drawingml/2006/main">
              <a:ext uri="{FF2B5EF4-FFF2-40B4-BE49-F238E27FC236}">
                <a16:creationId xmlns:a16="http://schemas.microsoft.com/office/drawing/2014/main" id="{66F9C3BF-F004-4C49-9A37-8B9E067243E6}"/>
              </a:ext>
            </a:extLst>
          </p:cNvPr>
          <p:cNvSpPr>
            <a:spLocks xmlns:a="http://schemas.openxmlformats.org/drawingml/2006/main" noGrp="1"/>
          </p:cNvSpPr>
          <p:nvPr/>
        </p:nvSpPr>
        <p:spPr>
          <a:xfrm xmlns:a="http://schemas.openxmlformats.org/drawingml/2006/main">
            <a:off x="4324350" y="35032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A51095A3-038F-4656-A6FC-20B6949CA9CD}"/>
              </a:ext>
            </a:extLst>
          </p:cNvPr>
          <p:cNvSpPr>
            <a:spLocks xmlns:a="http://schemas.openxmlformats.org/drawingml/2006/main" noGrp="1"/>
          </p:cNvSpPr>
          <p:nvPr/>
        </p:nvSpPr>
        <p:spPr>
          <a:xfrm xmlns:a="http://schemas.openxmlformats.org/drawingml/2006/main">
            <a:off x="4438650" y="35794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about 1.0 ms</a:t>
            </a:r>
          </a:p>
        </p:txBody>
      </p:sp>
      <p:sp>
        <p:nvSpPr>
          <p:cNvPr id="20" name="">
            <a:extLst xmlns:a="http://schemas.openxmlformats.org/drawingml/2006/main">
              <a:ext uri="{FF2B5EF4-FFF2-40B4-BE49-F238E27FC236}">
                <a16:creationId xmlns:a16="http://schemas.microsoft.com/office/drawing/2014/main" id="{892DFC09-6E03-42A6-A21F-114B3064D404}"/>
              </a:ext>
            </a:extLst>
          </p:cNvPr>
          <p:cNvSpPr>
            <a:spLocks xmlns:a="http://schemas.openxmlformats.org/drawingml/2006/main" noGrp="1"/>
          </p:cNvSpPr>
          <p:nvPr/>
        </p:nvSpPr>
        <p:spPr>
          <a:xfrm xmlns:a="http://schemas.openxmlformats.org/drawingml/2006/main">
            <a:off x="6181725" y="3503295"/>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1DC60DC3-7934-4D61-A89A-29D0EB4F35A6}"/>
              </a:ext>
            </a:extLst>
          </p:cNvPr>
          <p:cNvSpPr>
            <a:spLocks xmlns:a="http://schemas.openxmlformats.org/drawingml/2006/main" noGrp="1"/>
          </p:cNvSpPr>
          <p:nvPr/>
        </p:nvSpPr>
        <p:spPr>
          <a:xfrm xmlns:a="http://schemas.openxmlformats.org/drawingml/2006/main">
            <a:off x="6296025" y="3579495"/>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 - guaranteed</a:t>
            </a:r>
          </a:p>
        </p:txBody>
      </p:sp>
      <p:sp>
        <p:nvSpPr>
          <p:cNvPr id="22" name="">
            <a:extLst xmlns:a="http://schemas.openxmlformats.org/drawingml/2006/main">
              <a:ext uri="{FF2B5EF4-FFF2-40B4-BE49-F238E27FC236}">
                <a16:creationId xmlns:a16="http://schemas.microsoft.com/office/drawing/2014/main" id="{86930850-05DA-41C5-8616-FA2B47E8319A}"/>
              </a:ext>
            </a:extLst>
          </p:cNvPr>
          <p:cNvSpPr>
            <a:spLocks xmlns:a="http://schemas.openxmlformats.org/drawingml/2006/main" noGrp="1"/>
          </p:cNvSpPr>
          <p:nvPr/>
        </p:nvSpPr>
        <p:spPr>
          <a:xfrm xmlns:a="http://schemas.openxmlformats.org/drawingml/2006/main">
            <a:off x="609600" y="4044315"/>
            <a:ext cx="1857375" cy="92964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C8790415-06BC-46AD-BE71-460794EBE264}"/>
              </a:ext>
            </a:extLst>
          </p:cNvPr>
          <p:cNvSpPr>
            <a:spLocks xmlns:a="http://schemas.openxmlformats.org/drawingml/2006/main" noGrp="1"/>
          </p:cNvSpPr>
          <p:nvPr/>
        </p:nvSpPr>
        <p:spPr>
          <a:xfrm xmlns:a="http://schemas.openxmlformats.org/drawingml/2006/main">
            <a:off x="723900" y="4120515"/>
            <a:ext cx="1628775" cy="777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Genetic algorithm (seed=1, stop at gen 9)</a:t>
            </a:r>
          </a:p>
        </p:txBody>
      </p:sp>
      <p:sp>
        <p:nvSpPr>
          <p:cNvPr id="24" name="">
            <a:extLst xmlns:a="http://schemas.openxmlformats.org/drawingml/2006/main">
              <a:ext uri="{FF2B5EF4-FFF2-40B4-BE49-F238E27FC236}">
                <a16:creationId xmlns:a16="http://schemas.microsoft.com/office/drawing/2014/main" id="{06BFF289-7043-426C-B042-EBDE6AA01A39}"/>
              </a:ext>
            </a:extLst>
          </p:cNvPr>
          <p:cNvSpPr>
            <a:spLocks xmlns:a="http://schemas.openxmlformats.org/drawingml/2006/main" noGrp="1"/>
          </p:cNvSpPr>
          <p:nvPr/>
        </p:nvSpPr>
        <p:spPr>
          <a:xfrm xmlns:a="http://schemas.openxmlformats.org/drawingml/2006/main">
            <a:off x="2466975" y="4044315"/>
            <a:ext cx="1857375" cy="92964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E0B3AE08-D69A-48BF-ADCD-86D5E6742AC4}"/>
              </a:ext>
            </a:extLst>
          </p:cNvPr>
          <p:cNvSpPr>
            <a:spLocks xmlns:a="http://schemas.openxmlformats.org/drawingml/2006/main" noGrp="1"/>
          </p:cNvSpPr>
          <p:nvPr/>
        </p:nvSpPr>
        <p:spPr>
          <a:xfrm xmlns:a="http://schemas.openxmlformats.org/drawingml/2006/main">
            <a:off x="2581275" y="4120515"/>
            <a:ext cx="1628775" cy="777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instrumented count required (do not infer from new candidates)</a:t>
            </a:r>
          </a:p>
        </p:txBody>
      </p:sp>
      <p:sp>
        <p:nvSpPr>
          <p:cNvPr id="26" name="">
            <a:extLst xmlns:a="http://schemas.openxmlformats.org/drawingml/2006/main">
              <a:ext uri="{FF2B5EF4-FFF2-40B4-BE49-F238E27FC236}">
                <a16:creationId xmlns:a16="http://schemas.microsoft.com/office/drawing/2014/main" id="{9C2A447E-9CF4-4A09-90D0-60DDF07C1206}"/>
              </a:ext>
            </a:extLst>
          </p:cNvPr>
          <p:cNvSpPr>
            <a:spLocks xmlns:a="http://schemas.openxmlformats.org/drawingml/2006/main" noGrp="1"/>
          </p:cNvSpPr>
          <p:nvPr/>
        </p:nvSpPr>
        <p:spPr>
          <a:xfrm xmlns:a="http://schemas.openxmlformats.org/drawingml/2006/main">
            <a:off x="4324350" y="4044315"/>
            <a:ext cx="1857375" cy="92964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A65C0237-5E7D-4565-B635-CAC460C011E8}"/>
              </a:ext>
            </a:extLst>
          </p:cNvPr>
          <p:cNvSpPr>
            <a:spLocks xmlns:a="http://schemas.openxmlformats.org/drawingml/2006/main" noGrp="1"/>
          </p:cNvSpPr>
          <p:nvPr/>
        </p:nvSpPr>
        <p:spPr>
          <a:xfrm xmlns:a="http://schemas.openxmlformats.org/drawingml/2006/main">
            <a:off x="4438650" y="4120515"/>
            <a:ext cx="1628775" cy="777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about 0.6-0.8 ms</a:t>
            </a:r>
          </a:p>
        </p:txBody>
      </p:sp>
      <p:sp>
        <p:nvSpPr>
          <p:cNvPr id="28" name="">
            <a:extLst xmlns:a="http://schemas.openxmlformats.org/drawingml/2006/main">
              <a:ext uri="{FF2B5EF4-FFF2-40B4-BE49-F238E27FC236}">
                <a16:creationId xmlns:a16="http://schemas.microsoft.com/office/drawing/2014/main" id="{C4159749-5697-405A-BFC0-8A98ADD37540}"/>
              </a:ext>
            </a:extLst>
          </p:cNvPr>
          <p:cNvSpPr>
            <a:spLocks xmlns:a="http://schemas.openxmlformats.org/drawingml/2006/main" noGrp="1"/>
          </p:cNvSpPr>
          <p:nvPr/>
        </p:nvSpPr>
        <p:spPr>
          <a:xfrm xmlns:a="http://schemas.openxmlformats.org/drawingml/2006/main">
            <a:off x="6181725" y="4044315"/>
            <a:ext cx="1857375" cy="92964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C7921526-3192-4C86-86E0-7627C7C725DF}"/>
              </a:ext>
            </a:extLst>
          </p:cNvPr>
          <p:cNvSpPr>
            <a:spLocks xmlns:a="http://schemas.openxmlformats.org/drawingml/2006/main" noGrp="1"/>
          </p:cNvSpPr>
          <p:nvPr/>
        </p:nvSpPr>
        <p:spPr>
          <a:xfrm xmlns:a="http://schemas.openxmlformats.org/drawingml/2006/main">
            <a:off x="6296025" y="4120515"/>
            <a:ext cx="1628775" cy="777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Yes - matched exactly</a:t>
            </a:r>
          </a:p>
        </p:txBody>
      </p:sp>
      <p:sp>
        <p:nvSpPr>
          <p:cNvPr id="30" name="callout-label">
            <a:extLst xmlns:a="http://schemas.openxmlformats.org/drawingml/2006/main">
              <a:ext uri="{FF2B5EF4-FFF2-40B4-BE49-F238E27FC236}">
                <a16:creationId xmlns:a16="http://schemas.microsoft.com/office/drawing/2014/main" id="{100EBA4C-605A-4C2C-9636-7759A5B89395}"/>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D2D6483C-E82F-4E19-A4A8-671E155806AD}"/>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Compare actual objective-function calls with an instrumented counter. Population size × generations or 'new candidates' can miscount repeated, cached, or reevaluated candidates.</a:t>
            </a:r>
          </a:p>
        </p:txBody>
      </p:sp>
    </p:spTree>
    <p:extLst>
      <p:ext uri="{BB962C8B-B14F-4D97-AF65-F5344CB8AC3E}">
        <p14:creationId xmlns:p14="http://schemas.microsoft.com/office/powerpoint/2010/main" val="153306707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D9A59F87-2C19-4E0F-AA90-95356F058B7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REQUIRED DISCUSSION</a:t>
            </a:r>
          </a:p>
        </p:txBody>
      </p:sp>
      <p:sp>
        <p:nvSpPr>
          <p:cNvPr id="2" name="title">
            <a:extLst xmlns:a="http://schemas.openxmlformats.org/drawingml/2006/main">
              <a:ext uri="{FF2B5EF4-FFF2-40B4-BE49-F238E27FC236}">
                <a16:creationId xmlns:a16="http://schemas.microsoft.com/office/drawing/2014/main" id="{12FD360F-E848-449F-9A12-AD334659396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When is the extra machinery worth it?</a:t>
            </a:r>
          </a:p>
        </p:txBody>
      </p:sp>
      <p:sp>
        <p:nvSpPr>
          <p:cNvPr id="3" name="">
            <a:extLst xmlns:a="http://schemas.openxmlformats.org/drawingml/2006/main">
              <a:ext uri="{FF2B5EF4-FFF2-40B4-BE49-F238E27FC236}">
                <a16:creationId xmlns:a16="http://schemas.microsoft.com/office/drawing/2014/main" id="{9AA946F7-9876-4935-98FA-465E2617C7B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044E487-7B68-4520-8FFD-0B8C68C3FD6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DB6EF677-331C-4A3B-BC45-4186C001277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left-head">
            <a:extLst xmlns:a="http://schemas.openxmlformats.org/drawingml/2006/main">
              <a:ext uri="{FF2B5EF4-FFF2-40B4-BE49-F238E27FC236}">
                <a16:creationId xmlns:a16="http://schemas.microsoft.com/office/drawing/2014/main" id="{5270BBCF-A2A3-47AD-B2B4-1BD254F41A50}"/>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Not yet, at N=6</a:t>
            </a:r>
          </a:p>
        </p:txBody>
      </p:sp>
      <p:sp>
        <p:nvSpPr>
          <p:cNvPr id="7" name="left-body">
            <a:extLst xmlns:a="http://schemas.openxmlformats.org/drawingml/2006/main">
              <a:ext uri="{FF2B5EF4-FFF2-40B4-BE49-F238E27FC236}">
                <a16:creationId xmlns:a16="http://schemas.microsoft.com/office/drawing/2014/main" id="{0126F421-C589-49BD-8227-4A6AD5A96081}"/>
              </a:ext>
            </a:extLst>
          </p:cNvPr>
          <p:cNvSpPr>
            <a:spLocks xmlns:a="http://schemas.openxmlformats.org/drawingml/2006/main" noGrp="1"/>
          </p:cNvSpPr>
          <p:nvPr/>
        </p:nvSpPr>
        <p:spPr>
          <a:xfrm xmlns:a="http://schemas.openxmlformats.org/drawingml/2006/main">
            <a:off x="609600" y="3107436"/>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At N=6, brute force is shorter and easier to audit, and it provides an exhaustive baseline for the encoded problem. It can still be wrong if the candidate generator or cost function is wrong.</a:t>
            </a:r>
          </a:p>
        </p:txBody>
      </p:sp>
      <p:sp>
        <p:nvSpPr>
          <p:cNvPr id="8" name="right-head">
            <a:extLst xmlns:a="http://schemas.openxmlformats.org/drawingml/2006/main">
              <a:ext uri="{FF2B5EF4-FFF2-40B4-BE49-F238E27FC236}">
                <a16:creationId xmlns:a16="http://schemas.microsoft.com/office/drawing/2014/main" id="{341ACF72-B735-4104-8A4F-925CB5F7767E}"/>
              </a:ext>
            </a:extLst>
          </p:cNvPr>
          <p:cNvSpPr>
            <a:spLocks xmlns:a="http://schemas.openxmlformats.org/drawingml/2006/main" noGrp="1"/>
          </p:cNvSpPr>
          <p:nvPr/>
        </p:nvSpPr>
        <p:spPr>
          <a:xfrm xmlns:a="http://schemas.openxmlformats.org/drawingml/2006/main">
            <a:off x="6362700" y="2609850"/>
            <a:ext cx="5219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Yes, once N grows or evaluation gets expensive</a:t>
            </a:r>
          </a:p>
        </p:txBody>
      </p:sp>
      <p:sp>
        <p:nvSpPr>
          <p:cNvPr id="9" name="right-body">
            <a:extLst xmlns:a="http://schemas.openxmlformats.org/drawingml/2006/main">
              <a:ext uri="{FF2B5EF4-FFF2-40B4-BE49-F238E27FC236}">
                <a16:creationId xmlns:a16="http://schemas.microsoft.com/office/drawing/2014/main" id="{682A21F1-9EBA-4E8F-B04E-767709C3E4CF}"/>
              </a:ext>
            </a:extLst>
          </p:cNvPr>
          <p:cNvSpPr>
            <a:spLocks xmlns:a="http://schemas.openxmlformats.org/drawingml/2006/main" noGrp="1"/>
          </p:cNvSpPr>
          <p:nvPr/>
        </p:nvSpPr>
        <p:spPr>
          <a:xfrm xmlns:a="http://schemas.openxmlformats.org/drawingml/2006/main">
            <a:off x="6362700" y="3395472"/>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12 panels (12! is about 479 million permutations) or a cost function that takes seconds to evaluate (a real simulation, not a formula) both make brute force impossible — exactly when a GA's far-fewer-evaluations property starts to matter.</a:t>
            </a:r>
          </a:p>
        </p:txBody>
      </p:sp>
    </p:spTree>
    <p:extLst>
      <p:ext uri="{BB962C8B-B14F-4D97-AF65-F5344CB8AC3E}">
        <p14:creationId xmlns:p14="http://schemas.microsoft.com/office/powerpoint/2010/main" val="9945603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kicker">
            <a:extLst xmlns:a="http://schemas.openxmlformats.org/drawingml/2006/main">
              <a:ext uri="{FF2B5EF4-FFF2-40B4-BE49-F238E27FC236}">
                <a16:creationId xmlns:a16="http://schemas.microsoft.com/office/drawing/2014/main" id="{DF05A285-B203-4AD6-A224-C834795F3CF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780FEC51-E400-4560-ABC2-824DC4CCEA6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is this crossover safe for a permutation?</a:t>
            </a:r>
          </a:p>
        </p:txBody>
      </p:sp>
      <p:sp>
        <p:nvSpPr>
          <p:cNvPr id="3" name="">
            <a:extLst xmlns:a="http://schemas.openxmlformats.org/drawingml/2006/main">
              <a:ext uri="{FF2B5EF4-FFF2-40B4-BE49-F238E27FC236}">
                <a16:creationId xmlns:a16="http://schemas.microsoft.com/office/drawing/2014/main" id="{9BB5F7C2-C39C-47B8-829E-C49833E6530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131DD5C-58FC-407B-AD60-4085FECF92D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1B14AA38-0024-4D58-ACDD-4ABC2D969DB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13BADE0F-07FF-43F5-BDE4-54B6AE667D71}"/>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0CCCC28-F4E7-4CA0-AAF3-52AAE9D44751}"/>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def ai_crossover(parent1, parent2):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cut = 3</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parent1[:cut] + parent2[cut:]</a:t>
            </a:r>
          </a:p>
        </p:txBody>
      </p:sp>
      <p:sp>
        <p:nvSpPr>
          <p:cNvPr id="8" name="question">
            <a:extLst xmlns:a="http://schemas.openxmlformats.org/drawingml/2006/main">
              <a:ext uri="{FF2B5EF4-FFF2-40B4-BE49-F238E27FC236}">
                <a16:creationId xmlns:a16="http://schemas.microsoft.com/office/drawing/2014/main" id="{4521CE60-8727-42C7-8B5D-9D83543A59A9}"/>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Given two valid permutations, is the child always valid?</a:t>
            </a:r>
          </a:p>
        </p:txBody>
      </p:sp>
      <p:sp>
        <p:nvSpPr>
          <p:cNvPr id="9" name="opt-0">
            <a:extLst xmlns:a="http://schemas.openxmlformats.org/drawingml/2006/main">
              <a:ext uri="{FF2B5EF4-FFF2-40B4-BE49-F238E27FC236}">
                <a16:creationId xmlns:a16="http://schemas.microsoft.com/office/drawing/2014/main" id="{1306B16D-77F4-454D-990B-BE4DFC5A8660}"/>
              </a:ext>
            </a:extLst>
          </p:cNvPr>
          <p:cNvSpPr>
            <a:spLocks xmlns:a="http://schemas.openxmlformats.org/drawingml/2006/main" noGrp="1"/>
          </p:cNvSpPr>
          <p:nvPr/>
        </p:nvSpPr>
        <p:spPr>
          <a:xfrm xmlns:a="http://schemas.openxmlformats.org/drawingml/2006/main">
            <a:off x="7315200" y="25717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9A6017F6-6A9D-43FA-B75E-F5C1ACC52A76}"/>
              </a:ext>
            </a:extLst>
          </p:cNvPr>
          <p:cNvSpPr>
            <a:spLocks xmlns:a="http://schemas.openxmlformats.org/drawingml/2006/main" noGrp="1"/>
          </p:cNvSpPr>
          <p:nvPr/>
        </p:nvSpPr>
        <p:spPr>
          <a:xfrm xmlns:a="http://schemas.openxmlformats.org/drawingml/2006/main">
            <a:off x="7448550" y="2686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0D578216-C8CD-44DF-917B-E80D9E90AF63}"/>
              </a:ext>
            </a:extLst>
          </p:cNvPr>
          <p:cNvSpPr>
            <a:spLocks xmlns:a="http://schemas.openxmlformats.org/drawingml/2006/main" noGrp="1"/>
          </p:cNvSpPr>
          <p:nvPr/>
        </p:nvSpPr>
        <p:spPr>
          <a:xfrm xmlns:a="http://schemas.openxmlformats.org/drawingml/2006/main">
            <a:off x="7772400" y="26098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 slicing at a fixed cut point always keeps all 6 panel indices.</a:t>
            </a:r>
          </a:p>
        </p:txBody>
      </p:sp>
      <p:sp>
        <p:nvSpPr>
          <p:cNvPr id="12" name="opt-1">
            <a:extLst xmlns:a="http://schemas.openxmlformats.org/drawingml/2006/main">
              <a:ext uri="{FF2B5EF4-FFF2-40B4-BE49-F238E27FC236}">
                <a16:creationId xmlns:a16="http://schemas.microsoft.com/office/drawing/2014/main" id="{51A23326-D4DA-41CC-B7B6-DAF2E24AD6F3}"/>
              </a:ext>
            </a:extLst>
          </p:cNvPr>
          <p:cNvSpPr>
            <a:spLocks xmlns:a="http://schemas.openxmlformats.org/drawingml/2006/main" noGrp="1"/>
          </p:cNvSpPr>
          <p:nvPr/>
        </p:nvSpPr>
        <p:spPr>
          <a:xfrm xmlns:a="http://schemas.openxmlformats.org/drawingml/2006/main">
            <a:off x="7315200" y="307657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5786FD04-251B-4DA8-B93F-3B3C24204627}"/>
              </a:ext>
            </a:extLst>
          </p:cNvPr>
          <p:cNvSpPr>
            <a:spLocks xmlns:a="http://schemas.openxmlformats.org/drawingml/2006/main" noGrp="1"/>
          </p:cNvSpPr>
          <p:nvPr/>
        </p:nvSpPr>
        <p:spPr>
          <a:xfrm xmlns:a="http://schemas.openxmlformats.org/drawingml/2006/main">
            <a:off x="7448550" y="3190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7F0ED2C8-7802-4884-B647-BC9A09429FF0}"/>
              </a:ext>
            </a:extLst>
          </p:cNvPr>
          <p:cNvSpPr>
            <a:spLocks xmlns:a="http://schemas.openxmlformats.org/drawingml/2006/main" noGrp="1"/>
          </p:cNvSpPr>
          <p:nvPr/>
        </p:nvSpPr>
        <p:spPr>
          <a:xfrm xmlns:a="http://schemas.openxmlformats.org/drawingml/2006/main">
            <a:off x="7772400" y="311467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whichever panels happen to fall on each side of the cut, duplicates and gaps are likely.</a:t>
            </a:r>
          </a:p>
        </p:txBody>
      </p:sp>
      <p:sp>
        <p:nvSpPr>
          <p:cNvPr id="15" name="opt-2">
            <a:extLst xmlns:a="http://schemas.openxmlformats.org/drawingml/2006/main">
              <a:ext uri="{FF2B5EF4-FFF2-40B4-BE49-F238E27FC236}">
                <a16:creationId xmlns:a16="http://schemas.microsoft.com/office/drawing/2014/main" id="{391CC909-6FFF-4804-872D-84B8F086FFBA}"/>
              </a:ext>
            </a:extLst>
          </p:cNvPr>
          <p:cNvSpPr>
            <a:spLocks xmlns:a="http://schemas.openxmlformats.org/drawingml/2006/main" noGrp="1"/>
          </p:cNvSpPr>
          <p:nvPr/>
        </p:nvSpPr>
        <p:spPr>
          <a:xfrm xmlns:a="http://schemas.openxmlformats.org/drawingml/2006/main">
            <a:off x="7315200" y="358140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22407C76-1BEE-4F44-8F40-4B721AAC33B0}"/>
              </a:ext>
            </a:extLst>
          </p:cNvPr>
          <p:cNvSpPr>
            <a:spLocks xmlns:a="http://schemas.openxmlformats.org/drawingml/2006/main" noGrp="1"/>
          </p:cNvSpPr>
          <p:nvPr/>
        </p:nvSpPr>
        <p:spPr>
          <a:xfrm xmlns:a="http://schemas.openxmlformats.org/drawingml/2006/main">
            <a:off x="7448550" y="369570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6F3682AF-EA1A-42C5-A2F4-AB974818A2D9}"/>
              </a:ext>
            </a:extLst>
          </p:cNvPr>
          <p:cNvSpPr>
            <a:spLocks xmlns:a="http://schemas.openxmlformats.org/drawingml/2006/main" noGrp="1"/>
          </p:cNvSpPr>
          <p:nvPr/>
        </p:nvSpPr>
        <p:spPr>
          <a:xfrm xmlns:a="http://schemas.openxmlformats.org/drawingml/2006/main">
            <a:off x="7772400" y="361950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but only when parent1 equals parent2.</a:t>
            </a:r>
          </a:p>
        </p:txBody>
      </p:sp>
      <p:sp>
        <p:nvSpPr>
          <p:cNvPr id="18" name="opt-3">
            <a:extLst xmlns:a="http://schemas.openxmlformats.org/drawingml/2006/main">
              <a:ext uri="{FF2B5EF4-FFF2-40B4-BE49-F238E27FC236}">
                <a16:creationId xmlns:a16="http://schemas.microsoft.com/office/drawing/2014/main" id="{3418E04F-5FC9-44BC-98CA-2A6717BF1DC8}"/>
              </a:ext>
            </a:extLst>
          </p:cNvPr>
          <p:cNvSpPr>
            <a:spLocks xmlns:a="http://schemas.openxmlformats.org/drawingml/2006/main" noGrp="1"/>
          </p:cNvSpPr>
          <p:nvPr/>
        </p:nvSpPr>
        <p:spPr>
          <a:xfrm xmlns:a="http://schemas.openxmlformats.org/drawingml/2006/main">
            <a:off x="7315200" y="4086225"/>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B9FA1777-8B1D-4603-AC96-328CF1648DCB}"/>
              </a:ext>
            </a:extLst>
          </p:cNvPr>
          <p:cNvSpPr>
            <a:spLocks xmlns:a="http://schemas.openxmlformats.org/drawingml/2006/main" noGrp="1"/>
          </p:cNvSpPr>
          <p:nvPr/>
        </p:nvSpPr>
        <p:spPr>
          <a:xfrm xmlns:a="http://schemas.openxmlformats.org/drawingml/2006/main">
            <a:off x="7448550" y="420052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AFACBEF9-4624-42D1-A1A3-959E993C8EDE}"/>
              </a:ext>
            </a:extLst>
          </p:cNvPr>
          <p:cNvSpPr>
            <a:spLocks xmlns:a="http://schemas.openxmlformats.org/drawingml/2006/main" noGrp="1"/>
          </p:cNvSpPr>
          <p:nvPr/>
        </p:nvSpPr>
        <p:spPr>
          <a:xfrm xmlns:a="http://schemas.openxmlformats.org/drawingml/2006/main">
            <a:off x="7772400" y="4124325"/>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this line raises an IndexError for any 6-element input.</a:t>
            </a:r>
          </a:p>
        </p:txBody>
      </p:sp>
      <p:sp>
        <p:nvSpPr>
          <p:cNvPr id="21" name="opt-4">
            <a:extLst xmlns:a="http://schemas.openxmlformats.org/drawingml/2006/main">
              <a:ext uri="{FF2B5EF4-FFF2-40B4-BE49-F238E27FC236}">
                <a16:creationId xmlns:a16="http://schemas.microsoft.com/office/drawing/2014/main" id="{4FC5F5A9-2C7A-43E0-BAB1-9A2DA16F9066}"/>
              </a:ext>
            </a:extLst>
          </p:cNvPr>
          <p:cNvSpPr>
            <a:spLocks xmlns:a="http://schemas.openxmlformats.org/drawingml/2006/main" noGrp="1"/>
          </p:cNvSpPr>
          <p:nvPr/>
        </p:nvSpPr>
        <p:spPr>
          <a:xfrm xmlns:a="http://schemas.openxmlformats.org/drawingml/2006/main">
            <a:off x="7315200" y="4591050"/>
            <a:ext cx="4267200" cy="447675"/>
          </a:xfrm>
          <a:prstGeom xmlns:a="http://schemas.openxmlformats.org/drawingml/2006/main" prst="roundRect">
            <a:avLst>
              <a:gd name="adj" fmla="val 12766"/>
            </a:avLst>
          </a:prstGeom>
          <a:solidFill xmlns:a="http://schemas.openxmlformats.org/drawingml/2006/main">
            <a:srgbClr val="F6F7F9"/>
          </a:solidFill>
          <a:ln xmlns:a="http://schemas.openxmlformats.org/drawingml/2006/main" w="9525">
            <a:solidFill>
              <a:srgbClr val="DDE0E5"/>
            </a:solidFill>
            <a:prstDash val="solid"/>
          </a:ln>
        </p:spPr>
      </p:sp>
      <p:sp>
        <p:nvSpPr>
          <p:cNvPr id="22" name="opt-letter-4">
            <a:extLst xmlns:a="http://schemas.openxmlformats.org/drawingml/2006/main">
              <a:ext uri="{FF2B5EF4-FFF2-40B4-BE49-F238E27FC236}">
                <a16:creationId xmlns:a16="http://schemas.microsoft.com/office/drawing/2014/main" id="{FB72A98D-7DFF-4CAC-BDDA-3865344CB18B}"/>
              </a:ext>
            </a:extLst>
          </p:cNvPr>
          <p:cNvSpPr>
            <a:spLocks xmlns:a="http://schemas.openxmlformats.org/drawingml/2006/main" noGrp="1"/>
          </p:cNvSpPr>
          <p:nvPr/>
        </p:nvSpPr>
        <p:spPr>
          <a:xfrm xmlns:a="http://schemas.openxmlformats.org/drawingml/2006/main">
            <a:off x="7448550" y="47053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E</a:t>
            </a:r>
          </a:p>
        </p:txBody>
      </p:sp>
      <p:sp>
        <p:nvSpPr>
          <p:cNvPr id="23" name="opt-text-4">
            <a:extLst xmlns:a="http://schemas.openxmlformats.org/drawingml/2006/main">
              <a:ext uri="{FF2B5EF4-FFF2-40B4-BE49-F238E27FC236}">
                <a16:creationId xmlns:a16="http://schemas.microsoft.com/office/drawing/2014/main" id="{31C9E690-0DF1-4121-A563-9E5CB73F7EAA}"/>
              </a:ext>
            </a:extLst>
          </p:cNvPr>
          <p:cNvSpPr>
            <a:spLocks xmlns:a="http://schemas.openxmlformats.org/drawingml/2006/main" noGrp="1"/>
          </p:cNvSpPr>
          <p:nvPr/>
        </p:nvSpPr>
        <p:spPr>
          <a:xfrm xmlns:a="http://schemas.openxmlformats.org/drawingml/2006/main">
            <a:off x="7772400" y="4629150"/>
            <a:ext cx="3676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but the child is always parent1 reversed.</a:t>
            </a:r>
          </a:p>
        </p:txBody>
      </p:sp>
      <p:sp>
        <p:nvSpPr>
          <p:cNvPr id="24" name="answer-panel">
            <a:extLst xmlns:a="http://schemas.openxmlformats.org/drawingml/2006/main">
              <a:ext uri="{FF2B5EF4-FFF2-40B4-BE49-F238E27FC236}">
                <a16:creationId xmlns:a16="http://schemas.microsoft.com/office/drawing/2014/main" id="{723BAEA9-13AF-4F9B-BAEE-2E670E978D02}"/>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5" name="answer-label">
            <a:extLst xmlns:a="http://schemas.openxmlformats.org/drawingml/2006/main">
              <a:ext uri="{FF2B5EF4-FFF2-40B4-BE49-F238E27FC236}">
                <a16:creationId xmlns:a16="http://schemas.microsoft.com/office/drawing/2014/main" id="{191D8DC7-A817-429E-AE0E-C71110007771}"/>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6" name="why">
            <a:extLst xmlns:a="http://schemas.openxmlformats.org/drawingml/2006/main">
              <a:ext uri="{FF2B5EF4-FFF2-40B4-BE49-F238E27FC236}">
                <a16:creationId xmlns:a16="http://schemas.microsoft.com/office/drawing/2014/main" id="{4D4BBE35-50E0-4B41-93ED-4800991DEC27}"/>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Copied from a generic list-GA tutorial that never had to keep a permutation valid: on 200 random pairs it made an invalid child 188 times.</a:t>
            </a:r>
          </a:p>
        </p:txBody>
      </p:sp>
    </p:spTree>
    <p:extLst>
      <p:ext uri="{BB962C8B-B14F-4D97-AF65-F5344CB8AC3E}">
        <p14:creationId xmlns:p14="http://schemas.microsoft.com/office/powerpoint/2010/main" val="13306097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F1C7A0DE-DF2F-4EE6-BEF5-230AC29FCDE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DEBD0D44-8E8D-44B5-9235-BAF8E68D9A9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[7] AI-audit, part 1: the crossover and mutation bugs</a:t>
            </a:r>
          </a:p>
        </p:txBody>
      </p:sp>
      <p:sp>
        <p:nvSpPr>
          <p:cNvPr id="3" name="">
            <a:extLst xmlns:a="http://schemas.openxmlformats.org/drawingml/2006/main">
              <a:ext uri="{FF2B5EF4-FFF2-40B4-BE49-F238E27FC236}">
                <a16:creationId xmlns:a16="http://schemas.microsoft.com/office/drawing/2014/main" id="{A702968A-836B-424D-989E-997D81215DB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EB22F96-3CA1-4644-AC1E-FB363EC0E4D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39AB2C82-41E3-4012-9420-A5600141E5E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D7A9A48A-7716-47C5-9335-3B4882D8CFA2}"/>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5B6AB80-A714-4A5D-B231-67750706B655}"/>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ai_crossover(parent1, parent2):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cut = 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parent1[:cut] + parent2[cut:]</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ai_mutate(perm, mutation_rate, rng):</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perm = perm[:]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mutation_rate:                 # any nonzero rate is 'truthy'</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 j = rng.sample(range(len(perm)),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perm[i], perm[j] = perm[j], perm[i]</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perm</a:t>
            </a:r>
          </a:p>
        </p:txBody>
      </p:sp>
      <p:sp>
        <p:nvSpPr>
          <p:cNvPr id="8" name="explain-head">
            <a:extLst xmlns:a="http://schemas.openxmlformats.org/drawingml/2006/main">
              <a:ext uri="{FF2B5EF4-FFF2-40B4-BE49-F238E27FC236}">
                <a16:creationId xmlns:a16="http://schemas.microsoft.com/office/drawing/2014/main" id="{42C36B7F-4D7F-4EF9-83D0-ECFAB2B7F034}"/>
              </a:ext>
            </a:extLst>
          </p:cNvPr>
          <p:cNvSpPr>
            <a:spLocks xmlns:a="http://schemas.openxmlformats.org/drawingml/2006/main" noGrp="1"/>
          </p:cNvSpPr>
          <p:nvPr/>
        </p:nvSpPr>
        <p:spPr>
          <a:xfrm xmlns:a="http://schemas.openxmlformats.org/drawingml/2006/main">
            <a:off x="7886700" y="21336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Two bugs already, before the loop even starts</a:t>
            </a:r>
          </a:p>
        </p:txBody>
      </p:sp>
      <p:sp>
        <p:nvSpPr>
          <p:cNvPr id="9" name="explain-body">
            <a:extLst xmlns:a="http://schemas.openxmlformats.org/drawingml/2006/main">
              <a:ext uri="{FF2B5EF4-FFF2-40B4-BE49-F238E27FC236}">
                <a16:creationId xmlns:a16="http://schemas.microsoft.com/office/drawing/2014/main" id="{85FD68E8-CA17-40ED-A2BD-4D4C2AA5CA4F}"/>
              </a:ext>
            </a:extLst>
          </p:cNvPr>
          <p:cNvSpPr>
            <a:spLocks xmlns:a="http://schemas.openxmlformats.org/drawingml/2006/main" noGrp="1"/>
          </p:cNvSpPr>
          <p:nvPr/>
        </p:nvSpPr>
        <p:spPr>
          <a:xfrm xmlns:a="http://schemas.openxmlformats.org/drawingml/2006/main">
            <a:off x="7886700" y="2919222"/>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(1) ai_crossover is a single-point crossover copied from a generic list-GA tutorial — on a permutation it produces an invalid child about 94% of the time (verified separately, 188 of 200 test pairs); a fixed cut=3 keeps whichever panels happen to land on each side, so duplicates and gaps are likely. (2) `if mutation_rate:` tests the TRUTHINESS of 0.35 (always True) instead of drawing a random probability, so mutation fires on every child, not at a 35% rate.</a:t>
            </a:r>
          </a:p>
        </p:txBody>
      </p:sp>
    </p:spTree>
    <p:extLst>
      <p:ext uri="{BB962C8B-B14F-4D97-AF65-F5344CB8AC3E}">
        <p14:creationId xmlns:p14="http://schemas.microsoft.com/office/powerpoint/2010/main" val="103956417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BAEE7CCC-4D99-40B2-8F5A-674FA0435F3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C1374CD-0517-4567-A698-F8E7F76C957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[7] AI-audit, part 2: the selection bug and the result</a:t>
            </a:r>
          </a:p>
        </p:txBody>
      </p:sp>
      <p:sp>
        <p:nvSpPr>
          <p:cNvPr id="3" name="">
            <a:extLst xmlns:a="http://schemas.openxmlformats.org/drawingml/2006/main">
              <a:ext uri="{FF2B5EF4-FFF2-40B4-BE49-F238E27FC236}">
                <a16:creationId xmlns:a16="http://schemas.microsoft.com/office/drawing/2014/main" id="{DE350EBC-79DA-4772-A896-DB13F8B0D9A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A1078C1-5774-47DD-B076-69E0DB8A6FE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25C3D7D9-6EEA-4FA3-B5D1-3451AF6A66D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code-panel">
            <a:extLst xmlns:a="http://schemas.openxmlformats.org/drawingml/2006/main">
              <a:ext uri="{FF2B5EF4-FFF2-40B4-BE49-F238E27FC236}">
                <a16:creationId xmlns:a16="http://schemas.microsoft.com/office/drawing/2014/main" id="{D206A76C-A429-441B-972B-51192139E80D}"/>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405F683-078B-4F0A-8AB5-FBA344961909}"/>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ai_genetic_algorithm(seed):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 = random.Random(seed)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population = [list(range(6)) for _ in range(12)]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ind in population: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rng.shuffle(ind)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for gen in range(10):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survivors = population[:5]   # never sorted!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 = survivors[:]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while len(next_gen) &lt; 12: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p1, p2 = rng.sample(survivors,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ai_mutate(ai_crossover(p1, p2),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0.35, rng)</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next_gen.append(child)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population = next_gen</a:t>
            </a:r>
          </a:p>
        </p:txBody>
      </p:sp>
      <p:sp>
        <p:nvSpPr>
          <p:cNvPr id="8" name="explain-head">
            <a:extLst xmlns:a="http://schemas.openxmlformats.org/drawingml/2006/main">
              <a:ext uri="{FF2B5EF4-FFF2-40B4-BE49-F238E27FC236}">
                <a16:creationId xmlns:a16="http://schemas.microsoft.com/office/drawing/2014/main" id="{9626E62C-A9BA-4896-9EC0-D593292758D0}"/>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third bug: selection that never selects</a:t>
            </a:r>
          </a:p>
        </p:txBody>
      </p:sp>
      <p:sp>
        <p:nvSpPr>
          <p:cNvPr id="9" name="explain-body">
            <a:extLst xmlns:a="http://schemas.openxmlformats.org/drawingml/2006/main">
              <a:ext uri="{FF2B5EF4-FFF2-40B4-BE49-F238E27FC236}">
                <a16:creationId xmlns:a16="http://schemas.microsoft.com/office/drawing/2014/main" id="{E4044BB4-69C3-4093-B459-B25AEA373B9F}"/>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(3) `survivors = population[:5]` slices without ever sorting by cost first, so 'survivors' are 5 arbitrary individuals — selection never actually happens. Compare it directly to cell [6], where population.sort(key=cost) runs before the identical slice. The rest of the loop is shown in full here, nothing elided: the while-loop calls the two broken functions from the previous slide, so every child is built by a crossover that does not preserve permutations and a mutation that fires every single time.</a:t>
            </a:r>
          </a:p>
        </p:txBody>
      </p:sp>
    </p:spTree>
    <p:extLst>
      <p:ext uri="{BB962C8B-B14F-4D97-AF65-F5344CB8AC3E}">
        <p14:creationId xmlns:p14="http://schemas.microsoft.com/office/powerpoint/2010/main" val="140268192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CAF91C8F-26FE-4D6B-BE73-041D6135B69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9CB430B-F91F-48EF-B04F-3C784BCCBD1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[7] continued: run the broken GA, then check validity</a:t>
            </a:r>
          </a:p>
        </p:txBody>
      </p:sp>
      <p:sp>
        <p:nvSpPr>
          <p:cNvPr id="3" name="">
            <a:extLst xmlns:a="http://schemas.openxmlformats.org/drawingml/2006/main">
              <a:ext uri="{FF2B5EF4-FFF2-40B4-BE49-F238E27FC236}">
                <a16:creationId xmlns:a16="http://schemas.microsoft.com/office/drawing/2014/main" id="{4C5D94C4-48BE-4506-A521-C2515807BA8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C15AD35-1E11-4011-B794-672B485ACF6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B6F208F7-433A-49B6-9653-AEE884BAC5B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code-panel">
            <a:extLst xmlns:a="http://schemas.openxmlformats.org/drawingml/2006/main">
              <a:ext uri="{FF2B5EF4-FFF2-40B4-BE49-F238E27FC236}">
                <a16:creationId xmlns:a16="http://schemas.microsoft.com/office/drawing/2014/main" id="{AC9E5C8A-BBCE-40A6-86AD-40B237EF89FC}"/>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48E07C2E-92CB-4DC3-9F29-59F451644814}"/>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best = min(population, key=cost)  # no check</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return best, round(cost(best), 4)</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result = ai_genetic_algorithm(seed=1)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print(result)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print('valid permutation?',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sorted(result[0]) == list(range(6)))</a:t>
            </a:r>
          </a:p>
        </p:txBody>
      </p:sp>
      <p:sp>
        <p:nvSpPr>
          <p:cNvPr id="8" name="">
            <a:extLst xmlns:a="http://schemas.openxmlformats.org/drawingml/2006/main">
              <a:ext uri="{FF2B5EF4-FFF2-40B4-BE49-F238E27FC236}">
                <a16:creationId xmlns:a16="http://schemas.microsoft.com/office/drawing/2014/main" id="{8CF237EC-5A2F-46CA-B168-FFF0FF437303}"/>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0A7CC63E-977E-4B31-BD16-3F6B04133F5D}"/>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89CDDB35-277B-4B2D-8FDA-7D8B410AFF72}"/>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3, 4, 5, 4, 1], 0.0525)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valid permutation? False</a:t>
            </a:r>
          </a:p>
        </p:txBody>
      </p:sp>
      <p:sp>
        <p:nvSpPr>
          <p:cNvPr id="11" name="explain-head">
            <a:extLst xmlns:a="http://schemas.openxmlformats.org/drawingml/2006/main">
              <a:ext uri="{FF2B5EF4-FFF2-40B4-BE49-F238E27FC236}">
                <a16:creationId xmlns:a16="http://schemas.microsoft.com/office/drawing/2014/main" id="{7B54FEAE-5AEA-45B6-BDDA-D92B75E2F132}"/>
              </a:ext>
            </a:extLst>
          </p:cNvPr>
          <p:cNvSpPr>
            <a:spLocks xmlns:a="http://schemas.openxmlformats.org/drawingml/2006/main" noGrp="1"/>
          </p:cNvSpPr>
          <p:nvPr/>
        </p:nvSpPr>
        <p:spPr>
          <a:xfrm xmlns:a="http://schemas.openxmlformats.org/drawingml/2006/main">
            <a:off x="7886700" y="2105025"/>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Runs with no error — and returns an impossible facade</a:t>
            </a:r>
          </a:p>
        </p:txBody>
      </p:sp>
      <p:sp>
        <p:nvSpPr>
          <p:cNvPr id="12" name="explain-body">
            <a:extLst xmlns:a="http://schemas.openxmlformats.org/drawingml/2006/main">
              <a:ext uri="{FF2B5EF4-FFF2-40B4-BE49-F238E27FC236}">
                <a16:creationId xmlns:a16="http://schemas.microsoft.com/office/drawing/2014/main" id="{1A3D1904-1780-4263-9DC6-C69B17AEE487}"/>
              </a:ext>
            </a:extLst>
          </p:cNvPr>
          <p:cNvSpPr>
            <a:spLocks xmlns:a="http://schemas.openxmlformats.org/drawingml/2006/main" noGrp="1"/>
          </p:cNvSpPr>
          <p:nvPr/>
        </p:nvSpPr>
        <p:spPr>
          <a:xfrm xmlns:a="http://schemas.openxmlformats.org/drawingml/2006/main">
            <a:off x="7886700" y="3178683"/>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All three bugs compound. min(population, key=cost) reports whatever scores lowest with no check that it is even a legal arrangement, so [0, 3, 4, 5, 4, 1] comes back labelled 'best' at cost 0.0525 — but sorted([0,3,4,5,4,1]) is not [0,1,2,3,4,5]: panel 4 is assigned to TWO bays, and panel 2 is never installed anywhere. Only the last line, comparing against a known-valid structure, exposes it.</a:t>
            </a:r>
          </a:p>
        </p:txBody>
      </p:sp>
    </p:spTree>
    <p:extLst>
      <p:ext uri="{BB962C8B-B14F-4D97-AF65-F5344CB8AC3E}">
        <p14:creationId xmlns:p14="http://schemas.microsoft.com/office/powerpoint/2010/main" val="170611381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4DE13759-252D-41EE-895F-5BDFA4FEEA9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4E48B9D0-F5B0-476D-83C7-E7778983137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5: diagnose and repair the AI-generated GA</a:t>
            </a:r>
          </a:p>
        </p:txBody>
      </p:sp>
      <p:sp>
        <p:nvSpPr>
          <p:cNvPr id="3" name="">
            <a:extLst xmlns:a="http://schemas.openxmlformats.org/drawingml/2006/main">
              <a:ext uri="{FF2B5EF4-FFF2-40B4-BE49-F238E27FC236}">
                <a16:creationId xmlns:a16="http://schemas.microsoft.com/office/drawing/2014/main" id="{6B1B1B75-F33F-45B9-969C-2EEDC544733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403D20A-30BA-4BD3-ACAF-C38179D4846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EA399D04-031A-4B66-AD01-9E7DB69E4B2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exercise-accent">
            <a:extLst xmlns:a="http://schemas.openxmlformats.org/drawingml/2006/main">
              <a:ext uri="{FF2B5EF4-FFF2-40B4-BE49-F238E27FC236}">
                <a16:creationId xmlns:a16="http://schemas.microsoft.com/office/drawing/2014/main" id="{9860D9D2-EDDE-4496-B763-12189DA2C15D}"/>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1BCA50CF-5E2D-451B-914A-86C564141C06}"/>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This function ran with no error — and returned an unbuildable facade.</a:t>
            </a:r>
          </a:p>
        </p:txBody>
      </p:sp>
      <p:sp>
        <p:nvSpPr>
          <p:cNvPr id="8" name="work-label">
            <a:extLst xmlns:a="http://schemas.openxmlformats.org/drawingml/2006/main">
              <a:ext uri="{FF2B5EF4-FFF2-40B4-BE49-F238E27FC236}">
                <a16:creationId xmlns:a16="http://schemas.microsoft.com/office/drawing/2014/main" id="{06988149-3E4F-4B6F-BA62-06AF6D1DA213}"/>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7F8EF1D6-E5F3-4DDD-A6BA-849E994E7EE3}"/>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6FB62DF8-D781-486D-A6DD-E34EE6F0BB7A}"/>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crossover defect: why does slicing at a fixed cut point break a permutation?</a:t>
            </a:r>
          </a:p>
        </p:txBody>
      </p:sp>
      <p:sp>
        <p:nvSpPr>
          <p:cNvPr id="11" name="exercise-no-1">
            <a:extLst xmlns:a="http://schemas.openxmlformats.org/drawingml/2006/main">
              <a:ext uri="{FF2B5EF4-FFF2-40B4-BE49-F238E27FC236}">
                <a16:creationId xmlns:a16="http://schemas.microsoft.com/office/drawing/2014/main" id="{16D8441D-E518-4790-B984-FC7FF2487755}"/>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D662C66D-C1C6-480D-9097-599FF303A1D7}"/>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mutation defect: what does `if mutation_rate:` actually test, and why is it always true here?</a:t>
            </a:r>
          </a:p>
        </p:txBody>
      </p:sp>
      <p:sp>
        <p:nvSpPr>
          <p:cNvPr id="13" name="exercise-no-2">
            <a:extLst xmlns:a="http://schemas.openxmlformats.org/drawingml/2006/main">
              <a:ext uri="{FF2B5EF4-FFF2-40B4-BE49-F238E27FC236}">
                <a16:creationId xmlns:a16="http://schemas.microsoft.com/office/drawing/2014/main" id="{CC3F71CE-8FCA-4874-991B-C024ACAEACF4}"/>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1EA099D4-D0F9-4B1D-9DAA-263411B4B968}"/>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selection defect: what does `population[:5]` return if population was never sorted?</a:t>
            </a:r>
          </a:p>
        </p:txBody>
      </p:sp>
      <p:sp>
        <p:nvSpPr>
          <p:cNvPr id="15" name="exercise-no-3">
            <a:extLst xmlns:a="http://schemas.openxmlformats.org/drawingml/2006/main">
              <a:ext uri="{FF2B5EF4-FFF2-40B4-BE49-F238E27FC236}">
                <a16:creationId xmlns:a16="http://schemas.microsoft.com/office/drawing/2014/main" id="{32DEB344-2E96-48B6-B596-B0D879281EB6}"/>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7279274E-D391-455E-8AD0-EEB70FD6ECDA}"/>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Rewrite the function using order_crossover, a proper `rng.random() &lt; mutation_rate` check, and a sort-then-slice - confirm it now reproduces 0.0125.</a:t>
            </a:r>
          </a:p>
        </p:txBody>
      </p:sp>
    </p:spTree>
    <p:extLst>
      <p:ext uri="{BB962C8B-B14F-4D97-AF65-F5344CB8AC3E}">
        <p14:creationId xmlns:p14="http://schemas.microsoft.com/office/powerpoint/2010/main" val="7199958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kicker">
            <a:extLst xmlns:a="http://schemas.openxmlformats.org/drawingml/2006/main">
              <a:ext uri="{FF2B5EF4-FFF2-40B4-BE49-F238E27FC236}">
                <a16:creationId xmlns:a16="http://schemas.microsoft.com/office/drawing/2014/main" id="{E6E10B4B-A805-4785-B7BE-BC8DA18E871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4D189640-8CFE-40D2-86EC-C76B40C8160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faster or slower than generation 9?</a:t>
            </a:r>
          </a:p>
        </p:txBody>
      </p:sp>
      <p:sp>
        <p:nvSpPr>
          <p:cNvPr id="3" name="">
            <a:extLst xmlns:a="http://schemas.openxmlformats.org/drawingml/2006/main">
              <a:ext uri="{FF2B5EF4-FFF2-40B4-BE49-F238E27FC236}">
                <a16:creationId xmlns:a16="http://schemas.microsoft.com/office/drawing/2014/main" id="{4DB2635C-BD48-40E0-B2E6-167597E49D8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FACA6DE-9D25-480E-AA3D-2514D738529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FD550291-A378-435B-954B-388EC8A6A20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35</a:t>
            </a:r>
          </a:p>
        </p:txBody>
      </p:sp>
      <p:sp>
        <p:nvSpPr>
          <p:cNvPr id="6" name="code-panel">
            <a:extLst xmlns:a="http://schemas.openxmlformats.org/drawingml/2006/main">
              <a:ext uri="{FF2B5EF4-FFF2-40B4-BE49-F238E27FC236}">
                <a16:creationId xmlns:a16="http://schemas.microsoft.com/office/drawing/2014/main" id="{627A1E24-DE33-4DBA-B889-C1E0A1F579F1}"/>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2D8D29E-87DD-40F4-8B51-720B8580449C}"/>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rng = random.Random(3)</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same GA loop as cell [6], seed changed to 3</a:t>
            </a:r>
          </a:p>
        </p:txBody>
      </p:sp>
      <p:sp>
        <p:nvSpPr>
          <p:cNvPr id="8" name="question">
            <a:extLst xmlns:a="http://schemas.openxmlformats.org/drawingml/2006/main">
              <a:ext uri="{FF2B5EF4-FFF2-40B4-BE49-F238E27FC236}">
                <a16:creationId xmlns:a16="http://schemas.microsoft.com/office/drawing/2014/main" id="{27F5DEE4-363C-42F5-91D7-0A21EB344383}"/>
              </a:ext>
            </a:extLst>
          </p:cNvPr>
          <p:cNvSpPr>
            <a:spLocks xmlns:a="http://schemas.openxmlformats.org/drawingml/2006/main" noGrp="1"/>
          </p:cNvSpPr>
          <p:nvPr/>
        </p:nvSpPr>
        <p:spPr>
          <a:xfrm xmlns:a="http://schemas.openxmlformats.org/drawingml/2006/main">
            <a:off x="7315200" y="1809750"/>
            <a:ext cx="4267200" cy="8641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Seed=1 reached 0.0125 at generation 9. Where does seed=3?</a:t>
            </a:r>
          </a:p>
        </p:txBody>
      </p:sp>
      <p:sp>
        <p:nvSpPr>
          <p:cNvPr id="9" name="opt-0">
            <a:extLst xmlns:a="http://schemas.openxmlformats.org/drawingml/2006/main">
              <a:ext uri="{FF2B5EF4-FFF2-40B4-BE49-F238E27FC236}">
                <a16:creationId xmlns:a16="http://schemas.microsoft.com/office/drawing/2014/main" id="{3D5B823E-045F-4D48-8E9E-C618D9FD23A9}"/>
              </a:ext>
            </a:extLst>
          </p:cNvPr>
          <p:cNvSpPr>
            <a:spLocks xmlns:a="http://schemas.openxmlformats.org/drawingml/2006/main" noGrp="1"/>
          </p:cNvSpPr>
          <p:nvPr/>
        </p:nvSpPr>
        <p:spPr>
          <a:xfrm xmlns:a="http://schemas.openxmlformats.org/drawingml/2006/main">
            <a:off x="7315200" y="27881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6702B7C8-22B5-491D-BB19-09B5B160473E}"/>
              </a:ext>
            </a:extLst>
          </p:cNvPr>
          <p:cNvSpPr>
            <a:spLocks xmlns:a="http://schemas.openxmlformats.org/drawingml/2006/main" noGrp="1"/>
          </p:cNvSpPr>
          <p:nvPr/>
        </p:nvSpPr>
        <p:spPr>
          <a:xfrm xmlns:a="http://schemas.openxmlformats.org/drawingml/2006/main">
            <a:off x="7448550" y="28738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8838EF7F-B763-4352-97DA-0F32C1CAF6B2}"/>
              </a:ext>
            </a:extLst>
          </p:cNvPr>
          <p:cNvSpPr>
            <a:spLocks xmlns:a="http://schemas.openxmlformats.org/drawingml/2006/main" noGrp="1"/>
          </p:cNvSpPr>
          <p:nvPr/>
        </p:nvSpPr>
        <p:spPr>
          <a:xfrm xmlns:a="http://schemas.openxmlformats.org/drawingml/2006/main">
            <a:off x="7772400" y="28262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Earlier -- by generation 4</a:t>
            </a:r>
          </a:p>
        </p:txBody>
      </p:sp>
      <p:sp>
        <p:nvSpPr>
          <p:cNvPr id="12" name="opt-1">
            <a:extLst xmlns:a="http://schemas.openxmlformats.org/drawingml/2006/main">
              <a:ext uri="{FF2B5EF4-FFF2-40B4-BE49-F238E27FC236}">
                <a16:creationId xmlns:a16="http://schemas.microsoft.com/office/drawing/2014/main" id="{BD92547A-56D9-4B03-B685-F2CC678E614A}"/>
              </a:ext>
            </a:extLst>
          </p:cNvPr>
          <p:cNvSpPr>
            <a:spLocks xmlns:a="http://schemas.openxmlformats.org/drawingml/2006/main" noGrp="1"/>
          </p:cNvSpPr>
          <p:nvPr/>
        </p:nvSpPr>
        <p:spPr>
          <a:xfrm xmlns:a="http://schemas.openxmlformats.org/drawingml/2006/main">
            <a:off x="7315200" y="32453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95E587AC-87D0-4F6B-A67D-43D5A1EAA0A4}"/>
              </a:ext>
            </a:extLst>
          </p:cNvPr>
          <p:cNvSpPr>
            <a:spLocks xmlns:a="http://schemas.openxmlformats.org/drawingml/2006/main" noGrp="1"/>
          </p:cNvSpPr>
          <p:nvPr/>
        </p:nvSpPr>
        <p:spPr>
          <a:xfrm xmlns:a="http://schemas.openxmlformats.org/drawingml/2006/main">
            <a:off x="7448550" y="33310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CDC6E777-023B-493A-AC51-A5DEF5C9E9BB}"/>
              </a:ext>
            </a:extLst>
          </p:cNvPr>
          <p:cNvSpPr>
            <a:spLocks xmlns:a="http://schemas.openxmlformats.org/drawingml/2006/main" noGrp="1"/>
          </p:cNvSpPr>
          <p:nvPr/>
        </p:nvSpPr>
        <p:spPr>
          <a:xfrm xmlns:a="http://schemas.openxmlformats.org/drawingml/2006/main">
            <a:off x="7772400" y="32834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The same -- generation 9, like seed=1</a:t>
            </a:r>
          </a:p>
        </p:txBody>
      </p:sp>
      <p:sp>
        <p:nvSpPr>
          <p:cNvPr id="15" name="opt-2">
            <a:extLst xmlns:a="http://schemas.openxmlformats.org/drawingml/2006/main">
              <a:ext uri="{FF2B5EF4-FFF2-40B4-BE49-F238E27FC236}">
                <a16:creationId xmlns:a16="http://schemas.microsoft.com/office/drawing/2014/main" id="{EA0B6953-1571-47F5-8E96-70604B0B4CDE}"/>
              </a:ext>
            </a:extLst>
          </p:cNvPr>
          <p:cNvSpPr>
            <a:spLocks xmlns:a="http://schemas.openxmlformats.org/drawingml/2006/main" noGrp="1"/>
          </p:cNvSpPr>
          <p:nvPr/>
        </p:nvSpPr>
        <p:spPr>
          <a:xfrm xmlns:a="http://schemas.openxmlformats.org/drawingml/2006/main">
            <a:off x="7315200" y="37025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356AFAD8-5705-456C-B916-9412610336C4}"/>
              </a:ext>
            </a:extLst>
          </p:cNvPr>
          <p:cNvSpPr>
            <a:spLocks xmlns:a="http://schemas.openxmlformats.org/drawingml/2006/main" noGrp="1"/>
          </p:cNvSpPr>
          <p:nvPr/>
        </p:nvSpPr>
        <p:spPr>
          <a:xfrm xmlns:a="http://schemas.openxmlformats.org/drawingml/2006/main">
            <a:off x="7448550" y="37882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189D1C04-97A4-4EB2-833E-245C5CBF4B26}"/>
              </a:ext>
            </a:extLst>
          </p:cNvPr>
          <p:cNvSpPr>
            <a:spLocks xmlns:a="http://schemas.openxmlformats.org/drawingml/2006/main" noGrp="1"/>
          </p:cNvSpPr>
          <p:nvPr/>
        </p:nvSpPr>
        <p:spPr>
          <a:xfrm xmlns:a="http://schemas.openxmlformats.org/drawingml/2006/main">
            <a:off x="7772400" y="37406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Later -- generation 13 or after</a:t>
            </a:r>
          </a:p>
        </p:txBody>
      </p:sp>
      <p:sp>
        <p:nvSpPr>
          <p:cNvPr id="18" name="opt-3">
            <a:extLst xmlns:a="http://schemas.openxmlformats.org/drawingml/2006/main">
              <a:ext uri="{FF2B5EF4-FFF2-40B4-BE49-F238E27FC236}">
                <a16:creationId xmlns:a16="http://schemas.microsoft.com/office/drawing/2014/main" id="{ED84FDB0-646C-4139-A055-BAB9CF5B03FD}"/>
              </a:ext>
            </a:extLst>
          </p:cNvPr>
          <p:cNvSpPr>
            <a:spLocks xmlns:a="http://schemas.openxmlformats.org/drawingml/2006/main" noGrp="1"/>
          </p:cNvSpPr>
          <p:nvPr/>
        </p:nvSpPr>
        <p:spPr>
          <a:xfrm xmlns:a="http://schemas.openxmlformats.org/drawingml/2006/main">
            <a:off x="7315200" y="41597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55004F5E-ADFC-476F-A5F9-9DAC8CF92B3E}"/>
              </a:ext>
            </a:extLst>
          </p:cNvPr>
          <p:cNvSpPr>
            <a:spLocks xmlns:a="http://schemas.openxmlformats.org/drawingml/2006/main" noGrp="1"/>
          </p:cNvSpPr>
          <p:nvPr/>
        </p:nvSpPr>
        <p:spPr>
          <a:xfrm xmlns:a="http://schemas.openxmlformats.org/drawingml/2006/main">
            <a:off x="7448550" y="42454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9AF303B4-00E1-4124-83F2-ED88A0EE3B91}"/>
              </a:ext>
            </a:extLst>
          </p:cNvPr>
          <p:cNvSpPr>
            <a:spLocks xmlns:a="http://schemas.openxmlformats.org/drawingml/2006/main" noGrp="1"/>
          </p:cNvSpPr>
          <p:nvPr/>
        </p:nvSpPr>
        <p:spPr>
          <a:xfrm xmlns:a="http://schemas.openxmlformats.org/drawingml/2006/main">
            <a:off x="7772400" y="41978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Never -- it gets stuck at a different, worse cost</a:t>
            </a:r>
          </a:p>
        </p:txBody>
      </p:sp>
      <p:sp>
        <p:nvSpPr>
          <p:cNvPr id="21" name="opt-4">
            <a:extLst xmlns:a="http://schemas.openxmlformats.org/drawingml/2006/main">
              <a:ext uri="{FF2B5EF4-FFF2-40B4-BE49-F238E27FC236}">
                <a16:creationId xmlns:a16="http://schemas.microsoft.com/office/drawing/2014/main" id="{DE3AABAF-6F84-4E9E-860E-1DFB6B8D0054}"/>
              </a:ext>
            </a:extLst>
          </p:cNvPr>
          <p:cNvSpPr>
            <a:spLocks xmlns:a="http://schemas.openxmlformats.org/drawingml/2006/main" noGrp="1"/>
          </p:cNvSpPr>
          <p:nvPr/>
        </p:nvSpPr>
        <p:spPr>
          <a:xfrm xmlns:a="http://schemas.openxmlformats.org/drawingml/2006/main">
            <a:off x="7315200" y="4616958"/>
            <a:ext cx="4267200" cy="400050"/>
          </a:xfrm>
          <a:prstGeom xmlns:a="http://schemas.openxmlformats.org/drawingml/2006/main" prst="roundRect">
            <a:avLst>
              <a:gd name="adj" fmla="val 14286"/>
            </a:avLst>
          </a:prstGeom>
          <a:solidFill xmlns:a="http://schemas.openxmlformats.org/drawingml/2006/main">
            <a:srgbClr val="F6F7F9"/>
          </a:solidFill>
          <a:ln xmlns:a="http://schemas.openxmlformats.org/drawingml/2006/main" w="9525">
            <a:solidFill>
              <a:srgbClr val="DDE0E5"/>
            </a:solidFill>
            <a:prstDash val="solid"/>
          </a:ln>
        </p:spPr>
      </p:sp>
      <p:sp>
        <p:nvSpPr>
          <p:cNvPr id="22" name="opt-letter-4">
            <a:extLst xmlns:a="http://schemas.openxmlformats.org/drawingml/2006/main">
              <a:ext uri="{FF2B5EF4-FFF2-40B4-BE49-F238E27FC236}">
                <a16:creationId xmlns:a16="http://schemas.microsoft.com/office/drawing/2014/main" id="{5A612FA8-3DC8-4D3C-8CE3-198BB35D5128}"/>
              </a:ext>
            </a:extLst>
          </p:cNvPr>
          <p:cNvSpPr>
            <a:spLocks xmlns:a="http://schemas.openxmlformats.org/drawingml/2006/main" noGrp="1"/>
          </p:cNvSpPr>
          <p:nvPr/>
        </p:nvSpPr>
        <p:spPr>
          <a:xfrm xmlns:a="http://schemas.openxmlformats.org/drawingml/2006/main">
            <a:off x="7448550" y="4702683"/>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E</a:t>
            </a:r>
          </a:p>
        </p:txBody>
      </p:sp>
      <p:sp>
        <p:nvSpPr>
          <p:cNvPr id="23" name="opt-text-4">
            <a:extLst xmlns:a="http://schemas.openxmlformats.org/drawingml/2006/main">
              <a:ext uri="{FF2B5EF4-FFF2-40B4-BE49-F238E27FC236}">
                <a16:creationId xmlns:a16="http://schemas.microsoft.com/office/drawing/2014/main" id="{E853932C-D904-4AE3-8C42-DF9AF72AFA75}"/>
              </a:ext>
            </a:extLst>
          </p:cNvPr>
          <p:cNvSpPr>
            <a:spLocks xmlns:a="http://schemas.openxmlformats.org/drawingml/2006/main" noGrp="1"/>
          </p:cNvSpPr>
          <p:nvPr/>
        </p:nvSpPr>
        <p:spPr>
          <a:xfrm xmlns:a="http://schemas.openxmlformats.org/drawingml/2006/main">
            <a:off x="7772400" y="4655058"/>
            <a:ext cx="3676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Earlier, but at a different, better cost than 0.0125</a:t>
            </a:r>
          </a:p>
        </p:txBody>
      </p:sp>
      <p:sp>
        <p:nvSpPr>
          <p:cNvPr id="24" name="answer-panel">
            <a:extLst xmlns:a="http://schemas.openxmlformats.org/drawingml/2006/main">
              <a:ext uri="{FF2B5EF4-FFF2-40B4-BE49-F238E27FC236}">
                <a16:creationId xmlns:a16="http://schemas.microsoft.com/office/drawing/2014/main" id="{6D9255BA-D8B6-47EE-B972-8D716F6CDFCA}"/>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5" name="answer-label">
            <a:extLst xmlns:a="http://schemas.openxmlformats.org/drawingml/2006/main">
              <a:ext uri="{FF2B5EF4-FFF2-40B4-BE49-F238E27FC236}">
                <a16:creationId xmlns:a16="http://schemas.microsoft.com/office/drawing/2014/main" id="{71556DE0-C0DB-45DC-A604-BF5BD765BF86}"/>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A</a:t>
            </a:r>
          </a:p>
        </p:txBody>
      </p:sp>
      <p:sp>
        <p:nvSpPr>
          <p:cNvPr id="26" name="why">
            <a:extLst xmlns:a="http://schemas.openxmlformats.org/drawingml/2006/main">
              <a:ext uri="{FF2B5EF4-FFF2-40B4-BE49-F238E27FC236}">
                <a16:creationId xmlns:a16="http://schemas.microsoft.com/office/drawing/2014/main" id="{EC2F726E-0023-45E4-B931-4A211181CE8C}"/>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Monday's table showed it: seed=3 reaches the identical 0.0125 at generation 4 — seed=1 is the demo seed for its curve, not its speed.</a:t>
            </a:r>
          </a:p>
        </p:txBody>
      </p:sp>
    </p:spTree>
    <p:extLst>
      <p:ext uri="{BB962C8B-B14F-4D97-AF65-F5344CB8AC3E}">
        <p14:creationId xmlns:p14="http://schemas.microsoft.com/office/powerpoint/2010/main" val="99357842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914E58C6-9FBF-481D-9CE8-239CAC862FB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6418986F-2F6B-4987-95D1-E3E4DFBAA9D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[8] Self-check: does the GA transfer to one new seed?</a:t>
            </a:r>
          </a:p>
        </p:txBody>
      </p:sp>
      <p:sp>
        <p:nvSpPr>
          <p:cNvPr id="3" name="">
            <a:extLst xmlns:a="http://schemas.openxmlformats.org/drawingml/2006/main">
              <a:ext uri="{FF2B5EF4-FFF2-40B4-BE49-F238E27FC236}">
                <a16:creationId xmlns:a16="http://schemas.microsoft.com/office/drawing/2014/main" id="{80B905F5-EB8F-492A-AAF5-4EC548ABAFD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F54C2C5-4587-477E-B9C5-997093399F2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F1C47915-0CE1-42DB-A80D-A24FD133D56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36</a:t>
            </a:r>
          </a:p>
        </p:txBody>
      </p:sp>
      <p:sp>
        <p:nvSpPr>
          <p:cNvPr id="6" name="code-panel">
            <a:extLst xmlns:a="http://schemas.openxmlformats.org/drawingml/2006/main">
              <a:ext uri="{FF2B5EF4-FFF2-40B4-BE49-F238E27FC236}">
                <a16:creationId xmlns:a16="http://schemas.microsoft.com/office/drawing/2014/main" id="{174F1D72-445F-44AB-AE04-8478713BBFB6}"/>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0A1208F-3FDF-46F6-943C-AC8F6F46A500}"/>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rng3 = random.Random(3)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population3 = [list(range(6)) for _ in range(12)]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ind in population3: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rng3.shuffle(ind)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history3 =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for gen in range(31):</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population3.sort(key=cost)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history3.append(round(cost(population3[0]),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history3[-1] == 0.0125: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break</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elite3 = population3[:5]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next_gen3 = elite3[:]</a:t>
            </a:r>
          </a:p>
        </p:txBody>
      </p:sp>
      <p:sp>
        <p:nvSpPr>
          <p:cNvPr id="8" name="explain-head">
            <a:extLst xmlns:a="http://schemas.openxmlformats.org/drawingml/2006/main">
              <a:ext uri="{FF2B5EF4-FFF2-40B4-BE49-F238E27FC236}">
                <a16:creationId xmlns:a16="http://schemas.microsoft.com/office/drawing/2014/main" id="{281BF888-E151-41D1-A193-6C382CA23C36}"/>
              </a:ext>
            </a:extLst>
          </p:cNvPr>
          <p:cNvSpPr>
            <a:spLocks xmlns:a="http://schemas.openxmlformats.org/drawingml/2006/main" noGrp="1"/>
          </p:cNvSpPr>
          <p:nvPr/>
        </p:nvSpPr>
        <p:spPr>
          <a:xfrm xmlns:a="http://schemas.openxmlformats.org/drawingml/2006/main">
            <a:off x="7886700" y="21336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algorithm, new seed, one extra record kept</a:t>
            </a:r>
          </a:p>
        </p:txBody>
      </p:sp>
      <p:sp>
        <p:nvSpPr>
          <p:cNvPr id="9" name="explain-body">
            <a:extLst xmlns:a="http://schemas.openxmlformats.org/drawingml/2006/main">
              <a:ext uri="{FF2B5EF4-FFF2-40B4-BE49-F238E27FC236}">
                <a16:creationId xmlns:a16="http://schemas.microsoft.com/office/drawing/2014/main" id="{D44E89D8-8BEB-40BC-A5AE-2B416AA747C6}"/>
              </a:ext>
            </a:extLst>
          </p:cNvPr>
          <p:cNvSpPr>
            <a:spLocks xmlns:a="http://schemas.openxmlformats.org/drawingml/2006/main" noGrp="1"/>
          </p:cNvSpPr>
          <p:nvPr/>
        </p:nvSpPr>
        <p:spPr>
          <a:xfrm xmlns:a="http://schemas.openxmlformats.org/drawingml/2006/main">
            <a:off x="7886700" y="2919222"/>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This is cell [6]'s loop written out inline with seed=3 instead of 1, plus one addition: history3 records the best cost at every generation, not just at three checkpoints. The early break stops the loop the moment the recorded best equals the known true optimum, so len(history3) - 1 is the generation it was first reached. Comparing a ROUNDED cost to 0.0125 matters — the raw float is 0.012499999999999994 and would never test equal.</a:t>
            </a:r>
          </a:p>
        </p:txBody>
      </p:sp>
    </p:spTree>
    <p:extLst>
      <p:ext uri="{BB962C8B-B14F-4D97-AF65-F5344CB8AC3E}">
        <p14:creationId xmlns:p14="http://schemas.microsoft.com/office/powerpoint/2010/main" val="4765657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2DF147EA-D2EC-460E-A814-AAADE4A35C9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05F2C2A5-18DC-448C-97E3-9205C66C8FF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[8] continued: rebuild each generation, then report</a:t>
            </a:r>
          </a:p>
        </p:txBody>
      </p:sp>
      <p:sp>
        <p:nvSpPr>
          <p:cNvPr id="3" name="">
            <a:extLst xmlns:a="http://schemas.openxmlformats.org/drawingml/2006/main">
              <a:ext uri="{FF2B5EF4-FFF2-40B4-BE49-F238E27FC236}">
                <a16:creationId xmlns:a16="http://schemas.microsoft.com/office/drawing/2014/main" id="{BA47700F-0976-4DD7-BD3D-A0BC19AC3BC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53E6408-7241-428A-A855-750AEA519F1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62DD7043-ACA2-492E-9B5C-6096E1768CF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37</a:t>
            </a:r>
          </a:p>
        </p:txBody>
      </p:sp>
      <p:sp>
        <p:nvSpPr>
          <p:cNvPr id="6" name="code-panel">
            <a:extLst xmlns:a="http://schemas.openxmlformats.org/drawingml/2006/main">
              <a:ext uri="{FF2B5EF4-FFF2-40B4-BE49-F238E27FC236}">
                <a16:creationId xmlns:a16="http://schemas.microsoft.com/office/drawing/2014/main" id="{D42F64C8-5C06-4D0A-9081-9B2D4BD3675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5ECB6A5-EBE8-43B5-A85E-D77852FA5991}"/>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while len(next_gen3) &lt; 12: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p1, p2 = rng3.sample(elite3,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order_crossover(p1, p2, rng3)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if rng3.random() &lt; 0.35: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child = swap_mutation(child, rng3)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next_gen3.append(child)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population3 = next_gen3</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print('seed=3 history:', history3)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print('reached true optimum at generation:',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len(history3) - 1)</a:t>
            </a:r>
          </a:p>
        </p:txBody>
      </p:sp>
      <p:sp>
        <p:nvSpPr>
          <p:cNvPr id="8" name="">
            <a:extLst xmlns:a="http://schemas.openxmlformats.org/drawingml/2006/main">
              <a:ext uri="{FF2B5EF4-FFF2-40B4-BE49-F238E27FC236}">
                <a16:creationId xmlns:a16="http://schemas.microsoft.com/office/drawing/2014/main" id="{99FAC5B5-6455-4E0D-AE75-200A636FF7B7}"/>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9E85301B-A08B-43F5-8E75-9EB4AAE5A6D8}"/>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CF00B34-170E-415E-9E1E-4574C94B16F0}"/>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seed=3 history: [0.0325, 0.0325, 0.0325, 0.0325, 0.0125]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reached true optimum at generation: 4</a:t>
            </a:r>
          </a:p>
        </p:txBody>
      </p:sp>
      <p:sp>
        <p:nvSpPr>
          <p:cNvPr id="11" name="explain-head">
            <a:extLst xmlns:a="http://schemas.openxmlformats.org/drawingml/2006/main">
              <a:ext uri="{FF2B5EF4-FFF2-40B4-BE49-F238E27FC236}">
                <a16:creationId xmlns:a16="http://schemas.microsoft.com/office/drawing/2014/main" id="{32DB3CEA-6F2C-49C4-9D9A-ECC1D2932984}"/>
              </a:ext>
            </a:extLst>
          </p:cNvPr>
          <p:cNvSpPr>
            <a:spLocks xmlns:a="http://schemas.openxmlformats.org/drawingml/2006/main" noGrp="1"/>
          </p:cNvSpPr>
          <p:nvPr/>
        </p:nvSpPr>
        <p:spPr>
          <a:xfrm xmlns:a="http://schemas.openxmlformats.org/drawingml/2006/main">
            <a:off x="7886700" y="2105025"/>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different seed than the live demo — required transfer check</a:t>
            </a:r>
          </a:p>
        </p:txBody>
      </p:sp>
      <p:sp>
        <p:nvSpPr>
          <p:cNvPr id="12" name="explain-body">
            <a:extLst xmlns:a="http://schemas.openxmlformats.org/drawingml/2006/main">
              <a:ext uri="{FF2B5EF4-FFF2-40B4-BE49-F238E27FC236}">
                <a16:creationId xmlns:a16="http://schemas.microsoft.com/office/drawing/2014/main" id="{AE651BCB-CC49-45FA-BCF1-4BB000D0B200}"/>
              </a:ext>
            </a:extLst>
          </p:cNvPr>
          <p:cNvSpPr>
            <a:spLocks xmlns:a="http://schemas.openxmlformats.org/drawingml/2006/main" noGrp="1"/>
          </p:cNvSpPr>
          <p:nvPr/>
        </p:nvSpPr>
        <p:spPr>
          <a:xfrm xmlns:a="http://schemas.openxmlformats.org/drawingml/2006/main">
            <a:off x="7886700" y="3178683"/>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rebuild step is your own order_crossover and swap_mutation from cells [4]-[5], called with rng3 so the whole run is reproducible. seed=1 (cell [6]) reached 0.0125 at generation 9; seed=3 reaches the SAME true optimum at generation 4 — faster this time, still the identical answer. This is exactly the kind of different-scenario check this week's assignment requires, not a repeat of the seed=1 demo.</a:t>
            </a:r>
          </a:p>
        </p:txBody>
      </p:sp>
    </p:spTree>
    <p:extLst>
      <p:ext uri="{BB962C8B-B14F-4D97-AF65-F5344CB8AC3E}">
        <p14:creationId xmlns:p14="http://schemas.microsoft.com/office/powerpoint/2010/main" val="163978001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D726551D-7A6F-425C-AB19-B9E856E4443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747E6D0C-F7BC-4942-A244-35E1998B4BA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6: write the transfer-check assertions yourself</a:t>
            </a:r>
          </a:p>
        </p:txBody>
      </p:sp>
      <p:sp>
        <p:nvSpPr>
          <p:cNvPr id="3" name="">
            <a:extLst xmlns:a="http://schemas.openxmlformats.org/drawingml/2006/main">
              <a:ext uri="{FF2B5EF4-FFF2-40B4-BE49-F238E27FC236}">
                <a16:creationId xmlns:a16="http://schemas.microsoft.com/office/drawing/2014/main" id="{538801EE-30C2-4753-AA0C-30A1FF2A61A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4838DA9-81BD-424A-A41C-FFA11B47C61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0F45D94C-C377-4F5C-939B-9CD41ADF83C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38</a:t>
            </a:r>
          </a:p>
        </p:txBody>
      </p:sp>
      <p:sp>
        <p:nvSpPr>
          <p:cNvPr id="6" name="exercise-accent">
            <a:extLst xmlns:a="http://schemas.openxmlformats.org/drawingml/2006/main">
              <a:ext uri="{FF2B5EF4-FFF2-40B4-BE49-F238E27FC236}">
                <a16:creationId xmlns:a16="http://schemas.microsoft.com/office/drawing/2014/main" id="{33DA1FEA-D21B-457D-BF45-DBAF190159B5}"/>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9856693C-81A3-44D3-9D4A-B9DC781128FA}"/>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 different seed than the live demo (seed=1) is this week's required self-generated check.</a:t>
            </a:r>
          </a:p>
        </p:txBody>
      </p:sp>
      <p:sp>
        <p:nvSpPr>
          <p:cNvPr id="8" name="work-label">
            <a:extLst xmlns:a="http://schemas.openxmlformats.org/drawingml/2006/main">
              <a:ext uri="{FF2B5EF4-FFF2-40B4-BE49-F238E27FC236}">
                <a16:creationId xmlns:a16="http://schemas.microsoft.com/office/drawing/2014/main" id="{444B8116-0B40-4338-817A-75EE63B3533E}"/>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883C844D-00C4-4AC6-9D7C-85ED96EF2CD4}"/>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B143554E-DC97-46FB-A975-1DE631BEC6D8}"/>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history3[-1] == 0.0125 (seed=3 reaches the true optimum).</a:t>
            </a:r>
          </a:p>
        </p:txBody>
      </p:sp>
      <p:sp>
        <p:nvSpPr>
          <p:cNvPr id="11" name="exercise-no-1">
            <a:extLst xmlns:a="http://schemas.openxmlformats.org/drawingml/2006/main">
              <a:ext uri="{FF2B5EF4-FFF2-40B4-BE49-F238E27FC236}">
                <a16:creationId xmlns:a16="http://schemas.microsoft.com/office/drawing/2014/main" id="{40DF94DB-4D50-4FEB-ACF1-AE67676326F2}"/>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7102F1B4-7AB4-47E9-AF64-F0C0C2234E79}"/>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len(history3) - 1 &lt;= 9 (seed=3 reaches it no later than the live demo's generation 9).</a:t>
            </a:r>
          </a:p>
        </p:txBody>
      </p:sp>
      <p:sp>
        <p:nvSpPr>
          <p:cNvPr id="13" name="exercise-no-2">
            <a:extLst xmlns:a="http://schemas.openxmlformats.org/drawingml/2006/main">
              <a:ext uri="{FF2B5EF4-FFF2-40B4-BE49-F238E27FC236}">
                <a16:creationId xmlns:a16="http://schemas.microsoft.com/office/drawing/2014/main" id="{44E9C155-A1F8-439A-9878-E5B440B174B4}"/>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564BBA40-9B01-4822-80D7-3A93161E108B}"/>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Assert population[0] == [0, 2, 4, 5, 3, 1] after the final sort (matches brute force's exact permutation).</a:t>
            </a:r>
          </a:p>
        </p:txBody>
      </p:sp>
      <p:sp>
        <p:nvSpPr>
          <p:cNvPr id="15" name="exercise-no-3">
            <a:extLst xmlns:a="http://schemas.openxmlformats.org/drawingml/2006/main">
              <a:ext uri="{FF2B5EF4-FFF2-40B4-BE49-F238E27FC236}">
                <a16:creationId xmlns:a16="http://schemas.microsoft.com/office/drawing/2014/main" id="{73297E86-8B14-4CF4-9F9A-4C40FDE49135}"/>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C1EC220C-A149-4B29-813B-598FC955AD5D}"/>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from a restarted kernel; confirm all assertions pass silently.</a:t>
            </a:r>
          </a:p>
        </p:txBody>
      </p:sp>
    </p:spTree>
    <p:extLst>
      <p:ext uri="{BB962C8B-B14F-4D97-AF65-F5344CB8AC3E}">
        <p14:creationId xmlns:p14="http://schemas.microsoft.com/office/powerpoint/2010/main" val="54299968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176F6AF3-7549-488A-9F89-B456BC9BEDA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MILESTONE, NOT AN ADD-ON</a:t>
            </a:r>
          </a:p>
        </p:txBody>
      </p:sp>
      <p:sp>
        <p:nvSpPr>
          <p:cNvPr id="2" name="title">
            <a:extLst xmlns:a="http://schemas.openxmlformats.org/drawingml/2006/main">
              <a:ext uri="{FF2B5EF4-FFF2-40B4-BE49-F238E27FC236}">
                <a16:creationId xmlns:a16="http://schemas.microsoft.com/office/drawing/2014/main" id="{E3B16E52-B13A-4474-9905-B842CA7C053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This week's Project 2 checkpoint</a:t>
            </a:r>
          </a:p>
        </p:txBody>
      </p:sp>
      <p:sp>
        <p:nvSpPr>
          <p:cNvPr id="3" name="">
            <a:extLst xmlns:a="http://schemas.openxmlformats.org/drawingml/2006/main">
              <a:ext uri="{FF2B5EF4-FFF2-40B4-BE49-F238E27FC236}">
                <a16:creationId xmlns:a16="http://schemas.microsoft.com/office/drawing/2014/main" id="{9FA6CAFD-92A3-477A-818F-F42C4B09602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B1CF493-A8EF-422B-88F0-3FC398305B2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6E73E97B-A5F8-4E0A-A190-530ED90D454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39</a:t>
            </a:r>
          </a:p>
        </p:txBody>
      </p:sp>
      <p:sp>
        <p:nvSpPr>
          <p:cNvPr id="6" name="left-head">
            <a:extLst xmlns:a="http://schemas.openxmlformats.org/drawingml/2006/main">
              <a:ext uri="{FF2B5EF4-FFF2-40B4-BE49-F238E27FC236}">
                <a16:creationId xmlns:a16="http://schemas.microsoft.com/office/drawing/2014/main" id="{07752CD3-F565-4C81-9563-FFBC48610EAF}"/>
              </a:ext>
            </a:extLst>
          </p:cNvPr>
          <p:cNvSpPr>
            <a:spLocks xmlns:a="http://schemas.openxmlformats.org/drawingml/2006/main" noGrp="1"/>
          </p:cNvSpPr>
          <p:nvPr/>
        </p:nvSpPr>
        <p:spPr>
          <a:xfrm xmlns:a="http://schemas.openxmlformats.org/drawingml/2006/main">
            <a:off x="609600" y="2514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What's due</a:t>
            </a:r>
          </a:p>
        </p:txBody>
      </p:sp>
      <p:sp>
        <p:nvSpPr>
          <p:cNvPr id="7" name="left-body">
            <a:extLst xmlns:a="http://schemas.openxmlformats.org/drawingml/2006/main">
              <a:ext uri="{FF2B5EF4-FFF2-40B4-BE49-F238E27FC236}">
                <a16:creationId xmlns:a16="http://schemas.microsoft.com/office/drawing/2014/main" id="{3102EC3D-6E60-493A-9297-1B13BD1E15C4}"/>
              </a:ext>
            </a:extLst>
          </p:cNvPr>
          <p:cNvSpPr>
            <a:spLocks xmlns:a="http://schemas.openxmlformats.org/drawingml/2006/main" noGrp="1"/>
          </p:cNvSpPr>
          <p:nvPr/>
        </p:nvSpPr>
        <p:spPr>
          <a:xfrm xmlns:a="http://schemas.openxmlformats.org/drawingml/2006/main">
            <a:off x="609600" y="3012186"/>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Week 12 heuristic-search-track checkpoint IS today's handout: a working genetic algorithm verified against the brute-force baseline, the evaluations/timing comparison, and the AI-audit (cells [1]-[8]).</a:t>
            </a:r>
          </a:p>
        </p:txBody>
      </p:sp>
      <p:sp>
        <p:nvSpPr>
          <p:cNvPr id="8" name="right-head">
            <a:extLst xmlns:a="http://schemas.openxmlformats.org/drawingml/2006/main">
              <a:ext uri="{FF2B5EF4-FFF2-40B4-BE49-F238E27FC236}">
                <a16:creationId xmlns:a16="http://schemas.microsoft.com/office/drawing/2014/main" id="{AB615321-022D-4ED8-BBB1-9C47953E4B7D}"/>
              </a:ext>
            </a:extLst>
          </p:cNvPr>
          <p:cNvSpPr>
            <a:spLocks xmlns:a="http://schemas.openxmlformats.org/drawingml/2006/main" noGrp="1"/>
          </p:cNvSpPr>
          <p:nvPr/>
        </p:nvSpPr>
        <p:spPr>
          <a:xfrm xmlns:a="http://schemas.openxmlformats.org/drawingml/2006/main">
            <a:off x="6362700" y="2514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Applied to your own problem</a:t>
            </a:r>
          </a:p>
        </p:txBody>
      </p:sp>
      <p:sp>
        <p:nvSpPr>
          <p:cNvPr id="9" name="right-body">
            <a:extLst xmlns:a="http://schemas.openxmlformats.org/drawingml/2006/main">
              <a:ext uri="{FF2B5EF4-FFF2-40B4-BE49-F238E27FC236}">
                <a16:creationId xmlns:a16="http://schemas.microsoft.com/office/drawing/2014/main" id="{3FADE9DD-DB1D-4DFE-B4C3-A678E341981E}"/>
              </a:ext>
            </a:extLst>
          </p:cNvPr>
          <p:cNvSpPr>
            <a:spLocks xmlns:a="http://schemas.openxmlformats.org/drawingml/2006/main" noGrp="1"/>
          </p:cNvSpPr>
          <p:nvPr/>
        </p:nvSpPr>
        <p:spPr>
          <a:xfrm xmlns:a="http://schemas.openxmlformats.org/drawingml/2006/main">
            <a:off x="6362700" y="3012186"/>
            <a:ext cx="5219700" cy="19324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Project 2 Part III requires at least one genuinely discrete or combinatorial decision variable in your own formulation, solved with a small GA (or simulated annealing) and compared against a brute-force or grid-search baseline on that sub-problem — exactly today's pattern, applied to your own project.</a:t>
            </a:r>
          </a:p>
        </p:txBody>
      </p:sp>
    </p:spTree>
    <p:extLst>
      <p:ext uri="{BB962C8B-B14F-4D97-AF65-F5344CB8AC3E}">
        <p14:creationId xmlns:p14="http://schemas.microsoft.com/office/powerpoint/2010/main" val="1883375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DCFE6463-5690-4BF4-883C-CCFF1C5E6F2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22705D2D-D5C5-4B87-ABB0-11D0245D1B2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Submit a reproducible Week 12 studio</a:t>
            </a:r>
          </a:p>
        </p:txBody>
      </p:sp>
      <p:sp>
        <p:nvSpPr>
          <p:cNvPr id="3" name="">
            <a:extLst xmlns:a="http://schemas.openxmlformats.org/drawingml/2006/main">
              <a:ext uri="{FF2B5EF4-FFF2-40B4-BE49-F238E27FC236}">
                <a16:creationId xmlns:a16="http://schemas.microsoft.com/office/drawing/2014/main" id="{1CC4C4C3-B7D8-4E0B-BF78-B7E5F7AD4C4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0800AF2-8BFC-41CF-B03C-BC0BECC0173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12 · Meeting B · Genetic Algorithm and Brute-Force Studio</a:t>
            </a:r>
          </a:p>
        </p:txBody>
      </p:sp>
      <p:sp>
        <p:nvSpPr>
          <p:cNvPr id="5" name="page">
            <a:extLst xmlns:a="http://schemas.openxmlformats.org/drawingml/2006/main">
              <a:ext uri="{FF2B5EF4-FFF2-40B4-BE49-F238E27FC236}">
                <a16:creationId xmlns:a16="http://schemas.microsoft.com/office/drawing/2014/main" id="{DD311AE2-46FC-4B6C-86E8-EE17C41A5DC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40</a:t>
            </a:r>
          </a:p>
        </p:txBody>
      </p:sp>
      <p:sp>
        <p:nvSpPr>
          <p:cNvPr id="6" name="step-arrow-0">
            <a:extLst xmlns:a="http://schemas.openxmlformats.org/drawingml/2006/main">
              <a:ext uri="{FF2B5EF4-FFF2-40B4-BE49-F238E27FC236}">
                <a16:creationId xmlns:a16="http://schemas.microsoft.com/office/drawing/2014/main" id="{A97A9952-7DED-44D2-81BC-1CFC7B544454}"/>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4C9780FB-CB42-428D-92A1-C91EE4A32AAC}"/>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C8A43236-23FC-4D54-9F73-76FFED8D1F8D}"/>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89021938-97ED-4AB3-BB25-634C4FBDFCC2}"/>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F064A2A6-6BE6-446F-8D4E-771758ED2131}"/>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ADE1232A-B105-4A86-842D-31847003A973}"/>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SCRIPT</a:t>
            </a:r>
          </a:p>
        </p:txBody>
      </p:sp>
      <p:sp>
        <p:nvSpPr>
          <p:cNvPr id="12" name="">
            <a:extLst xmlns:a="http://schemas.openxmlformats.org/drawingml/2006/main">
              <a:ext uri="{FF2B5EF4-FFF2-40B4-BE49-F238E27FC236}">
                <a16:creationId xmlns:a16="http://schemas.microsoft.com/office/drawing/2014/main" id="{95F1C60A-9964-46B6-B879-7A8AE5AFAAE4}"/>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14BE8462-43F1-4B96-8AC0-5618FAAFEFAB}"/>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One reproducible .py file</a:t>
            </a:r>
          </a:p>
        </p:txBody>
      </p:sp>
      <p:sp>
        <p:nvSpPr>
          <p:cNvPr id="14" name="step-body-0">
            <a:extLst xmlns:a="http://schemas.openxmlformats.org/drawingml/2006/main">
              <a:ext uri="{FF2B5EF4-FFF2-40B4-BE49-F238E27FC236}">
                <a16:creationId xmlns:a16="http://schemas.microsoft.com/office/drawing/2014/main" id="{CCB99B58-0018-4973-80E6-979A55B391AF}"/>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Runs top to bottom from a restarted kernel — brute force, then GA — with no manual steps.</a:t>
            </a:r>
          </a:p>
        </p:txBody>
      </p:sp>
      <p:sp>
        <p:nvSpPr>
          <p:cNvPr id="15" name="step-node-1">
            <a:extLst xmlns:a="http://schemas.openxmlformats.org/drawingml/2006/main">
              <a:ext uri="{FF2B5EF4-FFF2-40B4-BE49-F238E27FC236}">
                <a16:creationId xmlns:a16="http://schemas.microsoft.com/office/drawing/2014/main" id="{80E17E0D-2FC0-4524-8EEB-02D0B1C7EA70}"/>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3F85402F-5E83-4E7E-8092-C228408E64B1}"/>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CE0C3415-3BF0-4A90-B754-FA3558E8B254}"/>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RESULT</a:t>
            </a:r>
          </a:p>
        </p:txBody>
      </p:sp>
      <p:sp>
        <p:nvSpPr>
          <p:cNvPr id="18" name="">
            <a:extLst xmlns:a="http://schemas.openxmlformats.org/drawingml/2006/main">
              <a:ext uri="{FF2B5EF4-FFF2-40B4-BE49-F238E27FC236}">
                <a16:creationId xmlns:a16="http://schemas.microsoft.com/office/drawing/2014/main" id="{19B40BA1-920C-426C-8C0B-19BD9A695D08}"/>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90E451AA-5009-43AA-AF4F-CFF511A4F2ED}"/>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GA matches brute force</a:t>
            </a:r>
          </a:p>
        </p:txBody>
      </p:sp>
      <p:sp>
        <p:nvSpPr>
          <p:cNvPr id="20" name="step-body-1">
            <a:extLst xmlns:a="http://schemas.openxmlformats.org/drawingml/2006/main">
              <a:ext uri="{FF2B5EF4-FFF2-40B4-BE49-F238E27FC236}">
                <a16:creationId xmlns:a16="http://schemas.microsoft.com/office/drawing/2014/main" id="{2AC77321-4AC2-46EA-89E1-5119DCF1E892}"/>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Best permutation and cost identical to the 720-permutation baseline.</a:t>
            </a:r>
          </a:p>
        </p:txBody>
      </p:sp>
      <p:sp>
        <p:nvSpPr>
          <p:cNvPr id="21" name="step-node-2">
            <a:extLst xmlns:a="http://schemas.openxmlformats.org/drawingml/2006/main">
              <a:ext uri="{FF2B5EF4-FFF2-40B4-BE49-F238E27FC236}">
                <a16:creationId xmlns:a16="http://schemas.microsoft.com/office/drawing/2014/main" id="{7EDFD91A-6F71-4BD0-AE67-F7728F402922}"/>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146061BF-D596-4104-B00E-A8A71DB6D9B2}"/>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BAF65F19-E66F-48F6-84DE-9BC1BFDEE5EF}"/>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COMPARE</a:t>
            </a:r>
          </a:p>
        </p:txBody>
      </p:sp>
      <p:sp>
        <p:nvSpPr>
          <p:cNvPr id="24" name="">
            <a:extLst xmlns:a="http://schemas.openxmlformats.org/drawingml/2006/main">
              <a:ext uri="{FF2B5EF4-FFF2-40B4-BE49-F238E27FC236}">
                <a16:creationId xmlns:a16="http://schemas.microsoft.com/office/drawing/2014/main" id="{3D039C35-DED2-4DAA-A8E3-D6E3C45CBCE6}"/>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C23EC35A-22F6-4861-B19A-A5029BF8DE11}"/>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Evaluations + timing table</a:t>
            </a:r>
          </a:p>
        </p:txBody>
      </p:sp>
      <p:sp>
        <p:nvSpPr>
          <p:cNvPr id="26" name="step-body-2">
            <a:extLst xmlns:a="http://schemas.openxmlformats.org/drawingml/2006/main">
              <a:ext uri="{FF2B5EF4-FFF2-40B4-BE49-F238E27FC236}">
                <a16:creationId xmlns:a16="http://schemas.microsoft.com/office/drawing/2014/main" id="{E6B1D731-1E1B-4F86-9957-F1CA02E1F87C}"/>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Both recorded, with the honest caveat about this problem's cheap cost function.</a:t>
            </a:r>
          </a:p>
        </p:txBody>
      </p:sp>
      <p:sp>
        <p:nvSpPr>
          <p:cNvPr id="27" name="step-node-3">
            <a:extLst xmlns:a="http://schemas.openxmlformats.org/drawingml/2006/main">
              <a:ext uri="{FF2B5EF4-FFF2-40B4-BE49-F238E27FC236}">
                <a16:creationId xmlns:a16="http://schemas.microsoft.com/office/drawing/2014/main" id="{1F50CDC2-BD32-4741-A11C-EED9BCCB2530}"/>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73885BA0-DEA7-40D2-9EDA-CECD17197A38}"/>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C83481CD-9FBA-4401-B2BD-E6D3FFC8CE1C}"/>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DISCUSSION</a:t>
            </a:r>
          </a:p>
        </p:txBody>
      </p:sp>
      <p:sp>
        <p:nvSpPr>
          <p:cNvPr id="30" name="">
            <a:extLst xmlns:a="http://schemas.openxmlformats.org/drawingml/2006/main">
              <a:ext uri="{FF2B5EF4-FFF2-40B4-BE49-F238E27FC236}">
                <a16:creationId xmlns:a16="http://schemas.microsoft.com/office/drawing/2014/main" id="{2CF3DF80-B1A3-4C63-8437-948251594912}"/>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851EEA14-347B-404A-9F8A-C40FCFCD1FE5}"/>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When is it worth it?</a:t>
            </a:r>
          </a:p>
        </p:txBody>
      </p:sp>
      <p:sp>
        <p:nvSpPr>
          <p:cNvPr id="32" name="step-body-3">
            <a:extLst xmlns:a="http://schemas.openxmlformats.org/drawingml/2006/main">
              <a:ext uri="{FF2B5EF4-FFF2-40B4-BE49-F238E27FC236}">
                <a16:creationId xmlns:a16="http://schemas.microsoft.com/office/drawing/2014/main" id="{15D5F8BF-576B-4CD1-8DBD-FC0543E1EF7E}"/>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One written paragraph naming a real N, or a real expensive-simulation case.</a:t>
            </a:r>
          </a:p>
        </p:txBody>
      </p:sp>
    </p:spTree>
    <p:extLst>
      <p:ext uri="{BB962C8B-B14F-4D97-AF65-F5344CB8AC3E}">
        <p14:creationId xmlns:p14="http://schemas.microsoft.com/office/powerpoint/2010/main" val="435666788"/>
      </p:ext>
    </p:extLst>
  </p:cSld>
</p:sld>
</file>

<file path=ppt/slides/slide4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B4D78308-4A4F-46A3-A1DB-0D80AF623CEA}"/>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12 · MEETING B · GENETIC ALGORITHM AND BRUTE-FORCE STUDIO</a:t>
            </a:r>
          </a:p>
        </p:txBody>
      </p:sp>
      <p:sp>
        <p:nvSpPr>
          <p:cNvPr id="2" name="close-title">
            <a:extLst xmlns:a="http://schemas.openxmlformats.org/drawingml/2006/main">
              <a:ext uri="{FF2B5EF4-FFF2-40B4-BE49-F238E27FC236}">
                <a16:creationId xmlns:a16="http://schemas.microsoft.com/office/drawing/2014/main" id="{366784D8-FC5A-4014-9118-A565AC1372B8}"/>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The same true optimum, reached a different way</a:t>
            </a:r>
          </a:p>
        </p:txBody>
      </p:sp>
      <p:sp>
        <p:nvSpPr>
          <p:cNvPr id="3" name="">
            <a:extLst xmlns:a="http://schemas.openxmlformats.org/drawingml/2006/main">
              <a:ext uri="{FF2B5EF4-FFF2-40B4-BE49-F238E27FC236}">
                <a16:creationId xmlns:a16="http://schemas.microsoft.com/office/drawing/2014/main" id="{BA2E5256-CD7C-4C04-B164-EDFAD7CC014A}"/>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A4536148-13F4-45CB-ACF6-CE942D4A9FEF}"/>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293D7654-D98C-4A66-952E-B48F7D32D600}"/>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The GA you built reproduces brute force's exact answer (0.0125) here, verified - using about 10% of the evaluations.</a:t>
            </a:r>
          </a:p>
        </p:txBody>
      </p:sp>
      <p:sp>
        <p:nvSpPr>
          <p:cNvPr id="6" name="take-no-1">
            <a:extLst xmlns:a="http://schemas.openxmlformats.org/drawingml/2006/main">
              <a:ext uri="{FF2B5EF4-FFF2-40B4-BE49-F238E27FC236}">
                <a16:creationId xmlns:a16="http://schemas.microsoft.com/office/drawing/2014/main" id="{DC271ECB-E192-4A23-B955-0BD64C4414EE}"/>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A427E22A-823D-469D-9E1A-3199BF63C5B4}"/>
              </a:ext>
            </a:extLst>
          </p:cNvPr>
          <p:cNvSpPr>
            <a:spLocks xmlns:a="http://schemas.openxmlformats.org/drawingml/2006/main" noGrp="1"/>
          </p:cNvSpPr>
          <p:nvPr/>
        </p:nvSpPr>
        <p:spPr>
          <a:xfrm xmlns:a="http://schemas.openxmlformats.org/drawingml/2006/main">
            <a:off x="1409700" y="3490722"/>
            <a:ext cx="10172700" cy="9784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At N=6, wall-clock time does not favor the GA - the real advantage is evaluation count, which matters once N grows or each evaluation gets expensive.</a:t>
            </a:r>
          </a:p>
        </p:txBody>
      </p:sp>
      <p:sp>
        <p:nvSpPr>
          <p:cNvPr id="8" name="take-no-2">
            <a:extLst xmlns:a="http://schemas.openxmlformats.org/drawingml/2006/main">
              <a:ext uri="{FF2B5EF4-FFF2-40B4-BE49-F238E27FC236}">
                <a16:creationId xmlns:a16="http://schemas.microsoft.com/office/drawing/2014/main" id="{0D792B7A-4FA6-415F-BAC3-6B62E71D9160}"/>
              </a:ext>
            </a:extLst>
          </p:cNvPr>
          <p:cNvSpPr>
            <a:spLocks xmlns:a="http://schemas.openxmlformats.org/drawingml/2006/main" noGrp="1"/>
          </p:cNvSpPr>
          <p:nvPr/>
        </p:nvSpPr>
        <p:spPr>
          <a:xfrm xmlns:a="http://schemas.openxmlformats.org/drawingml/2006/main">
            <a:off x="609600" y="460248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11090062-52D2-4F2A-BD0F-845D8CF7F025}"/>
              </a:ext>
            </a:extLst>
          </p:cNvPr>
          <p:cNvSpPr>
            <a:spLocks xmlns:a="http://schemas.openxmlformats.org/drawingml/2006/main" noGrp="1"/>
          </p:cNvSpPr>
          <p:nvPr/>
        </p:nvSpPr>
        <p:spPr>
          <a:xfrm xmlns:a="http://schemas.openxmlformats.org/drawingml/2006/main">
            <a:off x="1409700" y="456438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Every AI-drafted optimizer needs the same audit habit as any other AI-drafted code.</a:t>
            </a:r>
          </a:p>
        </p:txBody>
      </p:sp>
      <p:sp>
        <p:nvSpPr>
          <p:cNvPr id="10" name="take-no-3">
            <a:extLst xmlns:a="http://schemas.openxmlformats.org/drawingml/2006/main">
              <a:ext uri="{FF2B5EF4-FFF2-40B4-BE49-F238E27FC236}">
                <a16:creationId xmlns:a16="http://schemas.microsoft.com/office/drawing/2014/main" id="{C8510CA7-0216-492A-B560-F1284C44D825}"/>
              </a:ext>
            </a:extLst>
          </p:cNvPr>
          <p:cNvSpPr>
            <a:spLocks xmlns:a="http://schemas.openxmlformats.org/drawingml/2006/main" noGrp="1"/>
          </p:cNvSpPr>
          <p:nvPr/>
        </p:nvSpPr>
        <p:spPr>
          <a:xfrm xmlns:a="http://schemas.openxmlformats.org/drawingml/2006/main">
            <a:off x="609600" y="538810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8126E3C4-1C27-4689-BEF7-ED2144F7BC81}"/>
              </a:ext>
            </a:extLst>
          </p:cNvPr>
          <p:cNvSpPr>
            <a:spLocks xmlns:a="http://schemas.openxmlformats.org/drawingml/2006/main" noGrp="1"/>
          </p:cNvSpPr>
          <p:nvPr/>
        </p:nvSpPr>
        <p:spPr>
          <a:xfrm xmlns:a="http://schemas.openxmlformats.org/drawingml/2006/main">
            <a:off x="1409700" y="535000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This studio - GA implementation, brute-force comparison, and discussion - IS this week's graded assignment, not an extra layer.</a:t>
            </a:r>
          </a:p>
        </p:txBody>
      </p:sp>
    </p:spTree>
    <p:extLst>
      <p:ext uri="{BB962C8B-B14F-4D97-AF65-F5344CB8AC3E}">
        <p14:creationId xmlns:p14="http://schemas.microsoft.com/office/powerpoint/2010/main" val="1480805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2026-08-20T17:50:05.2740000Z</dcterms:created>
  <dcterms:modified xsi:type="dcterms:W3CDTF">2026-08-20T17:50:05.2740000Z</dcterms:modified>
</coreProperties>
</file>