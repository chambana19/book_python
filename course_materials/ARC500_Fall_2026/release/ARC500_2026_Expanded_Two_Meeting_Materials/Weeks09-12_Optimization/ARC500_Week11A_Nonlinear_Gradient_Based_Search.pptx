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2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a7fd16c50e4aff" /><Relationship Type="http://schemas.openxmlformats.org/officeDocument/2006/relationships/extended-properties" Target="/docProps/app.xml" Id="R79635b0ba88140ed" /><Relationship Type="http://schemas.openxmlformats.org/officeDocument/2006/relationships/officeDocument" Target="/ppt/presentation.xml" Id="R62b4e1df9a1b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cbfdf24724a78"/>
  </p:sldMasterIdLst>
  <p:notesMasterIdLst>
    <p:notesMasterId xmlns:r="http://schemas.openxmlformats.org/officeDocument/2006/relationships" r:id="R8e59e038987f44ad"/>
  </p:notesMasterIdLst>
  <p:sldIdLst>
    <p:sldId xmlns:r="http://schemas.openxmlformats.org/officeDocument/2006/relationships" id="256" r:id="R07676ac3f9ee458f"/>
    <p:sldId xmlns:r="http://schemas.openxmlformats.org/officeDocument/2006/relationships" id="257" r:id="Rfe3a68305e7a4ee7"/>
    <p:sldId xmlns:r="http://schemas.openxmlformats.org/officeDocument/2006/relationships" id="258" r:id="R8d10ca067bb34d40"/>
    <p:sldId xmlns:r="http://schemas.openxmlformats.org/officeDocument/2006/relationships" id="259" r:id="R1ac8fc535a7544ff"/>
    <p:sldId xmlns:r="http://schemas.openxmlformats.org/officeDocument/2006/relationships" id="260" r:id="R2acd72ce7f15452c"/>
    <p:sldId xmlns:r="http://schemas.openxmlformats.org/officeDocument/2006/relationships" id="261" r:id="R55054e3808004a37"/>
    <p:sldId xmlns:r="http://schemas.openxmlformats.org/officeDocument/2006/relationships" id="262" r:id="Rde1e296ff8554448"/>
    <p:sldId xmlns:r="http://schemas.openxmlformats.org/officeDocument/2006/relationships" id="263" r:id="R7934a1483fb74234"/>
    <p:sldId xmlns:r="http://schemas.openxmlformats.org/officeDocument/2006/relationships" id="264" r:id="R2f23405daa244450"/>
    <p:sldId xmlns:r="http://schemas.openxmlformats.org/officeDocument/2006/relationships" id="265" r:id="R1e019de29e5846f0"/>
    <p:sldId xmlns:r="http://schemas.openxmlformats.org/officeDocument/2006/relationships" id="266" r:id="R77d38ba1faba42c3"/>
    <p:sldId xmlns:r="http://schemas.openxmlformats.org/officeDocument/2006/relationships" id="267" r:id="Rd171f750a12c4b90"/>
    <p:sldId xmlns:r="http://schemas.openxmlformats.org/officeDocument/2006/relationships" id="268" r:id="Rfb759ffac9624fe0"/>
    <p:sldId xmlns:r="http://schemas.openxmlformats.org/officeDocument/2006/relationships" id="269" r:id="R81729f45faa5428b"/>
    <p:sldId xmlns:r="http://schemas.openxmlformats.org/officeDocument/2006/relationships" id="270" r:id="R5fb0ef533f664a2f"/>
    <p:sldId xmlns:r="http://schemas.openxmlformats.org/officeDocument/2006/relationships" id="271" r:id="Rc00d985800db49ba"/>
    <p:sldId xmlns:r="http://schemas.openxmlformats.org/officeDocument/2006/relationships" id="272" r:id="Raa1b260f8ac74da4"/>
    <p:sldId xmlns:r="http://schemas.openxmlformats.org/officeDocument/2006/relationships" id="273" r:id="R65bcbc860a2a487d"/>
    <p:sldId xmlns:r="http://schemas.openxmlformats.org/officeDocument/2006/relationships" id="274" r:id="Rc87dbacee3be4b3c"/>
    <p:sldId xmlns:r="http://schemas.openxmlformats.org/officeDocument/2006/relationships" id="275" r:id="R802b8af25afd426f"/>
    <p:sldId xmlns:r="http://schemas.openxmlformats.org/officeDocument/2006/relationships" id="276" r:id="R1a63696d81044b1e"/>
    <p:sldId xmlns:r="http://schemas.openxmlformats.org/officeDocument/2006/relationships" id="277" r:id="Rb6c0f0eb17cb4d16"/>
    <p:sldId xmlns:r="http://schemas.openxmlformats.org/officeDocument/2006/relationships" id="278" r:id="R146b04f339034514"/>
    <p:sldId xmlns:r="http://schemas.openxmlformats.org/officeDocument/2006/relationships" id="279" r:id="R892ede309cb24505"/>
    <p:sldId xmlns:r="http://schemas.openxmlformats.org/officeDocument/2006/relationships" id="280" r:id="R09220e09841141e7"/>
    <p:sldId xmlns:r="http://schemas.openxmlformats.org/officeDocument/2006/relationships" id="281" r:id="R2d1824c59abd41c8"/>
    <p:sldId xmlns:r="http://schemas.openxmlformats.org/officeDocument/2006/relationships" id="282" r:id="R64c54bc6e1a1430d"/>
    <p:sldId xmlns:r="http://schemas.openxmlformats.org/officeDocument/2006/relationships" id="283" r:id="Rf905417b7f3445d2"/>
    <p:sldId xmlns:r="http://schemas.openxmlformats.org/officeDocument/2006/relationships" id="284" r:id="R12fc70e754af480e"/>
    <p:sldId xmlns:r="http://schemas.openxmlformats.org/officeDocument/2006/relationships" id="285" r:id="R2a5bc8df722d499f"/>
    <p:sldId xmlns:r="http://schemas.openxmlformats.org/officeDocument/2006/relationships" id="286" r:id="R255baef50c1b4781"/>
    <p:sldId xmlns:r="http://schemas.openxmlformats.org/officeDocument/2006/relationships" id="287" r:id="R35bfe39a950145c9"/>
    <p:sldId xmlns:r="http://schemas.openxmlformats.org/officeDocument/2006/relationships" id="288" r:id="R7664dec399064b4e"/>
    <p:sldId xmlns:r="http://schemas.openxmlformats.org/officeDocument/2006/relationships" id="289" r:id="Ra7a61ca92c25485e"/>
    <p:sldId xmlns:r="http://schemas.openxmlformats.org/officeDocument/2006/relationships" id="290" r:id="Rac36c31f479344ec"/>
    <p:sldId xmlns:r="http://schemas.openxmlformats.org/officeDocument/2006/relationships" id="291" r:id="R06522d7c5e4943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6d137974d5479e" /><Relationship Type="http://schemas.openxmlformats.org/officeDocument/2006/relationships/slideMaster" Target="/ppt/slideMasters/slideMaster1.xml" Id="R706cbfdf24724a78" /><Relationship Type="http://schemas.openxmlformats.org/officeDocument/2006/relationships/notesMaster" Target="/ppt/notesMasters/notesMaster1.xml" Id="R8e59e038987f44ad" /><Relationship Type="http://schemas.openxmlformats.org/officeDocument/2006/relationships/presProps" Target="/ppt/presProps.xml" Id="R8ddc20a32fa649e9" /><Relationship Type="http://schemas.openxmlformats.org/officeDocument/2006/relationships/tableStyles" Target="/ppt/tableStyles.xml" Id="R455e48056d154f3f" /><Relationship Type="http://schemas.openxmlformats.org/officeDocument/2006/relationships/slide" Target="/ppt/slides/slide1.xml" Id="R07676ac3f9ee458f" /><Relationship Type="http://schemas.openxmlformats.org/officeDocument/2006/relationships/slide" Target="/ppt/slides/slide2.xml" Id="Rfe3a68305e7a4ee7" /><Relationship Type="http://schemas.openxmlformats.org/officeDocument/2006/relationships/slide" Target="/ppt/slides/slide3.xml" Id="R8d10ca067bb34d40" /><Relationship Type="http://schemas.openxmlformats.org/officeDocument/2006/relationships/slide" Target="/ppt/slides/slide4.xml" Id="R1ac8fc535a7544ff" /><Relationship Type="http://schemas.openxmlformats.org/officeDocument/2006/relationships/slide" Target="/ppt/slides/slide5.xml" Id="R2acd72ce7f15452c" /><Relationship Type="http://schemas.openxmlformats.org/officeDocument/2006/relationships/slide" Target="/ppt/slides/slide6.xml" Id="R55054e3808004a37" /><Relationship Type="http://schemas.openxmlformats.org/officeDocument/2006/relationships/slide" Target="/ppt/slides/slide7.xml" Id="Rde1e296ff8554448" /><Relationship Type="http://schemas.openxmlformats.org/officeDocument/2006/relationships/slide" Target="/ppt/slides/slide8.xml" Id="R7934a1483fb74234" /><Relationship Type="http://schemas.openxmlformats.org/officeDocument/2006/relationships/slide" Target="/ppt/slides/slide9.xml" Id="R2f23405daa244450" /><Relationship Type="http://schemas.openxmlformats.org/officeDocument/2006/relationships/slide" Target="/ppt/slides/slide10.xml" Id="R1e019de29e5846f0" /><Relationship Type="http://schemas.openxmlformats.org/officeDocument/2006/relationships/slide" Target="/ppt/slides/slide11.xml" Id="R77d38ba1faba42c3" /><Relationship Type="http://schemas.openxmlformats.org/officeDocument/2006/relationships/slide" Target="/ppt/slides/slide12.xml" Id="Rd171f750a12c4b90" /><Relationship Type="http://schemas.openxmlformats.org/officeDocument/2006/relationships/slide" Target="/ppt/slides/slide13.xml" Id="Rfb759ffac9624fe0" /><Relationship Type="http://schemas.openxmlformats.org/officeDocument/2006/relationships/slide" Target="/ppt/slides/slide14.xml" Id="R81729f45faa5428b" /><Relationship Type="http://schemas.openxmlformats.org/officeDocument/2006/relationships/slide" Target="/ppt/slides/slide15.xml" Id="R5fb0ef533f664a2f" /><Relationship Type="http://schemas.openxmlformats.org/officeDocument/2006/relationships/slide" Target="/ppt/slides/slide16.xml" Id="Rc00d985800db49ba" /><Relationship Type="http://schemas.openxmlformats.org/officeDocument/2006/relationships/slide" Target="/ppt/slides/slide17.xml" Id="Raa1b260f8ac74da4" /><Relationship Type="http://schemas.openxmlformats.org/officeDocument/2006/relationships/slide" Target="/ppt/slides/slide18.xml" Id="R65bcbc860a2a487d" /><Relationship Type="http://schemas.openxmlformats.org/officeDocument/2006/relationships/slide" Target="/ppt/slides/slide19.xml" Id="Rc87dbacee3be4b3c" /><Relationship Type="http://schemas.openxmlformats.org/officeDocument/2006/relationships/slide" Target="/ppt/slides/slide20.xml" Id="R802b8af25afd426f" /><Relationship Type="http://schemas.openxmlformats.org/officeDocument/2006/relationships/slide" Target="/ppt/slides/slide21.xml" Id="R1a63696d81044b1e" /><Relationship Type="http://schemas.openxmlformats.org/officeDocument/2006/relationships/slide" Target="/ppt/slides/slide22.xml" Id="Rb6c0f0eb17cb4d16" /><Relationship Type="http://schemas.openxmlformats.org/officeDocument/2006/relationships/slide" Target="/ppt/slides/slide23.xml" Id="R146b04f339034514" /><Relationship Type="http://schemas.openxmlformats.org/officeDocument/2006/relationships/slide" Target="/ppt/slides/slide24.xml" Id="R892ede309cb24505" /><Relationship Type="http://schemas.openxmlformats.org/officeDocument/2006/relationships/slide" Target="/ppt/slides/slide25.xml" Id="R09220e09841141e7" /><Relationship Type="http://schemas.openxmlformats.org/officeDocument/2006/relationships/slide" Target="/ppt/slides/slide26.xml" Id="R2d1824c59abd41c8" /><Relationship Type="http://schemas.openxmlformats.org/officeDocument/2006/relationships/slide" Target="/ppt/slides/slide27.xml" Id="R64c54bc6e1a1430d" /><Relationship Type="http://schemas.openxmlformats.org/officeDocument/2006/relationships/slide" Target="/ppt/slides/slide28.xml" Id="Rf905417b7f3445d2" /><Relationship Type="http://schemas.openxmlformats.org/officeDocument/2006/relationships/slide" Target="/ppt/slides/slide29.xml" Id="R12fc70e754af480e" /><Relationship Type="http://schemas.openxmlformats.org/officeDocument/2006/relationships/slide" Target="/ppt/slides/slide30.xml" Id="R2a5bc8df722d499f" /><Relationship Type="http://schemas.openxmlformats.org/officeDocument/2006/relationships/slide" Target="/ppt/slides/slide31.xml" Id="R255baef50c1b4781" /><Relationship Type="http://schemas.openxmlformats.org/officeDocument/2006/relationships/slide" Target="/ppt/slides/slide32.xml" Id="R35bfe39a950145c9" /><Relationship Type="http://schemas.openxmlformats.org/officeDocument/2006/relationships/slide" Target="/ppt/slides/slide33.xml" Id="R7664dec399064b4e" /><Relationship Type="http://schemas.openxmlformats.org/officeDocument/2006/relationships/slide" Target="/ppt/slides/slide34.xml" Id="Ra7a61ca92c25485e" /><Relationship Type="http://schemas.openxmlformats.org/officeDocument/2006/relationships/slide" Target="/ppt/slides/slide35.xml" Id="Rac36c31f479344ec" /><Relationship Type="http://schemas.openxmlformats.org/officeDocument/2006/relationships/slide" Target="/ppt/slides/slide36.xml" Id="R06522d7c5e4943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b40fd5bacd42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d8104118a14316" /><Relationship Type="http://schemas.openxmlformats.org/officeDocument/2006/relationships/notesMaster" Target="/ppt/notesMasters/notesMaster1.xml" Id="R65d323a7216f42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966235d4ac4dd0" /><Relationship Type="http://schemas.openxmlformats.org/officeDocument/2006/relationships/notesMaster" Target="/ppt/notesMasters/notesMaster1.xml" Id="Rcd9f4f978ecf40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0cc8c38af74fc9" /><Relationship Type="http://schemas.openxmlformats.org/officeDocument/2006/relationships/notesMaster" Target="/ppt/notesMasters/notesMaster1.xml" Id="Rd60456a4f36d48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f8b6346414ea6" /><Relationship Type="http://schemas.openxmlformats.org/officeDocument/2006/relationships/notesMaster" Target="/ppt/notesMasters/notesMaster1.xml" Id="R3c0b2f3fb78942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5d49b2bd8043df" /><Relationship Type="http://schemas.openxmlformats.org/officeDocument/2006/relationships/notesMaster" Target="/ppt/notesMasters/notesMaster1.xml" Id="Rfb6806487191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bc5322e8f043c4" /><Relationship Type="http://schemas.openxmlformats.org/officeDocument/2006/relationships/notesMaster" Target="/ppt/notesMasters/notesMaster1.xml" Id="R895efac264ab40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0d87b8bd4145c1" /><Relationship Type="http://schemas.openxmlformats.org/officeDocument/2006/relationships/notesMaster" Target="/ppt/notesMasters/notesMaster1.xml" Id="R0423354f30c446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60e711bc134bff" /><Relationship Type="http://schemas.openxmlformats.org/officeDocument/2006/relationships/notesMaster" Target="/ppt/notesMasters/notesMaster1.xml" Id="R59090ddb028a40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9093f937d143b1" /><Relationship Type="http://schemas.openxmlformats.org/officeDocument/2006/relationships/notesMaster" Target="/ppt/notesMasters/notesMaster1.xml" Id="R6816d396815648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5a13822cb94bf2" /><Relationship Type="http://schemas.openxmlformats.org/officeDocument/2006/relationships/notesMaster" Target="/ppt/notesMasters/notesMaster1.xml" Id="R223a0ed8f36844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224f7267a74b22" /><Relationship Type="http://schemas.openxmlformats.org/officeDocument/2006/relationships/notesMaster" Target="/ppt/notesMasters/notesMaster1.xml" Id="Re40564a0d4aa4c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d66df638bd46ab" /><Relationship Type="http://schemas.openxmlformats.org/officeDocument/2006/relationships/notesMaster" Target="/ppt/notesMasters/notesMaster1.xml" Id="R63d76cea999948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0ab6d27e564204" /><Relationship Type="http://schemas.openxmlformats.org/officeDocument/2006/relationships/notesMaster" Target="/ppt/notesMasters/notesMaster1.xml" Id="R6c2de71afb0748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a225b8d55c4ca2" /><Relationship Type="http://schemas.openxmlformats.org/officeDocument/2006/relationships/notesMaster" Target="/ppt/notesMasters/notesMaster1.xml" Id="R5797ffd00e5649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280dd765444206" /><Relationship Type="http://schemas.openxmlformats.org/officeDocument/2006/relationships/notesMaster" Target="/ppt/notesMasters/notesMaster1.xml" Id="Rbd0c810dc5654a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0a52c6fcaf4d59" /><Relationship Type="http://schemas.openxmlformats.org/officeDocument/2006/relationships/notesMaster" Target="/ppt/notesMasters/notesMaster1.xml" Id="Rffb328a93f8f45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6968ad6e534a16" /><Relationship Type="http://schemas.openxmlformats.org/officeDocument/2006/relationships/notesMaster" Target="/ppt/notesMasters/notesMaster1.xml" Id="R22129db2ccc149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1af1f825394fa2" /><Relationship Type="http://schemas.openxmlformats.org/officeDocument/2006/relationships/notesMaster" Target="/ppt/notesMasters/notesMaster1.xml" Id="Rc9693e2babe844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8d33adfea44544" /><Relationship Type="http://schemas.openxmlformats.org/officeDocument/2006/relationships/notesMaster" Target="/ppt/notesMasters/notesMaster1.xml" Id="Rc71c75f66cf447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a5a6b2f8f14f57" /><Relationship Type="http://schemas.openxmlformats.org/officeDocument/2006/relationships/notesMaster" Target="/ppt/notesMasters/notesMaster1.xml" Id="Rd88eddd8b7684a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0dceddc23b4083" /><Relationship Type="http://schemas.openxmlformats.org/officeDocument/2006/relationships/notesMaster" Target="/ppt/notesMasters/notesMaster1.xml" Id="R5b6b3d9fb40c45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5d8b4e1f214649" /><Relationship Type="http://schemas.openxmlformats.org/officeDocument/2006/relationships/notesMaster" Target="/ppt/notesMasters/notesMaster1.xml" Id="R8c4c6950134145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4433d1f0944ff4" /><Relationship Type="http://schemas.openxmlformats.org/officeDocument/2006/relationships/notesMaster" Target="/ppt/notesMasters/notesMaster1.xml" Id="R77c2e46e9cef40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0f590a42b84355" /><Relationship Type="http://schemas.openxmlformats.org/officeDocument/2006/relationships/notesMaster" Target="/ppt/notesMasters/notesMaster1.xml" Id="Re1948bd0e6c942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cc7c0a064d4880" /><Relationship Type="http://schemas.openxmlformats.org/officeDocument/2006/relationships/notesMaster" Target="/ppt/notesMasters/notesMaster1.xml" Id="R18a656daa82b44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22aac247d1e40f7" /><Relationship Type="http://schemas.openxmlformats.org/officeDocument/2006/relationships/notesMaster" Target="/ppt/notesMasters/notesMaster1.xml" Id="Re405ce9d8b62489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806ac2397a841d5" /><Relationship Type="http://schemas.openxmlformats.org/officeDocument/2006/relationships/notesMaster" Target="/ppt/notesMasters/notesMaster1.xml" Id="R17aacd7d56ee4a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b39ad6e37c6452a" /><Relationship Type="http://schemas.openxmlformats.org/officeDocument/2006/relationships/notesMaster" Target="/ppt/notesMasters/notesMaster1.xml" Id="R1e56224060954bf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f05374427014910" /><Relationship Type="http://schemas.openxmlformats.org/officeDocument/2006/relationships/notesMaster" Target="/ppt/notesMasters/notesMaster1.xml" Id="R06a72ebe13224c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a17602fb3845b1" /><Relationship Type="http://schemas.openxmlformats.org/officeDocument/2006/relationships/notesMaster" Target="/ppt/notesMasters/notesMaster1.xml" Id="R2436e200c55a48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9a7e0138cb4db2" /><Relationship Type="http://schemas.openxmlformats.org/officeDocument/2006/relationships/notesMaster" Target="/ppt/notesMasters/notesMaster1.xml" Id="Rb6e3e32fadae4a9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d4d703beedf4322" /><Relationship Type="http://schemas.openxmlformats.org/officeDocument/2006/relationships/notesMaster" Target="/ppt/notesMasters/notesMaster1.xml" Id="R085e6871b670462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21db47729d400e" /><Relationship Type="http://schemas.openxmlformats.org/officeDocument/2006/relationships/notesMaster" Target="/ppt/notesMasters/notesMaster1.xml" Id="R28265a6cf5904bb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be35c92b2094d88" /><Relationship Type="http://schemas.openxmlformats.org/officeDocument/2006/relationships/notesMaster" Target="/ppt/notesMasters/notesMaster1.xml" Id="R12a89bbd9615442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ec84af9be294cd2" /><Relationship Type="http://schemas.openxmlformats.org/officeDocument/2006/relationships/notesMaster" Target="/ppt/notesMasters/notesMaster1.xml" Id="R2e7f2d322e884cf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6002fcc836b49d8" /><Relationship Type="http://schemas.openxmlformats.org/officeDocument/2006/relationships/notesMaster" Target="/ppt/notesMasters/notesMaster1.xml" Id="Ra973339f1df142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by holding last week's Radley Hall roof LP result next to Week 9's two-basin heatmap. Ask: for a smooth, curved objective like this one, can we solve it exactly the way linprog solved the roof? Today's answer is no — we search instead, and the search can go wrong in a specific, predictable way that is the whole point of the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Foreshadow the two demonstrations coming later this deck: the exact same function and bounds, two different starting guesses, two very different reported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Preview that all four feed directly into Meeting B's studio and Project 2 Part II, which requires trying at least two initial guesses on the student's own nonlinear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Tell students today closes the loop Week 9 opened: you already saw the whole surface by brute force; today the computer finds a minimum on its own — but which one is not guaranteed.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These four numbers reproduce Week 9's finite-grid check. The lower basin is a candidate global optimum corroborated by dense sampling and multistart, not a proof over every continuous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https://docs.scipy.org/doc/scipy/tutorial/optimize.html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this table explicitly as 'algorithm family #2 of 3.' Students should leave today knowing exactly which family fits which kind of problem, since Project 2 Part I asks them to justify that choice in writing.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Reassure students this is not new syntax to memorize — the bounds argument looks identical to last week's linprog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https://docs.scipy.org/doc/scipy/reference/generated/scipy.optimize.linprog.html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to open their Week 9 handout side by side — every line here should look identical to what they already ran, now with the docstring and type hints spelled out. Read basin()'s signature aloud: seven floats in, one float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Have students confirm these two numbers match their own Week 9 output. Name -11.08 the lower, best-corroborated basin rather than a proved global optimum.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Use a fog-on-a-hillside analogy: you can feel which way is downhill right where you stand, but you cannot see the next valley 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students where they would have started, before revealing two slides from now that most 'reasonable-looking' choices land in the wrong basin.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Treat x0 as part of the method, not a hidden convenience. The next two demonstrations differ only in the first 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general call shape; the real demo two slides from now substitutes an actual tuple for x0, e.g. x0=(0.55, 0.20). The next slide covers what comes back: result.x, result.fun, result.success.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result.success is True in both demonstrations coming next, even though one of them is the wrong answer — 'success' means the search converged, not that it found the best possible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Ask: does x0=(0.55, 0.20) LOOK like a reasonable design guess? It should — that is exactly the trap. Take a show of hands on every option before revealing on the next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Ask: does this LOOK wrong? It should not — that is exactly the trap. Nothing about the printed output signals a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Write both values before the next run. Emphasize that success means convergence and numerical agreement means corroboration, not proof of the global minimum.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Contrast the definition with the next slide: a global optimum is best everywhere, while our numerical checks only corroborate a candidate.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Keep the definition of global optimum precise, then distinguish it from what these numerical checks establish: corroboration, not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Option D names the exact misconception this whole lesson corrects — minimize is deterministic for a fixed function, method, and start, but a different start can reach a different basin.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Let this land in silence for a second before moving on — same three lines of code as Demo 1, one argument changed, four points of energy proxy recovered. Name it the lower, best-corroborated basin rather than claiming a proof of globality.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Both traces use scipy's callback on the exact Demo 1/2 calls. Start A has 6 real recorded values and one repeated alignment point; Start B has 7 real values. Distinguish plotted accepted iterates from unshown internal trial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verified multistart table. LOWER means best among these corroborating checks, not a proof over the continuum.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that this is the first function in the course that takes another function as an argument — and that students have already been doing it every time they wrote minimize(energy_proxy, ...). Trace the two if-statements out loud: one counts, one remembers.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Ask what would be lost if this function returned only the best result and printed nothing: the answer would still be right, but the evidence that a single run is untrustworthy would disappear.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which bar students expected to be taller. Reinforce that frequency and objective quality differ, and that LOWER means best corroborated here, not proved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Frame the trade-off as local efficiency versus sampled coverage, then repeat: a finite grid corroborates a region but does not prove globality over the continuum.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Use the verified evaluation counts, then distinguish sampled coverage, local convergence, and a true global-optimality certificate.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- https://docs.scipy.org/doc/scipy/tutorial/optimize.html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bounds is an optional argument to minimize, not a required one — that is exactly why leaving it off does not error, and exactly why it should never be left off on a real design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Run this live if time allows — result.success is True for both, which is exactly why success alone is not enough to trust a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Connect back explicitly to the unbounded demo just shown — bounds is not optional politeness, it is what keeps the answer physically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four-step order is the procedural takeaway students should be able to recite before Wednesday's studio.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Preview Meeting B's studio: students will build the same multi-start table shown today, then write the required agreement/disagreement finding.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No fixed numeric answer is required; the evidence is the multistart table. Students should distinguish a narrow/deep courtyard solution from a wider/lower-opening alternative only if the proxy and returned values support that wording. Agreement is reassuring but not proof of global optimality; disagreement is a finding. Require the same objective and bounds across starts so only the initial condition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Name the solver card explicitly here for the first time — Meeting B will define it fully.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Exit ticket: write one next starting guess, predict its basin, and state what the result can and cannot establish.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5e161a4f141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5801f477a64037" /><Relationship Type="http://schemas.openxmlformats.org/officeDocument/2006/relationships/slideLayout" Target="/ppt/slideLayouts/slideLayout1.xml" Id="R83a8a0849329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8a0849329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b8ba968294c49" /><Relationship Type="http://schemas.openxmlformats.org/officeDocument/2006/relationships/notesSlide" Target="/ppt/notesSlides/notesSlide1.xml" Id="Ra5a19808a29e44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be97531274b4f" /><Relationship Type="http://schemas.openxmlformats.org/officeDocument/2006/relationships/notesSlide" Target="/ppt/notesSlides/notesSlide2.xml" Id="Rf802cad4dc4742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a809d524d4811" /><Relationship Type="http://schemas.openxmlformats.org/officeDocument/2006/relationships/notesSlide" Target="/ppt/notesSlides/notesSlide3.xml" Id="R0ed4baf3bec948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cfa0bf90d44e1" /><Relationship Type="http://schemas.openxmlformats.org/officeDocument/2006/relationships/notesSlide" Target="/ppt/notesSlides/notesSlide4.xml" Id="R22ff95e23bb84d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d92b46760443d" /><Relationship Type="http://schemas.openxmlformats.org/officeDocument/2006/relationships/notesSlide" Target="/ppt/notesSlides/notesSlide5.xml" Id="R7cf447e64cf345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aa926457c4efa" /><Relationship Type="http://schemas.openxmlformats.org/officeDocument/2006/relationships/notesSlide" Target="/ppt/notesSlides/notesSlide6.xml" Id="R1b251ef8493249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e01f72c84407f" /><Relationship Type="http://schemas.openxmlformats.org/officeDocument/2006/relationships/notesSlide" Target="/ppt/notesSlides/notesSlide7.xml" Id="R62d1f3c59ba34b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5505a5e3f417f" /><Relationship Type="http://schemas.openxmlformats.org/officeDocument/2006/relationships/notesSlide" Target="/ppt/notesSlides/notesSlide8.xml" Id="Rfa924a72484444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d2af4598b4138" /><Relationship Type="http://schemas.openxmlformats.org/officeDocument/2006/relationships/notesSlide" Target="/ppt/notesSlides/notesSlide9.xml" Id="Re28efb1f38c849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b70bcb9cc489f" /><Relationship Type="http://schemas.openxmlformats.org/officeDocument/2006/relationships/notesSlide" Target="/ppt/notesSlides/notesSlide10.xml" Id="Rac2c26a5c1e14d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dd11c1c0d4f9d" /><Relationship Type="http://schemas.openxmlformats.org/officeDocument/2006/relationships/notesSlide" Target="/ppt/notesSlides/notesSlide11.xml" Id="R0ef643efae1147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1a09b2f214d43" /><Relationship Type="http://schemas.openxmlformats.org/officeDocument/2006/relationships/notesSlide" Target="/ppt/notesSlides/notesSlide12.xml" Id="R979a55444ab044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d54608e354010" /><Relationship Type="http://schemas.openxmlformats.org/officeDocument/2006/relationships/notesSlide" Target="/ppt/notesSlides/notesSlide13.xml" Id="R9f541778c19e4c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a475f80044c07" /><Relationship Type="http://schemas.openxmlformats.org/officeDocument/2006/relationships/notesSlide" Target="/ppt/notesSlides/notesSlide14.xml" Id="R5bb4bb397fd543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9365b58724a01" /><Relationship Type="http://schemas.openxmlformats.org/officeDocument/2006/relationships/notesSlide" Target="/ppt/notesSlides/notesSlide15.xml" Id="R1fa4a33d05cf48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0441ab6324a51" /><Relationship Type="http://schemas.openxmlformats.org/officeDocument/2006/relationships/notesSlide" Target="/ppt/notesSlides/notesSlide16.xml" Id="R748c7b61c47345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5319214054b50" /><Relationship Type="http://schemas.openxmlformats.org/officeDocument/2006/relationships/notesSlide" Target="/ppt/notesSlides/notesSlide17.xml" Id="Rbea42fc634324e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7cb7fcf854440" /><Relationship Type="http://schemas.openxmlformats.org/officeDocument/2006/relationships/notesSlide" Target="/ppt/notesSlides/notesSlide18.xml" Id="Rb80482bcfd8e44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2c920063d4a08" /><Relationship Type="http://schemas.openxmlformats.org/officeDocument/2006/relationships/notesSlide" Target="/ppt/notesSlides/notesSlide19.xml" Id="R1eb27013550742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6b0ec430e4a6c" /><Relationship Type="http://schemas.openxmlformats.org/officeDocument/2006/relationships/notesSlide" Target="/ppt/notesSlides/notesSlide20.xml" Id="R58404dc67ab04b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020cacb49457c" /><Relationship Type="http://schemas.openxmlformats.org/officeDocument/2006/relationships/notesSlide" Target="/ppt/notesSlides/notesSlide21.xml" Id="Red5f7c6c3aab4b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7a27811944aee" /><Relationship Type="http://schemas.openxmlformats.org/officeDocument/2006/relationships/chart" Target="/ppt/slides/charts/chart1.xml" Id="R7f60ed11dd5446ba" /><Relationship Type="http://schemas.openxmlformats.org/officeDocument/2006/relationships/notesSlide" Target="/ppt/notesSlides/notesSlide22.xml" Id="R49a3583268594a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b2065b42a46f6" /><Relationship Type="http://schemas.openxmlformats.org/officeDocument/2006/relationships/notesSlide" Target="/ppt/notesSlides/notesSlide23.xml" Id="R4a32e0fe0eed42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23ce4d4ff4b35" /><Relationship Type="http://schemas.openxmlformats.org/officeDocument/2006/relationships/notesSlide" Target="/ppt/notesSlides/notesSlide24.xml" Id="Rca23ed2434714c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5d9c670b84734" /><Relationship Type="http://schemas.openxmlformats.org/officeDocument/2006/relationships/notesSlide" Target="/ppt/notesSlides/notesSlide25.xml" Id="Rde4a9b68d75745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c2a992dff4541" /><Relationship Type="http://schemas.openxmlformats.org/officeDocument/2006/relationships/chart" Target="/ppt/slides/charts/chart2.xml" Id="Reb5ea633b03443b5" /><Relationship Type="http://schemas.openxmlformats.org/officeDocument/2006/relationships/notesSlide" Target="/ppt/notesSlides/notesSlide26.xml" Id="R4420ddef03a5416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87989a5e14661" /><Relationship Type="http://schemas.openxmlformats.org/officeDocument/2006/relationships/notesSlide" Target="/ppt/notesSlides/notesSlide27.xml" Id="R8f8dd98b8e294a7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9e7541d1f4b0c" /><Relationship Type="http://schemas.openxmlformats.org/officeDocument/2006/relationships/notesSlide" Target="/ppt/notesSlides/notesSlide28.xml" Id="Reb5474c2f6244d2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cb7a5b7284ca6" /><Relationship Type="http://schemas.openxmlformats.org/officeDocument/2006/relationships/notesSlide" Target="/ppt/notesSlides/notesSlide29.xml" Id="R07c1e7f25da946d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d562d41804025" /><Relationship Type="http://schemas.openxmlformats.org/officeDocument/2006/relationships/notesSlide" Target="/ppt/notesSlides/notesSlide30.xml" Id="R845fae6e6be942d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11974be054437" /><Relationship Type="http://schemas.openxmlformats.org/officeDocument/2006/relationships/notesSlide" Target="/ppt/notesSlides/notesSlide31.xml" Id="Rd927cc1c22e1494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7ec90a7434c91" /><Relationship Type="http://schemas.openxmlformats.org/officeDocument/2006/relationships/notesSlide" Target="/ppt/notesSlides/notesSlide32.xml" Id="Reed465396c48441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6303e8dae4d2d" /><Relationship Type="http://schemas.openxmlformats.org/officeDocument/2006/relationships/notesSlide" Target="/ppt/notesSlides/notesSlide33.xml" Id="Rc27e1c6dd1bf4d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3b353b7314be9" /><Relationship Type="http://schemas.openxmlformats.org/officeDocument/2006/relationships/notesSlide" Target="/ppt/notesSlides/notesSlide34.xml" Id="Rc940281a79ff4c5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755401f9f470c" /><Relationship Type="http://schemas.openxmlformats.org/officeDocument/2006/relationships/notesSlide" Target="/ppt/notesSlides/notesSlide35.xml" Id="R5df1cf4eaee24ca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330d23c094840" /><Relationship Type="http://schemas.openxmlformats.org/officeDocument/2006/relationships/notesSlide" Target="/ppt/notesSlides/notesSlide36.xml" Id="R27d252f4c1d0477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Recorded objective value at each solver callback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lineChart>
        <c:grouping val="standard"/>
        <c:ser>
          <c:idx val="0"/>
          <c:order val="0"/>
          <c:tx>
            <c:v>Start (0.55, 0.20) → local basin</c:v>
          </c:tx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General</c:formatCode>
              <c:ptCount val="7"/>
              <c:pt idx="0">
                <c:v>-3.525</c:v>
              </c:pt>
              <c:pt idx="1">
                <c:v>-6.8412</c:v>
              </c:pt>
              <c:pt idx="2">
                <c:v>-7.1307</c:v>
              </c:pt>
              <c:pt idx="3">
                <c:v>-7.1521</c:v>
              </c:pt>
              <c:pt idx="4">
                <c:v>-7.1521</c:v>
              </c:pt>
              <c:pt idx="5">
                <c:v>-7.1521</c:v>
              </c:pt>
              <c:pt idx="6">
                <c:v>-7.1521</c:v>
              </c:pt>
            </c:numLit>
          </c:val>
        </c:ser>
        <c:ser>
          <c:idx val="1"/>
          <c:order val="1"/>
          <c:tx>
            <c:v>Start (0.20, 1.00) → lower basin</c:v>
          </c:tx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General</c:formatCode>
              <c:ptCount val="7"/>
              <c:pt idx="0">
                <c:v>8.8331</c:v>
              </c:pt>
              <c:pt idx="1">
                <c:v>-6.9338</c:v>
              </c:pt>
              <c:pt idx="2">
                <c:v>-10.9453</c:v>
              </c:pt>
              <c:pt idx="3">
                <c:v>-11.1436</c:v>
              </c:pt>
              <c:pt idx="4">
                <c:v>-11.1437</c:v>
              </c:pt>
              <c:pt idx="5">
                <c:v>-11.1437</c:v>
              </c:pt>
              <c:pt idx="6">
                <c:v>-11.1437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Callback index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energy_proxy value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5F6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Starting guesses by basin reached (n=8)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Starting guesses</c:v>
          </c:tx>
          <c:cat>
            <c:strLit>
              <c:ptCount val="2"/>
              <c:pt idx="0">
                <c:v>LOCAL (worse)</c:v>
              </c:pt>
              <c:pt idx="1">
                <c:v>LOWER (best known)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3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Basin reached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Number of starting guesses (of 8)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0405EDE0-46D4-46E4-A0C7-7BEF67B8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77CE9933-C427-4DD6-9207-95444D9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9886791E-C446-439A-851A-FE798BEE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BB9331D9-4011-49FF-B2D5-918D829A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11 · MEETING A · OPTIMIZATION II: NONLINEAR AND GRADIENT-BASED SEARCH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33A8DF87-E50B-4BEF-AF2B-41F5B94D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computer finds a minimum. Which one, and why, is today's lesson.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124281A-E422-44A2-80E9-C8DD536D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scipy.optimize.minimize follows the slope downhill from a starting guess — initial guess, bounds, local optimum vs. global optimum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BBBAB-CE48-4858-B1B3-A8010DC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3DF94F5A-8CCE-46D3-9B18-E3AFB816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382495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AD3EEF24-9A48-4704-B7C2-FFA8D6B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A90BC2-EA98-4178-B9D3-4B8CECF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Following the slope downhill does not always reach the lowest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A928D-161D-4085-9F7F-5AEE437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F71EF8C-ECC7-471D-A677-010EF6F3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CD2CEE7-C90F-4E45-B507-455DBB08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1D52BB03-4002-487A-BC4B-6F9DA4AA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9829800" cy="254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scipy.optimize.minimize starts at your initial guess and repeatedly steps toward lower values — but it only ever sees the slope right where it is standing.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BD1BE-17CA-471F-836B-56CB06F5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C7153239-DE70-470B-80E8-7BCD5B74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530"/>
            <a:ext cx="93345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If your starting guess sits in the wrong basin, minimize slides confidently downhill into a real, comparable-looking trap and stops there — reporting success the entire way.</a:t>
            </a:r>
          </a:p>
        </p:txBody>
      </p:sp>
    </p:spTree>
    <p:extLst>
      <p:ext uri="{BB962C8B-B14F-4D97-AF65-F5344CB8AC3E}">
        <p14:creationId xmlns:p14="http://schemas.microsoft.com/office/powerpoint/2010/main" val="1980323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24BC21CA-D9C5-4C15-A670-2B96048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51419E-4FA9-422A-B82F-55BF1823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B10E4-6AB5-43B1-B4C1-423BDF7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F35A2AE-81EF-42F8-AB5B-228F533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0CAE0A8-7CBB-4D76-BA7C-CB34A3B5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9DC3BD94-9438-42B3-80DE-502372D5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3B211EC9-2450-439C-AB3C-D1250E4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42190689-0B14-4C11-B93B-76476396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Reconnect today's optimization to the exact energy_proxy(wwr, shade_m) surface swept and visualized in Week 9.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44EDC901-1010-4C34-89A3-8D0D1E22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08B3EB29-0A33-48E8-86C7-B69F8527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8793EA69-B401-40D8-A546-CAD9246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Call scipy.optimize.minimize with an initial guess and bounds, and read result.x, result.fun, and result.success.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04395481-7E02-4D07-9A29-4EA373CA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3BE033AA-477F-4FCC-835B-652F8516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Distinguish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1789513B-3F09-4751-B1F6-81965CC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Tell a local optimum (best nearby) apart from the global optimum (best anywhere in bounds).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FBA2E496-56E6-4495-95D8-0A3AF14D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122B792A-3DBC-49E8-8C93-FA8742F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2068E72E-AF33-4FD2-8AEB-8519C1F5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why the starting guess — not a bug, not bad luck — can change which optimum minimize reports.</a:t>
            </a:r>
          </a:p>
        </p:txBody>
      </p:sp>
    </p:spTree>
    <p:extLst>
      <p:ext uri="{BB962C8B-B14F-4D97-AF65-F5344CB8AC3E}">
        <p14:creationId xmlns:p14="http://schemas.microsoft.com/office/powerpoint/2010/main" val="598810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232981C-9FFA-4398-BF57-0DE95B24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68C821-62EC-4A83-808F-BAB87E68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2BDD9-05FB-41FD-9798-A046141A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8CF72C6-F7FA-49AD-A70D-0F7C6E92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814EE19-6EA7-4701-A861-A1A5B38D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083D6C45-DCB2-438F-BC04-97E06127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18819-EAE3-4099-98CD-CF36A652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861447D2-2CAE-4779-89FC-E2488734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Week 9's two-basin surface: same function, new question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D09AF35D-6B0D-44DE-A8C9-F1EDB680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A0649-27AF-4FD2-AEFA-83C221A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4066937B-E7D5-47F1-B935-AFD6DCB1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Gradient, slope, and initial guess: how minimize actually searches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0C420049-2807-4D31-A3EF-641571FB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BEAE7-46BD-490C-8BC5-5B0DF819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ECF631B3-1751-4F60-B5D1-0AAA3BDA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function, two starting guesses, two different answers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2ABD0D9E-E9C4-4377-A36E-2D34822A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0C45E-76A0-41C5-94CA-C98F40AA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A1D3FF33-C89D-47AB-A2B6-72170691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vs. global optimum: reading (and trusting) a solver's result</a:t>
            </a:r>
          </a:p>
        </p:txBody>
      </p:sp>
    </p:spTree>
    <p:extLst>
      <p:ext uri="{BB962C8B-B14F-4D97-AF65-F5344CB8AC3E}">
        <p14:creationId xmlns:p14="http://schemas.microsoft.com/office/powerpoint/2010/main" val="11029448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82AB17A7-6AE3-4D41-A402-9E366435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7DB052-4ABA-4787-8713-232E027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Week 9: the same two-basin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7325D-6C9A-4C3D-A3A0-F9BB5EAB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7FCD32D-D943-437D-B90B-021AB4D0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180327-A529-402E-A4CE-45821996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C1D4D-7652-4667-84E5-12D6D383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407E24F5-E30A-47E4-AEE2-FAD2C6EF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377E0-32F9-4F64-868F-DC034370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9E89F984-7B6A-43AF-9083-F78D433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11C90-1214-410D-9AEA-3DD3242D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70E36E9A-0C9C-475C-8D76-8078F198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design 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69C1D-FFD6-4EB6-92BF-89EAC804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EF2BB90D-A714-48FA-98B8-04D670D3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window-to-wall ratio wwr (0.20–0.60), shading depth shade_m (0.0–1.2 m)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29076-36C9-40FE-8F74-C7C9D8BB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332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1B9BAF29-2FB1-4C3C-9B25-D11B013C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952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basin center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3A2C8-D823-4E73-8D78-2EC95F68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332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938BD419-0718-4F8D-B1FA-F7BFC7C9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952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(wwr=0.52, shade=0.25) → energy_proxy = -7.08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5D635-45E6-456A-855A-FDC765A6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434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9B5A224A-E8CF-46D3-8B89-8FCC905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054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 basin center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67070-00E4-41F5-B66C-3667B804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434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B457FE04-DF7B-4CDE-8CF0-7BF3E6F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054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(wwr=0.28, shade=0.90) → energy_proxy = -11.08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1BD32-8B86-4D5A-BD63-1AC24B56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536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321E2C62-A314-4A96-A6FF-DA662BF5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156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best sampled point on an 81×61 grid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5FFD3-8197-4D87-BE87-A2B0C7B9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8536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E7890F71-DD95-466C-BE59-241E5326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6156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wwr=0.275, shade=0.900, value=-11.135</a:t>
            </a:r>
          </a:p>
        </p:txBody>
      </p:sp>
      <p:sp>
        <p:nvSpPr>
          <p:cNvPr id="2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F8EEBA11-B82B-4792-8C04-8A4287FE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7" name="callout">
            <a:extLst xmlns:a="http://schemas.openxmlformats.org/drawingml/2006/main">
              <a:ext uri="{FF2B5EF4-FFF2-40B4-BE49-F238E27FC236}">
                <a16:creationId xmlns:a16="http://schemas.microsoft.com/office/drawing/2014/main" id="{CC7A8310-FC68-4BE2-8065-FB92918A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energy_proxy(wwr, shade_m) function, same bounds, as Week 9's heatmap — nothing about the objective has changed. Only the method changes today.</a:t>
            </a:r>
          </a:p>
        </p:txBody>
      </p:sp>
    </p:spTree>
    <p:extLst>
      <p:ext uri="{BB962C8B-B14F-4D97-AF65-F5344CB8AC3E}">
        <p14:creationId xmlns:p14="http://schemas.microsoft.com/office/powerpoint/2010/main" val="849739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">
            <a:extLst xmlns:a="http://schemas.openxmlformats.org/drawingml/2006/main">
              <a:ext uri="{FF2B5EF4-FFF2-40B4-BE49-F238E27FC236}">
                <a16:creationId xmlns:a16="http://schemas.microsoft.com/office/drawing/2014/main" id="{BDFA4CE3-3ADF-4110-AC75-FFDD8B86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7E4F76-854D-4ED4-BA6F-B557EB92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Three optimization families, one semester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7064D-4DBF-4F51-9FE6-4526DF5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CA1308A-377C-4F6C-BA96-FEADF7CD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A071AB9-0E43-4CE4-AE52-FDBE3FED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8EB05-F81F-4293-B4AA-4B80BB7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2F828161-DAD6-468E-8E81-5BF8B02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family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5A6F1-EC82-4464-AC1D-8B67AB57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003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A164DD6F-17DF-41DC-B6F2-8A39417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765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8B177-4B6C-4E53-B466-64FA8034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03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69279D46-0006-4662-83C5-59B3A413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765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it applies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B2B3C-AD43-446E-BF7F-8B7D7504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003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E2277E36-DA20-4E2F-9469-69B9350E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765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course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2D5B6-B204-45D1-A9A2-F2615934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7B8F7D5A-928B-45A3-860E-AD0BB21D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Linear / exact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0C833-8B4A-481F-BE3E-B0001525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3372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A1A9B941-619D-421A-8F77-8B2CFBC6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0992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linprog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44E30-E319-4A61-806D-3E3DCA45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3372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CFC5B0E1-C105-44D4-8C25-31BDD282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992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objective and constraints are all linear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431D9-F98E-4A6A-8CFF-278663F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3372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F2A49BC8-3978-43DC-BEEE-3589A7A6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0992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10 (done)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5C34F-4898-4A11-8A1B-2E88BEEB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905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2A87B4AA-2E44-46BA-8180-5B3FC593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525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Gradient-based / nonlinear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D23A1-6300-4AD8-8594-2D47F8D3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6905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95B7A7A1-D1C6-4D89-A974-FB2B61D8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4525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minimize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14273-6B4B-49C9-890A-45D62EC8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6905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7F5C6874-19E0-4477-8E6F-5DEB886D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525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smooth, curved; follows the local slope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CB59C2-8685-426B-BB6D-073810A2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6905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E71BE059-9F57-4E48-8DC0-CD62E1E4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4525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11 (today)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DF8DD0-8DFE-4175-9F2D-31382C9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438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D295AF89-18C7-47C0-BE65-55D6030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058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Heuristic / metaheuristic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C771E-B3C3-426E-8149-CF3A7FCB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60438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9BA679A6-049B-43BB-AC2D-2EE9B6D4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8058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genetic algorithm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F27EAC-B884-44A6-AE9C-145F30D6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0438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2-2">
            <a:extLst xmlns:a="http://schemas.openxmlformats.org/drawingml/2006/main">
              <a:ext uri="{FF2B5EF4-FFF2-40B4-BE49-F238E27FC236}">
                <a16:creationId xmlns:a16="http://schemas.microsoft.com/office/drawing/2014/main" id="{00A126E8-ADDA-4CE2-B0D1-F2212F55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8058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discrete choice, or a non-smooth surface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8CDD4B-1950-4A62-ADBA-3FE9220E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0438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C0CBF448-1DF6-47CE-AD1C-0B644C5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8058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12 (next)</a:t>
            </a:r>
          </a:p>
        </p:txBody>
      </p:sp>
      <p:sp>
        <p:nvSpPr>
          <p:cNvPr id="3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730C1EA4-EC36-440F-9188-B57B766D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9" name="callout">
            <a:extLst xmlns:a="http://schemas.openxmlformats.org/drawingml/2006/main">
              <a:ext uri="{FF2B5EF4-FFF2-40B4-BE49-F238E27FC236}">
                <a16:creationId xmlns:a16="http://schemas.microsoft.com/office/drawing/2014/main" id="{9FC95290-56EB-4203-A7BB-44719E3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Project 2 requires all three families — linprog and minimize are both REQUIRED, not optional, on every student's own problem.</a:t>
            </a:r>
          </a:p>
        </p:txBody>
      </p:sp>
    </p:spTree>
    <p:extLst>
      <p:ext uri="{BB962C8B-B14F-4D97-AF65-F5344CB8AC3E}">
        <p14:creationId xmlns:p14="http://schemas.microsoft.com/office/powerpoint/2010/main" val="1658802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2A2084B-6570-443E-BE95-1D7C677D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 FROM WEEK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545733-494B-4E91-AAE8-A71043A1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Objective function and bounds, recalled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B24BC-0BD9-40E4-94BA-78E7A494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87D2A91-F9FF-47C6-9FB1-FA30DBFE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8CCD62-E00E-4500-91B4-1B10F939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A592CDE9-82BC-4BE1-93F3-B934567F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Objective function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937F251E-C52B-4C31-8C2E-7DBEEE58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one quantity you are trying to make as small (or as large) as possible. Last week it was roof benefit in dollars; this week it is energy_proxy(wwr, shade_m), a single nonlinear number combining both design variables.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FC26CFF0-C643-4EAB-8262-07590497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Bounds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6BEB36F7-EE20-42A6-8D33-09C9D075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allowed range for each design variable. Week 10 wrote bounds as a list of (min, max) pairs for linprog; minimize uses that exact same (min, max)-pair form: bounds=[(0.20, 0.60), (0.0, 1.2)].</a:t>
            </a:r>
          </a:p>
        </p:txBody>
      </p:sp>
    </p:spTree>
    <p:extLst>
      <p:ext uri="{BB962C8B-B14F-4D97-AF65-F5344CB8AC3E}">
        <p14:creationId xmlns:p14="http://schemas.microsoft.com/office/powerpoint/2010/main" val="696665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D15587F4-8EA2-4A7D-8F9F-291B4B3D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3870AB-7216-4F87-B582-415FF614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exact same objective function as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A6986-935A-48FE-BF39-7A772CE4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29C4AD1-413A-48EF-A8F7-2FADCA13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649472C-F133-4692-88B3-45EBF04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0578A90-24DF-4345-9E44-4F9E6902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ECF26742-7398-4335-BAAE-400E721A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basin(x: float, y: float, cx: float,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cy: float, depth: float,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wx: float, wy: float) -&gt; float: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"""One Gaussian dip at (cx, cy), 'depth' deep."""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-depth * np.exp(-(((x-cx)**2)/(2*wx**2)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      + ((y-cy)**2)/(2*wy**2)))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energy_proxy(v: tuple) -&gt; float: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"""Energy-use proxy at one (wwr, shade_m) pair."""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w, s = v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b1 = basin(w, s, 0.52, 0.25, 30.0, 0.06, 0.18)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b2 = basin(w, s, 0.28, 0.90, 34.0, 0.06, 0.18)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ridge = 6.0 * np.exp(-((w-0.40)**2)/0.02)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20.0 + b1 + b2 + ridge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7ADBFFE6-6E69-4FB2-B2FB-0224249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4787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Nothing hidden: both functions, in full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B1A47A46-A209-4462-99B7-A435F1FD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3497"/>
            <a:ext cx="3695700" cy="2948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is exactly Week 9's two-basin energy_proxy, every line of it. basin() is a Gaussian dip: it returns a NEGATIVE number, deepest at (cx, cy), fading to zero far away. energy_proxy() adds two of them to a flat base of 20.0 — b1 near wwr=0.52 (30 deep) and b2 near wwr=0.28 (34 deep, the deeper one) — plus a ridge that raises the surface near wwr=0.40, walling the two basins apart. Both functions carry the one-line docstring and the parameter/return type hints this course has required since Week 4.</a:t>
            </a:r>
          </a:p>
        </p:txBody>
      </p:sp>
    </p:spTree>
    <p:extLst>
      <p:ext uri="{BB962C8B-B14F-4D97-AF65-F5344CB8AC3E}">
        <p14:creationId xmlns:p14="http://schemas.microsoft.com/office/powerpoint/2010/main" val="567790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C192F43-F021-4E84-B832-0D255641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4088E4-5942-4299-B251-562ACE97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evaluate both basin centers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BD677-60F2-4AA6-A535-7F4BDFC8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929A2DF-F73B-4F95-9278-16B965A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66E058E-B0A6-4FD4-B5E1-7501643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8701A14-1EAC-4815-9BBB-94D11A43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2ED9B09-BF5D-4EF5-BFEF-72EA88AE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print('local basin center:',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round(energy_proxy((0.52, 0.25)), 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print('lower basin center:',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round(energy_proxy((0.28, 0.90)), 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gap = (energy_proxy((0.52, 0.25))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- energy_proxy((0.28, 0.90)))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print('local basin is worse by:', round(gap, 2))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8E874-47A9-48F9-BCEE-CBC459C6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446B2C7E-246F-420B-965F-8C00385E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75D5195D-58A6-4D72-84D0-2C1C21B5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local basin center: -7.08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lower basin center: -11.08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local basin is worse by: 4.0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D5395BE-827C-4F59-BF64-2AF9FA9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basins, four points apart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D36969E-374A-455A-91C5-4F86F261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Calling energy_proxy at each basin center reproduces Week 9's numbers: -7.08 in the shallower basin and -11.08 in the lower basin. Their computed gap is 4.0 points. The lower basin is the best-known candidate from dense-grid plus multistart checks; those checks corroborate but do not prove continuous globality.</a:t>
            </a:r>
          </a:p>
        </p:txBody>
      </p:sp>
    </p:spTree>
    <p:extLst>
      <p:ext uri="{BB962C8B-B14F-4D97-AF65-F5344CB8AC3E}">
        <p14:creationId xmlns:p14="http://schemas.microsoft.com/office/powerpoint/2010/main" val="3928996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339D751B-D6F0-4148-82B2-10E3BAE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88220F-80D5-4960-9CBA-26441C6A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Gradient (slope),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61788-1B7A-45AE-9BF7-311EF6C8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E858D84-582D-45B9-8B87-B9B29539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6D68E94-421A-4E45-8EF7-7D529CF5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7CD27C5E-8F9A-481F-9D7A-C74BD422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CFC49437-95A4-4C9D-A762-594E664C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gradient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BF7A6-A5AE-4B94-B00F-1FAA2BF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7DF4F759-3691-44B1-845E-D6F26642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At any point on the surface, the gradient is the direction and steepness of the fastest INCREASE. minimize reads it locally, then steps the opposite way — downhill — like a ball rolling down whatever slope is under it right now.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8840EFBC-60B2-4FD3-9E38-D2BE5BF2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0F8D9B74-1588-425A-8FD1-66B4B207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A3F81860-73D8-491E-8F53-470470A0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it does not see the whole surface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779E0783-E7D5-4BDE-B372-2BF2639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9's grid sweep evaluated the ENTIRE surface, everywhere, before you ever looked at it. minimize does the opposite: it evaluates the slope only where it currently stands, moves one step, then reads the new local slope again.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6F476A0E-7F93-4522-8BD9-27A2B626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A07916EA-470D-4DC0-9749-4C06425D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E73FF698-CA38-48CD-AE21-7BD93736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Gradient points toward locally steeper ground, not toward the true minimum — minimize only ever walks in the opposite direction from wherever it currently stands.</a:t>
            </a:r>
          </a:p>
        </p:txBody>
      </p:sp>
    </p:spTree>
    <p:extLst>
      <p:ext uri="{BB962C8B-B14F-4D97-AF65-F5344CB8AC3E}">
        <p14:creationId xmlns:p14="http://schemas.microsoft.com/office/powerpoint/2010/main" val="20374918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8BAF435-8E24-4B08-86F3-17D3CACD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0A73A4-1BCD-4482-A529-01CBBA40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Initial guess (x0),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4486A-C73A-4DC7-8CAB-7551E130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9D335C4-4D03-4F37-BEB2-6C3EE373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6BF171-32A9-480F-BCEA-40F25D1A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DB6F3EA7-06DB-4EF2-9B39-9803DB78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774261AB-2CC4-4C66-A61A-2AD75375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initial guess (x0)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4E5D9-C4A9-48C2-88F3-8ED4FC32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437214FE-0F54-4137-8090-473B0502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(wwr, shade_m) pair handed to minimize as its starting point — the very first position on the surface the search ever evaluates. Every downhill step that follows is a chain reaction starting from exactly this one point.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1B995EBC-ABD3-4312-A33A-C3986CE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4F28BD49-465D-4CC2-8EE1-AD62767D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2BA8CD0C-0D1B-4CC1-AAFC-0615656D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demonstrations, one difference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576C8B28-8B7F-4774-8D0A-EA6F4C9A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Demo 1 starts at x0=(0.55, 0.20); Demo 2 starts at x0=(0.20, 1.00). Same energy_proxy, same bounds — x0 is the only argument that changes between them, and it is enough to change the reported answer by about four points.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65069365-E4F5-4D2A-A594-42C02611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800A803C-9110-4413-BC8B-FECA535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A9812101-9112-438A-B9BB-914B29C2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x0 is a deliberate choice made by whoever runs minimize — not a random pick, and not guaranteed to be a good one.</a:t>
            </a:r>
          </a:p>
        </p:txBody>
      </p:sp>
    </p:spTree>
    <p:extLst>
      <p:ext uri="{BB962C8B-B14F-4D97-AF65-F5344CB8AC3E}">
        <p14:creationId xmlns:p14="http://schemas.microsoft.com/office/powerpoint/2010/main" val="17516129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77B6D1C2-32B2-41BB-A864-84A93501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A9C0DB-6218-4711-A91D-51551A2F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initial guess selects the first downhill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6610E-DE24-491A-81C6-0EF49C60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D6B9C3C-ADA0-46CA-A77A-5F6C27B0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CA385BF-542A-4188-83FA-58FC7CA5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B1E3F075-43D7-465C-B181-471B45AC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29C8FECC-066C-4E91-AD03-FC17A844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66A036E0-CE16-49A6-8973-BE7C5CB5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CF67F5FF-219A-48CF-B43F-C8A8E3D1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2E891622-4A65-4F4B-B468-CA6D3E51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E12137CE-4C7B-4E68-B593-2059509F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x0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F7C99-7EB8-452D-9DC1-6AB2F38E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C6D2BB23-2B52-4DDB-9E74-944834D2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a start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BCB2922-096C-4DB6-B65E-64D75D2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bounded WWR–shade pair begins the search.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65EE7A8C-86DB-48AC-ACFA-A622E465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38F8E19-556B-4666-9857-85724C85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521A3205-178A-452B-9F6E-A871BAF4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LOCAL SLOPE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E6451-BA1E-493B-B61D-07043E87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E85DC4A2-C676-44A4-811B-272F6E82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nearby change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574088E5-176A-49D8-B9EE-75A1343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solver estimates which nearby direction decreases the objective.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761DEC87-BB26-416B-B3AC-9090DD14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80BB13E-6009-4DDD-905C-AE3A568B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1DAC1393-EFE8-4517-9B8A-BEF3DC6E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E3928-7576-49B2-B93F-C401E8E0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25139EF9-B96E-4913-8CBC-60C66383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Move downhill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5803BCFC-888A-4A26-9717-E032625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new point becomes the next local view of the surface.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C08D3D59-AEF4-41E4-8CA3-90B418C9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69336E10-62AF-4787-8232-54715534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9A3900B3-C2D7-4232-9A07-A79A5966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63C2CA-D9FC-4FDC-A285-A005040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1BCDA67E-ED79-4ADE-BFC1-3D64535B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Reach one basin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1C659F00-1ADC-4B54-9C96-44E13C93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Convergence can be clean even when another basin is lower.</a:t>
            </a:r>
          </a:p>
        </p:txBody>
      </p:sp>
    </p:spTree>
    <p:extLst>
      <p:ext uri="{BB962C8B-B14F-4D97-AF65-F5344CB8AC3E}">
        <p14:creationId xmlns:p14="http://schemas.microsoft.com/office/powerpoint/2010/main" val="20560306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C6B01995-49E1-4C03-8E02-09522E8C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01739B-9F81-43E7-BB07-5D3AD6B8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minimize() call one part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6D32B-2E15-404A-8F1F-8AD04F5D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B87FA2F-1BF6-4E8F-AF61-9194A6D4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4A7107B-075F-4C7E-9811-64AE6EE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D965507A-D1A6-481A-B30F-25A92DCD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43558F61-9F2A-46EA-97D9-0F979F1F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5740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minimize(energy_proxy, x0=x0, bounds=bounds)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98E3C-EBF8-4D8F-A01A-6EA5BBEE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47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ACA8D892-84EB-41E2-B6EC-F7087350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BBE51B98-E891-4D4A-BF89-4188A5F5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A1AFB33A-E4D8-4F3F-B04B-D5B5034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4C720CF7-980E-45B1-877E-62600C58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D92B113F-C246-42CA-8757-F8666835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function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B813EF37-C21B-4123-9E95-684900E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Gradient-based search from scipy.optimize — follows the slope downhill.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0432C-6A7F-42A9-86E3-5E46732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4795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A82F8D76-872C-4E69-8F47-5E2BC46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519F38D3-45E1-41E9-8E3E-97D9388D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DE7DDE4F-344A-4BEC-B546-A39985D1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C6AC18D2-2DE9-4E36-9F29-F2BCAF2F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83DDADDD-6E70-4F79-89A2-39087BB4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00728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objective function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9E83DEF3-7D18-4F1E-914E-B6C9ED9F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27854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one function being minimized — must return a single number, like Week 10's objective.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FC2B6-7F63-4620-AAAE-80042E2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F3A80444-9920-4C34-AC3D-BC71FA88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38ACD4F3-6870-4E00-A84F-879F8D05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1349671D-A7E2-443A-8905-CDEAC3ED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759B8401-6977-4AD8-B52D-513AE0ED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5823FB4E-C351-4CFF-963E-C4B9736A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Starting guess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F89838BB-6052-4AB2-B4F1-0A4554B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7026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Where the downhill walk begins — today's single biggest lever.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1D8491-4770-4CCE-A248-551CBFA3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B2F95D30-55C9-4216-80AB-60D572FD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87C4DF63-2314-4BB3-A1CD-F101C008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16FC6BA8-C054-44D8-866C-F806B01A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8F0E28C7-E057-43C3-801A-4D27C967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367820DE-2614-44AB-98CC-3EF2D5C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Allowed range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6FABCC41-498F-4211-811C-BB1D8BCF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(min, max) pair per variable — same form as Week 10's linprog.</a:t>
            </a:r>
          </a:p>
        </p:txBody>
      </p:sp>
    </p:spTree>
    <p:extLst>
      <p:ext uri="{BB962C8B-B14F-4D97-AF65-F5344CB8AC3E}">
        <p14:creationId xmlns:p14="http://schemas.microsoft.com/office/powerpoint/2010/main" val="18812502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46E825DD-1391-47E7-8ACF-A19F07BE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C0945D-83F1-458B-B7AC-B4A398E8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result object,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1E084-4E27-43DE-8B7E-5607106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7E788E-A80D-406C-AEC4-5529DD9D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EBA1AC2-79C7-4DBA-952F-4EE7EDB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414C9BD5-D1A0-48D9-AE7F-BD407FDD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DA30176E-E31A-4869-AC6F-5FDED9A6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result.x / .fun / .success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F12BB-B834-4509-8CB0-0851499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3654916A-F2F2-4E62-B244-9D480B3B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minimize returns one result object with three fields worth reading every time: result.x is the (wwr, shade_m) pair it stopped at; result.fun is the objective value there; result.success reports whether the search converged cleanly — NOT whether it found the best point anywhere. Read all three together, never result.x alone.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FB7A9371-7496-4B33-B8A3-B49D178C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F310FEFC-EAC7-4DD4-8387-EA857446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3B0A4EEE-8182-4129-9345-805F1A88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1 and Demo 2, side by side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2573B4D8-7672-481E-BE4B-74EFAAAD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Both report success=True. Demo 1's result.fun is -7.1521 (the local trap); Demo 2's is -11.1437 (the lower best-known solution). Identical success flags, very different quality of answer.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75C0EFD7-129A-4320-B213-1672F31D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F475C34A-B847-446B-9C82-267C4ACC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AC9CA266-2DA6-4314-971B-25996830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success == True feels like a green light. It only means the local search finished cleanly — never that this is the best possible answer anywhere in bounds.</a:t>
            </a:r>
          </a:p>
        </p:txBody>
      </p:sp>
    </p:spTree>
    <p:extLst>
      <p:ext uri="{BB962C8B-B14F-4D97-AF65-F5344CB8AC3E}">
        <p14:creationId xmlns:p14="http://schemas.microsoft.com/office/powerpoint/2010/main" val="18561107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CEB85386-9A9E-453E-BA27-2CDAC5FF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C8E40E-1F0B-458C-9F66-089E0B0E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before you run: does this start look safe?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128AC-30F8-4A0C-9BB0-2CEC27C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0F5DEB-1AFD-4DCA-B0D2-5A379BB0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CB94F3E-0A60-40BB-A4E5-4A7B98BB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9C5BB53-D867-48D9-BD78-AB92C5D4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7422362-9BDC-45C4-B1B1-D3DFB50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bounds = [(0.20, 0.60), (0.0, 1.2)]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 = minimize(energy_proxy, x0=(0.55, 0.20),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bounds=bounds)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7A0B9E83-1E48-4D34-91D6-B0AF4C5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 basin will x0=(0.55, 0.20) reach?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53D181AC-DD36-4031-8EC2-A9A2F1D1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C1789830-D9EA-41BB-8A4C-6A417F9C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24ACA1BC-29E4-4120-9A0F-DA77B94F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lower best-known basin, value about -11.14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37616949-6617-4E5B-BC0B-6A977914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9C974823-8132-49AB-999A-116C5718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D95318B3-65F7-49A6-BDCE-FD768DDD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local optimum, value about -7.15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EC2C1729-EC00-413A-BC5A-ED35461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FAD7F8FB-1BB1-40C0-BE69-4C5DCDF8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906503CD-90A6-4CAE-9F27-ABE8D39D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Exactly the local basin center, value -7.08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0A01F435-B6AA-40BF-880F-52798A83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352ADE54-18D0-493D-B60E-2ABB78A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A0BEEC1C-3EA2-4710-AF96-115C3C40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error — x0 is outside bounds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4CB3CBCD-1C84-4AB8-BF7A-C5CCB8D0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13246DBE-2D37-4187-B55B-CDD2589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6CF7E949-D3C8-4C6C-941A-398AEB9E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wwr=0.55 sits beside the local basin center (0.52, 0.25), so minimize follows the nearby slope and stops at -7.1521, not the deeper candidate.</a:t>
            </a:r>
          </a:p>
        </p:txBody>
      </p:sp>
    </p:spTree>
    <p:extLst>
      <p:ext uri="{BB962C8B-B14F-4D97-AF65-F5344CB8AC3E}">
        <p14:creationId xmlns:p14="http://schemas.microsoft.com/office/powerpoint/2010/main" val="9103322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18E8C89-5C5C-4166-BDDD-CCF75535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4C7F93-92A0-478D-B0BE-9613D3CB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1 — a plausible starting guess, minimize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6F92E-7555-40EA-B204-AF3CB5DC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41557E-F35F-4041-9929-78F404D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CE4F15B-4650-45F2-9975-F6B8DE60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EC40C16-3BA9-4C32-B642-5D16EB5F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E6A89B7-ED10-4E18-BDAB-7A3780B0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scipy.optimize import minimize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bounds = [(0.20, 0.60), (0.0, 1.2)]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 = minimize(energy_proxy, x0=(0.55, 0.20),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print('x:', result.x.round(4))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print('value:', round(result.fun,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print('success:', result.success)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9EA9A-B1A9-4E98-95FF-0DA050D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3CCFE8C-DDE8-4193-8F8C-67FDE20E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B10BD915-DC65-410D-B849-AC109F44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x: [0.5241 0.25  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value: -7.1521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success: 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86A04C3-7B0B-441C-A387-AD4E9349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clean, confident, WRONG-basin answer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AC08CBD-D583-4A3F-B9DA-721ADC9C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Starting at wwr=0.55, shade=0.20 — a plausible-looking design guess — minimize converges to wwr=0.5241, shade=0.2500, value=-7.1521. success is True: the search worked exactly as designed. It was simply never asked to look anywhere else.</a:t>
            </a:r>
          </a:p>
        </p:txBody>
      </p:sp>
    </p:spTree>
    <p:extLst>
      <p:ext uri="{BB962C8B-B14F-4D97-AF65-F5344CB8AC3E}">
        <p14:creationId xmlns:p14="http://schemas.microsoft.com/office/powerpoint/2010/main" val="21257349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09084DF3-699B-4CE9-A5AF-19282CA2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E329A5-BB6A-44AF-97A6-2222BB81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and global describe different comparison 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11140-4081-46BE-9919-1C62B8D8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B7B8029-F5AB-49D9-915F-4B36E524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A5FC44-1C55-4204-8197-13CE413F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758DD6CA-0649-4547-993E-543555BB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FAFB0F7A-04C3-483D-B5C9-7BC6EEB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191025BA-F98D-48EC-9032-4E22776E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7E9030DD-D395-4E68-87A2-93DB092E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A215E1B-7C4A-44D6-B45F-DA898557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2A6A40EF-809B-4514-933C-5398756E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START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97CBE-6F8C-4D1B-8DA4-ED30ADB4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75E4A8E4-F741-48F6-A598-15FC3F6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Nearby basin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1EFCF807-91EA-44A4-B31E-C206E55C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downhill walk from (0.55, 0.20) reaches about −7.15.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AB3BA4A0-5B08-4E46-84C3-0C8B3A07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02F3D2C-5196-48AD-A833-F32AE586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0F59A3B-757B-4A2B-81AC-7B7DF8CE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64EF3-BA80-4DF8-81DE-C960263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F096F973-3605-4F2A-8B25-6B5D486F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No nearby improvement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D869695-BB6E-4041-992F-61A51603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solver legitimately stops at the bottom of that basin.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B06C3AAA-B097-4CC3-B5C6-E8AC06F5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C4655F7-5378-4AA7-9EC7-6F4DB22D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2FF6797-2327-49A9-BF7D-0FEE44CB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START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3883A-6164-4D10-B9EC-D22A387E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8AF3963A-6DF1-40E6-AD44-B806130D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Other side of ridge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22BAD72-CC6A-4752-A242-3CD61470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 second start reaches a different basin.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D0ED6C7E-E499-4F73-8C48-61B5443A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128B28C0-11FF-4E4E-AEFB-6BDD3ED9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3A663502-70C9-4C20-B1D1-4F21AC30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E5D8CE-14C0-4F1E-B544-6CECDA68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87DE669F-44C0-499A-8986-2693A06E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Lower, best known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6154417-154C-4663-A287-A2536CAC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Dense-grid plus multistart evidence supports about −11.14, without proving globality.</a:t>
            </a:r>
          </a:p>
        </p:txBody>
      </p:sp>
    </p:spTree>
    <p:extLst>
      <p:ext uri="{BB962C8B-B14F-4D97-AF65-F5344CB8AC3E}">
        <p14:creationId xmlns:p14="http://schemas.microsoft.com/office/powerpoint/2010/main" val="15814054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3AA636F-E66A-4C78-AEDE-70F4B29C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5E5583-00F1-4989-AC25-7EDB9B4A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optimum,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DD4AA-9205-4F9E-9A39-F53241C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30B4F6A-810D-4B88-80FD-F9B0085C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3D96FBA-F902-4334-A2BB-4720816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B9B33DF2-CD12-4B8E-91EF-83C279F2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BA1FA698-39CC-41CC-BAD4-A93C4D43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optimum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796B0-F61B-4385-B0EF-9AD9F51F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C1957A18-51A7-41C0-83A2-49CEEB22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best (lowest, here) value in a NEARBY region of the search space — better than every point immediately around it, but not necessarily the best value that exists further away.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FD509B13-EE0B-425B-888B-87791133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203ACD94-C9A9-4566-92BE-B9FAE76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135C24D4-5645-4A9F-8078-FDBEEDA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1's result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74FAF865-2458-473E-B4C0-C379BB56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Starting at (0.55, 0.20), minimize converges to (0.5241, 0.2500), value -7.1521. Every neighboring point really is worse — a genuine, reproducible local optimum, not a solver mistake.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3B4EA973-1BC8-4B02-B384-3EBBC503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CB3F224B-C677-43FE-8503-62F6BD7A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4E8755D3-8DA1-4F8A-BBC2-A421798A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'Local' does not mean small or unimportant — this basin is real and would look completely convincing if it were the only result computed.</a:t>
            </a:r>
          </a:p>
        </p:txBody>
      </p:sp>
    </p:spTree>
    <p:extLst>
      <p:ext uri="{BB962C8B-B14F-4D97-AF65-F5344CB8AC3E}">
        <p14:creationId xmlns:p14="http://schemas.microsoft.com/office/powerpoint/2010/main" val="6487790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9C6931B-CF85-48AC-B7DE-7F04DA7F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73D750-B925-4176-AB76-5F17C1F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Global optimum,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EEB0B-D516-4A24-A125-03BD8A62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5EA11B8-0586-4F93-9960-0720C594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FF78C6-A89A-4C4B-9221-86D0EB5E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4DB617C7-C727-43D6-8F6A-687DD1C7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67EE296E-30FA-484A-AFC7-DA87999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global optimum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C8997-E06D-4D63-BACE-8BB9058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44182CE3-E02A-4428-BC1A-6BBC24AE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best value ANYWHERE inside the stated bounds — not just nearby, but compared against the entire feasible search space. There is only one global optimum value (ties aside), no matter how many local optima also exist.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8F8AF9B4-87D2-4011-AC95-0D154FD2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D33B6B85-D212-43CF-9E8F-A01ED68A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82E5FC04-0339-446D-86E7-B72B6F07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corroborated candidate, not a proof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9FCC2BF0-3546-47E4-BAC5-76EEEA5C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Demo 2 reaches (0.2763, 0.9000), value -11.1437, close to Week 9's best point on an 81×61 grid (-11.135). Dense sampling plus multistart support this lower basin as the best-known candidate, but do not check every continuous point.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F5BB03A5-93F9-44F6-BBA9-EEB9E1F0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1198621C-5EE7-4C4E-848D-A7FD80E7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PROOF VS. EVIDENCE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9A181218-0828-4FC3-803C-E01D526B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minimize never proves its answer global. Multiple starts can expose a deeper basin; a finite sweep can corroborate a region. Neither alone is a proof over the continuum.</a:t>
            </a:r>
          </a:p>
        </p:txBody>
      </p:sp>
    </p:spTree>
    <p:extLst>
      <p:ext uri="{BB962C8B-B14F-4D97-AF65-F5344CB8AC3E}">
        <p14:creationId xmlns:p14="http://schemas.microsoft.com/office/powerpoint/2010/main" val="10073071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83DD4ECD-1263-40DB-B84E-39AEA69C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D9225D-8A51-4CCC-94E9-E03B59AE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before you run: only x0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04853-59D2-454E-982C-A3196046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C16C321-77C8-4829-94DD-172D572C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710B5B-25DE-4CE8-B4C7-B24D780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1D8F8F3-F186-40FC-BFDC-235CC0E0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754769D-45BB-4349-B988-4DB0F10A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result2 = minimize(energy_proxy, x0=(0.20, 1.00),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bounds=bounds)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2145507E-8628-4E38-A4D2-2AAAD03E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86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function, same bounds. Only x0 moved. Which basin now?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1FBE9CD8-90EF-4D40-93E1-8A62F599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93610DBB-6349-4C06-9D7A-C7353EFF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1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A26DD532-A8AA-4C05-A387-1B2A719B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6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Still the local optimum, -7.1521 — x0 barely matters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4EDBD66C-E5AA-4A56-AAA1-022A72FB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9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7D6A48B6-934C-43E4-BCD3-70D0F2FC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2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223FE548-D499-41DD-A49C-F0A48753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7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lower best-known basin, about -11.14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ECE03878-83BF-4FF6-8998-6B43AFE1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1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B9785112-766F-4E86-9C82-4E9276F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4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339201E0-8213-4CA1-9005-36EDC22B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9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THIRD, new optimum somewhere between the two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F2DE4B55-C699-4502-8F1C-3DA6A8D8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02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8A68410C-5B10-412F-82E5-6CA760E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5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F15C7FCE-7EC4-491C-B9AB-E57A5DED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0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same as Demo 1, since minimize always returns one fixed answer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D60204E0-1D29-411E-8A80-E6701206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3FC107C7-6D66-4357-949E-3184F601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027FAD26-2254-4238-BDC5-F7BED26F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(0.20, 1.00) sits near the lower basin center (0.28, 0.90); minimize converges to (0.2763, 0.9000), value -11.1437. Only x0 changed.</a:t>
            </a:r>
          </a:p>
        </p:txBody>
      </p:sp>
    </p:spTree>
    <p:extLst>
      <p:ext uri="{BB962C8B-B14F-4D97-AF65-F5344CB8AC3E}">
        <p14:creationId xmlns:p14="http://schemas.microsoft.com/office/powerpoint/2010/main" val="14745639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24FAFC6-F06C-4EB8-9DB2-20B9B3BF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432882-6574-4F91-994C-0FFC03F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2 — only x0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090D7-98BC-4B8A-934B-1CAC38CD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FA3106E-70EC-4E91-9244-F8E6D3A0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996AC4-6DF6-4E0D-8819-76F2D1D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4475930-71E4-4707-96F5-DFE659A1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0B710FD-319A-4726-ACAD-1C12F61D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result2 = minimize(energy_proxy, x0=(0.20, 1.00),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print('x:', result2.x.round(4))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print('value:', round(result2.fun,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print('success:', result2.success)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1B6CD-7E45-4AC1-87D9-C483C480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45C3E26-ABB7-4010-B72A-4610E3B3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3871D7F-64B2-4A23-B48A-3103FCCE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x: [0.2763 0.9   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value: -11.1437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success: 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2454749-1511-481E-895F-BB64CF31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function. Same bounds. Different answer.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427F31F-4350-460B-B684-AB1F579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Only x0 changed. This run reaches the lower basin at wwr=0.2763, shade=0.9000, value=-11.1437 — the best result found in this multi-start plus dense-grid check. Agreement with Week 9's sampled minimum corroborates the result; it does not prove the continuous global optimum.</a:t>
            </a:r>
          </a:p>
        </p:txBody>
      </p:sp>
    </p:spTree>
    <p:extLst>
      <p:ext uri="{BB962C8B-B14F-4D97-AF65-F5344CB8AC3E}">
        <p14:creationId xmlns:p14="http://schemas.microsoft.com/office/powerpoint/2010/main" val="2964208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8DAC6839-2A1F-4D6E-BE16-84CB948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1C765E-01B7-4E09-BBEC-35A88DF0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Recorded objective values never rise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380A0-0179-45DB-AFFF-776A0425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39AE209-2DE8-46DA-A94D-685BC9A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4CB95-2C43-4912-BC43-6A79F3B1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60ed11dd5446ba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1B4C3E62-8E65-4529-A573-0E79EF19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1725"/>
            <a:ext cx="35814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These recorded values are non-increasing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87CB2374-0004-4EE8-BDEE-30C9B100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7347"/>
            <a:ext cx="35814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 these two callback traces, the accepted objective decreases or stays flat. Start A settles near -7.15; its final plotted point is repeated only to align the axes. Start B settles near -11.14. This describes these recorded accepted iterates — not a promise that every solver's internal trial path is strictly monotone.</a:t>
            </a:r>
          </a:p>
        </p:txBody>
      </p:sp>
    </p:spTree>
    <p:extLst>
      <p:ext uri="{BB962C8B-B14F-4D97-AF65-F5344CB8AC3E}">
        <p14:creationId xmlns:p14="http://schemas.microsoft.com/office/powerpoint/2010/main" val="5800721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kicker">
            <a:extLst xmlns:a="http://schemas.openxmlformats.org/drawingml/2006/main">
              <a:ext uri="{FF2B5EF4-FFF2-40B4-BE49-F238E27FC236}">
                <a16:creationId xmlns:a16="http://schemas.microsoft.com/office/drawing/2014/main" id="{15EB8E75-E1A0-42E7-88F8-9741557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E714EF-A15A-43F3-AC3D-283C67AB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Eight starting guesses, one verified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A0FA8-326F-4F37-B58B-EE4E3CFD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1C41399-8641-4C5B-9CCF-3B253D3F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D512B2-6565-49BF-B967-91ED70F1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2AE50-745B-4FA2-8319-DDAFDEC0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3B6645B7-99B2-4C8E-BBBD-2570F70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starting guess (wwr, shade)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062B0-420C-4239-8A37-EB5C8773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182880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BD775CE8-D7C0-4713-BE4E-668999DF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190500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converges to (wwr, shade)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D070E-8120-4F12-9FF1-E1931E7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EF997FB1-A9C9-43E5-AA89-C28891F7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0500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DE3AF-53BD-4CC9-925E-B938C1C8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182880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93D2766D-5555-4891-A213-DDDA9660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190500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2D65D-7439-47FF-8EC7-B7E341B6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B899595C-C3EA-4953-ACBB-9E12E487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(0.55, 0.20)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25C28-7EB7-4711-9BC9-0A1B65AC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230505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BDB7A474-A65D-4DC6-8D7D-9AE64917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238125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(0.5241, 0.2500)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E51BC-CB2A-4814-BDA9-56857611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E54E969C-DAB8-4737-AC39-0F21D9AE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468F0-398E-4D34-9A56-06E451DA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230505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5015378F-2E79-4E11-8B4B-326EAB11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238125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617FA-6A18-46BD-8C3E-0B01628E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9B0FCC87-6FE9-420F-9DE9-C423B53D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(0.50, 0.30)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28C53-0958-45CA-89C8-24BA84FD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278130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1F7C0AA0-8944-40F1-B728-C289D2DA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285750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(0.5241, 0.2500)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5121F-10AE-4D4B-8019-FF4F5C6F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FD93FC0F-191A-4DF6-89A8-CCC66C6B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04CBEE-1560-4FA1-9F33-F17D12B3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278130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134ECA8A-62F5-4173-9812-573E136D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285750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D687B0-129E-452D-A85E-725AB6D5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2E0C136F-B07C-453E-A3D8-7595F362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(0.40, 0.55)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4238CD-D7AC-458C-8901-43FA85B3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325755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110C0C06-AFDF-4C57-981F-4C22FE3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333375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(0.5241, 0.2500)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DEE945-BBE5-441C-885D-45E7C987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2-2">
            <a:extLst xmlns:a="http://schemas.openxmlformats.org/drawingml/2006/main">
              <a:ext uri="{FF2B5EF4-FFF2-40B4-BE49-F238E27FC236}">
                <a16:creationId xmlns:a16="http://schemas.microsoft.com/office/drawing/2014/main" id="{2F68A1B8-1D6F-4846-8320-7BC45B6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3375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997DCF-8470-4CA6-9D71-541462C1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325755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DC514044-5782-479D-BE4D-23D8AB40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333375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888EC6-4822-4C6C-B85C-A061C4D6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3-0">
            <a:extLst xmlns:a="http://schemas.openxmlformats.org/drawingml/2006/main">
              <a:ext uri="{FF2B5EF4-FFF2-40B4-BE49-F238E27FC236}">
                <a16:creationId xmlns:a16="http://schemas.microsoft.com/office/drawing/2014/main" id="{5C65B89B-785B-4D08-9E3D-01507CB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(0.45, 0.60)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E9C837-8F08-431F-8BD6-B4180295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373380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3-1">
            <a:extLst xmlns:a="http://schemas.openxmlformats.org/drawingml/2006/main">
              <a:ext uri="{FF2B5EF4-FFF2-40B4-BE49-F238E27FC236}">
                <a16:creationId xmlns:a16="http://schemas.microsoft.com/office/drawing/2014/main" id="{255BE11A-06AD-47E6-94CE-AB1FEF53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381000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(0.5241, 0.2500)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CDA924-3EDA-4DDD-BD55-A855347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3-2">
            <a:extLst xmlns:a="http://schemas.openxmlformats.org/drawingml/2006/main">
              <a:ext uri="{FF2B5EF4-FFF2-40B4-BE49-F238E27FC236}">
                <a16:creationId xmlns:a16="http://schemas.microsoft.com/office/drawing/2014/main" id="{F4BE6319-CE13-42C4-9380-EEC55CD7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1000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B24840-27CC-49AB-A0EA-ABFB1056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373380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3-3">
            <a:extLst xmlns:a="http://schemas.openxmlformats.org/drawingml/2006/main">
              <a:ext uri="{FF2B5EF4-FFF2-40B4-BE49-F238E27FC236}">
                <a16:creationId xmlns:a16="http://schemas.microsoft.com/office/drawing/2014/main" id="{102DA19D-408D-4073-9994-9E3946A0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381000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424D0-7749-4422-A3B0-6D6E34DE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7" name="cell-4-0">
            <a:extLst xmlns:a="http://schemas.openxmlformats.org/drawingml/2006/main">
              <a:ext uri="{FF2B5EF4-FFF2-40B4-BE49-F238E27FC236}">
                <a16:creationId xmlns:a16="http://schemas.microsoft.com/office/drawing/2014/main" id="{E479E1D8-199F-44C2-AD03-F413B58A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(0.60, 0.10)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B24F48-79AD-4F1C-A5EF-E7792075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421005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9" name="cell-4-1">
            <a:extLst xmlns:a="http://schemas.openxmlformats.org/drawingml/2006/main">
              <a:ext uri="{FF2B5EF4-FFF2-40B4-BE49-F238E27FC236}">
                <a16:creationId xmlns:a16="http://schemas.microsoft.com/office/drawing/2014/main" id="{ABF65354-781A-4175-9BAD-48AC3679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428625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(0.5241, 0.2500)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BCE2FC-E468-47BC-9196-9C8D46E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1" name="cell-4-2">
            <a:extLst xmlns:a="http://schemas.openxmlformats.org/drawingml/2006/main">
              <a:ext uri="{FF2B5EF4-FFF2-40B4-BE49-F238E27FC236}">
                <a16:creationId xmlns:a16="http://schemas.microsoft.com/office/drawing/2014/main" id="{60FBFB26-217E-4FD1-8F0D-85959881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EEF338-4874-4E8C-9D05-9C3CE6CC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421005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3" name="cell-4-3">
            <a:extLst xmlns:a="http://schemas.openxmlformats.org/drawingml/2006/main">
              <a:ext uri="{FF2B5EF4-FFF2-40B4-BE49-F238E27FC236}">
                <a16:creationId xmlns:a16="http://schemas.microsoft.com/office/drawing/2014/main" id="{CE090AE9-4739-487D-BA19-B2FFCAF0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428625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530A50-C5B4-40E7-9C24-CACDEBB0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5" name="cell-5-0">
            <a:extLst xmlns:a="http://schemas.openxmlformats.org/drawingml/2006/main">
              <a:ext uri="{FF2B5EF4-FFF2-40B4-BE49-F238E27FC236}">
                <a16:creationId xmlns:a16="http://schemas.microsoft.com/office/drawing/2014/main" id="{D1BFD630-493E-41C4-B804-C944FF18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(0.20, 1.00)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8381F7-A4C7-4C22-BE44-90A5626F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468630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7" name="cell-5-1">
            <a:extLst xmlns:a="http://schemas.openxmlformats.org/drawingml/2006/main">
              <a:ext uri="{FF2B5EF4-FFF2-40B4-BE49-F238E27FC236}">
                <a16:creationId xmlns:a16="http://schemas.microsoft.com/office/drawing/2014/main" id="{CEBE378E-E254-4986-8900-0702ADD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476250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(0.2763, 0.9000)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ED8DB0-0603-4E52-BA6F-42EECF3E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9" name="cell-5-2">
            <a:extLst xmlns:a="http://schemas.openxmlformats.org/drawingml/2006/main">
              <a:ext uri="{FF2B5EF4-FFF2-40B4-BE49-F238E27FC236}">
                <a16:creationId xmlns:a16="http://schemas.microsoft.com/office/drawing/2014/main" id="{205DC3E0-3EE0-4C5B-A96E-71324692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-11.1437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7014B8-C5F0-45BD-BEB3-ECBA5FBF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468630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1" name="cell-5-3">
            <a:extLst xmlns:a="http://schemas.openxmlformats.org/drawingml/2006/main">
              <a:ext uri="{FF2B5EF4-FFF2-40B4-BE49-F238E27FC236}">
                <a16:creationId xmlns:a16="http://schemas.microsoft.com/office/drawing/2014/main" id="{AF607DB9-632D-429E-B911-AAE31FAC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476250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BCE1DC-78A4-4AD5-887B-5FB1E48C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3" name="cell-6-0">
            <a:extLst xmlns:a="http://schemas.openxmlformats.org/drawingml/2006/main">
              <a:ext uri="{FF2B5EF4-FFF2-40B4-BE49-F238E27FC236}">
                <a16:creationId xmlns:a16="http://schemas.microsoft.com/office/drawing/2014/main" id="{2D28E3F2-14F4-4A0D-9F77-89F78879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(0.30, 0.85)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BFF84A-3A12-470B-9881-DF01A057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516255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5" name="cell-6-1">
            <a:extLst xmlns:a="http://schemas.openxmlformats.org/drawingml/2006/main">
              <a:ext uri="{FF2B5EF4-FFF2-40B4-BE49-F238E27FC236}">
                <a16:creationId xmlns:a16="http://schemas.microsoft.com/office/drawing/2014/main" id="{EAC30CEC-087F-4A73-AF87-33F677B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523875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(0.2763, 0.9000)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C0662F-4D0C-4EE1-A7E3-D84275B6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6255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7" name="cell-6-2">
            <a:extLst xmlns:a="http://schemas.openxmlformats.org/drawingml/2006/main">
              <a:ext uri="{FF2B5EF4-FFF2-40B4-BE49-F238E27FC236}">
                <a16:creationId xmlns:a16="http://schemas.microsoft.com/office/drawing/2014/main" id="{AE730389-1022-44FA-AF9C-40F6CD80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3875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-11.1437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3FB501-474F-439C-B258-2005E369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516255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9" name="cell-6-3">
            <a:extLst xmlns:a="http://schemas.openxmlformats.org/drawingml/2006/main">
              <a:ext uri="{FF2B5EF4-FFF2-40B4-BE49-F238E27FC236}">
                <a16:creationId xmlns:a16="http://schemas.microsoft.com/office/drawing/2014/main" id="{0ADEA861-E6A5-42A4-B07F-3708FC8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523875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581CA6-D62D-4832-AB80-9A6F3C00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269319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1" name="cell-7-0">
            <a:extLst xmlns:a="http://schemas.openxmlformats.org/drawingml/2006/main">
              <a:ext uri="{FF2B5EF4-FFF2-40B4-BE49-F238E27FC236}">
                <a16:creationId xmlns:a16="http://schemas.microsoft.com/office/drawing/2014/main" id="{D8970BAF-1303-44B4-8F52-1415D46E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246459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(0.22, 1.15)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5C43D7D-6957-46AB-BC0E-89B5FE51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94" y="5638800"/>
            <a:ext cx="250745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3" name="cell-7-1">
            <a:extLst xmlns:a="http://schemas.openxmlformats.org/drawingml/2006/main">
              <a:ext uri="{FF2B5EF4-FFF2-40B4-BE49-F238E27FC236}">
                <a16:creationId xmlns:a16="http://schemas.microsoft.com/office/drawing/2014/main" id="{90EB8BAD-0D2C-40A2-BCE0-960D22C0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094" y="5715000"/>
            <a:ext cx="22788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(0.2763, 0.9000)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769E77-9737-4FF0-8D11-3E48211F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38800"/>
            <a:ext cx="872966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5" name="cell-7-2">
            <a:extLst xmlns:a="http://schemas.openxmlformats.org/drawingml/2006/main">
              <a:ext uri="{FF2B5EF4-FFF2-40B4-BE49-F238E27FC236}">
                <a16:creationId xmlns:a16="http://schemas.microsoft.com/office/drawing/2014/main" id="{E8F8435F-B717-4C1E-81B7-56BC164D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15000"/>
            <a:ext cx="64436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-11.1437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986FA2-7481-4206-8F04-E76F71C4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16" y="5638800"/>
            <a:ext cx="135588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7" name="cell-7-3">
            <a:extLst xmlns:a="http://schemas.openxmlformats.org/drawingml/2006/main">
              <a:ext uri="{FF2B5EF4-FFF2-40B4-BE49-F238E27FC236}">
                <a16:creationId xmlns:a16="http://schemas.microsoft.com/office/drawing/2014/main" id="{755BF9F5-8EF8-4314-93FE-E3EB7DB7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516" y="5715000"/>
            <a:ext cx="112728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7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F63BE92-1AAD-4622-810A-57026BE7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79" name="callout">
            <a:extLst xmlns:a="http://schemas.openxmlformats.org/drawingml/2006/main">
              <a:ext uri="{FF2B5EF4-FFF2-40B4-BE49-F238E27FC236}">
                <a16:creationId xmlns:a16="http://schemas.microsoft.com/office/drawing/2014/main" id="{3EFD15FA-4997-4DF4-A891-D137742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5 of 8 plausible starting guesses land in the WORSE local optimum; 3 reach the lower candidate.</a:t>
            </a:r>
          </a:p>
        </p:txBody>
      </p:sp>
    </p:spTree>
    <p:extLst>
      <p:ext uri="{BB962C8B-B14F-4D97-AF65-F5344CB8AC3E}">
        <p14:creationId xmlns:p14="http://schemas.microsoft.com/office/powerpoint/2010/main" val="10052933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994760E-E1A1-42B1-901F-18168812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4C8E25-B2AE-48F7-8358-14B2A1AD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code behind that table: one multistart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43D1E-6235-40A5-8EBC-981C3F0C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09BFC61-8294-4759-BC50-3FBBBB6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1D4C476-98FD-4964-B11C-91958537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EE4553C-8270-4B20-95E3-F8E9CC8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76C4FF6-4402-4D60-912B-09FBC65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multistart(fn, starts: list, bounds: list) -&gt; dict: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"""Run minimize from every start; keep the best."""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best, n_local = None, 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x0 in starts: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res = minimize(fn, x0=x0,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value = round(res.fun, 4)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value &gt; -9: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n_local += 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best is None or value &lt; best['value']: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best = {'start': x0, 'value': value,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'x': res.x.round(4)}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print('LOCAL trap:', n_local, 'of', len(starts))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best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702F0E32-875E-4718-8FD7-97300D0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7167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whole workflow, wrapped in one function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0DCFEE44-0376-41E2-9D0C-CF1C4633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57297"/>
            <a:ext cx="3695700" cy="316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Nothing new is being computed here — this is the previous table, written as code you could run on any objective. fn is a FUNCTION passed in as an argument, exactly the way energy_proxy is already handed to minimize. The loop runs one minimize per starting guess, rounds the objective, and keeps a running best in a dict. -9 sits deliberately between the two verified values (-7.1521 and -11.1437), so 'value &gt; -9' counts the local-trap runs — a labeling convenience for THIS verified problem, not a general rule.</a:t>
            </a:r>
          </a:p>
        </p:txBody>
      </p:sp>
    </p:spTree>
    <p:extLst>
      <p:ext uri="{BB962C8B-B14F-4D97-AF65-F5344CB8AC3E}">
        <p14:creationId xmlns:p14="http://schemas.microsoft.com/office/powerpoint/2010/main" val="3465871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4FE2E8E5-0395-434C-9755-386DB266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37710A-9EFC-475E-A388-237363FB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run it on all eight starting guesses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5B4AC-F037-4543-9672-552AE67D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8898A46-77A5-48EB-9291-77B7C7D9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3EFFC8-8E02-43EF-AA42-E1C26AAD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D895DB8-54A5-41B1-A179-A5F1CBB3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9C50665-7860-4D48-8B87-47A47679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STARTS = [(0.55, 0.20), (0.50, 0.30), (0.40, 0.55),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(0.45, 0.60), (0.60, 0.10), (0.20, 1.00),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(0.30, 0.85), (0.22, 1.15)]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best = multistart(energy_proxy, STARTS, 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print('best start:', best['start'])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print('best x:', best['x'])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print('best value:', best['value'])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D2A8D-6598-4D16-8099-8F8E1BDD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85FC12E-1490-431F-8036-B72E6AA8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4B7B27F-F421-440D-8C47-5723998D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LOCAL trap: 5 of 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best start: (0.2, 1.0)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best x: [0.2763 0.9   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best value: -11.1437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7D1018C-1DC1-43AB-8C96-80C42724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table's headline, computed instead of read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2942E58-1928-4458-BA2F-FBD8387C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5422"/>
            <a:ext cx="3695700" cy="2506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Eight minimize calls, one printed summary: 5 of the 8 land in the local trap, and the best run of all eight started at (0.20, 1.00) and reached wwr=0.2763, shade=0.9000, value=-11.1437. Reporting only best['value'] would hide the 5-of-8 split entirely — which is exactly why multistart() prints the count as well as returning the winner. Meeting B rebuilds this same sweep as a pandas table.</a:t>
            </a:r>
          </a:p>
        </p:txBody>
      </p:sp>
    </p:spTree>
    <p:extLst>
      <p:ext uri="{BB962C8B-B14F-4D97-AF65-F5344CB8AC3E}">
        <p14:creationId xmlns:p14="http://schemas.microsoft.com/office/powerpoint/2010/main" val="12267570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7CA988FF-3269-4BFF-B22F-9E3D7109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0B7387-3A92-475C-B9A1-52489E13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 of 8 land in the trap, visualized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F030-1010-4694-84B5-0E52AEA4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248543F-8302-4D40-9575-192E212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55EA1E6-A890-4060-AD4F-F2F92385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5ea633b03443b5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13B41DC0-4303-4B7C-91C9-00EB58E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5814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eight rows, one bar chart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661E30A0-E72E-47EA-B9D8-892196D5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5472"/>
            <a:ext cx="35814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Five of eight starts land in the worse local optimum; three reach the lower best-known basin. The label reports relative evidence from these runs, not a proof that the lower basin is globally optimal over every continuous point.</a:t>
            </a:r>
          </a:p>
        </p:txBody>
      </p:sp>
    </p:spTree>
    <p:extLst>
      <p:ext uri="{BB962C8B-B14F-4D97-AF65-F5344CB8AC3E}">
        <p14:creationId xmlns:p14="http://schemas.microsoft.com/office/powerpoint/2010/main" val="7312903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29A79B5-6EE4-45E6-B8F7-C27F2D25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8818E8-0362-4660-B828-5110C5B8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the starting guess changes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6FA50-286F-474B-97DA-E3C08DD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9D6C40B-95F3-4496-A47B-60D3FF8B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6DE0BAA-F141-4BDA-B350-621A710F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A08E465D-A9A1-4598-A8B9-1E14632C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minimize can see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18D2A408-6995-4A50-9510-148DFFE1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Local information near its current position. If that information points toward the shallower basin, it can settle there without discovering a deeper basin elsewhere.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76C00661-673C-4AC2-87B9-C2D8603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Week 9's sweep could see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EA56C5AA-4EFB-4B21-8A05-76FBBBF7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All 4,941 nodes in a fixed 81×61 grid at once. That gives broad sampled coverage, while minimize trades coverage for speed. Neither method here checks every continuous point.</a:t>
            </a:r>
          </a:p>
        </p:txBody>
      </p:sp>
    </p:spTree>
    <p:extLst>
      <p:ext uri="{BB962C8B-B14F-4D97-AF65-F5344CB8AC3E}">
        <p14:creationId xmlns:p14="http://schemas.microsoft.com/office/powerpoint/2010/main" val="20001905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2E294BD5-1419-4712-AE70-2D2DCB29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C7AD0E-713B-4970-BDD2-7BE9BC44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cost of sampled coverage vs. local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77458-EDF5-482C-BEA5-D9BDE51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8DB141D-9008-466D-B715-75A12791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7CE75B-CFC5-4CB1-A285-F7B7C515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7D326-C14E-4E40-93A6-56B59B73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764506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ECA44C68-683E-40EC-9B04-8C58772C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535906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14FA4-EE28-4E5E-80D2-4A9B1F28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106" y="2867025"/>
            <a:ext cx="1300163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20CAC77E-58D0-4E4C-A545-CB3FA086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406" y="2943225"/>
            <a:ext cx="1071563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 evaluations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BA97F-5795-41BA-BE6D-8FB6F7DA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269" y="2867025"/>
            <a:ext cx="22288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48CCD6CA-CEAC-4274-A8B0-010D575D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569" y="2943225"/>
            <a:ext cx="20002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sees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013CF-05BF-457E-908A-0E571217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119" y="2867025"/>
            <a:ext cx="2135981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A1A09901-2FBF-42E7-8838-009F30D7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419" y="2943225"/>
            <a:ext cx="1907381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guarantees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4EFBF-0A7C-4F70-BD0C-A080F04C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2355"/>
            <a:ext cx="1764506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F688AF46-BD85-4407-A868-0112725E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8555"/>
            <a:ext cx="1535906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9 grid sweep (81×61 pts)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C38D7-926E-4095-B300-5382728E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106" y="3602355"/>
            <a:ext cx="1300163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0A7370A4-1203-4AFD-9FC1-337E58B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406" y="3678555"/>
            <a:ext cx="1071563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4,941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2BC51-6A31-48B7-8DAD-E2E552F6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269" y="3602355"/>
            <a:ext cx="22288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4F4A6641-E149-40FB-9E0E-FC199A16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569" y="3678555"/>
            <a:ext cx="20002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chosen grid node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0763C-720A-453E-BF95-D3D90F0B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119" y="3602355"/>
            <a:ext cx="2135981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9E58758A-EAE8-4E50-A845-BC554288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419" y="3678555"/>
            <a:ext cx="1907381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best sampled grid value; not the continuum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DC766-3F61-45C4-BD03-C5428BAF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7685"/>
            <a:ext cx="1764506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3064A32E-14DD-485F-AF8B-2F238D4F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3885"/>
            <a:ext cx="1535906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Week 11 minimize (one run)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3F291-524D-4065-B0D1-2E95316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106" y="4337685"/>
            <a:ext cx="1300163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46E810E5-09BF-4149-9699-BA77DFA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406" y="4413885"/>
            <a:ext cx="1071563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~20-36 (5-7 iters)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8ED37-FD96-482A-BE0D-2AC2037B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269" y="4337685"/>
            <a:ext cx="22288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ED94814F-17EF-44B5-96EB-6A945FD4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569" y="4413885"/>
            <a:ext cx="20002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information from one start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D7C1A-B2E6-4667-850E-B7145A3A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119" y="4337685"/>
            <a:ext cx="2135981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06E81CF8-7166-4B9C-B491-D0A70642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419" y="4413885"/>
            <a:ext cx="1907381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converged local result; no global certificate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206899A7-5CB6-4E80-8CA3-20581459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B25D7174-D60E-4D90-B279-54DC1376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grid buys broad sampled coverage at higher cost; local search buys speed but can stop in a worse basin. Neither computation alone proves the continuous global optimum.</a:t>
            </a:r>
          </a:p>
        </p:txBody>
      </p:sp>
    </p:spTree>
    <p:extLst>
      <p:ext uri="{BB962C8B-B14F-4D97-AF65-F5344CB8AC3E}">
        <p14:creationId xmlns:p14="http://schemas.microsoft.com/office/powerpoint/2010/main" val="8408698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F6D63667-92BF-4708-AF99-021E2391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322C99-9CED-4E9A-B949-08B63B7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before you run: no bounds argument at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1AE93-2E8E-419E-AE70-F20EEC78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7ED36A3-20A0-43CA-A28E-2BB5DD3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F0C5FD8-ABCD-482F-9594-5FF8A32F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E1A64BF-AE60-43C6-A495-2F8AC02B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DA26567-188A-4ABA-A738-4F52037F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result_a = minimize(energy_proxy, x0=(0.0, 0.0))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result_b = minimize(energy_proxy, x0=(1.0, 1.0))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1AEB23D5-35AC-4B75-AB48-8E01D56F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With no bounds= argument, what does each run report?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2CA7FB8F-4350-4E58-92DF-16EA2609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ED6E1186-9BE7-432A-AE52-80E40C0E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FD48EBE7-86F3-4B0F-804F-6D954617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ValueError — minimize requires bounds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F8CB6AD7-0A05-4E0F-8C04-1008A46D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D1CF250C-8148-4F16-9BEF-BE4DD097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49A739B9-D433-48E4-BB6C-FBAD2513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succeed, but at physically meaningless x values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DDDFD6DD-E626-4488-A7CD-B01AD5DA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C649FDFA-CC63-4F60-8A66-6F24D3E9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0AA71E19-0FEE-48C3-8C6D-BF5D5EAE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converge back into the lower basin anyway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127A0E1A-F90E-42AE-9B24-8D346629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44494A51-C416-463E-9FB7-4DE535D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5C4223E3-FE3A-40B9-8750-00B26A8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warning, but the same values as the bounded runs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0EFDDDB7-7A39-4D75-82E9-2A3C7EB7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4F927CB4-2407-495E-83AF-74015680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B802649D-DBAE-4236-A8B4-D81EB707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report success=True. Far from either basin the surface is nearly flat, so minimize stops where it stands: wwr=-0.1974 and wwr=1.0.</a:t>
            </a:r>
          </a:p>
        </p:txBody>
      </p:sp>
    </p:spTree>
    <p:extLst>
      <p:ext uri="{BB962C8B-B14F-4D97-AF65-F5344CB8AC3E}">
        <p14:creationId xmlns:p14="http://schemas.microsoft.com/office/powerpoint/2010/main" val="9668026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A6E896B-D2BB-438C-BFE4-D838A080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A154B9-8E9D-440A-80E2-4A7D9507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bounds matter: unbounded runs can go nowhere useful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F1C8C-70E8-42FD-B8B9-329FA36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3A5A15B-4613-4EC5-A8CD-DA85EDE7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5918674-229A-49B7-A7CD-E23F43A7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405429A-7D73-465F-94E0-B3E596D3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FFBEB74-A4C2-4253-B2B9-95A285A6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no bounds= argument at all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result_a = minimize(energy_proxy, x0=(0.0, 0.0))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print('start (0.0, 0.0) -&gt;', result_a.x.round(4),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round(result_a.fun, 4))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result_b = minimize(energy_proxy, x0=(1.0, 1.0))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print('start (1.0, 1.0) -&gt;', result_b.x.round(4),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round(result_b.fun, 4))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D627F-2EC6-4FCD-B9F1-ECBE5B40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22563378-236E-4310-9FCE-B30C1D3F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36A6982-B657-42E3-8DCE-E4E8C95D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start (0.0, 0.0) -&gt; [-0.1974  0.    ] 20.0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start (1.0, 1.0) -&gt; [1. 1.] 20.0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95F6B1F-DD82-4DF5-BBEC-A74EB601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'succeed.' Both are physically meaningless.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10E0B0D-B000-4522-9747-B2E7202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wwr=-0.1974 is a negative window-to-wall ratio; wwr=1.0 with no bounds check is an all-glass wall accepted without question. Both runs report success because far from either basin the surface is nearly flat — minimize has no slope to follow, so it stops wherever it happens to be standing.</a:t>
            </a:r>
          </a:p>
        </p:txBody>
      </p:sp>
    </p:spTree>
    <p:extLst>
      <p:ext uri="{BB962C8B-B14F-4D97-AF65-F5344CB8AC3E}">
        <p14:creationId xmlns:p14="http://schemas.microsoft.com/office/powerpoint/2010/main" val="20091901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3CE449D4-CB6B-4131-B7B4-A6F57272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 + NEW FORM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B749D1-D1D1-439E-B0F3-84E9442E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Bounds, defined (for minimize)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C6884-6F4F-45D0-9D3E-334B4683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92846F8-2DD9-4724-896A-EACDEA37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31FED1C-5C33-48FD-8E32-C24F6948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471A03FC-5C4B-4788-B329-0C3D0A08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idea, same syntax as Week 10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C21448BE-FD81-4FB8-87A4-A0007DA4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7436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bounds=[(0.20, 0.60), (0.0, 1.2)] — one (min, max) pair per design variable, identical in form to linprog's bounds argument.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FFB0C7C4-2131-47B6-A7AE-EAD06857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different job here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5AD9963C-0DE1-4DEE-AEC9-12D966D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7436"/>
            <a:ext cx="5219700" cy="166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10's bounds capped a structural limit (solar area ≤ 120 m2). Here, bounds keeps wwr and shade_m inside the physically buildable envelope — and, as the previous slide showed, keeps the solver from wandering into a flat region with no signal at all.</a:t>
            </a:r>
          </a:p>
        </p:txBody>
      </p:sp>
    </p:spTree>
    <p:extLst>
      <p:ext uri="{BB962C8B-B14F-4D97-AF65-F5344CB8AC3E}">
        <p14:creationId xmlns:p14="http://schemas.microsoft.com/office/powerpoint/2010/main" val="16778819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6EA763B4-AED8-45BD-BB19-869B220A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761DC1-E21C-47DC-9F8C-4456757A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minimize workflow, every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9B202-5619-4A17-94FB-912C7B48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FFF90E6-4681-4857-A91A-5A8C45F2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5D0BA58-8D4E-4179-B18D-901C8759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1E23D499-8BD1-4A7C-856A-09C125B2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85CB0FC1-06F9-4127-87C1-4FCB3040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1F982CC9-4B92-40CA-B601-8499CA4F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DD5487E9-B1CE-4078-AA0E-A62907A4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FD6B11C4-9951-4510-8616-8A918839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F32F0745-A84B-463F-A806-5DBE4B9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685BC-18EC-412F-AEF6-51D419D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EB18C10F-087C-4E00-892F-9619D98B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objective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ABBB4F80-52D0-4F03-A232-169D6513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function returning a single number to minimize, exactly like energy_proxy(v).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E09B75CA-C9B4-4AA1-A075-1E06F7CB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A8D1D97-FC21-403B-99CE-472710B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12DE976-78F9-446B-AE80-5CE09BFD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BOUNDS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B04C8-BC5F-4D3C-B33D-DA82F41E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6DC76A93-DD0B-42EB-BAC4-4BEC9CC5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physical range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1B8543A-B99F-4357-AA77-FD1D5A96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(min, max) pair per design variable — keeps every candidate buildable.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CC176D22-9EAF-45AD-878C-1591EB8D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5824E799-34A0-457C-825C-7ADC1399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3190FB95-2226-4320-B3C5-F5F9875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GUESS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13825-E308-4479-A117-16EE80EB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BE49B032-FA94-4D5C-B988-2E87B5B4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x0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9668D3CD-AC39-4D4D-9364-DA8C170C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Pick a starting point — and know on a nonlinear problem it might not be enough.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DBDC4074-D79F-4E4B-8BBC-4BBB697E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C0822C22-4662-4148-B0E9-F04554F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A3CAA214-7EAC-4054-BADD-76239F1F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0D3E3-6059-4C5C-9759-C9BB1A5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3A56DBF2-94DD-462A-A325-9B2A36C8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Try a second, different x0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544DB685-A25F-4BE5-8EBD-41080700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Compare results before trusting either one — agreement is reassurance, disagreement is real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9778117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49DFF6C6-3F06-4991-8605-DC01F9B1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STRATEGY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3C73DE-92A0-4700-9EB4-7D2DDC2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Combining Week 9 and Week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F1997-2D5C-4501-A08C-84F9847D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1D23FD-6AEF-4FBE-8FB6-43729ED8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7EB2461-D0FC-4F7D-890F-D4D21E09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15006523-4CAB-4A56-B992-861973C2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Sweep, then refine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442F8D06-51BE-45B2-8E5B-090C05F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7436"/>
            <a:ext cx="5219700" cy="166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Week 9's grid sweep is slow but sees everything; minimize is fast but sees only its own neighborhood. Used together: sweep first (or scan a handful of spread-out starting guesses) to find promising regions, THEN run minimize from inside each region to refine each promising candidate.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16B13754-5E00-4F30-B33E-3688504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is real practice, not busywork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925E772A-BBD4-4549-9BD2-0BF714D3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7436"/>
            <a:ext cx="5219700" cy="166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Nobody trusts a single minimize run on a genuinely nonlinear problem. Project 2 Part II requires trying at least two different initial guesses and reporting whether they agree — exactly today's demonstration, applied to your own problem.</a:t>
            </a:r>
          </a:p>
        </p:txBody>
      </p:sp>
    </p:spTree>
    <p:extLst>
      <p:ext uri="{BB962C8B-B14F-4D97-AF65-F5344CB8AC3E}">
        <p14:creationId xmlns:p14="http://schemas.microsoft.com/office/powerpoint/2010/main" val="18229338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560EF83-35D5-4189-B77A-A24ACE84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85B336-38D6-4F6C-BB83-96A6DCFB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Transfer the multistart test: courtyard width × opening ratio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D2B35-067D-42B4-B816-66A85D74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53468CA-0A6C-48CC-A7C3-BFAA88FD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1439C35-8E58-41C6-A8D3-60AB5CA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3A5C6325-52E3-4839-B74D-45B9ED0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32FF6E9D-521C-43FD-A4B9-4C920F3B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nonlinear comfort–daylight proxy has two bounded variables and may contain more than one low region.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4322647F-95BC-47AB-B341-1728320C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13B3E98C-A8B1-473A-AB38-B41384B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29524386-5643-4268-A250-F056371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three physically different starting guesses within the same bounds.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998BA2B7-9261-4C99-92D8-91C747F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D75BA258-90B1-4A01-9B12-BF3A17C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minimize from each start and record success, variables, and objective value.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D31E3E16-214D-4B3A-8282-7AA93B9F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81DA55D4-BCB0-4068-A387-907D9058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Compare agreement or disagreement; verify every returned candidate against bounds.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4322076-53B8-4ABB-9C5F-B8FEBEA6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1B7434F7-FDD5-4683-9514-E17AF7A6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Translate the best and alternate basins into distinct architectural implications.</a:t>
            </a:r>
          </a:p>
        </p:txBody>
      </p:sp>
    </p:spTree>
    <p:extLst>
      <p:ext uri="{BB962C8B-B14F-4D97-AF65-F5344CB8AC3E}">
        <p14:creationId xmlns:p14="http://schemas.microsoft.com/office/powerpoint/2010/main" val="7252513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D3A29C8D-1C9C-4A0C-A564-E74D00EE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LOOKING AHEAD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EA9CE5-16BD-424A-BA4A-A7828642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this matters for Project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2FD7A-348D-422D-BCDC-D79C21F9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9319EF-A233-44C6-9FE7-F2F0DF06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A · Optimization II: Nonlinear and Gradient-Based Search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3DF65C-2254-4A02-AB1C-8AC03A1F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7BEE4778-9E87-447A-95B8-36FB66F8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required, non-optional families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CA17BBE4-30FD-48F7-97DF-30778E3C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Project 2 Part II requires BOTH linprog (Week 10) and minimize (Week 11) — solve your linear sub-component exactly, then solve the full nonlinear objective by search, trying at least two different initial guesses.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E3091C5E-CB5D-4763-B858-2FEFCEFC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'reporting' means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BB7B9CD5-E435-4838-8D60-4EC718E7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whether your two starting guesses agree. If they don't — exactly like today's demonstration — that disagreement IS the finding, not a mistake to hide, and belongs directly in your one-page solver card.</a:t>
            </a:r>
          </a:p>
        </p:txBody>
      </p:sp>
    </p:spTree>
    <p:extLst>
      <p:ext uri="{BB962C8B-B14F-4D97-AF65-F5344CB8AC3E}">
        <p14:creationId xmlns:p14="http://schemas.microsoft.com/office/powerpoint/2010/main" val="5293626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76F3EA76-33A7-4955-9CF5-F2C0EFA0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11 · MEETING A · OPTIMIZATION II: NONLINEAR AND GRADIENT-BASED SEARCH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0D6E081-EB9B-4EB1-8C76-DBF2065A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starting guess is part of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BD91C-EAB9-478A-9E86-FFF4192B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CD49083B-00DD-4D81-84E3-15735B23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E99ECEFD-EF2F-4953-B6A1-5E754096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minimize follows local information from your initial guess; it never sees the full continuum.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066763D7-CA4A-4C05-B898-9D13F6D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FAB740D5-DFA0-41EA-9DFD-C9FD04D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optimum is real and reproducible; a lower basin may exist elsewhere in bounds.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45455D0F-C649-448A-9166-31115C3D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44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A29FCB7E-1969-42ED-8704-FC3DE63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344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of 8 plausible starts land at -7.1521; only 3 reach the lower best-known basin at -11.1437.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B4C5B218-2E40-47CA-9BFD-27F83624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006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BFBA10DE-20B6-4B70-877B-53D62002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1966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Dense-grid plus multistart agreement is useful corroboration, not proof of globality.</a:t>
            </a:r>
          </a:p>
        </p:txBody>
      </p:sp>
    </p:spTree>
    <p:extLst>
      <p:ext uri="{BB962C8B-B14F-4D97-AF65-F5344CB8AC3E}">
        <p14:creationId xmlns:p14="http://schemas.microsoft.com/office/powerpoint/2010/main" val="210089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2026-08-20T17:30:46.7980000Z</dcterms:created>
  <dcterms:modified xsi:type="dcterms:W3CDTF">2026-08-20T17:30:46.7980000Z</dcterms:modified>
</coreProperties>
</file>