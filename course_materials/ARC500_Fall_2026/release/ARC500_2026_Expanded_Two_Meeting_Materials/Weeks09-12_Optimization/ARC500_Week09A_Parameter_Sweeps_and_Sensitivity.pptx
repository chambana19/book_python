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1.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1dd787e209462e" /><Relationship Type="http://schemas.openxmlformats.org/officeDocument/2006/relationships/extended-properties" Target="/docProps/app.xml" Id="R04363f44f3484040" /><Relationship Type="http://schemas.openxmlformats.org/officeDocument/2006/relationships/officeDocument" Target="/ppt/presentation.xml" Id="R1b654707450d4cef" /></Relationships>
</file>

<file path=ppt/presentation.xml><?xml version="1.0" encoding="utf-8"?>
<p:presentation xmlns:p="http://schemas.openxmlformats.org/presentationml/2006/main">
  <p:sldMasterIdLst>
    <p:sldMasterId xmlns:r="http://schemas.openxmlformats.org/officeDocument/2006/relationships" id="2147483648" r:id="R84ea138c07d34024"/>
  </p:sldMasterIdLst>
  <p:notesMasterIdLst>
    <p:notesMasterId xmlns:r="http://schemas.openxmlformats.org/officeDocument/2006/relationships" r:id="R9d7fa9d8559e4495"/>
  </p:notesMasterIdLst>
  <p:sldIdLst>
    <p:sldId xmlns:r="http://schemas.openxmlformats.org/officeDocument/2006/relationships" id="256" r:id="R620cce23d19e4667"/>
    <p:sldId xmlns:r="http://schemas.openxmlformats.org/officeDocument/2006/relationships" id="257" r:id="R3edebe37f5fd4e33"/>
    <p:sldId xmlns:r="http://schemas.openxmlformats.org/officeDocument/2006/relationships" id="258" r:id="Rbc7bedb7ef314361"/>
    <p:sldId xmlns:r="http://schemas.openxmlformats.org/officeDocument/2006/relationships" id="259" r:id="R19044a7165f844bc"/>
    <p:sldId xmlns:r="http://schemas.openxmlformats.org/officeDocument/2006/relationships" id="260" r:id="R5ddc256a20c447c3"/>
    <p:sldId xmlns:r="http://schemas.openxmlformats.org/officeDocument/2006/relationships" id="261" r:id="R73ffbe5888d5416e"/>
    <p:sldId xmlns:r="http://schemas.openxmlformats.org/officeDocument/2006/relationships" id="262" r:id="R1065be296bac4b1c"/>
    <p:sldId xmlns:r="http://schemas.openxmlformats.org/officeDocument/2006/relationships" id="263" r:id="R08658db614814e9d"/>
    <p:sldId xmlns:r="http://schemas.openxmlformats.org/officeDocument/2006/relationships" id="264" r:id="R79238ac152f548e3"/>
    <p:sldId xmlns:r="http://schemas.openxmlformats.org/officeDocument/2006/relationships" id="265" r:id="R555fb5857dd047c8"/>
    <p:sldId xmlns:r="http://schemas.openxmlformats.org/officeDocument/2006/relationships" id="266" r:id="Rc744bfad03044afb"/>
    <p:sldId xmlns:r="http://schemas.openxmlformats.org/officeDocument/2006/relationships" id="267" r:id="R9071c94cbc2d403a"/>
    <p:sldId xmlns:r="http://schemas.openxmlformats.org/officeDocument/2006/relationships" id="268" r:id="R4b46fb40c0ab4fe6"/>
    <p:sldId xmlns:r="http://schemas.openxmlformats.org/officeDocument/2006/relationships" id="269" r:id="R293d1563ce0d4bb7"/>
    <p:sldId xmlns:r="http://schemas.openxmlformats.org/officeDocument/2006/relationships" id="270" r:id="Rc16d834d443a4ee1"/>
    <p:sldId xmlns:r="http://schemas.openxmlformats.org/officeDocument/2006/relationships" id="271" r:id="Rfead4bf595fe42f7"/>
    <p:sldId xmlns:r="http://schemas.openxmlformats.org/officeDocument/2006/relationships" id="272" r:id="Rf3ce562725cc4a3b"/>
    <p:sldId xmlns:r="http://schemas.openxmlformats.org/officeDocument/2006/relationships" id="273" r:id="R8de04240a79f4024"/>
    <p:sldId xmlns:r="http://schemas.openxmlformats.org/officeDocument/2006/relationships" id="274" r:id="R6693e5073b3f4800"/>
    <p:sldId xmlns:r="http://schemas.openxmlformats.org/officeDocument/2006/relationships" id="275" r:id="R1aea70bc2ed34bd2"/>
    <p:sldId xmlns:r="http://schemas.openxmlformats.org/officeDocument/2006/relationships" id="276" r:id="Rd91e32ad21234344"/>
    <p:sldId xmlns:r="http://schemas.openxmlformats.org/officeDocument/2006/relationships" id="277" r:id="Rd7093b173fa34976"/>
    <p:sldId xmlns:r="http://schemas.openxmlformats.org/officeDocument/2006/relationships" id="278" r:id="R55c96316bb7b48c3"/>
    <p:sldId xmlns:r="http://schemas.openxmlformats.org/officeDocument/2006/relationships" id="279" r:id="Readae0e6397249a0"/>
    <p:sldId xmlns:r="http://schemas.openxmlformats.org/officeDocument/2006/relationships" id="280" r:id="R56fdc160486b4eda"/>
    <p:sldId xmlns:r="http://schemas.openxmlformats.org/officeDocument/2006/relationships" id="281" r:id="Re81c0be105844a8e"/>
    <p:sldId xmlns:r="http://schemas.openxmlformats.org/officeDocument/2006/relationships" id="282" r:id="Rcc31407f7f2c4022"/>
    <p:sldId xmlns:r="http://schemas.openxmlformats.org/officeDocument/2006/relationships" id="283" r:id="Rdbe70d37db4e4f67"/>
    <p:sldId xmlns:r="http://schemas.openxmlformats.org/officeDocument/2006/relationships" id="284" r:id="Ra83d3c940abe470d"/>
    <p:sldId xmlns:r="http://schemas.openxmlformats.org/officeDocument/2006/relationships" id="285" r:id="R214e2cd894bd4d88"/>
    <p:sldId xmlns:r="http://schemas.openxmlformats.org/officeDocument/2006/relationships" id="286" r:id="R81262815c0204188"/>
    <p:sldId xmlns:r="http://schemas.openxmlformats.org/officeDocument/2006/relationships" id="287" r:id="R7bcbaafb7cbc4066"/>
    <p:sldId xmlns:r="http://schemas.openxmlformats.org/officeDocument/2006/relationships" id="288" r:id="R5688fc9f8d8146ea"/>
    <p:sldId xmlns:r="http://schemas.openxmlformats.org/officeDocument/2006/relationships" id="289" r:id="Rcf6514b694fe426e"/>
    <p:sldId xmlns:r="http://schemas.openxmlformats.org/officeDocument/2006/relationships" id="290" r:id="Rcc4a1c102d1b48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26102c2acd49e1" /><Relationship Type="http://schemas.openxmlformats.org/officeDocument/2006/relationships/slideMaster" Target="/ppt/slideMasters/slideMaster1.xml" Id="R84ea138c07d34024" /><Relationship Type="http://schemas.openxmlformats.org/officeDocument/2006/relationships/notesMaster" Target="/ppt/notesMasters/notesMaster1.xml" Id="R9d7fa9d8559e4495" /><Relationship Type="http://schemas.openxmlformats.org/officeDocument/2006/relationships/presProps" Target="/ppt/presProps.xml" Id="R6846111efe2d4e8d" /><Relationship Type="http://schemas.openxmlformats.org/officeDocument/2006/relationships/tableStyles" Target="/ppt/tableStyles.xml" Id="R060f71ea881d4803" /><Relationship Type="http://schemas.openxmlformats.org/officeDocument/2006/relationships/slide" Target="/ppt/slides/slide1.xml" Id="R620cce23d19e4667" /><Relationship Type="http://schemas.openxmlformats.org/officeDocument/2006/relationships/slide" Target="/ppt/slides/slide2.xml" Id="R3edebe37f5fd4e33" /><Relationship Type="http://schemas.openxmlformats.org/officeDocument/2006/relationships/slide" Target="/ppt/slides/slide3.xml" Id="Rbc7bedb7ef314361" /><Relationship Type="http://schemas.openxmlformats.org/officeDocument/2006/relationships/slide" Target="/ppt/slides/slide4.xml" Id="R19044a7165f844bc" /><Relationship Type="http://schemas.openxmlformats.org/officeDocument/2006/relationships/slide" Target="/ppt/slides/slide5.xml" Id="R5ddc256a20c447c3" /><Relationship Type="http://schemas.openxmlformats.org/officeDocument/2006/relationships/slide" Target="/ppt/slides/slide6.xml" Id="R73ffbe5888d5416e" /><Relationship Type="http://schemas.openxmlformats.org/officeDocument/2006/relationships/slide" Target="/ppt/slides/slide7.xml" Id="R1065be296bac4b1c" /><Relationship Type="http://schemas.openxmlformats.org/officeDocument/2006/relationships/slide" Target="/ppt/slides/slide8.xml" Id="R08658db614814e9d" /><Relationship Type="http://schemas.openxmlformats.org/officeDocument/2006/relationships/slide" Target="/ppt/slides/slide9.xml" Id="R79238ac152f548e3" /><Relationship Type="http://schemas.openxmlformats.org/officeDocument/2006/relationships/slide" Target="/ppt/slides/slide10.xml" Id="R555fb5857dd047c8" /><Relationship Type="http://schemas.openxmlformats.org/officeDocument/2006/relationships/slide" Target="/ppt/slides/slide11.xml" Id="Rc744bfad03044afb" /><Relationship Type="http://schemas.openxmlformats.org/officeDocument/2006/relationships/slide" Target="/ppt/slides/slide12.xml" Id="R9071c94cbc2d403a" /><Relationship Type="http://schemas.openxmlformats.org/officeDocument/2006/relationships/slide" Target="/ppt/slides/slide13.xml" Id="R4b46fb40c0ab4fe6" /><Relationship Type="http://schemas.openxmlformats.org/officeDocument/2006/relationships/slide" Target="/ppt/slides/slide14.xml" Id="R293d1563ce0d4bb7" /><Relationship Type="http://schemas.openxmlformats.org/officeDocument/2006/relationships/slide" Target="/ppt/slides/slide15.xml" Id="Rc16d834d443a4ee1" /><Relationship Type="http://schemas.openxmlformats.org/officeDocument/2006/relationships/slide" Target="/ppt/slides/slide16.xml" Id="Rfead4bf595fe42f7" /><Relationship Type="http://schemas.openxmlformats.org/officeDocument/2006/relationships/slide" Target="/ppt/slides/slide17.xml" Id="Rf3ce562725cc4a3b" /><Relationship Type="http://schemas.openxmlformats.org/officeDocument/2006/relationships/slide" Target="/ppt/slides/slide18.xml" Id="R8de04240a79f4024" /><Relationship Type="http://schemas.openxmlformats.org/officeDocument/2006/relationships/slide" Target="/ppt/slides/slide19.xml" Id="R6693e5073b3f4800" /><Relationship Type="http://schemas.openxmlformats.org/officeDocument/2006/relationships/slide" Target="/ppt/slides/slide20.xml" Id="R1aea70bc2ed34bd2" /><Relationship Type="http://schemas.openxmlformats.org/officeDocument/2006/relationships/slide" Target="/ppt/slides/slide21.xml" Id="Rd91e32ad21234344" /><Relationship Type="http://schemas.openxmlformats.org/officeDocument/2006/relationships/slide" Target="/ppt/slides/slide22.xml" Id="Rd7093b173fa34976" /><Relationship Type="http://schemas.openxmlformats.org/officeDocument/2006/relationships/slide" Target="/ppt/slides/slide23.xml" Id="R55c96316bb7b48c3" /><Relationship Type="http://schemas.openxmlformats.org/officeDocument/2006/relationships/slide" Target="/ppt/slides/slide24.xml" Id="Readae0e6397249a0" /><Relationship Type="http://schemas.openxmlformats.org/officeDocument/2006/relationships/slide" Target="/ppt/slides/slide25.xml" Id="R56fdc160486b4eda" /><Relationship Type="http://schemas.openxmlformats.org/officeDocument/2006/relationships/slide" Target="/ppt/slides/slide26.xml" Id="Re81c0be105844a8e" /><Relationship Type="http://schemas.openxmlformats.org/officeDocument/2006/relationships/slide" Target="/ppt/slides/slide27.xml" Id="Rcc31407f7f2c4022" /><Relationship Type="http://schemas.openxmlformats.org/officeDocument/2006/relationships/slide" Target="/ppt/slides/slide28.xml" Id="Rdbe70d37db4e4f67" /><Relationship Type="http://schemas.openxmlformats.org/officeDocument/2006/relationships/slide" Target="/ppt/slides/slide29.xml" Id="Ra83d3c940abe470d" /><Relationship Type="http://schemas.openxmlformats.org/officeDocument/2006/relationships/slide" Target="/ppt/slides/slide30.xml" Id="R214e2cd894bd4d88" /><Relationship Type="http://schemas.openxmlformats.org/officeDocument/2006/relationships/slide" Target="/ppt/slides/slide31.xml" Id="R81262815c0204188" /><Relationship Type="http://schemas.openxmlformats.org/officeDocument/2006/relationships/slide" Target="/ppt/slides/slide32.xml" Id="R7bcbaafb7cbc4066" /><Relationship Type="http://schemas.openxmlformats.org/officeDocument/2006/relationships/slide" Target="/ppt/slides/slide33.xml" Id="R5688fc9f8d8146ea" /><Relationship Type="http://schemas.openxmlformats.org/officeDocument/2006/relationships/slide" Target="/ppt/slides/slide34.xml" Id="Rcf6514b694fe426e" /><Relationship Type="http://schemas.openxmlformats.org/officeDocument/2006/relationships/slide" Target="/ppt/slides/slide35.xml" Id="Rcc4a1c102d1b48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50be87085941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589632c42d4f52" /><Relationship Type="http://schemas.openxmlformats.org/officeDocument/2006/relationships/notesMaster" Target="/ppt/notesMasters/notesMaster1.xml" Id="R1a488f71bce545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afbb72c89b4990" /><Relationship Type="http://schemas.openxmlformats.org/officeDocument/2006/relationships/notesMaster" Target="/ppt/notesMasters/notesMaster1.xml" Id="Ra3b78527c31149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260063c32946ea" /><Relationship Type="http://schemas.openxmlformats.org/officeDocument/2006/relationships/notesMaster" Target="/ppt/notesMasters/notesMaster1.xml" Id="Rbe883765a0bd47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87fcc4ca754384" /><Relationship Type="http://schemas.openxmlformats.org/officeDocument/2006/relationships/notesMaster" Target="/ppt/notesMasters/notesMaster1.xml" Id="Rb134e55fab2749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b960da90f14899" /><Relationship Type="http://schemas.openxmlformats.org/officeDocument/2006/relationships/notesMaster" Target="/ppt/notesMasters/notesMaster1.xml" Id="R61c8208453744c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66eb63f2b1411a" /><Relationship Type="http://schemas.openxmlformats.org/officeDocument/2006/relationships/notesMaster" Target="/ppt/notesMasters/notesMaster1.xml" Id="R5c1dd80490bc43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240962860a4d4a" /><Relationship Type="http://schemas.openxmlformats.org/officeDocument/2006/relationships/notesMaster" Target="/ppt/notesMasters/notesMaster1.xml" Id="R551467af0c8c47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30e744771846f3" /><Relationship Type="http://schemas.openxmlformats.org/officeDocument/2006/relationships/notesMaster" Target="/ppt/notesMasters/notesMaster1.xml" Id="Rea56e1f2af814c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c7c7aa239348dd" /><Relationship Type="http://schemas.openxmlformats.org/officeDocument/2006/relationships/notesMaster" Target="/ppt/notesMasters/notesMaster1.xml" Id="R0053a59d89374b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c2f64e51cb42cc" /><Relationship Type="http://schemas.openxmlformats.org/officeDocument/2006/relationships/notesMaster" Target="/ppt/notesMasters/notesMaster1.xml" Id="R10b93470b8334d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66d09155cf4f0f" /><Relationship Type="http://schemas.openxmlformats.org/officeDocument/2006/relationships/notesMaster" Target="/ppt/notesMasters/notesMaster1.xml" Id="R85fb5c5604a544b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1a9078f25c14a5b" /><Relationship Type="http://schemas.openxmlformats.org/officeDocument/2006/relationships/notesMaster" Target="/ppt/notesMasters/notesMaster1.xml" Id="Re910366de7ff43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8648ca9050a41a5" /><Relationship Type="http://schemas.openxmlformats.org/officeDocument/2006/relationships/notesMaster" Target="/ppt/notesMasters/notesMaster1.xml" Id="R0274ad6db3584f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15b088ea6b4313" /><Relationship Type="http://schemas.openxmlformats.org/officeDocument/2006/relationships/notesMaster" Target="/ppt/notesMasters/notesMaster1.xml" Id="Rec2622ddeaef4b7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8210ca58fa042c4" /><Relationship Type="http://schemas.openxmlformats.org/officeDocument/2006/relationships/notesMaster" Target="/ppt/notesMasters/notesMaster1.xml" Id="Raecbad7f7d80470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86e20589e224f3f" /><Relationship Type="http://schemas.openxmlformats.org/officeDocument/2006/relationships/notesMaster" Target="/ppt/notesMasters/notesMaster1.xml" Id="Rbdd409a8d38c42d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e539b8f46ca4ee8" /><Relationship Type="http://schemas.openxmlformats.org/officeDocument/2006/relationships/notesMaster" Target="/ppt/notesMasters/notesMaster1.xml" Id="R0eb5d5b5383d4cb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c8d0ff9008e49d8" /><Relationship Type="http://schemas.openxmlformats.org/officeDocument/2006/relationships/notesMaster" Target="/ppt/notesMasters/notesMaster1.xml" Id="R5f8c783cacfb407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a0547ef8b064024" /><Relationship Type="http://schemas.openxmlformats.org/officeDocument/2006/relationships/notesMaster" Target="/ppt/notesMasters/notesMaster1.xml" Id="Re43c5094f2574d4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331c6e0b673443b" /><Relationship Type="http://schemas.openxmlformats.org/officeDocument/2006/relationships/notesMaster" Target="/ppt/notesMasters/notesMaster1.xml" Id="Re0d1e4098f07413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d301a1e85c844d1" /><Relationship Type="http://schemas.openxmlformats.org/officeDocument/2006/relationships/notesMaster" Target="/ppt/notesMasters/notesMaster1.xml" Id="R978c8c8fc8d74ac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67ef65169204126" /><Relationship Type="http://schemas.openxmlformats.org/officeDocument/2006/relationships/notesMaster" Target="/ppt/notesMasters/notesMaster1.xml" Id="R3df01ad041a4442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59e692715384b9d" /><Relationship Type="http://schemas.openxmlformats.org/officeDocument/2006/relationships/notesMaster" Target="/ppt/notesMasters/notesMaster1.xml" Id="R23fec19d86ef442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64cef92ba154d10" /><Relationship Type="http://schemas.openxmlformats.org/officeDocument/2006/relationships/notesMaster" Target="/ppt/notesMasters/notesMaster1.xml" Id="R0d52006e004843c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7573bae1a744cef" /><Relationship Type="http://schemas.openxmlformats.org/officeDocument/2006/relationships/notesMaster" Target="/ppt/notesMasters/notesMaster1.xml" Id="Reb719c89231e40e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ebce9bb7cee4123" /><Relationship Type="http://schemas.openxmlformats.org/officeDocument/2006/relationships/notesMaster" Target="/ppt/notesMasters/notesMaster1.xml" Id="Ra798de20d98e422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5e830002a194e3c" /><Relationship Type="http://schemas.openxmlformats.org/officeDocument/2006/relationships/notesMaster" Target="/ppt/notesMasters/notesMaster1.xml" Id="Ra9902ce8adc3442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ea4d6feb31b4973" /><Relationship Type="http://schemas.openxmlformats.org/officeDocument/2006/relationships/notesMaster" Target="/ppt/notesMasters/notesMaster1.xml" Id="R24b2431063234f2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06ab89b2a804db7" /><Relationship Type="http://schemas.openxmlformats.org/officeDocument/2006/relationships/notesMaster" Target="/ppt/notesMasters/notesMaster1.xml" Id="R6617a3bbe21246f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707b95bb8b64ba4" /><Relationship Type="http://schemas.openxmlformats.org/officeDocument/2006/relationships/notesMaster" Target="/ppt/notesMasters/notesMaster1.xml" Id="R1603d19d0c8d47a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f0b6719f2bb4d69" /><Relationship Type="http://schemas.openxmlformats.org/officeDocument/2006/relationships/notesMaster" Target="/ppt/notesMasters/notesMaster1.xml" Id="Rba1c258f44ef486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d1bd25e69e84cbf" /><Relationship Type="http://schemas.openxmlformats.org/officeDocument/2006/relationships/notesMaster" Target="/ppt/notesMasters/notesMaster1.xml" Id="R33c9bb2736db43a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8022e4c7305483f" /><Relationship Type="http://schemas.openxmlformats.org/officeDocument/2006/relationships/notesMaster" Target="/ppt/notesMasters/notesMaster1.xml" Id="Rd8f9c1bc843847a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57defdee6b849a6" /><Relationship Type="http://schemas.openxmlformats.org/officeDocument/2006/relationships/notesMaster" Target="/ppt/notesMasters/notesMaster1.xml" Id="Rf9dd25ba1732420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fd444a2e2c94b81" /><Relationship Type="http://schemas.openxmlformats.org/officeDocument/2006/relationships/notesMaster" Target="/ppt/notesMasters/notesMaster1.xml" Id="R5b5972f9e91642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Open with the question, not the vocabulary: Radley Hall's new south wing has two design knobs on the table — window-to-wall ratio and shading depth. Ask the room to guess, right now, which one they'd change first if told to cut energy use. Do not answer yet — today builds the tool that actually answers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Preview that 'minimize' is doing real work here — lower is better. Do not yet name scipy.optimize.minimize; that is Week 11. Today the method is exhaustive: try many values and read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Say this word plainly before it appears again on every later slide: sensitivity is not a NumPy term, it is the design question itself — the NumPy tools that follow exist only to answer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Flag outcome 1 explicitly as the one this deck protects hardest — the question must exist before any tool is named.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Tell students the trap in item 2 is not a throwaway aside — it is the reason meshgrid exists, and the exact reasoning returns in Week 11 when a single starting guess plays the same role a single fixed baseline plays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Write both bounds on the board before any code appears. Emphasize 'provided' — no one is expected to derive a two-basin formula by hand; the skill this week is calling and sweeping it, not deriving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Do not derive this shape — say plainly 'it is provided, like Radley Hall's other numbers.' The one fact worth naming out loud: the value is most negative at the dip's own center and approaches 0 far from it, so landing near a deep dip is exactly what makes a design score well.</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Trace each of the three named pieces — b1, b2, ridge — back to the previous slide's basin call, then say plainly 'lower is better, and this baseline is not yet the answer to anything.' Verified against real numpy 2.4.6.</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Pause here. This is the pivot slide — confirm out loud that no NumPy vocabulary has been used as a goal in itself yet, only as needed to answer this exact, already-posed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Draw the contrast concretely: a list is a shelf of boxes you open one at a time; an ndarray is a shelf you can restock all at once. The next two slides make this literal with the same five numbers, two ways.</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what would this loop look like for 81 wwr values crossed with 61 shade values — 4,941 lines? That number returns explicitly a few slides from now.</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eyeball-match this array against the previous slide's five printed lines — same numbers, same order, radically less code.</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Name the word out loud now that both versions have been seen side by side — vectorization is the property, ndarray is the type that makes it possible.</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Name the one common bug explicitly here: arange can silently drop the exact stop value depending on floating-point step size.</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linspace's 'give me exactly n points, both ends included' is why today's sweeps all use linspace from here on — point back at arange's boundary bug as the reason.</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Ask students to name the best wwr value from this printout before revealing the range number — reinforces reading an array, not just admiring it.</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Let the obvious-looking conclusion form out loud: 'wwr matters, shade_m basically doesn't.' The next few slides exist to test that conclusion, not just state it.</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Read the callout aloud before moving on — it is the exact question the next few slides answer, not a rhetorical aside.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the trap slide. Do not resolve it yet — let the class sit with the possibility that the first read was incomplete before the next two slides reveal exactly how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Take the room's vote out loud before revealing — most will pick B, the exact overgeneralization the last two slides quietly set up.</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State plainly: this is not a trick question with a hidden gotcha unrelated to the real world — design teams make exactly this mistake when they test one variable at a time against whatever baseline they already had on the table.</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Do not name meshgrid yet on this slide — let the need for it land first as a plain-language requirement, then name the tool two slides from now.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Connect back to Week 5's Boolean filtering on a pandas Series (&amp; / | on conditions) — this is the identical idea, one level closer to the raw array.</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out the mask has the exact same shape (9,) as e_wwr and wwr_vals — that shape match is what lets one array's True/False values select from a different array.</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Walk the tiny example on the board before the real one — point at WW[0,1]=2 and SS[0,1]=10 together meaning the pair (2, 10), one of all 6 combinations.</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Point at each numbered chip in order and have students say, out loud, what shape WW and SS will come back in before the next slide confirms (7, 9).</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Name the count explicitly: 9x7=63 calls done in one vectorized line, versus 63 typed lines the naive way — and this is still a coarse grid, about to get much finer.</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Have students point, before the next slide, at which of the two clusters they would bet is the better one and why — no wrong answer yet, just a prediction to check.</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commit to a letter before revealing — the coarse 63-point grid from the previous slide already hinted at the lower-left region without confirming the margin.</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Name explicitly: this is the exact same meshgrid technique from a few slides ago, just with far more points in each linspace call — no new tool, only finer resolution. State that this fine grid is a real, previously verified computation, not an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Expected sentence shape: 'Move toward low wwr (~0.28) and deep shading (~0.90 m); this beats the other low region by about 4 points and the current baseline by about 33 points.' Reject any answer naming wwr or shade_m alone as 'the important variable' — today's whole point is that the pair, not either alone, decides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Assess the workflow, not a prescribed optimum: range → meshgrid → vectorized evaluation → feasibility mask → region interpretation. The transfer makes clear that a 2-D sweep reveals interactions hidden by one-at-a-time slices. Accept limitations such as simplified envelope geometry, assumed climate, omitted cost, discrete product sizes, or proxy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four-step order is what Wednesday's studio repeats end to end on the exact same formula — point at this slide again before that session starts.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State plainly: dataset/problem-area selection for Project 2 opens now, running through Week 10's linprog studio. Point back at today's sweep-and-read pipeline slide as literally the Part I sensitivity-check requirement students will repeat on their own problem in a few weeks.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Exit prompt: ask students to restate, from memory and without notes, why the first 1-D sweep's conclusion (wwr matters, shade_m doesn't) turned out to be incomplete rather than wrong-on-its-face.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f2d1698fd743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d19ccd32be470a" /><Relationship Type="http://schemas.openxmlformats.org/officeDocument/2006/relationships/slideLayout" Target="/ppt/slideLayouts/slideLayout1.xml" Id="Rd34fca5cf5c248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4fca5cf5c248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c9fd21e49a49a0" /><Relationship Type="http://schemas.openxmlformats.org/officeDocument/2006/relationships/notesSlide" Target="/ppt/notesSlides/notesSlide1.xml" Id="R13c41c0dbc2841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ff2210d23d34986" /><Relationship Type="http://schemas.openxmlformats.org/officeDocument/2006/relationships/notesSlide" Target="/ppt/notesSlides/notesSlide2.xml" Id="R51aa8333043e4b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a3da79ae514b05" /><Relationship Type="http://schemas.openxmlformats.org/officeDocument/2006/relationships/notesSlide" Target="/ppt/notesSlides/notesSlide3.xml" Id="R16e95813d1314f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b71425450f4dfc" /><Relationship Type="http://schemas.openxmlformats.org/officeDocument/2006/relationships/notesSlide" Target="/ppt/notesSlides/notesSlide4.xml" Id="R9ffd7bceb05147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920ff2b3974ee2" /><Relationship Type="http://schemas.openxmlformats.org/officeDocument/2006/relationships/notesSlide" Target="/ppt/notesSlides/notesSlide5.xml" Id="Rdb857d2b69ae4a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dd5cb22b3aa4897" /><Relationship Type="http://schemas.openxmlformats.org/officeDocument/2006/relationships/notesSlide" Target="/ppt/notesSlides/notesSlide6.xml" Id="R58b122de94fc46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71013642de947ca" /><Relationship Type="http://schemas.openxmlformats.org/officeDocument/2006/relationships/notesSlide" Target="/ppt/notesSlides/notesSlide7.xml" Id="Rb8e58f7f63264ca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87bf6bb8d74c44" /><Relationship Type="http://schemas.openxmlformats.org/officeDocument/2006/relationships/notesSlide" Target="/ppt/notesSlides/notesSlide8.xml" Id="R9786ce4c586446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4866962fff14ea6" /><Relationship Type="http://schemas.openxmlformats.org/officeDocument/2006/relationships/notesSlide" Target="/ppt/notesSlides/notesSlide9.xml" Id="R459ac7d3126d4aa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778242a28a44c5b" /><Relationship Type="http://schemas.openxmlformats.org/officeDocument/2006/relationships/notesSlide" Target="/ppt/notesSlides/notesSlide10.xml" Id="R4401041154df4e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dfce7ff55f54327" /><Relationship Type="http://schemas.openxmlformats.org/officeDocument/2006/relationships/notesSlide" Target="/ppt/notesSlides/notesSlide11.xml" Id="R50af5181c0cc41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df042a653a54d42" /><Relationship Type="http://schemas.openxmlformats.org/officeDocument/2006/relationships/notesSlide" Target="/ppt/notesSlides/notesSlide12.xml" Id="Rdf43816dcced481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033adc601b54fb7" /><Relationship Type="http://schemas.openxmlformats.org/officeDocument/2006/relationships/notesSlide" Target="/ppt/notesSlides/notesSlide13.xml" Id="R901363f90f63438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2b09a02008b4e42" /><Relationship Type="http://schemas.openxmlformats.org/officeDocument/2006/relationships/notesSlide" Target="/ppt/notesSlides/notesSlide14.xml" Id="Ree061a618e3043e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846c597a23b48fa" /><Relationship Type="http://schemas.openxmlformats.org/officeDocument/2006/relationships/notesSlide" Target="/ppt/notesSlides/notesSlide15.xml" Id="Rad2c86cdca5d41b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8d9cd8807ce4000" /><Relationship Type="http://schemas.openxmlformats.org/officeDocument/2006/relationships/notesSlide" Target="/ppt/notesSlides/notesSlide16.xml" Id="R3136c8f2c87a412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34e19df2e0f468e" /><Relationship Type="http://schemas.openxmlformats.org/officeDocument/2006/relationships/notesSlide" Target="/ppt/notesSlides/notesSlide17.xml" Id="R225cf60088064df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5e08d97931b4b1d" /><Relationship Type="http://schemas.openxmlformats.org/officeDocument/2006/relationships/notesSlide" Target="/ppt/notesSlides/notesSlide18.xml" Id="R93f7a13fe4e84a1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207947628984348" /><Relationship Type="http://schemas.openxmlformats.org/officeDocument/2006/relationships/notesSlide" Target="/ppt/notesSlides/notesSlide19.xml" Id="R61af4bd140d04aa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e728942b61244c2" /><Relationship Type="http://schemas.openxmlformats.org/officeDocument/2006/relationships/notesSlide" Target="/ppt/notesSlides/notesSlide20.xml" Id="R61affca83c4b43b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0aa15de497e42ca" /><Relationship Type="http://schemas.openxmlformats.org/officeDocument/2006/relationships/notesSlide" Target="/ppt/notesSlides/notesSlide21.xml" Id="R88b96c9ae85b4a4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0e8fcaa38c649e6" /><Relationship Type="http://schemas.openxmlformats.org/officeDocument/2006/relationships/notesSlide" Target="/ppt/notesSlides/notesSlide22.xml" Id="R2e10625e912f45e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c22cf814b2544cf" /><Relationship Type="http://schemas.openxmlformats.org/officeDocument/2006/relationships/notesSlide" Target="/ppt/notesSlides/notesSlide23.xml" Id="Re3c27d21fc1b428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57f27027fb64a88" /><Relationship Type="http://schemas.openxmlformats.org/officeDocument/2006/relationships/notesSlide" Target="/ppt/notesSlides/notesSlide24.xml" Id="R3b79c8445c1c49d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1a707f864cf4547" /><Relationship Type="http://schemas.openxmlformats.org/officeDocument/2006/relationships/notesSlide" Target="/ppt/notesSlides/notesSlide25.xml" Id="R25c47ee8f4a14f7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931e911df4d4853" /><Relationship Type="http://schemas.openxmlformats.org/officeDocument/2006/relationships/notesSlide" Target="/ppt/notesSlides/notesSlide26.xml" Id="Rea0efa386c80420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b0bb4e0d1354f55" /><Relationship Type="http://schemas.openxmlformats.org/officeDocument/2006/relationships/notesSlide" Target="/ppt/notesSlides/notesSlide27.xml" Id="Rc8038e96cc444fb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7f1c9c33add4e42" /><Relationship Type="http://schemas.openxmlformats.org/officeDocument/2006/relationships/chart" Target="/ppt/slides/charts/chart1.xml" Id="R18f4ed152e984b20" /><Relationship Type="http://schemas.openxmlformats.org/officeDocument/2006/relationships/notesSlide" Target="/ppt/notesSlides/notesSlide28.xml" Id="Rf4bf70e50210425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3f717c8857f4673" /><Relationship Type="http://schemas.openxmlformats.org/officeDocument/2006/relationships/notesSlide" Target="/ppt/notesSlides/notesSlide29.xml" Id="R7c24580d4cc54fb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d1b3f1538dd4fda" /><Relationship Type="http://schemas.openxmlformats.org/officeDocument/2006/relationships/notesSlide" Target="/ppt/notesSlides/notesSlide30.xml" Id="Rd02f2f7a23f646a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8a81bfbd9bd4655" /><Relationship Type="http://schemas.openxmlformats.org/officeDocument/2006/relationships/notesSlide" Target="/ppt/notesSlides/notesSlide31.xml" Id="R0bdeaf528c614fa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c40f6541332452c" /><Relationship Type="http://schemas.openxmlformats.org/officeDocument/2006/relationships/notesSlide" Target="/ppt/notesSlides/notesSlide32.xml" Id="R77fe913ed2cb429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d921eaccf434594" /><Relationship Type="http://schemas.openxmlformats.org/officeDocument/2006/relationships/notesSlide" Target="/ppt/notesSlides/notesSlide33.xml" Id="R8ac79c6e5bd744e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6f6bae81ecb42b6" /><Relationship Type="http://schemas.openxmlformats.org/officeDocument/2006/relationships/notesSlide" Target="/ppt/notesSlides/notesSlide34.xml" Id="R1c7efa57015a430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842f025dbba4da1" /><Relationship Type="http://schemas.openxmlformats.org/officeDocument/2006/relationships/notesSlide" Target="/ppt/notesSlides/notesSlide35.xml" Id="R851a52a4a30044f9"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00" b="1">
                <a:solidFill>
                  <a:srgbClr val="111316"/>
                </a:solidFill>
              </a:rPr>
              <a:t>63-point coarse sweep of energy_proxy(wwr, shade_m)</a:t>
            </a:r>
          </a:p>
        </c:rich>
      </c:tx>
      <c:overlay val="0"/>
      <c:txPr>
        <a:bodyPr xmlns:a="http://schemas.openxmlformats.org/drawingml/2006/main" anchorCtr="1"/>
        <a:lstStyle xmlns:a="http://schemas.openxmlformats.org/drawingml/2006/main"/>
        <a:p xmlns:a="http://schemas.openxmlformats.org/drawingml/2006/main">
          <a:pPr>
            <a:defRPr sz="1200" b="1">
              <a:solidFill>
                <a:srgbClr val="111316"/>
              </a:solidFill>
            </a:defRPr>
          </a:pPr>
        </a:p>
      </c:txPr>
    </c:title>
    <c:plotArea>
      <c:scatterChart>
        <c:scatterStyle val="marker"/>
        <c:ser>
          <c:idx val="0"/>
          <c:order val="0"/>
          <c:tx>
            <c:v>Lowest scores (&lt;=0)</c:v>
          </c:tx>
          <c:xVal>
            <c:numLit>
              <c:formatCode>General</c:formatCode>
              <c:ptCount val="6"/>
              <c:pt idx="0">
                <c:v>50</c:v>
              </c:pt>
              <c:pt idx="1">
                <c:v>55</c:v>
              </c:pt>
              <c:pt idx="2">
                <c:v>25</c:v>
              </c:pt>
              <c:pt idx="3">
                <c:v>30</c:v>
              </c:pt>
              <c:pt idx="4">
                <c:v>25</c:v>
              </c:pt>
              <c:pt idx="5">
                <c:v>30</c:v>
              </c:pt>
            </c:numLit>
          </c:xVal>
          <c:yVal>
            <c:numLit>
              <c:formatCode>General</c:formatCode>
              <c:ptCount val="6"/>
              <c:pt idx="0">
                <c:v>20</c:v>
              </c:pt>
              <c:pt idx="1">
                <c:v>20</c:v>
              </c:pt>
              <c:pt idx="2">
                <c:v>80</c:v>
              </c:pt>
              <c:pt idx="3">
                <c:v>80</c:v>
              </c:pt>
              <c:pt idx="4">
                <c:v>100</c:v>
              </c:pt>
              <c:pt idx="5">
                <c:v>100</c:v>
              </c:pt>
            </c:numLit>
          </c:yVal>
        </c:ser>
        <c:ser>
          <c:idx val="1"/>
          <c:order val="1"/>
          <c:tx>
            <c:v>Middle scores (0-15)</c:v>
          </c:tx>
          <c:xVal>
            <c:numLit>
              <c:formatCode>General</c:formatCode>
              <c:ptCount val="14"/>
              <c:pt idx="0">
                <c:v>50</c:v>
              </c:pt>
              <c:pt idx="1">
                <c:v>55</c:v>
              </c:pt>
              <c:pt idx="2">
                <c:v>45</c:v>
              </c:pt>
              <c:pt idx="3">
                <c:v>60</c:v>
              </c:pt>
              <c:pt idx="4">
                <c:v>45</c:v>
              </c:pt>
              <c:pt idx="5">
                <c:v>50</c:v>
              </c:pt>
              <c:pt idx="6">
                <c:v>55</c:v>
              </c:pt>
              <c:pt idx="7">
                <c:v>60</c:v>
              </c:pt>
              <c:pt idx="8">
                <c:v>25</c:v>
              </c:pt>
              <c:pt idx="9">
                <c:v>20</c:v>
              </c:pt>
              <c:pt idx="10">
                <c:v>35</c:v>
              </c:pt>
              <c:pt idx="11">
                <c:v>20</c:v>
              </c:pt>
              <c:pt idx="12">
                <c:v>35</c:v>
              </c:pt>
              <c:pt idx="13">
                <c:v>25</c:v>
              </c:pt>
            </c:numLit>
          </c:xVal>
          <c:yVal>
            <c:numLit>
              <c:formatCode>General</c:formatCode>
              <c:ptCount val="14"/>
              <c:pt idx="0">
                <c:v>0</c:v>
              </c:pt>
              <c:pt idx="1">
                <c:v>0</c:v>
              </c:pt>
              <c:pt idx="2">
                <c:v>20</c:v>
              </c:pt>
              <c:pt idx="3">
                <c:v>20</c:v>
              </c:pt>
              <c:pt idx="4">
                <c:v>40</c:v>
              </c:pt>
              <c:pt idx="5">
                <c:v>40</c:v>
              </c:pt>
              <c:pt idx="6">
                <c:v>40</c:v>
              </c:pt>
              <c:pt idx="7">
                <c:v>40</c:v>
              </c:pt>
              <c:pt idx="8">
                <c:v>60</c:v>
              </c:pt>
              <c:pt idx="9">
                <c:v>80</c:v>
              </c:pt>
              <c:pt idx="10">
                <c:v>80</c:v>
              </c:pt>
              <c:pt idx="11">
                <c:v>100</c:v>
              </c:pt>
              <c:pt idx="12">
                <c:v>100</c:v>
              </c:pt>
              <c:pt idx="13">
                <c:v>120</c:v>
              </c:pt>
            </c:numLit>
          </c:yVal>
        </c:ser>
        <c:ser>
          <c:idx val="2"/>
          <c:order val="2"/>
          <c:tx>
            <c:v>Higher scores (&gt;15)</c:v>
          </c:tx>
          <c:xVal>
            <c:numLit>
              <c:formatCode>General</c:formatCode>
              <c:ptCount val="43"/>
              <c:pt idx="0">
                <c:v>20</c:v>
              </c:pt>
              <c:pt idx="1">
                <c:v>25</c:v>
              </c:pt>
              <c:pt idx="2">
                <c:v>30</c:v>
              </c:pt>
              <c:pt idx="3">
                <c:v>35</c:v>
              </c:pt>
              <c:pt idx="4">
                <c:v>40</c:v>
              </c:pt>
              <c:pt idx="5">
                <c:v>45</c:v>
              </c:pt>
              <c:pt idx="6">
                <c:v>60</c:v>
              </c:pt>
              <c:pt idx="7">
                <c:v>20</c:v>
              </c:pt>
              <c:pt idx="8">
                <c:v>25</c:v>
              </c:pt>
              <c:pt idx="9">
                <c:v>30</c:v>
              </c:pt>
              <c:pt idx="10">
                <c:v>35</c:v>
              </c:pt>
              <c:pt idx="11">
                <c:v>40</c:v>
              </c:pt>
              <c:pt idx="12">
                <c:v>20</c:v>
              </c:pt>
              <c:pt idx="13">
                <c:v>25</c:v>
              </c:pt>
              <c:pt idx="14">
                <c:v>30</c:v>
              </c:pt>
              <c:pt idx="15">
                <c:v>35</c:v>
              </c:pt>
              <c:pt idx="16">
                <c:v>40</c:v>
              </c:pt>
              <c:pt idx="17">
                <c:v>20</c:v>
              </c:pt>
              <c:pt idx="18">
                <c:v>30</c:v>
              </c:pt>
              <c:pt idx="19">
                <c:v>35</c:v>
              </c:pt>
              <c:pt idx="20">
                <c:v>40</c:v>
              </c:pt>
              <c:pt idx="21">
                <c:v>45</c:v>
              </c:pt>
              <c:pt idx="22">
                <c:v>50</c:v>
              </c:pt>
              <c:pt idx="23">
                <c:v>55</c:v>
              </c:pt>
              <c:pt idx="24">
                <c:v>60</c:v>
              </c:pt>
              <c:pt idx="25">
                <c:v>40</c:v>
              </c:pt>
              <c:pt idx="26">
                <c:v>45</c:v>
              </c:pt>
              <c:pt idx="27">
                <c:v>50</c:v>
              </c:pt>
              <c:pt idx="28">
                <c:v>55</c:v>
              </c:pt>
              <c:pt idx="29">
                <c:v>60</c:v>
              </c:pt>
              <c:pt idx="30">
                <c:v>40</c:v>
              </c:pt>
              <c:pt idx="31">
                <c:v>45</c:v>
              </c:pt>
              <c:pt idx="32">
                <c:v>50</c:v>
              </c:pt>
              <c:pt idx="33">
                <c:v>55</c:v>
              </c:pt>
              <c:pt idx="34">
                <c:v>60</c:v>
              </c:pt>
              <c:pt idx="35">
                <c:v>20</c:v>
              </c:pt>
              <c:pt idx="36">
                <c:v>30</c:v>
              </c:pt>
              <c:pt idx="37">
                <c:v>35</c:v>
              </c:pt>
              <c:pt idx="38">
                <c:v>40</c:v>
              </c:pt>
              <c:pt idx="39">
                <c:v>45</c:v>
              </c:pt>
              <c:pt idx="40">
                <c:v>50</c:v>
              </c:pt>
              <c:pt idx="41">
                <c:v>55</c:v>
              </c:pt>
              <c:pt idx="42">
                <c:v>60</c:v>
              </c:pt>
            </c:numLit>
          </c:xVal>
          <c:yVal>
            <c:numLit>
              <c:formatCode>General</c:formatCode>
              <c:ptCount val="43"/>
              <c:pt idx="0">
                <c:v>0</c:v>
              </c:pt>
              <c:pt idx="1">
                <c:v>0</c:v>
              </c:pt>
              <c:pt idx="2">
                <c:v>0</c:v>
              </c:pt>
              <c:pt idx="3">
                <c:v>0</c:v>
              </c:pt>
              <c:pt idx="4">
                <c:v>0</c:v>
              </c:pt>
              <c:pt idx="5">
                <c:v>0</c:v>
              </c:pt>
              <c:pt idx="6">
                <c:v>0</c:v>
              </c:pt>
              <c:pt idx="7">
                <c:v>20</c:v>
              </c:pt>
              <c:pt idx="8">
                <c:v>20</c:v>
              </c:pt>
              <c:pt idx="9">
                <c:v>20</c:v>
              </c:pt>
              <c:pt idx="10">
                <c:v>20</c:v>
              </c:pt>
              <c:pt idx="11">
                <c:v>20</c:v>
              </c:pt>
              <c:pt idx="12">
                <c:v>40</c:v>
              </c:pt>
              <c:pt idx="13">
                <c:v>40</c:v>
              </c:pt>
              <c:pt idx="14">
                <c:v>40</c:v>
              </c:pt>
              <c:pt idx="15">
                <c:v>40</c:v>
              </c:pt>
              <c:pt idx="16">
                <c:v>40</c:v>
              </c:pt>
              <c:pt idx="17">
                <c:v>60</c:v>
              </c:pt>
              <c:pt idx="18">
                <c:v>60</c:v>
              </c:pt>
              <c:pt idx="19">
                <c:v>60</c:v>
              </c:pt>
              <c:pt idx="20">
                <c:v>60</c:v>
              </c:pt>
              <c:pt idx="21">
                <c:v>60</c:v>
              </c:pt>
              <c:pt idx="22">
                <c:v>60</c:v>
              </c:pt>
              <c:pt idx="23">
                <c:v>60</c:v>
              </c:pt>
              <c:pt idx="24">
                <c:v>60</c:v>
              </c:pt>
              <c:pt idx="25">
                <c:v>80</c:v>
              </c:pt>
              <c:pt idx="26">
                <c:v>80</c:v>
              </c:pt>
              <c:pt idx="27">
                <c:v>80</c:v>
              </c:pt>
              <c:pt idx="28">
                <c:v>80</c:v>
              </c:pt>
              <c:pt idx="29">
                <c:v>80</c:v>
              </c:pt>
              <c:pt idx="30">
                <c:v>100</c:v>
              </c:pt>
              <c:pt idx="31">
                <c:v>100</c:v>
              </c:pt>
              <c:pt idx="32">
                <c:v>100</c:v>
              </c:pt>
              <c:pt idx="33">
                <c:v>100</c:v>
              </c:pt>
              <c:pt idx="34">
                <c:v>100</c:v>
              </c:pt>
              <c:pt idx="35">
                <c:v>120</c:v>
              </c:pt>
              <c:pt idx="36">
                <c:v>120</c:v>
              </c:pt>
              <c:pt idx="37">
                <c:v>120</c:v>
              </c:pt>
              <c:pt idx="38">
                <c:v>120</c:v>
              </c:pt>
              <c:pt idx="39">
                <c:v>120</c:v>
              </c:pt>
              <c:pt idx="40">
                <c:v>120</c:v>
              </c:pt>
              <c:pt idx="41">
                <c:v>120</c:v>
              </c:pt>
              <c:pt idx="42">
                <c:v>120</c:v>
              </c:pt>
            </c:numLit>
          </c:yVal>
        </c:ser>
        <c:axId val="48650112"/>
        <c:axId val="48672768"/>
      </c:scatterChart>
      <c:valAx>
        <c:axId val="48672768"/>
        <c:scaling>
          <c:orientation val="minMax"/>
        </c:scaling>
        <c:delete val="0"/>
        <c:axPos val="l"/>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shade_m, in cm (e.g. 90 = 0.90 m)</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50112"/>
      </c:valAx>
      <c:valAx>
        <c:axId val="48650112"/>
        <c:scaling>
          <c:orientation val="minMax"/>
        </c:scaling>
        <c:delete val="0"/>
        <c:axPos val="b"/>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wwr, as a percent (e.g. 50 = 0.50)</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72768"/>
      </c:valAx>
      <c:spPr>
        <a:solidFill xmlns:a="http://schemas.openxmlformats.org/drawingml/2006/main">
          <a:srgbClr val="FFFFFF"/>
        </a:solidFill>
        <a:ln xmlns:a="http://schemas.openxmlformats.org/drawingml/2006/main" w="9525">
          <a:solidFill>
            <a:srgbClr val="B8BCC4"/>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legend>
    <c:plotVisOnly val="1"/>
  </c:chart>
  <c:spPr>
    <a:solidFill xmlns:a="http://schemas.openxmlformats.org/drawingml/2006/main">
      <a:srgbClr val="FFFFFF"/>
    </a:solidFill>
    <a:ln xmlns:a="http://schemas.openxmlformats.org/drawingml/2006/main" w="9525">
      <a:solidFill>
        <a:srgbClr val="B8BCC4"/>
      </a:solidFill>
      <a:prstDash val="solid"/>
    </a:ln>
  </c:spPr>
</c:chartSpace>
</file>

<file path=ppt/slides/slide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9" name="course-mark">
            <a:extLst xmlns:a="http://schemas.openxmlformats.org/drawingml/2006/main">
              <a:ext uri="{FF2B5EF4-FFF2-40B4-BE49-F238E27FC236}">
                <a16:creationId xmlns:a16="http://schemas.microsoft.com/office/drawing/2014/main" id="{5E6836EA-DEF3-43CF-994A-73B6130E1DE7}"/>
              </a:ext>
            </a:extLst>
          </p:cNvPr>
          <p:cNvSpPr>
            <a:spLocks xmlns:a="http://schemas.openxmlformats.org/drawingml/2006/main" noGrp="1"/>
          </p:cNvSpPr>
          <p:nvPr/>
        </p:nvSpPr>
        <p:spPr>
          <a:xfrm xmlns:a="http://schemas.openxmlformats.org/drawingml/2006/main">
            <a:off x="609600" y="457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FFFFFF"/>
                </a:solidFill>
                <a:latin typeface="Arial"/>
                <a:ea typeface="Arial"/>
                <a:cs typeface="Arial"/>
              </a:defRPr>
            </a:pPr>
            <a:r>
              <a:rPr sz="1800" b="1">
                <a:solidFill>
                  <a:srgbClr val="FFFFFF"/>
                </a:solidFill>
                <a:latin typeface="Arial"/>
                <a:ea typeface="Arial"/>
                <a:cs typeface="Arial"/>
              </a:rPr>
              <a:t>&lt;&gt;  ARC 500</a:t>
            </a:r>
          </a:p>
        </p:txBody>
      </p:sp>
      <p:sp>
        <p:nvSpPr>
          <p:cNvPr id="2" name="course-full-title">
            <a:extLst xmlns:a="http://schemas.openxmlformats.org/drawingml/2006/main">
              <a:ext uri="{FF2B5EF4-FFF2-40B4-BE49-F238E27FC236}">
                <a16:creationId xmlns:a16="http://schemas.microsoft.com/office/drawing/2014/main" id="{DC2D3614-AE47-4D08-B51B-2E8AC6F2149D}"/>
              </a:ext>
            </a:extLst>
          </p:cNvPr>
          <p:cNvSpPr>
            <a:spLocks xmlns:a="http://schemas.openxmlformats.org/drawingml/2006/main" noGrp="1"/>
          </p:cNvSpPr>
          <p:nvPr/>
        </p:nvSpPr>
        <p:spPr>
          <a:xfrm xmlns:a="http://schemas.openxmlformats.org/drawingml/2006/main">
            <a:off x="609600" y="81915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9AA1AC"/>
                </a:solidFill>
                <a:latin typeface="Arial"/>
                <a:ea typeface="Arial"/>
                <a:cs typeface="Arial"/>
              </a:defRPr>
            </a:pPr>
            <a:r>
              <a:rPr sz="900" b="0">
                <a:solidFill>
                  <a:srgbClr val="9AA1AC"/>
                </a:solidFill>
                <a:latin typeface="Arial"/>
                <a:ea typeface="Arial"/>
                <a:cs typeface="Arial"/>
              </a:rPr>
              <a:t>Programming with Python and Generative AI  ·  Scripting, Data Analysis, Visualization, Problem-Solving, and Optimization</a:t>
            </a:r>
          </a:p>
        </p:txBody>
      </p:sp>
      <p:sp>
        <p:nvSpPr>
          <p:cNvPr id="3" name="accent-bar">
            <a:extLst xmlns:a="http://schemas.openxmlformats.org/drawingml/2006/main">
              <a:ext uri="{FF2B5EF4-FFF2-40B4-BE49-F238E27FC236}">
                <a16:creationId xmlns:a16="http://schemas.microsoft.com/office/drawing/2014/main" id="{6D3827DF-F570-4F37-9321-BBE70DFA1D52}"/>
              </a:ext>
            </a:extLst>
          </p:cNvPr>
          <p:cNvSpPr>
            <a:spLocks xmlns:a="http://schemas.openxmlformats.org/drawingml/2006/main" noGrp="1"/>
          </p:cNvSpPr>
          <p:nvPr/>
        </p:nvSpPr>
        <p:spPr>
          <a:xfrm xmlns:a="http://schemas.openxmlformats.org/drawingml/2006/main">
            <a:off x="609600" y="1333500"/>
            <a:ext cx="133350" cy="2857500"/>
          </a:xfrm>
          <a:prstGeom xmlns:a="http://schemas.openxmlformats.org/drawingml/2006/main" prst="rect">
            <a:avLst/>
          </a:prstGeom>
          <a:solidFill xmlns:a="http://schemas.openxmlformats.org/drawingml/2006/main">
            <a:srgbClr val="2E74B5"/>
          </a:solidFill>
          <a:ln xmlns:a="http://schemas.openxmlformats.org/drawingml/2006/main" w="0">
            <a:noFill/>
            <a:prstDash val="solid"/>
          </a:ln>
        </p:spPr>
      </p:sp>
      <p:sp>
        <p:nvSpPr>
          <p:cNvPr id="4" name="week-label">
            <a:extLst xmlns:a="http://schemas.openxmlformats.org/drawingml/2006/main">
              <a:ext uri="{FF2B5EF4-FFF2-40B4-BE49-F238E27FC236}">
                <a16:creationId xmlns:a16="http://schemas.microsoft.com/office/drawing/2014/main" id="{4467114A-6EBA-4A62-B25A-9F32CFF22F5E}"/>
              </a:ext>
            </a:extLst>
          </p:cNvPr>
          <p:cNvSpPr>
            <a:spLocks xmlns:a="http://schemas.openxmlformats.org/drawingml/2006/main" noGrp="1"/>
          </p:cNvSpPr>
          <p:nvPr/>
        </p:nvSpPr>
        <p:spPr>
          <a:xfrm xmlns:a="http://schemas.openxmlformats.org/drawingml/2006/main">
            <a:off x="1028700" y="13525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9 · MEETING A · PARAMETER SWEEPS AND SENSITIVITY</a:t>
            </a:r>
          </a:p>
        </p:txBody>
      </p:sp>
      <p:sp>
        <p:nvSpPr>
          <p:cNvPr id="5" name="deck-title">
            <a:extLst xmlns:a="http://schemas.openxmlformats.org/drawingml/2006/main">
              <a:ext uri="{FF2B5EF4-FFF2-40B4-BE49-F238E27FC236}">
                <a16:creationId xmlns:a16="http://schemas.microsoft.com/office/drawing/2014/main" id="{161383BA-1EA8-41BE-AA0B-9A073E35F324}"/>
              </a:ext>
            </a:extLst>
          </p:cNvPr>
          <p:cNvSpPr>
            <a:spLocks xmlns:a="http://schemas.openxmlformats.org/drawingml/2006/main" noGrp="1"/>
          </p:cNvSpPr>
          <p:nvPr/>
        </p:nvSpPr>
        <p:spPr>
          <a:xfrm xmlns:a="http://schemas.openxmlformats.org/drawingml/2006/main">
            <a:off x="1028700" y="17716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00" b="1">
                <a:solidFill>
                  <a:srgbClr val="FFFFFF"/>
                </a:solidFill>
                <a:latin typeface="Arial"/>
                <a:ea typeface="Arial"/>
                <a:cs typeface="Arial"/>
              </a:defRPr>
            </a:pPr>
            <a:r>
              <a:rPr sz="4500" b="1">
                <a:solidFill>
                  <a:srgbClr val="FFFFFF"/>
                </a:solidFill>
                <a:latin typeface="Arial"/>
                <a:ea typeface="Arial"/>
                <a:cs typeface="Arial"/>
              </a:rPr>
              <a:t>Which lever actually moves the number?</a:t>
            </a:r>
          </a:p>
        </p:txBody>
      </p:sp>
      <p:sp>
        <p:nvSpPr>
          <p:cNvPr id="6" name="deck-subtitle">
            <a:extLst xmlns:a="http://schemas.openxmlformats.org/drawingml/2006/main">
              <a:ext uri="{FF2B5EF4-FFF2-40B4-BE49-F238E27FC236}">
                <a16:creationId xmlns:a16="http://schemas.microsoft.com/office/drawing/2014/main" id="{3944E155-5916-4933-A907-F6CA1BDDB84F}"/>
              </a:ext>
            </a:extLst>
          </p:cNvPr>
          <p:cNvSpPr>
            <a:spLocks xmlns:a="http://schemas.openxmlformats.org/drawingml/2006/main" noGrp="1"/>
          </p:cNvSpPr>
          <p:nvPr/>
        </p:nvSpPr>
        <p:spPr>
          <a:xfrm xmlns:a="http://schemas.openxmlformats.org/drawingml/2006/main">
            <a:off x="1028700" y="3848100"/>
            <a:ext cx="9144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D7D9DC"/>
                </a:solidFill>
                <a:latin typeface="Arial"/>
                <a:ea typeface="Arial"/>
                <a:cs typeface="Arial"/>
              </a:defRPr>
            </a:pPr>
            <a:r>
              <a:rPr sz="2100" b="0">
                <a:solidFill>
                  <a:srgbClr val="D7D9DC"/>
                </a:solidFill>
                <a:latin typeface="Arial"/>
                <a:ea typeface="Arial"/>
                <a:cs typeface="Arial"/>
              </a:rPr>
              <a:t>Parameter sweeps and sensitivity on Radley Hall's south wing — window-to-wall ratio vs. shading depth, and the NumPy tools that answer it</a:t>
            </a:r>
          </a:p>
        </p:txBody>
      </p:sp>
      <p:sp>
        <p:nvSpPr>
          <p:cNvPr id="7" name="">
            <a:extLst xmlns:a="http://schemas.openxmlformats.org/drawingml/2006/main">
              <a:ext uri="{FF2B5EF4-FFF2-40B4-BE49-F238E27FC236}">
                <a16:creationId xmlns:a16="http://schemas.microsoft.com/office/drawing/2014/main" id="{A7B69FA2-62E5-4FBF-BB03-88BB75DC47E9}"/>
              </a:ext>
            </a:extLst>
          </p:cNvPr>
          <p:cNvSpPr>
            <a:spLocks xmlns:a="http://schemas.openxmlformats.org/drawingml/2006/main" noGrp="1"/>
          </p:cNvSpPr>
          <p:nvPr/>
        </p:nvSpPr>
        <p:spPr>
          <a:xfrm xmlns:a="http://schemas.openxmlformats.org/drawingml/2006/main">
            <a:off x="1028700" y="5295900"/>
            <a:ext cx="2476500" cy="0"/>
          </a:xfrm>
          <a:prstGeom xmlns:a="http://schemas.openxmlformats.org/drawingml/2006/main" prst="line">
            <a:avLst/>
          </a:prstGeom>
          <a:noFill xmlns:a="http://schemas.openxmlformats.org/drawingml/2006/main"/>
          <a:ln xmlns:a="http://schemas.openxmlformats.org/drawingml/2006/main" w="9525">
            <a:solidFill>
              <a:srgbClr val="FFFFFF"/>
            </a:solidFill>
            <a:prstDash val="solid"/>
          </a:ln>
        </p:spPr>
      </p:sp>
      <p:sp>
        <p:nvSpPr>
          <p:cNvPr id="8" name="instructor">
            <a:extLst xmlns:a="http://schemas.openxmlformats.org/drawingml/2006/main">
              <a:ext uri="{FF2B5EF4-FFF2-40B4-BE49-F238E27FC236}">
                <a16:creationId xmlns:a16="http://schemas.microsoft.com/office/drawing/2014/main" id="{D13C2B2D-DF06-4B7E-9BC9-7658B90CEE99}"/>
              </a:ext>
            </a:extLst>
          </p:cNvPr>
          <p:cNvSpPr>
            <a:spLocks xmlns:a="http://schemas.openxmlformats.org/drawingml/2006/main" noGrp="1"/>
          </p:cNvSpPr>
          <p:nvPr/>
        </p:nvSpPr>
        <p:spPr>
          <a:xfrm xmlns:a="http://schemas.openxmlformats.org/drawingml/2006/main">
            <a:off x="1028700" y="55245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a:solidFill>
                  <a:srgbClr val="D7D9DC"/>
                </a:solidFill>
                <a:latin typeface="Arial"/>
                <a:ea typeface="Arial"/>
                <a:cs typeface="Arial"/>
              </a:defRPr>
            </a:pPr>
            <a:r>
              <a:rPr sz="1200" b="0">
                <a:solidFill>
                  <a:srgbClr val="D7D9DC"/>
                </a:solidFill>
                <a:latin typeface="Arial"/>
                <a:ea typeface="Arial"/>
                <a:cs typeface="Arial"/>
              </a:rPr>
              <a:t>JunHo Chun, PhD  ·  School of Architecture  ·  Syracuse University  ·  Fall 2026</a:t>
            </a:r>
          </a:p>
        </p:txBody>
      </p:sp>
    </p:spTree>
    <p:extLst>
      <p:ext uri="{BB962C8B-B14F-4D97-AF65-F5344CB8AC3E}">
        <p14:creationId xmlns:p14="http://schemas.microsoft.com/office/powerpoint/2010/main" val="29688730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07F4AAB1-71A0-414D-9B11-559FCF6104E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7222897F-CD51-4CF9-822D-D97B2E139A8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sweep answers what one run cannot</a:t>
            </a:r>
          </a:p>
        </p:txBody>
      </p:sp>
      <p:sp>
        <p:nvSpPr>
          <p:cNvPr id="3" name="">
            <a:extLst xmlns:a="http://schemas.openxmlformats.org/drawingml/2006/main">
              <a:ext uri="{FF2B5EF4-FFF2-40B4-BE49-F238E27FC236}">
                <a16:creationId xmlns:a16="http://schemas.microsoft.com/office/drawing/2014/main" id="{5D455012-9D6F-4296-ACF1-3AFBE38A879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47E80CA-EA06-4105-9CF6-8BF976C6C6D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21020F7F-B10C-45A3-8834-F4BAD71A439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02</a:t>
            </a:r>
          </a:p>
        </p:txBody>
      </p:sp>
      <p:sp>
        <p:nvSpPr>
          <p:cNvPr id="6" name="statement">
            <a:extLst xmlns:a="http://schemas.openxmlformats.org/drawingml/2006/main">
              <a:ext uri="{FF2B5EF4-FFF2-40B4-BE49-F238E27FC236}">
                <a16:creationId xmlns:a16="http://schemas.microsoft.com/office/drawing/2014/main" id="{5C720D9F-4837-4A29-B6D2-F268AFFE5CD0}"/>
              </a:ext>
            </a:extLst>
          </p:cNvPr>
          <p:cNvSpPr>
            <a:spLocks xmlns:a="http://schemas.openxmlformats.org/drawingml/2006/main" noGrp="1"/>
          </p:cNvSpPr>
          <p:nvPr/>
        </p:nvSpPr>
        <p:spPr>
          <a:xfrm xmlns:a="http://schemas.openxmlformats.org/drawingml/2006/main">
            <a:off x="609600" y="1847850"/>
            <a:ext cx="9829800" cy="2545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Running a performance formula once tells you one design's score. Running it across every plausible value of two design variables tells you which one actually moves that score.</a:t>
            </a:r>
          </a:p>
        </p:txBody>
      </p:sp>
      <p:sp>
        <p:nvSpPr>
          <p:cNvPr id="7" name="">
            <a:extLst xmlns:a="http://schemas.openxmlformats.org/drawingml/2006/main">
              <a:ext uri="{FF2B5EF4-FFF2-40B4-BE49-F238E27FC236}">
                <a16:creationId xmlns:a16="http://schemas.microsoft.com/office/drawing/2014/main" id="{CB9CD661-9385-4837-9BF1-D43AB9A129C8}"/>
              </a:ext>
            </a:extLst>
          </p:cNvPr>
          <p:cNvSpPr>
            <a:spLocks xmlns:a="http://schemas.openxmlformats.org/drawingml/2006/main" noGrp="1"/>
          </p:cNvSpPr>
          <p:nvPr/>
        </p:nvSpPr>
        <p:spPr>
          <a:xfrm xmlns:a="http://schemas.openxmlformats.org/drawingml/2006/main">
            <a:off x="609600" y="4602480"/>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D9600FD6-4DEC-439E-8DA5-F0F0BE03C9AE}"/>
              </a:ext>
            </a:extLst>
          </p:cNvPr>
          <p:cNvSpPr>
            <a:spLocks xmlns:a="http://schemas.openxmlformats.org/drawingml/2006/main" noGrp="1"/>
          </p:cNvSpPr>
          <p:nvPr/>
        </p:nvSpPr>
        <p:spPr>
          <a:xfrm xmlns:a="http://schemas.openxmlformats.org/drawingml/2006/main">
            <a:off x="609600" y="4926330"/>
            <a:ext cx="93345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Today's fictional scoring formula, energy_proxy, takes a window-to-wall ratio (wwr) and a shading overhang depth (shade_m) and returns one number to MINIMIZE — an energy-use-intensity-like proxy. You do not derive this formula; it is provided, exactly like Radley Hall's other data.</a:t>
            </a:r>
          </a:p>
        </p:txBody>
      </p:sp>
    </p:spTree>
    <p:extLst>
      <p:ext uri="{BB962C8B-B14F-4D97-AF65-F5344CB8AC3E}">
        <p14:creationId xmlns:p14="http://schemas.microsoft.com/office/powerpoint/2010/main" val="16112338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3F98FDD0-579E-48AD-8B7C-4F8F89F658E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199F1FB5-34E9-4B46-BECD-6325E1131C3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Sensitivity, defined</a:t>
            </a:r>
          </a:p>
        </p:txBody>
      </p:sp>
      <p:sp>
        <p:nvSpPr>
          <p:cNvPr id="3" name="">
            <a:extLst xmlns:a="http://schemas.openxmlformats.org/drawingml/2006/main">
              <a:ext uri="{FF2B5EF4-FFF2-40B4-BE49-F238E27FC236}">
                <a16:creationId xmlns:a16="http://schemas.microsoft.com/office/drawing/2014/main" id="{64EA83A1-E148-488D-BDF6-70BAB3736E2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2D9071F-EC56-49DF-B8D6-AD2F5675828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ECEF1665-F16B-4B10-82FE-B47802A7C39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03</a:t>
            </a:r>
          </a:p>
        </p:txBody>
      </p:sp>
      <p:sp>
        <p:nvSpPr>
          <p:cNvPr id="6" name="left-head">
            <a:extLst xmlns:a="http://schemas.openxmlformats.org/drawingml/2006/main">
              <a:ext uri="{FF2B5EF4-FFF2-40B4-BE49-F238E27FC236}">
                <a16:creationId xmlns:a16="http://schemas.microsoft.com/office/drawing/2014/main" id="{BA383036-3761-4161-896B-BDA96C4896BF}"/>
              </a:ext>
            </a:extLst>
          </p:cNvPr>
          <p:cNvSpPr>
            <a:spLocks xmlns:a="http://schemas.openxmlformats.org/drawingml/2006/main" noGrp="1"/>
          </p:cNvSpPr>
          <p:nvPr/>
        </p:nvSpPr>
        <p:spPr>
          <a:xfrm xmlns:a="http://schemas.openxmlformats.org/drawingml/2006/main">
            <a:off x="6096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One input at a time</a:t>
            </a:r>
          </a:p>
        </p:txBody>
      </p:sp>
      <p:sp>
        <p:nvSpPr>
          <p:cNvPr id="7" name="left-body">
            <a:extLst xmlns:a="http://schemas.openxmlformats.org/drawingml/2006/main">
              <a:ext uri="{FF2B5EF4-FFF2-40B4-BE49-F238E27FC236}">
                <a16:creationId xmlns:a16="http://schemas.microsoft.com/office/drawing/2014/main" id="{78B67EA5-B3DF-4D6F-9F8A-36CEF98A441B}"/>
              </a:ext>
            </a:extLst>
          </p:cNvPr>
          <p:cNvSpPr>
            <a:spLocks xmlns:a="http://schemas.openxmlformats.org/drawingml/2006/main" noGrp="1"/>
          </p:cNvSpPr>
          <p:nvPr/>
        </p:nvSpPr>
        <p:spPr>
          <a:xfrm xmlns:a="http://schemas.openxmlformats.org/drawingml/2006/main">
            <a:off x="609600" y="3212211"/>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Sensitivity: how much an outcome changes when you change one input. A design variable is 'high sensitivity' if a small change swings the result a lot, and 'low sensitivity' if the result barely moves.</a:t>
            </a:r>
          </a:p>
        </p:txBody>
      </p:sp>
      <p:sp>
        <p:nvSpPr>
          <p:cNvPr id="8" name="right-head">
            <a:extLst xmlns:a="http://schemas.openxmlformats.org/drawingml/2006/main">
              <a:ext uri="{FF2B5EF4-FFF2-40B4-BE49-F238E27FC236}">
                <a16:creationId xmlns:a16="http://schemas.microsoft.com/office/drawing/2014/main" id="{BDD537B6-B5A6-449D-B487-22D1E67A9258}"/>
              </a:ext>
            </a:extLst>
          </p:cNvPr>
          <p:cNvSpPr>
            <a:spLocks xmlns:a="http://schemas.openxmlformats.org/drawingml/2006/main" noGrp="1"/>
          </p:cNvSpPr>
          <p:nvPr/>
        </p:nvSpPr>
        <p:spPr>
          <a:xfrm xmlns:a="http://schemas.openxmlformats.org/drawingml/2006/main">
            <a:off x="63627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With two inputs, together</a:t>
            </a:r>
          </a:p>
        </p:txBody>
      </p:sp>
      <p:sp>
        <p:nvSpPr>
          <p:cNvPr id="9" name="right-body">
            <a:extLst xmlns:a="http://schemas.openxmlformats.org/drawingml/2006/main">
              <a:ext uri="{FF2B5EF4-FFF2-40B4-BE49-F238E27FC236}">
                <a16:creationId xmlns:a16="http://schemas.microsoft.com/office/drawing/2014/main" id="{828634BE-C75C-4926-A477-9387B06570A4}"/>
              </a:ext>
            </a:extLst>
          </p:cNvPr>
          <p:cNvSpPr>
            <a:spLocks xmlns:a="http://schemas.openxmlformats.org/drawingml/2006/main" noGrp="1"/>
          </p:cNvSpPr>
          <p:nvPr/>
        </p:nvSpPr>
        <p:spPr>
          <a:xfrm xmlns:a="http://schemas.openxmlformats.org/drawingml/2006/main">
            <a:off x="6362700" y="3212211"/>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 sensitivity ANALYSIS compares two or more inputs' effects side by side to find which one moves the outcome the most — exactly today's question: does wwr or shade_m move energy_proxy more?</a:t>
            </a:r>
          </a:p>
        </p:txBody>
      </p:sp>
    </p:spTree>
    <p:extLst>
      <p:ext uri="{BB962C8B-B14F-4D97-AF65-F5344CB8AC3E}">
        <p14:creationId xmlns:p14="http://schemas.microsoft.com/office/powerpoint/2010/main" val="17455444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274F4DD8-D068-4C24-B5F6-35B9BC43E1A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LEARNING OUTCOMES</a:t>
            </a:r>
          </a:p>
        </p:txBody>
      </p:sp>
      <p:sp>
        <p:nvSpPr>
          <p:cNvPr id="2" name="title">
            <a:extLst xmlns:a="http://schemas.openxmlformats.org/drawingml/2006/main">
              <a:ext uri="{FF2B5EF4-FFF2-40B4-BE49-F238E27FC236}">
                <a16:creationId xmlns:a16="http://schemas.microsoft.com/office/drawing/2014/main" id="{3B791ED4-5149-4391-B468-108AF39EA9D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By the end, you should be able to…</a:t>
            </a:r>
          </a:p>
        </p:txBody>
      </p:sp>
      <p:sp>
        <p:nvSpPr>
          <p:cNvPr id="3" name="">
            <a:extLst xmlns:a="http://schemas.openxmlformats.org/drawingml/2006/main">
              <a:ext uri="{FF2B5EF4-FFF2-40B4-BE49-F238E27FC236}">
                <a16:creationId xmlns:a16="http://schemas.microsoft.com/office/drawing/2014/main" id="{A9109EB1-2B01-49CB-99C7-2C6519A6D46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FD93CF5-4197-4CEA-8DB0-BA13B769812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03B1AD31-98A8-4319-A2F7-ABD92063669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04</a:t>
            </a:r>
          </a:p>
        </p:txBody>
      </p:sp>
      <p:sp>
        <p:nvSpPr>
          <p:cNvPr id="6" name="outcome-number-0">
            <a:extLst xmlns:a="http://schemas.openxmlformats.org/drawingml/2006/main">
              <a:ext uri="{FF2B5EF4-FFF2-40B4-BE49-F238E27FC236}">
                <a16:creationId xmlns:a16="http://schemas.microsoft.com/office/drawing/2014/main" id="{3864C32F-CFC4-4399-9D0B-3BD1644F4C27}"/>
              </a:ext>
            </a:extLst>
          </p:cNvPr>
          <p:cNvSpPr>
            <a:spLocks xmlns:a="http://schemas.openxmlformats.org/drawingml/2006/main" noGrp="1"/>
          </p:cNvSpPr>
          <p:nvPr/>
        </p:nvSpPr>
        <p:spPr>
          <a:xfrm xmlns:a="http://schemas.openxmlformats.org/drawingml/2006/main">
            <a:off x="6096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1</a:t>
            </a:r>
          </a:p>
        </p:txBody>
      </p:sp>
      <p:sp>
        <p:nvSpPr>
          <p:cNvPr id="7" name="outcome-head-0">
            <a:extLst xmlns:a="http://schemas.openxmlformats.org/drawingml/2006/main">
              <a:ext uri="{FF2B5EF4-FFF2-40B4-BE49-F238E27FC236}">
                <a16:creationId xmlns:a16="http://schemas.microsoft.com/office/drawing/2014/main" id="{76305DBC-6C03-45E7-94AC-6C73CA40DC98}"/>
              </a:ext>
            </a:extLst>
          </p:cNvPr>
          <p:cNvSpPr>
            <a:spLocks xmlns:a="http://schemas.openxmlformats.org/drawingml/2006/main" noGrp="1"/>
          </p:cNvSpPr>
          <p:nvPr/>
        </p:nvSpPr>
        <p:spPr>
          <a:xfrm xmlns:a="http://schemas.openxmlformats.org/drawingml/2006/main">
            <a:off x="12001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Pose</a:t>
            </a:r>
          </a:p>
        </p:txBody>
      </p:sp>
      <p:sp>
        <p:nvSpPr>
          <p:cNvPr id="8" name="outcome-body-0">
            <a:extLst xmlns:a="http://schemas.openxmlformats.org/drawingml/2006/main">
              <a:ext uri="{FF2B5EF4-FFF2-40B4-BE49-F238E27FC236}">
                <a16:creationId xmlns:a16="http://schemas.microsoft.com/office/drawing/2014/main" id="{F191EDEB-958A-4BBF-91AD-FAAC26672197}"/>
              </a:ext>
            </a:extLst>
          </p:cNvPr>
          <p:cNvSpPr>
            <a:spLocks xmlns:a="http://schemas.openxmlformats.org/drawingml/2006/main" noGrp="1"/>
          </p:cNvSpPr>
          <p:nvPr/>
        </p:nvSpPr>
        <p:spPr>
          <a:xfrm xmlns:a="http://schemas.openxmlformats.org/drawingml/2006/main">
            <a:off x="12001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State a two-variable sensitivity question before writing any NumPy syntax: which input moves the outcome most?</a:t>
            </a:r>
          </a:p>
        </p:txBody>
      </p:sp>
      <p:sp>
        <p:nvSpPr>
          <p:cNvPr id="9" name="outcome-number-1">
            <a:extLst xmlns:a="http://schemas.openxmlformats.org/drawingml/2006/main">
              <a:ext uri="{FF2B5EF4-FFF2-40B4-BE49-F238E27FC236}">
                <a16:creationId xmlns:a16="http://schemas.microsoft.com/office/drawing/2014/main" id="{6473383B-623C-41CF-AEF6-8C0AC6CE7D8A}"/>
              </a:ext>
            </a:extLst>
          </p:cNvPr>
          <p:cNvSpPr>
            <a:spLocks xmlns:a="http://schemas.openxmlformats.org/drawingml/2006/main" noGrp="1"/>
          </p:cNvSpPr>
          <p:nvPr/>
        </p:nvSpPr>
        <p:spPr>
          <a:xfrm xmlns:a="http://schemas.openxmlformats.org/drawingml/2006/main">
            <a:off x="63627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2</a:t>
            </a:r>
          </a:p>
        </p:txBody>
      </p:sp>
      <p:sp>
        <p:nvSpPr>
          <p:cNvPr id="10" name="outcome-head-1">
            <a:extLst xmlns:a="http://schemas.openxmlformats.org/drawingml/2006/main">
              <a:ext uri="{FF2B5EF4-FFF2-40B4-BE49-F238E27FC236}">
                <a16:creationId xmlns:a16="http://schemas.microsoft.com/office/drawing/2014/main" id="{F83484B8-52A5-45E1-B293-1EFDC17E482A}"/>
              </a:ext>
            </a:extLst>
          </p:cNvPr>
          <p:cNvSpPr>
            <a:spLocks xmlns:a="http://schemas.openxmlformats.org/drawingml/2006/main" noGrp="1"/>
          </p:cNvSpPr>
          <p:nvPr/>
        </p:nvSpPr>
        <p:spPr>
          <a:xfrm xmlns:a="http://schemas.openxmlformats.org/drawingml/2006/main">
            <a:off x="69532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Sweep</a:t>
            </a:r>
          </a:p>
        </p:txBody>
      </p:sp>
      <p:sp>
        <p:nvSpPr>
          <p:cNvPr id="11" name="outcome-body-1">
            <a:extLst xmlns:a="http://schemas.openxmlformats.org/drawingml/2006/main">
              <a:ext uri="{FF2B5EF4-FFF2-40B4-BE49-F238E27FC236}">
                <a16:creationId xmlns:a16="http://schemas.microsoft.com/office/drawing/2014/main" id="{E2D624DE-8ADA-4CDD-A2C3-17BDD50E3FE9}"/>
              </a:ext>
            </a:extLst>
          </p:cNvPr>
          <p:cNvSpPr>
            <a:spLocks xmlns:a="http://schemas.openxmlformats.org/drawingml/2006/main" noGrp="1"/>
          </p:cNvSpPr>
          <p:nvPr/>
        </p:nvSpPr>
        <p:spPr>
          <a:xfrm xmlns:a="http://schemas.openxmlformats.org/drawingml/2006/main">
            <a:off x="69532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Use arange/linspace to generate many evenly spaced design values, and call a formula on the whole ndarray at once instead of one value at a time.</a:t>
            </a:r>
          </a:p>
        </p:txBody>
      </p:sp>
      <p:sp>
        <p:nvSpPr>
          <p:cNvPr id="12" name="outcome-number-2">
            <a:extLst xmlns:a="http://schemas.openxmlformats.org/drawingml/2006/main">
              <a:ext uri="{FF2B5EF4-FFF2-40B4-BE49-F238E27FC236}">
                <a16:creationId xmlns:a16="http://schemas.microsoft.com/office/drawing/2014/main" id="{BB68908C-0405-4F16-A8BB-9EF48936BE6B}"/>
              </a:ext>
            </a:extLst>
          </p:cNvPr>
          <p:cNvSpPr>
            <a:spLocks xmlns:a="http://schemas.openxmlformats.org/drawingml/2006/main" noGrp="1"/>
          </p:cNvSpPr>
          <p:nvPr/>
        </p:nvSpPr>
        <p:spPr>
          <a:xfrm xmlns:a="http://schemas.openxmlformats.org/drawingml/2006/main">
            <a:off x="6096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3</a:t>
            </a:r>
          </a:p>
        </p:txBody>
      </p:sp>
      <p:sp>
        <p:nvSpPr>
          <p:cNvPr id="13" name="outcome-head-2">
            <a:extLst xmlns:a="http://schemas.openxmlformats.org/drawingml/2006/main">
              <a:ext uri="{FF2B5EF4-FFF2-40B4-BE49-F238E27FC236}">
                <a16:creationId xmlns:a16="http://schemas.microsoft.com/office/drawing/2014/main" id="{13A457EB-6187-489C-BC69-ADD575CAB195}"/>
              </a:ext>
            </a:extLst>
          </p:cNvPr>
          <p:cNvSpPr>
            <a:spLocks xmlns:a="http://schemas.openxmlformats.org/drawingml/2006/main" noGrp="1"/>
          </p:cNvSpPr>
          <p:nvPr/>
        </p:nvSpPr>
        <p:spPr>
          <a:xfrm xmlns:a="http://schemas.openxmlformats.org/drawingml/2006/main">
            <a:off x="12001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Combine</a:t>
            </a:r>
          </a:p>
        </p:txBody>
      </p:sp>
      <p:sp>
        <p:nvSpPr>
          <p:cNvPr id="14" name="outcome-body-2">
            <a:extLst xmlns:a="http://schemas.openxmlformats.org/drawingml/2006/main">
              <a:ext uri="{FF2B5EF4-FFF2-40B4-BE49-F238E27FC236}">
                <a16:creationId xmlns:a16="http://schemas.microsoft.com/office/drawing/2014/main" id="{1CBFFCC6-7193-4AB1-BDE7-4B1A55366FE4}"/>
              </a:ext>
            </a:extLst>
          </p:cNvPr>
          <p:cNvSpPr>
            <a:spLocks xmlns:a="http://schemas.openxmlformats.org/drawingml/2006/main" noGrp="1"/>
          </p:cNvSpPr>
          <p:nvPr/>
        </p:nvSpPr>
        <p:spPr>
          <a:xfrm xmlns:a="http://schemas.openxmlformats.org/drawingml/2006/main">
            <a:off x="12001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Use meshgrid to evaluate every combination of two swept variables together, not just one variable at a time.</a:t>
            </a:r>
          </a:p>
        </p:txBody>
      </p:sp>
      <p:sp>
        <p:nvSpPr>
          <p:cNvPr id="15" name="outcome-number-3">
            <a:extLst xmlns:a="http://schemas.openxmlformats.org/drawingml/2006/main">
              <a:ext uri="{FF2B5EF4-FFF2-40B4-BE49-F238E27FC236}">
                <a16:creationId xmlns:a16="http://schemas.microsoft.com/office/drawing/2014/main" id="{0269074F-AAFE-4992-966C-CE1F5C77687C}"/>
              </a:ext>
            </a:extLst>
          </p:cNvPr>
          <p:cNvSpPr>
            <a:spLocks xmlns:a="http://schemas.openxmlformats.org/drawingml/2006/main" noGrp="1"/>
          </p:cNvSpPr>
          <p:nvPr/>
        </p:nvSpPr>
        <p:spPr>
          <a:xfrm xmlns:a="http://schemas.openxmlformats.org/drawingml/2006/main">
            <a:off x="63627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4</a:t>
            </a:r>
          </a:p>
        </p:txBody>
      </p:sp>
      <p:sp>
        <p:nvSpPr>
          <p:cNvPr id="16" name="outcome-head-3">
            <a:extLst xmlns:a="http://schemas.openxmlformats.org/drawingml/2006/main">
              <a:ext uri="{FF2B5EF4-FFF2-40B4-BE49-F238E27FC236}">
                <a16:creationId xmlns:a16="http://schemas.microsoft.com/office/drawing/2014/main" id="{9C7FD861-8426-4ACC-A743-F1776CF28D9C}"/>
              </a:ext>
            </a:extLst>
          </p:cNvPr>
          <p:cNvSpPr>
            <a:spLocks xmlns:a="http://schemas.openxmlformats.org/drawingml/2006/main" noGrp="1"/>
          </p:cNvSpPr>
          <p:nvPr/>
        </p:nvSpPr>
        <p:spPr>
          <a:xfrm xmlns:a="http://schemas.openxmlformats.org/drawingml/2006/main">
            <a:off x="69532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Read</a:t>
            </a:r>
          </a:p>
        </p:txBody>
      </p:sp>
      <p:sp>
        <p:nvSpPr>
          <p:cNvPr id="17" name="outcome-body-3">
            <a:extLst xmlns:a="http://schemas.openxmlformats.org/drawingml/2006/main">
              <a:ext uri="{FF2B5EF4-FFF2-40B4-BE49-F238E27FC236}">
                <a16:creationId xmlns:a16="http://schemas.microsoft.com/office/drawing/2014/main" id="{CF780FA1-ED97-4823-8852-9B7DD82CA606}"/>
              </a:ext>
            </a:extLst>
          </p:cNvPr>
          <p:cNvSpPr>
            <a:spLocks xmlns:a="http://schemas.openxmlformats.org/drawingml/2006/main" noGrp="1"/>
          </p:cNvSpPr>
          <p:nvPr/>
        </p:nvSpPr>
        <p:spPr>
          <a:xfrm xmlns:a="http://schemas.openxmlformats.org/drawingml/2006/main">
            <a:off x="69532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Use a boolean mask to flag which combinations meet a target, and read a swept surface to state which region performs best.</a:t>
            </a:r>
          </a:p>
        </p:txBody>
      </p:sp>
    </p:spTree>
    <p:extLst>
      <p:ext uri="{BB962C8B-B14F-4D97-AF65-F5344CB8AC3E}">
        <p14:creationId xmlns:p14="http://schemas.microsoft.com/office/powerpoint/2010/main" val="14470181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8659BE4D-C945-466D-8D30-7A9F7825651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ROAD MAP</a:t>
            </a:r>
          </a:p>
        </p:txBody>
      </p:sp>
      <p:sp>
        <p:nvSpPr>
          <p:cNvPr id="2" name="title">
            <a:extLst xmlns:a="http://schemas.openxmlformats.org/drawingml/2006/main">
              <a:ext uri="{FF2B5EF4-FFF2-40B4-BE49-F238E27FC236}">
                <a16:creationId xmlns:a16="http://schemas.microsoft.com/office/drawing/2014/main" id="{8B30EE10-1AE9-4986-BC18-CDA33BD1C0D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learning sequence</a:t>
            </a:r>
          </a:p>
        </p:txBody>
      </p:sp>
      <p:sp>
        <p:nvSpPr>
          <p:cNvPr id="3" name="">
            <a:extLst xmlns:a="http://schemas.openxmlformats.org/drawingml/2006/main">
              <a:ext uri="{FF2B5EF4-FFF2-40B4-BE49-F238E27FC236}">
                <a16:creationId xmlns:a16="http://schemas.microsoft.com/office/drawing/2014/main" id="{AB91A673-538A-4EE7-A82A-C3E352483E4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40593AE-0011-4ADC-992D-AFF8EC13BB8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672827BB-A6DD-4ECA-A922-EC69AB6E098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05</a:t>
            </a:r>
          </a:p>
        </p:txBody>
      </p:sp>
      <p:sp>
        <p:nvSpPr>
          <p:cNvPr id="6" name="agenda-no-0">
            <a:extLst xmlns:a="http://schemas.openxmlformats.org/drawingml/2006/main">
              <a:ext uri="{FF2B5EF4-FFF2-40B4-BE49-F238E27FC236}">
                <a16:creationId xmlns:a16="http://schemas.microsoft.com/office/drawing/2014/main" id="{AB7C2F67-B7D4-4D94-A849-E3B5FCAE278D}"/>
              </a:ext>
            </a:extLst>
          </p:cNvPr>
          <p:cNvSpPr>
            <a:spLocks xmlns:a="http://schemas.openxmlformats.org/drawingml/2006/main" noGrp="1"/>
          </p:cNvSpPr>
          <p:nvPr/>
        </p:nvSpPr>
        <p:spPr>
          <a:xfrm xmlns:a="http://schemas.openxmlformats.org/drawingml/2006/main">
            <a:off x="609600" y="22002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32507C68-188C-4183-BD2B-FC4D40EAE068}"/>
              </a:ext>
            </a:extLst>
          </p:cNvPr>
          <p:cNvSpPr>
            <a:spLocks xmlns:a="http://schemas.openxmlformats.org/drawingml/2006/main" noGrp="1"/>
          </p:cNvSpPr>
          <p:nvPr/>
        </p:nvSpPr>
        <p:spPr>
          <a:xfrm xmlns:a="http://schemas.openxmlformats.org/drawingml/2006/main">
            <a:off x="1314450" y="2352675"/>
            <a:ext cx="7429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8" name="agenda-item-0">
            <a:extLst xmlns:a="http://schemas.openxmlformats.org/drawingml/2006/main">
              <a:ext uri="{FF2B5EF4-FFF2-40B4-BE49-F238E27FC236}">
                <a16:creationId xmlns:a16="http://schemas.microsoft.com/office/drawing/2014/main" id="{8ED7D7F2-1AAE-4B0F-951F-A4608A2A39B6}"/>
              </a:ext>
            </a:extLst>
          </p:cNvPr>
          <p:cNvSpPr>
            <a:spLocks xmlns:a="http://schemas.openxmlformats.org/drawingml/2006/main" noGrp="1"/>
          </p:cNvSpPr>
          <p:nvPr/>
        </p:nvSpPr>
        <p:spPr>
          <a:xfrm xmlns:a="http://schemas.openxmlformats.org/drawingml/2006/main">
            <a:off x="2381250" y="21431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State the question: wwr vs. shade_m, which moves energy_proxy most?</a:t>
            </a:r>
          </a:p>
        </p:txBody>
      </p:sp>
      <p:sp>
        <p:nvSpPr>
          <p:cNvPr id="9" name="agenda-no-1">
            <a:extLst xmlns:a="http://schemas.openxmlformats.org/drawingml/2006/main">
              <a:ext uri="{FF2B5EF4-FFF2-40B4-BE49-F238E27FC236}">
                <a16:creationId xmlns:a16="http://schemas.microsoft.com/office/drawing/2014/main" id="{BA266830-55C4-4E11-A994-8DAB4550C7DC}"/>
              </a:ext>
            </a:extLst>
          </p:cNvPr>
          <p:cNvSpPr>
            <a:spLocks xmlns:a="http://schemas.openxmlformats.org/drawingml/2006/main" noGrp="1"/>
          </p:cNvSpPr>
          <p:nvPr/>
        </p:nvSpPr>
        <p:spPr>
          <a:xfrm xmlns:a="http://schemas.openxmlformats.org/drawingml/2006/main">
            <a:off x="609600" y="31146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19438CCE-7A44-4327-B3C3-6173783BB26F}"/>
              </a:ext>
            </a:extLst>
          </p:cNvPr>
          <p:cNvSpPr>
            <a:spLocks xmlns:a="http://schemas.openxmlformats.org/drawingml/2006/main" noGrp="1"/>
          </p:cNvSpPr>
          <p:nvPr/>
        </p:nvSpPr>
        <p:spPr>
          <a:xfrm xmlns:a="http://schemas.openxmlformats.org/drawingml/2006/main">
            <a:off x="1314450" y="32670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1" name="agenda-item-1">
            <a:extLst xmlns:a="http://schemas.openxmlformats.org/drawingml/2006/main">
              <a:ext uri="{FF2B5EF4-FFF2-40B4-BE49-F238E27FC236}">
                <a16:creationId xmlns:a16="http://schemas.microsoft.com/office/drawing/2014/main" id="{744E2E12-6109-437D-BE64-15DA9671B6A7}"/>
              </a:ext>
            </a:extLst>
          </p:cNvPr>
          <p:cNvSpPr>
            <a:spLocks xmlns:a="http://schemas.openxmlformats.org/drawingml/2006/main" noGrp="1"/>
          </p:cNvSpPr>
          <p:nvPr/>
        </p:nvSpPr>
        <p:spPr>
          <a:xfrm xmlns:a="http://schemas.openxmlformats.org/drawingml/2006/main">
            <a:off x="2381250" y="30575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One variable at a time -- and a trap hiding in that approach</a:t>
            </a:r>
          </a:p>
        </p:txBody>
      </p:sp>
      <p:sp>
        <p:nvSpPr>
          <p:cNvPr id="12" name="agenda-no-2">
            <a:extLst xmlns:a="http://schemas.openxmlformats.org/drawingml/2006/main">
              <a:ext uri="{FF2B5EF4-FFF2-40B4-BE49-F238E27FC236}">
                <a16:creationId xmlns:a16="http://schemas.microsoft.com/office/drawing/2014/main" id="{4FA30994-5BB9-4449-A9AC-03C3CAD0F652}"/>
              </a:ext>
            </a:extLst>
          </p:cNvPr>
          <p:cNvSpPr>
            <a:spLocks xmlns:a="http://schemas.openxmlformats.org/drawingml/2006/main" noGrp="1"/>
          </p:cNvSpPr>
          <p:nvPr/>
        </p:nvSpPr>
        <p:spPr>
          <a:xfrm xmlns:a="http://schemas.openxmlformats.org/drawingml/2006/main">
            <a:off x="609600" y="40290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67F8E062-E9DC-4CA2-BF6B-91612D9E7383}"/>
              </a:ext>
            </a:extLst>
          </p:cNvPr>
          <p:cNvSpPr>
            <a:spLocks xmlns:a="http://schemas.openxmlformats.org/drawingml/2006/main" noGrp="1"/>
          </p:cNvSpPr>
          <p:nvPr/>
        </p:nvSpPr>
        <p:spPr>
          <a:xfrm xmlns:a="http://schemas.openxmlformats.org/drawingml/2006/main">
            <a:off x="1314450" y="41814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4" name="agenda-item-2">
            <a:extLst xmlns:a="http://schemas.openxmlformats.org/drawingml/2006/main">
              <a:ext uri="{FF2B5EF4-FFF2-40B4-BE49-F238E27FC236}">
                <a16:creationId xmlns:a16="http://schemas.microsoft.com/office/drawing/2014/main" id="{B4FE3A67-D5E4-4165-A764-43BE4AF9876D}"/>
              </a:ext>
            </a:extLst>
          </p:cNvPr>
          <p:cNvSpPr>
            <a:spLocks xmlns:a="http://schemas.openxmlformats.org/drawingml/2006/main" noGrp="1"/>
          </p:cNvSpPr>
          <p:nvPr/>
        </p:nvSpPr>
        <p:spPr>
          <a:xfrm xmlns:a="http://schemas.openxmlformats.org/drawingml/2006/main">
            <a:off x="2381250" y="39719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Boolean mask: flag combinations that meet a target</a:t>
            </a:r>
          </a:p>
        </p:txBody>
      </p:sp>
      <p:sp>
        <p:nvSpPr>
          <p:cNvPr id="15" name="agenda-no-3">
            <a:extLst xmlns:a="http://schemas.openxmlformats.org/drawingml/2006/main">
              <a:ext uri="{FF2B5EF4-FFF2-40B4-BE49-F238E27FC236}">
                <a16:creationId xmlns:a16="http://schemas.microsoft.com/office/drawing/2014/main" id="{CD14B082-F094-4566-B29E-0B32B75BDD81}"/>
              </a:ext>
            </a:extLst>
          </p:cNvPr>
          <p:cNvSpPr>
            <a:spLocks xmlns:a="http://schemas.openxmlformats.org/drawingml/2006/main" noGrp="1"/>
          </p:cNvSpPr>
          <p:nvPr/>
        </p:nvSpPr>
        <p:spPr>
          <a:xfrm xmlns:a="http://schemas.openxmlformats.org/drawingml/2006/main">
            <a:off x="609600" y="49434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F2A5E94D-1D4F-4217-8414-149435F6AD2C}"/>
              </a:ext>
            </a:extLst>
          </p:cNvPr>
          <p:cNvSpPr>
            <a:spLocks xmlns:a="http://schemas.openxmlformats.org/drawingml/2006/main" noGrp="1"/>
          </p:cNvSpPr>
          <p:nvPr/>
        </p:nvSpPr>
        <p:spPr>
          <a:xfrm xmlns:a="http://schemas.openxmlformats.org/drawingml/2006/main">
            <a:off x="1314450" y="50958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7" name="agenda-item-3">
            <a:extLst xmlns:a="http://schemas.openxmlformats.org/drawingml/2006/main">
              <a:ext uri="{FF2B5EF4-FFF2-40B4-BE49-F238E27FC236}">
                <a16:creationId xmlns:a16="http://schemas.microsoft.com/office/drawing/2014/main" id="{D73D3885-B0E0-4E3E-BA1E-66AFF35B081F}"/>
              </a:ext>
            </a:extLst>
          </p:cNvPr>
          <p:cNvSpPr>
            <a:spLocks xmlns:a="http://schemas.openxmlformats.org/drawingml/2006/main" noGrp="1"/>
          </p:cNvSpPr>
          <p:nvPr/>
        </p:nvSpPr>
        <p:spPr>
          <a:xfrm xmlns:a="http://schemas.openxmlformats.org/drawingml/2006/main">
            <a:off x="2381250" y="48863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meshgrid: sweep both variables together, then read the surface</a:t>
            </a:r>
          </a:p>
        </p:txBody>
      </p:sp>
    </p:spTree>
    <p:extLst>
      <p:ext uri="{BB962C8B-B14F-4D97-AF65-F5344CB8AC3E}">
        <p14:creationId xmlns:p14="http://schemas.microsoft.com/office/powerpoint/2010/main" val="5501719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1BDDFFD7-2E85-404E-96DF-1CE6DC1FAE1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THE QUESTION, FIRST</a:t>
            </a:r>
          </a:p>
        </p:txBody>
      </p:sp>
      <p:sp>
        <p:nvSpPr>
          <p:cNvPr id="2" name="title">
            <a:extLst xmlns:a="http://schemas.openxmlformats.org/drawingml/2006/main">
              <a:ext uri="{FF2B5EF4-FFF2-40B4-BE49-F238E27FC236}">
                <a16:creationId xmlns:a16="http://schemas.microsoft.com/office/drawing/2014/main" id="{866CC2F3-95A2-4764-B4FC-1FDE2FAADC0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design problem, stated plainly</a:t>
            </a:r>
          </a:p>
        </p:txBody>
      </p:sp>
      <p:sp>
        <p:nvSpPr>
          <p:cNvPr id="3" name="">
            <a:extLst xmlns:a="http://schemas.openxmlformats.org/drawingml/2006/main">
              <a:ext uri="{FF2B5EF4-FFF2-40B4-BE49-F238E27FC236}">
                <a16:creationId xmlns:a16="http://schemas.microsoft.com/office/drawing/2014/main" id="{53CE5F21-1168-4632-89EF-B51740BB8BC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F60BA85-34CE-4428-8999-C0556A68780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856E4FDC-6239-4792-A00F-9BD02316D6A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06</a:t>
            </a:r>
          </a:p>
        </p:txBody>
      </p:sp>
      <p:sp>
        <p:nvSpPr>
          <p:cNvPr id="6" name="left-head">
            <a:extLst xmlns:a="http://schemas.openxmlformats.org/drawingml/2006/main">
              <a:ext uri="{FF2B5EF4-FFF2-40B4-BE49-F238E27FC236}">
                <a16:creationId xmlns:a16="http://schemas.microsoft.com/office/drawing/2014/main" id="{945F6A7B-A1A7-4E5C-9396-168587373256}"/>
              </a:ext>
            </a:extLst>
          </p:cNvPr>
          <p:cNvSpPr>
            <a:spLocks xmlns:a="http://schemas.openxmlformats.org/drawingml/2006/main" noGrp="1"/>
          </p:cNvSpPr>
          <p:nvPr/>
        </p:nvSpPr>
        <p:spPr>
          <a:xfrm xmlns:a="http://schemas.openxmlformats.org/drawingml/2006/main">
            <a:off x="609600" y="251460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Two design variables</a:t>
            </a:r>
          </a:p>
        </p:txBody>
      </p:sp>
      <p:sp>
        <p:nvSpPr>
          <p:cNvPr id="7" name="left-body">
            <a:extLst xmlns:a="http://schemas.openxmlformats.org/drawingml/2006/main">
              <a:ext uri="{FF2B5EF4-FFF2-40B4-BE49-F238E27FC236}">
                <a16:creationId xmlns:a16="http://schemas.microsoft.com/office/drawing/2014/main" id="{2128DE52-E131-4CCC-B4BF-13E1071B3BBA}"/>
              </a:ext>
            </a:extLst>
          </p:cNvPr>
          <p:cNvSpPr>
            <a:spLocks xmlns:a="http://schemas.openxmlformats.org/drawingml/2006/main" noGrp="1"/>
          </p:cNvSpPr>
          <p:nvPr/>
        </p:nvSpPr>
        <p:spPr>
          <a:xfrm xmlns:a="http://schemas.openxmlformats.org/drawingml/2006/main">
            <a:off x="609600" y="3012186"/>
            <a:ext cx="5219700" cy="19324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wwr — window-to-wall ratio, bounded 0.20 to 0.60 (fraction of exterior wall that is glazing).</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shade_m — overhang depth in meters, bounded 0.0 to 1.2.</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Both describe Radley Hall's new south wing (fictional, like every other Radley Hall number this semester).</a:t>
            </a:r>
          </a:p>
        </p:txBody>
      </p:sp>
      <p:sp>
        <p:nvSpPr>
          <p:cNvPr id="8" name="right-head">
            <a:extLst xmlns:a="http://schemas.openxmlformats.org/drawingml/2006/main">
              <a:ext uri="{FF2B5EF4-FFF2-40B4-BE49-F238E27FC236}">
                <a16:creationId xmlns:a16="http://schemas.microsoft.com/office/drawing/2014/main" id="{087DE9E0-327B-437A-968D-00C88752BE09}"/>
              </a:ext>
            </a:extLst>
          </p:cNvPr>
          <p:cNvSpPr>
            <a:spLocks xmlns:a="http://schemas.openxmlformats.org/drawingml/2006/main" noGrp="1"/>
          </p:cNvSpPr>
          <p:nvPr/>
        </p:nvSpPr>
        <p:spPr>
          <a:xfrm xmlns:a="http://schemas.openxmlformats.org/drawingml/2006/main">
            <a:off x="6362700" y="251460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One score to minimize</a:t>
            </a:r>
          </a:p>
        </p:txBody>
      </p:sp>
      <p:sp>
        <p:nvSpPr>
          <p:cNvPr id="9" name="right-body">
            <a:extLst xmlns:a="http://schemas.openxmlformats.org/drawingml/2006/main">
              <a:ext uri="{FF2B5EF4-FFF2-40B4-BE49-F238E27FC236}">
                <a16:creationId xmlns:a16="http://schemas.microsoft.com/office/drawing/2014/main" id="{5E1AFEFD-E5FF-4EBB-9B72-E01EF1828388}"/>
              </a:ext>
            </a:extLst>
          </p:cNvPr>
          <p:cNvSpPr>
            <a:spLocks xmlns:a="http://schemas.openxmlformats.org/drawingml/2006/main" noGrp="1"/>
          </p:cNvSpPr>
          <p:nvPr/>
        </p:nvSpPr>
        <p:spPr>
          <a:xfrm xmlns:a="http://schemas.openxmlformats.org/drawingml/2006/main">
            <a:off x="6362700" y="3012186"/>
            <a:ext cx="5219700" cy="16672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energy_proxy(wwr, shade_m) returns a single fictional energy-use-intensity-like number. Lower is better. It is a provided formula — you will call it, sweep it, and visualize it, the same way Week 4 called a provided course_style function without editing it.</a:t>
            </a:r>
          </a:p>
        </p:txBody>
      </p:sp>
    </p:spTree>
    <p:extLst>
      <p:ext uri="{BB962C8B-B14F-4D97-AF65-F5344CB8AC3E}">
        <p14:creationId xmlns:p14="http://schemas.microsoft.com/office/powerpoint/2010/main" val="8972714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BC7FF09D-F3AE-45C9-8760-428FC7FBDE9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15D41CDB-2742-4168-973D-8DABA8A0A03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provided formula — start with one Gaussian dip</a:t>
            </a:r>
          </a:p>
        </p:txBody>
      </p:sp>
      <p:sp>
        <p:nvSpPr>
          <p:cNvPr id="3" name="">
            <a:extLst xmlns:a="http://schemas.openxmlformats.org/drawingml/2006/main">
              <a:ext uri="{FF2B5EF4-FFF2-40B4-BE49-F238E27FC236}">
                <a16:creationId xmlns:a16="http://schemas.microsoft.com/office/drawing/2014/main" id="{7815FF8D-1D76-4566-8040-1EAB292D952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28FD62C-4C7D-4D66-9841-9A7BA0C9B54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A54A5A19-D24E-4B2D-9E07-9074D886C9B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07</a:t>
            </a:r>
          </a:p>
        </p:txBody>
      </p:sp>
      <p:sp>
        <p:nvSpPr>
          <p:cNvPr id="6" name="code-panel">
            <a:extLst xmlns:a="http://schemas.openxmlformats.org/drawingml/2006/main">
              <a:ext uri="{FF2B5EF4-FFF2-40B4-BE49-F238E27FC236}">
                <a16:creationId xmlns:a16="http://schemas.microsoft.com/office/drawing/2014/main" id="{00984C9E-D889-4C9A-957A-A443AC03E74E}"/>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270E2E9F-E29B-4631-AFA7-990F84093D05}"/>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import numpy as np</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basin(x: np.ndarray, y: np.ndarray, cx: float,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cy: float, depth: float, wx: float,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wy: float) -&gt; np.ndarray:</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"""Gaussian dip of depth, centered at (cx, cy)."""</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dx = ((x - cx) ** 2) / (2 * wx **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dy = ((y - cy) ** 2) / (2 * wy ** 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-depth * np.exp(-(dx + dy))</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print(round(basin(0.40, 0.30, 0.52, 0.25,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30.0, 0.06, 0.18), 3))</a:t>
            </a:r>
          </a:p>
        </p:txBody>
      </p:sp>
      <p:sp>
        <p:nvSpPr>
          <p:cNvPr id="8" name="">
            <a:extLst xmlns:a="http://schemas.openxmlformats.org/drawingml/2006/main">
              <a:ext uri="{FF2B5EF4-FFF2-40B4-BE49-F238E27FC236}">
                <a16:creationId xmlns:a16="http://schemas.microsoft.com/office/drawing/2014/main" id="{DC8EAB2C-EFB4-4111-8ECA-1BBABAE689EE}"/>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BC4467BC-3BB8-4DBB-ABFA-FCE89D1B4955}"/>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1057837D-B13C-4DAA-A18D-5DBFB70FB487}"/>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-3.906</a:t>
            </a:r>
          </a:p>
        </p:txBody>
      </p:sp>
      <p:sp>
        <p:nvSpPr>
          <p:cNvPr id="11" name="explain-head">
            <a:extLst xmlns:a="http://schemas.openxmlformats.org/drawingml/2006/main">
              <a:ext uri="{FF2B5EF4-FFF2-40B4-BE49-F238E27FC236}">
                <a16:creationId xmlns:a16="http://schemas.microsoft.com/office/drawing/2014/main" id="{B9A637AC-5825-4891-9B65-51BB3FD377AA}"/>
              </a:ext>
            </a:extLst>
          </p:cNvPr>
          <p:cNvSpPr>
            <a:spLocks xmlns:a="http://schemas.openxmlformats.org/drawingml/2006/main" noGrp="1"/>
          </p:cNvSpPr>
          <p:nvPr/>
        </p:nvSpPr>
        <p:spPr>
          <a:xfrm xmlns:a="http://schemas.openxmlformats.org/drawingml/2006/main">
            <a:off x="7886700" y="21336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 dip is deepest at its own center</a:t>
            </a:r>
          </a:p>
        </p:txBody>
      </p:sp>
      <p:sp>
        <p:nvSpPr>
          <p:cNvPr id="12" name="explain-body">
            <a:extLst xmlns:a="http://schemas.openxmlformats.org/drawingml/2006/main">
              <a:ext uri="{FF2B5EF4-FFF2-40B4-BE49-F238E27FC236}">
                <a16:creationId xmlns:a16="http://schemas.microsoft.com/office/drawing/2014/main" id="{58B78F55-B540-4F5D-BBCB-B335612AB92D}"/>
              </a:ext>
            </a:extLst>
          </p:cNvPr>
          <p:cNvSpPr>
            <a:spLocks xmlns:a="http://schemas.openxmlformats.org/drawingml/2006/main" noGrp="1"/>
          </p:cNvSpPr>
          <p:nvPr/>
        </p:nvSpPr>
        <p:spPr>
          <a:xfrm xmlns:a="http://schemas.openxmlformats.org/drawingml/2006/main">
            <a:off x="7886700" y="2919222"/>
            <a:ext cx="3695700" cy="2727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basin is the single helper the whole formula is built from: a smooth dip reaching its lowest value, -depth, exactly at (cx, cy) and fading back toward 0 as you move away. The docstring and type hints are this course's convention from Week 4 onward — every function you define gets both, so a reader knows what goes in and what comes back without running it. At the baseline design (0.40, 0.30), a dip centered at (0.52, 0.25) contributes only -3.906.</a:t>
            </a:r>
          </a:p>
        </p:txBody>
      </p:sp>
    </p:spTree>
    <p:extLst>
      <p:ext uri="{BB962C8B-B14F-4D97-AF65-F5344CB8AC3E}">
        <p14:creationId xmlns:p14="http://schemas.microsoft.com/office/powerpoint/2010/main" val="11189569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338CE879-E966-447A-92B9-A1E6FFC79E6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54D0CF6C-D634-4870-8902-2493CCFFADF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...continued: two dips and a ridge become energy_proxy</a:t>
            </a:r>
          </a:p>
        </p:txBody>
      </p:sp>
      <p:sp>
        <p:nvSpPr>
          <p:cNvPr id="3" name="">
            <a:extLst xmlns:a="http://schemas.openxmlformats.org/drawingml/2006/main">
              <a:ext uri="{FF2B5EF4-FFF2-40B4-BE49-F238E27FC236}">
                <a16:creationId xmlns:a16="http://schemas.microsoft.com/office/drawing/2014/main" id="{500B7D6F-4D04-4E82-900E-B8A42A0B918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FEAF044-59A8-4942-86C8-7AE9EE3B853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25BFB6C1-7ECA-462E-AECA-D9686A9A1D9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08</a:t>
            </a:r>
          </a:p>
        </p:txBody>
      </p:sp>
      <p:sp>
        <p:nvSpPr>
          <p:cNvPr id="6" name="code-panel">
            <a:extLst xmlns:a="http://schemas.openxmlformats.org/drawingml/2006/main">
              <a:ext uri="{FF2B5EF4-FFF2-40B4-BE49-F238E27FC236}">
                <a16:creationId xmlns:a16="http://schemas.microsoft.com/office/drawing/2014/main" id="{C5260F0E-B95F-41E2-82E7-6137F9BBA5D8}"/>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C1FC0A4A-A53D-40C3-B7DE-A848B6F9D727}"/>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energy_proxy(v: tuple[float, float]) -&gt; float: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"""Provided proxy to MINIMIZE; v=(wwr, shade_m)."""</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w, s = v</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base = 20.0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b1 = basin(w, s, 0.52, 0.25, 30.0, 0.06, 0.18)</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b2 = basin(w, s, 0.28, 0.90, 34.0, 0.06, 0.18)</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ridge = 6.0 * np.exp(-((w - 0.40) ** 2) / 0.02)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base + b1 + b2 + ridge</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baseline = energy_proxy((0.40, 0.30))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print(f'{baseline:.3f}')</a:t>
            </a:r>
          </a:p>
        </p:txBody>
      </p:sp>
      <p:sp>
        <p:nvSpPr>
          <p:cNvPr id="8" name="">
            <a:extLst xmlns:a="http://schemas.openxmlformats.org/drawingml/2006/main">
              <a:ext uri="{FF2B5EF4-FFF2-40B4-BE49-F238E27FC236}">
                <a16:creationId xmlns:a16="http://schemas.microsoft.com/office/drawing/2014/main" id="{5DE2418D-BF88-4EC7-BF9A-1C6FDA97CFFE}"/>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1E544593-B53F-4C4B-B6BE-9A41C1306028}"/>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1EB8AEEA-FCA8-4C69-9F55-B28A044B213D}"/>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22.076</a:t>
            </a:r>
          </a:p>
        </p:txBody>
      </p:sp>
      <p:sp>
        <p:nvSpPr>
          <p:cNvPr id="11" name="explain-head">
            <a:extLst xmlns:a="http://schemas.openxmlformats.org/drawingml/2006/main">
              <a:ext uri="{FF2B5EF4-FFF2-40B4-BE49-F238E27FC236}">
                <a16:creationId xmlns:a16="http://schemas.microsoft.com/office/drawing/2014/main" id="{5510AF0B-9FAA-4FCB-AD7F-8A312FF85073}"/>
              </a:ext>
            </a:extLst>
          </p:cNvPr>
          <p:cNvSpPr>
            <a:spLocks xmlns:a="http://schemas.openxmlformats.org/drawingml/2006/main" noGrp="1"/>
          </p:cNvSpPr>
          <p:nvPr/>
        </p:nvSpPr>
        <p:spPr>
          <a:xfrm xmlns:a="http://schemas.openxmlformats.org/drawingml/2006/main">
            <a:off x="7886700" y="22098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One call, one number, one design</a:t>
            </a:r>
          </a:p>
        </p:txBody>
      </p:sp>
      <p:sp>
        <p:nvSpPr>
          <p:cNvPr id="12" name="explain-body">
            <a:extLst xmlns:a="http://schemas.openxmlformats.org/drawingml/2006/main">
              <a:ext uri="{FF2B5EF4-FFF2-40B4-BE49-F238E27FC236}">
                <a16:creationId xmlns:a16="http://schemas.microsoft.com/office/drawing/2014/main" id="{35FA6648-66C9-4A97-AD76-B2ECB1F9CCD4}"/>
              </a:ext>
            </a:extLst>
          </p:cNvPr>
          <p:cNvSpPr>
            <a:spLocks xmlns:a="http://schemas.openxmlformats.org/drawingml/2006/main" noGrp="1"/>
          </p:cNvSpPr>
          <p:nvPr/>
        </p:nvSpPr>
        <p:spPr>
          <a:xfrm xmlns:a="http://schemas.openxmlformats.org/drawingml/2006/main">
            <a:off x="7886700" y="2995422"/>
            <a:ext cx="3695700" cy="2506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energy_proxy takes its two variables packed into one input v = (wwr, shade_m) — unpacked inside as w, s. That exact shape is deliberate: Week 11 hands this identical function to scipy.optimize.minimize, which expects a formula written exactly this way. Two basin calls place the two dips; ridge adds a soft wall near wwr=0.40. Today, just call it: a 0.40 wwr, 0.30 m overhang baseline design scores 22.076.</a:t>
            </a:r>
          </a:p>
        </p:txBody>
      </p:sp>
    </p:spTree>
    <p:extLst>
      <p:ext uri="{BB962C8B-B14F-4D97-AF65-F5344CB8AC3E}">
        <p14:creationId xmlns:p14="http://schemas.microsoft.com/office/powerpoint/2010/main" val="1167096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42F8FCEA-4F8E-41E3-89AA-EB51A02BFE3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3F081F9A-B96B-4E1D-A1B0-535AFEC0792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question</a:t>
            </a:r>
          </a:p>
        </p:txBody>
      </p:sp>
      <p:sp>
        <p:nvSpPr>
          <p:cNvPr id="3" name="">
            <a:extLst xmlns:a="http://schemas.openxmlformats.org/drawingml/2006/main">
              <a:ext uri="{FF2B5EF4-FFF2-40B4-BE49-F238E27FC236}">
                <a16:creationId xmlns:a16="http://schemas.microsoft.com/office/drawing/2014/main" id="{98576F36-DF2E-42CC-8DF1-34F069127DC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404DDB8-B840-4C37-8B38-627501C8F1F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962194FF-2A32-474C-8266-83C0E766217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09</a:t>
            </a:r>
          </a:p>
        </p:txBody>
      </p:sp>
      <p:sp>
        <p:nvSpPr>
          <p:cNvPr id="6" name="statement">
            <a:extLst xmlns:a="http://schemas.openxmlformats.org/drawingml/2006/main">
              <a:ext uri="{FF2B5EF4-FFF2-40B4-BE49-F238E27FC236}">
                <a16:creationId xmlns:a16="http://schemas.microsoft.com/office/drawing/2014/main" id="{0A665671-59ED-44D1-BEA7-8F237F407470}"/>
              </a:ext>
            </a:extLst>
          </p:cNvPr>
          <p:cNvSpPr>
            <a:spLocks xmlns:a="http://schemas.openxmlformats.org/drawingml/2006/main" noGrp="1"/>
          </p:cNvSpPr>
          <p:nvPr/>
        </p:nvSpPr>
        <p:spPr>
          <a:xfrm xmlns:a="http://schemas.openxmlformats.org/drawingml/2006/main">
            <a:off x="609600" y="2076450"/>
            <a:ext cx="9829800" cy="20513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Which of wwr and shade_m moves energy_proxy the most — and how would you find out without typing this exact call a hundred times by hand?</a:t>
            </a:r>
          </a:p>
        </p:txBody>
      </p:sp>
      <p:sp>
        <p:nvSpPr>
          <p:cNvPr id="7" name="">
            <a:extLst xmlns:a="http://schemas.openxmlformats.org/drawingml/2006/main">
              <a:ext uri="{FF2B5EF4-FFF2-40B4-BE49-F238E27FC236}">
                <a16:creationId xmlns:a16="http://schemas.microsoft.com/office/drawing/2014/main" id="{CCEAB207-DE22-430A-B59A-4117CBE2927D}"/>
              </a:ext>
            </a:extLst>
          </p:cNvPr>
          <p:cNvSpPr>
            <a:spLocks xmlns:a="http://schemas.openxmlformats.org/drawingml/2006/main" noGrp="1"/>
          </p:cNvSpPr>
          <p:nvPr/>
        </p:nvSpPr>
        <p:spPr>
          <a:xfrm xmlns:a="http://schemas.openxmlformats.org/drawingml/2006/main">
            <a:off x="609600" y="4337304"/>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0D5EC0AC-0060-47F5-BFD0-0E313FD496E3}"/>
              </a:ext>
            </a:extLst>
          </p:cNvPr>
          <p:cNvSpPr>
            <a:spLocks xmlns:a="http://schemas.openxmlformats.org/drawingml/2006/main" noGrp="1"/>
          </p:cNvSpPr>
          <p:nvPr/>
        </p:nvSpPr>
        <p:spPr>
          <a:xfrm xmlns:a="http://schemas.openxmlformats.org/drawingml/2006/main">
            <a:off x="609600" y="4661154"/>
            <a:ext cx="9334500" cy="8717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That second half of the question is what today's NumPy tools exist to answer. Every tool introduced from here on is in service of answering it faster and more completely than typing one call at a time.</a:t>
            </a:r>
          </a:p>
        </p:txBody>
      </p:sp>
    </p:spTree>
    <p:extLst>
      <p:ext uri="{BB962C8B-B14F-4D97-AF65-F5344CB8AC3E}">
        <p14:creationId xmlns:p14="http://schemas.microsoft.com/office/powerpoint/2010/main" val="18016039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7DD05595-0A2A-4142-B071-D415C0F7C38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2DB4F96D-7A18-4E25-907A-A97C269F1B4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ndarray, defined</a:t>
            </a:r>
          </a:p>
        </p:txBody>
      </p:sp>
      <p:sp>
        <p:nvSpPr>
          <p:cNvPr id="3" name="">
            <a:extLst xmlns:a="http://schemas.openxmlformats.org/drawingml/2006/main">
              <a:ext uri="{FF2B5EF4-FFF2-40B4-BE49-F238E27FC236}">
                <a16:creationId xmlns:a16="http://schemas.microsoft.com/office/drawing/2014/main" id="{2892768B-0D56-429B-A382-EFFC16A84D2F}"/>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DF7E99B-805C-49EB-AC6E-87A14D0DEF4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2E4B29B6-BA2C-441C-A546-C74A7EE7C41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10</a:t>
            </a:r>
          </a:p>
        </p:txBody>
      </p:sp>
      <p:sp>
        <p:nvSpPr>
          <p:cNvPr id="6" name="term-label">
            <a:extLst xmlns:a="http://schemas.openxmlformats.org/drawingml/2006/main">
              <a:ext uri="{FF2B5EF4-FFF2-40B4-BE49-F238E27FC236}">
                <a16:creationId xmlns:a16="http://schemas.microsoft.com/office/drawing/2014/main" id="{E5702C98-5165-4A9E-817E-6C0DB3B0A6C9}"/>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E8900839-8FBC-4352-8809-E75CF80C80C0}"/>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ndarray</a:t>
            </a:r>
          </a:p>
        </p:txBody>
      </p:sp>
      <p:sp>
        <p:nvSpPr>
          <p:cNvPr id="8" name="">
            <a:extLst xmlns:a="http://schemas.openxmlformats.org/drawingml/2006/main">
              <a:ext uri="{FF2B5EF4-FFF2-40B4-BE49-F238E27FC236}">
                <a16:creationId xmlns:a16="http://schemas.microsoft.com/office/drawing/2014/main" id="{0D194C39-3940-426E-B7F0-4E7A65E091A3}"/>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DACEFAD6-FA8F-4BC6-8357-3CBEB966DEF3}"/>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NumPy's core array type. Arithmetic and a function call apply to EVERY element of an ndarray at once (vectorization) — no explicit loop required. A plain Python list has no idea its elements are numbers to compute with together; an ndarray does.</a:t>
            </a:r>
          </a:p>
        </p:txBody>
      </p:sp>
      <p:sp>
        <p:nvSpPr>
          <p:cNvPr id="10" name="example-panel">
            <a:extLst xmlns:a="http://schemas.openxmlformats.org/drawingml/2006/main">
              <a:ext uri="{FF2B5EF4-FFF2-40B4-BE49-F238E27FC236}">
                <a16:creationId xmlns:a16="http://schemas.microsoft.com/office/drawing/2014/main" id="{4FB0D827-B9F2-4562-9512-A4A27E96E5EB}"/>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9C099534-5F0A-416A-8DD0-30BE19479D96}"/>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C7438685-DE29-401E-A9B3-552BC2257DA7}"/>
              </a:ext>
            </a:extLst>
          </p:cNvPr>
          <p:cNvSpPr>
            <a:spLocks xmlns:a="http://schemas.openxmlformats.org/drawingml/2006/main" noGrp="1"/>
          </p:cNvSpPr>
          <p:nvPr/>
        </p:nvSpPr>
        <p:spPr>
          <a:xfrm xmlns:a="http://schemas.openxmlformats.org/drawingml/2006/main">
            <a:off x="6972300" y="2286000"/>
            <a:ext cx="438150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np.array([0.20, 0.30, 0.40, 0.50, 0.60])</a:t>
            </a:r>
          </a:p>
        </p:txBody>
      </p:sp>
      <p:sp>
        <p:nvSpPr>
          <p:cNvPr id="13" name="example-body">
            <a:extLst xmlns:a="http://schemas.openxmlformats.org/drawingml/2006/main">
              <a:ext uri="{FF2B5EF4-FFF2-40B4-BE49-F238E27FC236}">
                <a16:creationId xmlns:a16="http://schemas.microsoft.com/office/drawing/2014/main" id="{C411593C-472B-4922-9BE4-F022CA6B232A}"/>
              </a:ext>
            </a:extLst>
          </p:cNvPr>
          <p:cNvSpPr>
            <a:spLocks xmlns:a="http://schemas.openxmlformats.org/drawingml/2006/main" noGrp="1"/>
          </p:cNvSpPr>
          <p:nvPr/>
        </p:nvSpPr>
        <p:spPr>
          <a:xfrm xmlns:a="http://schemas.openxmlformats.org/drawingml/2006/main">
            <a:off x="6972300" y="2951226"/>
            <a:ext cx="4381500" cy="19827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Looks exactly like a list literal — but energy_proxy((wwr_demo, 0.30)) runs the whole formula on all five values at once. The next few slides formalize this behavior as 'vectorization.'</a:t>
            </a:r>
          </a:p>
        </p:txBody>
      </p:sp>
      <p:sp>
        <p:nvSpPr>
          <p:cNvPr id="14" name="note-bar">
            <a:extLst xmlns:a="http://schemas.openxmlformats.org/drawingml/2006/main">
              <a:ext uri="{FF2B5EF4-FFF2-40B4-BE49-F238E27FC236}">
                <a16:creationId xmlns:a16="http://schemas.microsoft.com/office/drawing/2014/main" id="{5673AB13-BC33-40BC-8154-C921601A2DEC}"/>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0AD5E152-158F-4E37-905F-38BF40B12A74}"/>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E31AF8A0-D7C9-4155-A253-1349CA9204D1}"/>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np.array([...]) is built FROM a list, but once built it is a different type entirely: list + list concatenates two lists end to end; ndarray + ndarray adds element by element.</a:t>
            </a:r>
          </a:p>
        </p:txBody>
      </p:sp>
    </p:spTree>
    <p:extLst>
      <p:ext uri="{BB962C8B-B14F-4D97-AF65-F5344CB8AC3E}">
        <p14:creationId xmlns:p14="http://schemas.microsoft.com/office/powerpoint/2010/main" val="15843910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4A5F6F86-5F98-4E1A-B367-8C2A2E7E09B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6032407C-7F59-4D4B-8EF1-4DBE27E216B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One value at a time — five typed calls</a:t>
            </a:r>
          </a:p>
        </p:txBody>
      </p:sp>
      <p:sp>
        <p:nvSpPr>
          <p:cNvPr id="3" name="">
            <a:extLst xmlns:a="http://schemas.openxmlformats.org/drawingml/2006/main">
              <a:ext uri="{FF2B5EF4-FFF2-40B4-BE49-F238E27FC236}">
                <a16:creationId xmlns:a16="http://schemas.microsoft.com/office/drawing/2014/main" id="{B7FD7B48-A163-4381-B07F-34318F048F5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CB7852F-C9D4-4415-8BCE-C15D5E31CDD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A93D1007-6CAD-4951-A7E2-6DA9FCE19A2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11</a:t>
            </a:r>
          </a:p>
        </p:txBody>
      </p:sp>
      <p:sp>
        <p:nvSpPr>
          <p:cNvPr id="6" name="code-panel">
            <a:extLst xmlns:a="http://schemas.openxmlformats.org/drawingml/2006/main">
              <a:ext uri="{FF2B5EF4-FFF2-40B4-BE49-F238E27FC236}">
                <a16:creationId xmlns:a16="http://schemas.microsoft.com/office/drawing/2014/main" id="{86C437A1-AA34-4858-85B5-4428D085E739}"/>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C32B50F2-4C41-4251-9C76-CEC8DCB621FF}"/>
              </a:ext>
            </a:extLst>
          </p:cNvPr>
          <p:cNvSpPr>
            <a:spLocks xmlns:a="http://schemas.openxmlformats.org/drawingml/2006/main" noGrp="1"/>
          </p:cNvSpPr>
          <p:nvPr/>
        </p:nvSpPr>
        <p:spPr>
          <a:xfrm xmlns:a="http://schemas.openxmlformats.org/drawingml/2006/main">
            <a:off x="857250" y="2057400"/>
            <a:ext cx="6400800" cy="2446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for w in [0.20, 0.30, 0.40, 0.50, 0.60]: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score = energy_proxy((w, 0.30))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print(f'wwr={w:.2f} -&gt; {score:.3f}')</a:t>
            </a:r>
          </a:p>
        </p:txBody>
      </p:sp>
      <p:sp>
        <p:nvSpPr>
          <p:cNvPr id="8" name="">
            <a:extLst xmlns:a="http://schemas.openxmlformats.org/drawingml/2006/main">
              <a:ext uri="{FF2B5EF4-FFF2-40B4-BE49-F238E27FC236}">
                <a16:creationId xmlns:a16="http://schemas.microsoft.com/office/drawing/2014/main" id="{226C6D51-FE61-4248-AE26-CB7FBDB020E7}"/>
              </a:ext>
            </a:extLst>
          </p:cNvPr>
          <p:cNvSpPr>
            <a:spLocks xmlns:a="http://schemas.openxmlformats.org/drawingml/2006/main" noGrp="1"/>
          </p:cNvSpPr>
          <p:nvPr/>
        </p:nvSpPr>
        <p:spPr>
          <a:xfrm xmlns:a="http://schemas.openxmlformats.org/drawingml/2006/main">
            <a:off x="857250" y="4560570"/>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C5813BFC-A4FE-4D97-B326-8F1901A6224D}"/>
              </a:ext>
            </a:extLst>
          </p:cNvPr>
          <p:cNvSpPr>
            <a:spLocks xmlns:a="http://schemas.openxmlformats.org/drawingml/2006/main" noGrp="1"/>
          </p:cNvSpPr>
          <p:nvPr/>
        </p:nvSpPr>
        <p:spPr>
          <a:xfrm xmlns:a="http://schemas.openxmlformats.org/drawingml/2006/main">
            <a:off x="857250" y="467487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368F899C-C43F-48E1-B553-292FFD28BAD7}"/>
              </a:ext>
            </a:extLst>
          </p:cNvPr>
          <p:cNvSpPr>
            <a:spLocks xmlns:a="http://schemas.openxmlformats.org/drawingml/2006/main" noGrp="1"/>
          </p:cNvSpPr>
          <p:nvPr/>
        </p:nvSpPr>
        <p:spPr>
          <a:xfrm xmlns:a="http://schemas.openxmlformats.org/drawingml/2006/main">
            <a:off x="857250" y="4903470"/>
            <a:ext cx="6400800" cy="9258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wwr=0.20 -&gt; 20.758</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wwr=0.30 -&gt; 23.480</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wwr=0.40 -&gt; 22.076</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wwr=0.50 -&gt; -3.666</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wwr=0.60 -&gt; 8.945</a:t>
            </a:r>
          </a:p>
        </p:txBody>
      </p:sp>
      <p:sp>
        <p:nvSpPr>
          <p:cNvPr id="11" name="explain-head">
            <a:extLst xmlns:a="http://schemas.openxmlformats.org/drawingml/2006/main">
              <a:ext uri="{FF2B5EF4-FFF2-40B4-BE49-F238E27FC236}">
                <a16:creationId xmlns:a16="http://schemas.microsoft.com/office/drawing/2014/main" id="{487B9604-4E1D-4CA6-B359-28092022A225}"/>
              </a:ext>
            </a:extLst>
          </p:cNvPr>
          <p:cNvSpPr>
            <a:spLocks xmlns:a="http://schemas.openxmlformats.org/drawingml/2006/main" noGrp="1"/>
          </p:cNvSpPr>
          <p:nvPr/>
        </p:nvSpPr>
        <p:spPr>
          <a:xfrm xmlns:a="http://schemas.openxmlformats.org/drawingml/2006/main">
            <a:off x="7886700" y="26098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This works — and does not scale</a:t>
            </a:r>
          </a:p>
        </p:txBody>
      </p:sp>
      <p:sp>
        <p:nvSpPr>
          <p:cNvPr id="12" name="explain-body">
            <a:extLst xmlns:a="http://schemas.openxmlformats.org/drawingml/2006/main">
              <a:ext uri="{FF2B5EF4-FFF2-40B4-BE49-F238E27FC236}">
                <a16:creationId xmlns:a16="http://schemas.microsoft.com/office/drawing/2014/main" id="{92293131-9768-4F4D-A8C0-6092C27D7D93}"/>
              </a:ext>
            </a:extLst>
          </p:cNvPr>
          <p:cNvSpPr>
            <a:spLocks xmlns:a="http://schemas.openxmlformats.org/drawingml/2006/main" noGrp="1"/>
          </p:cNvSpPr>
          <p:nvPr/>
        </p:nvSpPr>
        <p:spPr>
          <a:xfrm xmlns:a="http://schemas.openxmlformats.org/drawingml/2006/main">
            <a:off x="7886700" y="3395472"/>
            <a:ext cx="3695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Five values, five typed lines, five separate calls. Sweeping 41 values this way means 41 lines, or a loop nobody wants to hand-verify. Every value is still computed correctly — the problem is effort and clarity, not correctness.</a:t>
            </a:r>
          </a:p>
        </p:txBody>
      </p:sp>
    </p:spTree>
    <p:extLst>
      <p:ext uri="{BB962C8B-B14F-4D97-AF65-F5344CB8AC3E}">
        <p14:creationId xmlns:p14="http://schemas.microsoft.com/office/powerpoint/2010/main" val="143403385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96C2FEF7-EE4A-4092-92F9-E2CDCFCB14E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3FA5293B-8D5F-4464-A6A4-B69F1FDC838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same five numbers, one vectorized call</a:t>
            </a:r>
          </a:p>
        </p:txBody>
      </p:sp>
      <p:sp>
        <p:nvSpPr>
          <p:cNvPr id="3" name="">
            <a:extLst xmlns:a="http://schemas.openxmlformats.org/drawingml/2006/main">
              <a:ext uri="{FF2B5EF4-FFF2-40B4-BE49-F238E27FC236}">
                <a16:creationId xmlns:a16="http://schemas.microsoft.com/office/drawing/2014/main" id="{9A5AF997-8117-4599-8BA5-16B8B708D05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92BC267-D36E-4120-A949-3CDC474F492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9426A0B0-F0EA-4649-A35B-DEA339AD549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12</a:t>
            </a:r>
          </a:p>
        </p:txBody>
      </p:sp>
      <p:sp>
        <p:nvSpPr>
          <p:cNvPr id="6" name="code-panel">
            <a:extLst xmlns:a="http://schemas.openxmlformats.org/drawingml/2006/main">
              <a:ext uri="{FF2B5EF4-FFF2-40B4-BE49-F238E27FC236}">
                <a16:creationId xmlns:a16="http://schemas.microsoft.com/office/drawing/2014/main" id="{3F0A7090-73D8-43FA-A17D-DF061E16FA92}"/>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E78D1D1F-A1C3-410C-9B57-294DC6BDE1C9}"/>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import numpy as np</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wwr_demo = np.array([0.20, 0.30, 0.40, 0.50, 0.60])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scores = energy_proxy((wwr_demo, 0.30))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print(np.round(scores, 3))</a:t>
            </a:r>
          </a:p>
        </p:txBody>
      </p:sp>
      <p:sp>
        <p:nvSpPr>
          <p:cNvPr id="8" name="">
            <a:extLst xmlns:a="http://schemas.openxmlformats.org/drawingml/2006/main">
              <a:ext uri="{FF2B5EF4-FFF2-40B4-BE49-F238E27FC236}">
                <a16:creationId xmlns:a16="http://schemas.microsoft.com/office/drawing/2014/main" id="{545031E3-5AC5-4E41-AD35-C04C7A0BDE47}"/>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7F2B9E20-650C-454D-9FA5-201EC0F2E218}"/>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0B2EE010-FC84-4BFD-AF36-C4647171EACB}"/>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[20.758 23.48  22.076 -3.666  8.945]</a:t>
            </a:r>
          </a:p>
        </p:txBody>
      </p:sp>
      <p:sp>
        <p:nvSpPr>
          <p:cNvPr id="11" name="explain-head">
            <a:extLst xmlns:a="http://schemas.openxmlformats.org/drawingml/2006/main">
              <a:ext uri="{FF2B5EF4-FFF2-40B4-BE49-F238E27FC236}">
                <a16:creationId xmlns:a16="http://schemas.microsoft.com/office/drawing/2014/main" id="{369586F6-ACAE-4A38-9CCD-ADE0C26D6B5F}"/>
              </a:ext>
            </a:extLst>
          </p:cNvPr>
          <p:cNvSpPr>
            <a:spLocks xmlns:a="http://schemas.openxmlformats.org/drawingml/2006/main" noGrp="1"/>
          </p:cNvSpPr>
          <p:nvPr/>
        </p:nvSpPr>
        <p:spPr>
          <a:xfrm xmlns:a="http://schemas.openxmlformats.org/drawingml/2006/main">
            <a:off x="7886700" y="25241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Same formula, same five answers, one line</a:t>
            </a:r>
          </a:p>
        </p:txBody>
      </p:sp>
      <p:sp>
        <p:nvSpPr>
          <p:cNvPr id="12" name="explain-body">
            <a:extLst xmlns:a="http://schemas.openxmlformats.org/drawingml/2006/main">
              <a:ext uri="{FF2B5EF4-FFF2-40B4-BE49-F238E27FC236}">
                <a16:creationId xmlns:a16="http://schemas.microsoft.com/office/drawing/2014/main" id="{C95386E4-5F59-41A4-91EA-62369A438F2A}"/>
              </a:ext>
            </a:extLst>
          </p:cNvPr>
          <p:cNvSpPr>
            <a:spLocks xmlns:a="http://schemas.openxmlformats.org/drawingml/2006/main" noGrp="1"/>
          </p:cNvSpPr>
          <p:nvPr/>
        </p:nvSpPr>
        <p:spPr>
          <a:xfrm xmlns:a="http://schemas.openxmlformats.org/drawingml/2006/main">
            <a:off x="7886700" y="3309747"/>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wwr_demo is an ndarray, not a list. energy_proxy((wwr_demo, 0.30)) runs the entire formula on all five values at once — no for loop, no accumulator. Every number matches the loop version exactly, because it is the identical arithmetic, just applied to every element together.</a:t>
            </a:r>
          </a:p>
        </p:txBody>
      </p:sp>
    </p:spTree>
    <p:extLst>
      <p:ext uri="{BB962C8B-B14F-4D97-AF65-F5344CB8AC3E}">
        <p14:creationId xmlns:p14="http://schemas.microsoft.com/office/powerpoint/2010/main" val="17049476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BB075117-7D91-4CF3-861D-5CFDEF00C0B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A8D5798A-F26A-413E-8869-5774B4CE924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Vectorization, defined</a:t>
            </a:r>
          </a:p>
        </p:txBody>
      </p:sp>
      <p:sp>
        <p:nvSpPr>
          <p:cNvPr id="3" name="">
            <a:extLst xmlns:a="http://schemas.openxmlformats.org/drawingml/2006/main">
              <a:ext uri="{FF2B5EF4-FFF2-40B4-BE49-F238E27FC236}">
                <a16:creationId xmlns:a16="http://schemas.microsoft.com/office/drawing/2014/main" id="{AEFFC0E3-14EA-4A23-B2E7-2F4503DF42EF}"/>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5C1A771-A6B2-4D51-9DA2-9BB1B23C3FB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A73140A0-C76D-4CC4-A998-16489875C3A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13</a:t>
            </a:r>
          </a:p>
        </p:txBody>
      </p:sp>
      <p:sp>
        <p:nvSpPr>
          <p:cNvPr id="6" name="term-label">
            <a:extLst xmlns:a="http://schemas.openxmlformats.org/drawingml/2006/main">
              <a:ext uri="{FF2B5EF4-FFF2-40B4-BE49-F238E27FC236}">
                <a16:creationId xmlns:a16="http://schemas.microsoft.com/office/drawing/2014/main" id="{2EF0677A-0D1E-4DAF-A7FA-7564EA2E13BA}"/>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B8548C1A-2A76-462C-B246-3716B7C214E7}"/>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vectorization</a:t>
            </a:r>
          </a:p>
        </p:txBody>
      </p:sp>
      <p:sp>
        <p:nvSpPr>
          <p:cNvPr id="8" name="">
            <a:extLst xmlns:a="http://schemas.openxmlformats.org/drawingml/2006/main">
              <a:ext uri="{FF2B5EF4-FFF2-40B4-BE49-F238E27FC236}">
                <a16:creationId xmlns:a16="http://schemas.microsoft.com/office/drawing/2014/main" id="{885EF58C-631D-45D9-97E2-9045D9F2477C}"/>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91A442C1-6D2C-42FC-9CEC-49DD4702DE27}"/>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Applying one operation to an entire ndarray at once, so NumPy's own fast internal loop replaces an explicit Python for loop. The math does not change — only how many lines of code it takes to run it.</a:t>
            </a:r>
          </a:p>
        </p:txBody>
      </p:sp>
      <p:sp>
        <p:nvSpPr>
          <p:cNvPr id="10" name="example-panel">
            <a:extLst xmlns:a="http://schemas.openxmlformats.org/drawingml/2006/main">
              <a:ext uri="{FF2B5EF4-FFF2-40B4-BE49-F238E27FC236}">
                <a16:creationId xmlns:a16="http://schemas.microsoft.com/office/drawing/2014/main" id="{00C95812-6BA9-488A-B1E4-201A1604DC63}"/>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C3B22277-B4A5-44A6-887A-CFB5E452412B}"/>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8A27083E-44ED-4F1B-BCE5-1552DDB3EB40}"/>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energy_proxy((wwr_demo, 0.30))</a:t>
            </a:r>
          </a:p>
        </p:txBody>
      </p:sp>
      <p:sp>
        <p:nvSpPr>
          <p:cNvPr id="13" name="example-body">
            <a:extLst xmlns:a="http://schemas.openxmlformats.org/drawingml/2006/main">
              <a:ext uri="{FF2B5EF4-FFF2-40B4-BE49-F238E27FC236}">
                <a16:creationId xmlns:a16="http://schemas.microsoft.com/office/drawing/2014/main" id="{83F4004E-163C-4203-909B-FA84404A6DE4}"/>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for loop two slides ago and this one-line call compute the identical five numbers. Only this one is vectorized: no loop, no accumulator — and every sweep for the rest of this deck depends on that.</a:t>
            </a:r>
          </a:p>
        </p:txBody>
      </p:sp>
      <p:sp>
        <p:nvSpPr>
          <p:cNvPr id="14" name="note-bar">
            <a:extLst xmlns:a="http://schemas.openxmlformats.org/drawingml/2006/main">
              <a:ext uri="{FF2B5EF4-FFF2-40B4-BE49-F238E27FC236}">
                <a16:creationId xmlns:a16="http://schemas.microsoft.com/office/drawing/2014/main" id="{8958B508-9365-4359-BB82-2736EDB0E866}"/>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E91FD255-2645-476D-9071-7B85A21B4B4A}"/>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WHY IT MATTERS</a:t>
            </a:r>
          </a:p>
        </p:txBody>
      </p:sp>
      <p:sp>
        <p:nvSpPr>
          <p:cNvPr id="16" name="note">
            <a:extLst xmlns:a="http://schemas.openxmlformats.org/drawingml/2006/main">
              <a:ext uri="{FF2B5EF4-FFF2-40B4-BE49-F238E27FC236}">
                <a16:creationId xmlns:a16="http://schemas.microsoft.com/office/drawing/2014/main" id="{5D816A6D-307E-482C-B06A-0D68A3EE04FD}"/>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A sweep of 4,941 combinations later in this deck would mean 4,941 typed lines without vectorization — not just slower to run, unreasonable to even type.</a:t>
            </a:r>
          </a:p>
        </p:txBody>
      </p:sp>
    </p:spTree>
    <p:extLst>
      <p:ext uri="{BB962C8B-B14F-4D97-AF65-F5344CB8AC3E}">
        <p14:creationId xmlns:p14="http://schemas.microsoft.com/office/powerpoint/2010/main" val="130649368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9CD28F91-E592-443B-907E-FEE3E6778FC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476B26DE-145D-4431-81D7-7DA65D16E2D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np.arange, defined</a:t>
            </a:r>
          </a:p>
        </p:txBody>
      </p:sp>
      <p:sp>
        <p:nvSpPr>
          <p:cNvPr id="3" name="">
            <a:extLst xmlns:a="http://schemas.openxmlformats.org/drawingml/2006/main">
              <a:ext uri="{FF2B5EF4-FFF2-40B4-BE49-F238E27FC236}">
                <a16:creationId xmlns:a16="http://schemas.microsoft.com/office/drawing/2014/main" id="{60E638E9-5958-478B-8F49-719191435FF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80739B3-B850-408F-880C-BFDEA209BD4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64ADBB39-383A-46CE-B59B-B2D018A5BEE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14</a:t>
            </a:r>
          </a:p>
        </p:txBody>
      </p:sp>
      <p:sp>
        <p:nvSpPr>
          <p:cNvPr id="6" name="term-label">
            <a:extLst xmlns:a="http://schemas.openxmlformats.org/drawingml/2006/main">
              <a:ext uri="{FF2B5EF4-FFF2-40B4-BE49-F238E27FC236}">
                <a16:creationId xmlns:a16="http://schemas.microsoft.com/office/drawing/2014/main" id="{00B00BF1-3FFD-49B4-8B6F-AB4581659CFC}"/>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4A7AFF24-6193-46EF-8954-2BEA21C6834A}"/>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np.arange(...)</a:t>
            </a:r>
          </a:p>
        </p:txBody>
      </p:sp>
      <p:sp>
        <p:nvSpPr>
          <p:cNvPr id="8" name="">
            <a:extLst xmlns:a="http://schemas.openxmlformats.org/drawingml/2006/main">
              <a:ext uri="{FF2B5EF4-FFF2-40B4-BE49-F238E27FC236}">
                <a16:creationId xmlns:a16="http://schemas.microsoft.com/office/drawing/2014/main" id="{EC3A5658-11F4-4DB4-B0C2-B54920C4C769}"/>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AF11359E-72EC-4ADE-AF67-47EBD51939D0}"/>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np.arange(start, stop, step) builds evenly spaced values by STEP SIZE. The stop value is EXCLUDED — the last value generated is the largest one strictly less than stop.</a:t>
            </a:r>
          </a:p>
        </p:txBody>
      </p:sp>
      <p:sp>
        <p:nvSpPr>
          <p:cNvPr id="10" name="example-panel">
            <a:extLst xmlns:a="http://schemas.openxmlformats.org/drawingml/2006/main">
              <a:ext uri="{FF2B5EF4-FFF2-40B4-BE49-F238E27FC236}">
                <a16:creationId xmlns:a16="http://schemas.microsoft.com/office/drawing/2014/main" id="{CE5F0701-7B2C-4A03-8BD2-4119EAA74AAA}"/>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D663E4A0-8EDE-42D6-9B7A-0B2C7A32532C}"/>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C0CA3F2C-15FC-41AC-B8A1-1840D55E629A}"/>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np.arange(0.20, 0.60, 0.05)</a:t>
            </a:r>
          </a:p>
        </p:txBody>
      </p:sp>
      <p:sp>
        <p:nvSpPr>
          <p:cNvPr id="13" name="example-body">
            <a:extLst xmlns:a="http://schemas.openxmlformats.org/drawingml/2006/main">
              <a:ext uri="{FF2B5EF4-FFF2-40B4-BE49-F238E27FC236}">
                <a16:creationId xmlns:a16="http://schemas.microsoft.com/office/drawing/2014/main" id="{FA4AC6AF-064E-4237-8F72-741E15CFDD3F}"/>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Gives 0.20, 0.25, 0.30, ... up to (not including) 0.60 — 8 values, not 9, because 0.60 itself is excluded.</a:t>
            </a:r>
          </a:p>
        </p:txBody>
      </p:sp>
      <p:sp>
        <p:nvSpPr>
          <p:cNvPr id="14" name="note-bar">
            <a:extLst xmlns:a="http://schemas.openxmlformats.org/drawingml/2006/main">
              <a:ext uri="{FF2B5EF4-FFF2-40B4-BE49-F238E27FC236}">
                <a16:creationId xmlns:a16="http://schemas.microsoft.com/office/drawing/2014/main" id="{3CC9D4B0-FABB-4F62-83B9-24C3018BF9EC}"/>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C5F78285-7C80-42D2-B10E-52735788123C}"/>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30D17DF1-59ED-42CE-850E-6B6DC1C502B5}"/>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Floating-point step sizes can silently drop or add one extra value right at the boundary — arange's exact count is worth checking, not assuming.</a:t>
            </a:r>
          </a:p>
        </p:txBody>
      </p:sp>
    </p:spTree>
    <p:extLst>
      <p:ext uri="{BB962C8B-B14F-4D97-AF65-F5344CB8AC3E}">
        <p14:creationId xmlns:p14="http://schemas.microsoft.com/office/powerpoint/2010/main" val="8782438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F27A701C-4DBF-443B-8719-A2817C69108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79228F81-91BC-4722-BC93-570F51EFE20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np.linspace, defined</a:t>
            </a:r>
          </a:p>
        </p:txBody>
      </p:sp>
      <p:sp>
        <p:nvSpPr>
          <p:cNvPr id="3" name="">
            <a:extLst xmlns:a="http://schemas.openxmlformats.org/drawingml/2006/main">
              <a:ext uri="{FF2B5EF4-FFF2-40B4-BE49-F238E27FC236}">
                <a16:creationId xmlns:a16="http://schemas.microsoft.com/office/drawing/2014/main" id="{8162B23C-0B85-440F-A55A-67D9CBB9765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A8C057E-9BF2-471F-AC45-B948C5D6C7E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51950A9E-9072-4997-B575-7F22880CE37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15</a:t>
            </a:r>
          </a:p>
        </p:txBody>
      </p:sp>
      <p:sp>
        <p:nvSpPr>
          <p:cNvPr id="6" name="term-label">
            <a:extLst xmlns:a="http://schemas.openxmlformats.org/drawingml/2006/main">
              <a:ext uri="{FF2B5EF4-FFF2-40B4-BE49-F238E27FC236}">
                <a16:creationId xmlns:a16="http://schemas.microsoft.com/office/drawing/2014/main" id="{EAB35275-7B40-4FAD-93A1-71B01671ECCA}"/>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F806BBF6-E745-4590-B0E5-0CD1913FF825}"/>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np.linspace(...)</a:t>
            </a:r>
          </a:p>
        </p:txBody>
      </p:sp>
      <p:sp>
        <p:nvSpPr>
          <p:cNvPr id="8" name="">
            <a:extLst xmlns:a="http://schemas.openxmlformats.org/drawingml/2006/main">
              <a:ext uri="{FF2B5EF4-FFF2-40B4-BE49-F238E27FC236}">
                <a16:creationId xmlns:a16="http://schemas.microsoft.com/office/drawing/2014/main" id="{CFEA369E-986B-4C28-B46B-42896C6708F8}"/>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0CDAEDCF-CECA-4B34-92E2-92754E1F8A4D}"/>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np.linspace(start, stop, n) builds evenly spaced values by COUNT. The stop value is INCLUDED — you say exactly how many points you want, both ends included.</a:t>
            </a:r>
          </a:p>
        </p:txBody>
      </p:sp>
      <p:sp>
        <p:nvSpPr>
          <p:cNvPr id="10" name="example-panel">
            <a:extLst xmlns:a="http://schemas.openxmlformats.org/drawingml/2006/main">
              <a:ext uri="{FF2B5EF4-FFF2-40B4-BE49-F238E27FC236}">
                <a16:creationId xmlns:a16="http://schemas.microsoft.com/office/drawing/2014/main" id="{F0CAF551-0E02-47B9-9BEB-812D9F725097}"/>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4C5366B8-04AF-49CB-AB51-A9F73740CF79}"/>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8F63B52D-7DBE-4963-9E05-4D98C9F2E49B}"/>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np.linspace(0.20, 0.60, 9)</a:t>
            </a:r>
          </a:p>
        </p:txBody>
      </p:sp>
      <p:sp>
        <p:nvSpPr>
          <p:cNvPr id="13" name="example-body">
            <a:extLst xmlns:a="http://schemas.openxmlformats.org/drawingml/2006/main">
              <a:ext uri="{FF2B5EF4-FFF2-40B4-BE49-F238E27FC236}">
                <a16:creationId xmlns:a16="http://schemas.microsoft.com/office/drawing/2014/main" id="{B0D735B8-F703-414C-A215-29DB7F363BC3}"/>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Gives exactly 9 values from 0.20 to 0.60, both ends included — the choice every sweep in this deck uses from here on, because both bounds are exactly the values worth checking.</a:t>
            </a:r>
          </a:p>
        </p:txBody>
      </p:sp>
      <p:sp>
        <p:nvSpPr>
          <p:cNvPr id="14" name="note-bar">
            <a:extLst xmlns:a="http://schemas.openxmlformats.org/drawingml/2006/main">
              <a:ext uri="{FF2B5EF4-FFF2-40B4-BE49-F238E27FC236}">
                <a16:creationId xmlns:a16="http://schemas.microsoft.com/office/drawing/2014/main" id="{10997148-894F-42C3-8652-4D1A85F4E401}"/>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A6BB6076-FD99-4AA3-89C7-64C51BC9F033}"/>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WHEN TO USE WHICH</a:t>
            </a:r>
          </a:p>
        </p:txBody>
      </p:sp>
      <p:sp>
        <p:nvSpPr>
          <p:cNvPr id="16" name="note">
            <a:extLst xmlns:a="http://schemas.openxmlformats.org/drawingml/2006/main">
              <a:ext uri="{FF2B5EF4-FFF2-40B4-BE49-F238E27FC236}">
                <a16:creationId xmlns:a16="http://schemas.microsoft.com/office/drawing/2014/main" id="{7CB67C23-379E-4625-B4C7-2C1A8FD6590B}"/>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Prefer linspace when you know how many points you want; prefer arange when you know the exact step size between them.</a:t>
            </a:r>
          </a:p>
        </p:txBody>
      </p:sp>
    </p:spTree>
    <p:extLst>
      <p:ext uri="{BB962C8B-B14F-4D97-AF65-F5344CB8AC3E}">
        <p14:creationId xmlns:p14="http://schemas.microsoft.com/office/powerpoint/2010/main" val="8537010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B863416D-1712-4D04-9536-F4678A4DB41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B615950E-23B0-4F1F-8416-8F77D655641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Sweep 1: wwr alone, shade_m held at the baseline 0.30</a:t>
            </a:r>
          </a:p>
        </p:txBody>
      </p:sp>
      <p:sp>
        <p:nvSpPr>
          <p:cNvPr id="3" name="">
            <a:extLst xmlns:a="http://schemas.openxmlformats.org/drawingml/2006/main">
              <a:ext uri="{FF2B5EF4-FFF2-40B4-BE49-F238E27FC236}">
                <a16:creationId xmlns:a16="http://schemas.microsoft.com/office/drawing/2014/main" id="{E5340B73-716A-421F-BE10-C3DF3FD7D14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D23DF29-92D9-425D-893B-0D5B23758E6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E619D710-B363-4389-A007-26C381DD3B1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16</a:t>
            </a:r>
          </a:p>
        </p:txBody>
      </p:sp>
      <p:sp>
        <p:nvSpPr>
          <p:cNvPr id="6" name="code-panel">
            <a:extLst xmlns:a="http://schemas.openxmlformats.org/drawingml/2006/main">
              <a:ext uri="{FF2B5EF4-FFF2-40B4-BE49-F238E27FC236}">
                <a16:creationId xmlns:a16="http://schemas.microsoft.com/office/drawing/2014/main" id="{A2CBF1E4-894D-4172-AE48-1B244BD7AFDA}"/>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E29F8DBE-6C14-44E5-BC0E-10AA619EFBAB}"/>
              </a:ext>
            </a:extLst>
          </p:cNvPr>
          <p:cNvSpPr>
            <a:spLocks xmlns:a="http://schemas.openxmlformats.org/drawingml/2006/main" noGrp="1"/>
          </p:cNvSpPr>
          <p:nvPr/>
        </p:nvSpPr>
        <p:spPr>
          <a:xfrm xmlns:a="http://schemas.openxmlformats.org/drawingml/2006/main">
            <a:off x="857250" y="2057400"/>
            <a:ext cx="6400800" cy="27934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wwr_vals = np.linspace(0.20, 0.60, 9)</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e_wwr = energy_proxy((wwr_vals, 0.30))</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print(np.round(wwr_vals, 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print(np.round(e_wwr, 3))</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print('range:', round(e_wwr.max() - e_wwr.min(), 3))</a:t>
            </a:r>
          </a:p>
        </p:txBody>
      </p:sp>
      <p:sp>
        <p:nvSpPr>
          <p:cNvPr id="8" name="">
            <a:extLst xmlns:a="http://schemas.openxmlformats.org/drawingml/2006/main">
              <a:ext uri="{FF2B5EF4-FFF2-40B4-BE49-F238E27FC236}">
                <a16:creationId xmlns:a16="http://schemas.microsoft.com/office/drawing/2014/main" id="{045CB3C2-8685-48D3-93AE-ABC08DCFF981}"/>
              </a:ext>
            </a:extLst>
          </p:cNvPr>
          <p:cNvSpPr>
            <a:spLocks xmlns:a="http://schemas.openxmlformats.org/drawingml/2006/main" noGrp="1"/>
          </p:cNvSpPr>
          <p:nvPr/>
        </p:nvSpPr>
        <p:spPr>
          <a:xfrm xmlns:a="http://schemas.openxmlformats.org/drawingml/2006/main">
            <a:off x="857250" y="4908042"/>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C7A5DAE9-5DA2-4CF2-909B-7B9E6A55A4AF}"/>
              </a:ext>
            </a:extLst>
          </p:cNvPr>
          <p:cNvSpPr>
            <a:spLocks xmlns:a="http://schemas.openxmlformats.org/drawingml/2006/main" noGrp="1"/>
          </p:cNvSpPr>
          <p:nvPr/>
        </p:nvSpPr>
        <p:spPr>
          <a:xfrm xmlns:a="http://schemas.openxmlformats.org/drawingml/2006/main">
            <a:off x="857250" y="5022342"/>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64EF7946-027D-4E6D-9A7C-5213E9E6E976}"/>
              </a:ext>
            </a:extLst>
          </p:cNvPr>
          <p:cNvSpPr>
            <a:spLocks xmlns:a="http://schemas.openxmlformats.org/drawingml/2006/main" noGrp="1"/>
          </p:cNvSpPr>
          <p:nvPr/>
        </p:nvSpPr>
        <p:spPr>
          <a:xfrm xmlns:a="http://schemas.openxmlformats.org/drawingml/2006/main">
            <a:off x="857250" y="5250942"/>
            <a:ext cx="6400800" cy="578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[0.2  0.25 0.3  0.35 0.4  0.45 0.5  0.55 0.6 ]</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[20.758 21.831 23.48  24.707 22.076 10.677 -3.666 -3.525  8.945]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range: 28.373</a:t>
            </a:r>
          </a:p>
        </p:txBody>
      </p:sp>
      <p:sp>
        <p:nvSpPr>
          <p:cNvPr id="11" name="explain-head">
            <a:extLst xmlns:a="http://schemas.openxmlformats.org/drawingml/2006/main">
              <a:ext uri="{FF2B5EF4-FFF2-40B4-BE49-F238E27FC236}">
                <a16:creationId xmlns:a16="http://schemas.microsoft.com/office/drawing/2014/main" id="{B20B9CE9-5BFF-4165-8784-75BA2878A117}"/>
              </a:ext>
            </a:extLst>
          </p:cNvPr>
          <p:cNvSpPr>
            <a:spLocks xmlns:a="http://schemas.openxmlformats.org/drawingml/2006/main" noGrp="1"/>
          </p:cNvSpPr>
          <p:nvPr/>
        </p:nvSpPr>
        <p:spPr>
          <a:xfrm xmlns:a="http://schemas.openxmlformats.org/drawingml/2006/main">
            <a:off x="7886700" y="26098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wwr alone swings the score by 28.4</a:t>
            </a:r>
          </a:p>
        </p:txBody>
      </p:sp>
      <p:sp>
        <p:nvSpPr>
          <p:cNvPr id="12" name="explain-body">
            <a:extLst xmlns:a="http://schemas.openxmlformats.org/drawingml/2006/main">
              <a:ext uri="{FF2B5EF4-FFF2-40B4-BE49-F238E27FC236}">
                <a16:creationId xmlns:a16="http://schemas.microsoft.com/office/drawing/2014/main" id="{AFA8808C-B4F7-43DA-ADA5-B4E851DEBE84}"/>
              </a:ext>
            </a:extLst>
          </p:cNvPr>
          <p:cNvSpPr>
            <a:spLocks xmlns:a="http://schemas.openxmlformats.org/drawingml/2006/main" noGrp="1"/>
          </p:cNvSpPr>
          <p:nvPr/>
        </p:nvSpPr>
        <p:spPr>
          <a:xfrm xmlns:a="http://schemas.openxmlformats.org/drawingml/2006/main">
            <a:off x="7886700" y="3395472"/>
            <a:ext cx="3695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linspace(0.20, 0.60, 9) makes 9 evenly spaced wwr values, both ends included. energy_proxy runs on all 9 at once. The score swings from about 24.7 down to -3.67 — a range of 28.373, with the best of these 9 near wwr=0.50.</a:t>
            </a:r>
          </a:p>
        </p:txBody>
      </p:sp>
    </p:spTree>
    <p:extLst>
      <p:ext uri="{BB962C8B-B14F-4D97-AF65-F5344CB8AC3E}">
        <p14:creationId xmlns:p14="http://schemas.microsoft.com/office/powerpoint/2010/main" val="195361572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A6BA0863-6481-45D1-8EFA-455F6D72198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D77CD487-284D-4255-854B-D8FBC220BC3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Sweep 2: shade_m alone, wwr held at the baseline 0.40</a:t>
            </a:r>
          </a:p>
        </p:txBody>
      </p:sp>
      <p:sp>
        <p:nvSpPr>
          <p:cNvPr id="3" name="">
            <a:extLst xmlns:a="http://schemas.openxmlformats.org/drawingml/2006/main">
              <a:ext uri="{FF2B5EF4-FFF2-40B4-BE49-F238E27FC236}">
                <a16:creationId xmlns:a16="http://schemas.microsoft.com/office/drawing/2014/main" id="{50F9B3F4-269C-48AD-B1F9-38B2D4742DA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70804E2-2D0F-41BD-8DCF-E2599DCA28A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DFC8E528-4F47-4C47-AE1B-CEDD22542BD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17</a:t>
            </a:r>
          </a:p>
        </p:txBody>
      </p:sp>
      <p:sp>
        <p:nvSpPr>
          <p:cNvPr id="6" name="code-panel">
            <a:extLst xmlns:a="http://schemas.openxmlformats.org/drawingml/2006/main">
              <a:ext uri="{FF2B5EF4-FFF2-40B4-BE49-F238E27FC236}">
                <a16:creationId xmlns:a16="http://schemas.microsoft.com/office/drawing/2014/main" id="{6B96CD43-8DDF-4D12-88DD-E1A78E445C9F}"/>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A84ED9B2-98C5-4189-BD90-2D1A57F83D3F}"/>
              </a:ext>
            </a:extLst>
          </p:cNvPr>
          <p:cNvSpPr>
            <a:spLocks xmlns:a="http://schemas.openxmlformats.org/drawingml/2006/main" noGrp="1"/>
          </p:cNvSpPr>
          <p:nvPr/>
        </p:nvSpPr>
        <p:spPr>
          <a:xfrm xmlns:a="http://schemas.openxmlformats.org/drawingml/2006/main">
            <a:off x="857250" y="2057400"/>
            <a:ext cx="6400800" cy="27934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shade_vals = np.linspace(0.0, 1.2, 9)</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e_shade = energy_proxy((0.40, shade_vals))</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print(np.round(shade_vals, 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print(np.round(e_shade, 3))</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print('range:', round(e_shade.max() - e_shade.min(), 3))</a:t>
            </a:r>
          </a:p>
        </p:txBody>
      </p:sp>
      <p:sp>
        <p:nvSpPr>
          <p:cNvPr id="8" name="">
            <a:extLst xmlns:a="http://schemas.openxmlformats.org/drawingml/2006/main">
              <a:ext uri="{FF2B5EF4-FFF2-40B4-BE49-F238E27FC236}">
                <a16:creationId xmlns:a16="http://schemas.microsoft.com/office/drawing/2014/main" id="{73725914-2ABE-4677-965B-ABFADA71DB70}"/>
              </a:ext>
            </a:extLst>
          </p:cNvPr>
          <p:cNvSpPr>
            <a:spLocks xmlns:a="http://schemas.openxmlformats.org/drawingml/2006/main" noGrp="1"/>
          </p:cNvSpPr>
          <p:nvPr/>
        </p:nvSpPr>
        <p:spPr>
          <a:xfrm xmlns:a="http://schemas.openxmlformats.org/drawingml/2006/main">
            <a:off x="857250" y="4908042"/>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687F10DC-C0AA-4F52-B098-EC46EAC02800}"/>
              </a:ext>
            </a:extLst>
          </p:cNvPr>
          <p:cNvSpPr>
            <a:spLocks xmlns:a="http://schemas.openxmlformats.org/drawingml/2006/main" noGrp="1"/>
          </p:cNvSpPr>
          <p:nvPr/>
        </p:nvSpPr>
        <p:spPr>
          <a:xfrm xmlns:a="http://schemas.openxmlformats.org/drawingml/2006/main">
            <a:off x="857250" y="5022342"/>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11DDEE94-83B7-4C8B-8AE0-D6016C84447A}"/>
              </a:ext>
            </a:extLst>
          </p:cNvPr>
          <p:cNvSpPr>
            <a:spLocks xmlns:a="http://schemas.openxmlformats.org/drawingml/2006/main" noGrp="1"/>
          </p:cNvSpPr>
          <p:nvPr/>
        </p:nvSpPr>
        <p:spPr>
          <a:xfrm xmlns:a="http://schemas.openxmlformats.org/drawingml/2006/main">
            <a:off x="857250" y="5250942"/>
            <a:ext cx="6400800" cy="578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[0.   0.15 0.3  0.45 0.6  0.75 0.9  1.05 1.2 ]</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[24.452 22.52  22.076 23.608 24.24  22.663 21.393 22.748 24.853]</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range: 3.46</a:t>
            </a:r>
          </a:p>
        </p:txBody>
      </p:sp>
      <p:sp>
        <p:nvSpPr>
          <p:cNvPr id="11" name="explain-head">
            <a:extLst xmlns:a="http://schemas.openxmlformats.org/drawingml/2006/main">
              <a:ext uri="{FF2B5EF4-FFF2-40B4-BE49-F238E27FC236}">
                <a16:creationId xmlns:a16="http://schemas.microsoft.com/office/drawing/2014/main" id="{812041FA-7E9D-493E-B1C5-4EC981790D5B}"/>
              </a:ext>
            </a:extLst>
          </p:cNvPr>
          <p:cNvSpPr>
            <a:spLocks xmlns:a="http://schemas.openxmlformats.org/drawingml/2006/main" noGrp="1"/>
          </p:cNvSpPr>
          <p:nvPr/>
        </p:nvSpPr>
        <p:spPr>
          <a:xfrm xmlns:a="http://schemas.openxmlformats.org/drawingml/2006/main">
            <a:off x="7886700" y="27622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shade_m alone barely moves the score</a:t>
            </a:r>
          </a:p>
        </p:txBody>
      </p:sp>
      <p:sp>
        <p:nvSpPr>
          <p:cNvPr id="12" name="explain-body">
            <a:extLst xmlns:a="http://schemas.openxmlformats.org/drawingml/2006/main">
              <a:ext uri="{FF2B5EF4-FFF2-40B4-BE49-F238E27FC236}">
                <a16:creationId xmlns:a16="http://schemas.microsoft.com/office/drawing/2014/main" id="{707F3D11-8236-414D-8393-66CD7608A00F}"/>
              </a:ext>
            </a:extLst>
          </p:cNvPr>
          <p:cNvSpPr>
            <a:spLocks xmlns:a="http://schemas.openxmlformats.org/drawingml/2006/main" noGrp="1"/>
          </p:cNvSpPr>
          <p:nvPr/>
        </p:nvSpPr>
        <p:spPr>
          <a:xfrm xmlns:a="http://schemas.openxmlformats.org/drawingml/2006/main">
            <a:off x="7886700" y="3547872"/>
            <a:ext cx="369570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Same method, same nine-point sweep, this time on shade_m with wwr fixed at 0.40. The score barely moves — a range of only 3.46, a small fraction of wwr's 28.373.</a:t>
            </a:r>
          </a:p>
        </p:txBody>
      </p:sp>
    </p:spTree>
    <p:extLst>
      <p:ext uri="{BB962C8B-B14F-4D97-AF65-F5344CB8AC3E}">
        <p14:creationId xmlns:p14="http://schemas.microsoft.com/office/powerpoint/2010/main" val="115671411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kicker">
            <a:extLst xmlns:a="http://schemas.openxmlformats.org/drawingml/2006/main">
              <a:ext uri="{FF2B5EF4-FFF2-40B4-BE49-F238E27FC236}">
                <a16:creationId xmlns:a16="http://schemas.microsoft.com/office/drawing/2014/main" id="{710AAA25-8CE1-456D-82FA-DD6693ADF2A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D2C68240-3B9E-47C7-BE97-F2228705819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First read: wwr looks about 8x more important</a:t>
            </a:r>
          </a:p>
        </p:txBody>
      </p:sp>
      <p:sp>
        <p:nvSpPr>
          <p:cNvPr id="3" name="">
            <a:extLst xmlns:a="http://schemas.openxmlformats.org/drawingml/2006/main">
              <a:ext uri="{FF2B5EF4-FFF2-40B4-BE49-F238E27FC236}">
                <a16:creationId xmlns:a16="http://schemas.microsoft.com/office/drawing/2014/main" id="{77283B84-B35D-4557-A721-44B99B09E68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D04AF93-5786-43D6-B9E5-24739196378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F782CFAB-C3F1-4F06-A2B9-9F96D67E7CD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18</a:t>
            </a:r>
          </a:p>
        </p:txBody>
      </p:sp>
      <p:sp>
        <p:nvSpPr>
          <p:cNvPr id="6" name="">
            <a:extLst xmlns:a="http://schemas.openxmlformats.org/drawingml/2006/main">
              <a:ext uri="{FF2B5EF4-FFF2-40B4-BE49-F238E27FC236}">
                <a16:creationId xmlns:a16="http://schemas.microsoft.com/office/drawing/2014/main" id="{D9F8BDE4-A72D-4466-BEC1-498B64CA44AD}"/>
              </a:ext>
            </a:extLst>
          </p:cNvPr>
          <p:cNvSpPr>
            <a:spLocks xmlns:a="http://schemas.openxmlformats.org/drawingml/2006/main" noGrp="1"/>
          </p:cNvSpPr>
          <p:nvPr/>
        </p:nvSpPr>
        <p:spPr>
          <a:xfrm xmlns:a="http://schemas.openxmlformats.org/drawingml/2006/main">
            <a:off x="609600" y="317182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39FB5791-A592-4630-A33C-DA6B821F165F}"/>
              </a:ext>
            </a:extLst>
          </p:cNvPr>
          <p:cNvSpPr>
            <a:spLocks xmlns:a="http://schemas.openxmlformats.org/drawingml/2006/main" noGrp="1"/>
          </p:cNvSpPr>
          <p:nvPr/>
        </p:nvSpPr>
        <p:spPr>
          <a:xfrm xmlns:a="http://schemas.openxmlformats.org/drawingml/2006/main">
            <a:off x="723900" y="32480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swept variable</a:t>
            </a:r>
          </a:p>
        </p:txBody>
      </p:sp>
      <p:sp>
        <p:nvSpPr>
          <p:cNvPr id="8" name="">
            <a:extLst xmlns:a="http://schemas.openxmlformats.org/drawingml/2006/main">
              <a:ext uri="{FF2B5EF4-FFF2-40B4-BE49-F238E27FC236}">
                <a16:creationId xmlns:a16="http://schemas.microsoft.com/office/drawing/2014/main" id="{7C9C6822-D40F-46D9-BA90-33823B3B488A}"/>
              </a:ext>
            </a:extLst>
          </p:cNvPr>
          <p:cNvSpPr>
            <a:spLocks xmlns:a="http://schemas.openxmlformats.org/drawingml/2006/main" noGrp="1"/>
          </p:cNvSpPr>
          <p:nvPr/>
        </p:nvSpPr>
        <p:spPr>
          <a:xfrm xmlns:a="http://schemas.openxmlformats.org/drawingml/2006/main">
            <a:off x="3086100" y="317182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AFD13723-9B88-4ED6-BE54-997FC4EE508B}"/>
              </a:ext>
            </a:extLst>
          </p:cNvPr>
          <p:cNvSpPr>
            <a:spLocks xmlns:a="http://schemas.openxmlformats.org/drawingml/2006/main" noGrp="1"/>
          </p:cNvSpPr>
          <p:nvPr/>
        </p:nvSpPr>
        <p:spPr>
          <a:xfrm xmlns:a="http://schemas.openxmlformats.org/drawingml/2006/main">
            <a:off x="3200400" y="32480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held fixed at</a:t>
            </a:r>
          </a:p>
        </p:txBody>
      </p:sp>
      <p:sp>
        <p:nvSpPr>
          <p:cNvPr id="10" name="">
            <a:extLst xmlns:a="http://schemas.openxmlformats.org/drawingml/2006/main">
              <a:ext uri="{FF2B5EF4-FFF2-40B4-BE49-F238E27FC236}">
                <a16:creationId xmlns:a16="http://schemas.microsoft.com/office/drawing/2014/main" id="{542AD67C-4662-4735-AEC5-36C868EBD794}"/>
              </a:ext>
            </a:extLst>
          </p:cNvPr>
          <p:cNvSpPr>
            <a:spLocks xmlns:a="http://schemas.openxmlformats.org/drawingml/2006/main" noGrp="1"/>
          </p:cNvSpPr>
          <p:nvPr/>
        </p:nvSpPr>
        <p:spPr>
          <a:xfrm xmlns:a="http://schemas.openxmlformats.org/drawingml/2006/main">
            <a:off x="5562600" y="3171825"/>
            <a:ext cx="247650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C2DFCC84-6FE8-4595-84A9-1B7E1471E912}"/>
              </a:ext>
            </a:extLst>
          </p:cNvPr>
          <p:cNvSpPr>
            <a:spLocks xmlns:a="http://schemas.openxmlformats.org/drawingml/2006/main" noGrp="1"/>
          </p:cNvSpPr>
          <p:nvPr/>
        </p:nvSpPr>
        <p:spPr>
          <a:xfrm xmlns:a="http://schemas.openxmlformats.org/drawingml/2006/main">
            <a:off x="5676900" y="32480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range (max-min)</a:t>
            </a:r>
          </a:p>
        </p:txBody>
      </p:sp>
      <p:sp>
        <p:nvSpPr>
          <p:cNvPr id="12" name="">
            <a:extLst xmlns:a="http://schemas.openxmlformats.org/drawingml/2006/main">
              <a:ext uri="{FF2B5EF4-FFF2-40B4-BE49-F238E27FC236}">
                <a16:creationId xmlns:a16="http://schemas.microsoft.com/office/drawing/2014/main" id="{F17A62DB-B3CE-47E4-AFC7-2F0CAD3D2595}"/>
              </a:ext>
            </a:extLst>
          </p:cNvPr>
          <p:cNvSpPr>
            <a:spLocks xmlns:a="http://schemas.openxmlformats.org/drawingml/2006/main" noGrp="1"/>
          </p:cNvSpPr>
          <p:nvPr/>
        </p:nvSpPr>
        <p:spPr>
          <a:xfrm xmlns:a="http://schemas.openxmlformats.org/drawingml/2006/main">
            <a:off x="609600" y="370522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3" name="cell-0-0">
            <a:extLst xmlns:a="http://schemas.openxmlformats.org/drawingml/2006/main">
              <a:ext uri="{FF2B5EF4-FFF2-40B4-BE49-F238E27FC236}">
                <a16:creationId xmlns:a16="http://schemas.microsoft.com/office/drawing/2014/main" id="{15D0AA75-FF9D-4839-8A7D-5B5CCEC07164}"/>
              </a:ext>
            </a:extLst>
          </p:cNvPr>
          <p:cNvSpPr>
            <a:spLocks xmlns:a="http://schemas.openxmlformats.org/drawingml/2006/main" noGrp="1"/>
          </p:cNvSpPr>
          <p:nvPr/>
        </p:nvSpPr>
        <p:spPr>
          <a:xfrm xmlns:a="http://schemas.openxmlformats.org/drawingml/2006/main">
            <a:off x="723900" y="37814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wwr (9 values, 0.20-0.60)</a:t>
            </a:r>
          </a:p>
        </p:txBody>
      </p:sp>
      <p:sp>
        <p:nvSpPr>
          <p:cNvPr id="14" name="">
            <a:extLst xmlns:a="http://schemas.openxmlformats.org/drawingml/2006/main">
              <a:ext uri="{FF2B5EF4-FFF2-40B4-BE49-F238E27FC236}">
                <a16:creationId xmlns:a16="http://schemas.microsoft.com/office/drawing/2014/main" id="{5307EEB4-6FD7-4C51-A0A6-C046093D0BEE}"/>
              </a:ext>
            </a:extLst>
          </p:cNvPr>
          <p:cNvSpPr>
            <a:spLocks xmlns:a="http://schemas.openxmlformats.org/drawingml/2006/main" noGrp="1"/>
          </p:cNvSpPr>
          <p:nvPr/>
        </p:nvSpPr>
        <p:spPr>
          <a:xfrm xmlns:a="http://schemas.openxmlformats.org/drawingml/2006/main">
            <a:off x="3086100" y="370522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1">
            <a:extLst xmlns:a="http://schemas.openxmlformats.org/drawingml/2006/main">
              <a:ext uri="{FF2B5EF4-FFF2-40B4-BE49-F238E27FC236}">
                <a16:creationId xmlns:a16="http://schemas.microsoft.com/office/drawing/2014/main" id="{5F19CF24-24D6-4311-8558-6287E2BAB75D}"/>
              </a:ext>
            </a:extLst>
          </p:cNvPr>
          <p:cNvSpPr>
            <a:spLocks xmlns:a="http://schemas.openxmlformats.org/drawingml/2006/main" noGrp="1"/>
          </p:cNvSpPr>
          <p:nvPr/>
        </p:nvSpPr>
        <p:spPr>
          <a:xfrm xmlns:a="http://schemas.openxmlformats.org/drawingml/2006/main">
            <a:off x="3200400" y="37814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shade_m = 0.30</a:t>
            </a:r>
          </a:p>
        </p:txBody>
      </p:sp>
      <p:sp>
        <p:nvSpPr>
          <p:cNvPr id="16" name="">
            <a:extLst xmlns:a="http://schemas.openxmlformats.org/drawingml/2006/main">
              <a:ext uri="{FF2B5EF4-FFF2-40B4-BE49-F238E27FC236}">
                <a16:creationId xmlns:a16="http://schemas.microsoft.com/office/drawing/2014/main" id="{825F766A-AF76-4A4A-998E-B29A8DD8CDB1}"/>
              </a:ext>
            </a:extLst>
          </p:cNvPr>
          <p:cNvSpPr>
            <a:spLocks xmlns:a="http://schemas.openxmlformats.org/drawingml/2006/main" noGrp="1"/>
          </p:cNvSpPr>
          <p:nvPr/>
        </p:nvSpPr>
        <p:spPr>
          <a:xfrm xmlns:a="http://schemas.openxmlformats.org/drawingml/2006/main">
            <a:off x="5562600" y="3705225"/>
            <a:ext cx="2476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2">
            <a:extLst xmlns:a="http://schemas.openxmlformats.org/drawingml/2006/main">
              <a:ext uri="{FF2B5EF4-FFF2-40B4-BE49-F238E27FC236}">
                <a16:creationId xmlns:a16="http://schemas.microsoft.com/office/drawing/2014/main" id="{48B93F8F-992A-4870-992E-0AFA59112322}"/>
              </a:ext>
            </a:extLst>
          </p:cNvPr>
          <p:cNvSpPr>
            <a:spLocks xmlns:a="http://schemas.openxmlformats.org/drawingml/2006/main" noGrp="1"/>
          </p:cNvSpPr>
          <p:nvPr/>
        </p:nvSpPr>
        <p:spPr>
          <a:xfrm xmlns:a="http://schemas.openxmlformats.org/drawingml/2006/main">
            <a:off x="5676900" y="3781425"/>
            <a:ext cx="224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28.373</a:t>
            </a:r>
          </a:p>
        </p:txBody>
      </p:sp>
      <p:sp>
        <p:nvSpPr>
          <p:cNvPr id="18" name="">
            <a:extLst xmlns:a="http://schemas.openxmlformats.org/drawingml/2006/main">
              <a:ext uri="{FF2B5EF4-FFF2-40B4-BE49-F238E27FC236}">
                <a16:creationId xmlns:a16="http://schemas.microsoft.com/office/drawing/2014/main" id="{4E864E41-1210-48DC-8B3A-5F75FCF43075}"/>
              </a:ext>
            </a:extLst>
          </p:cNvPr>
          <p:cNvSpPr>
            <a:spLocks xmlns:a="http://schemas.openxmlformats.org/drawingml/2006/main" noGrp="1"/>
          </p:cNvSpPr>
          <p:nvPr/>
        </p:nvSpPr>
        <p:spPr>
          <a:xfrm xmlns:a="http://schemas.openxmlformats.org/drawingml/2006/main">
            <a:off x="609600" y="423862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9" name="cell-1-0">
            <a:extLst xmlns:a="http://schemas.openxmlformats.org/drawingml/2006/main">
              <a:ext uri="{FF2B5EF4-FFF2-40B4-BE49-F238E27FC236}">
                <a16:creationId xmlns:a16="http://schemas.microsoft.com/office/drawing/2014/main" id="{C19A1BE0-0F02-497F-AFE1-753FB3067F77}"/>
              </a:ext>
            </a:extLst>
          </p:cNvPr>
          <p:cNvSpPr>
            <a:spLocks xmlns:a="http://schemas.openxmlformats.org/drawingml/2006/main" noGrp="1"/>
          </p:cNvSpPr>
          <p:nvPr/>
        </p:nvSpPr>
        <p:spPr>
          <a:xfrm xmlns:a="http://schemas.openxmlformats.org/drawingml/2006/main">
            <a:off x="723900" y="431482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shade_m (9 values, 0.0-1.2)</a:t>
            </a:r>
          </a:p>
        </p:txBody>
      </p:sp>
      <p:sp>
        <p:nvSpPr>
          <p:cNvPr id="20" name="">
            <a:extLst xmlns:a="http://schemas.openxmlformats.org/drawingml/2006/main">
              <a:ext uri="{FF2B5EF4-FFF2-40B4-BE49-F238E27FC236}">
                <a16:creationId xmlns:a16="http://schemas.microsoft.com/office/drawing/2014/main" id="{F253A7C7-4FA8-4F66-801D-F0600320673F}"/>
              </a:ext>
            </a:extLst>
          </p:cNvPr>
          <p:cNvSpPr>
            <a:spLocks xmlns:a="http://schemas.openxmlformats.org/drawingml/2006/main" noGrp="1"/>
          </p:cNvSpPr>
          <p:nvPr/>
        </p:nvSpPr>
        <p:spPr>
          <a:xfrm xmlns:a="http://schemas.openxmlformats.org/drawingml/2006/main">
            <a:off x="3086100" y="423862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1" name="cell-1-1">
            <a:extLst xmlns:a="http://schemas.openxmlformats.org/drawingml/2006/main">
              <a:ext uri="{FF2B5EF4-FFF2-40B4-BE49-F238E27FC236}">
                <a16:creationId xmlns:a16="http://schemas.microsoft.com/office/drawing/2014/main" id="{242F33CF-EF32-424A-B5AB-C1BD4A568C39}"/>
              </a:ext>
            </a:extLst>
          </p:cNvPr>
          <p:cNvSpPr>
            <a:spLocks xmlns:a="http://schemas.openxmlformats.org/drawingml/2006/main" noGrp="1"/>
          </p:cNvSpPr>
          <p:nvPr/>
        </p:nvSpPr>
        <p:spPr>
          <a:xfrm xmlns:a="http://schemas.openxmlformats.org/drawingml/2006/main">
            <a:off x="3200400" y="431482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wwr = 0.40</a:t>
            </a:r>
          </a:p>
        </p:txBody>
      </p:sp>
      <p:sp>
        <p:nvSpPr>
          <p:cNvPr id="22" name="">
            <a:extLst xmlns:a="http://schemas.openxmlformats.org/drawingml/2006/main">
              <a:ext uri="{FF2B5EF4-FFF2-40B4-BE49-F238E27FC236}">
                <a16:creationId xmlns:a16="http://schemas.microsoft.com/office/drawing/2014/main" id="{4A1A69B7-2071-4E96-9189-1331C3E0222E}"/>
              </a:ext>
            </a:extLst>
          </p:cNvPr>
          <p:cNvSpPr>
            <a:spLocks xmlns:a="http://schemas.openxmlformats.org/drawingml/2006/main" noGrp="1"/>
          </p:cNvSpPr>
          <p:nvPr/>
        </p:nvSpPr>
        <p:spPr>
          <a:xfrm xmlns:a="http://schemas.openxmlformats.org/drawingml/2006/main">
            <a:off x="5562600" y="4238625"/>
            <a:ext cx="2476500" cy="54102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2">
            <a:extLst xmlns:a="http://schemas.openxmlformats.org/drawingml/2006/main">
              <a:ext uri="{FF2B5EF4-FFF2-40B4-BE49-F238E27FC236}">
                <a16:creationId xmlns:a16="http://schemas.microsoft.com/office/drawing/2014/main" id="{C3496805-EA92-40BD-ADA0-F2043BF889FB}"/>
              </a:ext>
            </a:extLst>
          </p:cNvPr>
          <p:cNvSpPr>
            <a:spLocks xmlns:a="http://schemas.openxmlformats.org/drawingml/2006/main" noGrp="1"/>
          </p:cNvSpPr>
          <p:nvPr/>
        </p:nvSpPr>
        <p:spPr>
          <a:xfrm xmlns:a="http://schemas.openxmlformats.org/drawingml/2006/main">
            <a:off x="5676900" y="4314825"/>
            <a:ext cx="2247900"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3.46</a:t>
            </a:r>
          </a:p>
        </p:txBody>
      </p:sp>
      <p:sp>
        <p:nvSpPr>
          <p:cNvPr id="24" name="callout-label">
            <a:extLst xmlns:a="http://schemas.openxmlformats.org/drawingml/2006/main">
              <a:ext uri="{FF2B5EF4-FFF2-40B4-BE49-F238E27FC236}">
                <a16:creationId xmlns:a16="http://schemas.microsoft.com/office/drawing/2014/main" id="{189B1790-1874-468B-B122-AA32B77C7413}"/>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25" name="callout">
            <a:extLst xmlns:a="http://schemas.openxmlformats.org/drawingml/2006/main">
              <a:ext uri="{FF2B5EF4-FFF2-40B4-BE49-F238E27FC236}">
                <a16:creationId xmlns:a16="http://schemas.microsoft.com/office/drawing/2014/main" id="{06357360-725B-43AE-9B5D-9786C1E009B7}"/>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Before trusting this: both numbers came from ONE fixed value of the OTHER variable. What if that fixed value happened to be a bad place to stand?</a:t>
            </a:r>
          </a:p>
        </p:txBody>
      </p:sp>
    </p:spTree>
    <p:extLst>
      <p:ext uri="{BB962C8B-B14F-4D97-AF65-F5344CB8AC3E}">
        <p14:creationId xmlns:p14="http://schemas.microsoft.com/office/powerpoint/2010/main" val="90009268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52E61067-E174-4C7C-A8E0-839A3F3075F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D4B18FDD-5F04-4970-9CB7-6B0A5090E28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Wait — check it again from a different starting point</a:t>
            </a:r>
          </a:p>
        </p:txBody>
      </p:sp>
      <p:sp>
        <p:nvSpPr>
          <p:cNvPr id="3" name="">
            <a:extLst xmlns:a="http://schemas.openxmlformats.org/drawingml/2006/main">
              <a:ext uri="{FF2B5EF4-FFF2-40B4-BE49-F238E27FC236}">
                <a16:creationId xmlns:a16="http://schemas.microsoft.com/office/drawing/2014/main" id="{838F8EE5-1534-47AF-877D-887EFD88615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91E07AB-6C3F-47BF-A39E-A8A33BEEC62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46B35F28-4BFB-4EAD-9A4B-B8E68B67071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19</a:t>
            </a:r>
          </a:p>
        </p:txBody>
      </p:sp>
      <p:sp>
        <p:nvSpPr>
          <p:cNvPr id="6" name="statement">
            <a:extLst xmlns:a="http://schemas.openxmlformats.org/drawingml/2006/main">
              <a:ext uri="{FF2B5EF4-FFF2-40B4-BE49-F238E27FC236}">
                <a16:creationId xmlns:a16="http://schemas.microsoft.com/office/drawing/2014/main" id="{7FC3A2B9-AE3E-49D8-A8A8-11F0328B741E}"/>
              </a:ext>
            </a:extLst>
          </p:cNvPr>
          <p:cNvSpPr>
            <a:spLocks xmlns:a="http://schemas.openxmlformats.org/drawingml/2006/main" noGrp="1"/>
          </p:cNvSpPr>
          <p:nvPr/>
        </p:nvSpPr>
        <p:spPr>
          <a:xfrm xmlns:a="http://schemas.openxmlformats.org/drawingml/2006/main">
            <a:off x="609600" y="2305050"/>
            <a:ext cx="9829800" cy="15575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A one-at-a-time sweep only tells you about the one slice of the other variable you happened to fix.</a:t>
            </a:r>
          </a:p>
        </p:txBody>
      </p:sp>
      <p:sp>
        <p:nvSpPr>
          <p:cNvPr id="7" name="">
            <a:extLst xmlns:a="http://schemas.openxmlformats.org/drawingml/2006/main">
              <a:ext uri="{FF2B5EF4-FFF2-40B4-BE49-F238E27FC236}">
                <a16:creationId xmlns:a16="http://schemas.microsoft.com/office/drawing/2014/main" id="{753E2E76-B0F1-4889-B273-8179757D1A7D}"/>
              </a:ext>
            </a:extLst>
          </p:cNvPr>
          <p:cNvSpPr>
            <a:spLocks xmlns:a="http://schemas.openxmlformats.org/drawingml/2006/main" noGrp="1"/>
          </p:cNvSpPr>
          <p:nvPr/>
        </p:nvSpPr>
        <p:spPr>
          <a:xfrm xmlns:a="http://schemas.openxmlformats.org/drawingml/2006/main">
            <a:off x="609600" y="4072128"/>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DCE6E794-D5BC-4C58-A60E-82A878E7AD58}"/>
              </a:ext>
            </a:extLst>
          </p:cNvPr>
          <p:cNvSpPr>
            <a:spLocks xmlns:a="http://schemas.openxmlformats.org/drawingml/2006/main" noGrp="1"/>
          </p:cNvSpPr>
          <p:nvPr/>
        </p:nvSpPr>
        <p:spPr>
          <a:xfrm xmlns:a="http://schemas.openxmlformats.org/drawingml/2006/main">
            <a:off x="609600" y="4395978"/>
            <a:ext cx="9334500" cy="6065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Re-run both sweeps, but this time fix each variable somewhere else — and see whether 'wwr matters, shade_m doesn't' still holds up.</a:t>
            </a:r>
          </a:p>
        </p:txBody>
      </p:sp>
    </p:spTree>
    <p:extLst>
      <p:ext uri="{BB962C8B-B14F-4D97-AF65-F5344CB8AC3E}">
        <p14:creationId xmlns:p14="http://schemas.microsoft.com/office/powerpoint/2010/main" val="51400419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F746F85A-02EA-4AEC-8374-8C5200B10BA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D5B85CB5-7339-4214-850D-C2209051020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does the trap survive a different baseline?</a:t>
            </a:r>
          </a:p>
        </p:txBody>
      </p:sp>
      <p:sp>
        <p:nvSpPr>
          <p:cNvPr id="3" name="">
            <a:extLst xmlns:a="http://schemas.openxmlformats.org/drawingml/2006/main">
              <a:ext uri="{FF2B5EF4-FFF2-40B4-BE49-F238E27FC236}">
                <a16:creationId xmlns:a16="http://schemas.microsoft.com/office/drawing/2014/main" id="{093F3DFE-F9D2-4A68-95CB-ABA510EFE5A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1200F13-28C4-4CFB-9F03-9F8530A4153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0C324918-A586-444B-A93D-82EB58BCAFC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20</a:t>
            </a:r>
          </a:p>
        </p:txBody>
      </p:sp>
      <p:sp>
        <p:nvSpPr>
          <p:cNvPr id="6" name="code-panel">
            <a:extLst xmlns:a="http://schemas.openxmlformats.org/drawingml/2006/main">
              <a:ext uri="{FF2B5EF4-FFF2-40B4-BE49-F238E27FC236}">
                <a16:creationId xmlns:a16="http://schemas.microsoft.com/office/drawing/2014/main" id="{F4ABE435-0DCA-46A8-A02D-13941FC87EF2}"/>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2C27FB74-312F-4BCD-9FA2-39DF54F49069}"/>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same shade_m sweep, wwr fixed differently</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shade_vals = np.linspace(0.0, 1.2, 9)</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e_shade2 = energy_proxy((0.28, shade_vals))</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range2 = e_shade2.max() - e_shade2.min()</a:t>
            </a:r>
          </a:p>
        </p:txBody>
      </p:sp>
      <p:sp>
        <p:nvSpPr>
          <p:cNvPr id="8" name="question">
            <a:extLst xmlns:a="http://schemas.openxmlformats.org/drawingml/2006/main">
              <a:ext uri="{FF2B5EF4-FFF2-40B4-BE49-F238E27FC236}">
                <a16:creationId xmlns:a16="http://schemas.microsoft.com/office/drawing/2014/main" id="{62FC08FA-9C74-4DD9-890E-A6BDE1EE6C2C}"/>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Does shade_m stay flat at a different wwr?</a:t>
            </a:r>
          </a:p>
        </p:txBody>
      </p:sp>
      <p:sp>
        <p:nvSpPr>
          <p:cNvPr id="9" name="opt-0">
            <a:extLst xmlns:a="http://schemas.openxmlformats.org/drawingml/2006/main">
              <a:ext uri="{FF2B5EF4-FFF2-40B4-BE49-F238E27FC236}">
                <a16:creationId xmlns:a16="http://schemas.microsoft.com/office/drawing/2014/main" id="{4CDDF7A7-D263-4AFD-973D-06576F33581B}"/>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719973B1-176A-4653-9E6D-397326E99F90}"/>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B7B35278-B067-4270-9970-A02B4B545F34}"/>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No -- it jumps past wwr's own range of 28.373</a:t>
            </a:r>
          </a:p>
        </p:txBody>
      </p:sp>
      <p:sp>
        <p:nvSpPr>
          <p:cNvPr id="12" name="opt-1">
            <a:extLst xmlns:a="http://schemas.openxmlformats.org/drawingml/2006/main">
              <a:ext uri="{FF2B5EF4-FFF2-40B4-BE49-F238E27FC236}">
                <a16:creationId xmlns:a16="http://schemas.microsoft.com/office/drawing/2014/main" id="{F7514E84-F975-4EBB-9EAA-A950ADFF7781}"/>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2FB26D9E-AE89-4AE4-9AD8-3DAB7FAB0B89}"/>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85D20B3F-E40C-47A8-B296-19CEEE4D9779}"/>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Yes -- it stays near its original range of 3.46</a:t>
            </a:r>
          </a:p>
        </p:txBody>
      </p:sp>
      <p:sp>
        <p:nvSpPr>
          <p:cNvPr id="15" name="opt-2">
            <a:extLst xmlns:a="http://schemas.openxmlformats.org/drawingml/2006/main">
              <a:ext uri="{FF2B5EF4-FFF2-40B4-BE49-F238E27FC236}">
                <a16:creationId xmlns:a16="http://schemas.microsoft.com/office/drawing/2014/main" id="{66D9822B-A56D-4388-91B2-7697C2B7DEA9}"/>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A5C69A5C-4D19-466A-81F5-D3FFA43CD744}"/>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3FC6051A-3CFF-4154-AD7A-4C60A6979251}"/>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No -- it grows some, to about 10, still under 28.373</a:t>
            </a:r>
          </a:p>
        </p:txBody>
      </p:sp>
      <p:sp>
        <p:nvSpPr>
          <p:cNvPr id="18" name="opt-3">
            <a:extLst xmlns:a="http://schemas.openxmlformats.org/drawingml/2006/main">
              <a:ext uri="{FF2B5EF4-FFF2-40B4-BE49-F238E27FC236}">
                <a16:creationId xmlns:a16="http://schemas.microsoft.com/office/drawing/2014/main" id="{1A4E91E1-8404-4F80-94E5-B189E8C61562}"/>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C00DDE5A-1009-4158-AB03-D1E0FB1CE31C}"/>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DA249D23-D7E1-46AF-8858-C683C072C693}"/>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No -- it shrinks even further, toward 0</a:t>
            </a:r>
          </a:p>
        </p:txBody>
      </p:sp>
      <p:sp>
        <p:nvSpPr>
          <p:cNvPr id="21" name="answer-panel">
            <a:extLst xmlns:a="http://schemas.openxmlformats.org/drawingml/2006/main">
              <a:ext uri="{FF2B5EF4-FFF2-40B4-BE49-F238E27FC236}">
                <a16:creationId xmlns:a16="http://schemas.microsoft.com/office/drawing/2014/main" id="{AC45EB28-F011-4420-9618-E9655BF9361C}"/>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AF9FCCD3-36F7-4E0C-A36F-B8E2ADB6F4FA}"/>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A</a:t>
            </a:r>
          </a:p>
        </p:txBody>
      </p:sp>
      <p:sp>
        <p:nvSpPr>
          <p:cNvPr id="23" name="why">
            <a:extLst xmlns:a="http://schemas.openxmlformats.org/drawingml/2006/main">
              <a:ext uri="{FF2B5EF4-FFF2-40B4-BE49-F238E27FC236}">
                <a16:creationId xmlns:a16="http://schemas.microsoft.com/office/drawing/2014/main" id="{BBEC09F1-5F7B-4297-9B4F-49C34F17C9F7}"/>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At wwr=0.28, shade_m's range jumps from 3.46 to 33.996 — past wwr's own 28.373. The first read was an artifact of the fixed baseline.</a:t>
            </a:r>
          </a:p>
        </p:txBody>
      </p:sp>
    </p:spTree>
    <p:extLst>
      <p:ext uri="{BB962C8B-B14F-4D97-AF65-F5344CB8AC3E}">
        <p14:creationId xmlns:p14="http://schemas.microsoft.com/office/powerpoint/2010/main" val="207983401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22DA9BE7-0274-41AE-B44A-CF6D971238F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19A7641B-DF91-4D46-881A-7B50D27F721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Same two sweeps, different fixed baselines</a:t>
            </a:r>
          </a:p>
        </p:txBody>
      </p:sp>
      <p:sp>
        <p:nvSpPr>
          <p:cNvPr id="3" name="">
            <a:extLst xmlns:a="http://schemas.openxmlformats.org/drawingml/2006/main">
              <a:ext uri="{FF2B5EF4-FFF2-40B4-BE49-F238E27FC236}">
                <a16:creationId xmlns:a16="http://schemas.microsoft.com/office/drawing/2014/main" id="{35346D07-D157-4A16-BB65-9E47ED5AA98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C72A9B7-F2AD-47C1-A734-0D571CABE72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B9D922D5-60A1-4551-B8F5-1B90CD0AC13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21</a:t>
            </a:r>
          </a:p>
        </p:txBody>
      </p:sp>
      <p:sp>
        <p:nvSpPr>
          <p:cNvPr id="6" name="code-panel">
            <a:extLst xmlns:a="http://schemas.openxmlformats.org/drawingml/2006/main">
              <a:ext uri="{FF2B5EF4-FFF2-40B4-BE49-F238E27FC236}">
                <a16:creationId xmlns:a16="http://schemas.microsoft.com/office/drawing/2014/main" id="{AC1876DD-727B-40BD-8E50-BE468A16DCD0}"/>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4CB7A073-1613-48D8-BC31-D2CACB20F2DB}"/>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shade_m swept, wwr now fixed at 0.28 instead of 0.40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e_shade2 = energy_proxy((0.28, shade_vals))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print('shade range @ wwr=0.28:',</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round(e_shade2.max() - e_shade2.min(), 3))</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wwr swept, shade_m now fixed at 0.90 instead of 0.30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e_wwr2 = energy_proxy((wwr_vals, 0.90))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print('wwr range @ shade=0.90:',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round(e_wwr2.max() - e_wwr2.min(), 3))</a:t>
            </a:r>
          </a:p>
        </p:txBody>
      </p:sp>
      <p:sp>
        <p:nvSpPr>
          <p:cNvPr id="8" name="">
            <a:extLst xmlns:a="http://schemas.openxmlformats.org/drawingml/2006/main">
              <a:ext uri="{FF2B5EF4-FFF2-40B4-BE49-F238E27FC236}">
                <a16:creationId xmlns:a16="http://schemas.microsoft.com/office/drawing/2014/main" id="{E88382E2-089D-4573-B592-DFAF8B765CD2}"/>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C54A33C1-8A5E-4792-8A3B-440C18D74897}"/>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FB63C34E-A0C8-4F5C-B67B-2BAFBF761D8F}"/>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shade range @ wwr=0.28: 33.996</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wwr range @ shade=0.90: 33.182</a:t>
            </a:r>
          </a:p>
        </p:txBody>
      </p:sp>
      <p:sp>
        <p:nvSpPr>
          <p:cNvPr id="11" name="explain-head">
            <a:extLst xmlns:a="http://schemas.openxmlformats.org/drawingml/2006/main">
              <a:ext uri="{FF2B5EF4-FFF2-40B4-BE49-F238E27FC236}">
                <a16:creationId xmlns:a16="http://schemas.microsoft.com/office/drawing/2014/main" id="{7800CFC2-5C34-4E68-BC69-84AD94CEC43C}"/>
              </a:ext>
            </a:extLst>
          </p:cNvPr>
          <p:cNvSpPr>
            <a:spLocks xmlns:a="http://schemas.openxmlformats.org/drawingml/2006/main" noGrp="1"/>
          </p:cNvSpPr>
          <p:nvPr/>
        </p:nvSpPr>
        <p:spPr>
          <a:xfrm xmlns:a="http://schemas.openxmlformats.org/drawingml/2006/main">
            <a:off x="7886700" y="25241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shade_m was never the less-important variable</a:t>
            </a:r>
          </a:p>
        </p:txBody>
      </p:sp>
      <p:sp>
        <p:nvSpPr>
          <p:cNvPr id="12" name="explain-body">
            <a:extLst xmlns:a="http://schemas.openxmlformats.org/drawingml/2006/main">
              <a:ext uri="{FF2B5EF4-FFF2-40B4-BE49-F238E27FC236}">
                <a16:creationId xmlns:a16="http://schemas.microsoft.com/office/drawing/2014/main" id="{17F055B8-E810-4FE4-9400-DD63986388E4}"/>
              </a:ext>
            </a:extLst>
          </p:cNvPr>
          <p:cNvSpPr>
            <a:spLocks xmlns:a="http://schemas.openxmlformats.org/drawingml/2006/main" noGrp="1"/>
          </p:cNvSpPr>
          <p:nvPr/>
        </p:nvSpPr>
        <p:spPr>
          <a:xfrm xmlns:a="http://schemas.openxmlformats.org/drawingml/2006/main">
            <a:off x="7886700" y="3309747"/>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Fixed at wwr=0.28 instead of 0.40, shade_m's own range jumps from 3.46 to 33.996 — bigger than wwr's original 28.373. The earlier conclusion was an artifact of WHERE the other variable happened to be fixed, not a fact about the formula.</a:t>
            </a:r>
          </a:p>
        </p:txBody>
      </p:sp>
    </p:spTree>
    <p:extLst>
      <p:ext uri="{BB962C8B-B14F-4D97-AF65-F5344CB8AC3E}">
        <p14:creationId xmlns:p14="http://schemas.microsoft.com/office/powerpoint/2010/main" val="75025627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C4ACE145-3BEB-4409-A211-9EA5D9371FD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CONCEPT</a:t>
            </a:r>
          </a:p>
        </p:txBody>
      </p:sp>
      <p:sp>
        <p:nvSpPr>
          <p:cNvPr id="2" name="title">
            <a:extLst xmlns:a="http://schemas.openxmlformats.org/drawingml/2006/main">
              <a:ext uri="{FF2B5EF4-FFF2-40B4-BE49-F238E27FC236}">
                <a16:creationId xmlns:a16="http://schemas.microsoft.com/office/drawing/2014/main" id="{971B146F-B604-40C5-B8C8-B0BAE814EE0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lesson: one slice is never the whole answer</a:t>
            </a:r>
          </a:p>
        </p:txBody>
      </p:sp>
      <p:sp>
        <p:nvSpPr>
          <p:cNvPr id="3" name="">
            <a:extLst xmlns:a="http://schemas.openxmlformats.org/drawingml/2006/main">
              <a:ext uri="{FF2B5EF4-FFF2-40B4-BE49-F238E27FC236}">
                <a16:creationId xmlns:a16="http://schemas.microsoft.com/office/drawing/2014/main" id="{8987EE85-4D85-4FEB-92FF-FBDBEE57B59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19C9481-92D4-4EC2-833E-FB410E01B4E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C2A641C8-5B42-45FB-B6E5-32E31666A51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22</a:t>
            </a:r>
          </a:p>
        </p:txBody>
      </p:sp>
      <p:sp>
        <p:nvSpPr>
          <p:cNvPr id="6" name="left-head">
            <a:extLst xmlns:a="http://schemas.openxmlformats.org/drawingml/2006/main">
              <a:ext uri="{FF2B5EF4-FFF2-40B4-BE49-F238E27FC236}">
                <a16:creationId xmlns:a16="http://schemas.microsoft.com/office/drawing/2014/main" id="{927D7C14-1F25-4A1B-B5AD-F792B5341EBC}"/>
              </a:ext>
            </a:extLst>
          </p:cNvPr>
          <p:cNvSpPr>
            <a:spLocks xmlns:a="http://schemas.openxmlformats.org/drawingml/2006/main" noGrp="1"/>
          </p:cNvSpPr>
          <p:nvPr/>
        </p:nvSpPr>
        <p:spPr>
          <a:xfrm xmlns:a="http://schemas.openxmlformats.org/drawingml/2006/main">
            <a:off x="6096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 went wrong</a:t>
            </a:r>
          </a:p>
        </p:txBody>
      </p:sp>
      <p:sp>
        <p:nvSpPr>
          <p:cNvPr id="7" name="left-body">
            <a:extLst xmlns:a="http://schemas.openxmlformats.org/drawingml/2006/main">
              <a:ext uri="{FF2B5EF4-FFF2-40B4-BE49-F238E27FC236}">
                <a16:creationId xmlns:a16="http://schemas.microsoft.com/office/drawing/2014/main" id="{7EED2948-9FCF-4918-B4BE-B8827E97BCF6}"/>
              </a:ext>
            </a:extLst>
          </p:cNvPr>
          <p:cNvSpPr>
            <a:spLocks xmlns:a="http://schemas.openxmlformats.org/drawingml/2006/main" noGrp="1"/>
          </p:cNvSpPr>
          <p:nvPr/>
        </p:nvSpPr>
        <p:spPr>
          <a:xfrm xmlns:a="http://schemas.openxmlformats.org/drawingml/2006/main">
            <a:off x="609600" y="3212211"/>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Each 1-D sweep only explored a single line through a two-variable space — like judging a whole floor plan from one hallway. Depending on which hallway (which fixed baseline) you picked, either variable can look unimportant.</a:t>
            </a:r>
          </a:p>
        </p:txBody>
      </p:sp>
      <p:sp>
        <p:nvSpPr>
          <p:cNvPr id="8" name="right-head">
            <a:extLst xmlns:a="http://schemas.openxmlformats.org/drawingml/2006/main">
              <a:ext uri="{FF2B5EF4-FFF2-40B4-BE49-F238E27FC236}">
                <a16:creationId xmlns:a16="http://schemas.microsoft.com/office/drawing/2014/main" id="{24DA6A2F-FCBB-4AA0-9675-4C06C862EE2B}"/>
              </a:ext>
            </a:extLst>
          </p:cNvPr>
          <p:cNvSpPr>
            <a:spLocks xmlns:a="http://schemas.openxmlformats.org/drawingml/2006/main" noGrp="1"/>
          </p:cNvSpPr>
          <p:nvPr/>
        </p:nvSpPr>
        <p:spPr>
          <a:xfrm xmlns:a="http://schemas.openxmlformats.org/drawingml/2006/main">
            <a:off x="6362700" y="271462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What's needed instead</a:t>
            </a:r>
          </a:p>
        </p:txBody>
      </p:sp>
      <p:sp>
        <p:nvSpPr>
          <p:cNvPr id="9" name="right-body">
            <a:extLst xmlns:a="http://schemas.openxmlformats.org/drawingml/2006/main">
              <a:ext uri="{FF2B5EF4-FFF2-40B4-BE49-F238E27FC236}">
                <a16:creationId xmlns:a16="http://schemas.microsoft.com/office/drawing/2014/main" id="{3B8251EB-C12D-4137-B691-BC7965F69FDE}"/>
              </a:ext>
            </a:extLst>
          </p:cNvPr>
          <p:cNvSpPr>
            <a:spLocks xmlns:a="http://schemas.openxmlformats.org/drawingml/2006/main" noGrp="1"/>
          </p:cNvSpPr>
          <p:nvPr/>
        </p:nvSpPr>
        <p:spPr>
          <a:xfrm xmlns:a="http://schemas.openxmlformats.org/drawingml/2006/main">
            <a:off x="6362700" y="3212211"/>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Evaluate EVERY combination of wwr and shade_m together, not one variable with the other frozen. That needs a tool that builds every (wwr, shade_m) pair from two separate swept lists at once.</a:t>
            </a:r>
          </a:p>
        </p:txBody>
      </p:sp>
    </p:spTree>
    <p:extLst>
      <p:ext uri="{BB962C8B-B14F-4D97-AF65-F5344CB8AC3E}">
        <p14:creationId xmlns:p14="http://schemas.microsoft.com/office/powerpoint/2010/main" val="50514523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3202603F-E4D3-48EC-8F3B-58DB0CFA430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55B233EE-F5F2-44A5-B793-38E3C4307DF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Boolean mask, defined</a:t>
            </a:r>
          </a:p>
        </p:txBody>
      </p:sp>
      <p:sp>
        <p:nvSpPr>
          <p:cNvPr id="3" name="">
            <a:extLst xmlns:a="http://schemas.openxmlformats.org/drawingml/2006/main">
              <a:ext uri="{FF2B5EF4-FFF2-40B4-BE49-F238E27FC236}">
                <a16:creationId xmlns:a16="http://schemas.microsoft.com/office/drawing/2014/main" id="{3DAB756B-A7D6-4F15-B752-780AE7D8870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7E49645-36DE-4571-8BE9-4596DDB472A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101A5709-28D2-44F4-86DF-8300EF90460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23</a:t>
            </a:r>
          </a:p>
        </p:txBody>
      </p:sp>
      <p:sp>
        <p:nvSpPr>
          <p:cNvPr id="6" name="term-label">
            <a:extLst xmlns:a="http://schemas.openxmlformats.org/drawingml/2006/main">
              <a:ext uri="{FF2B5EF4-FFF2-40B4-BE49-F238E27FC236}">
                <a16:creationId xmlns:a16="http://schemas.microsoft.com/office/drawing/2014/main" id="{25D44BBB-6F18-4FC6-808B-38B7FA3922F1}"/>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2CF45256-605D-472D-9655-7306E467A311}"/>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boolean mask</a:t>
            </a:r>
          </a:p>
        </p:txBody>
      </p:sp>
      <p:sp>
        <p:nvSpPr>
          <p:cNvPr id="8" name="">
            <a:extLst xmlns:a="http://schemas.openxmlformats.org/drawingml/2006/main">
              <a:ext uri="{FF2B5EF4-FFF2-40B4-BE49-F238E27FC236}">
                <a16:creationId xmlns:a16="http://schemas.microsoft.com/office/drawing/2014/main" id="{0C75E400-B651-48FA-B9F0-C6C98D84E43D}"/>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55DDD322-35E5-4F68-9C14-01B36944B294}"/>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An array of True/False values, one per element, built from a comparison like scores &lt;= 15. Applying the mask, scores[mask], keeps only the elements where the condition holds.</a:t>
            </a:r>
          </a:p>
        </p:txBody>
      </p:sp>
      <p:sp>
        <p:nvSpPr>
          <p:cNvPr id="10" name="example-panel">
            <a:extLst xmlns:a="http://schemas.openxmlformats.org/drawingml/2006/main">
              <a:ext uri="{FF2B5EF4-FFF2-40B4-BE49-F238E27FC236}">
                <a16:creationId xmlns:a16="http://schemas.microsoft.com/office/drawing/2014/main" id="{C9987B8B-F097-4E33-9B14-B2711238C660}"/>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847B6BDB-BE94-4C82-9747-81389758DD34}"/>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79F2463D-3498-46A6-AD7F-C4F636C4C761}"/>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e_wwr &lt;= 15.0</a:t>
            </a:r>
          </a:p>
        </p:txBody>
      </p:sp>
      <p:sp>
        <p:nvSpPr>
          <p:cNvPr id="13" name="example-body">
            <a:extLst xmlns:a="http://schemas.openxmlformats.org/drawingml/2006/main">
              <a:ext uri="{FF2B5EF4-FFF2-40B4-BE49-F238E27FC236}">
                <a16:creationId xmlns:a16="http://schemas.microsoft.com/office/drawing/2014/main" id="{3C4E4B1A-D0D2-432A-B3EB-6019D1DDEF6D}"/>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Compares every element of e_wwr to 15.0 at once, giving one True/False per position. wwr_vals[mask] then pulls out only the passing wwr values — 4 of the original 9 meet this target.</a:t>
            </a:r>
          </a:p>
        </p:txBody>
      </p:sp>
      <p:sp>
        <p:nvSpPr>
          <p:cNvPr id="14" name="note-bar">
            <a:extLst xmlns:a="http://schemas.openxmlformats.org/drawingml/2006/main">
              <a:ext uri="{FF2B5EF4-FFF2-40B4-BE49-F238E27FC236}">
                <a16:creationId xmlns:a16="http://schemas.microsoft.com/office/drawing/2014/main" id="{8416F300-000C-42B9-963F-DBBD1804367C}"/>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59F070A8-A543-49A4-AB87-AC7D61775B9F}"/>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CONNECTS BACK</a:t>
            </a:r>
          </a:p>
        </p:txBody>
      </p:sp>
      <p:sp>
        <p:nvSpPr>
          <p:cNvPr id="16" name="note">
            <a:extLst xmlns:a="http://schemas.openxmlformats.org/drawingml/2006/main">
              <a:ext uri="{FF2B5EF4-FFF2-40B4-BE49-F238E27FC236}">
                <a16:creationId xmlns:a16="http://schemas.microsoft.com/office/drawing/2014/main" id="{1F61BAFD-CC3B-46F6-9A09-0EC545BA091B}"/>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Same idea as filtering a pandas Series with &amp; / | in Week 5 — a mask here is the identical concept, one level closer to the raw array.</a:t>
            </a:r>
          </a:p>
        </p:txBody>
      </p:sp>
    </p:spTree>
    <p:extLst>
      <p:ext uri="{BB962C8B-B14F-4D97-AF65-F5344CB8AC3E}">
        <p14:creationId xmlns:p14="http://schemas.microsoft.com/office/powerpoint/2010/main" val="73007851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B9FE299C-971C-44FD-871E-62BB0CFE311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44BD1109-B17A-4473-8DFE-B35F0CB19E9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Flag which wwr values meet a target of 15 or better</a:t>
            </a:r>
          </a:p>
        </p:txBody>
      </p:sp>
      <p:sp>
        <p:nvSpPr>
          <p:cNvPr id="3" name="">
            <a:extLst xmlns:a="http://schemas.openxmlformats.org/drawingml/2006/main">
              <a:ext uri="{FF2B5EF4-FFF2-40B4-BE49-F238E27FC236}">
                <a16:creationId xmlns:a16="http://schemas.microsoft.com/office/drawing/2014/main" id="{9A67AD8B-EA2A-40A1-97EB-14FDA9D2DE9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E2C9B07-3582-48EF-B46B-8BCDE0093E3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E46C003A-6AF4-47EC-B95D-D07263742CA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24</a:t>
            </a:r>
          </a:p>
        </p:txBody>
      </p:sp>
      <p:sp>
        <p:nvSpPr>
          <p:cNvPr id="6" name="code-panel">
            <a:extLst xmlns:a="http://schemas.openxmlformats.org/drawingml/2006/main">
              <a:ext uri="{FF2B5EF4-FFF2-40B4-BE49-F238E27FC236}">
                <a16:creationId xmlns:a16="http://schemas.microsoft.com/office/drawing/2014/main" id="{77EDC255-7F12-4013-BECB-32FD09A328B0}"/>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A8792526-8E35-496A-8DB6-CF4FD93665EE}"/>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target = 15.0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meets_target = e_wwr &lt;= target</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print(meets_target)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print('passing wwr values:', wwr_vals[meets_target])</a:t>
            </a:r>
          </a:p>
        </p:txBody>
      </p:sp>
      <p:sp>
        <p:nvSpPr>
          <p:cNvPr id="8" name="">
            <a:extLst xmlns:a="http://schemas.openxmlformats.org/drawingml/2006/main">
              <a:ext uri="{FF2B5EF4-FFF2-40B4-BE49-F238E27FC236}">
                <a16:creationId xmlns:a16="http://schemas.microsoft.com/office/drawing/2014/main" id="{F116BF8D-DF1B-4762-AC91-D0E1471CBAF6}"/>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5434D2B2-C550-4939-A3A7-9FB4749215CD}"/>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1B3D9681-8A71-4EA1-9E59-2F1706953981}"/>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[False False False False False  True  True  True  True]</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passing wwr values: [0.45 0.5  0.55 0.6 ]</a:t>
            </a:r>
          </a:p>
        </p:txBody>
      </p:sp>
      <p:sp>
        <p:nvSpPr>
          <p:cNvPr id="11" name="explain-head">
            <a:extLst xmlns:a="http://schemas.openxmlformats.org/drawingml/2006/main">
              <a:ext uri="{FF2B5EF4-FFF2-40B4-BE49-F238E27FC236}">
                <a16:creationId xmlns:a16="http://schemas.microsoft.com/office/drawing/2014/main" id="{A5AAE7DD-2D5B-44DD-B3AB-3A9DC279E99A}"/>
              </a:ext>
            </a:extLst>
          </p:cNvPr>
          <p:cNvSpPr>
            <a:spLocks xmlns:a="http://schemas.openxmlformats.org/drawingml/2006/main" noGrp="1"/>
          </p:cNvSpPr>
          <p:nvPr/>
        </p:nvSpPr>
        <p:spPr>
          <a:xfrm xmlns:a="http://schemas.openxmlformats.org/drawingml/2006/main">
            <a:off x="7886700" y="24479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 mask both flags AND filters</a:t>
            </a:r>
          </a:p>
        </p:txBody>
      </p:sp>
      <p:sp>
        <p:nvSpPr>
          <p:cNvPr id="12" name="explain-body">
            <a:extLst xmlns:a="http://schemas.openxmlformats.org/drawingml/2006/main">
              <a:ext uri="{FF2B5EF4-FFF2-40B4-BE49-F238E27FC236}">
                <a16:creationId xmlns:a16="http://schemas.microsoft.com/office/drawing/2014/main" id="{E2919936-7FC7-4A27-87BC-9214FA305588}"/>
              </a:ext>
            </a:extLst>
          </p:cNvPr>
          <p:cNvSpPr>
            <a:spLocks xmlns:a="http://schemas.openxmlformats.org/drawingml/2006/main" noGrp="1"/>
          </p:cNvSpPr>
          <p:nvPr/>
        </p:nvSpPr>
        <p:spPr>
          <a:xfrm xmlns:a="http://schemas.openxmlformats.org/drawingml/2006/main">
            <a:off x="7886700" y="3233547"/>
            <a:ext cx="3695700" cy="1844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e_wwr &lt;= target compares every element of e_wwr to 15.0 at once, producing one True/False per position — no loop. wwr_vals[meets_target] then uses that same mask to pull out only the wwr values that pass: 4 of the original 9 (0.45, 0.50, 0.55, 0.60) meet this target at shade_m=0.30.</a:t>
            </a:r>
          </a:p>
        </p:txBody>
      </p:sp>
    </p:spTree>
    <p:extLst>
      <p:ext uri="{BB962C8B-B14F-4D97-AF65-F5344CB8AC3E}">
        <p14:creationId xmlns:p14="http://schemas.microsoft.com/office/powerpoint/2010/main" val="157872405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CEFBE870-5FF5-433D-B37D-9D946AD6863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BA26C107-946A-49BC-B7EF-0F172B1AEA7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np.meshgrid, defined</a:t>
            </a:r>
          </a:p>
        </p:txBody>
      </p:sp>
      <p:sp>
        <p:nvSpPr>
          <p:cNvPr id="3" name="">
            <a:extLst xmlns:a="http://schemas.openxmlformats.org/drawingml/2006/main">
              <a:ext uri="{FF2B5EF4-FFF2-40B4-BE49-F238E27FC236}">
                <a16:creationId xmlns:a16="http://schemas.microsoft.com/office/drawing/2014/main" id="{6CAD6B4D-29A9-4C24-82F5-425E7252C4F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DCDF037-7A86-49DE-ACA7-14908A1F52E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126E0367-3755-4090-84A3-3F8C61AC44F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25</a:t>
            </a:r>
          </a:p>
        </p:txBody>
      </p:sp>
      <p:sp>
        <p:nvSpPr>
          <p:cNvPr id="6" name="term-label">
            <a:extLst xmlns:a="http://schemas.openxmlformats.org/drawingml/2006/main">
              <a:ext uri="{FF2B5EF4-FFF2-40B4-BE49-F238E27FC236}">
                <a16:creationId xmlns:a16="http://schemas.microsoft.com/office/drawing/2014/main" id="{125281C3-0F09-4DAE-B5B9-10D60D0D853A}"/>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6B840D0F-00C0-4544-935B-5E90C04AEB71}"/>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np.meshgrid</a:t>
            </a:r>
          </a:p>
        </p:txBody>
      </p:sp>
      <p:sp>
        <p:nvSpPr>
          <p:cNvPr id="8" name="">
            <a:extLst xmlns:a="http://schemas.openxmlformats.org/drawingml/2006/main">
              <a:ext uri="{FF2B5EF4-FFF2-40B4-BE49-F238E27FC236}">
                <a16:creationId xmlns:a16="http://schemas.microsoft.com/office/drawing/2014/main" id="{97D3D635-3CFF-4DDD-8F93-7D183AA3F26C}"/>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1C472FCF-B762-4D6B-9566-AEC7ACDD739A}"/>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Takes two separate 1-D arrays and builds two full 2-D grids so every combination of the two variables exists side by side, ready for one vectorized formula call.</a:t>
            </a:r>
          </a:p>
        </p:txBody>
      </p:sp>
      <p:sp>
        <p:nvSpPr>
          <p:cNvPr id="10" name="example-panel">
            <a:extLst xmlns:a="http://schemas.openxmlformats.org/drawingml/2006/main">
              <a:ext uri="{FF2B5EF4-FFF2-40B4-BE49-F238E27FC236}">
                <a16:creationId xmlns:a16="http://schemas.microsoft.com/office/drawing/2014/main" id="{50B2614E-4DD0-4429-A53B-97631D19F6DA}"/>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FC3127AF-B785-4B4B-8801-77D437DE569C}"/>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0F8A00FE-AD30-4F5C-A387-E9870EBE69D8}"/>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x=[1,2,3], y=[10,20]</a:t>
            </a:r>
          </a:p>
        </p:txBody>
      </p:sp>
      <p:sp>
        <p:nvSpPr>
          <p:cNvPr id="13" name="example-body">
            <a:extLst xmlns:a="http://schemas.openxmlformats.org/drawingml/2006/main">
              <a:ext uri="{FF2B5EF4-FFF2-40B4-BE49-F238E27FC236}">
                <a16:creationId xmlns:a16="http://schemas.microsoft.com/office/drawing/2014/main" id="{1A45CEF1-D090-4898-917F-57583E32E23E}"/>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WW, SS = np.meshgrid(x, y) gives WW=[[1,2,3],[1,2,3]] and SS=[[10,10,10],[20,20,20]]. Row r, column c of WW and SS together name one of all 2x3=6 (x,y) pairs.</a:t>
            </a:r>
          </a:p>
        </p:txBody>
      </p:sp>
      <p:sp>
        <p:nvSpPr>
          <p:cNvPr id="14" name="note-bar">
            <a:extLst xmlns:a="http://schemas.openxmlformats.org/drawingml/2006/main">
              <a:ext uri="{FF2B5EF4-FFF2-40B4-BE49-F238E27FC236}">
                <a16:creationId xmlns:a16="http://schemas.microsoft.com/office/drawing/2014/main" id="{8956C85A-DD41-436C-A361-B49BB47A49B2}"/>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131AC03D-305D-4310-8891-21484E95415B}"/>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748E5A54-D76A-45E4-BEA7-C804F289D416}"/>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meshgrid's first argument becomes the grid's COLUMNS, the second becomes its ROWS — that is why WW and SS both come back shaped (7, 9) for 9 wwr values and 7 shade_m values, not (9, 7).</a:t>
            </a:r>
          </a:p>
        </p:txBody>
      </p:sp>
    </p:spTree>
    <p:extLst>
      <p:ext uri="{BB962C8B-B14F-4D97-AF65-F5344CB8AC3E}">
        <p14:creationId xmlns:p14="http://schemas.microsoft.com/office/powerpoint/2010/main" val="55784413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kicker">
            <a:extLst xmlns:a="http://schemas.openxmlformats.org/drawingml/2006/main">
              <a:ext uri="{FF2B5EF4-FFF2-40B4-BE49-F238E27FC236}">
                <a16:creationId xmlns:a16="http://schemas.microsoft.com/office/drawing/2014/main" id="{7275D98D-6C03-4B4D-996E-37425FA4AEB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ANATOMY</a:t>
            </a:r>
          </a:p>
        </p:txBody>
      </p:sp>
      <p:sp>
        <p:nvSpPr>
          <p:cNvPr id="2" name="title">
            <a:extLst xmlns:a="http://schemas.openxmlformats.org/drawingml/2006/main">
              <a:ext uri="{FF2B5EF4-FFF2-40B4-BE49-F238E27FC236}">
                <a16:creationId xmlns:a16="http://schemas.microsoft.com/office/drawing/2014/main" id="{FF1F9514-35EC-498D-A6B7-6AA3B3DED55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One meshgrid call, exploded</a:t>
            </a:r>
          </a:p>
        </p:txBody>
      </p:sp>
      <p:sp>
        <p:nvSpPr>
          <p:cNvPr id="3" name="">
            <a:extLst xmlns:a="http://schemas.openxmlformats.org/drawingml/2006/main">
              <a:ext uri="{FF2B5EF4-FFF2-40B4-BE49-F238E27FC236}">
                <a16:creationId xmlns:a16="http://schemas.microsoft.com/office/drawing/2014/main" id="{B1AF655F-055C-4296-8041-5C7A3C4F8D0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2DC4889-259F-40B6-BFEF-1187FBEA160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77C71E8B-99D6-43D4-8EF7-B14387170996}"/>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26</a:t>
            </a:r>
          </a:p>
        </p:txBody>
      </p:sp>
      <p:sp>
        <p:nvSpPr>
          <p:cNvPr id="6" name="anatomy-code-panel">
            <a:extLst xmlns:a="http://schemas.openxmlformats.org/drawingml/2006/main">
              <a:ext uri="{FF2B5EF4-FFF2-40B4-BE49-F238E27FC236}">
                <a16:creationId xmlns:a16="http://schemas.microsoft.com/office/drawing/2014/main" id="{C4AA6E24-B5F4-4692-9D5C-57F602451F2F}"/>
              </a:ext>
            </a:extLst>
          </p:cNvPr>
          <p:cNvSpPr>
            <a:spLocks xmlns:a="http://schemas.openxmlformats.org/drawingml/2006/main" noGrp="1"/>
          </p:cNvSpPr>
          <p:nvPr/>
        </p:nvSpPr>
        <p:spPr>
          <a:xfrm xmlns:a="http://schemas.openxmlformats.org/drawingml/2006/main">
            <a:off x="609600" y="1733550"/>
            <a:ext cx="10972800" cy="876300"/>
          </a:xfrm>
          <a:prstGeom xmlns:a="http://schemas.openxmlformats.org/drawingml/2006/main" prst="roundRect">
            <a:avLst>
              <a:gd name="adj" fmla="val 8696"/>
            </a:avLst>
          </a:prstGeom>
          <a:solidFill xmlns:a="http://schemas.openxmlformats.org/drawingml/2006/main">
            <a:srgbClr val="17191C"/>
          </a:solidFill>
          <a:ln xmlns:a="http://schemas.openxmlformats.org/drawingml/2006/main" w="9525">
            <a:solidFill>
              <a:srgbClr val="17191C"/>
            </a:solidFill>
            <a:prstDash val="solid"/>
          </a:ln>
        </p:spPr>
      </p:sp>
      <p:sp>
        <p:nvSpPr>
          <p:cNvPr id="7" name="anatomy-code">
            <a:extLst xmlns:a="http://schemas.openxmlformats.org/drawingml/2006/main">
              <a:ext uri="{FF2B5EF4-FFF2-40B4-BE49-F238E27FC236}">
                <a16:creationId xmlns:a16="http://schemas.microsoft.com/office/drawing/2014/main" id="{F3428813-9381-4393-B1BB-BD662857F0AD}"/>
              </a:ext>
            </a:extLst>
          </p:cNvPr>
          <p:cNvSpPr>
            <a:spLocks xmlns:a="http://schemas.openxmlformats.org/drawingml/2006/main" noGrp="1"/>
          </p:cNvSpPr>
          <p:nvPr/>
        </p:nvSpPr>
        <p:spPr>
          <a:xfrm xmlns:a="http://schemas.openxmlformats.org/drawingml/2006/main">
            <a:off x="1695450" y="2057400"/>
            <a:ext cx="918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a:solidFill>
                  <a:srgbClr val="FFFFFF"/>
                </a:solidFill>
                <a:latin typeface="Consolas"/>
                <a:ea typeface="Consolas"/>
                <a:cs typeface="Consolas"/>
              </a:defRPr>
            </a:pPr>
            <a:r>
              <a:rPr sz="3000" b="0">
                <a:solidFill>
                  <a:srgbClr val="FFFFFF"/>
                </a:solidFill>
                <a:latin typeface="Consolas"/>
                <a:ea typeface="Consolas"/>
                <a:cs typeface="Consolas"/>
              </a:rPr>
              <a:t>WW, SS = np.meshgrid(wwr_grid, shade_grid)</a:t>
            </a:r>
          </a:p>
        </p:txBody>
      </p:sp>
      <p:sp>
        <p:nvSpPr>
          <p:cNvPr id="8" name="">
            <a:extLst xmlns:a="http://schemas.openxmlformats.org/drawingml/2006/main">
              <a:ext uri="{FF2B5EF4-FFF2-40B4-BE49-F238E27FC236}">
                <a16:creationId xmlns:a16="http://schemas.microsoft.com/office/drawing/2014/main" id="{974160BA-D239-4F69-B387-8DB196F43E5C}"/>
              </a:ext>
            </a:extLst>
          </p:cNvPr>
          <p:cNvSpPr>
            <a:spLocks xmlns:a="http://schemas.openxmlformats.org/drawingml/2006/main" noGrp="1"/>
          </p:cNvSpPr>
          <p:nvPr/>
        </p:nvSpPr>
        <p:spPr>
          <a:xfrm xmlns:a="http://schemas.openxmlformats.org/drawingml/2006/main">
            <a:off x="1695450" y="2647950"/>
            <a:ext cx="12573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9" name="part-chip-0">
            <a:extLst xmlns:a="http://schemas.openxmlformats.org/drawingml/2006/main">
              <a:ext uri="{FF2B5EF4-FFF2-40B4-BE49-F238E27FC236}">
                <a16:creationId xmlns:a16="http://schemas.microsoft.com/office/drawing/2014/main" id="{3D9AD763-182C-4BC4-9E04-B21D51508019}"/>
              </a:ext>
            </a:extLst>
          </p:cNvPr>
          <p:cNvSpPr>
            <a:spLocks xmlns:a="http://schemas.openxmlformats.org/drawingml/2006/main" noGrp="1"/>
          </p:cNvSpPr>
          <p:nvPr/>
        </p:nvSpPr>
        <p:spPr>
          <a:xfrm xmlns:a="http://schemas.openxmlformats.org/drawingml/2006/main">
            <a:off x="220027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0" name="part-chipno-0">
            <a:extLst xmlns:a="http://schemas.openxmlformats.org/drawingml/2006/main">
              <a:ext uri="{FF2B5EF4-FFF2-40B4-BE49-F238E27FC236}">
                <a16:creationId xmlns:a16="http://schemas.microsoft.com/office/drawing/2014/main" id="{4F500F92-29D9-451F-948E-C400F709E629}"/>
              </a:ext>
            </a:extLst>
          </p:cNvPr>
          <p:cNvSpPr>
            <a:spLocks xmlns:a="http://schemas.openxmlformats.org/drawingml/2006/main" noGrp="1"/>
          </p:cNvSpPr>
          <p:nvPr/>
        </p:nvSpPr>
        <p:spPr>
          <a:xfrm xmlns:a="http://schemas.openxmlformats.org/drawingml/2006/main">
            <a:off x="220027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1" name="part-lchip-0">
            <a:extLst xmlns:a="http://schemas.openxmlformats.org/drawingml/2006/main">
              <a:ext uri="{FF2B5EF4-FFF2-40B4-BE49-F238E27FC236}">
                <a16:creationId xmlns:a16="http://schemas.microsoft.com/office/drawing/2014/main" id="{C5C396C9-7577-4D79-BA71-914AC8BCBA0E}"/>
              </a:ext>
            </a:extLst>
          </p:cNvPr>
          <p:cNvSpPr>
            <a:spLocks xmlns:a="http://schemas.openxmlformats.org/drawingml/2006/main" noGrp="1"/>
          </p:cNvSpPr>
          <p:nvPr/>
        </p:nvSpPr>
        <p:spPr>
          <a:xfrm xmlns:a="http://schemas.openxmlformats.org/drawingml/2006/main">
            <a:off x="108585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2" name="part-lchipno-0">
            <a:extLst xmlns:a="http://schemas.openxmlformats.org/drawingml/2006/main">
              <a:ext uri="{FF2B5EF4-FFF2-40B4-BE49-F238E27FC236}">
                <a16:creationId xmlns:a16="http://schemas.microsoft.com/office/drawing/2014/main" id="{A3432412-A1AE-4F79-8951-B1AA8FC51468}"/>
              </a:ext>
            </a:extLst>
          </p:cNvPr>
          <p:cNvSpPr>
            <a:spLocks xmlns:a="http://schemas.openxmlformats.org/drawingml/2006/main" noGrp="1"/>
          </p:cNvSpPr>
          <p:nvPr/>
        </p:nvSpPr>
        <p:spPr>
          <a:xfrm xmlns:a="http://schemas.openxmlformats.org/drawingml/2006/main">
            <a:off x="108585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3" name="part-head-0">
            <a:extLst xmlns:a="http://schemas.openxmlformats.org/drawingml/2006/main">
              <a:ext uri="{FF2B5EF4-FFF2-40B4-BE49-F238E27FC236}">
                <a16:creationId xmlns:a16="http://schemas.microsoft.com/office/drawing/2014/main" id="{21D9D036-0EF6-4A07-B72D-D1C6E5E881E2}"/>
              </a:ext>
            </a:extLst>
          </p:cNvPr>
          <p:cNvSpPr>
            <a:spLocks xmlns:a="http://schemas.openxmlformats.org/drawingml/2006/main" noGrp="1"/>
          </p:cNvSpPr>
          <p:nvPr/>
        </p:nvSpPr>
        <p:spPr>
          <a:xfrm xmlns:a="http://schemas.openxmlformats.org/drawingml/2006/main">
            <a:off x="1390650" y="3009900"/>
            <a:ext cx="217170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Two grids come back</a:t>
            </a:r>
          </a:p>
        </p:txBody>
      </p:sp>
      <p:sp>
        <p:nvSpPr>
          <p:cNvPr id="14" name="part-body-0">
            <a:extLst xmlns:a="http://schemas.openxmlformats.org/drawingml/2006/main">
              <a:ext uri="{FF2B5EF4-FFF2-40B4-BE49-F238E27FC236}">
                <a16:creationId xmlns:a16="http://schemas.microsoft.com/office/drawing/2014/main" id="{F1B24A69-F0EF-4C62-8543-F04FBFE393FA}"/>
              </a:ext>
            </a:extLst>
          </p:cNvPr>
          <p:cNvSpPr>
            <a:spLocks xmlns:a="http://schemas.openxmlformats.org/drawingml/2006/main" noGrp="1"/>
          </p:cNvSpPr>
          <p:nvPr/>
        </p:nvSpPr>
        <p:spPr>
          <a:xfrm xmlns:a="http://schemas.openxmlformats.org/drawingml/2006/main">
            <a:off x="1085850" y="3637026"/>
            <a:ext cx="247650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One grid per swept variable, each already shaped to line up with the other.</a:t>
            </a:r>
          </a:p>
        </p:txBody>
      </p:sp>
      <p:sp>
        <p:nvSpPr>
          <p:cNvPr id="15" name="">
            <a:extLst xmlns:a="http://schemas.openxmlformats.org/drawingml/2006/main">
              <a:ext uri="{FF2B5EF4-FFF2-40B4-BE49-F238E27FC236}">
                <a16:creationId xmlns:a16="http://schemas.microsoft.com/office/drawing/2014/main" id="{4F0CA76D-EF0F-424B-8AEC-B9D2AFF0AF67}"/>
              </a:ext>
            </a:extLst>
          </p:cNvPr>
          <p:cNvSpPr>
            <a:spLocks xmlns:a="http://schemas.openxmlformats.org/drawingml/2006/main" noGrp="1"/>
          </p:cNvSpPr>
          <p:nvPr/>
        </p:nvSpPr>
        <p:spPr>
          <a:xfrm xmlns:a="http://schemas.openxmlformats.org/drawingml/2006/main">
            <a:off x="3581400" y="2647950"/>
            <a:ext cx="23050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6" name="part-chip-1">
            <a:extLst xmlns:a="http://schemas.openxmlformats.org/drawingml/2006/main">
              <a:ext uri="{FF2B5EF4-FFF2-40B4-BE49-F238E27FC236}">
                <a16:creationId xmlns:a16="http://schemas.microsoft.com/office/drawing/2014/main" id="{4D14BAFA-6C2D-48F9-A81A-EF5A64EAB162}"/>
              </a:ext>
            </a:extLst>
          </p:cNvPr>
          <p:cNvSpPr>
            <a:spLocks xmlns:a="http://schemas.openxmlformats.org/drawingml/2006/main" noGrp="1"/>
          </p:cNvSpPr>
          <p:nvPr/>
        </p:nvSpPr>
        <p:spPr>
          <a:xfrm xmlns:a="http://schemas.openxmlformats.org/drawingml/2006/main">
            <a:off x="461010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7" name="part-chipno-1">
            <a:extLst xmlns:a="http://schemas.openxmlformats.org/drawingml/2006/main">
              <a:ext uri="{FF2B5EF4-FFF2-40B4-BE49-F238E27FC236}">
                <a16:creationId xmlns:a16="http://schemas.microsoft.com/office/drawing/2014/main" id="{A7463D6B-B1A0-4C8F-8D0A-7EC2568A7BE2}"/>
              </a:ext>
            </a:extLst>
          </p:cNvPr>
          <p:cNvSpPr>
            <a:spLocks xmlns:a="http://schemas.openxmlformats.org/drawingml/2006/main" noGrp="1"/>
          </p:cNvSpPr>
          <p:nvPr/>
        </p:nvSpPr>
        <p:spPr>
          <a:xfrm xmlns:a="http://schemas.openxmlformats.org/drawingml/2006/main">
            <a:off x="461010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8" name="part-lchip-1">
            <a:extLst xmlns:a="http://schemas.openxmlformats.org/drawingml/2006/main">
              <a:ext uri="{FF2B5EF4-FFF2-40B4-BE49-F238E27FC236}">
                <a16:creationId xmlns:a16="http://schemas.microsoft.com/office/drawing/2014/main" id="{3FCEC661-532F-4B6A-9752-CFE0518434A0}"/>
              </a:ext>
            </a:extLst>
          </p:cNvPr>
          <p:cNvSpPr>
            <a:spLocks xmlns:a="http://schemas.openxmlformats.org/drawingml/2006/main" noGrp="1"/>
          </p:cNvSpPr>
          <p:nvPr/>
        </p:nvSpPr>
        <p:spPr>
          <a:xfrm xmlns:a="http://schemas.openxmlformats.org/drawingml/2006/main">
            <a:off x="373380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9" name="part-lchipno-1">
            <a:extLst xmlns:a="http://schemas.openxmlformats.org/drawingml/2006/main">
              <a:ext uri="{FF2B5EF4-FFF2-40B4-BE49-F238E27FC236}">
                <a16:creationId xmlns:a16="http://schemas.microsoft.com/office/drawing/2014/main" id="{3C8D3245-DD37-4A9B-A741-71BE948826A5}"/>
              </a:ext>
            </a:extLst>
          </p:cNvPr>
          <p:cNvSpPr>
            <a:spLocks xmlns:a="http://schemas.openxmlformats.org/drawingml/2006/main" noGrp="1"/>
          </p:cNvSpPr>
          <p:nvPr/>
        </p:nvSpPr>
        <p:spPr>
          <a:xfrm xmlns:a="http://schemas.openxmlformats.org/drawingml/2006/main">
            <a:off x="373380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20" name="part-head-1">
            <a:extLst xmlns:a="http://schemas.openxmlformats.org/drawingml/2006/main">
              <a:ext uri="{FF2B5EF4-FFF2-40B4-BE49-F238E27FC236}">
                <a16:creationId xmlns:a16="http://schemas.microsoft.com/office/drawing/2014/main" id="{B7FFAB91-DFF1-46C6-8EB8-B89486C88C86}"/>
              </a:ext>
            </a:extLst>
          </p:cNvPr>
          <p:cNvSpPr>
            <a:spLocks xmlns:a="http://schemas.openxmlformats.org/drawingml/2006/main" noGrp="1"/>
          </p:cNvSpPr>
          <p:nvPr/>
        </p:nvSpPr>
        <p:spPr>
          <a:xfrm xmlns:a="http://schemas.openxmlformats.org/drawingml/2006/main">
            <a:off x="4038600" y="3009900"/>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Meshgrid call</a:t>
            </a:r>
          </a:p>
        </p:txBody>
      </p:sp>
      <p:sp>
        <p:nvSpPr>
          <p:cNvPr id="21" name="part-body-1">
            <a:extLst xmlns:a="http://schemas.openxmlformats.org/drawingml/2006/main">
              <a:ext uri="{FF2B5EF4-FFF2-40B4-BE49-F238E27FC236}">
                <a16:creationId xmlns:a16="http://schemas.microsoft.com/office/drawing/2014/main" id="{EA83276A-8EEE-46D2-9496-58362838A206}"/>
              </a:ext>
            </a:extLst>
          </p:cNvPr>
          <p:cNvSpPr>
            <a:spLocks xmlns:a="http://schemas.openxmlformats.org/drawingml/2006/main" noGrp="1"/>
          </p:cNvSpPr>
          <p:nvPr/>
        </p:nvSpPr>
        <p:spPr>
          <a:xfrm xmlns:a="http://schemas.openxmlformats.org/drawingml/2006/main">
            <a:off x="3733800" y="3390138"/>
            <a:ext cx="200025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Builds every (wwr, shade_m) combination from two separate 1-D arrays.</a:t>
            </a:r>
          </a:p>
        </p:txBody>
      </p:sp>
      <p:sp>
        <p:nvSpPr>
          <p:cNvPr id="22" name="">
            <a:extLst xmlns:a="http://schemas.openxmlformats.org/drawingml/2006/main">
              <a:ext uri="{FF2B5EF4-FFF2-40B4-BE49-F238E27FC236}">
                <a16:creationId xmlns:a16="http://schemas.microsoft.com/office/drawing/2014/main" id="{7C559458-17AB-4898-B515-6CA0841C8CEF}"/>
              </a:ext>
            </a:extLst>
          </p:cNvPr>
          <p:cNvSpPr>
            <a:spLocks xmlns:a="http://schemas.openxmlformats.org/drawingml/2006/main" noGrp="1"/>
          </p:cNvSpPr>
          <p:nvPr/>
        </p:nvSpPr>
        <p:spPr>
          <a:xfrm xmlns:a="http://schemas.openxmlformats.org/drawingml/2006/main">
            <a:off x="6096000" y="2647950"/>
            <a:ext cx="16764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23" name="part-chip-2">
            <a:extLst xmlns:a="http://schemas.openxmlformats.org/drawingml/2006/main">
              <a:ext uri="{FF2B5EF4-FFF2-40B4-BE49-F238E27FC236}">
                <a16:creationId xmlns:a16="http://schemas.microsoft.com/office/drawing/2014/main" id="{B4F86253-9087-48FD-93D7-B522CC7C92A3}"/>
              </a:ext>
            </a:extLst>
          </p:cNvPr>
          <p:cNvSpPr>
            <a:spLocks xmlns:a="http://schemas.openxmlformats.org/drawingml/2006/main" noGrp="1"/>
          </p:cNvSpPr>
          <p:nvPr/>
        </p:nvSpPr>
        <p:spPr>
          <a:xfrm xmlns:a="http://schemas.openxmlformats.org/drawingml/2006/main">
            <a:off x="681037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4" name="part-chipno-2">
            <a:extLst xmlns:a="http://schemas.openxmlformats.org/drawingml/2006/main">
              <a:ext uri="{FF2B5EF4-FFF2-40B4-BE49-F238E27FC236}">
                <a16:creationId xmlns:a16="http://schemas.microsoft.com/office/drawing/2014/main" id="{45DD1E49-C9D6-4F6F-89A8-74A9117AF2B5}"/>
              </a:ext>
            </a:extLst>
          </p:cNvPr>
          <p:cNvSpPr>
            <a:spLocks xmlns:a="http://schemas.openxmlformats.org/drawingml/2006/main" noGrp="1"/>
          </p:cNvSpPr>
          <p:nvPr/>
        </p:nvSpPr>
        <p:spPr>
          <a:xfrm xmlns:a="http://schemas.openxmlformats.org/drawingml/2006/main">
            <a:off x="681037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5" name="part-lchip-2">
            <a:extLst xmlns:a="http://schemas.openxmlformats.org/drawingml/2006/main">
              <a:ext uri="{FF2B5EF4-FFF2-40B4-BE49-F238E27FC236}">
                <a16:creationId xmlns:a16="http://schemas.microsoft.com/office/drawing/2014/main" id="{D0ABD298-6781-445A-8081-680068F52E62}"/>
              </a:ext>
            </a:extLst>
          </p:cNvPr>
          <p:cNvSpPr>
            <a:spLocks xmlns:a="http://schemas.openxmlformats.org/drawingml/2006/main" noGrp="1"/>
          </p:cNvSpPr>
          <p:nvPr/>
        </p:nvSpPr>
        <p:spPr>
          <a:xfrm xmlns:a="http://schemas.openxmlformats.org/drawingml/2006/main">
            <a:off x="5695950" y="4319778"/>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6" name="part-lchipno-2">
            <a:extLst xmlns:a="http://schemas.openxmlformats.org/drawingml/2006/main">
              <a:ext uri="{FF2B5EF4-FFF2-40B4-BE49-F238E27FC236}">
                <a16:creationId xmlns:a16="http://schemas.microsoft.com/office/drawing/2014/main" id="{746A1ECC-389E-4B4C-BA9B-EEFECDD3F79B}"/>
              </a:ext>
            </a:extLst>
          </p:cNvPr>
          <p:cNvSpPr>
            <a:spLocks xmlns:a="http://schemas.openxmlformats.org/drawingml/2006/main" noGrp="1"/>
          </p:cNvSpPr>
          <p:nvPr/>
        </p:nvSpPr>
        <p:spPr>
          <a:xfrm xmlns:a="http://schemas.openxmlformats.org/drawingml/2006/main">
            <a:off x="5695950" y="4357878"/>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7" name="part-head-2">
            <a:extLst xmlns:a="http://schemas.openxmlformats.org/drawingml/2006/main">
              <a:ext uri="{FF2B5EF4-FFF2-40B4-BE49-F238E27FC236}">
                <a16:creationId xmlns:a16="http://schemas.microsoft.com/office/drawing/2014/main" id="{E7034B00-F019-4349-91E1-008F68C46EE9}"/>
              </a:ext>
            </a:extLst>
          </p:cNvPr>
          <p:cNvSpPr>
            <a:spLocks xmlns:a="http://schemas.openxmlformats.org/drawingml/2006/main" noGrp="1"/>
          </p:cNvSpPr>
          <p:nvPr/>
        </p:nvSpPr>
        <p:spPr>
          <a:xfrm xmlns:a="http://schemas.openxmlformats.org/drawingml/2006/main">
            <a:off x="6000750" y="4300728"/>
            <a:ext cx="217170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First 1-D array (9 values)</a:t>
            </a:r>
          </a:p>
        </p:txBody>
      </p:sp>
      <p:sp>
        <p:nvSpPr>
          <p:cNvPr id="28" name="part-body-2">
            <a:extLst xmlns:a="http://schemas.openxmlformats.org/drawingml/2006/main">
              <a:ext uri="{FF2B5EF4-FFF2-40B4-BE49-F238E27FC236}">
                <a16:creationId xmlns:a16="http://schemas.microsoft.com/office/drawing/2014/main" id="{438EE271-3729-49F1-9479-98743FBF8EB6}"/>
              </a:ext>
            </a:extLst>
          </p:cNvPr>
          <p:cNvSpPr>
            <a:spLocks xmlns:a="http://schemas.openxmlformats.org/drawingml/2006/main" noGrp="1"/>
          </p:cNvSpPr>
          <p:nvPr/>
        </p:nvSpPr>
        <p:spPr>
          <a:xfrm xmlns:a="http://schemas.openxmlformats.org/drawingml/2006/main">
            <a:off x="5695950" y="4927854"/>
            <a:ext cx="2476500" cy="2339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Becomes each grid's COLUMNS.</a:t>
            </a:r>
          </a:p>
        </p:txBody>
      </p:sp>
      <p:sp>
        <p:nvSpPr>
          <p:cNvPr id="29" name="">
            <a:extLst xmlns:a="http://schemas.openxmlformats.org/drawingml/2006/main">
              <a:ext uri="{FF2B5EF4-FFF2-40B4-BE49-F238E27FC236}">
                <a16:creationId xmlns:a16="http://schemas.microsoft.com/office/drawing/2014/main" id="{DEE2D0EC-E02D-4B8F-A332-D321E6FB837E}"/>
              </a:ext>
            </a:extLst>
          </p:cNvPr>
          <p:cNvSpPr>
            <a:spLocks xmlns:a="http://schemas.openxmlformats.org/drawingml/2006/main" noGrp="1"/>
          </p:cNvSpPr>
          <p:nvPr/>
        </p:nvSpPr>
        <p:spPr>
          <a:xfrm xmlns:a="http://schemas.openxmlformats.org/drawingml/2006/main">
            <a:off x="8191500" y="2647950"/>
            <a:ext cx="20955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30" name="part-chip-3">
            <a:extLst xmlns:a="http://schemas.openxmlformats.org/drawingml/2006/main">
              <a:ext uri="{FF2B5EF4-FFF2-40B4-BE49-F238E27FC236}">
                <a16:creationId xmlns:a16="http://schemas.microsoft.com/office/drawing/2014/main" id="{F18469EE-3B7B-463D-8EB5-1DA44B5B5514}"/>
              </a:ext>
            </a:extLst>
          </p:cNvPr>
          <p:cNvSpPr>
            <a:spLocks xmlns:a="http://schemas.openxmlformats.org/drawingml/2006/main" noGrp="1"/>
          </p:cNvSpPr>
          <p:nvPr/>
        </p:nvSpPr>
        <p:spPr>
          <a:xfrm xmlns:a="http://schemas.openxmlformats.org/drawingml/2006/main">
            <a:off x="911542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1" name="part-chipno-3">
            <a:extLst xmlns:a="http://schemas.openxmlformats.org/drawingml/2006/main">
              <a:ext uri="{FF2B5EF4-FFF2-40B4-BE49-F238E27FC236}">
                <a16:creationId xmlns:a16="http://schemas.microsoft.com/office/drawing/2014/main" id="{D6BE2BAB-5BD8-42A0-A158-6DEF7DB42CE9}"/>
              </a:ext>
            </a:extLst>
          </p:cNvPr>
          <p:cNvSpPr>
            <a:spLocks xmlns:a="http://schemas.openxmlformats.org/drawingml/2006/main" noGrp="1"/>
          </p:cNvSpPr>
          <p:nvPr/>
        </p:nvSpPr>
        <p:spPr>
          <a:xfrm xmlns:a="http://schemas.openxmlformats.org/drawingml/2006/main">
            <a:off x="911542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2" name="part-lchip-3">
            <a:extLst xmlns:a="http://schemas.openxmlformats.org/drawingml/2006/main">
              <a:ext uri="{FF2B5EF4-FFF2-40B4-BE49-F238E27FC236}">
                <a16:creationId xmlns:a16="http://schemas.microsoft.com/office/drawing/2014/main" id="{74E5426F-AAC1-49A0-824B-93B7BF8BB4E9}"/>
              </a:ext>
            </a:extLst>
          </p:cNvPr>
          <p:cNvSpPr>
            <a:spLocks xmlns:a="http://schemas.openxmlformats.org/drawingml/2006/main" noGrp="1"/>
          </p:cNvSpPr>
          <p:nvPr/>
        </p:nvSpPr>
        <p:spPr>
          <a:xfrm xmlns:a="http://schemas.openxmlformats.org/drawingml/2006/main">
            <a:off x="800100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3" name="part-lchipno-3">
            <a:extLst xmlns:a="http://schemas.openxmlformats.org/drawingml/2006/main">
              <a:ext uri="{FF2B5EF4-FFF2-40B4-BE49-F238E27FC236}">
                <a16:creationId xmlns:a16="http://schemas.microsoft.com/office/drawing/2014/main" id="{79DB622E-1E0B-42C1-8CDC-C298A835B9A1}"/>
              </a:ext>
            </a:extLst>
          </p:cNvPr>
          <p:cNvSpPr>
            <a:spLocks xmlns:a="http://schemas.openxmlformats.org/drawingml/2006/main" noGrp="1"/>
          </p:cNvSpPr>
          <p:nvPr/>
        </p:nvSpPr>
        <p:spPr>
          <a:xfrm xmlns:a="http://schemas.openxmlformats.org/drawingml/2006/main">
            <a:off x="800100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4" name="part-head-3">
            <a:extLst xmlns:a="http://schemas.openxmlformats.org/drawingml/2006/main">
              <a:ext uri="{FF2B5EF4-FFF2-40B4-BE49-F238E27FC236}">
                <a16:creationId xmlns:a16="http://schemas.microsoft.com/office/drawing/2014/main" id="{742A36B6-82CB-475A-96E0-5A3527ADA6FC}"/>
              </a:ext>
            </a:extLst>
          </p:cNvPr>
          <p:cNvSpPr>
            <a:spLocks xmlns:a="http://schemas.openxmlformats.org/drawingml/2006/main" noGrp="1"/>
          </p:cNvSpPr>
          <p:nvPr/>
        </p:nvSpPr>
        <p:spPr>
          <a:xfrm xmlns:a="http://schemas.openxmlformats.org/drawingml/2006/main">
            <a:off x="8305800" y="3009900"/>
            <a:ext cx="217170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Second 1-D array (7 values)</a:t>
            </a:r>
          </a:p>
        </p:txBody>
      </p:sp>
      <p:sp>
        <p:nvSpPr>
          <p:cNvPr id="35" name="part-body-3">
            <a:extLst xmlns:a="http://schemas.openxmlformats.org/drawingml/2006/main">
              <a:ext uri="{FF2B5EF4-FFF2-40B4-BE49-F238E27FC236}">
                <a16:creationId xmlns:a16="http://schemas.microsoft.com/office/drawing/2014/main" id="{2EE53E74-0599-4050-BDDD-5EA6368666B3}"/>
              </a:ext>
            </a:extLst>
          </p:cNvPr>
          <p:cNvSpPr>
            <a:spLocks xmlns:a="http://schemas.openxmlformats.org/drawingml/2006/main" noGrp="1"/>
          </p:cNvSpPr>
          <p:nvPr/>
        </p:nvSpPr>
        <p:spPr>
          <a:xfrm xmlns:a="http://schemas.openxmlformats.org/drawingml/2006/main">
            <a:off x="8001000" y="3637026"/>
            <a:ext cx="247650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Becomes each grid's ROWS — confirmed by the (7, 9) shape on the next slide.</a:t>
            </a:r>
          </a:p>
        </p:txBody>
      </p:sp>
    </p:spTree>
    <p:extLst>
      <p:ext uri="{BB962C8B-B14F-4D97-AF65-F5344CB8AC3E}">
        <p14:creationId xmlns:p14="http://schemas.microsoft.com/office/powerpoint/2010/main" val="58259986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D6602CEF-2EF6-448B-BA19-4C4AC61538B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195FD7E0-AFA4-4EF0-B35D-E7BF7BEC2FF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Sweep both variables together — every combination, one call</a:t>
            </a:r>
          </a:p>
        </p:txBody>
      </p:sp>
      <p:sp>
        <p:nvSpPr>
          <p:cNvPr id="3" name="">
            <a:extLst xmlns:a="http://schemas.openxmlformats.org/drawingml/2006/main">
              <a:ext uri="{FF2B5EF4-FFF2-40B4-BE49-F238E27FC236}">
                <a16:creationId xmlns:a16="http://schemas.microsoft.com/office/drawing/2014/main" id="{45A3D551-4849-4922-A900-FA2D8779010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8C654C4-74E5-425A-9308-0B8303239EC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02C36306-5437-4841-A3D2-6DD12AEC165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27</a:t>
            </a:r>
          </a:p>
        </p:txBody>
      </p:sp>
      <p:sp>
        <p:nvSpPr>
          <p:cNvPr id="6" name="code-panel">
            <a:extLst xmlns:a="http://schemas.openxmlformats.org/drawingml/2006/main">
              <a:ext uri="{FF2B5EF4-FFF2-40B4-BE49-F238E27FC236}">
                <a16:creationId xmlns:a16="http://schemas.microsoft.com/office/drawing/2014/main" id="{EB11D2B1-4943-47DB-AC6B-97314DECDD62}"/>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0402A9A3-2754-4B7E-8C4E-C2AB6E4F19E6}"/>
              </a:ext>
            </a:extLst>
          </p:cNvPr>
          <p:cNvSpPr>
            <a:spLocks xmlns:a="http://schemas.openxmlformats.org/drawingml/2006/main" noGrp="1"/>
          </p:cNvSpPr>
          <p:nvPr/>
        </p:nvSpPr>
        <p:spPr>
          <a:xfrm xmlns:a="http://schemas.openxmlformats.org/drawingml/2006/main">
            <a:off x="857250" y="2057400"/>
            <a:ext cx="6400800" cy="27934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wwr_grid = np.linspace(0.20, 0.60, 9)</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shade_grid = np.linspace(0.0, 1.2, 7)</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WW, SS = np.meshgrid(wwr_grid, shade_grid)</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print('WW shape:', WW.shape)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Z = energy_proxy((WW, SS))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print('Z shape:', Z.shape)</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best = np.unravel_index(np.argmin(Z), Z.shape)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print('coarse best so far:', WW[best], SS[best], round(Z[best], 3))</a:t>
            </a:r>
          </a:p>
        </p:txBody>
      </p:sp>
      <p:sp>
        <p:nvSpPr>
          <p:cNvPr id="8" name="">
            <a:extLst xmlns:a="http://schemas.openxmlformats.org/drawingml/2006/main">
              <a:ext uri="{FF2B5EF4-FFF2-40B4-BE49-F238E27FC236}">
                <a16:creationId xmlns:a16="http://schemas.microsoft.com/office/drawing/2014/main" id="{99DDFD2D-61AB-4ACC-8471-69F55DC96810}"/>
              </a:ext>
            </a:extLst>
          </p:cNvPr>
          <p:cNvSpPr>
            <a:spLocks xmlns:a="http://schemas.openxmlformats.org/drawingml/2006/main" noGrp="1"/>
          </p:cNvSpPr>
          <p:nvPr/>
        </p:nvSpPr>
        <p:spPr>
          <a:xfrm xmlns:a="http://schemas.openxmlformats.org/drawingml/2006/main">
            <a:off x="857250" y="4908042"/>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8611E3DC-CA2E-4543-A381-D6FEA3CC7AEA}"/>
              </a:ext>
            </a:extLst>
          </p:cNvPr>
          <p:cNvSpPr>
            <a:spLocks xmlns:a="http://schemas.openxmlformats.org/drawingml/2006/main" noGrp="1"/>
          </p:cNvSpPr>
          <p:nvPr/>
        </p:nvSpPr>
        <p:spPr>
          <a:xfrm xmlns:a="http://schemas.openxmlformats.org/drawingml/2006/main">
            <a:off x="857250" y="5022342"/>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078084BA-3D93-4CF2-8304-AA2AB79E8080}"/>
              </a:ext>
            </a:extLst>
          </p:cNvPr>
          <p:cNvSpPr>
            <a:spLocks xmlns:a="http://schemas.openxmlformats.org/drawingml/2006/main" noGrp="1"/>
          </p:cNvSpPr>
          <p:nvPr/>
        </p:nvSpPr>
        <p:spPr>
          <a:xfrm xmlns:a="http://schemas.openxmlformats.org/drawingml/2006/main">
            <a:off x="857250" y="5250942"/>
            <a:ext cx="6400800" cy="578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WW shape: (7, 9)</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Z shape: (7, 9)</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coarse best so far: 0.3 0.7999999999999999 -3.924</a:t>
            </a:r>
          </a:p>
        </p:txBody>
      </p:sp>
      <p:sp>
        <p:nvSpPr>
          <p:cNvPr id="11" name="explain-head">
            <a:extLst xmlns:a="http://schemas.openxmlformats.org/drawingml/2006/main">
              <a:ext uri="{FF2B5EF4-FFF2-40B4-BE49-F238E27FC236}">
                <a16:creationId xmlns:a16="http://schemas.microsoft.com/office/drawing/2014/main" id="{56ADE7EB-8989-48E3-A51A-C312142556EA}"/>
              </a:ext>
            </a:extLst>
          </p:cNvPr>
          <p:cNvSpPr>
            <a:spLocks xmlns:a="http://schemas.openxmlformats.org/drawingml/2006/main" noGrp="1"/>
          </p:cNvSpPr>
          <p:nvPr/>
        </p:nvSpPr>
        <p:spPr>
          <a:xfrm xmlns:a="http://schemas.openxmlformats.org/drawingml/2006/main">
            <a:off x="7886700" y="204787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63 combinations, one vectorized call</a:t>
            </a:r>
          </a:p>
        </p:txBody>
      </p:sp>
      <p:sp>
        <p:nvSpPr>
          <p:cNvPr id="12" name="explain-body">
            <a:extLst xmlns:a="http://schemas.openxmlformats.org/drawingml/2006/main">
              <a:ext uri="{FF2B5EF4-FFF2-40B4-BE49-F238E27FC236}">
                <a16:creationId xmlns:a16="http://schemas.microsoft.com/office/drawing/2014/main" id="{C380555A-FD52-4FD0-8526-6525C31454B7}"/>
              </a:ext>
            </a:extLst>
          </p:cNvPr>
          <p:cNvSpPr>
            <a:spLocks xmlns:a="http://schemas.openxmlformats.org/drawingml/2006/main" noGrp="1"/>
          </p:cNvSpPr>
          <p:nvPr/>
        </p:nvSpPr>
        <p:spPr>
          <a:xfrm xmlns:a="http://schemas.openxmlformats.org/drawingml/2006/main">
            <a:off x="7886700" y="2833497"/>
            <a:ext cx="3695700" cy="29489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WW and SS both have shape (7, 9) — 63 (wwr, shade_m) pairs, every one of the 9 wwr values crossed with every one of the 7 shade_m values. energy_proxy((WW, SS)) evaluates every pair at once, no loop. np.argmin(Z) finds WHERE Z's smallest value sits, flattened into one long list; np.unravel_index turns that flat position back into a (row, column) pair, so WW[best]/SS[best] read the actual wwr/shade_m. This coarse grid already points to the right NEIGHBORHOOD — low wwr, high shade_m.</a:t>
            </a:r>
          </a:p>
        </p:txBody>
      </p:sp>
    </p:spTree>
    <p:extLst>
      <p:ext uri="{BB962C8B-B14F-4D97-AF65-F5344CB8AC3E}">
        <p14:creationId xmlns:p14="http://schemas.microsoft.com/office/powerpoint/2010/main" val="13338983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33210AA5-B2C3-408F-8859-5B316BB275B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SENSITIVITY RESULT</a:t>
            </a:r>
          </a:p>
        </p:txBody>
      </p:sp>
      <p:sp>
        <p:nvSpPr>
          <p:cNvPr id="2" name="title">
            <a:extLst xmlns:a="http://schemas.openxmlformats.org/drawingml/2006/main">
              <a:ext uri="{FF2B5EF4-FFF2-40B4-BE49-F238E27FC236}">
                <a16:creationId xmlns:a16="http://schemas.microsoft.com/office/drawing/2014/main" id="{D81A3545-7AD7-4B9E-848B-C9748BBC214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Read the surface: both basins, one clearly better</a:t>
            </a:r>
          </a:p>
        </p:txBody>
      </p:sp>
      <p:sp>
        <p:nvSpPr>
          <p:cNvPr id="3" name="">
            <a:extLst xmlns:a="http://schemas.openxmlformats.org/drawingml/2006/main">
              <a:ext uri="{FF2B5EF4-FFF2-40B4-BE49-F238E27FC236}">
                <a16:creationId xmlns:a16="http://schemas.microsoft.com/office/drawing/2014/main" id="{F8F7ED4F-B1D9-4274-A3B5-752E18FA1A8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0A1C03C-D383-4981-9834-9F1DCE78100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C3006AE6-5123-4E70-805B-922698F26FF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28</a:t>
            </a:r>
          </a:p>
        </p:txBody>
      </p:sp>
      <p:graphicFrame>
        <p:nvGraphicFramePr>
          <p:cNvPr id="14" name="Chart"/>
          <p:cNvGraphicFramePr/>
          <p:nvPr/>
        </p:nvGraphicFramePr>
        <p:xfrm>
          <a:off xmlns:a="http://schemas.openxmlformats.org/drawingml/2006/main" x="609600" y="1809750"/>
          <a:ext xmlns:a="http://schemas.openxmlformats.org/drawingml/2006/main" cx="7010400" cy="4248150"/>
        </p:xfrm>
        <a:graphic xmlns:a="http://schemas.openxmlformats.org/drawingml/2006/main">
          <a:graphicData uri="http://schemas.openxmlformats.org/drawingml/2006/chart">
            <c:chart xmlns:r="http://schemas.openxmlformats.org/officeDocument/2006/relationships" xmlns:c="http://schemas.openxmlformats.org/drawingml/2006/chart" r:id="R18f4ed152e984b20"/>
          </a:graphicData>
        </a:graphic>
      </p:graphicFrame>
      <p:sp>
        <p:nvSpPr>
          <p:cNvPr id="7" name="chart-explain-head">
            <a:extLst xmlns:a="http://schemas.openxmlformats.org/drawingml/2006/main">
              <a:ext uri="{FF2B5EF4-FFF2-40B4-BE49-F238E27FC236}">
                <a16:creationId xmlns:a16="http://schemas.microsoft.com/office/drawing/2014/main" id="{5F3BE29D-7E84-41DB-8484-D00769D8828E}"/>
              </a:ext>
            </a:extLst>
          </p:cNvPr>
          <p:cNvSpPr>
            <a:spLocks xmlns:a="http://schemas.openxmlformats.org/drawingml/2006/main" noGrp="1"/>
          </p:cNvSpPr>
          <p:nvPr/>
        </p:nvSpPr>
        <p:spPr>
          <a:xfrm xmlns:a="http://schemas.openxmlformats.org/drawingml/2006/main">
            <a:off x="8001000" y="2133600"/>
            <a:ext cx="35814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Two separate low-score regions</a:t>
            </a:r>
          </a:p>
        </p:txBody>
      </p:sp>
      <p:sp>
        <p:nvSpPr>
          <p:cNvPr id="8" name="chart-explain-body">
            <a:extLst xmlns:a="http://schemas.openxmlformats.org/drawingml/2006/main">
              <a:ext uri="{FF2B5EF4-FFF2-40B4-BE49-F238E27FC236}">
                <a16:creationId xmlns:a16="http://schemas.microsoft.com/office/drawing/2014/main" id="{E310B516-5A6D-40D0-B4C8-71728961A573}"/>
              </a:ext>
            </a:extLst>
          </p:cNvPr>
          <p:cNvSpPr>
            <a:spLocks xmlns:a="http://schemas.openxmlformats.org/drawingml/2006/main" noGrp="1"/>
          </p:cNvSpPr>
          <p:nvPr/>
        </p:nvSpPr>
        <p:spPr>
          <a:xfrm xmlns:a="http://schemas.openxmlformats.org/drawingml/2006/main">
            <a:off x="8001000" y="2919222"/>
            <a:ext cx="3581400" cy="2727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Every one of the 63 grid points from the previous slide, colored by score tier — axes shown as percent and centimeters so every tick reads as a plain number (e.g. x=50 means wwr=0.50; y=90 means shade_m=0.90 m). The lowest-score points cluster in TWO separate places — lower-left (low wwr, high shade_m) and lower-right (mid-high wwr, low shade_m) — exactly the two basins this fictional formula was built with. The next two slides name how much better one is.</a:t>
            </a:r>
          </a:p>
        </p:txBody>
      </p:sp>
    </p:spTree>
    <p:extLst>
      <p:ext uri="{BB962C8B-B14F-4D97-AF65-F5344CB8AC3E}">
        <p14:creationId xmlns:p14="http://schemas.microsoft.com/office/powerpoint/2010/main" val="168110809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29959C64-A38D-4C27-8CF0-0FE1AB0255F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5C090DB5-A718-4B53-B8CE-EE2E1DE3157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which basin actually wins, and by how much?</a:t>
            </a:r>
          </a:p>
        </p:txBody>
      </p:sp>
      <p:sp>
        <p:nvSpPr>
          <p:cNvPr id="3" name="">
            <a:extLst xmlns:a="http://schemas.openxmlformats.org/drawingml/2006/main">
              <a:ext uri="{FF2B5EF4-FFF2-40B4-BE49-F238E27FC236}">
                <a16:creationId xmlns:a16="http://schemas.microsoft.com/office/drawing/2014/main" id="{2E5571C3-A1B1-44B9-8164-A34B95881D1F}"/>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776BA72-E706-413C-B757-39677A07103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27340D72-FC7A-4627-B183-324379B78A5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29</a:t>
            </a:r>
          </a:p>
        </p:txBody>
      </p:sp>
      <p:sp>
        <p:nvSpPr>
          <p:cNvPr id="6" name="code-panel">
            <a:extLst xmlns:a="http://schemas.openxmlformats.org/drawingml/2006/main">
              <a:ext uri="{FF2B5EF4-FFF2-40B4-BE49-F238E27FC236}">
                <a16:creationId xmlns:a16="http://schemas.microsoft.com/office/drawing/2014/main" id="{13477563-F6B4-425B-B717-D63F4D99F0F6}"/>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B87A693C-CDF3-4819-9C9E-474FD013A73E}"/>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wwr_fine = np.linspace(0.20, 0.60, 81)</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shade_fine = np.linspace(0.0, 1.2, 61)</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WWf, SSf = np.meshgrid(wwr_fine, shade_fine)</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Zf = energy_proxy((WWf, SSf))</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best = np.unravel_index(np.argmin(Zf), Zf.shape)</a:t>
            </a:r>
          </a:p>
        </p:txBody>
      </p:sp>
      <p:sp>
        <p:nvSpPr>
          <p:cNvPr id="8" name="question">
            <a:extLst xmlns:a="http://schemas.openxmlformats.org/drawingml/2006/main">
              <a:ext uri="{FF2B5EF4-FFF2-40B4-BE49-F238E27FC236}">
                <a16:creationId xmlns:a16="http://schemas.microsoft.com/office/drawing/2014/main" id="{6DA8DB66-172C-4DEB-96DF-098859314689}"/>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Which basin wins on the fine 81x61 grid, and by how much?</a:t>
            </a:r>
          </a:p>
        </p:txBody>
      </p:sp>
      <p:sp>
        <p:nvSpPr>
          <p:cNvPr id="9" name="opt-0">
            <a:extLst xmlns:a="http://schemas.openxmlformats.org/drawingml/2006/main">
              <a:ext uri="{FF2B5EF4-FFF2-40B4-BE49-F238E27FC236}">
                <a16:creationId xmlns:a16="http://schemas.microsoft.com/office/drawing/2014/main" id="{53F5E77E-FFB3-49C7-99FF-8D5F0995CEB1}"/>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48D6E001-C31E-45EE-BB53-607CEB653198}"/>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2D687B86-C078-4C73-AD9C-0F47B692C674}"/>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Lower-left (low wwr, high shade): about -11.1, beats the other by about 4</a:t>
            </a:r>
          </a:p>
        </p:txBody>
      </p:sp>
      <p:sp>
        <p:nvSpPr>
          <p:cNvPr id="12" name="opt-1">
            <a:extLst xmlns:a="http://schemas.openxmlformats.org/drawingml/2006/main">
              <a:ext uri="{FF2B5EF4-FFF2-40B4-BE49-F238E27FC236}">
                <a16:creationId xmlns:a16="http://schemas.microsoft.com/office/drawing/2014/main" id="{007A8C53-E112-4412-8F56-76E987FAD984}"/>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7BCBB8AF-AECA-4E90-A288-F36EB50666A0}"/>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7AD39499-CB0C-4A41-ADB6-3A86B747203F}"/>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Lower-right (higher wwr, low shade): about -7.1, beats the other by about 4</a:t>
            </a:r>
          </a:p>
        </p:txBody>
      </p:sp>
      <p:sp>
        <p:nvSpPr>
          <p:cNvPr id="15" name="opt-2">
            <a:extLst xmlns:a="http://schemas.openxmlformats.org/drawingml/2006/main">
              <a:ext uri="{FF2B5EF4-FFF2-40B4-BE49-F238E27FC236}">
                <a16:creationId xmlns:a16="http://schemas.microsoft.com/office/drawing/2014/main" id="{D4ED5104-7B1B-43E3-B687-BDB09D080450}"/>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740F1774-69C9-4849-AF4E-1C5500AB5716}"/>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3DA2783D-D932-47E7-90F9-A77A7284001F}"/>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Both basins are tied within rounding error</a:t>
            </a:r>
          </a:p>
        </p:txBody>
      </p:sp>
      <p:sp>
        <p:nvSpPr>
          <p:cNvPr id="18" name="opt-3">
            <a:extLst xmlns:a="http://schemas.openxmlformats.org/drawingml/2006/main">
              <a:ext uri="{FF2B5EF4-FFF2-40B4-BE49-F238E27FC236}">
                <a16:creationId xmlns:a16="http://schemas.microsoft.com/office/drawing/2014/main" id="{1C2BC8A5-9B7F-494E-819C-BF6D79DAA353}"/>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C5C1DFFF-5A2F-4A1F-B73A-D9C2530E4CDE}"/>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B90BB452-8844-4FFA-B2B8-A9018D736E01}"/>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Neither basin beats the 22.076 baseline</a:t>
            </a:r>
          </a:p>
        </p:txBody>
      </p:sp>
      <p:sp>
        <p:nvSpPr>
          <p:cNvPr id="21" name="answer-panel">
            <a:extLst xmlns:a="http://schemas.openxmlformats.org/drawingml/2006/main">
              <a:ext uri="{FF2B5EF4-FFF2-40B4-BE49-F238E27FC236}">
                <a16:creationId xmlns:a16="http://schemas.microsoft.com/office/drawing/2014/main" id="{F47016FB-322D-42DE-952E-CDDA58C00D0E}"/>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5A86BC25-DDEC-4987-823A-5CE0CE3B500D}"/>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A</a:t>
            </a:r>
          </a:p>
        </p:txBody>
      </p:sp>
      <p:sp>
        <p:nvSpPr>
          <p:cNvPr id="23" name="why">
            <a:extLst xmlns:a="http://schemas.openxmlformats.org/drawingml/2006/main">
              <a:ext uri="{FF2B5EF4-FFF2-40B4-BE49-F238E27FC236}">
                <a16:creationId xmlns:a16="http://schemas.microsoft.com/office/drawing/2014/main" id="{E7F8D5BD-8CF2-47C3-B17D-03B6B1DAC3A4}"/>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The 81x61 grid (4,941 points, verified) finds its best sampled point at (0.275, 0.900) = -11.135 — beating the other basin's -7.08 by 4.06.</a:t>
            </a:r>
          </a:p>
        </p:txBody>
      </p:sp>
    </p:spTree>
    <p:extLst>
      <p:ext uri="{BB962C8B-B14F-4D97-AF65-F5344CB8AC3E}">
        <p14:creationId xmlns:p14="http://schemas.microsoft.com/office/powerpoint/2010/main" val="158867135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kicker">
            <a:extLst xmlns:a="http://schemas.openxmlformats.org/drawingml/2006/main">
              <a:ext uri="{FF2B5EF4-FFF2-40B4-BE49-F238E27FC236}">
                <a16:creationId xmlns:a16="http://schemas.microsoft.com/office/drawing/2014/main" id="{DF1CCCC9-3DF7-4C46-9FAE-77F2E43D9D5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21CA8154-D92E-4EF8-BFDC-C5F287A6B8E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more precise sampled answer from a finer sweep</a:t>
            </a:r>
          </a:p>
        </p:txBody>
      </p:sp>
      <p:sp>
        <p:nvSpPr>
          <p:cNvPr id="3" name="">
            <a:extLst xmlns:a="http://schemas.openxmlformats.org/drawingml/2006/main">
              <a:ext uri="{FF2B5EF4-FFF2-40B4-BE49-F238E27FC236}">
                <a16:creationId xmlns:a16="http://schemas.microsoft.com/office/drawing/2014/main" id="{C472FD8A-9F04-492A-9451-6B2218DFD05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8281577-1E7F-4283-B325-1C862A948CE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0B1EB98A-8749-466D-8462-EDDBDC48F67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30</a:t>
            </a:r>
          </a:p>
        </p:txBody>
      </p:sp>
      <p:sp>
        <p:nvSpPr>
          <p:cNvPr id="6" name="">
            <a:extLst xmlns:a="http://schemas.openxmlformats.org/drawingml/2006/main">
              <a:ext uri="{FF2B5EF4-FFF2-40B4-BE49-F238E27FC236}">
                <a16:creationId xmlns:a16="http://schemas.microsoft.com/office/drawing/2014/main" id="{AEDE2ED5-E73B-4C6F-A624-C63F771DAE35}"/>
              </a:ext>
            </a:extLst>
          </p:cNvPr>
          <p:cNvSpPr>
            <a:spLocks xmlns:a="http://schemas.openxmlformats.org/drawingml/2006/main" noGrp="1"/>
          </p:cNvSpPr>
          <p:nvPr/>
        </p:nvSpPr>
        <p:spPr>
          <a:xfrm xmlns:a="http://schemas.openxmlformats.org/drawingml/2006/main">
            <a:off x="609600" y="2800350"/>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A1F4D821-3505-4386-BD15-B3BD2E5E7BCB}"/>
              </a:ext>
            </a:extLst>
          </p:cNvPr>
          <p:cNvSpPr>
            <a:spLocks xmlns:a="http://schemas.openxmlformats.org/drawingml/2006/main" noGrp="1"/>
          </p:cNvSpPr>
          <p:nvPr/>
        </p:nvSpPr>
        <p:spPr>
          <a:xfrm xmlns:a="http://schemas.openxmlformats.org/drawingml/2006/main">
            <a:off x="723900" y="287655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region</a:t>
            </a:r>
          </a:p>
        </p:txBody>
      </p:sp>
      <p:sp>
        <p:nvSpPr>
          <p:cNvPr id="8" name="">
            <a:extLst xmlns:a="http://schemas.openxmlformats.org/drawingml/2006/main">
              <a:ext uri="{FF2B5EF4-FFF2-40B4-BE49-F238E27FC236}">
                <a16:creationId xmlns:a16="http://schemas.microsoft.com/office/drawing/2014/main" id="{9AE685D5-D72E-4DA3-94C5-61B2BAF0CC4E}"/>
              </a:ext>
            </a:extLst>
          </p:cNvPr>
          <p:cNvSpPr>
            <a:spLocks xmlns:a="http://schemas.openxmlformats.org/drawingml/2006/main" noGrp="1"/>
          </p:cNvSpPr>
          <p:nvPr/>
        </p:nvSpPr>
        <p:spPr>
          <a:xfrm xmlns:a="http://schemas.openxmlformats.org/drawingml/2006/main">
            <a:off x="2466975" y="2800350"/>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2BC1A3C5-B6C4-4F87-8702-9C143169D0A5}"/>
              </a:ext>
            </a:extLst>
          </p:cNvPr>
          <p:cNvSpPr>
            <a:spLocks xmlns:a="http://schemas.openxmlformats.org/drawingml/2006/main" noGrp="1"/>
          </p:cNvSpPr>
          <p:nvPr/>
        </p:nvSpPr>
        <p:spPr>
          <a:xfrm xmlns:a="http://schemas.openxmlformats.org/drawingml/2006/main">
            <a:off x="2581275" y="287655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best (wwr, shade_m)</a:t>
            </a:r>
          </a:p>
        </p:txBody>
      </p:sp>
      <p:sp>
        <p:nvSpPr>
          <p:cNvPr id="10" name="">
            <a:extLst xmlns:a="http://schemas.openxmlformats.org/drawingml/2006/main">
              <a:ext uri="{FF2B5EF4-FFF2-40B4-BE49-F238E27FC236}">
                <a16:creationId xmlns:a16="http://schemas.microsoft.com/office/drawing/2014/main" id="{B5C4E599-4036-49D7-97D0-5C8CA50D2E3E}"/>
              </a:ext>
            </a:extLst>
          </p:cNvPr>
          <p:cNvSpPr>
            <a:spLocks xmlns:a="http://schemas.openxmlformats.org/drawingml/2006/main" noGrp="1"/>
          </p:cNvSpPr>
          <p:nvPr/>
        </p:nvSpPr>
        <p:spPr>
          <a:xfrm xmlns:a="http://schemas.openxmlformats.org/drawingml/2006/main">
            <a:off x="4324350" y="2800350"/>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B2D693B7-EDD5-472F-BDF7-9B5DAF8B6727}"/>
              </a:ext>
            </a:extLst>
          </p:cNvPr>
          <p:cNvSpPr>
            <a:spLocks xmlns:a="http://schemas.openxmlformats.org/drawingml/2006/main" noGrp="1"/>
          </p:cNvSpPr>
          <p:nvPr/>
        </p:nvSpPr>
        <p:spPr>
          <a:xfrm xmlns:a="http://schemas.openxmlformats.org/drawingml/2006/main">
            <a:off x="4438650" y="287655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energy_proxy</a:t>
            </a:r>
          </a:p>
        </p:txBody>
      </p:sp>
      <p:sp>
        <p:nvSpPr>
          <p:cNvPr id="12" name="">
            <a:extLst xmlns:a="http://schemas.openxmlformats.org/drawingml/2006/main">
              <a:ext uri="{FF2B5EF4-FFF2-40B4-BE49-F238E27FC236}">
                <a16:creationId xmlns:a16="http://schemas.microsoft.com/office/drawing/2014/main" id="{747CC0CA-0998-4136-9584-141BEBC4C8AC}"/>
              </a:ext>
            </a:extLst>
          </p:cNvPr>
          <p:cNvSpPr>
            <a:spLocks xmlns:a="http://schemas.openxmlformats.org/drawingml/2006/main" noGrp="1"/>
          </p:cNvSpPr>
          <p:nvPr/>
        </p:nvSpPr>
        <p:spPr>
          <a:xfrm xmlns:a="http://schemas.openxmlformats.org/drawingml/2006/main">
            <a:off x="6181725" y="2800350"/>
            <a:ext cx="1857375"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36F82FB5-4D5D-4006-86E4-E5F5DE483AB9}"/>
              </a:ext>
            </a:extLst>
          </p:cNvPr>
          <p:cNvSpPr>
            <a:spLocks xmlns:a="http://schemas.openxmlformats.org/drawingml/2006/main" noGrp="1"/>
          </p:cNvSpPr>
          <p:nvPr/>
        </p:nvSpPr>
        <p:spPr>
          <a:xfrm xmlns:a="http://schemas.openxmlformats.org/drawingml/2006/main">
            <a:off x="6296025" y="287655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vs. baseline (22.076)</a:t>
            </a:r>
          </a:p>
        </p:txBody>
      </p:sp>
      <p:sp>
        <p:nvSpPr>
          <p:cNvPr id="14" name="">
            <a:extLst xmlns:a="http://schemas.openxmlformats.org/drawingml/2006/main">
              <a:ext uri="{FF2B5EF4-FFF2-40B4-BE49-F238E27FC236}">
                <a16:creationId xmlns:a16="http://schemas.microsoft.com/office/drawing/2014/main" id="{990FA272-D275-4592-9DD8-BAFD9D1513FB}"/>
              </a:ext>
            </a:extLst>
          </p:cNvPr>
          <p:cNvSpPr>
            <a:spLocks xmlns:a="http://schemas.openxmlformats.org/drawingml/2006/main" noGrp="1"/>
          </p:cNvSpPr>
          <p:nvPr/>
        </p:nvSpPr>
        <p:spPr>
          <a:xfrm xmlns:a="http://schemas.openxmlformats.org/drawingml/2006/main">
            <a:off x="609600" y="334137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0">
            <a:extLst xmlns:a="http://schemas.openxmlformats.org/drawingml/2006/main">
              <a:ext uri="{FF2B5EF4-FFF2-40B4-BE49-F238E27FC236}">
                <a16:creationId xmlns:a16="http://schemas.microsoft.com/office/drawing/2014/main" id="{6C2F9DA0-F59A-44CA-80E7-257D138199FB}"/>
              </a:ext>
            </a:extLst>
          </p:cNvPr>
          <p:cNvSpPr>
            <a:spLocks xmlns:a="http://schemas.openxmlformats.org/drawingml/2006/main" noGrp="1"/>
          </p:cNvSpPr>
          <p:nvPr/>
        </p:nvSpPr>
        <p:spPr>
          <a:xfrm xmlns:a="http://schemas.openxmlformats.org/drawingml/2006/main">
            <a:off x="723900" y="341757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Best sampled — lower-left cluster</a:t>
            </a:r>
          </a:p>
        </p:txBody>
      </p:sp>
      <p:sp>
        <p:nvSpPr>
          <p:cNvPr id="16" name="">
            <a:extLst xmlns:a="http://schemas.openxmlformats.org/drawingml/2006/main">
              <a:ext uri="{FF2B5EF4-FFF2-40B4-BE49-F238E27FC236}">
                <a16:creationId xmlns:a16="http://schemas.microsoft.com/office/drawing/2014/main" id="{5F1CC3F9-7393-42BC-8AD3-1B0BC101CBFD}"/>
              </a:ext>
            </a:extLst>
          </p:cNvPr>
          <p:cNvSpPr>
            <a:spLocks xmlns:a="http://schemas.openxmlformats.org/drawingml/2006/main" noGrp="1"/>
          </p:cNvSpPr>
          <p:nvPr/>
        </p:nvSpPr>
        <p:spPr>
          <a:xfrm xmlns:a="http://schemas.openxmlformats.org/drawingml/2006/main">
            <a:off x="2466975" y="334137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1">
            <a:extLst xmlns:a="http://schemas.openxmlformats.org/drawingml/2006/main">
              <a:ext uri="{FF2B5EF4-FFF2-40B4-BE49-F238E27FC236}">
                <a16:creationId xmlns:a16="http://schemas.microsoft.com/office/drawing/2014/main" id="{634FA59E-F35F-4E2A-9E18-6E631BD1FAA7}"/>
              </a:ext>
            </a:extLst>
          </p:cNvPr>
          <p:cNvSpPr>
            <a:spLocks xmlns:a="http://schemas.openxmlformats.org/drawingml/2006/main" noGrp="1"/>
          </p:cNvSpPr>
          <p:nvPr/>
        </p:nvSpPr>
        <p:spPr>
          <a:xfrm xmlns:a="http://schemas.openxmlformats.org/drawingml/2006/main">
            <a:off x="2581275" y="341757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(0.275, 0.900)</a:t>
            </a:r>
          </a:p>
        </p:txBody>
      </p:sp>
      <p:sp>
        <p:nvSpPr>
          <p:cNvPr id="18" name="">
            <a:extLst xmlns:a="http://schemas.openxmlformats.org/drawingml/2006/main">
              <a:ext uri="{FF2B5EF4-FFF2-40B4-BE49-F238E27FC236}">
                <a16:creationId xmlns:a16="http://schemas.microsoft.com/office/drawing/2014/main" id="{A0C3F8DA-078B-4AE2-86DE-11DCB97F4716}"/>
              </a:ext>
            </a:extLst>
          </p:cNvPr>
          <p:cNvSpPr>
            <a:spLocks xmlns:a="http://schemas.openxmlformats.org/drawingml/2006/main" noGrp="1"/>
          </p:cNvSpPr>
          <p:nvPr/>
        </p:nvSpPr>
        <p:spPr>
          <a:xfrm xmlns:a="http://schemas.openxmlformats.org/drawingml/2006/main">
            <a:off x="4324350" y="334137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2">
            <a:extLst xmlns:a="http://schemas.openxmlformats.org/drawingml/2006/main">
              <a:ext uri="{FF2B5EF4-FFF2-40B4-BE49-F238E27FC236}">
                <a16:creationId xmlns:a16="http://schemas.microsoft.com/office/drawing/2014/main" id="{09696D1C-6059-432A-8A2D-8FD02CD73AEF}"/>
              </a:ext>
            </a:extLst>
          </p:cNvPr>
          <p:cNvSpPr>
            <a:spLocks xmlns:a="http://schemas.openxmlformats.org/drawingml/2006/main" noGrp="1"/>
          </p:cNvSpPr>
          <p:nvPr/>
        </p:nvSpPr>
        <p:spPr>
          <a:xfrm xmlns:a="http://schemas.openxmlformats.org/drawingml/2006/main">
            <a:off x="4438650" y="341757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-11.135</a:t>
            </a:r>
          </a:p>
        </p:txBody>
      </p:sp>
      <p:sp>
        <p:nvSpPr>
          <p:cNvPr id="20" name="">
            <a:extLst xmlns:a="http://schemas.openxmlformats.org/drawingml/2006/main">
              <a:ext uri="{FF2B5EF4-FFF2-40B4-BE49-F238E27FC236}">
                <a16:creationId xmlns:a16="http://schemas.microsoft.com/office/drawing/2014/main" id="{59DD436E-AB2B-41B5-A3CB-6D6086F4F210}"/>
              </a:ext>
            </a:extLst>
          </p:cNvPr>
          <p:cNvSpPr>
            <a:spLocks xmlns:a="http://schemas.openxmlformats.org/drawingml/2006/main" noGrp="1"/>
          </p:cNvSpPr>
          <p:nvPr/>
        </p:nvSpPr>
        <p:spPr>
          <a:xfrm xmlns:a="http://schemas.openxmlformats.org/drawingml/2006/main">
            <a:off x="6181725" y="3341370"/>
            <a:ext cx="185737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3">
            <a:extLst xmlns:a="http://schemas.openxmlformats.org/drawingml/2006/main">
              <a:ext uri="{FF2B5EF4-FFF2-40B4-BE49-F238E27FC236}">
                <a16:creationId xmlns:a16="http://schemas.microsoft.com/office/drawing/2014/main" id="{9720C08C-5B17-433B-AE0C-EE9C4AA21316}"/>
              </a:ext>
            </a:extLst>
          </p:cNvPr>
          <p:cNvSpPr>
            <a:spLocks xmlns:a="http://schemas.openxmlformats.org/drawingml/2006/main" noGrp="1"/>
          </p:cNvSpPr>
          <p:nvPr/>
        </p:nvSpPr>
        <p:spPr>
          <a:xfrm xmlns:a="http://schemas.openxmlformats.org/drawingml/2006/main">
            <a:off x="6296025" y="3417570"/>
            <a:ext cx="162877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33.2 better</a:t>
            </a:r>
          </a:p>
        </p:txBody>
      </p:sp>
      <p:sp>
        <p:nvSpPr>
          <p:cNvPr id="22" name="">
            <a:extLst xmlns:a="http://schemas.openxmlformats.org/drawingml/2006/main">
              <a:ext uri="{FF2B5EF4-FFF2-40B4-BE49-F238E27FC236}">
                <a16:creationId xmlns:a16="http://schemas.microsoft.com/office/drawing/2014/main" id="{7A2D1ECA-6AB0-48EA-99D1-69C0E285E3B0}"/>
              </a:ext>
            </a:extLst>
          </p:cNvPr>
          <p:cNvSpPr>
            <a:spLocks xmlns:a="http://schemas.openxmlformats.org/drawingml/2006/main" noGrp="1"/>
          </p:cNvSpPr>
          <p:nvPr/>
        </p:nvSpPr>
        <p:spPr>
          <a:xfrm xmlns:a="http://schemas.openxmlformats.org/drawingml/2006/main">
            <a:off x="609600" y="3882390"/>
            <a:ext cx="1857375"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0">
            <a:extLst xmlns:a="http://schemas.openxmlformats.org/drawingml/2006/main">
              <a:ext uri="{FF2B5EF4-FFF2-40B4-BE49-F238E27FC236}">
                <a16:creationId xmlns:a16="http://schemas.microsoft.com/office/drawing/2014/main" id="{2573572F-B43A-41D1-AD13-0B51E4E81A5A}"/>
              </a:ext>
            </a:extLst>
          </p:cNvPr>
          <p:cNvSpPr>
            <a:spLocks xmlns:a="http://schemas.openxmlformats.org/drawingml/2006/main" noGrp="1"/>
          </p:cNvSpPr>
          <p:nvPr/>
        </p:nvSpPr>
        <p:spPr>
          <a:xfrm xmlns:a="http://schemas.openxmlformats.org/drawingml/2006/main">
            <a:off x="723900" y="3958590"/>
            <a:ext cx="1628775"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Local -- lower-right cluster</a:t>
            </a:r>
          </a:p>
        </p:txBody>
      </p:sp>
      <p:sp>
        <p:nvSpPr>
          <p:cNvPr id="24" name="">
            <a:extLst xmlns:a="http://schemas.openxmlformats.org/drawingml/2006/main">
              <a:ext uri="{FF2B5EF4-FFF2-40B4-BE49-F238E27FC236}">
                <a16:creationId xmlns:a16="http://schemas.microsoft.com/office/drawing/2014/main" id="{1D963F0A-C3B1-4F30-A856-10B7DB4CF582}"/>
              </a:ext>
            </a:extLst>
          </p:cNvPr>
          <p:cNvSpPr>
            <a:spLocks xmlns:a="http://schemas.openxmlformats.org/drawingml/2006/main" noGrp="1"/>
          </p:cNvSpPr>
          <p:nvPr/>
        </p:nvSpPr>
        <p:spPr>
          <a:xfrm xmlns:a="http://schemas.openxmlformats.org/drawingml/2006/main">
            <a:off x="2466975" y="3882390"/>
            <a:ext cx="1857375"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1-1">
            <a:extLst xmlns:a="http://schemas.openxmlformats.org/drawingml/2006/main">
              <a:ext uri="{FF2B5EF4-FFF2-40B4-BE49-F238E27FC236}">
                <a16:creationId xmlns:a16="http://schemas.microsoft.com/office/drawing/2014/main" id="{AA1951C1-A6B1-4ACE-B9EB-D0505BA20E3E}"/>
              </a:ext>
            </a:extLst>
          </p:cNvPr>
          <p:cNvSpPr>
            <a:spLocks xmlns:a="http://schemas.openxmlformats.org/drawingml/2006/main" noGrp="1"/>
          </p:cNvSpPr>
          <p:nvPr/>
        </p:nvSpPr>
        <p:spPr>
          <a:xfrm xmlns:a="http://schemas.openxmlformats.org/drawingml/2006/main">
            <a:off x="2581275" y="3958590"/>
            <a:ext cx="1628775"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(0.520, 0.250)</a:t>
            </a:r>
          </a:p>
        </p:txBody>
      </p:sp>
      <p:sp>
        <p:nvSpPr>
          <p:cNvPr id="26" name="">
            <a:extLst xmlns:a="http://schemas.openxmlformats.org/drawingml/2006/main">
              <a:ext uri="{FF2B5EF4-FFF2-40B4-BE49-F238E27FC236}">
                <a16:creationId xmlns:a16="http://schemas.microsoft.com/office/drawing/2014/main" id="{721D92B8-40C6-47A4-B899-C5704201959A}"/>
              </a:ext>
            </a:extLst>
          </p:cNvPr>
          <p:cNvSpPr>
            <a:spLocks xmlns:a="http://schemas.openxmlformats.org/drawingml/2006/main" noGrp="1"/>
          </p:cNvSpPr>
          <p:nvPr/>
        </p:nvSpPr>
        <p:spPr>
          <a:xfrm xmlns:a="http://schemas.openxmlformats.org/drawingml/2006/main">
            <a:off x="4324350" y="3882390"/>
            <a:ext cx="1857375"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7" name="cell-1-2">
            <a:extLst xmlns:a="http://schemas.openxmlformats.org/drawingml/2006/main">
              <a:ext uri="{FF2B5EF4-FFF2-40B4-BE49-F238E27FC236}">
                <a16:creationId xmlns:a16="http://schemas.microsoft.com/office/drawing/2014/main" id="{D2D500C6-ADFF-4C27-846C-BDF8CC5D4550}"/>
              </a:ext>
            </a:extLst>
          </p:cNvPr>
          <p:cNvSpPr>
            <a:spLocks xmlns:a="http://schemas.openxmlformats.org/drawingml/2006/main" noGrp="1"/>
          </p:cNvSpPr>
          <p:nvPr/>
        </p:nvSpPr>
        <p:spPr>
          <a:xfrm xmlns:a="http://schemas.openxmlformats.org/drawingml/2006/main">
            <a:off x="4438650" y="3958590"/>
            <a:ext cx="1628775"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-7.08</a:t>
            </a:r>
          </a:p>
        </p:txBody>
      </p:sp>
      <p:sp>
        <p:nvSpPr>
          <p:cNvPr id="28" name="">
            <a:extLst xmlns:a="http://schemas.openxmlformats.org/drawingml/2006/main">
              <a:ext uri="{FF2B5EF4-FFF2-40B4-BE49-F238E27FC236}">
                <a16:creationId xmlns:a16="http://schemas.microsoft.com/office/drawing/2014/main" id="{C2A01E3C-7CF0-46F9-BAC9-01636252B5A0}"/>
              </a:ext>
            </a:extLst>
          </p:cNvPr>
          <p:cNvSpPr>
            <a:spLocks xmlns:a="http://schemas.openxmlformats.org/drawingml/2006/main" noGrp="1"/>
          </p:cNvSpPr>
          <p:nvPr/>
        </p:nvSpPr>
        <p:spPr>
          <a:xfrm xmlns:a="http://schemas.openxmlformats.org/drawingml/2006/main">
            <a:off x="6181725" y="3882390"/>
            <a:ext cx="1857375" cy="73533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9" name="cell-1-3">
            <a:extLst xmlns:a="http://schemas.openxmlformats.org/drawingml/2006/main">
              <a:ext uri="{FF2B5EF4-FFF2-40B4-BE49-F238E27FC236}">
                <a16:creationId xmlns:a16="http://schemas.microsoft.com/office/drawing/2014/main" id="{7FB110C0-539C-4D59-99CE-4058B2975D0C}"/>
              </a:ext>
            </a:extLst>
          </p:cNvPr>
          <p:cNvSpPr>
            <a:spLocks xmlns:a="http://schemas.openxmlformats.org/drawingml/2006/main" noGrp="1"/>
          </p:cNvSpPr>
          <p:nvPr/>
        </p:nvSpPr>
        <p:spPr>
          <a:xfrm xmlns:a="http://schemas.openxmlformats.org/drawingml/2006/main">
            <a:off x="6296025" y="3958590"/>
            <a:ext cx="1628775" cy="5829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29.2 better</a:t>
            </a:r>
          </a:p>
        </p:txBody>
      </p:sp>
      <p:sp>
        <p:nvSpPr>
          <p:cNvPr id="30" name="">
            <a:extLst xmlns:a="http://schemas.openxmlformats.org/drawingml/2006/main">
              <a:ext uri="{FF2B5EF4-FFF2-40B4-BE49-F238E27FC236}">
                <a16:creationId xmlns:a16="http://schemas.microsoft.com/office/drawing/2014/main" id="{F38E4A9F-A8D5-494A-9B09-1331FC83FCDD}"/>
              </a:ext>
            </a:extLst>
          </p:cNvPr>
          <p:cNvSpPr>
            <a:spLocks xmlns:a="http://schemas.openxmlformats.org/drawingml/2006/main" noGrp="1"/>
          </p:cNvSpPr>
          <p:nvPr/>
        </p:nvSpPr>
        <p:spPr>
          <a:xfrm xmlns:a="http://schemas.openxmlformats.org/drawingml/2006/main">
            <a:off x="609600" y="4617720"/>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1" name="cell-2-0">
            <a:extLst xmlns:a="http://schemas.openxmlformats.org/drawingml/2006/main">
              <a:ext uri="{FF2B5EF4-FFF2-40B4-BE49-F238E27FC236}">
                <a16:creationId xmlns:a16="http://schemas.microsoft.com/office/drawing/2014/main" id="{FA7EA913-704F-4E58-AB21-F4ACC1A45AFB}"/>
              </a:ext>
            </a:extLst>
          </p:cNvPr>
          <p:cNvSpPr>
            <a:spLocks xmlns:a="http://schemas.openxmlformats.org/drawingml/2006/main" noGrp="1"/>
          </p:cNvSpPr>
          <p:nvPr/>
        </p:nvSpPr>
        <p:spPr>
          <a:xfrm xmlns:a="http://schemas.openxmlformats.org/drawingml/2006/main">
            <a:off x="723900" y="469392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Baseline design</a:t>
            </a:r>
          </a:p>
        </p:txBody>
      </p:sp>
      <p:sp>
        <p:nvSpPr>
          <p:cNvPr id="32" name="">
            <a:extLst xmlns:a="http://schemas.openxmlformats.org/drawingml/2006/main">
              <a:ext uri="{FF2B5EF4-FFF2-40B4-BE49-F238E27FC236}">
                <a16:creationId xmlns:a16="http://schemas.microsoft.com/office/drawing/2014/main" id="{06DE2152-18A4-4BAB-ABAB-4950F8218244}"/>
              </a:ext>
            </a:extLst>
          </p:cNvPr>
          <p:cNvSpPr>
            <a:spLocks xmlns:a="http://schemas.openxmlformats.org/drawingml/2006/main" noGrp="1"/>
          </p:cNvSpPr>
          <p:nvPr/>
        </p:nvSpPr>
        <p:spPr>
          <a:xfrm xmlns:a="http://schemas.openxmlformats.org/drawingml/2006/main">
            <a:off x="2466975" y="4617720"/>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3" name="cell-2-1">
            <a:extLst xmlns:a="http://schemas.openxmlformats.org/drawingml/2006/main">
              <a:ext uri="{FF2B5EF4-FFF2-40B4-BE49-F238E27FC236}">
                <a16:creationId xmlns:a16="http://schemas.microsoft.com/office/drawing/2014/main" id="{093765C1-D57B-41EE-9404-0BE627B0C9F7}"/>
              </a:ext>
            </a:extLst>
          </p:cNvPr>
          <p:cNvSpPr>
            <a:spLocks xmlns:a="http://schemas.openxmlformats.org/drawingml/2006/main" noGrp="1"/>
          </p:cNvSpPr>
          <p:nvPr/>
        </p:nvSpPr>
        <p:spPr>
          <a:xfrm xmlns:a="http://schemas.openxmlformats.org/drawingml/2006/main">
            <a:off x="2581275" y="469392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(0.40, 0.30)</a:t>
            </a:r>
          </a:p>
        </p:txBody>
      </p:sp>
      <p:sp>
        <p:nvSpPr>
          <p:cNvPr id="34" name="">
            <a:extLst xmlns:a="http://schemas.openxmlformats.org/drawingml/2006/main">
              <a:ext uri="{FF2B5EF4-FFF2-40B4-BE49-F238E27FC236}">
                <a16:creationId xmlns:a16="http://schemas.microsoft.com/office/drawing/2014/main" id="{606E89B4-C6E1-4226-B710-2A6CF9E39A1F}"/>
              </a:ext>
            </a:extLst>
          </p:cNvPr>
          <p:cNvSpPr>
            <a:spLocks xmlns:a="http://schemas.openxmlformats.org/drawingml/2006/main" noGrp="1"/>
          </p:cNvSpPr>
          <p:nvPr/>
        </p:nvSpPr>
        <p:spPr>
          <a:xfrm xmlns:a="http://schemas.openxmlformats.org/drawingml/2006/main">
            <a:off x="4324350" y="4617720"/>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5" name="cell-2-2">
            <a:extLst xmlns:a="http://schemas.openxmlformats.org/drawingml/2006/main">
              <a:ext uri="{FF2B5EF4-FFF2-40B4-BE49-F238E27FC236}">
                <a16:creationId xmlns:a16="http://schemas.microsoft.com/office/drawing/2014/main" id="{51F46074-F58D-4751-8F53-EED3B0593C71}"/>
              </a:ext>
            </a:extLst>
          </p:cNvPr>
          <p:cNvSpPr>
            <a:spLocks xmlns:a="http://schemas.openxmlformats.org/drawingml/2006/main" noGrp="1"/>
          </p:cNvSpPr>
          <p:nvPr/>
        </p:nvSpPr>
        <p:spPr>
          <a:xfrm xmlns:a="http://schemas.openxmlformats.org/drawingml/2006/main">
            <a:off x="4438650" y="469392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22.076</a:t>
            </a:r>
          </a:p>
        </p:txBody>
      </p:sp>
      <p:sp>
        <p:nvSpPr>
          <p:cNvPr id="36" name="">
            <a:extLst xmlns:a="http://schemas.openxmlformats.org/drawingml/2006/main">
              <a:ext uri="{FF2B5EF4-FFF2-40B4-BE49-F238E27FC236}">
                <a16:creationId xmlns:a16="http://schemas.microsoft.com/office/drawing/2014/main" id="{1B314C3C-CD6D-461E-9863-C57C939A9988}"/>
              </a:ext>
            </a:extLst>
          </p:cNvPr>
          <p:cNvSpPr>
            <a:spLocks xmlns:a="http://schemas.openxmlformats.org/drawingml/2006/main" noGrp="1"/>
          </p:cNvSpPr>
          <p:nvPr/>
        </p:nvSpPr>
        <p:spPr>
          <a:xfrm xmlns:a="http://schemas.openxmlformats.org/drawingml/2006/main">
            <a:off x="6181725" y="4617720"/>
            <a:ext cx="1857375"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2-3">
            <a:extLst xmlns:a="http://schemas.openxmlformats.org/drawingml/2006/main">
              <a:ext uri="{FF2B5EF4-FFF2-40B4-BE49-F238E27FC236}">
                <a16:creationId xmlns:a16="http://schemas.microsoft.com/office/drawing/2014/main" id="{B55FB601-56A4-49CF-B867-DB09C90D19CA}"/>
              </a:ext>
            </a:extLst>
          </p:cNvPr>
          <p:cNvSpPr>
            <a:spLocks xmlns:a="http://schemas.openxmlformats.org/drawingml/2006/main" noGrp="1"/>
          </p:cNvSpPr>
          <p:nvPr/>
        </p:nvSpPr>
        <p:spPr>
          <a:xfrm xmlns:a="http://schemas.openxmlformats.org/drawingml/2006/main">
            <a:off x="6296025" y="4693920"/>
            <a:ext cx="16287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t>
            </a:r>
          </a:p>
        </p:txBody>
      </p:sp>
      <p:sp>
        <p:nvSpPr>
          <p:cNvPr id="38" name="callout-label">
            <a:extLst xmlns:a="http://schemas.openxmlformats.org/drawingml/2006/main">
              <a:ext uri="{FF2B5EF4-FFF2-40B4-BE49-F238E27FC236}">
                <a16:creationId xmlns:a16="http://schemas.microsoft.com/office/drawing/2014/main" id="{40DBA9C8-016B-479F-867F-482B742D196B}"/>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9" name="callout">
            <a:extLst xmlns:a="http://schemas.openxmlformats.org/drawingml/2006/main">
              <a:ext uri="{FF2B5EF4-FFF2-40B4-BE49-F238E27FC236}">
                <a16:creationId xmlns:a16="http://schemas.microsoft.com/office/drawing/2014/main" id="{86DB9441-A160-4B36-8990-2A21C18A480D}"/>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An 81×61 grid checks 4,941 sampled combinations and finds -11.135 at (0.275, 0.900). Points between grid nodes remain unchecked, so report this as the best sampled point, not a proof of the continuous global optimum.</a:t>
            </a:r>
          </a:p>
        </p:txBody>
      </p:sp>
    </p:spTree>
    <p:extLst>
      <p:ext uri="{BB962C8B-B14F-4D97-AF65-F5344CB8AC3E}">
        <p14:creationId xmlns:p14="http://schemas.microsoft.com/office/powerpoint/2010/main" val="127081571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958F203A-A824-4E3A-A005-FBA3FB90D86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922B17AD-0EF1-41D3-8D05-D57C7C6AB97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Read the sensitivity result</a:t>
            </a:r>
          </a:p>
        </p:txBody>
      </p:sp>
      <p:sp>
        <p:nvSpPr>
          <p:cNvPr id="3" name="">
            <a:extLst xmlns:a="http://schemas.openxmlformats.org/drawingml/2006/main">
              <a:ext uri="{FF2B5EF4-FFF2-40B4-BE49-F238E27FC236}">
                <a16:creationId xmlns:a16="http://schemas.microsoft.com/office/drawing/2014/main" id="{ADA21B40-F4FE-418B-B586-EAB20148B68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5CC86A4-2220-418A-88D6-0A6289C6ABC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4A94F33D-9B80-444B-9A79-C03941AFDE7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31</a:t>
            </a:r>
          </a:p>
        </p:txBody>
      </p:sp>
      <p:sp>
        <p:nvSpPr>
          <p:cNvPr id="6" name="exercise-accent">
            <a:extLst xmlns:a="http://schemas.openxmlformats.org/drawingml/2006/main">
              <a:ext uri="{FF2B5EF4-FFF2-40B4-BE49-F238E27FC236}">
                <a16:creationId xmlns:a16="http://schemas.microsoft.com/office/drawing/2014/main" id="{7D0A0019-319E-44FE-BA50-094712C7B87A}"/>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59108BE3-1974-4FEF-8E5C-87537A6684F2}"/>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Using the table above, answer in one sentence: which region should Radley Hall's design team target, and by how much does it beat the runner-up?</a:t>
            </a:r>
          </a:p>
        </p:txBody>
      </p:sp>
      <p:sp>
        <p:nvSpPr>
          <p:cNvPr id="8" name="work-label">
            <a:extLst xmlns:a="http://schemas.openxmlformats.org/drawingml/2006/main">
              <a:ext uri="{FF2B5EF4-FFF2-40B4-BE49-F238E27FC236}">
                <a16:creationId xmlns:a16="http://schemas.microsoft.com/office/drawing/2014/main" id="{5F88FBF4-4BE1-40FC-BFCD-4A99E027A29C}"/>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59FDF38A-20F4-4296-865F-173CECF4EC95}"/>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C8364AED-6690-44E2-9AB8-5B877BD79834}"/>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Name the (wwr, shade_m) pair with the lowest energy_proxy.</a:t>
            </a:r>
          </a:p>
        </p:txBody>
      </p:sp>
      <p:sp>
        <p:nvSpPr>
          <p:cNvPr id="11" name="exercise-no-1">
            <a:extLst xmlns:a="http://schemas.openxmlformats.org/drawingml/2006/main">
              <a:ext uri="{FF2B5EF4-FFF2-40B4-BE49-F238E27FC236}">
                <a16:creationId xmlns:a16="http://schemas.microsoft.com/office/drawing/2014/main" id="{C37E74B3-0A5C-4811-9EFE-CB876E04DD87}"/>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661C18D3-EA21-42DB-BBE1-514F5743069F}"/>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State the numeric gap between the two regions (-11.135 vs. -7.08).</a:t>
            </a:r>
          </a:p>
        </p:txBody>
      </p:sp>
      <p:sp>
        <p:nvSpPr>
          <p:cNvPr id="13" name="exercise-no-2">
            <a:extLst xmlns:a="http://schemas.openxmlformats.org/drawingml/2006/main">
              <a:ext uri="{FF2B5EF4-FFF2-40B4-BE49-F238E27FC236}">
                <a16:creationId xmlns:a16="http://schemas.microsoft.com/office/drawing/2014/main" id="{2A7DD35F-6340-4892-A488-627EEB55634D}"/>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B5E43CC3-CBF4-46A9-B5B1-CE2A08153BDC}"/>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State the improvement over the 22.076 baseline design.</a:t>
            </a:r>
          </a:p>
        </p:txBody>
      </p:sp>
      <p:sp>
        <p:nvSpPr>
          <p:cNvPr id="15" name="exercise-no-3">
            <a:extLst xmlns:a="http://schemas.openxmlformats.org/drawingml/2006/main">
              <a:ext uri="{FF2B5EF4-FFF2-40B4-BE49-F238E27FC236}">
                <a16:creationId xmlns:a16="http://schemas.microsoft.com/office/drawing/2014/main" id="{D209F85E-2C2A-46E8-81DD-0A6663E651E7}"/>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C046F039-DFAF-467F-AA1E-55E1833E8EFB}"/>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Write one sentence a design team could act on -- region, direction, and size of the gain.</a:t>
            </a:r>
          </a:p>
        </p:txBody>
      </p:sp>
    </p:spTree>
    <p:extLst>
      <p:ext uri="{BB962C8B-B14F-4D97-AF65-F5344CB8AC3E}">
        <p14:creationId xmlns:p14="http://schemas.microsoft.com/office/powerpoint/2010/main" val="59873162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38FFB4D6-6513-4F47-86A7-839606932D5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DC98B3DF-BA49-4D04-A781-0F92C748917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Transfer the sweep: insulation thickness × glazing ratio</a:t>
            </a:r>
          </a:p>
        </p:txBody>
      </p:sp>
      <p:sp>
        <p:nvSpPr>
          <p:cNvPr id="3" name="">
            <a:extLst xmlns:a="http://schemas.openxmlformats.org/drawingml/2006/main">
              <a:ext uri="{FF2B5EF4-FFF2-40B4-BE49-F238E27FC236}">
                <a16:creationId xmlns:a16="http://schemas.microsoft.com/office/drawing/2014/main" id="{16501A1A-6BE4-4668-85FD-E56E0494022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9B7DC27-1ADA-4589-92A6-5184029EC35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E6F88C28-F672-47AC-B172-0088EFAB53B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32</a:t>
            </a:r>
          </a:p>
        </p:txBody>
      </p:sp>
      <p:sp>
        <p:nvSpPr>
          <p:cNvPr id="6" name="exercise-accent">
            <a:extLst xmlns:a="http://schemas.openxmlformats.org/drawingml/2006/main">
              <a:ext uri="{FF2B5EF4-FFF2-40B4-BE49-F238E27FC236}">
                <a16:creationId xmlns:a16="http://schemas.microsoft.com/office/drawing/2014/main" id="{7A92F978-FE19-4636-96A9-0D7B45898758}"/>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21645618-FF88-451B-B601-4197938366DF}"/>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Test every combination of insulation thickness and glazing ratio against a simplified energy-and-daylight proxy.</a:t>
            </a:r>
          </a:p>
        </p:txBody>
      </p:sp>
      <p:sp>
        <p:nvSpPr>
          <p:cNvPr id="8" name="work-label">
            <a:extLst xmlns:a="http://schemas.openxmlformats.org/drawingml/2006/main">
              <a:ext uri="{FF2B5EF4-FFF2-40B4-BE49-F238E27FC236}">
                <a16:creationId xmlns:a16="http://schemas.microsoft.com/office/drawing/2014/main" id="{A865862D-05BD-401A-975C-190DC8CEBC5E}"/>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109F3979-7801-4192-B759-E838129E8FEC}"/>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766B67C8-9A06-49F5-A806-5A698AA9A5AC}"/>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Choose defensible ranges and units for both parameters before generating values.</a:t>
            </a:r>
          </a:p>
        </p:txBody>
      </p:sp>
      <p:sp>
        <p:nvSpPr>
          <p:cNvPr id="11" name="exercise-no-1">
            <a:extLst xmlns:a="http://schemas.openxmlformats.org/drawingml/2006/main">
              <a:ext uri="{FF2B5EF4-FFF2-40B4-BE49-F238E27FC236}">
                <a16:creationId xmlns:a16="http://schemas.microsoft.com/office/drawing/2014/main" id="{CA87804F-3AAC-4333-B2C9-721A5F8D30C1}"/>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EDADA25A-932F-4806-BB25-E358F4722E38}"/>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Use meshgrid so every thickness–glazing pair is evaluated.</a:t>
            </a:r>
          </a:p>
        </p:txBody>
      </p:sp>
      <p:sp>
        <p:nvSpPr>
          <p:cNvPr id="13" name="exercise-no-2">
            <a:extLst xmlns:a="http://schemas.openxmlformats.org/drawingml/2006/main">
              <a:ext uri="{FF2B5EF4-FFF2-40B4-BE49-F238E27FC236}">
                <a16:creationId xmlns:a16="http://schemas.microsoft.com/office/drawing/2014/main" id="{2A38034E-2C8C-44D2-897B-724F1364290D}"/>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43EB01F0-C680-4339-8848-F0376650F149}"/>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Mask combinations that fail a stated daylight or constructability threshold.</a:t>
            </a:r>
          </a:p>
        </p:txBody>
      </p:sp>
      <p:sp>
        <p:nvSpPr>
          <p:cNvPr id="15" name="exercise-no-3">
            <a:extLst xmlns:a="http://schemas.openxmlformats.org/drawingml/2006/main">
              <a:ext uri="{FF2B5EF4-FFF2-40B4-BE49-F238E27FC236}">
                <a16:creationId xmlns:a16="http://schemas.microsoft.com/office/drawing/2014/main" id="{050E8E40-7D31-4917-A657-350E9972019C}"/>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B1AE037F-506D-4AA1-A3BC-EDEBA8D44E2D}"/>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Identify a promising region—not one magic point—and state one proxy limitation.</a:t>
            </a:r>
          </a:p>
        </p:txBody>
      </p:sp>
    </p:spTree>
    <p:extLst>
      <p:ext uri="{BB962C8B-B14F-4D97-AF65-F5344CB8AC3E}">
        <p14:creationId xmlns:p14="http://schemas.microsoft.com/office/powerpoint/2010/main" val="203730384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89246F48-3A82-42B6-9DEA-46C67E9BF21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FAE9BE28-85EA-4FB7-8F6B-889B204D707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sweep-and-read pipeline, in order</a:t>
            </a:r>
          </a:p>
        </p:txBody>
      </p:sp>
      <p:sp>
        <p:nvSpPr>
          <p:cNvPr id="3" name="">
            <a:extLst xmlns:a="http://schemas.openxmlformats.org/drawingml/2006/main">
              <a:ext uri="{FF2B5EF4-FFF2-40B4-BE49-F238E27FC236}">
                <a16:creationId xmlns:a16="http://schemas.microsoft.com/office/drawing/2014/main" id="{85102E97-1026-44DA-938D-A1F3FF5D7C6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B467FC6-3716-4ADE-973D-B023169123F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D9124228-86C2-4D56-AC6B-4FDA6392B87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33</a:t>
            </a:r>
          </a:p>
        </p:txBody>
      </p:sp>
      <p:sp>
        <p:nvSpPr>
          <p:cNvPr id="6" name="step-arrow-0">
            <a:extLst xmlns:a="http://schemas.openxmlformats.org/drawingml/2006/main">
              <a:ext uri="{FF2B5EF4-FFF2-40B4-BE49-F238E27FC236}">
                <a16:creationId xmlns:a16="http://schemas.microsoft.com/office/drawing/2014/main" id="{EC4AEE48-097E-46EB-BA92-521B1C4E0044}"/>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EED226B0-F0D9-4262-9FA6-197B0F92CB88}"/>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7CB7A3DF-6C70-45CA-B9E0-46FB887B736B}"/>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D3675C48-8219-4010-8FDF-B7C6C4B25854}"/>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1B87F537-F6BE-4FA2-BDC9-0C9683568864}"/>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2D215659-E1D2-45A3-800A-BAB6719F79B9}"/>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POSE</a:t>
            </a:r>
          </a:p>
        </p:txBody>
      </p:sp>
      <p:sp>
        <p:nvSpPr>
          <p:cNvPr id="12" name="">
            <a:extLst xmlns:a="http://schemas.openxmlformats.org/drawingml/2006/main">
              <a:ext uri="{FF2B5EF4-FFF2-40B4-BE49-F238E27FC236}">
                <a16:creationId xmlns:a16="http://schemas.microsoft.com/office/drawing/2014/main" id="{C5EF5F54-6F98-45A9-8461-4F380B717B89}"/>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266BCE6E-98BD-4C22-88DE-DE6E0C0FAB8D}"/>
              </a:ext>
            </a:extLst>
          </p:cNvPr>
          <p:cNvSpPr>
            <a:spLocks xmlns:a="http://schemas.openxmlformats.org/drawingml/2006/main" noGrp="1"/>
          </p:cNvSpPr>
          <p:nvPr/>
        </p:nvSpPr>
        <p:spPr>
          <a:xfrm xmlns:a="http://schemas.openxmlformats.org/drawingml/2006/main">
            <a:off x="8001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State the question first</a:t>
            </a:r>
          </a:p>
        </p:txBody>
      </p:sp>
      <p:sp>
        <p:nvSpPr>
          <p:cNvPr id="14" name="step-body-0">
            <a:extLst xmlns:a="http://schemas.openxmlformats.org/drawingml/2006/main">
              <a:ext uri="{FF2B5EF4-FFF2-40B4-BE49-F238E27FC236}">
                <a16:creationId xmlns:a16="http://schemas.microsoft.com/office/drawing/2014/main" id="{AA7DE739-C6CB-48DC-8DB3-F7E733186FB5}"/>
              </a:ext>
            </a:extLst>
          </p:cNvPr>
          <p:cNvSpPr>
            <a:spLocks xmlns:a="http://schemas.openxmlformats.org/drawingml/2006/main" noGrp="1"/>
          </p:cNvSpPr>
          <p:nvPr/>
        </p:nvSpPr>
        <p:spPr>
          <a:xfrm xmlns:a="http://schemas.openxmlformats.org/drawingml/2006/main">
            <a:off x="8001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Which variable, or combination, moves the outcome most — before any array syntax.</a:t>
            </a:r>
          </a:p>
        </p:txBody>
      </p:sp>
      <p:sp>
        <p:nvSpPr>
          <p:cNvPr id="15" name="step-node-1">
            <a:extLst xmlns:a="http://schemas.openxmlformats.org/drawingml/2006/main">
              <a:ext uri="{FF2B5EF4-FFF2-40B4-BE49-F238E27FC236}">
                <a16:creationId xmlns:a16="http://schemas.microsoft.com/office/drawing/2014/main" id="{AA9CBA7F-FC71-45ED-BFEC-68DB6FC9AF43}"/>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6179F3E1-39B6-40E5-8939-97173F6DB162}"/>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80BD7615-49FD-4999-B9F1-4984CC88B0A6}"/>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SWEEP</a:t>
            </a:r>
          </a:p>
        </p:txBody>
      </p:sp>
      <p:sp>
        <p:nvSpPr>
          <p:cNvPr id="18" name="">
            <a:extLst xmlns:a="http://schemas.openxmlformats.org/drawingml/2006/main">
              <a:ext uri="{FF2B5EF4-FFF2-40B4-BE49-F238E27FC236}">
                <a16:creationId xmlns:a16="http://schemas.microsoft.com/office/drawing/2014/main" id="{36363855-7009-4D8E-AF77-1D9E035009A9}"/>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D3122F74-C3B4-494F-8902-BE8D0F28158D}"/>
              </a:ext>
            </a:extLst>
          </p:cNvPr>
          <p:cNvSpPr>
            <a:spLocks xmlns:a="http://schemas.openxmlformats.org/drawingml/2006/main" noGrp="1"/>
          </p:cNvSpPr>
          <p:nvPr/>
        </p:nvSpPr>
        <p:spPr>
          <a:xfrm xmlns:a="http://schemas.openxmlformats.org/drawingml/2006/main">
            <a:off x="36004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linspace, then vectorize</a:t>
            </a:r>
          </a:p>
        </p:txBody>
      </p:sp>
      <p:sp>
        <p:nvSpPr>
          <p:cNvPr id="20" name="step-body-1">
            <a:extLst xmlns:a="http://schemas.openxmlformats.org/drawingml/2006/main">
              <a:ext uri="{FF2B5EF4-FFF2-40B4-BE49-F238E27FC236}">
                <a16:creationId xmlns:a16="http://schemas.microsoft.com/office/drawing/2014/main" id="{B400FD90-B1C8-4271-BD9E-F45FDB831158}"/>
              </a:ext>
            </a:extLst>
          </p:cNvPr>
          <p:cNvSpPr>
            <a:spLocks xmlns:a="http://schemas.openxmlformats.org/drawingml/2006/main" noGrp="1"/>
          </p:cNvSpPr>
          <p:nvPr/>
        </p:nvSpPr>
        <p:spPr>
          <a:xfrm xmlns:a="http://schemas.openxmlformats.org/drawingml/2006/main">
            <a:off x="36004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Generate values with linspace; call the formula on the whole ndarray, not in a loop.</a:t>
            </a:r>
          </a:p>
        </p:txBody>
      </p:sp>
      <p:sp>
        <p:nvSpPr>
          <p:cNvPr id="21" name="step-node-2">
            <a:extLst xmlns:a="http://schemas.openxmlformats.org/drawingml/2006/main">
              <a:ext uri="{FF2B5EF4-FFF2-40B4-BE49-F238E27FC236}">
                <a16:creationId xmlns:a16="http://schemas.microsoft.com/office/drawing/2014/main" id="{A16E2AD7-DE5C-45EC-BA52-7ECB4BFBEA6E}"/>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71FB857D-812C-484C-911D-312235707A35}"/>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90E70E42-4905-441E-A918-B1C7C978AE6D}"/>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COMBINE</a:t>
            </a:r>
          </a:p>
        </p:txBody>
      </p:sp>
      <p:sp>
        <p:nvSpPr>
          <p:cNvPr id="24" name="">
            <a:extLst xmlns:a="http://schemas.openxmlformats.org/drawingml/2006/main">
              <a:ext uri="{FF2B5EF4-FFF2-40B4-BE49-F238E27FC236}">
                <a16:creationId xmlns:a16="http://schemas.microsoft.com/office/drawing/2014/main" id="{7BB5DDE9-4B23-401A-875C-91E5FD654184}"/>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1077D491-80C9-4F92-80CF-9CD9FD26DCB3}"/>
              </a:ext>
            </a:extLst>
          </p:cNvPr>
          <p:cNvSpPr>
            <a:spLocks xmlns:a="http://schemas.openxmlformats.org/drawingml/2006/main" noGrp="1"/>
          </p:cNvSpPr>
          <p:nvPr/>
        </p:nvSpPr>
        <p:spPr>
          <a:xfrm xmlns:a="http://schemas.openxmlformats.org/drawingml/2006/main">
            <a:off x="64008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meshgrid + mask</a:t>
            </a:r>
          </a:p>
        </p:txBody>
      </p:sp>
      <p:sp>
        <p:nvSpPr>
          <p:cNvPr id="26" name="step-body-2">
            <a:extLst xmlns:a="http://schemas.openxmlformats.org/drawingml/2006/main">
              <a:ext uri="{FF2B5EF4-FFF2-40B4-BE49-F238E27FC236}">
                <a16:creationId xmlns:a16="http://schemas.microsoft.com/office/drawing/2014/main" id="{15D960B2-8C27-468D-9DC9-D8F18A487E95}"/>
              </a:ext>
            </a:extLst>
          </p:cNvPr>
          <p:cNvSpPr>
            <a:spLocks xmlns:a="http://schemas.openxmlformats.org/drawingml/2006/main" noGrp="1"/>
          </p:cNvSpPr>
          <p:nvPr/>
        </p:nvSpPr>
        <p:spPr>
          <a:xfrm xmlns:a="http://schemas.openxmlformats.org/drawingml/2006/main">
            <a:off x="64008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meshgrid pairs both variables together; a boolean mask flags which pairs meet a target.</a:t>
            </a:r>
          </a:p>
        </p:txBody>
      </p:sp>
      <p:sp>
        <p:nvSpPr>
          <p:cNvPr id="27" name="step-node-3">
            <a:extLst xmlns:a="http://schemas.openxmlformats.org/drawingml/2006/main">
              <a:ext uri="{FF2B5EF4-FFF2-40B4-BE49-F238E27FC236}">
                <a16:creationId xmlns:a16="http://schemas.microsoft.com/office/drawing/2014/main" id="{8EE7BDCB-A26B-4940-89A1-26CB7591AC25}"/>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BF836543-EC57-4CB1-8F65-3AB701197E8D}"/>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ACADE180-44EE-4C09-A4C7-B8D5C7884769}"/>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a:t>
            </a:r>
          </a:p>
        </p:txBody>
      </p:sp>
      <p:sp>
        <p:nvSpPr>
          <p:cNvPr id="30" name="">
            <a:extLst xmlns:a="http://schemas.openxmlformats.org/drawingml/2006/main">
              <a:ext uri="{FF2B5EF4-FFF2-40B4-BE49-F238E27FC236}">
                <a16:creationId xmlns:a16="http://schemas.microsoft.com/office/drawing/2014/main" id="{E47246FF-6267-4B10-B723-6FC9C078DAA6}"/>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9A7CC3FF-6BEE-4AF0-A630-502D26936051}"/>
              </a:ext>
            </a:extLst>
          </p:cNvPr>
          <p:cNvSpPr>
            <a:spLocks xmlns:a="http://schemas.openxmlformats.org/drawingml/2006/main" noGrp="1"/>
          </p:cNvSpPr>
          <p:nvPr/>
        </p:nvSpPr>
        <p:spPr>
          <a:xfrm xmlns:a="http://schemas.openxmlformats.org/drawingml/2006/main">
            <a:off x="92011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State the finding</a:t>
            </a:r>
          </a:p>
        </p:txBody>
      </p:sp>
      <p:sp>
        <p:nvSpPr>
          <p:cNvPr id="32" name="step-body-3">
            <a:extLst xmlns:a="http://schemas.openxmlformats.org/drawingml/2006/main">
              <a:ext uri="{FF2B5EF4-FFF2-40B4-BE49-F238E27FC236}">
                <a16:creationId xmlns:a16="http://schemas.microsoft.com/office/drawing/2014/main" id="{86D3CD9C-927D-44D9-AE44-8087D0A6F15E}"/>
              </a:ext>
            </a:extLst>
          </p:cNvPr>
          <p:cNvSpPr>
            <a:spLocks xmlns:a="http://schemas.openxmlformats.org/drawingml/2006/main" noGrp="1"/>
          </p:cNvSpPr>
          <p:nvPr/>
        </p:nvSpPr>
        <p:spPr>
          <a:xfrm xmlns:a="http://schemas.openxmlformats.org/drawingml/2006/main">
            <a:off x="92011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Name the best region and the size of the gain — in one sentence a design team could use.</a:t>
            </a:r>
          </a:p>
        </p:txBody>
      </p:sp>
    </p:spTree>
    <p:extLst>
      <p:ext uri="{BB962C8B-B14F-4D97-AF65-F5344CB8AC3E}">
        <p14:creationId xmlns:p14="http://schemas.microsoft.com/office/powerpoint/2010/main" val="71612796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8FD7F72B-62BE-4810-8992-EDCE130533D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74C33D8F-3758-43AD-9F04-BF9FDE362A5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Milestone: Project 2 opens today</a:t>
            </a:r>
          </a:p>
        </p:txBody>
      </p:sp>
      <p:sp>
        <p:nvSpPr>
          <p:cNvPr id="3" name="">
            <a:extLst xmlns:a="http://schemas.openxmlformats.org/drawingml/2006/main">
              <a:ext uri="{FF2B5EF4-FFF2-40B4-BE49-F238E27FC236}">
                <a16:creationId xmlns:a16="http://schemas.microsoft.com/office/drawing/2014/main" id="{B61BBB2F-EF71-4CD3-8526-BCA72BDE19C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A31A3B6-56D9-48A9-8700-337595F1F9F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9 · Meeting A · Parameter Sweeps and Sensitivity</a:t>
            </a:r>
          </a:p>
        </p:txBody>
      </p:sp>
      <p:sp>
        <p:nvSpPr>
          <p:cNvPr id="5" name="page">
            <a:extLst xmlns:a="http://schemas.openxmlformats.org/drawingml/2006/main">
              <a:ext uri="{FF2B5EF4-FFF2-40B4-BE49-F238E27FC236}">
                <a16:creationId xmlns:a16="http://schemas.microsoft.com/office/drawing/2014/main" id="{A7349543-4270-4937-A443-6750E44A728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34</a:t>
            </a:r>
          </a:p>
        </p:txBody>
      </p:sp>
      <p:sp>
        <p:nvSpPr>
          <p:cNvPr id="6" name="statement">
            <a:extLst xmlns:a="http://schemas.openxmlformats.org/drawingml/2006/main">
              <a:ext uri="{FF2B5EF4-FFF2-40B4-BE49-F238E27FC236}">
                <a16:creationId xmlns:a16="http://schemas.microsoft.com/office/drawing/2014/main" id="{33F5D64C-7ED8-4D18-BAEA-85EDA0E33C86}"/>
              </a:ext>
            </a:extLst>
          </p:cNvPr>
          <p:cNvSpPr>
            <a:spLocks xmlns:a="http://schemas.openxmlformats.org/drawingml/2006/main" noGrp="1"/>
          </p:cNvSpPr>
          <p:nvPr/>
        </p:nvSpPr>
        <p:spPr>
          <a:xfrm xmlns:a="http://schemas.openxmlformats.org/drawingml/2006/main">
            <a:off x="609600" y="1809750"/>
            <a:ext cx="9829800" cy="30388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Project 2 — Predict, Optimize, Decide — is assigned this week: the problem-area, dataset, and prediction/optimization pairing window opens now, with more runway than any other project milestone this semester.</a:t>
            </a:r>
          </a:p>
        </p:txBody>
      </p:sp>
      <p:sp>
        <p:nvSpPr>
          <p:cNvPr id="7" name="">
            <a:extLst xmlns:a="http://schemas.openxmlformats.org/drawingml/2006/main">
              <a:ext uri="{FF2B5EF4-FFF2-40B4-BE49-F238E27FC236}">
                <a16:creationId xmlns:a16="http://schemas.microsoft.com/office/drawing/2014/main" id="{07D7BB82-B867-48C2-9F91-24164816D2DB}"/>
              </a:ext>
            </a:extLst>
          </p:cNvPr>
          <p:cNvSpPr>
            <a:spLocks xmlns:a="http://schemas.openxmlformats.org/drawingml/2006/main" noGrp="1"/>
          </p:cNvSpPr>
          <p:nvPr/>
        </p:nvSpPr>
        <p:spPr>
          <a:xfrm xmlns:a="http://schemas.openxmlformats.org/drawingml/2006/main">
            <a:off x="609600" y="5058156"/>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E9288775-3349-4559-881A-40352C6AA753}"/>
              </a:ext>
            </a:extLst>
          </p:cNvPr>
          <p:cNvSpPr>
            <a:spLocks xmlns:a="http://schemas.openxmlformats.org/drawingml/2006/main" noGrp="1"/>
          </p:cNvSpPr>
          <p:nvPr/>
        </p:nvSpPr>
        <p:spPr>
          <a:xfrm xmlns:a="http://schemas.openxmlformats.org/drawingml/2006/main">
            <a:off x="609600" y="5382006"/>
            <a:ext cx="9334500" cy="8717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Today's two-variable sweep is the exact kind of Part I evidence Project 2 requires on your own formulation. Wednesday's studio builds the graded artifact; this lecture slide is not graded again.</a:t>
            </a:r>
          </a:p>
        </p:txBody>
      </p:sp>
    </p:spTree>
    <p:extLst>
      <p:ext uri="{BB962C8B-B14F-4D97-AF65-F5344CB8AC3E}">
        <p14:creationId xmlns:p14="http://schemas.microsoft.com/office/powerpoint/2010/main" val="455298193"/>
      </p:ext>
    </p:extLst>
  </p:cSld>
</p:sld>
</file>

<file path=ppt/slides/slide35.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12" name="close-week">
            <a:extLst xmlns:a="http://schemas.openxmlformats.org/drawingml/2006/main">
              <a:ext uri="{FF2B5EF4-FFF2-40B4-BE49-F238E27FC236}">
                <a16:creationId xmlns:a16="http://schemas.microsoft.com/office/drawing/2014/main" id="{0AD09B55-CDB3-46A4-BE0A-C94D238BFE8E}"/>
              </a:ext>
            </a:extLst>
          </p:cNvPr>
          <p:cNvSpPr>
            <a:spLocks xmlns:a="http://schemas.openxmlformats.org/drawingml/2006/main" noGrp="1"/>
          </p:cNvSpPr>
          <p:nvPr/>
        </p:nvSpPr>
        <p:spPr>
          <a:xfrm xmlns:a="http://schemas.openxmlformats.org/drawingml/2006/main">
            <a:off x="609600" y="4572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9 · MEETING A · PARAMETER SWEEPS AND SENSITIVITY</a:t>
            </a:r>
          </a:p>
        </p:txBody>
      </p:sp>
      <p:sp>
        <p:nvSpPr>
          <p:cNvPr id="2" name="close-title">
            <a:extLst xmlns:a="http://schemas.openxmlformats.org/drawingml/2006/main">
              <a:ext uri="{FF2B5EF4-FFF2-40B4-BE49-F238E27FC236}">
                <a16:creationId xmlns:a16="http://schemas.microsoft.com/office/drawing/2014/main" id="{A129B817-0334-4096-B897-AE4C2DF338C5}"/>
              </a:ext>
            </a:extLst>
          </p:cNvPr>
          <p:cNvSpPr>
            <a:spLocks xmlns:a="http://schemas.openxmlformats.org/drawingml/2006/main" noGrp="1"/>
          </p:cNvSpPr>
          <p:nvPr/>
        </p:nvSpPr>
        <p:spPr>
          <a:xfrm xmlns:a="http://schemas.openxmlformats.org/drawingml/2006/main">
            <a:off x="609600" y="10668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The question comes first; the tools answer it</a:t>
            </a:r>
          </a:p>
        </p:txBody>
      </p:sp>
      <p:sp>
        <p:nvSpPr>
          <p:cNvPr id="3" name="">
            <a:extLst xmlns:a="http://schemas.openxmlformats.org/drawingml/2006/main">
              <a:ext uri="{FF2B5EF4-FFF2-40B4-BE49-F238E27FC236}">
                <a16:creationId xmlns:a16="http://schemas.microsoft.com/office/drawing/2014/main" id="{D9E5345E-9BAD-4CAA-B818-1931A77AEEB8}"/>
              </a:ext>
            </a:extLst>
          </p:cNvPr>
          <p:cNvSpPr>
            <a:spLocks xmlns:a="http://schemas.openxmlformats.org/drawingml/2006/main" noGrp="1"/>
          </p:cNvSpPr>
          <p:nvPr/>
        </p:nvSpPr>
        <p:spPr>
          <a:xfrm xmlns:a="http://schemas.openxmlformats.org/drawingml/2006/main">
            <a:off x="609600" y="2324100"/>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4" name="take-no-0">
            <a:extLst xmlns:a="http://schemas.openxmlformats.org/drawingml/2006/main">
              <a:ext uri="{FF2B5EF4-FFF2-40B4-BE49-F238E27FC236}">
                <a16:creationId xmlns:a16="http://schemas.microsoft.com/office/drawing/2014/main" id="{67359149-6373-44AF-B648-D9309103A4AE}"/>
              </a:ext>
            </a:extLst>
          </p:cNvPr>
          <p:cNvSpPr>
            <a:spLocks xmlns:a="http://schemas.openxmlformats.org/drawingml/2006/main" noGrp="1"/>
          </p:cNvSpPr>
          <p:nvPr/>
        </p:nvSpPr>
        <p:spPr>
          <a:xfrm xmlns:a="http://schemas.openxmlformats.org/drawingml/2006/main">
            <a:off x="609600" y="2743200"/>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01</a:t>
            </a:r>
          </a:p>
        </p:txBody>
      </p:sp>
      <p:sp>
        <p:nvSpPr>
          <p:cNvPr id="5" name="take-0">
            <a:extLst xmlns:a="http://schemas.openxmlformats.org/drawingml/2006/main">
              <a:ext uri="{FF2B5EF4-FFF2-40B4-BE49-F238E27FC236}">
                <a16:creationId xmlns:a16="http://schemas.microsoft.com/office/drawing/2014/main" id="{95EFDA76-E4B8-4B44-BB5E-F7EDA88F9E9B}"/>
              </a:ext>
            </a:extLst>
          </p:cNvPr>
          <p:cNvSpPr>
            <a:spLocks xmlns:a="http://schemas.openxmlformats.org/drawingml/2006/main" noGrp="1"/>
          </p:cNvSpPr>
          <p:nvPr/>
        </p:nvSpPr>
        <p:spPr>
          <a:xfrm xmlns:a="http://schemas.openxmlformats.org/drawingml/2006/main">
            <a:off x="1409700" y="2705100"/>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A one-at-a-time sweep can give a confidently wrong answer -- it only reports the one slice of the other variable you fixed.</a:t>
            </a:r>
          </a:p>
        </p:txBody>
      </p:sp>
      <p:sp>
        <p:nvSpPr>
          <p:cNvPr id="6" name="take-no-1">
            <a:extLst xmlns:a="http://schemas.openxmlformats.org/drawingml/2006/main">
              <a:ext uri="{FF2B5EF4-FFF2-40B4-BE49-F238E27FC236}">
                <a16:creationId xmlns:a16="http://schemas.microsoft.com/office/drawing/2014/main" id="{861764EE-9A3E-4854-8389-0A64A04D1355}"/>
              </a:ext>
            </a:extLst>
          </p:cNvPr>
          <p:cNvSpPr>
            <a:spLocks xmlns:a="http://schemas.openxmlformats.org/drawingml/2006/main" noGrp="1"/>
          </p:cNvSpPr>
          <p:nvPr/>
        </p:nvSpPr>
        <p:spPr>
          <a:xfrm xmlns:a="http://schemas.openxmlformats.org/drawingml/2006/main">
            <a:off x="609600" y="3528822"/>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02</a:t>
            </a:r>
          </a:p>
        </p:txBody>
      </p:sp>
      <p:sp>
        <p:nvSpPr>
          <p:cNvPr id="7" name="take-1">
            <a:extLst xmlns:a="http://schemas.openxmlformats.org/drawingml/2006/main">
              <a:ext uri="{FF2B5EF4-FFF2-40B4-BE49-F238E27FC236}">
                <a16:creationId xmlns:a16="http://schemas.microsoft.com/office/drawing/2014/main" id="{6AFF58C9-D34F-4A16-BF93-9DF5FE979C01}"/>
              </a:ext>
            </a:extLst>
          </p:cNvPr>
          <p:cNvSpPr>
            <a:spLocks xmlns:a="http://schemas.openxmlformats.org/drawingml/2006/main" noGrp="1"/>
          </p:cNvSpPr>
          <p:nvPr/>
        </p:nvSpPr>
        <p:spPr>
          <a:xfrm xmlns:a="http://schemas.openxmlformats.org/drawingml/2006/main">
            <a:off x="1409700" y="3490722"/>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ndarray plus linspace lets one line evaluate many designs at once; a boolean mask flags which ones meet a target.</a:t>
            </a:r>
          </a:p>
        </p:txBody>
      </p:sp>
      <p:sp>
        <p:nvSpPr>
          <p:cNvPr id="8" name="take-no-2">
            <a:extLst xmlns:a="http://schemas.openxmlformats.org/drawingml/2006/main">
              <a:ext uri="{FF2B5EF4-FFF2-40B4-BE49-F238E27FC236}">
                <a16:creationId xmlns:a16="http://schemas.microsoft.com/office/drawing/2014/main" id="{3E89F8A8-583E-434B-B7E9-164D041305EC}"/>
              </a:ext>
            </a:extLst>
          </p:cNvPr>
          <p:cNvSpPr>
            <a:spLocks xmlns:a="http://schemas.openxmlformats.org/drawingml/2006/main" noGrp="1"/>
          </p:cNvSpPr>
          <p:nvPr/>
        </p:nvSpPr>
        <p:spPr>
          <a:xfrm xmlns:a="http://schemas.openxmlformats.org/drawingml/2006/main">
            <a:off x="609600" y="4314444"/>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03</a:t>
            </a:r>
          </a:p>
        </p:txBody>
      </p:sp>
      <p:sp>
        <p:nvSpPr>
          <p:cNvPr id="9" name="take-2">
            <a:extLst xmlns:a="http://schemas.openxmlformats.org/drawingml/2006/main">
              <a:ext uri="{FF2B5EF4-FFF2-40B4-BE49-F238E27FC236}">
                <a16:creationId xmlns:a16="http://schemas.microsoft.com/office/drawing/2014/main" id="{1B47C8A7-AA6B-4E47-A6B3-7A2879621755}"/>
              </a:ext>
            </a:extLst>
          </p:cNvPr>
          <p:cNvSpPr>
            <a:spLocks xmlns:a="http://schemas.openxmlformats.org/drawingml/2006/main" noGrp="1"/>
          </p:cNvSpPr>
          <p:nvPr/>
        </p:nvSpPr>
        <p:spPr>
          <a:xfrm xmlns:a="http://schemas.openxmlformats.org/drawingml/2006/main">
            <a:off x="1409700" y="4276344"/>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meshgrid combines two swept variables into every real combination -- the only way to compare them fairly.</a:t>
            </a:r>
          </a:p>
        </p:txBody>
      </p:sp>
      <p:sp>
        <p:nvSpPr>
          <p:cNvPr id="10" name="take-no-3">
            <a:extLst xmlns:a="http://schemas.openxmlformats.org/drawingml/2006/main">
              <a:ext uri="{FF2B5EF4-FFF2-40B4-BE49-F238E27FC236}">
                <a16:creationId xmlns:a16="http://schemas.microsoft.com/office/drawing/2014/main" id="{B3896445-8579-4419-9DC1-7FC08CC96AFB}"/>
              </a:ext>
            </a:extLst>
          </p:cNvPr>
          <p:cNvSpPr>
            <a:spLocks xmlns:a="http://schemas.openxmlformats.org/drawingml/2006/main" noGrp="1"/>
          </p:cNvSpPr>
          <p:nvPr/>
        </p:nvSpPr>
        <p:spPr>
          <a:xfrm xmlns:a="http://schemas.openxmlformats.org/drawingml/2006/main">
            <a:off x="609600" y="5100066"/>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04</a:t>
            </a:r>
          </a:p>
        </p:txBody>
      </p:sp>
      <p:sp>
        <p:nvSpPr>
          <p:cNvPr id="11" name="take-3">
            <a:extLst xmlns:a="http://schemas.openxmlformats.org/drawingml/2006/main">
              <a:ext uri="{FF2B5EF4-FFF2-40B4-BE49-F238E27FC236}">
                <a16:creationId xmlns:a16="http://schemas.microsoft.com/office/drawing/2014/main" id="{E2E95B5C-FAF5-47DF-B439-3E3E73DEAFEA}"/>
              </a:ext>
            </a:extLst>
          </p:cNvPr>
          <p:cNvSpPr>
            <a:spLocks xmlns:a="http://schemas.openxmlformats.org/drawingml/2006/main" noGrp="1"/>
          </p:cNvSpPr>
          <p:nvPr/>
        </p:nvSpPr>
        <p:spPr>
          <a:xfrm xmlns:a="http://schemas.openxmlformats.org/drawingml/2006/main">
            <a:off x="1409700" y="5061966"/>
            <a:ext cx="10172700" cy="97840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The verified answer here: aim near wwr=0.275, shade_m=0.90 -- about 33 points better than baseline, and clearly better than the other low region.</a:t>
            </a:r>
          </a:p>
        </p:txBody>
      </p:sp>
    </p:spTree>
    <p:extLst>
      <p:ext uri="{BB962C8B-B14F-4D97-AF65-F5344CB8AC3E}">
        <p14:creationId xmlns:p14="http://schemas.microsoft.com/office/powerpoint/2010/main" val="6871316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2026-08-20T17:14:06.9260000Z</dcterms:created>
  <dcterms:modified xsi:type="dcterms:W3CDTF">2026-08-20T17:14:06.9260000Z</dcterms:modified>
</coreProperties>
</file>