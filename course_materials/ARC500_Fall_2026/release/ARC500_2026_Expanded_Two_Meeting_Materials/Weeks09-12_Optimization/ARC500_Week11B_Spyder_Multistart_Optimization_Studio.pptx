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2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b0a0b3d9cf456d" /><Relationship Type="http://schemas.openxmlformats.org/officeDocument/2006/relationships/extended-properties" Target="/docProps/app.xml" Id="R39443182018a4d11" /><Relationship Type="http://schemas.openxmlformats.org/officeDocument/2006/relationships/officeDocument" Target="/ppt/presentation.xml" Id="R0153349de81e42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f632561bc4b65"/>
  </p:sldMasterIdLst>
  <p:notesMasterIdLst>
    <p:notesMasterId xmlns:r="http://schemas.openxmlformats.org/officeDocument/2006/relationships" r:id="R8815c92d43e14936"/>
  </p:notesMasterIdLst>
  <p:sldIdLst>
    <p:sldId xmlns:r="http://schemas.openxmlformats.org/officeDocument/2006/relationships" id="256" r:id="R56d04a7a05d14e91"/>
    <p:sldId xmlns:r="http://schemas.openxmlformats.org/officeDocument/2006/relationships" id="257" r:id="R65041150d0464ff0"/>
    <p:sldId xmlns:r="http://schemas.openxmlformats.org/officeDocument/2006/relationships" id="258" r:id="Re383f581ff4f4218"/>
    <p:sldId xmlns:r="http://schemas.openxmlformats.org/officeDocument/2006/relationships" id="259" r:id="R9e6ce3f4c68c4742"/>
    <p:sldId xmlns:r="http://schemas.openxmlformats.org/officeDocument/2006/relationships" id="260" r:id="R29fdcf9701ac405c"/>
    <p:sldId xmlns:r="http://schemas.openxmlformats.org/officeDocument/2006/relationships" id="261" r:id="R9ce990a9d9b44490"/>
    <p:sldId xmlns:r="http://schemas.openxmlformats.org/officeDocument/2006/relationships" id="262" r:id="Rfc5b2567e2c9416a"/>
    <p:sldId xmlns:r="http://schemas.openxmlformats.org/officeDocument/2006/relationships" id="263" r:id="R60ee93a96cc84a01"/>
    <p:sldId xmlns:r="http://schemas.openxmlformats.org/officeDocument/2006/relationships" id="264" r:id="Rb311c99f1d88405e"/>
    <p:sldId xmlns:r="http://schemas.openxmlformats.org/officeDocument/2006/relationships" id="265" r:id="Rdd48140bd3c44b60"/>
    <p:sldId xmlns:r="http://schemas.openxmlformats.org/officeDocument/2006/relationships" id="266" r:id="R2f1f6f20a9704e31"/>
    <p:sldId xmlns:r="http://schemas.openxmlformats.org/officeDocument/2006/relationships" id="267" r:id="Rf5792ff8bbf24b28"/>
    <p:sldId xmlns:r="http://schemas.openxmlformats.org/officeDocument/2006/relationships" id="268" r:id="Rba07d39b8ef941fb"/>
    <p:sldId xmlns:r="http://schemas.openxmlformats.org/officeDocument/2006/relationships" id="269" r:id="R99d07d7bdb254934"/>
    <p:sldId xmlns:r="http://schemas.openxmlformats.org/officeDocument/2006/relationships" id="270" r:id="Raa8683de50674686"/>
    <p:sldId xmlns:r="http://schemas.openxmlformats.org/officeDocument/2006/relationships" id="271" r:id="Rf19fd5c53e044a9d"/>
    <p:sldId xmlns:r="http://schemas.openxmlformats.org/officeDocument/2006/relationships" id="272" r:id="R1a3062fa00614a1e"/>
    <p:sldId xmlns:r="http://schemas.openxmlformats.org/officeDocument/2006/relationships" id="273" r:id="R3dbeb2df52ef45a6"/>
    <p:sldId xmlns:r="http://schemas.openxmlformats.org/officeDocument/2006/relationships" id="274" r:id="Rf53ca1a82516411f"/>
    <p:sldId xmlns:r="http://schemas.openxmlformats.org/officeDocument/2006/relationships" id="275" r:id="Rc9f1d359e0ea48d8"/>
    <p:sldId xmlns:r="http://schemas.openxmlformats.org/officeDocument/2006/relationships" id="276" r:id="R58578f1825134100"/>
    <p:sldId xmlns:r="http://schemas.openxmlformats.org/officeDocument/2006/relationships" id="277" r:id="Rb815a7ee78de409c"/>
    <p:sldId xmlns:r="http://schemas.openxmlformats.org/officeDocument/2006/relationships" id="278" r:id="R784d155c1d4141a5"/>
    <p:sldId xmlns:r="http://schemas.openxmlformats.org/officeDocument/2006/relationships" id="279" r:id="R1ac534fdd9384100"/>
    <p:sldId xmlns:r="http://schemas.openxmlformats.org/officeDocument/2006/relationships" id="280" r:id="R6595d34a9f4f4381"/>
    <p:sldId xmlns:r="http://schemas.openxmlformats.org/officeDocument/2006/relationships" id="281" r:id="Rd7a05fc4704f48b9"/>
    <p:sldId xmlns:r="http://schemas.openxmlformats.org/officeDocument/2006/relationships" id="282" r:id="R8b1503a768044e9c"/>
    <p:sldId xmlns:r="http://schemas.openxmlformats.org/officeDocument/2006/relationships" id="283" r:id="Rbc53f1540f8346f1"/>
    <p:sldId xmlns:r="http://schemas.openxmlformats.org/officeDocument/2006/relationships" id="284" r:id="R575b86a415c046ce"/>
    <p:sldId xmlns:r="http://schemas.openxmlformats.org/officeDocument/2006/relationships" id="285" r:id="Reec9151b08c24b3d"/>
    <p:sldId xmlns:r="http://schemas.openxmlformats.org/officeDocument/2006/relationships" id="286" r:id="Rce426507b41c476c"/>
    <p:sldId xmlns:r="http://schemas.openxmlformats.org/officeDocument/2006/relationships" id="287" r:id="Rd47191138ac64376"/>
    <p:sldId xmlns:r="http://schemas.openxmlformats.org/officeDocument/2006/relationships" id="288" r:id="R19a5ce0eeab74b43"/>
    <p:sldId xmlns:r="http://schemas.openxmlformats.org/officeDocument/2006/relationships" id="289" r:id="R711d8d4b0ee64a00"/>
    <p:sldId xmlns:r="http://schemas.openxmlformats.org/officeDocument/2006/relationships" id="290" r:id="R7022180f744649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65654173484902" /><Relationship Type="http://schemas.openxmlformats.org/officeDocument/2006/relationships/slideMaster" Target="/ppt/slideMasters/slideMaster1.xml" Id="Rf1cf632561bc4b65" /><Relationship Type="http://schemas.openxmlformats.org/officeDocument/2006/relationships/notesMaster" Target="/ppt/notesMasters/notesMaster1.xml" Id="R8815c92d43e14936" /><Relationship Type="http://schemas.openxmlformats.org/officeDocument/2006/relationships/presProps" Target="/ppt/presProps.xml" Id="Rf54889389a7740b8" /><Relationship Type="http://schemas.openxmlformats.org/officeDocument/2006/relationships/tableStyles" Target="/ppt/tableStyles.xml" Id="R128ede450b0d4b01" /><Relationship Type="http://schemas.openxmlformats.org/officeDocument/2006/relationships/slide" Target="/ppt/slides/slide1.xml" Id="R56d04a7a05d14e91" /><Relationship Type="http://schemas.openxmlformats.org/officeDocument/2006/relationships/slide" Target="/ppt/slides/slide2.xml" Id="R65041150d0464ff0" /><Relationship Type="http://schemas.openxmlformats.org/officeDocument/2006/relationships/slide" Target="/ppt/slides/slide3.xml" Id="Re383f581ff4f4218" /><Relationship Type="http://schemas.openxmlformats.org/officeDocument/2006/relationships/slide" Target="/ppt/slides/slide4.xml" Id="R9e6ce3f4c68c4742" /><Relationship Type="http://schemas.openxmlformats.org/officeDocument/2006/relationships/slide" Target="/ppt/slides/slide5.xml" Id="R29fdcf9701ac405c" /><Relationship Type="http://schemas.openxmlformats.org/officeDocument/2006/relationships/slide" Target="/ppt/slides/slide6.xml" Id="R9ce990a9d9b44490" /><Relationship Type="http://schemas.openxmlformats.org/officeDocument/2006/relationships/slide" Target="/ppt/slides/slide7.xml" Id="Rfc5b2567e2c9416a" /><Relationship Type="http://schemas.openxmlformats.org/officeDocument/2006/relationships/slide" Target="/ppt/slides/slide8.xml" Id="R60ee93a96cc84a01" /><Relationship Type="http://schemas.openxmlformats.org/officeDocument/2006/relationships/slide" Target="/ppt/slides/slide9.xml" Id="Rb311c99f1d88405e" /><Relationship Type="http://schemas.openxmlformats.org/officeDocument/2006/relationships/slide" Target="/ppt/slides/slide10.xml" Id="Rdd48140bd3c44b60" /><Relationship Type="http://schemas.openxmlformats.org/officeDocument/2006/relationships/slide" Target="/ppt/slides/slide11.xml" Id="R2f1f6f20a9704e31" /><Relationship Type="http://schemas.openxmlformats.org/officeDocument/2006/relationships/slide" Target="/ppt/slides/slide12.xml" Id="Rf5792ff8bbf24b28" /><Relationship Type="http://schemas.openxmlformats.org/officeDocument/2006/relationships/slide" Target="/ppt/slides/slide13.xml" Id="Rba07d39b8ef941fb" /><Relationship Type="http://schemas.openxmlformats.org/officeDocument/2006/relationships/slide" Target="/ppt/slides/slide14.xml" Id="R99d07d7bdb254934" /><Relationship Type="http://schemas.openxmlformats.org/officeDocument/2006/relationships/slide" Target="/ppt/slides/slide15.xml" Id="Raa8683de50674686" /><Relationship Type="http://schemas.openxmlformats.org/officeDocument/2006/relationships/slide" Target="/ppt/slides/slide16.xml" Id="Rf19fd5c53e044a9d" /><Relationship Type="http://schemas.openxmlformats.org/officeDocument/2006/relationships/slide" Target="/ppt/slides/slide17.xml" Id="R1a3062fa00614a1e" /><Relationship Type="http://schemas.openxmlformats.org/officeDocument/2006/relationships/slide" Target="/ppt/slides/slide18.xml" Id="R3dbeb2df52ef45a6" /><Relationship Type="http://schemas.openxmlformats.org/officeDocument/2006/relationships/slide" Target="/ppt/slides/slide19.xml" Id="Rf53ca1a82516411f" /><Relationship Type="http://schemas.openxmlformats.org/officeDocument/2006/relationships/slide" Target="/ppt/slides/slide20.xml" Id="Rc9f1d359e0ea48d8" /><Relationship Type="http://schemas.openxmlformats.org/officeDocument/2006/relationships/slide" Target="/ppt/slides/slide21.xml" Id="R58578f1825134100" /><Relationship Type="http://schemas.openxmlformats.org/officeDocument/2006/relationships/slide" Target="/ppt/slides/slide22.xml" Id="Rb815a7ee78de409c" /><Relationship Type="http://schemas.openxmlformats.org/officeDocument/2006/relationships/slide" Target="/ppt/slides/slide23.xml" Id="R784d155c1d4141a5" /><Relationship Type="http://schemas.openxmlformats.org/officeDocument/2006/relationships/slide" Target="/ppt/slides/slide24.xml" Id="R1ac534fdd9384100" /><Relationship Type="http://schemas.openxmlformats.org/officeDocument/2006/relationships/slide" Target="/ppt/slides/slide25.xml" Id="R6595d34a9f4f4381" /><Relationship Type="http://schemas.openxmlformats.org/officeDocument/2006/relationships/slide" Target="/ppt/slides/slide26.xml" Id="Rd7a05fc4704f48b9" /><Relationship Type="http://schemas.openxmlformats.org/officeDocument/2006/relationships/slide" Target="/ppt/slides/slide27.xml" Id="R8b1503a768044e9c" /><Relationship Type="http://schemas.openxmlformats.org/officeDocument/2006/relationships/slide" Target="/ppt/slides/slide28.xml" Id="Rbc53f1540f8346f1" /><Relationship Type="http://schemas.openxmlformats.org/officeDocument/2006/relationships/slide" Target="/ppt/slides/slide29.xml" Id="R575b86a415c046ce" /><Relationship Type="http://schemas.openxmlformats.org/officeDocument/2006/relationships/slide" Target="/ppt/slides/slide30.xml" Id="Reec9151b08c24b3d" /><Relationship Type="http://schemas.openxmlformats.org/officeDocument/2006/relationships/slide" Target="/ppt/slides/slide31.xml" Id="Rce426507b41c476c" /><Relationship Type="http://schemas.openxmlformats.org/officeDocument/2006/relationships/slide" Target="/ppt/slides/slide32.xml" Id="Rd47191138ac64376" /><Relationship Type="http://schemas.openxmlformats.org/officeDocument/2006/relationships/slide" Target="/ppt/slides/slide33.xml" Id="R19a5ce0eeab74b43" /><Relationship Type="http://schemas.openxmlformats.org/officeDocument/2006/relationships/slide" Target="/ppt/slides/slide34.xml" Id="R711d8d4b0ee64a00" /><Relationship Type="http://schemas.openxmlformats.org/officeDocument/2006/relationships/slide" Target="/ppt/slides/slide35.xml" Id="R7022180f744649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1bc17fa5bb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a7237c080f4ecc" /><Relationship Type="http://schemas.openxmlformats.org/officeDocument/2006/relationships/notesMaster" Target="/ppt/notesMasters/notesMaster1.xml" Id="Rcfd954ab559a49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05d396636c4665" /><Relationship Type="http://schemas.openxmlformats.org/officeDocument/2006/relationships/notesMaster" Target="/ppt/notesMasters/notesMaster1.xml" Id="Rcb2b431bca3a47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3a42ccd6794e30" /><Relationship Type="http://schemas.openxmlformats.org/officeDocument/2006/relationships/notesMaster" Target="/ppt/notesMasters/notesMaster1.xml" Id="Rd1868aa4dce145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4148361dfb407e" /><Relationship Type="http://schemas.openxmlformats.org/officeDocument/2006/relationships/notesMaster" Target="/ppt/notesMasters/notesMaster1.xml" Id="Rd30bf68c4dcd44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863b1e1ca5419c" /><Relationship Type="http://schemas.openxmlformats.org/officeDocument/2006/relationships/notesMaster" Target="/ppt/notesMasters/notesMaster1.xml" Id="Rea43f413aaae49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7bab05bd104b17" /><Relationship Type="http://schemas.openxmlformats.org/officeDocument/2006/relationships/notesMaster" Target="/ppt/notesMasters/notesMaster1.xml" Id="Rf9a1ce2821374c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ec64a777ab4db6" /><Relationship Type="http://schemas.openxmlformats.org/officeDocument/2006/relationships/notesMaster" Target="/ppt/notesMasters/notesMaster1.xml" Id="Rae3ac0a308b140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5b95cdb1574554" /><Relationship Type="http://schemas.openxmlformats.org/officeDocument/2006/relationships/notesMaster" Target="/ppt/notesMasters/notesMaster1.xml" Id="Re245a719306148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92838efaf745ee" /><Relationship Type="http://schemas.openxmlformats.org/officeDocument/2006/relationships/notesMaster" Target="/ppt/notesMasters/notesMaster1.xml" Id="R81613c322c7b4c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05c7f711354c50" /><Relationship Type="http://schemas.openxmlformats.org/officeDocument/2006/relationships/notesMaster" Target="/ppt/notesMasters/notesMaster1.xml" Id="Rfaed39b5d44048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86dc5bdbf14509" /><Relationship Type="http://schemas.openxmlformats.org/officeDocument/2006/relationships/notesMaster" Target="/ppt/notesMasters/notesMaster1.xml" Id="Ra3a2fc1a14c34c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6a47a9c7d74256" /><Relationship Type="http://schemas.openxmlformats.org/officeDocument/2006/relationships/notesMaster" Target="/ppt/notesMasters/notesMaster1.xml" Id="Rdeb802f8613d45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3ec80ec86d46e0" /><Relationship Type="http://schemas.openxmlformats.org/officeDocument/2006/relationships/notesMaster" Target="/ppt/notesMasters/notesMaster1.xml" Id="R80793c220e1146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0a201bbaf8446f" /><Relationship Type="http://schemas.openxmlformats.org/officeDocument/2006/relationships/notesMaster" Target="/ppt/notesMasters/notesMaster1.xml" Id="R86eacc4558424e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a9b254d96644af" /><Relationship Type="http://schemas.openxmlformats.org/officeDocument/2006/relationships/notesMaster" Target="/ppt/notesMasters/notesMaster1.xml" Id="R1d1e82ab58bf47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b1dec0e26e4d95" /><Relationship Type="http://schemas.openxmlformats.org/officeDocument/2006/relationships/notesMaster" Target="/ppt/notesMasters/notesMaster1.xml" Id="Ra4d62d7ba8c640f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dd5b8f7c724d37" /><Relationship Type="http://schemas.openxmlformats.org/officeDocument/2006/relationships/notesMaster" Target="/ppt/notesMasters/notesMaster1.xml" Id="R86b906c7085b4d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5cfd0d51f0453b" /><Relationship Type="http://schemas.openxmlformats.org/officeDocument/2006/relationships/notesMaster" Target="/ppt/notesMasters/notesMaster1.xml" Id="Re8cf6e636dd045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84be009f4d4f5e" /><Relationship Type="http://schemas.openxmlformats.org/officeDocument/2006/relationships/notesMaster" Target="/ppt/notesMasters/notesMaster1.xml" Id="R7ef48308c6df42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21513a35784473" /><Relationship Type="http://schemas.openxmlformats.org/officeDocument/2006/relationships/notesMaster" Target="/ppt/notesMasters/notesMaster1.xml" Id="Rb6d7237a471c421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b5320817644fc1" /><Relationship Type="http://schemas.openxmlformats.org/officeDocument/2006/relationships/notesMaster" Target="/ppt/notesMasters/notesMaster1.xml" Id="R800b3b71aec840e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8a0fc5002a44e17" /><Relationship Type="http://schemas.openxmlformats.org/officeDocument/2006/relationships/notesMaster" Target="/ppt/notesMasters/notesMaster1.xml" Id="Rc629fb80d82d4af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dd71d096914a1b" /><Relationship Type="http://schemas.openxmlformats.org/officeDocument/2006/relationships/notesMaster" Target="/ppt/notesMasters/notesMaster1.xml" Id="R7cc9fca78ec84f9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d1dc52a831e4335" /><Relationship Type="http://schemas.openxmlformats.org/officeDocument/2006/relationships/notesMaster" Target="/ppt/notesMasters/notesMaster1.xml" Id="R56e980fd9081480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3234a8b273843d8" /><Relationship Type="http://schemas.openxmlformats.org/officeDocument/2006/relationships/notesMaster" Target="/ppt/notesMasters/notesMaster1.xml" Id="R5e46e8f2021345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8c8b69b1b584e5e" /><Relationship Type="http://schemas.openxmlformats.org/officeDocument/2006/relationships/notesMaster" Target="/ppt/notesMasters/notesMaster1.xml" Id="R910286c2c38c491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930976c6684637" /><Relationship Type="http://schemas.openxmlformats.org/officeDocument/2006/relationships/notesMaster" Target="/ppt/notesMasters/notesMaster1.xml" Id="R7d805026eed844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9c6152ddec454a" /><Relationship Type="http://schemas.openxmlformats.org/officeDocument/2006/relationships/notesMaster" Target="/ppt/notesMasters/notesMaster1.xml" Id="R34657390725a48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421afedd0884e19" /><Relationship Type="http://schemas.openxmlformats.org/officeDocument/2006/relationships/notesMaster" Target="/ppt/notesMasters/notesMaster1.xml" Id="R20e7d5cd0a5f418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80e7f0b24934dde" /><Relationship Type="http://schemas.openxmlformats.org/officeDocument/2006/relationships/notesMaster" Target="/ppt/notesMasters/notesMaster1.xml" Id="R3a6530d7ce1849c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aa31b505c3c443d" /><Relationship Type="http://schemas.openxmlformats.org/officeDocument/2006/relationships/notesMaster" Target="/ppt/notesMasters/notesMaster1.xml" Id="Rd98eaf2b0d4f4f1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288ae9f23c3433a" /><Relationship Type="http://schemas.openxmlformats.org/officeDocument/2006/relationships/notesMaster" Target="/ppt/notesMasters/notesMaster1.xml" Id="R2f03ef8cd9bd45d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40e2bc6157e4213" /><Relationship Type="http://schemas.openxmlformats.org/officeDocument/2006/relationships/notesMaster" Target="/ppt/notesMasters/notesMaster1.xml" Id="R5653f5fb166643b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0974dececd6467a" /><Relationship Type="http://schemas.openxmlformats.org/officeDocument/2006/relationships/notesMaster" Target="/ppt/notesMasters/notesMaster1.xml" Id="Rdc8800ea3c3947b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3570de5b81a4d10" /><Relationship Type="http://schemas.openxmlformats.org/officeDocument/2006/relationships/notesMaster" Target="/ppt/notesMasters/notesMaster1.xml" Id="Rfde6953ff52a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Open the Week 11 handout. Ask students to predict, before running anything, whether wwr=0.55/shade=0.20 looks like a 'good' starting guess to them — most will say yes.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Name this explicitly as the Week 11 milestone, not an additional assignment — the handout produced today IS the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Preview that today's four steps mirror Meeting A's closing process slide, now run for real in Spyder.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Keep the formal definition of global optimum, then contrast it with the evidence available here: a finite grid and multiple starts support a candidate rather than prove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which line represents Demo A and which Demo B. These are accepted callback values, not a promise about every internal trial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slide is the map of the whole studio — refer back to it before each new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Read basin()'s signature out loud — seven floats in, one float out. Point at the docstring and remind students this is the same convention their own functions have needed since Week 4; it is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Confirm the Week 9 values, then say explicitly: lower/best known is not the same as proved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to this generic shape before running cell [2] — every call today, Demo A through the eight-row sweep, is this exact form with only x0 changing.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Most students will not confidently predict LOCAL here — that uncertainty is expected and is the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Pause here before showing Demo B — ask students to commit to a written prediction of what will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Ask: if a student had only run Demo A and submitted it, what would be lost? Answer: about 4 points of achievable performance, silently.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whether a defective single-start function could still print success: True. It can. Then distinguish a lower corroborated result from a proved global optimum.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Expected: result_b is lower by about 3.99; only x0 differed; convergence means the search stopped moving, not that it found the true minimum.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Connect directly to Project 2 Part II's requirement: at least two initial guesses, with the comparison reported, not hidden.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at the indentation: minimize and records.append are both INSIDE the loop, so they run eight times. Ask what records contains right after the loop ends — eight dicts, not a table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Name this explicitly as new syntax, not a recall — Week 4 only ever built a DataFrame from a dict-of-lists. Have students compare this printout line by line against Meeting A's table before moving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back at cell [4]'s for-loop while showing this — 'records' is the exact list built one dict at a time, right before this line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Not a required handout cell — a console-only trick worth showing live. Point out the row labels (6, 7, 5) are the ORIGINAL index positions from cell [4], not renumbered — confirms nothing was recomputed, only re-read.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Expected: 5 rows at -7.1521, 3 rows at -11.1437, 62.5%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Make the vectorized labeling visible before the table, and clarify that LOWER means the lower observed basin rather than a proof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np.where(multi_start['value'] &lt; -9, 'LOWER', 'LOCAL') uses -9 only to separate these two observed values; it is not a general rule or proof of globality.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which bar looks 'better' if height alone were shown. Height tracks frequency, not quality or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is the sentence students should be able to say from memory before Wednesday ends.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Do not let 'no bounds=' bait students into predicting an error or a wild number — the honest, uncomfortable answer is that it runs cleanly and reproduces Demo A exactly.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Give students this exact function and this exact output. Require them to name at least four defects before revealing the instructor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https://docs.scipy.org/doc/scipy/reference/generated/scipy.optimize.minimize.html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Require students to reference cells [2]-[5]'s own numbers when naming the mislabeling defect — 'it says Best design but cell [4] shows 5 of 8 starts land here' is the expected level of specificity.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is the required transfer safeguard: different inputs and passing assertions. State the boundary between corroboration and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Expected: (0.35, 0.75) -&gt; LOWER, (0.58, 0.15) -&gt; LOCAL. Proximity predicts these two cases; the transfer check supports the pattern but is not a proof over the continuum.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Name this explicitly as the word for what the whole studio has been doing since Demo A — students have been practicing multi-start for the last ten minutes without the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Preview that this term was named but not yet defined at the end of Meeting A — this is that promised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Name this as new vocabulary for the first time — Project 2 Part II requires exactly this artifact for both the linprog and the minimize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Remind students this satisfies the Week 11 milestone from the semester plan — nothing additional is owed beyond this handout.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compiles as this week's graded weekly assignment — emphasize the four-heading cell structure is the rubric skeleton.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Exit ticket: name two well-separated Project 2 starts, predict agreement, and state what evidence would still be needed before claiming global optimality.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7fd669f6542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5070d381244c77" /><Relationship Type="http://schemas.openxmlformats.org/officeDocument/2006/relationships/slideLayout" Target="/ppt/slideLayouts/slideLayout1.xml" Id="R9d6a7faa9b2040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6a7faa9b2040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69b40ddc044f8" /><Relationship Type="http://schemas.openxmlformats.org/officeDocument/2006/relationships/notesSlide" Target="/ppt/notesSlides/notesSlide1.xml" Id="Recdd53f1855b42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06b1c823a40a6" /><Relationship Type="http://schemas.openxmlformats.org/officeDocument/2006/relationships/notesSlide" Target="/ppt/notesSlides/notesSlide2.xml" Id="Rd5606cf95a9245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ec2b309aa46eb" /><Relationship Type="http://schemas.openxmlformats.org/officeDocument/2006/relationships/notesSlide" Target="/ppt/notesSlides/notesSlide3.xml" Id="R9238658055534d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9e7ad46bd4a7c" /><Relationship Type="http://schemas.openxmlformats.org/officeDocument/2006/relationships/notesSlide" Target="/ppt/notesSlides/notesSlide4.xml" Id="Rb481f0fc7a3649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bba84491a480e" /><Relationship Type="http://schemas.openxmlformats.org/officeDocument/2006/relationships/chart" Target="/ppt/slides/charts/chart1.xml" Id="R45760ee599f74da1" /><Relationship Type="http://schemas.openxmlformats.org/officeDocument/2006/relationships/notesSlide" Target="/ppt/notesSlides/notesSlide5.xml" Id="Ra99aa3c2b0a442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d7189eb064b0b" /><Relationship Type="http://schemas.openxmlformats.org/officeDocument/2006/relationships/notesSlide" Target="/ppt/notesSlides/notesSlide6.xml" Id="R6ac5e85ee57b42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a36687c624397" /><Relationship Type="http://schemas.openxmlformats.org/officeDocument/2006/relationships/notesSlide" Target="/ppt/notesSlides/notesSlide7.xml" Id="R4b43522def344d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5aaf801234f36" /><Relationship Type="http://schemas.openxmlformats.org/officeDocument/2006/relationships/notesSlide" Target="/ppt/notesSlides/notesSlide8.xml" Id="Red061f0bd0fe4f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59ba546bb47ab" /><Relationship Type="http://schemas.openxmlformats.org/officeDocument/2006/relationships/notesSlide" Target="/ppt/notesSlides/notesSlide9.xml" Id="R2de1a5aebf854e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667b0c0c741c2" /><Relationship Type="http://schemas.openxmlformats.org/officeDocument/2006/relationships/notesSlide" Target="/ppt/notesSlides/notesSlide10.xml" Id="R3f0928eac89f41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75ae0222f4e43" /><Relationship Type="http://schemas.openxmlformats.org/officeDocument/2006/relationships/notesSlide" Target="/ppt/notesSlides/notesSlide11.xml" Id="Rd489ff9e6ff249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5432383444f60" /><Relationship Type="http://schemas.openxmlformats.org/officeDocument/2006/relationships/notesSlide" Target="/ppt/notesSlides/notesSlide12.xml" Id="R5a20d44568b249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b461df959422a" /><Relationship Type="http://schemas.openxmlformats.org/officeDocument/2006/relationships/notesSlide" Target="/ppt/notesSlides/notesSlide13.xml" Id="Rb3dbbb4df3af45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a73e319cc4e7f" /><Relationship Type="http://schemas.openxmlformats.org/officeDocument/2006/relationships/notesSlide" Target="/ppt/notesSlides/notesSlide14.xml" Id="R1d7c75da17644e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3c79d55314260" /><Relationship Type="http://schemas.openxmlformats.org/officeDocument/2006/relationships/notesSlide" Target="/ppt/notesSlides/notesSlide15.xml" Id="R3d21dd0979da4f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889990e4b4ed2" /><Relationship Type="http://schemas.openxmlformats.org/officeDocument/2006/relationships/notesSlide" Target="/ppt/notesSlides/notesSlide16.xml" Id="Ra27a8aee714142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1639ed2a74c37" /><Relationship Type="http://schemas.openxmlformats.org/officeDocument/2006/relationships/notesSlide" Target="/ppt/notesSlides/notesSlide17.xml" Id="R1a51d697c9c04b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3497f43da450e" /><Relationship Type="http://schemas.openxmlformats.org/officeDocument/2006/relationships/notesSlide" Target="/ppt/notesSlides/notesSlide18.xml" Id="R16c2fd189a3546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c8aa8e03e4786" /><Relationship Type="http://schemas.openxmlformats.org/officeDocument/2006/relationships/notesSlide" Target="/ppt/notesSlides/notesSlide19.xml" Id="R1d3f184f7eda4d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62f748c704771" /><Relationship Type="http://schemas.openxmlformats.org/officeDocument/2006/relationships/notesSlide" Target="/ppt/notesSlides/notesSlide20.xml" Id="R355e87005d0545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8447bccf54f3f" /><Relationship Type="http://schemas.openxmlformats.org/officeDocument/2006/relationships/notesSlide" Target="/ppt/notesSlides/notesSlide21.xml" Id="Rf46024f097a249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4dfcc83c34460" /><Relationship Type="http://schemas.openxmlformats.org/officeDocument/2006/relationships/notesSlide" Target="/ppt/notesSlides/notesSlide22.xml" Id="Ra4d91b552c95428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00c5f14f9406b" /><Relationship Type="http://schemas.openxmlformats.org/officeDocument/2006/relationships/chart" Target="/ppt/slides/charts/chart2.xml" Id="R1861a29ed4f64467" /><Relationship Type="http://schemas.openxmlformats.org/officeDocument/2006/relationships/notesSlide" Target="/ppt/notesSlides/notesSlide23.xml" Id="R1fcbd4815ad1474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9c6b1f2cd4dda" /><Relationship Type="http://schemas.openxmlformats.org/officeDocument/2006/relationships/notesSlide" Target="/ppt/notesSlides/notesSlide24.xml" Id="Rc22b4a36cc1443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774d77ec14c4a" /><Relationship Type="http://schemas.openxmlformats.org/officeDocument/2006/relationships/notesSlide" Target="/ppt/notesSlides/notesSlide25.xml" Id="R2482bceb244b492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58ee18c3b4497" /><Relationship Type="http://schemas.openxmlformats.org/officeDocument/2006/relationships/notesSlide" Target="/ppt/notesSlides/notesSlide26.xml" Id="R84363bd3be224b2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e58d73b214780" /><Relationship Type="http://schemas.openxmlformats.org/officeDocument/2006/relationships/notesSlide" Target="/ppt/notesSlides/notesSlide27.xml" Id="R2745cbe1f4ee41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53bbbce2c455f" /><Relationship Type="http://schemas.openxmlformats.org/officeDocument/2006/relationships/notesSlide" Target="/ppt/notesSlides/notesSlide28.xml" Id="Rc977f35e4901467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7d45fcf5b42c8" /><Relationship Type="http://schemas.openxmlformats.org/officeDocument/2006/relationships/notesSlide" Target="/ppt/notesSlides/notesSlide29.xml" Id="R9f46b38de28a404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e1aca55e94eac" /><Relationship Type="http://schemas.openxmlformats.org/officeDocument/2006/relationships/notesSlide" Target="/ppt/notesSlides/notesSlide30.xml" Id="R5389129c46324e9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7545622fa4236" /><Relationship Type="http://schemas.openxmlformats.org/officeDocument/2006/relationships/notesSlide" Target="/ppt/notesSlides/notesSlide31.xml" Id="R924ab41e700f45a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c5f45d3c34b90" /><Relationship Type="http://schemas.openxmlformats.org/officeDocument/2006/relationships/notesSlide" Target="/ppt/notesSlides/notesSlide32.xml" Id="R672b439df07741f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ce276b8c243e1" /><Relationship Type="http://schemas.openxmlformats.org/officeDocument/2006/relationships/notesSlide" Target="/ppt/notesSlides/notesSlide33.xml" Id="R605adda7772c4cf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1c6259cec42b0" /><Relationship Type="http://schemas.openxmlformats.org/officeDocument/2006/relationships/notesSlide" Target="/ppt/notesSlides/notesSlide34.xml" Id="R9c867fbbf9ee4bd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608eb7fc94127" /><Relationship Type="http://schemas.openxmlformats.org/officeDocument/2006/relationships/notesSlide" Target="/ppt/notesSlides/notesSlide35.xml" Id="Rb4ea1177f64f41b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Recorded objective value at each solver callback (Meeting A)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lineChart>
        <c:grouping val="standard"/>
        <c:ser>
          <c:idx val="0"/>
          <c:order val="0"/>
          <c:tx>
            <c:v>Start (0.55, 0.20) → local</c:v>
          </c:tx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cat>
          <c:val>
            <c:numLit>
              <c:formatCode>General</c:formatCode>
              <c:ptCount val="7"/>
              <c:pt idx="0">
                <c:v>-3.525</c:v>
              </c:pt>
              <c:pt idx="1">
                <c:v>-6.8412</c:v>
              </c:pt>
              <c:pt idx="2">
                <c:v>-7.1307</c:v>
              </c:pt>
              <c:pt idx="3">
                <c:v>-7.1521</c:v>
              </c:pt>
              <c:pt idx="4">
                <c:v>-7.1521</c:v>
              </c:pt>
              <c:pt idx="5">
                <c:v>-7.1521</c:v>
              </c:pt>
              <c:pt idx="6">
                <c:v>-7.1521</c:v>
              </c:pt>
            </c:numLit>
          </c:val>
        </c:ser>
        <c:ser>
          <c:idx val="1"/>
          <c:order val="1"/>
          <c:tx>
            <c:v>Start (0.20, 1.00) → lower</c:v>
          </c:tx>
          <c:marker>
            <c:symbol val="none"/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cat>
          <c:val>
            <c:numLit>
              <c:formatCode>General</c:formatCode>
              <c:ptCount val="7"/>
              <c:pt idx="0">
                <c:v>8.8331</c:v>
              </c:pt>
              <c:pt idx="1">
                <c:v>-6.9338</c:v>
              </c:pt>
              <c:pt idx="2">
                <c:v>-10.9453</c:v>
              </c:pt>
              <c:pt idx="3">
                <c:v>-11.1436</c:v>
              </c:pt>
              <c:pt idx="4">
                <c:v>-11.1437</c:v>
              </c:pt>
              <c:pt idx="5">
                <c:v>-11.1437</c:v>
              </c:pt>
              <c:pt idx="6">
                <c:v>-11.1437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Callback index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energy_proxy value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A5F6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Starting guesses by basin reached (n=8)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count of starting guesses</c:v>
          </c:tx>
          <c:cat>
            <c:strLit>
              <c:ptCount val="2"/>
              <c:pt idx="0">
                <c:v>LOCAL (worse)</c:v>
              </c:pt>
              <c:pt idx="1">
                <c:v>LOWER (best known)</c:v>
              </c:pt>
            </c:strLit>
          </c:cat>
          <c:val>
            <c:numLit>
              <c:formatCode>General</c:formatCode>
              <c:ptCount val="2"/>
              <c:pt idx="0">
                <c:v>5</c:v>
              </c:pt>
              <c:pt idx="1">
                <c:v>3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Basin reached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Count of starting guesses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5DE0823E-CF97-46C3-B980-FDE66583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C36EE386-FB44-42A8-B94F-247B4965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F5B3A518-0ED9-4594-AB28-614D9095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B6515236-E3E7-4147-81D2-9BBEA737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11 · MEETING B · NONLINEAR OPTIMIZATION STUDIO: MULTI-START COMPARISON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2F033A96-63FC-482D-92BF-43530DDC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minimize twice. See if it agrees with itself.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2933924-0775-4B7E-8349-81BB2B01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Meeting B · scipy.optimize.minimize, multiple starting guesses, and the required multi-start comparison write-up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27F6D-D50D-413A-8637-A4C185ED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C3E0F27A-A2F7-40BC-B312-1921CB52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1625176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6DDBEA8D-0555-466F-A9A0-09F2243A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7A5E3B-3B48-49F7-A613-EA104F3C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503F4-03F5-49DF-9E7A-45301D22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77B8C0A-7283-4414-B5A5-1F2EE566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D4EFE6E-758D-47DA-A26B-575C330D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42FAEB05-8AA8-4A2C-9327-ADF5BD14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DF05993E-A39B-42BA-B90D-E8BA7622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516F550A-DD3E-4191-B77C-15BE2F92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Call minimize twice on the same objective and bounds, from two different starting guesses.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5F5053C4-6D98-4F1D-87B2-A967131C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D707E666-5B06-4621-B966-7A0811D5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Sweep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457301CD-0F02-4A05-BBD4-78C3E11F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Loop over eight verified starting guesses, collecting results into one pandas DataFrame.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385AC7DC-C6DC-4629-B56A-4005C9F6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891EE5DE-2866-4955-A6DD-933A360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3860CB5E-AB0D-4CA8-8603-90280241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Find at least four defects in an AI-drafted single-start optimizer that mislabels a local result as 'best.'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3F9295AB-8A92-47B2-87DD-1FA22C4A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931F54CB-A19E-44C6-AFDA-28E0128E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47EE2FB1-C40D-4CEB-8869-64AA1661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Produce the required multi-start comparison write-up — this week's Project 2 nonlinear-formulation checkpoint.</a:t>
            </a:r>
          </a:p>
        </p:txBody>
      </p:sp>
    </p:spTree>
    <p:extLst>
      <p:ext uri="{BB962C8B-B14F-4D97-AF65-F5344CB8AC3E}">
        <p14:creationId xmlns:p14="http://schemas.microsoft.com/office/powerpoint/2010/main" val="29010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F392ABA-947F-442B-B27D-785CCF74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3CD89A-BD65-4C61-9DDF-988FC4C9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82E56-0C51-43FD-ADE4-1F04162A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5977EB4-8D39-4078-BC90-FDA30166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83C5C20-6E92-493A-AEB0-693910E1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43BC57A8-19EE-402B-8442-F08EC7C0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C7579-672E-489C-A7F8-EBF6FBA5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2870C1D3-E9DE-49B0-B4AB-DA3543D5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Meeting A's vocabulary, then load the objective function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4426C00E-71FB-4711-BCE9-777120B1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0D926-45DE-494C-B933-447244B6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4D4599DE-D693-44B6-9AD6-30EB6CAF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starting guesses, two answers: run it yourself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70E9BED2-723A-4FA5-99E8-FFC4DC0D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08E68-1C7C-46BC-B106-2AA6BE2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F6866B46-A8D8-404F-9042-286F0126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Multi-start sweep: build the full eight-row comparison table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29C706DD-AA3B-4ED3-AABD-C8EF720A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48123-B2E1-4D43-BB69-8018B2D4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7388B921-B73E-44C2-9017-02FD955C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Audit an AI-drafted optimizer, then run your own transfer check</a:t>
            </a:r>
          </a:p>
        </p:txBody>
      </p:sp>
    </p:spTree>
    <p:extLst>
      <p:ext uri="{BB962C8B-B14F-4D97-AF65-F5344CB8AC3E}">
        <p14:creationId xmlns:p14="http://schemas.microsoft.com/office/powerpoint/2010/main" val="43818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">
            <a:extLst xmlns:a="http://schemas.openxmlformats.org/drawingml/2006/main">
              <a:ext uri="{FF2B5EF4-FFF2-40B4-BE49-F238E27FC236}">
                <a16:creationId xmlns:a16="http://schemas.microsoft.com/office/drawing/2014/main" id="{3DFEF2A8-9111-4138-934E-9B41C40A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9791A1-0C15-4CD2-AFCF-ED594FA7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five terms from Meeting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73261-238D-47A1-944B-58F00B8B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A7810F4-82EA-4389-84A0-1D823A6C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4807D32-0822-4FE5-8DA7-A37F7846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E61CF-F944-4444-BE27-8FA12962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61DD959C-2F04-4547-B862-E7F62E11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AD21B-5C52-4A62-B1AB-7A03B968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574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BEE91188-DD7A-49A2-B674-F260C8CE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680FA-778A-40A5-84CD-03B2F85B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574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8CD2D26A-8DD2-4E83-A33B-B57A5F21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336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today's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BCEF4-FEA1-4845-B55D-28053E34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D3261297-9A49-4B11-9CEC-E0E76E2A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gradient / slope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1C91B-4FC8-4D66-BEE5-401CD990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0E70EA1B-24A0-4A85-91E7-12C85C6A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6700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direction and steepness of fastest increase, read locally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9FE5C-7C97-42CD-B188-C523BC49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90664FEC-6161-4671-A4E2-DACB8145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6700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minimize can miss a farther basin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FFEE5-2C7C-4D7A-83DE-EDE9D823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613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6635DDDC-AEA4-4478-B5AB-5EC4D727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233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initial guess (x0)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41BFF-9357-4DCB-9739-4C028066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2613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D247C036-73F7-44D6-B463-D184ED1E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233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(wwr, shade_m) starting point handed to minimize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FF617-6DA2-42DB-80A9-54DED17F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2613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EF986AD1-A302-49E0-9FC7-60F97BFA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0233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(0.55, 0.20) and (0.20, 1.00), then six more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373BB-CA96-4745-A5F2-DCB3AFF9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146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11E2AE3A-2A32-4937-AD75-2FC82D9C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766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 optimum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F2613-C5C9-406C-BE95-23724D8D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6146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97F7AE73-E012-44CC-B0FE-3FC1F4CC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766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best value in a nearby region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5DD0B6-CB88-4CE6-B3B9-5FFB372B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6146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E6924545-9168-477F-A03D-B403302D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3766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-7.1521, from Demo 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6F5F1A-F18D-4EF6-84BE-61255E1D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BD208B81-06B8-451C-9EA2-E0CE6E45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868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global optimum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97A724-4E14-4307-BC11-2A4AAE56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0248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FF455EC3-99C5-4F94-8F00-BB197DBA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7868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best value anywhere in bounds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B9FC9A-C9E9-4B43-BD61-58BC41AD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0248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03BD1564-1B98-4BF5-B631-3FC54253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7868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definition; Demo B is a corroborated candidate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5BF86C-9233-4856-84F8-0D500C75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CCA033E7-EEEE-41E7-9056-DF9661FD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minimize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384B3A-3E77-4430-A0FC-174BEF7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4350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41820513-39FD-4B9A-A03C-B19A443D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1970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scipy.optimize.minimize(fn, x0=..., bounds=...)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EEC44C-8193-49AB-B7EB-8B583FAD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4350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6BB1A4C2-706E-4313-9546-0574A587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1970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 times in the sweep alone -- 13 times total today</a:t>
            </a:r>
          </a:p>
        </p:txBody>
      </p:sp>
      <p:sp>
        <p:nvSpPr>
          <p:cNvPr id="4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01BD17D9-CCA5-4CC5-A41F-5C5D6BE9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3" name="callout">
            <a:extLst xmlns:a="http://schemas.openxmlformats.org/drawingml/2006/main">
              <a:ext uri="{FF2B5EF4-FFF2-40B4-BE49-F238E27FC236}">
                <a16:creationId xmlns:a16="http://schemas.microsoft.com/office/drawing/2014/main" id="{56143F6D-D446-46F1-84B5-1CC53A5C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Demo B's -11.1437 is the lower, best-known basin from dense-grid plus multistart evidence; those numerical checks corroborate but do not prove continuous globality.</a:t>
            </a:r>
          </a:p>
        </p:txBody>
      </p:sp>
    </p:spTree>
    <p:extLst>
      <p:ext uri="{BB962C8B-B14F-4D97-AF65-F5344CB8AC3E}">
        <p14:creationId xmlns:p14="http://schemas.microsoft.com/office/powerpoint/2010/main" val="206651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53B9AC76-08C6-4F86-9583-DE815BD7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FD3B27-98FC-4BC2-A08C-41C311A4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Recall: accepted iterates reach different floors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69325-2188-40B1-8013-EE9F1F52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2C63269-C65A-4C02-8EB0-0EBE076E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986BC3-16F7-4497-9C39-5654AEA7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760ee599f74da1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F9334BB5-9B20-4AC7-8CDB-3E6B6661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81275"/>
            <a:ext cx="35814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two recorded traces, now yours to reproduce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CBD180EE-91D4-4D55-809A-5213F523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4933"/>
            <a:ext cx="3581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Cells [2] and [3] reproduce endpoints -7.1521 and -11.1437. The latter is the lower best-known basin, corroborated by multistart plus a finite dense grid; the trace itself does not prove globality.</a:t>
            </a:r>
          </a:p>
        </p:txBody>
      </p:sp>
    </p:spTree>
    <p:extLst>
      <p:ext uri="{BB962C8B-B14F-4D97-AF65-F5344CB8AC3E}">
        <p14:creationId xmlns:p14="http://schemas.microsoft.com/office/powerpoint/2010/main" val="1754429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63099D89-8EEA-4CDB-9D18-33E790EC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F9B1CA-5E64-424B-ABE5-A7F463F0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Today's pipeline is four ordered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F5587-9EF8-4D2F-AD50-3BF3C79A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87B7776-D6A9-483E-B5C5-5B196825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A59FBD4-EA3F-4DF2-823B-AA18B769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B46DA61C-7E88-488E-A28E-AF02AFA6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C4C4FC86-A08D-47CF-85AD-B6345E5D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CB6A9D28-5F73-467B-9A00-D1D71047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4C522E17-7D34-4ECC-BDB7-50649EE2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722D53B2-3A6F-4BB9-9D30-C8E093AD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FA8F7973-F73C-470A-ABFE-09913646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6EA20-32EC-48A5-83F0-87C8761B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21F906C6-51BE-4EFF-9527-D7DA0335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the function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B39F3ADF-8C03-4B2A-828C-1A04780C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energy_proxy(v) and BOUNDS, pasted in unchanged from Week 9.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294EBB61-DCF5-4C32-864E-AF7443B8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C948D06-A442-40F5-B3AC-E449DB49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E842F685-E504-4D63-A4E7-F721184B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9CBA1-F74C-4542-A854-9A367846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515470A1-B464-4264-BA08-7203A27B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starting guesses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C9B4B721-083C-43AD-A257-30EC3104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 minimize from (0.55, 0.20), then from (0.20, 1.00). Compare.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CFD63205-B251-4D16-99F7-378E4E2A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BAF9C8D-91B7-46CA-91C1-5CC6C375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45D9A526-BFFD-4D63-930E-123D9632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SWEEP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78B54-C59F-4ECB-9CA2-064D80AE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C7026C9A-D336-446D-B285-78242D08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Eight starting guesses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D106F60E-B665-49AE-BA83-9B4EB83E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Loop, collect into a DataFrame, classify LOCAL vs. LOWER, count.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56108B17-1BBA-44D7-A2C5-4B051F57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1E799D88-C453-4732-A6A2-B172C27A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18CA468C-DC04-436D-8797-9C4281BA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AUDIT + TRANSFER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AA1C5-8AE8-4B64-AE97-327B98FE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F1162980-2A47-4FEE-99F9-AE788EAA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AI-audit, then your own check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E6DC54A2-A32F-48E2-88CF-0AF46889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Diagnose a defective single-start script, then verify on two NEW starting guesses.</a:t>
            </a:r>
          </a:p>
        </p:txBody>
      </p:sp>
    </p:spTree>
    <p:extLst>
      <p:ext uri="{BB962C8B-B14F-4D97-AF65-F5344CB8AC3E}">
        <p14:creationId xmlns:p14="http://schemas.microsoft.com/office/powerpoint/2010/main" val="1829337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4BEB3850-3A21-45D3-AC9A-E43451DC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E23B17-7095-4712-91AC-12DCE065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[1] Imports, the basin helper, and the bounds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626CB-10FE-4568-8E8E-F942BCB4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BCD2889-B1F9-41B9-87CA-38E19F03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9997778-91DD-4267-98D9-2A4A160E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8198138-0141-4462-894D-77C2E54A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822AD9B7-615F-4A73-A60F-F8E2A8D7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scipy.optimize import minimize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basin(x: float, y: float, cx: float,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cy: float, depth: float,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wx: float, wy: float) -&gt; float: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"""One Gaussian dip at (cx, cy), 'depth' deep."""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-depth * np.exp(-(((x-cx)**2)/(2*wx**2)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        + ((y-cy)**2)/(2*wy**2)))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BOUNDS = [(0.20, 0.60), (0.0, 1.2)]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D5D3CB7-5329-4B84-A679-59FB04F7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line, exactly as Week 9 had it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5815103C-2744-48D8-8250-B9829FDF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5422"/>
            <a:ext cx="3695700" cy="2506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Nothing is abbreviated here. basin() returns one NEGATIVE Gaussian dip — deepest at (cx, cy), fading toward zero far away — and it carries the one-line docstring plus parameter and return type hints this course has required since Week 4. BOUNDS is the same (min, max)-per-variable list Week 10's linprog used. The next cell adds the two dips together into energy_proxy and checks the result against Week 9's numbers.</a:t>
            </a:r>
          </a:p>
        </p:txBody>
      </p:sp>
    </p:spTree>
    <p:extLst>
      <p:ext uri="{BB962C8B-B14F-4D97-AF65-F5344CB8AC3E}">
        <p14:creationId xmlns:p14="http://schemas.microsoft.com/office/powerpoint/2010/main" val="1365438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D1B20676-82D1-4C94-BA6E-6A8084D7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B0F403-9FAC-4075-9718-0BB3E5EB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[1] continued: energy_proxy, then the continuity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E54EB-B6E4-4D5B-AB11-8C06401C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204FACF-56A2-4973-8C12-5D026D40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F0269FC-9966-4601-B430-F1E1D1DC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588F154-9567-4C8B-B1DC-CA859078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163F53C-4CFE-4371-B242-70D2769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energy_proxy(v: tuple) -&gt; float: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"""Energy-use proxy at one (wwr, shade_m) pair."""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w, s = v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base = 20.0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b1 = basin(w, s, 0.52, 0.25, 30.0, 0.06, 0.18)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b2 = basin(w, s, 0.28, 0.90, 34.0, 0.06, 0.18)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ridge = 6.0 * np.exp(-((w-0.40)**2)/0.02)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base + b1 + b2 + ridge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print('local:', round(energy_proxy((0.52, 0.25)), 2))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print('lower:', round(energy_proxy((0.28, 0.90)), 2))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CFC6B-9552-4AF0-B14E-F8EAFE9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CEBA5A8A-B3C0-4B1A-BE88-781170EA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63263F08-47DE-4891-88BA-800830BE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local: -7.08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lower: -11.08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B5781140-71CB-4349-8241-F3090D72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continuity check, not a fresh scenario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5BA03ED9-A5BF-4B52-9D9B-DBB1AC7A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energy_proxy adds a shallower and a deeper basin to a flat base, plus a ridge that separates them. If the printed values are not -7.08 and -11.08, fix the copied function before continuing. 'Lower' is descriptive; the global claim still needs proof beyond this finite evidence.</a:t>
            </a:r>
          </a:p>
        </p:txBody>
      </p:sp>
    </p:spTree>
    <p:extLst>
      <p:ext uri="{BB962C8B-B14F-4D97-AF65-F5344CB8AC3E}">
        <p14:creationId xmlns:p14="http://schemas.microsoft.com/office/powerpoint/2010/main" val="4120369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85790C62-5EA2-4F39-963F-ADAAF932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55198A-252B-463B-90F4-19999603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Anatomy of every minimize() call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4CBD6-73E1-4D07-AA18-9BB75B56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DF6907D-312A-4DBB-A52F-E6734CF1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C612C98-0CAD-4738-BC4C-DB8FD55F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86035611-7A48-4DF8-BD24-F1E201F8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EEC973A1-8AD5-412E-A5B6-C239AEE1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5740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minimize(energy_proxy, x0=x0, bounds=BOUNDS)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5C02C-90AC-47C3-8902-D6D879A9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479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7540C302-3ED5-4319-B325-AD4E4AD0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7A68B7D5-55CB-4BA5-A83F-051BF2FE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BB38E6DD-0A91-4745-9674-D049B5A9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000F32AB-A016-4012-B25D-D6E81650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C8B19999-F7EC-484A-9316-8668683D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solver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A925339B-3A85-4A67-B29E-26E13650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scipy.optimize.minimize — follows the local slope downhill.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D728A-45C6-435B-BD99-E5DFE46B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47950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551CD726-D25D-4C57-B831-71843471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DD51E5D3-AA66-415F-B0FD-7ACFD945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941CF1D7-186B-4FD9-8946-49E4C4E0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3F39CE30-D7CB-467C-BED6-F3405B84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B742E56F-CC45-4160-B3B9-D3C5EF76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00728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objective function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CE36118F-C601-44B5-AA1B-00176D63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27854"/>
            <a:ext cx="2476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same function from cell [1] — one number to make as small as possible.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2C643-3E12-4C9C-A9F5-99766656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8170D1FC-9BA5-4B14-AC32-3342E5D5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57DAFDB9-B074-407D-8E61-7565DE78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7083A262-776F-4834-A472-1975C146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C67EC3AF-C5DC-47E1-9A75-E41C1827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FB6992DF-F57E-48E2-8292-56F7443A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Starting guess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DA34E35F-F086-40E0-812F-B7512076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7026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only argument that changes across today's demos and sweep.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0D923-D928-4C1B-AD90-FF017F82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EDA14E29-3F53-4E53-A885-F69F752B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D3CF5187-BB2D-4EAA-88E5-F4DB4154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C152DE46-35CC-460C-A3FD-E9A1C603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189B4130-3E3D-45F0-986A-B588387F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E425D9DA-E8BC-453D-9B50-5BD78F1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Allowed range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105C7FC1-03EF-4BE3-8735-78469A37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same (min, max) pairs from cell [1] — keeps candidates buildable.</a:t>
            </a:r>
          </a:p>
        </p:txBody>
      </p:sp>
    </p:spTree>
    <p:extLst>
      <p:ext uri="{BB962C8B-B14F-4D97-AF65-F5344CB8AC3E}">
        <p14:creationId xmlns:p14="http://schemas.microsoft.com/office/powerpoint/2010/main" val="2785934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F3274E40-D7DF-49B6-A4D9-5D7A37A9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CCFE43-8F5D-479D-809D-C91C9DE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1: predict before you run Demo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C5DE5-1261-42A6-BBDA-4822E7B5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55A9758-D5E7-443F-99B0-02AE8CDE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0AEB31F-0E67-4923-B922-4966A67A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DD9531AA-3815-4566-BF8A-DD4E7BE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8FF934EF-F2A4-4C0B-A6E9-A409D40B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starting guess of wwr=0.55, shade=0.20 looks like a reasonable design to try.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D8914E56-8471-4B41-9C30-BFDC866E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4F26F925-364A-4DA5-A365-D76BBA2A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B7D1B736-A6F9-4127-A41E-A3E75F07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your prediction: which basin (local or global) will this land in?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072EDD86-F7F6-4AB1-907F-242F1DDA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B8D1BB57-EA5C-4933-B64E-799ABF2D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what you are using to make that prediction.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112EBF7C-871A-45B3-B8A2-432B23F9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2FC33966-7A02-4699-B6B4-3957D0A6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cell [2] and compare.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034495F0-5635-4EA8-9AD0-9FBDA2CD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BABADD9E-F5D3-4085-9975-8CB2369E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Note whether result.success being True changed your confidence -- it should not have.</a:t>
            </a:r>
          </a:p>
        </p:txBody>
      </p:sp>
    </p:spTree>
    <p:extLst>
      <p:ext uri="{BB962C8B-B14F-4D97-AF65-F5344CB8AC3E}">
        <p14:creationId xmlns:p14="http://schemas.microsoft.com/office/powerpoint/2010/main" val="211986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67441A7-6CBF-4CDB-9A51-8441D42D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B575A9-4E2C-4740-9054-44A980DB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[2] DEMO A — a plausible starting guess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47880-E076-420A-8936-A7CD426D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3E9BA40-255E-4FE7-9B11-25E2F10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7EAB98A-D140-4A79-BC2A-6A99E7D9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2A006C4-9DDB-462C-8DEA-6872F63B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8454F0B-F29A-420D-8EF7-F0603C9F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result_a = minimize(energy_proxy, x0=(0.55, 0.20),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print('x:', result_a.x.round(4))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print('value:', round(result_a.fun,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print('success:', result_a.success)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245BF-B954-408A-B2E7-9D6B507C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5BEAAAAE-4C96-4087-9C4C-625D1648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104FCFB2-DCEC-4FFE-AF89-3EC53A79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x: [0.5241 0.25  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value: -7.1521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success: 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834125F-4885-44D6-999B-B4E74341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Clean, confident, and wrong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71E8A194-564A-4083-866C-308CE361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success is True. Nothing here signals a problem. This is exactly the reported result Project 2 would grade as final if only one starting guess were ever tried.</a:t>
            </a:r>
          </a:p>
        </p:txBody>
      </p:sp>
    </p:spTree>
    <p:extLst>
      <p:ext uri="{BB962C8B-B14F-4D97-AF65-F5344CB8AC3E}">
        <p14:creationId xmlns:p14="http://schemas.microsoft.com/office/powerpoint/2010/main" val="18996420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6CE2744-0AA1-4A0A-8BDA-8AD158EA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74E9CF-1424-48F3-BCE9-7850951F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[3] DEMO B — only x0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AD0FB-A290-49F1-BAAA-D680099A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42ADA82-0F67-4468-BA45-DF6E57A3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B2302F3-6CF2-46E7-8CEB-F84A30DF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81EB582-4F27-4E41-BA11-ABCBD123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025EF41-0944-4C75-BEEE-F1E25AD1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result_b = minimize(energy_proxy, x0=(0.20, 1.00),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print('x:', result_b.x.round(4))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print('value:', round(result_b.fun,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print('success:', result_b.success)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print('improvement over Demo A:',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round(result_b.fun - result_a.fun, 2))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64D31-FDFF-486B-B8FF-D86AFFAF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C27D67F-65FE-4066-AD63-2FE8CEAC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BC432CE-1941-4A0B-BC42-F79A9AFE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x: [0.2763 0.9   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value: -11.1437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success: True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improvement over Demo A: -3.99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D33411AC-8822-45F3-B249-73182455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setup. Real disagreement.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718C3244-C2D0-4B3E-B31F-92FA9E42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Roughly a 4-point improvement — a real, material difference in this energy proxy, produced by changing nothing except where the search started.</a:t>
            </a:r>
          </a:p>
        </p:txBody>
      </p:sp>
    </p:spTree>
    <p:extLst>
      <p:ext uri="{BB962C8B-B14F-4D97-AF65-F5344CB8AC3E}">
        <p14:creationId xmlns:p14="http://schemas.microsoft.com/office/powerpoint/2010/main" val="5151838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FE61605D-6D93-4DC6-B8B8-3DB9165F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3404B4-0C26-4777-AE69-75002639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Recall: result.success does not mean 'best'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FCA17-BC42-4255-9130-5ED254B6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3E7BAB3-3610-4192-ACC1-78263137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AB7309C-C6D4-4A9D-AD88-8F3209A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C5271E08-3665-4E60-9222-DBA3C1ED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CDF92AA7-66B0-4871-AD17-68895F2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result.success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AAC14-4554-4C8A-85F7-C4192C0D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63E11724-122A-4A3C-9333-CF3CA4C3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True/False flag meaning the search converged — it stopped because it satisfied its own stopping rule. It does not mean the result is the best point anywhere in bounds.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93245ACF-F0D0-4A28-9397-217FBD52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B5CDC3D0-462B-484A-8E0F-695B776C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0B8898F7-3412-4AEF-ADE3-F04A6C17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Demo A and Demo B, side by side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3F4DF542-6D24-4216-BBDD-E17EBA97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Both report success: True. Demo A stopped at -7.1521 (local); Demo B stopped at -11.1437 (lower, best known). Convergence, quality, and proof of globality are three different questions.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A880EDE8-51DC-445D-8281-7434AF3A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DB81E171-87A3-4903-8A2E-DE2E75DD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6195B6C9-7899-4B1B-94DA-8FFAF2AE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Reading success alone is exactly the mistake cell [6]'s AI-audit makes next.</a:t>
            </a:r>
          </a:p>
        </p:txBody>
      </p:sp>
    </p:spTree>
    <p:extLst>
      <p:ext uri="{BB962C8B-B14F-4D97-AF65-F5344CB8AC3E}">
        <p14:creationId xmlns:p14="http://schemas.microsoft.com/office/powerpoint/2010/main" val="5307724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20E5C628-CAC1-43E7-9F5A-6FBF8266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CCB1EEC-CFB8-48D7-864B-F271D33F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2: which optimum is actually better, and by how much?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18EAC-3F4D-409F-A0FF-F5931740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88424CC-F405-4A56-8C94-A8C8DBC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DB0CC94-C8F8-4AAD-B38B-6E2B9DB2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D6138290-F484-4D8F-8DCE-76CEBD5E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2ECF6ACF-9068-404D-9AD3-A3D08763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clean, successful minimize results, two different answers.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65F9A530-2501-490A-9582-2FF6DE46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35442723-C7AB-4668-89D8-CDF05140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0C219068-579C-4FBA-BCC9-EEDCAA18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which of result_a.fun and result_b.fun is lower (better, since this proxy is minimized).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43CC2F3C-1135-4233-B6AC-398AA3FE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3124E739-03E8-497B-8E9F-C977770D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Compute the improvement Demo B offers over Demo A.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5D4ADD47-E88F-44CA-8097-1016D715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FEBFD615-0D32-4381-AE64-3495DACC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one thing that differed between the two calls.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F5F4D9D6-57FE-40BD-AE05-63ABADC2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766E7A58-62D5-4DE4-99A6-F10CADE4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in one sentence why 'it converged' is not the same as 'it found the best design.'</a:t>
            </a:r>
          </a:p>
        </p:txBody>
      </p:sp>
    </p:spTree>
    <p:extLst>
      <p:ext uri="{BB962C8B-B14F-4D97-AF65-F5344CB8AC3E}">
        <p14:creationId xmlns:p14="http://schemas.microsoft.com/office/powerpoint/2010/main" val="19755258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ADBF778E-3B8A-4B55-8D44-576793D7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THE PATTERN, STATED PLAINLY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C4B00C-7DE8-48B9-BEA7-D3FCEC48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function, same bounds, different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EA669-E184-4DB7-9DC3-AB749C96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5EC3200-EE22-4300-B630-4FE28EA0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138958D-7653-49EB-8CD9-C729CFBA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9D4BE74A-8747-4FAC-9D21-BA11C41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just happened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D65AAB88-2F5A-46F1-B569-77645833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Two calls to minimize(), identical objective, identical bounds — the only difference was the starting guess. That single difference produced two different, both fully 'successful,' results.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893EBA2C-4CD6-4810-882F-BCAB7534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this is not a bug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2FC83636-4550-4BD3-8828-80FBC6AF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is what gradient-based search always risks on a genuinely nonlinear objective with more than one basin. The fix is not a better algorithm — it is never trusting a single run.</a:t>
            </a:r>
          </a:p>
        </p:txBody>
      </p:sp>
    </p:spTree>
    <p:extLst>
      <p:ext uri="{BB962C8B-B14F-4D97-AF65-F5344CB8AC3E}">
        <p14:creationId xmlns:p14="http://schemas.microsoft.com/office/powerpoint/2010/main" val="17293235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064B1C53-90F3-4539-827B-38475D6F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D81969-619D-4CE5-A3F8-02F4D44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[4] Multi-start sweep: one dict per starting guess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A54E2-C150-4608-8C06-D4B17941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021A11F-8C17-4A0F-906B-2A614014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19414C5-41CF-4351-8DC5-30D16979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C8DA1D9-B489-49BB-91A9-9ECFED76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B91C466-C506-4DE6-88B8-916C850A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starting_guesses = [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(0.55, 0.20), (0.50, 0.30), (0.40, 0.55),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(0.45, 0.60), (0.60, 0.10), (0.20, 1.00),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(0.30, 0.85), (0.22, 1.15),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records = []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wwr0, shade0 in starting_guesses: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res = minimize(energy_proxy, x0=(wwr0, shade0),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records.append({'start_wwr': wwr0,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'start_shade': shade0,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'final_wwr': round(res.x[0], 4),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'final_shade': round(res.x[1], 4),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'value': round(res.fun, 4)})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282052D4-9F8E-4826-8F9B-1EE0917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New pattern: build a list of one dict per row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A6771E1B-1F96-4BA5-81A4-1943D856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9222"/>
            <a:ext cx="3695700" cy="272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eight starting guesses are the verified ones from Meeting A's table. The for-loop is Week 3's pattern, and minimize is called ONCE per pass with that pass's own (wwr0, shade0). What is new is the shape of what gets collected: each pass builds one dict with all five keys — start_wwr, start_shade, final_wwr, final_shade, value — and appends it to records. Nothing is abbreviated; all five keys are written out. After eight passes, records holds eight dicts.</a:t>
            </a:r>
          </a:p>
        </p:txBody>
      </p:sp>
    </p:spTree>
    <p:extLst>
      <p:ext uri="{BB962C8B-B14F-4D97-AF65-F5344CB8AC3E}">
        <p14:creationId xmlns:p14="http://schemas.microsoft.com/office/powerpoint/2010/main" val="6894565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73B7A8E1-241E-4F9E-BD29-EC225A9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4CD16C-4E44-41DE-AC1C-87B42529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[4] continued: a list of dicts becomes one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04454-54BB-45ED-8F18-CDB2624D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CA7595D-C241-4521-AC31-892AC556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BF01C33-AF5B-49E9-90D4-64E6C554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8494E0F-8A28-4B00-A50B-D9C69E3E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92A6273F-C6F3-4233-8A79-3A76FAC9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175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multi_start = pd.DataFrame(records)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print(multi_start)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4B8CE-7186-4A35-8F88-006C31EC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562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9ABBA29-0643-4935-AD22-CF00443C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992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43D1B640-6280-4A8E-A157-3C9E7534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8526"/>
            <a:ext cx="6400800" cy="1620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start_wwr  start_shade  final_wwr  final_shade    value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     0.55         0.20     0.5241         0.25  -7.1521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     0.50         0.30     0.5241         0.25  -7.1521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       0.40         0.55     0.5241         0.25  -7.1521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3       0.45         0.60     0.5241         0.25  -7.1521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4       0.60         0.10     0.5241         0.25  -7.1521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5       0.20         1.00     0.2763         0.90 -11.1437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6       0.30         0.85     0.2763         0.90 -11.1437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7       0.22         1.15     0.2763         0.90 -11.1437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57504E36-13E2-40D1-8813-3F65728F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860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line turns eight dicts into eight rows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423E0AE1-F2C0-4EF8-8488-4F7E6A04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71622"/>
            <a:ext cx="36957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pd.DataFrame(records) reads the eight dicts' shared keys as column names and each dict as one ROW — a different shape from Week 4, which always built a DataFrame from one dict of whole COLUMNS. Same function, opposite input shape: know which one you are building. The printed result is exactly Meeting A's eight-row table, now produced by your own loop instead of read off a slide.</a:t>
            </a:r>
          </a:p>
        </p:txBody>
      </p:sp>
    </p:spTree>
    <p:extLst>
      <p:ext uri="{BB962C8B-B14F-4D97-AF65-F5344CB8AC3E}">
        <p14:creationId xmlns:p14="http://schemas.microsoft.com/office/powerpoint/2010/main" val="4631246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4A31333E-7F6B-4C7A-9B83-5FD09F78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55C30D-E1A8-44BA-B3AC-4BA7AD9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Anatomy of pd.DataFrame(records)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3A18D-92A9-454D-86BA-336CC61D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5BB5AFB-3AD3-4C7B-ACDC-4F73BD28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0ECF04E-24C2-41F8-B719-B9A51FFD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BFE1E24E-9713-44AC-8A03-79D7CE52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B7CEA828-4F1E-4959-BEF5-054C9DA6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0574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pd.DataFrame(records)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44C54-CD01-4AF2-8E77-7346BA6A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47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E5472939-E26D-43FC-9608-42A13165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A84FF0BA-B61F-4D38-BB0E-2681404F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9E9F1CE8-ECEB-437B-84E3-65D0964E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4F609894-0151-4225-8BBB-D1770FED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60C050B2-36E1-4B8A-8503-22D93A18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pandas, already imported as pd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A62EACC5-045D-43BD-A3C1-5EEEEA37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637026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Same alias as Week 4 — import pandas as pd.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8119C-F379-431C-82A6-C2F79291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4795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9E8549B3-9127-4AB8-A746-AA8A1564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95345A29-7841-43D7-8BB9-A78669B2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A6E41C32-315F-4F43-BE2F-19CA5197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02818674-E313-47E2-A8E0-4F4140C3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57F9E1AA-5ACF-463A-802A-696715F0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00728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Builds a table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302AFE2C-1D22-4B1D-91B8-30E900FC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27854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Turns its argument into rows and columns, exactly like Week 4's DataFrame.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73C23-1EE4-4E7A-B83E-127C3FD9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479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5EE8E534-7893-45D2-AAF7-EF288156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40DAD7BC-035F-42B5-A902-805B607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DAC8F3BC-EB35-4118-A091-139E1354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E7A871D2-5DE0-45C5-BD48-218ECD8D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B26ED3A0-20B8-43E8-84A0-4A291784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list of dicts, one per row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43B2CCE7-2F6E-412C-B408-FDED2B7A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7026"/>
            <a:ext cx="2476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Each loop pass appended ONE dict. Week 4 instead started from one dict of whole COLUMNS.</a:t>
            </a:r>
          </a:p>
        </p:txBody>
      </p:sp>
    </p:spTree>
    <p:extLst>
      <p:ext uri="{BB962C8B-B14F-4D97-AF65-F5344CB8AC3E}">
        <p14:creationId xmlns:p14="http://schemas.microsoft.com/office/powerpoint/2010/main" val="2519210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76A92EE-8D3B-4C35-857A-1BD14338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OPTIONAL, NOT GRADED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3D0960-4EBB-40F1-989B-7B1DAD6D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Bonus: sort the sweep by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57A8E-8F5B-46D1-BE37-E489F298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36DC39E-CE33-49B8-8A2A-686A9C61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7DF7902-853A-4FFE-BA09-C2E8CC38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F71F40F-A0CE-41B0-9D2C-023CCCBD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8FA9AB7-D23B-4F29-8D31-64F5FACC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print(multi_start.sort_values('value').head(3))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37B79-358D-4F23-951F-CFE3083A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565A7A15-E633-499F-B254-5040D154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B5BF4844-981A-4C8E-B78A-D151A9B9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start_wwr  start_shade  final_wwr  final_shade    value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6       0.30         0.85     0.2763          0.9 -11.1437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7       0.22         1.15     0.2763          0.9 -11.1437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5       0.20         1.00     0.2763          0.9 -11.1437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BD4A9952-5320-4EBF-9B8C-BFF0DC88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eight rows, read differently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ED641FC7-C4AA-4C4D-885C-ECD70E9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sort_values('value') reorders the SAME DataFrame from cell [4] by the value column, ascending by default — most negative (best, since this proxy is minimized) first. .head(3) then keeps only the top three. No new numbers here, only a new way to read a table you already built.</a:t>
            </a:r>
          </a:p>
        </p:txBody>
      </p:sp>
    </p:spTree>
    <p:extLst>
      <p:ext uri="{BB962C8B-B14F-4D97-AF65-F5344CB8AC3E}">
        <p14:creationId xmlns:p14="http://schemas.microsoft.com/office/powerpoint/2010/main" val="21363286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2A2CD8A-1871-46D0-BCAD-C5C619C8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876453-E6EB-444C-AE45-92C42B67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3: count the split before pandas counts it for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60EB6-7AAC-4FFD-9644-689569AA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20BED22-89F4-4A01-B86D-BC64D358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70E60B8-8C72-445E-9B2C-7FA685AD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B54199BF-4207-4CF6-AD0F-59F6E18A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D286A495-A675-4CB0-BC75-B145C6BF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Eight rows, two distinct final values, by inspection.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713C54A4-1CC2-49CB-9F9D-C1EA1C21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545C3395-3012-4841-8106-7410449E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80B67B27-1484-489A-9057-0B47EDEF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Scan the value column: how many rows show -7.1521? How many show -11.1437?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137C741B-BAE4-4607-942A-19BAD4B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A6D21E4F-0043-47C6-AFF5-F2EE510A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your count down before running cell [5].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D3AFB8F1-18B2-486A-AA70-7E7E8520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4BB1BA99-51D3-47EE-90DE-F451FF05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cell [5] and confirm value_counts() matches your hand count.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E22F5233-ABEF-4623-9A78-04775F4D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5A9F028A-AEBB-45B1-92EB-61175B81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the percentage that landed in the worse (local) optimum.</a:t>
            </a:r>
          </a:p>
        </p:txBody>
      </p:sp>
    </p:spTree>
    <p:extLst>
      <p:ext uri="{BB962C8B-B14F-4D97-AF65-F5344CB8AC3E}">
        <p14:creationId xmlns:p14="http://schemas.microsoft.com/office/powerpoint/2010/main" val="591103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3F8CAF3E-6E2F-4A56-ADFA-DA1B542B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620C21-6C9E-49D7-82F4-11609F3C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np.where,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5E7E9-DF38-4D47-BD65-44FD16EC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C306720-FA23-4061-AB95-4A5E2049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D9E7D46-BEA6-49EC-84CB-52A71099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4FD28D5D-47BB-4754-B289-6ACF2984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CCD140F8-5C46-4975-AD31-5A525BAF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np.where(...)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1BF77-27B8-4120-A774-00CF1EEA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9D93CA8B-2F3B-4A01-934F-5EAB3483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np.where(condition, if_true, if_false) — a vectorized if/else — for every row at once, it writes one value where the condition is True and another where it is False, producing a whole new column with no explicit loop.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E8276782-D05F-4DBB-9C83-227C07D5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CAFB010B-5107-46FB-94BC-51C7D94B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65C538B6-534B-430D-A976-D913E0C2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np.where(multi_start['value'] &lt; -9, 'LOWER', 'LOCAL')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D0219531-1A2F-4FE0-9424-650D089F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1226"/>
            <a:ext cx="4381500" cy="1982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Reads every row's value column at once. -9 sits between -7.1521 and -11.1437 — a labeling convenience for these two observed basins, not a global-optimality certificate.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5B464D71-8DB2-4241-8F72-93A2864F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790A30DF-6A1D-4ED8-AB09-AE127138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030500D4-AC80-4956-B920-A2BC8D20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Plain Python if/else tests ONE value. np.where tests an entire column and returns an entire column — that is the whole reason it exists.</a:t>
            </a:r>
          </a:p>
        </p:txBody>
      </p:sp>
    </p:spTree>
    <p:extLst>
      <p:ext uri="{BB962C8B-B14F-4D97-AF65-F5344CB8AC3E}">
        <p14:creationId xmlns:p14="http://schemas.microsoft.com/office/powerpoint/2010/main" val="18611786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kicker">
            <a:extLst xmlns:a="http://schemas.openxmlformats.org/drawingml/2006/main">
              <a:ext uri="{FF2B5EF4-FFF2-40B4-BE49-F238E27FC236}">
                <a16:creationId xmlns:a16="http://schemas.microsoft.com/office/drawing/2014/main" id="{8C8C69B7-0A40-436C-9768-8AD49203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E83F98-8150-4BF4-AD84-D3EC169C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[5] Classified and counted: 5 of 8 land in the trap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26666-BB28-471E-B886-EEEF1872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2ECBABC-5D0A-4A0E-A53F-2BD8520F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A8E7B59-24D6-4C21-ABCE-5E5322A4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D9A43-5792-40F6-8E53-060B721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A90B114F-9EF6-41BA-A188-6BEB63C8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starting guess (wwr, shade)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02D0A-6AC7-4D2C-889A-6441EB9D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288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AB42438D-867B-4418-A05F-B6B30E8A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05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976FE-CEAC-4DC9-BAEB-ACB95189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288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3F2DACC1-D79A-4BC7-86AE-38FAB273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05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F74E4-B55E-41DC-9A15-0FE71352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DD8C82E0-73F1-4B89-9517-482A3D57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(0.55, 0.20)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E382C-050A-47C2-A2E3-8EE91096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050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8CC3DFC4-D4EE-4892-A0DB-FCAEC5FA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FBC7E-FB34-4945-8BE1-D6E87A84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50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50AD7975-6D77-4A77-A6A7-22C1F867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CBEC2-A5CF-47AD-8B75-6A505666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368BD58D-E96F-4AB8-BFCA-7262A11B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(0.50, 0.30)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35A32-9A1D-4183-921D-3CEA1B70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813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C1A1CA7F-F02F-4538-A7E2-8491183A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BA246-B863-4B62-897C-4FF3822B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74968E4B-FDDE-418F-A053-4C614A2F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F7FC4-D1D3-47E4-BC86-F3A166F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78930A8B-3F16-46A1-82C8-394F52F5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(0.40, 0.55)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0E8DC-B50B-46F2-B51F-8F17F97B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575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E5962E55-BA57-461F-BCE1-7F4E638C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EEA252-8FC2-4861-951C-18128873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575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2305670C-F215-4339-BB15-66C727D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408174-996C-4148-9C8E-42F579A0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1B9B2366-8B84-4BA0-9799-485FD369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(0.45, 0.60)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0E0414-219E-4843-BB62-2A04C329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DD7B963D-EECD-4141-B690-9E1E22C7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17E0F4-AA20-4459-A348-22C5F9A7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338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E7947C1A-C2AC-4FAF-B8BE-C50C04DB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4DE2A3-7BB6-417B-BEAA-88710186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698E79BC-5088-4793-B076-932B95B5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(0.60, 0.10)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0A1033-1F9B-4CC8-8D2E-C1E741B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100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E509F72C-7E89-49ED-962F-F49612F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862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9C0390-1D16-4E18-ACA7-D2FE51EE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100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7A04A384-08A5-422A-87BC-215B8CB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2273AC-96AD-4182-A018-60E98FEA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3" name="cell-5-0">
            <a:extLst xmlns:a="http://schemas.openxmlformats.org/drawingml/2006/main">
              <a:ext uri="{FF2B5EF4-FFF2-40B4-BE49-F238E27FC236}">
                <a16:creationId xmlns:a16="http://schemas.microsoft.com/office/drawing/2014/main" id="{D157322A-EAD6-4A20-9847-D2B81754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(0.20, 1.00)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0CDB47-12E6-4833-9038-60002519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863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5" name="cell-5-1">
            <a:extLst xmlns:a="http://schemas.openxmlformats.org/drawingml/2006/main">
              <a:ext uri="{FF2B5EF4-FFF2-40B4-BE49-F238E27FC236}">
                <a16:creationId xmlns:a16="http://schemas.microsoft.com/office/drawing/2014/main" id="{8849A0E2-649F-4D78-9D87-338A84C7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62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-11.1437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F20D54-5F02-4145-9075-609D6344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863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7" name="cell-5-2">
            <a:extLst xmlns:a="http://schemas.openxmlformats.org/drawingml/2006/main">
              <a:ext uri="{FF2B5EF4-FFF2-40B4-BE49-F238E27FC236}">
                <a16:creationId xmlns:a16="http://schemas.microsoft.com/office/drawing/2014/main" id="{04C08FFE-5006-45E9-B0D7-DB5E107C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F65BDA-575E-46BA-A7AE-9BECC2D7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9" name="cell-6-0">
            <a:extLst xmlns:a="http://schemas.openxmlformats.org/drawingml/2006/main">
              <a:ext uri="{FF2B5EF4-FFF2-40B4-BE49-F238E27FC236}">
                <a16:creationId xmlns:a16="http://schemas.microsoft.com/office/drawing/2014/main" id="{C04C4E4B-1BAF-4F10-B5D4-5E66A0F2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(0.30, 0.85)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A36AF8-1F18-4E47-A435-1A6D8A9D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1625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1" name="cell-6-1">
            <a:extLst xmlns:a="http://schemas.openxmlformats.org/drawingml/2006/main">
              <a:ext uri="{FF2B5EF4-FFF2-40B4-BE49-F238E27FC236}">
                <a16:creationId xmlns:a16="http://schemas.microsoft.com/office/drawing/2014/main" id="{C7518E61-8C89-4CB3-8C71-5CA7D68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38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-11.1437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B0D0FE-90E2-42E7-A2ED-1FEB80FA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625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3" name="cell-6-2">
            <a:extLst xmlns:a="http://schemas.openxmlformats.org/drawingml/2006/main">
              <a:ext uri="{FF2B5EF4-FFF2-40B4-BE49-F238E27FC236}">
                <a16:creationId xmlns:a16="http://schemas.microsoft.com/office/drawing/2014/main" id="{C33AA559-4505-44D7-98FD-530A41A7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38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6DCEEB-53BC-4AAC-9860-4D587362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5" name="cell-7-0">
            <a:extLst xmlns:a="http://schemas.openxmlformats.org/drawingml/2006/main">
              <a:ext uri="{FF2B5EF4-FFF2-40B4-BE49-F238E27FC236}">
                <a16:creationId xmlns:a16="http://schemas.microsoft.com/office/drawing/2014/main" id="{24D924FA-2978-4AD9-9A46-63335C4E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(0.22, 1.15)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5C5D36-8FB1-4DEF-B4AF-D91D6B3F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388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7" name="cell-7-1">
            <a:extLst xmlns:a="http://schemas.openxmlformats.org/drawingml/2006/main">
              <a:ext uri="{FF2B5EF4-FFF2-40B4-BE49-F238E27FC236}">
                <a16:creationId xmlns:a16="http://schemas.microsoft.com/office/drawing/2014/main" id="{27254FCB-1FD4-49E1-AEA1-721FE06B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15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-11.1437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BCD08A-3FEC-4027-88E0-5458763C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3880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9" name="cell-7-2">
            <a:extLst xmlns:a="http://schemas.openxmlformats.org/drawingml/2006/main">
              <a:ext uri="{FF2B5EF4-FFF2-40B4-BE49-F238E27FC236}">
                <a16:creationId xmlns:a16="http://schemas.microsoft.com/office/drawing/2014/main" id="{9A1815E2-909A-43AF-8022-F255F071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150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LOWER</a:t>
            </a:r>
          </a:p>
        </p:txBody>
      </p:sp>
      <p:sp>
        <p:nvSpPr>
          <p:cNvPr id="6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7A03CBE7-7285-493A-AE27-953967AC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61" name="callout">
            <a:extLst xmlns:a="http://schemas.openxmlformats.org/drawingml/2006/main">
              <a:ext uri="{FF2B5EF4-FFF2-40B4-BE49-F238E27FC236}">
                <a16:creationId xmlns:a16="http://schemas.microsoft.com/office/drawing/2014/main" id="{65074626-83DB-4697-9DBA-93731534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value_counts() on the basin column: LOCAL 5, LOWER 3. LOWER is the best-corroborated basin, not a proof label.</a:t>
            </a:r>
          </a:p>
        </p:txBody>
      </p:sp>
    </p:spTree>
    <p:extLst>
      <p:ext uri="{BB962C8B-B14F-4D97-AF65-F5344CB8AC3E}">
        <p14:creationId xmlns:p14="http://schemas.microsoft.com/office/powerpoint/2010/main" val="7598040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22D0F102-6C55-4E16-98D3-E866514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DAA289-C230-4A46-A2F1-45734E49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5-3 split, seen as a 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50478-FC22-49A9-978C-81FF0345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75CE9DC-E21B-4A33-AE64-D15AD86A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0219978-15F2-4635-9393-0A442A1E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61a29ed4f64467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052DDCC4-8585-4B0B-B188-C479B996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5814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Five out of eight, at a glance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EB5DCC25-8700-414E-848D-A3233B2F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5472"/>
            <a:ext cx="35814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Same counts as cell [5]. The taller bar is the worse objective value, so frequency does not establish quality. The LOWER label records relative evidence, not proof of a continuous global optimum.</a:t>
            </a:r>
          </a:p>
        </p:txBody>
      </p:sp>
    </p:spTree>
    <p:extLst>
      <p:ext uri="{BB962C8B-B14F-4D97-AF65-F5344CB8AC3E}">
        <p14:creationId xmlns:p14="http://schemas.microsoft.com/office/powerpoint/2010/main" val="10119324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4C7313AE-5C21-41A6-8C81-1B0DDB22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 THE MECHANISM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E0ED84-9F8D-4C0D-8DE4-EDB73A2F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the starting guess changes 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AAB5C-6B6A-4860-BA9E-12ECA26F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07804CE-7805-48DB-AEDA-0A00971B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EB75B5D-3EE2-44FD-9FF4-B6B729E3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54AF7395-2B92-4498-936C-43279C06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minimize can see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47ED8431-08EB-44D0-AC8E-484DAAE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221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Only the slope at its current position, one step at a time. If that slope points toward the shallower basin, it stops there — with no way to know a deeper basin exists elsewhere.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16FA7624-F984-4269-B0E7-9B43523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146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practical rule this buys you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4BDBCDBF-0DFF-4EF6-B6F6-A7A1CE8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2211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Never trust a single minimize() call on a nonlinear objective. Run at least two well-separated starting guesses, and report whether they agree — exactly Project 2 Part II's requirement.</a:t>
            </a:r>
          </a:p>
        </p:txBody>
      </p:sp>
    </p:spTree>
    <p:extLst>
      <p:ext uri="{BB962C8B-B14F-4D97-AF65-F5344CB8AC3E}">
        <p14:creationId xmlns:p14="http://schemas.microsoft.com/office/powerpoint/2010/main" val="3715461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42B0D98D-0C52-4BAF-97DA-3F7F1994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E00E53-1D7C-4BAE-9A77-76496927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before you run: cell [6]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688F3-F745-410E-B474-7D093814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F472FA2-4A9C-4882-A62E-930914F5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0A992A3-2516-4756-8ED8-7E8FAFD6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876E47D-DDEA-45CC-A312-EB1ED27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9C6474A-D585-4BF4-9AD8-C2117D0E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ai_find_best_design():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result = minimize(energy_proxy,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  x0=(0.55, 0.20))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print('Minimum energy proxy:',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round(result.fun,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result.x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44D2CF8D-6E77-4EB1-B3E8-EE558274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value will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CC774148-3D33-4139-AA0A-55F9D027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30E0349C-2487-4301-AF64-0D6F76C5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E677B290-4E03-48BE-AD0F-E247BDB9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-7.1521 -- identical to Demo A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2D571506-7FCD-4186-A41C-8EE0129B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093C9CC7-37B0-4910-8B59-DAE3FC6C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03A59625-CB3F-44D8-A2E6-9167F3EA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-11.1437 -- the lower best-known solution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02889509-6A7C-4553-98D9-C8EF0535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3E4D9288-33C7-4273-B97E-7E674BF4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8014CF7F-3BFD-4A57-9E96-EFD267C9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-9.0 -- roughly between the two basins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265BA4C0-60EB-46EF-81E8-93B4198A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C1D7CC53-40F8-45B6-A3C6-3C94020D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D930A72F-FCAC-415A-8B9A-34C73F0E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error, because bounds= is missing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D7F40093-E812-45EE-8DC1-7BE6AD5B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F5F0471C-6724-493C-A777-8DBFFB69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A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F55EA20A-A44A-4338-8623-87797750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x0=(0.55, 0.20) is Demo A's exact start, and this basin sits inside the box anyway, so it prints -7.1521 again. Only the LABEL changed.</a:t>
            </a:r>
          </a:p>
        </p:txBody>
      </p:sp>
    </p:spTree>
    <p:extLst>
      <p:ext uri="{BB962C8B-B14F-4D97-AF65-F5344CB8AC3E}">
        <p14:creationId xmlns:p14="http://schemas.microsoft.com/office/powerpoint/2010/main" val="7979450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BB2A88F8-1180-4B43-8F3F-109341F0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FD2ECC-5C7E-4FF8-AB7C-7A61C9CE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[6] AI-audit: a single-start optimizer, mislabeled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A28A8-0E78-4D45-A81F-BD219F54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CAAA3E5-E00E-4F07-91A0-BFD89EE4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3ED7A6-374D-410F-B03E-626E0A4F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1D36F7D-37B9-4BCF-AAB6-F6430B27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B067CA75-7649-4DA8-B70D-65A3E532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ai_find_best_design():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result = minimize(energy_proxy, x0=(0.55, 0.20))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print(f'Best design: wwr={result.x[0]:.4f}, shade={result.x[1]:.4f}')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print(f'Minimum energy proxy: {result.fun:.4f}')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result.x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best = ai_find_best_design()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1E6F0-5168-4999-AB61-6EA0B44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FC34E9F-D217-47D9-AEE7-B3E53040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FCC41321-5D37-4B17-8D7D-53FDCDD9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Best design: wwr=0.5241, shade=0.2500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Minimum energy proxy: -7.1521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774F8F28-A296-4E77-80DE-043A4CE2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Runs cleanly. Confidently wrong.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BB4BB44-B1A3-47ED-8B63-5BBEB96F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No error, no warning — and a print statement that calls a local result 'Best design' and 'Minimum energy proxy.' Also missing: bounds=, and any check of result.success. Four real, distinct defects in six lines.</a:t>
            </a:r>
          </a:p>
        </p:txBody>
      </p:sp>
    </p:spTree>
    <p:extLst>
      <p:ext uri="{BB962C8B-B14F-4D97-AF65-F5344CB8AC3E}">
        <p14:creationId xmlns:p14="http://schemas.microsoft.com/office/powerpoint/2010/main" val="20857514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81BAC71E-3404-4607-9995-12C9C51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38609B-052D-442D-980D-492CF1B0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4: diagnose at least four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5B355-4A7D-4EC4-B052-34C8BC5A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97AD29F-C695-4F7F-8451-57D23737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4CA4B0D-CA22-47B3-9DF0-F100F724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6CECEE33-1D9D-4F3B-8E6D-1DC9D865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42095F3E-B4CD-4946-A26C-BCFAEE08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function runs without any error message.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25A96DFB-B479-486F-B0F3-296062C3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D7144B22-508E-4921-A4F8-4B6BBCCA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241C7C4C-1EA2-4C64-9B29-9276DA22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single-start defect and why the print label overreaches.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6C7DFF9F-E45D-40D1-9CEE-B6FAF7A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5DE79733-9F12-43A5-85FB-1311F7E5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missing bounds= defect and what it risks in general.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96E9515E-9C74-4187-AA18-493CB74B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96997A73-FB84-4B5C-AF68-A324A08B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missing result.success check.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10188FFC-8367-434B-BB37-59E378D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570E3C0B-5807-4882-AC9E-FFD524FA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Rewrite the function so its label matches what it actually found.</a:t>
            </a:r>
          </a:p>
        </p:txBody>
      </p:sp>
    </p:spTree>
    <p:extLst>
      <p:ext uri="{BB962C8B-B14F-4D97-AF65-F5344CB8AC3E}">
        <p14:creationId xmlns:p14="http://schemas.microsoft.com/office/powerpoint/2010/main" val="8669462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6198910-A58C-4AA2-9AC1-19A4334C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2C8486-01AA-499C-8D5B-EC07F8B7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[7] Self-check: two new starting guesses, not used above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E0746-A285-4A4A-830C-DB0D6EF7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136BC7E-BA63-41A5-A4B7-24C2DDCF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C3B153E-C5F4-4532-A195-332CE1D6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CB867A1-4BD7-4B7A-818F-ECB9C035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180FACC-62D9-4E7E-8CDC-C22B9198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t1 = minimize(energy_proxy, x0=(0.35, 0.75),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t2 = minimize(energy_proxy, x0=(0.58, 0.15),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bounds=BOUNDS)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print('t1:', t1.x.round(4), round(t1.fun,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print('t2:', t2.x.round(4), round(t2.fun,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abs(t1.fun - (-11.1437)) &lt; 0.01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abs(t2.fun - (-7.1521)) &lt; 0.01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t1.fun &lt; t2.fun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A0E3B-51F1-49AB-838E-B86ED74D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2952E420-194F-410D-AA66-6F790FD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978132E-6B2D-493D-8B0E-EC163913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t1: [0.2763 0.9   ] -11.1437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t2: [0.5241 0.25  ] -7.1521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0BFBCA9E-6241-4E11-B083-21451237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Neither start appears in cell [4]'s table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A118CE0-1BB5-43F2-AE31-CAA238F9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new starts reproduce the lower-versus-local basin pattern, so it is not an artifact of the original eight starts. This transfer check corroborates the pattern; it still does not prove -11.1437 is globally minimal over every point.</a:t>
            </a:r>
          </a:p>
        </p:txBody>
      </p:sp>
    </p:spTree>
    <p:extLst>
      <p:ext uri="{BB962C8B-B14F-4D97-AF65-F5344CB8AC3E}">
        <p14:creationId xmlns:p14="http://schemas.microsoft.com/office/powerpoint/2010/main" val="9780920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FCE08AAB-BD2E-4B7D-9C26-A98E8E1A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D61E30-4B6F-448E-9221-FF4846D9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5: confirm your predictions with asserts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F918E-D8CE-4DAA-AA3E-7498D89E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4682CA9-C254-4DB4-8BD9-D1E4E095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4D71-FAC2-4896-B175-AD55F595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D7F5B4F5-410A-46D4-BA8D-257F6011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892368C3-67FD-420F-ACB9-4600FCC9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running cell [7], predict which basin each new start reaches.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768FF5FF-DEC8-41D4-B714-35A6D4C2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E0938C16-CEBA-41A0-B7CE-81FEC7C4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2DEE5AFC-6FD8-4079-BA4A-1EC972A3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(0.35, 0.75): closer to the lower basin center (0.28, 0.90) -- which basin?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72D3F736-AA55-4B5D-9507-DF8038BC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B59C100A-5055-4967-BE89-E47E1E45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(0.58, 0.15): closer to the local basin center (0.52, 0.25) -- which basin?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17AF95B2-10AA-49A1-BEE3-01F89F39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BF2BF642-4820-484F-80F8-87F94E2E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cell [7] and confirm both assert statements pass.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F40E4533-236B-4069-9ED0-EC85BB3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A0212913-0DA3-41F6-AFCB-F6229EC6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why this corroborates the two-basin pattern without proving global optimality.</a:t>
            </a:r>
          </a:p>
        </p:txBody>
      </p:sp>
    </p:spTree>
    <p:extLst>
      <p:ext uri="{BB962C8B-B14F-4D97-AF65-F5344CB8AC3E}">
        <p14:creationId xmlns:p14="http://schemas.microsoft.com/office/powerpoint/2010/main" val="10981420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BA2ECF6B-9477-4EDD-9945-84DCDD15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060065-87F9-4806-A57E-7156881F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Multi-start,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15978-ED79-4A20-A2D3-917CFC1F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971B22A-D8F8-4B69-9C32-D71543BE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48CF247-5EE8-4786-8F79-15BD8A10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EDB4B720-553C-4E5A-9012-3F3BE62E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A32233FC-3B99-45E1-B9DC-F86B095A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multi-start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F7E66-3593-4E2C-BD27-E927BB46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86B6C592-538E-45C5-A60A-D0E7FDD4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Running the identical objective and bounds from several different, well-separated starting guesses, then comparing every result before reporting any one of them as final.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00E61A28-DC50-4B10-8F01-AF8B057E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94065918-835E-4222-A432-736CBE13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D4C6C3B9-3E7A-4D8C-9FE4-3F0AD15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Today's script, at two scales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BA863B71-3674-4450-8455-6676D828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3220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Two guesses by hand (Demo A and Demo B), then eight in a loop (cell [4]) — both are the same method, multi-start, just at different scale.</a:t>
            </a:r>
          </a:p>
        </p:txBody>
      </p:sp>
    </p:spTree>
    <p:extLst>
      <p:ext uri="{BB962C8B-B14F-4D97-AF65-F5344CB8AC3E}">
        <p14:creationId xmlns:p14="http://schemas.microsoft.com/office/powerpoint/2010/main" val="137368277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60B4FA21-EEFC-4E23-A6DC-4409E712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971F7A-FED9-4EEF-883C-A300BFDE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Solver card,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47A84-5BB1-42C9-84C5-DCC68B64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A073080-F510-4493-A8AD-F80360D3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02D62EC-7ACF-4B4E-A08C-53995718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D545D621-0C86-4309-8C5C-DC318AF7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912376AA-7F56-42EB-BCC0-AD26104A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solver 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3C0FB-C9CC-4A9D-81B4-CEBF9388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6B12945D-1B1F-40F3-A96F-CE0A21A1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one-page record of HOW an optimization was run — not just its final answer: algorithm family, every starting guess tried, whether each run converged, and whether multiple runs agreed.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42082C11-288A-42DF-A370-A8B2C9A8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60B356E7-4060-44FD-9E40-81927E70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C0043476-8D0D-40BA-A569-C6DEF5D1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Required twice in Project 2 Part II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ED221093-0BFD-42C7-9DEE-904B7075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3220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solver card for your linprog solution, one for your minimize solution — the next slide lists exactly what belongs in each.</a:t>
            </a:r>
          </a:p>
        </p:txBody>
      </p:sp>
    </p:spTree>
    <p:extLst>
      <p:ext uri="{BB962C8B-B14F-4D97-AF65-F5344CB8AC3E}">
        <p14:creationId xmlns:p14="http://schemas.microsoft.com/office/powerpoint/2010/main" val="9593890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60030D4E-5E68-4748-A201-ACA09E2E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8FD106-00E3-472E-A1F5-9587ADCF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belongs on a one-page solver card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6DA91-B370-4A99-8954-6D5B7794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C5613EB-3741-49DD-83FD-04CD39FF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0BD16DE-BF97-44EE-8F73-1F88B3DB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4220C-1714-42CA-AFB0-8F7BAEFB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6F9214B9-610E-40ED-8E2C-A298589C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AE41F-B28B-4FE7-BBDF-4A602FE9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241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AA6CEF19-225B-4E22-8507-5ECAF9EA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003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to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C6D08-345D-4DC4-9D91-38063B03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33BED67D-7B38-484D-9F64-C6E8EEF8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algorithm family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A0DB2-FE04-4FF1-92B4-84E3189B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57525"/>
            <a:ext cx="371475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6640ED34-3BFA-4AD9-ACB6-C0C46279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33725"/>
            <a:ext cx="348615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gradient-based (scipy.optimize.minimize), and why it fits a smooth nonlinear 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A8E63-3EC3-41BD-AD22-025C8F32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2855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601F8323-0903-4F01-97F8-3A105829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9055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starting guesses tried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551C2-1B7E-4B81-9DA3-00A7DA36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2855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A3E1F5B2-74AD-41C5-9368-C9A00F3F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9055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at least two, well-separated, both stated with their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B6E00-AA3A-415E-AB15-89D8E428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B310A9C0-58D1-4032-BFAA-9DFEF362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2BAB4-F9B2-4CF1-B5E1-FEB282C7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33875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BF08FFED-4CB0-460E-B75A-7678AAF1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0075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result.success for each run, plus number of iterations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86056-4659-4663-B701-2222D09F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4895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483E1F99-C43F-4CD6-AED9-29D63588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1095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sensitivity to starting conditions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115D5-2774-4D78-95E0-2D02CDF5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4895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82031D74-76F4-4068-AE8A-DA7C433F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51095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did the runs agree? if not, which optimum is reported as final, and why</a:t>
            </a:r>
          </a:p>
        </p:txBody>
      </p:sp>
      <p:sp>
        <p:nvSpPr>
          <p:cNvPr id="2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F70F603A-7456-489D-A60E-1282D626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27" name="callout">
            <a:extLst xmlns:a="http://schemas.openxmlformats.org/drawingml/2006/main">
              <a:ext uri="{FF2B5EF4-FFF2-40B4-BE49-F238E27FC236}">
                <a16:creationId xmlns:a16="http://schemas.microsoft.com/office/drawing/2014/main" id="{3FAE2B9F-9BF0-4A74-899B-914EEB67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optimization in Project 2 needs one of these — for the linprog solution AND the minimize solution.</a:t>
            </a:r>
          </a:p>
        </p:txBody>
      </p:sp>
    </p:spTree>
    <p:extLst>
      <p:ext uri="{BB962C8B-B14F-4D97-AF65-F5344CB8AC3E}">
        <p14:creationId xmlns:p14="http://schemas.microsoft.com/office/powerpoint/2010/main" val="146846374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9DD778CA-E507-4196-BCAA-71972D0E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MILESTONE, NOT AN ADD-ON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E8128F0-8F31-4FFC-BF9F-405C0DFC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week's Project 2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06882-3CC0-4C81-9770-A7CA5F6F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4F1F7A0-C3E5-4674-9725-513C02A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548F48C-588F-4495-9C15-1E0B5228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8968E362-50E4-4C45-B187-AA17AF72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What's due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F28717B2-B3F2-44A2-BA7A-FBA4C469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Week 11 nonlinear-formulation checkpoint IS today's handout: two starting guesses compared, the eight-start table, and the required multi-start comparison write-up (cell [8]).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3E263EDC-FD0B-4689-926B-AE78162A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Applied to your own problem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D8BB7B15-8117-4536-BB28-49985802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Project 2 Part II asks you to repeat exactly this pattern on your own nonlinear objective — at least two initial guesses, reported honestly, whether or not they agree.</a:t>
            </a:r>
          </a:p>
        </p:txBody>
      </p:sp>
    </p:spTree>
    <p:extLst>
      <p:ext uri="{BB962C8B-B14F-4D97-AF65-F5344CB8AC3E}">
        <p14:creationId xmlns:p14="http://schemas.microsoft.com/office/powerpoint/2010/main" val="2470880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716622B3-B762-4F21-81D4-2DC422B6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F5FFB9-8373-418B-A3FB-876E52AB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Submit a reproducible Week 11 handout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0EA9A-EC77-4874-9C22-B960B0AD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68C8C79-0C3C-4598-AF81-E4C6311C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11 · Meeting B · Nonlinear Optimization Studio: Multi-Start Comparison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5A4CE1-31A1-46BC-9107-F4D4B87F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868D7F1E-4E75-4E74-8EE9-5D1D3BB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AD1F9195-53AC-4DED-B341-CF966623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BF6CF511-8B00-492E-953B-31383B41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D0C1EE23-9093-4851-8322-CB2E4B57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578D97A9-EC00-41B0-A73E-220039F0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22E8F36D-B59A-4A06-8324-11D8C4F4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62E68-9E34-48DE-A798-60B979A7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B9AD3305-1C3D-417D-973C-13AA6D6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reproducible .py file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D9BD3730-7ADC-4351-AC23-154BCE2D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Runs top to bottom from a restarted kernel with no manual steps.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D4020880-89CF-4162-AC42-262F883D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75861699-B061-4885-B5CD-C78C4909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82FDC1D0-1BFE-44F0-8D2E-E40E15AD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E1EDF-8D96-4E49-AEA7-79115D7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D1501CA2-07BB-48B7-A654-B2B43612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797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Two-start + eight-start results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2769081-2F09-4DFB-BF11-152EF9D5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7214"/>
            <a:ext cx="2190750" cy="2231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Demo A/B results plus the full multi_start table, LOCAL/LOWER counts included.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A4768A7C-D555-42E0-B882-56B1B54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439602B-F014-4C59-9CC7-B02B480B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FD11C61-D16E-4BC2-A4F6-630D4E8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WRITE-UP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CF1BF-D486-4F30-8FF5-BE8AEE4C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40B69029-6BB8-461D-BB66-950BE8D8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60-100 word comparison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D3B734DD-971C-4865-BB55-4CD07837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States the split, the two values, the mechanism, and one practical rule.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A7291EBF-7E4C-4999-8324-BCF54DBA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B758B0A-5778-4A37-B214-85AFB64A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6D5668EB-F0BE-4CF3-A675-B22F436F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8D3CDC-197E-4732-9F48-5CACAF2E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159D677B-9DEE-4877-8D30-B934E7E9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Self-written transfer asserts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CBCB304C-AAE5-49FB-8A85-F941B7B9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2-4 assertions on the two new starting guesses, all passing.</a:t>
            </a:r>
          </a:p>
        </p:txBody>
      </p:sp>
    </p:spTree>
    <p:extLst>
      <p:ext uri="{BB962C8B-B14F-4D97-AF65-F5344CB8AC3E}">
        <p14:creationId xmlns:p14="http://schemas.microsoft.com/office/powerpoint/2010/main" val="107625092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422ACCFC-CD2F-44B7-9C14-FA056CA8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11 · MEETING B · NONLINEAR OPTIMIZATION STUDIO: MULTI-START COMPARISON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28E1E52-D20D-40CA-9295-969F2CEB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Multiple starts expose initialization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F3D07-E4AA-485D-BE44-E53005EC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666E8092-4478-4E89-94B9-37436C08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C33522F2-5941-486F-9A57-BF148DDC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same function and bounds can report two different, both 'successful,' local optima—only the starting guess changed.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B7CBC9B4-1F2D-4DC4-B9F5-AB015F31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882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D43515F1-EA65-48D2-ADAF-6FDBFB99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072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of 8 plausible starts land in the worse local optimum (-7.1521); 3 reach the lower best-known basin (-11.1437).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97679691-FF97-4F8B-805B-D3DB1058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444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5D33A1E6-9CD0-4AB8-A4A6-CE1E25F6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344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Dense-grid plus multistart agreement corroborates the lower basin; it does not prove a continuous global optimum.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71A68380-3249-431C-850E-FB455001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006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8C74C5D2-F636-4017-A486-C6C748F8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61966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2 Part II requires at least two initial guesses, explicit bounds, solver checks, and honest comparison.</a:t>
            </a:r>
          </a:p>
        </p:txBody>
      </p:sp>
    </p:spTree>
    <p:extLst>
      <p:ext uri="{BB962C8B-B14F-4D97-AF65-F5344CB8AC3E}">
        <p14:creationId xmlns:p14="http://schemas.microsoft.com/office/powerpoint/2010/main" val="1423245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2026-08-20T17:30:48.4680000Z</dcterms:created>
  <dcterms:modified xsi:type="dcterms:W3CDTF">2026-08-20T17:30:48.4680000Z</dcterms:modified>
</coreProperties>
</file>