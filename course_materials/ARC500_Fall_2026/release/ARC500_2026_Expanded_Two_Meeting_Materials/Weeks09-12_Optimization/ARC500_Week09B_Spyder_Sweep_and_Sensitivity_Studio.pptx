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abc5f73904020" /><Relationship Type="http://schemas.openxmlformats.org/officeDocument/2006/relationships/extended-properties" Target="/docProps/app.xml" Id="R2bb97cc74bbd407c" /><Relationship Type="http://schemas.openxmlformats.org/officeDocument/2006/relationships/officeDocument" Target="/ppt/presentation.xml" Id="R30d1b8e4ab98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48eba08e2540f4"/>
  </p:sldMasterIdLst>
  <p:notesMasterIdLst>
    <p:notesMasterId xmlns:r="http://schemas.openxmlformats.org/officeDocument/2006/relationships" r:id="Rddcae8fc56e4480b"/>
  </p:notesMasterIdLst>
  <p:sldIdLst>
    <p:sldId xmlns:r="http://schemas.openxmlformats.org/officeDocument/2006/relationships" id="256" r:id="R9ee0e3c6b34d4d96"/>
    <p:sldId xmlns:r="http://schemas.openxmlformats.org/officeDocument/2006/relationships" id="257" r:id="R0cde9fce29fa4d2d"/>
    <p:sldId xmlns:r="http://schemas.openxmlformats.org/officeDocument/2006/relationships" id="258" r:id="Rb3a96c6d958e40ef"/>
    <p:sldId xmlns:r="http://schemas.openxmlformats.org/officeDocument/2006/relationships" id="259" r:id="R6c506ee3c0a245a9"/>
    <p:sldId xmlns:r="http://schemas.openxmlformats.org/officeDocument/2006/relationships" id="260" r:id="R58748a88221f49f9"/>
    <p:sldId xmlns:r="http://schemas.openxmlformats.org/officeDocument/2006/relationships" id="261" r:id="Re9a6ded318674e33"/>
    <p:sldId xmlns:r="http://schemas.openxmlformats.org/officeDocument/2006/relationships" id="262" r:id="R5406d533d5b845ee"/>
    <p:sldId xmlns:r="http://schemas.openxmlformats.org/officeDocument/2006/relationships" id="263" r:id="R62842345a5984dfe"/>
    <p:sldId xmlns:r="http://schemas.openxmlformats.org/officeDocument/2006/relationships" id="264" r:id="R7f29605b57e24a28"/>
    <p:sldId xmlns:r="http://schemas.openxmlformats.org/officeDocument/2006/relationships" id="265" r:id="R7408d25eaf5c4717"/>
    <p:sldId xmlns:r="http://schemas.openxmlformats.org/officeDocument/2006/relationships" id="266" r:id="R75f306e64a754f46"/>
    <p:sldId xmlns:r="http://schemas.openxmlformats.org/officeDocument/2006/relationships" id="267" r:id="R989ca5e5bae849e3"/>
    <p:sldId xmlns:r="http://schemas.openxmlformats.org/officeDocument/2006/relationships" id="268" r:id="Rf39adf57dd37439c"/>
    <p:sldId xmlns:r="http://schemas.openxmlformats.org/officeDocument/2006/relationships" id="269" r:id="Ra90919b3aaf74860"/>
    <p:sldId xmlns:r="http://schemas.openxmlformats.org/officeDocument/2006/relationships" id="270" r:id="R230bd19eac4845b9"/>
    <p:sldId xmlns:r="http://schemas.openxmlformats.org/officeDocument/2006/relationships" id="271" r:id="R04daf3d17e0e4881"/>
    <p:sldId xmlns:r="http://schemas.openxmlformats.org/officeDocument/2006/relationships" id="272" r:id="R70f9b50898f346b5"/>
    <p:sldId xmlns:r="http://schemas.openxmlformats.org/officeDocument/2006/relationships" id="273" r:id="R150464bf9c0345c9"/>
    <p:sldId xmlns:r="http://schemas.openxmlformats.org/officeDocument/2006/relationships" id="274" r:id="Rea0c53a249a748c5"/>
    <p:sldId xmlns:r="http://schemas.openxmlformats.org/officeDocument/2006/relationships" id="275" r:id="Re4d3700a4a324516"/>
    <p:sldId xmlns:r="http://schemas.openxmlformats.org/officeDocument/2006/relationships" id="276" r:id="R9a864b6216ed4b45"/>
    <p:sldId xmlns:r="http://schemas.openxmlformats.org/officeDocument/2006/relationships" id="277" r:id="R2aa2ef5c37734957"/>
    <p:sldId xmlns:r="http://schemas.openxmlformats.org/officeDocument/2006/relationships" id="278" r:id="R4ef454b733184387"/>
    <p:sldId xmlns:r="http://schemas.openxmlformats.org/officeDocument/2006/relationships" id="279" r:id="R97d4e9ee826849f5"/>
    <p:sldId xmlns:r="http://schemas.openxmlformats.org/officeDocument/2006/relationships" id="280" r:id="Rf4fd6924af3f4c6a"/>
    <p:sldId xmlns:r="http://schemas.openxmlformats.org/officeDocument/2006/relationships" id="281" r:id="Ra8eeaa3ba451489b"/>
    <p:sldId xmlns:r="http://schemas.openxmlformats.org/officeDocument/2006/relationships" id="282" r:id="Re3c851d539024104"/>
    <p:sldId xmlns:r="http://schemas.openxmlformats.org/officeDocument/2006/relationships" id="283" r:id="R9d9f5e0621d24d02"/>
    <p:sldId xmlns:r="http://schemas.openxmlformats.org/officeDocument/2006/relationships" id="284" r:id="R0d2c884fcda1424c"/>
    <p:sldId xmlns:r="http://schemas.openxmlformats.org/officeDocument/2006/relationships" id="285" r:id="R8570d6e1be5d402a"/>
    <p:sldId xmlns:r="http://schemas.openxmlformats.org/officeDocument/2006/relationships" id="286" r:id="R61b69733bae44372"/>
    <p:sldId xmlns:r="http://schemas.openxmlformats.org/officeDocument/2006/relationships" id="287" r:id="R413c07d0e2c54ec0"/>
    <p:sldId xmlns:r="http://schemas.openxmlformats.org/officeDocument/2006/relationships" id="288" r:id="R764e3208f38f43f5"/>
    <p:sldId xmlns:r="http://schemas.openxmlformats.org/officeDocument/2006/relationships" id="289" r:id="R3b5d6c000be74629"/>
    <p:sldId xmlns:r="http://schemas.openxmlformats.org/officeDocument/2006/relationships" id="290" r:id="R5a66a9714ed649b0"/>
    <p:sldId xmlns:r="http://schemas.openxmlformats.org/officeDocument/2006/relationships" id="291" r:id="Rabbd5c45e5a84e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5b73dcddf64207" /><Relationship Type="http://schemas.openxmlformats.org/officeDocument/2006/relationships/slideMaster" Target="/ppt/slideMasters/slideMaster1.xml" Id="Rbf48eba08e2540f4" /><Relationship Type="http://schemas.openxmlformats.org/officeDocument/2006/relationships/notesMaster" Target="/ppt/notesMasters/notesMaster1.xml" Id="Rddcae8fc56e4480b" /><Relationship Type="http://schemas.openxmlformats.org/officeDocument/2006/relationships/presProps" Target="/ppt/presProps.xml" Id="R634f849252284cd2" /><Relationship Type="http://schemas.openxmlformats.org/officeDocument/2006/relationships/tableStyles" Target="/ppt/tableStyles.xml" Id="R6bc5a59daca74164" /><Relationship Type="http://schemas.openxmlformats.org/officeDocument/2006/relationships/slide" Target="/ppt/slides/slide1.xml" Id="R9ee0e3c6b34d4d96" /><Relationship Type="http://schemas.openxmlformats.org/officeDocument/2006/relationships/slide" Target="/ppt/slides/slide2.xml" Id="R0cde9fce29fa4d2d" /><Relationship Type="http://schemas.openxmlformats.org/officeDocument/2006/relationships/slide" Target="/ppt/slides/slide3.xml" Id="Rb3a96c6d958e40ef" /><Relationship Type="http://schemas.openxmlformats.org/officeDocument/2006/relationships/slide" Target="/ppt/slides/slide4.xml" Id="R6c506ee3c0a245a9" /><Relationship Type="http://schemas.openxmlformats.org/officeDocument/2006/relationships/slide" Target="/ppt/slides/slide5.xml" Id="R58748a88221f49f9" /><Relationship Type="http://schemas.openxmlformats.org/officeDocument/2006/relationships/slide" Target="/ppt/slides/slide6.xml" Id="Re9a6ded318674e33" /><Relationship Type="http://schemas.openxmlformats.org/officeDocument/2006/relationships/slide" Target="/ppt/slides/slide7.xml" Id="R5406d533d5b845ee" /><Relationship Type="http://schemas.openxmlformats.org/officeDocument/2006/relationships/slide" Target="/ppt/slides/slide8.xml" Id="R62842345a5984dfe" /><Relationship Type="http://schemas.openxmlformats.org/officeDocument/2006/relationships/slide" Target="/ppt/slides/slide9.xml" Id="R7f29605b57e24a28" /><Relationship Type="http://schemas.openxmlformats.org/officeDocument/2006/relationships/slide" Target="/ppt/slides/slide10.xml" Id="R7408d25eaf5c4717" /><Relationship Type="http://schemas.openxmlformats.org/officeDocument/2006/relationships/slide" Target="/ppt/slides/slide11.xml" Id="R75f306e64a754f46" /><Relationship Type="http://schemas.openxmlformats.org/officeDocument/2006/relationships/slide" Target="/ppt/slides/slide12.xml" Id="R989ca5e5bae849e3" /><Relationship Type="http://schemas.openxmlformats.org/officeDocument/2006/relationships/slide" Target="/ppt/slides/slide13.xml" Id="Rf39adf57dd37439c" /><Relationship Type="http://schemas.openxmlformats.org/officeDocument/2006/relationships/slide" Target="/ppt/slides/slide14.xml" Id="Ra90919b3aaf74860" /><Relationship Type="http://schemas.openxmlformats.org/officeDocument/2006/relationships/slide" Target="/ppt/slides/slide15.xml" Id="R230bd19eac4845b9" /><Relationship Type="http://schemas.openxmlformats.org/officeDocument/2006/relationships/slide" Target="/ppt/slides/slide16.xml" Id="R04daf3d17e0e4881" /><Relationship Type="http://schemas.openxmlformats.org/officeDocument/2006/relationships/slide" Target="/ppt/slides/slide17.xml" Id="R70f9b50898f346b5" /><Relationship Type="http://schemas.openxmlformats.org/officeDocument/2006/relationships/slide" Target="/ppt/slides/slide18.xml" Id="R150464bf9c0345c9" /><Relationship Type="http://schemas.openxmlformats.org/officeDocument/2006/relationships/slide" Target="/ppt/slides/slide19.xml" Id="Rea0c53a249a748c5" /><Relationship Type="http://schemas.openxmlformats.org/officeDocument/2006/relationships/slide" Target="/ppt/slides/slide20.xml" Id="Re4d3700a4a324516" /><Relationship Type="http://schemas.openxmlformats.org/officeDocument/2006/relationships/slide" Target="/ppt/slides/slide21.xml" Id="R9a864b6216ed4b45" /><Relationship Type="http://schemas.openxmlformats.org/officeDocument/2006/relationships/slide" Target="/ppt/slides/slide22.xml" Id="R2aa2ef5c37734957" /><Relationship Type="http://schemas.openxmlformats.org/officeDocument/2006/relationships/slide" Target="/ppt/slides/slide23.xml" Id="R4ef454b733184387" /><Relationship Type="http://schemas.openxmlformats.org/officeDocument/2006/relationships/slide" Target="/ppt/slides/slide24.xml" Id="R97d4e9ee826849f5" /><Relationship Type="http://schemas.openxmlformats.org/officeDocument/2006/relationships/slide" Target="/ppt/slides/slide25.xml" Id="Rf4fd6924af3f4c6a" /><Relationship Type="http://schemas.openxmlformats.org/officeDocument/2006/relationships/slide" Target="/ppt/slides/slide26.xml" Id="Ra8eeaa3ba451489b" /><Relationship Type="http://schemas.openxmlformats.org/officeDocument/2006/relationships/slide" Target="/ppt/slides/slide27.xml" Id="Re3c851d539024104" /><Relationship Type="http://schemas.openxmlformats.org/officeDocument/2006/relationships/slide" Target="/ppt/slides/slide28.xml" Id="R9d9f5e0621d24d02" /><Relationship Type="http://schemas.openxmlformats.org/officeDocument/2006/relationships/slide" Target="/ppt/slides/slide29.xml" Id="R0d2c884fcda1424c" /><Relationship Type="http://schemas.openxmlformats.org/officeDocument/2006/relationships/slide" Target="/ppt/slides/slide30.xml" Id="R8570d6e1be5d402a" /><Relationship Type="http://schemas.openxmlformats.org/officeDocument/2006/relationships/slide" Target="/ppt/slides/slide31.xml" Id="R61b69733bae44372" /><Relationship Type="http://schemas.openxmlformats.org/officeDocument/2006/relationships/slide" Target="/ppt/slides/slide32.xml" Id="R413c07d0e2c54ec0" /><Relationship Type="http://schemas.openxmlformats.org/officeDocument/2006/relationships/slide" Target="/ppt/slides/slide33.xml" Id="R764e3208f38f43f5" /><Relationship Type="http://schemas.openxmlformats.org/officeDocument/2006/relationships/slide" Target="/ppt/slides/slide34.xml" Id="R3b5d6c000be74629" /><Relationship Type="http://schemas.openxmlformats.org/officeDocument/2006/relationships/slide" Target="/ppt/slides/slide35.xml" Id="R5a66a9714ed649b0" /><Relationship Type="http://schemas.openxmlformats.org/officeDocument/2006/relationships/slide" Target="/ppt/slides/slide36.xml" Id="Rabbd5c45e5a8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923c6bc64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4cccec2444ec6" /><Relationship Type="http://schemas.openxmlformats.org/officeDocument/2006/relationships/notesMaster" Target="/ppt/notesMasters/notesMaster1.xml" Id="Rc236c7ddfb944f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c72af93dc84539" /><Relationship Type="http://schemas.openxmlformats.org/officeDocument/2006/relationships/notesMaster" Target="/ppt/notesMasters/notesMaster1.xml" Id="Rf223298ea0b74e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f17c18f2f4072" /><Relationship Type="http://schemas.openxmlformats.org/officeDocument/2006/relationships/notesMaster" Target="/ppt/notesMasters/notesMaster1.xml" Id="Re989460bf21346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243c60e7754c7f" /><Relationship Type="http://schemas.openxmlformats.org/officeDocument/2006/relationships/notesMaster" Target="/ppt/notesMasters/notesMaster1.xml" Id="R7802f4af4845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925b278954b29" /><Relationship Type="http://schemas.openxmlformats.org/officeDocument/2006/relationships/notesMaster" Target="/ppt/notesMasters/notesMaster1.xml" Id="R734794b3aab04b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8db23d27e148f2" /><Relationship Type="http://schemas.openxmlformats.org/officeDocument/2006/relationships/notesMaster" Target="/ppt/notesMasters/notesMaster1.xml" Id="R86b4a93632fc45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dfd59db1824c6e" /><Relationship Type="http://schemas.openxmlformats.org/officeDocument/2006/relationships/notesMaster" Target="/ppt/notesMasters/notesMaster1.xml" Id="R69652691c43943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7001e960de4edf" /><Relationship Type="http://schemas.openxmlformats.org/officeDocument/2006/relationships/notesMaster" Target="/ppt/notesMasters/notesMaster1.xml" Id="Re911fc8d20714f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f90d1747b14568" /><Relationship Type="http://schemas.openxmlformats.org/officeDocument/2006/relationships/notesMaster" Target="/ppt/notesMasters/notesMaster1.xml" Id="R7c582b4614bb40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3b743c23f14c76" /><Relationship Type="http://schemas.openxmlformats.org/officeDocument/2006/relationships/notesMaster" Target="/ppt/notesMasters/notesMaster1.xml" Id="Rb277d14e73ca4c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9eacffedac4524" /><Relationship Type="http://schemas.openxmlformats.org/officeDocument/2006/relationships/notesMaster" Target="/ppt/notesMasters/notesMaster1.xml" Id="Re8682881f3934f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01437a93b94840" /><Relationship Type="http://schemas.openxmlformats.org/officeDocument/2006/relationships/notesMaster" Target="/ppt/notesMasters/notesMaster1.xml" Id="Rbdec0d8e181542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3a8550f3d64c1c" /><Relationship Type="http://schemas.openxmlformats.org/officeDocument/2006/relationships/notesMaster" Target="/ppt/notesMasters/notesMaster1.xml" Id="Rc4d60d7ae35242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ebe88c947c4c68" /><Relationship Type="http://schemas.openxmlformats.org/officeDocument/2006/relationships/notesMaster" Target="/ppt/notesMasters/notesMaster1.xml" Id="R863d263d7f534e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7bf32cca3842ee" /><Relationship Type="http://schemas.openxmlformats.org/officeDocument/2006/relationships/notesMaster" Target="/ppt/notesMasters/notesMaster1.xml" Id="Rfd49bd4dd02c41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d7ed44ce4e476b" /><Relationship Type="http://schemas.openxmlformats.org/officeDocument/2006/relationships/notesMaster" Target="/ppt/notesMasters/notesMaster1.xml" Id="R016e15d0023b45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d0895addb34ed1" /><Relationship Type="http://schemas.openxmlformats.org/officeDocument/2006/relationships/notesMaster" Target="/ppt/notesMasters/notesMaster1.xml" Id="R9e37fed31d7e45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40640917964792" /><Relationship Type="http://schemas.openxmlformats.org/officeDocument/2006/relationships/notesMaster" Target="/ppt/notesMasters/notesMaster1.xml" Id="Rbe43745a3f974e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54c8066d3ff4338" /><Relationship Type="http://schemas.openxmlformats.org/officeDocument/2006/relationships/notesMaster" Target="/ppt/notesMasters/notesMaster1.xml" Id="Re551842a9ea443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5a7bde384c420c" /><Relationship Type="http://schemas.openxmlformats.org/officeDocument/2006/relationships/notesMaster" Target="/ppt/notesMasters/notesMaster1.xml" Id="Rdb38452007da4c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893244337b4457" /><Relationship Type="http://schemas.openxmlformats.org/officeDocument/2006/relationships/notesMaster" Target="/ppt/notesMasters/notesMaster1.xml" Id="R8ef5f163c1ca4d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8d8276233f4a65" /><Relationship Type="http://schemas.openxmlformats.org/officeDocument/2006/relationships/notesMaster" Target="/ppt/notesMasters/notesMaster1.xml" Id="Ref56badc59ef436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148108f26140d4" /><Relationship Type="http://schemas.openxmlformats.org/officeDocument/2006/relationships/notesMaster" Target="/ppt/notesMasters/notesMaster1.xml" Id="R3917a81bc8f549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b8e235113e4aaa" /><Relationship Type="http://schemas.openxmlformats.org/officeDocument/2006/relationships/notesMaster" Target="/ppt/notesMasters/notesMaster1.xml" Id="R529090dd885948a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de8362f7a944455" /><Relationship Type="http://schemas.openxmlformats.org/officeDocument/2006/relationships/notesMaster" Target="/ppt/notesMasters/notesMaster1.xml" Id="R1436fc97b62e47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60544b446142aa" /><Relationship Type="http://schemas.openxmlformats.org/officeDocument/2006/relationships/notesMaster" Target="/ppt/notesMasters/notesMaster1.xml" Id="R6837956709304d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1cc5cbb83d4ddd" /><Relationship Type="http://schemas.openxmlformats.org/officeDocument/2006/relationships/notesMaster" Target="/ppt/notesMasters/notesMaster1.xml" Id="R038f6d4e2a3245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993c7230384efb" /><Relationship Type="http://schemas.openxmlformats.org/officeDocument/2006/relationships/notesMaster" Target="/ppt/notesMasters/notesMaster1.xml" Id="R4896f53e9c45496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3688c2470045ab" /><Relationship Type="http://schemas.openxmlformats.org/officeDocument/2006/relationships/notesMaster" Target="/ppt/notesMasters/notesMaster1.xml" Id="Rcc54dac501bf4e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115a0c900147fd" /><Relationship Type="http://schemas.openxmlformats.org/officeDocument/2006/relationships/notesMaster" Target="/ppt/notesMasters/notesMaster1.xml" Id="R3ef2441dfc6a49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0f5d9340dd54ebd" /><Relationship Type="http://schemas.openxmlformats.org/officeDocument/2006/relationships/notesMaster" Target="/ppt/notesMasters/notesMaster1.xml" Id="Rfa4d1f4b9dbe4e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97f3b5c3744c88" /><Relationship Type="http://schemas.openxmlformats.org/officeDocument/2006/relationships/notesMaster" Target="/ppt/notesMasters/notesMaster1.xml" Id="Re374840e776c406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611a151abb640cf" /><Relationship Type="http://schemas.openxmlformats.org/officeDocument/2006/relationships/notesMaster" Target="/ppt/notesMasters/notesMaster1.xml" Id="Rc534ee9a117e417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020ff99ff4d49fb" /><Relationship Type="http://schemas.openxmlformats.org/officeDocument/2006/relationships/notesMaster" Target="/ppt/notesMasters/notesMaster1.xml" Id="R1aa8dc80261044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e7b9f73ab947f3" /><Relationship Type="http://schemas.openxmlformats.org/officeDocument/2006/relationships/notesMaster" Target="/ppt/notesMasters/notesMaster1.xml" Id="R757d265791184bf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07af00631014078" /><Relationship Type="http://schemas.openxmlformats.org/officeDocument/2006/relationships/notesMaster" Target="/ppt/notesMasters/notesMaster1.xml" Id="R66aa494b15c941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the Week 09 handout. Ask students to state, before running anything, whether they expect wwr or shade_m to matter more — today's studio is what actually settles that, not a guess.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Name this explicitly as the Week 9 weekly assignment — the heatmap figure, the one-sentence finding, and the vectorized-vs-loop assert are the three graded artifacts, not extra polish.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Preview that today's four steps are the same four steps as Monday's closing process slide — point back at it before cell [1].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Cold-call one student per row to give Monday's example before Studio 1 begins.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slide is the map of the whole studio — refer back to it before each new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Confirm every console prints exactly -3.906 before the next cell builds energy_proxy on top of it — a mismatch here means basin was retyped incorrectly, and every later sweep would inherit the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 every student's console prints exactly 22.076 before moving on — a mismatch here means the formula was retyped incorrectly.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a fast, low-stakes check — move on quickly once every console shows 22.076.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back at Monday's list-vs-ndarray contrast before cell [2] runs — today's required assert is the proof that vectorized and looped truly agree, not just an assumption carried over from Monday.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State plainly: every sweep for the rest of this studio depends on this exact equivalence holding. This is this week's required assert-verified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Expected: == could fail on a last-bit floating-point difference even when the values are practically identical; allclose checks 'close enough,' the correct standard for numeric equivalence.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Let the room commit to an answer before cell [3] runs — option B's mistake (wider bounds must mean a wider effect) is common and worth naming even though it is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Let the obvious conclusion form out loud before revealing it is incomplete — the next cell is the payoff, not a surprise sprung with no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is the pivot of the whole studio — do not soften the reveal. Most students pick option A because cell [3]'s ranking felt conclusive.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the exact trap from Monday's lecture, now reproduced on the students' own machines — confirm every console matches these two numbers before Studio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 closing sentence: a one-at-a-time sweep only reports the one line through the two-variable space you happened to choose; only a full grid compares them fairly.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Connect back to Monday's &amp; / | filtering on a pandas Series — this is the identical idea, one level closer to the raw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Point out meets_target, e_wwr, and wwr_vals all share shape (9,) — that shared shape is exactly what makes cross-array masking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Trace WW and SS's shape, (61, 81), back to wwr_fine (81 values) and shade_fine (61 values) before cell [6] runs — meshgrid orders shape as (length of the second array, length of the first).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Name explicitly: same meshgrid technique as Monday's coarse 63-point demo, just finer linspace arrays — no new tool, only more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this on the board with a small 2x3 example before trusting the real 61x81 grid — the flat-to-(row,column) conversion is the one new idea here, not a new kind of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at each row in turn — this table compresses the whole studio's logic onto one slide, right before the heatmap makes it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Per course policy, no fabricated text output for a plotting call. Confirm this exact code runs cleanly against real matplotlib before class, and that both basins are visibly distinguishable at projector resolution.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https://matplotlib.org/stable/users/explain/quick_start.html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to the two green pockets and the red ridge before asking students to read exact coordinates from the axes and value from the colorbar.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- https://matplotlib.org/stable/users/explain/quick_start.html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this exact three-row table against the projected heatmap before Studio 4 — point at one physical swatch on screen per row, not just the numbers in the table. Reinforce that the palette meaning comes from the colorbar, not from color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This sentence, plus the saved heatmap PNG and the cell [2] assert, are the three graded artifacts for this week — say so explicitly before students move 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Give students exactly this much of the function and ask what combined.shape SHOULD print if both variables were truly swept together — (9, 9), not (9,) — before revealing bug 2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Require students to name both defects, using cell [4]'s own 33.996 as counter-evidence, before Studio 5 asks them to rewrite and repair this exact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 running the fixed function and comparing its output to cell [6]'s known-good numbers before accepting the repair.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The mask counts every sampled cell at or below -9.0, not only cells exactly equal to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exact 'different threshold, different region' the plan's transfer safeguard requires — name it as such to students before Studio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Required, graded transfer-safeguard element — a script with all assertions passing silently is the expected deliverable, not optional polish.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this is the Week 9 weekly assignment in full — nothing additional layered on 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Say plainly: dataset/problem-area selection for Project 2 opens today, in parallel with this studio's submission. The sensitivity-check habit just practiced — sweep, question a single fixed baseline, then grid the full space — is precisely what Project 2 Part I will later ask each student to run on their own chosen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Cold-call two volunteers. This rehearses the kind of question Week 11's multi-start comparison will ask about this exact same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save, restart the kernel, run from the top, and submit the script plus its heatmap PNG before Monday, 9:00am.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d1c746fae42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12cf95eb58411f" /><Relationship Type="http://schemas.openxmlformats.org/officeDocument/2006/relationships/slideLayout" Target="/ppt/slideLayouts/slideLayout1.xml" Id="Rb35264e7df05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264e7df05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989008a604fc9" /><Relationship Type="http://schemas.openxmlformats.org/officeDocument/2006/relationships/notesSlide" Target="/ppt/notesSlides/notesSlide1.xml" Id="R715cae5919e948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aed62c95c428a" /><Relationship Type="http://schemas.openxmlformats.org/officeDocument/2006/relationships/notesSlide" Target="/ppt/notesSlides/notesSlide2.xml" Id="Rfc598a68dff34a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a9c19dafa4a0f" /><Relationship Type="http://schemas.openxmlformats.org/officeDocument/2006/relationships/notesSlide" Target="/ppt/notesSlides/notesSlide3.xml" Id="R236a4301d636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032962f734435" /><Relationship Type="http://schemas.openxmlformats.org/officeDocument/2006/relationships/notesSlide" Target="/ppt/notesSlides/notesSlide4.xml" Id="R5f08cdb4911645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3e437da3b4471" /><Relationship Type="http://schemas.openxmlformats.org/officeDocument/2006/relationships/notesSlide" Target="/ppt/notesSlides/notesSlide5.xml" Id="R7904c509fd1c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4389ddb134a3a" /><Relationship Type="http://schemas.openxmlformats.org/officeDocument/2006/relationships/notesSlide" Target="/ppt/notesSlides/notesSlide6.xml" Id="R8d06bb0a2d9747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8944803f14da0" /><Relationship Type="http://schemas.openxmlformats.org/officeDocument/2006/relationships/notesSlide" Target="/ppt/notesSlides/notesSlide7.xml" Id="R78b680c7c6544d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bf1b3ea95407f" /><Relationship Type="http://schemas.openxmlformats.org/officeDocument/2006/relationships/notesSlide" Target="/ppt/notesSlides/notesSlide8.xml" Id="R1d5aeb3926cf45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bc0497bc9468d" /><Relationship Type="http://schemas.openxmlformats.org/officeDocument/2006/relationships/notesSlide" Target="/ppt/notesSlides/notesSlide9.xml" Id="Re4733b5df4ac4c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c2caf89914d51" /><Relationship Type="http://schemas.openxmlformats.org/officeDocument/2006/relationships/notesSlide" Target="/ppt/notesSlides/notesSlide10.xml" Id="R0875eb035b71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b5d87c9694ee1" /><Relationship Type="http://schemas.openxmlformats.org/officeDocument/2006/relationships/notesSlide" Target="/ppt/notesSlides/notesSlide11.xml" Id="Rb02b4f8e26ec4d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a3515b50c4904" /><Relationship Type="http://schemas.openxmlformats.org/officeDocument/2006/relationships/notesSlide" Target="/ppt/notesSlides/notesSlide12.xml" Id="Rc3bcd38cd62c46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da3b87b774a05" /><Relationship Type="http://schemas.openxmlformats.org/officeDocument/2006/relationships/notesSlide" Target="/ppt/notesSlides/notesSlide13.xml" Id="Re024ae4483e046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5acd4f517491f" /><Relationship Type="http://schemas.openxmlformats.org/officeDocument/2006/relationships/notesSlide" Target="/ppt/notesSlides/notesSlide14.xml" Id="R942be00f11b249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4dfcc17e94b52" /><Relationship Type="http://schemas.openxmlformats.org/officeDocument/2006/relationships/notesSlide" Target="/ppt/notesSlides/notesSlide15.xml" Id="R54528acc987d48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142d4ac34f83" /><Relationship Type="http://schemas.openxmlformats.org/officeDocument/2006/relationships/notesSlide" Target="/ppt/notesSlides/notesSlide16.xml" Id="Rcd7f0b1fc57a41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8846b99544f8" /><Relationship Type="http://schemas.openxmlformats.org/officeDocument/2006/relationships/notesSlide" Target="/ppt/notesSlides/notesSlide17.xml" Id="R6d879e14ffc240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9f35be301411f" /><Relationship Type="http://schemas.openxmlformats.org/officeDocument/2006/relationships/notesSlide" Target="/ppt/notesSlides/notesSlide18.xml" Id="R149c7028e94245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017f52b34771" /><Relationship Type="http://schemas.openxmlformats.org/officeDocument/2006/relationships/notesSlide" Target="/ppt/notesSlides/notesSlide19.xml" Id="Rbb628e725a7c4f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c5d2fc3a7468c" /><Relationship Type="http://schemas.openxmlformats.org/officeDocument/2006/relationships/notesSlide" Target="/ppt/notesSlides/notesSlide20.xml" Id="Rc48c79f165fd49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c71e80fea417b" /><Relationship Type="http://schemas.openxmlformats.org/officeDocument/2006/relationships/notesSlide" Target="/ppt/notesSlides/notesSlide21.xml" Id="R5b9de8e1311f43c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882e8d0a14294" /><Relationship Type="http://schemas.openxmlformats.org/officeDocument/2006/relationships/notesSlide" Target="/ppt/notesSlides/notesSlide22.xml" Id="R08c29a9ea86a4b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cc3de9f04942" /><Relationship Type="http://schemas.openxmlformats.org/officeDocument/2006/relationships/notesSlide" Target="/ppt/notesSlides/notesSlide23.xml" Id="R8b4a4ee4147c45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9dd6c1b3841b5" /><Relationship Type="http://schemas.openxmlformats.org/officeDocument/2006/relationships/image" Target="/ppt/media/image.png" Id="Rab5b985236e7405a" /><Relationship Type="http://schemas.openxmlformats.org/officeDocument/2006/relationships/notesSlide" Target="/ppt/notesSlides/notesSlide24.xml" Id="R5848d44170eb40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ef55f51642ce" /><Relationship Type="http://schemas.openxmlformats.org/officeDocument/2006/relationships/notesSlide" Target="/ppt/notesSlides/notesSlide25.xml" Id="Ra2de1193e22e49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7772e0c7d4a0c" /><Relationship Type="http://schemas.openxmlformats.org/officeDocument/2006/relationships/notesSlide" Target="/ppt/notesSlides/notesSlide26.xml" Id="Ra8d5eae5610048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03fdc26734a00" /><Relationship Type="http://schemas.openxmlformats.org/officeDocument/2006/relationships/notesSlide" Target="/ppt/notesSlides/notesSlide27.xml" Id="Reaa7b61e0ff149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d1b202da4b84" /><Relationship Type="http://schemas.openxmlformats.org/officeDocument/2006/relationships/notesSlide" Target="/ppt/notesSlides/notesSlide28.xml" Id="R6822cfe80fd74b3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ac9cbb1d647d1" /><Relationship Type="http://schemas.openxmlformats.org/officeDocument/2006/relationships/notesSlide" Target="/ppt/notesSlides/notesSlide29.xml" Id="R3986dc188e3d40e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aeefdab2e4422" /><Relationship Type="http://schemas.openxmlformats.org/officeDocument/2006/relationships/notesSlide" Target="/ppt/notesSlides/notesSlide30.xml" Id="Rc0819221493b48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da64935c8430a" /><Relationship Type="http://schemas.openxmlformats.org/officeDocument/2006/relationships/notesSlide" Target="/ppt/notesSlides/notesSlide31.xml" Id="R154e1918e0ea4f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d05d0949c4609" /><Relationship Type="http://schemas.openxmlformats.org/officeDocument/2006/relationships/notesSlide" Target="/ppt/notesSlides/notesSlide32.xml" Id="R9fdc90003c6d4a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7ce1f3699431c" /><Relationship Type="http://schemas.openxmlformats.org/officeDocument/2006/relationships/notesSlide" Target="/ppt/notesSlides/notesSlide33.xml" Id="R618045c6670449e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ef64ebd444900" /><Relationship Type="http://schemas.openxmlformats.org/officeDocument/2006/relationships/notesSlide" Target="/ppt/notesSlides/notesSlide34.xml" Id="Rc82a519516974d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769f286b24ffd" /><Relationship Type="http://schemas.openxmlformats.org/officeDocument/2006/relationships/notesSlide" Target="/ppt/notesSlides/notesSlide35.xml" Id="Rbd125e3e75024db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742f1987e44a5" /><Relationship Type="http://schemas.openxmlformats.org/officeDocument/2006/relationships/notesSlide" Target="/ppt/notesSlides/notesSlide36.xml" Id="R3a05c2cf11d647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10C6372F-20D0-4B35-91CC-25E5EEE7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8CC00AD3-CF45-48B9-9EBA-43C53B52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508704D3-2DE1-4B82-A244-21D0329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CCF51137-7CEE-42F5-A581-509AE1F1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9 · MEETING B · PARAMETER SWEEP AND SENSITIVITY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CC5F40D6-27DC-4110-AA30-BDD9229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Sweep both variables, then say which region wins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1CBC4D7-739D-4C0F-9428-029F7F41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vectorized sweeps, the one-at-a-time trap, meshgrid, a full heatmap, and the required one-sentence sensitivity 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1A863-BA92-46A1-AC45-31B310B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1C31D23E-1A6D-4EE8-9479-5577D133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665590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8A48DD0-84F0-4D90-B433-84B1E902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8604E6-BE9F-4281-A179-129C0D89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55C87-99D7-4DFC-AA9C-51B3426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9EA24E4-5A64-42B2-B4C6-7C013C8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870B95-636C-406E-A4C5-93AADA59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4D42E4E5-44A1-4769-8F02-5E47156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704F1DB5-E547-4228-852D-F8A379F3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F6ABEF54-AC1A-4304-B977-B8D8055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Prove a vectorized ndarray call matches an explicit loop with a required assert, before trusting any sweep built on it.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896EA289-8F98-4F65-A3D1-99C1C68C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120231F1-F5F6-4846-8A7A-0F175D1D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Sweep, then check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0FCB2872-6897-4C63-BCF2-41839522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two one-at-a-time sweeps, then re-run them from different fixed baselines to test whether the first conclusion holds up.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3AF833AB-8546-4CBF-8953-D322F90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33DAEBC7-C787-4CFC-8E1A-9C64B3A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Grid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A1C43345-BE4D-44AD-98BA-2E2E1420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meshgrid to evaluate the full (wwr, shade_m) surface and find the best sampled combination on a finite grid.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CDDEC2D7-D8F0-47C6-8084-6EAAA93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27FB405E-0CA2-4551-A52F-706DE4E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D8697837-7CA0-4B53-A68F-7E3444B2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Produce a labeled heatmap figure and write the required one-sentence sensitivity finding with real numbers.</a:t>
            </a:r>
          </a:p>
        </p:txBody>
      </p:sp>
    </p:spTree>
    <p:extLst>
      <p:ext uri="{BB962C8B-B14F-4D97-AF65-F5344CB8AC3E}">
        <p14:creationId xmlns:p14="http://schemas.microsoft.com/office/powerpoint/2010/main" val="472893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B4972BC9-0D42-4C76-ACDF-3E2AB25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FD27E6-AE54-42EC-AF51-F36F5CA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142A4-D7EC-426F-980A-1821712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CBB340-DDC5-4636-A57E-B333F4DA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6DC4404-ADB9-4BE1-B19B-3F2F1B99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B5D22AA3-5C9A-4969-B6DB-79CAB80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0225F-E66C-4A84-94EC-8C1B30AA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A5B26C7A-378E-4D32-9F20-01516479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Monday's vocabulary, then verify vectorization with a required assert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38C23DC1-85C0-4B80-B554-6C2473C4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217DE-C70E-4E28-A30C-3EA09873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EBE5261F-5048-43BC-B86F-67227E8C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Sweep one variable at a time — and re-test the trap yourselves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BDB82203-D068-416F-955E-985CB1A6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E6302-1AB5-4988-B862-230B9925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5AF28DA6-217E-4EFC-8C6F-FFAA82F6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Sweep both together with meshgrid, then build the heatmap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0975D684-64EB-430E-8D5C-FD2137F0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B13DD-CDEB-4EE8-B93F-1B152841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A295B526-821E-443E-8606-ED1731C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 an AI draft and run your own transfer check</a:t>
            </a:r>
          </a:p>
        </p:txBody>
      </p:sp>
    </p:spTree>
    <p:extLst>
      <p:ext uri="{BB962C8B-B14F-4D97-AF65-F5344CB8AC3E}">
        <p14:creationId xmlns:p14="http://schemas.microsoft.com/office/powerpoint/2010/main" val="2032899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">
            <a:extLst xmlns:a="http://schemas.openxmlformats.org/drawingml/2006/main">
              <a:ext uri="{FF2B5EF4-FFF2-40B4-BE49-F238E27FC236}">
                <a16:creationId xmlns:a16="http://schemas.microsoft.com/office/drawing/2014/main" id="{95CF7FCA-17D3-4797-BF6F-797862B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933393-AAE8-491C-9FE0-E570A521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six terms from Monday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E23CA-E288-4E12-98AE-6F45950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036233E-18A6-4B85-8028-A16DD62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F7FB1FE-8818-4812-BEC9-8F54E644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83F70-18F1-475D-9C0C-97A2513A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F7D491C5-D6E7-4AC5-969D-0F5A2A38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B0173-39B9-4FC8-9CE3-415B5026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F1044A25-3864-4340-9F65-516A364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E0CBC-6B00-4650-AB55-8329CA9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9E008B24-CA6D-4569-BBED-0D8ECC7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9358A-985B-48DB-A557-DD260F33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96EDC04B-5FAB-43E2-8EBD-A71B1A6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sensitivity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E2FEC-7D27-4114-8CBA-978F8594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1935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8A31433F-F27D-4E9C-8878-9E54508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9555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how much an outcome changes when you change one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F76A0-4951-4134-81AC-A8DD7CE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1935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D8483B88-0A56-49A0-8A6E-BD3CB78C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whole studio's question: wwr vs. shade_m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E42D8-ACF9-45E7-B19B-C740E58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468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0D489D81-C339-4B6F-A444-ED2E4DE5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088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ndarray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E5129-A811-4F12-AE1C-2791EAB8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5468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957BA33B-51DB-4952-8E6F-AA4E1F7B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088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array where operations apply to every element at once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B7C4D-12B4-4D61-8F9F-F5CAB4A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5468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F1FBE5C0-287D-473D-9495-998F6FC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088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energy_proxy((wwr_vals, shade_m))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774B2-DBE4-40BC-8FE9-B05D9E08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001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3766D259-EEF1-4AD3-AA22-A634E765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621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linspace(start,stop,n)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D94E5-3FAE-4DBF-B1D5-6017A6C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9001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B1A0DDDD-DEAA-4809-AF9A-0B693A1F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6621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 evenly spaced values, both ends included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AB1DA-FD4A-4A8F-A14A-D3D97EFA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9001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BC382FD1-73BB-47CC-B67F-918A2FC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6621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9-point and 81-point sweeps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DECDD-2D12-41F8-A595-FFD0391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103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97357FF3-2C91-4F28-BB2C-F45460D8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723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boolean mask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ACF25-9F98-471E-BB20-7C7A22F8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3103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63FE1FF1-B037-4097-9D5B-102194A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23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array of True/False from a comparison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628EC-AE50-48B8-8D55-6155BB3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103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54B70010-534E-4BE6-B7C4-B5B6E5B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0723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flagging wwr values meeting a 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AD284-4893-46B5-AF6D-4A8EB53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01C54D9E-6D47-4116-BB32-1B9BC954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meshgrid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761E3B-6AF1-4804-A8F2-8C49C16F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720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33D50E0A-F255-4283-A3C2-395A0BCD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builds every combination of two swept arrays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72FDF1-1A26-4344-9E03-2E816F37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720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40CC076B-5688-4C07-91A1-FAA62C5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482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full (wwr, shade_m) grid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0CD6C3-568C-4532-BF47-791A1558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9ED4036F-6281-4797-82E6-40E6C165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vectorization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869BD5-EFA8-4BAE-B3D6-034C49EB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84B55633-B021-4085-8DA7-3C22BAEB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operation applied to a whole array, no loop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83AD27-9B76-4ABE-91BE-1C086CF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5-2">
            <a:extLst xmlns:a="http://schemas.openxmlformats.org/drawingml/2006/main">
              <a:ext uri="{FF2B5EF4-FFF2-40B4-BE49-F238E27FC236}">
                <a16:creationId xmlns:a16="http://schemas.microsoft.com/office/drawing/2014/main" id="{4634147A-3F26-4F8F-B520-540835FE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[2]'s required equivalence check</a:t>
            </a:r>
          </a:p>
        </p:txBody>
      </p:sp>
      <p:sp>
        <p:nvSpPr>
          <p:cNvPr id="4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F2FCA026-3F93-481A-BBD5-D974E27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9" name="callout">
            <a:extLst xmlns:a="http://schemas.openxmlformats.org/drawingml/2006/main">
              <a:ext uri="{FF2B5EF4-FFF2-40B4-BE49-F238E27FC236}">
                <a16:creationId xmlns:a16="http://schemas.microsoft.com/office/drawing/2014/main" id="{3446C034-61DC-4B35-B09C-EA3CEB45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term above appears at least once in today's script — point to it as you reach that line.</a:t>
            </a:r>
          </a:p>
        </p:txBody>
      </p:sp>
    </p:spTree>
    <p:extLst>
      <p:ext uri="{BB962C8B-B14F-4D97-AF65-F5344CB8AC3E}">
        <p14:creationId xmlns:p14="http://schemas.microsoft.com/office/powerpoint/2010/main" val="211534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CEEB15A6-B002-4D59-AF80-E8B609CD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73C32D-AFF1-484A-84E6-EF839CE2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pipeline is four ordered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5D9FB-C0AE-4CD1-AECC-03CBE49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FBFF276-DC99-4BA8-AAA4-9071A75E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91AD88-622A-433D-A964-2CFF5FF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41FCA3F7-37A7-40AC-90B9-CACCCA7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DD502824-7B43-486D-B376-5FB09A18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12061B46-D5AD-44EC-AE52-EB624E4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592B904C-F1CA-4E9C-A4CB-7D8865B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5CAC52E-1D40-4A35-96EC-4591F7F3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6CF16D5-ACA9-45BB-A23C-89D922D5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A645F-4B17-4523-8362-9008F589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A769D5D2-E906-4E60-B043-148A235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Vectorized == loop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D46ED5F6-2911-43EA-BBFA-988547E5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Assert the two match before trusting any sweep built on vectorization.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B953A380-1231-4FD8-9084-1595F6A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2633E278-E61F-42BA-B55F-42A1E12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B548ADD-0B1F-475F-98B1-AF59C1B0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SWEEP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F0D15-A69E-4C93-887A-3940838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A728DBC6-A6C6-4F6E-A76E-2DFB24E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at a time, twice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6404926-385E-4D9B-A4C8-5DFA4F42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Sweep each variable alone — then re-test from a different fixed baseline.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6481E00C-594A-40FD-8DD9-AF63BFEF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0886BF6-C698-43B9-A924-938578E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826479C-4F9B-4B9D-97C0-C6CAA324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GRID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8DC12-A3DB-4504-94D9-9A5B5FD0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11F134C2-D037-48C7-85F8-159BC842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meshgrid, full surface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70961DDD-FBF7-417B-96EB-EBC9B740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Evaluate every (wwr, shade_m) pair together; build the labeled heatmap.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D99C5965-521B-4F5E-AAEE-8559EC75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9CDBF0F8-CA55-4241-BBDF-8B383020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E93B838-29A7-4E1C-9481-E54C48A7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36401-15FC-469F-BDD4-9145E62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B00952BB-8AB6-4469-9A77-226B0890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Mask, read, write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0D1F1B3-3FEA-46A7-827B-F158E05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Flag a target with a boolean mask; write the one-sentence finding.</a:t>
            </a:r>
          </a:p>
        </p:txBody>
      </p:sp>
    </p:spTree>
    <p:extLst>
      <p:ext uri="{BB962C8B-B14F-4D97-AF65-F5344CB8AC3E}">
        <p14:creationId xmlns:p14="http://schemas.microsoft.com/office/powerpoint/2010/main" val="1945288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A822A41-DC4F-4416-AD15-CDA4470F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05F8E8-97E9-467B-9804-4ED0F12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[1] Recall the provided formula — one Gaussian dip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45B5F-122C-426E-A322-355DBBD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F744CB-C36F-4721-8064-FEC01D9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C21EE65-3A16-46AB-9160-65122FA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E55C257-7BB5-4B0F-B8F9-611C0009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5D9FBB6-D188-44A9-AA85-D979ADD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basin(x: np.ndarray, y: np.ndarray, cx: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cy: float, depth: float, wx: float,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wy: float) -&gt; np.ndarray: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"""Gaussian dip of depth, centered at (cx, cy)."""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dx = ((x - cx) ** 2) / (2 * wx ** 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dy = ((y - cy) ** 2) / (2 * wy ** 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-depth * np.exp(-(dx + dy))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print(round(basin(0.40, 0.30, 0.52, 0.25,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30.0, 0.06, 0.18),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84E7B-9BD4-4DDC-9ABE-A845698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DF6B0EA-C998-4903-AB8B-450555EF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6C92E72-5EB4-4F03-837B-ECDC077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-3.906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359A5FB6-0E08-4FC3-B272-7DB04AE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Type the helper out in full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06D30FF-2BD6-4FD9-8865-5479E043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1622"/>
            <a:ext cx="36957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basin is the helper energy_proxy is built from — a smooth dip reaching its lowest value, -depth, exactly at (cx, cy) and fading back toward 0 away from it. A docstring plus type hints on every function is this course's convention from Week 4 onward, and your handout's copy is line-for-line the same as this one. At the baseline design (0.40, 0.30), this particular dip contributes only -3.906.</a:t>
            </a:r>
          </a:p>
        </p:txBody>
      </p:sp>
    </p:spTree>
    <p:extLst>
      <p:ext uri="{BB962C8B-B14F-4D97-AF65-F5344CB8AC3E}">
        <p14:creationId xmlns:p14="http://schemas.microsoft.com/office/powerpoint/2010/main" val="1727133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7AE0452-9967-4D3A-BF99-34A78CD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97832C-9642-4096-9226-316F7AB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energy_proxy and the baseline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8F388-A463-4148-B17B-967C661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8955CD-8B8D-44A7-803D-18544A1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A93852-CE06-42B5-AD2F-F1EBCABA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376CB46-4DD6-465D-82B4-DB371CB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7E2AF14-15FE-49A1-A8A6-F9EC8A99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energy_proxy(v: tuple[float, float]) -&gt; float: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"""Provided proxy to MINIMIZE; v=(wwr, shade_m)."""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w, s = v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base = 20.0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b1 = basin(w, s, 0.52, 0.25, 30.0,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b2 = basin(w, s, 0.28, 0.90, 34.0, 0.06, 0.18)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ridge = 6.0 * np.exp(-((w - 0.40) ** 2) / 0.02)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base + b1 + b2 + ridge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baseline = energy_proxy((0.40, 0.30))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print(f'{baseline:.3f}')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B32DE-A135-462A-90F3-7C499CEF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111AAF4-E89F-4F80-B7C6-0D0967E6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75B39C5-9113-4543-A4F2-623544E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22.076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2758744-6F71-4721-8157-68176861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provided formula as Monday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A7F5B65-392D-48A0-8912-4BD80BF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energy_proxy is provided — you are not deriving it, only calling, sweeping, and visualizing it. Two basin calls place the two dips; ridge adds the soft wall near wwr=0.40. v=(wwr, shade_m) is a single packed input, the exact shape Week 11 will hand to scipy.optimize.minimize.</a:t>
            </a:r>
          </a:p>
        </p:txBody>
      </p:sp>
    </p:spTree>
    <p:extLst>
      <p:ext uri="{BB962C8B-B14F-4D97-AF65-F5344CB8AC3E}">
        <p14:creationId xmlns:p14="http://schemas.microsoft.com/office/powerpoint/2010/main" val="1431227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978E07E-A6C3-44F1-9E32-B570C13E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19DB9A-B165-4AF1-AFC0-2D328B3C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confirm the baseline before sweeping anything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0D324-823D-4C73-8021-BADA7F6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077BF0C-A996-476D-AC1A-E1B38B02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54879E-238B-4313-81BC-A58E00C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40D8B7D3-5ED7-4404-A430-98894A8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F719B1D-5040-4D0C-B106-4DB09953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sweep built on a wrong formula is wrong 4,941 times, not once.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9BF0417-5B2D-4D3E-ACE4-96ED404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B7697AE1-3D7D-495C-8E09-6B6E915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C2E74E8-76C4-4664-AC58-5E13945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 [1] and read the printed baseline.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FBE7E90-5C39-4815-AC5A-A65EE2D7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01162E84-180F-49FA-990A-6124F9E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it matches 22.076 exactly.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F16DBB2-DF9A-476B-A331-A3D8484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2BE34719-39A8-4EE3-B69C-D7321BD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Find energy_proxy in the Variable Explorer as a function object.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BBE4BC3E-E0A1-4789-8A80-EE304AB1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47679F7-EA2D-4149-8078-CCFEDA2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If your number differs, compare your formula line by line against Monday's slide.</a:t>
            </a:r>
          </a:p>
        </p:txBody>
      </p:sp>
    </p:spTree>
    <p:extLst>
      <p:ext uri="{BB962C8B-B14F-4D97-AF65-F5344CB8AC3E}">
        <p14:creationId xmlns:p14="http://schemas.microsoft.com/office/powerpoint/2010/main" val="1259327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60A8FE0-E8A9-45BE-B6D1-0806A99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34502A-4F93-42A8-96A5-3989628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Vectorization, revisited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F1EFA-4EBA-4132-9CA1-A33616BC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1AAFEC-97EB-4568-95D7-CD69524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5421B8-DDA6-42D9-A0E0-846E9A5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D8B4EDE-E779-4B5A-8457-006CDE2F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E533A74A-8FE4-44D1-8CB3-9F45AD6F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vectorization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93ECD-B451-4C50-918E-55863E3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044DC928-6EFE-4AFE-B3FA-AB6308B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Applying one operation to an entire ndarray at once, with NumPy doing the looping internally — not a faster approximation, but the identical arithmetic as an explicit Python loop, just without writing the loop yourself.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85ACF738-C82E-44DE-8BFB-25F46271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B5DCD1EE-72B0-4BCE-A40A-40F2D16D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THIS WEEK'S REQUIRED PROOF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DA0FA4B4-44E7-438F-B44C-AF428C6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[2], next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D67F37E3-AF7B-48F1-A536-183CECB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wwr_check = np.linspace(0.20, 0.60, 21); vectorized = energy_proxy((wwr_check, 0.30)) runs all 21 values in one call. A loop over the same 21 values must match it exactly — np.allclose confirms that next.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D864178F-8A6D-4C30-8690-7794BD3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6EB580BA-02ED-41E2-A544-69E156B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57435C6C-CF46-4BF0-982A-FFB7D54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Vectorized code is not a different, approximate shortcut that happens to run faster — it is the exact same formula, applied to a whole array instead of one value at a time. Speed is a side effect, not the reason it is correct.</a:t>
            </a:r>
          </a:p>
        </p:txBody>
      </p:sp>
    </p:spTree>
    <p:extLst>
      <p:ext uri="{BB962C8B-B14F-4D97-AF65-F5344CB8AC3E}">
        <p14:creationId xmlns:p14="http://schemas.microsoft.com/office/powerpoint/2010/main" val="286735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670B343-E206-4754-94E6-B8A4EB25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4D93E4-2C20-4C9F-B594-61B35411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[2] REQUIRED: vectorized call vs. an explicit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606A-4FC7-4FA6-8DB4-4FE9CA7D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6E33D2C-F81E-485C-BDA8-3F1BBCA9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4B0596-439C-454A-AABA-8431809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50A87E5-E28A-4BC7-9133-23DC05E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F785370-0121-47AC-92D9-3F871E7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wwr_check = np.linspace(0.20, 0.60, 21)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vectorized = energy_proxy((wwr_check, 0.30))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looped = []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w in wwr_check: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looped.append(energy_proxy((w, 0.30)))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looped = np.array(looped)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assert np.allclose(vectorized, looped)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print('vectorized == looped:', np.allclose(vectorized, looped))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5433D-E4A7-43D0-ACA2-427D28D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26A7451-2C63-407C-8ECB-74BEBB43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9F98090E-50F5-4934-9681-9B74BE4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vectorized == looped: 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2EAAEFC-CAED-4AB0-B627-C5C7027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Proof, not assumption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EA8C921-6633-44DA-8764-6F26AEFE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50286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 wwr values, computed two ways: once as one vectorized ndarray call, once as an explicit Python loop appending one call at a time. np.allclose confirms they are numerically identical — vectorization is the same arithmetic, not a different, faster-but-approximate shortcut. This assert is REQUIRED and graded.</a:t>
            </a:r>
          </a:p>
        </p:txBody>
      </p:sp>
    </p:spTree>
    <p:extLst>
      <p:ext uri="{BB962C8B-B14F-4D97-AF65-F5344CB8AC3E}">
        <p14:creationId xmlns:p14="http://schemas.microsoft.com/office/powerpoint/2010/main" val="267128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6DF14177-FF3F-4943-B568-8A99833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4C011B-FFE1-4D8D-965D-9A5D049C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explain why this assert matters before continuing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BAE3D-9501-4BCC-9EFA-F6D94AC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AEC7D6A-444A-49B2-8E6D-492E9685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970D52F-DCAE-4C29-A23D-848973C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9224CEF6-BB3F-41AD-966C-87F449DC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4AA4333A-92E7-4580-854B-27414B7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assert passed silently — say out loud why that silence is the point.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B9A7DF5C-4073-4474-A135-51B02A36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3FE8DBD-3AE5-4EE7-8F0E-928A5996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FE5CA283-A6F6-4E06-B129-990A6F18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cell produced no AssertionError.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9C841759-5C63-47CC-8099-DFF898E8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566E01E-7485-4531-8069-D96E609D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what would print if vectorized and looped ever disagreed.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F2670B35-06A6-48D0-BA2F-7A0339D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B2D0054E-8836-4108-9ECB-3F940C7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one reason a loop and a vectorized call could differ (floating-point order).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CD5EAE60-CF68-46B7-A5DC-49B8930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373E828-1554-428A-A29D-F42535D6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np.allclose, not ==, is the correct comparison here.</a:t>
            </a:r>
          </a:p>
        </p:txBody>
      </p:sp>
    </p:spTree>
    <p:extLst>
      <p:ext uri="{BB962C8B-B14F-4D97-AF65-F5344CB8AC3E}">
        <p14:creationId xmlns:p14="http://schemas.microsoft.com/office/powerpoint/2010/main" val="12939368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6138CF7-20F9-4CCC-8457-22C764A4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433AE7-12BF-4FC8-BA92-750045F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cell [3]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D9A8-962D-45F7-B713-86BC2D5E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99EE76-7146-4AFB-A24F-1930B1BF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139EDE-4F77-41F8-AE07-F6ED008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D18F9DB-6484-47C7-A44E-B840E81C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CC1814C-962C-49AD-8CAC-1565F9DD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wwr_vals = np.linspace(0.20, 0.60, 9)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shade_vals = np.linspace(0.0, 1.2, 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e_wwr = energy_proxy((wwr_vals, 0.30))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e_shade = energy_proxy((0.40, shade_vals))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print('wwr range:', round(e_wwr.max()-e_wwr.min(), 3))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print('shade range:', round(e_shade.max()-e_shade.min(), 3))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8687304-9551-4CA4-92E4-369CC607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range is bigger here: e_wwr's or e_shade's?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8E262383-492F-4A90-85B0-99A30FEF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D5A70F2E-0EDD-40E3-87AD-1AB541DA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CF437603-2488-43AA-81CE-CFACDBD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wwr's range will be clearly bigger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90E8571D-5D62-453F-AE2C-8DF6BD5D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1CF72C5A-7118-4984-8486-1CF7D94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0D809C92-F764-4BA7-9113-5E72D87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shade_m's range will be clearly bigger, since its bounds (0 to 1.2) span more raw distance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6B95CE67-08FB-48D7-B2D9-E925944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96AC1A93-0C90-4365-91F7-F8302E5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7103D5E5-9B52-4CC4-B5ED-FA73502A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two ranges will be about equal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87300550-8E4E-41D2-AC5C-00F5DB6E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FAE050B5-BC6B-4995-97A1-2D9F1DE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19E17CFD-E313-4993-85C1-6FC500D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Neither — both e_wwr and e_shade will be constant arrays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C9DA2799-461F-4679-8809-7F48E9C8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73F63FE-5EB0-4F43-B493-A53295D4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F57B13A6-0CA2-4E1E-B126-31BA09E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Verified: e_wwr's range is 28.373 vs. e_shade's 3.46. Option B is the classic mix-up — wider bounds do not mean a wider output range.</a:t>
            </a:r>
          </a:p>
        </p:txBody>
      </p:sp>
    </p:spTree>
    <p:extLst>
      <p:ext uri="{BB962C8B-B14F-4D97-AF65-F5344CB8AC3E}">
        <p14:creationId xmlns:p14="http://schemas.microsoft.com/office/powerpoint/2010/main" val="990288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AFB6B5C-58DC-497C-B3F6-9213ED8B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1E8C51-1DC3-426A-9DE8-D102EE3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[3] Sweep one variable at a time — first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97918-2BA2-4B35-ADDB-D937D7FA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120E33-8225-4A74-B08F-8218A0C7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6F93FB-C9BC-400A-BAA9-5296B69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21C4BAE3-B83A-4911-B81E-9E91399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5DB6DA7-9074-4D6A-AFC8-E0EAB454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wwr_vals = np.linspace(0.20, 0.60, 9)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shade_vals = np.linspace(0.0, 1.2, 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e_wwr = energy_proxy((wwr_vals, 0.30))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e_shade = energy_proxy((0.40, shade_vals))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print('wwr range:', round(e_wwr.max()-e_wwr.min(), 3))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print('shade range:', round(e_shade.max()-e_shade.min(),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D6DF3-96FB-44FC-9ECC-3D0F8825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26D0694-52C8-41F1-A90C-2B08EC3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DE9D3FA-B184-4435-90CC-42D397B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wwr range: 28.373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shade range: 3.46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826C3D2-25C1-4C6C-A860-7B88294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confident-looking, incomplete answer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0E6F7569-4FD2-4257-994E-3600A63C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wwr's range (28.373) dwarfs shade_m's range (3.46) at these two fixed baselines. Before reporting 'wwr is the important variable,' the next cell tests whether that survives a different choice of fixed baseline.</a:t>
            </a:r>
          </a:p>
        </p:txBody>
      </p:sp>
    </p:spTree>
    <p:extLst>
      <p:ext uri="{BB962C8B-B14F-4D97-AF65-F5344CB8AC3E}">
        <p14:creationId xmlns:p14="http://schemas.microsoft.com/office/powerpoint/2010/main" val="1174716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8D659B46-9078-4EEB-8921-57B127F0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02681-DB65-4460-9BE0-F08DC11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cell [4]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1142B-BE4C-4C19-8BF6-AC8B0B65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08C1BC3-9252-4BC8-8CBB-56159F9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E5C2021-3732-40B8-B190-EE63226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B4365DE-0688-483A-AF13-0DDBA2B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B505BE4-3542-4F84-B669-0507AB6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e_shade2 = energy_proxy((0.28, shade_vals))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print('shade range @ wwr=0.28:',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round(e_shade2.max()-e_shade2.min(), 3))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e_wwr2 = energy_proxy((wwr_vals, 0.90))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print('wwr range @ shade=0.90:',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round(e_wwr2.max()-e_wwr2.min(), 3))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130B4C99-A611-41CE-9D46-B7529803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Re-sweep at wwr=0.28, shade=0.90 — does the ranking hold?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E2A990FC-D0B2-4399-8347-3CE23121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9BAE0A2F-5156-437F-B9C8-DEE193C1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307D10EA-DC0F-4D9A-9157-52EB046F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 — shade_m's range stays small (roughly 3 to 4) no matter where wwr is fixed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048845B0-979F-470F-8A7D-92E646F6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B2FE1D1D-21B0-457B-BFA4-55B33018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381F1703-7AD4-4C04-A1EF-7471B406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— shade_m's range grows past wwr's original 28.373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ADF7DFCF-D211-489B-AE64-1BBB68C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670A1362-2880-4EDB-B1A9-50818EF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1BEB047A-35EC-4279-9070-40D6E07D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— wwr's range shrinks to nearly zero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22032688-E161-4DEB-AF11-8C951F2C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787CB448-88F4-4090-9F46-BAFEDDEC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1E0CD620-DC38-4156-902D-DE499108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 — both ranges shrink together, since a baseline swap can only lower them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099F71D9-3BB7-4A73-B58E-70CB206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64A9AC08-372D-444D-A068-2002777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0C91EBF6-9ED9-488B-AB21-34389403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Verified: shade range @ wwr=0.28 is 33.996 — bigger than wwr's own 28.373. A one-at-a-time sweep reports only the slice you fixed.</a:t>
            </a:r>
          </a:p>
        </p:txBody>
      </p:sp>
    </p:spTree>
    <p:extLst>
      <p:ext uri="{BB962C8B-B14F-4D97-AF65-F5344CB8AC3E}">
        <p14:creationId xmlns:p14="http://schemas.microsoft.com/office/powerpoint/2010/main" val="11981566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8DCCE37-A1F0-43C9-BAC5-581E111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A084C0-A617-408F-9DD8-AE9E671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[4] The trap: re-run both sweeps from different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6337-8E56-4F36-8EDA-ED906D4C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303D8F0-BB56-4E75-8D65-87D0A680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D24699-1030-4714-BED5-30382727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DB1E8EB-2283-405E-A78D-FAD7EB56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1D90152-0C6F-405A-BDE4-EFE7755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e_shade2 = energy_proxy((0.28, shade_vals))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print('shade range @ wwr=0.28:',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round(e_shade2.max()-e_shade2.min(), 3))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e_wwr2 = energy_proxy((wwr_vals, 0.90))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print('wwr range @ shade=0.90:',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round(e_wwr2.max()-e_wwr2.min(),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7034-BDB5-41D7-88D6-DB49EC97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172762A-2F7A-45E0-9782-F9F6BA6B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0F2F3B2D-E532-4342-9FC1-1253A0A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shade range @ wwr=0.28: 33.996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wwr range @ shade=0.90: 33.182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9C35B11-5606-4F7E-9911-CD100EC7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shade_m was never the less-important variable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1C7CD6F-AC14-4901-919B-77FA05F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Fixed at wwr=0.28 instead of 0.40, shade_m's own range jumps from 3.46 to 33.996 — bigger than wwr's original 28.373. Cell [3]'s conclusion was an artifact of where the other variable was fixed, not a fact about the formula.</a:t>
            </a:r>
          </a:p>
        </p:txBody>
      </p:sp>
    </p:spTree>
    <p:extLst>
      <p:ext uri="{BB962C8B-B14F-4D97-AF65-F5344CB8AC3E}">
        <p14:creationId xmlns:p14="http://schemas.microsoft.com/office/powerpoint/2010/main" val="586987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204E3BF-6B80-4DEF-AC12-BDD2059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E4A3CC-B673-4BA3-9301-CF8D2B3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state why the first read was incomplete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748AB-11D7-41CA-A02B-985F342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5E390BC-AB35-498D-8751-8FB13174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37C531-52B8-4B3D-85BF-0EB2003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02292EA-218F-4536-9CA9-004AA212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97761AF4-200A-4441-BCE4-A842C036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Cell [3] and cell [4] used the identical two sweeps — only the fixed baselines changed.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EF3FAA4E-95B4-4ADF-BE50-5D0FC15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7424CBDE-9098-4043-8E6D-A3403D5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9A5C8E76-4E3A-4F16-8504-80B88CD2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two ranges from cell [3] and the two from cell [4].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617277EF-53F3-4ED5-85B5-770A1C7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2F94EE2A-8120-4001-8C77-27290F27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which variable 'wins' under each pair of baselines.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4A088DC-24C5-4314-907F-BA99FA6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D1BDF36-9AB4-4395-87F2-FDFEB36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in one sentence why neither pair alone answers the sensitivity question.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2F42670-B46D-4304-B145-0246224A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FD7E6FD8-120F-4AB6-9785-4D65830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Preview: what would evaluating every combination together, instead of one slice, fix?</a:t>
            </a:r>
          </a:p>
        </p:txBody>
      </p:sp>
    </p:spTree>
    <p:extLst>
      <p:ext uri="{BB962C8B-B14F-4D97-AF65-F5344CB8AC3E}">
        <p14:creationId xmlns:p14="http://schemas.microsoft.com/office/powerpoint/2010/main" val="80900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10EBB7E-C494-4A2D-82C8-700B24F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8FD65A-3F1B-4ACF-B928-FAB5969A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Boolean mask, revisited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57C89-986C-478F-8633-64B4D0B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BF6174D-FF4C-4757-9AE6-B86BAD8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58A628-323E-49C5-A163-91339ED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9C1D03D-35BE-4320-9E60-6A77AB7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5D11CF2-B9D5-49B6-A10A-C0234BC3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boolean mask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D383D-729C-41F5-AD0B-A887A53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93ABB98C-7ED8-4354-8FAA-40F558D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array of True/False values, one per element, built from a comparison like e_wwr &lt;= target. Using that mask to index a DIFFERENT array of the SAME shape — wwr_vals[mask] — keeps only the elements where the condition holds.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4DAFADAC-78C2-4247-AE3E-DF3E7AD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3A28EE0A-42CF-4B4C-9CB8-F3ED06C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SAME SHAPE IS WHAT MAKES IT WORK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F3D91095-C48E-4A01-9109-DDFB67B2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Cell [5], next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001AE93B-751A-4118-B986-60D092A0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meets_target = e_wwr &lt;= 15.0 builds one True/False per element of e_wwr. wwr_vals[meets_target] then reuses that exact mask on wwr_vals, a different array — because both share shape (9,). 4 of 9 wwr values pass.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4FB1186C-94D9-49B9-85D2-AB2C120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B910B4EF-22F7-4999-9663-19B43D0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E9E8E8B9-02CC-49C6-AE38-B30A6D0F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mask only works on an array of the SAME shape it was built from. e_wwr's mask cannot be reused on the 81x61 meshgrid Z a few slides ahead — that grid needs its own comparison, built from Z itself.</a:t>
            </a:r>
          </a:p>
        </p:txBody>
      </p:sp>
    </p:spTree>
    <p:extLst>
      <p:ext uri="{BB962C8B-B14F-4D97-AF65-F5344CB8AC3E}">
        <p14:creationId xmlns:p14="http://schemas.microsoft.com/office/powerpoint/2010/main" val="982098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FFDB3C49-A22A-4062-ABA7-8E5ED0D4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D07F17-FEF7-41F1-88CD-3070E0E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[5] Boolean mask: flag which wwr values meet a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DBB7F-6456-41F6-AC46-FE96D02E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ED0CC25-6EBD-46FA-AEE2-04AE3D4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F4CF393-D4AE-4473-B4D5-888B04B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2F3530B-2C62-4FEE-9495-521C4297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2C99746-4FD9-4B96-B56A-618161AA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target = 15.0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meets_target = e_wwr &lt;=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print(meets_target)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print('passing wwr values:', wwr_vals[meets_target])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9BE07-4AFD-484B-92C5-03DD9CE6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8767B5E-AF79-49B2-BA6A-590641F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24EA713-9093-4355-BB48-D85BBD7D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[False False False False False  True  True  True  True]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passing wwr values: [0.45 0.5  0.55 0.6 ]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DC7DEA5-D9EA-4399-9B66-0FAC7DB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shape, two arrays, one mask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0DBA82A-CE9D-47A4-BB3A-AEC1B677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e_wwr &lt;= target compares all 9 values to 15.0 at once. wwr_vals[meets_target] then uses that same True/False array to pull matching wwr values out of a DIFFERENT array — 4 of 9 pass this target.</a:t>
            </a:r>
          </a:p>
        </p:txBody>
      </p:sp>
    </p:spTree>
    <p:extLst>
      <p:ext uri="{BB962C8B-B14F-4D97-AF65-F5344CB8AC3E}">
        <p14:creationId xmlns:p14="http://schemas.microsoft.com/office/powerpoint/2010/main" val="7203069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3B0C2A2A-209C-4832-A5E3-516F675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6BF699-7AA4-4D75-B0E5-AFBDD582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meshgrid call before you run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304DE-FB07-4A5D-972C-044BD0C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C9BB28-17AD-432E-970B-83318301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BF7815-44BF-4887-A290-242EBCB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27268160-7317-4F67-8889-BEB3900A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3E65A2A5-F5E1-4265-A288-062EC9E5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57400"/>
            <a:ext cx="918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WW, SS = np.meshgrid(wwr_fine, shade_fine)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A4C51-A934-4868-9BBC-236FCB9B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9A2989F3-7593-426A-8CBA-9A81A0C1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25E9DEFF-649B-44A9-8184-9879E724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F1BD58F6-C7C1-4EBD-A4A5-FB00C57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741E89D9-7E87-4E4D-A7A6-DFB8C18B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F8A168A7-3E27-4BDE-A930-6BA303E6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WW — grid of wwr values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A5DF22BE-E52F-4899-BBCD-9837FF3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Shape (61, 81) — wwr_fine repeated down every row.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5E5C9-121E-4740-B575-CADBEA6E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49A8C877-2649-47AA-8FF8-957F97C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A4FE224B-4A74-4E89-8731-4C409D57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60A4A26B-E297-4CB8-B05E-818ADCC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4AAD4647-A12E-4D4E-9B84-E3C3FEFE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E7B7D8B7-150F-41A8-889D-C0B2CB69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SS — grid of shade_m values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3692C22B-D854-47A0-81F2-3AE0BA6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27854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Shape (61, 81) — shade_fine repeated across every column.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D3C4A-CCF4-4F2A-89A5-EACADAE7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B8099066-0025-44D7-A991-3916C98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E339234E-3DA1-4A64-B65A-042503C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8E198464-72E4-4F9A-9EA2-943D374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BC9194ED-5E5A-4305-B203-E3217D2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006281D1-C209-4306-BF9C-410B5E91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Builds every combination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17E7869A-650B-43E5-B813-93FAF59E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Turns two separate 1-D arrays into two full 2-D grids, ready for one vectorized formula call.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FBCA8-4638-4F3A-BD96-521BF85D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D4D187E2-CF0C-46AB-BCE9-E69B104F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63CC03CD-2520-4A2D-8780-3D2CD812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B8518040-FF56-42D4-86A2-9C6C445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242C9EDA-8B71-491E-9729-EEA0374A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12BBE3EF-3785-4BBB-A4A8-3C2642A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0728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First swept array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1C88AC31-9A8E-4A13-BD7F-F2ED2A7B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927854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81 wwr values, from linspace(0.20, 0.60, 81).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F65B3-0028-4F1C-AE61-F66DB32A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83D3F700-99BF-40D6-A6E8-785D487F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5577C2FD-04D7-4989-8482-5505074A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6A1510A7-AC4F-416D-8A7F-286A25B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C10132E7-2168-40C9-A9B2-0A95D42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F10E2DBC-53DD-4858-A522-3233B1D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Second swept array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228FB3DD-4138-442E-9429-0BECBE5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702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61 shade_m values, from linspace(0.0, 1.2, 61).</a:t>
            </a:r>
          </a:p>
        </p:txBody>
      </p:sp>
    </p:spTree>
    <p:extLst>
      <p:ext uri="{BB962C8B-B14F-4D97-AF65-F5344CB8AC3E}">
        <p14:creationId xmlns:p14="http://schemas.microsoft.com/office/powerpoint/2010/main" val="20578580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4B9070C-3397-44EC-9F34-6D2624A2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2F4F8A-21B6-4021-B441-77E385E3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[6] Sweep both variables together with meshgrid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7D917-47B0-4D7F-9F00-0B16FAF5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4824609-0DB9-4797-8264-E467D2DD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D1BC2A-C6F9-4329-958D-C99E6F29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3F7CD4E-1B9B-4BE7-9FDC-3803027B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C060FFB-6268-4EFA-A2B7-5AA9BD5D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wwr_fine = np.linspace(0.20, 0.60, 81)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shade_fine = np.linspace(0.0, 1.2, 61)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WW, SS = np.meshgrid(wwr_fine, shade_fine)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 = energy_proxy((WW, SS))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print('grid shape:', Z.shape, '=', Z.size, 'combinations')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best = np.unravel_index(np.argmin(Z), Z.shape)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print('grid best:', WW[best], SS[best], round(Z[best], 3))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print('local center:', round(energy_proxy((0.52, 0.25)),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872D5-B9AA-4365-8644-A4B8E118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46C5CFB5-D017-4F43-8845-0CB97F1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0BAD59D6-2826-4204-BA92-9B5E73E6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grid shape: (61, 81) = 4941 combinations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grid best: 0.275 0.9 -11.135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 center: -7.08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049C5627-1AF2-4E8A-BD09-F0797944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4,941 combinations, one vectorized line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50A3FE2-305C-4D09-B663-D24DC0D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71572"/>
            <a:ext cx="36957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 and SS both have shape (61, 81) — 4,941 (wwr, shade_m) pairs, every one of 81 wwr values crossed with every one of 61 shade_m values. Recall from Monday: np.argmin(Z) locates the smallest value in the flattened grid, and np.unravel_index converts that flat position back to (row, column) so WW[best]/SS[best] read the real wwr/shade_m. The best sampled point is -11.135 at (0.275, 0.900), clearly better than the other sampled basin near (0.52, 0.25). This dense 81 × 61 grid corroborates the better region; it does not prove the continuous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4931137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AC87BAB-0D43-4A0F-BE70-2F3E2D9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NEW 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2B7F7C-8D1F-40D7-8B8A-8C73B15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argmin and unravel_index,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33A1-1B6E-44A6-85AB-3E0B9048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84A5C20-04BC-4B37-AFC1-10412661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E568F1-F001-4D4D-BAD9-34C156F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10257C38-2CB8-4C3D-99B0-97B0C62F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B22E828C-1072-4684-9F75-7DB5CA3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np.argmin / np.unravel_index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CED22-42E7-43A5-B16C-6782EA68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909F9DDB-1534-43B0-818F-5E10C824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np.argmin(Z) returns the position of Z's smallest value, but flattened into one long index, as if the whole 2-D grid were a single row. np.unravel_index(pos, Z.shape) converts that flat position back into a (row, column) pair, so WW[row, col] and SS[row, col] read the real wwr and shade_m there.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81335DCF-8520-469D-B483-5C86B0AF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0D9F7033-2126-48FD-80E8-3C124F86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CELL [6]'S EXACT CALL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6DAF18EE-272B-47BE-8B3E-B39B2D7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best = np.unravel_index(np.argmin(Z), Z.shape)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66B931E6-51D5-4885-BA02-5A56518B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98114"/>
            <a:ext cx="4381500" cy="1735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WW[best] and SS[best] read the coordinates of the single smallest cell in the 4,941-point grid: 0.275, 0.900, with a sampled value of -11.135. That identifies the grid best, not a proof of the continuous global minimum.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FC4040F4-53F0-4F76-9BAC-A9E9FAD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B46BB136-3543-4F63-B60A-3A74684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370559BE-F358-4E1E-A52A-1BF9BC5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np.argmin alone returns one flat number (0 to 4940 here), not a (row, column) pair. Skipping unravel_index and using that number directly on WW would read the wrong cell.</a:t>
            </a:r>
          </a:p>
        </p:txBody>
      </p:sp>
    </p:spTree>
    <p:extLst>
      <p:ext uri="{BB962C8B-B14F-4D97-AF65-F5344CB8AC3E}">
        <p14:creationId xmlns:p14="http://schemas.microsoft.com/office/powerpoint/2010/main" val="16695608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4EAFFD5C-8E15-4DA7-91F1-5376DF12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B38341-FF00-4468-B8A8-C8927BFC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sweep strategies, same formula,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8EB31-E417-4D79-B52F-D129753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006D1CA-8B22-4188-BE34-7E8AA126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DCC67BD-4216-4A23-81CD-CC5CBECF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27CB5-D3FC-4423-9AE6-E374A12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FB31D01E-C5CF-4E74-9F69-27BC5335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72E51-4BCA-421A-AEF0-585E488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9557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6FEF0398-6165-47AF-84D6-1249013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77177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points evaluated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8C5CA-7C72-4168-86DD-36C739B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9557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D524788-D82C-4F85-94A1-C250AAD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7177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catches the trap?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3A8BF-A392-4524-8BF6-83A9E21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9557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9F8CACC6-10AC-4F78-9B20-6EF7A52A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7177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best found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7BEEE-2181-4B3C-8DE6-CE87B4AA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A7955588-4274-4D8D-BE67-28B19C3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279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One-at-a-time (cell [3])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B943D-E5A9-4F8F-88DB-34FA2643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659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A52FCC09-8160-4453-9855-A722546D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1279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9 + 9 values, one slice 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55DF2-95F2-4AAC-87F1-25825BD8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659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0AC5B17C-3CA8-4560-9235-FA19CA8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279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— flips at a new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36011-21CA-4FC8-B14C-D41932FB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3659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E25E385E-1F59-4709-A940-02FE23F2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1279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Looks like wwr wins: 28.373 vs. 3.46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2AD20-CF56-4234-9A81-FE072558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CC703A72-9CB0-439B-B8B8-D176CBC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One-at-a-time, new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A71F5-AEFA-427F-A5F4-5D4769FA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71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DAB2DED1-8FAF-48BF-A18E-A08939B9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48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Another 9 + 9, a new slice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AE7F5-B784-41B5-8C86-0EE0B0E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1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C2E9B636-DFC4-40D4-B8E1-B7691DB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48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— now shade_m looks bigger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B6809-701D-427A-B518-02FBA09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971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E1B37DED-8FDC-4978-8985-7C473215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48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Reversed: 33.996 vs. 33.182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9B1E6-0CE8-40CD-AE1E-614F1FB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294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E587BC6E-BB5D-4EAD-87CE-62A2D40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14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Full meshgrid (cell [6])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46D96-38BC-4F86-9578-4B32C890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1294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AE7DCDFA-0270-4324-9448-3D5BE586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58914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81 x 61 = 4,941 combinations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43849-F869-4349-939E-5E45988E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294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447F09AC-7974-42BF-9773-99F797B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914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Yes — baseline-independent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232786-8251-49D1-B75F-976D0D7B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51294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BC1EE990-15BD-43CD-ADFA-4D36AD9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8914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Grid best: -11.135 at (0.275, 0.900)</a:t>
            </a:r>
          </a:p>
        </p:txBody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037662C0-C60D-48E7-AF21-C7003F14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8D1E3F0B-E2D1-49A0-AE53-D547FE7C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Neither one-at-a-time sweep was wrong about its own two numbers — each was simply incomplete. Evaluating every sampled combination together identifies which sampled region wins; the dense grid corroborates that region without proving a continuous global optimum.</a:t>
            </a:r>
          </a:p>
        </p:txBody>
      </p:sp>
    </p:spTree>
    <p:extLst>
      <p:ext uri="{BB962C8B-B14F-4D97-AF65-F5344CB8AC3E}">
        <p14:creationId xmlns:p14="http://schemas.microsoft.com/office/powerpoint/2010/main" val="1781221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696913C8-6EA9-4EC0-82BF-75BE6B7C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DA4513-B9A1-4212-A784-E511129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[7] Visualize the full surface as a heatmap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5C186-866E-4E3A-B712-8AA2C2C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D4FB5DD-6286-4F1E-A802-C2AF22DF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C211A5-4016-45C8-9234-FD32BF92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6A5503D-A543-49B5-99A4-F0C95A5C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6321102-B649-4E58-B8E1-4662ACB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fig, ax = plt.subplots(figsize=(7, 5))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mesh = ax.pcolormesh(WW, SS, Z, cmap='RdYlGn_r', shading='auto')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fig.colorbar(mesh, ax=ax, label='energy_proxy (lower is better)')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ax.set_xlabel('wwr (window-to-wall ratio)')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ax.set_ylabel('shade_m (overhang depth, m)')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ax.set_title('energy_proxy(wwr, shade_m) -- full sweep')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fig.tight_layout()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fig.savefig('radley_energy_sweep_heatmap.png', dpi=150)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AB087529-F207-4165-A653-938AB80D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basins, visible at once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08F36A75-7877-4536-9F36-216BE7C0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pcolormesh colors all 4,941 grid cells by energy_proxy. The deepest green pocket is upper-left (low wwr, high shade_m: the grid's best sampled basin); a shallower pocket is lower-right (higher wwr, low shade_m). A red ridge near wwr=0.40 separates them. The next slide shows the actual saved figure.</a:t>
            </a:r>
          </a:p>
        </p:txBody>
      </p:sp>
    </p:spTree>
    <p:extLst>
      <p:ext uri="{BB962C8B-B14F-4D97-AF65-F5344CB8AC3E}">
        <p14:creationId xmlns:p14="http://schemas.microsoft.com/office/powerpoint/2010/main" val="11731216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42AC90F7-39F1-4E4D-A4E3-952800B6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ACTUAL OUTPUT FROM CELL [7]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626BDA-D219-4505-BF51-7E5476E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rendered heatmap reveals two basins and a 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8886-34D4-4591-951A-116BEF3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2A8E4E5-6259-4F68-ABE1-51E30159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882477-61DD-458D-BCE7-20E64402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51BEA289-ADA6-4CEF-9E74-CCDC804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3818382"/>
          </a:xfrm>
          <a:prstGeom xmlns:a="http://schemas.openxmlformats.org/drawingml/2006/main" prst="roundRect">
            <a:avLst>
              <a:gd name="adj" fmla="val 1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Heatmap of energy_proxy across window-to-wall ratio 0.20 to 0.60 and shading depth 0 to 1.2 metres. The deepest green basin is near wwr 0.275 and shade 0.90, a shallower green basin is near wwr 0.52 and shade 0.25, and a red ridge separates them near wwr 0.40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b985236e7405a"/>
          <a:stretch xmlns:a="http://schemas.openxmlformats.org/drawingml/2006/main"/>
        </p:blipFill>
        <p:spPr>
          <a:xfrm xmlns:a="http://schemas.openxmlformats.org/drawingml/2006/main">
            <a:off x="1571473" y="1943100"/>
            <a:ext cx="4972355" cy="3551682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111BA942-7437-46FD-837F-A2375A15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4332"/>
            <a:ext cx="6591300" cy="448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Generated reproducibly from the exact 81 × 61 meshgrid and energy_proxy formula shown in cells [1], [6], and [7].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2E69AD09-8E21-475C-A62E-83C99AE3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position and color together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73A1DC7F-99D2-4296-83E0-97F8F0C7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upper-left green pocket near (0.275, 0.90) is the grid's best sampled region at -11.135. The lower-right pocket near (0.52, 0.25) is shallower at about -7.08. The red central band is the ridge that makes one-variable slices misleading.</a:t>
            </a:r>
          </a:p>
        </p:txBody>
      </p:sp>
    </p:spTree>
    <p:extLst>
      <p:ext uri="{BB962C8B-B14F-4D97-AF65-F5344CB8AC3E}">
        <p14:creationId xmlns:p14="http://schemas.microsoft.com/office/powerpoint/2010/main" val="183166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">
            <a:extLst xmlns:a="http://schemas.openxmlformats.org/drawingml/2006/main">
              <a:ext uri="{FF2B5EF4-FFF2-40B4-BE49-F238E27FC236}">
                <a16:creationId xmlns:a16="http://schemas.microsoft.com/office/drawing/2014/main" id="{FBD9EC75-2096-4D2E-978E-C2B8AFC7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52681A-F8C0-4F33-A242-945DF4C6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Worked example: reading one heatmap cell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E03EF-D0E6-49AC-982A-21080D14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677ACA1-2FE9-40A8-95F0-D0DB54C6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91DE3FF-D235-4C15-A7B0-B3B8DBB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B726D-422E-43FA-8331-F4F9AF25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29CC9D5C-514B-4FE7-95B3-EB8B0CD7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heatmap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3BDE2-C2AB-4DB8-9AEE-BEC1896E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90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EAC189A9-0830-4157-98B9-5A1635C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67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approx (wwr, shade_m)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38E8F-AADC-4964-9642-9B94441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90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C2F97B70-17E3-4BEE-A528-17942739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67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energy_proxy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465F6-E386-450B-973B-308CF6F8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908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05C8825D-5EA4-479A-B965-0AD2FC3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670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color says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00638-AFF6-4D97-A14B-F60FDA7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18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17287D56-4887-4AC1-A25C-A187EE4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80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Deepest green — upper-left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39372-9ED5-4493-BFC1-A2FF0741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318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B5980C0D-35C9-4027-9965-7FFBD6A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80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(0.275, 0.90)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FC73A-872C-44CA-AC18-47EDFDD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18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81871675-3721-4FBC-8162-1DB6860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80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-11.135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06A9E-195F-4ECF-934B-C24376B2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318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C9A3DD55-608D-4CCD-905B-D5F0BAF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080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Grid's best sampled basin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DF888-9693-4727-B6CC-E406B869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286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6A865351-8F42-45D7-9CF9-8C7E408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906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Medium green — lower-right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7DA81-D215-48C8-8367-7D2FE09A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7286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67F28E1B-50A7-4409-87A4-9DAE909F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4906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(0.520, 0.25)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A4BF8-649F-4A23-BAD4-FEBFC64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7286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7F922B22-EC16-419B-818F-20F3FB81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906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-7.08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D6006-DEC1-41DC-B7FC-60F136D8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7286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D5526152-D68F-4AC5-8ACA-DADF560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4906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Local basin: lighter green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DE185-75E8-4885-8518-360C6C20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8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EC04C1AB-A7CD-49E7-A6A3-3219376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00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Red band — strip near center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10000-D444-4E70-84A2-29D5A5FF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138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949EB788-372C-4557-BC77-39042AC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900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(0.40, any shade_m)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B204D5-60E0-4907-82CA-8F0C97A9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38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BB232491-28C6-484A-8372-D724F9D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00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about 21 to 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4E51B-5937-4DC9-B30B-F57F40F9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1388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FBACF189-062F-4885-AF01-2E8D758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9008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ridge: the grid's worst region</a:t>
            </a:r>
          </a:p>
        </p:txBody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9BF6C585-539F-4E1F-9FB7-9A7B1848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9" name="callout">
            <a:extLst xmlns:a="http://schemas.openxmlformats.org/drawingml/2006/main">
              <a:ext uri="{FF2B5EF4-FFF2-40B4-BE49-F238E27FC236}">
                <a16:creationId xmlns:a16="http://schemas.microsoft.com/office/drawing/2014/main" id="{B511BA31-7A62-4F99-A68A-0934E571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Pair color with its labeled (x, y) position, then read the value. Here darker green means lower energy_proxy because the legend says so.</a:t>
            </a:r>
          </a:p>
        </p:txBody>
      </p:sp>
    </p:spTree>
    <p:extLst>
      <p:ext uri="{BB962C8B-B14F-4D97-AF65-F5344CB8AC3E}">
        <p14:creationId xmlns:p14="http://schemas.microsoft.com/office/powerpoint/2010/main" val="12576634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3192F4F-8D03-4D12-B420-FA150F34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6C993E-E165-49BD-A29D-7FF9225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read the heatmap and write the required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50A6-B86C-444B-9590-68F8519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3082AD4-0C8A-4F19-B3BE-B06042B5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52FE3AF-C8B1-4704-87BF-10547BD7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EC137167-CB63-48E5-A6AF-6D05716F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99E14002-841F-4445-88B1-6E5643A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heatmap is not yet a sensitivity finding until you can state it in one sentence.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3A098578-6AF8-40AB-80DA-3BD603E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A370F7EE-CC04-4D9A-88F7-FED0D63A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8412A9C-0AEC-4F50-A121-E2141B2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which corner of the heatmap is darkest green (best sampled region).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6484C0EF-D3C3-4DBA-8CED-243D9B8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712B4F1-ED04-4037-9022-4D32A38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grid best's (wwr, shade_m) and its energy_proxy value.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920DD616-9562-460D-9CBA-2FCDC0D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1A929D3-E86E-4382-BE90-C557B1D3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improvement over the 22.076 baseline, as a number.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2BAE7A9-9AC3-4518-BE78-38931AD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F6D44005-3908-4904-BA37-9CA3175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sensitivity_finding as one sentence naming region, score, and improvement.</a:t>
            </a:r>
          </a:p>
        </p:txBody>
      </p:sp>
    </p:spTree>
    <p:extLst>
      <p:ext uri="{BB962C8B-B14F-4D97-AF65-F5344CB8AC3E}">
        <p14:creationId xmlns:p14="http://schemas.microsoft.com/office/powerpoint/2010/main" val="7541582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4735E7C5-F459-4776-96F0-C19C280B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D04BE2-955C-4651-A968-0F063A1D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[8] AI-audit: a plausible but flawed sensitivity script (1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50CE8-52CF-4795-8E7E-94BC8D1F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0A1F2F1-4ED6-4954-8560-B550101C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4C5301A-CCA0-4429-854E-24F84DA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A250414-D9B0-4C79-8808-8FF4A1F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421338B-73D7-4C57-9C16-FC1199A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ai_sweep_and_compare(energy_proxy):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audit target: two seeded defects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wwr_vals = np.linspace(0.20, 0.60, 9)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shade_vals = np.linspace(0.0, 1.2, 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"sweep both variables together"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combined = energy_proxy((wwr_vals, shade_vals))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print('combined shape:', combined.shape)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5BF7B-F7BE-4522-93A0-C7FC6211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D0D788A-2231-4EFD-8234-0A53B838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94E79CA-2F2A-4848-9485-36A9152C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combined shape: (9,)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CEA227F-71D8-4F6D-970B-8550130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Bug 1: 'together' with no meshgrid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0CA05B8-8FEA-44A4-B906-37D7FFF7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energy_proxy((wwr_vals, shade_vals)) with no meshgrid does not sweep 'both together' — NumPy pairs the two arrays elementwise, giving 9 diagonal pairs, not the 81 combinations a real grid needs. combined.shape prints (9,), not (9, 9) — the first tell.</a:t>
            </a:r>
          </a:p>
        </p:txBody>
      </p:sp>
    </p:spTree>
    <p:extLst>
      <p:ext uri="{BB962C8B-B14F-4D97-AF65-F5344CB8AC3E}">
        <p14:creationId xmlns:p14="http://schemas.microsoft.com/office/powerpoint/2010/main" val="8973490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FDFA6E3-A857-462C-AE18-EDD3CE7C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792F81-FEC2-471B-A931-784558D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[8] AI-audit: a plausible but flawed sensitivity script (2 of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ACCF9-2833-4B7D-8E09-EDA2AF2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D18940-0F83-47A2-B22F-D4C0508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8B22045-0171-49BF-881D-C1305FFC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A743B1F-4257-4EB6-8CCB-F7E428A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F585B0D-D8A7-47B6-87A7-454264B4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793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bug 2: shade swept at a mismatched wwr=0.60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e_w = energy_proxy((wwr_vals, 0.30))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e_s = energy_proxy((0.60, shade_vals))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wwr_range = e_w.max() - e_w.min()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shade_range = e_s.max() - e_s.min()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print(f'wwr range: {wwr_range:.3f}')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print(f'shade range: {shade_range:.3f}')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wwr_range &gt; shade_range: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print('Conclusion: wwr is more important.')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ai_sweep_and_compare(energy_proxy)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3C8E1-9F00-4D4A-A2C6-71F79E6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8042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67020A8-5345-4FC5-82D8-887FB63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2342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CBC4CDBB-73D9-4A3E-BE83-8F438009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0942"/>
            <a:ext cx="6400800" cy="578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wwr range: 28.373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shade range: 11.867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Conclusion: wwr is more important.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4E28E462-C26C-4089-9654-3B62FB2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241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Bug 2: an unfair, mismatched comparison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489D035-7205-4F15-82BA-AF08BB7E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09747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wwr_range is measured at shade_m=0.30, while shade_range is measured at a DIFFERENT wwr=0.60 — exactly the one-at-a-time trap from cells [3]-[4]. Both bugs together produce a confident, wrong conclusion: 'wwr is more important.'</a:t>
            </a:r>
          </a:p>
        </p:txBody>
      </p:sp>
    </p:spTree>
    <p:extLst>
      <p:ext uri="{BB962C8B-B14F-4D97-AF65-F5344CB8AC3E}">
        <p14:creationId xmlns:p14="http://schemas.microsoft.com/office/powerpoint/2010/main" val="14191702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EEE01721-2C16-4E21-A989-BCB244D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3C99A9-3943-41C5-B845-9AA6721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diagnose and repair both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2A8C0-D5FA-420A-8F5D-E905AFC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8FF6DA2-7D2F-4FCD-9657-CA8EF619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5A661E-9E7F-4B9D-ACDD-A4930080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2AA25430-F65F-48C2-97CA-C6BCF9F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DA307E2-C7B5-4515-BD81-2370AC2D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Both bugs above run without any error message.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06D8C27-BF7A-4E1A-81E5-F5A4A678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F7F2F96F-0201-4A12-B6F5-92D8BA6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930B0FC-CFB0-42ED-9CF6-05461BEF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missing-meshgrid defect and what combined.shape should be instead.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22CE7401-2CEE-4D9C-A627-1211702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2C5D6248-C874-40D9-BE3D-FFE5F4F5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mismatched-baseline defect, citing cell [4]'s 33.996 as counter-evidence.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3B25C325-CB76-419D-84E0-1FDF1C5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2ED4AB68-9012-4CBD-A523-438BE512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Rewrite ai_sweep_and_compare using meshgrid and matched baselines.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4C514F7F-C535-49D8-A827-30781F16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F1348C8-3A87-42C6-AED4-571739F5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your fixed version's grid best matches cell [6]'s -11.135.</a:t>
            </a:r>
          </a:p>
        </p:txBody>
      </p:sp>
    </p:spTree>
    <p:extLst>
      <p:ext uri="{BB962C8B-B14F-4D97-AF65-F5344CB8AC3E}">
        <p14:creationId xmlns:p14="http://schemas.microsoft.com/office/powerpoint/2010/main" val="7143822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D059DFCE-29CC-4218-9BF4-1B0DF185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D574A3-07AB-426D-9D2F-47D65758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before cell [9]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80DDA-879D-40B8-89D4-D7F7FF70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7F92E7D-8F61-47D3-84D1-690E5C64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9A01753-60D5-4FF7-AC1B-2720443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0910C06-6943-41CC-BB4B-28B8BA6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9668D4D8-2A70-49C2-9AC9-5D4B4CE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strict_mask = Z &lt;= -9.0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print('passing cells:', strict_mask.sum(), '/', Z.size)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region = (WW&gt;=0.45)&amp;(WW&lt;=0.60)&amp;(SS&gt;=0.15)&amp;(SS&lt;=0.35)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local_min = np.min(np.where(region, Z, np.inf))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print('sub-region min:', round(local_min, 3))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650A6619-2744-4874-A447-639CDDB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How many cells will strict_mask.sum() count?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BF1E390E-1C1F-4096-A31B-26997DBD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4954449A-64B4-42B3-8E45-63E830A4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FAF43F6C-F26A-4AAF-9897-FEEAD412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About half the grid — roughly 2,470 cells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C5E356A-9B6B-4A54-B0E2-17A579E7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3BDC0416-D59B-4B81-A95F-0793C6A2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10AE8D6B-70E5-4C94-871D-D602C4E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small fraction — a few dozen cells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769C785D-2616-4D4F-A696-45758259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CDCB13F7-CC83-4099-83B0-1F0A7E2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C89C5B60-3B0F-44AD-A2B0-3644D40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Zero — a continuous formula never lands exactly on a threshold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9056246E-61A0-48C5-A10F-F91015F5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EDF8EC21-8CF2-4B5D-A523-1CD7BA6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35206D7-F0BF-412D-8825-AD43CF0D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Nearly all of it — the lower basin dominates the grid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D0BC58D1-5251-47D3-B459-0D03178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4F2C36C7-AC62-436D-9B21-32F1953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FF6A6915-8681-45D1-836D-E3F8B91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45 of 4,941 sampled cells—under 1%. The -9.0 target lies close to the best sampled value, so only a small neighborhood qualifies.</a:t>
            </a:r>
          </a:p>
        </p:txBody>
      </p:sp>
    </p:spTree>
    <p:extLst>
      <p:ext uri="{BB962C8B-B14F-4D97-AF65-F5344CB8AC3E}">
        <p14:creationId xmlns:p14="http://schemas.microsoft.com/office/powerpoint/2010/main" val="4707478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0237ED7A-1D81-44ED-9B5E-87C3E2EE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852D83-84B4-416D-82EC-B8559D3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[9] Self-check: a stricter target and the other basin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267AF-5CC2-4425-92C6-9CD1C245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0BD7E51-FE6F-47A7-8AE4-65BC00EF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CC35B08-309B-4CA6-8F1E-E9B9F07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B2D72C8-81C2-404A-AFD7-13CF6577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574B566-0735-4B1E-8100-B59BA93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strict_mask = Z &lt;= -9.0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print('cells meeting target &lt;=-9.0:', strict_mask.sum(),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'/', Z.size)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region_local = (WW&gt;=0.45)&amp;(WW&lt;=0.60)&amp;(SS&gt;=0.15)&amp;(SS&lt;=0.35)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local_min = np.min(np.where(region_local, Z, np.inf))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print('local sub-region grid minimum:', round(local_min, 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CB1B-8C2C-417B-9FEE-C4EB34F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AD79072-4276-4A9D-9460-C2E16FF6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073DE588-C160-403B-9FC3-B9300E69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cells meeting target &lt;=-9.0: 45 / 4941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local sub-region grid minimum: -7.103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A68B5467-03E0-4A73-8D5E-E7CB337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tools, an unseen threshold and region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6DFBEE9-BD84-4F39-A598-70DF88D4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target=15.0 (cell [5]) becomes -9.0 here — much stricter, and it isolates only the better sampled basin's neighborhood (45 of 4,941 cells). Restricting to the other sampled basin's own sub-region finds a grid minimum of -7.103, matching the -7.08 direct-call value from cell [6] within grid resolution.</a:t>
            </a:r>
          </a:p>
        </p:txBody>
      </p:sp>
    </p:spTree>
    <p:extLst>
      <p:ext uri="{BB962C8B-B14F-4D97-AF65-F5344CB8AC3E}">
        <p14:creationId xmlns:p14="http://schemas.microsoft.com/office/powerpoint/2010/main" val="14472472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A12412B-AEC5-4666-975A-97A98384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D49F71-5471-49CA-ACC2-9DCCD621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6: write your own transfer assertions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85924-37C8-4B05-A882-E43B6C1F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1BD065-AD20-48D1-8558-9FF6B9C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26C5B1B-486A-4733-8F8F-5EF9B3AA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644221F0-7D7C-473E-8347-15A6F78D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9EB4704-85F3-4D0B-8C5E-80858DC0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cell [9]'s two checks into 2-4 self-written assert statements.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CDC823A-9903-453F-AF91-91EBA0E2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98DDEA5D-DB3D-4808-95AB-711941DF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C017E13-47D2-4257-A1F4-F2B4B27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strict_mask.sum() equals 45.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F7B1C50A-4EC8-4FD8-BF7A-6601E62E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C845BA29-736C-45AA-AD79-7AA6E930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the local sub-region minimum is within 0.05 of -7.10.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73DF5E8-6B2E-4CA4-B20B-CA72904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774B809A-CE6D-4B6E-9CD6-06F2E59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every strict_mask point's wwr falls between 0.25 and 0.30.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23FDE0CD-F39F-40B7-9883-C6D7022B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12FE26F-CFD6-4FF3-889E-AC8BED9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from a restarted kernel and confirm silent success.</a:t>
            </a:r>
          </a:p>
        </p:txBody>
      </p:sp>
    </p:spTree>
    <p:extLst>
      <p:ext uri="{BB962C8B-B14F-4D97-AF65-F5344CB8AC3E}">
        <p14:creationId xmlns:p14="http://schemas.microsoft.com/office/powerpoint/2010/main" val="11814543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68AB79F5-D85F-46FB-87A8-4780250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8D067E-5003-4DF9-B23D-A0A2117E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one reproducible sensitivity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0062-0BA1-4DE7-949E-A50F0AA8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E4071F-D1AF-4C75-BF19-7FF7D4A4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478D37C-9A4F-4C32-AD72-1B140DE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E744DB7F-537F-49E6-932B-E478ECB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7FF438A7-DC10-42CF-87A9-072158D7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6D967750-8242-425F-817E-5488ADA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FA2C3788-1A1D-4ED4-A147-B724607D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B7ADEAB-C7AC-4C12-81B6-EAA4384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BC638FD-797A-4C68-886D-6915BA6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98D80-2C12-48DF-879B-01C55D9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E08A5EC0-6675-494B-AC49-85C61AB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reproducible .py file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59F7FDF-B10A-45B4-B40E-AB0BDC96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top to bottom from a restarted kernel with no manual steps.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1342D49C-ABA9-43EC-BE23-98A4A584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182D47F-C200-455B-B55D-8FC161C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5140F5A-C2E7-4EF2-BD17-81591F1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HEATMAP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44634-C466-436C-9902-EBC3656E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5FE4C748-BE0D-4317-88B1-536BCF6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labeled figure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6C1043D-2415-4029-8F73-54C686A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pcolormesh, axis units, colorbar, both basins visible — saved as an image.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24E5D74D-AED3-4634-9255-5645423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8532603-F8D6-4F86-B532-71CC0A27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A85C552-F51F-44F5-8E16-73DB53E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AC24D-09F9-4EB4-9F78-526995E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55633367-7144-472E-8630-0E3293E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One-sentence result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16F2A7B-6319-4C32-8A69-FAC82A8A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Best region, its score, and the improvement over baseline, stated in numbers.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1AA496C7-53A3-44BD-A423-A3971B10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BD3E97E-7BC1-4BA1-A4D6-532C0431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5482DD0-FA86-43B4-A990-245B478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401A7E-7BB9-45B2-9987-29F375E6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72B6405E-5A30-4A93-B48F-5481400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79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Required + self-written asserts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98E5F27-EB57-4B5C-8FA8-773B279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7214"/>
            <a:ext cx="2190750" cy="223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vectorized-vs-loop equivalence, plus 2-4 transfer assertions, all passing.</a:t>
            </a:r>
          </a:p>
        </p:txBody>
      </p:sp>
    </p:spTree>
    <p:extLst>
      <p:ext uri="{BB962C8B-B14F-4D97-AF65-F5344CB8AC3E}">
        <p14:creationId xmlns:p14="http://schemas.microsoft.com/office/powerpoint/2010/main" val="428168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DDB81C65-FF7B-41A3-A8D8-86DAD4A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8901C1-B5A5-412F-8638-3FF2A095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studio previews Project 2, Part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607E7-AB0D-421B-BAD9-9E9749F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B5BD59-5302-4114-9E37-F39D085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889EFE-465E-44CB-852A-929E7778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5486B90B-1141-46D7-81F6-B4FDCC6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Project 2 evidence follows a sensitivity chain: sweep, re-test, then read the full grid.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6C645-A904-4815-885E-A765171D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0203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8DB875A8-7343-47FF-92C8-45B3AB5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053"/>
            <a:ext cx="93345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Project 2 — Predict, Optimize, Decide — is assigned this week: problem-area, dataset, and prediction/optimization pairing selection is open now, running through Week 10's linprog studio. Nothing here is graded twice; today's heatmap, one-sentence finding, and required assert are the rehearsal, not extra work layered on top.</a:t>
            </a:r>
          </a:p>
        </p:txBody>
      </p:sp>
    </p:spTree>
    <p:extLst>
      <p:ext uri="{BB962C8B-B14F-4D97-AF65-F5344CB8AC3E}">
        <p14:creationId xmlns:p14="http://schemas.microsoft.com/office/powerpoint/2010/main" val="143392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EEED7249-7C09-4DD8-8C51-9C8A2BB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AB9E38-A2C8-4332-AF15-DBD1FFDE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Exit check: defend the sensitivity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AD0A2-C945-40A7-A65D-BC6B2D08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6997D5-EBE8-42B1-A27A-2FBDA268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9 · Meeting B · Parameter Sweep and Sensitivity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9D40B5-C186-4C2C-8FE7-153CFAEF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BE0F37E4-1CF9-4ED9-A88E-286000C9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45651B5-CF88-4BAE-B806-BDD009B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your one-sentence finding from Studio 4, cold, no notes.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A4EDF066-F1D5-499C-87A1-FFB03FF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C53BDF93-C645-48CE-9B3E-3ECA60A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C10CCC0-A621-4D3C-9D38-09BC0B2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best (wwr, shade_m) region.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456CCB3-E902-4591-82ED-C3A2100A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17EFAA67-C850-48A9-BE94-BCBA8C9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its energy_proxy value and the improvement over baseline.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464E9970-F885-45DC-BCF8-181649AD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99494C67-A511-4681-8C5B-C664CB84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one reason a one-at-a-time sweep could have missed this region.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42E030E-AC47-4CD8-BFB4-30ED0732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FFFCEEED-6A6B-4D9D-BEB6-DD136742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 ready to explain it without looking at your script.</a:t>
            </a:r>
          </a:p>
        </p:txBody>
      </p:sp>
    </p:spTree>
    <p:extLst>
      <p:ext uri="{BB962C8B-B14F-4D97-AF65-F5344CB8AC3E}">
        <p14:creationId xmlns:p14="http://schemas.microsoft.com/office/powerpoint/2010/main" val="13330420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EE53B86B-978C-4EB0-B188-D4103C3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9 · MEETING B · PARAMETER SWEEP AND SENSITIVITY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0AFC598-9A7C-4A69-B0FB-4FDAC8A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sweep, both variables, one honest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08379-A65A-4819-8886-EC8CD7D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F52F6814-1516-47BD-9C90-7E236F6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FC69AA27-3902-4876-9B5F-1C343F7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vectorized ndarray call and an explicit loop must agree — assert it before trusting any sweep.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9EFB7006-0BE6-45CA-B8A4-EC4718B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A09EAA44-1386-403C-8639-D2925B96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One-at-a-time sweeps can flip their own conclusion depending on where the other variable is fixed.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DC2F03DB-122C-4A08-9BF1-A9A69189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C5DB8FD7-3E1D-425D-82C4-2AB9AD7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meshgrid evaluates every combination together — the only fair way to compare two variables.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EC259457-7541-4C35-93C7-8591F68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07E0BE53-EFF6-4393-9EE2-59C63BFF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verified finding: aim near wwr=0.275, shade_m=0.90 — about 33.2 points better than baseline.</a:t>
            </a:r>
          </a:p>
        </p:txBody>
      </p:sp>
    </p:spTree>
    <p:extLst>
      <p:ext uri="{BB962C8B-B14F-4D97-AF65-F5344CB8AC3E}">
        <p14:creationId xmlns:p14="http://schemas.microsoft.com/office/powerpoint/2010/main" val="722837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2026-08-20T18:03:10.8160000Z</dcterms:created>
  <dcterms:modified xsi:type="dcterms:W3CDTF">2026-08-20T18:03:10.8160000Z</dcterms:modified>
</coreProperties>
</file>